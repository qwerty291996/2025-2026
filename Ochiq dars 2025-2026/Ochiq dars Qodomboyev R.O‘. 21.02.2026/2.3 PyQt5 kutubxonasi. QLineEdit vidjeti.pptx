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86" r:id="rId2"/>
    <p:sldId id="287" r:id="rId3"/>
    <p:sldId id="267" r:id="rId4"/>
    <p:sldId id="257" r:id="rId5"/>
    <p:sldId id="290" r:id="rId6"/>
    <p:sldId id="291" r:id="rId7"/>
    <p:sldId id="289" r:id="rId8"/>
    <p:sldId id="292" r:id="rId9"/>
    <p:sldId id="294" r:id="rId10"/>
    <p:sldId id="293" r:id="rId11"/>
    <p:sldId id="296" r:id="rId12"/>
    <p:sldId id="297" r:id="rId13"/>
    <p:sldId id="298" r:id="rId14"/>
    <p:sldId id="299" r:id="rId15"/>
    <p:sldId id="300" r:id="rId16"/>
    <p:sldId id="301" r:id="rId17"/>
    <p:sldId id="302" r:id="rId18"/>
    <p:sldId id="303" r:id="rId19"/>
    <p:sldId id="288" r:id="rId20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55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61E7E7-45B4-40F4-B51A-A116B50688D4}" type="datetimeFigureOut">
              <a:rPr lang="LID4096" smtClean="0"/>
              <a:t>04/20/2026</a:t>
            </a:fld>
            <a:endParaRPr lang="LID4096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D16684-545A-470D-A95E-E73AA0758A0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658800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4B77C4-3FBC-4E95-AC04-E9856704040F}" type="slidenum">
              <a:rPr lang="ru-RU" smtClean="0"/>
              <a:t>1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16EEB0-F430-451C-83FA-673DF5BD2F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059FBD4-B02F-43DA-B300-4B312D3AEC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1063CB2-CDFF-42E0-9B57-C4F7C0780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EC3E4-021F-45EF-BF7A-4C46403036F7}" type="datetimeFigureOut">
              <a:rPr lang="LID4096" smtClean="0"/>
              <a:t>04/20/2026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FF86D2B-043E-44CE-BFFD-546D85944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A918E36-2EF3-4608-AAFB-4DF3B1C1E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3CA26-4E5A-480B-A023-B4462B526DD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635991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C8A831-1847-4017-803E-A04FFEDCE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9CC2E3E-7D70-419D-97DA-C94BAC2C4F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77D8667-68DB-410A-BCDB-D53D08B77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EC3E4-021F-45EF-BF7A-4C46403036F7}" type="datetimeFigureOut">
              <a:rPr lang="LID4096" smtClean="0"/>
              <a:t>04/20/2026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0F61CD3-819C-4651-A949-F595E19E7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2CB704D-35D8-4352-B20C-163776E89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3CA26-4E5A-480B-A023-B4462B526DD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60736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B25182-B4CB-4A47-9C8E-A243737CC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945D1F4-9994-433F-81CF-4E53B836BF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81ADFAA-FDDB-454E-B424-E837B6175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EC3E4-021F-45EF-BF7A-4C46403036F7}" type="datetimeFigureOut">
              <a:rPr lang="LID4096" smtClean="0"/>
              <a:t>04/20/2026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D7BB390-071F-434D-8623-F70F33DCE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C31FE4E-3245-43B6-B977-332D55B0A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3CA26-4E5A-480B-A023-B4462B526DD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209077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8048C7-AAF6-4F8C-8CAA-724EE0E54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1B8FF58-EF73-48F1-BF00-0A97C843CD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8B3CBEB-9352-46A6-AC5B-BBE3B150FD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15E0352-DE79-4F99-BFE1-7995E76F8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EC3E4-021F-45EF-BF7A-4C46403036F7}" type="datetimeFigureOut">
              <a:rPr lang="LID4096" smtClean="0"/>
              <a:t>04/20/2026</a:t>
            </a:fld>
            <a:endParaRPr lang="LID4096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B53219C-1ACC-4E4A-A097-7619C33CC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0E1CB26-6F52-4072-9062-0916ED501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3CA26-4E5A-480B-A023-B4462B526DD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060722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809FA2-273E-4ED9-8B4A-78308734C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500D429-9AF2-4761-A884-A13F7BC42C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D43DEAB-FC90-4EF5-B32B-98D64FE845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9F786B1-AC08-4B28-8120-F78C0741E6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6F1F01E-B2DA-4B9A-94E5-B203019524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081D8E9F-C5FA-4AA0-AC63-0B31D5350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EC3E4-021F-45EF-BF7A-4C46403036F7}" type="datetimeFigureOut">
              <a:rPr lang="LID4096" smtClean="0"/>
              <a:t>04/20/2026</a:t>
            </a:fld>
            <a:endParaRPr lang="LID4096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91D21F1-7571-49E7-BE6B-C304DA918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6828790-3D3F-4CE4-9543-3186A2D74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3CA26-4E5A-480B-A023-B4462B526DD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086954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E841DB-AE3D-47A1-B46D-BEC49F67D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BC8BBAA-6ACD-4768-ADB9-CE16ED1EF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EC3E4-021F-45EF-BF7A-4C46403036F7}" type="datetimeFigureOut">
              <a:rPr lang="LID4096" smtClean="0"/>
              <a:t>04/20/2026</a:t>
            </a:fld>
            <a:endParaRPr lang="LID4096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BEAE66B-4E4E-4FED-8687-F2A40A9FA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02A1232-20A3-4201-AB8D-EAA18B2A2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3CA26-4E5A-480B-A023-B4462B526DD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449663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F1A9CD3A-4F76-4221-8AC5-4B3D30A0C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EC3E4-021F-45EF-BF7A-4C46403036F7}" type="datetimeFigureOut">
              <a:rPr lang="LID4096" smtClean="0"/>
              <a:t>04/20/2026</a:t>
            </a:fld>
            <a:endParaRPr lang="LID4096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4D5DAB9-92AB-4283-9D9D-9832BF395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AC914BA-A938-4863-94FF-8EE6E0468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3CA26-4E5A-480B-A023-B4462B526DD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105160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F2BED5-313C-44F3-8116-B7232AFA9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E04A774-E6A4-4A2A-8A43-4E84A01E73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D46CDAF-0790-4374-BD93-7C3CD45EB6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7BCBF12-4676-43B9-9176-7CF64FDA9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EC3E4-021F-45EF-BF7A-4C46403036F7}" type="datetimeFigureOut">
              <a:rPr lang="LID4096" smtClean="0"/>
              <a:t>04/20/2026</a:t>
            </a:fld>
            <a:endParaRPr lang="LID4096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6D45458-B8A1-46D3-AEC2-D6FCD82EF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2726D42-E2D9-4EDF-8099-AD84D1359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3CA26-4E5A-480B-A023-B4462B526DD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146894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B11E40-ACCC-471A-BB43-91E450040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49DA837-947F-47DF-9BD4-54831F5BE8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466C4B8-6C65-491C-A09C-CC76154A40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8F06F85-EAC4-47F2-85D2-48C7BD9D1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EC3E4-021F-45EF-BF7A-4C46403036F7}" type="datetimeFigureOut">
              <a:rPr lang="LID4096" smtClean="0"/>
              <a:t>04/20/2026</a:t>
            </a:fld>
            <a:endParaRPr lang="LID4096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A8A8D38-50BB-4E17-9AC9-2BB7D9A6B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13D0349-E2D5-4DD9-B064-D92C5723E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3CA26-4E5A-480B-A023-B4462B526DD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917958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782B2E-A7A5-45EA-8AB0-D5C02273F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A35BAC0-33E7-4130-A93E-1AC692557A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414BE44-979B-4404-8AF6-F134C16AB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EC3E4-021F-45EF-BF7A-4C46403036F7}" type="datetimeFigureOut">
              <a:rPr lang="LID4096" smtClean="0"/>
              <a:t>04/20/2026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7BC6876-E4EA-464C-A475-05B232A4F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AD69DEF-24B1-408D-BC70-C3344A967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3CA26-4E5A-480B-A023-B4462B526DD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297216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5A1D8A4-CC9F-48F3-A9FE-133A7ECE41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5A217C2-A5EE-46F4-B4AC-A6936D4046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1C1D584-C72C-4D7D-8F1C-FD62B77C4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EC3E4-021F-45EF-BF7A-4C46403036F7}" type="datetimeFigureOut">
              <a:rPr lang="LID4096" smtClean="0"/>
              <a:t>04/20/2026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B977709-4CCD-4AB2-A5B8-3EE945856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DA3BF97-B327-44F7-BF2F-19298D497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3CA26-4E5A-480B-A023-B4462B526DD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283989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21793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B39038-9980-429A-9C49-0911D3088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B0EEBE2-5AB4-41BE-9C09-EE89C69119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F1AFADC-1BF5-4496-8134-167549F087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0EC3E4-021F-45EF-BF7A-4C46403036F7}" type="datetimeFigureOut">
              <a:rPr lang="LID4096" smtClean="0"/>
              <a:t>04/20/2026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41E4A5C-3A81-41A4-A42A-054AB1B03A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CB619B2-CCCC-457A-BF33-26B187621F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23CA26-4E5A-480B-A023-B4462B526DD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47536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Рисунок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 flipV="1">
            <a:off x="1643182" y="4136127"/>
            <a:ext cx="9137268" cy="60959"/>
          </a:xfrm>
          <a:custGeom>
            <a:avLst/>
            <a:gdLst/>
            <a:ahLst/>
            <a:cxnLst/>
            <a:rect l="l" t="t" r="r" b="b"/>
            <a:pathLst>
              <a:path w="9875520">
                <a:moveTo>
                  <a:pt x="0" y="0"/>
                </a:moveTo>
                <a:lnTo>
                  <a:pt x="9875520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" name="Прямоугольник 10"/>
          <p:cNvSpPr/>
          <p:nvPr/>
        </p:nvSpPr>
        <p:spPr>
          <a:xfrm>
            <a:off x="5139796" y="6307447"/>
            <a:ext cx="1661480" cy="3796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67" b="1">
                <a:latin typeface="Times New Roman" pitchFamily="18" charset="0"/>
                <a:cs typeface="Times New Roman" pitchFamily="18" charset="0"/>
              </a:rPr>
              <a:t>Toshkent 2026</a:t>
            </a:r>
            <a:endParaRPr lang="ru-RU" sz="1867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383360" y="306896"/>
            <a:ext cx="11617291" cy="7487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133" b="1" dirty="0">
                <a:latin typeface="Times New Roman" pitchFamily="18" charset="0"/>
                <a:cs typeface="Times New Roman" pitchFamily="18" charset="0"/>
              </a:rPr>
              <a:t>HARBIY XAVFSIZLIK VA MUDOFAA UNIVERSITETINING</a:t>
            </a:r>
          </a:p>
          <a:p>
            <a:pPr algn="ctr"/>
            <a:r>
              <a:rPr lang="en-US" sz="2133" b="1" dirty="0">
                <a:latin typeface="Times New Roman" pitchFamily="18" charset="0"/>
                <a:cs typeface="Times New Roman" pitchFamily="18" charset="0"/>
              </a:rPr>
              <a:t>AXBOROT-KOMMUNIKATSIYA TEXNOLOGIYALARI VA HARBIY ALOQA INSTITUTI</a:t>
            </a:r>
            <a:endParaRPr lang="ru-RU" sz="2133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1199451" y="2642960"/>
            <a:ext cx="9985109" cy="748795"/>
          </a:xfrm>
          <a:prstGeom prst="rect">
            <a:avLst/>
          </a:prstGeom>
          <a:solidFill>
            <a:schemeClr val="bg1">
              <a:lumMod val="85000"/>
              <a:alpha val="80000"/>
            </a:schemeClr>
          </a:solidFill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133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2-MAVZU: PyQt5 </a:t>
            </a:r>
            <a:r>
              <a:rPr lang="en-US" sz="2133" b="1" dirty="0" err="1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paketi</a:t>
            </a:r>
            <a:r>
              <a:rPr lang="en-US" sz="2133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33" b="1" dirty="0" err="1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sz="2133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33" b="1" dirty="0" err="1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QtDesigner</a:t>
            </a:r>
            <a:r>
              <a:rPr lang="en-US" sz="2133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 dasturi </a:t>
            </a:r>
            <a:r>
              <a:rPr lang="en-US" sz="2133" b="1" dirty="0" err="1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yordamida</a:t>
            </a:r>
            <a:r>
              <a:rPr lang="en-US" sz="2133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 GUI </a:t>
            </a:r>
            <a:r>
              <a:rPr lang="en-US" sz="2133" b="1" dirty="0" err="1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dasturlarini</a:t>
            </a:r>
            <a:r>
              <a:rPr lang="en-US" sz="2133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33" b="1" dirty="0" err="1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yaratish</a:t>
            </a:r>
            <a:endParaRPr lang="ru-RU" sz="2133" b="1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E57E156E-2862-45AA-B671-E1C5EDE84F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2011" y="4801068"/>
            <a:ext cx="5999989" cy="99520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pPr>
              <a:defRPr/>
            </a:pPr>
            <a:r>
              <a:rPr lang="en-US" sz="16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O‘qituvchi</a:t>
            </a:r>
            <a:r>
              <a:rPr lang="uz-Cyrl-UZ" sz="1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  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“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Axborot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texnologiyalari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sun’iy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intellekt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”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kafedrasi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“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Sun’iy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intellekt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”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sikli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katta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o‘qituvchisi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b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133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katta</a:t>
            </a:r>
            <a:r>
              <a:rPr lang="en-US" sz="2133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33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leytenant</a:t>
            </a:r>
            <a:r>
              <a:rPr lang="en-US" sz="2133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33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Qodomboyev</a:t>
            </a:r>
            <a:r>
              <a:rPr lang="en-US" sz="2133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R.O‘. </a:t>
            </a:r>
            <a:endParaRPr lang="en-US" sz="1867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59BFC1A9-62DE-4C48-BB79-E5A5081D321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967E9">
              <a:alpha val="80000"/>
            </a:srgbClr>
          </a:solidFill>
          <a:ln/>
        </p:spPr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7B83EC17-E5ED-489B-A896-839B6D9C4378}"/>
              </a:ext>
            </a:extLst>
          </p:cNvPr>
          <p:cNvSpPr/>
          <p:nvPr/>
        </p:nvSpPr>
        <p:spPr>
          <a:xfrm>
            <a:off x="0" y="2628113"/>
            <a:ext cx="12192000" cy="1601774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/>
        </p:spPr>
        <p:txBody>
          <a:bodyPr wrap="none" lIns="0" tIns="0" rIns="0" bIns="0" rtlCol="0" anchor="t"/>
          <a:lstStyle/>
          <a:p>
            <a:pPr algn="ctr">
              <a:lnSpc>
                <a:spcPts val="5550"/>
              </a:lnSpc>
            </a:pPr>
            <a:r>
              <a:rPr lang="en-US" sz="4450" dirty="0">
                <a:solidFill>
                  <a:srgbClr val="FFFFFF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2-mavzu. 3-mashg‘ulot (</a:t>
            </a:r>
            <a:r>
              <a:rPr lang="en-US" sz="4450" dirty="0" err="1">
                <a:solidFill>
                  <a:srgbClr val="FFFFFF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Guruhli</a:t>
            </a:r>
            <a:r>
              <a:rPr lang="en-US" sz="4450" dirty="0">
                <a:solidFill>
                  <a:srgbClr val="FFFFFF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):</a:t>
            </a:r>
          </a:p>
          <a:p>
            <a:pPr algn="ctr">
              <a:lnSpc>
                <a:spcPts val="5550"/>
              </a:lnSpc>
            </a:pP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PyQt5 </a:t>
            </a:r>
            <a:r>
              <a:rPr lang="en-US" sz="36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kutubxonasi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. </a:t>
            </a:r>
            <a:r>
              <a:rPr lang="en-US" sz="36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QLineEdit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vidjeti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.</a:t>
            </a:r>
            <a:endParaRPr lang="en-US" sz="36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60757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3C05110-FBAF-4E5C-8D69-806EC9F87D1F}"/>
              </a:ext>
            </a:extLst>
          </p:cNvPr>
          <p:cNvSpPr/>
          <p:nvPr/>
        </p:nvSpPr>
        <p:spPr>
          <a:xfrm>
            <a:off x="4210954" y="1610856"/>
            <a:ext cx="3770091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708"/>
              </a:lnSpc>
            </a:pPr>
            <a:r>
              <a:rPr lang="en-US" sz="4500" dirty="0" err="1">
                <a:solidFill>
                  <a:srgbClr val="1B1B27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O‘quv</a:t>
            </a:r>
            <a:r>
              <a:rPr lang="en-US" sz="4500" dirty="0">
                <a:solidFill>
                  <a:srgbClr val="1B1B27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4500" dirty="0" err="1">
                <a:solidFill>
                  <a:srgbClr val="1B1B27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savollari</a:t>
            </a:r>
            <a:r>
              <a:rPr lang="en-US" sz="4500" dirty="0">
                <a:solidFill>
                  <a:srgbClr val="1B1B27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7D0AB8B-D69B-410C-97FC-AAAF3047ADBE}"/>
              </a:ext>
            </a:extLst>
          </p:cNvPr>
          <p:cNvSpPr/>
          <p:nvPr/>
        </p:nvSpPr>
        <p:spPr>
          <a:xfrm>
            <a:off x="1407856" y="2546426"/>
            <a:ext cx="9376285" cy="106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200" lvl="0" indent="-457200">
              <a:lnSpc>
                <a:spcPct val="150000"/>
              </a:lnSpc>
              <a:buAutoNum type="arabicPeriod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QLineEdit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vidjeti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lvl="0" indent="-457200">
              <a:lnSpc>
                <a:spcPct val="150000"/>
              </a:lnSpc>
              <a:buAutoNum type="arabicPeriod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setStyleSheet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metodi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7689E44-B307-4A76-9C2B-E716B3ACBFB8}"/>
              </a:ext>
            </a:extLst>
          </p:cNvPr>
          <p:cNvSpPr/>
          <p:nvPr/>
        </p:nvSpPr>
        <p:spPr>
          <a:xfrm>
            <a:off x="2614918" y="-2083"/>
            <a:ext cx="696216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2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PyQt5 </a:t>
            </a:r>
            <a:r>
              <a:rPr lang="en-US" sz="32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kutubxonasi</a:t>
            </a:r>
            <a:r>
              <a:rPr lang="en-US" sz="32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. </a:t>
            </a:r>
            <a:r>
              <a:rPr lang="en-US" sz="32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QLineEdit</a:t>
            </a:r>
            <a:r>
              <a:rPr lang="en-US" sz="32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vidjeti</a:t>
            </a:r>
            <a:r>
              <a:rPr lang="en-US" sz="32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.</a:t>
            </a:r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E3B73B8F-F4E1-4444-94F1-884870BC4540}"/>
              </a:ext>
            </a:extLst>
          </p:cNvPr>
          <p:cNvCxnSpPr/>
          <p:nvPr/>
        </p:nvCxnSpPr>
        <p:spPr>
          <a:xfrm>
            <a:off x="0" y="582692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92309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D3B151A-6FC9-4F8C-8059-4BCF4D69593E}"/>
              </a:ext>
            </a:extLst>
          </p:cNvPr>
          <p:cNvSpPr/>
          <p:nvPr/>
        </p:nvSpPr>
        <p:spPr>
          <a:xfrm>
            <a:off x="4391847" y="24408"/>
            <a:ext cx="340830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32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QLineEdit</a:t>
            </a:r>
            <a:r>
              <a:rPr lang="en-US" sz="3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vidjeti</a:t>
            </a:r>
            <a:r>
              <a:rPr lang="en-US" sz="3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71607C6F-879B-400B-91B1-810285260B91}"/>
              </a:ext>
            </a:extLst>
          </p:cNvPr>
          <p:cNvCxnSpPr/>
          <p:nvPr/>
        </p:nvCxnSpPr>
        <p:spPr>
          <a:xfrm>
            <a:off x="0" y="609183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2391F323-3872-442D-8E08-5C018D02A4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988" y="563017"/>
            <a:ext cx="11170024" cy="26590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25392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 Qt </a:t>
            </a:r>
            <a:r>
              <a:rPr kumimoji="0" lang="en-US" altLang="LID4096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Designerda</a:t>
            </a:r>
            <a:r>
              <a:rPr kumimoji="0" lang="en-US" altLang="LID4096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.</a:t>
            </a:r>
            <a:r>
              <a:rPr kumimoji="0" lang="en-US" altLang="LID4096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ui</a:t>
            </a:r>
            <a:r>
              <a:rPr kumimoji="0" lang="en-US" altLang="LID4096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fayl</a:t>
            </a:r>
            <a:r>
              <a:rPr kumimoji="0" lang="en-US" altLang="LID4096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yaratish</a:t>
            </a:r>
            <a:endParaRPr kumimoji="0" lang="ru-RU" altLang="LID4096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Qadamlar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kumimoji="0" lang="ru-RU" altLang="LID4096" sz="1600" b="0" i="0" u="none" strike="noStrike" cap="none" normalizeH="0" baseline="0" dirty="0">
              <a:ln>
                <a:noFill/>
              </a:ln>
              <a:solidFill>
                <a:srgbClr val="1F3763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kumimoji="0" lang="ru-RU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Qt</a:t>
            </a:r>
            <a:r>
              <a:rPr kumimoji="0" lang="ru-RU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Designerni</a:t>
            </a:r>
            <a:r>
              <a:rPr kumimoji="0" lang="ru-RU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oching</a:t>
            </a:r>
            <a:r>
              <a:rPr kumimoji="0" lang="ru-RU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“Main Window”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yoki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“Dialog without Buttons”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tanlang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ru-RU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Chap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tomondan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Widget Box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Display Widgets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Label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oyna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ichiga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olib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chiqing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ru-RU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Labelning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objectName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xususiyatini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(Properties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oynasida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label_hello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deb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o‘zgartiring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ru-RU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Faylni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main.ui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nomi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saqlang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0117A151-D26E-41D3-BC14-EEE7722E7F29}"/>
              </a:ext>
            </a:extLst>
          </p:cNvPr>
          <p:cNvGrpSpPr/>
          <p:nvPr/>
        </p:nvGrpSpPr>
        <p:grpSpPr>
          <a:xfrm>
            <a:off x="510988" y="3361142"/>
            <a:ext cx="3334872" cy="3135180"/>
            <a:chOff x="510988" y="3361142"/>
            <a:chExt cx="3334872" cy="3135180"/>
          </a:xfrm>
        </p:grpSpPr>
        <p:pic>
          <p:nvPicPr>
            <p:cNvPr id="7" name="Рисунок 6">
              <a:extLst>
                <a:ext uri="{FF2B5EF4-FFF2-40B4-BE49-F238E27FC236}">
                  <a16:creationId xmlns:a16="http://schemas.microsoft.com/office/drawing/2014/main" id="{F242EB9B-BC33-4575-A620-C7B70DE6C76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10988" y="3361142"/>
              <a:ext cx="3334872" cy="3135180"/>
            </a:xfrm>
            <a:prstGeom prst="rect">
              <a:avLst/>
            </a:prstGeom>
          </p:spPr>
        </p:pic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FE683173-1AA5-4EF3-8E6E-5CC459FAD8DB}"/>
                </a:ext>
              </a:extLst>
            </p:cNvPr>
            <p:cNvSpPr/>
            <p:nvPr/>
          </p:nvSpPr>
          <p:spPr>
            <a:xfrm>
              <a:off x="654424" y="4087906"/>
              <a:ext cx="1290917" cy="152400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CFCAC231-48F3-456E-AC65-5135441B6533}"/>
              </a:ext>
            </a:extLst>
          </p:cNvPr>
          <p:cNvGrpSpPr/>
          <p:nvPr/>
        </p:nvGrpSpPr>
        <p:grpSpPr>
          <a:xfrm>
            <a:off x="4248198" y="3787718"/>
            <a:ext cx="4913731" cy="2162477"/>
            <a:chOff x="4248198" y="3787718"/>
            <a:chExt cx="4913731" cy="2162477"/>
          </a:xfrm>
        </p:grpSpPr>
        <p:pic>
          <p:nvPicPr>
            <p:cNvPr id="9" name="Рисунок 8">
              <a:extLst>
                <a:ext uri="{FF2B5EF4-FFF2-40B4-BE49-F238E27FC236}">
                  <a16:creationId xmlns:a16="http://schemas.microsoft.com/office/drawing/2014/main" id="{77140D87-600D-40C1-A394-E567836D56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48198" y="3787718"/>
              <a:ext cx="2486372" cy="2162477"/>
            </a:xfrm>
            <a:prstGeom prst="rect">
              <a:avLst/>
            </a:prstGeom>
          </p:spPr>
        </p:pic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854DE97E-09DF-4B21-A3BF-510850678637}"/>
                </a:ext>
              </a:extLst>
            </p:cNvPr>
            <p:cNvSpPr/>
            <p:nvPr/>
          </p:nvSpPr>
          <p:spPr>
            <a:xfrm>
              <a:off x="4248198" y="3904129"/>
              <a:ext cx="956315" cy="259977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id="{67D49A89-6800-4C7B-97C1-7F09DC852DE1}"/>
                </a:ext>
              </a:extLst>
            </p:cNvPr>
            <p:cNvSpPr/>
            <p:nvPr/>
          </p:nvSpPr>
          <p:spPr>
            <a:xfrm>
              <a:off x="7339186" y="4164106"/>
              <a:ext cx="1822743" cy="259977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CB9A2840-B891-4402-9C0A-2862DFF2B459}"/>
              </a:ext>
            </a:extLst>
          </p:cNvPr>
          <p:cNvGrpSpPr/>
          <p:nvPr/>
        </p:nvGrpSpPr>
        <p:grpSpPr>
          <a:xfrm>
            <a:off x="7243482" y="3847492"/>
            <a:ext cx="4116705" cy="2042928"/>
            <a:chOff x="7243482" y="3847492"/>
            <a:chExt cx="4116705" cy="2042928"/>
          </a:xfrm>
        </p:grpSpPr>
        <p:pic>
          <p:nvPicPr>
            <p:cNvPr id="10" name="Рисунок 9">
              <a:extLst>
                <a:ext uri="{FF2B5EF4-FFF2-40B4-BE49-F238E27FC236}">
                  <a16:creationId xmlns:a16="http://schemas.microsoft.com/office/drawing/2014/main" id="{168FD315-B989-4E1A-AEF6-928D62B6137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339186" y="3847492"/>
              <a:ext cx="4021001" cy="2042928"/>
            </a:xfrm>
            <a:prstGeom prst="rect">
              <a:avLst/>
            </a:prstGeom>
          </p:spPr>
        </p:pic>
        <p:sp>
          <p:nvSpPr>
            <p:cNvPr id="14" name="Прямоугольник 13">
              <a:extLst>
                <a:ext uri="{FF2B5EF4-FFF2-40B4-BE49-F238E27FC236}">
                  <a16:creationId xmlns:a16="http://schemas.microsoft.com/office/drawing/2014/main" id="{78FA607B-632A-490F-B842-4C32034A977F}"/>
                </a:ext>
              </a:extLst>
            </p:cNvPr>
            <p:cNvSpPr/>
            <p:nvPr/>
          </p:nvSpPr>
          <p:spPr>
            <a:xfrm>
              <a:off x="7243482" y="4164106"/>
              <a:ext cx="1918447" cy="183776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</p:spTree>
    <p:extLst>
      <p:ext uri="{BB962C8B-B14F-4D97-AF65-F5344CB8AC3E}">
        <p14:creationId xmlns:p14="http://schemas.microsoft.com/office/powerpoint/2010/main" val="14592457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8810918A-6CC2-40CD-A6ED-493B7F67BC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6376" y="363967"/>
            <a:ext cx="8615084" cy="61300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25392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kumimoji="0" lang="en-US" altLang="LID4096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kumimoji="0" lang="en-US" altLang="LID4096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ui</a:t>
            </a:r>
            <a:r>
              <a:rPr kumimoji="0" lang="en-US" altLang="LID4096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faylni</a:t>
            </a:r>
            <a:r>
              <a:rPr kumimoji="0" lang="en-US" altLang="LID4096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Python </a:t>
            </a:r>
            <a:r>
              <a:rPr kumimoji="0" lang="en-US" altLang="LID4096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kodda</a:t>
            </a:r>
            <a:r>
              <a:rPr kumimoji="0" lang="en-US" altLang="LID4096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yuklash</a:t>
            </a:r>
            <a:endParaRPr kumimoji="0" lang="ru-RU" altLang="LID4096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Biz</a:t>
            </a:r>
            <a:r>
              <a:rPr kumimoji="0" lang="ru-RU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.</a:t>
            </a:r>
            <a:r>
              <a:rPr kumimoji="0" lang="ru-RU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ui</a:t>
            </a:r>
            <a:r>
              <a:rPr kumimoji="0" lang="ru-RU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faylni</a:t>
            </a:r>
            <a:r>
              <a:rPr kumimoji="0" lang="ru-RU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ikkita</a:t>
            </a:r>
            <a:r>
              <a:rPr kumimoji="0" lang="ru-RU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yo‘l</a:t>
            </a:r>
            <a:r>
              <a:rPr kumimoji="0" lang="ru-RU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kumimoji="0" lang="ru-RU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ishlatishimiz</a:t>
            </a:r>
            <a:r>
              <a:rPr kumimoji="0" lang="ru-RU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mumkin</a:t>
            </a:r>
            <a:r>
              <a:rPr kumimoji="0" lang="ru-RU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kumimoji="0" lang="ru-RU" altLang="LID4096" sz="1600" b="0" i="0" u="none" strike="noStrike" cap="none" normalizeH="0" baseline="0" dirty="0">
              <a:ln>
                <a:noFill/>
              </a:ln>
              <a:solidFill>
                <a:srgbClr val="1F3763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6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1-usul: </a:t>
            </a:r>
            <a:r>
              <a:rPr kumimoji="0" lang="en-US" altLang="LID4096" sz="1600" b="1" i="0" u="sng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uic.loadUiType</a:t>
            </a:r>
            <a:r>
              <a:rPr kumimoji="0" lang="en-US" altLang="LID4096" sz="16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  <a:r>
              <a:rPr kumimoji="0" lang="en-US" altLang="LID4096" sz="1600" b="1" i="0" u="sng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orqali</a:t>
            </a:r>
            <a:r>
              <a:rPr kumimoji="0" lang="en-US" altLang="LID4096" sz="16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1" i="0" u="sng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to‘g‘ridan-to‘g‘ri</a:t>
            </a:r>
            <a:r>
              <a:rPr kumimoji="0" lang="en-US" altLang="LID4096" sz="16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1" i="0" u="sng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yuklash</a:t>
            </a:r>
            <a:endParaRPr kumimoji="0" lang="ru-RU" altLang="LID4096" sz="1600" b="0" i="0" u="none" strike="noStrike" cap="none" normalizeH="0" baseline="0" dirty="0">
              <a:ln>
                <a:noFill/>
              </a:ln>
              <a:solidFill>
                <a:srgbClr val="1F3763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usul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faylni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to‘g‘ridan-to‘g‘ri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ochadi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hech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qanday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konvertatsiya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kerak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emas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4B69C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from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400" b="1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PyQt5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4B69C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import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400" b="1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uic</a:t>
            </a:r>
            <a:endParaRPr kumimoji="0" lang="ru-RU" altLang="LID4096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4B69C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from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400" b="1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PyQt5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400" b="1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QtWidgets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4B69C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import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400" b="1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QApplication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400" b="1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QMainWindow</a:t>
            </a:r>
            <a:endParaRPr kumimoji="0" lang="ru-RU" altLang="LID4096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4B69C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import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400" b="1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sys</a:t>
            </a:r>
            <a:endParaRPr kumimoji="0" lang="ru-RU" altLang="LID4096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class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400" b="1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MyApp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kumimoji="0" lang="en-US" altLang="LID4096" sz="1400" b="1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QMainWindow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):</a:t>
            </a:r>
            <a:endParaRPr kumimoji="0" lang="ru-RU" altLang="LID4096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def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400" b="1" i="0" u="none" strike="noStrike" cap="none" normalizeH="0" baseline="0" dirty="0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__</a:t>
            </a:r>
            <a:r>
              <a:rPr kumimoji="0" lang="en-US" altLang="LID4096" sz="1400" b="1" i="0" u="none" strike="noStrike" cap="none" normalizeH="0" baseline="0" dirty="0" err="1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init</a:t>
            </a:r>
            <a:r>
              <a:rPr kumimoji="0" lang="en-US" altLang="LID4096" sz="1400" b="1" i="0" u="none" strike="noStrike" cap="none" normalizeH="0" baseline="0" dirty="0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__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self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):</a:t>
            </a:r>
            <a:endParaRPr kumimoji="0" lang="ru-RU" altLang="LID4096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        </a:t>
            </a:r>
            <a:r>
              <a:rPr kumimoji="0" lang="en-US" altLang="LID4096" sz="1400" b="1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super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().</a:t>
            </a:r>
            <a:r>
              <a:rPr kumimoji="0" lang="en-US" altLang="LID4096" sz="1400" b="1" i="0" u="none" strike="noStrike" cap="none" normalizeH="0" baseline="0" dirty="0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__</a:t>
            </a:r>
            <a:r>
              <a:rPr kumimoji="0" lang="en-US" altLang="LID4096" sz="1400" b="1" i="0" u="none" strike="noStrike" cap="none" normalizeH="0" baseline="0" dirty="0" err="1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init</a:t>
            </a:r>
            <a:r>
              <a:rPr kumimoji="0" lang="en-US" altLang="LID4096" sz="1400" b="1" i="0" u="none" strike="noStrike" cap="none" normalizeH="0" baseline="0" dirty="0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__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()</a:t>
            </a:r>
            <a:endParaRPr kumimoji="0" lang="ru-RU" altLang="LID4096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        </a:t>
            </a:r>
            <a:r>
              <a:rPr kumimoji="0" lang="en-US" altLang="LID4096" sz="1400" b="1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uic</a:t>
            </a:r>
            <a:r>
              <a:rPr kumimoji="0" lang="en-US" altLang="LID4096" sz="14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400" b="1" i="0" u="none" strike="noStrike" cap="none" normalizeH="0" baseline="0" dirty="0" err="1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loadUi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("</a:t>
            </a:r>
            <a:r>
              <a:rPr kumimoji="0" lang="en-US" altLang="LID4096" sz="1400" b="0" i="0" u="none" strike="noStrike" cap="none" normalizeH="0" baseline="0" dirty="0" err="1">
                <a:ln>
                  <a:noFill/>
                </a:ln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main.ui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",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self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 </a:t>
            </a:r>
            <a:r>
              <a:rPr kumimoji="0" lang="en-US" altLang="LID4096" sz="14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# UI </a:t>
            </a:r>
            <a:r>
              <a:rPr kumimoji="0" lang="en-US" altLang="LID4096" sz="14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faylni</a:t>
            </a:r>
            <a:r>
              <a:rPr kumimoji="0" lang="en-US" altLang="LID4096" sz="14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4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yuklash</a:t>
            </a:r>
            <a:endParaRPr kumimoji="0" lang="ru-RU" altLang="LID4096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        </a:t>
            </a:r>
            <a:r>
              <a:rPr kumimoji="0" lang="en-US" altLang="LID4096" sz="14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kumimoji="0" lang="en-US" altLang="LID4096" sz="14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QLabel</a:t>
            </a:r>
            <a:r>
              <a:rPr kumimoji="0" lang="en-US" altLang="LID4096" sz="14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4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vidjetini</a:t>
            </a:r>
            <a:r>
              <a:rPr kumimoji="0" lang="en-US" altLang="LID4096" sz="14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ID </a:t>
            </a:r>
            <a:r>
              <a:rPr kumimoji="0" lang="en-US" altLang="LID4096" sz="14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orqali</a:t>
            </a:r>
            <a:r>
              <a:rPr kumimoji="0" lang="en-US" altLang="LID4096" sz="14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4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chaqirish</a:t>
            </a:r>
            <a:endParaRPr kumimoji="0" lang="ru-RU" altLang="LID4096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        </a:t>
            </a:r>
            <a:r>
              <a:rPr kumimoji="0" lang="en-US" altLang="LID4096" sz="14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self</a:t>
            </a:r>
            <a:r>
              <a:rPr kumimoji="0" lang="en-US" altLang="LID4096" sz="14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4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label_hello</a:t>
            </a:r>
            <a:r>
              <a:rPr kumimoji="0" lang="en-US" altLang="LID4096" sz="14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4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setText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("</a:t>
            </a:r>
            <a:r>
              <a:rPr kumimoji="0" lang="en-US" altLang="LID4096" sz="1400" b="0" i="0" u="none" strike="noStrike" cap="none" normalizeH="0" baseline="0" dirty="0" err="1">
                <a:ln>
                  <a:noFill/>
                </a:ln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Salom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, PyQt5 </a:t>
            </a:r>
            <a:r>
              <a:rPr kumimoji="0" lang="en-US" altLang="LID4096" sz="1400" b="0" i="0" u="none" strike="noStrike" cap="none" normalizeH="0" baseline="0" dirty="0" err="1">
                <a:ln>
                  <a:noFill/>
                </a:ln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va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Qt Designer!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")</a:t>
            </a:r>
            <a:endParaRPr kumimoji="0" lang="ru-RU" altLang="LID4096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app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400" b="1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QApplication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kumimoji="0" lang="en-US" altLang="LID4096" sz="1400" b="1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sys</a:t>
            </a:r>
            <a:r>
              <a:rPr kumimoji="0" lang="en-US" altLang="LID4096" sz="14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4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argv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kumimoji="0" lang="ru-RU" altLang="LID4096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win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400" b="1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MyApp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()</a:t>
            </a:r>
            <a:endParaRPr kumimoji="0" lang="ru-RU" altLang="LID4096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4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win</a:t>
            </a:r>
            <a:r>
              <a:rPr kumimoji="0" lang="en-US" altLang="LID4096" sz="14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400" b="1" i="0" u="none" strike="noStrike" cap="none" normalizeH="0" baseline="0" dirty="0" err="1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show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()</a:t>
            </a:r>
            <a:endParaRPr kumimoji="0" lang="ru-RU" altLang="LID4096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400" b="1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sys</a:t>
            </a:r>
            <a:r>
              <a:rPr kumimoji="0" lang="en-US" altLang="LID4096" sz="14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400" b="1" i="0" u="none" strike="noStrike" cap="none" normalizeH="0" baseline="0" dirty="0" err="1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exit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kumimoji="0" lang="en-US" altLang="LID4096" sz="14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app</a:t>
            </a:r>
            <a:r>
              <a:rPr kumimoji="0" lang="en-US" altLang="LID4096" sz="14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400" b="1" i="0" u="none" strike="noStrike" cap="none" normalizeH="0" baseline="0" dirty="0" err="1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exec</a:t>
            </a:r>
            <a:r>
              <a:rPr kumimoji="0" lang="en-US" altLang="LID4096" sz="1400" b="1" i="0" u="none" strike="noStrike" cap="none" normalizeH="0" baseline="0" dirty="0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_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())</a:t>
            </a:r>
            <a:endParaRPr kumimoji="0" lang="en-US" altLang="LID4096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6259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552BE49-AD3B-4C70-A2BC-C0490FC004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2444" y="525548"/>
            <a:ext cx="8807112" cy="58069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25392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4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2-usul: </a:t>
            </a:r>
            <a:r>
              <a:rPr kumimoji="0" lang="en-US" altLang="LID4096" sz="14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kumimoji="0" lang="en-US" altLang="LID4096" sz="1400" b="1" i="0" u="sng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ui</a:t>
            </a:r>
            <a:r>
              <a:rPr kumimoji="0" lang="en-US" altLang="LID4096" sz="14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400" b="1" i="0" u="sng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faylni</a:t>
            </a:r>
            <a:r>
              <a:rPr kumimoji="0" lang="en-US" altLang="LID4096" sz="14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.</a:t>
            </a:r>
            <a:r>
              <a:rPr kumimoji="0" lang="en-US" altLang="LID4096" sz="1400" b="1" i="0" u="sng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py</a:t>
            </a:r>
            <a:r>
              <a:rPr kumimoji="0" lang="en-US" altLang="LID4096" sz="14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400" b="1" i="0" u="sng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faylga</a:t>
            </a:r>
            <a:r>
              <a:rPr kumimoji="0" lang="en-US" altLang="LID4096" sz="14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400" b="1" i="0" u="sng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aylantirish</a:t>
            </a:r>
            <a:endParaRPr kumimoji="0" lang="ru-RU" altLang="LID4096" sz="1400" b="0" i="0" u="none" strike="noStrike" cap="none" normalizeH="0" baseline="0" dirty="0">
              <a:ln>
                <a:noFill/>
              </a:ln>
              <a:solidFill>
                <a:srgbClr val="1F3763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Agar 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kumimoji="0" lang="en-US" altLang="LID4096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ui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faylni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kod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shaklida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ishlatmoqchi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bo‘lsangiz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pyuic5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yordamida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uni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kumimoji="0" lang="en-US" altLang="LID4096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py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ga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o‘tkazasiz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kumimoji="0" lang="ru-RU" altLang="LID4096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pyuic5 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kumimoji="0" lang="en-US" altLang="LID4096" sz="14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kumimoji="0" lang="en-US" altLang="LID4096" sz="14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kumimoji="0" lang="en-US" altLang="LID4096" sz="14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ui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 main_ui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py</a:t>
            </a:r>
            <a:endParaRPr kumimoji="0" lang="ru-RU" altLang="LID4096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Keyin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main_ui.py </a:t>
            </a:r>
            <a:r>
              <a:rPr kumimoji="0" lang="en-US" altLang="LID4096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faylni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dasturda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import </a:t>
            </a:r>
            <a:r>
              <a:rPr kumimoji="0" lang="en-US" altLang="LID4096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qilib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ishlatish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mumkin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LID4096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4B69C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from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400" b="1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PyQt5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400" b="1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QtWidgets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4B69C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import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400" b="1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QApplication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400" b="1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QMainWindow</a:t>
            </a:r>
            <a:endParaRPr kumimoji="0" lang="ru-RU" altLang="LID4096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4B69C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from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4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main_ui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4B69C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import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4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Ui_MainWindow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 </a:t>
            </a:r>
            <a:r>
              <a:rPr kumimoji="0" lang="en-US" altLang="LID4096" sz="14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# .</a:t>
            </a:r>
            <a:r>
              <a:rPr kumimoji="0" lang="en-US" altLang="LID4096" sz="14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ui</a:t>
            </a:r>
            <a:r>
              <a:rPr kumimoji="0" lang="en-US" altLang="LID4096" sz="14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dan </a:t>
            </a:r>
            <a:r>
              <a:rPr kumimoji="0" lang="en-US" altLang="LID4096" sz="14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o‘tgan</a:t>
            </a:r>
            <a:r>
              <a:rPr kumimoji="0" lang="en-US" altLang="LID4096" sz="14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4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kod</a:t>
            </a:r>
            <a:endParaRPr kumimoji="0" lang="ru-RU" altLang="LID4096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4B69C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import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400" b="1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sys</a:t>
            </a:r>
            <a:endParaRPr kumimoji="0" lang="ru-RU" altLang="LID4096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class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400" b="1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MyApp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kumimoji="0" lang="en-US" altLang="LID4096" sz="1400" b="1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QMainWindow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):</a:t>
            </a:r>
            <a:endParaRPr kumimoji="0" lang="ru-RU" altLang="LID4096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def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400" b="1" i="0" u="none" strike="noStrike" cap="none" normalizeH="0" baseline="0" dirty="0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__</a:t>
            </a:r>
            <a:r>
              <a:rPr kumimoji="0" lang="en-US" altLang="LID4096" sz="1400" b="1" i="0" u="none" strike="noStrike" cap="none" normalizeH="0" baseline="0" dirty="0" err="1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init</a:t>
            </a:r>
            <a:r>
              <a:rPr kumimoji="0" lang="en-US" altLang="LID4096" sz="1400" b="1" i="0" u="none" strike="noStrike" cap="none" normalizeH="0" baseline="0" dirty="0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__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self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):</a:t>
            </a:r>
            <a:endParaRPr kumimoji="0" lang="ru-RU" altLang="LID4096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        </a:t>
            </a:r>
            <a:r>
              <a:rPr kumimoji="0" lang="en-US" altLang="LID4096" sz="1400" b="1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super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().</a:t>
            </a:r>
            <a:r>
              <a:rPr kumimoji="0" lang="en-US" altLang="LID4096" sz="1400" b="1" i="0" u="none" strike="noStrike" cap="none" normalizeH="0" baseline="0" dirty="0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__</a:t>
            </a:r>
            <a:r>
              <a:rPr kumimoji="0" lang="en-US" altLang="LID4096" sz="1400" b="1" i="0" u="none" strike="noStrike" cap="none" normalizeH="0" baseline="0" dirty="0" err="1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init</a:t>
            </a:r>
            <a:r>
              <a:rPr kumimoji="0" lang="en-US" altLang="LID4096" sz="1400" b="1" i="0" u="none" strike="noStrike" cap="none" normalizeH="0" baseline="0" dirty="0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__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()</a:t>
            </a:r>
            <a:endParaRPr kumimoji="0" lang="ru-RU" altLang="LID4096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        </a:t>
            </a:r>
            <a:r>
              <a:rPr kumimoji="0" lang="en-US" altLang="LID4096" sz="14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self</a:t>
            </a:r>
            <a:r>
              <a:rPr kumimoji="0" lang="en-US" altLang="LID4096" sz="14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4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ui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4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Ui_MainWindow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()</a:t>
            </a:r>
            <a:endParaRPr kumimoji="0" lang="ru-RU" altLang="LID4096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        </a:t>
            </a:r>
            <a:r>
              <a:rPr kumimoji="0" lang="en-US" altLang="LID4096" sz="14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self</a:t>
            </a:r>
            <a:r>
              <a:rPr kumimoji="0" lang="en-US" altLang="LID4096" sz="14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4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ui</a:t>
            </a:r>
            <a:r>
              <a:rPr kumimoji="0" lang="en-US" altLang="LID4096" sz="14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4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setupUi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self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kumimoji="0" lang="ru-RU" altLang="LID4096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        </a:t>
            </a:r>
            <a:r>
              <a:rPr kumimoji="0" lang="en-US" altLang="LID4096" sz="14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self</a:t>
            </a:r>
            <a:r>
              <a:rPr kumimoji="0" lang="en-US" altLang="LID4096" sz="14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4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ui</a:t>
            </a:r>
            <a:r>
              <a:rPr kumimoji="0" lang="en-US" altLang="LID4096" sz="14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4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label_hello</a:t>
            </a:r>
            <a:r>
              <a:rPr kumimoji="0" lang="en-US" altLang="LID4096" sz="14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4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setText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("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Qt Designer </a:t>
            </a:r>
            <a:r>
              <a:rPr kumimoji="0" lang="en-US" altLang="LID4096" sz="1400" b="0" i="0" u="none" strike="noStrike" cap="none" normalizeH="0" baseline="0" dirty="0" err="1">
                <a:ln>
                  <a:noFill/>
                </a:ln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bilan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400" b="0" i="0" u="none" strike="noStrike" cap="none" normalizeH="0" baseline="0" dirty="0" err="1">
                <a:ln>
                  <a:noFill/>
                </a:ln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ishladik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!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")</a:t>
            </a:r>
            <a:endParaRPr kumimoji="0" lang="ru-RU" altLang="LID4096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app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400" b="1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QApplication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kumimoji="0" lang="en-US" altLang="LID4096" sz="1400" b="1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sys</a:t>
            </a:r>
            <a:r>
              <a:rPr kumimoji="0" lang="en-US" altLang="LID4096" sz="14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4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argv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kumimoji="0" lang="ru-RU" altLang="LID4096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win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400" b="1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MyApp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()</a:t>
            </a:r>
            <a:endParaRPr kumimoji="0" lang="ru-RU" altLang="LID4096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4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win</a:t>
            </a:r>
            <a:r>
              <a:rPr kumimoji="0" lang="en-US" altLang="LID4096" sz="14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400" b="1" i="0" u="none" strike="noStrike" cap="none" normalizeH="0" baseline="0" dirty="0" err="1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show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()</a:t>
            </a:r>
            <a:endParaRPr kumimoji="0" lang="ru-RU" altLang="LID4096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400" b="1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sys</a:t>
            </a:r>
            <a:r>
              <a:rPr kumimoji="0" lang="en-US" altLang="LID4096" sz="14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400" b="1" i="0" u="none" strike="noStrike" cap="none" normalizeH="0" baseline="0" dirty="0" err="1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exit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kumimoji="0" lang="en-US" altLang="LID4096" sz="14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app</a:t>
            </a:r>
            <a:r>
              <a:rPr kumimoji="0" lang="en-US" altLang="LID4096" sz="14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400" b="1" i="0" u="none" strike="noStrike" cap="none" normalizeH="0" baseline="0" dirty="0" err="1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exec</a:t>
            </a:r>
            <a:r>
              <a:rPr kumimoji="0" lang="en-US" altLang="LID4096" sz="1400" b="1" i="0" u="none" strike="noStrike" cap="none" normalizeH="0" baseline="0" dirty="0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_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())</a:t>
            </a:r>
            <a:endParaRPr kumimoji="0" lang="en-US" altLang="LID4096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87438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5B5567C-6621-409E-9E77-C91A14A8CC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2612" y="773434"/>
            <a:ext cx="8946776" cy="19409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QLabel</a:t>
            </a: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nima</a:t>
            </a: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kumimoji="0" lang="ru-RU" altLang="LID4096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QLabel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PyQt5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kutubxonasidagi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eng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oddiy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lekin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eng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ko‘p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ishlatiladigan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vidjetlardan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elementlardan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biridir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U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matn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(text)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yoki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rasm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(image)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ko‘rsatish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ishlatiladi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ru-RU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Ya’ni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QLabel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ko‘rsatish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(display)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mo‘ljallangan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vidjetdir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foydalanuvchidan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ma’lumot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olmaydi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faqat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ma’lumotni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chiqaradi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9719CA1-D21E-4567-9499-0FF1B55DDD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2612" y="2843765"/>
            <a:ext cx="8801548" cy="33754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QLabel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vazifalari</a:t>
            </a:r>
            <a:endParaRPr kumimoji="0" lang="ru-RU" altLang="LID4096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QLabel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quyidagi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asosiy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vazifalarni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bajaradi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kumimoji="0" lang="ru-RU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Matnni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ko‘rsatish</a:t>
            </a:r>
            <a:b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Oddiy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yoki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formatlangan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(HTML)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matnni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chiqara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oladi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ru-RU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label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setText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("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Salom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, PyQt5!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")</a:t>
            </a:r>
            <a:endParaRPr kumimoji="0" lang="ru-RU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 Shrift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o‘lchamni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o‘zgartirish</a:t>
            </a:r>
            <a:b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Matn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shriftini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o‘lchamini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rangini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o‘zgartirish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mumkin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kumimoji="0" lang="ru-RU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4B69C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from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PyQt5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QtGui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4B69C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import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QFont</a:t>
            </a:r>
            <a:endParaRPr kumimoji="0" lang="ru-RU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label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setFont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QFont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("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Arial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",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9C5D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14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))</a:t>
            </a:r>
            <a:endParaRPr kumimoji="0" lang="en-US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69729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149C2A85-AA2C-447D-8C29-3343652E1D27}"/>
              </a:ext>
            </a:extLst>
          </p:cNvPr>
          <p:cNvSpPr/>
          <p:nvPr/>
        </p:nvSpPr>
        <p:spPr>
          <a:xfrm>
            <a:off x="1593669" y="263774"/>
            <a:ext cx="9004662" cy="55917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3. </a:t>
            </a:r>
            <a:r>
              <a:rPr lang="en-US" sz="16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Rasm</a:t>
            </a: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en-US" sz="16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Pixmap</a:t>
            </a: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) </a:t>
            </a:r>
            <a:r>
              <a:rPr lang="en-US" sz="16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ko‘rsatish</a:t>
            </a:r>
            <a:b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QLabel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yordamida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rasmni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ekranga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chiqarish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oson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</a:p>
          <a:p>
            <a:pPr marL="685800" lvl="1">
              <a:lnSpc>
                <a:spcPct val="150000"/>
              </a:lnSpc>
            </a:pP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from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PyQt5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QtGui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import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QPixmap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685800" lvl="1">
              <a:lnSpc>
                <a:spcPct val="150000"/>
              </a:lnSpc>
            </a:pP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label</a:t>
            </a:r>
            <a:r>
              <a:rPr lang="en-US" sz="16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lang="en-US" sz="16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setPixmap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600" b="1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QPixmap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("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rasm.png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"))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28600"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4. HTML </a:t>
            </a:r>
            <a:r>
              <a:rPr lang="en-US" sz="16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yoki</a:t>
            </a: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link </a:t>
            </a:r>
            <a:r>
              <a:rPr lang="en-US" sz="16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ko‘rsatish</a:t>
            </a:r>
            <a:b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QLabel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HTML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formatni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tan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oladi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</a:p>
          <a:p>
            <a:pPr marL="685800" lvl="1">
              <a:lnSpc>
                <a:spcPct val="150000"/>
              </a:lnSpc>
            </a:pP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label</a:t>
            </a:r>
            <a:r>
              <a:rPr lang="en-US" sz="16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lang="en-US" sz="16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setText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('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&lt;a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href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="https://python.org"&gt;Python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saytiga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o‘tish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&lt;/a&gt;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')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685800" lvl="1">
              <a:lnSpc>
                <a:spcPct val="150000"/>
              </a:lnSpc>
            </a:pP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label</a:t>
            </a:r>
            <a:r>
              <a:rPr lang="en-US" sz="16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lang="en-US" sz="16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setOpenExternalLinks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True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28600"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5. </a:t>
            </a:r>
            <a:r>
              <a:rPr lang="en-US" sz="16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Matn</a:t>
            </a: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joylashuvini</a:t>
            </a: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boshqarish</a:t>
            </a:r>
            <a:b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Matnni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chapga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o‘rtaga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yoki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o‘ngga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tekislash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mumkin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</a:p>
          <a:p>
            <a:pPr marL="685800" lvl="1">
              <a:lnSpc>
                <a:spcPct val="150000"/>
              </a:lnSpc>
            </a:pP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from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PyQt5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QtCore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import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Qt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685800" lvl="1">
              <a:lnSpc>
                <a:spcPct val="150000"/>
              </a:lnSpc>
            </a:pP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label</a:t>
            </a:r>
            <a:r>
              <a:rPr lang="en-US" sz="16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lang="en-US" sz="16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setAlignment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600" b="1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Qt</a:t>
            </a:r>
            <a:r>
              <a:rPr lang="en-US" sz="16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lang="en-US" sz="1600" dirty="0" err="1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AlignCenter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28600"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6. </a:t>
            </a:r>
            <a:r>
              <a:rPr lang="en-US" sz="16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Chegara</a:t>
            </a: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en-US" sz="16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ramka</a:t>
            </a: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) </a:t>
            </a:r>
            <a:r>
              <a:rPr lang="en-US" sz="16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fon</a:t>
            </a: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berish</a:t>
            </a:r>
            <a:b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CSS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uslubida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style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berish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mumkin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</a:p>
          <a:p>
            <a:pPr marL="685800" lvl="1">
              <a:lnSpc>
                <a:spcPct val="150000"/>
              </a:lnSpc>
            </a:pP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label</a:t>
            </a:r>
            <a:r>
              <a:rPr lang="en-US" sz="16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lang="en-US" sz="16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setStyleSheet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("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border: 1px solid gray; background-color: #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eef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;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")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5848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769167E4-3400-4BF0-8083-70033201E3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514" y="1155031"/>
            <a:ext cx="8039380" cy="4485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Misollar</a:t>
            </a:r>
            <a:endParaRPr kumimoji="0" lang="ru-RU" altLang="LID4096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1-misol.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QLabel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yaratish</a:t>
            </a:r>
            <a:endParaRPr kumimoji="0" lang="en-US" altLang="LID4096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4B69C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from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PyQt5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QtWidgets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4B69C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import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QApplication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QLabel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QWidget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QVBoxLayout</a:t>
            </a:r>
            <a:endParaRPr kumimoji="0" lang="en-US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4B69C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import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sys</a:t>
            </a:r>
            <a:endParaRPr kumimoji="0" lang="en-US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app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QApplication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sys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argv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kumimoji="0" lang="en-US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win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QWidget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()</a:t>
            </a:r>
            <a:endParaRPr kumimoji="0" lang="en-US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layout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QVBoxLayout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win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kumimoji="0" lang="en-US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label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QLabel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("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Salom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,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QLabel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!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")</a:t>
            </a:r>
            <a:endParaRPr kumimoji="0" lang="en-US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layout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addWidget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label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kumimoji="0" lang="en-US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win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show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()</a:t>
            </a:r>
            <a:endParaRPr kumimoji="0" lang="en-US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sys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exit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app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exec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_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())</a:t>
            </a:r>
            <a:endParaRPr kumimoji="0" lang="en-US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2049" name="Рисунок 4">
            <a:extLst>
              <a:ext uri="{FF2B5EF4-FFF2-40B4-BE49-F238E27FC236}">
                <a16:creationId xmlns:a16="http://schemas.microsoft.com/office/drawing/2014/main" id="{D4057881-3697-41D6-A838-BADF6BC61F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0755" y="2894405"/>
            <a:ext cx="1890122" cy="1007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3">
            <a:extLst>
              <a:ext uri="{FF2B5EF4-FFF2-40B4-BE49-F238E27FC236}">
                <a16:creationId xmlns:a16="http://schemas.microsoft.com/office/drawing/2014/main" id="{727CE2A2-3D12-48F2-863E-42F2BB78EE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763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784479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ED2386DB-7E7B-4F93-989B-90E93BC777B4}"/>
              </a:ext>
            </a:extLst>
          </p:cNvPr>
          <p:cNvSpPr/>
          <p:nvPr/>
        </p:nvSpPr>
        <p:spPr>
          <a:xfrm>
            <a:off x="505096" y="166985"/>
            <a:ext cx="7271657" cy="65240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2-misol:</a:t>
            </a:r>
          </a:p>
          <a:p>
            <a:pPr>
              <a:lnSpc>
                <a:spcPct val="120000"/>
              </a:lnSpc>
            </a:pPr>
            <a:endParaRPr lang="en-US" sz="10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4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from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PyQt5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lang="en-US" sz="14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QtWidgets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import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QApplication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QLabel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QWidget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QVBoxLayout</a:t>
            </a:r>
            <a:endParaRPr lang="en-US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4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from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PyQt5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lang="en-US" sz="14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QtGui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import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QFont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QPixmap</a:t>
            </a:r>
            <a:endParaRPr lang="en-US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4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from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PyQt5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lang="en-US" sz="14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QtCore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import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Qt</a:t>
            </a:r>
            <a:endParaRPr lang="en-US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4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import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sys</a:t>
            </a:r>
            <a:endParaRPr lang="en-US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0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endParaRPr lang="en-US" sz="1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app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QApplication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400" b="1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sys</a:t>
            </a:r>
            <a:r>
              <a:rPr lang="en-US" sz="14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argv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lang="en-US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0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endParaRPr lang="en-US" sz="1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win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QWidget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()</a:t>
            </a:r>
            <a:endParaRPr lang="en-US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layout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QVBoxLayout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win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lang="en-US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0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endParaRPr lang="en-US" sz="1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Matnli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label</a:t>
            </a:r>
            <a:endParaRPr lang="en-US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label1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QLabel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("</a:t>
            </a:r>
            <a:r>
              <a:rPr lang="en-US" sz="14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Bu </a:t>
            </a:r>
            <a:r>
              <a:rPr lang="en-US" sz="14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QLabel</a:t>
            </a:r>
            <a:r>
              <a:rPr lang="en-US" sz="14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misoli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")</a:t>
            </a:r>
            <a:endParaRPr lang="en-US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label1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setFont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400" b="1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QFont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("</a:t>
            </a:r>
            <a:r>
              <a:rPr lang="en-US" sz="14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Times New Roman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14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))</a:t>
            </a:r>
            <a:endParaRPr lang="en-US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label1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setAlignment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400" b="1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Qt</a:t>
            </a:r>
            <a:r>
              <a:rPr lang="en-US" sz="14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lang="en-US" sz="1400" dirty="0" err="1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AlignCenter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lang="en-US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0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endParaRPr lang="en-US" sz="1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Rasmli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label</a:t>
            </a:r>
            <a:endParaRPr lang="en-US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label2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QLabel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()</a:t>
            </a:r>
            <a:endParaRPr lang="en-US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label2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setPixmap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400" b="1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QPixmap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("</a:t>
            </a:r>
            <a:r>
              <a:rPr lang="en-US" sz="14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python_logo.png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"))</a:t>
            </a:r>
            <a:endParaRPr lang="en-US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label2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setScaledContents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True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lang="en-US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0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endParaRPr lang="en-US" sz="1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layout</a:t>
            </a:r>
            <a:r>
              <a:rPr lang="en-US" sz="14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lang="en-US" sz="14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addWidget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label1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lang="en-US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layout</a:t>
            </a:r>
            <a:r>
              <a:rPr lang="en-US" sz="14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lang="en-US" sz="14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addWidget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label2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lang="en-US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0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endParaRPr lang="en-US" sz="1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win</a:t>
            </a:r>
            <a:r>
              <a:rPr lang="en-US" sz="14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lang="en-US" sz="14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show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()</a:t>
            </a:r>
            <a:endParaRPr lang="en-US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400" b="1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sys</a:t>
            </a:r>
            <a:r>
              <a:rPr lang="en-US" sz="14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lang="en-US" sz="14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exit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app</a:t>
            </a:r>
            <a:r>
              <a:rPr lang="en-US" sz="14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lang="en-US" sz="14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exec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_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())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6487C3A-5AB0-429B-868B-607879E3DC1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7776755" y="1576432"/>
            <a:ext cx="3274422" cy="3705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986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D3B151A-6FC9-4F8C-8059-4BCF4D69593E}"/>
              </a:ext>
            </a:extLst>
          </p:cNvPr>
          <p:cNvSpPr/>
          <p:nvPr/>
        </p:nvSpPr>
        <p:spPr>
          <a:xfrm>
            <a:off x="3805148" y="-18475"/>
            <a:ext cx="458170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3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32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setStyleSheet</a:t>
            </a:r>
            <a:r>
              <a:rPr lang="en-US" sz="3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  <a:r>
              <a:rPr lang="en-US" sz="32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metodi</a:t>
            </a:r>
            <a:r>
              <a:rPr lang="en-US" sz="3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71607C6F-879B-400B-91B1-810285260B91}"/>
              </a:ext>
            </a:extLst>
          </p:cNvPr>
          <p:cNvCxnSpPr/>
          <p:nvPr/>
        </p:nvCxnSpPr>
        <p:spPr>
          <a:xfrm>
            <a:off x="0" y="644017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1">
            <a:extLst>
              <a:ext uri="{FF2B5EF4-FFF2-40B4-BE49-F238E27FC236}">
                <a16:creationId xmlns:a16="http://schemas.microsoft.com/office/drawing/2014/main" id="{79270B9E-550D-4AAE-A54F-A32F4B268C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051" y="1083875"/>
            <a:ext cx="9610323" cy="18947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1.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Asosiy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: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matn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(text)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bilan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ishlash</a:t>
            </a:r>
            <a:endParaRPr kumimoji="0" lang="ru-RU" altLang="LID4096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label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setText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("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Salom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!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")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        </a:t>
            </a:r>
            <a:r>
              <a:rPr kumimoji="0" lang="en-US" altLang="LID4096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kumimoji="0" lang="en-US" altLang="LID4096" sz="16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QLabel</a:t>
            </a:r>
            <a:r>
              <a:rPr kumimoji="0" lang="en-US" altLang="LID4096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ga</a:t>
            </a:r>
            <a:r>
              <a:rPr kumimoji="0" lang="en-US" altLang="LID4096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matn</a:t>
            </a:r>
            <a:r>
              <a:rPr kumimoji="0" lang="en-US" altLang="LID4096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yozish</a:t>
            </a:r>
            <a:r>
              <a:rPr kumimoji="0" lang="en-US" altLang="LID4096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yoki</a:t>
            </a:r>
            <a:r>
              <a:rPr kumimoji="0" lang="en-US" altLang="LID4096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mavjud</a:t>
            </a:r>
            <a:r>
              <a:rPr kumimoji="0" lang="en-US" altLang="LID4096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matnni</a:t>
            </a:r>
            <a:r>
              <a:rPr kumimoji="0" lang="en-US" altLang="LID4096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yangilash</a:t>
            </a:r>
            <a:endParaRPr kumimoji="0" lang="ru-RU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current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label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text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()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        </a:t>
            </a:r>
            <a:r>
              <a:rPr kumimoji="0" lang="en-US" altLang="LID4096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kumimoji="0" lang="en-US" altLang="LID4096" sz="16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joriy</a:t>
            </a:r>
            <a:r>
              <a:rPr kumimoji="0" lang="en-US" altLang="LID4096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matnni</a:t>
            </a:r>
            <a:r>
              <a:rPr kumimoji="0" lang="en-US" altLang="LID4096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olish</a:t>
            </a:r>
            <a:endParaRPr kumimoji="0" lang="ru-RU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setText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 —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matn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yozish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yoki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mavjud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matnni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yangilash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ru-RU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kumimoji="0" lang="ru-RU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text</a:t>
            </a:r>
            <a:r>
              <a:rPr kumimoji="0" lang="ru-RU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 — </a:t>
            </a:r>
            <a:r>
              <a:rPr kumimoji="0" lang="ru-RU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joriy</a:t>
            </a:r>
            <a:r>
              <a:rPr kumimoji="0" lang="ru-RU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matnni</a:t>
            </a:r>
            <a:r>
              <a:rPr kumimoji="0" lang="ru-RU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qaytaradi</a:t>
            </a:r>
            <a:r>
              <a:rPr kumimoji="0" lang="ru-RU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ru-RU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4130231D-5068-4BE5-A6CF-2AA75BD89D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051" y="3429000"/>
            <a:ext cx="9946954" cy="2636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2.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Oddiy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matn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va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HTML (Rich text)</a:t>
            </a:r>
            <a:endParaRPr kumimoji="0" lang="ru-RU" altLang="LID4096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4B69C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from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PyQt5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QtCore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4B69C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import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Qt</a:t>
            </a:r>
            <a:endParaRPr kumimoji="0" lang="en-US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label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setTextFormat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Qt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PlainText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  </a:t>
            </a:r>
            <a:r>
              <a:rPr kumimoji="0" lang="en-US" altLang="LID4096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kumimoji="0" lang="en-US" altLang="LID4096" sz="16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qat'iy</a:t>
            </a:r>
            <a:r>
              <a:rPr kumimoji="0" lang="en-US" altLang="LID4096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oddiy</a:t>
            </a:r>
            <a:r>
              <a:rPr kumimoji="0" lang="en-US" altLang="LID4096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matn</a:t>
            </a:r>
            <a:endParaRPr kumimoji="0" lang="en-US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label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setText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("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1 &lt; 2 &amp; 3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")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        </a:t>
            </a:r>
            <a:r>
              <a:rPr kumimoji="0" lang="en-US" altLang="LID4096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kumimoji="0" lang="en-US" altLang="LID4096" sz="16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PlainText</a:t>
            </a:r>
            <a:r>
              <a:rPr kumimoji="0" lang="en-US" altLang="LID4096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bo'lsa</a:t>
            </a:r>
            <a:r>
              <a:rPr kumimoji="0" lang="en-US" altLang="LID4096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HTML </a:t>
            </a:r>
            <a:r>
              <a:rPr kumimoji="0" lang="en-US" altLang="LID4096" sz="16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teglari</a:t>
            </a:r>
            <a:r>
              <a:rPr kumimoji="0" lang="en-US" altLang="LID4096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ishlamaydi</a:t>
            </a:r>
            <a:endParaRPr kumimoji="0" lang="en-US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label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setTextFormat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Qt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RichText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   </a:t>
            </a:r>
            <a:r>
              <a:rPr kumimoji="0" lang="en-US" altLang="LID4096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# HTML (rich text) </a:t>
            </a:r>
            <a:r>
              <a:rPr kumimoji="0" lang="en-US" altLang="LID4096" sz="16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ishlaydi</a:t>
            </a:r>
            <a:endParaRPr kumimoji="0" lang="en-US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label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setText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('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&lt;b&gt;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Qalin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&lt;/b&gt;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va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&lt;span style="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color:red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"&gt;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qizil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&lt;/span&gt;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')</a:t>
            </a:r>
            <a:endParaRPr kumimoji="0" lang="en-US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label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setOpenExternalLinks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9C5D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True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   </a:t>
            </a:r>
            <a:r>
              <a:rPr kumimoji="0" lang="en-US" altLang="LID4096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# &lt;a </a:t>
            </a:r>
            <a:r>
              <a:rPr kumimoji="0" lang="en-US" altLang="LID4096" sz="16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href</a:t>
            </a:r>
            <a:r>
              <a:rPr kumimoji="0" lang="en-US" altLang="LID4096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="..."&gt; </a:t>
            </a:r>
            <a:r>
              <a:rPr kumimoji="0" lang="en-US" altLang="LID4096" sz="16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linklarini</a:t>
            </a:r>
            <a:r>
              <a:rPr kumimoji="0" lang="en-US" altLang="LID4096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tashqi</a:t>
            </a:r>
            <a:r>
              <a:rPr kumimoji="0" lang="en-US" altLang="LID4096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brauzerda</a:t>
            </a:r>
            <a:r>
              <a:rPr kumimoji="0" lang="en-US" altLang="LID4096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ochish</a:t>
            </a:r>
            <a:endParaRPr kumimoji="0" lang="en-US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8142BB16-3B8C-4E9A-B0CA-3C4EB020DA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051" y="6183206"/>
            <a:ext cx="7827912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Qt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avtomatik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aniqlaydi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lekin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kerak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bo‘lsa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.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setTextFormat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aniq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belgilash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mumkin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53315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99A1484-7F3E-4CB2-B967-7FD8EB22C2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2119" y="515622"/>
            <a:ext cx="7959726" cy="51772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457056" tIns="4572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 Font (shrift) —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QFont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yordamida</a:t>
            </a:r>
            <a:endParaRPr kumimoji="0" lang="en-US" altLang="LID4096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endParaRPr kumimoji="0" lang="ru-RU" altLang="LID4096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4B69C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from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PyQt5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QtGui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4B69C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import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QFont</a:t>
            </a:r>
            <a:endParaRPr kumimoji="0" lang="ru-RU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f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QFont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("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Arial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",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9C5D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14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    </a:t>
            </a:r>
            <a:r>
              <a:rPr kumimoji="0" lang="en-US" altLang="LID4096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kumimoji="0" lang="en-US" altLang="LID4096" sz="16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oilasi</a:t>
            </a:r>
            <a:r>
              <a:rPr kumimoji="0" lang="en-US" altLang="LID4096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va</a:t>
            </a:r>
            <a:r>
              <a:rPr kumimoji="0" lang="en-US" altLang="LID4096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point-size (nuqta </a:t>
            </a:r>
            <a:r>
              <a:rPr kumimoji="0" lang="en-US" altLang="LID4096" sz="16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o'lchami</a:t>
            </a:r>
            <a:r>
              <a:rPr kumimoji="0" lang="en-US" altLang="LID4096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kumimoji="0" lang="ru-RU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f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setBold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9C5D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True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           </a:t>
            </a:r>
            <a:r>
              <a:rPr kumimoji="0" lang="en-US" altLang="LID4096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kumimoji="0" lang="en-US" altLang="LID4096" sz="16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qalin</a:t>
            </a:r>
            <a:endParaRPr kumimoji="0" lang="ru-RU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f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setItalic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9C5D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True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         </a:t>
            </a:r>
            <a:r>
              <a:rPr kumimoji="0" lang="en-US" altLang="LID4096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kumimoji="0" lang="en-US" altLang="LID4096" sz="16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kursiv</a:t>
            </a:r>
            <a:endParaRPr kumimoji="0" lang="ru-RU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f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setUnderline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9C5D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True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      </a:t>
            </a:r>
            <a:r>
              <a:rPr kumimoji="0" lang="en-US" altLang="LID4096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kumimoji="0" lang="en-US" altLang="LID4096" sz="16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ostiga</a:t>
            </a:r>
            <a:r>
              <a:rPr kumimoji="0" lang="en-US" altLang="LID4096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chizish</a:t>
            </a:r>
            <a:endParaRPr kumimoji="0" lang="ru-RU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f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setWeight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9C5D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75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           </a:t>
            </a:r>
            <a:r>
              <a:rPr kumimoji="0" lang="en-US" altLang="LID4096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kumimoji="0" lang="en-US" altLang="LID4096" sz="16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vazn</a:t>
            </a:r>
            <a:r>
              <a:rPr kumimoji="0" lang="en-US" altLang="LID4096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: 0-99 (normal ~50, bold ~75)</a:t>
            </a:r>
            <a:endParaRPr kumimoji="0" lang="ru-RU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ru-RU" altLang="LID4096" sz="16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label</a:t>
            </a:r>
            <a:r>
              <a:rPr kumimoji="0" lang="ru-RU" altLang="LID4096" sz="16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ru-RU" altLang="LID4096" sz="1600" b="1" i="0" u="none" strike="noStrike" cap="none" normalizeH="0" baseline="0" dirty="0" err="1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setFont</a:t>
            </a:r>
            <a:r>
              <a:rPr kumimoji="0" lang="ru-RU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kumimoji="0" lang="ru-RU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f</a:t>
            </a:r>
            <a:r>
              <a:rPr kumimoji="0" lang="ru-RU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kumimoji="0" lang="en-US" altLang="LID4096" sz="1600" b="0" i="0" u="none" strike="noStrike" cap="none" normalizeH="0" baseline="0" dirty="0">
              <a:ln>
                <a:noFill/>
              </a:ln>
              <a:solidFill>
                <a:srgbClr val="777777"/>
              </a:solidFill>
              <a:effectLst/>
              <a:latin typeface="Consolas" panose="020B0609020204030204" pitchFamily="49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endParaRPr kumimoji="0" lang="ru-RU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QFont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(family,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pointSize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— family (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masalan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"Arial"),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pointSize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nuqtada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ru-RU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setWeight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(int)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aniq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nazorat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ru-RU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setPixelSize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(px) 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— agar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piksel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asosida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aniq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o‘lchash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kerak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bo‘lsa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kumimoji="0" lang="ru-RU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kumimoji="0" lang="ru-RU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f.setPixelSize</a:t>
            </a:r>
            <a:r>
              <a:rPr kumimoji="0" lang="ru-RU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(20)</a:t>
            </a:r>
            <a:r>
              <a:rPr kumimoji="0" lang="ru-RU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173039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4AFD569-B85F-47C8-98AE-24488D0DF0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1825" y="746876"/>
            <a:ext cx="10428350" cy="48018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457056" tIns="4572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4. Style sheet (CSS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uslubida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)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bilan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font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va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rang</a:t>
            </a:r>
            <a:endParaRPr kumimoji="0" lang="ru-RU" altLang="LID4096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label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setStyleSheet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("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font-family: 'Times New Roman'; font-size: 18pt; color: #2a7ae2;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")</a:t>
            </a:r>
            <a:endParaRPr kumimoji="0" lang="ru-RU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font-size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da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pt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yoki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px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ishlatish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mumkin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(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18pt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, 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16px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).</a:t>
            </a:r>
            <a:endParaRPr kumimoji="0" lang="ru-RU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Style sheet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yordamida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yana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font-weight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, 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font-style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va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boshqalarni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ham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berish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mumkin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:</a:t>
            </a:r>
            <a:endParaRPr kumimoji="0" lang="en-US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label { font-weight: bold; font-style: italic; }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457200" algn="l"/>
              </a:tabLst>
            </a:pPr>
            <a:endParaRPr kumimoji="0" lang="ru-RU" altLang="LID4096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5.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Matn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joylashuvi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, margin, indent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va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o‘rash</a:t>
            </a:r>
            <a:endParaRPr kumimoji="0" lang="ru-RU" altLang="LID4096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4B69C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from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PyQt5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QtCore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4B69C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import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Qt</a:t>
            </a:r>
            <a:endParaRPr kumimoji="0" lang="en-US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label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setAlignment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Qt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AlignCenter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  </a:t>
            </a:r>
            <a:r>
              <a:rPr kumimoji="0" lang="en-US" altLang="LID4096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kumimoji="0" lang="en-US" altLang="LID4096" sz="16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AlignLeft</a:t>
            </a:r>
            <a:r>
              <a:rPr kumimoji="0" lang="en-US" altLang="LID4096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, </a:t>
            </a:r>
            <a:r>
              <a:rPr kumimoji="0" lang="en-US" altLang="LID4096" sz="16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AlignRight</a:t>
            </a:r>
            <a:r>
              <a:rPr kumimoji="0" lang="en-US" altLang="LID4096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, </a:t>
            </a:r>
            <a:r>
              <a:rPr kumimoji="0" lang="en-US" altLang="LID4096" sz="16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AlignTop</a:t>
            </a:r>
            <a:r>
              <a:rPr kumimoji="0" lang="en-US" altLang="LID4096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, </a:t>
            </a:r>
            <a:r>
              <a:rPr kumimoji="0" lang="en-US" altLang="LID4096" sz="16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AlignVCenter</a:t>
            </a:r>
            <a:r>
              <a:rPr kumimoji="0" lang="en-US" altLang="LID4096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...</a:t>
            </a:r>
            <a:endParaRPr kumimoji="0" lang="ru-RU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label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setMargin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9C5D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8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                 </a:t>
            </a:r>
            <a:r>
              <a:rPr kumimoji="0" lang="en-US" altLang="LID4096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kumimoji="0" lang="en-US" altLang="LID4096" sz="16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ichki</a:t>
            </a:r>
            <a:r>
              <a:rPr kumimoji="0" lang="en-US" altLang="LID4096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chekka</a:t>
            </a:r>
            <a:r>
              <a:rPr kumimoji="0" lang="en-US" altLang="LID4096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(pixel)</a:t>
            </a:r>
            <a:endParaRPr kumimoji="0" lang="ru-RU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label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setIndent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9C5D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10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                </a:t>
            </a:r>
            <a:r>
              <a:rPr kumimoji="0" lang="en-US" altLang="LID4096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kumimoji="0" lang="en-US" altLang="LID4096" sz="16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matnni</a:t>
            </a:r>
            <a:r>
              <a:rPr kumimoji="0" lang="en-US" altLang="LID4096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chapdan</a:t>
            </a:r>
            <a:r>
              <a:rPr kumimoji="0" lang="en-US" altLang="LID4096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surish</a:t>
            </a:r>
            <a:endParaRPr kumimoji="0" lang="ru-RU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label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setWordWrap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9C5D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True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            </a:t>
            </a:r>
            <a:r>
              <a:rPr kumimoji="0" lang="en-US" altLang="LID4096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kumimoji="0" lang="en-US" altLang="LID4096" sz="16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uzun</a:t>
            </a:r>
            <a:r>
              <a:rPr kumimoji="0" lang="en-US" altLang="LID4096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matnni</a:t>
            </a:r>
            <a:r>
              <a:rPr kumimoji="0" lang="en-US" altLang="LID4096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yangi</a:t>
            </a:r>
            <a:r>
              <a:rPr kumimoji="0" lang="en-US" altLang="LID4096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qatorga</a:t>
            </a:r>
            <a:r>
              <a:rPr kumimoji="0" lang="en-US" altLang="LID4096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o'rash</a:t>
            </a:r>
            <a:endParaRPr kumimoji="0" lang="ru-RU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setWordWrap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(True)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—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matn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label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kengligiga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sig‘masa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avtomatik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yangi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qatorga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o'tadi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.</a:t>
            </a:r>
            <a:endParaRPr kumimoji="0" lang="en-US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96320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85BBE3F-5785-4811-887A-8E30DDB5FB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8102" y="1743667"/>
            <a:ext cx="10395795" cy="3370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6.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Matn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tanlash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va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interaktivlik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(link, select)</a:t>
            </a:r>
            <a:endParaRPr kumimoji="0" lang="ru-RU" altLang="LID4096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4B69C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from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PyQt5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QtCore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4B69C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import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Qt</a:t>
            </a:r>
            <a:endParaRPr kumimoji="0" lang="ru-RU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label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setTextInteractionFlags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Qt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TextSelectableByMouse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  </a:t>
            </a:r>
            <a:r>
              <a:rPr kumimoji="0" lang="en-US" altLang="LID4096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kumimoji="0" lang="en-US" altLang="LID4096" sz="16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sichqoncha</a:t>
            </a:r>
            <a:r>
              <a:rPr kumimoji="0" lang="en-US" altLang="LID4096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bilan</a:t>
            </a:r>
            <a:r>
              <a:rPr kumimoji="0" lang="en-US" altLang="LID4096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tanlash</a:t>
            </a:r>
            <a:r>
              <a:rPr kumimoji="0" lang="en-US" altLang="LID4096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mumkin</a:t>
            </a:r>
            <a:endParaRPr kumimoji="0" lang="ru-RU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label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setTextInteractionFlags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Qt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TextBrowserInteraction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 </a:t>
            </a:r>
            <a:r>
              <a:rPr kumimoji="0" lang="en-US" altLang="LID4096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# link </a:t>
            </a:r>
            <a:r>
              <a:rPr kumimoji="0" lang="en-US" altLang="LID4096" sz="16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va</a:t>
            </a:r>
            <a:r>
              <a:rPr kumimoji="0" lang="en-US" altLang="LID4096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tanlash</a:t>
            </a:r>
            <a:r>
              <a:rPr kumimoji="0" lang="en-US" altLang="LID4096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kombinatsiyasi</a:t>
            </a:r>
            <a:endParaRPr kumimoji="0" lang="ru-RU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# Link </a:t>
            </a:r>
            <a:r>
              <a:rPr kumimoji="0" lang="en-US" altLang="LID4096" sz="16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signali</a:t>
            </a:r>
            <a:r>
              <a:rPr kumimoji="0" lang="en-US" altLang="LID4096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:</a:t>
            </a:r>
            <a:endParaRPr kumimoji="0" lang="ru-RU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label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setText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('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&lt;a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href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="hello"&gt;Bos!&lt;/a&gt;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')</a:t>
            </a:r>
            <a:endParaRPr kumimoji="0" lang="ru-RU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label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linkActivated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connect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lambda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href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: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print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("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Link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bosildi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: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",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href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))</a:t>
            </a:r>
            <a:endParaRPr kumimoji="0" lang="ru-RU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linkActivated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(str)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—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ichki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link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bosilganda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chaqiriladi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.</a:t>
            </a:r>
            <a:endParaRPr kumimoji="0" lang="ru-RU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setOpenExternalLinks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(True)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—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tashqi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linklarni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brauzerda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ochadi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.</a:t>
            </a:r>
            <a:endParaRPr kumimoji="0" lang="en-US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69897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263506E-CB18-4A24-881A-B49DB65573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9679" y="1928333"/>
            <a:ext cx="8712642" cy="30013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7.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Matnni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labelga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sig‘dirish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: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QFontMetrics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va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elide</a:t>
            </a:r>
            <a:endParaRPr kumimoji="0" lang="ru-RU" altLang="LID4096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Agar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matn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labelga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sig‘masa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,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uni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...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bilan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qisqartirish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:</a:t>
            </a:r>
            <a:endParaRPr kumimoji="0" lang="ru-RU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4B69C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from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PyQt5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QtGui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4B69C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import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QFontMetrics</a:t>
            </a:r>
            <a:endParaRPr kumimoji="0" lang="ru-RU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4B69C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from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PyQt5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QtCore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4B69C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import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Qt</a:t>
            </a:r>
            <a:endParaRPr kumimoji="0" lang="ru-RU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fm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QFontMetrics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label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font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())</a:t>
            </a:r>
            <a:endParaRPr kumimoji="0" lang="ru-RU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elided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fm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elidedText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("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Bu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juda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uzun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matn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...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",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Qt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ElideRight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label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width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())</a:t>
            </a:r>
            <a:endParaRPr kumimoji="0" lang="ru-RU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ru-RU" altLang="LID4096" sz="16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label</a:t>
            </a:r>
            <a:r>
              <a:rPr kumimoji="0" lang="ru-RU" altLang="LID4096" sz="16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ru-RU" altLang="LID4096" sz="1600" b="1" i="0" u="none" strike="noStrike" cap="none" normalizeH="0" baseline="0" dirty="0" err="1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setText</a:t>
            </a:r>
            <a:r>
              <a:rPr kumimoji="0" lang="ru-RU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kumimoji="0" lang="ru-RU" altLang="LID4096" sz="16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elided</a:t>
            </a:r>
            <a:r>
              <a:rPr kumimoji="0" lang="ru-RU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kumimoji="0" lang="ru-RU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Qt.ElideRight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—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oxiridan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...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qo‘yadi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. </a:t>
            </a:r>
            <a:r>
              <a:rPr kumimoji="0" lang="ru-RU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ElideLeft</a:t>
            </a:r>
            <a:r>
              <a:rPr kumimoji="0" lang="ru-RU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, </a:t>
            </a:r>
            <a:r>
              <a:rPr kumimoji="0" lang="ru-RU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ElideMiddle</a:t>
            </a:r>
            <a:r>
              <a:rPr kumimoji="0" lang="ru-RU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kumimoji="0" lang="ru-RU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ham</a:t>
            </a:r>
            <a:r>
              <a:rPr kumimoji="0" lang="ru-RU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kumimoji="0" lang="ru-RU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bor</a:t>
            </a:r>
            <a:r>
              <a:rPr kumimoji="0" lang="ru-RU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.</a:t>
            </a:r>
            <a:endParaRPr kumimoji="0" lang="ru-RU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35148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70E956F-97F7-4D58-A60B-4BB8925BBF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8520" y="237646"/>
            <a:ext cx="7814960" cy="595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8.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Avtomatik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shrift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moslash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(fit-to-width) —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kod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misoli</a:t>
            </a:r>
            <a:endParaRPr kumimoji="0" lang="ru-RU" altLang="LID4096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Bu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funksiyani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oynani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ko‘rsatgandan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yoki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o‘lchami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o‘zgarganda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chaqiring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.</a:t>
            </a:r>
            <a:endParaRPr kumimoji="0" lang="ru-RU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def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fit_font_to_label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label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text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min_size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9C5D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6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max_size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9C5D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48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):</a:t>
            </a:r>
            <a:endParaRPr kumimoji="0" lang="ru-RU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4B69C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from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PyQt5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QtGui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4B69C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import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QFont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QFontMetrics</a:t>
            </a:r>
            <a:endParaRPr kumimoji="0" lang="ru-RU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4B69C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from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PyQt5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QtCore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4B69C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import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Qt</a:t>
            </a:r>
            <a:endParaRPr kumimoji="0" lang="ru-RU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4B69C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for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size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4B69C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in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range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max_size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min_size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-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9C5D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1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-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9C5D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1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):</a:t>
            </a:r>
            <a:endParaRPr kumimoji="0" lang="ru-RU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        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f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QFont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label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font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().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family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(),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size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kumimoji="0" lang="ru-RU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       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fm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QFontMetrics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f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kumimoji="0" lang="ru-RU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        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4B69C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if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fm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horizontalAdvance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text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&lt;=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label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width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():</a:t>
            </a:r>
            <a:endParaRPr kumimoji="0" lang="ru-RU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           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label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setFont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f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kumimoji="0" lang="ru-RU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           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label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setText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text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kumimoji="0" lang="ru-RU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            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4B69C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return</a:t>
            </a:r>
            <a:endParaRPr kumimoji="0" lang="ru-RU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kumimoji="0" lang="en-US" altLang="LID4096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# agar </a:t>
            </a:r>
            <a:r>
              <a:rPr kumimoji="0" lang="en-US" altLang="LID4096" sz="16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hech</a:t>
            </a:r>
            <a:r>
              <a:rPr kumimoji="0" lang="en-US" altLang="LID4096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qaysi</a:t>
            </a:r>
            <a:r>
              <a:rPr kumimoji="0" lang="en-US" altLang="LID4096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sigmasa</a:t>
            </a:r>
            <a:r>
              <a:rPr kumimoji="0" lang="en-US" altLang="LID4096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, elide </a:t>
            </a:r>
            <a:r>
              <a:rPr kumimoji="0" lang="en-US" altLang="LID4096" sz="16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qilamiz</a:t>
            </a:r>
            <a:endParaRPr kumimoji="0" lang="ru-RU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fm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QFontMetrics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label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font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())</a:t>
            </a:r>
            <a:endParaRPr kumimoji="0" lang="ru-RU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label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setText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fm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elidedText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text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Qt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ElideRight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label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width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()))</a:t>
            </a:r>
            <a:endParaRPr kumimoji="0" lang="ru-RU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Bu label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kengligiga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mos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holda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eng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katta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shriftni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topadi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.</a:t>
            </a:r>
            <a:endParaRPr kumimoji="0" lang="en-US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74456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5D20488-6584-4C1F-A8D5-627D855168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2308" y="2297665"/>
            <a:ext cx="8432501" cy="22626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9.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Rasm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bilan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ishlash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va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shrift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bilan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bog‘liq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(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pixmap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)</a:t>
            </a:r>
            <a:endParaRPr kumimoji="0" lang="ru-RU" altLang="LID4096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Agar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QLabel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rasm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ko‘rsatsa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:</a:t>
            </a:r>
            <a:endParaRPr kumimoji="0" lang="ru-RU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4B69C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from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PyQt5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QtGui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4B69C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import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QPixmap</a:t>
            </a:r>
            <a:endParaRPr kumimoji="0" lang="ru-RU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label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setPixmap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QPixmap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("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img.png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"))</a:t>
            </a:r>
            <a:endParaRPr kumimoji="0" lang="ru-RU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label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setScaledContents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9C5D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True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  </a:t>
            </a:r>
            <a:r>
              <a:rPr kumimoji="0" lang="en-US" altLang="LID4096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# label </a:t>
            </a:r>
            <a:r>
              <a:rPr kumimoji="0" lang="en-US" altLang="LID4096" sz="16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o'lchamiga</a:t>
            </a:r>
            <a:r>
              <a:rPr kumimoji="0" lang="en-US" altLang="LID4096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moslab</a:t>
            </a:r>
            <a:r>
              <a:rPr kumimoji="0" lang="en-US" altLang="LID4096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o'zgartiradi</a:t>
            </a:r>
            <a:endParaRPr kumimoji="0" lang="ru-RU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setScaledContents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(True)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rasmni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label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o‘lchamiga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moslashtiradi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—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sifatga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e’tibor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bering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.</a:t>
            </a:r>
            <a:endParaRPr kumimoji="0" lang="en-US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27851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6ADCF3F-6847-42AA-B3CF-9CBCC5F5B4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6727" y="1925928"/>
            <a:ext cx="5458546" cy="30061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10.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Joriy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shrift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va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parametrlarni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olish</a:t>
            </a:r>
            <a:endParaRPr kumimoji="0" lang="ru-RU" altLang="LID4096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f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label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font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()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               </a:t>
            </a:r>
            <a:r>
              <a:rPr kumimoji="0" lang="en-US" altLang="LID4096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kumimoji="0" lang="en-US" altLang="LID4096" sz="16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QFont</a:t>
            </a:r>
            <a:r>
              <a:rPr kumimoji="0" lang="en-US" altLang="LID4096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obyekti</a:t>
            </a:r>
            <a:endParaRPr kumimoji="0" lang="en-US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family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f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family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()</a:t>
            </a:r>
            <a:endParaRPr kumimoji="0" lang="en-US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pt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f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pointSize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()</a:t>
            </a:r>
            <a:endParaRPr kumimoji="0" lang="en-US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px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f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pixelSize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()</a:t>
            </a:r>
            <a:endParaRPr kumimoji="0" lang="en-US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bold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f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bold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()</a:t>
            </a:r>
            <a:endParaRPr kumimoji="0" lang="en-US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italic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f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italic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()</a:t>
            </a:r>
            <a:endParaRPr kumimoji="0" lang="en-US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underline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f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underline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()</a:t>
            </a:r>
            <a:endParaRPr kumimoji="0" lang="en-US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72078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3659" y="1508787"/>
            <a:ext cx="5376598" cy="4032448"/>
          </a:xfrm>
          <a:prstGeom prst="rect">
            <a:avLst/>
          </a:prstGeom>
        </p:spPr>
      </p:pic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0E19030-F19A-442D-919A-C77C65A8E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1995</Words>
  <Application>Microsoft Office PowerPoint</Application>
  <PresentationFormat>Широкоэкранный</PresentationFormat>
  <Paragraphs>204</Paragraphs>
  <Slides>19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6" baseType="lpstr">
      <vt:lpstr>Arial</vt:lpstr>
      <vt:lpstr>Arial Unicode MS</vt:lpstr>
      <vt:lpstr>Calibri</vt:lpstr>
      <vt:lpstr>Calibri Light</vt:lpstr>
      <vt:lpstr>Consolas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Isakov Muxriddin</cp:lastModifiedBy>
  <cp:revision>68</cp:revision>
  <dcterms:created xsi:type="dcterms:W3CDTF">2025-10-13T13:22:34Z</dcterms:created>
  <dcterms:modified xsi:type="dcterms:W3CDTF">2026-04-20T06:07:41Z</dcterms:modified>
</cp:coreProperties>
</file>