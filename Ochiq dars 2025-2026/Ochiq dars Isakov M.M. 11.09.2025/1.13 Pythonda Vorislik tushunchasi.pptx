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86" r:id="rId2"/>
    <p:sldId id="256" r:id="rId3"/>
    <p:sldId id="267" r:id="rId4"/>
    <p:sldId id="257" r:id="rId5"/>
    <p:sldId id="258" r:id="rId6"/>
    <p:sldId id="259" r:id="rId7"/>
    <p:sldId id="268" r:id="rId8"/>
    <p:sldId id="269" r:id="rId9"/>
    <p:sldId id="270" r:id="rId10"/>
    <p:sldId id="271" r:id="rId11"/>
    <p:sldId id="272" r:id="rId12"/>
    <p:sldId id="274" r:id="rId13"/>
    <p:sldId id="275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7" r:id="rId24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9C86F9-C2BE-4C5D-BF9A-BE854CBA577D}" type="datetimeFigureOut">
              <a:rPr lang="LID4096" smtClean="0"/>
              <a:t>10/11/2025</a:t>
            </a:fld>
            <a:endParaRPr lang="LID4096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FFFFB3-5370-43A4-AC5D-ABCA8F8B38C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76990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4B77C4-3FBC-4E95-AC04-E9856704040F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3583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951414-02F9-4D40-8728-B576B1D272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CF3D80A-CE42-472E-A4B9-8D5D4F8281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4" indent="0" algn="ctr">
              <a:buNone/>
              <a:defRPr sz="2000"/>
            </a:lvl2pPr>
            <a:lvl3pPr marL="914428" indent="0" algn="ctr">
              <a:buNone/>
              <a:defRPr sz="1800"/>
            </a:lvl3pPr>
            <a:lvl4pPr marL="1371643" indent="0" algn="ctr">
              <a:buNone/>
              <a:defRPr sz="1600"/>
            </a:lvl4pPr>
            <a:lvl5pPr marL="1828857" indent="0" algn="ctr">
              <a:buNone/>
              <a:defRPr sz="1600"/>
            </a:lvl5pPr>
            <a:lvl6pPr marL="2286071" indent="0" algn="ctr">
              <a:buNone/>
              <a:defRPr sz="1600"/>
            </a:lvl6pPr>
            <a:lvl7pPr marL="2743285" indent="0" algn="ctr">
              <a:buNone/>
              <a:defRPr sz="1600"/>
            </a:lvl7pPr>
            <a:lvl8pPr marL="3200500" indent="0" algn="ctr">
              <a:buNone/>
              <a:defRPr sz="1600"/>
            </a:lvl8pPr>
            <a:lvl9pPr marL="3657714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9C5AFF-BAD8-4C66-841F-CDB99F176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D5EA0-F549-449E-88B2-E0505F5A634C}" type="datetimeFigureOut">
              <a:rPr lang="LID4096" smtClean="0"/>
              <a:t>10/11/2025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75B096-1555-45FB-85F3-0EAEBBA96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072628-CC4C-48E5-937C-77B812D67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2DBA-9277-4A38-B0DD-916BAB7CAB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68954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ED6F6C-4424-4D78-B87D-31A660B62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194CF8-C7AF-4C64-92AF-EC57757EA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D1E25B-E5E6-48E2-9F7A-9606DA1C8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D5EA0-F549-449E-88B2-E0505F5A634C}" type="datetimeFigureOut">
              <a:rPr lang="LID4096" smtClean="0"/>
              <a:t>10/11/2025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9E3C50D-E570-4A11-9923-70AA3AA71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9A5DA9-4950-41B8-9065-FF2B3C508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2DBA-9277-4A38-B0DD-916BAB7CAB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21471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7CBF7C-5FB0-4B44-9A06-58F75FEC5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33B5F6D-6ACC-414A-9A8E-241BA025E1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1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7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8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5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7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107BAD-D4BC-4989-8601-5DA867F4C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D5EA0-F549-449E-88B2-E0505F5A634C}" type="datetimeFigureOut">
              <a:rPr lang="LID4096" smtClean="0"/>
              <a:t>10/11/2025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68F98A-9C47-4FD4-AA59-7733D0881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31C092-F299-41D6-BCB7-BB8FBAAB2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2DBA-9277-4A38-B0DD-916BAB7CAB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90240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21FE05-BDAB-4B12-92D6-FC2CCCAD6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E655CD-B291-4FFC-B9E1-96166AF90D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2DE3F6C-4EAB-4B82-8BDC-861D9EA368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A7D8C33-C286-4B81-9C77-265D647C9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D5EA0-F549-449E-88B2-E0505F5A634C}" type="datetimeFigureOut">
              <a:rPr lang="LID4096" smtClean="0"/>
              <a:t>10/11/2025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8F2C444-E4BA-4B50-87EC-9D6D0C4E1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AF0EE1D-ADDF-4BB2-97C8-819FA18AA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2DBA-9277-4A38-B0DD-916BAB7CAB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20482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ED51D4-3652-4CEF-982C-B27E328A2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BB8C160-46C8-44FD-BD53-017D2FC05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4" indent="0">
              <a:buNone/>
              <a:defRPr sz="2000" b="1"/>
            </a:lvl2pPr>
            <a:lvl3pPr marL="914428" indent="0">
              <a:buNone/>
              <a:defRPr sz="1800" b="1"/>
            </a:lvl3pPr>
            <a:lvl4pPr marL="1371643" indent="0">
              <a:buNone/>
              <a:defRPr sz="1600" b="1"/>
            </a:lvl4pPr>
            <a:lvl5pPr marL="1828857" indent="0">
              <a:buNone/>
              <a:defRPr sz="1600" b="1"/>
            </a:lvl5pPr>
            <a:lvl6pPr marL="2286071" indent="0">
              <a:buNone/>
              <a:defRPr sz="1600" b="1"/>
            </a:lvl6pPr>
            <a:lvl7pPr marL="2743285" indent="0">
              <a:buNone/>
              <a:defRPr sz="1600" b="1"/>
            </a:lvl7pPr>
            <a:lvl8pPr marL="3200500" indent="0">
              <a:buNone/>
              <a:defRPr sz="1600" b="1"/>
            </a:lvl8pPr>
            <a:lvl9pPr marL="3657714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F90A926-97A4-4F20-BC51-8799DE9720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B020FD9-796B-4AA9-A7A8-1B5ED173F0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4" indent="0">
              <a:buNone/>
              <a:defRPr sz="2000" b="1"/>
            </a:lvl2pPr>
            <a:lvl3pPr marL="914428" indent="0">
              <a:buNone/>
              <a:defRPr sz="1800" b="1"/>
            </a:lvl3pPr>
            <a:lvl4pPr marL="1371643" indent="0">
              <a:buNone/>
              <a:defRPr sz="1600" b="1"/>
            </a:lvl4pPr>
            <a:lvl5pPr marL="1828857" indent="0">
              <a:buNone/>
              <a:defRPr sz="1600" b="1"/>
            </a:lvl5pPr>
            <a:lvl6pPr marL="2286071" indent="0">
              <a:buNone/>
              <a:defRPr sz="1600" b="1"/>
            </a:lvl6pPr>
            <a:lvl7pPr marL="2743285" indent="0">
              <a:buNone/>
              <a:defRPr sz="1600" b="1"/>
            </a:lvl7pPr>
            <a:lvl8pPr marL="3200500" indent="0">
              <a:buNone/>
              <a:defRPr sz="1600" b="1"/>
            </a:lvl8pPr>
            <a:lvl9pPr marL="3657714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5CA2D9E-0967-41CF-96F6-FE180D79E4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D1EE05C-5CD8-43EA-9007-15D6F055F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D5EA0-F549-449E-88B2-E0505F5A634C}" type="datetimeFigureOut">
              <a:rPr lang="LID4096" smtClean="0"/>
              <a:t>10/11/2025</a:t>
            </a:fld>
            <a:endParaRPr lang="LID4096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2A1B440-BCA9-4BDD-889D-8A36CEDFE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3AD5C55-4454-49FF-911B-6E22022C4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2DBA-9277-4A38-B0DD-916BAB7CAB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12140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C12406-3486-41F2-98A0-4D6145A4F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3ECE294-C614-473F-A4AE-D67414AFF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D5EA0-F549-449E-88B2-E0505F5A634C}" type="datetimeFigureOut">
              <a:rPr lang="LID4096" smtClean="0"/>
              <a:t>10/11/2025</a:t>
            </a:fld>
            <a:endParaRPr lang="LID4096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878299F-E94D-4B77-9050-B320C2EB7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A13245B-FA96-4C57-A500-0E3E38CF0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2DBA-9277-4A38-B0DD-916BAB7CAB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6011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4606636-3909-45CC-B023-44CB17C28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D5EA0-F549-449E-88B2-E0505F5A634C}" type="datetimeFigureOut">
              <a:rPr lang="LID4096" smtClean="0"/>
              <a:t>10/11/2025</a:t>
            </a:fld>
            <a:endParaRPr lang="LID4096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61C2D08-FDE9-410C-A1EE-B55D9F601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5CC35C-111C-40A3-8E7E-AE2E257E2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2DBA-9277-4A38-B0DD-916BAB7CAB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94649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23C70D-F12C-4856-90EF-CDB41E5B5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D1E47F-20ED-4E4C-A2F4-364001ACF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61B7889-66C5-4FBE-A598-03F415940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4" indent="0">
              <a:buNone/>
              <a:defRPr sz="1400"/>
            </a:lvl2pPr>
            <a:lvl3pPr marL="914428" indent="0">
              <a:buNone/>
              <a:defRPr sz="1200"/>
            </a:lvl3pPr>
            <a:lvl4pPr marL="1371643" indent="0">
              <a:buNone/>
              <a:defRPr sz="1000"/>
            </a:lvl4pPr>
            <a:lvl5pPr marL="1828857" indent="0">
              <a:buNone/>
              <a:defRPr sz="1000"/>
            </a:lvl5pPr>
            <a:lvl6pPr marL="2286071" indent="0">
              <a:buNone/>
              <a:defRPr sz="1000"/>
            </a:lvl6pPr>
            <a:lvl7pPr marL="2743285" indent="0">
              <a:buNone/>
              <a:defRPr sz="1000"/>
            </a:lvl7pPr>
            <a:lvl8pPr marL="3200500" indent="0">
              <a:buNone/>
              <a:defRPr sz="1000"/>
            </a:lvl8pPr>
            <a:lvl9pPr marL="3657714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2B0398D-106F-47F4-9B98-6346595DB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D5EA0-F549-449E-88B2-E0505F5A634C}" type="datetimeFigureOut">
              <a:rPr lang="LID4096" smtClean="0"/>
              <a:t>10/11/2025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509E405-8370-440E-BCF8-B7DFDEFDF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6D117E0-F27A-4A27-9308-EC5A8E4AE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2DBA-9277-4A38-B0DD-916BAB7CAB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44581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4178C1-6409-4D8A-B767-B2F4EA300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089828A-F1B6-4F32-8A80-6A27090FFE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14" indent="0">
              <a:buNone/>
              <a:defRPr sz="2800"/>
            </a:lvl2pPr>
            <a:lvl3pPr marL="914428" indent="0">
              <a:buNone/>
              <a:defRPr sz="2400"/>
            </a:lvl3pPr>
            <a:lvl4pPr marL="1371643" indent="0">
              <a:buNone/>
              <a:defRPr sz="2000"/>
            </a:lvl4pPr>
            <a:lvl5pPr marL="1828857" indent="0">
              <a:buNone/>
              <a:defRPr sz="2000"/>
            </a:lvl5pPr>
            <a:lvl6pPr marL="2286071" indent="0">
              <a:buNone/>
              <a:defRPr sz="2000"/>
            </a:lvl6pPr>
            <a:lvl7pPr marL="2743285" indent="0">
              <a:buNone/>
              <a:defRPr sz="2000"/>
            </a:lvl7pPr>
            <a:lvl8pPr marL="3200500" indent="0">
              <a:buNone/>
              <a:defRPr sz="2000"/>
            </a:lvl8pPr>
            <a:lvl9pPr marL="3657714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C94203E-D348-4956-8D77-C4E5E50755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4" indent="0">
              <a:buNone/>
              <a:defRPr sz="1400"/>
            </a:lvl2pPr>
            <a:lvl3pPr marL="914428" indent="0">
              <a:buNone/>
              <a:defRPr sz="1200"/>
            </a:lvl3pPr>
            <a:lvl4pPr marL="1371643" indent="0">
              <a:buNone/>
              <a:defRPr sz="1000"/>
            </a:lvl4pPr>
            <a:lvl5pPr marL="1828857" indent="0">
              <a:buNone/>
              <a:defRPr sz="1000"/>
            </a:lvl5pPr>
            <a:lvl6pPr marL="2286071" indent="0">
              <a:buNone/>
              <a:defRPr sz="1000"/>
            </a:lvl6pPr>
            <a:lvl7pPr marL="2743285" indent="0">
              <a:buNone/>
              <a:defRPr sz="1000"/>
            </a:lvl7pPr>
            <a:lvl8pPr marL="3200500" indent="0">
              <a:buNone/>
              <a:defRPr sz="1000"/>
            </a:lvl8pPr>
            <a:lvl9pPr marL="3657714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7C6335C-F245-4DBF-AB87-CF52425B6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D5EA0-F549-449E-88B2-E0505F5A634C}" type="datetimeFigureOut">
              <a:rPr lang="LID4096" smtClean="0"/>
              <a:t>10/11/2025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78E10BA-FC32-41A7-9FF3-063C6D92C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ABC50EA-C08B-4A5A-9F35-80C2615B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2DBA-9277-4A38-B0DD-916BAB7CAB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55979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7795BF-CC46-4475-A45C-7CB491DBE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A15863D-4BF9-42A2-8BFF-BB85D458AE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1F1E8F-264F-4CE4-A688-EECF13389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D5EA0-F549-449E-88B2-E0505F5A634C}" type="datetimeFigureOut">
              <a:rPr lang="LID4096" smtClean="0"/>
              <a:t>10/11/2025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B39968-2D48-4270-971C-FF6F01A24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B174BD-7ED2-4B56-BCAF-691B62F17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2DBA-9277-4A38-B0DD-916BAB7CAB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96903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DB5B286-4626-4BE2-9201-F68526A055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18E7DEF-557D-4E6E-B883-2CB9A5379A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05ED10-6D48-4B8B-AD0A-9A052253A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D5EA0-F549-449E-88B2-E0505F5A634C}" type="datetimeFigureOut">
              <a:rPr lang="LID4096" smtClean="0"/>
              <a:t>10/11/2025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1639A6-A8EA-40F7-9D8B-70AC9489D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FCC51A-DCAD-44BA-ACF2-B7AC38860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2DBA-9277-4A38-B0DD-916BAB7CAB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729831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4863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F43A0D-AE51-48B8-942C-5F67A5267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A07E06E-920B-48CB-8DB4-84794A3078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229D85-A1BA-451C-A408-20F105A66C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199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0D5EA0-F549-449E-88B2-E0505F5A634C}" type="datetimeFigureOut">
              <a:rPr lang="LID4096" smtClean="0"/>
              <a:t>10/11/2025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0179D6-1475-4BAE-BAF1-1751EB7D53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9579240-C05E-43D6-976C-9ED409A019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6A2DBA-9277-4A38-B0DD-916BAB7CAB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22816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2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8" indent="-228608" algn="l" defTabSz="91442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22" indent="-228608" algn="l" defTabSz="91442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36" indent="-228608" algn="l" defTabSz="91442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50" indent="-228608" algn="l" defTabSz="91442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65" indent="-228608" algn="l" defTabSz="91442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79" indent="-228608" algn="l" defTabSz="91442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93" indent="-228608" algn="l" defTabSz="91442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07" indent="-228608" algn="l" defTabSz="91442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22" indent="-228608" algn="l" defTabSz="91442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4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8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43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57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71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85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00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14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 flipV="1">
            <a:off x="1643182" y="4136127"/>
            <a:ext cx="9137268" cy="60959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Прямоугольник 10"/>
          <p:cNvSpPr/>
          <p:nvPr/>
        </p:nvSpPr>
        <p:spPr>
          <a:xfrm>
            <a:off x="5139796" y="6307447"/>
            <a:ext cx="1661480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67" b="1" dirty="0">
                <a:latin typeface="Times New Roman" pitchFamily="18" charset="0"/>
                <a:cs typeface="Times New Roman" pitchFamily="18" charset="0"/>
              </a:rPr>
              <a:t>Toshkent 2025</a:t>
            </a:r>
            <a:endParaRPr lang="ru-RU" sz="1867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83360" y="306896"/>
            <a:ext cx="11617291" cy="748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33" b="1" dirty="0">
                <a:latin typeface="Times New Roman" pitchFamily="18" charset="0"/>
                <a:cs typeface="Times New Roman" pitchFamily="18" charset="0"/>
              </a:rPr>
              <a:t>HARBIY XAVFSIZLIK VA MUDOFAA UNIVERSITETINING</a:t>
            </a:r>
          </a:p>
          <a:p>
            <a:pPr algn="ctr"/>
            <a:r>
              <a:rPr lang="en-US" sz="2133" b="1" dirty="0">
                <a:latin typeface="Times New Roman" pitchFamily="18" charset="0"/>
                <a:cs typeface="Times New Roman" pitchFamily="18" charset="0"/>
              </a:rPr>
              <a:t>AXBOROT-KOMMUNIKATSIYA TEXNOLOGIYALARI VA HARBIY ALOQA INSTITUTI</a:t>
            </a:r>
            <a:endParaRPr lang="ru-RU" sz="2133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199451" y="2642960"/>
            <a:ext cx="9985109" cy="74879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133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1-MAVZU: “PYTHON DASTURLASH TILI” FANIGA KIRISH VA ASOSIY TUSHUNCHALARI</a:t>
            </a:r>
            <a:endParaRPr lang="ru-RU" sz="2133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57E156E-2862-45AA-B671-E1C5EDE84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011" y="4801068"/>
            <a:ext cx="5999989" cy="995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16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O‘qituvchi</a:t>
            </a:r>
            <a:r>
              <a:rPr lang="uz-Cyrl-UZ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 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Axborot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texnologiyalari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intellekt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kafedrasi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intellekt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sikli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boshlig‘i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133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kapitan</a:t>
            </a:r>
            <a:r>
              <a:rPr lang="en-US" sz="2133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Isakov M.M. </a:t>
            </a:r>
            <a:endParaRPr lang="en-US" sz="1867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2177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59BFC1A9-62DE-4C48-BB79-E5A5081D32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967E9">
              <a:alpha val="80000"/>
            </a:srgbClr>
          </a:solidFill>
          <a:ln/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B83EC17-E5ED-489B-A896-839B6D9C4378}"/>
              </a:ext>
            </a:extLst>
          </p:cNvPr>
          <p:cNvSpPr/>
          <p:nvPr/>
        </p:nvSpPr>
        <p:spPr>
          <a:xfrm>
            <a:off x="0" y="2628113"/>
            <a:ext cx="12192000" cy="1601774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/>
        </p:spPr>
        <p:txBody>
          <a:bodyPr wrap="none" lIns="0" tIns="0" rIns="0" bIns="0" rtlCol="0" anchor="t"/>
          <a:lstStyle/>
          <a:p>
            <a:pPr algn="ctr">
              <a:lnSpc>
                <a:spcPts val="5550"/>
              </a:lnSpc>
            </a:pP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1-mavzu. 13-mashg‘ulot:</a:t>
            </a:r>
          </a:p>
          <a:p>
            <a:pPr algn="ctr">
              <a:lnSpc>
                <a:spcPts val="5550"/>
              </a:lnSpc>
            </a:pPr>
            <a:r>
              <a:rPr lang="en-US" sz="48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Pythonda</a:t>
            </a:r>
            <a:r>
              <a:rPr lang="en-US" sz="48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Vorislik</a:t>
            </a:r>
            <a:r>
              <a:rPr lang="en-US" sz="48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tushunchasi</a:t>
            </a:r>
            <a:endParaRPr lang="en-US" sz="4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075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C05110-FBAF-4E5C-8D69-806EC9F87D1F}"/>
              </a:ext>
            </a:extLst>
          </p:cNvPr>
          <p:cNvSpPr/>
          <p:nvPr/>
        </p:nvSpPr>
        <p:spPr>
          <a:xfrm>
            <a:off x="4210954" y="1610856"/>
            <a:ext cx="3770091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708"/>
              </a:lnSpc>
            </a:pPr>
            <a:r>
              <a:rPr lang="en-US" sz="4500" dirty="0" err="1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O‘quv</a:t>
            </a:r>
            <a:r>
              <a:rPr lang="en-US" sz="4500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savollari</a:t>
            </a:r>
            <a:r>
              <a:rPr lang="en-US" sz="4500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7D0AB8B-D69B-410C-97FC-AAAF3047ADBE}"/>
              </a:ext>
            </a:extLst>
          </p:cNvPr>
          <p:cNvSpPr/>
          <p:nvPr/>
        </p:nvSpPr>
        <p:spPr>
          <a:xfrm>
            <a:off x="4210954" y="2632671"/>
            <a:ext cx="3770091" cy="2872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Vorislik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Maxsus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metodlar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xususiyatlari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Dekoratorlar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sv-SE" sz="4000" dirty="0">
              <a:solidFill>
                <a:srgbClr val="404155"/>
              </a:solidFill>
              <a:latin typeface="Times New Roman" panose="02020603050405020304" pitchFamily="18" charset="0"/>
              <a:ea typeface="Nobile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7689E44-B307-4A76-9C2B-E716B3ACBFB8}"/>
              </a:ext>
            </a:extLst>
          </p:cNvPr>
          <p:cNvSpPr/>
          <p:nvPr/>
        </p:nvSpPr>
        <p:spPr>
          <a:xfrm>
            <a:off x="2286302" y="0"/>
            <a:ext cx="7619394" cy="6822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4625"/>
              </a:lnSpc>
            </a:pPr>
            <a:r>
              <a:rPr lang="en-US" sz="44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Pythonda</a:t>
            </a:r>
            <a:r>
              <a:rPr lang="en-US" sz="44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Vorislik</a:t>
            </a:r>
            <a:r>
              <a:rPr lang="en-US" sz="44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tushunchasi</a:t>
            </a:r>
            <a:endParaRPr lang="en-US" sz="4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E3B73B8F-F4E1-4444-94F1-884870BC4540}"/>
              </a:ext>
            </a:extLst>
          </p:cNvPr>
          <p:cNvCxnSpPr/>
          <p:nvPr/>
        </p:nvCxnSpPr>
        <p:spPr>
          <a:xfrm>
            <a:off x="0" y="582692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9230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52BE474-6F1F-4105-B360-9624092E8C00}"/>
              </a:ext>
            </a:extLst>
          </p:cNvPr>
          <p:cNvSpPr/>
          <p:nvPr/>
        </p:nvSpPr>
        <p:spPr>
          <a:xfrm>
            <a:off x="457200" y="905246"/>
            <a:ext cx="11277600" cy="56774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Ta’rif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Vorislik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asosida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imkoniyatini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beradigan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mexanizm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Bunda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(subclass, child)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ota-klass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(superclass, parent)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metodlari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atributlarini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meros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qilib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oladi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Sintaksis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6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Parent</a:t>
            </a:r>
            <a:r>
              <a:rPr lang="en-US" sz="16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ota</a:t>
            </a:r>
            <a:r>
              <a:rPr lang="en-US" sz="1600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sz="1600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kodi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pass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6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Child</a:t>
            </a:r>
            <a:r>
              <a:rPr lang="en-US" sz="16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Parent</a:t>
            </a:r>
            <a:r>
              <a:rPr lang="en-US" sz="16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bola </a:t>
            </a:r>
            <a:r>
              <a:rPr lang="en-US" sz="160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sz="1600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kodi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M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🔑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Afzalliklari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Kodni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qayta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ishlatish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imkoniyati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hayotdagi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ierarxiyalarni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Person -&gt; Employee)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Metodlarni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qayta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aniqlash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(overriding)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imkoniyati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Polimorfizm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kengaytiriladigan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dizayn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D3B151A-6FC9-4F8C-8059-4BCF4D69593E}"/>
              </a:ext>
            </a:extLst>
          </p:cNvPr>
          <p:cNvSpPr/>
          <p:nvPr/>
        </p:nvSpPr>
        <p:spPr>
          <a:xfrm>
            <a:off x="3600765" y="-56985"/>
            <a:ext cx="499046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1️</a:t>
            </a:r>
            <a:r>
              <a:rPr lang="en-US" sz="36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Vorislik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(Inheritance)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71607C6F-879B-400B-91B1-810285260B91}"/>
              </a:ext>
            </a:extLst>
          </p:cNvPr>
          <p:cNvCxnSpPr/>
          <p:nvPr/>
        </p:nvCxnSpPr>
        <p:spPr>
          <a:xfrm>
            <a:off x="0" y="60918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9245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B5891AA-6D91-4A66-8FD5-4A9F5AEF9F31}"/>
              </a:ext>
            </a:extLst>
          </p:cNvPr>
          <p:cNvSpPr/>
          <p:nvPr/>
        </p:nvSpPr>
        <p:spPr>
          <a:xfrm>
            <a:off x="523875" y="592275"/>
            <a:ext cx="11144250" cy="5206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Oddiy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misol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"Name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works"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Name: Tom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   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Tom works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4117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214C117-E25A-4B5E-8737-F3613A556F0E}"/>
              </a:ext>
            </a:extLst>
          </p:cNvPr>
          <p:cNvSpPr/>
          <p:nvPr/>
        </p:nvSpPr>
        <p:spPr>
          <a:xfrm>
            <a:off x="3935964" y="-19953"/>
            <a:ext cx="380572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mashqlar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705C9C63-FE41-4A2D-9ED3-85A7E33A2046}"/>
              </a:ext>
            </a:extLst>
          </p:cNvPr>
          <p:cNvCxnSpPr/>
          <p:nvPr/>
        </p:nvCxnSpPr>
        <p:spPr>
          <a:xfrm>
            <a:off x="0" y="64728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6A25693F-49F4-4A86-AA33-9B0FBEBF6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035574"/>
            <a:ext cx="568642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1️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Animal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nomli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oddiy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sound()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bo‘lsin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ovoz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chiqaradigan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qilib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yozing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Keyin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nomli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Animal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klassidan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voris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qiling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klassida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sound()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metodini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qayta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yozing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(override)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"Woof!"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deb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chiqarsin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klassidan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yaratib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uning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metodini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chaqiring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71F8394-04BC-420D-AB72-31B8BE4B89A2}"/>
              </a:ext>
            </a:extLst>
          </p:cNvPr>
          <p:cNvSpPr/>
          <p:nvPr/>
        </p:nvSpPr>
        <p:spPr>
          <a:xfrm>
            <a:off x="266701" y="3150182"/>
            <a:ext cx="5467350" cy="3042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Animal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sound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Some generic animal sound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Dog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Animal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sound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Woof!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dog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Dog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dog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sound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Woof!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CA155B5-6F44-468A-B757-F4562410B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3176" y="1040254"/>
            <a:ext cx="583882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2️.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nomli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U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odamlarni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ifodalashtirsin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Keyin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undan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voris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klassiga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study()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qo‘shing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altLang="LID4096" dirty="0">
                <a:solidFill>
                  <a:srgbClr val="C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"I am studying"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xabarini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chiqarsin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obyektidan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foydalanib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chaqirib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ko‘ring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A7B91EE-FAC3-4237-BA8A-F7077F12A8D1}"/>
              </a:ext>
            </a:extLst>
          </p:cNvPr>
          <p:cNvSpPr/>
          <p:nvPr/>
        </p:nvSpPr>
        <p:spPr>
          <a:xfrm>
            <a:off x="6353176" y="3150182"/>
            <a:ext cx="5838824" cy="3042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study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studying"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Ali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study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Ali is studying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637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A25693F-49F4-4A86-AA33-9B0FBEBF6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399" y="0"/>
            <a:ext cx="5686425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3️.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odamning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atributini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saqlasin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nomli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klassidan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voris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qo‘shimcha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ravishda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atributini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qo‘shing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yaratib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CA155B5-6F44-468A-B757-F4562410B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777" y="0"/>
            <a:ext cx="5838823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4️.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Klasslar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ierarxiyasini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saqlasin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voris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olsin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unga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qo‘shilsin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Manager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voris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olsin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unga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atributi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qo‘shilsin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So‘ngra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Manager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yaratib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ma’lumotlarini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9F2937C-D49C-422F-990E-E55E3EE17D43}"/>
              </a:ext>
            </a:extLst>
          </p:cNvPr>
          <p:cNvSpPr/>
          <p:nvPr/>
        </p:nvSpPr>
        <p:spPr>
          <a:xfrm>
            <a:off x="228598" y="2081153"/>
            <a:ext cx="5686425" cy="35551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super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Dilshod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5000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 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Dilshod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5000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8CF6359-B574-4550-8ECB-A482256C809C}"/>
              </a:ext>
            </a:extLst>
          </p:cNvPr>
          <p:cNvSpPr/>
          <p:nvPr/>
        </p:nvSpPr>
        <p:spPr>
          <a:xfrm>
            <a:off x="6096000" y="2019818"/>
            <a:ext cx="6096000" cy="483433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super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Manager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super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manager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Manager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Zafar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8000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manager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     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Zafar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manager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   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8000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manager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IT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2027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5DB3F1C-E3F7-4178-A05F-8E0616ABABD2}"/>
              </a:ext>
            </a:extLst>
          </p:cNvPr>
          <p:cNvSpPr/>
          <p:nvPr/>
        </p:nvSpPr>
        <p:spPr>
          <a:xfrm>
            <a:off x="2239816" y="10477"/>
            <a:ext cx="77123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Maxsus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metodlar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dunder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methods)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DB5A698E-B2EB-44AA-A2CF-05A5D67065F3}"/>
              </a:ext>
            </a:extLst>
          </p:cNvPr>
          <p:cNvCxnSpPr/>
          <p:nvPr/>
        </p:nvCxnSpPr>
        <p:spPr>
          <a:xfrm>
            <a:off x="0" y="656808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C81F8480-B891-463E-9585-C0D944699F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351" y="721399"/>
            <a:ext cx="11635674" cy="6017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spcBef>
                <a:spcPts val="600"/>
              </a:spcBef>
            </a:pP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Python’dagi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maxsus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metodlar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dunder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methods — double underscore methods) —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klasslarga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maxsus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xatti-harakatlarni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qo‘shish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imkonini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beradigan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metodlardir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Ular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har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doim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ikki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pastki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chiziq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boshlanib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tugaydi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LID4096" altLang="LID4096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__init__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→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konstruktor, obyekt yaratilganda ishga tushadi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__str__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→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obyektni matn ko‘rinishida qaytaradi (</a:t>
            </a:r>
            <a:r>
              <a:rPr lang="LID4096" altLang="LID4096" sz="2000" dirty="0">
                <a:latin typeface="Consolas" panose="020B0609020204030204" pitchFamily="49" charset="0"/>
                <a:cs typeface="Times New Roman" panose="02020603050405020304" pitchFamily="18" charset="0"/>
              </a:rPr>
              <a:t>print()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chaqirilganda)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__repr__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→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obyektning texnik ko‘rinishi (</a:t>
            </a:r>
            <a:r>
              <a:rPr lang="LID4096" altLang="LID4096" sz="2000" dirty="0">
                <a:latin typeface="Consolas" panose="020B0609020204030204" pitchFamily="49" charset="0"/>
                <a:cs typeface="Times New Roman" panose="02020603050405020304" pitchFamily="18" charset="0"/>
              </a:rPr>
              <a:t>debug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uchun)</a:t>
            </a:r>
          </a:p>
          <a:p>
            <a:pPr marL="285750" marR="0" lvl="0" indent="-285750">
              <a:lnSpc>
                <a:spcPct val="100000"/>
              </a:lnSpc>
              <a:spcBef>
                <a:spcPts val="6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__len__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→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len(obj)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chaqirilganda ishlaydi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__getitem__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→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indeks bo‘yicha obyekt elementini olish (</a:t>
            </a:r>
            <a:r>
              <a:rPr lang="LID4096" altLang="LID4096" sz="2000" dirty="0">
                <a:latin typeface="Consolas" panose="020B0609020204030204" pitchFamily="49" charset="0"/>
                <a:cs typeface="Times New Roman" panose="02020603050405020304" pitchFamily="18" charset="0"/>
              </a:rPr>
              <a:t>obj[0]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marR="0" lvl="0" indent="-285750">
              <a:lnSpc>
                <a:spcPct val="100000"/>
              </a:lnSpc>
              <a:spcBef>
                <a:spcPts val="6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__setitem__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→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indeks bo‘yicha qiymatni o‘zgartirish (</a:t>
            </a:r>
            <a:r>
              <a:rPr lang="LID4096" altLang="LID4096" sz="2000" dirty="0">
                <a:latin typeface="Consolas" panose="020B0609020204030204" pitchFamily="49" charset="0"/>
                <a:cs typeface="Times New Roman" panose="02020603050405020304" pitchFamily="18" charset="0"/>
              </a:rPr>
              <a:t>obj[1] = x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__delitem__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→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elementni o‘chirish (</a:t>
            </a:r>
            <a:r>
              <a:rPr lang="LID4096" altLang="LID4096" sz="2000" dirty="0">
                <a:latin typeface="Consolas" panose="020B0609020204030204" pitchFamily="49" charset="0"/>
                <a:cs typeface="Times New Roman" panose="02020603050405020304" pitchFamily="18" charset="0"/>
              </a:rPr>
              <a:t>del obj[2]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marR="0" lvl="0" indent="-285750">
              <a:lnSpc>
                <a:spcPct val="100000"/>
              </a:lnSpc>
              <a:spcBef>
                <a:spcPts val="6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__iter__</a:t>
            </a:r>
            <a:r>
              <a:rPr lang="LID4096" altLang="LID4096" sz="1600" dirty="0"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__next__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→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obyektni iterator qilish (for siklda ishlatish)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__contains__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→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in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operatorini ishlatish uchun</a:t>
            </a:r>
          </a:p>
          <a:p>
            <a:pPr marL="285750" marR="0" lvl="0" indent="-285750">
              <a:lnSpc>
                <a:spcPct val="100000"/>
              </a:lnSpc>
              <a:spcBef>
                <a:spcPts val="6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__eq__</a:t>
            </a:r>
            <a:r>
              <a:rPr lang="LID4096" altLang="LID4096" sz="1600" dirty="0"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__lt__</a:t>
            </a:r>
            <a:r>
              <a:rPr lang="LID4096" altLang="LID4096" sz="1600" dirty="0"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__gt__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→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taqqoslash operatorlari (</a:t>
            </a:r>
            <a:r>
              <a:rPr lang="LID4096" altLang="LID4096" sz="2000" dirty="0">
                <a:latin typeface="Consolas" panose="020B0609020204030204" pitchFamily="49" charset="0"/>
                <a:cs typeface="Times New Roman" panose="02020603050405020304" pitchFamily="18" charset="0"/>
              </a:rPr>
              <a:t>==, &lt;, &gt;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__add__</a:t>
            </a:r>
            <a:r>
              <a:rPr lang="LID4096" altLang="LID4096" sz="1600" dirty="0"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__sub__</a:t>
            </a:r>
            <a:r>
              <a:rPr lang="LID4096" altLang="LID4096" sz="1600" dirty="0"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__mul__</a:t>
            </a:r>
            <a:r>
              <a:rPr lang="LID4096" altLang="LID4096" sz="1600" dirty="0"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__truediv__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→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arifmetik operatorlar uchun</a:t>
            </a:r>
          </a:p>
          <a:p>
            <a:pPr marL="285750" marR="0" lvl="0" indent="-285750">
              <a:lnSpc>
                <a:spcPct val="100000"/>
              </a:lnSpc>
              <a:spcBef>
                <a:spcPts val="6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__call__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→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obyektni funksiya kabi chaqirish imkoniyati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__enter__</a:t>
            </a:r>
            <a:r>
              <a:rPr lang="LID4096" altLang="LID4096" sz="1600" dirty="0"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__exit__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→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konteks menejer (</a:t>
            </a:r>
            <a:r>
              <a:rPr lang="LID4096" altLang="LID4096" sz="2000" dirty="0">
                <a:latin typeface="Consolas" panose="020B0609020204030204" pitchFamily="49" charset="0"/>
                <a:cs typeface="Times New Roman" panose="02020603050405020304" pitchFamily="18" charset="0"/>
              </a:rPr>
              <a:t>with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operatori)</a:t>
            </a:r>
          </a:p>
        </p:txBody>
      </p:sp>
    </p:spTree>
    <p:extLst>
      <p:ext uri="{BB962C8B-B14F-4D97-AF65-F5344CB8AC3E}">
        <p14:creationId xmlns:p14="http://schemas.microsoft.com/office/powerpoint/2010/main" val="1546250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1D52F5A-7F4D-4878-9D18-627C2AC5EC33}"/>
              </a:ext>
            </a:extLst>
          </p:cNvPr>
          <p:cNvSpPr/>
          <p:nvPr/>
        </p:nvSpPr>
        <p:spPr>
          <a:xfrm>
            <a:off x="561975" y="843766"/>
            <a:ext cx="11068050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M" sz="2800" b="1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🔹</a:t>
            </a:r>
            <a:r>
              <a:rPr lang="en-UM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Vazifasi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Maxsus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metodlar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biz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oddiy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funksiyalar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operatorlarning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obyektlariga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tabiiy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ishlashini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ta’minlaymiz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Ya’ni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print(obj)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avtomatik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__str__()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metodini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chaqiradi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(obj)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avtomatik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__()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metodini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chaqiradi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obj1 + obj2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avtomatik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__add__()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metodini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chaqiradi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obj[</a:t>
            </a:r>
            <a:r>
              <a:rPr lang="en-US" sz="1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avtomatik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getitem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__()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metodini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chaqiradi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obj1 == obj2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avtomatik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__eq__()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metodini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chaqiradi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785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DE2403B-9AFA-43CE-9EC8-3A750C543860}"/>
              </a:ext>
            </a:extLst>
          </p:cNvPr>
          <p:cNvSpPr/>
          <p:nvPr/>
        </p:nvSpPr>
        <p:spPr>
          <a:xfrm>
            <a:off x="885824" y="151179"/>
            <a:ext cx="10420352" cy="6278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M" sz="2400" b="1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🔹</a:t>
            </a:r>
            <a:r>
              <a:rPr lang="en-UM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turlari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vazifalari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o‘rnatish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00B0F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00B0F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__(self, ...)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konstruktor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yaratilganda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ishlaydi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__del__(self)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destruktor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o‘chirayotganda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ishlaydi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Matnli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ko‘rinish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__str__(self)</a:t>
            </a:r>
            <a:r>
              <a:rPr lang="en-US" sz="1200" b="1" dirty="0">
                <a:latin typeface="Consolas" panose="020B0609020204030204" pitchFamily="49" charset="0"/>
                <a:cs typeface="Times New Roman" panose="02020603050405020304" pitchFamily="18" charset="0"/>
              </a:rPr>
              <a:t> – print(obj)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chaqirilganda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ishlaydi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repr</a:t>
            </a: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__(self)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obyektni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aniqroq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matnli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ko‘rinishda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qaytaradi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(debug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O‘lcham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elementlarga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murojaat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len</a:t>
            </a: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__(self)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12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(obj)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getitem</a:t>
            </a: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__(self, index)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obj[index]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setitem</a:t>
            </a: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__(self, index, value)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obj[index] = value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delitem</a:t>
            </a: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__(self, index)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 obj[index]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Operatorlarni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qo‘llash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__add__(self, other)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__sub__(self, other)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mul</a:t>
            </a: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__(self, other)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truediv</a:t>
            </a: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__(self, other)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__eq__(self, other)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lt</a:t>
            </a: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__(self, other)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matematik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taqqoslash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operatorlari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Chaqiriladigan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obyektlar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__call__(self, ...)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obyektni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funksiya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kabi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chaqirish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imkonini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beradi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3606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6194A83-9112-4E9F-AFDE-F26BD302DE51}"/>
              </a:ext>
            </a:extLst>
          </p:cNvPr>
          <p:cNvSpPr/>
          <p:nvPr/>
        </p:nvSpPr>
        <p:spPr>
          <a:xfrm>
            <a:off x="742950" y="0"/>
            <a:ext cx="10706100" cy="5925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M" sz="2800" b="1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🔹</a:t>
            </a:r>
            <a:r>
              <a:rPr lang="en-UM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Misol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__str__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"Vector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)"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__add__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v1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v2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v1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   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Vector(2, 3)  -&gt; __str__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v1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 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5             -&gt; __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v1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v2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 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Vector(6, 8)  -&gt; __add__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105E2FD-8D0D-4DE0-823B-9EDEE8311601}"/>
              </a:ext>
            </a:extLst>
          </p:cNvPr>
          <p:cNvSpPr/>
          <p:nvPr/>
        </p:nvSpPr>
        <p:spPr>
          <a:xfrm>
            <a:off x="285750" y="6286970"/>
            <a:ext cx="116205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M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👉</a:t>
            </a:r>
            <a:r>
              <a:rPr lang="en-UM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Xullas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dunder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metodlar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obyektlarni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odatiy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Python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funksiyalari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operatorlari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mos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ishlashini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ta’minlaydi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7106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214C117-E25A-4B5E-8737-F3613A556F0E}"/>
              </a:ext>
            </a:extLst>
          </p:cNvPr>
          <p:cNvSpPr/>
          <p:nvPr/>
        </p:nvSpPr>
        <p:spPr>
          <a:xfrm>
            <a:off x="3935964" y="-19953"/>
            <a:ext cx="380572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mashqlar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705C9C63-FE41-4A2D-9ED3-85A7E33A2046}"/>
              </a:ext>
            </a:extLst>
          </p:cNvPr>
          <p:cNvCxnSpPr/>
          <p:nvPr/>
        </p:nvCxnSpPr>
        <p:spPr>
          <a:xfrm>
            <a:off x="0" y="64728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6A25693F-49F4-4A86-AA33-9B0FBEBF6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312573"/>
            <a:ext cx="568642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1️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Book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nomli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Bu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kitob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atributi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saqlansin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__str__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shunda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print()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qilinganda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kitob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ekranga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chiqsin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71F8394-04BC-420D-AB72-31B8BE4B89A2}"/>
              </a:ext>
            </a:extLst>
          </p:cNvPr>
          <p:cNvSpPr/>
          <p:nvPr/>
        </p:nvSpPr>
        <p:spPr>
          <a:xfrm>
            <a:off x="266701" y="3150182"/>
            <a:ext cx="5467350" cy="3305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Book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__str__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"Book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Sinov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Book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Asoslari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Book: Python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Asoslari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CA155B5-6F44-468A-B757-F4562410B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3176" y="1178754"/>
            <a:ext cx="583882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2️. 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nomli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nomli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ro‘yxat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(list)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bo‘lsin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altLang="LID4096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shunda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(obj)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chaqirilganda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jamoa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a’zolari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ekranga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chiqsin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A7B91EE-FAC3-4237-BA8A-F7077F12A8D1}"/>
              </a:ext>
            </a:extLst>
          </p:cNvPr>
          <p:cNvSpPr/>
          <p:nvPr/>
        </p:nvSpPr>
        <p:spPr>
          <a:xfrm>
            <a:off x="6353176" y="3150182"/>
            <a:ext cx="5838824" cy="3042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Sinov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(["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Ali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Vali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Hasan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"])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3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4494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A25693F-49F4-4A86-AA33-9B0FBEBF6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399" y="123110"/>
            <a:ext cx="5686425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3️.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nomli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Har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vektorda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koordinatalar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__add__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shunda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v1 + v2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bajarilganda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vektor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koordinatalari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ikkalasi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qo‘shilib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qaytarilsin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sz="16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CA155B5-6F44-468A-B757-F4562410B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23110"/>
            <a:ext cx="5838823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4️.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Grades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nomli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grades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nomli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baholar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ro‘yxati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altLang="LID4096" sz="16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getitem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shunda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obj[0]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birinchi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bahoni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olish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altLang="LID4096" sz="16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setitem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shunda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obj[1] = 95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bahoni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o‘zgartirish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9F2937C-D49C-422F-990E-E55E3EE17D43}"/>
              </a:ext>
            </a:extLst>
          </p:cNvPr>
          <p:cNvSpPr/>
          <p:nvPr/>
        </p:nvSpPr>
        <p:spPr>
          <a:xfrm>
            <a:off x="228598" y="2081153"/>
            <a:ext cx="5686425" cy="4398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__add__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__str__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"Vector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)"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Sinov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v1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v2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v1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v2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Vector(7, 10)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8CF6359-B574-4550-8ECB-A482256C809C}"/>
              </a:ext>
            </a:extLst>
          </p:cNvPr>
          <p:cNvSpPr/>
          <p:nvPr/>
        </p:nvSpPr>
        <p:spPr>
          <a:xfrm>
            <a:off x="6096000" y="2019818"/>
            <a:ext cx="6096000" cy="420698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Grades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grades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grades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grades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getitem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grades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setitem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grades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Sinov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Grades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([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90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 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80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95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 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95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970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5DB3F1C-E3F7-4178-A05F-8E0616ABABD2}"/>
              </a:ext>
            </a:extLst>
          </p:cNvPr>
          <p:cNvSpPr/>
          <p:nvPr/>
        </p:nvSpPr>
        <p:spPr>
          <a:xfrm>
            <a:off x="2239816" y="10477"/>
            <a:ext cx="796904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xususiyatlari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(Class Attributes)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DB5A698E-B2EB-44AA-A2CF-05A5D67065F3}"/>
              </a:ext>
            </a:extLst>
          </p:cNvPr>
          <p:cNvCxnSpPr/>
          <p:nvPr/>
        </p:nvCxnSpPr>
        <p:spPr>
          <a:xfrm>
            <a:off x="0" y="656808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C81F8480-B891-463E-9585-C0D944699F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499" y="882233"/>
            <a:ext cx="11635674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spcBef>
                <a:spcPts val="600"/>
              </a:spcBef>
            </a:pPr>
            <a:r>
              <a:rPr lang="en-US" altLang="LID4096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Ta’rif</a:t>
            </a:r>
            <a:r>
              <a:rPr lang="en-US" altLang="LID4096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0">
              <a:spcBef>
                <a:spcPts val="600"/>
              </a:spcBef>
            </a:pP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xususiyatlari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klassning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o‘ziga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tegishli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bo‘lgan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atributlardir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Ular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barcha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obyektlar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hisoblanadi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Ya’ni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klassdan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nechta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yaratilmasin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hammasi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bitta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xususiyatidan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foydalanadi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spcBef>
                <a:spcPts val="600"/>
              </a:spcBef>
            </a:pP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🔑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Muhim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farq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0">
              <a:spcBef>
                <a:spcPts val="600"/>
              </a:spcBef>
            </a:pP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	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darajasida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belgilanadi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spcBef>
                <a:spcPts val="600"/>
              </a:spcBef>
            </a:pP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	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instans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__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metodida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self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yaratiladi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8CBD7E3-0F55-4025-834C-1E9299A7A340}"/>
              </a:ext>
            </a:extLst>
          </p:cNvPr>
          <p:cNvSpPr/>
          <p:nvPr/>
        </p:nvSpPr>
        <p:spPr>
          <a:xfrm>
            <a:off x="478972" y="3211933"/>
            <a:ext cx="6078582" cy="3360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Oddiy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misol</a:t>
            </a:r>
            <a:endParaRPr lang="en-US" sz="20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e2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Alice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e2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F7E0E76-E074-49A3-886A-7483A64E3F6A}"/>
              </a:ext>
            </a:extLst>
          </p:cNvPr>
          <p:cNvSpPr/>
          <p:nvPr/>
        </p:nvSpPr>
        <p:spPr>
          <a:xfrm>
            <a:off x="6818811" y="4412121"/>
            <a:ext cx="513805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🔎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yerda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Times New Roman" panose="02020603050405020304" pitchFamily="18" charset="0"/>
              </a:rPr>
              <a:t>company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barcha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obyektlar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>
                <a:latin typeface="Consolas" panose="020B0609020204030204" pitchFamily="49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obyektga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alohida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saqlanadi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LID40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4543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8A58C0B-D4F2-4C79-BCAA-D2211C5CB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17" y="1077882"/>
            <a:ext cx="11303726" cy="4739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 xususiyatini o‘zgartirish</a:t>
            </a:r>
          </a:p>
          <a:p>
            <a:pPr lvl="1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DeepMind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kumimoji="0" lang="LID4096" altLang="LID4096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lvl="1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LID4096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DeepMind</a:t>
            </a:r>
            <a:endParaRPr kumimoji="0" lang="LID4096" altLang="LID4096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lvl="1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e2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LID4096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DeepMind</a:t>
            </a:r>
            <a:endParaRPr kumimoji="0" lang="LID4096" altLang="LID4096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➡ Klass xususiyatini </a:t>
            </a:r>
            <a:r>
              <a:rPr kumimoji="0" lang="LID4096" altLang="LID4096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 nomi orqali</a:t>
            </a:r>
            <a:r>
              <a:rPr kumimoji="0" lang="LID4096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o‘zgartirsak, barcha obyektlarga ta’sir qiladi.</a:t>
            </a:r>
            <a:endParaRPr kumimoji="0" lang="en-US" altLang="LID4096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altLang="LID4096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Agar </a:t>
            </a:r>
            <a:r>
              <a:rPr kumimoji="0" lang="LID4096" altLang="LID4096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 orqali</a:t>
            </a:r>
            <a:r>
              <a:rPr kumimoji="0" lang="LID4096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o‘zgart</a:t>
            </a:r>
            <a:r>
              <a:rPr kumimoji="0" lang="en-US" altLang="LID4096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irsak</a:t>
            </a:r>
            <a:r>
              <a:rPr kumimoji="0" lang="en-US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e1 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yangi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instans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atribut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shiladi</a:t>
            </a:r>
            <a:endParaRPr kumimoji="0" lang="en-US" altLang="LID4096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lvl="1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Test</a:t>
            </a:r>
            <a:endParaRPr kumimoji="0" lang="en-US" altLang="LID4096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lvl="1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e2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DeepMind</a:t>
            </a:r>
            <a:endParaRPr kumimoji="0" lang="en-US" altLang="LID4096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➡ </a:t>
            </a:r>
            <a:r>
              <a:rPr kumimoji="0" lang="en-US" altLang="LID4096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Bunda</a:t>
            </a:r>
            <a:r>
              <a:rPr kumimoji="0" lang="en-US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kumimoji="0" lang="en-US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kumimoji="0" lang="en-US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alohida</a:t>
            </a:r>
            <a:r>
              <a:rPr kumimoji="0" lang="en-US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kumimoji="0" lang="en-US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atributi</a:t>
            </a:r>
            <a:r>
              <a:rPr kumimoji="0" lang="en-US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yaratiladi</a:t>
            </a:r>
            <a:r>
              <a:rPr kumimoji="0" lang="en-US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LID4096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kumimoji="0" lang="en-US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kumimoji="0" lang="en-US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r>
              <a:rPr kumimoji="0" lang="en-US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o‘zgarmaydi</a:t>
            </a:r>
            <a:r>
              <a:rPr kumimoji="0" lang="en-US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.</a:t>
            </a:r>
            <a:endParaRPr kumimoji="0" lang="en-US" altLang="LID4096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61931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214C117-E25A-4B5E-8737-F3613A556F0E}"/>
              </a:ext>
            </a:extLst>
          </p:cNvPr>
          <p:cNvSpPr/>
          <p:nvPr/>
        </p:nvSpPr>
        <p:spPr>
          <a:xfrm>
            <a:off x="3935964" y="-19953"/>
            <a:ext cx="380572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mashqlar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705C9C63-FE41-4A2D-9ED3-85A7E33A2046}"/>
              </a:ext>
            </a:extLst>
          </p:cNvPr>
          <p:cNvCxnSpPr/>
          <p:nvPr/>
        </p:nvCxnSpPr>
        <p:spPr>
          <a:xfrm>
            <a:off x="0" y="64728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6A25693F-49F4-4A86-AA33-9B0FBEBF6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312573"/>
            <a:ext cx="568642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1️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sifatida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wheels = 4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bo‘lsin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barcha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mashinalarda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4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g‘ildirak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 Har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atributini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olsin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Bir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nechta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yaratib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ularning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g‘ildiraklar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sonini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71F8394-04BC-420D-AB72-31B8BE4B89A2}"/>
              </a:ext>
            </a:extLst>
          </p:cNvPr>
          <p:cNvSpPr/>
          <p:nvPr/>
        </p:nvSpPr>
        <p:spPr>
          <a:xfrm>
            <a:off x="261937" y="2803932"/>
            <a:ext cx="5467350" cy="3493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wheels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Sinov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c1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BMW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c2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Mercedes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wheels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BMW 4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c2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c2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wheels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Mercedes 4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CA155B5-6F44-468A-B757-F4562410B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3176" y="1178754"/>
            <a:ext cx="583882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2️. </a:t>
            </a:r>
            <a:r>
              <a:rPr lang="en-US" altLang="LID4096" dirty="0" err="1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BankAccount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sifatida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bank_name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"National Bank"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belgilang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Har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owner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balance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atributlariga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bo‘lsin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Bir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nechta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ularning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ma’lumotlarini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A7B91EE-FAC3-4237-BA8A-F7077F12A8D1}"/>
              </a:ext>
            </a:extLst>
          </p:cNvPr>
          <p:cNvSpPr/>
          <p:nvPr/>
        </p:nvSpPr>
        <p:spPr>
          <a:xfrm>
            <a:off x="6462715" y="2585923"/>
            <a:ext cx="5838824" cy="4170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BankAccount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bank_name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National Bank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owner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balance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owner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owner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balance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balance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Sinov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a1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BankAccount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a2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BankAccount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owner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balance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bank_name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Ali 1000 National Bank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a2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owner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a2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balance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a2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bank_name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Vali 500 National Bank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0854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A25693F-49F4-4A86-AA33-9B0FBEBF6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399" y="123111"/>
            <a:ext cx="5686425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3️.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sifatida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altLang="LID4096" sz="1600" dirty="0">
                <a:solidFill>
                  <a:srgbClr val="00B0F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 "</a:t>
            </a:r>
            <a:r>
              <a:rPr lang="en-US" altLang="LID4096" sz="1600" dirty="0" err="1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belgilang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Ikki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birinchi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o‘zgartiring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natijani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kuzating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sz="16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CA155B5-6F44-468A-B757-F4562410B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23111"/>
            <a:ext cx="583882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4️.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nomli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Har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yaratilganda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oshib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borsin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Nechta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yaratilganini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ko‘rsating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9F2937C-D49C-422F-990E-E55E3EE17D43}"/>
              </a:ext>
            </a:extLst>
          </p:cNvPr>
          <p:cNvSpPr/>
          <p:nvPr/>
        </p:nvSpPr>
        <p:spPr>
          <a:xfrm>
            <a:off x="228598" y="2081153"/>
            <a:ext cx="5686425" cy="41418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Sinov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e2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Alice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e1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yangi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instans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Tom Test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e2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e2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Alice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   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8CF6359-B574-4550-8ECB-A482256C809C}"/>
              </a:ext>
            </a:extLst>
          </p:cNvPr>
          <p:cNvSpPr/>
          <p:nvPr/>
        </p:nvSpPr>
        <p:spPr>
          <a:xfrm>
            <a:off x="6096000" y="2019818"/>
            <a:ext cx="6096000" cy="388535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Har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yangi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yaratilganda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+1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Sinov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Ali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s2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Vali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s3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Hasan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Jami 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studentlar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soni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3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5252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5DB3F1C-E3F7-4178-A05F-8E0616ABABD2}"/>
              </a:ext>
            </a:extLst>
          </p:cNvPr>
          <p:cNvSpPr/>
          <p:nvPr/>
        </p:nvSpPr>
        <p:spPr>
          <a:xfrm>
            <a:off x="3163146" y="0"/>
            <a:ext cx="586570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Dekoratorlar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(Decorators)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DB5A698E-B2EB-44AA-A2CF-05A5D67065F3}"/>
              </a:ext>
            </a:extLst>
          </p:cNvPr>
          <p:cNvCxnSpPr/>
          <p:nvPr/>
        </p:nvCxnSpPr>
        <p:spPr>
          <a:xfrm>
            <a:off x="0" y="656808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C81F8480-B891-463E-9585-C0D944699F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936" y="738953"/>
            <a:ext cx="11894127" cy="2369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Ta’rif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 algn="just">
              <a:spcBef>
                <a:spcPts val="600"/>
              </a:spcBef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Dekorator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boshqa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funksiya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metodni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qabul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qilib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xatti-harakatini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o‘zgartiruvchi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maxsus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funksiya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yozuvdir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Klasslarda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asosan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quyidagi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dekoratorlar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ishlatiladi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 marL="342900" lvl="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@property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metodni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oddiy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atribut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kabi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ishlatish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imkonini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beradi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Odatda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faqat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o‘qiladigan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qiymatlar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ishlatiladi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@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classmethod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obyektlarga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emas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balki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klassning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o‘ziga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tegishli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Ko‘pincha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obyekt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yaratishning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qo‘shimcha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usullari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ishlatiladi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@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staticmethod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klassga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aloqador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lekin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obyekt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klass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atributlariga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bog‘liq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bo‘lmagan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metodlarni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yozishda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ishlatiladi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8CBD7E3-0F55-4025-834C-1E9299A7A340}"/>
              </a:ext>
            </a:extLst>
          </p:cNvPr>
          <p:cNvSpPr/>
          <p:nvPr/>
        </p:nvSpPr>
        <p:spPr>
          <a:xfrm>
            <a:off x="478972" y="3211933"/>
            <a:ext cx="6078582" cy="3360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Oddiy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misol</a:t>
            </a:r>
            <a:endParaRPr lang="en-US" sz="20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e2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Alice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e2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F7E0E76-E074-49A3-886A-7483A64E3F6A}"/>
              </a:ext>
            </a:extLst>
          </p:cNvPr>
          <p:cNvSpPr/>
          <p:nvPr/>
        </p:nvSpPr>
        <p:spPr>
          <a:xfrm>
            <a:off x="6818811" y="4412121"/>
            <a:ext cx="513805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🔎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yerda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Times New Roman" panose="02020603050405020304" pitchFamily="18" charset="0"/>
              </a:rPr>
              <a:t>company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barcha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obyektlar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>
                <a:latin typeface="Consolas" panose="020B0609020204030204" pitchFamily="49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obyektga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alohida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saqlanadi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LID40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0804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214C117-E25A-4B5E-8737-F3613A556F0E}"/>
              </a:ext>
            </a:extLst>
          </p:cNvPr>
          <p:cNvSpPr/>
          <p:nvPr/>
        </p:nvSpPr>
        <p:spPr>
          <a:xfrm>
            <a:off x="3935964" y="-19953"/>
            <a:ext cx="380572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mashqlar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705C9C63-FE41-4A2D-9ED3-85A7E33A2046}"/>
              </a:ext>
            </a:extLst>
          </p:cNvPr>
          <p:cNvCxnSpPr/>
          <p:nvPr/>
        </p:nvCxnSpPr>
        <p:spPr>
          <a:xfrm>
            <a:off x="0" y="64728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6A25693F-49F4-4A86-AA33-9B0FBEBF6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717089"/>
            <a:ext cx="568642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1️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Circle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radius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atributi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bo‘lsin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area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yuza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o‘qish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property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sifatida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yaratilishi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kerak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l-GR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r²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formulasi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asosida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kumimoji="0" lang="en-US" altLang="LID4096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71F8394-04BC-420D-AB72-31B8BE4B89A2}"/>
              </a:ext>
            </a:extLst>
          </p:cNvPr>
          <p:cNvSpPr/>
          <p:nvPr/>
        </p:nvSpPr>
        <p:spPr>
          <a:xfrm>
            <a:off x="261937" y="2020160"/>
            <a:ext cx="5467350" cy="37432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math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Circle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radius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radius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radius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b="1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property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area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math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radius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**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c1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Circle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Radius: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radius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Yuza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area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o‘qish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CA155B5-6F44-468A-B757-F4562410B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3177" y="717089"/>
            <a:ext cx="583882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2️. 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hisoblagich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bo‘lsin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Har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safar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yaratilganda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+1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oshsin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get_count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nechta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yaratilganini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ko‘rsatish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kerak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A7B91EE-FAC3-4237-BA8A-F7077F12A8D1}"/>
              </a:ext>
            </a:extLst>
          </p:cNvPr>
          <p:cNvSpPr/>
          <p:nvPr/>
        </p:nvSpPr>
        <p:spPr>
          <a:xfrm>
            <a:off x="6353177" y="2020160"/>
            <a:ext cx="5838824" cy="39812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class attribute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6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b="1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en-US" sz="16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classmethod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get_count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cls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cls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p1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p2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Alice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Obyektlar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get_count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309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A25693F-49F4-4A86-AA33-9B0FBEBF6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399" y="369332"/>
            <a:ext cx="568642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3️.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Math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add(a, b) 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static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yaratmasdan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turib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sz="16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CA155B5-6F44-468A-B757-F4562410B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399" y="4142878"/>
            <a:ext cx="5838823" cy="2446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altLang="LID4096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4️.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lvl="0" indent="-285750" algn="just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bo‘lsin</a:t>
            </a:r>
            <a:endParaRPr lang="en-US" altLang="LID4096" sz="16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LID4096" sz="16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fullname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(property)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bo‘lsin</a:t>
            </a:r>
            <a:endParaRPr lang="en-US" altLang="LID4096" sz="16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LID4096" sz="16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from_string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classmethod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u "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Ism </a:t>
            </a:r>
            <a:r>
              <a:rPr lang="en-US" altLang="LID4096" sz="16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Familiya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ko‘rinishidagi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matndan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yaratsin</a:t>
            </a:r>
            <a:endParaRPr lang="en-US" altLang="LID4096" sz="16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LID4096" sz="16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is_adult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(age) 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staticmethod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u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yoshni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tekshirib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True/False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qaytarsin</a:t>
            </a:r>
            <a:endParaRPr lang="en-US" altLang="LID4096" sz="16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obyektlar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ko‘rsating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9F2937C-D49C-422F-990E-E55E3EE17D43}"/>
              </a:ext>
            </a:extLst>
          </p:cNvPr>
          <p:cNvSpPr/>
          <p:nvPr/>
        </p:nvSpPr>
        <p:spPr>
          <a:xfrm>
            <a:off x="152398" y="1323507"/>
            <a:ext cx="5686425" cy="18986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Math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b="1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en-US" sz="16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staticmethod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Yig‘indi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Math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8CF6359-B574-4550-8ECB-A482256C809C}"/>
              </a:ext>
            </a:extLst>
          </p:cNvPr>
          <p:cNvSpPr/>
          <p:nvPr/>
        </p:nvSpPr>
        <p:spPr>
          <a:xfrm>
            <a:off x="6536058" y="369332"/>
            <a:ext cx="6096000" cy="640175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2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2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class attribute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2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2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last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2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2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last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last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2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200" b="1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en-US" sz="12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property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fullname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2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2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2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en-US" sz="12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2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last</a:t>
            </a:r>
            <a:r>
              <a:rPr lang="en-US" sz="12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200" b="1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en-US" sz="12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classmethod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from_string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cls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emp_str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last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emp_str</a:t>
            </a:r>
            <a:r>
              <a:rPr lang="en-US" sz="12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split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2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cls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last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200" b="1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en-US" sz="12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staticmethod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is_adult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2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2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sz="12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sz="12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odatdagi</a:t>
            </a:r>
            <a:r>
              <a:rPr lang="en-US" sz="12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usulda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Smith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fullname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sz="12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Kompaniya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2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sz="12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sz="12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classmethod</a:t>
            </a:r>
            <a:r>
              <a:rPr lang="en-US" sz="12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e2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2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from_string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Alice Johnson 17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e2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fullname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| Yoshi: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e2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2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staticmethod</a:t>
            </a:r>
            <a:r>
              <a:rPr lang="en-US" sz="12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ishlatish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 </a:t>
            </a:r>
            <a:r>
              <a:rPr lang="en-US" sz="12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kattami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2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is_adult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Alice </a:t>
            </a:r>
            <a:r>
              <a:rPr lang="en-US" sz="12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kattami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2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is_adult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e2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7381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214C117-E25A-4B5E-8737-F3613A556F0E}"/>
              </a:ext>
            </a:extLst>
          </p:cNvPr>
          <p:cNvSpPr/>
          <p:nvPr/>
        </p:nvSpPr>
        <p:spPr>
          <a:xfrm>
            <a:off x="5323994" y="-23275"/>
            <a:ext cx="154401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Xulosa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705C9C63-FE41-4A2D-9ED3-85A7E33A2046}"/>
              </a:ext>
            </a:extLst>
          </p:cNvPr>
          <p:cNvCxnSpPr/>
          <p:nvPr/>
        </p:nvCxnSpPr>
        <p:spPr>
          <a:xfrm>
            <a:off x="0" y="64728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6A25693F-49F4-4A86-AA33-9B0FBEBF6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914" y="1750562"/>
            <a:ext cx="1160417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altLang="LID4096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Vorislik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Vorislik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qayta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ishlatish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obyektlar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orasida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ierarxik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munosabatlarni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imkonini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beradi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LID4096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LID4096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Maxsus</a:t>
            </a:r>
            <a:r>
              <a:rPr lang="en-US" altLang="LID4096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metodlar</a:t>
            </a:r>
            <a:r>
              <a:rPr lang="en-US" altLang="LID4096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Maxsus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metodlar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altLang="LID4096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__str__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altLang="LID4096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boshqalar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obyektlarni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oddiy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funksiyalar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operatorlar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tabiiy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ishlashga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moslashtiradi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LID4096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LID4096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xususiyatlari</a:t>
            </a:r>
            <a:r>
              <a:rPr lang="en-US" altLang="LID4096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xususiyatlari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barcha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obyektlar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bo‘ladi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darajasida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ma’lumotni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boshqarishga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xizmat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qiladi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LID4096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altLang="LID4096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Dekoratorlar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Dekoratorlar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metodlarning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tartibini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boshqarib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ularni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qulayroq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aniqroq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foydalanish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imkonini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beradi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217364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214C117-E25A-4B5E-8737-F3613A556F0E}"/>
              </a:ext>
            </a:extLst>
          </p:cNvPr>
          <p:cNvSpPr/>
          <p:nvPr/>
        </p:nvSpPr>
        <p:spPr>
          <a:xfrm>
            <a:off x="5323994" y="-23275"/>
            <a:ext cx="14670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Vazifa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705C9C63-FE41-4A2D-9ED3-85A7E33A2046}"/>
              </a:ext>
            </a:extLst>
          </p:cNvPr>
          <p:cNvCxnSpPr/>
          <p:nvPr/>
        </p:nvCxnSpPr>
        <p:spPr>
          <a:xfrm>
            <a:off x="0" y="64728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">
            <a:extLst>
              <a:ext uri="{FF2B5EF4-FFF2-40B4-BE49-F238E27FC236}">
                <a16:creationId xmlns:a16="http://schemas.microsoft.com/office/drawing/2014/main" id="{D231A2E5-A835-40EC-906F-28F6F0B84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112" y="967842"/>
            <a:ext cx="11700831" cy="4508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LID4096" altLang="LID4096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Vorislik</a:t>
            </a:r>
            <a:endParaRPr kumimoji="0" lang="en-US" altLang="LID4096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Tx/>
              <a:buSzTx/>
              <a:tabLst/>
            </a:pPr>
            <a:r>
              <a:rPr kumimoji="0" lang="LID4096" altLang="LID4096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👉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Transport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nomli ota klass va undan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Car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Bike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kabi voris klasslar yarating. Har birida umumiy metod (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move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va voris klasslarga xos metodlar (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honk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pedal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bo‘lsin. Ularni obyektlar orqali chaqirib, vorislik qanday ishlashini ko‘rsating.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kumimoji="0" lang="LID4096" altLang="LID4096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Maxsus metodlar</a:t>
            </a:r>
            <a:endParaRPr kumimoji="0" lang="en-US" altLang="LID4096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👉 Vector nomli klass yarating. Unda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__init__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__str__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__add__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metodlarini yozing. Ikki vektor obyektini qo‘shib natijani ekranga chiqarishni sinab ko‘ring.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kumimoji="0" lang="LID4096" altLang="LID4096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Klass xususiyatlari</a:t>
            </a:r>
            <a:endParaRPr kumimoji="0" lang="en-US" altLang="LID4096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👉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Student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nomli klass yarating. Umumiy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count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klass atributi orqali nechta obyekt yaratilganini hisoblang. Har safar yangi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Student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yaratilganda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count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birga oshib borishini ta’minlang.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kumimoji="0" lang="LID4096" altLang="LID4096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Dekoratorlar</a:t>
            </a:r>
            <a:endParaRPr kumimoji="0" lang="en-US" altLang="LID4096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👉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Circle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klassi yarating. Unda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radius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atributi bo‘lsin.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@property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yordamida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area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(yuzasi) va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perimet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e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r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(aylana uzunligi) ni oddiy atribut kabi chaqirish mumkin bo‘lsin.</a:t>
            </a:r>
          </a:p>
        </p:txBody>
      </p:sp>
    </p:spTree>
    <p:extLst>
      <p:ext uri="{BB962C8B-B14F-4D97-AF65-F5344CB8AC3E}">
        <p14:creationId xmlns:p14="http://schemas.microsoft.com/office/powerpoint/2010/main" val="3589544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23</a:t>
            </a:fld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659" y="1508787"/>
            <a:ext cx="5376597" cy="4032448"/>
          </a:xfrm>
          <a:prstGeom prst="rect">
            <a:avLst/>
          </a:prstGeom>
        </p:spPr>
      </p:pic>
      <p:pic>
        <p:nvPicPr>
          <p:cNvPr id="6" name="Picture 2" descr="C:\Users\R.M.F\Desktop\artificial-intelligence-icon-ai-isometric-cloud-1292864125-without-background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502" y="95846"/>
            <a:ext cx="1388613" cy="1124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471</TotalTime>
  <Words>4304</Words>
  <Application>Microsoft Office PowerPoint</Application>
  <PresentationFormat>Широкоэкранный</PresentationFormat>
  <Paragraphs>442</Paragraphs>
  <Slides>23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34" baseType="lpstr">
      <vt:lpstr>Arial</vt:lpstr>
      <vt:lpstr>Arial Unicode MS</vt:lpstr>
      <vt:lpstr>Calibri</vt:lpstr>
      <vt:lpstr>Calibri Light</vt:lpstr>
      <vt:lpstr>Consolas</vt:lpstr>
      <vt:lpstr>Courier New</vt:lpstr>
      <vt:lpstr>Segoe UI Emoji</vt:lpstr>
      <vt:lpstr>Symbol</vt:lpstr>
      <vt:lpstr>Tahoma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122</cp:revision>
  <dcterms:created xsi:type="dcterms:W3CDTF">2025-09-05T05:49:43Z</dcterms:created>
  <dcterms:modified xsi:type="dcterms:W3CDTF">2025-10-11T10:37:55Z</dcterms:modified>
</cp:coreProperties>
</file>