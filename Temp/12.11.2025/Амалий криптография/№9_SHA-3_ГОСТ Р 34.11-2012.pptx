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6"/>
  </p:notesMasterIdLst>
  <p:sldIdLst>
    <p:sldId id="256" r:id="rId2"/>
    <p:sldId id="282" r:id="rId3"/>
    <p:sldId id="266" r:id="rId4"/>
    <p:sldId id="286" r:id="rId5"/>
    <p:sldId id="287" r:id="rId6"/>
    <p:sldId id="268" r:id="rId7"/>
    <p:sldId id="272" r:id="rId8"/>
    <p:sldId id="275" r:id="rId9"/>
    <p:sldId id="274" r:id="rId10"/>
    <p:sldId id="281" r:id="rId11"/>
    <p:sldId id="262" r:id="rId12"/>
    <p:sldId id="263" r:id="rId13"/>
    <p:sldId id="276" r:id="rId14"/>
    <p:sldId id="288" r:id="rId15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ABFCF23-3B69-468F-B69F-88F6DE6A72F2}" styleName="Средний стиль 1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505E3EF-67EA-436B-97B2-0124C06EBD24}" styleName="Средний стиль 4 -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A107856-5554-42FB-B03E-39F5DBC370BA}" styleName="Средний стиль 4 -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73" autoAdjust="0"/>
    <p:restoredTop sz="94660"/>
  </p:normalViewPr>
  <p:slideViewPr>
    <p:cSldViewPr>
      <p:cViewPr varScale="1">
        <p:scale>
          <a:sx n="107" d="100"/>
          <a:sy n="107" d="100"/>
        </p:scale>
        <p:origin x="-189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3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03AFF03B-73B7-42E0-A368-549EB00E3990}" type="datetimeFigureOut">
              <a:rPr lang="ru-RU"/>
              <a:pPr>
                <a:defRPr/>
              </a:pPr>
              <a:t>21.08.2019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77F6749F-C714-498B-B356-39B53CA09F28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68650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uz-Cyrl-UZ" smtClean="0"/>
          </a:p>
        </p:txBody>
      </p:sp>
      <p:sp>
        <p:nvSpPr>
          <p:cNvPr id="31748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ABF2512-6EAB-4A65-A7D0-FC91A110E816}" type="slidenum">
              <a:rPr lang="ru-RU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6A4928-0D35-4012-BBAE-60FA41A996F1}" type="datetimeFigureOut">
              <a:rPr lang="ru-RU"/>
              <a:pPr>
                <a:defRPr/>
              </a:pPr>
              <a:t>21.08.2019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D98921-0011-49B8-9A87-BE5517BE9F3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9692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D0F29E-6172-486F-B40B-7163E67773B9}" type="datetimeFigureOut">
              <a:rPr lang="ru-RU"/>
              <a:pPr>
                <a:defRPr/>
              </a:pPr>
              <a:t>21.08.2019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2CD099-011C-4A31-B31A-27B62497856B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0252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9D7744-2C76-491F-BC44-F4CD86AA1FA6}" type="datetimeFigureOut">
              <a:rPr lang="ru-RU"/>
              <a:pPr>
                <a:defRPr/>
              </a:pPr>
              <a:t>21.08.2019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3149C0-941D-44C5-AAC9-9ED9D61FA730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4194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AEF98D-0B9F-46E2-899D-872B83C2DA7A}" type="datetimeFigureOut">
              <a:rPr lang="ru-RU"/>
              <a:pPr>
                <a:defRPr/>
              </a:pPr>
              <a:t>21.08.2019</a:t>
            </a:fld>
            <a:endParaRPr lang="ru-RU" dirty="0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CE1FB7-904C-4CD9-850F-CEFC691DEFC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9843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F5EA85-7D53-4B46-9AD5-75D5F8C084BD}" type="datetimeFigureOut">
              <a:rPr lang="ru-RU"/>
              <a:pPr>
                <a:defRPr/>
              </a:pPr>
              <a:t>21.08.2019</a:t>
            </a:fld>
            <a:endParaRPr lang="ru-RU" dirty="0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E279D-5F95-4DC5-85A1-C3B676545D85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396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8F7D28-6F54-479E-A8A2-9EA4D2190DD8}" type="datetimeFigureOut">
              <a:rPr lang="ru-RU"/>
              <a:pPr>
                <a:defRPr/>
              </a:pPr>
              <a:t>21.08.2019</a:t>
            </a:fld>
            <a:endParaRPr lang="ru-RU" dirty="0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B68A70-6D40-4AF4-89D1-F25DFC5C5377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0654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6BED91-73D3-4419-9C03-2D8D88A08B8D}" type="datetimeFigureOut">
              <a:rPr lang="ru-RU"/>
              <a:pPr>
                <a:defRPr/>
              </a:pPr>
              <a:t>21.08.2019</a:t>
            </a:fld>
            <a:endParaRPr lang="ru-RU" dirty="0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5F1789-DFD7-4F2F-8944-AF49FC7DFEB4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444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069810-0750-412C-8B04-FF7F2AC2DF2D}" type="datetimeFigureOut">
              <a:rPr lang="ru-RU"/>
              <a:pPr>
                <a:defRPr/>
              </a:pPr>
              <a:t>21.08.2019</a:t>
            </a:fld>
            <a:endParaRPr lang="ru-RU" dirty="0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49BC95-FA7A-48B0-93E7-EBF07A79AAC0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1669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744708-39D3-40F5-B809-437B71D0EB99}" type="datetimeFigureOut">
              <a:rPr lang="ru-RU"/>
              <a:pPr>
                <a:defRPr/>
              </a:pPr>
              <a:t>21.08.2019</a:t>
            </a:fld>
            <a:endParaRPr lang="ru-RU" dirty="0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F3D421-6634-4194-B1B3-B1B35F291104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5981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47FB2-509F-475C-B43B-50E80691A432}" type="datetimeFigureOut">
              <a:rPr lang="ru-RU"/>
              <a:pPr>
                <a:defRPr/>
              </a:pPr>
              <a:t>21.08.2019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E66503-5085-41F0-B3DF-5FDE117C94C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8500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77DE4-5228-41D9-9D3A-AE6984F824E2}" type="datetimeFigureOut">
              <a:rPr lang="ru-RU"/>
              <a:pPr>
                <a:defRPr/>
              </a:pPr>
              <a:t>21.08.2019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ECECAF-B76D-46A4-B9A9-DFE3981DD10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9360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F1AB693-C51A-48A3-A89E-8BC8FCBD4529}" type="datetimeFigureOut">
              <a:rPr lang="ru-RU"/>
              <a:pPr>
                <a:defRPr/>
              </a:pPr>
              <a:t>21.08.2019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848D9E6-FE50-4029-9FA4-DAFFE4111436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tayyor.pptx#-1,27,&#1055;&#1088;&#1077;&#1079;&#1077;&#1085;&#1090;&#1072;&#1094;&#1080;&#1103; PowerPoint" TargetMode="External"/><Relationship Id="rId2" Type="http://schemas.openxmlformats.org/officeDocument/2006/relationships/hyperlink" Target="tayyor.pptx#-1,24,&#1055;&#1088;&#1077;&#1079;&#1077;&#1085;&#1090;&#1072;&#1094;&#1080;&#1103; PowerPoin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tayyor.pptx#-1,26,&#1055;&#1088;&#1077;&#1079;&#1077;&#1085;&#1090;&#1072;&#1094;&#1080;&#1103; PowerPoint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tayyor.pptx#-1,19,&#1055;&#1088;&#1077;&#1079;&#1077;&#1085;&#1090;&#1072;&#1094;&#1080;&#1103; PowerPoint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tayyor.pptx#-1,19,&#1055;&#1088;&#1077;&#1079;&#1077;&#1085;&#1090;&#1072;&#1094;&#1080;&#1103; PowerPoint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tayyor.pptx#-1,19,&#1055;&#1088;&#1077;&#1079;&#1077;&#1085;&#1090;&#1072;&#1094;&#1080;&#1103; PowerPoint" TargetMode="External"/><Relationship Id="rId2" Type="http://schemas.openxmlformats.org/officeDocument/2006/relationships/hyperlink" Target="&#1055;&#1088;&#1077;&#1079;&#1077;&#1085;&#1090;&#1072;&#1094;&#1080;&#1103;%20Microsoft%20PowerPoint.pptx#-1,17,&#1055;&#1088;&#1077;&#1079;&#1077;&#1085;&#1090;&#1072;&#1094;&#1080;&#1103; PowerPoint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tayyor.pptx#-1,19,&#1055;&#1088;&#1077;&#1079;&#1077;&#1085;&#1090;&#1072;&#1094;&#1080;&#1103; PowerPoint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6"/>
          <p:cNvSpPr/>
          <p:nvPr/>
        </p:nvSpPr>
        <p:spPr>
          <a:xfrm>
            <a:off x="381000" y="228600"/>
            <a:ext cx="8534400" cy="64008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219200" y="457200"/>
            <a:ext cx="6934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rgbClr val="000000"/>
                </a:solidFill>
                <a:latin typeface="Times New Roman" pitchFamily="18" charset="0"/>
              </a:rPr>
              <a:t>Радиоэлектрон тизимлар ва ахборот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Times New Roman" pitchFamily="18" charset="0"/>
              </a:rPr>
              <a:t>т</a:t>
            </a:r>
            <a:r>
              <a:rPr lang="uz-Cyrl-UZ" b="1" dirty="0">
                <a:solidFill>
                  <a:srgbClr val="000000"/>
                </a:solidFill>
                <a:latin typeface="Times New Roman" pitchFamily="18" charset="0"/>
              </a:rPr>
              <a:t>ехнологиялари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Times New Roman" pitchFamily="18" charset="0"/>
              </a:rPr>
              <a:t>м</a:t>
            </a:r>
            <a:r>
              <a:rPr lang="uz-Cyrl-UZ" b="1" dirty="0">
                <a:solidFill>
                  <a:srgbClr val="000000"/>
                </a:solidFill>
                <a:latin typeface="Times New Roman" pitchFamily="18" charset="0"/>
              </a:rPr>
              <a:t>аркази </a:t>
            </a:r>
            <a:endParaRPr lang="ru-RU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914400" y="2852936"/>
            <a:ext cx="7315200" cy="12192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  <a:prstDash val="dashDot"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SHA-3 </a:t>
            </a:r>
            <a:r>
              <a:rPr lang="uz-Cyrl-UZ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ва ГОСТ </a:t>
            </a:r>
            <a:r>
              <a:rPr lang="uz-Cyrl-UZ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Р </a:t>
            </a:r>
            <a:r>
              <a:rPr lang="uz-Cyrl-UZ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34.11-2012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стандарт хэш-функция алгоритмлари</a:t>
            </a:r>
            <a:endParaRPr lang="ru-RU" sz="2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 Box 154"/>
          <p:cNvSpPr txBox="1">
            <a:spLocks noChangeArrowheads="1"/>
          </p:cNvSpPr>
          <p:nvPr/>
        </p:nvSpPr>
        <p:spPr bwMode="auto">
          <a:xfrm>
            <a:off x="3563888" y="6156012"/>
            <a:ext cx="2133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b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Тошкент</a:t>
            </a:r>
            <a:r>
              <a:rPr lang="ru-RU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- 20</a:t>
            </a:r>
            <a:r>
              <a:rPr lang="en-US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19</a:t>
            </a:r>
            <a:endParaRPr lang="ru-RU" b="1" dirty="0">
              <a:solidFill>
                <a:srgbClr val="3B0076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28596" y="228600"/>
            <a:ext cx="8501122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2400" b="1" dirty="0" smtClean="0">
                <a:latin typeface="Times New Roman" pitchFamily="18" charset="0"/>
                <a:cs typeface="Times New Roman" pitchFamily="18" charset="0"/>
              </a:rPr>
              <a:t>Хэш-функция алгоритмларининг </a:t>
            </a:r>
            <a:r>
              <a:rPr lang="uz-Cyrl-UZ" sz="2400" b="1" dirty="0">
                <a:latin typeface="Times New Roman" pitchFamily="18" charset="0"/>
                <a:cs typeface="Times New Roman" pitchFamily="18" charset="0"/>
              </a:rPr>
              <a:t>умумий қурилиш тамойиллари таҳлили </a:t>
            </a:r>
            <a:endParaRPr lang="ru-RU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95288" y="1262063"/>
            <a:ext cx="8534400" cy="5410200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6" name="Группа 5"/>
          <p:cNvGrpSpPr>
            <a:grpSpLocks/>
          </p:cNvGrpSpPr>
          <p:nvPr/>
        </p:nvGrpSpPr>
        <p:grpSpPr bwMode="auto">
          <a:xfrm>
            <a:off x="827088" y="1446213"/>
            <a:ext cx="7632700" cy="5006975"/>
            <a:chOff x="827086" y="1035947"/>
            <a:chExt cx="7845427" cy="5422532"/>
          </a:xfrm>
        </p:grpSpPr>
        <p:grpSp>
          <p:nvGrpSpPr>
            <p:cNvPr id="12295" name="Группа 1"/>
            <p:cNvGrpSpPr>
              <a:grpSpLocks/>
            </p:cNvGrpSpPr>
            <p:nvPr/>
          </p:nvGrpSpPr>
          <p:grpSpPr bwMode="auto">
            <a:xfrm>
              <a:off x="827086" y="1035947"/>
              <a:ext cx="7743825" cy="3980856"/>
              <a:chOff x="1331911" y="1155125"/>
              <a:chExt cx="7488237" cy="4549025"/>
            </a:xfrm>
          </p:grpSpPr>
          <p:sp>
            <p:nvSpPr>
              <p:cNvPr id="16" name="Text Box 7"/>
              <p:cNvSpPr txBox="1">
                <a:spLocks noChangeArrowheads="1"/>
              </p:cNvSpPr>
              <p:nvPr/>
            </p:nvSpPr>
            <p:spPr bwMode="auto">
              <a:xfrm>
                <a:off x="3318471" y="1155125"/>
                <a:ext cx="3313565" cy="571709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algn="ctr" eaLnBrk="1" fontAlgn="auto" hangingPunct="1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uz-Cyrl-UZ" sz="2400" b="1" dirty="0">
                    <a:solidFill>
                      <a:srgbClr val="000000"/>
                    </a:solidFill>
                    <a:latin typeface="Times New Roman" pitchFamily="18" charset="0"/>
                  </a:rPr>
                  <a:t>  </a:t>
                </a:r>
                <a:r>
                  <a:rPr lang="uz-Cyrl-UZ" b="1" dirty="0">
                    <a:solidFill>
                      <a:srgbClr val="000000"/>
                    </a:solidFill>
                    <a:latin typeface="Times New Roman" pitchFamily="18" charset="0"/>
                  </a:rPr>
                  <a:t>Хэш-функциялар</a:t>
                </a:r>
                <a:r>
                  <a:rPr lang="uz-Cyrl-UZ" sz="2400" b="1" dirty="0">
                    <a:solidFill>
                      <a:srgbClr val="000000"/>
                    </a:solidFill>
                    <a:latin typeface="Times New Roman" pitchFamily="18" charset="0"/>
                  </a:rPr>
                  <a:t> </a:t>
                </a:r>
                <a:endParaRPr lang="ru-RU" sz="2400" b="1" dirty="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7" name="Text Box 8"/>
              <p:cNvSpPr txBox="1">
                <a:spLocks noChangeArrowheads="1"/>
              </p:cNvSpPr>
              <p:nvPr/>
            </p:nvSpPr>
            <p:spPr bwMode="auto">
              <a:xfrm>
                <a:off x="1331911" y="2133514"/>
                <a:ext cx="2863866" cy="56974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uz-Cyrl-UZ" sz="2400" b="1" dirty="0">
                    <a:solidFill>
                      <a:srgbClr val="000000"/>
                    </a:solidFill>
                    <a:latin typeface="Times New Roman" pitchFamily="18" charset="0"/>
                  </a:rPr>
                  <a:t> </a:t>
                </a:r>
                <a:r>
                  <a:rPr lang="ru-RU" b="1" dirty="0">
                    <a:solidFill>
                      <a:srgbClr val="000000"/>
                    </a:solidFill>
                    <a:latin typeface="Times New Roman" pitchFamily="18" charset="0"/>
                  </a:rPr>
                  <a:t>Калит</a:t>
                </a:r>
                <a:r>
                  <a:rPr lang="en-US" b="1" dirty="0">
                    <a:solidFill>
                      <a:srgbClr val="000000"/>
                    </a:solidFill>
                    <a:latin typeface="Times New Roman" pitchFamily="18" charset="0"/>
                  </a:rPr>
                  <a:t>c</a:t>
                </a:r>
                <a:r>
                  <a:rPr lang="ru-RU" b="1" dirty="0">
                    <a:solidFill>
                      <a:srgbClr val="000000"/>
                    </a:solidFill>
                    <a:latin typeface="Times New Roman" pitchFamily="18" charset="0"/>
                  </a:rPr>
                  <a:t>из</a:t>
                </a:r>
                <a:r>
                  <a:rPr lang="uz-Cyrl-UZ" b="1" dirty="0">
                    <a:solidFill>
                      <a:srgbClr val="000000"/>
                    </a:solidFill>
                    <a:latin typeface="Times New Roman" pitchFamily="18" charset="0"/>
                  </a:rPr>
                  <a:t> х</a:t>
                </a:r>
                <a:r>
                  <a:rPr lang="ru-RU" b="1" dirty="0">
                    <a:solidFill>
                      <a:srgbClr val="000000"/>
                    </a:solidFill>
                    <a:latin typeface="Times New Roman" pitchFamily="18" charset="0"/>
                  </a:rPr>
                  <a:t>эш</a:t>
                </a:r>
                <a:r>
                  <a:rPr lang="uz-Cyrl-UZ" b="1" dirty="0">
                    <a:solidFill>
                      <a:srgbClr val="000000"/>
                    </a:solidFill>
                    <a:latin typeface="Times New Roman" pitchFamily="18" charset="0"/>
                  </a:rPr>
                  <a:t>-</a:t>
                </a:r>
                <a:r>
                  <a:rPr lang="ru-RU" b="1" dirty="0">
                    <a:solidFill>
                      <a:srgbClr val="000000"/>
                    </a:solidFill>
                    <a:latin typeface="Times New Roman" pitchFamily="18" charset="0"/>
                  </a:rPr>
                  <a:t>функция</a:t>
                </a:r>
              </a:p>
            </p:txBody>
          </p:sp>
          <p:sp>
            <p:nvSpPr>
              <p:cNvPr id="18" name="Text Box 9"/>
              <p:cNvSpPr txBox="1">
                <a:spLocks noChangeArrowheads="1"/>
              </p:cNvSpPr>
              <p:nvPr/>
            </p:nvSpPr>
            <p:spPr bwMode="auto">
              <a:xfrm>
                <a:off x="6056108" y="2133514"/>
                <a:ext cx="2764460" cy="56974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uz-Cyrl-UZ" sz="2400" b="1" dirty="0">
                    <a:solidFill>
                      <a:srgbClr val="000000"/>
                    </a:solidFill>
                    <a:latin typeface="Times New Roman" pitchFamily="18" charset="0"/>
                  </a:rPr>
                  <a:t> </a:t>
                </a:r>
                <a:r>
                  <a:rPr lang="ru-RU" b="1" dirty="0">
                    <a:solidFill>
                      <a:srgbClr val="000000"/>
                    </a:solidFill>
                    <a:latin typeface="Times New Roman" pitchFamily="18" charset="0"/>
                  </a:rPr>
                  <a:t>Калит</a:t>
                </a:r>
                <a:r>
                  <a:rPr lang="uz-Cyrl-UZ" b="1" dirty="0">
                    <a:solidFill>
                      <a:srgbClr val="000000"/>
                    </a:solidFill>
                    <a:latin typeface="Times New Roman" pitchFamily="18" charset="0"/>
                  </a:rPr>
                  <a:t>л</a:t>
                </a:r>
                <a:r>
                  <a:rPr lang="ru-RU" b="1" dirty="0">
                    <a:solidFill>
                      <a:srgbClr val="000000"/>
                    </a:solidFill>
                    <a:latin typeface="Times New Roman" pitchFamily="18" charset="0"/>
                  </a:rPr>
                  <a:t>и</a:t>
                </a:r>
                <a:r>
                  <a:rPr lang="uz-Cyrl-UZ" b="1" dirty="0">
                    <a:solidFill>
                      <a:srgbClr val="000000"/>
                    </a:solidFill>
                    <a:latin typeface="Times New Roman" pitchFamily="18" charset="0"/>
                  </a:rPr>
                  <a:t> х</a:t>
                </a:r>
                <a:r>
                  <a:rPr lang="ru-RU" b="1" dirty="0">
                    <a:solidFill>
                      <a:srgbClr val="000000"/>
                    </a:solidFill>
                    <a:latin typeface="Times New Roman" pitchFamily="18" charset="0"/>
                  </a:rPr>
                  <a:t>эш</a:t>
                </a:r>
                <a:r>
                  <a:rPr lang="uz-Cyrl-UZ" b="1" dirty="0">
                    <a:solidFill>
                      <a:srgbClr val="000000"/>
                    </a:solidFill>
                    <a:latin typeface="Times New Roman" pitchFamily="18" charset="0"/>
                  </a:rPr>
                  <a:t>-</a:t>
                </a:r>
                <a:r>
                  <a:rPr lang="ru-RU" b="1" dirty="0">
                    <a:solidFill>
                      <a:srgbClr val="000000"/>
                    </a:solidFill>
                    <a:latin typeface="Times New Roman" pitchFamily="18" charset="0"/>
                  </a:rPr>
                  <a:t>функция</a:t>
                </a:r>
              </a:p>
            </p:txBody>
          </p:sp>
          <p:sp>
            <p:nvSpPr>
              <p:cNvPr id="19" name="Text Box 10"/>
              <p:cNvSpPr txBox="1">
                <a:spLocks noChangeArrowheads="1"/>
              </p:cNvSpPr>
              <p:nvPr/>
            </p:nvSpPr>
            <p:spPr bwMode="auto">
              <a:xfrm>
                <a:off x="1630131" y="2846677"/>
                <a:ext cx="2267426" cy="285658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uz-Cyrl-UZ" b="1" dirty="0">
                    <a:solidFill>
                      <a:srgbClr val="000000"/>
                    </a:solidFill>
                    <a:latin typeface="Times New Roman" pitchFamily="18" charset="0"/>
                  </a:rPr>
                  <a:t>ГОСТ </a:t>
                </a:r>
                <a:r>
                  <a:rPr lang="en-US" b="1" dirty="0">
                    <a:solidFill>
                      <a:srgbClr val="000000"/>
                    </a:solidFill>
                    <a:latin typeface="Times New Roman" pitchFamily="18" charset="0"/>
                  </a:rPr>
                  <a:t>P </a:t>
                </a:r>
                <a:r>
                  <a:rPr lang="uz-Cyrl-UZ" b="1" dirty="0">
                    <a:solidFill>
                      <a:srgbClr val="000000"/>
                    </a:solidFill>
                    <a:latin typeface="Times New Roman" pitchFamily="18" charset="0"/>
                  </a:rPr>
                  <a:t>34.11-94</a:t>
                </a:r>
              </a:p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1" dirty="0">
                    <a:solidFill>
                      <a:srgbClr val="000000"/>
                    </a:solidFill>
                    <a:latin typeface="Times New Roman" pitchFamily="18" charset="0"/>
                  </a:rPr>
                  <a:t>MD</a:t>
                </a:r>
                <a:endParaRPr lang="uz-Cyrl-UZ" b="1" dirty="0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1" dirty="0">
                    <a:solidFill>
                      <a:srgbClr val="000000"/>
                    </a:solidFill>
                    <a:latin typeface="Times New Roman" pitchFamily="18" charset="0"/>
                  </a:rPr>
                  <a:t>SHA</a:t>
                </a:r>
                <a:endParaRPr lang="uz-Cyrl-UZ" b="1" dirty="0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ru-RU" b="1" dirty="0">
                    <a:solidFill>
                      <a:srgbClr val="000000"/>
                    </a:solidFill>
                    <a:latin typeface="Times New Roman" pitchFamily="18" charset="0"/>
                  </a:rPr>
                  <a:t>СТБ 1176.1 – 99</a:t>
                </a:r>
                <a:endParaRPr lang="uz-Cyrl-UZ" b="1" dirty="0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1" dirty="0">
                    <a:solidFill>
                      <a:srgbClr val="000000"/>
                    </a:solidFill>
                    <a:latin typeface="Times New Roman" pitchFamily="18" charset="0"/>
                  </a:rPr>
                  <a:t>RIPE-MD</a:t>
                </a:r>
                <a:endParaRPr lang="uz-Cyrl-UZ" b="1" dirty="0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1" dirty="0">
                    <a:solidFill>
                      <a:srgbClr val="000000"/>
                    </a:solidFill>
                    <a:latin typeface="Times New Roman" pitchFamily="18" charset="0"/>
                  </a:rPr>
                  <a:t>TIGER</a:t>
                </a:r>
                <a:endParaRPr lang="uz-Cyrl-UZ" b="1" dirty="0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1" dirty="0">
                    <a:solidFill>
                      <a:srgbClr val="000000"/>
                    </a:solidFill>
                    <a:latin typeface="Times New Roman" pitchFamily="18" charset="0"/>
                  </a:rPr>
                  <a:t>HAVAL</a:t>
                </a:r>
                <a:endParaRPr lang="ru-RU" b="1" dirty="0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uz-Cyrl-UZ" b="1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***</a:t>
                </a:r>
                <a:endParaRPr lang="ru-RU" b="1" dirty="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0" name="Text Box 11"/>
              <p:cNvSpPr txBox="1">
                <a:spLocks noChangeArrowheads="1"/>
              </p:cNvSpPr>
              <p:nvPr/>
            </p:nvSpPr>
            <p:spPr bwMode="auto">
              <a:xfrm>
                <a:off x="6556298" y="2846677"/>
                <a:ext cx="1964471" cy="285658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1" dirty="0">
                    <a:solidFill>
                      <a:srgbClr val="000000"/>
                    </a:solidFill>
                    <a:latin typeface="Times New Roman" pitchFamily="18" charset="0"/>
                  </a:rPr>
                  <a:t>O’z DSt 1106 : 200</a:t>
                </a:r>
                <a:r>
                  <a:rPr lang="ru-RU" b="1" dirty="0">
                    <a:solidFill>
                      <a:srgbClr val="000000"/>
                    </a:solidFill>
                    <a:latin typeface="Times New Roman" pitchFamily="18" charset="0"/>
                  </a:rPr>
                  <a:t>6</a:t>
                </a:r>
                <a:r>
                  <a:rPr lang="ru-RU" dirty="0">
                    <a:solidFill>
                      <a:srgbClr val="000000"/>
                    </a:solidFill>
                    <a:latin typeface="Times New Roman" pitchFamily="18" charset="0"/>
                  </a:rPr>
                  <a:t> </a:t>
                </a:r>
                <a:r>
                  <a:rPr lang="ru-RU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,</a:t>
                </a:r>
                <a:r>
                  <a:rPr lang="ru-RU" b="1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2009</a:t>
                </a:r>
                <a:endParaRPr lang="uz-Cyrl-UZ" b="1" dirty="0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1" dirty="0">
                    <a:solidFill>
                      <a:srgbClr val="000000"/>
                    </a:solidFill>
                    <a:latin typeface="Times New Roman" pitchFamily="18" charset="0"/>
                  </a:rPr>
                  <a:t>RIPE-MAC</a:t>
                </a:r>
                <a:endParaRPr lang="uz-Cyrl-UZ" b="1" dirty="0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1" dirty="0">
                    <a:solidFill>
                      <a:srgbClr val="000000"/>
                    </a:solidFill>
                    <a:latin typeface="Times New Roman" pitchFamily="18" charset="0"/>
                  </a:rPr>
                  <a:t>N-</a:t>
                </a:r>
                <a:r>
                  <a:rPr lang="uz-Cyrl-UZ" b="1" dirty="0">
                    <a:solidFill>
                      <a:srgbClr val="000000"/>
                    </a:solidFill>
                    <a:latin typeface="Times New Roman" pitchFamily="18" charset="0"/>
                  </a:rPr>
                  <a:t>хэш</a:t>
                </a:r>
              </a:p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1" dirty="0">
                    <a:solidFill>
                      <a:srgbClr val="000000"/>
                    </a:solidFill>
                    <a:latin typeface="Times New Roman" pitchFamily="18" charset="0"/>
                  </a:rPr>
                  <a:t>MD5-MAC</a:t>
                </a:r>
                <a:endParaRPr lang="uz-Cyrl-UZ" b="1" dirty="0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1" dirty="0">
                    <a:solidFill>
                      <a:srgbClr val="000000"/>
                    </a:solidFill>
                    <a:latin typeface="Times New Roman" pitchFamily="18" charset="0"/>
                  </a:rPr>
                  <a:t>MAA</a:t>
                </a:r>
                <a:endParaRPr lang="uz-Cyrl-UZ" b="1" dirty="0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1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CBC-MAC</a:t>
                </a:r>
                <a:endParaRPr lang="ru-RU" b="1" dirty="0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uz-Cyrl-UZ" b="1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***</a:t>
                </a:r>
              </a:p>
            </p:txBody>
          </p:sp>
          <p:sp>
            <p:nvSpPr>
              <p:cNvPr id="12309" name="Line 12"/>
              <p:cNvSpPr>
                <a:spLocks noChangeShapeType="1"/>
              </p:cNvSpPr>
              <p:nvPr/>
            </p:nvSpPr>
            <p:spPr bwMode="auto">
              <a:xfrm>
                <a:off x="5076825" y="1726406"/>
                <a:ext cx="0" cy="1976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uz-Cyrl-UZ"/>
              </a:p>
            </p:txBody>
          </p:sp>
          <p:sp>
            <p:nvSpPr>
              <p:cNvPr id="12310" name="Line 14"/>
              <p:cNvSpPr>
                <a:spLocks noChangeShapeType="1"/>
              </p:cNvSpPr>
              <p:nvPr/>
            </p:nvSpPr>
            <p:spPr bwMode="auto">
              <a:xfrm>
                <a:off x="3136900" y="1916113"/>
                <a:ext cx="395446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uz-Cyrl-UZ"/>
              </a:p>
            </p:txBody>
          </p:sp>
          <p:sp>
            <p:nvSpPr>
              <p:cNvPr id="12311" name="Line 15"/>
              <p:cNvSpPr>
                <a:spLocks noChangeShapeType="1"/>
              </p:cNvSpPr>
              <p:nvPr/>
            </p:nvSpPr>
            <p:spPr bwMode="auto">
              <a:xfrm>
                <a:off x="7092950" y="1916112"/>
                <a:ext cx="0" cy="2166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uz-Cyrl-UZ"/>
              </a:p>
            </p:txBody>
          </p:sp>
          <p:sp>
            <p:nvSpPr>
              <p:cNvPr id="12312" name="Line 16"/>
              <p:cNvSpPr>
                <a:spLocks noChangeShapeType="1"/>
              </p:cNvSpPr>
              <p:nvPr/>
            </p:nvSpPr>
            <p:spPr bwMode="auto">
              <a:xfrm>
                <a:off x="3132137" y="1916114"/>
                <a:ext cx="4762" cy="21669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uz-Cyrl-UZ"/>
              </a:p>
            </p:txBody>
          </p:sp>
          <p:sp>
            <p:nvSpPr>
              <p:cNvPr id="12313" name="Line 17"/>
              <p:cNvSpPr>
                <a:spLocks noChangeShapeType="1"/>
              </p:cNvSpPr>
              <p:nvPr/>
            </p:nvSpPr>
            <p:spPr bwMode="auto">
              <a:xfrm>
                <a:off x="7811411" y="2628685"/>
                <a:ext cx="0" cy="2198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uz-Cyrl-UZ"/>
              </a:p>
            </p:txBody>
          </p:sp>
          <p:sp>
            <p:nvSpPr>
              <p:cNvPr id="12314" name="Line 18"/>
              <p:cNvSpPr>
                <a:spLocks noChangeShapeType="1"/>
              </p:cNvSpPr>
              <p:nvPr/>
            </p:nvSpPr>
            <p:spPr bwMode="auto">
              <a:xfrm>
                <a:off x="2465648" y="2628685"/>
                <a:ext cx="0" cy="2198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uz-Cyrl-UZ"/>
              </a:p>
            </p:txBody>
          </p:sp>
        </p:grpSp>
        <p:sp>
          <p:nvSpPr>
            <p:cNvPr id="8" name="Скругленный прямоугольник 7"/>
            <p:cNvSpPr/>
            <p:nvPr/>
          </p:nvSpPr>
          <p:spPr>
            <a:xfrm>
              <a:off x="3627159" y="2813657"/>
              <a:ext cx="2145743" cy="959345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b="1" dirty="0" smtClean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Функционал тузилишига кўра</a:t>
              </a:r>
              <a:endParaRPr lang="ru-RU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9" name="Прямая соединительная линия 8"/>
            <p:cNvCxnSpPr/>
            <p:nvPr/>
          </p:nvCxnSpPr>
          <p:spPr>
            <a:xfrm flipH="1">
              <a:off x="3395452" y="5334086"/>
              <a:ext cx="3059520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Прямая со стрелкой 9"/>
            <p:cNvCxnSpPr/>
            <p:nvPr/>
          </p:nvCxnSpPr>
          <p:spPr>
            <a:xfrm flipH="1">
              <a:off x="3385661" y="5347840"/>
              <a:ext cx="0" cy="21834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Прямоугольник 10"/>
            <p:cNvSpPr/>
            <p:nvPr/>
          </p:nvSpPr>
          <p:spPr>
            <a:xfrm>
              <a:off x="5268694" y="5523204"/>
              <a:ext cx="3403819" cy="935275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uz-Cyrl-UZ" dirty="0" smtClean="0"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rPr>
                <a:t>Блокли шифрлаш алгоритмлари</a:t>
              </a:r>
              <a:endParaRPr lang="en-US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b="1" i="1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b="1" i="1" baseline="-250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b="1" i="1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 = E</a:t>
              </a:r>
              <a:r>
                <a:rPr lang="en-US" b="1" i="1" baseline="-250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Mi</a:t>
              </a:r>
              <a:r>
                <a:rPr lang="en-US" b="1" i="1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(H</a:t>
              </a:r>
              <a:r>
                <a:rPr lang="en-US" b="1" i="1" baseline="-250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i-1</a:t>
              </a:r>
              <a:r>
                <a:rPr lang="en-US" b="1" i="1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),   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b="1" i="1" dirty="0">
                  <a:solidFill>
                    <a:srgbClr val="0070C0"/>
                  </a:solidFill>
                  <a:latin typeface="Times New Roman" pitchFamily="18" charset="0"/>
                  <a:cs typeface="Times New Roman" pitchFamily="18" charset="0"/>
                </a:rPr>
                <a:t>i = 1,2, .........n,</a:t>
              </a:r>
              <a:endParaRPr lang="ru-RU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Прямоугольник 11"/>
            <p:cNvSpPr/>
            <p:nvPr/>
          </p:nvSpPr>
          <p:spPr>
            <a:xfrm>
              <a:off x="838508" y="5542115"/>
              <a:ext cx="3467457" cy="916364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uz-Cyrl-UZ" dirty="0" smtClean="0"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rPr>
                <a:t>Бир тамонлама функция</a:t>
              </a:r>
              <a:r>
                <a:rPr lang="en-US" dirty="0" smtClean="0"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endParaRPr lang="en-US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b="1" i="1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b="1" i="1" baseline="-250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b="1" i="1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 = F(H</a:t>
              </a:r>
              <a:r>
                <a:rPr lang="en-US" b="1" i="1" baseline="-250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i-1</a:t>
              </a:r>
              <a:r>
                <a:rPr lang="en-US" b="1" i="1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, M</a:t>
              </a:r>
              <a:r>
                <a:rPr lang="en-US" b="1" i="1" baseline="-250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b="1" i="1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),  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b="1" i="1" dirty="0">
                  <a:solidFill>
                    <a:srgbClr val="0070C0"/>
                  </a:solidFill>
                  <a:latin typeface="Times New Roman" pitchFamily="18" charset="0"/>
                  <a:cs typeface="Times New Roman" pitchFamily="18" charset="0"/>
                </a:rPr>
                <a:t> i = 1,2, ........ n,</a:t>
              </a:r>
              <a:endParaRPr lang="en-US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3" name="Прямая со стрелкой 12"/>
            <p:cNvCxnSpPr/>
            <p:nvPr/>
          </p:nvCxnSpPr>
          <p:spPr>
            <a:xfrm flipH="1">
              <a:off x="6445181" y="5332366"/>
              <a:ext cx="0" cy="21834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Прямая со стрелкой 13"/>
            <p:cNvCxnSpPr>
              <a:stCxn id="8" idx="2"/>
            </p:cNvCxnSpPr>
            <p:nvPr/>
          </p:nvCxnSpPr>
          <p:spPr>
            <a:xfrm>
              <a:off x="4700847" y="3773002"/>
              <a:ext cx="0" cy="156108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Прямая со стрелкой 14"/>
            <p:cNvCxnSpPr>
              <a:endCxn id="8" idx="0"/>
            </p:cNvCxnSpPr>
            <p:nvPr/>
          </p:nvCxnSpPr>
          <p:spPr>
            <a:xfrm>
              <a:off x="4700847" y="1708175"/>
              <a:ext cx="0" cy="110548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28596" y="228600"/>
            <a:ext cx="8501122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2400" b="1" dirty="0">
                <a:latin typeface="Times New Roman" pitchFamily="18" charset="0"/>
                <a:cs typeface="Times New Roman" pitchFamily="18" charset="0"/>
              </a:rPr>
              <a:t>ГОСТ Р 34.11-2012  стандарт </a:t>
            </a:r>
            <a:r>
              <a:rPr lang="uz-Cyrl-UZ" sz="2400" b="1" dirty="0" smtClean="0">
                <a:latin typeface="Times New Roman" pitchFamily="18" charset="0"/>
                <a:cs typeface="Times New Roman" pitchFamily="18" charset="0"/>
              </a:rPr>
              <a:t>хэш-функция </a:t>
            </a:r>
            <a:r>
              <a:rPr lang="uz-Cyrl-UZ" sz="2400" b="1" dirty="0">
                <a:latin typeface="Times New Roman" pitchFamily="18" charset="0"/>
                <a:cs typeface="Times New Roman" pitchFamily="18" charset="0"/>
              </a:rPr>
              <a:t>алгоритми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81000" y="1295400"/>
            <a:ext cx="8534400" cy="5410200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684213" y="1557338"/>
          <a:ext cx="7954962" cy="489585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884070"/>
                <a:gridCol w="6070892"/>
              </a:tblGrid>
              <a:tr h="359193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Белгилашлар</a:t>
                      </a:r>
                      <a:endParaRPr lang="ru-RU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28" marR="91428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Изоҳ</a:t>
                      </a:r>
                      <a:endParaRPr lang="ru-RU" sz="16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28" marR="91428" marT="45714" marB="45714"/>
                </a:tc>
              </a:tr>
              <a:tr h="359193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</a:t>
                      </a:r>
                      <a:r>
                        <a:rPr lang="ru-RU" sz="1600" baseline="30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*</a:t>
                      </a:r>
                      <a:endParaRPr lang="ru-RU" sz="1600" dirty="0"/>
                    </a:p>
                  </a:txBody>
                  <a:tcPr marL="91428" marR="91428" marT="45714" marB="45714"/>
                </a:tc>
                <a:tc>
                  <a:txBody>
                    <a:bodyPr/>
                    <a:lstStyle/>
                    <a:p>
                      <a:r>
                        <a:rPr lang="uz-Cyrl-UZ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тўлиқ размердаги иккилик сатр ва векторлар тўплами</a:t>
                      </a:r>
                      <a:endParaRPr lang="ru-RU" sz="1600" dirty="0"/>
                    </a:p>
                  </a:txBody>
                  <a:tcPr marL="91428" marR="91428" marT="45714" marB="45714"/>
                </a:tc>
              </a:tr>
              <a:tr h="619977"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|А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|</a:t>
                      </a:r>
                      <a:endParaRPr lang="ru-RU" sz="1600" dirty="0"/>
                    </a:p>
                  </a:txBody>
                  <a:tcPr marL="91428" marR="91428"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вектор ўлчами (компанентлар сони) А</a:t>
                      </a:r>
                      <a:r>
                        <a:rPr lang="el-GR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ϵ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*	Агар</a:t>
                      </a:r>
                      <a:r>
                        <a:rPr lang="uz-Cyrl-UZ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(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А-бўш сатр бўлса, |А|=0</a:t>
                      </a:r>
                      <a:r>
                        <a:rPr lang="uz-Cyrl-UZ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бўлади)</a:t>
                      </a:r>
                      <a:endParaRPr lang="ru-RU" sz="1600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28" marR="91428" marT="45714" marB="45714"/>
                </a:tc>
              </a:tr>
              <a:tr h="619977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</a:t>
                      </a:r>
                      <a:r>
                        <a:rPr lang="en-US" sz="16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endParaRPr lang="ru-RU" sz="1600" dirty="0"/>
                    </a:p>
                  </a:txBody>
                  <a:tcPr marL="91428" marR="91428" marT="45714" marB="45714"/>
                </a:tc>
                <a:tc>
                  <a:txBody>
                    <a:bodyPr/>
                    <a:lstStyle/>
                    <a:p>
                      <a:pPr lvl="0"/>
                      <a:r>
                        <a:rPr lang="uz-Cyrl-UZ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барча 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 </a:t>
                      </a:r>
                      <a:r>
                        <a:rPr lang="uz-Cyrl-UZ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ўлчовли иккилик векторлар тўплами, 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lang="uz-Cyrl-UZ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 манфий бўлмаган бутун сон</a:t>
                      </a:r>
                      <a:endParaRPr lang="ru-RU" sz="1600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28" marR="91428" marT="45714" marB="45714"/>
                </a:tc>
              </a:tr>
              <a:tr h="359193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||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ru-RU" sz="1600" dirty="0"/>
                    </a:p>
                  </a:txBody>
                  <a:tcPr marL="91428" marR="91428" marT="45714" marB="45714"/>
                </a:tc>
                <a:tc>
                  <a:txBody>
                    <a:bodyPr/>
                    <a:lstStyle/>
                    <a:p>
                      <a:r>
                        <a:rPr lang="uz-Cyrl-UZ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векторларни конкетинация қилиш</a:t>
                      </a:r>
                      <a:endParaRPr lang="ru-RU" sz="1600" dirty="0"/>
                    </a:p>
                  </a:txBody>
                  <a:tcPr marL="91428" marR="91428" marT="45714" marB="45714"/>
                </a:tc>
              </a:tr>
              <a:tr h="359193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lang="en-US" sz="1600" baseline="30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endParaRPr lang="ru-RU" sz="1600" dirty="0"/>
                    </a:p>
                  </a:txBody>
                  <a:tcPr marL="91428" marR="91428" marT="45714" marB="45714"/>
                </a:tc>
                <a:tc>
                  <a:txBody>
                    <a:bodyPr/>
                    <a:lstStyle/>
                    <a:p>
                      <a:r>
                        <a:rPr lang="uz-Cyrl-UZ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А векторни 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lang="uz-Cyrl-UZ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марта конкетенация қилиш</a:t>
                      </a:r>
                      <a:endParaRPr lang="ru-RU" sz="1600" dirty="0"/>
                    </a:p>
                  </a:txBody>
                  <a:tcPr marL="91428" marR="91428" marT="45714" marB="45714"/>
                </a:tc>
              </a:tr>
              <a:tr h="619977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Vec</a:t>
                      </a:r>
                      <a:r>
                        <a:rPr lang="en-US" sz="16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:  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  <a:r>
                        <a:rPr lang="ru-RU" sz="16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→ 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</a:t>
                      </a:r>
                      <a:r>
                        <a:rPr lang="en-US" sz="16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lang="ru-RU" sz="16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ru-RU" sz="1600" dirty="0"/>
                    </a:p>
                  </a:txBody>
                  <a:tcPr marL="91428" marR="91428" marT="45714" marB="45714"/>
                </a:tc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биектив акслантириш б</a:t>
                      </a:r>
                      <a:r>
                        <a:rPr lang="uz-Cyrl-UZ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ўлиб,  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  <a:r>
                        <a:rPr lang="ru-RU" sz="16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lang="uz-Cyrl-UZ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майдондаги бутун сонни         иккилик кўринишга акслантириш</a:t>
                      </a:r>
                      <a:endParaRPr lang="ru-RU" sz="1600" dirty="0"/>
                    </a:p>
                  </a:txBody>
                  <a:tcPr marL="91428" marR="91428" marT="45714" marB="45714"/>
                </a:tc>
              </a:tr>
              <a:tr h="359193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Int</a:t>
                      </a:r>
                      <a:r>
                        <a:rPr lang="en-US" sz="16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:  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</a:t>
                      </a:r>
                      <a:r>
                        <a:rPr lang="en-US" sz="16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→ 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  <a:r>
                        <a:rPr lang="ru-RU" sz="16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ru-RU" sz="1600" dirty="0"/>
                    </a:p>
                  </a:txBody>
                  <a:tcPr marL="91428" marR="91428" marT="45714" marB="45714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Vec</a:t>
                      </a:r>
                      <a:r>
                        <a:rPr lang="en-US" sz="16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 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га тескари акслантириш. 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Int</a:t>
                      </a:r>
                      <a:r>
                        <a:rPr lang="en-US" sz="16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= 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Vec</a:t>
                      </a:r>
                      <a:r>
                        <a:rPr lang="en-US" sz="16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lang="ru-RU" sz="1600" baseline="30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-1</a:t>
                      </a:r>
                      <a:endParaRPr lang="ru-RU" sz="1600" dirty="0"/>
                    </a:p>
                  </a:txBody>
                  <a:tcPr marL="91428" marR="91428" marT="45714" marB="45714"/>
                </a:tc>
              </a:tr>
              <a:tr h="619977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MSB</a:t>
                      </a:r>
                      <a:r>
                        <a:rPr lang="en-US" sz="16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: 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</a:t>
                      </a:r>
                      <a:r>
                        <a:rPr lang="ru-RU" sz="1600" baseline="30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*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→ 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</a:t>
                      </a:r>
                      <a:r>
                        <a:rPr lang="en-US" sz="16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 </a:t>
                      </a:r>
                      <a:endParaRPr lang="ru-RU" sz="1600" dirty="0"/>
                    </a:p>
                  </a:txBody>
                  <a:tcPr marL="91428" marR="91428"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r>
                        <a:rPr lang="uz-Cyrl-UZ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битлик маълумотдан 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битни ажратиб олиш. 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  <a:r>
                        <a:rPr lang="en-US" sz="16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ru-RU" sz="16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-1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||….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  <a:r>
                        <a:rPr lang="ru-RU" sz="16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||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  <a:r>
                        <a:rPr lang="ru-RU" sz="16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; агар 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≥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б</a:t>
                      </a:r>
                      <a:r>
                        <a:rPr lang="uz-Cyrl-UZ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ўлса 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  <a:r>
                        <a:rPr lang="en-US" sz="16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ru-RU" sz="16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-1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||….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  <a:r>
                        <a:rPr lang="en-US" sz="16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ru-RU" sz="16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r>
                        <a:rPr lang="en-US" sz="16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lang="ru-RU" sz="16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+1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||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  <a:r>
                        <a:rPr lang="en-US" sz="16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ru-RU" sz="16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r>
                        <a:rPr lang="en-US" sz="16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endParaRPr lang="ru-RU" sz="1600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28" marR="91428" marT="45714" marB="45714"/>
                </a:tc>
              </a:tr>
              <a:tr h="619977"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ФΨ</a:t>
                      </a:r>
                      <a:endParaRPr lang="ru-RU" sz="1600" dirty="0"/>
                    </a:p>
                  </a:txBody>
                  <a:tcPr marL="91428" marR="91428" marT="45714" marB="45714"/>
                </a:tc>
                <a:tc>
                  <a:txBody>
                    <a:bodyPr/>
                    <a:lstStyle/>
                    <a:p>
                      <a:pPr lvl="0"/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Акслантириш </a:t>
                      </a:r>
                      <a:r>
                        <a:rPr lang="uz-Cyrl-UZ" sz="16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бажарилганда Ψ акслантириш биринчи бажарилади</a:t>
                      </a:r>
                      <a:endParaRPr lang="ru-RU" sz="1600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28" marR="91428" marT="45714" marB="45714"/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28596" y="228600"/>
            <a:ext cx="8501122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ГОСТ Р 34.11-2012 стандарт хэш функция алгоритми</a:t>
            </a:r>
            <a:endParaRPr lang="ru-RU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93700" y="1268413"/>
            <a:ext cx="8535988" cy="5221287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Хэш-функция 3 та этапдан иборат: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5366" name="Группа 8"/>
          <p:cNvGrpSpPr>
            <a:grpSpLocks/>
          </p:cNvGrpSpPr>
          <p:nvPr/>
        </p:nvGrpSpPr>
        <p:grpSpPr bwMode="auto">
          <a:xfrm>
            <a:off x="444500" y="1728788"/>
            <a:ext cx="8440738" cy="4718050"/>
            <a:chOff x="444870" y="1729307"/>
            <a:chExt cx="8440242" cy="4716760"/>
          </a:xfrm>
        </p:grpSpPr>
        <p:sp>
          <p:nvSpPr>
            <p:cNvPr id="3" name="Прямоугольник 2"/>
            <p:cNvSpPr/>
            <p:nvPr/>
          </p:nvSpPr>
          <p:spPr>
            <a:xfrm>
              <a:off x="444870" y="1729307"/>
              <a:ext cx="2398572" cy="471676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00" b="1" dirty="0">
                <a:latin typeface="Times New Roman" pitchFamily="18" charset="0"/>
                <a:cs typeface="Times New Roman" pitchFamily="18" charset="0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uz-Cyrl-UZ" sz="1600" b="1" dirty="0">
                  <a:latin typeface="Times New Roman" pitchFamily="18" charset="0"/>
                  <a:cs typeface="Times New Roman" pitchFamily="18" charset="0"/>
                </a:rPr>
                <a:t>1-Этап.</a:t>
              </a:r>
              <a:endParaRPr lang="ru-RU" sz="1600" dirty="0">
                <a:latin typeface="Times New Roman" pitchFamily="18" charset="0"/>
                <a:cs typeface="Times New Roman" pitchFamily="18" charset="0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Ўзгарувчиларга бошланғич қийматларни ўзлаштириш: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uz-Cyrl-UZ" sz="1600" dirty="0">
                <a:latin typeface="Times New Roman" pitchFamily="18" charset="0"/>
                <a:cs typeface="Times New Roman" pitchFamily="18" charset="0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sz="1600" b="1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1.1</a:t>
              </a:r>
              <a:r>
                <a:rPr lang="ru-RU" sz="16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ru-RU" sz="1600" dirty="0">
                  <a:latin typeface="Times New Roman" pitchFamily="18" charset="0"/>
                  <a:cs typeface="Times New Roman" pitchFamily="18" charset="0"/>
                </a:rPr>
                <a:t>:=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IV</a:t>
              </a:r>
              <a:r>
                <a:rPr lang="ru-RU" sz="1600" dirty="0">
                  <a:latin typeface="Times New Roman" pitchFamily="18" charset="0"/>
                  <a:cs typeface="Times New Roman" pitchFamily="18" charset="0"/>
                </a:rPr>
                <a:t>; 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   (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IV</a:t>
              </a:r>
              <a:r>
                <a:rPr lang="en-US" sz="1600" b="1" dirty="0">
                  <a:latin typeface="Times New Roman" pitchFamily="18" charset="0"/>
                  <a:cs typeface="Times New Roman" pitchFamily="18" charset="0"/>
                  <a:sym typeface="Symbol"/>
                </a:rPr>
                <a:t></a:t>
              </a:r>
              <a:r>
                <a:rPr lang="en-US" sz="1600" b="1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ru-RU" sz="1600" baseline="-25000" dirty="0">
                  <a:latin typeface="Times New Roman" pitchFamily="18" charset="0"/>
                  <a:cs typeface="Times New Roman" pitchFamily="18" charset="0"/>
                </a:rPr>
                <a:t>512 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) 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uz-Cyrl-UZ" sz="1600" b="1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1.2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N:=0</a:t>
              </a:r>
              <a:r>
                <a:rPr lang="en-US" sz="1600" baseline="30000" dirty="0">
                  <a:latin typeface="Times New Roman" pitchFamily="18" charset="0"/>
                  <a:cs typeface="Times New Roman" pitchFamily="18" charset="0"/>
                </a:rPr>
                <a:t>512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  <a:sym typeface="Symbol"/>
                </a:rPr>
                <a:t>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 V</a:t>
              </a:r>
              <a:r>
                <a:rPr lang="ru-RU" sz="1600" baseline="-25000" dirty="0">
                  <a:latin typeface="Times New Roman" pitchFamily="18" charset="0"/>
                  <a:cs typeface="Times New Roman" pitchFamily="18" charset="0"/>
                </a:rPr>
                <a:t>512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sz="1600" b="1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1.3</a:t>
              </a:r>
              <a:r>
                <a:rPr lang="ru-RU" sz="16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Σ:= 0</a:t>
              </a:r>
              <a:r>
                <a:rPr lang="en-US" sz="1600" baseline="30000" dirty="0">
                  <a:latin typeface="Times New Roman" pitchFamily="18" charset="0"/>
                  <a:cs typeface="Times New Roman" pitchFamily="18" charset="0"/>
                </a:rPr>
                <a:t>512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  <a:sym typeface="Symbol"/>
                </a:rPr>
                <a:t>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 V</a:t>
              </a:r>
              <a:r>
                <a:rPr lang="ru-RU" sz="1600" baseline="-25000" dirty="0">
                  <a:latin typeface="Times New Roman" pitchFamily="18" charset="0"/>
                  <a:cs typeface="Times New Roman" pitchFamily="18" charset="0"/>
                </a:rPr>
                <a:t>512</a:t>
              </a:r>
              <a:endParaRPr lang="ru-RU" sz="1600" dirty="0">
                <a:latin typeface="Times New Roman" pitchFamily="18" charset="0"/>
                <a:cs typeface="Times New Roman" pitchFamily="18" charset="0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sz="1600" b="1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1.4</a:t>
              </a:r>
              <a:r>
                <a:rPr lang="ru-RU" sz="16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2-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этапга ўтиш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uz-Cyrl-UZ" sz="1600" dirty="0">
                <a:latin typeface="Times New Roman" pitchFamily="18" charset="0"/>
                <a:cs typeface="Times New Roman" pitchFamily="18" charset="0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uz-Cyrl-UZ" sz="1600" dirty="0">
                <a:latin typeface="Times New Roman" pitchFamily="18" charset="0"/>
                <a:cs typeface="Times New Roman" pitchFamily="18" charset="0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uz-Cyrl-UZ" sz="1600" dirty="0">
                <a:latin typeface="Times New Roman" pitchFamily="18" charset="0"/>
                <a:cs typeface="Times New Roman" pitchFamily="18" charset="0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uz-Cyrl-UZ" sz="1600" dirty="0">
                <a:latin typeface="Times New Roman" pitchFamily="18" charset="0"/>
                <a:cs typeface="Times New Roman" pitchFamily="18" charset="0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uz-Cyrl-UZ" sz="1600" dirty="0">
                <a:latin typeface="Times New Roman" pitchFamily="18" charset="0"/>
                <a:cs typeface="Times New Roman" pitchFamily="18" charset="0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uz-Cyrl-UZ" sz="1600" dirty="0">
                <a:latin typeface="Times New Roman" pitchFamily="18" charset="0"/>
                <a:cs typeface="Times New Roman" pitchFamily="18" charset="0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uz-Cyrl-UZ" sz="1600" dirty="0">
                <a:latin typeface="Times New Roman" pitchFamily="18" charset="0"/>
                <a:cs typeface="Times New Roman" pitchFamily="18" charset="0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600" dirty="0">
                <a:latin typeface="Times New Roman" pitchFamily="18" charset="0"/>
                <a:cs typeface="Times New Roman" pitchFamily="18" charset="0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600" dirty="0">
                <a:latin typeface="Times New Roman" pitchFamily="18" charset="0"/>
                <a:cs typeface="Times New Roman" pitchFamily="18" charset="0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2843442" y="1729307"/>
              <a:ext cx="2979562" cy="471676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uz-Cyrl-UZ" sz="1600" b="1" dirty="0">
                <a:latin typeface="Times New Roman" pitchFamily="18" charset="0"/>
                <a:cs typeface="Times New Roman" pitchFamily="18" charset="0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uz-Cyrl-UZ" sz="1600" b="1" dirty="0">
                  <a:latin typeface="Times New Roman" pitchFamily="18" charset="0"/>
                  <a:cs typeface="Times New Roman" pitchFamily="18" charset="0"/>
                </a:rPr>
                <a:t>2-Этап.</a:t>
              </a:r>
              <a:endParaRPr lang="ru-RU" sz="1600" dirty="0">
                <a:latin typeface="Times New Roman" pitchFamily="18" charset="0"/>
                <a:cs typeface="Times New Roman" pitchFamily="18" charset="0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uz-Cyrl-UZ" sz="1600" b="1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2.1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  |M|&lt;512 шартни текшириш, агар шарт бажарилса 3-этапга ўтади, акс холда қуйидаги кетма-кетликни бажарилади:</a:t>
              </a:r>
              <a:endParaRPr lang="ru-RU" sz="1600" dirty="0">
                <a:latin typeface="Times New Roman" pitchFamily="18" charset="0"/>
                <a:cs typeface="Times New Roman" pitchFamily="18" charset="0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uz-Cyrl-UZ" sz="1600" b="1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2.2 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  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m=M, 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m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  <a:sym typeface="Symbol"/>
                </a:rPr>
                <a:t>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 V</a:t>
              </a:r>
              <a:r>
                <a:rPr lang="uz-Cyrl-UZ" sz="1600" baseline="-25000" dirty="0">
                  <a:latin typeface="Times New Roman" pitchFamily="18" charset="0"/>
                  <a:cs typeface="Times New Roman" pitchFamily="18" charset="0"/>
                </a:rPr>
                <a:t>512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, 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М: М=M</a:t>
              </a:r>
              <a:r>
                <a:rPr lang="uz-Cyrl-UZ" sz="1600" b="1" baseline="30000" dirty="0">
                  <a:latin typeface="Times New Roman" pitchFamily="18" charset="0"/>
                  <a:cs typeface="Times New Roman" pitchFamily="18" charset="0"/>
                </a:rPr>
                <a:t>’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||m, M</a:t>
              </a:r>
              <a:r>
                <a:rPr lang="uz-Cyrl-UZ" sz="1600" b="1" baseline="30000" dirty="0">
                  <a:latin typeface="Times New Roman" pitchFamily="18" charset="0"/>
                  <a:cs typeface="Times New Roman" pitchFamily="18" charset="0"/>
                </a:rPr>
                <a:t>’</a:t>
              </a:r>
              <a:r>
                <a:rPr lang="uz-Cyrl-UZ" sz="1600" b="1" dirty="0">
                  <a:latin typeface="Times New Roman" pitchFamily="18" charset="0"/>
                  <a:cs typeface="Times New Roman" pitchFamily="18" charset="0"/>
                </a:rPr>
                <a:t>-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М маълумотнинг m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  <a:sym typeface="Symbol"/>
                </a:rPr>
                <a:t>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 V</a:t>
              </a:r>
              <a:r>
                <a:rPr lang="uz-Cyrl-UZ" sz="1600" baseline="-25000" dirty="0">
                  <a:latin typeface="Times New Roman" pitchFamily="18" charset="0"/>
                  <a:cs typeface="Times New Roman" pitchFamily="18" charset="0"/>
                </a:rPr>
                <a:t>512 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қисми олингандан кейин қолган қисми.</a:t>
              </a:r>
              <a:endParaRPr lang="ru-RU" sz="1600" dirty="0">
                <a:latin typeface="Times New Roman" pitchFamily="18" charset="0"/>
                <a:cs typeface="Times New Roman" pitchFamily="18" charset="0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uz-Cyrl-UZ" sz="1600" b="1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2.3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h=g</a:t>
              </a:r>
              <a:r>
                <a:rPr lang="en-US" sz="1600" baseline="-25000" dirty="0">
                  <a:latin typeface="Times New Roman" pitchFamily="18" charset="0"/>
                  <a:cs typeface="Times New Roman" pitchFamily="18" charset="0"/>
                </a:rPr>
                <a:t>N 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(h,m)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;</a:t>
              </a:r>
              <a:endParaRPr lang="ru-RU" sz="1600" dirty="0">
                <a:latin typeface="Times New Roman" pitchFamily="18" charset="0"/>
                <a:cs typeface="Times New Roman" pitchFamily="18" charset="0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2.4 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N=Vec</a:t>
              </a:r>
              <a:r>
                <a:rPr lang="en-US" sz="1600" baseline="-25000" dirty="0">
                  <a:latin typeface="Times New Roman" pitchFamily="18" charset="0"/>
                  <a:cs typeface="Times New Roman" pitchFamily="18" charset="0"/>
                </a:rPr>
                <a:t>512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(Int</a:t>
              </a:r>
              <a:r>
                <a:rPr lang="en-US" sz="1600" baseline="-25000" dirty="0">
                  <a:latin typeface="Times New Roman" pitchFamily="18" charset="0"/>
                  <a:cs typeface="Times New Roman" pitchFamily="18" charset="0"/>
                </a:rPr>
                <a:t>512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(N)</a:t>
              </a:r>
              <a:r>
                <a:rPr lang="ru-RU" sz="1600" dirty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512)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;</a:t>
              </a:r>
              <a:r>
                <a:rPr lang="ru-RU" sz="1600" dirty="0">
                  <a:latin typeface="Times New Roman" pitchFamily="18" charset="0"/>
                  <a:cs typeface="Times New Roman" pitchFamily="18" charset="0"/>
                </a:rPr>
                <a:t> 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2.5 </a:t>
              </a:r>
              <a:r>
                <a:rPr lang="el-GR" sz="1600" dirty="0">
                  <a:latin typeface="Times New Roman" pitchFamily="18" charset="0"/>
                  <a:cs typeface="Times New Roman" pitchFamily="18" charset="0"/>
                </a:rPr>
                <a:t>Σ 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=Vec</a:t>
              </a:r>
              <a:r>
                <a:rPr lang="en-US" sz="1600" baseline="-25000" dirty="0">
                  <a:latin typeface="Times New Roman" pitchFamily="18" charset="0"/>
                  <a:cs typeface="Times New Roman" pitchFamily="18" charset="0"/>
                </a:rPr>
                <a:t>512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(Int</a:t>
              </a:r>
              <a:r>
                <a:rPr lang="en-US" sz="1600" baseline="-25000" dirty="0">
                  <a:latin typeface="Times New Roman" pitchFamily="18" charset="0"/>
                  <a:cs typeface="Times New Roman" pitchFamily="18" charset="0"/>
                </a:rPr>
                <a:t>512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(Σ</a:t>
              </a: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)+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Int</a:t>
              </a:r>
              <a:r>
                <a:rPr lang="en-US" sz="1600" baseline="-25000" dirty="0">
                  <a:latin typeface="Times New Roman" pitchFamily="18" charset="0"/>
                  <a:cs typeface="Times New Roman" pitchFamily="18" charset="0"/>
                </a:rPr>
                <a:t>512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(m)) </a:t>
              </a:r>
              <a:endParaRPr lang="ru-RU" sz="1600" dirty="0">
                <a:latin typeface="Times New Roman" pitchFamily="18" charset="0"/>
                <a:cs typeface="Times New Roman" pitchFamily="18" charset="0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2.6 М: =M</a:t>
              </a:r>
              <a:r>
                <a:rPr lang="uz-Cyrl-UZ" sz="1600" b="1" baseline="30000" dirty="0">
                  <a:latin typeface="Times New Roman" pitchFamily="18" charset="0"/>
                  <a:cs typeface="Times New Roman" pitchFamily="18" charset="0"/>
                </a:rPr>
                <a:t>’</a:t>
              </a:r>
              <a:r>
                <a:rPr lang="uz-Cyrl-UZ" sz="1600" b="1" dirty="0">
                  <a:latin typeface="Times New Roman" pitchFamily="18" charset="0"/>
                  <a:cs typeface="Times New Roman" pitchFamily="18" charset="0"/>
                </a:rPr>
                <a:t>;</a:t>
              </a:r>
              <a:endParaRPr lang="ru-RU" sz="1600" dirty="0">
                <a:latin typeface="Times New Roman" pitchFamily="18" charset="0"/>
                <a:cs typeface="Times New Roman" pitchFamily="18" charset="0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uz-Cyrl-UZ" sz="1600" dirty="0">
                  <a:latin typeface="Times New Roman" pitchFamily="18" charset="0"/>
                  <a:cs typeface="Times New Roman" pitchFamily="18" charset="0"/>
                </a:rPr>
                <a:t>2.7 2.1 қадамга ўтиш;</a:t>
              </a:r>
              <a:endParaRPr lang="ru-RU" sz="1600" dirty="0">
                <a:latin typeface="Times New Roman" pitchFamily="18" charset="0"/>
                <a:cs typeface="Times New Roman" pitchFamily="18" charset="0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7" name="Прямоугольник 6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823539" y="1729307"/>
              <a:ext cx="3061573" cy="4716760"/>
            </a:xfrm>
            <a:prstGeom prst="rect">
              <a:avLst/>
            </a:prstGeom>
            <a:blipFill rotWithShape="1">
              <a:blip r:embed="rId2"/>
              <a:stretch>
                <a:fillRect l="-592"/>
              </a:stretch>
            </a:blipFill>
          </p:spPr>
          <p:txBody>
            <a:bodyPr/>
            <a:lstStyle/>
            <a:p>
              <a:r>
                <a:rPr lang="ru-RU">
                  <a:noFill/>
                </a:rPr>
                <a:t> </a:t>
              </a: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28596" y="228600"/>
            <a:ext cx="8501122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ГОСТ Р 34.11-2012 стандарт хэш-функция алгоритми</a:t>
            </a:r>
            <a:endParaRPr lang="ru-RU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93700" y="1268413"/>
            <a:ext cx="8535988" cy="5221287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Умумий хэш қиймат қуйидаги формула билан аниқланади: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g</a:t>
            </a:r>
            <a:r>
              <a:rPr lang="uz-Cyrl-UZ" b="1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(h,m)=E(LPS(h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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N),m) 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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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m;                                                      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 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Хар бир 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блок 13 та итерациядан иборат </a:t>
            </a:r>
            <a:r>
              <a:rPr lang="uz-Cyrl-UZ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сиқиш функциясидан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ўтказилади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E(К, m)=X[K</a:t>
            </a:r>
            <a:r>
              <a:rPr lang="uz-Cyrl-UZ" b="1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13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]LPSX[K</a:t>
            </a:r>
            <a:r>
              <a:rPr lang="uz-Cyrl-UZ" b="1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12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]……LPSX[K</a:t>
            </a:r>
            <a:r>
              <a:rPr lang="uz-Cyrl-UZ" b="1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](m);                                                 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бу ерда </a:t>
            </a: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X,L,P,S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акслантиришлар қуйидагича хисобланади: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uz-Cyrl-UZ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Х-акслантириш.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(m)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ru-RU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512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→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ru-RU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512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	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]=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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m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m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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ru-RU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512                   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(3)</a:t>
            </a:r>
            <a:r>
              <a:rPr lang="ru-RU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Бу ерда 	K= LPS(h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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N) ,</a:t>
            </a:r>
            <a:r>
              <a:rPr lang="uz-Cyrl-UZ" b="1" dirty="0"/>
              <a:t>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=LPS(К</a:t>
            </a:r>
            <a:r>
              <a:rPr lang="uz-Cyrl-UZ" b="1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i-1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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uz-Cyrl-UZ" b="1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i-1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 , К</a:t>
            </a:r>
            <a:r>
              <a:rPr lang="uz-Cyrl-UZ" b="1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=К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uz-Cyrl-UZ" b="1" dirty="0"/>
              <a:t>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i=2, …..,13 ,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-ўзгармас C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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V 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512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uz-Cyrl-UZ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чизиқсиз акслантириш.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Кирувчи 512 бит аргумент 64 байт массив кўринишида қаралади.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S: V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512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→V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512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	S(a)=S(a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63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||….||a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)=π(a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63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)||….||π((a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                            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бу ерда, a=a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63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||….||a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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512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, a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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, i=0,…,63.   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=Vec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π'Int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V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→V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, π': Z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n→ Z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28596" y="228600"/>
            <a:ext cx="8501122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ГОСТ Р 34.11-2012 стандарт хэш-функция алгоритми 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81000" y="1196975"/>
            <a:ext cx="8534400" cy="5508625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P- байтларни қайта тартиблаш.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Байтлар ўрни  белгиланган тартибда алмаштирилади.    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P: V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512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→V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512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P(a) = P(a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63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||…||a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 = a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τ(63)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||…||a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τ(0)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б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у ерда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 a= a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63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||…||a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∈ V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512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 a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∈ V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i= 0,…, 63;</a:t>
            </a: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ru-RU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uz-Cyrl-UZ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чизиқли алмаштириш.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Аргумент 8 та 64 битлик вектор сифатида қаралади. Хар бир вектор 64х64 стандарт матрицага кўпайтирилиб, натижа билан алмаштирилади.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L: V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512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→V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512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, L(a)=L(a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||….||a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)=l(a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)||….||l((a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);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		              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бу ерда, a=a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63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||….||a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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512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, a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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, i=0,…,63; l – чизиқли акслантириш бўлиб, 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64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→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64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га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матрица ёрдамида акслантиради. 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акслантиришдан чиққан 512 бит (V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512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) маълумот кейинги итерация учун кириш    хисобланади.13 та итерациядан ўтгандан кейин М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блок учун хэш қиймат ва М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блок учун кирувчи қиймат хисобланади. М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блокдан чиққан хэш қиймат М малумот учун 512 бит хэш қиймат ҳисобланади. ( Стандартда М маълумотдан 256 бит хэш қиймат олиш учун 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MSB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ru-RU" baseline="30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функциядан фойдаланилган)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28596" y="228600"/>
            <a:ext cx="8501122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2400" b="1" dirty="0">
                <a:latin typeface="Times New Roman" pitchFamily="18" charset="0"/>
                <a:cs typeface="Times New Roman" pitchFamily="18" charset="0"/>
              </a:rPr>
              <a:t>SHA-3 хэш-функция алгоритми 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81000" y="1196975"/>
            <a:ext cx="8534400" cy="5508625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uz-Cyrl-UZ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uz-Cyrl-UZ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uz-Cyrl-UZ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uz-Cyrl-UZ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uz-Cyrl-UZ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87388" y="1466850"/>
            <a:ext cx="7921625" cy="1017588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SHА -3 танловининг ғолиб Keccak алгоритми криптографик “ГУБКА” (“sponge”) принципига асосланган. Губка приципи қуйидаги кўринишга эга:</a:t>
            </a: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uz-Cyrl-UZ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uz-Cyrl-UZ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uz-Cyrl-UZ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uz-Cyrl-UZ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uz-Cyrl-UZ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43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7" t="17117" r="8258" b="21777"/>
          <a:stretch>
            <a:fillRect/>
          </a:stretch>
        </p:blipFill>
        <p:spPr bwMode="auto">
          <a:xfrm>
            <a:off x="401638" y="2649538"/>
            <a:ext cx="8493125" cy="3817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-3132138" y="2781300"/>
            <a:ext cx="3024188" cy="358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={M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0,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… M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M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i+1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…M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};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-3116263" y="3525838"/>
            <a:ext cx="504825" cy="3603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-3132138" y="3951288"/>
            <a:ext cx="503238" cy="3603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S</a:t>
            </a:r>
            <a:r>
              <a:rPr lang="en-US" baseline="-25000" dirty="0"/>
              <a:t>2</a:t>
            </a:r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-3132138" y="3148013"/>
            <a:ext cx="503238" cy="3603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1331913" y="4557713"/>
            <a:ext cx="630237" cy="4556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1400" b="1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||0</a:t>
            </a:r>
            <a:r>
              <a:rPr lang="en-US" sz="1400" b="1" baseline="30000" dirty="0">
                <a:latin typeface="Times New Roman" pitchFamily="18" charset="0"/>
                <a:cs typeface="Times New Roman" pitchFamily="18" charset="0"/>
              </a:rPr>
              <a:t>c</a:t>
            </a:r>
            <a:endParaRPr lang="ru-RU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445" name="TextBox 7"/>
          <p:cNvSpPr txBox="1">
            <a:spLocks noChangeArrowheads="1"/>
          </p:cNvSpPr>
          <p:nvPr/>
        </p:nvSpPr>
        <p:spPr bwMode="auto">
          <a:xfrm>
            <a:off x="428625" y="3951288"/>
            <a:ext cx="2587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r</a:t>
            </a:r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-2124075" y="3525838"/>
            <a:ext cx="503237" cy="3603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ru-RU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-2124075" y="3998913"/>
            <a:ext cx="503237" cy="3603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S</a:t>
            </a:r>
            <a:r>
              <a:rPr lang="en-US" baseline="-25000" dirty="0"/>
              <a:t>2</a:t>
            </a:r>
            <a:endParaRPr lang="ru-RU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-2124075" y="3167063"/>
            <a:ext cx="503237" cy="358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ru-RU" dirty="0"/>
          </a:p>
        </p:txBody>
      </p:sp>
      <p:sp>
        <p:nvSpPr>
          <p:cNvPr id="22" name="Прямоугольник 21"/>
          <p:cNvSpPr/>
          <p:nvPr/>
        </p:nvSpPr>
        <p:spPr>
          <a:xfrm>
            <a:off x="-1331913" y="4557713"/>
            <a:ext cx="719138" cy="4556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300" b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13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1300" b="1" dirty="0">
                <a:latin typeface="Times New Roman" pitchFamily="18" charset="0"/>
                <a:cs typeface="Times New Roman" pitchFamily="18" charset="0"/>
                <a:sym typeface="Symbol"/>
              </a:rPr>
              <a:t></a:t>
            </a:r>
            <a:r>
              <a:rPr lang="en-US" sz="1300" b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13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ru-RU" sz="13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2195513" y="4427538"/>
            <a:ext cx="1081087" cy="5873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300" b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13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1300" b="1" dirty="0">
                <a:latin typeface="Times New Roman" pitchFamily="18" charset="0"/>
                <a:cs typeface="Times New Roman" pitchFamily="18" charset="0"/>
                <a:sym typeface="Symbol"/>
              </a:rPr>
              <a:t></a:t>
            </a:r>
            <a:r>
              <a:rPr lang="en-US" sz="1300" b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13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1300" b="1" dirty="0">
                <a:latin typeface="Times New Roman" pitchFamily="18" charset="0"/>
                <a:cs typeface="Times New Roman" pitchFamily="18" charset="0"/>
              </a:rPr>
              <a:t> | |S</a:t>
            </a:r>
            <a:r>
              <a:rPr lang="en-US" sz="13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ru-RU" sz="13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Прямоугольник 23"/>
          <p:cNvSpPr/>
          <p:nvPr/>
        </p:nvSpPr>
        <p:spPr>
          <a:xfrm>
            <a:off x="415925" y="1304925"/>
            <a:ext cx="8464550" cy="13081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dirty="0">
                <a:latin typeface="Times New Roman" pitchFamily="18" charset="0"/>
                <a:cs typeface="Times New Roman" pitchFamily="18" charset="0"/>
              </a:rPr>
              <a:t>Чиқишда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sz="1600" dirty="0">
                <a:latin typeface="Times New Roman" pitchFamily="18" charset="0"/>
                <a:cs typeface="Times New Roman" pitchFamily="18" charset="0"/>
              </a:rPr>
              <a:t> нинг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ω </a:t>
            </a:r>
            <a:r>
              <a:rPr lang="uz-Cyrl-UZ" sz="1600" dirty="0">
                <a:latin typeface="Times New Roman" pitchFamily="18" charset="0"/>
                <a:cs typeface="Times New Roman" pitchFamily="18" charset="0"/>
              </a:rPr>
              <a:t>бити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Z </a:t>
            </a:r>
            <a:r>
              <a:rPr lang="uz-Cyrl-UZ" sz="1600" dirty="0">
                <a:latin typeface="Times New Roman" pitchFamily="18" charset="0"/>
                <a:cs typeface="Times New Roman" pitchFamily="18" charset="0"/>
              </a:rPr>
              <a:t>чиқишга  берилади ва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uz-Cyrl-UZ" sz="1600" dirty="0">
                <a:latin typeface="Times New Roman" pitchFamily="18" charset="0"/>
                <a:cs typeface="Times New Roman" pitchFamily="18" charset="0"/>
              </a:rPr>
              <a:t> яна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uz-Cyrl-UZ" sz="1600" dirty="0">
                <a:latin typeface="Times New Roman" pitchFamily="18" charset="0"/>
                <a:cs typeface="Times New Roman" pitchFamily="18" charset="0"/>
              </a:rPr>
              <a:t>функциядан ўтади,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Z </a:t>
            </a:r>
            <a:r>
              <a:rPr lang="uz-Cyrl-UZ" sz="1600" dirty="0">
                <a:latin typeface="Times New Roman" pitchFamily="18" charset="0"/>
                <a:cs typeface="Times New Roman" pitchFamily="18" charset="0"/>
              </a:rPr>
              <a:t>хэш қиймат  керакли узунликкача конкетенация қилиб йиғиб борилади.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Keccak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алглритми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функцияси узунлиги </a:t>
            </a: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b={f-25, f-50, f-100, f-200, f-400, f-800, f-1600}(b=r+c)</a:t>
            </a:r>
            <a:r>
              <a:rPr lang="ru-RU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бит бўлган маълумотлар устида амаллар бажариши мумкин.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ω</a:t>
            </a:r>
            <a:r>
              <a:rPr lang="uz-Cyrl-UZ" sz="1600" dirty="0">
                <a:latin typeface="Times New Roman" pitchFamily="18" charset="0"/>
                <a:cs typeface="Times New Roman" pitchFamily="18" charset="0"/>
              </a:rPr>
              <a:t>  нинг қиймати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функци</a:t>
            </a:r>
            <a:r>
              <a:rPr lang="uz-Cyrl-UZ" sz="1600" dirty="0">
                <a:latin typeface="Times New Roman" pitchFamily="18" charset="0"/>
                <a:cs typeface="Times New Roman" pitchFamily="18" charset="0"/>
              </a:rPr>
              <a:t>яга кирувчи бит узунлигига мос равишда 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ω= </a:t>
            </a: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{1,2,4,8,16,32,64}</a:t>
            </a: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Масалан </a:t>
            </a: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f-1600 </a:t>
            </a: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учун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ω=64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бит.</a:t>
            </a:r>
          </a:p>
        </p:txBody>
      </p:sp>
      <p:sp>
        <p:nvSpPr>
          <p:cNvPr id="18452" name="TextBox 8"/>
          <p:cNvSpPr txBox="1">
            <a:spLocks noChangeArrowheads="1"/>
          </p:cNvSpPr>
          <p:nvPr/>
        </p:nvSpPr>
        <p:spPr bwMode="auto">
          <a:xfrm>
            <a:off x="5867400" y="3162300"/>
            <a:ext cx="3603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latin typeface="Times New Roman" pitchFamily="18" charset="0"/>
                <a:cs typeface="Times New Roman" pitchFamily="18" charset="0"/>
              </a:rPr>
              <a:t>ω</a:t>
            </a:r>
            <a:endParaRPr lang="ru-RU"/>
          </a:p>
        </p:txBody>
      </p:sp>
      <p:sp>
        <p:nvSpPr>
          <p:cNvPr id="18453" name="TextBox 25"/>
          <p:cNvSpPr txBox="1">
            <a:spLocks noChangeArrowheads="1"/>
          </p:cNvSpPr>
          <p:nvPr/>
        </p:nvSpPr>
        <p:spPr bwMode="auto">
          <a:xfrm>
            <a:off x="7019925" y="3167063"/>
            <a:ext cx="3603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latin typeface="Times New Roman" pitchFamily="18" charset="0"/>
                <a:cs typeface="Times New Roman" pitchFamily="18" charset="0"/>
              </a:rPr>
              <a:t>ω</a:t>
            </a:r>
            <a:endParaRPr lang="ru-RU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96296E-6 L 0.53541 -0.00532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771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71 0.05416 L 0.49461 0.05416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1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9392 -0.02709 L 0.49705 0.10925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" y="6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3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4844 0.14977 L 0.46806 0.14977 C 0.47674 0.14977 0.48785 0.13496 0.48785 0.12292 L 0.48785 0.09723 " pathEditMode="relative" rAng="0" ptsTypes="FfFF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-2639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5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9635 0.10925 L 0.49236 0.10925 C 0.49062 0.10925 0.48854 0.13726 0.48854 0.16087 L 0.48854 0.21435 " pathEditMode="relative" rAng="0" ptsTypes="FfFF">
                                      <p:cBhvr>
                                        <p:cTn id="2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9" y="5255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4" presetClass="exit" presetSubtype="1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4" presetClass="exit" presetSubtype="10" fill="hold" grpId="2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7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96296E-6 L 3.33333E-6 -0.02153 C 3.33333E-6 -0.03125 0.01753 -0.04213 0.03298 -0.04213 L 0.06718 -0.04213 " pathEditMode="relative" rAng="0" ptsTypes="FfFF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51" y="-2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4479 0.05416 L 0.5 0.05416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60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 -0.02986 L 0.5 0.10648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7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6059 0.12176 L 0.48021 0.12176 C 0.48889 0.12176 0.5 0.10972 0.5 0.10046 L 0.5 0.07963 " pathEditMode="relative" rAng="0" ptsTypes="FfFF">
                                      <p:cBhvr>
                                        <p:cTn id="5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-2106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0156 -0.10325 L 0.40156 -0.0088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722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0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6" grpId="2" animBg="1"/>
      <p:bldP spid="17" grpId="0" animBg="1"/>
      <p:bldP spid="17" grpId="1" animBg="1"/>
      <p:bldP spid="17" grpId="2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28596" y="228600"/>
            <a:ext cx="8501122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2400" b="1" dirty="0">
                <a:latin typeface="Times New Roman" pitchFamily="18" charset="0"/>
                <a:cs typeface="Times New Roman" pitchFamily="18" charset="0"/>
              </a:rPr>
              <a:t>SHA-3 хэш-функция алгоритми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f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функцияси</a:t>
            </a:r>
            <a:r>
              <a:rPr lang="uz-Cyrl-UZ" sz="2400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81000" y="1196975"/>
            <a:ext cx="8534400" cy="5508625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684213" y="1484313"/>
          <a:ext cx="7920037" cy="4833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1209"/>
                <a:gridCol w="5408828"/>
              </a:tblGrid>
              <a:tr h="418813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Белгилашлар</a:t>
                      </a:r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0" marR="91430" marT="45718" marB="457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Изох</a:t>
                      </a:r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0" marR="91430" marT="45718" marB="45718"/>
                </a:tc>
              </a:tr>
              <a:tr h="722883">
                <a:tc>
                  <a:txBody>
                    <a:bodyPr/>
                    <a:lstStyle/>
                    <a:p>
                      <a:pPr algn="ctr"/>
                      <a:r>
                        <a:rPr lang="uz-Cyrl-UZ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[x,y]</a:t>
                      </a:r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0" marR="91430" marT="45718" marB="45718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z-Cyrl-UZ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Ўлчами</a:t>
                      </a:r>
                      <a:r>
                        <a:rPr lang="uz-Cyrl-UZ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5х5 бўлган </a:t>
                      </a:r>
                      <a:r>
                        <a:rPr lang="uz-Cyrl-UZ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ҳолат массиви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, A[x,y]=64 </a:t>
                      </a:r>
                      <a:r>
                        <a:rPr lang="uz-Cyrl-UZ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бит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, x=0…4, y=0…4</a:t>
                      </a:r>
                      <a:r>
                        <a:rPr lang="uz-Cyrl-UZ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;</a:t>
                      </a:r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0" marR="91430" marT="45718" marB="45718"/>
                </a:tc>
              </a:tr>
              <a:tr h="109047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B[x,y]</a:t>
                      </a:r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0" marR="91430" marT="45718" marB="45718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z-Cyrl-UZ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Ўлчами</a:t>
                      </a:r>
                      <a:r>
                        <a:rPr lang="uz-Cyrl-UZ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5х5 бўлган </a:t>
                      </a:r>
                      <a:r>
                        <a:rPr lang="uz-Cyrl-UZ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вақтинчалик массив, структураси бўйича ҳолат массивнинг аналоги хисобланади,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B[x,y]=64 </a:t>
                      </a:r>
                      <a:r>
                        <a:rPr lang="uz-Cyrl-UZ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бит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, x=0…4, y=0…4</a:t>
                      </a:r>
                      <a:r>
                        <a:rPr lang="uz-Cyrl-UZ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; </a:t>
                      </a:r>
                      <a:r>
                        <a:rPr lang="uz-Cyrl-UZ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0" marR="91430" marT="45718" marB="45718"/>
                </a:tc>
              </a:tr>
              <a:tr h="72288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C[x]</a:t>
                      </a:r>
                      <a:r>
                        <a:rPr lang="uz-Cyrl-UZ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 ва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D[x]</a:t>
                      </a:r>
                      <a:endParaRPr lang="ru-RU" sz="18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0" marR="91430" marT="45718" marB="45718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z-Cyrl-UZ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бир ўлчовли вақтинчалик массивлар, 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C[x]=64 </a:t>
                      </a:r>
                      <a:r>
                        <a:rPr lang="uz-Cyrl-UZ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бит, 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D[x]=64 </a:t>
                      </a:r>
                      <a:r>
                        <a:rPr lang="uz-Cyrl-UZ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бит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, x=0…4;</a:t>
                      </a:r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0" marR="91430" marT="45718" marB="45718"/>
                </a:tc>
              </a:tr>
              <a:tr h="10412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R[x,y]</a:t>
                      </a:r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0" marR="91430" marT="45718" marB="45718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z-Cyrl-UZ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константа қилиб берилган икки ўлчовли массив, хар бир сўзни неччи битга сдвиг қилиш кераклигини билдиради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, x=0…4, y=0…4</a:t>
                      </a:r>
                      <a:r>
                        <a:rPr lang="uz-Cyrl-UZ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;</a:t>
                      </a:r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0" marR="91430" marT="45718" marB="45718"/>
                </a:tc>
              </a:tr>
              <a:tr h="41881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&amp;</a:t>
                      </a:r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0" marR="91430" marT="45718" marB="45718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z-Cyrl-UZ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Бит бўйича кўпайтириш (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and)</a:t>
                      </a: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uz-Cyrl-UZ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амали;</a:t>
                      </a:r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0" marR="91430" marT="45718" marB="45718"/>
                </a:tc>
              </a:tr>
              <a:tr h="418813">
                <a:tc>
                  <a:txBody>
                    <a:bodyPr/>
                    <a:lstStyle/>
                    <a:p>
                      <a:pPr algn="ctr"/>
                      <a:r>
                        <a:rPr lang="uz-Cyrl-UZ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~x</a:t>
                      </a:r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0" marR="91430" marT="45718" marB="45718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z-Cyrl-UZ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x га бит бўйича инверция (not) амали; </a:t>
                      </a:r>
                      <a:endParaRPr lang="ru-RU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0" marR="91430" marT="45718" marB="45718"/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28596" y="228600"/>
            <a:ext cx="8501122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2400" b="1" dirty="0">
                <a:latin typeface="Times New Roman" pitchFamily="18" charset="0"/>
                <a:cs typeface="Times New Roman" pitchFamily="18" charset="0"/>
              </a:rPr>
              <a:t>SHA-3 хэш-функция алгоритми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функцияси</a:t>
            </a:r>
            <a:r>
              <a:rPr lang="uz-Cyrl-UZ" sz="2400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81000" y="1196975"/>
            <a:ext cx="8534400" cy="5508625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Узунлиги 1600 бит бўлган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маълумот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 action="ppaction://hlinkpres?slideindex=24&amp;slidetitle=Презентация PowerPoint"/>
              </a:rPr>
              <a:t>А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(5х5) массивга ўзлаштирилади. Бунда хар бир А(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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V</a:t>
            </a:r>
            <a:r>
              <a:rPr lang="ru-RU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64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бит узунликка эга.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θ</a:t>
            </a:r>
            <a:r>
              <a:rPr lang="uz-Cyrl-UZ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– акслантириш.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Диффузияга йўналтирилган чизиқли акслантириш хисобланади.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C[x] = A[x, 0] 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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A[x, 1] 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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A[x, 2] 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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A[x, 3]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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A[x, 4], x = 0…4;                        (6)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D[x] = (C[x — 1]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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[x + 1] &gt;&gt;&gt; 1))(mod5), x = 0…4;		      (7)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A[x, y] = A[x, y]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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D[x], x = 0…4, y = 0…4; 			      (8)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ru-RU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ρ</a:t>
            </a:r>
            <a:r>
              <a:rPr lang="uz-Cyrl-UZ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ва </a:t>
            </a:r>
            <a:r>
              <a:rPr lang="ru-RU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uz-Cyrl-UZ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акслантириш.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Дисперсия йўналтирилган чизиқли акслантириш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исобланади.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	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B[y, 2x + 3y] = A[x, y] &gt;&gt;&gt; R[x, y], x = 0…4, y = 0…4;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      (9)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бу ерда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3" action="ppaction://hlinkpres?slideindex=27&amp;slidetitle=Презентация PowerPoint"/>
              </a:rPr>
              <a:t>R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стандарт константа жадвали.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4. χ</a:t>
            </a:r>
            <a:r>
              <a:rPr lang="uz-Cyrl-UZ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–акслвнтириш.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Ягона чизиқсиз акслантириш хисобланади.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600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A[x, y] = B[x, y] (~B[x + 1, y] &amp; B[x + 2, y], x = 0…4, y = 0…4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 	     (10)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5. </a:t>
            </a:r>
            <a:r>
              <a:rPr lang="ru-RU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акслантириш</a:t>
            </a: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Матнга хэш қиймати устма-уст тушадиган намунавий матн (прообраз) топиш усулидан ҳимоя қилиш учун раунд константаси қўшилади.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A[0,0]=A[0,0] 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</a:t>
            </a:r>
            <a:r>
              <a:rPr lang="en-US" b="1" dirty="0">
                <a:sym typeface="Symbol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4" action="ppaction://hlinkpres?slideindex=26&amp;slidetitle=Презентация PowerPoint"/>
              </a:rPr>
              <a:t>RC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					      (11)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бу ерда RC 64 бит узунликдаги раунд константаси.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24 та раунддан кейин М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лок учун хисоблаш жараёни тугайди ва М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i+1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блокка ўтилади.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Прямоугольник 116"/>
          <p:cNvSpPr/>
          <p:nvPr/>
        </p:nvSpPr>
        <p:spPr>
          <a:xfrm>
            <a:off x="381000" y="1204913"/>
            <a:ext cx="8534400" cy="5103812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96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5" name="Группа 4"/>
          <p:cNvGrpSpPr>
            <a:grpSpLocks/>
          </p:cNvGrpSpPr>
          <p:nvPr/>
        </p:nvGrpSpPr>
        <p:grpSpPr bwMode="auto">
          <a:xfrm>
            <a:off x="817563" y="1306513"/>
            <a:ext cx="7489825" cy="4897437"/>
            <a:chOff x="0" y="0"/>
            <a:chExt cx="5705580" cy="3658851"/>
          </a:xfrm>
        </p:grpSpPr>
        <p:cxnSp>
          <p:nvCxnSpPr>
            <p:cNvPr id="25610" name="Прямая соединительная линия 5"/>
            <p:cNvCxnSpPr>
              <a:cxnSpLocks noChangeShapeType="1"/>
            </p:cNvCxnSpPr>
            <p:nvPr/>
          </p:nvCxnSpPr>
          <p:spPr bwMode="auto">
            <a:xfrm>
              <a:off x="3018081" y="342198"/>
              <a:ext cx="0" cy="182880"/>
            </a:xfrm>
            <a:prstGeom prst="line">
              <a:avLst/>
            </a:prstGeom>
            <a:noFill/>
            <a:ln w="9525" algn="ctr">
              <a:solidFill>
                <a:srgbClr val="4A7EBB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5611" name="Группа 6"/>
            <p:cNvGrpSpPr>
              <a:grpSpLocks/>
            </p:cNvGrpSpPr>
            <p:nvPr/>
          </p:nvGrpSpPr>
          <p:grpSpPr bwMode="auto">
            <a:xfrm>
              <a:off x="0" y="0"/>
              <a:ext cx="5705580" cy="3658851"/>
              <a:chOff x="0" y="0"/>
              <a:chExt cx="5705580" cy="3658851"/>
            </a:xfrm>
          </p:grpSpPr>
          <p:grpSp>
            <p:nvGrpSpPr>
              <p:cNvPr id="25612" name="Группа 7"/>
              <p:cNvGrpSpPr>
                <a:grpSpLocks/>
              </p:cNvGrpSpPr>
              <p:nvPr/>
            </p:nvGrpSpPr>
            <p:grpSpPr bwMode="auto">
              <a:xfrm>
                <a:off x="4330778" y="2507587"/>
                <a:ext cx="1298956" cy="1002030"/>
                <a:chOff x="0" y="0"/>
                <a:chExt cx="1705970" cy="1433014"/>
              </a:xfrm>
            </p:grpSpPr>
            <p:sp>
              <p:nvSpPr>
                <p:cNvPr id="106" name="Прямоугольник 105"/>
                <p:cNvSpPr/>
                <p:nvPr/>
              </p:nvSpPr>
              <p:spPr>
                <a:xfrm>
                  <a:off x="-259" y="-508"/>
                  <a:ext cx="1705780" cy="1433230"/>
                </a:xfrm>
                <a:prstGeom prst="rect">
                  <a:avLst/>
                </a:prstGeom>
                <a:solidFill>
                  <a:sysClr val="window" lastClr="FFFFFF"/>
                </a:solidFill>
                <a:ln w="25400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ru-RU" kern="0" dirty="0">
                    <a:solidFill>
                      <a:sysClr val="windowText" lastClr="000000"/>
                    </a:solidFill>
                    <a:latin typeface="Calibri"/>
                    <a:cs typeface="+mn-cs"/>
                  </a:endParaRPr>
                </a:p>
              </p:txBody>
            </p:sp>
            <p:cxnSp>
              <p:nvCxnSpPr>
                <p:cNvPr id="25711" name="Прямая соединительная линия 106"/>
                <p:cNvCxnSpPr>
                  <a:cxnSpLocks noChangeShapeType="1"/>
                </p:cNvCxnSpPr>
                <p:nvPr/>
              </p:nvCxnSpPr>
              <p:spPr bwMode="auto">
                <a:xfrm>
                  <a:off x="341194" y="0"/>
                  <a:ext cx="0" cy="1432560"/>
                </a:xfrm>
                <a:prstGeom prst="line">
                  <a:avLst/>
                </a:prstGeom>
                <a:noFill/>
                <a:ln w="9525" algn="ctr">
                  <a:solidFill>
                    <a:srgbClr val="4A7EBB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5712" name="Прямая соединительная линия 107"/>
                <p:cNvCxnSpPr>
                  <a:cxnSpLocks noChangeShapeType="1"/>
                </p:cNvCxnSpPr>
                <p:nvPr/>
              </p:nvCxnSpPr>
              <p:spPr bwMode="auto">
                <a:xfrm>
                  <a:off x="675564" y="0"/>
                  <a:ext cx="0" cy="1432560"/>
                </a:xfrm>
                <a:prstGeom prst="line">
                  <a:avLst/>
                </a:prstGeom>
                <a:noFill/>
                <a:ln w="9525" algn="ctr">
                  <a:solidFill>
                    <a:srgbClr val="4A7EBB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5713" name="Прямая соединительная линия 108"/>
                <p:cNvCxnSpPr>
                  <a:cxnSpLocks noChangeShapeType="1"/>
                </p:cNvCxnSpPr>
                <p:nvPr/>
              </p:nvCxnSpPr>
              <p:spPr bwMode="auto">
                <a:xfrm>
                  <a:off x="1016758" y="0"/>
                  <a:ext cx="0" cy="1432560"/>
                </a:xfrm>
                <a:prstGeom prst="line">
                  <a:avLst/>
                </a:prstGeom>
                <a:noFill/>
                <a:ln w="9525" algn="ctr">
                  <a:solidFill>
                    <a:srgbClr val="4A7EBB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5714" name="Прямая соединительная линия 109"/>
                <p:cNvCxnSpPr>
                  <a:cxnSpLocks noChangeShapeType="1"/>
                </p:cNvCxnSpPr>
                <p:nvPr/>
              </p:nvCxnSpPr>
              <p:spPr bwMode="auto">
                <a:xfrm>
                  <a:off x="1357952" y="0"/>
                  <a:ext cx="0" cy="1432560"/>
                </a:xfrm>
                <a:prstGeom prst="line">
                  <a:avLst/>
                </a:prstGeom>
                <a:noFill/>
                <a:ln w="9525" algn="ctr">
                  <a:solidFill>
                    <a:srgbClr val="4A7EBB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5715" name="Прямая соединительная линия 110"/>
                <p:cNvCxnSpPr>
                  <a:cxnSpLocks noChangeShapeType="1"/>
                </p:cNvCxnSpPr>
                <p:nvPr/>
              </p:nvCxnSpPr>
              <p:spPr bwMode="auto">
                <a:xfrm>
                  <a:off x="6824" y="573205"/>
                  <a:ext cx="1698625" cy="0"/>
                </a:xfrm>
                <a:prstGeom prst="line">
                  <a:avLst/>
                </a:prstGeom>
                <a:noFill/>
                <a:ln w="9525" algn="ctr">
                  <a:solidFill>
                    <a:srgbClr val="4A7EBB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5716" name="Прямая соединительная линия 111"/>
                <p:cNvCxnSpPr>
                  <a:cxnSpLocks noChangeShapeType="1"/>
                </p:cNvCxnSpPr>
                <p:nvPr/>
              </p:nvCxnSpPr>
              <p:spPr bwMode="auto">
                <a:xfrm>
                  <a:off x="0" y="859808"/>
                  <a:ext cx="1698625" cy="0"/>
                </a:xfrm>
                <a:prstGeom prst="line">
                  <a:avLst/>
                </a:prstGeom>
                <a:noFill/>
                <a:ln w="9525" algn="ctr">
                  <a:solidFill>
                    <a:srgbClr val="4A7EBB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5717" name="Прямая соединительная линия 112"/>
                <p:cNvCxnSpPr>
                  <a:cxnSpLocks noChangeShapeType="1"/>
                </p:cNvCxnSpPr>
                <p:nvPr/>
              </p:nvCxnSpPr>
              <p:spPr bwMode="auto">
                <a:xfrm>
                  <a:off x="0" y="1139588"/>
                  <a:ext cx="1698625" cy="0"/>
                </a:xfrm>
                <a:prstGeom prst="line">
                  <a:avLst/>
                </a:prstGeom>
                <a:noFill/>
                <a:ln w="9525" algn="ctr">
                  <a:solidFill>
                    <a:srgbClr val="4A7EBB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5718" name="Прямая соединительная линия 113"/>
                <p:cNvCxnSpPr>
                  <a:cxnSpLocks noChangeShapeType="1"/>
                </p:cNvCxnSpPr>
                <p:nvPr/>
              </p:nvCxnSpPr>
              <p:spPr bwMode="auto">
                <a:xfrm>
                  <a:off x="0" y="286603"/>
                  <a:ext cx="1698625" cy="0"/>
                </a:xfrm>
                <a:prstGeom prst="line">
                  <a:avLst/>
                </a:prstGeom>
                <a:noFill/>
                <a:ln w="9525" algn="ctr">
                  <a:solidFill>
                    <a:srgbClr val="4A7EBB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9" name="Прямоугольник 8"/>
              <p:cNvSpPr/>
              <p:nvPr/>
            </p:nvSpPr>
            <p:spPr>
              <a:xfrm>
                <a:off x="4666772" y="1901179"/>
                <a:ext cx="558707" cy="275155"/>
              </a:xfrm>
              <a:prstGeom prst="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defRPr/>
                </a:pPr>
                <a:r>
                  <a:rPr lang="en-US" sz="1100" kern="0" dirty="0">
                    <a:solidFill>
                      <a:sysClr val="windowText" lastClr="000000"/>
                    </a:solidFill>
                    <a:latin typeface="Calibri"/>
                    <a:ea typeface="Calibri"/>
                    <a:cs typeface="Times New Roman"/>
                  </a:rPr>
                  <a:t>&gt;&gt;&gt; </a:t>
                </a:r>
                <a:endParaRPr lang="ru-RU" sz="1100" kern="0" dirty="0">
                  <a:solidFill>
                    <a:sysClr val="windowText" lastClr="000000"/>
                  </a:solidFill>
                  <a:latin typeface="Calibri"/>
                  <a:ea typeface="Calibri"/>
                  <a:cs typeface="Times New Roman"/>
                </a:endParaRPr>
              </a:p>
            </p:txBody>
          </p:sp>
          <p:sp>
            <p:nvSpPr>
              <p:cNvPr id="10" name="Прямоугольник 9"/>
              <p:cNvSpPr/>
              <p:nvPr/>
            </p:nvSpPr>
            <p:spPr>
              <a:xfrm>
                <a:off x="2597623" y="330897"/>
                <a:ext cx="253958" cy="263295"/>
              </a:xfrm>
              <a:prstGeom prst="rect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defRPr/>
                </a:pPr>
                <a:r>
                  <a:rPr lang="en-US" sz="1100" kern="0" dirty="0">
                    <a:solidFill>
                      <a:sysClr val="windowText" lastClr="000000"/>
                    </a:solidFill>
                    <a:latin typeface="Calibri"/>
                    <a:ea typeface="Calibri"/>
                    <a:cs typeface="Times New Roman"/>
                  </a:rPr>
                  <a:t>5</a:t>
                </a:r>
                <a:endParaRPr lang="ru-RU" sz="1100" kern="0" dirty="0">
                  <a:solidFill>
                    <a:sysClr val="windowText" lastClr="000000"/>
                  </a:solidFill>
                  <a:latin typeface="Calibri"/>
                  <a:ea typeface="Calibri"/>
                  <a:cs typeface="Times New Roman"/>
                </a:endParaRPr>
              </a:p>
            </p:txBody>
          </p:sp>
          <p:sp>
            <p:nvSpPr>
              <p:cNvPr id="11" name="Прямоугольник 10"/>
              <p:cNvSpPr/>
              <p:nvPr/>
            </p:nvSpPr>
            <p:spPr>
              <a:xfrm>
                <a:off x="3393357" y="509986"/>
                <a:ext cx="246702" cy="252620"/>
              </a:xfrm>
              <a:prstGeom prst="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defRPr/>
                </a:pPr>
                <a:r>
                  <a:rPr lang="ru-RU" sz="1100" kern="0" dirty="0">
                    <a:solidFill>
                      <a:sysClr val="windowText" lastClr="000000"/>
                    </a:solidFill>
                    <a:latin typeface="Calibri"/>
                    <a:ea typeface="Calibri"/>
                    <a:cs typeface="Times New Roman"/>
                    <a:sym typeface="Symbol"/>
                  </a:rPr>
                  <a:t></a:t>
                </a:r>
                <a:endParaRPr lang="ru-RU" sz="1100" kern="0" dirty="0">
                  <a:solidFill>
                    <a:sysClr val="windowText" lastClr="000000"/>
                  </a:solidFill>
                  <a:latin typeface="Calibri"/>
                  <a:ea typeface="Calibri"/>
                  <a:cs typeface="Times New Roman"/>
                </a:endParaRPr>
              </a:p>
            </p:txBody>
          </p:sp>
          <p:grpSp>
            <p:nvGrpSpPr>
              <p:cNvPr id="25616" name="Группа 11"/>
              <p:cNvGrpSpPr>
                <a:grpSpLocks/>
              </p:cNvGrpSpPr>
              <p:nvPr/>
            </p:nvGrpSpPr>
            <p:grpSpPr bwMode="auto">
              <a:xfrm>
                <a:off x="3651991" y="72927"/>
                <a:ext cx="2053589" cy="1568450"/>
                <a:chOff x="0" y="0"/>
                <a:chExt cx="2053628" cy="1569038"/>
              </a:xfrm>
            </p:grpSpPr>
            <p:grpSp>
              <p:nvGrpSpPr>
                <p:cNvPr id="25699" name="Группа 94"/>
                <p:cNvGrpSpPr>
                  <a:grpSpLocks/>
                </p:cNvGrpSpPr>
                <p:nvPr/>
              </p:nvGrpSpPr>
              <p:grpSpPr bwMode="auto">
                <a:xfrm>
                  <a:off x="348018" y="136478"/>
                  <a:ext cx="1705610" cy="1432560"/>
                  <a:chOff x="0" y="0"/>
                  <a:chExt cx="1705970" cy="1433014"/>
                </a:xfrm>
              </p:grpSpPr>
              <p:sp>
                <p:nvSpPr>
                  <p:cNvPr id="97" name="Прямоугольник 96"/>
                  <p:cNvSpPr/>
                  <p:nvPr/>
                </p:nvSpPr>
                <p:spPr>
                  <a:xfrm>
                    <a:off x="434" y="-616"/>
                    <a:ext cx="1705536" cy="1433696"/>
                  </a:xfrm>
                  <a:prstGeom prst="rect">
                    <a:avLst/>
                  </a:prstGeom>
                  <a:solidFill>
                    <a:sysClr val="window" lastClr="FFFFFF"/>
                  </a:solidFill>
                  <a:ln w="25400" cap="flat" cmpd="sng" algn="ctr">
                    <a:solidFill>
                      <a:sysClr val="windowText" lastClr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ru-RU" kern="0" dirty="0">
                      <a:solidFill>
                        <a:sysClr val="windowText" lastClr="000000"/>
                      </a:solidFill>
                      <a:latin typeface="Calibri"/>
                      <a:cs typeface="+mn-cs"/>
                    </a:endParaRPr>
                  </a:p>
                </p:txBody>
              </p:sp>
              <p:cxnSp>
                <p:nvCxnSpPr>
                  <p:cNvPr id="25702" name="Прямая соединительная линия 97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341194" y="0"/>
                    <a:ext cx="0" cy="1432560"/>
                  </a:xfrm>
                  <a:prstGeom prst="line">
                    <a:avLst/>
                  </a:prstGeom>
                  <a:noFill/>
                  <a:ln w="9525" algn="ctr">
                    <a:solidFill>
                      <a:srgbClr val="4A7EBB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25703" name="Прямая соединительная линия 98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675564" y="0"/>
                    <a:ext cx="0" cy="1432560"/>
                  </a:xfrm>
                  <a:prstGeom prst="line">
                    <a:avLst/>
                  </a:prstGeom>
                  <a:noFill/>
                  <a:ln w="9525" algn="ctr">
                    <a:solidFill>
                      <a:srgbClr val="4A7EBB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25704" name="Прямая соединительная линия 99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016758" y="0"/>
                    <a:ext cx="0" cy="1432560"/>
                  </a:xfrm>
                  <a:prstGeom prst="line">
                    <a:avLst/>
                  </a:prstGeom>
                  <a:noFill/>
                  <a:ln w="9525" algn="ctr">
                    <a:solidFill>
                      <a:srgbClr val="4A7EBB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25705" name="Прямая соединительная линия 100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357952" y="0"/>
                    <a:ext cx="0" cy="1432560"/>
                  </a:xfrm>
                  <a:prstGeom prst="line">
                    <a:avLst/>
                  </a:prstGeom>
                  <a:noFill/>
                  <a:ln w="9525" algn="ctr">
                    <a:solidFill>
                      <a:srgbClr val="4A7EBB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25706" name="Прямая соединительная линия 101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6824" y="573205"/>
                    <a:ext cx="1698625" cy="0"/>
                  </a:xfrm>
                  <a:prstGeom prst="line">
                    <a:avLst/>
                  </a:prstGeom>
                  <a:noFill/>
                  <a:ln w="9525" algn="ctr">
                    <a:solidFill>
                      <a:srgbClr val="4A7EBB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25707" name="Прямая соединительная линия 102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0" y="859808"/>
                    <a:ext cx="1698625" cy="0"/>
                  </a:xfrm>
                  <a:prstGeom prst="line">
                    <a:avLst/>
                  </a:prstGeom>
                  <a:noFill/>
                  <a:ln w="9525" algn="ctr">
                    <a:solidFill>
                      <a:srgbClr val="4A7EBB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25708" name="Прямая соединительная линия 103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0" y="1139588"/>
                    <a:ext cx="1698625" cy="0"/>
                  </a:xfrm>
                  <a:prstGeom prst="line">
                    <a:avLst/>
                  </a:prstGeom>
                  <a:noFill/>
                  <a:ln w="9525" algn="ctr">
                    <a:solidFill>
                      <a:srgbClr val="4A7EBB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25709" name="Прямая соединительная линия 104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0" y="286603"/>
                    <a:ext cx="1698625" cy="0"/>
                  </a:xfrm>
                  <a:prstGeom prst="line">
                    <a:avLst/>
                  </a:prstGeom>
                  <a:noFill/>
                  <a:ln w="9525" algn="ctr">
                    <a:solidFill>
                      <a:srgbClr val="4A7EBB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96" name="Прямоугольник 95"/>
                <p:cNvSpPr/>
                <p:nvPr/>
              </p:nvSpPr>
              <p:spPr>
                <a:xfrm>
                  <a:off x="161" y="-581"/>
                  <a:ext cx="293870" cy="300174"/>
                </a:xfrm>
                <a:prstGeom prst="rect">
                  <a:avLst/>
                </a:prstGeom>
                <a:solidFill>
                  <a:sysClr val="window" lastClr="FFFFF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fontAlgn="auto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  <a:defRPr/>
                  </a:pPr>
                  <a:r>
                    <a:rPr lang="en-US" sz="1100" kern="0" dirty="0">
                      <a:solidFill>
                        <a:sysClr val="windowText" lastClr="000000"/>
                      </a:solidFill>
                      <a:latin typeface="Calibri"/>
                      <a:ea typeface="Calibri"/>
                      <a:cs typeface="Times New Roman"/>
                    </a:rPr>
                    <a:t>B</a:t>
                  </a:r>
                  <a:endParaRPr lang="ru-RU" sz="1100" kern="0" dirty="0">
                    <a:solidFill>
                      <a:sysClr val="windowText" lastClr="000000"/>
                    </a:solidFill>
                    <a:latin typeface="Calibri"/>
                    <a:ea typeface="Calibri"/>
                    <a:cs typeface="Times New Roman"/>
                  </a:endParaRPr>
                </a:p>
              </p:txBody>
            </p:sp>
          </p:grpSp>
          <p:sp>
            <p:nvSpPr>
              <p:cNvPr id="13" name="Прямоугольник 12"/>
              <p:cNvSpPr/>
              <p:nvPr/>
            </p:nvSpPr>
            <p:spPr>
              <a:xfrm>
                <a:off x="4011320" y="2299680"/>
                <a:ext cx="263632" cy="297690"/>
              </a:xfrm>
              <a:prstGeom prst="rect">
                <a:avLst/>
              </a:prstGeom>
              <a:solidFill>
                <a:sysClr val="window" lastClr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defRPr/>
                </a:pPr>
                <a:r>
                  <a:rPr lang="en-US" sz="1100" kern="0" dirty="0">
                    <a:solidFill>
                      <a:sysClr val="windowText" lastClr="000000"/>
                    </a:solidFill>
                    <a:latin typeface="Calibri"/>
                    <a:ea typeface="Calibri"/>
                    <a:cs typeface="Times New Roman"/>
                  </a:rPr>
                  <a:t>R</a:t>
                </a:r>
                <a:endParaRPr lang="ru-RU" sz="1100" kern="0" dirty="0">
                  <a:solidFill>
                    <a:sysClr val="windowText" lastClr="000000"/>
                  </a:solidFill>
                  <a:latin typeface="Calibri"/>
                  <a:ea typeface="Calibri"/>
                  <a:cs typeface="Times New Roman"/>
                </a:endParaRPr>
              </a:p>
            </p:txBody>
          </p:sp>
          <p:sp>
            <p:nvSpPr>
              <p:cNvPr id="14" name="Прямоугольник 13"/>
              <p:cNvSpPr/>
              <p:nvPr/>
            </p:nvSpPr>
            <p:spPr>
              <a:xfrm>
                <a:off x="818710" y="2664972"/>
                <a:ext cx="286610" cy="292946"/>
              </a:xfrm>
              <a:prstGeom prst="rect">
                <a:avLst/>
              </a:prstGeom>
              <a:solidFill>
                <a:sysClr val="window" lastClr="FFFFFF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defRPr/>
                </a:pPr>
                <a:r>
                  <a:rPr lang="en-US" sz="1100" kern="0" dirty="0">
                    <a:solidFill>
                      <a:sysClr val="windowText" lastClr="000000"/>
                    </a:solidFill>
                    <a:latin typeface="Calibri"/>
                    <a:ea typeface="Calibri"/>
                    <a:cs typeface="Times New Roman"/>
                  </a:rPr>
                  <a:t>2</a:t>
                </a:r>
                <a:endParaRPr lang="ru-RU" sz="1100" kern="0" dirty="0">
                  <a:solidFill>
                    <a:sysClr val="windowText" lastClr="000000"/>
                  </a:solidFill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25619" name="Прямая соединительная линия 14"/>
              <p:cNvCxnSpPr>
                <a:cxnSpLocks noChangeShapeType="1"/>
              </p:cNvCxnSpPr>
              <p:nvPr/>
            </p:nvCxnSpPr>
            <p:spPr bwMode="auto">
              <a:xfrm flipH="1" flipV="1">
                <a:off x="3018081" y="342199"/>
                <a:ext cx="2203450" cy="27940"/>
              </a:xfrm>
              <a:prstGeom prst="line">
                <a:avLst/>
              </a:prstGeom>
              <a:noFill/>
              <a:ln w="9525" algn="ctr">
                <a:solidFill>
                  <a:srgbClr val="4A7EBB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620" name="Прямая соединительная линия 15"/>
              <p:cNvCxnSpPr>
                <a:cxnSpLocks noChangeShapeType="1"/>
              </p:cNvCxnSpPr>
              <p:nvPr/>
            </p:nvCxnSpPr>
            <p:spPr bwMode="auto">
              <a:xfrm>
                <a:off x="2776859" y="2041973"/>
                <a:ext cx="1890395" cy="11430"/>
              </a:xfrm>
              <a:prstGeom prst="line">
                <a:avLst/>
              </a:prstGeom>
              <a:noFill/>
              <a:ln w="9525" algn="ctr">
                <a:solidFill>
                  <a:srgbClr val="4A7EBB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25621" name="Группа 16"/>
              <p:cNvGrpSpPr>
                <a:grpSpLocks/>
              </p:cNvGrpSpPr>
              <p:nvPr/>
            </p:nvGrpSpPr>
            <p:grpSpPr bwMode="auto">
              <a:xfrm>
                <a:off x="0" y="0"/>
                <a:ext cx="3146886" cy="3658851"/>
                <a:chOff x="0" y="0"/>
                <a:chExt cx="3146886" cy="3658851"/>
              </a:xfrm>
            </p:grpSpPr>
            <p:grpSp>
              <p:nvGrpSpPr>
                <p:cNvPr id="25636" name="Группа 31"/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3146886" cy="3658851"/>
                  <a:chOff x="0" y="0"/>
                  <a:chExt cx="3146886" cy="3658851"/>
                </a:xfrm>
              </p:grpSpPr>
              <p:cxnSp>
                <p:nvCxnSpPr>
                  <p:cNvPr id="25638" name="Прямая соединительная линия 33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2771245" y="936682"/>
                    <a:ext cx="5614" cy="1105450"/>
                  </a:xfrm>
                  <a:prstGeom prst="line">
                    <a:avLst/>
                  </a:prstGeom>
                  <a:noFill/>
                  <a:ln w="9525" algn="ctr">
                    <a:solidFill>
                      <a:srgbClr val="4A7EBB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grpSp>
                <p:nvGrpSpPr>
                  <p:cNvPr id="25639" name="Группа 34"/>
                  <p:cNvGrpSpPr>
                    <a:grpSpLocks/>
                  </p:cNvGrpSpPr>
                  <p:nvPr/>
                </p:nvGrpSpPr>
                <p:grpSpPr bwMode="auto">
                  <a:xfrm>
                    <a:off x="56099" y="0"/>
                    <a:ext cx="2067276" cy="1644100"/>
                    <a:chOff x="0" y="0"/>
                    <a:chExt cx="2067276" cy="1644100"/>
                  </a:xfrm>
                </p:grpSpPr>
                <p:grpSp>
                  <p:nvGrpSpPr>
                    <p:cNvPr id="25688" name="Группа 8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61666" y="211540"/>
                      <a:ext cx="1705610" cy="1432560"/>
                      <a:chOff x="0" y="0"/>
                      <a:chExt cx="1705970" cy="1433014"/>
                    </a:xfrm>
                  </p:grpSpPr>
                  <p:sp>
                    <p:nvSpPr>
                      <p:cNvPr id="86" name="Прямоугольник 85"/>
                      <p:cNvSpPr/>
                      <p:nvPr/>
                    </p:nvSpPr>
                    <p:spPr>
                      <a:xfrm>
                        <a:off x="-549" y="-430"/>
                        <a:ext cx="1706714" cy="1433158"/>
                      </a:xfrm>
                      <a:prstGeom prst="rect">
                        <a:avLst/>
                      </a:prstGeom>
                      <a:solidFill>
                        <a:sysClr val="window" lastClr="FFFFFF"/>
                      </a:solidFill>
                      <a:ln w="25400" cap="flat" cmpd="sng" algn="ctr">
                        <a:solidFill>
                          <a:sysClr val="windowText" lastClr="000000"/>
                        </a:solidFill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ru-RU" kern="0" dirty="0">
                          <a:solidFill>
                            <a:sysClr val="windowText" lastClr="000000"/>
                          </a:solidFill>
                          <a:latin typeface="Calibri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25691" name="Прямая соединительная линия 86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341194" y="0"/>
                        <a:ext cx="0" cy="1432560"/>
                      </a:xfrm>
                      <a:prstGeom prst="line">
                        <a:avLst/>
                      </a:prstGeom>
                      <a:noFill/>
                      <a:ln w="9525" algn="ctr">
                        <a:solidFill>
                          <a:srgbClr val="4A7EBB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25692" name="Прямая соединительная линия 87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675564" y="0"/>
                        <a:ext cx="0" cy="1432560"/>
                      </a:xfrm>
                      <a:prstGeom prst="line">
                        <a:avLst/>
                      </a:prstGeom>
                      <a:noFill/>
                      <a:ln w="9525" algn="ctr">
                        <a:solidFill>
                          <a:srgbClr val="4A7EBB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25693" name="Прямая соединительная линия 88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016758" y="0"/>
                        <a:ext cx="0" cy="1432560"/>
                      </a:xfrm>
                      <a:prstGeom prst="line">
                        <a:avLst/>
                      </a:prstGeom>
                      <a:noFill/>
                      <a:ln w="9525" algn="ctr">
                        <a:solidFill>
                          <a:srgbClr val="4A7EBB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25694" name="Прямая соединительная линия 89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357952" y="0"/>
                        <a:ext cx="0" cy="1432560"/>
                      </a:xfrm>
                      <a:prstGeom prst="line">
                        <a:avLst/>
                      </a:prstGeom>
                      <a:noFill/>
                      <a:ln w="9525" algn="ctr">
                        <a:solidFill>
                          <a:srgbClr val="4A7EBB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25695" name="Прямая соединительная линия 90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6824" y="573205"/>
                        <a:ext cx="1698625" cy="0"/>
                      </a:xfrm>
                      <a:prstGeom prst="line">
                        <a:avLst/>
                      </a:prstGeom>
                      <a:noFill/>
                      <a:ln w="9525" algn="ctr">
                        <a:solidFill>
                          <a:srgbClr val="4A7EBB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25696" name="Прямая соединительная линия 91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0" y="859808"/>
                        <a:ext cx="1698625" cy="0"/>
                      </a:xfrm>
                      <a:prstGeom prst="line">
                        <a:avLst/>
                      </a:prstGeom>
                      <a:noFill/>
                      <a:ln w="9525" algn="ctr">
                        <a:solidFill>
                          <a:srgbClr val="4A7EBB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25697" name="Прямая соединительная линия 92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0" y="1139588"/>
                        <a:ext cx="1698625" cy="0"/>
                      </a:xfrm>
                      <a:prstGeom prst="line">
                        <a:avLst/>
                      </a:prstGeom>
                      <a:noFill/>
                      <a:ln w="9525" algn="ctr">
                        <a:solidFill>
                          <a:srgbClr val="4A7EBB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25698" name="Прямая соединительная линия 93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0" y="286603"/>
                        <a:ext cx="1698625" cy="0"/>
                      </a:xfrm>
                      <a:prstGeom prst="line">
                        <a:avLst/>
                      </a:prstGeom>
                      <a:noFill/>
                      <a:ln w="9525" algn="ctr">
                        <a:solidFill>
                          <a:srgbClr val="4A7EBB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</p:grpSp>
                <p:sp>
                  <p:nvSpPr>
                    <p:cNvPr id="85" name="Прямоугольник 84"/>
                    <p:cNvSpPr/>
                    <p:nvPr/>
                  </p:nvSpPr>
                  <p:spPr>
                    <a:xfrm>
                      <a:off x="-470" y="0"/>
                      <a:ext cx="305958" cy="287015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algn="ctr" fontAlgn="auto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defRPr/>
                      </a:pPr>
                      <a:r>
                        <a:rPr lang="en-US" sz="1100" kern="0" dirty="0">
                          <a:solidFill>
                            <a:sysClr val="windowText" lastClr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ru-RU" sz="1100" kern="0" dirty="0">
                        <a:solidFill>
                          <a:sysClr val="windowText" lastClr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p:txBody>
                </p:sp>
              </p:grpSp>
              <p:grpSp>
                <p:nvGrpSpPr>
                  <p:cNvPr id="25640" name="Группа 35"/>
                  <p:cNvGrpSpPr>
                    <a:grpSpLocks/>
                  </p:cNvGrpSpPr>
                  <p:nvPr/>
                </p:nvGrpSpPr>
                <p:grpSpPr bwMode="auto">
                  <a:xfrm>
                    <a:off x="0" y="2159779"/>
                    <a:ext cx="2149162" cy="320191"/>
                    <a:chOff x="0" y="0"/>
                    <a:chExt cx="2149162" cy="320191"/>
                  </a:xfrm>
                </p:grpSpPr>
                <p:grpSp>
                  <p:nvGrpSpPr>
                    <p:cNvPr id="25681" name="Группа 7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43552" y="20471"/>
                      <a:ext cx="1705610" cy="299720"/>
                      <a:chOff x="0" y="0"/>
                      <a:chExt cx="1705610" cy="299720"/>
                    </a:xfrm>
                  </p:grpSpPr>
                  <p:sp>
                    <p:nvSpPr>
                      <p:cNvPr id="79" name="Прямоугольник 78"/>
                      <p:cNvSpPr/>
                      <p:nvPr/>
                    </p:nvSpPr>
                    <p:spPr>
                      <a:xfrm>
                        <a:off x="269" y="-358"/>
                        <a:ext cx="1705144" cy="300061"/>
                      </a:xfrm>
                      <a:prstGeom prst="rect">
                        <a:avLst/>
                      </a:prstGeom>
                      <a:solidFill>
                        <a:sysClr val="window" lastClr="FFFFFF"/>
                      </a:solidFill>
                      <a:ln w="25400" cap="flat" cmpd="sng" algn="ctr">
                        <a:solidFill>
                          <a:sysClr val="windowText" lastClr="000000"/>
                        </a:solidFill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ru-RU" kern="0" dirty="0">
                          <a:solidFill>
                            <a:sysClr val="windowText" lastClr="000000"/>
                          </a:solidFill>
                          <a:latin typeface="Calibri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25684" name="Прямая соединительная линия 79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351129" y="0"/>
                        <a:ext cx="0" cy="299720"/>
                      </a:xfrm>
                      <a:prstGeom prst="line">
                        <a:avLst/>
                      </a:prstGeom>
                      <a:noFill/>
                      <a:ln w="9525" algn="ctr">
                        <a:solidFill>
                          <a:srgbClr val="4A7EBB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25685" name="Прямая соединительная линия 80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 flipH="1">
                        <a:off x="1003111" y="0"/>
                        <a:ext cx="0" cy="299085"/>
                      </a:xfrm>
                      <a:prstGeom prst="line">
                        <a:avLst/>
                      </a:prstGeom>
                      <a:noFill/>
                      <a:ln w="9525" algn="ctr">
                        <a:solidFill>
                          <a:srgbClr val="4A7EBB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25686" name="Прямая соединительная линия 81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661917" y="13648"/>
                        <a:ext cx="0" cy="285750"/>
                      </a:xfrm>
                      <a:prstGeom prst="line">
                        <a:avLst/>
                      </a:prstGeom>
                      <a:noFill/>
                      <a:ln w="9525" algn="ctr">
                        <a:solidFill>
                          <a:srgbClr val="4A7EBB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25687" name="Прямая соединительная линия 82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313899" y="0"/>
                        <a:ext cx="0" cy="278130"/>
                      </a:xfrm>
                      <a:prstGeom prst="line">
                        <a:avLst/>
                      </a:prstGeom>
                      <a:noFill/>
                      <a:ln w="9525" algn="ctr">
                        <a:solidFill>
                          <a:srgbClr val="4A7EBB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</p:grpSp>
                <p:sp>
                  <p:nvSpPr>
                    <p:cNvPr id="78" name="Прямоугольник 77"/>
                    <p:cNvSpPr/>
                    <p:nvPr/>
                  </p:nvSpPr>
                  <p:spPr>
                    <a:xfrm>
                      <a:off x="0" y="-49"/>
                      <a:ext cx="361587" cy="300062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algn="ctr" fontAlgn="auto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defRPr/>
                      </a:pPr>
                      <a:r>
                        <a:rPr lang="en-US" sz="1100" kern="0" dirty="0">
                          <a:solidFill>
                            <a:sysClr val="windowText" lastClr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  <a:endParaRPr lang="ru-RU" sz="1100" kern="0" dirty="0">
                        <a:solidFill>
                          <a:sysClr val="windowText" lastClr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p:txBody>
                </p:sp>
              </p:grpSp>
              <p:grpSp>
                <p:nvGrpSpPr>
                  <p:cNvPr id="25641" name="Группа 36"/>
                  <p:cNvGrpSpPr>
                    <a:grpSpLocks/>
                  </p:cNvGrpSpPr>
                  <p:nvPr/>
                </p:nvGrpSpPr>
                <p:grpSpPr bwMode="auto">
                  <a:xfrm>
                    <a:off x="0" y="3197595"/>
                    <a:ext cx="2149162" cy="299720"/>
                    <a:chOff x="0" y="0"/>
                    <a:chExt cx="2149162" cy="299720"/>
                  </a:xfrm>
                </p:grpSpPr>
                <p:sp>
                  <p:nvSpPr>
                    <p:cNvPr id="71" name="Прямоугольник 70"/>
                    <p:cNvSpPr/>
                    <p:nvPr/>
                  </p:nvSpPr>
                  <p:spPr>
                    <a:xfrm>
                      <a:off x="443821" y="-103"/>
                      <a:ext cx="1705144" cy="300061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25400" cap="flat" cmpd="sng" algn="ctr">
                      <a:solidFill>
                        <a:sysClr val="windowText" lastClr="000000"/>
                      </a:solidFill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ru-RU" kern="0" dirty="0">
                        <a:solidFill>
                          <a:sysClr val="windowText" lastClr="000000"/>
                        </a:solidFill>
                        <a:latin typeface="Calibri"/>
                        <a:cs typeface="+mn-cs"/>
                      </a:endParaRPr>
                    </a:p>
                  </p:txBody>
                </p:sp>
                <p:cxnSp>
                  <p:nvCxnSpPr>
                    <p:cNvPr id="25676" name="Прямая соединительная линия 71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1794681" y="20471"/>
                      <a:ext cx="0" cy="245110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rgbClr val="4A7EBB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25677" name="Прямая соединительная линия 72"/>
                    <p:cNvCxnSpPr>
                      <a:cxnSpLocks noChangeShapeType="1"/>
                    </p:cNvCxnSpPr>
                    <p:nvPr/>
                  </p:nvCxnSpPr>
                  <p:spPr bwMode="auto">
                    <a:xfrm flipH="1">
                      <a:off x="1446239" y="19929"/>
                      <a:ext cx="212" cy="278290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rgbClr val="4A7EBB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25678" name="Прямая соединительная линия 73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1105469" y="20471"/>
                      <a:ext cx="0" cy="278765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rgbClr val="4A7EBB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25679" name="Прямая соединительная линия 74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757451" y="20471"/>
                      <a:ext cx="6350" cy="278765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rgbClr val="4A7EBB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sp>
                  <p:nvSpPr>
                    <p:cNvPr id="76" name="Прямоугольник 75"/>
                    <p:cNvSpPr/>
                    <p:nvPr/>
                  </p:nvSpPr>
                  <p:spPr>
                    <a:xfrm>
                      <a:off x="0" y="-103"/>
                      <a:ext cx="361587" cy="300061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algn="ctr" fontAlgn="auto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defRPr/>
                      </a:pPr>
                      <a:r>
                        <a:rPr lang="en-US" sz="1100" kern="0" dirty="0">
                          <a:solidFill>
                            <a:sysClr val="windowText" lastClr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ru-RU" sz="1100" kern="0" dirty="0">
                        <a:solidFill>
                          <a:sysClr val="windowText" lastClr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p:txBody>
                </p:sp>
              </p:grpSp>
              <p:grpSp>
                <p:nvGrpSpPr>
                  <p:cNvPr id="25642" name="Группа 37"/>
                  <p:cNvGrpSpPr>
                    <a:grpSpLocks/>
                  </p:cNvGrpSpPr>
                  <p:nvPr/>
                </p:nvGrpSpPr>
                <p:grpSpPr bwMode="auto">
                  <a:xfrm>
                    <a:off x="532933" y="426346"/>
                    <a:ext cx="1144160" cy="1736950"/>
                    <a:chOff x="0" y="0"/>
                    <a:chExt cx="1144160" cy="1736950"/>
                  </a:xfrm>
                </p:grpSpPr>
                <p:cxnSp>
                  <p:nvCxnSpPr>
                    <p:cNvPr id="25668" name="Прямая соединительная линия 63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426346" y="1559529"/>
                      <a:ext cx="0" cy="177421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rgbClr val="4A7EBB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sp>
                  <p:nvSpPr>
                    <p:cNvPr id="65" name="Полилиния 64"/>
                    <p:cNvSpPr/>
                    <p:nvPr/>
                  </p:nvSpPr>
                  <p:spPr>
                    <a:xfrm>
                      <a:off x="378" y="-568"/>
                      <a:ext cx="428100" cy="1426775"/>
                    </a:xfrm>
                    <a:custGeom>
                      <a:avLst/>
                      <a:gdLst>
                        <a:gd name="connsiteX0" fmla="*/ 155087 w 428042"/>
                        <a:gd name="connsiteY0" fmla="*/ 0 h 1426191"/>
                        <a:gd name="connsiteX1" fmla="*/ 11785 w 428042"/>
                        <a:gd name="connsiteY1" fmla="*/ 573206 h 1426191"/>
                        <a:gd name="connsiteX2" fmla="*/ 428042 w 428042"/>
                        <a:gd name="connsiteY2" fmla="*/ 1426191 h 1426191"/>
                        <a:gd name="connsiteX3" fmla="*/ 428042 w 428042"/>
                        <a:gd name="connsiteY3" fmla="*/ 1426191 h 14261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28042" h="1426191">
                          <a:moveTo>
                            <a:pt x="155087" y="0"/>
                          </a:moveTo>
                          <a:cubicBezTo>
                            <a:pt x="60689" y="167754"/>
                            <a:pt x="-33708" y="335508"/>
                            <a:pt x="11785" y="573206"/>
                          </a:cubicBezTo>
                          <a:cubicBezTo>
                            <a:pt x="57277" y="810905"/>
                            <a:pt x="428042" y="1426191"/>
                            <a:pt x="428042" y="1426191"/>
                          </a:cubicBezTo>
                          <a:lnTo>
                            <a:pt x="428042" y="1426191"/>
                          </a:lnTo>
                        </a:path>
                      </a:pathLst>
                    </a:custGeom>
                    <a:noFill/>
                    <a:ln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tailEnd type="triangle"/>
                    </a:ln>
                    <a:effectLst/>
                  </p:spPr>
                  <p:txBody>
                    <a:bodyPr anchor="ctr"/>
                    <a:lstStyle/>
                    <a:p>
                      <a:pPr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ru-RU" kern="0" dirty="0">
                        <a:solidFill>
                          <a:sysClr val="windowText" lastClr="000000"/>
                        </a:solidFill>
                        <a:latin typeface="Calibri"/>
                        <a:cs typeface="+mn-cs"/>
                      </a:endParaRPr>
                    </a:p>
                  </p:txBody>
                </p:sp>
                <p:sp>
                  <p:nvSpPr>
                    <p:cNvPr id="66" name="Полилиния 65"/>
                    <p:cNvSpPr/>
                    <p:nvPr/>
                  </p:nvSpPr>
                  <p:spPr>
                    <a:xfrm>
                      <a:off x="706622" y="218845"/>
                      <a:ext cx="437774" cy="1200246"/>
                    </a:xfrm>
                    <a:custGeom>
                      <a:avLst/>
                      <a:gdLst>
                        <a:gd name="connsiteX0" fmla="*/ 75063 w 437323"/>
                        <a:gd name="connsiteY0" fmla="*/ 0 h 1201003"/>
                        <a:gd name="connsiteX1" fmla="*/ 436729 w 437323"/>
                        <a:gd name="connsiteY1" fmla="*/ 450376 h 1201003"/>
                        <a:gd name="connsiteX2" fmla="*/ 0 w 437323"/>
                        <a:gd name="connsiteY2" fmla="*/ 1201003 h 1201003"/>
                        <a:gd name="connsiteX3" fmla="*/ 0 w 437323"/>
                        <a:gd name="connsiteY3" fmla="*/ 1201003 h 120100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37323" h="1201003">
                          <a:moveTo>
                            <a:pt x="75063" y="0"/>
                          </a:moveTo>
                          <a:cubicBezTo>
                            <a:pt x="262151" y="125104"/>
                            <a:pt x="449240" y="250209"/>
                            <a:pt x="436729" y="450376"/>
                          </a:cubicBezTo>
                          <a:cubicBezTo>
                            <a:pt x="424219" y="650543"/>
                            <a:pt x="0" y="1201003"/>
                            <a:pt x="0" y="1201003"/>
                          </a:cubicBezTo>
                          <a:lnTo>
                            <a:pt x="0" y="1201003"/>
                          </a:lnTo>
                        </a:path>
                      </a:pathLst>
                    </a:custGeom>
                    <a:noFill/>
                    <a:ln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tailEnd type="triangle"/>
                    </a:ln>
                    <a:effectLst/>
                  </p:spPr>
                  <p:txBody>
                    <a:bodyPr anchor="ctr"/>
                    <a:lstStyle/>
                    <a:p>
                      <a:pPr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ru-RU" kern="0" dirty="0">
                        <a:solidFill>
                          <a:sysClr val="windowText" lastClr="000000"/>
                        </a:solidFill>
                        <a:latin typeface="Calibri"/>
                        <a:cs typeface="+mn-cs"/>
                      </a:endParaRPr>
                    </a:p>
                  </p:txBody>
                </p:sp>
                <p:sp>
                  <p:nvSpPr>
                    <p:cNvPr id="67" name="Полилиния 66"/>
                    <p:cNvSpPr/>
                    <p:nvPr/>
                  </p:nvSpPr>
                  <p:spPr>
                    <a:xfrm>
                      <a:off x="325686" y="510604"/>
                      <a:ext cx="200747" cy="872906"/>
                    </a:xfrm>
                    <a:custGeom>
                      <a:avLst/>
                      <a:gdLst>
                        <a:gd name="connsiteX0" fmla="*/ 98636 w 200994"/>
                        <a:gd name="connsiteY0" fmla="*/ 0 h 873457"/>
                        <a:gd name="connsiteX1" fmla="*/ 3102 w 200994"/>
                        <a:gd name="connsiteY1" fmla="*/ 313899 h 873457"/>
                        <a:gd name="connsiteX2" fmla="*/ 200994 w 200994"/>
                        <a:gd name="connsiteY2" fmla="*/ 873457 h 87345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00994" h="873457">
                          <a:moveTo>
                            <a:pt x="98636" y="0"/>
                          </a:moveTo>
                          <a:cubicBezTo>
                            <a:pt x="42339" y="84161"/>
                            <a:pt x="-13958" y="168323"/>
                            <a:pt x="3102" y="313899"/>
                          </a:cubicBezTo>
                          <a:cubicBezTo>
                            <a:pt x="20162" y="459475"/>
                            <a:pt x="110578" y="666466"/>
                            <a:pt x="200994" y="873457"/>
                          </a:cubicBezTo>
                        </a:path>
                      </a:pathLst>
                    </a:custGeom>
                    <a:noFill/>
                    <a:ln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tailEnd type="triangle"/>
                    </a:ln>
                    <a:effectLst/>
                  </p:spPr>
                  <p:txBody>
                    <a:bodyPr anchor="ctr"/>
                    <a:lstStyle/>
                    <a:p>
                      <a:pPr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ru-RU" kern="0" dirty="0">
                        <a:solidFill>
                          <a:sysClr val="windowText" lastClr="000000"/>
                        </a:solidFill>
                        <a:latin typeface="Calibri"/>
                        <a:cs typeface="+mn-cs"/>
                      </a:endParaRPr>
                    </a:p>
                  </p:txBody>
                </p:sp>
                <p:sp>
                  <p:nvSpPr>
                    <p:cNvPr id="68" name="Полилиния 67"/>
                    <p:cNvSpPr/>
                    <p:nvPr/>
                  </p:nvSpPr>
                  <p:spPr>
                    <a:xfrm>
                      <a:off x="650993" y="841502"/>
                      <a:ext cx="174142" cy="569287"/>
                    </a:xfrm>
                    <a:custGeom>
                      <a:avLst/>
                      <a:gdLst>
                        <a:gd name="connsiteX0" fmla="*/ 83341 w 173683"/>
                        <a:gd name="connsiteY0" fmla="*/ 0 h 569237"/>
                        <a:gd name="connsiteX1" fmla="*/ 172051 w 173683"/>
                        <a:gd name="connsiteY1" fmla="*/ 197892 h 569237"/>
                        <a:gd name="connsiteX2" fmla="*/ 15102 w 173683"/>
                        <a:gd name="connsiteY2" fmla="*/ 532262 h 569237"/>
                        <a:gd name="connsiteX3" fmla="*/ 15102 w 173683"/>
                        <a:gd name="connsiteY3" fmla="*/ 545910 h 56923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73683" h="569237">
                          <a:moveTo>
                            <a:pt x="83341" y="0"/>
                          </a:moveTo>
                          <a:cubicBezTo>
                            <a:pt x="133382" y="54591"/>
                            <a:pt x="183424" y="109182"/>
                            <a:pt x="172051" y="197892"/>
                          </a:cubicBezTo>
                          <a:cubicBezTo>
                            <a:pt x="160678" y="286602"/>
                            <a:pt x="41260" y="474259"/>
                            <a:pt x="15102" y="532262"/>
                          </a:cubicBezTo>
                          <a:cubicBezTo>
                            <a:pt x="-11056" y="590265"/>
                            <a:pt x="2023" y="568087"/>
                            <a:pt x="15102" y="545910"/>
                          </a:cubicBezTo>
                        </a:path>
                      </a:pathLst>
                    </a:custGeom>
                    <a:noFill/>
                    <a:ln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tailEnd type="triangle"/>
                    </a:ln>
                    <a:effectLst/>
                  </p:spPr>
                  <p:txBody>
                    <a:bodyPr anchor="ctr"/>
                    <a:lstStyle/>
                    <a:p>
                      <a:pPr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ru-RU" kern="0" dirty="0">
                        <a:solidFill>
                          <a:sysClr val="windowText" lastClr="000000"/>
                        </a:solidFill>
                        <a:latin typeface="Calibri"/>
                        <a:cs typeface="+mn-cs"/>
                      </a:endParaRPr>
                    </a:p>
                  </p:txBody>
                </p:sp>
                <p:cxnSp>
                  <p:nvCxnSpPr>
                    <p:cNvPr id="25673" name="Прямая со стрелкой 68"/>
                    <p:cNvCxnSpPr>
                      <a:cxnSpLocks noChangeShapeType="1"/>
                    </p:cNvCxnSpPr>
                    <p:nvPr/>
                  </p:nvCxnSpPr>
                  <p:spPr bwMode="auto">
                    <a:xfrm flipH="1">
                      <a:off x="572201" y="1071475"/>
                      <a:ext cx="81280" cy="313690"/>
                    </a:xfrm>
                    <a:prstGeom prst="straightConnector1">
                      <a:avLst/>
                    </a:prstGeom>
                    <a:noFill/>
                    <a:ln w="9525" algn="ctr">
                      <a:solidFill>
                        <a:srgbClr val="4A7EBB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sp>
                  <p:nvSpPr>
                    <p:cNvPr id="70" name="Блок-схема: ИЛИ 69"/>
                    <p:cNvSpPr/>
                    <p:nvPr/>
                  </p:nvSpPr>
                  <p:spPr>
                    <a:xfrm>
                      <a:off x="427269" y="1396556"/>
                      <a:ext cx="255166" cy="231273"/>
                    </a:xfrm>
                    <a:prstGeom prst="flowChartOr">
                      <a:avLst/>
                    </a:prstGeom>
                    <a:solidFill>
                      <a:sysClr val="window" lastClr="FFFFFF"/>
                    </a:solidFill>
                    <a:ln w="15875" cap="flat" cmpd="sng" algn="ctr">
                      <a:solidFill>
                        <a:sysClr val="windowText" lastClr="000000"/>
                      </a:solidFill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ru-RU" kern="0" dirty="0">
                        <a:solidFill>
                          <a:sysClr val="windowText" lastClr="000000"/>
                        </a:solidFill>
                        <a:latin typeface="Calibri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25643" name="Группа 38"/>
                  <p:cNvGrpSpPr>
                    <a:grpSpLocks/>
                  </p:cNvGrpSpPr>
                  <p:nvPr/>
                </p:nvGrpSpPr>
                <p:grpSpPr bwMode="auto">
                  <a:xfrm>
                    <a:off x="1621237" y="1222940"/>
                    <a:ext cx="709589" cy="2435911"/>
                    <a:chOff x="0" y="0"/>
                    <a:chExt cx="709589" cy="2435911"/>
                  </a:xfrm>
                </p:grpSpPr>
                <p:sp>
                  <p:nvSpPr>
                    <p:cNvPr id="52" name="Блок-схема: ИЛИ 51"/>
                    <p:cNvSpPr/>
                    <p:nvPr/>
                  </p:nvSpPr>
                  <p:spPr>
                    <a:xfrm>
                      <a:off x="247165" y="589288"/>
                      <a:ext cx="255167" cy="230087"/>
                    </a:xfrm>
                    <a:prstGeom prst="flowChartOr">
                      <a:avLst/>
                    </a:prstGeom>
                    <a:solidFill>
                      <a:sysClr val="window" lastClr="FFFFFF"/>
                    </a:solidFill>
                    <a:ln w="15875" cap="flat" cmpd="sng" algn="ctr">
                      <a:solidFill>
                        <a:sysClr val="windowText" lastClr="000000"/>
                      </a:solidFill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ru-RU" kern="0" dirty="0">
                        <a:solidFill>
                          <a:sysClr val="windowText" lastClr="000000"/>
                        </a:solidFill>
                        <a:latin typeface="Calibri"/>
                        <a:cs typeface="+mn-cs"/>
                      </a:endParaRPr>
                    </a:p>
                  </p:txBody>
                </p:sp>
                <p:grpSp>
                  <p:nvGrpSpPr>
                    <p:cNvPr id="25657" name="Группа 5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695617"/>
                      <a:ext cx="709589" cy="1740294"/>
                      <a:chOff x="0" y="0"/>
                      <a:chExt cx="709589" cy="1740294"/>
                    </a:xfrm>
                  </p:grpSpPr>
                  <p:cxnSp>
                    <p:nvCxnSpPr>
                      <p:cNvPr id="25664" name="Прямая соединительная линия 59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0" y="1570749"/>
                        <a:ext cx="0" cy="169545"/>
                      </a:xfrm>
                      <a:prstGeom prst="line">
                        <a:avLst/>
                      </a:prstGeom>
                      <a:noFill/>
                      <a:ln w="9525" algn="ctr">
                        <a:solidFill>
                          <a:srgbClr val="4A7EBB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25665" name="Прямая соединительная линия 60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0" y="1739043"/>
                        <a:ext cx="709589" cy="0"/>
                      </a:xfrm>
                      <a:prstGeom prst="line">
                        <a:avLst/>
                      </a:prstGeom>
                      <a:noFill/>
                      <a:ln w="9525" algn="ctr">
                        <a:solidFill>
                          <a:srgbClr val="4A7EBB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25666" name="Прямая соединительная линия 61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 flipV="1">
                        <a:off x="706837" y="0"/>
                        <a:ext cx="0" cy="1739265"/>
                      </a:xfrm>
                      <a:prstGeom prst="line">
                        <a:avLst/>
                      </a:prstGeom>
                      <a:noFill/>
                      <a:ln w="9525" algn="ctr">
                        <a:solidFill>
                          <a:srgbClr val="4A7EBB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25667" name="Прямая соединительная линия 62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 flipH="1">
                        <a:off x="516103" y="5610"/>
                        <a:ext cx="184150" cy="0"/>
                      </a:xfrm>
                      <a:prstGeom prst="line">
                        <a:avLst/>
                      </a:prstGeom>
                      <a:noFill/>
                      <a:ln w="9525" algn="ctr">
                        <a:solidFill>
                          <a:srgbClr val="4A7EBB"/>
                        </a:solidFill>
                        <a:round/>
                        <a:headEnd/>
                        <a:tailEnd type="triangle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</p:grpSp>
                <p:grpSp>
                  <p:nvGrpSpPr>
                    <p:cNvPr id="25658" name="Группа 5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1708" y="134636"/>
                      <a:ext cx="155575" cy="574040"/>
                      <a:chOff x="0" y="0"/>
                      <a:chExt cx="155575" cy="574040"/>
                    </a:xfrm>
                  </p:grpSpPr>
                  <p:cxnSp>
                    <p:nvCxnSpPr>
                      <p:cNvPr id="25662" name="Прямая соединительная линия 57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0" y="572201"/>
                        <a:ext cx="155575" cy="0"/>
                      </a:xfrm>
                      <a:prstGeom prst="line">
                        <a:avLst/>
                      </a:prstGeom>
                      <a:noFill/>
                      <a:ln w="9525" algn="ctr">
                        <a:solidFill>
                          <a:srgbClr val="4A7EBB"/>
                        </a:solidFill>
                        <a:round/>
                        <a:headEnd/>
                        <a:tailEnd type="triangle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25663" name="Прямая соединительная линия 58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0" y="0"/>
                        <a:ext cx="0" cy="574040"/>
                      </a:xfrm>
                      <a:prstGeom prst="line">
                        <a:avLst/>
                      </a:prstGeom>
                      <a:noFill/>
                      <a:ln w="9525" algn="ctr">
                        <a:solidFill>
                          <a:srgbClr val="4A7EBB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</p:grpSp>
                <p:grpSp>
                  <p:nvGrpSpPr>
                    <p:cNvPr id="25659" name="Группа 5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57075" y="0"/>
                      <a:ext cx="227330" cy="600250"/>
                      <a:chOff x="0" y="0"/>
                      <a:chExt cx="227330" cy="600250"/>
                    </a:xfrm>
                  </p:grpSpPr>
                  <p:cxnSp>
                    <p:nvCxnSpPr>
                      <p:cNvPr id="25660" name="Прямая соединительная линия 55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 flipV="1">
                        <a:off x="224393" y="0"/>
                        <a:ext cx="0" cy="600250"/>
                      </a:xfrm>
                      <a:prstGeom prst="line">
                        <a:avLst/>
                      </a:prstGeom>
                      <a:noFill/>
                      <a:ln w="9525" algn="ctr">
                        <a:solidFill>
                          <a:srgbClr val="4A7EBB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25661" name="Прямая соединительная линия 56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 flipH="1">
                        <a:off x="0" y="0"/>
                        <a:ext cx="227330" cy="0"/>
                      </a:xfrm>
                      <a:prstGeom prst="line">
                        <a:avLst/>
                      </a:prstGeom>
                      <a:noFill/>
                      <a:ln w="9525" algn="ctr">
                        <a:solidFill>
                          <a:srgbClr val="4A7EBB"/>
                        </a:solidFill>
                        <a:round/>
                        <a:headEnd/>
                        <a:tailEnd type="triangle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</p:grpSp>
              </p:grpSp>
              <p:cxnSp>
                <p:nvCxnSpPr>
                  <p:cNvPr id="25644" name="Прямая соединительная линия 39"/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2120511" y="936840"/>
                    <a:ext cx="656348" cy="0"/>
                  </a:xfrm>
                  <a:prstGeom prst="line">
                    <a:avLst/>
                  </a:prstGeom>
                  <a:noFill/>
                  <a:ln w="9525" algn="ctr">
                    <a:solidFill>
                      <a:srgbClr val="4A7EBB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grpSp>
                <p:nvGrpSpPr>
                  <p:cNvPr id="25645" name="Группа 40"/>
                  <p:cNvGrpSpPr>
                    <a:grpSpLocks/>
                  </p:cNvGrpSpPr>
                  <p:nvPr/>
                </p:nvGrpSpPr>
                <p:grpSpPr bwMode="auto">
                  <a:xfrm>
                    <a:off x="1121964" y="525501"/>
                    <a:ext cx="2024922" cy="2673999"/>
                    <a:chOff x="0" y="-1954038"/>
                    <a:chExt cx="2024922" cy="2673999"/>
                  </a:xfrm>
                </p:grpSpPr>
                <p:sp>
                  <p:nvSpPr>
                    <p:cNvPr id="42" name="Прямоугольник 41"/>
                    <p:cNvSpPr/>
                    <p:nvPr/>
                  </p:nvSpPr>
                  <p:spPr>
                    <a:xfrm>
                      <a:off x="493690" y="236432"/>
                      <a:ext cx="504287" cy="298875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15875" cap="flat" cmpd="sng" algn="ctr">
                      <a:solidFill>
                        <a:sysClr val="windowText" lastClr="000000"/>
                      </a:solidFill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algn="ctr" fontAlgn="auto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defRPr/>
                      </a:pPr>
                      <a:r>
                        <a:rPr lang="en-US" sz="1100" kern="0" dirty="0">
                          <a:solidFill>
                            <a:sysClr val="windowText" lastClr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&gt;&gt;&gt;1</a:t>
                      </a:r>
                      <a:endParaRPr lang="ru-RU" sz="1100" kern="0" dirty="0">
                        <a:solidFill>
                          <a:sysClr val="windowText" lastClr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p:txBody>
                </p:sp>
                <p:sp>
                  <p:nvSpPr>
                    <p:cNvPr id="43" name="Блок-схема: ИЛИ 42"/>
                    <p:cNvSpPr/>
                    <p:nvPr/>
                  </p:nvSpPr>
                  <p:spPr>
                    <a:xfrm>
                      <a:off x="286" y="257780"/>
                      <a:ext cx="256376" cy="231272"/>
                    </a:xfrm>
                    <a:prstGeom prst="flowChartOr">
                      <a:avLst/>
                    </a:prstGeom>
                    <a:solidFill>
                      <a:sysClr val="window" lastClr="FFFFFF"/>
                    </a:solidFill>
                    <a:ln w="15875" cap="flat" cmpd="sng" algn="ctr">
                      <a:solidFill>
                        <a:sysClr val="windowText" lastClr="000000"/>
                      </a:solidFill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ru-RU" kern="0" dirty="0">
                        <a:solidFill>
                          <a:sysClr val="windowText" lastClr="000000"/>
                        </a:solidFill>
                        <a:latin typeface="Calibri"/>
                        <a:cs typeface="+mn-cs"/>
                      </a:endParaRPr>
                    </a:p>
                  </p:txBody>
                </p:sp>
                <p:cxnSp>
                  <p:nvCxnSpPr>
                    <p:cNvPr id="25648" name="Прямая со стрелкой 43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123416" y="0"/>
                      <a:ext cx="0" cy="232012"/>
                    </a:xfrm>
                    <a:prstGeom prst="straightConnector1">
                      <a:avLst/>
                    </a:prstGeom>
                    <a:noFill/>
                    <a:ln w="9525" algn="ctr">
                      <a:solidFill>
                        <a:srgbClr val="4A7EBB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grpSp>
                  <p:nvGrpSpPr>
                    <p:cNvPr id="25649" name="Группа 4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34635" y="488054"/>
                      <a:ext cx="293427" cy="231907"/>
                      <a:chOff x="0" y="0"/>
                      <a:chExt cx="293427" cy="231907"/>
                    </a:xfrm>
                  </p:grpSpPr>
                  <p:cxnSp>
                    <p:nvCxnSpPr>
                      <p:cNvPr id="25653" name="Прямая со стрелкой 48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293427" y="75062"/>
                        <a:ext cx="0" cy="156845"/>
                      </a:xfrm>
                      <a:prstGeom prst="straightConnector1">
                        <a:avLst/>
                      </a:prstGeom>
                      <a:noFill/>
                      <a:ln w="9525" algn="ctr">
                        <a:solidFill>
                          <a:srgbClr val="4A7EBB"/>
                        </a:solidFill>
                        <a:round/>
                        <a:headEnd/>
                        <a:tailEnd type="triangle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25654" name="Прямая соединительная линия 49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0" y="75062"/>
                        <a:ext cx="293190" cy="0"/>
                      </a:xfrm>
                      <a:prstGeom prst="line">
                        <a:avLst/>
                      </a:prstGeom>
                      <a:noFill/>
                      <a:ln w="9525" algn="ctr">
                        <a:solidFill>
                          <a:srgbClr val="4A7EBB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25655" name="Прямая соединительная линия 50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0" y="0"/>
                        <a:ext cx="0" cy="74295"/>
                      </a:xfrm>
                      <a:prstGeom prst="line">
                        <a:avLst/>
                      </a:prstGeom>
                      <a:noFill/>
                      <a:ln w="9525" algn="ctr">
                        <a:solidFill>
                          <a:srgbClr val="4A7EBB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</p:grpSp>
                <p:cxnSp>
                  <p:nvCxnSpPr>
                    <p:cNvPr id="25650" name="Прямая соединительная линия 45"/>
                    <p:cNvCxnSpPr>
                      <a:cxnSpLocks noChangeShapeType="1"/>
                    </p:cNvCxnSpPr>
                    <p:nvPr/>
                  </p:nvCxnSpPr>
                  <p:spPr bwMode="auto">
                    <a:xfrm flipH="1">
                      <a:off x="258051" y="381467"/>
                      <a:ext cx="238835" cy="1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rgbClr val="4A7EBB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25651" name="Прямая соединительная линия 46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835862" y="5610"/>
                      <a:ext cx="0" cy="226165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rgbClr val="4A7EBB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sp>
                  <p:nvSpPr>
                    <p:cNvPr id="48" name="Блок-схема: ИЛИ 47"/>
                    <p:cNvSpPr/>
                    <p:nvPr/>
                  </p:nvSpPr>
                  <p:spPr>
                    <a:xfrm>
                      <a:off x="1768315" y="-1954135"/>
                      <a:ext cx="256376" cy="231273"/>
                    </a:xfrm>
                    <a:prstGeom prst="flowChartOr">
                      <a:avLst/>
                    </a:prstGeom>
                    <a:solidFill>
                      <a:sysClr val="window" lastClr="FFFFFF"/>
                    </a:solidFill>
                    <a:ln w="15875" cap="flat" cmpd="sng" algn="ctr">
                      <a:solidFill>
                        <a:sysClr val="windowText" lastClr="000000"/>
                      </a:solidFill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ru-RU" kern="0" dirty="0">
                        <a:solidFill>
                          <a:sysClr val="windowText" lastClr="000000"/>
                        </a:solidFill>
                        <a:latin typeface="Calibri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33" name="Прямоугольник 32"/>
                <p:cNvSpPr/>
                <p:nvPr/>
              </p:nvSpPr>
              <p:spPr>
                <a:xfrm>
                  <a:off x="2148964" y="1643815"/>
                  <a:ext cx="285400" cy="236016"/>
                </a:xfrm>
                <a:prstGeom prst="rect">
                  <a:avLst/>
                </a:prstGeom>
                <a:solidFill>
                  <a:sysClr val="window" lastClr="FFFFFF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fontAlgn="auto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  <a:defRPr/>
                  </a:pPr>
                  <a:r>
                    <a:rPr lang="en-US" sz="1100" kern="0" dirty="0">
                      <a:solidFill>
                        <a:sysClr val="windowText" lastClr="000000"/>
                      </a:solidFill>
                      <a:latin typeface="Calibri"/>
                      <a:ea typeface="Calibri"/>
                      <a:cs typeface="Times New Roman"/>
                    </a:rPr>
                    <a:t>3</a:t>
                  </a:r>
                  <a:endParaRPr lang="ru-RU" sz="1100" kern="0" dirty="0">
                    <a:solidFill>
                      <a:sysClr val="windowText" lastClr="000000"/>
                    </a:solidFill>
                    <a:latin typeface="Calibri"/>
                    <a:ea typeface="Calibri"/>
                    <a:cs typeface="Times New Roman"/>
                  </a:endParaRPr>
                </a:p>
              </p:txBody>
            </p:sp>
          </p:grpSp>
          <p:sp>
            <p:nvSpPr>
              <p:cNvPr id="18" name="Прямоугольник 17"/>
              <p:cNvSpPr/>
              <p:nvPr/>
            </p:nvSpPr>
            <p:spPr>
              <a:xfrm>
                <a:off x="4353558" y="2087384"/>
                <a:ext cx="235817" cy="218226"/>
              </a:xfrm>
              <a:prstGeom prst="rect">
                <a:avLst/>
              </a:prstGeom>
              <a:solidFill>
                <a:sysClr val="window" lastClr="FFFFFF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defRPr/>
                </a:pPr>
                <a:r>
                  <a:rPr lang="en-US" sz="1100" kern="0" dirty="0">
                    <a:solidFill>
                      <a:sysClr val="windowText" lastClr="000000"/>
                    </a:solidFill>
                    <a:latin typeface="Calibri"/>
                    <a:ea typeface="Calibri"/>
                    <a:cs typeface="Times New Roman"/>
                  </a:rPr>
                  <a:t>4</a:t>
                </a:r>
                <a:endParaRPr lang="ru-RU" sz="1100" kern="0" dirty="0">
                  <a:solidFill>
                    <a:sysClr val="windowText" lastClr="000000"/>
                  </a:solidFill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25623" name="Прямая соединительная линия 18"/>
              <p:cNvCxnSpPr>
                <a:cxnSpLocks noChangeShapeType="1"/>
              </p:cNvCxnSpPr>
              <p:nvPr/>
            </p:nvCxnSpPr>
            <p:spPr bwMode="auto">
              <a:xfrm flipH="1">
                <a:off x="5222739" y="370248"/>
                <a:ext cx="2157" cy="403061"/>
              </a:xfrm>
              <a:prstGeom prst="line">
                <a:avLst/>
              </a:prstGeom>
              <a:noFill/>
              <a:ln w="9525" algn="ctr">
                <a:solidFill>
                  <a:srgbClr val="4A7EBB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25624" name="Группа 19"/>
              <p:cNvGrpSpPr>
                <a:grpSpLocks/>
              </p:cNvGrpSpPr>
              <p:nvPr/>
            </p:nvGrpSpPr>
            <p:grpSpPr bwMode="auto">
              <a:xfrm>
                <a:off x="4914200" y="2193438"/>
                <a:ext cx="619296" cy="713000"/>
                <a:chOff x="1" y="0"/>
                <a:chExt cx="619296" cy="713000"/>
              </a:xfrm>
            </p:grpSpPr>
            <p:cxnSp>
              <p:nvCxnSpPr>
                <p:cNvPr id="25633" name="Прямая соединительная линия 28"/>
                <p:cNvCxnSpPr>
                  <a:cxnSpLocks noChangeShapeType="1"/>
                </p:cNvCxnSpPr>
                <p:nvPr/>
              </p:nvCxnSpPr>
              <p:spPr bwMode="auto">
                <a:xfrm>
                  <a:off x="614513" y="184045"/>
                  <a:ext cx="0" cy="528955"/>
                </a:xfrm>
                <a:prstGeom prst="line">
                  <a:avLst/>
                </a:prstGeom>
                <a:noFill/>
                <a:ln w="9525" algn="ctr">
                  <a:solidFill>
                    <a:srgbClr val="4A7EBB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5634" name="Прямая соединительная линия 29"/>
                <p:cNvCxnSpPr>
                  <a:cxnSpLocks noChangeShapeType="1"/>
                </p:cNvCxnSpPr>
                <p:nvPr/>
              </p:nvCxnSpPr>
              <p:spPr bwMode="auto">
                <a:xfrm flipH="1">
                  <a:off x="1" y="184150"/>
                  <a:ext cx="619296" cy="6584"/>
                </a:xfrm>
                <a:prstGeom prst="line">
                  <a:avLst/>
                </a:prstGeom>
                <a:noFill/>
                <a:ln w="9525" algn="ctr">
                  <a:solidFill>
                    <a:srgbClr val="4A7EBB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5635" name="Прямая соединительная линия 30"/>
                <p:cNvCxnSpPr>
                  <a:cxnSpLocks noChangeShapeType="1"/>
                </p:cNvCxnSpPr>
                <p:nvPr/>
              </p:nvCxnSpPr>
              <p:spPr bwMode="auto">
                <a:xfrm flipV="1">
                  <a:off x="5610" y="0"/>
                  <a:ext cx="0" cy="184150"/>
                </a:xfrm>
                <a:prstGeom prst="line">
                  <a:avLst/>
                </a:prstGeom>
                <a:noFill/>
                <a:ln w="9525" algn="ctr">
                  <a:solidFill>
                    <a:srgbClr val="4A7EBB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25625" name="Прямая соединительная линия 20"/>
              <p:cNvCxnSpPr>
                <a:cxnSpLocks noChangeShapeType="1"/>
              </p:cNvCxnSpPr>
              <p:nvPr/>
            </p:nvCxnSpPr>
            <p:spPr bwMode="auto">
              <a:xfrm flipV="1">
                <a:off x="4914199" y="1643676"/>
                <a:ext cx="0" cy="252442"/>
              </a:xfrm>
              <a:prstGeom prst="line">
                <a:avLst/>
              </a:prstGeom>
              <a:noFill/>
              <a:ln w="9525" algn="ctr">
                <a:solidFill>
                  <a:srgbClr val="4A7EBB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2" name="Прямоугольник 21"/>
              <p:cNvSpPr/>
              <p:nvPr/>
            </p:nvSpPr>
            <p:spPr>
              <a:xfrm>
                <a:off x="3393357" y="986763"/>
                <a:ext cx="246702" cy="252620"/>
              </a:xfrm>
              <a:prstGeom prst="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defRPr/>
                </a:pPr>
                <a:r>
                  <a:rPr lang="ru-RU" sz="1200" kern="0" dirty="0">
                    <a:solidFill>
                      <a:sysClr val="windowText" lastClr="000000"/>
                    </a:solidFill>
                    <a:latin typeface="Times New Roman"/>
                    <a:ea typeface="Calibri"/>
                    <a:cs typeface="Times New Roman"/>
                    <a:sym typeface="Symbol"/>
                  </a:rPr>
                  <a:t></a:t>
                </a:r>
                <a:endParaRPr lang="ru-RU" sz="1100" kern="0" dirty="0">
                  <a:solidFill>
                    <a:sysClr val="windowText" lastClr="000000"/>
                  </a:solidFill>
                  <a:latin typeface="Calibri"/>
                  <a:ea typeface="Calibri"/>
                  <a:cs typeface="Times New Roman"/>
                </a:endParaRPr>
              </a:p>
            </p:txBody>
          </p:sp>
          <p:cxnSp>
            <p:nvCxnSpPr>
              <p:cNvPr id="25627" name="Прямая соединительная линия 22"/>
              <p:cNvCxnSpPr>
                <a:cxnSpLocks noChangeShapeType="1"/>
              </p:cNvCxnSpPr>
              <p:nvPr/>
            </p:nvCxnSpPr>
            <p:spPr bwMode="auto">
              <a:xfrm>
                <a:off x="5531279" y="779764"/>
                <a:ext cx="0" cy="353419"/>
              </a:xfrm>
              <a:prstGeom prst="line">
                <a:avLst/>
              </a:prstGeom>
              <a:noFill/>
              <a:ln w="9525" algn="ctr">
                <a:solidFill>
                  <a:srgbClr val="4A7EBB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628" name="Прямая соединительная линия 23"/>
              <p:cNvCxnSpPr>
                <a:cxnSpLocks noChangeShapeType="1"/>
              </p:cNvCxnSpPr>
              <p:nvPr/>
            </p:nvCxnSpPr>
            <p:spPr bwMode="auto">
              <a:xfrm flipH="1">
                <a:off x="3651991" y="1133183"/>
                <a:ext cx="1881505" cy="5080"/>
              </a:xfrm>
              <a:prstGeom prst="line">
                <a:avLst/>
              </a:prstGeom>
              <a:noFill/>
              <a:ln w="9525" algn="ctr">
                <a:solidFill>
                  <a:srgbClr val="4A7EBB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629" name="Прямая соединительная линия 24"/>
              <p:cNvCxnSpPr>
                <a:cxnSpLocks noChangeShapeType="1"/>
              </p:cNvCxnSpPr>
              <p:nvPr/>
            </p:nvCxnSpPr>
            <p:spPr bwMode="auto">
              <a:xfrm flipV="1">
                <a:off x="3517355" y="779764"/>
                <a:ext cx="0" cy="200761"/>
              </a:xfrm>
              <a:prstGeom prst="line">
                <a:avLst/>
              </a:prstGeom>
              <a:noFill/>
              <a:ln w="9525" algn="ctr">
                <a:solidFill>
                  <a:srgbClr val="4A7EBB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630" name="Прямая соединительная линия 25"/>
              <p:cNvCxnSpPr>
                <a:cxnSpLocks noChangeShapeType="1"/>
              </p:cNvCxnSpPr>
              <p:nvPr/>
            </p:nvCxnSpPr>
            <p:spPr bwMode="auto">
              <a:xfrm flipH="1">
                <a:off x="3651991" y="645129"/>
                <a:ext cx="347992" cy="0"/>
              </a:xfrm>
              <a:prstGeom prst="line">
                <a:avLst/>
              </a:prstGeom>
              <a:noFill/>
              <a:ln w="9525" algn="ctr">
                <a:solidFill>
                  <a:srgbClr val="4A7EBB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631" name="Прямая соединительная линия 26"/>
              <p:cNvCxnSpPr>
                <a:cxnSpLocks noChangeShapeType="1"/>
              </p:cNvCxnSpPr>
              <p:nvPr/>
            </p:nvCxnSpPr>
            <p:spPr bwMode="auto">
              <a:xfrm flipH="1">
                <a:off x="3163937" y="645129"/>
                <a:ext cx="224393" cy="0"/>
              </a:xfrm>
              <a:prstGeom prst="line">
                <a:avLst/>
              </a:prstGeom>
              <a:noFill/>
              <a:ln w="9525" algn="ctr">
                <a:solidFill>
                  <a:srgbClr val="4A7EBB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632" name="Прямая соединительная линия 27"/>
              <p:cNvCxnSpPr>
                <a:cxnSpLocks noChangeShapeType="1"/>
              </p:cNvCxnSpPr>
              <p:nvPr/>
            </p:nvCxnSpPr>
            <p:spPr bwMode="auto">
              <a:xfrm flipH="1" flipV="1">
                <a:off x="1778312" y="645129"/>
                <a:ext cx="1112127" cy="109"/>
              </a:xfrm>
              <a:prstGeom prst="line">
                <a:avLst/>
              </a:prstGeom>
              <a:noFill/>
              <a:ln w="9525" algn="ctr">
                <a:solidFill>
                  <a:srgbClr val="4A7EBB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116" name="Умножение 115">
            <a:hlinkClick r:id="rId2" action="ppaction://hlinkpres?slideindex=19&amp;slidetitle=Презентация PowerPoint"/>
          </p:cNvPr>
          <p:cNvSpPr/>
          <p:nvPr/>
        </p:nvSpPr>
        <p:spPr>
          <a:xfrm>
            <a:off x="8508709" y="1253957"/>
            <a:ext cx="288032" cy="288032"/>
          </a:xfrm>
          <a:prstGeom prst="mathMultiply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19" name="Прямоугольник 118"/>
          <p:cNvSpPr/>
          <p:nvPr/>
        </p:nvSpPr>
        <p:spPr>
          <a:xfrm>
            <a:off x="428596" y="228600"/>
            <a:ext cx="8501122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2800" b="1" dirty="0">
                <a:latin typeface="Times New Roman" pitchFamily="18" charset="0"/>
                <a:cs typeface="Times New Roman" pitchFamily="18" charset="0"/>
              </a:rPr>
              <a:t>SHA-3 хэш-функция алгоритми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функцияси</a:t>
            </a:r>
            <a:endParaRPr lang="ru-RU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28596" y="228600"/>
            <a:ext cx="8501122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2800" b="1" dirty="0">
                <a:latin typeface="Times New Roman" pitchFamily="18" charset="0"/>
                <a:cs typeface="Times New Roman" pitchFamily="18" charset="0"/>
              </a:rPr>
              <a:t>SHA-3 хэш-функция алгоритми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функцияси</a:t>
            </a:r>
            <a:endParaRPr lang="ru-RU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44488" y="1295400"/>
            <a:ext cx="8534400" cy="5410200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827088" y="1700213"/>
          <a:ext cx="2449510" cy="20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9902"/>
                <a:gridCol w="489902"/>
                <a:gridCol w="489902"/>
                <a:gridCol w="489902"/>
                <a:gridCol w="489902"/>
              </a:tblGrid>
              <a:tr h="4064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86" marR="914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86" marR="914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86" marR="914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86" marR="914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86" marR="914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86" marR="914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86" marR="914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86" marR="914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86" marR="914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86" marR="914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86" marR="914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86" marR="914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86" marR="914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86" marR="914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86" marR="914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86" marR="914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86" marR="914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86" marR="914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86" marR="914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86" marR="914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86" marR="914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86" marR="914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86" marR="914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86" marR="914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86" marR="9148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27088" y="4797425"/>
          <a:ext cx="2449510" cy="393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902"/>
                <a:gridCol w="489902"/>
                <a:gridCol w="489902"/>
                <a:gridCol w="489902"/>
                <a:gridCol w="489902"/>
              </a:tblGrid>
              <a:tr h="393700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91486" marR="91486" marT="45646" marB="456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91486" marR="91486" marT="45646" marB="456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91486" marR="91486" marT="45646" marB="456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91486" marR="91486" marT="45646" marB="456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91486" marR="91486" marT="45646" marB="456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6156325" y="1557338"/>
          <a:ext cx="2447925" cy="20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9585"/>
                <a:gridCol w="489585"/>
                <a:gridCol w="489585"/>
                <a:gridCol w="489585"/>
                <a:gridCol w="489585"/>
              </a:tblGrid>
              <a:tr h="4064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6227763" y="4259263"/>
          <a:ext cx="2052635" cy="1527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527"/>
                <a:gridCol w="410527"/>
                <a:gridCol w="410527"/>
                <a:gridCol w="410527"/>
                <a:gridCol w="410527"/>
              </a:tblGrid>
              <a:tr h="30543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uz-Cyrl-UZ" sz="12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ru-RU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94" marR="68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uz-Cyrl-UZ" sz="12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x=3</a:t>
                      </a:r>
                      <a:endParaRPr lang="ru-RU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94" marR="68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uz-Cyrl-UZ" sz="12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x=4</a:t>
                      </a:r>
                      <a:endParaRPr lang="ru-RU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94" marR="68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uz-Cyrl-UZ" sz="12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x=0</a:t>
                      </a:r>
                      <a:endParaRPr lang="ru-RU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94" marR="68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uz-Cyrl-UZ" sz="12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x=1</a:t>
                      </a:r>
                      <a:endParaRPr lang="ru-RU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94" marR="68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0543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uz-Cyrl-UZ" sz="12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y=2</a:t>
                      </a:r>
                      <a:endParaRPr lang="ru-RU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94" marR="68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uz-Cyrl-UZ" sz="12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25</a:t>
                      </a:r>
                      <a:endParaRPr lang="ru-RU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94" marR="68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uz-Cyrl-UZ" sz="12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39</a:t>
                      </a:r>
                      <a:endParaRPr lang="ru-RU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94" marR="68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uz-Cyrl-UZ" sz="12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94" marR="68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uz-Cyrl-UZ" sz="12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lang="ru-RU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94" marR="68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0543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uz-Cyrl-UZ" sz="12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y=1</a:t>
                      </a:r>
                      <a:endParaRPr lang="ru-RU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94" marR="68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uz-Cyrl-UZ" sz="12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55</a:t>
                      </a:r>
                      <a:endParaRPr lang="ru-RU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94" marR="68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uz-Cyrl-UZ" sz="12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  <a:endParaRPr lang="ru-RU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94" marR="68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uz-Cyrl-UZ" sz="12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36</a:t>
                      </a:r>
                      <a:endParaRPr lang="ru-RU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94" marR="68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uz-Cyrl-UZ" sz="12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44</a:t>
                      </a:r>
                      <a:endParaRPr lang="ru-RU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94" marR="68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0543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uz-Cyrl-UZ" sz="12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y=0</a:t>
                      </a:r>
                      <a:endParaRPr lang="ru-RU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94" marR="68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uz-Cyrl-UZ" sz="12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28</a:t>
                      </a:r>
                      <a:endParaRPr lang="ru-RU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94" marR="68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uz-Cyrl-UZ" sz="12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27</a:t>
                      </a:r>
                      <a:endParaRPr lang="ru-RU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94" marR="68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uz-Cyrl-UZ" sz="12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endParaRPr lang="ru-RU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94" marR="68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uz-Cyrl-UZ" sz="12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94" marR="68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0543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uz-Cyrl-UZ" sz="12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y=4</a:t>
                      </a:r>
                      <a:endParaRPr lang="ru-RU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94" marR="68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uz-Cyrl-UZ" sz="12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56</a:t>
                      </a:r>
                      <a:endParaRPr lang="ru-RU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94" marR="68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uz-Cyrl-UZ" sz="12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endParaRPr lang="ru-RU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94" marR="68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uz-Cyrl-UZ" sz="12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  <a:endParaRPr lang="ru-RU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94" marR="68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uz-Cyrl-UZ" sz="12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94" marR="6859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/>
        </p:nvGraphicFramePr>
        <p:xfrm>
          <a:off x="827088" y="5876925"/>
          <a:ext cx="2449510" cy="395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902"/>
                <a:gridCol w="489902"/>
                <a:gridCol w="489902"/>
                <a:gridCol w="489902"/>
                <a:gridCol w="489902"/>
              </a:tblGrid>
              <a:tr h="395288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91486" marR="91486" marT="45830" marB="458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91486" marR="91486" marT="45830" marB="458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91486" marR="91486" marT="45830" marB="458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91486" marR="91486" marT="45830" marB="458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91486" marR="91486" marT="45830" marB="458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-2339975" y="1735138"/>
            <a:ext cx="2447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 A       1       C       2      3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-2305050" y="2163763"/>
            <a:ext cx="2447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 F       5       4       3        </a:t>
            </a:r>
            <a:r>
              <a:rPr lang="uz-Cyrl-UZ"/>
              <a:t>0</a:t>
            </a:r>
            <a:endParaRPr lang="en-US"/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-2384425" y="2533650"/>
            <a:ext cx="2447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 </a:t>
            </a:r>
            <a:r>
              <a:rPr lang="uz-Cyrl-UZ"/>
              <a:t>0</a:t>
            </a:r>
            <a:r>
              <a:rPr lang="en-US"/>
              <a:t>       </a:t>
            </a:r>
            <a:r>
              <a:rPr lang="uz-Cyrl-UZ"/>
              <a:t>0</a:t>
            </a:r>
            <a:r>
              <a:rPr lang="en-US"/>
              <a:t>       </a:t>
            </a:r>
            <a:r>
              <a:rPr lang="uz-Cyrl-UZ"/>
              <a:t>0</a:t>
            </a:r>
            <a:r>
              <a:rPr lang="en-US"/>
              <a:t>       </a:t>
            </a:r>
            <a:r>
              <a:rPr lang="uz-Cyrl-UZ"/>
              <a:t>0</a:t>
            </a:r>
            <a:r>
              <a:rPr lang="en-US"/>
              <a:t>       </a:t>
            </a:r>
            <a:r>
              <a:rPr lang="uz-Cyrl-UZ"/>
              <a:t>0</a:t>
            </a:r>
            <a:endParaRPr lang="en-US"/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-2373313" y="2940050"/>
            <a:ext cx="2447926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 </a:t>
            </a:r>
            <a:r>
              <a:rPr lang="uz-Cyrl-UZ"/>
              <a:t>0</a:t>
            </a:r>
            <a:r>
              <a:rPr lang="en-US"/>
              <a:t>       </a:t>
            </a:r>
            <a:r>
              <a:rPr lang="uz-Cyrl-UZ"/>
              <a:t>0</a:t>
            </a:r>
            <a:r>
              <a:rPr lang="en-US"/>
              <a:t>       </a:t>
            </a:r>
            <a:r>
              <a:rPr lang="uz-Cyrl-UZ"/>
              <a:t>0</a:t>
            </a:r>
            <a:r>
              <a:rPr lang="en-US"/>
              <a:t>        </a:t>
            </a:r>
            <a:r>
              <a:rPr lang="uz-Cyrl-UZ"/>
              <a:t>0</a:t>
            </a:r>
            <a:r>
              <a:rPr lang="en-US"/>
              <a:t>      </a:t>
            </a:r>
            <a:r>
              <a:rPr lang="uz-Cyrl-UZ"/>
              <a:t>0</a:t>
            </a:r>
            <a:endParaRPr lang="en-US"/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-2357438" y="3341688"/>
            <a:ext cx="2447926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 </a:t>
            </a:r>
            <a:r>
              <a:rPr lang="uz-Cyrl-UZ"/>
              <a:t>0</a:t>
            </a:r>
            <a:r>
              <a:rPr lang="en-US"/>
              <a:t>       </a:t>
            </a:r>
            <a:r>
              <a:rPr lang="uz-Cyrl-UZ"/>
              <a:t>0</a:t>
            </a:r>
            <a:r>
              <a:rPr lang="en-US"/>
              <a:t>       </a:t>
            </a:r>
            <a:r>
              <a:rPr lang="uz-Cyrl-UZ"/>
              <a:t>0</a:t>
            </a:r>
            <a:r>
              <a:rPr lang="en-US"/>
              <a:t>      </a:t>
            </a:r>
            <a:r>
              <a:rPr lang="uz-Cyrl-UZ"/>
              <a:t>0</a:t>
            </a:r>
            <a:r>
              <a:rPr lang="en-US"/>
              <a:t>       </a:t>
            </a:r>
            <a:r>
              <a:rPr lang="uz-Cyrl-UZ"/>
              <a:t>0</a:t>
            </a:r>
            <a:endParaRPr lang="en-US"/>
          </a:p>
        </p:txBody>
      </p:sp>
      <p:sp>
        <p:nvSpPr>
          <p:cNvPr id="6" name="Блок-схема: ИЛИ 5"/>
          <p:cNvSpPr/>
          <p:nvPr/>
        </p:nvSpPr>
        <p:spPr>
          <a:xfrm>
            <a:off x="1139825" y="3995738"/>
            <a:ext cx="215900" cy="174625"/>
          </a:xfrm>
          <a:prstGeom prst="flowChartOr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9" name="Блок-схема: ИЛИ 18"/>
          <p:cNvSpPr/>
          <p:nvPr/>
        </p:nvSpPr>
        <p:spPr>
          <a:xfrm>
            <a:off x="1620838" y="4000500"/>
            <a:ext cx="215900" cy="169863"/>
          </a:xfrm>
          <a:prstGeom prst="flowChartOr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0" name="Блок-схема: ИЛИ 19"/>
          <p:cNvSpPr/>
          <p:nvPr/>
        </p:nvSpPr>
        <p:spPr>
          <a:xfrm>
            <a:off x="2117725" y="3995738"/>
            <a:ext cx="215900" cy="174625"/>
          </a:xfrm>
          <a:prstGeom prst="flowChartOr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3" name="Блок-схема: ИЛИ 22"/>
          <p:cNvSpPr/>
          <p:nvPr/>
        </p:nvSpPr>
        <p:spPr>
          <a:xfrm>
            <a:off x="2593975" y="3997325"/>
            <a:ext cx="215900" cy="173038"/>
          </a:xfrm>
          <a:prstGeom prst="flowChartOr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-2459038" y="1477963"/>
            <a:ext cx="2447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 A       1       C       2      3</a:t>
            </a: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-1708150" y="3975100"/>
            <a:ext cx="473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 6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-2695575" y="4652963"/>
            <a:ext cx="2447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 F       5       4       3      0</a:t>
            </a: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-973138" y="3816350"/>
            <a:ext cx="473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 D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-2844800" y="5027613"/>
            <a:ext cx="2447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 0       0       0       0      0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-973138" y="4184650"/>
            <a:ext cx="473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 0</a:t>
            </a:r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-2578100" y="4160838"/>
            <a:ext cx="474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 0</a:t>
            </a:r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-2832100" y="3716338"/>
            <a:ext cx="4746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 0</a:t>
            </a:r>
          </a:p>
        </p:txBody>
      </p:sp>
      <p:sp>
        <p:nvSpPr>
          <p:cNvPr id="7" name="Блок-схема: ИЛИ 6"/>
          <p:cNvSpPr/>
          <p:nvPr/>
        </p:nvSpPr>
        <p:spPr>
          <a:xfrm>
            <a:off x="1679575" y="5395913"/>
            <a:ext cx="360363" cy="336550"/>
          </a:xfrm>
          <a:prstGeom prst="flowChartOr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2724150" y="5395913"/>
            <a:ext cx="731838" cy="3365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&gt;&gt;&gt;1</a:t>
            </a:r>
            <a:endParaRPr lang="ru-RU" dirty="0"/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-1633538" y="5805488"/>
            <a:ext cx="473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 D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635375" y="5989638"/>
            <a:ext cx="51847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D[x] = C[x — 1]</a:t>
            </a:r>
            <a:r>
              <a:rPr lang="en-US" b="1"/>
              <a:t> </a:t>
            </a:r>
            <a:r>
              <a:rPr lang="en-US" b="1">
                <a:sym typeface="Symbol" pitchFamily="18" charset="2"/>
              </a:rPr>
              <a:t></a:t>
            </a:r>
            <a:r>
              <a:rPr lang="en-US"/>
              <a:t> (</a:t>
            </a:r>
            <a:r>
              <a:rPr lang="ru-RU"/>
              <a:t>С</a:t>
            </a:r>
            <a:r>
              <a:rPr lang="en-US"/>
              <a:t>[x + 1] &gt;&gt;&gt; 1)(mod 5), x = 0…4</a:t>
            </a:r>
            <a:endParaRPr lang="ru-RU"/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-1149350" y="5715000"/>
            <a:ext cx="473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 0</a:t>
            </a: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-1317625" y="6310313"/>
            <a:ext cx="473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 E</a:t>
            </a:r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-3268663" y="5435600"/>
            <a:ext cx="17970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6       D      0       E</a:t>
            </a: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4067175" y="3630613"/>
            <a:ext cx="43211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A[x, y] = A[x, y]</a:t>
            </a:r>
            <a:r>
              <a:rPr lang="en-US" b="1"/>
              <a:t> </a:t>
            </a:r>
            <a:r>
              <a:rPr lang="en-US" b="1">
                <a:sym typeface="Symbol" pitchFamily="18" charset="2"/>
              </a:rPr>
              <a:t></a:t>
            </a:r>
            <a:r>
              <a:rPr lang="en-US"/>
              <a:t> D[x], x = 0…4, y = 0…4;</a:t>
            </a:r>
            <a:endParaRPr lang="ru-RU"/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-633413" y="6146800"/>
            <a:ext cx="473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 E</a:t>
            </a:r>
          </a:p>
        </p:txBody>
      </p:sp>
      <p:sp>
        <p:nvSpPr>
          <p:cNvPr id="10" name="Блок-схема: ИЛИ 9"/>
          <p:cNvSpPr/>
          <p:nvPr/>
        </p:nvSpPr>
        <p:spPr>
          <a:xfrm>
            <a:off x="3455988" y="4160838"/>
            <a:ext cx="323850" cy="280987"/>
          </a:xfrm>
          <a:prstGeom prst="flowChartOr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-633413" y="6669088"/>
            <a:ext cx="473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 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-2295525" y="6175375"/>
            <a:ext cx="473075" cy="368300"/>
          </a:xfrm>
          <a:prstGeom prst="rect">
            <a:avLst/>
          </a:prstGeom>
          <a:gradFill>
            <a:gsLst>
              <a:gs pos="0">
                <a:schemeClr val="accent3">
                  <a:tint val="50000"/>
                  <a:satMod val="300000"/>
                </a:schemeClr>
              </a:gs>
              <a:gs pos="39000">
                <a:srgbClr val="92D050"/>
              </a:gs>
              <a:gs pos="100000">
                <a:schemeClr val="accent3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 4</a:t>
            </a:r>
          </a:p>
        </p:txBody>
      </p:sp>
      <p:graphicFrame>
        <p:nvGraphicFramePr>
          <p:cNvPr id="41" name="Таблица 40"/>
          <p:cNvGraphicFramePr>
            <a:graphicFrameLocks noGrp="1"/>
          </p:cNvGraphicFramePr>
          <p:nvPr/>
        </p:nvGraphicFramePr>
        <p:xfrm>
          <a:off x="831850" y="1711325"/>
          <a:ext cx="2449515" cy="1990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9903"/>
                <a:gridCol w="489903"/>
                <a:gridCol w="489903"/>
                <a:gridCol w="489903"/>
                <a:gridCol w="489903"/>
              </a:tblGrid>
              <a:tr h="365643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ru-RU" sz="1800" dirty="0"/>
                    </a:p>
                  </a:txBody>
                  <a:tcPr marL="91486" marR="91486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ru-RU" sz="1800" dirty="0"/>
                    </a:p>
                  </a:txBody>
                  <a:tcPr marL="91486" marR="91486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</a:t>
                      </a:r>
                      <a:endParaRPr lang="ru-RU" sz="1800" dirty="0"/>
                    </a:p>
                  </a:txBody>
                  <a:tcPr marL="91486" marR="91486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</a:t>
                      </a:r>
                      <a:endParaRPr lang="ru-RU" sz="1800" dirty="0"/>
                    </a:p>
                  </a:txBody>
                  <a:tcPr marL="91486" marR="91486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ru-RU" sz="1800" dirty="0"/>
                    </a:p>
                  </a:txBody>
                  <a:tcPr marL="91486" marR="91486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0627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ru-RU" sz="1800" dirty="0"/>
                    </a:p>
                  </a:txBody>
                  <a:tcPr marL="91486" marR="91486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ru-RU" sz="1800" dirty="0"/>
                    </a:p>
                  </a:txBody>
                  <a:tcPr marL="91486" marR="91486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</a:t>
                      </a:r>
                      <a:endParaRPr lang="ru-RU" sz="1800" dirty="0"/>
                    </a:p>
                  </a:txBody>
                  <a:tcPr marL="91486" marR="91486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F</a:t>
                      </a:r>
                      <a:endParaRPr lang="ru-RU" sz="1800" dirty="0"/>
                    </a:p>
                  </a:txBody>
                  <a:tcPr marL="91486" marR="91486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B</a:t>
                      </a:r>
                      <a:endParaRPr lang="ru-RU" sz="1800" dirty="0"/>
                    </a:p>
                  </a:txBody>
                  <a:tcPr marL="91486" marR="91486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0627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</a:t>
                      </a:r>
                      <a:endParaRPr lang="ru-RU" sz="1800" dirty="0"/>
                    </a:p>
                  </a:txBody>
                  <a:tcPr marL="91486" marR="91486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</a:t>
                      </a:r>
                      <a:endParaRPr lang="ru-RU" sz="1800" dirty="0"/>
                    </a:p>
                  </a:txBody>
                  <a:tcPr marL="91486" marR="91486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ru-RU" sz="1800" dirty="0"/>
                    </a:p>
                  </a:txBody>
                  <a:tcPr marL="91486" marR="91486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0</a:t>
                      </a:r>
                      <a:endParaRPr lang="ru-RU" sz="1800" dirty="0"/>
                    </a:p>
                  </a:txBody>
                  <a:tcPr marL="91486" marR="91486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B</a:t>
                      </a:r>
                      <a:endParaRPr lang="ru-RU" sz="1800" dirty="0"/>
                    </a:p>
                  </a:txBody>
                  <a:tcPr marL="91486" marR="91486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0627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</a:t>
                      </a:r>
                      <a:endParaRPr lang="ru-RU" sz="1800" dirty="0"/>
                    </a:p>
                  </a:txBody>
                  <a:tcPr marL="91486" marR="91486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F</a:t>
                      </a:r>
                      <a:endParaRPr lang="ru-RU" sz="1800" dirty="0"/>
                    </a:p>
                  </a:txBody>
                  <a:tcPr marL="91486" marR="91486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ru-RU" sz="1800" dirty="0"/>
                    </a:p>
                  </a:txBody>
                  <a:tcPr marL="91486" marR="91486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</a:t>
                      </a:r>
                      <a:endParaRPr lang="ru-RU" sz="1800" dirty="0"/>
                    </a:p>
                  </a:txBody>
                  <a:tcPr marL="91486" marR="91486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0</a:t>
                      </a:r>
                      <a:endParaRPr lang="ru-RU" sz="1800" dirty="0"/>
                    </a:p>
                  </a:txBody>
                  <a:tcPr marL="91486" marR="91486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0627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ru-RU" sz="1800" dirty="0"/>
                    </a:p>
                  </a:txBody>
                  <a:tcPr marL="91486" marR="91486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ru-RU" sz="1800" dirty="0"/>
                    </a:p>
                  </a:txBody>
                  <a:tcPr marL="91486" marR="91486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ru-RU" sz="1800" dirty="0"/>
                    </a:p>
                  </a:txBody>
                  <a:tcPr marL="91486" marR="91486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</a:t>
                      </a:r>
                      <a:endParaRPr lang="ru-RU" sz="1800" dirty="0"/>
                    </a:p>
                  </a:txBody>
                  <a:tcPr marL="91486" marR="91486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ru-RU" sz="1800" dirty="0"/>
                    </a:p>
                  </a:txBody>
                  <a:tcPr marL="91486" marR="91486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6839" name="TextBox 41"/>
          <p:cNvSpPr txBox="1">
            <a:spLocks noChangeArrowheads="1"/>
          </p:cNvSpPr>
          <p:nvPr/>
        </p:nvSpPr>
        <p:spPr bwMode="auto">
          <a:xfrm>
            <a:off x="428625" y="1662113"/>
            <a:ext cx="473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 A</a:t>
            </a:r>
          </a:p>
        </p:txBody>
      </p:sp>
      <p:sp>
        <p:nvSpPr>
          <p:cNvPr id="26840" name="TextBox 42"/>
          <p:cNvSpPr txBox="1">
            <a:spLocks noChangeArrowheads="1"/>
          </p:cNvSpPr>
          <p:nvPr/>
        </p:nvSpPr>
        <p:spPr bwMode="auto">
          <a:xfrm>
            <a:off x="285750" y="4805363"/>
            <a:ext cx="473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 C</a:t>
            </a:r>
          </a:p>
        </p:txBody>
      </p:sp>
      <p:sp>
        <p:nvSpPr>
          <p:cNvPr id="26841" name="TextBox 43"/>
          <p:cNvSpPr txBox="1">
            <a:spLocks noChangeArrowheads="1"/>
          </p:cNvSpPr>
          <p:nvPr/>
        </p:nvSpPr>
        <p:spPr bwMode="auto">
          <a:xfrm>
            <a:off x="314325" y="5900738"/>
            <a:ext cx="4746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 D</a:t>
            </a:r>
          </a:p>
        </p:txBody>
      </p:sp>
      <p:sp>
        <p:nvSpPr>
          <p:cNvPr id="26842" name="TextBox 44"/>
          <p:cNvSpPr txBox="1">
            <a:spLocks noChangeArrowheads="1"/>
          </p:cNvSpPr>
          <p:nvPr/>
        </p:nvSpPr>
        <p:spPr bwMode="auto">
          <a:xfrm>
            <a:off x="5580063" y="4198938"/>
            <a:ext cx="473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 R</a:t>
            </a:r>
          </a:p>
        </p:txBody>
      </p:sp>
      <p:sp>
        <p:nvSpPr>
          <p:cNvPr id="26843" name="TextBox 45"/>
          <p:cNvSpPr txBox="1">
            <a:spLocks noChangeArrowheads="1"/>
          </p:cNvSpPr>
          <p:nvPr/>
        </p:nvSpPr>
        <p:spPr bwMode="auto">
          <a:xfrm>
            <a:off x="5580063" y="1458913"/>
            <a:ext cx="473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 B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3502025" y="5989638"/>
            <a:ext cx="5292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B[y, 2x + 3y] = A[x, y] &gt;&gt;&gt; R[x, y], x = 0…4, y = 0…4;</a:t>
            </a:r>
            <a:endParaRPr lang="ru-RU"/>
          </a:p>
        </p:txBody>
      </p:sp>
      <p:sp>
        <p:nvSpPr>
          <p:cNvPr id="47" name="TextBox 46"/>
          <p:cNvSpPr txBox="1"/>
          <p:nvPr/>
        </p:nvSpPr>
        <p:spPr>
          <a:xfrm>
            <a:off x="5045075" y="3652838"/>
            <a:ext cx="833438" cy="369887"/>
          </a:xfrm>
          <a:prstGeom prst="rect">
            <a:avLst/>
          </a:prstGeom>
          <a:gradFill>
            <a:gsLst>
              <a:gs pos="0">
                <a:schemeClr val="accent3">
                  <a:tint val="50000"/>
                  <a:satMod val="300000"/>
                </a:schemeClr>
              </a:gs>
              <a:gs pos="39000">
                <a:srgbClr val="92D050"/>
              </a:gs>
              <a:gs pos="100000">
                <a:schemeClr val="accent3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 4&gt;&gt;&gt;0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-2339975" y="6521450"/>
            <a:ext cx="473075" cy="368300"/>
          </a:xfrm>
          <a:prstGeom prst="rect">
            <a:avLst/>
          </a:prstGeom>
          <a:gradFill>
            <a:gsLst>
              <a:gs pos="0">
                <a:schemeClr val="accent3">
                  <a:tint val="50000"/>
                  <a:satMod val="300000"/>
                </a:schemeClr>
              </a:gs>
              <a:gs pos="39000">
                <a:srgbClr val="92D050"/>
              </a:gs>
              <a:gs pos="100000">
                <a:schemeClr val="accent3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 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-1708150" y="6616700"/>
            <a:ext cx="473075" cy="369888"/>
          </a:xfrm>
          <a:prstGeom prst="rect">
            <a:avLst/>
          </a:prstGeom>
          <a:gradFill>
            <a:gsLst>
              <a:gs pos="0">
                <a:schemeClr val="accent3">
                  <a:tint val="50000"/>
                  <a:satMod val="300000"/>
                </a:schemeClr>
              </a:gs>
              <a:gs pos="39000">
                <a:srgbClr val="92D050"/>
              </a:gs>
              <a:gs pos="100000">
                <a:schemeClr val="accent3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 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-1944688" y="954088"/>
            <a:ext cx="473075" cy="369887"/>
          </a:xfrm>
          <a:prstGeom prst="rect">
            <a:avLst/>
          </a:prstGeom>
          <a:gradFill>
            <a:gsLst>
              <a:gs pos="0">
                <a:schemeClr val="accent3">
                  <a:tint val="50000"/>
                  <a:satMod val="300000"/>
                </a:schemeClr>
              </a:gs>
              <a:gs pos="39000">
                <a:srgbClr val="92D050"/>
              </a:gs>
              <a:gs pos="100000">
                <a:schemeClr val="accent3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 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95738" y="3686175"/>
            <a:ext cx="982662" cy="368300"/>
          </a:xfrm>
          <a:prstGeom prst="rect">
            <a:avLst/>
          </a:prstGeom>
          <a:gradFill>
            <a:gsLst>
              <a:gs pos="0">
                <a:schemeClr val="accent3">
                  <a:tint val="50000"/>
                  <a:satMod val="300000"/>
                </a:schemeClr>
              </a:gs>
              <a:gs pos="39000">
                <a:srgbClr val="92D050"/>
              </a:gs>
              <a:gs pos="100000">
                <a:schemeClr val="accent3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 D&gt;&gt;&gt;18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-896938" y="1060450"/>
            <a:ext cx="473075" cy="369888"/>
          </a:xfrm>
          <a:prstGeom prst="rect">
            <a:avLst/>
          </a:prstGeom>
          <a:gradFill>
            <a:gsLst>
              <a:gs pos="0">
                <a:schemeClr val="accent3">
                  <a:tint val="50000"/>
                  <a:satMod val="300000"/>
                </a:schemeClr>
              </a:gs>
              <a:gs pos="39000">
                <a:srgbClr val="92D050"/>
              </a:gs>
              <a:gs pos="100000">
                <a:schemeClr val="accent3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 B</a:t>
            </a:r>
          </a:p>
        </p:txBody>
      </p:sp>
      <p:graphicFrame>
        <p:nvGraphicFramePr>
          <p:cNvPr id="53" name="Таблица 52"/>
          <p:cNvGraphicFramePr>
            <a:graphicFrameLocks noGrp="1"/>
          </p:cNvGraphicFramePr>
          <p:nvPr/>
        </p:nvGraphicFramePr>
        <p:xfrm>
          <a:off x="6154738" y="1565275"/>
          <a:ext cx="2447925" cy="20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9585"/>
                <a:gridCol w="489585"/>
                <a:gridCol w="489585"/>
                <a:gridCol w="489585"/>
                <a:gridCol w="489585"/>
              </a:tblGrid>
              <a:tr h="406400">
                <a:tc>
                  <a:txBody>
                    <a:bodyPr/>
                    <a:lstStyle/>
                    <a:p>
                      <a:r>
                        <a:rPr lang="en-US" dirty="0" smtClean="0"/>
                        <a:t> 4</a:t>
                      </a:r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</a:t>
                      </a:r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B</a:t>
                      </a:r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ru-RU" dirty="0"/>
                    </a:p>
                  </a:txBody>
                  <a:tcPr marL="91427" marR="914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901700" y="3824288"/>
            <a:ext cx="77025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/>
              <a:t>A[x, y] = B[x, y] </a:t>
            </a:r>
            <a:r>
              <a:rPr lang="en-US" b="1">
                <a:sym typeface="Symbol" pitchFamily="18" charset="2"/>
              </a:rPr>
              <a:t></a:t>
            </a:r>
            <a:r>
              <a:rPr lang="en-US"/>
              <a:t>(~B[x + 1, y] &amp; B[x + 2, y], x = 0…4, y = 0…4</a:t>
            </a:r>
            <a:r>
              <a:rPr lang="uz-Cyrl-UZ"/>
              <a:t>;</a:t>
            </a:r>
            <a:endParaRPr lang="ru-RU"/>
          </a:p>
        </p:txBody>
      </p:sp>
      <p:sp>
        <p:nvSpPr>
          <p:cNvPr id="54" name="TextBox 53"/>
          <p:cNvSpPr txBox="1"/>
          <p:nvPr/>
        </p:nvSpPr>
        <p:spPr>
          <a:xfrm>
            <a:off x="3568700" y="1846263"/>
            <a:ext cx="2220913" cy="369887"/>
          </a:xfrm>
          <a:prstGeom prst="rect">
            <a:avLst/>
          </a:prstGeom>
          <a:gradFill>
            <a:gsLst>
              <a:gs pos="0">
                <a:schemeClr val="accent3">
                  <a:tint val="50000"/>
                  <a:satMod val="300000"/>
                </a:schemeClr>
              </a:gs>
              <a:gs pos="39000">
                <a:srgbClr val="92D050"/>
              </a:gs>
              <a:gs pos="100000">
                <a:schemeClr val="accent3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ym typeface="Symbol"/>
              </a:rPr>
              <a:t>4 </a:t>
            </a:r>
            <a:r>
              <a:rPr lang="en-US" dirty="0"/>
              <a:t>(~3)*D=4</a:t>
            </a:r>
            <a:r>
              <a:rPr lang="en-US" b="1" dirty="0">
                <a:sym typeface="Symbol"/>
              </a:rPr>
              <a:t> C*D=8</a:t>
            </a:r>
            <a:endParaRPr lang="en-US" dirty="0"/>
          </a:p>
        </p:txBody>
      </p:sp>
      <p:sp>
        <p:nvSpPr>
          <p:cNvPr id="56" name="Умножение 55">
            <a:hlinkClick r:id="rId2" action="ppaction://hlinkpres?slideindex=19&amp;slidetitle=Презентация PowerPoint"/>
          </p:cNvPr>
          <p:cNvSpPr/>
          <p:nvPr/>
        </p:nvSpPr>
        <p:spPr>
          <a:xfrm>
            <a:off x="8569902" y="6417568"/>
            <a:ext cx="288032" cy="288032"/>
          </a:xfrm>
          <a:prstGeom prst="mathMultiply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9" name="TextBox 58"/>
          <p:cNvSpPr txBox="1"/>
          <p:nvPr/>
        </p:nvSpPr>
        <p:spPr>
          <a:xfrm>
            <a:off x="-896938" y="44450"/>
            <a:ext cx="473075" cy="368300"/>
          </a:xfrm>
          <a:prstGeom prst="rect">
            <a:avLst/>
          </a:prstGeom>
          <a:gradFill>
            <a:gsLst>
              <a:gs pos="0">
                <a:schemeClr val="accent3">
                  <a:tint val="50000"/>
                  <a:satMod val="300000"/>
                </a:schemeClr>
              </a:gs>
              <a:gs pos="39000">
                <a:srgbClr val="92D050"/>
              </a:gs>
              <a:gs pos="100000">
                <a:schemeClr val="accent3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 ~3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-1471613" y="22225"/>
            <a:ext cx="473075" cy="369888"/>
          </a:xfrm>
          <a:prstGeom prst="rect">
            <a:avLst/>
          </a:prstGeom>
          <a:gradFill>
            <a:gsLst>
              <a:gs pos="0">
                <a:schemeClr val="accent3">
                  <a:tint val="50000"/>
                  <a:satMod val="300000"/>
                </a:schemeClr>
              </a:gs>
              <a:gs pos="39000">
                <a:srgbClr val="92D050"/>
              </a:gs>
              <a:gs pos="100000">
                <a:schemeClr val="accent3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 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-1541463" y="415925"/>
            <a:ext cx="473075" cy="368300"/>
          </a:xfrm>
          <a:prstGeom prst="rect">
            <a:avLst/>
          </a:prstGeom>
          <a:gradFill>
            <a:gsLst>
              <a:gs pos="0">
                <a:schemeClr val="accent3">
                  <a:tint val="50000"/>
                  <a:satMod val="300000"/>
                </a:schemeClr>
              </a:gs>
              <a:gs pos="39000">
                <a:srgbClr val="92D050"/>
              </a:gs>
              <a:gs pos="100000">
                <a:schemeClr val="accent3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D</a:t>
            </a:r>
          </a:p>
        </p:txBody>
      </p:sp>
      <p:graphicFrame>
        <p:nvGraphicFramePr>
          <p:cNvPr id="62" name="Таблица 61"/>
          <p:cNvGraphicFramePr>
            <a:graphicFrameLocks noGrp="1"/>
          </p:cNvGraphicFramePr>
          <p:nvPr/>
        </p:nvGraphicFramePr>
        <p:xfrm>
          <a:off x="814388" y="1720850"/>
          <a:ext cx="2449510" cy="19923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9902"/>
                <a:gridCol w="489902"/>
                <a:gridCol w="489902"/>
                <a:gridCol w="489902"/>
                <a:gridCol w="489902"/>
              </a:tblGrid>
              <a:tr h="36593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ru-RU" sz="1800" dirty="0"/>
                    </a:p>
                  </a:txBody>
                  <a:tcPr marL="91486" marR="91486" marT="45742" marB="457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F</a:t>
                      </a:r>
                      <a:endParaRPr lang="ru-RU" sz="1800" dirty="0"/>
                    </a:p>
                  </a:txBody>
                  <a:tcPr marL="91486" marR="91486" marT="45742" marB="457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ru-RU" sz="1800" dirty="0"/>
                    </a:p>
                  </a:txBody>
                  <a:tcPr marL="91486" marR="91486" marT="45742" marB="457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</a:t>
                      </a:r>
                      <a:endParaRPr lang="ru-RU" sz="1800" dirty="0"/>
                    </a:p>
                  </a:txBody>
                  <a:tcPr marL="91486" marR="91486" marT="45742" marB="457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</a:t>
                      </a:r>
                      <a:endParaRPr lang="ru-RU" sz="1800" dirty="0"/>
                    </a:p>
                  </a:txBody>
                  <a:tcPr marL="91486" marR="91486" marT="45742" marB="457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0659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ru-RU" sz="1800" dirty="0"/>
                    </a:p>
                  </a:txBody>
                  <a:tcPr marL="91486" marR="91486" marT="45742" marB="457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ru-RU" sz="1800" dirty="0"/>
                    </a:p>
                  </a:txBody>
                  <a:tcPr marL="91486" marR="91486" marT="45742" marB="457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ru-RU" sz="1800" dirty="0"/>
                    </a:p>
                  </a:txBody>
                  <a:tcPr marL="91486" marR="91486" marT="45742" marB="457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ru-RU" sz="1800" dirty="0"/>
                    </a:p>
                  </a:txBody>
                  <a:tcPr marL="91486" marR="91486" marT="45742" marB="457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ru-RU" sz="1800" dirty="0"/>
                    </a:p>
                  </a:txBody>
                  <a:tcPr marL="91486" marR="91486" marT="45742" marB="457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0659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</a:t>
                      </a:r>
                      <a:endParaRPr lang="ru-RU" sz="1800" dirty="0"/>
                    </a:p>
                  </a:txBody>
                  <a:tcPr marL="91486" marR="91486" marT="45742" marB="457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</a:t>
                      </a:r>
                      <a:endParaRPr lang="ru-RU" sz="1800" dirty="0"/>
                    </a:p>
                  </a:txBody>
                  <a:tcPr marL="91486" marR="91486" marT="45742" marB="457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</a:t>
                      </a:r>
                      <a:endParaRPr lang="ru-RU" sz="1800" dirty="0"/>
                    </a:p>
                  </a:txBody>
                  <a:tcPr marL="91486" marR="91486" marT="45742" marB="457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</a:t>
                      </a:r>
                      <a:endParaRPr lang="ru-RU" sz="1800" dirty="0"/>
                    </a:p>
                  </a:txBody>
                  <a:tcPr marL="91486" marR="91486" marT="45742" marB="457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</a:t>
                      </a:r>
                      <a:endParaRPr lang="ru-RU" sz="1800" dirty="0"/>
                    </a:p>
                  </a:txBody>
                  <a:tcPr marL="91486" marR="91486" marT="45742" marB="457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0659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0</a:t>
                      </a:r>
                      <a:endParaRPr lang="ru-RU" sz="1800" dirty="0"/>
                    </a:p>
                  </a:txBody>
                  <a:tcPr marL="91486" marR="91486" marT="45742" marB="457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0</a:t>
                      </a:r>
                      <a:endParaRPr lang="ru-RU" sz="1800" dirty="0"/>
                    </a:p>
                  </a:txBody>
                  <a:tcPr marL="91486" marR="91486" marT="45742" marB="457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0</a:t>
                      </a:r>
                      <a:endParaRPr lang="ru-RU" sz="1800" dirty="0"/>
                    </a:p>
                  </a:txBody>
                  <a:tcPr marL="91486" marR="91486" marT="45742" marB="457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0</a:t>
                      </a:r>
                      <a:endParaRPr lang="ru-RU" sz="1800" dirty="0"/>
                    </a:p>
                  </a:txBody>
                  <a:tcPr marL="91486" marR="91486" marT="45742" marB="457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0</a:t>
                      </a:r>
                      <a:endParaRPr lang="ru-RU" sz="1800" dirty="0"/>
                    </a:p>
                  </a:txBody>
                  <a:tcPr marL="91486" marR="91486" marT="45742" marB="457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0659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</a:t>
                      </a:r>
                      <a:endParaRPr lang="ru-RU" sz="1800" dirty="0"/>
                    </a:p>
                  </a:txBody>
                  <a:tcPr marL="91486" marR="91486" marT="45742" marB="457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</a:t>
                      </a:r>
                      <a:endParaRPr lang="ru-RU" sz="1800" dirty="0"/>
                    </a:p>
                  </a:txBody>
                  <a:tcPr marL="91486" marR="91486" marT="45742" marB="457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</a:t>
                      </a:r>
                      <a:endParaRPr lang="ru-RU" sz="1800" dirty="0"/>
                    </a:p>
                  </a:txBody>
                  <a:tcPr marL="91486" marR="91486" marT="45742" marB="457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</a:t>
                      </a:r>
                      <a:endParaRPr lang="ru-RU" sz="1800" dirty="0"/>
                    </a:p>
                  </a:txBody>
                  <a:tcPr marL="91486" marR="91486" marT="45742" marB="457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</a:t>
                      </a:r>
                      <a:endParaRPr lang="ru-RU" sz="1800" dirty="0"/>
                    </a:p>
                  </a:txBody>
                  <a:tcPr marL="91486" marR="91486" marT="45742" marB="457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2" name="Прямоугольник 21"/>
          <p:cNvSpPr/>
          <p:nvPr/>
        </p:nvSpPr>
        <p:spPr>
          <a:xfrm>
            <a:off x="823913" y="1711325"/>
            <a:ext cx="454025" cy="36988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8</a:t>
            </a:r>
            <a:endParaRPr lang="ru-RU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1.38889E-6 -1.11111E-6 L 0.34636 -0.0004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09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700"/>
                            </p:stCondLst>
                            <p:childTnLst>
                              <p:par>
                                <p:cTn id="8" presetID="63" presetClass="path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8.33333E-7 -1.11111E-6 L 0.34254 0.00023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11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400"/>
                            </p:stCondLst>
                            <p:childTnLst>
                              <p:par>
                                <p:cTn id="11" presetID="63" presetClass="path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2.77778E-7 3.7037E-6 L 0.35122 -0.00139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52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14" presetID="63" presetClass="path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4.44444E-6 4.44444E-6 L 0.35 0.00254 " pathEditMode="relative" rAng="0" ptsTypes="AA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00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800"/>
                            </p:stCondLst>
                            <p:childTnLst>
                              <p:par>
                                <p:cTn id="17" presetID="63" presetClass="path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1.66667E-6 -3.7037E-7 L 0.34827 -0.0037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13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0" presetID="5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6302 0.03704 L 0.3592 0.03704 C 0.35747 0.03704 0.35521 0.12338 0.35521 0.19421 L 0.35521 0.35208 " pathEditMode="relative" rAng="0" ptsTypes="FfFF">
                                      <p:cBhvr>
                                        <p:cTn id="2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9" y="15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39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43" presetID="5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719 -0.00139 L 0.27101 -0.00139 C 0.27275 -0.00139 0.275 0.03264 0.275 0.06088 L 0.275 0.12454 " pathEditMode="relative" rAng="0" ptsTypes="FfFF">
                                      <p:cBhvr>
                                        <p:cTn id="4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2" y="6296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5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5729 -0.36273 L 0.36875 -0.36273 C 0.37396 -0.36273 0.38091 -0.29375 0.38091 -0.23726 L 0.38091 -0.11088 " pathEditMode="relative" rAng="0" ptsTypes="FfFF">
                                      <p:cBhvr>
                                        <p:cTn id="4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1" y="12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48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52" presetID="5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764 0.0007 L 0.25382 0.0007 C 0.25209 0.0007 0.24983 0.04028 0.24983 0.07315 L 0.24983 0.14769 " pathEditMode="relative" rAng="0" ptsTypes="FfFF">
                                      <p:cBhvr>
                                        <p:cTn id="53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9" y="7338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5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6146 -0.34236 L 0.379 -0.34236 C 0.38716 -0.34236 0.39792 -0.29421 0.39792 -0.25463 L 0.39792 -0.16597 " pathEditMode="relative" rAng="0" ptsTypes="FfFF">
                                      <p:cBhvr>
                                        <p:cTn id="55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3" y="88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57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5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1164 -0.0426 L 0.30608 -0.0426 C 0.30348 -0.0426 0.30018 -0.00602 0.30018 0.02453 L 0.30018 0.09398 " pathEditMode="relative" rAng="0" ptsTypes="FfFF">
                                      <p:cBhvr>
                                        <p:cTn id="61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3" y="6829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5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3906 -0.03912 L 0.5335 -0.03912 C 0.5309 -0.03912 0.5276 -0.00254 0.5276 0.02801 L 0.5276 0.09746 " pathEditMode="relative" rAng="0" ptsTypes="FfFF">
                                      <p:cBhvr>
                                        <p:cTn id="63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3" y="6829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5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9045 0.02569 L 0.6 0.02569 C 0.60451 0.02569 0.61042 0.06227 0.61042 0.09282 L 0.61042 0.16227 " pathEditMode="relative" rAng="0" ptsTypes="FfFF">
                                      <p:cBhvr>
                                        <p:cTn id="65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90" y="6829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85" presetID="5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2205 -0.14236 L 0.4066 -0.14236 C 0.44427 -0.14236 0.49132 -0.13079 0.49132 -0.12153 L 0.49132 -0.10024 " pathEditMode="relative" rAng="0" ptsTypes="FfFF">
                                      <p:cBhvr>
                                        <p:cTn id="8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55" y="2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65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92" presetID="5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2656 -0.12917 L 0.36719 -0.12917 C 0.34063 -0.12917 0.30833 -0.11783 0.30833 -0.10834 L 0.30833 -0.08727 " pathEditMode="relative" rAng="0" ptsTypes="FfFF">
                                      <p:cBhvr>
                                        <p:cTn id="93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20" y="2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95" presetID="5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0868 -0.14421 L 0.32118 -0.15185 C 0.28177 -0.15532 0.23351 -0.13264 0.23247 -0.11227 L 0.22969 -0.05555 " pathEditMode="relative" rAng="225973" ptsTypes="FfFF">
                                      <p:cBhvr>
                                        <p:cTn id="9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58" y="4421"/>
                                    </p:animMotion>
                                  </p:childTnLst>
                                </p:cTn>
                              </p:par>
                              <p:par>
                                <p:cTn id="97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10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6892 -0.0125 L 0.50364 0.06899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6" y="4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107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6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4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486 -0.03171 L 0.29791 -0.03171 C 0.3618 -0.03171 0.44097 -0.09352 0.44097 -0.14352 L 0.44097 -0.25509 " pathEditMode="relative" rAng="0" ptsTypes="FfFF">
                                      <p:cBhvr>
                                        <p:cTn id="125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06" y="-111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7" presetID="5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937 -0.72153 L 0.29982 -0.72153 C 0.36302 -0.72153 0.44097 -0.63727 0.44097 -0.56875 L 0.44097 -0.41528 " pathEditMode="relative" rAng="0" ptsTypes="FfFF">
                                      <p:cBhvr>
                                        <p:cTn id="128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80" y="15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5" presetID="5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257 -0.33611 L 0.6257 -0.49398 C 0.6257 -0.56458 0.54757 -0.65115 0.48403 -0.65115 L 0.34219 -0.65115 " pathEditMode="relative" rAng="0" ptsTypes="FfFF">
                                      <p:cBhvr>
                                        <p:cTn id="146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184" y="-157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6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704 -0.70162 L 0.54236 -0.70162 C 0.63003 -0.70162 0.73784 -0.62269 0.73784 -0.55834 L 0.73784 -0.41482 " pathEditMode="relative" rAng="0" ptsTypes="FfFF">
                                      <p:cBhvr>
                                        <p:cTn id="167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1" y="14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9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3" presetID="14" presetClass="exit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6" presetID="4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75903 -0.43195 L 0.81025 -0.43195 C 0.83299 -0.43195 0.86146 -0.51598 0.86146 -0.58426 L 0.86146 -0.73635 " pathEditMode="relative" rAng="0" ptsTypes="FfFF">
                                      <p:cBhvr>
                                        <p:cTn id="187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22" y="-1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89" presetID="5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2934 0.12407 L 0.61198 0.12407 C 0.64879 0.12407 0.69462 0.19884 0.69462 0.26041 L 0.69462 0.39699 " pathEditMode="relative" rAng="0" ptsTypes="FfFF">
                                      <p:cBhvr>
                                        <p:cTn id="190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64" y="136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4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8003 0.38472 L 0.72969 0.38472 C 0.7967 0.38472 0.87934 0.36412 0.87934 0.34792 L 0.87934 0.31134 " pathEditMode="relative" rAng="0" ptsTypes="FfFF">
                                      <p:cBhvr>
                                        <p:cTn id="197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965" y="-3681"/>
                                    </p:animMotion>
                                  </p:childTnLst>
                                </p:cTn>
                              </p:par>
                              <p:par>
                                <p:cTn id="198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9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2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 nodeType="clickPar">
                      <p:stCondLst>
                        <p:cond delay="indefinite"/>
                      </p:stCondLst>
                      <p:childTnLst>
                        <p:par>
                          <p:cTn id="2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3559 0.22523 L 0.60365 0.27037 " pathEditMode="relative" rAng="0" ptsTypes="AA">
                                      <p:cBhvr>
                                        <p:cTn id="218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597" y="2245"/>
                                    </p:animMotion>
                                  </p:childTnLst>
                                </p:cTn>
                              </p:par>
                              <p:par>
                                <p:cTn id="21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7559 0.2882 L 0.60364 0.26713 " pathEditMode="relative" rAng="0" ptsTypes="AA">
                                      <p:cBhvr>
                                        <p:cTn id="220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622" y="-1065"/>
                                    </p:animMotion>
                                  </p:childTnLst>
                                </p:cTn>
                              </p:par>
                              <p:par>
                                <p:cTn id="22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2188 0.29537 L 0.73715 0.21296 " pathEditMode="relative" rAng="0" ptsTypes="AA">
                                      <p:cBhvr>
                                        <p:cTn id="222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36" y="-41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2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3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 nodeType="clickPar">
                      <p:stCondLst>
                        <p:cond delay="indefinite"/>
                      </p:stCondLst>
                      <p:childTnLst>
                        <p:par>
                          <p:cTn id="2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 nodeType="clickPar">
                      <p:stCondLst>
                        <p:cond delay="indefinite"/>
                      </p:stCondLst>
                      <p:childTnLst>
                        <p:par>
                          <p:cTn id="2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4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4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1" presetID="14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1" grpId="0"/>
      <p:bldP spid="15" grpId="0"/>
      <p:bldP spid="16" grpId="0"/>
      <p:bldP spid="17" grpId="0"/>
      <p:bldP spid="6" grpId="0" animBg="1"/>
      <p:bldP spid="6" grpId="1" animBg="1"/>
      <p:bldP spid="19" grpId="0" animBg="1"/>
      <p:bldP spid="19" grpId="1" animBg="1"/>
      <p:bldP spid="20" grpId="0" animBg="1"/>
      <p:bldP spid="20" grpId="1" animBg="1"/>
      <p:bldP spid="23" grpId="0" animBg="1"/>
      <p:bldP spid="23" grpId="1" animBg="1"/>
      <p:bldP spid="24" grpId="0"/>
      <p:bldP spid="24" grpId="1"/>
      <p:bldP spid="25" grpId="0"/>
      <p:bldP spid="26" grpId="0"/>
      <p:bldP spid="26" grpId="1"/>
      <p:bldP spid="27" grpId="0"/>
      <p:bldP spid="30" grpId="0"/>
      <p:bldP spid="30" grpId="1"/>
      <p:bldP spid="31" grpId="0"/>
      <p:bldP spid="32" grpId="0"/>
      <p:bldP spid="33" grpId="0"/>
      <p:bldP spid="7" grpId="0" animBg="1"/>
      <p:bldP spid="7" grpId="1" animBg="1"/>
      <p:bldP spid="8" grpId="0" animBg="1"/>
      <p:bldP spid="8" grpId="1" animBg="1"/>
      <p:bldP spid="29" grpId="0"/>
      <p:bldP spid="29" grpId="1"/>
      <p:bldP spid="9" grpId="0"/>
      <p:bldP spid="9" grpId="1"/>
      <p:bldP spid="34" grpId="0"/>
      <p:bldP spid="34" grpId="1"/>
      <p:bldP spid="35" grpId="0"/>
      <p:bldP spid="36" grpId="0"/>
      <p:bldP spid="37" grpId="0"/>
      <p:bldP spid="37" grpId="1"/>
      <p:bldP spid="38" grpId="0"/>
      <p:bldP spid="38" grpId="1"/>
      <p:bldP spid="10" grpId="0" animBg="1"/>
      <p:bldP spid="10" grpId="1" animBg="1"/>
      <p:bldP spid="39" grpId="0"/>
      <p:bldP spid="39" grpId="1"/>
      <p:bldP spid="40" grpId="0" animBg="1"/>
      <p:bldP spid="40" grpId="1" animBg="1"/>
      <p:bldP spid="40" grpId="2" animBg="1"/>
      <p:bldP spid="18" grpId="0"/>
      <p:bldP spid="47" grpId="0" animBg="1"/>
      <p:bldP spid="47" grpId="1" animBg="1"/>
      <p:bldP spid="48" grpId="0" animBg="1"/>
      <p:bldP spid="48" grpId="1" animBg="1"/>
      <p:bldP spid="49" grpId="0" animBg="1"/>
      <p:bldP spid="50" grpId="0" animBg="1"/>
      <p:bldP spid="50" grpId="1" animBg="1"/>
      <p:bldP spid="51" grpId="0" animBg="1"/>
      <p:bldP spid="51" grpId="1" animBg="1"/>
      <p:bldP spid="52" grpId="0" animBg="1"/>
      <p:bldP spid="28" grpId="0"/>
      <p:bldP spid="28" grpId="1"/>
      <p:bldP spid="54" grpId="0" animBg="1"/>
      <p:bldP spid="54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22" grpId="0" animBg="1"/>
      <p:bldP spid="22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28596" y="228600"/>
            <a:ext cx="8501122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2800" b="1" dirty="0">
                <a:latin typeface="Times New Roman" pitchFamily="18" charset="0"/>
                <a:cs typeface="Times New Roman" pitchFamily="18" charset="0"/>
              </a:rPr>
              <a:t>SHA-3 хэш-функция алгоритми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функцияси</a:t>
            </a:r>
            <a:endParaRPr lang="ru-RU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>
            <a:hlinkClick r:id="rId2" action="ppaction://hlinkpres?slideindex=17&amp;slidetitle=Презентация PowerPoint"/>
          </p:cNvPr>
          <p:cNvSpPr/>
          <p:nvPr/>
        </p:nvSpPr>
        <p:spPr>
          <a:xfrm>
            <a:off x="381000" y="1295400"/>
            <a:ext cx="8534400" cy="5410200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011238" y="1925638"/>
          <a:ext cx="7273926" cy="46085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32186"/>
                <a:gridCol w="2604777"/>
                <a:gridCol w="1032186"/>
                <a:gridCol w="2604777"/>
              </a:tblGrid>
              <a:tr h="38404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RC[0]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0x0000000000000001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RC[12]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0x000000008000808B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</a:tr>
              <a:tr h="38404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RC[1]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0x0000000000008082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RC[13]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0x800000000000008B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</a:tr>
              <a:tr h="38404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RC[2]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0x800000000000808A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RC[14]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0x8000000000008089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</a:tr>
              <a:tr h="38404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RC[3]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0x8000000080008000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RC[15]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0x8000000000008003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</a:tr>
              <a:tr h="38404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RC[4]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0x000000000000808B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RC[16]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0x8000000000008002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</a:tr>
              <a:tr h="38404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RC[5]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0x0000000080000001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RC[17]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0x8000000000000080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</a:tr>
              <a:tr h="38404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RC[6]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0x8000000080000081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RC[18]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0x000000000000800A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</a:tr>
              <a:tr h="38404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RC[7]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0x8000000000008009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RC[19]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0x800000008000000A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</a:tr>
              <a:tr h="38404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RC[8]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0x000000000000008A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RC[20]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0x8000000080008081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</a:tr>
              <a:tr h="38404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RC[9]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0x0000000000000088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RC[21]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0x8000000000008080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</a:tr>
              <a:tr h="38404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RC[10]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0x0000000080008009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RC[22]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0x0000000080000001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</a:tr>
              <a:tr h="38404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RC[11]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0x000000008000000A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RC[23]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0x8000000080008008</a:t>
                      </a:r>
                      <a:endParaRPr lang="ru-RU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0416" marR="40416" marT="0" marB="0"/>
                </a:tc>
              </a:tr>
            </a:tbl>
          </a:graphicData>
        </a:graphic>
      </p:graphicFrame>
      <p:sp>
        <p:nvSpPr>
          <p:cNvPr id="27721" name="TextBox 6"/>
          <p:cNvSpPr txBox="1">
            <a:spLocks noChangeArrowheads="1"/>
          </p:cNvSpPr>
          <p:nvPr/>
        </p:nvSpPr>
        <p:spPr bwMode="auto">
          <a:xfrm>
            <a:off x="2411413" y="1557338"/>
            <a:ext cx="46799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US" b="1">
                <a:latin typeface="Times New Roman" pitchFamily="18" charset="0"/>
                <a:cs typeface="Times New Roman" pitchFamily="18" charset="0"/>
              </a:rPr>
              <a:t>RC </a:t>
            </a:r>
            <a:r>
              <a:rPr lang="uz-Cyrl-UZ" b="1">
                <a:latin typeface="Times New Roman" pitchFamily="18" charset="0"/>
                <a:cs typeface="Times New Roman" pitchFamily="18" charset="0"/>
              </a:rPr>
              <a:t>раунд</a:t>
            </a:r>
            <a:r>
              <a:rPr lang="ru-RU" b="1">
                <a:latin typeface="Times New Roman" pitchFamily="18" charset="0"/>
                <a:cs typeface="Times New Roman" pitchFamily="18" charset="0"/>
              </a:rPr>
              <a:t> константа</a:t>
            </a:r>
            <a:r>
              <a:rPr lang="uz-Cyrl-UZ" b="1">
                <a:latin typeface="Times New Roman" pitchFamily="18" charset="0"/>
                <a:cs typeface="Times New Roman" pitchFamily="18" charset="0"/>
              </a:rPr>
              <a:t>си жадвали</a:t>
            </a:r>
            <a:endParaRPr lang="ru-RU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Умножение 1">
            <a:hlinkClick r:id="rId3" action="ppaction://hlinkpres?slideindex=19&amp;slidetitle=Презентация PowerPoint"/>
          </p:cNvPr>
          <p:cNvSpPr/>
          <p:nvPr/>
        </p:nvSpPr>
        <p:spPr>
          <a:xfrm>
            <a:off x="8459788" y="1557338"/>
            <a:ext cx="288925" cy="287337"/>
          </a:xfrm>
          <a:prstGeom prst="mathMultiply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28596" y="228600"/>
            <a:ext cx="8501122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2800" b="1" dirty="0">
                <a:latin typeface="Times New Roman" pitchFamily="18" charset="0"/>
                <a:cs typeface="Times New Roman" pitchFamily="18" charset="0"/>
              </a:rPr>
              <a:t>SHA-3 хэш-функция алгоритми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функцияси</a:t>
            </a:r>
            <a:endParaRPr lang="ru-RU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81000" y="1295400"/>
            <a:ext cx="8534400" cy="5410200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763713" y="2060575"/>
          <a:ext cx="4824410" cy="34559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68037"/>
                <a:gridCol w="874993"/>
                <a:gridCol w="795345"/>
                <a:gridCol w="795345"/>
                <a:gridCol w="795345"/>
                <a:gridCol w="795345"/>
              </a:tblGrid>
              <a:tr h="57599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uz-Cyrl-UZ" sz="1400" dirty="0" smtClean="0">
                          <a:effectLst/>
                        </a:rPr>
                        <a:t> 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x=3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x=4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x=0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x=1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x=2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</a:tr>
              <a:tr h="57599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y=2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25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39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3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10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43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</a:tr>
              <a:tr h="57599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y=1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55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20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36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44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6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</a:tr>
              <a:tr h="57599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y=0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28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27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0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1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61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</a:tr>
              <a:tr h="57599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y=4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56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14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18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2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61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</a:tr>
              <a:tr h="57599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y=3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21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8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41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45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901825" algn="l"/>
                        </a:tabLst>
                      </a:pPr>
                      <a:r>
                        <a:rPr lang="en-US" sz="1400" dirty="0">
                          <a:effectLst/>
                        </a:rPr>
                        <a:t>15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8" marR="68578" marT="0" marB="0"/>
                </a:tc>
              </a:tr>
            </a:tbl>
          </a:graphicData>
        </a:graphic>
      </p:graphicFrame>
      <p:sp>
        <p:nvSpPr>
          <p:cNvPr id="28729" name="TextBox 1"/>
          <p:cNvSpPr txBox="1">
            <a:spLocks noChangeArrowheads="1"/>
          </p:cNvSpPr>
          <p:nvPr/>
        </p:nvSpPr>
        <p:spPr bwMode="auto">
          <a:xfrm>
            <a:off x="1908175" y="1646238"/>
            <a:ext cx="45354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US" b="1"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uz-Cyrl-UZ" b="1">
                <a:latin typeface="Times New Roman" pitchFamily="18" charset="0"/>
                <a:cs typeface="Times New Roman" pitchFamily="18" charset="0"/>
              </a:rPr>
              <a:t>массив</a:t>
            </a:r>
            <a:r>
              <a:rPr lang="ru-RU" b="1">
                <a:latin typeface="Times New Roman" pitchFamily="18" charset="0"/>
                <a:cs typeface="Times New Roman" pitchFamily="18" charset="0"/>
              </a:rPr>
              <a:t> элементлари жадвали</a:t>
            </a:r>
          </a:p>
        </p:txBody>
      </p:sp>
      <p:sp>
        <p:nvSpPr>
          <p:cNvPr id="7" name="Умножение 6">
            <a:hlinkClick r:id="rId2" action="ppaction://hlinkpres?slideindex=19&amp;slidetitle=Презентация PowerPoint"/>
          </p:cNvPr>
          <p:cNvSpPr/>
          <p:nvPr/>
        </p:nvSpPr>
        <p:spPr>
          <a:xfrm>
            <a:off x="8388424" y="1543148"/>
            <a:ext cx="288032" cy="288032"/>
          </a:xfrm>
          <a:prstGeom prst="mathMultiply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28596" y="228600"/>
            <a:ext cx="8501122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2400" b="1" dirty="0">
                <a:latin typeface="Times New Roman" pitchFamily="18" charset="0"/>
                <a:cs typeface="Times New Roman" pitchFamily="18" charset="0"/>
              </a:rPr>
              <a:t>SHA-3 хэш-функция алгоритми 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81000" y="1196975"/>
            <a:ext cx="8534400" cy="5508625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Кирувчи М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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V</a:t>
            </a:r>
            <a:r>
              <a:rPr lang="uz-Cyrl-UZ" baseline="30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маълумот узунлиги   |M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|=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бит бўлган n -та блокка ажратилади. M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={M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0,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… M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M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i+1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…M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};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бу ерда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чиқувчи хэш қийматга мос равишда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SHA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-512 учун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=576 ,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=1024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SHA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224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учун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115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 ва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448,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SHA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256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учун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1088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ва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512,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SHA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384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учун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832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ва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768) қилиб олинади.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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V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1600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кирувчи маълумот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га каррали қилиб қуйидагича тўлдирилади.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M=M||0x01||0x00||..||0x00||0x80    (агар фақат битта байт етмаётан бўлса 0x81 қўшилади)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  маълумотни узунлиги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бит бўлган М</a:t>
            </a:r>
            <a:r>
              <a:rPr lang="uz-Cyrl-UZ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ларга ажратиб улар устида амаллар бажарилади.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Губка приципига кўра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 (S =S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||S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нинг бошланғич холати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0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га тенг,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||(S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xor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М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амали бажарилиб 24 раундли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функциядан ўтади ва ушбу жараён М</a:t>
            </a:r>
            <a:r>
              <a:rPr lang="en-US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блок тугагунга қадар давом этади.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Чиқишда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нинг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ω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бити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Z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чиқишга  берилади ва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яна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функциядан ўтади,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Z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хэш қиймат  керакли узунликкача конкетенация қилиб йиғиб борилади.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Keccak 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алглритми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функцияси узунлиги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b={f-25, f-50, f-100, f-200, f-400, f-800, f-1600}(b=r+c)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бит бўлган маълумотлар устида амаллар бажариши мумкин.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ω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нинг қиймати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функци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яга кирувчи бит узунлигига мос равишда 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ω= {1,2,4,8,16,32,64}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Масалан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f-1600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учун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ω=64 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бит.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1976</TotalTime>
  <Words>1537</Words>
  <Application>Microsoft Office PowerPoint</Application>
  <PresentationFormat>Экран (4:3)</PresentationFormat>
  <Paragraphs>719</Paragraphs>
  <Slides>14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Администратор</dc:creator>
  <cp:lastModifiedBy>Microsoft Office</cp:lastModifiedBy>
  <cp:revision>128</cp:revision>
  <dcterms:created xsi:type="dcterms:W3CDTF">2013-10-19T13:59:30Z</dcterms:created>
  <dcterms:modified xsi:type="dcterms:W3CDTF">2019-08-21T09:27:04Z</dcterms:modified>
</cp:coreProperties>
</file>