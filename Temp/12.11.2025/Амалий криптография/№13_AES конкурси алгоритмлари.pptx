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59"/>
  </p:notesMasterIdLst>
  <p:handoutMasterIdLst>
    <p:handoutMasterId r:id="rId60"/>
  </p:handout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82" r:id="rId17"/>
    <p:sldId id="284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5" r:id="rId35"/>
    <p:sldId id="306" r:id="rId36"/>
    <p:sldId id="307" r:id="rId37"/>
    <p:sldId id="308" r:id="rId38"/>
    <p:sldId id="309" r:id="rId39"/>
    <p:sldId id="310" r:id="rId40"/>
    <p:sldId id="311" r:id="rId41"/>
    <p:sldId id="312" r:id="rId42"/>
    <p:sldId id="313" r:id="rId43"/>
    <p:sldId id="314" r:id="rId44"/>
    <p:sldId id="315" r:id="rId45"/>
    <p:sldId id="316" r:id="rId46"/>
    <p:sldId id="317" r:id="rId47"/>
    <p:sldId id="318" r:id="rId48"/>
    <p:sldId id="319" r:id="rId49"/>
    <p:sldId id="320" r:id="rId50"/>
    <p:sldId id="273" r:id="rId51"/>
    <p:sldId id="275" r:id="rId52"/>
    <p:sldId id="276" r:id="rId53"/>
    <p:sldId id="277" r:id="rId54"/>
    <p:sldId id="278" r:id="rId55"/>
    <p:sldId id="279" r:id="rId56"/>
    <p:sldId id="280" r:id="rId57"/>
    <p:sldId id="281" r:id="rId58"/>
  </p:sldIdLst>
  <p:sldSz cx="9144000" cy="6858000" type="screen4x3"/>
  <p:notesSz cx="6742113" cy="9872663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000099"/>
    <a:srgbClr val="99CCFF"/>
    <a:srgbClr val="CCCCFF"/>
    <a:srgbClr val="CCFFFF"/>
    <a:srgbClr val="CCECFF"/>
    <a:srgbClr val="FFCCCC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1" autoAdjust="0"/>
    <p:restoredTop sz="97876" autoAdjust="0"/>
  </p:normalViewPr>
  <p:slideViewPr>
    <p:cSldViewPr>
      <p:cViewPr varScale="1">
        <p:scale>
          <a:sx n="111" d="100"/>
          <a:sy n="111" d="100"/>
        </p:scale>
        <p:origin x="-1530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42" y="-102"/>
      </p:cViewPr>
      <p:guideLst>
        <p:guide orient="horz" pos="3110"/>
        <p:guide pos="212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9525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CF82867-9CB6-434D-A9DC-AFC499DB3109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9525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3E1A956-F2A4-4FBA-825F-D414EEB5DBC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02473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9525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1A951A8-86CA-4687-B36D-679AE97F3899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8713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4688" y="4689475"/>
            <a:ext cx="5392737" cy="4443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ru-RU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9525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D5E8029-9056-461A-9CA3-742553B0856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89212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uz-Cyrl-UZ" altLang="uz-Cyrl-UZ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BFDFAA0E-7A8A-4DB5-BB36-DE70A4A0E1C1}" type="slidenum">
              <a:rPr lang="ru-RU" altLang="uz-Cyrl-UZ" smtClean="0"/>
              <a:pPr eaLnBrk="1" hangingPunct="1"/>
              <a:t>1</a:t>
            </a:fld>
            <a:endParaRPr lang="ru-RU" altLang="uz-Cyrl-U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8AFDD3-5759-4B52-A1B5-A823F1E2EEE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138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8AFDD3-5759-4B52-A1B5-A823F1E2EEE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4207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8AFDD3-5759-4B52-A1B5-A823F1E2EEE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379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8AFDD3-5759-4B52-A1B5-A823F1E2EEE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587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8AFDD3-5759-4B52-A1B5-A823F1E2EEE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5313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8AFDD3-5759-4B52-A1B5-A823F1E2EEE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28448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8AFDD3-5759-4B52-A1B5-A823F1E2EEE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24415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8AFDD3-5759-4B52-A1B5-A823F1E2EEE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73973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8AFDD3-5759-4B52-A1B5-A823F1E2EEE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53549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8AFDD3-5759-4B52-A1B5-A823F1E2EEE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3949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8AFDD3-5759-4B52-A1B5-A823F1E2EEE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315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8AFDD3-5759-4B52-A1B5-A823F1E2EEE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92492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8AFDD3-5759-4B52-A1B5-A823F1E2EEE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12879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8AFDD3-5759-4B52-A1B5-A823F1E2EEE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5579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9EF66-3ED6-418E-B9C0-2EA17D531DD6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161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uz-Cyrl-UZ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72BCD9-8978-49A8-9240-BE14F5CBDAA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046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DFA3AD-D913-4F02-9FA0-6AD9F09A0C7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3157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70C266-C65D-452C-BEB8-2F6FBE03910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5710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3FB4CB-296D-4F16-A256-D686426AA30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494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CF6EE-B5B6-4417-BFDE-6BE4EAFFA39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184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F9BC79-2BA5-4865-A5DB-3A904A88415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739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BAF909-4F27-4697-9F3C-A67A5DE70EE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30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AE4B84-19B9-4F73-8252-909715F5763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9767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341CAA-68F3-4072-8A04-1A988D99F6C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798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A17499-B7AC-4E7B-8A94-B35D988B713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4105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1EDA5A-5384-4B56-9C80-D61437454DB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5920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uz-Cyrl-UZ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uz-Cyrl-UZ" smtClean="0"/>
              <a:t>Образец текста</a:t>
            </a:r>
          </a:p>
          <a:p>
            <a:pPr lvl="1"/>
            <a:r>
              <a:rPr lang="ru-RU" altLang="uz-Cyrl-UZ" smtClean="0"/>
              <a:t>Второй уровень</a:t>
            </a:r>
          </a:p>
          <a:p>
            <a:pPr lvl="2"/>
            <a:r>
              <a:rPr lang="ru-RU" altLang="uz-Cyrl-UZ" smtClean="0"/>
              <a:t>Третий уровень</a:t>
            </a:r>
          </a:p>
          <a:p>
            <a:pPr lvl="3"/>
            <a:r>
              <a:rPr lang="ru-RU" altLang="uz-Cyrl-UZ" smtClean="0"/>
              <a:t>Четвертый уровень</a:t>
            </a:r>
          </a:p>
          <a:p>
            <a:pPr lvl="4"/>
            <a:r>
              <a:rPr lang="ru-RU" altLang="uz-Cyrl-UZ" smtClean="0"/>
              <a:t>Пятый уровень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uz-Cyrl-UZ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25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77FBA2A-C8FF-425B-BD85-0E2159E6B3C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2" r:id="rId1"/>
    <p:sldLayoutId id="2147484012" r:id="rId2"/>
    <p:sldLayoutId id="2147484013" r:id="rId3"/>
    <p:sldLayoutId id="2147484014" r:id="rId4"/>
    <p:sldLayoutId id="2147484015" r:id="rId5"/>
    <p:sldLayoutId id="2147484016" r:id="rId6"/>
    <p:sldLayoutId id="2147484017" r:id="rId7"/>
    <p:sldLayoutId id="2147484018" r:id="rId8"/>
    <p:sldLayoutId id="2147484019" r:id="rId9"/>
    <p:sldLayoutId id="2147484020" r:id="rId10"/>
    <p:sldLayoutId id="2147484021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9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5.png"/><Relationship Id="rId5" Type="http://schemas.openxmlformats.org/officeDocument/2006/relationships/image" Target="../media/image50.png"/><Relationship Id="rId10" Type="http://schemas.openxmlformats.org/officeDocument/2006/relationships/image" Target="../media/image54.png"/><Relationship Id="rId4" Type="http://schemas.openxmlformats.org/officeDocument/2006/relationships/image" Target="../media/image49.png"/><Relationship Id="rId9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tif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tif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tif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tiff"/><Relationship Id="rId4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tif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tiff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tif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58.tif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tiff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tiff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tiff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tif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tiff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tiff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tiff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tiff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tiff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tif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214282" y="214290"/>
            <a:ext cx="8721900" cy="6429420"/>
          </a:xfrm>
          <a:prstGeom prst="flowChartProcess">
            <a:avLst/>
          </a:prstGeom>
          <a:noFill/>
          <a:ln w="57150">
            <a:solidFill>
              <a:srgbClr val="002060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2309" name="Text Box 21"/>
          <p:cNvSpPr txBox="1">
            <a:spLocks noChangeArrowheads="1"/>
          </p:cNvSpPr>
          <p:nvPr/>
        </p:nvSpPr>
        <p:spPr bwMode="auto">
          <a:xfrm>
            <a:off x="538163" y="581025"/>
            <a:ext cx="8086725" cy="4302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2200" b="1" dirty="0" err="1">
                <a:solidFill>
                  <a:srgbClr val="800000"/>
                </a:solidFill>
                <a:latin typeface="Times New Roman" pitchFamily="18" charset="0"/>
              </a:rPr>
              <a:t>Радиоэлектрон</a:t>
            </a:r>
            <a:r>
              <a:rPr lang="ru-RU" sz="2200" b="1" dirty="0">
                <a:solidFill>
                  <a:srgbClr val="800000"/>
                </a:solidFill>
                <a:latin typeface="Times New Roman" pitchFamily="18" charset="0"/>
              </a:rPr>
              <a:t> </a:t>
            </a:r>
            <a:r>
              <a:rPr lang="ru-RU" sz="2200" b="1" dirty="0" err="1">
                <a:solidFill>
                  <a:srgbClr val="800000"/>
                </a:solidFill>
                <a:latin typeface="Times New Roman" pitchFamily="18" charset="0"/>
              </a:rPr>
              <a:t>тизимлар</a:t>
            </a:r>
            <a:r>
              <a:rPr lang="ru-RU" sz="2200" b="1" dirty="0">
                <a:solidFill>
                  <a:srgbClr val="800000"/>
                </a:solidFill>
                <a:latin typeface="Times New Roman" pitchFamily="18" charset="0"/>
              </a:rPr>
              <a:t> </a:t>
            </a:r>
            <a:r>
              <a:rPr lang="ru-RU" sz="2200" b="1" dirty="0" err="1">
                <a:solidFill>
                  <a:srgbClr val="800000"/>
                </a:solidFill>
                <a:latin typeface="Times New Roman" pitchFamily="18" charset="0"/>
              </a:rPr>
              <a:t>ва</a:t>
            </a:r>
            <a:r>
              <a:rPr lang="ru-RU" sz="2200" b="1" dirty="0">
                <a:solidFill>
                  <a:srgbClr val="800000"/>
                </a:solidFill>
                <a:latin typeface="Times New Roman" pitchFamily="18" charset="0"/>
              </a:rPr>
              <a:t> а</a:t>
            </a:r>
            <a:r>
              <a:rPr lang="uz-Cyrl-UZ" sz="2200" b="1" dirty="0">
                <a:solidFill>
                  <a:srgbClr val="800000"/>
                </a:solidFill>
                <a:latin typeface="Times New Roman" pitchFamily="18" charset="0"/>
              </a:rPr>
              <a:t>хборот технологиялари маркази</a:t>
            </a:r>
            <a:endParaRPr lang="ru-RU" sz="2200" b="1" dirty="0">
              <a:solidFill>
                <a:srgbClr val="800000"/>
              </a:solidFill>
              <a:latin typeface="Times New Roman" pitchFamily="18" charset="0"/>
            </a:endParaRPr>
          </a:p>
        </p:txBody>
      </p:sp>
      <p:sp>
        <p:nvSpPr>
          <p:cNvPr id="12310" name="Text Box 22"/>
          <p:cNvSpPr txBox="1">
            <a:spLocks noChangeArrowheads="1"/>
          </p:cNvSpPr>
          <p:nvPr/>
        </p:nvSpPr>
        <p:spPr bwMode="auto">
          <a:xfrm>
            <a:off x="3487738" y="6148388"/>
            <a:ext cx="19446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uz-Cyrl-UZ" sz="2000" b="1" dirty="0">
                <a:latin typeface="Times New Roman" pitchFamily="18" charset="0"/>
              </a:rPr>
              <a:t>Тошкент - </a:t>
            </a:r>
            <a:r>
              <a:rPr lang="uz-Cyrl-UZ" sz="2000" b="1" dirty="0" smtClean="0">
                <a:latin typeface="Times New Roman" pitchFamily="18" charset="0"/>
              </a:rPr>
              <a:t>201</a:t>
            </a:r>
            <a:r>
              <a:rPr lang="en-US" sz="2000" b="1" dirty="0" smtClean="0">
                <a:latin typeface="Times New Roman" pitchFamily="18" charset="0"/>
              </a:rPr>
              <a:t>9</a:t>
            </a:r>
            <a:endParaRPr lang="ru-RU" sz="2000" b="1" dirty="0">
              <a:latin typeface="Times New Roman" pitchFamily="18" charset="0"/>
            </a:endParaRPr>
          </a:p>
        </p:txBody>
      </p:sp>
      <p:sp>
        <p:nvSpPr>
          <p:cNvPr id="12311" name="Rectangle 23"/>
          <p:cNvSpPr>
            <a:spLocks noChangeArrowheads="1"/>
          </p:cNvSpPr>
          <p:nvPr/>
        </p:nvSpPr>
        <p:spPr bwMode="auto">
          <a:xfrm>
            <a:off x="1036638" y="1774895"/>
            <a:ext cx="6931025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anchor="ctr">
            <a:spAutoFit/>
          </a:bodyPr>
          <a:lstStyle/>
          <a:p>
            <a:pPr algn="ctr" eaLnBrk="0" hangingPunct="0">
              <a:defRPr/>
            </a:pPr>
            <a:r>
              <a:rPr lang="en-US" sz="4000" b="1" dirty="0">
                <a:solidFill>
                  <a:srgbClr val="000099"/>
                </a:solidFill>
                <a:latin typeface="Times New Roman" pitchFamily="18" charset="0"/>
              </a:rPr>
              <a:t>AES </a:t>
            </a:r>
            <a:r>
              <a:rPr lang="uz-Cyrl-UZ" sz="4000" b="1" dirty="0">
                <a:solidFill>
                  <a:srgbClr val="000099"/>
                </a:solidFill>
                <a:latin typeface="Times New Roman" pitchFamily="18" charset="0"/>
              </a:rPr>
              <a:t>конкурсида иштирок этган шифрлаш алгоритмлари. </a:t>
            </a:r>
            <a:endParaRPr lang="en-US" sz="4000" b="1" dirty="0" smtClean="0">
              <a:solidFill>
                <a:srgbClr val="000099"/>
              </a:solidFill>
              <a:latin typeface="Times New Roman" pitchFamily="18" charset="0"/>
            </a:endParaRPr>
          </a:p>
          <a:p>
            <a:pPr algn="ctr" eaLnBrk="0" hangingPunct="0">
              <a:defRPr/>
            </a:pPr>
            <a:r>
              <a:rPr lang="en-US" sz="4000" b="1" dirty="0" smtClean="0">
                <a:solidFill>
                  <a:srgbClr val="000099"/>
                </a:solidFill>
                <a:latin typeface="Times New Roman" pitchFamily="18" charset="0"/>
              </a:rPr>
              <a:t>MARS</a:t>
            </a:r>
            <a:r>
              <a:rPr lang="en-US" sz="4000" b="1" dirty="0">
                <a:solidFill>
                  <a:srgbClr val="000099"/>
                </a:solidFill>
                <a:latin typeface="Times New Roman" pitchFamily="18" charset="0"/>
              </a:rPr>
              <a:t>, RC6, SERPENT </a:t>
            </a:r>
            <a:r>
              <a:rPr lang="uz-Cyrl-UZ" sz="4000" b="1" dirty="0">
                <a:solidFill>
                  <a:srgbClr val="000099"/>
                </a:solidFill>
                <a:latin typeface="Times New Roman" pitchFamily="18" charset="0"/>
              </a:rPr>
              <a:t>ва бошқа алгоритмлар.</a:t>
            </a:r>
            <a:endParaRPr lang="uz-Cyrl-UZ" sz="2600" dirty="0">
              <a:latin typeface="Times New Roman" pitchFamily="18" charset="0"/>
            </a:endParaRPr>
          </a:p>
        </p:txBody>
      </p:sp>
      <p:sp>
        <p:nvSpPr>
          <p:cNvPr id="3080" name="Text Box 25"/>
          <p:cNvSpPr txBox="1">
            <a:spLocks noChangeArrowheads="1"/>
          </p:cNvSpPr>
          <p:nvPr/>
        </p:nvSpPr>
        <p:spPr bwMode="auto">
          <a:xfrm>
            <a:off x="2881313" y="1052513"/>
            <a:ext cx="3346450" cy="46196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737373">
                <a:alpha val="50000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/>
            <a:r>
              <a:rPr lang="uz-Cyrl-UZ" altLang="uz-Cyrl-UZ" sz="2400" b="1" i="1" u="sng" dirty="0">
                <a:latin typeface="Times New Roman" pitchFamily="18" charset="0"/>
              </a:rPr>
              <a:t>Амалий криптография</a:t>
            </a:r>
            <a:endParaRPr lang="ru-RU" altLang="uz-Cyrl-UZ" sz="2400" b="1" i="1" u="sng" dirty="0"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Kartika" panose="02020503030404060203" pitchFamily="18" charset="0"/>
                <a:cs typeface="Kartika" panose="02020503030404060203" pitchFamily="18" charset="0"/>
              </a:rPr>
              <a:t>MARS </a:t>
            </a:r>
            <a:r>
              <a:rPr lang="en-US" b="1" dirty="0" smtClean="0">
                <a:latin typeface="Kartika" panose="02020503030404060203" pitchFamily="18" charset="0"/>
                <a:cs typeface="Kartika" panose="02020503030404060203" pitchFamily="18" charset="0"/>
              </a:rPr>
              <a:t/>
            </a:r>
            <a:br>
              <a:rPr lang="en-US" b="1" dirty="0" smtClean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b="1" dirty="0" err="1" smtClean="0">
                <a:latin typeface="Kartika" panose="02020503030404060203" pitchFamily="18" charset="0"/>
                <a:cs typeface="Kartika" panose="02020503030404060203" pitchFamily="18" charset="0"/>
              </a:rPr>
              <a:t>shifrlash</a:t>
            </a:r>
            <a:r>
              <a:rPr lang="en-US" b="1" dirty="0" smtClean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b="1" dirty="0" err="1" smtClean="0">
                <a:latin typeface="Kartika" panose="02020503030404060203" pitchFamily="18" charset="0"/>
                <a:cs typeface="Kartika" panose="02020503030404060203" pitchFamily="18" charset="0"/>
              </a:rPr>
              <a:t>algoritmi</a:t>
            </a:r>
            <a:endParaRPr lang="ru-RU" b="1" dirty="0"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795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947453"/>
            <a:ext cx="7886700" cy="522951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MARS </a:t>
            </a:r>
            <a:r>
              <a:rPr lang="en-US" dirty="0" err="1" smtClean="0"/>
              <a:t>blokli</a:t>
            </a:r>
            <a:r>
              <a:rPr lang="en-US" dirty="0" smtClean="0"/>
              <a:t> </a:t>
            </a:r>
            <a:r>
              <a:rPr lang="en-US" dirty="0" err="1" smtClean="0"/>
              <a:t>simmetrik</a:t>
            </a:r>
            <a:r>
              <a:rPr lang="en-US" dirty="0" smtClean="0"/>
              <a:t> </a:t>
            </a:r>
            <a:r>
              <a:rPr lang="en-US" dirty="0" err="1" smtClean="0"/>
              <a:t>shifrlash</a:t>
            </a:r>
            <a:r>
              <a:rPr lang="en-US" dirty="0" smtClean="0"/>
              <a:t> </a:t>
            </a:r>
            <a:r>
              <a:rPr lang="en-US" dirty="0" err="1" smtClean="0"/>
              <a:t>algoritmi</a:t>
            </a:r>
            <a:r>
              <a:rPr lang="en-US" dirty="0" smtClean="0"/>
              <a:t> 1998-yil IBM </a:t>
            </a:r>
            <a:r>
              <a:rPr lang="en-US" dirty="0" err="1" smtClean="0"/>
              <a:t>korporatsiyasining</a:t>
            </a:r>
            <a:r>
              <a:rPr lang="en-US" dirty="0" smtClean="0"/>
              <a:t>  </a:t>
            </a:r>
            <a:r>
              <a:rPr lang="en-US" dirty="0" err="1" smtClean="0"/>
              <a:t>kriptologi</a:t>
            </a:r>
            <a:r>
              <a:rPr lang="en-US" dirty="0" smtClean="0"/>
              <a:t>, DES </a:t>
            </a:r>
            <a:r>
              <a:rPr lang="en-US" dirty="0" err="1" smtClean="0"/>
              <a:t>algoritmi</a:t>
            </a:r>
            <a:r>
              <a:rPr lang="en-US" dirty="0" smtClean="0"/>
              <a:t> </a:t>
            </a:r>
            <a:r>
              <a:rPr lang="en-US" dirty="0" err="1" smtClean="0"/>
              <a:t>muallifi</a:t>
            </a:r>
            <a:r>
              <a:rPr lang="en-US" dirty="0" smtClean="0"/>
              <a:t>  </a:t>
            </a:r>
            <a:r>
              <a:rPr lang="en-US" dirty="0" smtClean="0">
                <a:solidFill>
                  <a:srgbClr val="C00000"/>
                </a:solidFill>
              </a:rPr>
              <a:t>Don </a:t>
            </a:r>
            <a:r>
              <a:rPr lang="en-US" dirty="0" err="1" smtClean="0">
                <a:solidFill>
                  <a:srgbClr val="C00000"/>
                </a:solidFill>
              </a:rPr>
              <a:t>Koppersmit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/>
              <a:t>tomonidan</a:t>
            </a:r>
            <a:r>
              <a:rPr lang="en-US" dirty="0" smtClean="0"/>
              <a:t> </a:t>
            </a:r>
            <a:r>
              <a:rPr lang="en-US" dirty="0" err="1" smtClean="0"/>
              <a:t>yaratilgan</a:t>
            </a:r>
            <a:r>
              <a:rPr lang="en-US" dirty="0" smtClean="0"/>
              <a:t>. </a:t>
            </a:r>
          </a:p>
          <a:p>
            <a:pPr marL="0" indent="0">
              <a:buNone/>
            </a:pPr>
            <a:r>
              <a:rPr lang="en-US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Raundlar</a:t>
            </a:r>
            <a:r>
              <a:rPr lang="en-US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soni</a:t>
            </a:r>
            <a:r>
              <a:rPr lang="en-US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smtClean="0"/>
              <a:t>– 32 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Blok </a:t>
            </a:r>
            <a:r>
              <a:rPr lang="en-US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uzunligi</a:t>
            </a:r>
            <a:r>
              <a:rPr lang="en-US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smtClean="0"/>
              <a:t>– 128 bit</a:t>
            </a:r>
          </a:p>
          <a:p>
            <a:pPr marL="0" indent="0">
              <a:buNone/>
            </a:pPr>
            <a:r>
              <a:rPr lang="en-US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Kalit</a:t>
            </a:r>
            <a:r>
              <a:rPr lang="en-US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uzunligi</a:t>
            </a:r>
            <a:r>
              <a:rPr lang="en-US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smtClean="0"/>
              <a:t>– 128 </a:t>
            </a:r>
            <a:r>
              <a:rPr lang="en-US" dirty="0"/>
              <a:t>-</a:t>
            </a:r>
            <a:r>
              <a:rPr lang="en-US" dirty="0" smtClean="0"/>
              <a:t> 448 bit, </a:t>
            </a:r>
            <a:r>
              <a:rPr lang="en-US" dirty="0" err="1" smtClean="0"/>
              <a:t>length|k</a:t>
            </a:r>
            <a:r>
              <a:rPr lang="en-US" dirty="0" smtClean="0"/>
              <a:t>|=n*32, n=[4,14]</a:t>
            </a:r>
          </a:p>
          <a:p>
            <a:pPr marL="0" indent="0">
              <a:buNone/>
            </a:pPr>
            <a:r>
              <a:rPr lang="en-US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Feystel</a:t>
            </a:r>
            <a:r>
              <a:rPr lang="en-US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tarmog’iga</a:t>
            </a:r>
            <a:r>
              <a:rPr lang="en-US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asoslangan</a:t>
            </a:r>
            <a:r>
              <a:rPr lang="en-US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ru-RU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27443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0363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Algoritmda</a:t>
            </a:r>
            <a:r>
              <a:rPr lang="en-US" dirty="0"/>
              <a:t> </a:t>
            </a:r>
            <a:r>
              <a:rPr lang="en-US" dirty="0" err="1"/>
              <a:t>ishlatiladigan</a:t>
            </a:r>
            <a:r>
              <a:rPr lang="en-US" dirty="0"/>
              <a:t> </a:t>
            </a:r>
            <a:r>
              <a:rPr lang="en-US" dirty="0" err="1"/>
              <a:t>funksiyalar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56823"/>
                <a:ext cx="7886700" cy="5240529"/>
              </a:xfrm>
            </p:spPr>
            <p:txBody>
              <a:bodyPr/>
              <a:lstStyle/>
              <a:p>
                <a:r>
                  <a:rPr lang="en-US" dirty="0" err="1" smtClean="0"/>
                  <a:t>Oddiy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amallar</a:t>
                </a:r>
                <a:r>
                  <a:rPr lang="ru-RU" dirty="0" smtClean="0"/>
                  <a:t>(</a:t>
                </a:r>
                <a:r>
                  <a:rPr lang="en-US" dirty="0" err="1" smtClean="0"/>
                  <a:t>qo’shish</a:t>
                </a:r>
                <a:r>
                  <a:rPr lang="ru-RU" dirty="0" smtClean="0"/>
                  <a:t>, </a:t>
                </a:r>
                <a:r>
                  <a:rPr lang="en-US" dirty="0" err="1" smtClean="0"/>
                  <a:t>ayirish</a:t>
                </a:r>
                <a:r>
                  <a:rPr lang="ru-RU" dirty="0" smtClean="0"/>
                  <a:t>,</a:t>
                </a:r>
                <a:r>
                  <a:rPr lang="en-US" dirty="0" smtClean="0"/>
                  <a:t>XOR</a:t>
                </a:r>
                <a:r>
                  <a:rPr lang="ru-RU" dirty="0" smtClean="0"/>
                  <a:t>)</a:t>
                </a:r>
                <a:endParaRPr lang="ru-RU" dirty="0"/>
              </a:p>
              <a:p>
                <a:r>
                  <a:rPr lang="en-US" dirty="0" err="1" smtClean="0"/>
                  <a:t>O’rniga</a:t>
                </a:r>
                <a:r>
                  <a:rPr lang="en-US" dirty="0"/>
                  <a:t> </a:t>
                </a:r>
                <a:r>
                  <a:rPr lang="en-US" dirty="0" err="1" smtClean="0"/>
                  <a:t>qo’yish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jadvalidan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foydalanish</a:t>
                </a:r>
                <a:r>
                  <a:rPr lang="en-US" dirty="0" smtClean="0"/>
                  <a:t>(S-</a:t>
                </a:r>
                <a:r>
                  <a:rPr lang="en-US" dirty="0" err="1" smtClean="0"/>
                  <a:t>blok</a:t>
                </a:r>
                <a:r>
                  <a:rPr lang="en-US" dirty="0" smtClean="0"/>
                  <a:t>)</a:t>
                </a:r>
                <a:endParaRPr lang="ru-RU" dirty="0"/>
              </a:p>
              <a:p>
                <a:r>
                  <a:rPr lang="en-US" dirty="0" err="1" smtClean="0"/>
                  <a:t>Fiksrlangan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siklik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surish</a:t>
                </a:r>
                <a:endParaRPr lang="en-US" dirty="0" smtClean="0"/>
              </a:p>
              <a:p>
                <a:r>
                  <a:rPr lang="en-US" dirty="0" err="1"/>
                  <a:t>ma’lumotlariga</a:t>
                </a:r>
                <a:r>
                  <a:rPr lang="en-US" dirty="0"/>
                  <a:t> </a:t>
                </a:r>
                <a:r>
                  <a:rPr lang="en-US" dirty="0" err="1" smtClean="0"/>
                  <a:t>bog’liq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holda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Siklik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surish</a:t>
                </a:r>
                <a:endParaRPr lang="ru-R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ru-RU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dirty="0" smtClean="0">
                        <a:effectLst/>
                        <a:latin typeface="Cambria Math" panose="02040503050406030204" pitchFamily="18" charset="0"/>
                      </a:rPr>
                      <m:t>modul</m:t>
                    </m:r>
                    <m:r>
                      <a:rPr lang="en-US" b="0" i="0" dirty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dirty="0" smtClean="0">
                        <a:effectLst/>
                        <a:latin typeface="Cambria Math" panose="02040503050406030204" pitchFamily="18" charset="0"/>
                      </a:rPr>
                      <m:t>b</m:t>
                    </m:r>
                    <m:sSup>
                      <m:sSupPr>
                        <m:ctrlPr>
                          <a:rPr lang="en-US" i="1" dirty="0" smtClean="0">
                            <a:effectLst/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effectLst/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p>
                        <m:r>
                          <a:rPr lang="en-US" b="0" i="0" dirty="0" smtClean="0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US" b="0" i="0" dirty="0" smtClean="0">
                        <a:effectLst/>
                        <a:latin typeface="Cambria Math" panose="02040503050406030204" pitchFamily="18" charset="0"/>
                      </a:rPr>
                      <m:t>yicha</m:t>
                    </m:r>
                    <m:r>
                      <a:rPr lang="en-US" b="0" i="0" dirty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dirty="0" smtClean="0">
                        <a:effectLst/>
                        <a:latin typeface="Cambria Math" panose="02040503050406030204" pitchFamily="18" charset="0"/>
                      </a:rPr>
                      <m:t>k</m:t>
                    </m:r>
                    <m:sSup>
                      <m:sSupPr>
                        <m:ctrlPr>
                          <a:rPr lang="en-US" i="1" dirty="0" smtClean="0">
                            <a:effectLst/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effectLst/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p>
                        <m:r>
                          <a:rPr lang="en-US" b="0" i="0" dirty="0" smtClean="0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US" b="0" i="0" dirty="0" smtClean="0">
                        <a:effectLst/>
                        <a:latin typeface="Cambria Math" panose="02040503050406030204" pitchFamily="18" charset="0"/>
                      </a:rPr>
                      <m:t>paytirish</m:t>
                    </m:r>
                  </m:oMath>
                </a14:m>
                <a:endParaRPr lang="ru-RU" dirty="0">
                  <a:effectLst/>
                </a:endParaRPr>
              </a:p>
              <a:p>
                <a:r>
                  <a:rPr lang="en-US" dirty="0" err="1" smtClean="0"/>
                  <a:t>Kalit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qo’shish</a:t>
                </a: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56823"/>
                <a:ext cx="7886700" cy="5240529"/>
              </a:xfrm>
              <a:blipFill rotWithShape="1">
                <a:blip r:embed="rId3"/>
                <a:stretch>
                  <a:fillRect l="-1546" t="-1513"/>
                </a:stretch>
              </a:blipFill>
            </p:spPr>
            <p:txBody>
              <a:bodyPr/>
              <a:lstStyle/>
              <a:p>
                <a:r>
                  <a:rPr lang="uz-Cyrl-U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131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242372"/>
            <a:ext cx="7886700" cy="50677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Shifrlash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53598" y="760166"/>
            <a:ext cx="7271136" cy="39660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128 bit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53598" y="1459737"/>
            <a:ext cx="1817784" cy="38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371382" y="1459737"/>
            <a:ext cx="1817784" cy="38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189166" y="1459737"/>
            <a:ext cx="1817784" cy="38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6006950" y="1459737"/>
            <a:ext cx="1817784" cy="38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553598" y="1459737"/>
            <a:ext cx="1817784" cy="38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32 bit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2371382" y="1459737"/>
            <a:ext cx="1817784" cy="38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32 bit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4189166" y="1459737"/>
            <a:ext cx="1817784" cy="38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32 bit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6006950" y="1459737"/>
            <a:ext cx="1817784" cy="38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32 bit</a:t>
            </a:r>
            <a:endParaRPr lang="ru-RU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1288974" y="2093205"/>
            <a:ext cx="347031" cy="4296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ru-RU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3106758" y="2093205"/>
            <a:ext cx="347031" cy="4296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ru-RU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4924542" y="2093205"/>
            <a:ext cx="347031" cy="4296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ru-RU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6742326" y="2093205"/>
            <a:ext cx="347031" cy="4296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ru-RU" dirty="0"/>
          </a:p>
        </p:txBody>
      </p:sp>
      <p:cxnSp>
        <p:nvCxnSpPr>
          <p:cNvPr id="23" name="Прямая со стрелкой 22"/>
          <p:cNvCxnSpPr>
            <a:stCxn id="14" idx="2"/>
            <a:endCxn id="18" idx="0"/>
          </p:cNvCxnSpPr>
          <p:nvPr/>
        </p:nvCxnSpPr>
        <p:spPr>
          <a:xfrm>
            <a:off x="1462490" y="1845327"/>
            <a:ext cx="0" cy="247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>
            <a:stCxn id="15" idx="2"/>
            <a:endCxn id="19" idx="0"/>
          </p:cNvCxnSpPr>
          <p:nvPr/>
        </p:nvCxnSpPr>
        <p:spPr>
          <a:xfrm>
            <a:off x="3280274" y="1845327"/>
            <a:ext cx="0" cy="247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>
            <a:stCxn id="16" idx="2"/>
            <a:endCxn id="20" idx="0"/>
          </p:cNvCxnSpPr>
          <p:nvPr/>
        </p:nvCxnSpPr>
        <p:spPr>
          <a:xfrm>
            <a:off x="5098058" y="1845327"/>
            <a:ext cx="0" cy="247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>
            <a:stCxn id="17" idx="2"/>
            <a:endCxn id="21" idx="0"/>
          </p:cNvCxnSpPr>
          <p:nvPr/>
        </p:nvCxnSpPr>
        <p:spPr>
          <a:xfrm>
            <a:off x="6915842" y="1845327"/>
            <a:ext cx="0" cy="247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endCxn id="21" idx="1"/>
          </p:cNvCxnSpPr>
          <p:nvPr/>
        </p:nvCxnSpPr>
        <p:spPr>
          <a:xfrm>
            <a:off x="6519231" y="2308034"/>
            <a:ext cx="223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endCxn id="20" idx="1"/>
          </p:cNvCxnSpPr>
          <p:nvPr/>
        </p:nvCxnSpPr>
        <p:spPr>
          <a:xfrm>
            <a:off x="4726236" y="2308034"/>
            <a:ext cx="1983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19" idx="1"/>
          </p:cNvCxnSpPr>
          <p:nvPr/>
        </p:nvCxnSpPr>
        <p:spPr>
          <a:xfrm>
            <a:off x="2891928" y="2308034"/>
            <a:ext cx="2148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>
            <a:endCxn id="18" idx="1"/>
          </p:cNvCxnSpPr>
          <p:nvPr/>
        </p:nvCxnSpPr>
        <p:spPr>
          <a:xfrm>
            <a:off x="1074145" y="2308034"/>
            <a:ext cx="2148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Прямоугольник 41"/>
              <p:cNvSpPr/>
              <p:nvPr/>
            </p:nvSpPr>
            <p:spPr>
              <a:xfrm>
                <a:off x="5932583" y="2109731"/>
                <a:ext cx="586649" cy="42965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[32]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2" name="Прямоугольник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0111" y="2109731"/>
                <a:ext cx="782198" cy="429658"/>
              </a:xfrm>
              <a:prstGeom prst="rect">
                <a:avLst/>
              </a:prstGeom>
              <a:blipFill rotWithShape="0">
                <a:blip r:embed="rId3"/>
                <a:stretch>
                  <a:fillRect l="-4615" r="-2308" b="-41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Прямоугольник 42"/>
              <p:cNvSpPr/>
              <p:nvPr/>
            </p:nvSpPr>
            <p:spPr>
              <a:xfrm>
                <a:off x="4139587" y="2093205"/>
                <a:ext cx="586649" cy="42965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[32]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3" name="Прямоугольник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449" y="2093205"/>
                <a:ext cx="782198" cy="429658"/>
              </a:xfrm>
              <a:prstGeom prst="rect">
                <a:avLst/>
              </a:prstGeom>
              <a:blipFill rotWithShape="0">
                <a:blip r:embed="rId4"/>
                <a:stretch>
                  <a:fillRect l="-3817" r="-1527" b="-54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Прямоугольник 43"/>
              <p:cNvSpPr/>
              <p:nvPr/>
            </p:nvSpPr>
            <p:spPr>
              <a:xfrm>
                <a:off x="2305279" y="2109731"/>
                <a:ext cx="586649" cy="42965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[32]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4" name="Прямоугольник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3705" y="2109731"/>
                <a:ext cx="782198" cy="429658"/>
              </a:xfrm>
              <a:prstGeom prst="rect">
                <a:avLst/>
              </a:prstGeom>
              <a:blipFill rotWithShape="0">
                <a:blip r:embed="rId5"/>
                <a:stretch>
                  <a:fillRect l="-4580" r="-2290" b="-41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Прямоугольник 44"/>
              <p:cNvSpPr/>
              <p:nvPr/>
            </p:nvSpPr>
            <p:spPr>
              <a:xfrm>
                <a:off x="479233" y="2093205"/>
                <a:ext cx="586649" cy="42965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[32]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5" name="Прямоугольник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78" y="2093205"/>
                <a:ext cx="782198" cy="429658"/>
              </a:xfrm>
              <a:prstGeom prst="rect">
                <a:avLst/>
              </a:prstGeom>
              <a:blipFill rotWithShape="0">
                <a:blip r:embed="rId6"/>
                <a:stretch>
                  <a:fillRect l="-4615" r="-2308" b="-54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Овальная выноска 46"/>
              <p:cNvSpPr/>
              <p:nvPr/>
            </p:nvSpPr>
            <p:spPr>
              <a:xfrm>
                <a:off x="7111738" y="1845327"/>
                <a:ext cx="1425993" cy="578384"/>
              </a:xfrm>
              <a:prstGeom prst="wedgeEllipseCallout">
                <a:avLst>
                  <a:gd name="adj1" fmla="val -52702"/>
                  <a:gd name="adj2" fmla="val 44318"/>
                </a:avLst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modul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qo’shish</a:t>
                </a:r>
                <a:endParaRPr lang="ru-RU" dirty="0"/>
              </a:p>
            </p:txBody>
          </p:sp>
        </mc:Choice>
        <mc:Fallback xmlns="">
          <p:sp>
            <p:nvSpPr>
              <p:cNvPr id="47" name="Овальная выноска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317" y="1845327"/>
                <a:ext cx="1901324" cy="578384"/>
              </a:xfrm>
              <a:prstGeom prst="wedgeEllipseCallout">
                <a:avLst>
                  <a:gd name="adj1" fmla="val -52702"/>
                  <a:gd name="adj2" fmla="val 44318"/>
                </a:avLst>
              </a:prstGeom>
              <a:blipFill rotWithShape="0">
                <a:blip r:embed="rId7"/>
                <a:stretch>
                  <a:fillRect t="-9184" b="-204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Прямоугольник 49"/>
          <p:cNvSpPr/>
          <p:nvPr/>
        </p:nvSpPr>
        <p:spPr>
          <a:xfrm>
            <a:off x="553598" y="2773498"/>
            <a:ext cx="7271136" cy="39660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>
                <a:solidFill>
                  <a:schemeClr val="bg1"/>
                </a:solidFill>
              </a:rPr>
              <a:t>To’g’ri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err="1" smtClean="0">
                <a:solidFill>
                  <a:schemeClr val="bg1"/>
                </a:solidFill>
              </a:rPr>
              <a:t>almashtirish</a:t>
            </a:r>
            <a:r>
              <a:rPr lang="en-US" b="1" dirty="0" smtClean="0">
                <a:solidFill>
                  <a:schemeClr val="bg1"/>
                </a:solidFill>
              </a:rPr>
              <a:t> (8 </a:t>
            </a:r>
            <a:r>
              <a:rPr lang="en-US" b="1" dirty="0" err="1" smtClean="0">
                <a:solidFill>
                  <a:schemeClr val="bg1"/>
                </a:solidFill>
              </a:rPr>
              <a:t>raund</a:t>
            </a:r>
            <a:r>
              <a:rPr lang="en-US" b="1" dirty="0" smtClean="0">
                <a:solidFill>
                  <a:schemeClr val="bg1"/>
                </a:solidFill>
              </a:rPr>
              <a:t>)</a:t>
            </a:r>
            <a:endParaRPr lang="ru-RU" b="1" dirty="0">
              <a:solidFill>
                <a:schemeClr val="bg1"/>
              </a:solidFill>
            </a:endParaRPr>
          </a:p>
        </p:txBody>
      </p:sp>
      <p:cxnSp>
        <p:nvCxnSpPr>
          <p:cNvPr id="6" name="Прямая со стрелкой 5"/>
          <p:cNvCxnSpPr>
            <a:stCxn id="18" idx="2"/>
          </p:cNvCxnSpPr>
          <p:nvPr/>
        </p:nvCxnSpPr>
        <p:spPr>
          <a:xfrm>
            <a:off x="1462490" y="2522864"/>
            <a:ext cx="0" cy="250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/>
          <p:nvPr/>
        </p:nvCxnSpPr>
        <p:spPr>
          <a:xfrm>
            <a:off x="3280274" y="2522864"/>
            <a:ext cx="0" cy="250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>
            <a:off x="5106322" y="2528373"/>
            <a:ext cx="0" cy="250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/>
          <p:nvPr/>
        </p:nvCxnSpPr>
        <p:spPr>
          <a:xfrm>
            <a:off x="6924108" y="2522864"/>
            <a:ext cx="0" cy="250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/>
          <p:cNvSpPr/>
          <p:nvPr/>
        </p:nvSpPr>
        <p:spPr>
          <a:xfrm>
            <a:off x="553598" y="3467560"/>
            <a:ext cx="7271136" cy="39660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>
                <a:solidFill>
                  <a:schemeClr val="bg1"/>
                </a:solidFill>
              </a:rPr>
              <a:t>To’g’ri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err="1" smtClean="0">
                <a:solidFill>
                  <a:schemeClr val="bg1"/>
                </a:solidFill>
              </a:rPr>
              <a:t>kripto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err="1" smtClean="0">
                <a:solidFill>
                  <a:schemeClr val="bg1"/>
                </a:solidFill>
              </a:rPr>
              <a:t>akslantirish</a:t>
            </a:r>
            <a:r>
              <a:rPr lang="en-US" b="1" dirty="0" smtClean="0">
                <a:solidFill>
                  <a:schemeClr val="bg1"/>
                </a:solidFill>
              </a:rPr>
              <a:t> (8 </a:t>
            </a:r>
            <a:r>
              <a:rPr lang="en-US" b="1" dirty="0" err="1" smtClean="0">
                <a:solidFill>
                  <a:schemeClr val="bg1"/>
                </a:solidFill>
              </a:rPr>
              <a:t>raund</a:t>
            </a:r>
            <a:r>
              <a:rPr lang="en-US" b="1" dirty="0" smtClean="0">
                <a:solidFill>
                  <a:schemeClr val="bg1"/>
                </a:solidFill>
              </a:rPr>
              <a:t>)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41" name="Прямоугольник 40"/>
          <p:cNvSpPr/>
          <p:nvPr/>
        </p:nvSpPr>
        <p:spPr>
          <a:xfrm>
            <a:off x="553598" y="4161622"/>
            <a:ext cx="7271136" cy="39660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>
                <a:solidFill>
                  <a:schemeClr val="bg1"/>
                </a:solidFill>
              </a:rPr>
              <a:t>Teskari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err="1" smtClean="0">
                <a:solidFill>
                  <a:schemeClr val="bg1"/>
                </a:solidFill>
              </a:rPr>
              <a:t>kripto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akslantirish</a:t>
            </a:r>
            <a:r>
              <a:rPr lang="en-US" b="1" dirty="0">
                <a:solidFill>
                  <a:schemeClr val="bg1"/>
                </a:solidFill>
              </a:rPr>
              <a:t>(8 </a:t>
            </a:r>
            <a:r>
              <a:rPr lang="en-US" b="1" dirty="0" err="1" smtClean="0">
                <a:solidFill>
                  <a:schemeClr val="bg1"/>
                </a:solidFill>
              </a:rPr>
              <a:t>raund</a:t>
            </a:r>
            <a:r>
              <a:rPr lang="en-US" b="1" dirty="0" smtClean="0">
                <a:solidFill>
                  <a:schemeClr val="bg1"/>
                </a:solidFill>
              </a:rPr>
              <a:t>)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46" name="Прямоугольник 45"/>
          <p:cNvSpPr/>
          <p:nvPr/>
        </p:nvSpPr>
        <p:spPr>
          <a:xfrm>
            <a:off x="553598" y="4855684"/>
            <a:ext cx="7271136" cy="39660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>
                <a:solidFill>
                  <a:schemeClr val="bg1"/>
                </a:solidFill>
              </a:rPr>
              <a:t>Teskari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err="1" smtClean="0">
                <a:solidFill>
                  <a:schemeClr val="bg1"/>
                </a:solidFill>
              </a:rPr>
              <a:t>almashtirish</a:t>
            </a:r>
            <a:r>
              <a:rPr lang="en-US" b="1" dirty="0" smtClean="0">
                <a:solidFill>
                  <a:schemeClr val="bg1"/>
                </a:solidFill>
              </a:rPr>
              <a:t> (8 </a:t>
            </a:r>
            <a:r>
              <a:rPr lang="en-US" b="1" dirty="0" err="1" smtClean="0">
                <a:solidFill>
                  <a:schemeClr val="bg1"/>
                </a:solidFill>
              </a:rPr>
              <a:t>raund</a:t>
            </a:r>
            <a:r>
              <a:rPr lang="en-US" b="1" dirty="0" smtClean="0">
                <a:solidFill>
                  <a:schemeClr val="bg1"/>
                </a:solidFill>
              </a:rPr>
              <a:t>)</a:t>
            </a:r>
            <a:endParaRPr lang="ru-RU" b="1" dirty="0">
              <a:solidFill>
                <a:schemeClr val="bg1"/>
              </a:solidFill>
            </a:endParaRPr>
          </a:p>
        </p:txBody>
      </p:sp>
      <p:cxnSp>
        <p:nvCxnSpPr>
          <p:cNvPr id="12" name="Прямая со стрелкой 11"/>
          <p:cNvCxnSpPr>
            <a:stCxn id="50" idx="2"/>
            <a:endCxn id="39" idx="0"/>
          </p:cNvCxnSpPr>
          <p:nvPr/>
        </p:nvCxnSpPr>
        <p:spPr>
          <a:xfrm>
            <a:off x="4189166" y="3170106"/>
            <a:ext cx="0" cy="29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stCxn id="39" idx="2"/>
            <a:endCxn id="41" idx="0"/>
          </p:cNvCxnSpPr>
          <p:nvPr/>
        </p:nvCxnSpPr>
        <p:spPr>
          <a:xfrm>
            <a:off x="4189166" y="3864168"/>
            <a:ext cx="0" cy="29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>
            <a:stCxn id="41" idx="2"/>
            <a:endCxn id="46" idx="0"/>
          </p:cNvCxnSpPr>
          <p:nvPr/>
        </p:nvCxnSpPr>
        <p:spPr>
          <a:xfrm>
            <a:off x="4189166" y="4558230"/>
            <a:ext cx="0" cy="29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Прямоугольник 47"/>
          <p:cNvSpPr/>
          <p:nvPr/>
        </p:nvSpPr>
        <p:spPr>
          <a:xfrm>
            <a:off x="1288974" y="5500169"/>
            <a:ext cx="347031" cy="4296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ru-RU" dirty="0"/>
          </a:p>
        </p:txBody>
      </p:sp>
      <p:sp>
        <p:nvSpPr>
          <p:cNvPr id="49" name="Прямоугольник 48"/>
          <p:cNvSpPr/>
          <p:nvPr/>
        </p:nvSpPr>
        <p:spPr>
          <a:xfrm>
            <a:off x="3106758" y="5500169"/>
            <a:ext cx="347031" cy="4296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ru-RU" dirty="0"/>
          </a:p>
        </p:txBody>
      </p:sp>
      <p:sp>
        <p:nvSpPr>
          <p:cNvPr id="51" name="Прямоугольник 50"/>
          <p:cNvSpPr/>
          <p:nvPr/>
        </p:nvSpPr>
        <p:spPr>
          <a:xfrm>
            <a:off x="4924542" y="5500169"/>
            <a:ext cx="347031" cy="4296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ru-RU" dirty="0"/>
          </a:p>
        </p:txBody>
      </p:sp>
      <p:sp>
        <p:nvSpPr>
          <p:cNvPr id="52" name="Прямоугольник 51"/>
          <p:cNvSpPr/>
          <p:nvPr/>
        </p:nvSpPr>
        <p:spPr>
          <a:xfrm>
            <a:off x="6742326" y="5500169"/>
            <a:ext cx="347031" cy="4296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ru-RU" dirty="0"/>
          </a:p>
        </p:txBody>
      </p:sp>
      <p:cxnSp>
        <p:nvCxnSpPr>
          <p:cNvPr id="53" name="Прямая со стрелкой 52"/>
          <p:cNvCxnSpPr>
            <a:endCxn id="48" idx="0"/>
          </p:cNvCxnSpPr>
          <p:nvPr/>
        </p:nvCxnSpPr>
        <p:spPr>
          <a:xfrm>
            <a:off x="1462490" y="5252291"/>
            <a:ext cx="0" cy="247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/>
          <p:cNvCxnSpPr>
            <a:endCxn id="49" idx="0"/>
          </p:cNvCxnSpPr>
          <p:nvPr/>
        </p:nvCxnSpPr>
        <p:spPr>
          <a:xfrm>
            <a:off x="3280274" y="5252291"/>
            <a:ext cx="0" cy="247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1" idx="0"/>
          </p:cNvCxnSpPr>
          <p:nvPr/>
        </p:nvCxnSpPr>
        <p:spPr>
          <a:xfrm>
            <a:off x="5098058" y="5252291"/>
            <a:ext cx="0" cy="247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 стрелкой 55"/>
          <p:cNvCxnSpPr>
            <a:endCxn id="52" idx="0"/>
          </p:cNvCxnSpPr>
          <p:nvPr/>
        </p:nvCxnSpPr>
        <p:spPr>
          <a:xfrm>
            <a:off x="6915842" y="5252291"/>
            <a:ext cx="0" cy="247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 стрелкой 56"/>
          <p:cNvCxnSpPr>
            <a:endCxn id="52" idx="1"/>
          </p:cNvCxnSpPr>
          <p:nvPr/>
        </p:nvCxnSpPr>
        <p:spPr>
          <a:xfrm>
            <a:off x="6519231" y="5714998"/>
            <a:ext cx="223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/>
          <p:cNvCxnSpPr>
            <a:endCxn id="51" idx="1"/>
          </p:cNvCxnSpPr>
          <p:nvPr/>
        </p:nvCxnSpPr>
        <p:spPr>
          <a:xfrm>
            <a:off x="4726236" y="5714998"/>
            <a:ext cx="1983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 стрелкой 58"/>
          <p:cNvCxnSpPr>
            <a:endCxn id="49" idx="1"/>
          </p:cNvCxnSpPr>
          <p:nvPr/>
        </p:nvCxnSpPr>
        <p:spPr>
          <a:xfrm>
            <a:off x="2891928" y="5714998"/>
            <a:ext cx="2148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/>
          <p:cNvCxnSpPr>
            <a:endCxn id="48" idx="1"/>
          </p:cNvCxnSpPr>
          <p:nvPr/>
        </p:nvCxnSpPr>
        <p:spPr>
          <a:xfrm>
            <a:off x="1074145" y="5714998"/>
            <a:ext cx="2148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Прямоугольник 60"/>
              <p:cNvSpPr/>
              <p:nvPr/>
            </p:nvSpPr>
            <p:spPr>
              <a:xfrm>
                <a:off x="5932583" y="5516695"/>
                <a:ext cx="586649" cy="42965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[32]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1" name="Прямоугольник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0111" y="5516695"/>
                <a:ext cx="782198" cy="429658"/>
              </a:xfrm>
              <a:prstGeom prst="rect">
                <a:avLst/>
              </a:prstGeom>
              <a:blipFill rotWithShape="0">
                <a:blip r:embed="rId8"/>
                <a:stretch>
                  <a:fillRect l="-10769" r="-8462" b="-5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Прямоугольник 61"/>
              <p:cNvSpPr/>
              <p:nvPr/>
            </p:nvSpPr>
            <p:spPr>
              <a:xfrm>
                <a:off x="4139587" y="5500169"/>
                <a:ext cx="586649" cy="42965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37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[32]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2" name="Прямоугольник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449" y="5500169"/>
                <a:ext cx="782198" cy="429658"/>
              </a:xfrm>
              <a:prstGeom prst="rect">
                <a:avLst/>
              </a:prstGeom>
              <a:blipFill rotWithShape="0">
                <a:blip r:embed="rId9"/>
                <a:stretch>
                  <a:fillRect l="-10687" r="-8397" b="-41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Прямоугольник 62"/>
              <p:cNvSpPr/>
              <p:nvPr/>
            </p:nvSpPr>
            <p:spPr>
              <a:xfrm>
                <a:off x="2305279" y="5516695"/>
                <a:ext cx="586649" cy="42965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38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[32]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3" name="Прямоугольник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3705" y="5516695"/>
                <a:ext cx="782198" cy="429658"/>
              </a:xfrm>
              <a:prstGeom prst="rect">
                <a:avLst/>
              </a:prstGeom>
              <a:blipFill rotWithShape="0">
                <a:blip r:embed="rId10"/>
                <a:stretch>
                  <a:fillRect l="-10687" r="-8397" b="-5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Прямоугольник 63"/>
              <p:cNvSpPr/>
              <p:nvPr/>
            </p:nvSpPr>
            <p:spPr>
              <a:xfrm>
                <a:off x="479233" y="5500169"/>
                <a:ext cx="586649" cy="42965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39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[32]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4" name="Прямоугольник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78" y="5500169"/>
                <a:ext cx="782198" cy="429658"/>
              </a:xfrm>
              <a:prstGeom prst="rect">
                <a:avLst/>
              </a:prstGeom>
              <a:blipFill rotWithShape="0">
                <a:blip r:embed="rId11"/>
                <a:stretch>
                  <a:fillRect l="-10769" r="-8462" b="-41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Прямая со стрелкой 64"/>
          <p:cNvCxnSpPr>
            <a:stCxn id="48" idx="2"/>
          </p:cNvCxnSpPr>
          <p:nvPr/>
        </p:nvCxnSpPr>
        <p:spPr>
          <a:xfrm>
            <a:off x="1462490" y="5929828"/>
            <a:ext cx="0" cy="250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/>
          <p:cNvCxnSpPr/>
          <p:nvPr/>
        </p:nvCxnSpPr>
        <p:spPr>
          <a:xfrm>
            <a:off x="3280274" y="5929828"/>
            <a:ext cx="0" cy="250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 стрелкой 66"/>
          <p:cNvCxnSpPr/>
          <p:nvPr/>
        </p:nvCxnSpPr>
        <p:spPr>
          <a:xfrm>
            <a:off x="5106322" y="5935337"/>
            <a:ext cx="0" cy="250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 стрелкой 67"/>
          <p:cNvCxnSpPr/>
          <p:nvPr/>
        </p:nvCxnSpPr>
        <p:spPr>
          <a:xfrm>
            <a:off x="6924108" y="5929828"/>
            <a:ext cx="0" cy="250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Прямоугольник 68"/>
              <p:cNvSpPr/>
              <p:nvPr/>
            </p:nvSpPr>
            <p:spPr>
              <a:xfrm>
                <a:off x="553598" y="6220400"/>
                <a:ext cx="1817784" cy="3855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9" name="Прямоугольник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30" y="6220400"/>
                <a:ext cx="2423712" cy="38559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Прямоугольник 69"/>
              <p:cNvSpPr/>
              <p:nvPr/>
            </p:nvSpPr>
            <p:spPr>
              <a:xfrm>
                <a:off x="2371382" y="6220400"/>
                <a:ext cx="1817784" cy="3855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0" name="Прямоугольник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842" y="6220400"/>
                <a:ext cx="2423712" cy="38559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Прямоугольник 70"/>
              <p:cNvSpPr/>
              <p:nvPr/>
            </p:nvSpPr>
            <p:spPr>
              <a:xfrm>
                <a:off x="4189166" y="6220400"/>
                <a:ext cx="1817784" cy="3855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1" name="Прямоугольник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554" y="6220400"/>
                <a:ext cx="2423712" cy="38559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Прямоугольник 71"/>
              <p:cNvSpPr/>
              <p:nvPr/>
            </p:nvSpPr>
            <p:spPr>
              <a:xfrm>
                <a:off x="6006950" y="6220400"/>
                <a:ext cx="1817784" cy="3855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2" name="Прямоугольник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9266" y="6220400"/>
                <a:ext cx="2423712" cy="385590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935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4.81481E-6 L -2.91667E-6 0.1011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15" grpId="0" animBg="1"/>
      <p:bldP spid="16" grpId="0" animBg="1"/>
      <p:bldP spid="17" grpId="0" animBg="1"/>
      <p:bldP spid="4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200025"/>
            <a:ext cx="7886700" cy="5572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To’g’ri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almashtirish</a:t>
            </a:r>
            <a:endParaRPr lang="ru-RU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28650" y="862587"/>
            <a:ext cx="1817784" cy="38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446434" y="862587"/>
            <a:ext cx="1817784" cy="38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264218" y="862587"/>
            <a:ext cx="1817784" cy="38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6082002" y="862587"/>
                <a:ext cx="1817784" cy="3855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9336" y="862587"/>
                <a:ext cx="2423712" cy="38559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 7"/>
          <p:cNvSpPr/>
          <p:nvPr/>
        </p:nvSpPr>
        <p:spPr>
          <a:xfrm>
            <a:off x="6717646" y="1900239"/>
            <a:ext cx="546497" cy="3571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&gt;&gt;8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/>
              <p:cNvSpPr/>
              <p:nvPr/>
            </p:nvSpPr>
            <p:spPr>
              <a:xfrm>
                <a:off x="5808754" y="1543051"/>
                <a:ext cx="546497" cy="35718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" name="Прямоугольник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5005" y="1543051"/>
                <a:ext cx="728663" cy="3571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Овал 19"/>
          <p:cNvSpPr/>
          <p:nvPr/>
        </p:nvSpPr>
        <p:spPr>
          <a:xfrm>
            <a:off x="5019444" y="1543051"/>
            <a:ext cx="300038" cy="3571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ru-RU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6717646" y="2909487"/>
            <a:ext cx="546497" cy="3571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&gt;&gt;8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Прямоугольник 26"/>
              <p:cNvSpPr/>
              <p:nvPr/>
            </p:nvSpPr>
            <p:spPr>
              <a:xfrm>
                <a:off x="5808754" y="2552300"/>
                <a:ext cx="546497" cy="35718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7" name="Прямоугольник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5005" y="2552299"/>
                <a:ext cx="728663" cy="35718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Прямоугольник 29"/>
          <p:cNvSpPr/>
          <p:nvPr/>
        </p:nvSpPr>
        <p:spPr>
          <a:xfrm>
            <a:off x="5046234" y="2587674"/>
            <a:ext cx="273247" cy="3218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ru-RU" dirty="0"/>
          </a:p>
        </p:txBody>
      </p:sp>
      <p:sp>
        <p:nvSpPr>
          <p:cNvPr id="35" name="Прямоугольник 34"/>
          <p:cNvSpPr/>
          <p:nvPr/>
        </p:nvSpPr>
        <p:spPr>
          <a:xfrm>
            <a:off x="6717645" y="3918733"/>
            <a:ext cx="546497" cy="3571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&gt;&gt;8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Прямоугольник 36"/>
              <p:cNvSpPr/>
              <p:nvPr/>
            </p:nvSpPr>
            <p:spPr>
              <a:xfrm>
                <a:off x="5808754" y="3561547"/>
                <a:ext cx="546497" cy="35718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7" name="Прямоугольник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5004" y="3561546"/>
                <a:ext cx="728663" cy="35718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Прямоугольник 39"/>
          <p:cNvSpPr/>
          <p:nvPr/>
        </p:nvSpPr>
        <p:spPr>
          <a:xfrm>
            <a:off x="3216914" y="3597956"/>
            <a:ext cx="273247" cy="3218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Прямоугольник 49"/>
              <p:cNvSpPr/>
              <p:nvPr/>
            </p:nvSpPr>
            <p:spPr>
              <a:xfrm>
                <a:off x="628650" y="5935641"/>
                <a:ext cx="1817784" cy="3855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0" name="Прямоугольник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935641"/>
                <a:ext cx="2423712" cy="38559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Прямоугольник 50"/>
              <p:cNvSpPr/>
              <p:nvPr/>
            </p:nvSpPr>
            <p:spPr>
              <a:xfrm>
                <a:off x="2446434" y="5935641"/>
                <a:ext cx="1817784" cy="3855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1" name="Прямоугольник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1912" y="5935641"/>
                <a:ext cx="2423712" cy="38559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Прямоугольник 51"/>
              <p:cNvSpPr/>
              <p:nvPr/>
            </p:nvSpPr>
            <p:spPr>
              <a:xfrm>
                <a:off x="4264218" y="5935641"/>
                <a:ext cx="1817784" cy="3855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2" name="Прямоугольник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624" y="5935641"/>
                <a:ext cx="2423712" cy="38559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Прямоугольник 52"/>
              <p:cNvSpPr/>
              <p:nvPr/>
            </p:nvSpPr>
            <p:spPr>
              <a:xfrm>
                <a:off x="6082002" y="5935641"/>
                <a:ext cx="1817784" cy="3855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3" name="Прямоугольник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9336" y="5935641"/>
                <a:ext cx="2423712" cy="38559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Прямоугольник 60"/>
              <p:cNvSpPr/>
              <p:nvPr/>
            </p:nvSpPr>
            <p:spPr>
              <a:xfrm>
                <a:off x="5808754" y="4490065"/>
                <a:ext cx="546497" cy="35718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1" name="Прямоугольник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5004" y="4490064"/>
                <a:ext cx="728663" cy="35718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Овал 88"/>
          <p:cNvSpPr/>
          <p:nvPr/>
        </p:nvSpPr>
        <p:spPr>
          <a:xfrm>
            <a:off x="1393105" y="4486709"/>
            <a:ext cx="300038" cy="3571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ru-RU" dirty="0"/>
          </a:p>
        </p:txBody>
      </p:sp>
      <p:grpSp>
        <p:nvGrpSpPr>
          <p:cNvPr id="102" name="Группа 101"/>
          <p:cNvGrpSpPr/>
          <p:nvPr/>
        </p:nvGrpSpPr>
        <p:grpSpPr>
          <a:xfrm>
            <a:off x="1524217" y="1248177"/>
            <a:ext cx="5466677" cy="4687464"/>
            <a:chOff x="2032290" y="1248177"/>
            <a:chExt cx="7288902" cy="4687464"/>
          </a:xfrm>
        </p:grpSpPr>
        <p:grpSp>
          <p:nvGrpSpPr>
            <p:cNvPr id="88" name="Группа 87"/>
            <p:cNvGrpSpPr/>
            <p:nvPr/>
          </p:nvGrpSpPr>
          <p:grpSpPr>
            <a:xfrm>
              <a:off x="2050056" y="1248177"/>
              <a:ext cx="7271136" cy="4687464"/>
              <a:chOff x="2050056" y="1248177"/>
              <a:chExt cx="7271136" cy="4687464"/>
            </a:xfrm>
          </p:grpSpPr>
          <p:cxnSp>
            <p:nvCxnSpPr>
              <p:cNvPr id="81" name="Прямая со стрелкой 80"/>
              <p:cNvCxnSpPr>
                <a:endCxn id="52" idx="0"/>
              </p:cNvCxnSpPr>
              <p:nvPr/>
            </p:nvCxnSpPr>
            <p:spPr>
              <a:xfrm>
                <a:off x="6897478" y="5619186"/>
                <a:ext cx="2" cy="31645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grpSp>
            <p:nvGrpSpPr>
              <p:cNvPr id="87" name="Группа 86"/>
              <p:cNvGrpSpPr/>
              <p:nvPr/>
            </p:nvGrpSpPr>
            <p:grpSpPr>
              <a:xfrm>
                <a:off x="2050056" y="1248177"/>
                <a:ext cx="7271136" cy="4687464"/>
                <a:chOff x="2050056" y="1248177"/>
                <a:chExt cx="7271136" cy="4687464"/>
              </a:xfrm>
            </p:grpSpPr>
            <p:grpSp>
              <p:nvGrpSpPr>
                <p:cNvPr id="79" name="Группа 78"/>
                <p:cNvGrpSpPr/>
                <p:nvPr/>
              </p:nvGrpSpPr>
              <p:grpSpPr>
                <a:xfrm>
                  <a:off x="2050056" y="1248177"/>
                  <a:ext cx="7271136" cy="4687464"/>
                  <a:chOff x="2050056" y="1248177"/>
                  <a:chExt cx="7271136" cy="4687464"/>
                </a:xfrm>
              </p:grpSpPr>
              <p:cxnSp>
                <p:nvCxnSpPr>
                  <p:cNvPr id="10" name="Прямая со стрелкой 9"/>
                  <p:cNvCxnSpPr>
                    <a:stCxn id="7" idx="2"/>
                    <a:endCxn id="8" idx="0"/>
                  </p:cNvCxnSpPr>
                  <p:nvPr/>
                </p:nvCxnSpPr>
                <p:spPr>
                  <a:xfrm>
                    <a:off x="9321192" y="1248177"/>
                    <a:ext cx="0" cy="65206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Прямая со стрелкой 16"/>
                  <p:cNvCxnSpPr>
                    <a:endCxn id="15" idx="3"/>
                  </p:cNvCxnSpPr>
                  <p:nvPr/>
                </p:nvCxnSpPr>
                <p:spPr>
                  <a:xfrm flipH="1">
                    <a:off x="8473668" y="1721644"/>
                    <a:ext cx="847523" cy="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Прямая со стрелкой 23"/>
                  <p:cNvCxnSpPr>
                    <a:stCxn id="15" idx="1"/>
                  </p:cNvCxnSpPr>
                  <p:nvPr/>
                </p:nvCxnSpPr>
                <p:spPr>
                  <a:xfrm flipH="1" flipV="1">
                    <a:off x="7092642" y="1721644"/>
                    <a:ext cx="652363" cy="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Прямая со стрелкой 25"/>
                  <p:cNvCxnSpPr/>
                  <p:nvPr/>
                </p:nvCxnSpPr>
                <p:spPr>
                  <a:xfrm>
                    <a:off x="9321192" y="2257425"/>
                    <a:ext cx="0" cy="65206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Прямая со стрелкой 27"/>
                  <p:cNvCxnSpPr>
                    <a:endCxn id="27" idx="3"/>
                  </p:cNvCxnSpPr>
                  <p:nvPr/>
                </p:nvCxnSpPr>
                <p:spPr>
                  <a:xfrm flipH="1">
                    <a:off x="8473668" y="2730892"/>
                    <a:ext cx="847523" cy="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Прямая со стрелкой 28"/>
                  <p:cNvCxnSpPr>
                    <a:stCxn id="27" idx="1"/>
                  </p:cNvCxnSpPr>
                  <p:nvPr/>
                </p:nvCxnSpPr>
                <p:spPr>
                  <a:xfrm flipH="1" flipV="1">
                    <a:off x="7092642" y="2730892"/>
                    <a:ext cx="652363" cy="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Прямая со стрелкой 35"/>
                  <p:cNvCxnSpPr>
                    <a:endCxn id="35" idx="0"/>
                  </p:cNvCxnSpPr>
                  <p:nvPr/>
                </p:nvCxnSpPr>
                <p:spPr>
                  <a:xfrm>
                    <a:off x="9321191" y="3266672"/>
                    <a:ext cx="0" cy="65206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Прямая со стрелкой 37"/>
                  <p:cNvCxnSpPr>
                    <a:endCxn id="37" idx="3"/>
                  </p:cNvCxnSpPr>
                  <p:nvPr/>
                </p:nvCxnSpPr>
                <p:spPr>
                  <a:xfrm flipH="1">
                    <a:off x="8473667" y="3740139"/>
                    <a:ext cx="847523" cy="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Прямая со стрелкой 38"/>
                  <p:cNvCxnSpPr>
                    <a:stCxn id="37" idx="1"/>
                    <a:endCxn id="40" idx="3"/>
                  </p:cNvCxnSpPr>
                  <p:nvPr/>
                </p:nvCxnSpPr>
                <p:spPr>
                  <a:xfrm flipH="1">
                    <a:off x="4653547" y="3740140"/>
                    <a:ext cx="3091457" cy="18722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Прямая со стрелкой 40"/>
                  <p:cNvCxnSpPr>
                    <a:stCxn id="5" idx="2"/>
                    <a:endCxn id="40" idx="0"/>
                  </p:cNvCxnSpPr>
                  <p:nvPr/>
                </p:nvCxnSpPr>
                <p:spPr>
                  <a:xfrm flipH="1">
                    <a:off x="4471383" y="1248177"/>
                    <a:ext cx="2385" cy="2349778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6"/>
                  </a:lnRef>
                  <a:fillRef idx="0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Прямая со стрелкой 59"/>
                  <p:cNvCxnSpPr>
                    <a:stCxn id="35" idx="2"/>
                  </p:cNvCxnSpPr>
                  <p:nvPr/>
                </p:nvCxnSpPr>
                <p:spPr>
                  <a:xfrm>
                    <a:off x="9321191" y="4275920"/>
                    <a:ext cx="0" cy="57133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Прямая со стрелкой 61"/>
                  <p:cNvCxnSpPr>
                    <a:endCxn id="61" idx="3"/>
                  </p:cNvCxnSpPr>
                  <p:nvPr/>
                </p:nvCxnSpPr>
                <p:spPr>
                  <a:xfrm flipH="1">
                    <a:off x="8473667" y="4668657"/>
                    <a:ext cx="847523" cy="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Прямая со стрелкой 62"/>
                  <p:cNvCxnSpPr>
                    <a:stCxn id="61" idx="1"/>
                    <a:endCxn id="89" idx="6"/>
                  </p:cNvCxnSpPr>
                  <p:nvPr/>
                </p:nvCxnSpPr>
                <p:spPr>
                  <a:xfrm flipH="1" flipV="1">
                    <a:off x="2257524" y="4665302"/>
                    <a:ext cx="5487480" cy="3356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Прямая со стрелкой 64"/>
                  <p:cNvCxnSpPr>
                    <a:endCxn id="50" idx="0"/>
                  </p:cNvCxnSpPr>
                  <p:nvPr/>
                </p:nvCxnSpPr>
                <p:spPr>
                  <a:xfrm>
                    <a:off x="2050056" y="5596569"/>
                    <a:ext cx="0" cy="339072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Прямая соединительная линия 67"/>
                  <p:cNvCxnSpPr/>
                  <p:nvPr/>
                </p:nvCxnSpPr>
                <p:spPr>
                  <a:xfrm flipV="1">
                    <a:off x="2050056" y="4847251"/>
                    <a:ext cx="7271134" cy="749318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78" name="Группа 77"/>
                  <p:cNvGrpSpPr/>
                  <p:nvPr/>
                </p:nvGrpSpPr>
                <p:grpSpPr>
                  <a:xfrm>
                    <a:off x="6892617" y="1248177"/>
                    <a:ext cx="2428575" cy="4687464"/>
                    <a:chOff x="6892617" y="1248177"/>
                    <a:chExt cx="2428575" cy="4687464"/>
                  </a:xfrm>
                </p:grpSpPr>
                <p:cxnSp>
                  <p:nvCxnSpPr>
                    <p:cNvPr id="22" name="Прямая со стрелкой 21"/>
                    <p:cNvCxnSpPr>
                      <a:stCxn id="6" idx="2"/>
                      <a:endCxn id="20" idx="0"/>
                    </p:cNvCxnSpPr>
                    <p:nvPr/>
                  </p:nvCxnSpPr>
                  <p:spPr>
                    <a:xfrm flipH="1">
                      <a:off x="6892617" y="1248177"/>
                      <a:ext cx="4863" cy="294873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4"/>
                    </a:lnRef>
                    <a:fillRef idx="0">
                      <a:schemeClr val="accent4"/>
                    </a:fillRef>
                    <a:effectRef idx="0">
                      <a:schemeClr val="accent4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" name="Прямая со стрелкой 31"/>
                    <p:cNvCxnSpPr>
                      <a:stCxn id="20" idx="4"/>
                      <a:endCxn id="30" idx="0"/>
                    </p:cNvCxnSpPr>
                    <p:nvPr/>
                  </p:nvCxnSpPr>
                  <p:spPr>
                    <a:xfrm>
                      <a:off x="6892617" y="1900237"/>
                      <a:ext cx="17860" cy="687436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4"/>
                    </a:lnRef>
                    <a:fillRef idx="0">
                      <a:schemeClr val="accent4"/>
                    </a:fillRef>
                    <a:effectRef idx="0">
                      <a:schemeClr val="accent4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" name="Прямая со стрелкой 69"/>
                    <p:cNvCxnSpPr>
                      <a:endCxn id="53" idx="0"/>
                    </p:cNvCxnSpPr>
                    <p:nvPr/>
                  </p:nvCxnSpPr>
                  <p:spPr>
                    <a:xfrm>
                      <a:off x="9321190" y="5596141"/>
                      <a:ext cx="2" cy="33950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4"/>
                    </a:lnRef>
                    <a:fillRef idx="0">
                      <a:schemeClr val="accent4"/>
                    </a:fillRef>
                    <a:effectRef idx="0">
                      <a:schemeClr val="accent4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" name="Прямая соединительная линия 74"/>
                    <p:cNvCxnSpPr>
                      <a:stCxn id="30" idx="2"/>
                    </p:cNvCxnSpPr>
                    <p:nvPr/>
                  </p:nvCxnSpPr>
                  <p:spPr>
                    <a:xfrm>
                      <a:off x="6910477" y="2909486"/>
                      <a:ext cx="0" cy="1937765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0">
                      <a:schemeClr val="accent4"/>
                    </a:fillRef>
                    <a:effectRef idx="0">
                      <a:schemeClr val="accent4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" name="Прямая соединительная линия 76"/>
                    <p:cNvCxnSpPr/>
                    <p:nvPr/>
                  </p:nvCxnSpPr>
                  <p:spPr>
                    <a:xfrm>
                      <a:off x="6910477" y="4847251"/>
                      <a:ext cx="2410713" cy="74889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0">
                      <a:schemeClr val="accent4"/>
                    </a:fillRef>
                    <a:effectRef idx="0">
                      <a:schemeClr val="accent4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84" name="Прямая соединительная линия 83"/>
                <p:cNvCxnSpPr>
                  <a:stCxn id="40" idx="2"/>
                </p:cNvCxnSpPr>
                <p:nvPr/>
              </p:nvCxnSpPr>
              <p:spPr>
                <a:xfrm>
                  <a:off x="4471383" y="3919768"/>
                  <a:ext cx="0" cy="927483"/>
                </a:xfrm>
                <a:prstGeom prst="line">
                  <a:avLst/>
                </a:prstGeom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Прямая соединительная линия 85"/>
                <p:cNvCxnSpPr/>
                <p:nvPr/>
              </p:nvCxnSpPr>
              <p:spPr>
                <a:xfrm>
                  <a:off x="4471383" y="4847251"/>
                  <a:ext cx="2439094" cy="771935"/>
                </a:xfrm>
                <a:prstGeom prst="line">
                  <a:avLst/>
                </a:prstGeom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91" name="Прямая со стрелкой 90"/>
            <p:cNvCxnSpPr>
              <a:stCxn id="4" idx="2"/>
              <a:endCxn id="89" idx="0"/>
            </p:cNvCxnSpPr>
            <p:nvPr/>
          </p:nvCxnSpPr>
          <p:spPr>
            <a:xfrm>
              <a:off x="2050056" y="1248177"/>
              <a:ext cx="7443" cy="32385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Прямая со стрелкой 93"/>
            <p:cNvCxnSpPr>
              <a:endCxn id="51" idx="0"/>
            </p:cNvCxnSpPr>
            <p:nvPr/>
          </p:nvCxnSpPr>
          <p:spPr>
            <a:xfrm flipH="1">
              <a:off x="4473768" y="5596141"/>
              <a:ext cx="12306" cy="3395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Прямая соединительная линия 95"/>
            <p:cNvCxnSpPr>
              <a:stCxn id="89" idx="4"/>
            </p:cNvCxnSpPr>
            <p:nvPr/>
          </p:nvCxnSpPr>
          <p:spPr>
            <a:xfrm flipH="1">
              <a:off x="2050056" y="4843895"/>
              <a:ext cx="7443" cy="19081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Прямая соединительная линия 100"/>
            <p:cNvCxnSpPr/>
            <p:nvPr/>
          </p:nvCxnSpPr>
          <p:spPr>
            <a:xfrm>
              <a:off x="2032290" y="5022488"/>
              <a:ext cx="2467474" cy="59669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8" name="Прямоугольник 107"/>
          <p:cNvSpPr/>
          <p:nvPr/>
        </p:nvSpPr>
        <p:spPr>
          <a:xfrm>
            <a:off x="626861" y="862587"/>
            <a:ext cx="1817784" cy="38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ru-RU" dirty="0"/>
          </a:p>
        </p:txBody>
      </p:sp>
      <p:sp>
        <p:nvSpPr>
          <p:cNvPr id="109" name="Прямоугольник 108"/>
          <p:cNvSpPr/>
          <p:nvPr/>
        </p:nvSpPr>
        <p:spPr>
          <a:xfrm>
            <a:off x="2444645" y="862587"/>
            <a:ext cx="1817784" cy="38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ru-RU" dirty="0"/>
          </a:p>
        </p:txBody>
      </p:sp>
      <p:sp>
        <p:nvSpPr>
          <p:cNvPr id="110" name="Прямоугольник 109"/>
          <p:cNvSpPr/>
          <p:nvPr/>
        </p:nvSpPr>
        <p:spPr>
          <a:xfrm>
            <a:off x="4262429" y="862587"/>
            <a:ext cx="1817784" cy="38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Прямоугольник 110"/>
              <p:cNvSpPr/>
              <p:nvPr/>
            </p:nvSpPr>
            <p:spPr>
              <a:xfrm>
                <a:off x="6080213" y="862587"/>
                <a:ext cx="1817784" cy="3855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1" name="Прямоугольник 1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951" y="862587"/>
                <a:ext cx="2423712" cy="38559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Прямоугольник 111"/>
              <p:cNvSpPr/>
              <p:nvPr/>
            </p:nvSpPr>
            <p:spPr>
              <a:xfrm>
                <a:off x="2444645" y="5935641"/>
                <a:ext cx="1817784" cy="3855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2" name="Прямоугольник 1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527" y="5935641"/>
                <a:ext cx="2423712" cy="38559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Прямоугольник 112"/>
              <p:cNvSpPr/>
              <p:nvPr/>
            </p:nvSpPr>
            <p:spPr>
              <a:xfrm>
                <a:off x="4262429" y="5935641"/>
                <a:ext cx="1817784" cy="3855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3" name="Прямоугольник 1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3239" y="5935641"/>
                <a:ext cx="2423712" cy="38559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Прямоугольник 113"/>
              <p:cNvSpPr/>
              <p:nvPr/>
            </p:nvSpPr>
            <p:spPr>
              <a:xfrm>
                <a:off x="6080213" y="5935641"/>
                <a:ext cx="1817784" cy="3855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4" name="Прямоугольник 1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951" y="5935641"/>
                <a:ext cx="2423712" cy="385590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5935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42808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To’g’ri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kripto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akslantirish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haroni" panose="02010803020104030203" pitchFamily="2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628650" y="5935641"/>
                <a:ext cx="1817784" cy="3855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935641"/>
                <a:ext cx="2423712" cy="38559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626861" y="862587"/>
            <a:ext cx="1817784" cy="38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444645" y="862587"/>
            <a:ext cx="1817784" cy="38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262429" y="862587"/>
            <a:ext cx="1817784" cy="38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7"/>
              <p:cNvSpPr/>
              <p:nvPr/>
            </p:nvSpPr>
            <p:spPr>
              <a:xfrm>
                <a:off x="6080213" y="862587"/>
                <a:ext cx="1817784" cy="3855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951" y="862587"/>
                <a:ext cx="2423712" cy="38559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2444645" y="5935641"/>
                <a:ext cx="1817784" cy="3855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527" y="5935641"/>
                <a:ext cx="2423712" cy="38559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4262429" y="5935641"/>
                <a:ext cx="1817784" cy="3855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3239" y="5935641"/>
                <a:ext cx="2423712" cy="38559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6080213" y="5935641"/>
                <a:ext cx="1817784" cy="3855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951" y="5935641"/>
                <a:ext cx="2423712" cy="38559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Прямоугольник 11"/>
          <p:cNvSpPr/>
          <p:nvPr/>
        </p:nvSpPr>
        <p:spPr>
          <a:xfrm>
            <a:off x="6720569" y="3410131"/>
            <a:ext cx="537072" cy="363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&lt;&lt;13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6286780" y="1663548"/>
            <a:ext cx="247880" cy="1644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ru-RU" dirty="0"/>
          </a:p>
        </p:txBody>
      </p:sp>
      <p:sp>
        <p:nvSpPr>
          <p:cNvPr id="30" name="Прямоугольник 29"/>
          <p:cNvSpPr/>
          <p:nvPr/>
        </p:nvSpPr>
        <p:spPr>
          <a:xfrm>
            <a:off x="5023691" y="1751683"/>
            <a:ext cx="296359" cy="341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5705008" y="1580654"/>
                <a:ext cx="5137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677" y="1580654"/>
                <a:ext cx="484941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705007" y="2064986"/>
                <a:ext cx="5191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676" y="2064986"/>
                <a:ext cx="490262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Прямоугольник 46"/>
          <p:cNvSpPr/>
          <p:nvPr/>
        </p:nvSpPr>
        <p:spPr>
          <a:xfrm>
            <a:off x="3205358" y="2230506"/>
            <a:ext cx="296359" cy="341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ru-RU" dirty="0"/>
          </a:p>
        </p:txBody>
      </p:sp>
      <p:cxnSp>
        <p:nvCxnSpPr>
          <p:cNvPr id="54" name="Прямая со стрелкой 53"/>
          <p:cNvCxnSpPr>
            <a:endCxn id="10" idx="0"/>
          </p:cNvCxnSpPr>
          <p:nvPr/>
        </p:nvCxnSpPr>
        <p:spPr>
          <a:xfrm>
            <a:off x="5171321" y="5572085"/>
            <a:ext cx="0" cy="363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1391157" y="2817251"/>
            <a:ext cx="289193" cy="35540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ru-RU" dirty="0"/>
          </a:p>
        </p:txBody>
      </p:sp>
      <p:cxnSp>
        <p:nvCxnSpPr>
          <p:cNvPr id="68" name="Прямая со стрелкой 67"/>
          <p:cNvCxnSpPr>
            <a:endCxn id="63" idx="6"/>
          </p:cNvCxnSpPr>
          <p:nvPr/>
        </p:nvCxnSpPr>
        <p:spPr>
          <a:xfrm flipH="1">
            <a:off x="1680349" y="2959246"/>
            <a:ext cx="4606430" cy="357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Группа 76"/>
          <p:cNvGrpSpPr/>
          <p:nvPr/>
        </p:nvGrpSpPr>
        <p:grpSpPr>
          <a:xfrm>
            <a:off x="1535617" y="1248177"/>
            <a:ext cx="5453489" cy="4687464"/>
            <a:chOff x="2047488" y="1248177"/>
            <a:chExt cx="7271319" cy="4687464"/>
          </a:xfrm>
        </p:grpSpPr>
        <p:grpSp>
          <p:nvGrpSpPr>
            <p:cNvPr id="62" name="Группа 61"/>
            <p:cNvGrpSpPr/>
            <p:nvPr/>
          </p:nvGrpSpPr>
          <p:grpSpPr>
            <a:xfrm>
              <a:off x="2049137" y="1248177"/>
              <a:ext cx="7269670" cy="4687464"/>
              <a:chOff x="2049137" y="1248177"/>
              <a:chExt cx="7269670" cy="4687464"/>
            </a:xfrm>
          </p:grpSpPr>
          <p:cxnSp>
            <p:nvCxnSpPr>
              <p:cNvPr id="32" name="Прямая со стрелкой 31"/>
              <p:cNvCxnSpPr>
                <a:stCxn id="7" idx="2"/>
                <a:endCxn id="30" idx="0"/>
              </p:cNvCxnSpPr>
              <p:nvPr/>
            </p:nvCxnSpPr>
            <p:spPr>
              <a:xfrm>
                <a:off x="6895095" y="1248177"/>
                <a:ext cx="732" cy="50350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4" name="Прямая со стрелкой 33"/>
              <p:cNvCxnSpPr>
                <a:endCxn id="30" idx="3"/>
              </p:cNvCxnSpPr>
              <p:nvPr/>
            </p:nvCxnSpPr>
            <p:spPr>
              <a:xfrm flipH="1">
                <a:off x="7093399" y="1916935"/>
                <a:ext cx="1288974" cy="55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Прямая со стрелкой 37"/>
              <p:cNvCxnSpPr>
                <a:endCxn id="11" idx="0"/>
              </p:cNvCxnSpPr>
              <p:nvPr/>
            </p:nvCxnSpPr>
            <p:spPr>
              <a:xfrm>
                <a:off x="9318807" y="5572085"/>
                <a:ext cx="0" cy="3635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1" name="Прямая соединительная линия 40"/>
              <p:cNvCxnSpPr>
                <a:stCxn id="30" idx="2"/>
              </p:cNvCxnSpPr>
              <p:nvPr/>
            </p:nvCxnSpPr>
            <p:spPr>
              <a:xfrm flipH="1">
                <a:off x="6895095" y="2093205"/>
                <a:ext cx="732" cy="1498704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3" name="Прямая соединительная линия 42"/>
              <p:cNvCxnSpPr/>
              <p:nvPr/>
            </p:nvCxnSpPr>
            <p:spPr>
              <a:xfrm>
                <a:off x="6895095" y="3591909"/>
                <a:ext cx="2423345" cy="1980176"/>
              </a:xfrm>
              <a:prstGeom prst="line">
                <a:avLst/>
              </a:prstGeom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4" name="Прямая со стрелкой 43"/>
              <p:cNvCxnSpPr>
                <a:endCxn id="47" idx="3"/>
              </p:cNvCxnSpPr>
              <p:nvPr/>
            </p:nvCxnSpPr>
            <p:spPr>
              <a:xfrm flipH="1">
                <a:off x="4668955" y="2368216"/>
                <a:ext cx="3713417" cy="3305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1" name="Группа 60"/>
              <p:cNvGrpSpPr/>
              <p:nvPr/>
            </p:nvGrpSpPr>
            <p:grpSpPr>
              <a:xfrm>
                <a:off x="2049137" y="1248177"/>
                <a:ext cx="7269670" cy="4687464"/>
                <a:chOff x="2049137" y="1248177"/>
                <a:chExt cx="7269670" cy="4687464"/>
              </a:xfrm>
            </p:grpSpPr>
            <p:grpSp>
              <p:nvGrpSpPr>
                <p:cNvPr id="29" name="Группа 28"/>
                <p:cNvGrpSpPr/>
                <p:nvPr/>
              </p:nvGrpSpPr>
              <p:grpSpPr>
                <a:xfrm>
                  <a:off x="2049137" y="1248177"/>
                  <a:ext cx="7269670" cy="4687464"/>
                  <a:chOff x="2049137" y="1248177"/>
                  <a:chExt cx="7269670" cy="4687464"/>
                </a:xfrm>
              </p:grpSpPr>
              <p:cxnSp>
                <p:nvCxnSpPr>
                  <p:cNvPr id="14" name="Прямая со стрелкой 13"/>
                  <p:cNvCxnSpPr>
                    <a:stCxn id="8" idx="2"/>
                    <a:endCxn id="12" idx="0"/>
                  </p:cNvCxnSpPr>
                  <p:nvPr/>
                </p:nvCxnSpPr>
                <p:spPr>
                  <a:xfrm>
                    <a:off x="9318807" y="1248177"/>
                    <a:ext cx="0" cy="2161954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8" name="Группа 27"/>
                  <p:cNvGrpSpPr/>
                  <p:nvPr/>
                </p:nvGrpSpPr>
                <p:grpSpPr>
                  <a:xfrm>
                    <a:off x="2049137" y="2479205"/>
                    <a:ext cx="7269670" cy="3456436"/>
                    <a:chOff x="2049137" y="2479205"/>
                    <a:chExt cx="7269670" cy="3456436"/>
                  </a:xfrm>
                </p:grpSpPr>
                <p:cxnSp>
                  <p:nvCxnSpPr>
                    <p:cNvPr id="18" name="Прямая со стрелкой 17"/>
                    <p:cNvCxnSpPr>
                      <a:endCxn id="15" idx="3"/>
                    </p:cNvCxnSpPr>
                    <p:nvPr/>
                  </p:nvCxnSpPr>
                  <p:spPr>
                    <a:xfrm flipH="1">
                      <a:off x="8712879" y="2479205"/>
                      <a:ext cx="605561" cy="653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" name="Прямая со стрелкой 19"/>
                    <p:cNvCxnSpPr>
                      <a:endCxn id="4" idx="0"/>
                    </p:cNvCxnSpPr>
                    <p:nvPr/>
                  </p:nvCxnSpPr>
                  <p:spPr>
                    <a:xfrm>
                      <a:off x="2049137" y="5651653"/>
                      <a:ext cx="919" cy="283988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2"/>
                    </a:lnRef>
                    <a:fillRef idx="0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" name="Прямая соединительная линия 22"/>
                    <p:cNvCxnSpPr>
                      <a:stCxn id="12" idx="2"/>
                    </p:cNvCxnSpPr>
                    <p:nvPr/>
                  </p:nvCxnSpPr>
                  <p:spPr>
                    <a:xfrm>
                      <a:off x="9318807" y="3773687"/>
                      <a:ext cx="0" cy="31357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0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" name="Прямая соединительная линия 24"/>
                    <p:cNvCxnSpPr/>
                    <p:nvPr/>
                  </p:nvCxnSpPr>
                  <p:spPr>
                    <a:xfrm flipV="1">
                      <a:off x="2049137" y="4087258"/>
                      <a:ext cx="7269670" cy="1564396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0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49" name="Прямая со стрелкой 48"/>
                <p:cNvCxnSpPr>
                  <a:stCxn id="6" idx="2"/>
                  <a:endCxn id="47" idx="0"/>
                </p:cNvCxnSpPr>
                <p:nvPr/>
              </p:nvCxnSpPr>
              <p:spPr>
                <a:xfrm>
                  <a:off x="4471383" y="1248177"/>
                  <a:ext cx="0" cy="98232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Прямая соединительная линия 56"/>
                <p:cNvCxnSpPr>
                  <a:stCxn id="47" idx="2"/>
                </p:cNvCxnSpPr>
                <p:nvPr/>
              </p:nvCxnSpPr>
              <p:spPr>
                <a:xfrm>
                  <a:off x="4471383" y="2572028"/>
                  <a:ext cx="0" cy="1019881"/>
                </a:xfrm>
                <a:prstGeom prst="line">
                  <a:avLst/>
                </a:prstGeom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Прямая соединительная линия 59"/>
                <p:cNvCxnSpPr/>
                <p:nvPr/>
              </p:nvCxnSpPr>
              <p:spPr>
                <a:xfrm>
                  <a:off x="4471383" y="3591909"/>
                  <a:ext cx="2423712" cy="1980176"/>
                </a:xfrm>
                <a:prstGeom prst="line">
                  <a:avLst/>
                </a:prstGeom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65" name="Прямая со стрелкой 64"/>
            <p:cNvCxnSpPr>
              <a:stCxn id="5" idx="2"/>
              <a:endCxn id="63" idx="0"/>
            </p:cNvCxnSpPr>
            <p:nvPr/>
          </p:nvCxnSpPr>
          <p:spPr>
            <a:xfrm>
              <a:off x="2047671" y="1248177"/>
              <a:ext cx="0" cy="15690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Прямая со стрелкой 69"/>
            <p:cNvCxnSpPr>
              <a:endCxn id="9" idx="0"/>
            </p:cNvCxnSpPr>
            <p:nvPr/>
          </p:nvCxnSpPr>
          <p:spPr>
            <a:xfrm>
              <a:off x="4471382" y="5572085"/>
              <a:ext cx="1" cy="36355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Прямая соединительная линия 71"/>
            <p:cNvCxnSpPr>
              <a:stCxn id="63" idx="4"/>
            </p:cNvCxnSpPr>
            <p:nvPr/>
          </p:nvCxnSpPr>
          <p:spPr>
            <a:xfrm flipH="1">
              <a:off x="2047488" y="3172653"/>
              <a:ext cx="183" cy="41925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Прямая соединительная линия 73"/>
            <p:cNvCxnSpPr/>
            <p:nvPr/>
          </p:nvCxnSpPr>
          <p:spPr>
            <a:xfrm>
              <a:off x="2047488" y="3591909"/>
              <a:ext cx="2423894" cy="198017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5670103" y="2594646"/>
                <a:ext cx="5191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137" y="2594646"/>
                <a:ext cx="490262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1241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3825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 </a:t>
            </a:r>
            <a:r>
              <a:rPr lang="en-US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funksiyasi</a:t>
            </a:r>
            <a:endParaRPr lang="ru-RU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3" name="Прямая со стрелкой 22"/>
          <p:cNvCxnSpPr>
            <a:endCxn id="15" idx="2"/>
          </p:cNvCxnSpPr>
          <p:nvPr/>
        </p:nvCxnSpPr>
        <p:spPr>
          <a:xfrm flipV="1">
            <a:off x="5866480" y="1547605"/>
            <a:ext cx="1" cy="286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>
            <a:endCxn id="16" idx="2"/>
          </p:cNvCxnSpPr>
          <p:nvPr/>
        </p:nvCxnSpPr>
        <p:spPr>
          <a:xfrm flipV="1">
            <a:off x="5866480" y="3299286"/>
            <a:ext cx="2" cy="2754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 стрелкой 76"/>
          <p:cNvCxnSpPr>
            <a:stCxn id="34" idx="1"/>
          </p:cNvCxnSpPr>
          <p:nvPr/>
        </p:nvCxnSpPr>
        <p:spPr>
          <a:xfrm flipH="1">
            <a:off x="628651" y="3123019"/>
            <a:ext cx="27108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Группа 100"/>
          <p:cNvGrpSpPr/>
          <p:nvPr/>
        </p:nvGrpSpPr>
        <p:grpSpPr>
          <a:xfrm>
            <a:off x="568668" y="996230"/>
            <a:ext cx="7407782" cy="3459821"/>
            <a:chOff x="758224" y="996229"/>
            <a:chExt cx="9877042" cy="3459821"/>
          </a:xfrm>
        </p:grpSpPr>
        <p:cxnSp>
          <p:nvCxnSpPr>
            <p:cNvPr id="76" name="Прямая со стрелкой 75"/>
            <p:cNvCxnSpPr/>
            <p:nvPr/>
          </p:nvCxnSpPr>
          <p:spPr>
            <a:xfrm flipH="1">
              <a:off x="827877" y="4329266"/>
              <a:ext cx="39955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Группа 99"/>
            <p:cNvGrpSpPr/>
            <p:nvPr/>
          </p:nvGrpSpPr>
          <p:grpSpPr>
            <a:xfrm>
              <a:off x="758224" y="996229"/>
              <a:ext cx="9877042" cy="3459821"/>
              <a:chOff x="758224" y="996229"/>
              <a:chExt cx="9877042" cy="34598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/>
                  <p:cNvSpPr txBox="1"/>
                  <p:nvPr/>
                </p:nvSpPr>
                <p:spPr>
                  <a:xfrm>
                    <a:off x="6991869" y="3601632"/>
                    <a:ext cx="6850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ru-RU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89" name="TextBox 8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91869" y="3601632"/>
                    <a:ext cx="484940" cy="369332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99" name="Группа 98"/>
              <p:cNvGrpSpPr/>
              <p:nvPr/>
            </p:nvGrpSpPr>
            <p:grpSpPr>
              <a:xfrm>
                <a:off x="758224" y="996229"/>
                <a:ext cx="9877042" cy="3459821"/>
                <a:chOff x="758224" y="1387593"/>
                <a:chExt cx="9877042" cy="34598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7" name="TextBox 86"/>
                    <p:cNvSpPr txBox="1"/>
                    <p:nvPr/>
                  </p:nvSpPr>
                  <p:spPr>
                    <a:xfrm>
                      <a:off x="9012963" y="3558451"/>
                      <a:ext cx="692155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ru-RU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ru-RU" dirty="0"/>
                    </a:p>
                  </p:txBody>
                </p:sp>
              </mc:Choice>
              <mc:Fallback xmlns="">
                <p:sp>
                  <p:nvSpPr>
                    <p:cNvPr id="87" name="TextBox 8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012963" y="3558451"/>
                      <a:ext cx="490262" cy="369332"/>
                    </a:xfrm>
                    <a:prstGeom prst="rect">
                      <a:avLst/>
                    </a:prstGeom>
                    <a:blipFill rotWithShape="0"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98" name="Группа 97"/>
                <p:cNvGrpSpPr/>
                <p:nvPr/>
              </p:nvGrpSpPr>
              <p:grpSpPr>
                <a:xfrm>
                  <a:off x="758224" y="1387593"/>
                  <a:ext cx="9421362" cy="3459821"/>
                  <a:chOff x="758224" y="1387593"/>
                  <a:chExt cx="9421362" cy="3459821"/>
                </a:xfrm>
              </p:grpSpPr>
              <p:sp>
                <p:nvSpPr>
                  <p:cNvPr id="15" name="Прямоугольник 14"/>
                  <p:cNvSpPr/>
                  <p:nvPr/>
                </p:nvSpPr>
                <p:spPr>
                  <a:xfrm>
                    <a:off x="7667737" y="1630498"/>
                    <a:ext cx="308473" cy="308470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 smtClean="0"/>
                      <a:t>*</a:t>
                    </a:r>
                    <a:endParaRPr lang="ru-RU" dirty="0"/>
                  </a:p>
                </p:txBody>
              </p:sp>
              <p:grpSp>
                <p:nvGrpSpPr>
                  <p:cNvPr id="97" name="Группа 96"/>
                  <p:cNvGrpSpPr/>
                  <p:nvPr/>
                </p:nvGrpSpPr>
                <p:grpSpPr>
                  <a:xfrm>
                    <a:off x="758224" y="1387593"/>
                    <a:ext cx="9421362" cy="3459821"/>
                    <a:chOff x="758224" y="1387593"/>
                    <a:chExt cx="9421362" cy="3459821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88" name="TextBox 87"/>
                        <p:cNvSpPr txBox="1"/>
                        <p:nvPr/>
                      </p:nvSpPr>
                      <p:spPr>
                        <a:xfrm>
                          <a:off x="8281922" y="1387593"/>
                          <a:ext cx="692155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p:txBody>
                    </p:sp>
                  </mc:Choice>
                  <mc:Fallback xmlns="">
                    <p:sp>
                      <p:nvSpPr>
                        <p:cNvPr id="88" name="TextBox 87"/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8281922" y="1387593"/>
                          <a:ext cx="490262" cy="369332"/>
                        </a:xfrm>
                        <a:prstGeom prst="rect">
                          <a:avLst/>
                        </a:prstGeom>
                        <a:blipFill rotWithShape="0">
                          <a:blip r:embed="rId5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ru-RU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grpSp>
                  <p:nvGrpSpPr>
                    <p:cNvPr id="96" name="Группа 95"/>
                    <p:cNvGrpSpPr/>
                    <p:nvPr/>
                  </p:nvGrpSpPr>
                  <p:grpSpPr>
                    <a:xfrm>
                      <a:off x="758224" y="1630498"/>
                      <a:ext cx="9421362" cy="3216916"/>
                      <a:chOff x="758224" y="1630498"/>
                      <a:chExt cx="9421362" cy="3216916"/>
                    </a:xfrm>
                  </p:grpSpPr>
                  <p:sp>
                    <p:nvSpPr>
                      <p:cNvPr id="26" name="Прямоугольник 25"/>
                      <p:cNvSpPr/>
                      <p:nvPr/>
                    </p:nvSpPr>
                    <p:spPr>
                      <a:xfrm>
                        <a:off x="6263086" y="1630498"/>
                        <a:ext cx="569205" cy="308470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 smtClean="0"/>
                          <a:t>&lt;&lt;5</a:t>
                        </a:r>
                        <a:endParaRPr lang="ru-RU" dirty="0"/>
                      </a:p>
                    </p:txBody>
                  </p:sp>
                  <p:sp>
                    <p:nvSpPr>
                      <p:cNvPr id="48" name="Прямоугольник 47"/>
                      <p:cNvSpPr/>
                      <p:nvPr/>
                    </p:nvSpPr>
                    <p:spPr>
                      <a:xfrm>
                        <a:off x="6523818" y="4516914"/>
                        <a:ext cx="308473" cy="308470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 smtClean="0"/>
                          <a:t>S</a:t>
                        </a:r>
                        <a:endParaRPr lang="ru-RU" dirty="0"/>
                      </a:p>
                    </p:txBody>
                  </p:sp>
                  <p:grpSp>
                    <p:nvGrpSpPr>
                      <p:cNvPr id="95" name="Группа 94"/>
                      <p:cNvGrpSpPr/>
                      <p:nvPr/>
                    </p:nvGrpSpPr>
                    <p:grpSpPr>
                      <a:xfrm>
                        <a:off x="758224" y="1630498"/>
                        <a:ext cx="9421362" cy="3216916"/>
                        <a:chOff x="758224" y="1630498"/>
                        <a:chExt cx="9421362" cy="3216916"/>
                      </a:xfrm>
                    </p:grpSpPr>
                    <p:sp>
                      <p:nvSpPr>
                        <p:cNvPr id="33" name="Прямоугольник 32"/>
                        <p:cNvSpPr/>
                        <p:nvPr/>
                      </p:nvSpPr>
                      <p:spPr>
                        <a:xfrm>
                          <a:off x="3883443" y="1630498"/>
                          <a:ext cx="569205" cy="308470"/>
                        </a:xfrm>
                        <a:prstGeom prst="rect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 smtClean="0"/>
                            <a:t>&lt;&lt;5</a:t>
                          </a:r>
                          <a:endParaRPr lang="ru-RU" dirty="0"/>
                        </a:p>
                      </p:txBody>
                    </p:sp>
                    <p:sp>
                      <p:nvSpPr>
                        <p:cNvPr id="34" name="Прямоугольник 33"/>
                        <p:cNvSpPr/>
                        <p:nvPr/>
                      </p:nvSpPr>
                      <p:spPr>
                        <a:xfrm>
                          <a:off x="4452648" y="3360148"/>
                          <a:ext cx="569205" cy="308470"/>
                        </a:xfrm>
                        <a:prstGeom prst="rect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 smtClean="0"/>
                            <a:t>&lt;&lt;</a:t>
                          </a:r>
                          <a:endParaRPr lang="ru-RU" dirty="0"/>
                        </a:p>
                      </p:txBody>
                    </p:sp>
                    <p:grpSp>
                      <p:nvGrpSpPr>
                        <p:cNvPr id="94" name="Группа 93"/>
                        <p:cNvGrpSpPr/>
                        <p:nvPr/>
                      </p:nvGrpSpPr>
                      <p:grpSpPr>
                        <a:xfrm>
                          <a:off x="4452648" y="1784733"/>
                          <a:ext cx="5726938" cy="2886416"/>
                          <a:chOff x="4452648" y="1784733"/>
                          <a:chExt cx="5726938" cy="2886416"/>
                        </a:xfrm>
                      </p:grpSpPr>
                      <p:sp>
                        <p:nvSpPr>
                          <p:cNvPr id="4" name="Прямоугольник 3"/>
                          <p:cNvSpPr/>
                          <p:nvPr/>
                        </p:nvSpPr>
                        <p:spPr>
                          <a:xfrm>
                            <a:off x="8405869" y="2666083"/>
                            <a:ext cx="1344058" cy="308470"/>
                          </a:xfrm>
                          <a:prstGeom prst="rect">
                            <a:avLst/>
                          </a:prstGeom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 smtClean="0"/>
                              <a:t>&lt;&lt;13</a:t>
                            </a:r>
                            <a:endParaRPr lang="ru-RU" dirty="0"/>
                          </a:p>
                        </p:txBody>
                      </p:sp>
                      <p:sp>
                        <p:nvSpPr>
                          <p:cNvPr id="16" name="Прямоугольник 15"/>
                          <p:cNvSpPr/>
                          <p:nvPr/>
                        </p:nvSpPr>
                        <p:spPr>
                          <a:xfrm>
                            <a:off x="7667738" y="3382179"/>
                            <a:ext cx="308473" cy="308470"/>
                          </a:xfrm>
                          <a:prstGeom prst="rect">
                            <a:avLst/>
                          </a:prstGeom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 smtClean="0"/>
                              <a:t>+</a:t>
                            </a:r>
                            <a:endParaRPr lang="ru-RU" dirty="0"/>
                          </a:p>
                        </p:txBody>
                      </p:sp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30" name="TextBox 29"/>
                              <p:cNvSpPr txBox="1"/>
                              <p:nvPr/>
                            </p:nvSpPr>
                            <p:spPr>
                              <a:xfrm>
                                <a:off x="7770820" y="1938968"/>
                                <a:ext cx="1046783" cy="369332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none" rtlCol="0">
                                <a:spAutoFit/>
                              </a:bodyPr>
                              <a:lstStyle/>
                              <a:p>
                                <a:pPr/>
                                <a14:m>
                                  <m:oMathPara xmlns:m="http://schemas.openxmlformats.org/officeDocument/2006/math">
                                    <m:oMathParaPr>
                                      <m:jc m:val="centerGroup"/>
                                    </m:oMathParaPr>
                                    <m:oMath xmlns:m="http://schemas.openxmlformats.org/officeDocument/2006/math">
                                      <m:sSub>
                                        <m:sSubPr>
                                          <m:ctrlPr>
                                            <a:rPr lang="ru-RU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+5</m:t>
                                          </m:r>
                                        </m:sub>
                                      </m:sSub>
                                    </m:oMath>
                                  </m:oMathPara>
                                </a14:m>
                                <a:endParaRPr lang="ru-RU" dirty="0"/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30" name="TextBox 29"/>
                              <p:cNvSpPr txBox="1"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7770820" y="1938968"/>
                                <a:ext cx="756233" cy="369332"/>
                              </a:xfrm>
                              <a:prstGeom prst="rect">
                                <a:avLst/>
                              </a:prstGeom>
                              <a:blipFill rotWithShape="0">
                                <a:blip r:embed="rId6"/>
                                <a:stretch>
                                  <a:fillRect b="-1667"/>
                                </a:stretch>
                              </a:blipFill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ru-RU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31" name="TextBox 30"/>
                              <p:cNvSpPr txBox="1"/>
                              <p:nvPr/>
                            </p:nvSpPr>
                            <p:spPr>
                              <a:xfrm>
                                <a:off x="7770820" y="3668618"/>
                                <a:ext cx="1046783" cy="369332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none" rtlCol="0">
                                <a:spAutoFit/>
                              </a:bodyPr>
                              <a:lstStyle/>
                              <a:p>
                                <a:pPr/>
                                <a14:m>
                                  <m:oMathPara xmlns:m="http://schemas.openxmlformats.org/officeDocument/2006/math">
                                    <m:oMathParaPr>
                                      <m:jc m:val="centerGroup"/>
                                    </m:oMathParaPr>
                                    <m:oMath xmlns:m="http://schemas.openxmlformats.org/officeDocument/2006/math">
                                      <m:sSub>
                                        <m:sSubPr>
                                          <m:ctrlPr>
                                            <a:rPr lang="ru-RU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+4</m:t>
                                          </m:r>
                                        </m:sub>
                                      </m:sSub>
                                    </m:oMath>
                                  </m:oMathPara>
                                </a14:m>
                                <a:endParaRPr lang="ru-RU" dirty="0"/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31" name="TextBox 30"/>
                              <p:cNvSpPr txBox="1"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7770820" y="3668618"/>
                                <a:ext cx="756233" cy="369332"/>
                              </a:xfrm>
                              <a:prstGeom prst="rect">
                                <a:avLst/>
                              </a:prstGeom>
                              <a:blipFill rotWithShape="0">
                                <a:blip r:embed="rId7"/>
                                <a:stretch>
                                  <a:fillRect b="-1667"/>
                                </a:stretch>
                              </a:blipFill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ru-RU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  <p:grpSp>
                        <p:nvGrpSpPr>
                          <p:cNvPr id="53" name="Группа 52"/>
                          <p:cNvGrpSpPr/>
                          <p:nvPr/>
                        </p:nvGrpSpPr>
                        <p:grpSpPr>
                          <a:xfrm>
                            <a:off x="4452648" y="1784733"/>
                            <a:ext cx="5726938" cy="2886416"/>
                            <a:chOff x="4452648" y="1784733"/>
                            <a:chExt cx="5726938" cy="2886416"/>
                          </a:xfrm>
                        </p:grpSpPr>
                        <p:grpSp>
                          <p:nvGrpSpPr>
                            <p:cNvPr id="44" name="Группа 43"/>
                            <p:cNvGrpSpPr/>
                            <p:nvPr/>
                          </p:nvGrpSpPr>
                          <p:grpSpPr>
                            <a:xfrm>
                              <a:off x="4452648" y="1784733"/>
                              <a:ext cx="5726938" cy="1751682"/>
                              <a:chOff x="4452648" y="1784733"/>
                              <a:chExt cx="5726938" cy="1751682"/>
                            </a:xfrm>
                          </p:grpSpPr>
                          <p:grpSp>
                            <p:nvGrpSpPr>
                              <p:cNvPr id="10" name="Группа 9"/>
                              <p:cNvGrpSpPr/>
                              <p:nvPr/>
                            </p:nvGrpSpPr>
                            <p:grpSpPr>
                              <a:xfrm>
                                <a:off x="7976213" y="2974553"/>
                                <a:ext cx="2203373" cy="561862"/>
                                <a:chOff x="7976213" y="2974553"/>
                                <a:chExt cx="2203373" cy="561862"/>
                              </a:xfrm>
                            </p:grpSpPr>
                            <p:cxnSp>
                              <p:nvCxnSpPr>
                                <p:cNvPr id="6" name="Прямая со стрелкой 5"/>
                                <p:cNvCxnSpPr/>
                                <p:nvPr/>
                              </p:nvCxnSpPr>
                              <p:spPr>
                                <a:xfrm flipH="1">
                                  <a:off x="7976213" y="3536414"/>
                                  <a:ext cx="2203373" cy="0"/>
                                </a:xfrm>
                                <a:prstGeom prst="straightConnector1">
                                  <a:avLst/>
                                </a:prstGeom>
                                <a:ln>
                                  <a:tailEnd type="triangle"/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9" name="Прямая со стрелкой 8"/>
                                <p:cNvCxnSpPr>
                                  <a:endCxn id="4" idx="2"/>
                                </p:cNvCxnSpPr>
                                <p:nvPr/>
                              </p:nvCxnSpPr>
                              <p:spPr>
                                <a:xfrm flipV="1">
                                  <a:off x="9077898" y="2974553"/>
                                  <a:ext cx="0" cy="561862"/>
                                </a:xfrm>
                                <a:prstGeom prst="straightConnector1">
                                  <a:avLst/>
                                </a:prstGeom>
                                <a:ln>
                                  <a:tailEnd type="triangle"/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  <p:cxnSp>
                            <p:nvCxnSpPr>
                              <p:cNvPr id="18" name="Прямая со стрелкой 17"/>
                              <p:cNvCxnSpPr>
                                <a:endCxn id="15" idx="3"/>
                              </p:cNvCxnSpPr>
                              <p:nvPr/>
                            </p:nvCxnSpPr>
                            <p:spPr>
                              <a:xfrm flipH="1">
                                <a:off x="7976210" y="1784733"/>
                                <a:ext cx="1101688" cy="0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21" name="Прямая соединительная линия 20"/>
                              <p:cNvCxnSpPr>
                                <a:stCxn id="4" idx="0"/>
                              </p:cNvCxnSpPr>
                              <p:nvPr/>
                            </p:nvCxnSpPr>
                            <p:spPr>
                              <a:xfrm flipV="1">
                                <a:off x="9077898" y="1784735"/>
                                <a:ext cx="0" cy="881348"/>
                              </a:xfrm>
                              <a:prstGeom prst="line">
                                <a:avLst/>
                              </a:prstGeom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28" name="Прямая со стрелкой 27"/>
                              <p:cNvCxnSpPr>
                                <a:stCxn id="15" idx="1"/>
                                <a:endCxn id="26" idx="3"/>
                              </p:cNvCxnSpPr>
                              <p:nvPr/>
                            </p:nvCxnSpPr>
                            <p:spPr>
                              <a:xfrm flipH="1">
                                <a:off x="6832291" y="1784733"/>
                                <a:ext cx="835446" cy="0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38" name="Прямая со стрелкой 37"/>
                              <p:cNvCxnSpPr>
                                <a:stCxn id="26" idx="1"/>
                                <a:endCxn id="33" idx="3"/>
                              </p:cNvCxnSpPr>
                              <p:nvPr/>
                            </p:nvCxnSpPr>
                            <p:spPr>
                              <a:xfrm flipH="1">
                                <a:off x="4452648" y="1784733"/>
                                <a:ext cx="1810438" cy="0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40" name="Прямая со стрелкой 39"/>
                              <p:cNvCxnSpPr>
                                <a:stCxn id="16" idx="1"/>
                                <a:endCxn id="34" idx="3"/>
                              </p:cNvCxnSpPr>
                              <p:nvPr/>
                            </p:nvCxnSpPr>
                            <p:spPr>
                              <a:xfrm flipH="1" flipV="1">
                                <a:off x="5021853" y="3514383"/>
                                <a:ext cx="2645885" cy="22031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42" name="Прямая со стрелкой 41"/>
                              <p:cNvCxnSpPr>
                                <a:endCxn id="34" idx="0"/>
                              </p:cNvCxnSpPr>
                              <p:nvPr/>
                            </p:nvCxnSpPr>
                            <p:spPr>
                              <a:xfrm>
                                <a:off x="4728069" y="1784733"/>
                                <a:ext cx="9182" cy="1575415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cxnSp>
                          <p:nvCxnSpPr>
                            <p:cNvPr id="50" name="Прямая со стрелкой 49"/>
                            <p:cNvCxnSpPr>
                              <a:endCxn id="48" idx="3"/>
                            </p:cNvCxnSpPr>
                            <p:nvPr/>
                          </p:nvCxnSpPr>
                          <p:spPr>
                            <a:xfrm flipH="1">
                              <a:off x="6832291" y="4671149"/>
                              <a:ext cx="207487" cy="0"/>
                            </a:xfrm>
                            <a:prstGeom prst="straightConnector1">
                              <a:avLst/>
                            </a:prstGeom>
                            <a:ln>
                              <a:tailEnd type="triangl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52" name="Прямая соединительная линия 51"/>
                            <p:cNvCxnSpPr/>
                            <p:nvPr/>
                          </p:nvCxnSpPr>
                          <p:spPr>
                            <a:xfrm>
                              <a:off x="7039778" y="3536414"/>
                              <a:ext cx="0" cy="1134735"/>
                            </a:xfrm>
                            <a:prstGeom prst="line">
                              <a:avLst/>
                            </a:prstGeom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</p:grpSp>
                    <p:sp>
                      <p:nvSpPr>
                        <p:cNvPr id="54" name="Овал 53"/>
                        <p:cNvSpPr/>
                        <p:nvPr/>
                      </p:nvSpPr>
                      <p:spPr>
                        <a:xfrm>
                          <a:off x="5357867" y="4516914"/>
                          <a:ext cx="330506" cy="308470"/>
                        </a:xfrm>
                        <a:prstGeom prst="ellipse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 smtClean="0"/>
                            <a:t>+</a:t>
                          </a:r>
                          <a:endParaRPr lang="ru-RU" dirty="0"/>
                        </a:p>
                      </p:txBody>
                    </p:sp>
                    <p:cxnSp>
                      <p:nvCxnSpPr>
                        <p:cNvPr id="56" name="Прямая со стрелкой 55"/>
                        <p:cNvCxnSpPr>
                          <a:endCxn id="54" idx="0"/>
                        </p:cNvCxnSpPr>
                        <p:nvPr/>
                      </p:nvCxnSpPr>
                      <p:spPr>
                        <a:xfrm>
                          <a:off x="5502795" y="1784733"/>
                          <a:ext cx="20325" cy="2732181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9" name="Прямая со стрелкой 58"/>
                        <p:cNvCxnSpPr>
                          <a:stCxn id="48" idx="1"/>
                          <a:endCxn id="54" idx="6"/>
                        </p:cNvCxnSpPr>
                        <p:nvPr/>
                      </p:nvCxnSpPr>
                      <p:spPr>
                        <a:xfrm flipH="1">
                          <a:off x="5688373" y="4671149"/>
                          <a:ext cx="835445" cy="0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61" name="Овал 60"/>
                        <p:cNvSpPr/>
                        <p:nvPr/>
                      </p:nvSpPr>
                      <p:spPr>
                        <a:xfrm>
                          <a:off x="3315220" y="4538944"/>
                          <a:ext cx="330506" cy="308470"/>
                        </a:xfrm>
                        <a:prstGeom prst="ellipse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 smtClean="0"/>
                            <a:t>+</a:t>
                          </a:r>
                          <a:endParaRPr lang="ru-RU" dirty="0"/>
                        </a:p>
                      </p:txBody>
                    </p:sp>
                    <p:cxnSp>
                      <p:nvCxnSpPr>
                        <p:cNvPr id="63" name="Прямая со стрелкой 62"/>
                        <p:cNvCxnSpPr>
                          <a:stCxn id="54" idx="2"/>
                          <a:endCxn id="61" idx="6"/>
                        </p:cNvCxnSpPr>
                        <p:nvPr/>
                      </p:nvCxnSpPr>
                      <p:spPr>
                        <a:xfrm flipH="1">
                          <a:off x="3645726" y="4671149"/>
                          <a:ext cx="1712141" cy="22030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65" name="Прямоугольник 64"/>
                        <p:cNvSpPr/>
                        <p:nvPr/>
                      </p:nvSpPr>
                      <p:spPr>
                        <a:xfrm>
                          <a:off x="2380494" y="4538944"/>
                          <a:ext cx="569205" cy="308470"/>
                        </a:xfrm>
                        <a:prstGeom prst="rect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 smtClean="0"/>
                            <a:t>&lt;&lt;</a:t>
                          </a:r>
                          <a:endParaRPr lang="ru-RU" dirty="0"/>
                        </a:p>
                      </p:txBody>
                    </p:sp>
                    <p:cxnSp>
                      <p:nvCxnSpPr>
                        <p:cNvPr id="67" name="Прямая со стрелкой 66"/>
                        <p:cNvCxnSpPr>
                          <a:stCxn id="61" idx="2"/>
                          <a:endCxn id="65" idx="3"/>
                        </p:cNvCxnSpPr>
                        <p:nvPr/>
                      </p:nvCxnSpPr>
                      <p:spPr>
                        <a:xfrm flipH="1">
                          <a:off x="2949699" y="4693179"/>
                          <a:ext cx="365521" cy="0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9" name="Прямая соединительная линия 68"/>
                        <p:cNvCxnSpPr>
                          <a:stCxn id="33" idx="1"/>
                        </p:cNvCxnSpPr>
                        <p:nvPr/>
                      </p:nvCxnSpPr>
                      <p:spPr>
                        <a:xfrm flipH="1">
                          <a:off x="2380494" y="1784733"/>
                          <a:ext cx="1502949" cy="0"/>
                        </a:xfrm>
                        <a:prstGeom prst="line">
                          <a:avLst/>
                        </a:prstGeom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1" name="Прямая со стрелкой 70"/>
                        <p:cNvCxnSpPr>
                          <a:endCxn id="61" idx="0"/>
                        </p:cNvCxnSpPr>
                        <p:nvPr/>
                      </p:nvCxnSpPr>
                      <p:spPr>
                        <a:xfrm flipH="1">
                          <a:off x="3480473" y="1784733"/>
                          <a:ext cx="33908" cy="2754211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4" name="Прямая со стрелкой 73"/>
                        <p:cNvCxnSpPr>
                          <a:endCxn id="65" idx="0"/>
                        </p:cNvCxnSpPr>
                        <p:nvPr/>
                      </p:nvCxnSpPr>
                      <p:spPr>
                        <a:xfrm flipH="1">
                          <a:off x="2665097" y="1784733"/>
                          <a:ext cx="34036" cy="2754211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8" name="Прямая со стрелкой 77"/>
                        <p:cNvCxnSpPr/>
                        <p:nvPr/>
                      </p:nvCxnSpPr>
                      <p:spPr>
                        <a:xfrm flipH="1">
                          <a:off x="838200" y="2225407"/>
                          <a:ext cx="399555" cy="0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1" name="Прямая соединительная линия 80"/>
                        <p:cNvCxnSpPr>
                          <a:stCxn id="65" idx="1"/>
                        </p:cNvCxnSpPr>
                        <p:nvPr/>
                      </p:nvCxnSpPr>
                      <p:spPr>
                        <a:xfrm flipH="1" flipV="1">
                          <a:off x="2115239" y="4693172"/>
                          <a:ext cx="265255" cy="7"/>
                        </a:xfrm>
                        <a:prstGeom prst="line">
                          <a:avLst/>
                        </a:prstGeom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3" name="Прямая соединительная линия 82"/>
                        <p:cNvCxnSpPr/>
                        <p:nvPr/>
                      </p:nvCxnSpPr>
                      <p:spPr>
                        <a:xfrm flipH="1" flipV="1">
                          <a:off x="1221211" y="2219895"/>
                          <a:ext cx="893046" cy="2473279"/>
                        </a:xfrm>
                        <a:prstGeom prst="line">
                          <a:avLst/>
                        </a:prstGeom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5" name="Прямая соединительная линия 84"/>
                        <p:cNvCxnSpPr/>
                        <p:nvPr/>
                      </p:nvCxnSpPr>
                      <p:spPr>
                        <a:xfrm flipH="1">
                          <a:off x="1221359" y="1784733"/>
                          <a:ext cx="1157428" cy="2930469"/>
                        </a:xfrm>
                        <a:prstGeom prst="line">
                          <a:avLst/>
                        </a:prstGeom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90" name="TextBox 89"/>
                            <p:cNvSpPr txBox="1"/>
                            <p:nvPr/>
                          </p:nvSpPr>
                          <p:spPr>
                            <a:xfrm>
                              <a:off x="758224" y="1817648"/>
                              <a:ext cx="685060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centerGroup"/>
                                  </m:oMathParaPr>
                                  <m:oMath xmlns:m="http://schemas.openxmlformats.org/officeDocument/2006/math">
                                    <m:sSub>
                                      <m:sSubPr>
                                        <m:ctrlPr>
                                          <a:rPr lang="ru-RU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𝑂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oMath>
                                </m:oMathPara>
                              </a14:m>
                              <a:endParaRPr lang="ru-RU" dirty="0"/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90" name="TextBox 89"/>
                            <p:cNvSpPr txBox="1"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758224" y="1817648"/>
                              <a:ext cx="484940" cy="369332"/>
                            </a:xfrm>
                            <a:prstGeom prst="rect">
                              <a:avLst/>
                            </a:prstGeom>
                            <a:blipFill rotWithShape="0">
                              <a:blip r:embed="rId8"/>
                              <a:stretch>
                                <a:fillRect/>
                              </a:stretch>
                            </a:blipFill>
                          </p:spPr>
                          <p:txBody>
                            <a:bodyPr/>
                            <a:lstStyle/>
                            <a:p>
                              <a:r>
                                <a:rPr lang="ru-RU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91" name="TextBox 90"/>
                            <p:cNvSpPr txBox="1"/>
                            <p:nvPr/>
                          </p:nvSpPr>
                          <p:spPr>
                            <a:xfrm>
                              <a:off x="820585" y="3145051"/>
                              <a:ext cx="692155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centerGroup"/>
                                  </m:oMathParaPr>
                                  <m:oMath xmlns:m="http://schemas.openxmlformats.org/officeDocument/2006/math">
                                    <m:sSub>
                                      <m:sSubPr>
                                        <m:ctrlPr>
                                          <a:rPr lang="ru-RU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𝑂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oMath>
                                </m:oMathPara>
                              </a14:m>
                              <a:endParaRPr lang="ru-RU" dirty="0"/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91" name="TextBox 90"/>
                            <p:cNvSpPr txBox="1"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820585" y="3145051"/>
                              <a:ext cx="490262" cy="369332"/>
                            </a:xfrm>
                            <a:prstGeom prst="rect">
                              <a:avLst/>
                            </a:prstGeom>
                            <a:blipFill rotWithShape="0">
                              <a:blip r:embed="rId9"/>
                              <a:stretch>
                                <a:fillRect/>
                              </a:stretch>
                            </a:blipFill>
                          </p:spPr>
                          <p:txBody>
                            <a:bodyPr/>
                            <a:lstStyle/>
                            <a:p>
                              <a:r>
                                <a:rPr lang="ru-RU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92" name="TextBox 91"/>
                            <p:cNvSpPr txBox="1"/>
                            <p:nvPr/>
                          </p:nvSpPr>
                          <p:spPr>
                            <a:xfrm>
                              <a:off x="791148" y="4362328"/>
                              <a:ext cx="692155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centerGroup"/>
                                  </m:oMathParaPr>
                                  <m:oMath xmlns:m="http://schemas.openxmlformats.org/officeDocument/2006/math">
                                    <m:sSub>
                                      <m:sSubPr>
                                        <m:ctrlPr>
                                          <a:rPr lang="ru-RU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𝑂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oMath>
                                </m:oMathPara>
                              </a14:m>
                              <a:endParaRPr lang="ru-RU" dirty="0"/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92" name="TextBox 91"/>
                            <p:cNvSpPr txBox="1"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791148" y="4362328"/>
                              <a:ext cx="490262" cy="369332"/>
                            </a:xfrm>
                            <a:prstGeom prst="rect">
                              <a:avLst/>
                            </a:prstGeom>
                            <a:blipFill rotWithShape="0">
                              <a:blip r:embed="rId10"/>
                              <a:stretch>
                                <a:fillRect/>
                              </a:stretch>
                            </a:blipFill>
                          </p:spPr>
                          <p:txBody>
                            <a:bodyPr/>
                            <a:lstStyle/>
                            <a:p>
                              <a:r>
                                <a:rPr lang="ru-RU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</p:grpSp>
              </p:grpSp>
            </p:grpSp>
            <p:sp>
              <p:nvSpPr>
                <p:cNvPr id="93" name="TextBox 92"/>
                <p:cNvSpPr txBox="1"/>
                <p:nvPr/>
              </p:nvSpPr>
              <p:spPr>
                <a:xfrm>
                  <a:off x="10179586" y="3360148"/>
                  <a:ext cx="4556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smtClean="0"/>
                    <a:t>A</a:t>
                  </a:r>
                  <a:endParaRPr lang="ru-RU" dirty="0"/>
                </a:p>
              </p:txBody>
            </p: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5866480" y="3668618"/>
                <a:ext cx="3012921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≪13;</m:t>
                      </m:r>
                    </m:oMath>
                  </m:oMathPara>
                </a14:m>
                <a:endParaRPr lang="en-US" b="0" dirty="0" smtClean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b="0" dirty="0" smtClean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dirty="0" smtClean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 smtClean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 smtClean="0"/>
                  <a:t>&lt;&lt;5;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b="0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≪</m:t>
                      </m:r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 smtClean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 smtClean="0"/>
                  <a:t> &lt;&lt; 5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≪</m:t>
                      </m:r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1973" y="3668617"/>
                <a:ext cx="4017228" cy="3139321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9843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46114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Teskari</a:t>
            </a:r>
            <a:r>
              <a:rPr 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kripto</a:t>
            </a:r>
            <a:r>
              <a:rPr 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akslantirish</a:t>
            </a:r>
            <a:endParaRPr lang="ru-RU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7" name="Прямая со стрелкой 16"/>
          <p:cNvCxnSpPr>
            <a:endCxn id="13" idx="3"/>
          </p:cNvCxnSpPr>
          <p:nvPr/>
        </p:nvCxnSpPr>
        <p:spPr>
          <a:xfrm flipH="1">
            <a:off x="6395983" y="2449823"/>
            <a:ext cx="5949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Группа 71"/>
          <p:cNvGrpSpPr/>
          <p:nvPr/>
        </p:nvGrpSpPr>
        <p:grpSpPr>
          <a:xfrm>
            <a:off x="628650" y="826266"/>
            <a:ext cx="7271136" cy="5458644"/>
            <a:chOff x="838200" y="826266"/>
            <a:chExt cx="9694848" cy="5458644"/>
          </a:xfrm>
        </p:grpSpPr>
        <p:cxnSp>
          <p:nvCxnSpPr>
            <p:cNvPr id="68" name="Прямая соединительная линия 67"/>
            <p:cNvCxnSpPr>
              <a:stCxn id="12" idx="2"/>
            </p:cNvCxnSpPr>
            <p:nvPr/>
          </p:nvCxnSpPr>
          <p:spPr>
            <a:xfrm>
              <a:off x="9321192" y="4040330"/>
              <a:ext cx="0" cy="267265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71" name="Группа 70"/>
            <p:cNvGrpSpPr/>
            <p:nvPr/>
          </p:nvGrpSpPr>
          <p:grpSpPr>
            <a:xfrm>
              <a:off x="838200" y="826266"/>
              <a:ext cx="9694848" cy="5458644"/>
              <a:chOff x="838200" y="826266"/>
              <a:chExt cx="9694848" cy="5458644"/>
            </a:xfrm>
          </p:grpSpPr>
          <p:grpSp>
            <p:nvGrpSpPr>
              <p:cNvPr id="66" name="Группа 65"/>
              <p:cNvGrpSpPr/>
              <p:nvPr/>
            </p:nvGrpSpPr>
            <p:grpSpPr>
              <a:xfrm>
                <a:off x="838200" y="826266"/>
                <a:ext cx="9694848" cy="5458644"/>
                <a:chOff x="838200" y="826266"/>
                <a:chExt cx="9694848" cy="5458644"/>
              </a:xfrm>
            </p:grpSpPr>
            <p:grpSp>
              <p:nvGrpSpPr>
                <p:cNvPr id="46" name="Группа 45"/>
                <p:cNvGrpSpPr/>
                <p:nvPr/>
              </p:nvGrpSpPr>
              <p:grpSpPr>
                <a:xfrm>
                  <a:off x="838200" y="826266"/>
                  <a:ext cx="9694848" cy="5458644"/>
                  <a:chOff x="838200" y="826266"/>
                  <a:chExt cx="9694848" cy="5458644"/>
                </a:xfrm>
              </p:grpSpPr>
              <p:grpSp>
                <p:nvGrpSpPr>
                  <p:cNvPr id="42" name="Группа 41"/>
                  <p:cNvGrpSpPr/>
                  <p:nvPr/>
                </p:nvGrpSpPr>
                <p:grpSpPr>
                  <a:xfrm>
                    <a:off x="838200" y="826266"/>
                    <a:ext cx="9694848" cy="5458644"/>
                    <a:chOff x="835815" y="862587"/>
                    <a:chExt cx="9694848" cy="5458644"/>
                  </a:xfrm>
                </p:grpSpPr>
                <p:grpSp>
                  <p:nvGrpSpPr>
                    <p:cNvPr id="26" name="Группа 25"/>
                    <p:cNvGrpSpPr/>
                    <p:nvPr/>
                  </p:nvGrpSpPr>
                  <p:grpSpPr>
                    <a:xfrm>
                      <a:off x="835815" y="862587"/>
                      <a:ext cx="9694848" cy="5458644"/>
                      <a:chOff x="835815" y="862587"/>
                      <a:chExt cx="9694848" cy="5458644"/>
                    </a:xfrm>
                  </p:grpSpPr>
                  <p:grpSp>
                    <p:nvGrpSpPr>
                      <p:cNvPr id="22" name="Группа 21"/>
                      <p:cNvGrpSpPr/>
                      <p:nvPr/>
                    </p:nvGrpSpPr>
                    <p:grpSpPr>
                      <a:xfrm>
                        <a:off x="835815" y="862587"/>
                        <a:ext cx="9694848" cy="5458644"/>
                        <a:chOff x="835815" y="862587"/>
                        <a:chExt cx="9694848" cy="5458644"/>
                      </a:xfrm>
                    </p:grpSpPr>
                    <p:grpSp>
                      <p:nvGrpSpPr>
                        <p:cNvPr id="18" name="Группа 17"/>
                        <p:cNvGrpSpPr/>
                        <p:nvPr/>
                      </p:nvGrpSpPr>
                      <p:grpSpPr>
                        <a:xfrm>
                          <a:off x="835815" y="862587"/>
                          <a:ext cx="9694848" cy="5458644"/>
                          <a:chOff x="835815" y="862587"/>
                          <a:chExt cx="9694848" cy="5458644"/>
                        </a:xfrm>
                      </p:grpSpPr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4" name="Прямоугольник 3"/>
                              <p:cNvSpPr/>
                              <p:nvPr/>
                            </p:nvSpPr>
                            <p:spPr>
                              <a:xfrm>
                                <a:off x="838200" y="5935641"/>
                                <a:ext cx="2423712" cy="385590"/>
                              </a:xfrm>
                              <a:prstGeom prst="rect">
                                <a:avLst/>
                              </a:prstGeom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14:m>
                                  <m:oMathPara xmlns:m="http://schemas.openxmlformats.org/officeDocument/2006/math">
                                    <m:oMathParaPr>
                                      <m:jc m:val="centerGroup"/>
                                    </m:oMathParaPr>
                                    <m:oMath xmlns:m="http://schemas.openxmlformats.org/officeDocument/2006/math">
                                      <m:sSup>
                                        <m:sSupPr>
                                          <m:ctrlPr>
                                            <a:rPr lang="ru-RU" i="1" smtClean="0"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oMath>
                                  </m:oMathPara>
                                </a14:m>
                                <a:endParaRPr lang="ru-RU" dirty="0"/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4" name="Прямоугольник 3"/>
                              <p:cNvSpPr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838200" y="5935641"/>
                                <a:ext cx="2423712" cy="385590"/>
                              </a:xfrm>
                              <a:prstGeom prst="rect">
                                <a:avLst/>
                              </a:prstGeom>
                              <a:blipFill rotWithShape="0">
                                <a:blip r:embed="rId3"/>
                                <a:stretch>
                                  <a:fillRect/>
                                </a:stretch>
                              </a:blipFill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ru-RU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  <p:sp>
                        <p:nvSpPr>
                          <p:cNvPr id="5" name="Прямоугольник 4"/>
                          <p:cNvSpPr/>
                          <p:nvPr/>
                        </p:nvSpPr>
                        <p:spPr>
                          <a:xfrm>
                            <a:off x="835815" y="862587"/>
                            <a:ext cx="2423712" cy="385590"/>
                          </a:xfrm>
                          <a:prstGeom prst="rect">
                            <a:avLst/>
                          </a:prstGeom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 smtClean="0"/>
                              <a:t>D</a:t>
                            </a:r>
                            <a:endParaRPr lang="ru-RU" dirty="0"/>
                          </a:p>
                        </p:txBody>
                      </p:sp>
                      <p:sp>
                        <p:nvSpPr>
                          <p:cNvPr id="6" name="Прямоугольник 5"/>
                          <p:cNvSpPr/>
                          <p:nvPr/>
                        </p:nvSpPr>
                        <p:spPr>
                          <a:xfrm>
                            <a:off x="3259527" y="862587"/>
                            <a:ext cx="2423712" cy="385590"/>
                          </a:xfrm>
                          <a:prstGeom prst="rect">
                            <a:avLst/>
                          </a:prstGeom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 smtClean="0"/>
                              <a:t>C</a:t>
                            </a:r>
                            <a:endParaRPr lang="ru-RU" dirty="0"/>
                          </a:p>
                        </p:txBody>
                      </p:sp>
                      <p:sp>
                        <p:nvSpPr>
                          <p:cNvPr id="7" name="Прямоугольник 6"/>
                          <p:cNvSpPr/>
                          <p:nvPr/>
                        </p:nvSpPr>
                        <p:spPr>
                          <a:xfrm>
                            <a:off x="5683239" y="862587"/>
                            <a:ext cx="2423712" cy="385590"/>
                          </a:xfrm>
                          <a:prstGeom prst="rect">
                            <a:avLst/>
                          </a:prstGeom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 smtClean="0"/>
                              <a:t>B</a:t>
                            </a:r>
                            <a:endParaRPr lang="ru-RU" dirty="0"/>
                          </a:p>
                        </p:txBody>
                      </p:sp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8" name="Прямоугольник 7"/>
                              <p:cNvSpPr/>
                              <p:nvPr/>
                            </p:nvSpPr>
                            <p:spPr>
                              <a:xfrm>
                                <a:off x="8106951" y="862587"/>
                                <a:ext cx="2423712" cy="385590"/>
                              </a:xfrm>
                              <a:prstGeom prst="rect">
                                <a:avLst/>
                              </a:prstGeom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14:m>
                                  <m:oMathPara xmlns:m="http://schemas.openxmlformats.org/officeDocument/2006/math">
                                    <m:oMathParaPr>
                                      <m:jc m:val="centerGroup"/>
                                    </m:oMathParaPr>
                                    <m:oMath xmlns:m="http://schemas.openxmlformats.org/officeDocument/2006/math"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oMath>
                                  </m:oMathPara>
                                </a14:m>
                                <a:endParaRPr lang="ru-RU" dirty="0"/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8" name="Прямоугольник 7"/>
                              <p:cNvSpPr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8106951" y="862587"/>
                                <a:ext cx="2423712" cy="385590"/>
                              </a:xfrm>
                              <a:prstGeom prst="rect">
                                <a:avLst/>
                              </a:prstGeom>
                              <a:blipFill rotWithShape="0">
                                <a:blip r:embed="rId4"/>
                                <a:stretch>
                                  <a:fillRect/>
                                </a:stretch>
                              </a:blipFill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ru-RU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9" name="Прямоугольник 8"/>
                              <p:cNvSpPr/>
                              <p:nvPr/>
                            </p:nvSpPr>
                            <p:spPr>
                              <a:xfrm>
                                <a:off x="3259527" y="5935641"/>
                                <a:ext cx="2423712" cy="385590"/>
                              </a:xfrm>
                              <a:prstGeom prst="rect">
                                <a:avLst/>
                              </a:prstGeom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14:m>
                                  <m:oMathPara xmlns:m="http://schemas.openxmlformats.org/officeDocument/2006/math">
                                    <m:oMathParaPr>
                                      <m:jc m:val="centerGroup"/>
                                    </m:oMathParaPr>
                                    <m:oMath xmlns:m="http://schemas.openxmlformats.org/officeDocument/2006/math">
                                      <m:sSup>
                                        <m:sSupPr>
                                          <m:ctrlPr>
                                            <a:rPr lang="en-US" i="1" smtClean="0"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oMath>
                                  </m:oMathPara>
                                </a14:m>
                                <a:endParaRPr lang="ru-RU" dirty="0"/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9" name="Прямоугольник 8"/>
                              <p:cNvSpPr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3259527" y="5935641"/>
                                <a:ext cx="2423712" cy="385590"/>
                              </a:xfrm>
                              <a:prstGeom prst="rect">
                                <a:avLst/>
                              </a:prstGeom>
                              <a:blipFill rotWithShape="0">
                                <a:blip r:embed="rId5"/>
                                <a:stretch>
                                  <a:fillRect/>
                                </a:stretch>
                              </a:blipFill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ru-RU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10" name="Прямоугольник 9"/>
                              <p:cNvSpPr/>
                              <p:nvPr/>
                            </p:nvSpPr>
                            <p:spPr>
                              <a:xfrm>
                                <a:off x="5683239" y="5935641"/>
                                <a:ext cx="2423712" cy="385590"/>
                              </a:xfrm>
                              <a:prstGeom prst="rect">
                                <a:avLst/>
                              </a:prstGeom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14:m>
                                  <m:oMathPara xmlns:m="http://schemas.openxmlformats.org/officeDocument/2006/math">
                                    <m:oMathParaPr>
                                      <m:jc m:val="centerGroup"/>
                                    </m:oMathParaPr>
                                    <m:oMath xmlns:m="http://schemas.openxmlformats.org/officeDocument/2006/math">
                                      <m:sSup>
                                        <m:sSupPr>
                                          <m:ctrlPr>
                                            <a:rPr lang="en-US" i="1" smtClean="0"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oMath>
                                  </m:oMathPara>
                                </a14:m>
                                <a:endParaRPr lang="ru-RU" dirty="0"/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10" name="Прямоугольник 9"/>
                              <p:cNvSpPr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5683239" y="5935641"/>
                                <a:ext cx="2423712" cy="385590"/>
                              </a:xfrm>
                              <a:prstGeom prst="rect">
                                <a:avLst/>
                              </a:prstGeom>
                              <a:blipFill rotWithShape="0">
                                <a:blip r:embed="rId6"/>
                                <a:stretch>
                                  <a:fillRect/>
                                </a:stretch>
                              </a:blipFill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ru-RU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11" name="Прямоугольник 10"/>
                              <p:cNvSpPr/>
                              <p:nvPr/>
                            </p:nvSpPr>
                            <p:spPr>
                              <a:xfrm>
                                <a:off x="8106951" y="5935641"/>
                                <a:ext cx="2423712" cy="385590"/>
                              </a:xfrm>
                              <a:prstGeom prst="rect">
                                <a:avLst/>
                              </a:prstGeom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14:m>
                                  <m:oMathPara xmlns:m="http://schemas.openxmlformats.org/officeDocument/2006/math">
                                    <m:oMathParaPr>
                                      <m:jc m:val="centerGroup"/>
                                    </m:oMathParaPr>
                                    <m:oMath xmlns:m="http://schemas.openxmlformats.org/officeDocument/2006/math">
                                      <m:sSup>
                                        <m:sSupPr>
                                          <m:ctrlPr>
                                            <a:rPr lang="en-US" i="1" dirty="0" smtClean="0"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oMath>
                                  </m:oMathPara>
                                </a14:m>
                                <a:endParaRPr lang="ru-RU" dirty="0"/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11" name="Прямоугольник 10"/>
                              <p:cNvSpPr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8106951" y="5935641"/>
                                <a:ext cx="2423712" cy="385590"/>
                              </a:xfrm>
                              <a:prstGeom prst="rect">
                                <a:avLst/>
                              </a:prstGeom>
                              <a:blipFill rotWithShape="0">
                                <a:blip r:embed="rId7"/>
                                <a:stretch>
                                  <a:fillRect/>
                                </a:stretch>
                              </a:blipFill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ru-RU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  <p:sp>
                        <p:nvSpPr>
                          <p:cNvPr id="12" name="Прямоугольник 11"/>
                          <p:cNvSpPr/>
                          <p:nvPr/>
                        </p:nvSpPr>
                        <p:spPr>
                          <a:xfrm>
                            <a:off x="8911183" y="3724111"/>
                            <a:ext cx="815248" cy="352540"/>
                          </a:xfrm>
                          <a:prstGeom prst="rect">
                            <a:avLst/>
                          </a:prstGeom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 smtClean="0"/>
                              <a:t>&lt;&lt;13</a:t>
                            </a:r>
                            <a:endParaRPr lang="ru-RU" dirty="0"/>
                          </a:p>
                        </p:txBody>
                      </p:sp>
                      <p:sp>
                        <p:nvSpPr>
                          <p:cNvPr id="13" name="Прямоугольник 12"/>
                          <p:cNvSpPr/>
                          <p:nvPr/>
                        </p:nvSpPr>
                        <p:spPr>
                          <a:xfrm>
                            <a:off x="8151020" y="1714963"/>
                            <a:ext cx="374573" cy="1542362"/>
                          </a:xfrm>
                          <a:prstGeom prst="rect">
                            <a:avLst/>
                          </a:prstGeom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 smtClean="0"/>
                              <a:t>E</a:t>
                            </a:r>
                            <a:endParaRPr lang="ru-RU" dirty="0"/>
                          </a:p>
                        </p:txBody>
                      </p:sp>
                      <p:cxnSp>
                        <p:nvCxnSpPr>
                          <p:cNvPr id="15" name="Прямая со стрелкой 14"/>
                          <p:cNvCxnSpPr>
                            <a:stCxn id="8" idx="2"/>
                            <a:endCxn id="12" idx="0"/>
                          </p:cNvCxnSpPr>
                          <p:nvPr/>
                        </p:nvCxnSpPr>
                        <p:spPr>
                          <a:xfrm>
                            <a:off x="9318807" y="1248177"/>
                            <a:ext cx="0" cy="2475934"/>
                          </a:xfrm>
                          <a:prstGeom prst="straightConnector1">
                            <a:avLst/>
                          </a:prstGeom>
                          <a:ln>
                            <a:tailEnd type="triangle"/>
                          </a:ln>
                        </p:spPr>
                        <p:style>
                          <a:lnRef idx="1">
                            <a:schemeClr val="accent2"/>
                          </a:lnRef>
                          <a:fillRef idx="0">
                            <a:schemeClr val="accent2"/>
                          </a:fillRef>
                          <a:effectRef idx="0">
                            <a:schemeClr val="accent2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19" name="Прямоугольник 18"/>
                        <p:cNvSpPr/>
                        <p:nvPr/>
                      </p:nvSpPr>
                      <p:spPr>
                        <a:xfrm>
                          <a:off x="1832842" y="1905918"/>
                          <a:ext cx="429658" cy="374573"/>
                        </a:xfrm>
                        <a:prstGeom prst="rect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 smtClean="0"/>
                            <a:t>+</a:t>
                          </a:r>
                          <a:endParaRPr lang="ru-RU" dirty="0"/>
                        </a:p>
                      </p:txBody>
                    </p:sp>
                    <p:cxnSp>
                      <p:nvCxnSpPr>
                        <p:cNvPr id="21" name="Прямая со стрелкой 20"/>
                        <p:cNvCxnSpPr>
                          <a:stCxn id="5" idx="2"/>
                          <a:endCxn id="19" idx="0"/>
                        </p:cNvCxnSpPr>
                        <p:nvPr/>
                      </p:nvCxnSpPr>
                      <p:spPr>
                        <a:xfrm>
                          <a:off x="2047671" y="1248177"/>
                          <a:ext cx="0" cy="657741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27" name="Прямоугольник 26"/>
                        <p:cNvSpPr/>
                        <p:nvPr/>
                      </p:nvSpPr>
                      <p:spPr>
                        <a:xfrm>
                          <a:off x="4245536" y="2311912"/>
                          <a:ext cx="429658" cy="374573"/>
                        </a:xfrm>
                        <a:prstGeom prst="rect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 smtClean="0"/>
                            <a:t>+</a:t>
                          </a:r>
                          <a:endParaRPr lang="ru-RU" dirty="0"/>
                        </a:p>
                      </p:txBody>
                    </p:sp>
                    <p:cxnSp>
                      <p:nvCxnSpPr>
                        <p:cNvPr id="28" name="Прямая со стрелкой 27"/>
                        <p:cNvCxnSpPr>
                          <a:stCxn id="6" idx="2"/>
                          <a:endCxn id="27" idx="0"/>
                        </p:cNvCxnSpPr>
                        <p:nvPr/>
                      </p:nvCxnSpPr>
                      <p:spPr>
                        <a:xfrm flipH="1">
                          <a:off x="4460365" y="1248177"/>
                          <a:ext cx="11018" cy="1063735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accent6"/>
                        </a:lnRef>
                        <a:fillRef idx="0">
                          <a:schemeClr val="accent6"/>
                        </a:fillRef>
                        <a:effectRef idx="0">
                          <a:schemeClr val="accent6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24" name="Прямая со стрелкой 23"/>
                      <p:cNvCxnSpPr>
                        <a:endCxn id="19" idx="3"/>
                      </p:cNvCxnSpPr>
                      <p:nvPr/>
                    </p:nvCxnSpPr>
                    <p:spPr>
                      <a:xfrm flipH="1">
                        <a:off x="2262500" y="2093204"/>
                        <a:ext cx="5888520" cy="1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9" name="Прямая со стрелкой 28"/>
                      <p:cNvCxnSpPr>
                        <a:stCxn id="13" idx="1"/>
                        <a:endCxn id="27" idx="3"/>
                      </p:cNvCxnSpPr>
                      <p:nvPr/>
                    </p:nvCxnSpPr>
                    <p:spPr>
                      <a:xfrm flipH="1">
                        <a:off x="4675194" y="2486144"/>
                        <a:ext cx="3475826" cy="13055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34" name="Овал 33"/>
                    <p:cNvSpPr/>
                    <p:nvPr/>
                  </p:nvSpPr>
                  <p:spPr>
                    <a:xfrm>
                      <a:off x="6718825" y="2797470"/>
                      <a:ext cx="352540" cy="337855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 smtClean="0"/>
                        <a:t>+</a:t>
                      </a:r>
                      <a:endParaRPr lang="ru-RU" dirty="0"/>
                    </a:p>
                  </p:txBody>
                </p:sp>
                <p:cxnSp>
                  <p:nvCxnSpPr>
                    <p:cNvPr id="36" name="Прямая со стрелкой 35"/>
                    <p:cNvCxnSpPr>
                      <a:stCxn id="7" idx="2"/>
                      <a:endCxn id="34" idx="0"/>
                    </p:cNvCxnSpPr>
                    <p:nvPr/>
                  </p:nvCxnSpPr>
                  <p:spPr>
                    <a:xfrm>
                      <a:off x="6895095" y="1248177"/>
                      <a:ext cx="0" cy="1549293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4"/>
                    </a:lnRef>
                    <a:fillRef idx="0">
                      <a:schemeClr val="accent4"/>
                    </a:fillRef>
                    <a:effectRef idx="0">
                      <a:schemeClr val="accent4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" name="Прямая со стрелкой 39"/>
                    <p:cNvCxnSpPr>
                      <a:endCxn id="34" idx="6"/>
                    </p:cNvCxnSpPr>
                    <p:nvPr/>
                  </p:nvCxnSpPr>
                  <p:spPr>
                    <a:xfrm flipH="1">
                      <a:off x="7071365" y="2965985"/>
                      <a:ext cx="1079655" cy="413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3" name="TextBox 42"/>
                      <p:cNvSpPr txBox="1"/>
                      <p:nvPr/>
                    </p:nvSpPr>
                    <p:spPr>
                      <a:xfrm>
                        <a:off x="7611192" y="1712069"/>
                        <a:ext cx="685060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ru-RU" dirty="0"/>
                      </a:p>
                    </p:txBody>
                  </p:sp>
                </mc:Choice>
                <mc:Fallback xmlns="">
                  <p:sp>
                    <p:nvSpPr>
                      <p:cNvPr id="43" name="TextBox 42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611192" y="1712069"/>
                        <a:ext cx="490262" cy="369332"/>
                      </a:xfrm>
                      <a:prstGeom prst="rect">
                        <a:avLst/>
                      </a:prstGeom>
                      <a:blipFill rotWithShape="0">
                        <a:blip r:embed="rId8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ru-RU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4" name="TextBox 43"/>
                      <p:cNvSpPr txBox="1"/>
                      <p:nvPr/>
                    </p:nvSpPr>
                    <p:spPr>
                      <a:xfrm>
                        <a:off x="7611192" y="2107334"/>
                        <a:ext cx="692155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ru-RU" dirty="0"/>
                      </a:p>
                    </p:txBody>
                  </p:sp>
                </mc:Choice>
                <mc:Fallback xmlns="">
                  <p:sp>
                    <p:nvSpPr>
                      <p:cNvPr id="44" name="TextBox 43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611192" y="2107334"/>
                        <a:ext cx="490262" cy="369332"/>
                      </a:xfrm>
                      <a:prstGeom prst="rect">
                        <a:avLst/>
                      </a:prstGeom>
                      <a:blipFill rotWithShape="0"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ru-RU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5" name="TextBox 44"/>
                      <p:cNvSpPr txBox="1"/>
                      <p:nvPr/>
                    </p:nvSpPr>
                    <p:spPr>
                      <a:xfrm>
                        <a:off x="7604383" y="2576483"/>
                        <a:ext cx="692155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ru-RU" dirty="0"/>
                      </a:p>
                    </p:txBody>
                  </p:sp>
                </mc:Choice>
                <mc:Fallback xmlns="">
                  <p:sp>
                    <p:nvSpPr>
                      <p:cNvPr id="45" name="TextBox 44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604382" y="2576483"/>
                        <a:ext cx="490262" cy="369332"/>
                      </a:xfrm>
                      <a:prstGeom prst="rect">
                        <a:avLst/>
                      </a:prstGeom>
                      <a:blipFill rotWithShape="0">
                        <a:blip r:embed="rId10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ru-RU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48" name="Прямая со стрелкой 47"/>
                <p:cNvCxnSpPr>
                  <a:endCxn id="4" idx="0"/>
                </p:cNvCxnSpPr>
                <p:nvPr/>
              </p:nvCxnSpPr>
              <p:spPr>
                <a:xfrm>
                  <a:off x="2050056" y="5486400"/>
                  <a:ext cx="2385" cy="4129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Прямая со стрелкой 49"/>
                <p:cNvCxnSpPr/>
                <p:nvPr/>
              </p:nvCxnSpPr>
              <p:spPr>
                <a:xfrm>
                  <a:off x="4472576" y="5486400"/>
                  <a:ext cx="2385" cy="4129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Прямая со стрелкой 50"/>
                <p:cNvCxnSpPr/>
                <p:nvPr/>
              </p:nvCxnSpPr>
              <p:spPr>
                <a:xfrm>
                  <a:off x="6891518" y="5486400"/>
                  <a:ext cx="2385" cy="4129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Прямая со стрелкой 51"/>
                <p:cNvCxnSpPr/>
                <p:nvPr/>
              </p:nvCxnSpPr>
              <p:spPr>
                <a:xfrm>
                  <a:off x="9315230" y="5486400"/>
                  <a:ext cx="2385" cy="4129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Прямая соединительная линия 53"/>
                <p:cNvCxnSpPr>
                  <a:stCxn id="34" idx="4"/>
                </p:cNvCxnSpPr>
                <p:nvPr/>
              </p:nvCxnSpPr>
              <p:spPr>
                <a:xfrm>
                  <a:off x="6897480" y="3099004"/>
                  <a:ext cx="1193" cy="941326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Прямая соединительная линия 54"/>
                <p:cNvCxnSpPr>
                  <a:stCxn id="27" idx="2"/>
                </p:cNvCxnSpPr>
                <p:nvPr/>
              </p:nvCxnSpPr>
              <p:spPr>
                <a:xfrm>
                  <a:off x="4462750" y="2650164"/>
                  <a:ext cx="0" cy="1213896"/>
                </a:xfrm>
                <a:prstGeom prst="line">
                  <a:avLst/>
                </a:prstGeom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Прямая соединительная линия 56"/>
                <p:cNvCxnSpPr>
                  <a:stCxn id="19" idx="2"/>
                </p:cNvCxnSpPr>
                <p:nvPr/>
              </p:nvCxnSpPr>
              <p:spPr>
                <a:xfrm>
                  <a:off x="2050056" y="2244170"/>
                  <a:ext cx="0" cy="161989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Прямая соединительная линия 60"/>
                <p:cNvCxnSpPr/>
                <p:nvPr/>
              </p:nvCxnSpPr>
              <p:spPr>
                <a:xfrm>
                  <a:off x="2050056" y="3864060"/>
                  <a:ext cx="2422520" cy="162234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Прямая соединительная линия 62"/>
                <p:cNvCxnSpPr/>
                <p:nvPr/>
              </p:nvCxnSpPr>
              <p:spPr>
                <a:xfrm>
                  <a:off x="4462750" y="3864060"/>
                  <a:ext cx="2444555" cy="1619890"/>
                </a:xfrm>
                <a:prstGeom prst="line">
                  <a:avLst/>
                </a:prstGeom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Прямая соединительная линия 64"/>
                <p:cNvCxnSpPr/>
                <p:nvPr/>
              </p:nvCxnSpPr>
              <p:spPr>
                <a:xfrm>
                  <a:off x="6897480" y="4012172"/>
                  <a:ext cx="2415365" cy="1471778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0" name="Прямая соединительная линия 69"/>
              <p:cNvCxnSpPr/>
              <p:nvPr/>
            </p:nvCxnSpPr>
            <p:spPr>
              <a:xfrm flipH="1">
                <a:off x="2050056" y="4307595"/>
                <a:ext cx="7271136" cy="1176355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211281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253389"/>
            <a:ext cx="7886700" cy="45169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Teskari</a:t>
            </a:r>
            <a:r>
              <a:rPr lang="en-US" dirty="0"/>
              <a:t> </a:t>
            </a:r>
            <a:r>
              <a:rPr lang="en-US" dirty="0" err="1"/>
              <a:t>almashtirish</a:t>
            </a: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6738882" y="2225408"/>
            <a:ext cx="504022" cy="2974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&lt;&lt;8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6738882" y="3291183"/>
            <a:ext cx="504022" cy="2974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&lt;&lt;8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6738882" y="4343080"/>
            <a:ext cx="504022" cy="2974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&lt;&lt;8</a:t>
            </a:r>
            <a:endParaRPr lang="ru-RU" dirty="0"/>
          </a:p>
        </p:txBody>
      </p:sp>
      <p:cxnSp>
        <p:nvCxnSpPr>
          <p:cNvPr id="16" name="Прямая со стрелкой 15"/>
          <p:cNvCxnSpPr>
            <a:stCxn id="8" idx="2"/>
            <a:endCxn id="12" idx="0"/>
          </p:cNvCxnSpPr>
          <p:nvPr/>
        </p:nvCxnSpPr>
        <p:spPr>
          <a:xfrm flipH="1">
            <a:off x="6990894" y="1211857"/>
            <a:ext cx="1" cy="1013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>
            <a:stCxn id="12" idx="2"/>
            <a:endCxn id="13" idx="0"/>
          </p:cNvCxnSpPr>
          <p:nvPr/>
        </p:nvCxnSpPr>
        <p:spPr>
          <a:xfrm>
            <a:off x="6990893" y="2522862"/>
            <a:ext cx="0" cy="768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13" idx="2"/>
            <a:endCxn id="14" idx="0"/>
          </p:cNvCxnSpPr>
          <p:nvPr/>
        </p:nvCxnSpPr>
        <p:spPr>
          <a:xfrm>
            <a:off x="6990893" y="3588637"/>
            <a:ext cx="0" cy="754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endCxn id="4" idx="0"/>
          </p:cNvCxnSpPr>
          <p:nvPr/>
        </p:nvCxnSpPr>
        <p:spPr>
          <a:xfrm>
            <a:off x="1528590" y="5980943"/>
            <a:ext cx="10741" cy="335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Прямоугольник 29"/>
              <p:cNvSpPr/>
              <p:nvPr/>
            </p:nvSpPr>
            <p:spPr>
              <a:xfrm>
                <a:off x="5829989" y="2751358"/>
                <a:ext cx="504022" cy="2974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0" name="Прямоугольник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3319" y="2751357"/>
                <a:ext cx="672029" cy="297455"/>
              </a:xfrm>
              <a:prstGeom prst="rect">
                <a:avLst/>
              </a:prstGeom>
              <a:blipFill rotWithShape="0">
                <a:blip r:embed="rId3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Прямоугольник 30"/>
              <p:cNvSpPr/>
              <p:nvPr/>
            </p:nvSpPr>
            <p:spPr>
              <a:xfrm>
                <a:off x="5841006" y="3764910"/>
                <a:ext cx="504022" cy="2974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1" name="Прямоугольник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008" y="3764909"/>
                <a:ext cx="672029" cy="297455"/>
              </a:xfrm>
              <a:prstGeom prst="rect">
                <a:avLst/>
              </a:prstGeom>
              <a:blipFill rotWithShape="0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Прямоугольник 31"/>
              <p:cNvSpPr/>
              <p:nvPr/>
            </p:nvSpPr>
            <p:spPr>
              <a:xfrm>
                <a:off x="5841006" y="4851289"/>
                <a:ext cx="504022" cy="2974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2" name="Прямоугольник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008" y="4851288"/>
                <a:ext cx="672029" cy="297455"/>
              </a:xfrm>
              <a:prstGeom prst="rect">
                <a:avLst/>
              </a:prstGeom>
              <a:blipFill rotWithShape="0">
                <a:blip r:embed="rId5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Прямая соединительная линия 39"/>
          <p:cNvCxnSpPr>
            <a:stCxn id="14" idx="2"/>
          </p:cNvCxnSpPr>
          <p:nvPr/>
        </p:nvCxnSpPr>
        <p:spPr>
          <a:xfrm flipH="1">
            <a:off x="6987317" y="4640534"/>
            <a:ext cx="3577" cy="66959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/>
          <p:nvPr/>
        </p:nvCxnSpPr>
        <p:spPr>
          <a:xfrm flipV="1">
            <a:off x="1528590" y="5310130"/>
            <a:ext cx="5458727" cy="70916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4" name="Овал 63"/>
          <p:cNvSpPr/>
          <p:nvPr/>
        </p:nvSpPr>
        <p:spPr>
          <a:xfrm>
            <a:off x="5035747" y="1655393"/>
            <a:ext cx="259583" cy="2974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ru-RU" dirty="0"/>
          </a:p>
        </p:txBody>
      </p:sp>
      <p:cxnSp>
        <p:nvCxnSpPr>
          <p:cNvPr id="68" name="Прямая со стрелкой 67"/>
          <p:cNvCxnSpPr>
            <a:stCxn id="29" idx="1"/>
            <a:endCxn id="64" idx="6"/>
          </p:cNvCxnSpPr>
          <p:nvPr/>
        </p:nvCxnSpPr>
        <p:spPr>
          <a:xfrm flipH="1" flipV="1">
            <a:off x="5295330" y="1804120"/>
            <a:ext cx="534661" cy="12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Прямоугольник 73"/>
          <p:cNvSpPr/>
          <p:nvPr/>
        </p:nvSpPr>
        <p:spPr>
          <a:xfrm>
            <a:off x="3239650" y="2751358"/>
            <a:ext cx="214829" cy="2974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-</a:t>
            </a:r>
            <a:endParaRPr lang="ru-RU" dirty="0"/>
          </a:p>
        </p:txBody>
      </p:sp>
      <p:cxnSp>
        <p:nvCxnSpPr>
          <p:cNvPr id="78" name="Прямая со стрелкой 77"/>
          <p:cNvCxnSpPr>
            <a:stCxn id="30" idx="1"/>
            <a:endCxn id="74" idx="3"/>
          </p:cNvCxnSpPr>
          <p:nvPr/>
        </p:nvCxnSpPr>
        <p:spPr>
          <a:xfrm flipH="1">
            <a:off x="3454478" y="2900085"/>
            <a:ext cx="23755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Прямоугольник 85"/>
          <p:cNvSpPr/>
          <p:nvPr/>
        </p:nvSpPr>
        <p:spPr>
          <a:xfrm>
            <a:off x="1431917" y="3764910"/>
            <a:ext cx="195825" cy="2974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-</a:t>
            </a:r>
            <a:endParaRPr lang="ru-RU" dirty="0"/>
          </a:p>
        </p:txBody>
      </p:sp>
      <p:sp>
        <p:nvSpPr>
          <p:cNvPr id="89" name="Овал 88"/>
          <p:cNvSpPr/>
          <p:nvPr/>
        </p:nvSpPr>
        <p:spPr>
          <a:xfrm>
            <a:off x="1414118" y="4905659"/>
            <a:ext cx="228944" cy="2794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ru-RU" dirty="0"/>
          </a:p>
        </p:txBody>
      </p:sp>
      <p:cxnSp>
        <p:nvCxnSpPr>
          <p:cNvPr id="91" name="Прямая со стрелкой 90"/>
          <p:cNvCxnSpPr>
            <a:stCxn id="52" idx="1"/>
            <a:endCxn id="86" idx="3"/>
          </p:cNvCxnSpPr>
          <p:nvPr/>
        </p:nvCxnSpPr>
        <p:spPr>
          <a:xfrm flipH="1">
            <a:off x="1627742" y="3913637"/>
            <a:ext cx="42132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Прямая со стрелкой 96"/>
          <p:cNvCxnSpPr>
            <a:stCxn id="53" idx="1"/>
            <a:endCxn id="89" idx="6"/>
          </p:cNvCxnSpPr>
          <p:nvPr/>
        </p:nvCxnSpPr>
        <p:spPr>
          <a:xfrm flipH="1">
            <a:off x="1643062" y="5000016"/>
            <a:ext cx="4197945" cy="45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Группа 101"/>
          <p:cNvGrpSpPr/>
          <p:nvPr/>
        </p:nvGrpSpPr>
        <p:grpSpPr>
          <a:xfrm>
            <a:off x="628650" y="826267"/>
            <a:ext cx="7271136" cy="5876069"/>
            <a:chOff x="838200" y="826266"/>
            <a:chExt cx="9694848" cy="5876069"/>
          </a:xfrm>
        </p:grpSpPr>
        <p:cxnSp>
          <p:nvCxnSpPr>
            <p:cNvPr id="24" name="Прямая со стрелкой 23"/>
            <p:cNvCxnSpPr>
              <a:endCxn id="9" idx="0"/>
            </p:cNvCxnSpPr>
            <p:nvPr/>
          </p:nvCxnSpPr>
          <p:spPr>
            <a:xfrm flipH="1">
              <a:off x="4473768" y="5980943"/>
              <a:ext cx="2384" cy="3358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83" name="Группа 82"/>
            <p:cNvGrpSpPr/>
            <p:nvPr/>
          </p:nvGrpSpPr>
          <p:grpSpPr>
            <a:xfrm>
              <a:off x="838200" y="826266"/>
              <a:ext cx="9694848" cy="5876069"/>
              <a:chOff x="838200" y="826266"/>
              <a:chExt cx="9694848" cy="5876069"/>
            </a:xfrm>
          </p:grpSpPr>
          <p:cxnSp>
            <p:nvCxnSpPr>
              <p:cNvPr id="25" name="Прямая со стрелкой 24"/>
              <p:cNvCxnSpPr>
                <a:endCxn id="10" idx="0"/>
              </p:cNvCxnSpPr>
              <p:nvPr/>
            </p:nvCxnSpPr>
            <p:spPr>
              <a:xfrm>
                <a:off x="6895095" y="5980943"/>
                <a:ext cx="2385" cy="33580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grpSp>
            <p:nvGrpSpPr>
              <p:cNvPr id="73" name="Группа 72"/>
              <p:cNvGrpSpPr/>
              <p:nvPr/>
            </p:nvGrpSpPr>
            <p:grpSpPr>
              <a:xfrm>
                <a:off x="838200" y="826266"/>
                <a:ext cx="9694848" cy="5876069"/>
                <a:chOff x="838200" y="826266"/>
                <a:chExt cx="9694848" cy="5876069"/>
              </a:xfrm>
            </p:grpSpPr>
            <p:cxnSp>
              <p:nvCxnSpPr>
                <p:cNvPr id="26" name="Прямая со стрелкой 25"/>
                <p:cNvCxnSpPr>
                  <a:endCxn id="11" idx="0"/>
                </p:cNvCxnSpPr>
                <p:nvPr/>
              </p:nvCxnSpPr>
              <p:spPr>
                <a:xfrm>
                  <a:off x="9321191" y="6059277"/>
                  <a:ext cx="1" cy="25746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grpSp>
              <p:nvGrpSpPr>
                <p:cNvPr id="63" name="Группа 62"/>
                <p:cNvGrpSpPr/>
                <p:nvPr/>
              </p:nvGrpSpPr>
              <p:grpSpPr>
                <a:xfrm>
                  <a:off x="838200" y="826266"/>
                  <a:ext cx="9694848" cy="5876069"/>
                  <a:chOff x="838200" y="826266"/>
                  <a:chExt cx="9694848" cy="5876069"/>
                </a:xfrm>
              </p:grpSpPr>
              <p:grpSp>
                <p:nvGrpSpPr>
                  <p:cNvPr id="57" name="Группа 56"/>
                  <p:cNvGrpSpPr/>
                  <p:nvPr/>
                </p:nvGrpSpPr>
                <p:grpSpPr>
                  <a:xfrm>
                    <a:off x="838200" y="826266"/>
                    <a:ext cx="9694848" cy="5876069"/>
                    <a:chOff x="838200" y="826266"/>
                    <a:chExt cx="9694848" cy="5876069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" name="Прямоугольник 3"/>
                        <p:cNvSpPr/>
                        <p:nvPr/>
                      </p:nvSpPr>
                      <p:spPr>
                        <a:xfrm>
                          <a:off x="840585" y="6316745"/>
                          <a:ext cx="2423712" cy="385590"/>
                        </a:xfrm>
                        <a:prstGeom prst="rect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dirty="0"/>
                        </a:p>
                      </p:txBody>
                    </p:sp>
                  </mc:Choice>
                  <mc:Fallback xmlns="">
                    <p:sp>
                      <p:nvSpPr>
                        <p:cNvPr id="4" name="Прямоугольник 3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840585" y="6316745"/>
                          <a:ext cx="2423712" cy="385590"/>
                        </a:xfrm>
                        <a:prstGeom prst="rect">
                          <a:avLst/>
                        </a:prstGeom>
                        <a:blipFill rotWithShape="0">
                          <a:blip r:embed="rId6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ru-RU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5" name="Прямоугольник 4"/>
                    <p:cNvSpPr/>
                    <p:nvPr/>
                  </p:nvSpPr>
                  <p:spPr>
                    <a:xfrm>
                      <a:off x="838200" y="826266"/>
                      <a:ext cx="2423712" cy="385590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ru-RU" dirty="0"/>
                    </a:p>
                  </p:txBody>
                </p:sp>
                <p:sp>
                  <p:nvSpPr>
                    <p:cNvPr id="6" name="Прямоугольник 5"/>
                    <p:cNvSpPr/>
                    <p:nvPr/>
                  </p:nvSpPr>
                  <p:spPr>
                    <a:xfrm>
                      <a:off x="3261912" y="826266"/>
                      <a:ext cx="2423712" cy="385590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ru-RU" dirty="0"/>
                    </a:p>
                  </p:txBody>
                </p:sp>
                <p:sp>
                  <p:nvSpPr>
                    <p:cNvPr id="7" name="Прямоугольник 6"/>
                    <p:cNvSpPr/>
                    <p:nvPr/>
                  </p:nvSpPr>
                  <p:spPr>
                    <a:xfrm>
                      <a:off x="5685624" y="826266"/>
                      <a:ext cx="2423712" cy="385590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ru-RU" dirty="0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8" name="Прямоугольник 7"/>
                        <p:cNvSpPr/>
                        <p:nvPr/>
                      </p:nvSpPr>
                      <p:spPr>
                        <a:xfrm>
                          <a:off x="8109336" y="826266"/>
                          <a:ext cx="2423712" cy="385590"/>
                        </a:xfrm>
                        <a:prstGeom prst="rect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p:txBody>
                    </p:sp>
                  </mc:Choice>
                  <mc:Fallback xmlns="">
                    <p:sp>
                      <p:nvSpPr>
                        <p:cNvPr id="8" name="Прямоугольник 7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8109336" y="826266"/>
                          <a:ext cx="2423712" cy="385590"/>
                        </a:xfrm>
                        <a:prstGeom prst="rect">
                          <a:avLst/>
                        </a:prstGeom>
                        <a:blipFill rotWithShape="0">
                          <a:blip r:embed="rId7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ru-RU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9" name="Прямоугольник 8"/>
                        <p:cNvSpPr/>
                        <p:nvPr/>
                      </p:nvSpPr>
                      <p:spPr>
                        <a:xfrm>
                          <a:off x="3261912" y="6316745"/>
                          <a:ext cx="2423712" cy="385590"/>
                        </a:xfrm>
                        <a:prstGeom prst="rect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dirty="0"/>
                        </a:p>
                      </p:txBody>
                    </p:sp>
                  </mc:Choice>
                  <mc:Fallback xmlns="">
                    <p:sp>
                      <p:nvSpPr>
                        <p:cNvPr id="9" name="Прямоугольник 8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261912" y="6316745"/>
                          <a:ext cx="2423712" cy="385590"/>
                        </a:xfrm>
                        <a:prstGeom prst="rect">
                          <a:avLst/>
                        </a:prstGeom>
                        <a:blipFill rotWithShape="0">
                          <a:blip r:embed="rId8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ru-RU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0" name="Прямоугольник 9"/>
                        <p:cNvSpPr/>
                        <p:nvPr/>
                      </p:nvSpPr>
                      <p:spPr>
                        <a:xfrm>
                          <a:off x="5685624" y="6316745"/>
                          <a:ext cx="2423712" cy="385590"/>
                        </a:xfrm>
                        <a:prstGeom prst="rect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dirty="0"/>
                        </a:p>
                      </p:txBody>
                    </p:sp>
                  </mc:Choice>
                  <mc:Fallback xmlns="">
                    <p:sp>
                      <p:nvSpPr>
                        <p:cNvPr id="10" name="Прямоугольник 9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5685624" y="6316745"/>
                          <a:ext cx="2423712" cy="385590"/>
                        </a:xfrm>
                        <a:prstGeom prst="rect">
                          <a:avLst/>
                        </a:prstGeom>
                        <a:blipFill rotWithShape="0">
                          <a:blip r:embed="rId9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ru-RU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1" name="Прямоугольник 10"/>
                        <p:cNvSpPr/>
                        <p:nvPr/>
                      </p:nvSpPr>
                      <p:spPr>
                        <a:xfrm>
                          <a:off x="8109336" y="6316745"/>
                          <a:ext cx="2423712" cy="385590"/>
                        </a:xfrm>
                        <a:prstGeom prst="rect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i="1" dirty="0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dirty="0"/>
                        </a:p>
                      </p:txBody>
                    </p:sp>
                  </mc:Choice>
                  <mc:Fallback xmlns="">
                    <p:sp>
                      <p:nvSpPr>
                        <p:cNvPr id="11" name="Прямоугольник 10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8109336" y="6316745"/>
                          <a:ext cx="2423712" cy="385590"/>
                        </a:xfrm>
                        <a:prstGeom prst="rect">
                          <a:avLst/>
                        </a:prstGeom>
                        <a:blipFill rotWithShape="0">
                          <a:blip r:embed="rId10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ru-RU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9" name="Прямоугольник 28"/>
                        <p:cNvSpPr/>
                        <p:nvPr/>
                      </p:nvSpPr>
                      <p:spPr>
                        <a:xfrm>
                          <a:off x="7773320" y="1667628"/>
                          <a:ext cx="672029" cy="297455"/>
                        </a:xfrm>
                        <a:prstGeom prst="rect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p:txBody>
                    </p:sp>
                  </mc:Choice>
                  <mc:Fallback xmlns="">
                    <p:sp>
                      <p:nvSpPr>
                        <p:cNvPr id="29" name="Прямоугольник 28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7773320" y="1667628"/>
                          <a:ext cx="672029" cy="297455"/>
                        </a:xfrm>
                        <a:prstGeom prst="rect">
                          <a:avLst/>
                        </a:prstGeom>
                        <a:blipFill rotWithShape="0">
                          <a:blip r:embed="rId11"/>
                          <a:stretch>
                            <a:fillRect b="-10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ru-RU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44" name="Прямоугольник 43"/>
                    <p:cNvSpPr/>
                    <p:nvPr/>
                  </p:nvSpPr>
                  <p:spPr>
                    <a:xfrm>
                      <a:off x="8985177" y="2225407"/>
                      <a:ext cx="672029" cy="297455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 smtClean="0"/>
                        <a:t>&lt;&lt;8</a:t>
                      </a:r>
                      <a:endParaRPr lang="ru-RU" dirty="0"/>
                    </a:p>
                  </p:txBody>
                </p:sp>
                <p:sp>
                  <p:nvSpPr>
                    <p:cNvPr id="45" name="Прямоугольник 44"/>
                    <p:cNvSpPr/>
                    <p:nvPr/>
                  </p:nvSpPr>
                  <p:spPr>
                    <a:xfrm>
                      <a:off x="8985177" y="3291182"/>
                      <a:ext cx="672029" cy="297455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 smtClean="0"/>
                        <a:t>&lt;&lt;8</a:t>
                      </a:r>
                      <a:endParaRPr lang="ru-RU" dirty="0"/>
                    </a:p>
                  </p:txBody>
                </p:sp>
                <p:sp>
                  <p:nvSpPr>
                    <p:cNvPr id="46" name="Прямоугольник 45"/>
                    <p:cNvSpPr/>
                    <p:nvPr/>
                  </p:nvSpPr>
                  <p:spPr>
                    <a:xfrm>
                      <a:off x="8985177" y="4343079"/>
                      <a:ext cx="672029" cy="297455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 smtClean="0"/>
                        <a:t>&lt;&lt;8</a:t>
                      </a:r>
                      <a:endParaRPr lang="ru-RU" dirty="0"/>
                    </a:p>
                  </p:txBody>
                </p:sp>
                <p:cxnSp>
                  <p:nvCxnSpPr>
                    <p:cNvPr id="47" name="Прямая со стрелкой 46"/>
                    <p:cNvCxnSpPr>
                      <a:endCxn id="44" idx="0"/>
                    </p:cNvCxnSpPr>
                    <p:nvPr/>
                  </p:nvCxnSpPr>
                  <p:spPr>
                    <a:xfrm flipH="1">
                      <a:off x="9321192" y="1211856"/>
                      <a:ext cx="1" cy="1013551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2"/>
                    </a:lnRef>
                    <a:fillRef idx="0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" name="Прямая со стрелкой 47"/>
                    <p:cNvCxnSpPr>
                      <a:stCxn id="44" idx="2"/>
                      <a:endCxn id="45" idx="0"/>
                    </p:cNvCxnSpPr>
                    <p:nvPr/>
                  </p:nvCxnSpPr>
                  <p:spPr>
                    <a:xfrm>
                      <a:off x="9321192" y="2522862"/>
                      <a:ext cx="0" cy="76832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2"/>
                    </a:lnRef>
                    <a:fillRef idx="0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" name="Прямая со стрелкой 48"/>
                    <p:cNvCxnSpPr>
                      <a:stCxn id="45" idx="2"/>
                      <a:endCxn id="46" idx="0"/>
                    </p:cNvCxnSpPr>
                    <p:nvPr/>
                  </p:nvCxnSpPr>
                  <p:spPr>
                    <a:xfrm>
                      <a:off x="9321192" y="3588637"/>
                      <a:ext cx="0" cy="754442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2"/>
                    </a:lnRef>
                    <a:fillRef idx="0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" name="Прямая со стрелкой 49"/>
                    <p:cNvCxnSpPr/>
                    <p:nvPr/>
                  </p:nvCxnSpPr>
                  <p:spPr>
                    <a:xfrm>
                      <a:off x="2038121" y="5980943"/>
                      <a:ext cx="14321" cy="335802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2"/>
                    </a:lnRef>
                    <a:fillRef idx="0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51" name="Прямоугольник 50"/>
                        <p:cNvSpPr/>
                        <p:nvPr/>
                      </p:nvSpPr>
                      <p:spPr>
                        <a:xfrm>
                          <a:off x="7773320" y="2751357"/>
                          <a:ext cx="672029" cy="297455"/>
                        </a:xfrm>
                        <a:prstGeom prst="rect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p:txBody>
                    </p:sp>
                  </mc:Choice>
                  <mc:Fallback xmlns="">
                    <p:sp>
                      <p:nvSpPr>
                        <p:cNvPr id="51" name="Прямоугольник 50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7773320" y="2751357"/>
                          <a:ext cx="672029" cy="297455"/>
                        </a:xfrm>
                        <a:prstGeom prst="rect">
                          <a:avLst/>
                        </a:prstGeom>
                        <a:blipFill rotWithShape="0">
                          <a:blip r:embed="rId3"/>
                          <a:stretch>
                            <a:fillRect b="-9804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ru-RU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52" name="Прямоугольник 51"/>
                        <p:cNvSpPr/>
                        <p:nvPr/>
                      </p:nvSpPr>
                      <p:spPr>
                        <a:xfrm>
                          <a:off x="7788009" y="3764909"/>
                          <a:ext cx="672029" cy="297455"/>
                        </a:xfrm>
                        <a:prstGeom prst="rect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p:txBody>
                    </p:sp>
                  </mc:Choice>
                  <mc:Fallback xmlns="">
                    <p:sp>
                      <p:nvSpPr>
                        <p:cNvPr id="52" name="Прямоугольник 51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7788009" y="3764909"/>
                          <a:ext cx="672029" cy="297455"/>
                        </a:xfrm>
                        <a:prstGeom prst="rect">
                          <a:avLst/>
                        </a:prstGeom>
                        <a:blipFill rotWithShape="0">
                          <a:blip r:embed="rId4"/>
                          <a:stretch>
                            <a:fillRect b="-10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ru-RU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53" name="Прямоугольник 52"/>
                        <p:cNvSpPr/>
                        <p:nvPr/>
                      </p:nvSpPr>
                      <p:spPr>
                        <a:xfrm>
                          <a:off x="7788009" y="4851288"/>
                          <a:ext cx="672029" cy="297455"/>
                        </a:xfrm>
                        <a:prstGeom prst="rect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p:txBody>
                    </p:sp>
                  </mc:Choice>
                  <mc:Fallback xmlns="">
                    <p:sp>
                      <p:nvSpPr>
                        <p:cNvPr id="53" name="Прямоугольник 52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7788009" y="4851288"/>
                          <a:ext cx="672029" cy="297455"/>
                        </a:xfrm>
                        <a:prstGeom prst="rect">
                          <a:avLst/>
                        </a:prstGeom>
                        <a:blipFill rotWithShape="0">
                          <a:blip r:embed="rId5"/>
                          <a:stretch>
                            <a:fillRect b="-7843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ru-RU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54" name="Прямая соединительная линия 53"/>
                    <p:cNvCxnSpPr>
                      <a:stCxn id="46" idx="2"/>
                    </p:cNvCxnSpPr>
                    <p:nvPr/>
                  </p:nvCxnSpPr>
                  <p:spPr>
                    <a:xfrm flipH="1">
                      <a:off x="9316423" y="4640534"/>
                      <a:ext cx="4769" cy="669596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0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5" name="Прямая соединительная линия 54"/>
                    <p:cNvCxnSpPr/>
                    <p:nvPr/>
                  </p:nvCxnSpPr>
                  <p:spPr>
                    <a:xfrm flipV="1">
                      <a:off x="2038121" y="5310130"/>
                      <a:ext cx="7278302" cy="70916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0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59" name="Прямая со стрелкой 58"/>
                  <p:cNvCxnSpPr>
                    <a:endCxn id="29" idx="3"/>
                  </p:cNvCxnSpPr>
                  <p:nvPr/>
                </p:nvCxnSpPr>
                <p:spPr>
                  <a:xfrm flipH="1">
                    <a:off x="8445349" y="1806766"/>
                    <a:ext cx="871073" cy="959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Прямая со стрелкой 59"/>
                  <p:cNvCxnSpPr/>
                  <p:nvPr/>
                </p:nvCxnSpPr>
                <p:spPr>
                  <a:xfrm flipH="1">
                    <a:off x="8445349" y="2863057"/>
                    <a:ext cx="871073" cy="959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Прямая со стрелкой 60"/>
                  <p:cNvCxnSpPr/>
                  <p:nvPr/>
                </p:nvCxnSpPr>
                <p:spPr>
                  <a:xfrm flipH="1">
                    <a:off x="8467384" y="3908841"/>
                    <a:ext cx="871073" cy="959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Прямая со стрелкой 61"/>
                  <p:cNvCxnSpPr/>
                  <p:nvPr/>
                </p:nvCxnSpPr>
                <p:spPr>
                  <a:xfrm flipH="1">
                    <a:off x="8467384" y="4988278"/>
                    <a:ext cx="871073" cy="959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6" name="Прямая со стрелкой 65"/>
                <p:cNvCxnSpPr>
                  <a:stCxn id="7" idx="2"/>
                  <a:endCxn id="64" idx="0"/>
                </p:cNvCxnSpPr>
                <p:nvPr/>
              </p:nvCxnSpPr>
              <p:spPr>
                <a:xfrm flipH="1">
                  <a:off x="6887384" y="1211856"/>
                  <a:ext cx="10096" cy="44353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Прямая соединительная линия 69"/>
                <p:cNvCxnSpPr>
                  <a:stCxn id="64" idx="4"/>
                </p:cNvCxnSpPr>
                <p:nvPr/>
              </p:nvCxnSpPr>
              <p:spPr>
                <a:xfrm>
                  <a:off x="6887384" y="1952847"/>
                  <a:ext cx="14863" cy="3357283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Прямая соединительная линия 71"/>
                <p:cNvCxnSpPr/>
                <p:nvPr/>
              </p:nvCxnSpPr>
              <p:spPr>
                <a:xfrm>
                  <a:off x="6895095" y="5310130"/>
                  <a:ext cx="2435931" cy="749147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6" name="Прямая со стрелкой 75"/>
              <p:cNvCxnSpPr>
                <a:stCxn id="6" idx="2"/>
                <a:endCxn id="74" idx="0"/>
              </p:cNvCxnSpPr>
              <p:nvPr/>
            </p:nvCxnSpPr>
            <p:spPr>
              <a:xfrm flipH="1">
                <a:off x="4462752" y="1211856"/>
                <a:ext cx="11016" cy="153950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80" name="Прямая соединительная линия 79"/>
              <p:cNvCxnSpPr>
                <a:stCxn id="74" idx="2"/>
              </p:cNvCxnSpPr>
              <p:nvPr/>
            </p:nvCxnSpPr>
            <p:spPr>
              <a:xfrm>
                <a:off x="4462752" y="3048812"/>
                <a:ext cx="11016" cy="1926520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82" name="Прямая соединительная линия 81"/>
              <p:cNvCxnSpPr/>
              <p:nvPr/>
            </p:nvCxnSpPr>
            <p:spPr>
              <a:xfrm>
                <a:off x="4474960" y="4975332"/>
                <a:ext cx="2434633" cy="1005611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cxnSp>
          <p:nvCxnSpPr>
            <p:cNvPr id="93" name="Прямая со стрелкой 92"/>
            <p:cNvCxnSpPr>
              <a:stCxn id="5" idx="2"/>
              <a:endCxn id="86" idx="0"/>
            </p:cNvCxnSpPr>
            <p:nvPr/>
          </p:nvCxnSpPr>
          <p:spPr>
            <a:xfrm flipH="1">
              <a:off x="2039772" y="1211856"/>
              <a:ext cx="10284" cy="25530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Прямая со стрелкой 94"/>
            <p:cNvCxnSpPr>
              <a:stCxn id="86" idx="2"/>
              <a:endCxn id="89" idx="0"/>
            </p:cNvCxnSpPr>
            <p:nvPr/>
          </p:nvCxnSpPr>
          <p:spPr>
            <a:xfrm flipH="1">
              <a:off x="2038120" y="4062364"/>
              <a:ext cx="1652" cy="8432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Прямая соединительная линия 98"/>
            <p:cNvCxnSpPr>
              <a:stCxn id="89" idx="4"/>
            </p:cNvCxnSpPr>
            <p:nvPr/>
          </p:nvCxnSpPr>
          <p:spPr>
            <a:xfrm>
              <a:off x="2038120" y="5185157"/>
              <a:ext cx="0" cy="12018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Прямая соединительная линия 100"/>
            <p:cNvCxnSpPr/>
            <p:nvPr/>
          </p:nvCxnSpPr>
          <p:spPr>
            <a:xfrm>
              <a:off x="2038120" y="5310130"/>
              <a:ext cx="2435648" cy="67081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24696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9473" y="-27384"/>
            <a:ext cx="7886700" cy="615376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AES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tanlovi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finalining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yakuniy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natijasi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Объект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5764303"/>
              </p:ext>
            </p:extLst>
          </p:nvPr>
        </p:nvGraphicFramePr>
        <p:xfrm>
          <a:off x="71500" y="620688"/>
          <a:ext cx="9174559" cy="615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998"/>
                <a:gridCol w="4774198"/>
                <a:gridCol w="865823"/>
                <a:gridCol w="872935"/>
                <a:gridCol w="784860"/>
                <a:gridCol w="581660"/>
                <a:gridCol w="934085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№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Kategoriyalar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Serpent</a:t>
                      </a:r>
                      <a:endParaRPr lang="ru-RU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Twofish</a:t>
                      </a:r>
                      <a:endParaRPr lang="ru-RU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MARS</a:t>
                      </a:r>
                      <a:endParaRPr lang="ru-RU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RC6</a:t>
                      </a:r>
                      <a:endParaRPr lang="ru-RU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Rijndael</a:t>
                      </a:r>
                      <a:endParaRPr lang="ru-RU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Kriptobardoshlilik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Zahira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kriptobardoshlilik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++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++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++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Shifrlashning</a:t>
                      </a:r>
                      <a:r>
                        <a:rPr lang="en-US" sz="1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dasturiy</a:t>
                      </a:r>
                      <a:r>
                        <a:rPr lang="en-US" sz="1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realizasiyadagi</a:t>
                      </a:r>
                      <a:r>
                        <a:rPr lang="en-US" sz="1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tezligi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±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±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Kalitlar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kengaytirishning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dasturiy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realizasiyadagi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tezligi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±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±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±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Katta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xajmdagi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resursli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Smart</a:t>
                      </a:r>
                      <a:r>
                        <a:rPr lang="en-US" sz="1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kartalarda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±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++</a:t>
                      </a:r>
                    </a:p>
                  </a:txBody>
                  <a:tcPr marL="68580" marR="6858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Chegaralangan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xajmdagi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resursli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Smart </a:t>
                      </a:r>
                      <a:r>
                        <a:rPr lang="en-US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kartalar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±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±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++</a:t>
                      </a:r>
                    </a:p>
                  </a:txBody>
                  <a:tcPr marL="68580" marR="6858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Apparat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realizasiyasi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±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Аппаратная реализация (специализированная микросхема)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±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Защита от атак по времени выполнения и потребляемой мощности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±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Защита от атак по потребляемой мощности на процедуру расширения ключа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±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±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±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±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Защита от атак по потребляемой мощности на реализации в смарт-картах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±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±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Возможность расширения ключа «на лету»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±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±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±</a:t>
                      </a:r>
                    </a:p>
                  </a:txBody>
                  <a:tcPr marL="68580" marR="6858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Наличие вариантов реализации (без потерь в совместимости)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±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±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Возможность параллельных вычислений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±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±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±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a:t>±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</a:p>
                  </a:txBody>
                  <a:tcPr marL="68580" marR="6858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1045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36505" y="154114"/>
            <a:ext cx="4836559" cy="78597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Kalitlar</a:t>
            </a:r>
            <a:r>
              <a:rPr lang="en-US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generatsiyasi</a:t>
            </a:r>
            <a:endParaRPr lang="ru-RU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2342928" y="927885"/>
                <a:ext cx="4001503" cy="736529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1600" dirty="0" smtClean="0">
                    <a:solidFill>
                      <a:schemeClr val="bg1"/>
                    </a:solidFill>
                    <a:effectLst/>
                    <a:latin typeface="Times New Roman"/>
                    <a:ea typeface="Calibri"/>
                    <a:cs typeface="Times New Roman"/>
                  </a:rPr>
                  <a:t>Boshlang`ich</a:t>
                </a:r>
                <a:r>
                  <a:rPr lang="en-US" sz="1600" dirty="0">
                    <a:solidFill>
                      <a:schemeClr val="bg1"/>
                    </a:solidFill>
                    <a:effectLst/>
                    <a:latin typeface="Times New Roman"/>
                    <a:ea typeface="Calibri"/>
                    <a:cs typeface="Times New Roman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effectLst/>
                    <a:latin typeface="Times New Roman"/>
                    <a:ea typeface="Calibri"/>
                    <a:cs typeface="Times New Roman"/>
                  </a:rPr>
                  <a:t>kalit</a:t>
                </a:r>
                <a:r>
                  <a:rPr lang="en-US" sz="1600" dirty="0">
                    <a:solidFill>
                      <a:schemeClr val="bg1"/>
                    </a:solidFill>
                    <a:effectLst/>
                    <a:latin typeface="Times New Roman"/>
                    <a:ea typeface="Calibri"/>
                    <a:cs typeface="Times New Roman"/>
                  </a:rPr>
                  <a:t> </a:t>
                </a:r>
                <a:r>
                  <a:rPr lang="en-US" sz="1600" b="1" dirty="0">
                    <a:solidFill>
                      <a:schemeClr val="bg1"/>
                    </a:solidFill>
                    <a:effectLst/>
                    <a:latin typeface="Times New Roman"/>
                    <a:ea typeface="Calibri"/>
                    <a:cs typeface="Times New Roman"/>
                  </a:rPr>
                  <a:t>k</a:t>
                </a:r>
                <a:r>
                  <a:rPr lang="en-US" sz="1600" dirty="0">
                    <a:solidFill>
                      <a:schemeClr val="bg1"/>
                    </a:solidFill>
                    <a:effectLst/>
                    <a:latin typeface="Times New Roman"/>
                    <a:ea typeface="Calibri"/>
                    <a:cs typeface="Times New Roman"/>
                  </a:rPr>
                  <a:t> (</a:t>
                </a:r>
                <a:r>
                  <a:rPr lang="en-US" sz="1600" dirty="0">
                    <a:solidFill>
                      <a:schemeClr val="bg1"/>
                    </a:solidFill>
                    <a:effectLst/>
                    <a:latin typeface="Times New Roman"/>
                    <a:ea typeface="Times New Roman"/>
                    <a:cs typeface="Times New Roman"/>
                  </a:rPr>
                  <a:t>128</a:t>
                </a:r>
                <a14:m>
                  <m:oMath xmlns:m="http://schemas.openxmlformats.org/officeDocument/2006/math">
                    <m:r>
                      <a:rPr lang="en-US" sz="1600" b="0" i="1">
                        <a:solidFill>
                          <a:schemeClr val="bg1"/>
                        </a:solidFill>
                        <a:effectLst/>
                        <a:latin typeface="Cambria Math"/>
                        <a:ea typeface="Calibri"/>
                        <a:cs typeface="Times New Roman"/>
                      </a:rPr>
                      <m:t>≤</m:t>
                    </m:r>
                    <m:r>
                      <a:rPr lang="en-US" sz="1600" b="0" i="1">
                        <a:solidFill>
                          <a:schemeClr val="bg1"/>
                        </a:solidFill>
                        <a:effectLst/>
                        <a:latin typeface="Cambria Math"/>
                        <a:ea typeface="Calibri"/>
                        <a:cs typeface="Times New Roman"/>
                      </a:rPr>
                      <m:t>𝑙𝑒𝑛𝑡h</m:t>
                    </m:r>
                    <m:r>
                      <a:rPr lang="en-US" sz="1600" b="0">
                        <a:solidFill>
                          <a:schemeClr val="bg1"/>
                        </a:solidFill>
                        <a:effectLst/>
                        <a:latin typeface="Cambria Math"/>
                        <a:ea typeface="Calibri"/>
                        <a:cs typeface="Times New Roman"/>
                      </a:rPr>
                      <m:t>|</m:t>
                    </m:r>
                    <m:r>
                      <a:rPr lang="en-US" sz="1600" b="0" i="1">
                        <a:solidFill>
                          <a:schemeClr val="bg1"/>
                        </a:solidFill>
                        <a:effectLst/>
                        <a:latin typeface="Cambria Math"/>
                        <a:ea typeface="Calibri"/>
                        <a:cs typeface="Times New Roman"/>
                      </a:rPr>
                      <m:t>𝑘</m:t>
                    </m:r>
                    <m:r>
                      <a:rPr lang="en-US" sz="1600" b="0">
                        <a:solidFill>
                          <a:schemeClr val="bg1"/>
                        </a:solidFill>
                        <a:effectLst/>
                        <a:latin typeface="Cambria Math"/>
                        <a:ea typeface="Calibri"/>
                        <a:cs typeface="Times New Roman"/>
                      </a:rPr>
                      <m:t>|</m:t>
                    </m:r>
                    <m:r>
                      <a:rPr lang="en-US" sz="1600" b="0" i="1">
                        <a:solidFill>
                          <a:schemeClr val="bg1"/>
                        </a:solidFill>
                        <a:effectLst/>
                        <a:latin typeface="Cambria Math"/>
                        <a:ea typeface="Calibri"/>
                        <a:cs typeface="Times New Roman"/>
                      </a:rPr>
                      <m:t>≤</m:t>
                    </m:r>
                  </m:oMath>
                </a14:m>
                <a:r>
                  <a:rPr lang="en-US" sz="1600" dirty="0" smtClean="0">
                    <a:solidFill>
                      <a:schemeClr val="bg1"/>
                    </a:solidFill>
                    <a:effectLst/>
                    <a:latin typeface="Times New Roman"/>
                    <a:ea typeface="Times New Roman"/>
                    <a:cs typeface="Times New Roman"/>
                  </a:rPr>
                  <a:t>448 bit</a:t>
                </a:r>
                <a:r>
                  <a:rPr lang="en-US" sz="1600" dirty="0" smtClean="0">
                    <a:solidFill>
                      <a:schemeClr val="bg1"/>
                    </a:solidFill>
                    <a:effectLst/>
                    <a:latin typeface="Times New Roman"/>
                    <a:ea typeface="Calibri"/>
                    <a:cs typeface="Times New Roman"/>
                  </a:rPr>
                  <a:t>), </a:t>
                </a:r>
                <a:r>
                  <a:rPr lang="en-US" sz="1600" dirty="0" err="1" smtClean="0">
                    <a:solidFill>
                      <a:schemeClr val="bg1"/>
                    </a:solidFill>
                    <a:effectLst/>
                    <a:latin typeface="Times New Roman"/>
                    <a:ea typeface="Calibri"/>
                    <a:cs typeface="Times New Roman"/>
                  </a:rPr>
                  <a:t>length|k</a:t>
                </a:r>
                <a:r>
                  <a:rPr lang="en-US" sz="1600" dirty="0" smtClean="0">
                    <a:solidFill>
                      <a:schemeClr val="bg1"/>
                    </a:solidFill>
                    <a:effectLst/>
                    <a:latin typeface="Times New Roman"/>
                    <a:ea typeface="Calibri"/>
                    <a:cs typeface="Times New Roman"/>
                  </a:rPr>
                  <a:t>|=n*32, n=[4;14]</a:t>
                </a:r>
                <a:endParaRPr lang="ru-RU" sz="1200" dirty="0">
                  <a:solidFill>
                    <a:schemeClr val="bg1"/>
                  </a:solidFill>
                  <a:effectLst/>
                  <a:ea typeface="Calibri"/>
                  <a:cs typeface="Times New Roman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928" y="927885"/>
                <a:ext cx="4001503" cy="73652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uz-Cyrl-U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Таблица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9016039"/>
                  </p:ext>
                </p:extLst>
              </p:nvPr>
            </p:nvGraphicFramePr>
            <p:xfrm>
              <a:off x="936668" y="2363531"/>
              <a:ext cx="7418659" cy="438912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1238753"/>
                    <a:gridCol w="6179906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T[0] =</a:t>
                          </a:r>
                          <a:endParaRPr lang="ru-RU" sz="2400" b="1" dirty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{ k[0] k[1] k[2] … k[30] k[31]  }</a:t>
                          </a:r>
                          <a:endParaRPr lang="ru-RU" sz="2400" b="1" dirty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T[1] =</a:t>
                          </a:r>
                          <a:endParaRPr lang="ru-RU" sz="2400" b="1" dirty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  <a:tc>
                      <a:txBody>
                        <a:bodyPr/>
                        <a:lstStyle/>
                        <a:p>
                          <a:pPr marL="0" marR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{ k[32] k[33] k[34] … k[62] k[63]  }</a:t>
                          </a:r>
                          <a:endParaRPr lang="ru-RU" sz="2400" b="1" dirty="0" smtClean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4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ru-RU" sz="2400" b="1" dirty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4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ru-RU" sz="2400" b="1" dirty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T[n-1] =</a:t>
                          </a:r>
                          <a:endParaRPr lang="ru-RU" sz="2400" b="1" dirty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  <a:tc>
                      <a:txBody>
                        <a:bodyPr/>
                        <a:lstStyle/>
                        <a:p>
                          <a:pPr marL="0" marR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{ k[(n-1)*32] k[(n-1)*32+1]…k[(n-1)*32+31]</a:t>
                          </a:r>
                          <a:r>
                            <a:rPr lang="en-US" sz="2400" baseline="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}</a:t>
                          </a:r>
                          <a:endParaRPr lang="ru-RU" sz="2400" b="1" dirty="0" smtClean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T[n] =</a:t>
                          </a:r>
                          <a:endParaRPr lang="ru-RU" sz="2400" b="1" dirty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  <a:tc>
                      <a:txBody>
                        <a:bodyPr/>
                        <a:lstStyle/>
                        <a:p>
                          <a:pPr marL="0" marR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{ </a:t>
                          </a:r>
                          <a:r>
                            <a:rPr lang="en-US" sz="2400" dirty="0" err="1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IntToBin</a:t>
                          </a: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(n)0000…..0000 }</a:t>
                          </a:r>
                          <a:endParaRPr lang="ru-RU" sz="2400" b="1" dirty="0" smtClean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T[n+1] =</a:t>
                          </a:r>
                          <a:endParaRPr lang="ru-RU" sz="2400" b="1" dirty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  <a:tc>
                      <a:txBody>
                        <a:bodyPr/>
                        <a:lstStyle/>
                        <a:p>
                          <a:pPr marL="0" marR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{ 000…000 }</a:t>
                          </a:r>
                          <a:endParaRPr lang="ru-RU" sz="2400" b="1" dirty="0" smtClean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4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ru-RU" sz="2400" b="1" dirty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  <a:tc>
                      <a:txBody>
                        <a:bodyPr/>
                        <a:lstStyle/>
                        <a:p>
                          <a:pPr marL="0" marR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4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ru-RU" sz="2400" b="1" dirty="0" smtClean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T[14] =</a:t>
                          </a:r>
                          <a:endParaRPr lang="ru-RU" sz="2400" b="1" dirty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  <a:tc>
                      <a:txBody>
                        <a:bodyPr/>
                        <a:lstStyle/>
                        <a:p>
                          <a:pPr marL="0" marR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{ 000…000 }; if n=14, T[14]={ </a:t>
                          </a:r>
                          <a:r>
                            <a:rPr lang="en-US" sz="2400" dirty="0" err="1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IntToBin</a:t>
                          </a: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(n)000...000 }</a:t>
                          </a:r>
                          <a:endParaRPr lang="ru-RU" sz="2400" b="1" dirty="0" smtClean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6" name="Таблица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9016039"/>
                  </p:ext>
                </p:extLst>
              </p:nvPr>
            </p:nvGraphicFramePr>
            <p:xfrm>
              <a:off x="936668" y="2363531"/>
              <a:ext cx="7418659" cy="438912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1238753"/>
                    <a:gridCol w="6179906"/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T[0] =</a:t>
                          </a:r>
                          <a:endParaRPr lang="ru-RU" sz="2400" b="1" dirty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{ k[0] k[1] k[2] … k[30] k[31]  }</a:t>
                          </a:r>
                          <a:endParaRPr lang="ru-RU" sz="2400" b="1" dirty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T[1] =</a:t>
                          </a:r>
                          <a:endParaRPr lang="ru-RU" sz="2400" b="1" dirty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  <a:tc>
                      <a:txBody>
                        <a:bodyPr/>
                        <a:lstStyle/>
                        <a:p>
                          <a:pPr marL="0" marR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{ k[32] k[33] k[34] … k[62] k[63]  }</a:t>
                          </a:r>
                          <a:endParaRPr lang="ru-RU" sz="2400" b="1" dirty="0" smtClean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uz-Cyrl-UZ"/>
                        </a:p>
                      </a:txBody>
                      <a:tcPr marL="68580" marR="68580">
                        <a:blipFill rotWithShape="1">
                          <a:blip r:embed="rId4"/>
                          <a:stretch>
                            <a:fillRect l="-493" t="-210667" r="-499507" b="-69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z-Cyrl-UZ"/>
                        </a:p>
                      </a:txBody>
                      <a:tcPr marL="68580" marR="68580">
                        <a:blipFill rotWithShape="1">
                          <a:blip r:embed="rId4"/>
                          <a:stretch>
                            <a:fillRect l="-20118" t="-210667" b="-690667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T[n-1] =</a:t>
                          </a:r>
                          <a:endParaRPr lang="ru-RU" sz="2400" b="1" dirty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  <a:tc>
                      <a:txBody>
                        <a:bodyPr/>
                        <a:lstStyle/>
                        <a:p>
                          <a:pPr marL="0" marR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{ k[(n-1)*32] k[(n-1)*32+1]…k[(n-1)*32+31]</a:t>
                          </a:r>
                          <a:r>
                            <a:rPr lang="en-US" sz="2400" baseline="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}</a:t>
                          </a:r>
                          <a:endParaRPr lang="ru-RU" sz="2400" b="1" dirty="0" smtClean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T[n] =</a:t>
                          </a:r>
                          <a:endParaRPr lang="ru-RU" sz="2400" b="1" dirty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  <a:tc>
                      <a:txBody>
                        <a:bodyPr/>
                        <a:lstStyle/>
                        <a:p>
                          <a:pPr marL="0" marR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{ </a:t>
                          </a:r>
                          <a:r>
                            <a:rPr lang="en-US" sz="2400" dirty="0" err="1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IntToBin</a:t>
                          </a: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(n)0000…..0000 }</a:t>
                          </a:r>
                          <a:endParaRPr lang="ru-RU" sz="2400" b="1" dirty="0" smtClean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</a:tr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T[n+1] =</a:t>
                          </a:r>
                          <a:endParaRPr lang="ru-RU" sz="2400" b="1" dirty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  <a:tc>
                      <a:txBody>
                        <a:bodyPr/>
                        <a:lstStyle/>
                        <a:p>
                          <a:pPr marL="0" marR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{ 000…000 }</a:t>
                          </a:r>
                          <a:endParaRPr lang="ru-RU" sz="2400" b="1" dirty="0" smtClean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uz-Cyrl-UZ"/>
                        </a:p>
                      </a:txBody>
                      <a:tcPr marL="68580" marR="68580">
                        <a:blipFill rotWithShape="1">
                          <a:blip r:embed="rId4"/>
                          <a:stretch>
                            <a:fillRect l="-493" t="-690667" r="-499507" b="-21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z-Cyrl-UZ"/>
                        </a:p>
                      </a:txBody>
                      <a:tcPr marL="68580" marR="68580">
                        <a:blipFill rotWithShape="1">
                          <a:blip r:embed="rId4"/>
                          <a:stretch>
                            <a:fillRect l="-20118" t="-690667" b="-210667"/>
                          </a:stretch>
                        </a:blipFill>
                      </a:tcPr>
                    </a:tc>
                  </a:tr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T[14] =</a:t>
                          </a:r>
                          <a:endParaRPr lang="ru-RU" sz="2400" b="1" dirty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  <a:tc>
                      <a:txBody>
                        <a:bodyPr/>
                        <a:lstStyle/>
                        <a:p>
                          <a:pPr marL="0" marR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{ 000…000 }; if n=14, T[14]={ </a:t>
                          </a:r>
                          <a:r>
                            <a:rPr lang="en-US" sz="2400" dirty="0" err="1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IntToBin</a:t>
                          </a: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(n)000...000 }</a:t>
                          </a:r>
                          <a:endParaRPr lang="ru-RU" sz="2400" b="1" dirty="0" smtClean="0">
                            <a:solidFill>
                              <a:schemeClr val="tx1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68580" marR="68580"/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Стрелка вниз 6"/>
          <p:cNvSpPr/>
          <p:nvPr/>
        </p:nvSpPr>
        <p:spPr>
          <a:xfrm>
            <a:off x="4161942" y="1715784"/>
            <a:ext cx="363474" cy="5650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395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1599887" y="1330862"/>
            <a:ext cx="4691711" cy="5349785"/>
            <a:chOff x="0" y="0"/>
            <a:chExt cx="4371975" cy="3733800"/>
          </a:xfrm>
        </p:grpSpPr>
        <p:sp>
          <p:nvSpPr>
            <p:cNvPr id="5" name="Блок-схема: подготовка 4"/>
            <p:cNvSpPr/>
            <p:nvPr/>
          </p:nvSpPr>
          <p:spPr>
            <a:xfrm>
              <a:off x="752475" y="0"/>
              <a:ext cx="3333750" cy="409575"/>
            </a:xfrm>
            <a:prstGeom prst="flowChartPreparation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b="1" dirty="0">
                  <a:effectLst/>
                  <a:latin typeface="Times New Roman"/>
                  <a:ea typeface="Calibri"/>
                  <a:cs typeface="Times New Roman"/>
                </a:rPr>
                <a:t>for i=0; i&lt;=14; i++</a:t>
              </a:r>
              <a:endParaRPr lang="ru-RU" sz="1100" dirty="0">
                <a:effectLst/>
                <a:ea typeface="Calibri"/>
                <a:cs typeface="Times New Roman"/>
              </a:endParaRPr>
            </a:p>
          </p:txBody>
        </p:sp>
        <p:grpSp>
          <p:nvGrpSpPr>
            <p:cNvPr id="6" name="Группа 5"/>
            <p:cNvGrpSpPr/>
            <p:nvPr/>
          </p:nvGrpSpPr>
          <p:grpSpPr>
            <a:xfrm>
              <a:off x="0" y="609600"/>
              <a:ext cx="4371975" cy="3124200"/>
              <a:chOff x="0" y="0"/>
              <a:chExt cx="4371975" cy="3124200"/>
            </a:xfrm>
          </p:grpSpPr>
          <p:grpSp>
            <p:nvGrpSpPr>
              <p:cNvPr id="7" name="Группа 6"/>
              <p:cNvGrpSpPr/>
              <p:nvPr/>
            </p:nvGrpSpPr>
            <p:grpSpPr>
              <a:xfrm>
                <a:off x="361950" y="66675"/>
                <a:ext cx="4010025" cy="2209800"/>
                <a:chOff x="0" y="0"/>
                <a:chExt cx="4010025" cy="2209800"/>
              </a:xfrm>
            </p:grpSpPr>
            <p:sp>
              <p:nvSpPr>
                <p:cNvPr id="12" name="Прямоугольник 11"/>
                <p:cNvSpPr/>
                <p:nvPr/>
              </p:nvSpPr>
              <p:spPr>
                <a:xfrm>
                  <a:off x="257175" y="1819275"/>
                  <a:ext cx="1247775" cy="390525"/>
                </a:xfrm>
                <a:prstGeom prst="rect">
                  <a:avLst/>
                </a:prstGeom>
                <a:ln/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sz="2000" b="1" dirty="0">
                      <a:effectLst/>
                      <a:latin typeface="Times New Roman"/>
                      <a:ea typeface="Calibri"/>
                      <a:cs typeface="Times New Roman"/>
                    </a:rPr>
                    <a:t>4*</a:t>
                  </a:r>
                  <a:r>
                    <a:rPr lang="en-US" sz="2000" b="1" dirty="0" err="1">
                      <a:effectLst/>
                      <a:latin typeface="Times New Roman"/>
                      <a:ea typeface="Calibri"/>
                      <a:cs typeface="Times New Roman"/>
                    </a:rPr>
                    <a:t>i+j</a:t>
                  </a:r>
                  <a:endParaRPr lang="ru-RU" sz="1200" dirty="0">
                    <a:effectLst/>
                    <a:ea typeface="Calibri"/>
                    <a:cs typeface="Times New Roman"/>
                  </a:endParaRPr>
                </a:p>
              </p:txBody>
            </p:sp>
            <p:grpSp>
              <p:nvGrpSpPr>
                <p:cNvPr id="13" name="Группа 12"/>
                <p:cNvGrpSpPr/>
                <p:nvPr/>
              </p:nvGrpSpPr>
              <p:grpSpPr>
                <a:xfrm>
                  <a:off x="2028825" y="352425"/>
                  <a:ext cx="228600" cy="609600"/>
                  <a:chOff x="0" y="-95250"/>
                  <a:chExt cx="228600" cy="609600"/>
                </a:xfrm>
              </p:grpSpPr>
              <p:cxnSp>
                <p:nvCxnSpPr>
                  <p:cNvPr id="25" name="Прямая со стрелкой 24"/>
                  <p:cNvCxnSpPr/>
                  <p:nvPr/>
                </p:nvCxnSpPr>
                <p:spPr>
                  <a:xfrm>
                    <a:off x="104775" y="-95250"/>
                    <a:ext cx="9525" cy="361950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6" name="Блок-схема: ИЛИ 25"/>
                  <p:cNvSpPr/>
                  <p:nvPr/>
                </p:nvSpPr>
                <p:spPr>
                  <a:xfrm>
                    <a:off x="0" y="276225"/>
                    <a:ext cx="228600" cy="238125"/>
                  </a:xfrm>
                  <a:prstGeom prst="flowChartOr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ru-RU" sz="1400"/>
                  </a:p>
                </p:txBody>
              </p:sp>
            </p:grpSp>
            <p:sp>
              <p:nvSpPr>
                <p:cNvPr id="14" name="Прямоугольник 13"/>
                <p:cNvSpPr/>
                <p:nvPr/>
              </p:nvSpPr>
              <p:spPr>
                <a:xfrm>
                  <a:off x="1438275" y="0"/>
                  <a:ext cx="1409700" cy="333375"/>
                </a:xfrm>
                <a:prstGeom prst="rect">
                  <a:avLst/>
                </a:prstGeom>
                <a:ln/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b="1" dirty="0">
                      <a:effectLst/>
                      <a:latin typeface="Times New Roman"/>
                      <a:ea typeface="Calibri"/>
                      <a:cs typeface="Times New Roman"/>
                    </a:rPr>
                    <a:t>T[i-7 mod 15]</a:t>
                  </a:r>
                  <a:endParaRPr lang="ru-RU" sz="1200" dirty="0">
                    <a:effectLst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15" name="Прямоугольник 14"/>
                <p:cNvSpPr/>
                <p:nvPr/>
              </p:nvSpPr>
              <p:spPr>
                <a:xfrm>
                  <a:off x="0" y="657225"/>
                  <a:ext cx="1438275" cy="333375"/>
                </a:xfrm>
                <a:prstGeom prst="rect">
                  <a:avLst/>
                </a:prstGeom>
                <a:ln/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b="1" dirty="0">
                      <a:effectLst/>
                      <a:latin typeface="Times New Roman"/>
                      <a:ea typeface="Calibri"/>
                      <a:cs typeface="Times New Roman"/>
                    </a:rPr>
                    <a:t>T[i-2 mod 15]</a:t>
                  </a:r>
                  <a:endParaRPr lang="ru-RU" sz="1200" dirty="0">
                    <a:effectLst/>
                    <a:ea typeface="Calibri"/>
                    <a:cs typeface="Times New Roman"/>
                  </a:endParaRPr>
                </a:p>
              </p:txBody>
            </p:sp>
            <p:grpSp>
              <p:nvGrpSpPr>
                <p:cNvPr id="16" name="Группа 15"/>
                <p:cNvGrpSpPr/>
                <p:nvPr/>
              </p:nvGrpSpPr>
              <p:grpSpPr>
                <a:xfrm>
                  <a:off x="2009775" y="1533525"/>
                  <a:ext cx="228600" cy="609600"/>
                  <a:chOff x="0" y="-95250"/>
                  <a:chExt cx="228600" cy="609600"/>
                </a:xfrm>
              </p:grpSpPr>
              <p:cxnSp>
                <p:nvCxnSpPr>
                  <p:cNvPr id="23" name="Прямая со стрелкой 22"/>
                  <p:cNvCxnSpPr/>
                  <p:nvPr/>
                </p:nvCxnSpPr>
                <p:spPr>
                  <a:xfrm>
                    <a:off x="114300" y="-95250"/>
                    <a:ext cx="0" cy="361950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Блок-схема: ИЛИ 23"/>
                  <p:cNvSpPr/>
                  <p:nvPr/>
                </p:nvSpPr>
                <p:spPr>
                  <a:xfrm>
                    <a:off x="0" y="276225"/>
                    <a:ext cx="228600" cy="238125"/>
                  </a:xfrm>
                  <a:prstGeom prst="flowChartOr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ru-RU" sz="1400"/>
                  </a:p>
                </p:txBody>
              </p:sp>
            </p:grpSp>
            <p:cxnSp>
              <p:nvCxnSpPr>
                <p:cNvPr id="17" name="Прямая со стрелкой 16"/>
                <p:cNvCxnSpPr/>
                <p:nvPr/>
              </p:nvCxnSpPr>
              <p:spPr>
                <a:xfrm>
                  <a:off x="1466850" y="838200"/>
                  <a:ext cx="534035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8" name="Прямоугольник 17"/>
                <p:cNvSpPr/>
                <p:nvPr/>
              </p:nvSpPr>
              <p:spPr>
                <a:xfrm>
                  <a:off x="1314450" y="1190625"/>
                  <a:ext cx="1676400" cy="333375"/>
                </a:xfrm>
                <a:prstGeom prst="rect">
                  <a:avLst/>
                </a:prstGeom>
                <a:ln/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b="1" dirty="0">
                      <a:effectLst/>
                      <a:latin typeface="Times New Roman"/>
                      <a:ea typeface="Calibri"/>
                      <a:cs typeface="Times New Roman"/>
                    </a:rPr>
                    <a:t>            &lt;&lt;&lt;3 </a:t>
                  </a:r>
                  <a:r>
                    <a:rPr lang="en-US" sz="1400" b="1" dirty="0">
                      <a:effectLst/>
                      <a:latin typeface="Times New Roman"/>
                      <a:ea typeface="Calibri"/>
                      <a:cs typeface="Times New Roman"/>
                    </a:rPr>
                    <a:t>  </a:t>
                  </a:r>
                  <a:endParaRPr lang="ru-RU" sz="1100" dirty="0">
                    <a:effectLst/>
                    <a:ea typeface="Calibri"/>
                    <a:cs typeface="Times New Roman"/>
                  </a:endParaRPr>
                </a:p>
              </p:txBody>
            </p:sp>
            <p:cxnSp>
              <p:nvCxnSpPr>
                <p:cNvPr id="19" name="Прямая со стрелкой 18"/>
                <p:cNvCxnSpPr/>
                <p:nvPr/>
              </p:nvCxnSpPr>
              <p:spPr>
                <a:xfrm>
                  <a:off x="2143125" y="981075"/>
                  <a:ext cx="0" cy="371475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Прямая со стрелкой 19"/>
                <p:cNvCxnSpPr/>
                <p:nvPr/>
              </p:nvCxnSpPr>
              <p:spPr>
                <a:xfrm>
                  <a:off x="1524000" y="2019300"/>
                  <a:ext cx="438150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1" name="Прямоугольник 20"/>
                <p:cNvSpPr/>
                <p:nvPr/>
              </p:nvSpPr>
              <p:spPr>
                <a:xfrm>
                  <a:off x="2762250" y="1838325"/>
                  <a:ext cx="1247775" cy="361950"/>
                </a:xfrm>
                <a:prstGeom prst="rect">
                  <a:avLst/>
                </a:prstGeom>
                <a:ln/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sz="2000" b="1" dirty="0">
                      <a:effectLst/>
                      <a:latin typeface="Times New Roman"/>
                      <a:ea typeface="Calibri"/>
                      <a:cs typeface="Times New Roman"/>
                    </a:rPr>
                    <a:t>T[i]</a:t>
                  </a:r>
                  <a:endParaRPr lang="ru-RU" sz="1200" dirty="0">
                    <a:effectLst/>
                    <a:ea typeface="Calibri"/>
                    <a:cs typeface="Times New Roman"/>
                  </a:endParaRPr>
                </a:p>
              </p:txBody>
            </p:sp>
            <p:cxnSp>
              <p:nvCxnSpPr>
                <p:cNvPr id="22" name="Прямая со стрелкой 21"/>
                <p:cNvCxnSpPr/>
                <p:nvPr/>
              </p:nvCxnSpPr>
              <p:spPr>
                <a:xfrm flipH="1">
                  <a:off x="2276475" y="2019300"/>
                  <a:ext cx="447675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Группа 7"/>
              <p:cNvGrpSpPr/>
              <p:nvPr/>
            </p:nvGrpSpPr>
            <p:grpSpPr>
              <a:xfrm>
                <a:off x="0" y="0"/>
                <a:ext cx="3133725" cy="3124200"/>
                <a:chOff x="0" y="0"/>
                <a:chExt cx="3133725" cy="3124200"/>
              </a:xfrm>
            </p:grpSpPr>
            <p:sp>
              <p:nvSpPr>
                <p:cNvPr id="9" name="Левая фигурная скобка 8"/>
                <p:cNvSpPr/>
                <p:nvPr/>
              </p:nvSpPr>
              <p:spPr>
                <a:xfrm>
                  <a:off x="0" y="0"/>
                  <a:ext cx="561975" cy="3124200"/>
                </a:xfrm>
                <a:prstGeom prst="leftBrace">
                  <a:avLst>
                    <a:gd name="adj1" fmla="val 31840"/>
                    <a:gd name="adj2" fmla="val 50796"/>
                  </a:avLst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ru-RU" sz="1400"/>
                </a:p>
              </p:txBody>
            </p:sp>
            <p:sp>
              <p:nvSpPr>
                <p:cNvPr id="10" name="Прямоугольник 9"/>
                <p:cNvSpPr/>
                <p:nvPr/>
              </p:nvSpPr>
              <p:spPr>
                <a:xfrm>
                  <a:off x="1885950" y="2638425"/>
                  <a:ext cx="1247775" cy="361950"/>
                </a:xfrm>
                <a:prstGeom prst="rect">
                  <a:avLst/>
                </a:prstGeom>
                <a:ln/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sz="2400" b="1" dirty="0">
                      <a:solidFill>
                        <a:srgbClr val="C00000"/>
                      </a:solidFill>
                      <a:effectLst/>
                      <a:latin typeface="Times New Roman"/>
                      <a:ea typeface="Calibri"/>
                      <a:cs typeface="Times New Roman"/>
                    </a:rPr>
                    <a:t>T[i]</a:t>
                  </a:r>
                  <a:endParaRPr lang="ru-RU" sz="1400" dirty="0">
                    <a:solidFill>
                      <a:srgbClr val="C00000"/>
                    </a:solidFill>
                    <a:effectLst/>
                    <a:ea typeface="Calibri"/>
                    <a:cs typeface="Times New Roman"/>
                  </a:endParaRPr>
                </a:p>
              </p:txBody>
            </p:sp>
            <p:cxnSp>
              <p:nvCxnSpPr>
                <p:cNvPr id="11" name="Прямая со стрелкой 10"/>
                <p:cNvCxnSpPr/>
                <p:nvPr/>
              </p:nvCxnSpPr>
              <p:spPr>
                <a:xfrm>
                  <a:off x="2495550" y="2238375"/>
                  <a:ext cx="0" cy="36195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8" name="Блок-схема: подготовка 27"/>
          <p:cNvSpPr/>
          <p:nvPr/>
        </p:nvSpPr>
        <p:spPr>
          <a:xfrm>
            <a:off x="2570938" y="395666"/>
            <a:ext cx="3189137" cy="586839"/>
          </a:xfrm>
          <a:prstGeom prst="flowChartPreparatio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effectLst/>
                <a:latin typeface="Times New Roman"/>
                <a:ea typeface="Calibri"/>
                <a:cs typeface="Times New Roman"/>
              </a:rPr>
              <a:t>for </a:t>
            </a:r>
            <a:r>
              <a:rPr lang="en-US" b="1" dirty="0" smtClean="0">
                <a:effectLst/>
                <a:latin typeface="Times New Roman"/>
                <a:ea typeface="Calibri"/>
                <a:cs typeface="Times New Roman"/>
              </a:rPr>
              <a:t>j=0</a:t>
            </a:r>
            <a:r>
              <a:rPr lang="en-US" b="1" dirty="0">
                <a:effectLst/>
                <a:latin typeface="Times New Roman"/>
                <a:ea typeface="Calibri"/>
                <a:cs typeface="Times New Roman"/>
              </a:rPr>
              <a:t>; </a:t>
            </a:r>
            <a:r>
              <a:rPr lang="en-US" b="1" dirty="0">
                <a:latin typeface="Times New Roman"/>
                <a:ea typeface="Calibri"/>
                <a:cs typeface="Times New Roman"/>
              </a:rPr>
              <a:t>j</a:t>
            </a:r>
            <a:r>
              <a:rPr lang="en-US" b="1" dirty="0" smtClean="0">
                <a:effectLst/>
                <a:latin typeface="Times New Roman"/>
                <a:ea typeface="Calibri"/>
                <a:cs typeface="Times New Roman"/>
              </a:rPr>
              <a:t>&lt;=3; </a:t>
            </a:r>
            <a:r>
              <a:rPr lang="en-US" b="1" dirty="0">
                <a:latin typeface="Times New Roman"/>
                <a:ea typeface="Calibri"/>
                <a:cs typeface="Times New Roman"/>
              </a:rPr>
              <a:t>j</a:t>
            </a:r>
            <a:r>
              <a:rPr lang="en-US" b="1" dirty="0" smtClean="0">
                <a:effectLst/>
                <a:latin typeface="Times New Roman"/>
                <a:ea typeface="Calibri"/>
                <a:cs typeface="Times New Roman"/>
              </a:rPr>
              <a:t>++</a:t>
            </a:r>
            <a:endParaRPr lang="ru-RU" sz="1100" dirty="0">
              <a:effectLst/>
              <a:ea typeface="Calibri"/>
              <a:cs typeface="Times New Roman"/>
            </a:endParaRPr>
          </a:p>
        </p:txBody>
      </p:sp>
      <p:sp>
        <p:nvSpPr>
          <p:cNvPr id="29" name="Блок-схема: объединение 28"/>
          <p:cNvSpPr/>
          <p:nvPr/>
        </p:nvSpPr>
        <p:spPr>
          <a:xfrm>
            <a:off x="1599887" y="689085"/>
            <a:ext cx="807506" cy="792073"/>
          </a:xfrm>
          <a:prstGeom prst="flowChartMerg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sp>
        <p:nvSpPr>
          <p:cNvPr id="31" name="Прямоугольник с двумя скругленными противолежащими углами 30"/>
          <p:cNvSpPr/>
          <p:nvPr/>
        </p:nvSpPr>
        <p:spPr>
          <a:xfrm>
            <a:off x="6480425" y="401408"/>
            <a:ext cx="2381036" cy="57535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rgbClr val="FF0000"/>
                </a:solidFill>
              </a:rPr>
              <a:t>Kalitlar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generatsiyasi</a:t>
            </a:r>
            <a:endParaRPr lang="ru-RU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2979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1836505" y="154114"/>
            <a:ext cx="4836559" cy="785973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Kalitlar</a:t>
            </a:r>
            <a:r>
              <a:rPr lang="en-US" sz="32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generatsiyasi</a:t>
            </a:r>
            <a:endParaRPr lang="ru-RU" sz="32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1745422" y="1039720"/>
            <a:ext cx="5070297" cy="5323589"/>
            <a:chOff x="0" y="0"/>
            <a:chExt cx="5524819" cy="4057650"/>
          </a:xfrm>
        </p:grpSpPr>
        <p:grpSp>
          <p:nvGrpSpPr>
            <p:cNvPr id="5" name="Группа 4"/>
            <p:cNvGrpSpPr/>
            <p:nvPr/>
          </p:nvGrpSpPr>
          <p:grpSpPr>
            <a:xfrm>
              <a:off x="0" y="0"/>
              <a:ext cx="5067300" cy="4057650"/>
              <a:chOff x="0" y="0"/>
              <a:chExt cx="5067300" cy="4057650"/>
            </a:xfrm>
          </p:grpSpPr>
          <p:grpSp>
            <p:nvGrpSpPr>
              <p:cNvPr id="7" name="Группа 6"/>
              <p:cNvGrpSpPr/>
              <p:nvPr/>
            </p:nvGrpSpPr>
            <p:grpSpPr>
              <a:xfrm>
                <a:off x="0" y="28575"/>
                <a:ext cx="4715622" cy="4000500"/>
                <a:chOff x="0" y="0"/>
                <a:chExt cx="4715622" cy="4000500"/>
              </a:xfrm>
            </p:grpSpPr>
            <p:sp>
              <p:nvSpPr>
                <p:cNvPr id="9" name="Блок-схема: подготовка 8"/>
                <p:cNvSpPr/>
                <p:nvPr/>
              </p:nvSpPr>
              <p:spPr>
                <a:xfrm>
                  <a:off x="466725" y="0"/>
                  <a:ext cx="4248897" cy="517193"/>
                </a:xfrm>
                <a:prstGeom prst="flowChartPreparation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sz="2000" b="1" dirty="0">
                      <a:effectLst/>
                      <a:latin typeface="Times New Roman"/>
                      <a:ea typeface="Calibri"/>
                      <a:cs typeface="Times New Roman"/>
                    </a:rPr>
                    <a:t>for i=0; i&lt;=14; i++</a:t>
                  </a:r>
                  <a:endParaRPr lang="ru-RU" sz="1200" dirty="0">
                    <a:effectLst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10" name="Прямоугольник 9"/>
                <p:cNvSpPr/>
                <p:nvPr/>
              </p:nvSpPr>
              <p:spPr>
                <a:xfrm>
                  <a:off x="1790700" y="857250"/>
                  <a:ext cx="1796676" cy="420971"/>
                </a:xfrm>
                <a:prstGeom prst="rect">
                  <a:avLst/>
                </a:prstGeom>
                <a:ln/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b="1" dirty="0">
                      <a:effectLst/>
                      <a:latin typeface="Times New Roman"/>
                      <a:ea typeface="Calibri"/>
                      <a:cs typeface="Times New Roman"/>
                    </a:rPr>
                    <a:t>T[i-1 mod 15]</a:t>
                  </a:r>
                  <a:endParaRPr lang="ru-RU" sz="1200" dirty="0">
                    <a:effectLst/>
                    <a:ea typeface="Calibri"/>
                    <a:cs typeface="Times New Roman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" name="Прямоугольник 10"/>
                    <p:cNvSpPr/>
                    <p:nvPr/>
                  </p:nvSpPr>
                  <p:spPr>
                    <a:xfrm>
                      <a:off x="1228725" y="1600200"/>
                      <a:ext cx="2905125" cy="420370"/>
                    </a:xfrm>
                    <a:prstGeom prst="rect">
                      <a:avLst/>
                    </a:prstGeom>
                    <a:ln/>
                  </p:spPr>
                  <p:style>
                    <a:lnRef idx="1">
                      <a:schemeClr val="accent5"/>
                    </a:lnRef>
                    <a:fillRef idx="2">
                      <a:schemeClr val="accent5"/>
                    </a:fillRef>
                    <a:effectRef idx="1">
                      <a:schemeClr val="accent5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S[ </a:t>
                      </a:r>
                      <a:r>
                        <a:rPr lang="en-US" b="1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9 </a:t>
                      </a:r>
                      <a14:m>
                        <m:oMath xmlns:m="http://schemas.openxmlformats.org/officeDocument/2006/math">
                          <m:r>
                            <a:rPr lang="en-US" b="1" i="0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  <a:ea typeface="Calibri"/>
                              <a:cs typeface="Times New Roman"/>
                            </a:rPr>
                            <m:t>⊕</m:t>
                          </m:r>
                        </m:oMath>
                      </a14:m>
                      <a:r>
                        <a:rPr lang="en-US" b="1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 T[i-1 </a:t>
                      </a:r>
                      <a:r>
                        <a:rPr lang="en-US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mod 15] ]</a:t>
                      </a:r>
                      <a:endParaRPr lang="ru-RU" sz="1200" dirty="0">
                        <a:effectLst/>
                        <a:ea typeface="Calibri"/>
                        <a:cs typeface="Times New Roman"/>
                      </a:endParaRPr>
                    </a:p>
                  </p:txBody>
                </p:sp>
              </mc:Choice>
              <mc:Fallback xmlns="">
                <p:sp>
                  <p:nvSpPr>
                    <p:cNvPr id="11" name="Прямоугольник 10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28725" y="1600200"/>
                      <a:ext cx="2905125" cy="420370"/>
                    </a:xfrm>
                    <a:prstGeom prst="rect">
                      <a:avLst/>
                    </a:prstGeom>
                    <a:blipFill rotWithShape="1">
                      <a:blip r:embed="rId3"/>
                      <a:stretch>
                        <a:fillRect/>
                      </a:stretch>
                    </a:blipFill>
                    <a:ln/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" name="Блок-схема: ИЛИ 11"/>
                <p:cNvSpPr/>
                <p:nvPr/>
              </p:nvSpPr>
              <p:spPr>
                <a:xfrm>
                  <a:off x="2543175" y="2362200"/>
                  <a:ext cx="291353" cy="300693"/>
                </a:xfrm>
                <a:prstGeom prst="flowChar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ru-RU" sz="1600"/>
                </a:p>
              </p:txBody>
            </p:sp>
            <p:sp>
              <p:nvSpPr>
                <p:cNvPr id="13" name="Прямоугольник 12"/>
                <p:cNvSpPr/>
                <p:nvPr/>
              </p:nvSpPr>
              <p:spPr>
                <a:xfrm>
                  <a:off x="2000250" y="2857500"/>
                  <a:ext cx="1405922" cy="420370"/>
                </a:xfrm>
                <a:prstGeom prst="rect">
                  <a:avLst/>
                </a:prstGeom>
                <a:ln/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sz="2000" b="1" dirty="0">
                      <a:effectLst/>
                      <a:latin typeface="Times New Roman"/>
                      <a:ea typeface="Calibri"/>
                      <a:cs typeface="Times New Roman"/>
                    </a:rPr>
                    <a:t>           </a:t>
                  </a:r>
                  <a:r>
                    <a:rPr lang="en-US" sz="2000" b="1" dirty="0" smtClean="0">
                      <a:effectLst/>
                      <a:latin typeface="Times New Roman"/>
                      <a:ea typeface="Calibri"/>
                      <a:cs typeface="Times New Roman"/>
                    </a:rPr>
                    <a:t>&lt;&lt;&lt;</a:t>
                  </a:r>
                  <a:r>
                    <a:rPr lang="en-US" sz="2000" b="1" dirty="0">
                      <a:effectLst/>
                      <a:latin typeface="Times New Roman"/>
                      <a:ea typeface="Calibri"/>
                      <a:cs typeface="Times New Roman"/>
                    </a:rPr>
                    <a:t>9 </a:t>
                  </a:r>
                  <a:r>
                    <a:rPr lang="en-US" sz="1600" b="1" dirty="0">
                      <a:effectLst/>
                      <a:latin typeface="Times New Roman"/>
                      <a:ea typeface="Calibri"/>
                      <a:cs typeface="Times New Roman"/>
                    </a:rPr>
                    <a:t>  </a:t>
                  </a:r>
                  <a:endParaRPr lang="ru-RU" sz="1200" dirty="0">
                    <a:effectLst/>
                    <a:ea typeface="Calibri"/>
                    <a:cs typeface="Times New Roman"/>
                  </a:endParaRPr>
                </a:p>
              </p:txBody>
            </p:sp>
            <p:cxnSp>
              <p:nvCxnSpPr>
                <p:cNvPr id="14" name="Прямая со стрелкой 13"/>
                <p:cNvCxnSpPr/>
                <p:nvPr/>
              </p:nvCxnSpPr>
              <p:spPr>
                <a:xfrm>
                  <a:off x="2686050" y="2028825"/>
                  <a:ext cx="0" cy="320124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Прямая со стрелкой 14"/>
                <p:cNvCxnSpPr/>
                <p:nvPr/>
              </p:nvCxnSpPr>
              <p:spPr>
                <a:xfrm>
                  <a:off x="1981200" y="2514600"/>
                  <a:ext cx="558165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" name="Прямоугольник 15"/>
                <p:cNvSpPr/>
                <p:nvPr/>
              </p:nvSpPr>
              <p:spPr>
                <a:xfrm>
                  <a:off x="714375" y="2314575"/>
                  <a:ext cx="1247775" cy="376555"/>
                </a:xfrm>
                <a:prstGeom prst="rect">
                  <a:avLst/>
                </a:prstGeom>
                <a:ln/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sz="2000" b="1" dirty="0">
                      <a:effectLst/>
                      <a:latin typeface="Times New Roman"/>
                      <a:ea typeface="Calibri"/>
                      <a:cs typeface="Times New Roman"/>
                    </a:rPr>
                    <a:t>T[i]</a:t>
                  </a:r>
                  <a:endParaRPr lang="ru-RU" sz="1200" dirty="0">
                    <a:effectLst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17" name="Левая фигурная скобка 16"/>
                <p:cNvSpPr/>
                <p:nvPr/>
              </p:nvSpPr>
              <p:spPr>
                <a:xfrm>
                  <a:off x="0" y="752475"/>
                  <a:ext cx="715645" cy="3248025"/>
                </a:xfrm>
                <a:prstGeom prst="leftBrace">
                  <a:avLst>
                    <a:gd name="adj1" fmla="val 31840"/>
                    <a:gd name="adj2" fmla="val 50796"/>
                  </a:avLst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ru-RU" sz="1600"/>
                </a:p>
              </p:txBody>
            </p:sp>
            <p:cxnSp>
              <p:nvCxnSpPr>
                <p:cNvPr id="18" name="Прямая со стрелкой 17"/>
                <p:cNvCxnSpPr/>
                <p:nvPr/>
              </p:nvCxnSpPr>
              <p:spPr>
                <a:xfrm>
                  <a:off x="2695575" y="2686050"/>
                  <a:ext cx="0" cy="371475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Прямая со стрелкой 18"/>
                <p:cNvCxnSpPr/>
                <p:nvPr/>
              </p:nvCxnSpPr>
              <p:spPr>
                <a:xfrm>
                  <a:off x="2667000" y="1276350"/>
                  <a:ext cx="0" cy="313487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0" name="Прямоугольник 19"/>
                <p:cNvSpPr/>
                <p:nvPr/>
              </p:nvSpPr>
              <p:spPr>
                <a:xfrm>
                  <a:off x="2057400" y="3581400"/>
                  <a:ext cx="1247775" cy="376555"/>
                </a:xfrm>
                <a:prstGeom prst="rect">
                  <a:avLst/>
                </a:prstGeom>
                <a:ln/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sz="2000" b="1" dirty="0">
                      <a:effectLst/>
                      <a:latin typeface="Times New Roman"/>
                      <a:ea typeface="Calibri"/>
                      <a:cs typeface="Times New Roman"/>
                    </a:rPr>
                    <a:t>T[i]</a:t>
                  </a:r>
                  <a:endParaRPr lang="ru-RU" sz="1200" dirty="0">
                    <a:effectLst/>
                    <a:ea typeface="Calibri"/>
                    <a:cs typeface="Times New Roman"/>
                  </a:endParaRPr>
                </a:p>
              </p:txBody>
            </p:sp>
            <p:cxnSp>
              <p:nvCxnSpPr>
                <p:cNvPr id="21" name="Прямая со стрелкой 20"/>
                <p:cNvCxnSpPr/>
                <p:nvPr/>
              </p:nvCxnSpPr>
              <p:spPr>
                <a:xfrm>
                  <a:off x="2705100" y="3267075"/>
                  <a:ext cx="0" cy="32004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Правая фигурная скобка 7"/>
              <p:cNvSpPr/>
              <p:nvPr/>
            </p:nvSpPr>
            <p:spPr>
              <a:xfrm>
                <a:off x="4562475" y="0"/>
                <a:ext cx="504825" cy="4057650"/>
              </a:xfrm>
              <a:prstGeom prst="rightBrace">
                <a:avLst>
                  <a:gd name="adj1" fmla="val 95125"/>
                  <a:gd name="adj2" fmla="val 50000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ru-RU" sz="1600"/>
              </a:p>
            </p:txBody>
          </p:sp>
        </p:grpSp>
        <p:sp>
          <p:nvSpPr>
            <p:cNvPr id="6" name="Надпись 2"/>
            <p:cNvSpPr txBox="1">
              <a:spLocks noChangeArrowheads="1"/>
            </p:cNvSpPr>
            <p:nvPr/>
          </p:nvSpPr>
          <p:spPr bwMode="auto">
            <a:xfrm rot="5400000">
              <a:off x="4810125" y="1847850"/>
              <a:ext cx="1057913" cy="371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b="1">
                  <a:effectLst/>
                  <a:latin typeface="Times New Roman"/>
                  <a:ea typeface="Calibri"/>
                  <a:cs typeface="Times New Roman"/>
                </a:rPr>
                <a:t>4 marta</a:t>
              </a:r>
              <a:endParaRPr lang="ru-RU" sz="1050">
                <a:effectLst/>
                <a:latin typeface="Calibri"/>
                <a:ea typeface="Calibri"/>
                <a:cs typeface="Times New Roman"/>
              </a:endParaRPr>
            </a:p>
          </p:txBody>
        </p:sp>
      </p:grpSp>
      <p:sp>
        <p:nvSpPr>
          <p:cNvPr id="22" name="Прямоугольник с двумя скругленными противолежащими углами 21"/>
          <p:cNvSpPr/>
          <p:nvPr/>
        </p:nvSpPr>
        <p:spPr>
          <a:xfrm>
            <a:off x="6395839" y="5787956"/>
            <a:ext cx="2381036" cy="57535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FF0000"/>
                </a:solidFill>
              </a:rPr>
              <a:t>Kalitlar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generatsiyasi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011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2347643" y="1649001"/>
            <a:ext cx="3814281" cy="1880172"/>
            <a:chOff x="1" y="70460"/>
            <a:chExt cx="3802549" cy="1037654"/>
          </a:xfrm>
        </p:grpSpPr>
        <p:sp>
          <p:nvSpPr>
            <p:cNvPr id="3" name="Блок-схема: подготовка 2"/>
            <p:cNvSpPr/>
            <p:nvPr/>
          </p:nvSpPr>
          <p:spPr>
            <a:xfrm>
              <a:off x="1" y="70460"/>
              <a:ext cx="3802549" cy="446733"/>
            </a:xfrm>
            <a:prstGeom prst="flowChartPreparation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2000" b="1" dirty="0">
                  <a:effectLst/>
                  <a:latin typeface="Times New Roman"/>
                  <a:ea typeface="Calibri"/>
                  <a:cs typeface="Times New Roman"/>
                </a:rPr>
                <a:t>for i=0; i&lt;=9; i++</a:t>
              </a:r>
              <a:endParaRPr lang="ru-RU" sz="1200" dirty="0">
                <a:effectLst/>
                <a:ea typeface="Calibri"/>
                <a:cs typeface="Times New Roman"/>
              </a:endParaRPr>
            </a:p>
          </p:txBody>
        </p:sp>
        <p:sp>
          <p:nvSpPr>
            <p:cNvPr id="4" name="Прямоугольник 3"/>
            <p:cNvSpPr/>
            <p:nvPr/>
          </p:nvSpPr>
          <p:spPr>
            <a:xfrm>
              <a:off x="432312" y="739548"/>
              <a:ext cx="2937927" cy="368566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b="1" dirty="0">
                  <a:effectLst/>
                  <a:latin typeface="Times New Roman"/>
                  <a:ea typeface="Calibri"/>
                  <a:cs typeface="Times New Roman"/>
                </a:rPr>
                <a:t>K[ 10*</a:t>
              </a:r>
              <a:r>
                <a:rPr lang="en-US" b="1" dirty="0" err="1">
                  <a:effectLst/>
                  <a:latin typeface="Times New Roman"/>
                  <a:ea typeface="Calibri"/>
                  <a:cs typeface="Times New Roman"/>
                </a:rPr>
                <a:t>j+i</a:t>
              </a:r>
              <a:r>
                <a:rPr lang="en-US" b="1" dirty="0">
                  <a:effectLst/>
                  <a:latin typeface="Times New Roman"/>
                  <a:ea typeface="Calibri"/>
                  <a:cs typeface="Times New Roman"/>
                </a:rPr>
                <a:t> ] = </a:t>
              </a:r>
              <a:r>
                <a:rPr lang="en-US" b="1" dirty="0" smtClean="0">
                  <a:effectLst/>
                  <a:latin typeface="Times New Roman"/>
                  <a:ea typeface="Calibri"/>
                  <a:cs typeface="Times New Roman"/>
                </a:rPr>
                <a:t>T[4*i </a:t>
              </a:r>
              <a:r>
                <a:rPr lang="en-US" b="1" dirty="0">
                  <a:effectLst/>
                  <a:latin typeface="Times New Roman"/>
                  <a:ea typeface="Calibri"/>
                  <a:cs typeface="Times New Roman"/>
                </a:rPr>
                <a:t>mod 15 ]</a:t>
              </a:r>
              <a:endParaRPr lang="ru-RU" sz="1200" dirty="0">
                <a:effectLst/>
                <a:ea typeface="Calibri"/>
                <a:cs typeface="Times New Roman"/>
              </a:endParaRPr>
            </a:p>
          </p:txBody>
        </p:sp>
      </p:grpSp>
      <p:sp>
        <p:nvSpPr>
          <p:cNvPr id="5" name="Заголовок 1"/>
          <p:cNvSpPr txBox="1">
            <a:spLocks/>
          </p:cNvSpPr>
          <p:nvPr/>
        </p:nvSpPr>
        <p:spPr>
          <a:xfrm>
            <a:off x="1836504" y="472613"/>
            <a:ext cx="4836559" cy="785973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en-US" sz="4200" b="0" kern="1200" spc="-100" baseline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prstClr val="black">
                      <a:alpha val="70000"/>
                    </a:prstClr>
                  </a:inn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Kalitlar</a:t>
            </a:r>
            <a:r>
              <a:rPr lang="en-US" sz="24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generatsiyasi</a:t>
            </a:r>
            <a:endParaRPr lang="en-US" sz="2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Блок-схема: объединение 5"/>
          <p:cNvSpPr/>
          <p:nvPr/>
        </p:nvSpPr>
        <p:spPr>
          <a:xfrm flipV="1">
            <a:off x="5865557" y="2741757"/>
            <a:ext cx="807506" cy="787417"/>
          </a:xfrm>
          <a:prstGeom prst="flowChartMerg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6395663" y="5867259"/>
            <a:ext cx="2381036" cy="57535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rgbClr val="FF0000"/>
                </a:solidFill>
              </a:rPr>
              <a:t>Kalitlar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generatsiyasi</a:t>
            </a:r>
            <a:endParaRPr lang="ru-RU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927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/>
          <p:cNvSpPr/>
          <p:nvPr/>
        </p:nvSpPr>
        <p:spPr>
          <a:xfrm>
            <a:off x="251520" y="188640"/>
            <a:ext cx="1008112" cy="504056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D:\Vyorstka\Infokrat\Infokrat-01 - InDezayn\rasm\logo-1111.t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67747"/>
            <a:ext cx="1868611" cy="1868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5722" y="214290"/>
            <a:ext cx="8643999" cy="6357982"/>
          </a:xfrm>
        </p:spPr>
        <p:txBody>
          <a:bodyPr/>
          <a:lstStyle/>
          <a:p>
            <a:pPr algn="just"/>
            <a:endParaRPr lang="ru-RU" dirty="0" smtClean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algn="just"/>
            <a:r>
              <a:rPr lang="ru-RU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endParaRPr lang="ru-RU" dirty="0" smtClean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endParaRPr lang="en-US" dirty="0" smtClean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36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en-US" sz="36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Serpent</a:t>
            </a:r>
            <a:r>
              <a:rPr lang="uz-Cyrl-UZ" sz="36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b="1" dirty="0" err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шифрлаш</a:t>
            </a:r>
            <a:r>
              <a:rPr lang="ru-RU" sz="36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b="1" dirty="0" err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алгоритми</a:t>
            </a:r>
            <a:r>
              <a:rPr lang="ru-RU" sz="36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»</a:t>
            </a:r>
          </a:p>
          <a:p>
            <a:pPr algn="just"/>
            <a:r>
              <a:rPr lang="ru-RU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algn="just"/>
            <a:r>
              <a:rPr lang="ru-RU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algn="just"/>
            <a:r>
              <a:rPr lang="ru-RU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                                                      </a:t>
            </a:r>
            <a:r>
              <a:rPr lang="en-US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algn="just"/>
            <a:r>
              <a:rPr lang="en-US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			</a:t>
            </a:r>
            <a:r>
              <a:rPr lang="ru-RU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ru-RU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   </a:t>
            </a:r>
            <a:endParaRPr lang="en-US" dirty="0" smtClean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err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Тошкент</a:t>
            </a:r>
            <a:r>
              <a:rPr lang="ru-RU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– 2015</a:t>
            </a:r>
          </a:p>
          <a:p>
            <a:pPr algn="just">
              <a:lnSpc>
                <a:spcPct val="90000"/>
              </a:lnSpc>
            </a:pPr>
            <a:endParaRPr lang="en-US" dirty="0" smtClean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421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214283" y="1214423"/>
            <a:ext cx="8715436" cy="5286412"/>
          </a:xfrm>
        </p:spPr>
        <p:txBody>
          <a:bodyPr/>
          <a:lstStyle/>
          <a:p>
            <a:pPr marL="0" indent="363538" algn="just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Ушбу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ишда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Serpent </a:t>
            </a:r>
            <a:r>
              <a:rPr lang="uz-Cyrl-UZ" sz="2000" dirty="0" smtClean="0">
                <a:latin typeface="Times New Roman" pitchFamily="18" charset="0"/>
                <a:cs typeface="Times New Roman" pitchFamily="18" charset="0"/>
              </a:rPr>
              <a:t>симметрик шифрлаш алгоритмини кўриб ўтамиз.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Serpent </a:t>
            </a:r>
            <a:r>
              <a:rPr lang="uz-Cyrl-UZ" sz="2000" dirty="0" smtClean="0">
                <a:latin typeface="Times New Roman" pitchFamily="18" charset="0"/>
                <a:cs typeface="Times New Roman" pitchFamily="18" charset="0"/>
              </a:rPr>
              <a:t>алгоритми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AES </a:t>
            </a:r>
            <a:r>
              <a:rPr lang="uz-Cyrl-UZ" sz="2000" dirty="0" smtClean="0">
                <a:latin typeface="Times New Roman" pitchFamily="18" charset="0"/>
                <a:cs typeface="Times New Roman" pitchFamily="18" charset="0"/>
              </a:rPr>
              <a:t>танловининг финал босқичига чиққан. Шу сабабли ушбу танлов ҳақида қисқача сўз юритамиз.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363538" algn="just">
              <a:buNone/>
            </a:pPr>
            <a:r>
              <a:rPr lang="uz-Cyrl-UZ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Шифрлаш стандартини алмаштириш борасидаги дастлабки қадам 1997 йилда қўйилган эди.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DES </a:t>
            </a:r>
            <a:r>
              <a:rPr lang="uz-Cyrl-UZ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алгоритмининг заиф нуқталари топилгандан сўнг АҚШнинг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NIST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National Institute of Standards and Technology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Миллий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стандартлар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технологиялар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институти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янги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шифрлаш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алгоритми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учун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очиқ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танлов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эълон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қилди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Танловда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ғолиб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чиққадиган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алгоритм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АҚШнинг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янги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симметрик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шифрлаш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стандарти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бўлади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363538" algn="just">
              <a:buNone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NIST</a:t>
            </a:r>
            <a:r>
              <a:rPr lang="uz-Cyrl-UZ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танловда қатнашувчи алгоритмлар учун бор йўғи иккита қатъий талаб қўйди:</a:t>
            </a: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363538"/>
            <a:r>
              <a:rPr lang="ru-RU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Маълумотларни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шифрлаш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блокининг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узунлиги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128-бит,</a:t>
            </a: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363538"/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Учтадан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кам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бўлмаган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ўлчамдаги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ш</a:t>
            </a:r>
            <a:r>
              <a:rPr lang="ru-RU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ифрлаш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калитларини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мададлаши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128, 192 </a:t>
            </a:r>
            <a:r>
              <a:rPr lang="ru-RU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ва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256 бит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16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1" y="6537327"/>
            <a:ext cx="1643075" cy="32067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SERPENT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2" descr="D:\Vyorstka\Infokrat\Infokrat-01 - InDezayn\rasm\logo-1111.t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6" y="44624"/>
            <a:ext cx="753094" cy="75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3000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Асосий</a:t>
            </a:r>
            <a:r>
              <a:rPr lang="ru-RU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b="1" dirty="0" err="1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қисм</a:t>
            </a:r>
            <a:endParaRPr lang="ru-RU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214283" y="1214423"/>
            <a:ext cx="8715436" cy="5286412"/>
          </a:xfrm>
        </p:spPr>
        <p:txBody>
          <a:bodyPr/>
          <a:lstStyle/>
          <a:p>
            <a:pPr marL="0" lvl="1" indent="363538" algn="just">
              <a:lnSpc>
                <a:spcPct val="80000"/>
              </a:lnSpc>
              <a:buNone/>
            </a:pPr>
            <a:endParaRPr lang="ru-RU" sz="2000" dirty="0" smtClean="0">
              <a:solidFill>
                <a:schemeClr val="tx1"/>
              </a:solidFill>
              <a:latin typeface="+mn-lt"/>
            </a:endParaRPr>
          </a:p>
          <a:p>
            <a:pPr marL="0" lvl="1" indent="363538" algn="just">
              <a:lnSpc>
                <a:spcPct val="80000"/>
              </a:lnSpc>
              <a:buNone/>
            </a:pPr>
            <a:r>
              <a:rPr lang="ru-RU" dirty="0" err="1" smtClean="0">
                <a:solidFill>
                  <a:schemeClr val="tx1"/>
                </a:solidFill>
              </a:rPr>
              <a:t>Serpent</a:t>
            </a:r>
            <a:r>
              <a:rPr lang="ru-RU" dirty="0" smtClean="0">
                <a:solidFill>
                  <a:schemeClr val="tx1"/>
                </a:solidFill>
              </a:rPr>
              <a:t> («</a:t>
            </a:r>
            <a:r>
              <a:rPr lang="ru-RU" dirty="0" err="1" smtClean="0">
                <a:solidFill>
                  <a:schemeClr val="tx1"/>
                </a:solidFill>
              </a:rPr>
              <a:t>илон</a:t>
            </a:r>
            <a:r>
              <a:rPr lang="ru-RU" dirty="0" smtClean="0">
                <a:solidFill>
                  <a:schemeClr val="tx1"/>
                </a:solidFill>
              </a:rPr>
              <a:t>»</a:t>
            </a:r>
            <a:r>
              <a:rPr lang="en-US" dirty="0" smtClean="0">
                <a:solidFill>
                  <a:schemeClr val="tx1"/>
                </a:solidFill>
              </a:rPr>
              <a:t>) </a:t>
            </a:r>
            <a:r>
              <a:rPr lang="ru-RU" dirty="0" err="1" smtClean="0">
                <a:solidFill>
                  <a:schemeClr val="tx1"/>
                </a:solidFill>
              </a:rPr>
              <a:t>симметрик</a:t>
            </a:r>
            <a:r>
              <a:rPr lang="ru-RU" dirty="0"/>
              <a:t> </a:t>
            </a:r>
            <a:r>
              <a:rPr lang="ru-RU" dirty="0" err="1" smtClean="0"/>
              <a:t>блочли</a:t>
            </a:r>
            <a:r>
              <a:rPr lang="ru-RU" dirty="0" smtClean="0"/>
              <a:t> </a:t>
            </a:r>
            <a:r>
              <a:rPr lang="ru-RU" dirty="0" err="1" smtClean="0"/>
              <a:t>шифровлаш</a:t>
            </a:r>
            <a:r>
              <a:rPr lang="ru-RU" dirty="0" smtClean="0"/>
              <a:t> </a:t>
            </a:r>
            <a:r>
              <a:rPr lang="ru-RU" dirty="0" err="1" smtClean="0"/>
              <a:t>алгоритми</a:t>
            </a:r>
            <a:r>
              <a:rPr lang="ru-RU" dirty="0" smtClean="0"/>
              <a:t> </a:t>
            </a:r>
            <a:r>
              <a:rPr lang="ru-RU" dirty="0" smtClean="0">
                <a:solidFill>
                  <a:schemeClr val="tx1"/>
                </a:solidFill>
              </a:rPr>
              <a:t>Росс Андерсон, </a:t>
            </a:r>
            <a:r>
              <a:rPr lang="ru-RU" dirty="0">
                <a:solidFill>
                  <a:schemeClr val="tx1"/>
                </a:solidFill>
              </a:rPr>
              <a:t>Эли </a:t>
            </a:r>
            <a:r>
              <a:rPr lang="ru-RU" dirty="0" err="1" smtClean="0">
                <a:solidFill>
                  <a:schemeClr val="tx1"/>
                </a:solidFill>
              </a:rPr>
              <a:t>Бихам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ва</a:t>
            </a:r>
            <a:r>
              <a:rPr lang="ru-RU" dirty="0" smtClean="0">
                <a:solidFill>
                  <a:schemeClr val="tx1"/>
                </a:solidFill>
              </a:rPr>
              <a:t> Ларс </a:t>
            </a:r>
            <a:r>
              <a:rPr lang="ru-RU" dirty="0" err="1" smtClean="0">
                <a:solidFill>
                  <a:schemeClr val="tx1"/>
                </a:solidFill>
              </a:rPr>
              <a:t>Кнудсенлар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томонидан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яратилган</a:t>
            </a:r>
            <a:r>
              <a:rPr lang="ru-RU" dirty="0" smtClean="0">
                <a:solidFill>
                  <a:schemeClr val="tx1"/>
                </a:solidFill>
              </a:rPr>
              <a:t>. Алгоритм </a:t>
            </a:r>
            <a:r>
              <a:rPr lang="en-US" dirty="0" smtClean="0">
                <a:solidFill>
                  <a:schemeClr val="tx1"/>
                </a:solidFill>
              </a:rPr>
              <a:t>AES </a:t>
            </a:r>
            <a:r>
              <a:rPr lang="uz-Cyrl-UZ" dirty="0" smtClean="0">
                <a:solidFill>
                  <a:schemeClr val="tx1"/>
                </a:solidFill>
              </a:rPr>
              <a:t>танлови 2-этапининг финалистларидан бири ҳисобланади.</a:t>
            </a:r>
            <a:endParaRPr lang="en-US" dirty="0" smtClean="0">
              <a:solidFill>
                <a:schemeClr val="tx1"/>
              </a:solidFill>
            </a:endParaRPr>
          </a:p>
          <a:p>
            <a:pPr marL="0" lvl="1" indent="363538" algn="just">
              <a:lnSpc>
                <a:spcPct val="80000"/>
              </a:lnSpc>
              <a:buNone/>
            </a:pPr>
            <a:endParaRPr lang="ru-RU" dirty="0" smtClean="0">
              <a:solidFill>
                <a:schemeClr val="tx2"/>
              </a:solidFill>
            </a:endParaRPr>
          </a:p>
          <a:p>
            <a:pPr marL="0" lvl="1" indent="363538" algn="just">
              <a:lnSpc>
                <a:spcPct val="80000"/>
              </a:lnSpc>
              <a:buNone/>
            </a:pPr>
            <a:r>
              <a:rPr lang="ru-RU" dirty="0" err="1" smtClean="0">
                <a:solidFill>
                  <a:schemeClr val="tx1"/>
                </a:solidFill>
              </a:rPr>
              <a:t>Serpent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нинг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характеристикалари</a:t>
            </a:r>
            <a:r>
              <a:rPr lang="ru-RU" dirty="0" smtClean="0">
                <a:solidFill>
                  <a:schemeClr val="tx1"/>
                </a:solidFill>
              </a:rPr>
              <a:t>:</a:t>
            </a:r>
          </a:p>
          <a:p>
            <a:pPr marL="0" lvl="1" indent="363538" algn="just">
              <a:lnSpc>
                <a:spcPct val="80000"/>
              </a:lnSpc>
              <a:buFont typeface="Wingdings" pitchFamily="2" charset="2"/>
              <a:buChar char="v"/>
            </a:pPr>
            <a:r>
              <a:rPr lang="ru-RU" dirty="0"/>
              <a:t> </a:t>
            </a:r>
            <a:r>
              <a:rPr lang="ru-RU" dirty="0" smtClean="0"/>
              <a:t> SP-</a:t>
            </a:r>
            <a:r>
              <a:rPr lang="ru-RU" dirty="0" err="1" smtClean="0"/>
              <a:t>тармоғига</a:t>
            </a:r>
            <a:r>
              <a:rPr lang="ru-RU" dirty="0" smtClean="0"/>
              <a:t> </a:t>
            </a:r>
            <a:r>
              <a:rPr lang="ru-RU" dirty="0" err="1" smtClean="0"/>
              <a:t>асосланган</a:t>
            </a:r>
            <a:r>
              <a:rPr lang="ru-RU" dirty="0" smtClean="0">
                <a:solidFill>
                  <a:schemeClr val="tx1"/>
                </a:solidFill>
              </a:rPr>
              <a:t>,</a:t>
            </a:r>
            <a:endParaRPr lang="ru-RU" dirty="0" smtClean="0"/>
          </a:p>
          <a:p>
            <a:pPr marL="0" lvl="1" indent="363538" algn="just">
              <a:lnSpc>
                <a:spcPct val="80000"/>
              </a:lnSpc>
              <a:buFont typeface="Wingdings" pitchFamily="2" charset="2"/>
              <a:buChar char="v"/>
            </a:pPr>
            <a:r>
              <a:rPr lang="ru-RU" dirty="0" smtClean="0">
                <a:solidFill>
                  <a:schemeClr val="tx1"/>
                </a:solidFill>
              </a:rPr>
              <a:t>  блок </a:t>
            </a:r>
            <a:r>
              <a:rPr lang="ru-RU" dirty="0" err="1" smtClean="0">
                <a:solidFill>
                  <a:schemeClr val="tx1"/>
                </a:solidFill>
              </a:rPr>
              <a:t>ўлчами</a:t>
            </a:r>
            <a:r>
              <a:rPr lang="ru-RU" dirty="0" smtClean="0">
                <a:solidFill>
                  <a:schemeClr val="tx1"/>
                </a:solidFill>
              </a:rPr>
              <a:t> 128 бит,</a:t>
            </a:r>
          </a:p>
          <a:p>
            <a:pPr marL="0" lvl="1" indent="0" algn="just">
              <a:lnSpc>
                <a:spcPct val="80000"/>
              </a:lnSpc>
              <a:buFont typeface="Wingdings" pitchFamily="2" charset="2"/>
              <a:buChar char="v"/>
            </a:pPr>
            <a:r>
              <a:rPr lang="ru-RU" dirty="0"/>
              <a:t> </a:t>
            </a:r>
            <a:r>
              <a:rPr lang="ru-RU" dirty="0" smtClean="0"/>
              <a:t> </a:t>
            </a:r>
            <a:r>
              <a:rPr lang="ru-RU" dirty="0" err="1" smtClean="0"/>
              <a:t>калитларнинг</a:t>
            </a:r>
            <a:r>
              <a:rPr lang="ru-RU" dirty="0" smtClean="0"/>
              <a:t> </a:t>
            </a:r>
            <a:r>
              <a:rPr lang="ru-RU" dirty="0" err="1" smtClean="0"/>
              <a:t>мумкин</a:t>
            </a:r>
            <a:r>
              <a:rPr lang="ru-RU" dirty="0" smtClean="0"/>
              <a:t> </a:t>
            </a:r>
            <a:r>
              <a:rPr lang="ru-RU" dirty="0" err="1" smtClean="0"/>
              <a:t>бўлган</a:t>
            </a:r>
            <a:r>
              <a:rPr lang="ru-RU" dirty="0" smtClean="0"/>
              <a:t> </a:t>
            </a:r>
            <a:r>
              <a:rPr lang="ru-RU" dirty="0" err="1" smtClean="0"/>
              <a:t>узунликлари</a:t>
            </a:r>
            <a:r>
              <a:rPr lang="ru-RU" dirty="0" smtClean="0">
                <a:solidFill>
                  <a:schemeClr val="tx1"/>
                </a:solidFill>
              </a:rPr>
              <a:t> 128, </a:t>
            </a:r>
            <a:r>
              <a:rPr lang="ru-RU" dirty="0">
                <a:solidFill>
                  <a:schemeClr val="tx1"/>
                </a:solidFill>
              </a:rPr>
              <a:t>192 </a:t>
            </a:r>
            <a:r>
              <a:rPr lang="ru-RU" dirty="0" err="1" smtClean="0">
                <a:solidFill>
                  <a:schemeClr val="tx1"/>
                </a:solidFill>
              </a:rPr>
              <a:t>ва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256 </a:t>
            </a:r>
            <a:r>
              <a:rPr lang="ru-RU" dirty="0" smtClean="0">
                <a:solidFill>
                  <a:schemeClr val="tx1"/>
                </a:solidFill>
              </a:rPr>
              <a:t>бит,</a:t>
            </a:r>
          </a:p>
          <a:p>
            <a:pPr marL="0" lvl="1" indent="363538" algn="just">
              <a:lnSpc>
                <a:spcPct val="80000"/>
              </a:lnSpc>
              <a:buFont typeface="Wingdings" pitchFamily="2" charset="2"/>
              <a:buChar char="v"/>
            </a:pPr>
            <a:r>
              <a:rPr lang="ru-RU" dirty="0"/>
              <a:t> </a:t>
            </a:r>
            <a:r>
              <a:rPr lang="ru-RU" dirty="0" smtClean="0"/>
              <a:t> </a:t>
            </a:r>
            <a:r>
              <a:rPr lang="ru-RU" dirty="0" err="1"/>
              <a:t>р</a:t>
            </a:r>
            <a:r>
              <a:rPr lang="ru-RU" dirty="0" err="1" smtClean="0"/>
              <a:t>аундлар</a:t>
            </a:r>
            <a:r>
              <a:rPr lang="ru-RU" dirty="0" smtClean="0"/>
              <a:t> сони </a:t>
            </a:r>
            <a:r>
              <a:rPr lang="ru-RU" dirty="0" smtClean="0">
                <a:solidFill>
                  <a:schemeClr val="tx1"/>
                </a:solidFill>
              </a:rPr>
              <a:t>32 та</a:t>
            </a:r>
            <a:r>
              <a:rPr lang="ru-RU" dirty="0" smtClean="0"/>
              <a:t>.</a:t>
            </a:r>
            <a:endParaRPr lang="ru-RU" dirty="0" smtClean="0">
              <a:solidFill>
                <a:schemeClr val="tx1"/>
              </a:solidFill>
            </a:endParaRPr>
          </a:p>
          <a:p>
            <a:pPr marL="0" lvl="1" indent="363538" algn="just">
              <a:lnSpc>
                <a:spcPct val="80000"/>
              </a:lnSpc>
              <a:buNone/>
            </a:pPr>
            <a:r>
              <a:rPr lang="ru-RU" dirty="0"/>
              <a:t> </a:t>
            </a:r>
            <a:r>
              <a:rPr lang="ru-RU" dirty="0" smtClean="0"/>
              <a:t> 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1" y="6537327"/>
            <a:ext cx="1643075" cy="32067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SERPENT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2" descr="D:\Vyorstka\Infokrat\Infokrat-01 - InDezayn\rasm\logo-1111.t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6" y="44624"/>
            <a:ext cx="753094" cy="75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7505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579438"/>
            <a:ext cx="8424936" cy="563562"/>
          </a:xfrm>
        </p:spPr>
        <p:txBody>
          <a:bodyPr/>
          <a:lstStyle/>
          <a:p>
            <a:pPr lvl="1"/>
            <a:r>
              <a:rPr lang="ru-RU" sz="2800" dirty="0" smtClean="0"/>
              <a:t>1. </a:t>
            </a:r>
            <a:r>
              <a:rPr lang="ru-RU" sz="2800" dirty="0" err="1" smtClean="0"/>
              <a:t>Калитларни</a:t>
            </a:r>
            <a:r>
              <a:rPr lang="ru-RU" sz="2800" dirty="0" smtClean="0"/>
              <a:t> </a:t>
            </a:r>
            <a:r>
              <a:rPr lang="ru-RU" sz="2800" dirty="0"/>
              <a:t>г</a:t>
            </a:r>
            <a:r>
              <a:rPr lang="ru-RU" sz="2800" dirty="0" smtClean="0"/>
              <a:t>енерация </a:t>
            </a:r>
            <a:r>
              <a:rPr lang="ru-RU" sz="2800" dirty="0" err="1" smtClean="0"/>
              <a:t>қилиш</a:t>
            </a:r>
            <a:r>
              <a:rPr lang="ru-RU" sz="2800" dirty="0" smtClean="0"/>
              <a:t> </a:t>
            </a:r>
            <a:r>
              <a:rPr lang="ru-RU" sz="2800" dirty="0" err="1" smtClean="0"/>
              <a:t>алгоритми</a:t>
            </a:r>
            <a:endParaRPr lang="ru-R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587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14283" y="1214423"/>
                <a:ext cx="8715436" cy="5286412"/>
              </a:xfrm>
            </p:spPr>
            <p:txBody>
              <a:bodyPr/>
              <a:lstStyle/>
              <a:p>
                <a:pPr marL="0" lvl="1" indent="363538" algn="just">
                  <a:lnSpc>
                    <a:spcPct val="80000"/>
                  </a:lnSpc>
                  <a:buNone/>
                </a:pPr>
                <a:r>
                  <a:rPr lang="ru-RU" sz="2000" dirty="0" smtClean="0"/>
                  <a:t>Serpent  </a:t>
                </a:r>
                <a:r>
                  <a:rPr lang="ru-RU" sz="2000" dirty="0" err="1" smtClean="0"/>
                  <a:t>узунлиги</a:t>
                </a:r>
                <a:r>
                  <a:rPr lang="ru-RU" sz="2000" dirty="0" smtClean="0"/>
                  <a:t> 128 бит  </a:t>
                </a:r>
                <a:r>
                  <a:rPr lang="ru-RU" sz="2000" b="1" i="1" dirty="0" smtClean="0">
                    <a:solidFill>
                      <a:srgbClr val="FF0000"/>
                    </a:solidFill>
                  </a:rPr>
                  <a:t>P</a:t>
                </a:r>
                <a:r>
                  <a:rPr lang="ru-RU" sz="2000" dirty="0" smtClean="0">
                    <a:solidFill>
                      <a:srgbClr val="FF0000"/>
                    </a:solidFill>
                  </a:rPr>
                  <a:t> 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очиқ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матнни</a:t>
                </a:r>
                <a:r>
                  <a:rPr lang="en-US" sz="2000" dirty="0" smtClean="0"/>
                  <a:t> </a:t>
                </a:r>
                <a:r>
                  <a:rPr lang="ru-RU" sz="2000" dirty="0" err="1" smtClean="0"/>
                  <a:t>худди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шундай</a:t>
                </a:r>
                <a:r>
                  <a:rPr lang="ru-RU" sz="2000" dirty="0" smtClean="0"/>
                  <a:t> 128 </a:t>
                </a:r>
                <a:r>
                  <a:rPr lang="ru-RU" sz="2000" dirty="0"/>
                  <a:t>бит </a:t>
                </a:r>
                <a:r>
                  <a:rPr lang="ru-RU" sz="2000" dirty="0" err="1" smtClean="0"/>
                  <a:t>узунликдаги</a:t>
                </a:r>
                <a:r>
                  <a:rPr lang="ru-RU" sz="2000" dirty="0" smtClean="0"/>
                  <a:t> </a:t>
                </a:r>
                <a:r>
                  <a:rPr lang="ru-RU" sz="2000" b="1" i="1" dirty="0" smtClean="0">
                    <a:solidFill>
                      <a:srgbClr val="FF0000"/>
                    </a:solidFill>
                  </a:rPr>
                  <a:t>C</a:t>
                </a:r>
                <a:r>
                  <a:rPr lang="ru-RU" sz="2000" dirty="0" smtClean="0"/>
                  <a:t>  </a:t>
                </a:r>
                <a:r>
                  <a:rPr lang="ru-RU" sz="2000" dirty="0" err="1" smtClean="0"/>
                  <a:t>шифрматнга</a:t>
                </a:r>
                <a:r>
                  <a:rPr lang="ru-RU" sz="2000" dirty="0" smtClean="0"/>
                  <a:t> 32 </a:t>
                </a:r>
                <a:r>
                  <a:rPr lang="ru-RU" sz="2000" dirty="0" err="1" smtClean="0"/>
                  <a:t>раундда</a:t>
                </a:r>
                <a:r>
                  <a:rPr lang="ru-RU" sz="2000" dirty="0" smtClean="0"/>
                  <a:t> </a:t>
                </a:r>
                <a:r>
                  <a:rPr lang="ru-RU" sz="2000" dirty="0" err="1"/>
                  <a:t>узунлиги</a:t>
                </a:r>
                <a:r>
                  <a:rPr lang="ru-RU" sz="2000" dirty="0"/>
                  <a:t> 128 </a:t>
                </a:r>
                <a:r>
                  <a:rPr lang="ru-RU" sz="2000" dirty="0" err="1"/>
                  <a:t>битли</a:t>
                </a:r>
                <a:r>
                  <a:rPr lang="ru-RU" sz="2000" dirty="0"/>
                  <a:t> </a:t>
                </a:r>
                <a:r>
                  <a:rPr lang="ru-RU" sz="2000" dirty="0" smtClean="0"/>
                  <a:t>33 та </a:t>
                </a:r>
              </a:p>
              <a:p>
                <a:pPr marL="0" lvl="1" indent="363538" algn="just">
                  <a:lnSpc>
                    <a:spcPct val="80000"/>
                  </a:lnSpc>
                  <a:buNone/>
                </a:pPr>
                <a:r>
                  <a:rPr lang="ru-RU" sz="2000" dirty="0"/>
                  <a:t> </a:t>
                </a:r>
                <a:r>
                  <a:rPr lang="ru-RU" sz="2000" dirty="0" smtClean="0"/>
                  <a:t>                 </a:t>
                </a:r>
                <a:r>
                  <a:rPr lang="ru-RU" sz="2000" dirty="0" err="1" smtClean="0"/>
                  <a:t>қисм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калитлар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ёрдамида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шифрлайди</a:t>
                </a:r>
                <a:r>
                  <a:rPr lang="ru-RU" sz="2000" dirty="0" smtClean="0"/>
                  <a:t>.</a:t>
                </a:r>
              </a:p>
              <a:p>
                <a:pPr marL="0" lvl="1" indent="363538" algn="just">
                  <a:lnSpc>
                    <a:spcPct val="80000"/>
                  </a:lnSpc>
                  <a:buNone/>
                </a:pPr>
                <a:endParaRPr lang="ru-RU" sz="2000" dirty="0" smtClean="0"/>
              </a:p>
              <a:p>
                <a:pPr marL="0" indent="363538" algn="just"/>
                <a:r>
                  <a:rPr lang="ru-RU" sz="2000" dirty="0" err="1" smtClean="0"/>
                  <a:t>Дастлаб</a:t>
                </a:r>
                <a:r>
                  <a:rPr lang="ru-RU" sz="2000" dirty="0" smtClean="0"/>
                  <a:t> калит 256 </a:t>
                </a:r>
                <a:r>
                  <a:rPr lang="ru-RU" sz="2000" dirty="0" err="1" smtClean="0"/>
                  <a:t>битгача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тўлдирилиши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керак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ва</a:t>
                </a:r>
                <a:r>
                  <a:rPr lang="ru-RU" sz="2000" dirty="0" smtClean="0"/>
                  <a:t> 33 та 128 </a:t>
                </a:r>
                <a:r>
                  <a:rPr lang="ru-RU" sz="2000" dirty="0" err="1" smtClean="0"/>
                  <a:t>битли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қисм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калитлар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қуйидагича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шакллантирилади</a:t>
                </a:r>
                <a:r>
                  <a:rPr lang="ru-RU" sz="2000" dirty="0" smtClean="0"/>
                  <a:t>:</a:t>
                </a:r>
              </a:p>
              <a:p>
                <a:pPr marL="0" indent="363538" algn="just"/>
                <a:r>
                  <a:rPr lang="ru-RU" sz="2000" dirty="0" err="1" smtClean="0"/>
                  <a:t>Дастлабки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кирувчи</a:t>
                </a:r>
                <a:r>
                  <a:rPr lang="ru-RU" sz="2000" dirty="0" smtClean="0"/>
                  <a:t> калит 8 та 32 </a:t>
                </a:r>
                <a:r>
                  <a:rPr lang="ru-RU" sz="2000" dirty="0" err="1" smtClean="0"/>
                  <a:t>битли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бўлакка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бўлинади</a:t>
                </a:r>
                <a:r>
                  <a:rPr lang="ru-RU" sz="2000" dirty="0" smtClean="0"/>
                  <a:t>  </a:t>
                </a:r>
                <a:r>
                  <a:rPr lang="ru-RU" sz="2000" b="1" i="1" dirty="0" smtClean="0">
                    <a:solidFill>
                      <a:srgbClr val="FF0000"/>
                    </a:solidFill>
                  </a:rPr>
                  <a:t>w</a:t>
                </a:r>
                <a:r>
                  <a:rPr lang="ru-RU" sz="2000" b="1" i="1" baseline="-25000" dirty="0" smtClean="0">
                    <a:solidFill>
                      <a:srgbClr val="FF0000"/>
                    </a:solidFill>
                  </a:rPr>
                  <a:t>−8</a:t>
                </a:r>
                <a:r>
                  <a:rPr lang="ru-RU" sz="2000" b="1" i="1" dirty="0" smtClean="0">
                    <a:solidFill>
                      <a:srgbClr val="FF0000"/>
                    </a:solidFill>
                  </a:rPr>
                  <a:t>,...,w</a:t>
                </a:r>
                <a:r>
                  <a:rPr lang="ru-RU" sz="2000" b="1" i="1" baseline="-25000" dirty="0" smtClean="0">
                    <a:solidFill>
                      <a:srgbClr val="FF0000"/>
                    </a:solidFill>
                  </a:rPr>
                  <a:t>−1</a:t>
                </a:r>
                <a:r>
                  <a:rPr lang="ru-RU" sz="2000" dirty="0" smtClean="0">
                    <a:solidFill>
                      <a:srgbClr val="FF0000"/>
                    </a:solidFill>
                  </a:rPr>
                  <a:t>  </a:t>
                </a:r>
                <a:endParaRPr lang="ru-RU" sz="2000" dirty="0">
                  <a:solidFill>
                    <a:srgbClr val="FF0000"/>
                  </a:solidFill>
                </a:endParaRPr>
              </a:p>
              <a:p>
                <a:pPr marL="0" indent="0" algn="just">
                  <a:buNone/>
                </a:pPr>
                <a:r>
                  <a:rPr lang="ru-RU" sz="2000" dirty="0" err="1" smtClean="0"/>
                  <a:t>Оралиқ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калитлар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қуйидаги</a:t>
                </a:r>
                <a:r>
                  <a:rPr lang="ru-RU" sz="2000" dirty="0" smtClean="0"/>
                  <a:t> формула </a:t>
                </a:r>
                <a:r>
                  <a:rPr lang="ru-RU" sz="2000" dirty="0" err="1" smtClean="0"/>
                  <a:t>асосида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ҳисобланади</a:t>
                </a:r>
                <a:r>
                  <a:rPr lang="ru-RU" sz="2000" dirty="0" smtClean="0"/>
                  <a:t>:</a:t>
                </a:r>
              </a:p>
              <a:p>
                <a:pPr marL="0" lvl="1" indent="363538" algn="just">
                  <a:lnSpc>
                    <a:spcPct val="80000"/>
                  </a:lnSpc>
                  <a:buNone/>
                </a:pPr>
                <a:r>
                  <a:rPr lang="ru-RU" sz="2000" dirty="0" smtClean="0"/>
                  <a:t> </a:t>
                </a:r>
              </a:p>
              <a:p>
                <a:pPr marL="0" lvl="1" indent="363538" algn="just">
                  <a:lnSpc>
                    <a:spcPct val="80000"/>
                  </a:lnSpc>
                  <a:buNone/>
                </a:pPr>
                <a:endParaRPr lang="ru-RU" sz="2000" dirty="0" smtClean="0">
                  <a:solidFill>
                    <a:schemeClr val="tx2"/>
                  </a:solidFill>
                </a:endParaRPr>
              </a:p>
              <a:p>
                <a:pPr marL="0" lvl="1" indent="363538" algn="just">
                  <a:lnSpc>
                    <a:spcPct val="80000"/>
                  </a:lnSpc>
                  <a:buNone/>
                </a:pPr>
                <a:endParaRPr lang="ru-RU" sz="2000" dirty="0" smtClean="0"/>
              </a:p>
              <a:p>
                <a:pPr marL="0" lvl="1" indent="363538" algn="just">
                  <a:lnSpc>
                    <a:spcPct val="80000"/>
                  </a:lnSpc>
                  <a:buNone/>
                </a:pPr>
                <a:endParaRPr lang="ru-RU" sz="2000" dirty="0" smtClean="0"/>
              </a:p>
              <a:p>
                <a:pPr marL="0" lvl="1" indent="363538" algn="just">
                  <a:spcBef>
                    <a:spcPts val="0"/>
                  </a:spcBef>
                  <a:buNone/>
                </a:pPr>
                <a:r>
                  <a:rPr lang="ru-RU" sz="2000" dirty="0" smtClean="0"/>
                  <a:t>	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/>
                      </a:rPr>
                      <m:t>𝜙</m:t>
                    </m:r>
                    <m:r>
                      <a:rPr lang="uz-Cyrl-UZ" sz="32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ru-RU" sz="2000" dirty="0" smtClean="0"/>
                  <a:t>—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400" i="1" smtClean="0">
                            <a:latin typeface="Cambria Math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ru-RU" sz="2400" i="1" smtClean="0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uz-Cyrl-UZ" sz="2400" b="0" i="1" smtClean="0">
                                <a:latin typeface="Cambria Math"/>
                              </a:rPr>
                              <m:t>5</m:t>
                            </m:r>
                          </m:e>
                        </m:rad>
                        <m:r>
                          <a:rPr lang="uz-Cyrl-UZ" sz="2400" b="0" i="1" smtClean="0">
                            <a:latin typeface="Cambria Math"/>
                          </a:rPr>
                          <m:t>+1 </m:t>
                        </m:r>
                      </m:num>
                      <m:den>
                        <m:r>
                          <a:rPr lang="uz-Cyrl-UZ" sz="2400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ru-RU" sz="2000" dirty="0" smtClean="0"/>
                  <a:t> </a:t>
                </a:r>
                <a:r>
                  <a:rPr lang="ru-RU" sz="2000" dirty="0" err="1" smtClean="0">
                    <a:solidFill>
                      <a:srgbClr val="FF0000"/>
                    </a:solidFill>
                  </a:rPr>
                  <a:t>олтин</a:t>
                </a:r>
                <a:r>
                  <a:rPr lang="ru-RU" sz="2000" dirty="0" smtClean="0">
                    <a:solidFill>
                      <a:srgbClr val="FF0000"/>
                    </a:solidFill>
                  </a:rPr>
                  <a:t> </a:t>
                </a:r>
                <a:r>
                  <a:rPr lang="ru-RU" sz="2000" dirty="0" err="1" smtClean="0">
                    <a:solidFill>
                      <a:srgbClr val="FF0000"/>
                    </a:solidFill>
                  </a:rPr>
                  <a:t>кесимнинг</a:t>
                </a:r>
                <a:r>
                  <a:rPr lang="ru-RU" sz="2000" dirty="0" smtClean="0">
                    <a:solidFill>
                      <a:srgbClr val="FF0000"/>
                    </a:solidFill>
                  </a:rPr>
                  <a:t> </a:t>
                </a:r>
                <a:r>
                  <a:rPr lang="ru-RU" sz="2000" dirty="0" err="1" smtClean="0"/>
                  <a:t>каср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қисми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ёки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ўн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олтилик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саноқ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тизимидаги</a:t>
                </a:r>
                <a:r>
                  <a:rPr lang="ru-RU" sz="2000" dirty="0" smtClean="0"/>
                  <a:t> </a:t>
                </a:r>
                <a:r>
                  <a:rPr lang="ru-RU" sz="2000" b="1" dirty="0" smtClean="0">
                    <a:solidFill>
                      <a:srgbClr val="FF0000"/>
                    </a:solidFill>
                  </a:rPr>
                  <a:t>0x9e3779b9</a:t>
                </a:r>
                <a:r>
                  <a:rPr lang="ru-RU" sz="2000" dirty="0" smtClean="0">
                    <a:solidFill>
                      <a:srgbClr val="FF0000"/>
                    </a:solidFill>
                  </a:rPr>
                  <a:t> </a:t>
                </a:r>
                <a:r>
                  <a:rPr lang="ru-RU" sz="2000" dirty="0" err="1" smtClean="0"/>
                  <a:t>қиймат</a:t>
                </a:r>
                <a:r>
                  <a:rPr lang="ru-RU" sz="2000" dirty="0" smtClean="0"/>
                  <a:t>, </a:t>
                </a:r>
              </a:p>
              <a:p>
                <a:pPr marL="0" lvl="1" indent="363538" algn="just">
                  <a:spcBef>
                    <a:spcPts val="0"/>
                  </a:spcBef>
                  <a:buNone/>
                </a:pPr>
                <a:r>
                  <a:rPr lang="ru-RU" sz="2000" dirty="0" smtClean="0">
                    <a:solidFill>
                      <a:srgbClr val="FF0000"/>
                    </a:solidFill>
                  </a:rPr>
                  <a:t>&lt;&lt;&lt; </a:t>
                </a:r>
                <a:r>
                  <a:rPr lang="ru-RU" sz="2000" dirty="0" smtClean="0"/>
                  <a:t>— </a:t>
                </a:r>
                <a:r>
                  <a:rPr lang="ru-RU" sz="2000" dirty="0" err="1" smtClean="0"/>
                  <a:t>битли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циклик</a:t>
                </a:r>
                <a:r>
                  <a:rPr lang="ru-RU" sz="2000" dirty="0" smtClean="0"/>
                  <a:t> </a:t>
                </a:r>
                <a:r>
                  <a:rPr lang="ru-RU" sz="2000" dirty="0" err="1" smtClean="0"/>
                  <a:t>суриш</a:t>
                </a:r>
                <a:r>
                  <a:rPr lang="ru-RU" sz="2000" dirty="0" smtClean="0"/>
                  <a:t>.</a:t>
                </a:r>
              </a:p>
              <a:p>
                <a:pPr marL="0" lvl="1" indent="363538" algn="just">
                  <a:lnSpc>
                    <a:spcPct val="80000"/>
                  </a:lnSpc>
                  <a:buNone/>
                </a:pPr>
                <a:endParaRPr lang="ru-RU" sz="2000" dirty="0" smtClean="0">
                  <a:solidFill>
                    <a:schemeClr val="tx2"/>
                  </a:solidFill>
                </a:endParaRPr>
              </a:p>
              <a:p>
                <a:pPr marL="0" lvl="1" indent="363538" algn="just">
                  <a:lnSpc>
                    <a:spcPct val="80000"/>
                  </a:lnSpc>
                  <a:buNone/>
                </a:pPr>
                <a:r>
                  <a:rPr lang="ru-RU" sz="2000" dirty="0" smtClean="0">
                    <a:solidFill>
                      <a:schemeClr val="tx2"/>
                    </a:solidFill>
                  </a:rPr>
                  <a:t> </a:t>
                </a:r>
              </a:p>
              <a:p>
                <a:pPr marL="0" lvl="1" indent="363538" algn="just">
                  <a:lnSpc>
                    <a:spcPct val="80000"/>
                  </a:lnSpc>
                  <a:buNone/>
                </a:pPr>
                <a:endParaRPr lang="ru-RU" sz="2000" dirty="0" smtClean="0">
                  <a:solidFill>
                    <a:schemeClr val="tx2"/>
                  </a:solidFill>
                </a:endParaRPr>
              </a:p>
              <a:p>
                <a:pPr marL="0" lvl="1" indent="363538" algn="just">
                  <a:lnSpc>
                    <a:spcPct val="80000"/>
                  </a:lnSpc>
                  <a:buNone/>
                </a:pPr>
                <a:endParaRPr lang="ru-RU" sz="2000" dirty="0" smtClean="0">
                  <a:solidFill>
                    <a:schemeClr val="tx2"/>
                  </a:solidFill>
                </a:endParaRPr>
              </a:p>
              <a:p>
                <a:pPr marL="0" lvl="1" indent="363538" algn="just">
                  <a:lnSpc>
                    <a:spcPct val="80000"/>
                  </a:lnSpc>
                  <a:buNone/>
                </a:pPr>
                <a:endParaRPr lang="ru-RU" sz="2000" dirty="0" smtClean="0">
                  <a:solidFill>
                    <a:schemeClr val="tx2"/>
                  </a:solidFill>
                </a:endParaRPr>
              </a:p>
              <a:p>
                <a:pPr marL="0" lvl="1" indent="363538" algn="just">
                  <a:lnSpc>
                    <a:spcPct val="80000"/>
                  </a:lnSpc>
                  <a:buNone/>
                </a:pPr>
                <a:endParaRPr lang="ru-RU" sz="2000" dirty="0" smtClean="0">
                  <a:solidFill>
                    <a:schemeClr val="tx2"/>
                  </a:solidFill>
                </a:endParaRPr>
              </a:p>
              <a:p>
                <a:pPr marL="0" lvl="1" indent="363538" algn="just">
                  <a:lnSpc>
                    <a:spcPct val="80000"/>
                  </a:lnSpc>
                  <a:buNone/>
                </a:pPr>
                <a:endParaRPr lang="en-US" sz="2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6758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4283" y="1214423"/>
                <a:ext cx="8715436" cy="5286412"/>
              </a:xfrm>
              <a:blipFill rotWithShape="1">
                <a:blip r:embed="rId2"/>
                <a:stretch>
                  <a:fillRect l="-699" t="-1615" r="-69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1" y="6537327"/>
            <a:ext cx="1643075" cy="32067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SERPENT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720" y="4549114"/>
            <a:ext cx="7286676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2" y="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2" y="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77980" y="2055319"/>
            <a:ext cx="1428760" cy="280269"/>
          </a:xfrm>
          <a:prstGeom prst="rect">
            <a:avLst/>
          </a:prstGeom>
          <a:noFill/>
        </p:spPr>
      </p:pic>
      <p:pic>
        <p:nvPicPr>
          <p:cNvPr id="12" name="Picture 2" descr="D:\Vyorstka\Infokrat\Infokrat-01 - InDezayn\rasm\logo-1111.ti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6" y="44624"/>
            <a:ext cx="753094" cy="75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1324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214283" y="1214423"/>
            <a:ext cx="8715436" cy="5286412"/>
          </a:xfrm>
        </p:spPr>
        <p:txBody>
          <a:bodyPr/>
          <a:lstStyle/>
          <a:p>
            <a:pPr marL="0" indent="363538" algn="just">
              <a:buNone/>
            </a:pPr>
            <a:r>
              <a:rPr lang="ru-RU" sz="2000" dirty="0" smtClean="0"/>
              <a:t>Раунд </a:t>
            </a:r>
            <a:r>
              <a:rPr lang="ru-RU" sz="2000" dirty="0" err="1" smtClean="0"/>
              <a:t>калитлари</a:t>
            </a:r>
            <a:r>
              <a:rPr lang="ru-RU" sz="2000" dirty="0" smtClean="0"/>
              <a:t> </a:t>
            </a:r>
            <a:r>
              <a:rPr lang="ru-RU" sz="2000" dirty="0" err="1" smtClean="0"/>
              <a:t>оралиқ</a:t>
            </a:r>
            <a:r>
              <a:rPr lang="ru-RU" sz="2000" dirty="0" smtClean="0"/>
              <a:t> </a:t>
            </a:r>
            <a:r>
              <a:rPr lang="ru-RU" sz="2000" dirty="0" err="1" smtClean="0"/>
              <a:t>калитлардан</a:t>
            </a:r>
            <a:r>
              <a:rPr lang="ru-RU" sz="2000" dirty="0" smtClean="0"/>
              <a:t> </a:t>
            </a:r>
            <a:r>
              <a:rPr lang="ru-RU" sz="2000" b="1" dirty="0" err="1" smtClean="0">
                <a:solidFill>
                  <a:srgbClr val="FF0000"/>
                </a:solidFill>
              </a:rPr>
              <a:t>алмаштириш</a:t>
            </a:r>
            <a:r>
              <a:rPr lang="ru-RU" sz="2000" b="1" dirty="0" smtClean="0">
                <a:solidFill>
                  <a:srgbClr val="FF0000"/>
                </a:solidFill>
              </a:rPr>
              <a:t> </a:t>
            </a:r>
            <a:r>
              <a:rPr lang="ru-RU" sz="2000" b="1" dirty="0" err="1" smtClean="0">
                <a:solidFill>
                  <a:srgbClr val="FF0000"/>
                </a:solidFill>
              </a:rPr>
              <a:t>жадвалидан</a:t>
            </a:r>
            <a:r>
              <a:rPr lang="ru-RU" sz="2000" b="1" dirty="0" smtClean="0">
                <a:solidFill>
                  <a:srgbClr val="FF0000"/>
                </a:solidFill>
              </a:rPr>
              <a:t> </a:t>
            </a:r>
            <a:r>
              <a:rPr lang="ru-RU" sz="2000" dirty="0" err="1" smtClean="0"/>
              <a:t>фойдаланилиб</a:t>
            </a:r>
            <a:r>
              <a:rPr lang="ru-RU" sz="2000" dirty="0" smtClean="0"/>
              <a:t> </a:t>
            </a:r>
            <a:r>
              <a:rPr lang="ru-RU" sz="2000" dirty="0" err="1" smtClean="0"/>
              <a:t>қуйидагича</a:t>
            </a:r>
            <a:r>
              <a:rPr lang="ru-RU" sz="2000" dirty="0" smtClean="0"/>
              <a:t> </a:t>
            </a:r>
            <a:r>
              <a:rPr lang="ru-RU" sz="2000" dirty="0" err="1" smtClean="0"/>
              <a:t>ҳисобланади</a:t>
            </a:r>
            <a:r>
              <a:rPr lang="ru-RU" sz="2000" dirty="0" smtClean="0"/>
              <a:t>:</a:t>
            </a:r>
          </a:p>
          <a:p>
            <a:pPr marL="0" indent="363538" algn="just">
              <a:buNone/>
            </a:pPr>
            <a:endParaRPr lang="ru-RU" sz="2000" dirty="0" smtClean="0"/>
          </a:p>
          <a:p>
            <a:pPr marL="0" indent="363538" algn="just">
              <a:buNone/>
            </a:pPr>
            <a:endParaRPr lang="ru-RU" sz="2000" dirty="0" smtClean="0"/>
          </a:p>
          <a:p>
            <a:pPr marL="0" indent="363538" algn="just">
              <a:buNone/>
            </a:pPr>
            <a:endParaRPr lang="ru-RU" sz="2000" dirty="0" smtClean="0"/>
          </a:p>
          <a:p>
            <a:pPr marL="0" indent="363538" algn="just">
              <a:buNone/>
            </a:pPr>
            <a:endParaRPr lang="ru-RU" sz="2000" dirty="0" smtClean="0"/>
          </a:p>
          <a:p>
            <a:pPr marL="0" indent="363538" algn="just">
              <a:buNone/>
            </a:pPr>
            <a:endParaRPr lang="ru-RU" sz="2000" dirty="0" smtClean="0"/>
          </a:p>
          <a:p>
            <a:pPr marL="0" indent="363538" algn="just">
              <a:buNone/>
            </a:pPr>
            <a:endParaRPr lang="ru-RU" sz="2000" dirty="0" smtClean="0"/>
          </a:p>
          <a:p>
            <a:pPr marL="0" indent="363538" algn="just">
              <a:buNone/>
            </a:pPr>
            <a:endParaRPr lang="ru-RU" sz="2000" dirty="0" smtClean="0"/>
          </a:p>
          <a:p>
            <a:pPr marL="0" indent="363538" algn="just">
              <a:buNone/>
            </a:pPr>
            <a:endParaRPr lang="ru-RU" sz="2000" dirty="0" smtClean="0"/>
          </a:p>
          <a:p>
            <a:pPr marL="0" indent="363538" algn="just">
              <a:buNone/>
            </a:pPr>
            <a:endParaRPr lang="ru-RU" sz="2000" dirty="0" smtClean="0"/>
          </a:p>
          <a:p>
            <a:pPr marL="0" indent="363538" algn="just">
              <a:buNone/>
            </a:pPr>
            <a:r>
              <a:rPr lang="ru-RU" sz="2000" dirty="0" err="1" smtClean="0"/>
              <a:t>Оралиқ</a:t>
            </a:r>
            <a:r>
              <a:rPr lang="ru-RU" sz="2000" dirty="0" smtClean="0"/>
              <a:t>  </a:t>
            </a:r>
            <a:r>
              <a:rPr lang="en-US" sz="2000" b="1" i="1" dirty="0" err="1" smtClean="0"/>
              <a:t>k</a:t>
            </a:r>
            <a:r>
              <a:rPr lang="en-US" sz="2000" b="1" i="1" baseline="-25000" dirty="0" err="1" smtClean="0"/>
              <a:t>j</a:t>
            </a:r>
            <a:r>
              <a:rPr lang="ru-RU" sz="2000" dirty="0" smtClean="0"/>
              <a:t> 32-битли </a:t>
            </a:r>
            <a:r>
              <a:rPr lang="ru-RU" sz="2000" dirty="0" err="1" smtClean="0"/>
              <a:t>катталик</a:t>
            </a:r>
            <a:r>
              <a:rPr lang="ru-RU" sz="2000" dirty="0" smtClean="0"/>
              <a:t> </a:t>
            </a:r>
            <a:r>
              <a:rPr lang="ru-RU" sz="2000" dirty="0" err="1" smtClean="0"/>
              <a:t>қайта</a:t>
            </a:r>
            <a:r>
              <a:rPr lang="ru-RU" sz="2000" dirty="0" smtClean="0"/>
              <a:t> </a:t>
            </a:r>
            <a:r>
              <a:rPr lang="ru-RU" sz="2000" dirty="0" err="1" smtClean="0"/>
              <a:t>рақамланади</a:t>
            </a:r>
            <a:r>
              <a:rPr lang="ru-RU" sz="2000" dirty="0" smtClean="0"/>
              <a:t> </a:t>
            </a:r>
            <a:r>
              <a:rPr lang="ru-RU" sz="2000" dirty="0" err="1" smtClean="0"/>
              <a:t>ва</a:t>
            </a:r>
            <a:r>
              <a:rPr lang="ru-RU" sz="2000" dirty="0" smtClean="0"/>
              <a:t> 128-битли </a:t>
            </a:r>
            <a:r>
              <a:rPr lang="ru-RU" sz="2000" dirty="0" err="1" smtClean="0"/>
              <a:t>қисм</a:t>
            </a:r>
            <a:r>
              <a:rPr lang="ru-RU" sz="2000" dirty="0" smtClean="0"/>
              <a:t> калит </a:t>
            </a:r>
            <a:r>
              <a:rPr lang="ru-RU" sz="2000" dirty="0" err="1" smtClean="0"/>
              <a:t>шакллантирилади</a:t>
            </a:r>
            <a:r>
              <a:rPr lang="ru-RU" sz="2000" dirty="0" smtClean="0"/>
              <a:t>:</a:t>
            </a:r>
          </a:p>
          <a:p>
            <a:pPr marL="0" lvl="1" indent="363538" algn="just">
              <a:lnSpc>
                <a:spcPct val="80000"/>
              </a:lnSpc>
              <a:buNone/>
            </a:pP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1" y="6537327"/>
            <a:ext cx="1643075" cy="32067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SERPENT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1600" y="1928802"/>
            <a:ext cx="7200800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Рисунок 6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481" y="5929330"/>
            <a:ext cx="5929355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 descr="D:\Vyorstka\Infokrat\Infokrat-01 - InDezayn\rasm\logo-1111.t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6" y="44624"/>
            <a:ext cx="753094" cy="75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579438"/>
            <a:ext cx="8424936" cy="563562"/>
          </a:xfrm>
        </p:spPr>
        <p:txBody>
          <a:bodyPr/>
          <a:lstStyle/>
          <a:p>
            <a:pPr lvl="1"/>
            <a:r>
              <a:rPr lang="ru-RU" sz="2800" dirty="0" smtClean="0"/>
              <a:t>1. </a:t>
            </a:r>
            <a:r>
              <a:rPr lang="ru-RU" sz="2800" dirty="0" err="1" smtClean="0"/>
              <a:t>Калитларни</a:t>
            </a:r>
            <a:r>
              <a:rPr lang="ru-RU" sz="2800" dirty="0" smtClean="0"/>
              <a:t> </a:t>
            </a:r>
            <a:r>
              <a:rPr lang="ru-RU" sz="2800" dirty="0"/>
              <a:t>г</a:t>
            </a:r>
            <a:r>
              <a:rPr lang="ru-RU" sz="2800" dirty="0" smtClean="0"/>
              <a:t>енерация </a:t>
            </a:r>
            <a:r>
              <a:rPr lang="ru-RU" sz="2800" dirty="0" err="1" smtClean="0"/>
              <a:t>қилиш</a:t>
            </a:r>
            <a:r>
              <a:rPr lang="ru-RU" sz="2800" dirty="0" smtClean="0"/>
              <a:t> </a:t>
            </a:r>
            <a:r>
              <a:rPr lang="ru-RU" sz="2800" dirty="0" err="1" smtClean="0"/>
              <a:t>алгоритми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357896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214283" y="1214423"/>
            <a:ext cx="8715436" cy="5286412"/>
          </a:xfrm>
        </p:spPr>
        <p:txBody>
          <a:bodyPr/>
          <a:lstStyle/>
          <a:p>
            <a:pPr marL="0" lvl="1" indent="363538" algn="just">
              <a:lnSpc>
                <a:spcPct val="80000"/>
              </a:lnSpc>
              <a:buNone/>
            </a:pPr>
            <a:r>
              <a:rPr lang="uz-Cyrl-UZ" sz="2400" dirty="0" smtClean="0"/>
              <a:t>Стандартда келтирилгани бўйича раунд калитларига </a:t>
            </a:r>
            <a:r>
              <a:rPr lang="uz-Cyrl-UZ" sz="2400" b="1" dirty="0" smtClean="0">
                <a:solidFill>
                  <a:srgbClr val="FF0000"/>
                </a:solidFill>
              </a:rPr>
              <a:t>бошланғич ўрин алмаштириш </a:t>
            </a:r>
            <a:r>
              <a:rPr lang="uz-Cyrl-UZ" sz="2400" dirty="0" smtClean="0"/>
              <a:t>қўлланилади, яъни калит битларини тегишли тартибда жойлаштириш учун. Қуйида акслантириш қоидаси келтирилган:</a:t>
            </a:r>
            <a:endParaRPr lang="ru-RU" sz="2400" dirty="0" smtClean="0"/>
          </a:p>
          <a:p>
            <a:pPr marL="0" lvl="1" indent="363538" algn="just">
              <a:lnSpc>
                <a:spcPct val="80000"/>
              </a:lnSpc>
              <a:buNone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1" y="6537327"/>
            <a:ext cx="1643075" cy="32067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SERPENT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27784" y="2960948"/>
            <a:ext cx="3425143" cy="713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 descr="D:\Vyorstka\Infokrat\Infokrat-01 - InDezayn\rasm\logo-1111.t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6" y="44624"/>
            <a:ext cx="753094" cy="75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579438"/>
            <a:ext cx="8424936" cy="563562"/>
          </a:xfrm>
        </p:spPr>
        <p:txBody>
          <a:bodyPr/>
          <a:lstStyle/>
          <a:p>
            <a:pPr lvl="1"/>
            <a:r>
              <a:rPr lang="ru-RU" sz="2800" dirty="0" smtClean="0"/>
              <a:t>1. </a:t>
            </a:r>
            <a:r>
              <a:rPr lang="ru-RU" sz="2800" dirty="0" err="1" smtClean="0"/>
              <a:t>Калитларни</a:t>
            </a:r>
            <a:r>
              <a:rPr lang="ru-RU" sz="2800" dirty="0" smtClean="0"/>
              <a:t> </a:t>
            </a:r>
            <a:r>
              <a:rPr lang="ru-RU" sz="2800" dirty="0"/>
              <a:t>г</a:t>
            </a:r>
            <a:r>
              <a:rPr lang="ru-RU" sz="2800" dirty="0" smtClean="0"/>
              <a:t>енерация </a:t>
            </a:r>
            <a:r>
              <a:rPr lang="ru-RU" sz="2800" dirty="0" err="1" smtClean="0"/>
              <a:t>қилиш</a:t>
            </a:r>
            <a:r>
              <a:rPr lang="ru-RU" sz="2800" dirty="0" smtClean="0"/>
              <a:t> </a:t>
            </a:r>
            <a:r>
              <a:rPr lang="ru-RU" sz="2800" dirty="0" err="1" smtClean="0"/>
              <a:t>алгоритми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799218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2" y="579438"/>
            <a:ext cx="8320119" cy="563562"/>
          </a:xfrm>
        </p:spPr>
        <p:txBody>
          <a:bodyPr/>
          <a:lstStyle/>
          <a:p>
            <a:r>
              <a:rPr lang="ru-RU" sz="3200" dirty="0" smtClean="0"/>
              <a:t>2. </a:t>
            </a:r>
            <a:r>
              <a:rPr lang="ru-RU" sz="3200" dirty="0" err="1" smtClean="0"/>
              <a:t>Алгоритмнинг</a:t>
            </a:r>
            <a:r>
              <a:rPr lang="ru-RU" sz="3200" dirty="0" smtClean="0"/>
              <a:t> </a:t>
            </a:r>
            <a:r>
              <a:rPr lang="ru-RU" sz="3200" dirty="0" err="1" smtClean="0"/>
              <a:t>шифрлаш</a:t>
            </a:r>
            <a:r>
              <a:rPr lang="ru-RU" sz="3200" dirty="0" smtClean="0"/>
              <a:t> </a:t>
            </a:r>
            <a:r>
              <a:rPr lang="ru-RU" sz="3200" dirty="0" err="1" smtClean="0"/>
              <a:t>жараёни</a:t>
            </a:r>
            <a:r>
              <a:rPr lang="ru-RU" sz="3200" dirty="0" smtClean="0"/>
              <a:t>.</a:t>
            </a:r>
            <a:endParaRPr lang="en-US" sz="3200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214283" y="1214423"/>
            <a:ext cx="8715436" cy="5286412"/>
          </a:xfrm>
        </p:spPr>
        <p:txBody>
          <a:bodyPr/>
          <a:lstStyle/>
          <a:p>
            <a:pPr marL="0" indent="360363" algn="just">
              <a:buNone/>
            </a:pPr>
            <a:r>
              <a:rPr lang="ru-RU" sz="2400" b="1" dirty="0" err="1" smtClean="0">
                <a:solidFill>
                  <a:srgbClr val="FF0000"/>
                </a:solidFill>
              </a:rPr>
              <a:t>Шифрлаш</a:t>
            </a:r>
            <a:r>
              <a:rPr lang="ru-RU" sz="2400" b="1" dirty="0" smtClean="0">
                <a:solidFill>
                  <a:srgbClr val="FF0000"/>
                </a:solidFill>
              </a:rPr>
              <a:t> </a:t>
            </a:r>
            <a:r>
              <a:rPr lang="ru-RU" sz="2400" b="1" dirty="0" err="1" smtClean="0">
                <a:solidFill>
                  <a:srgbClr val="FF0000"/>
                </a:solidFill>
              </a:rPr>
              <a:t>қуйидаги</a:t>
            </a:r>
            <a:r>
              <a:rPr lang="ru-RU" sz="2400" b="1" dirty="0" smtClean="0">
                <a:solidFill>
                  <a:srgbClr val="FF0000"/>
                </a:solidFill>
              </a:rPr>
              <a:t> </a:t>
            </a:r>
            <a:r>
              <a:rPr lang="ru-RU" sz="2400" b="1" dirty="0" err="1" smtClean="0">
                <a:solidFill>
                  <a:srgbClr val="FF0000"/>
                </a:solidFill>
              </a:rPr>
              <a:t>асосий</a:t>
            </a:r>
            <a:r>
              <a:rPr lang="ru-RU" sz="2400" b="1" dirty="0" smtClean="0">
                <a:solidFill>
                  <a:srgbClr val="FF0000"/>
                </a:solidFill>
              </a:rPr>
              <a:t> </a:t>
            </a:r>
            <a:r>
              <a:rPr lang="ru-RU" sz="2400" b="1" dirty="0" err="1" smtClean="0">
                <a:solidFill>
                  <a:srgbClr val="FF0000"/>
                </a:solidFill>
              </a:rPr>
              <a:t>қадамлардан</a:t>
            </a:r>
            <a:r>
              <a:rPr lang="ru-RU" sz="2400" b="1" dirty="0" smtClean="0">
                <a:solidFill>
                  <a:srgbClr val="FF0000"/>
                </a:solidFill>
              </a:rPr>
              <a:t> </a:t>
            </a:r>
            <a:r>
              <a:rPr lang="ru-RU" sz="2400" b="1" dirty="0" err="1" smtClean="0">
                <a:solidFill>
                  <a:srgbClr val="FF0000"/>
                </a:solidFill>
              </a:rPr>
              <a:t>иборат</a:t>
            </a:r>
            <a:r>
              <a:rPr lang="ru-RU" sz="2400" b="1" dirty="0" smtClean="0">
                <a:solidFill>
                  <a:srgbClr val="FF0000"/>
                </a:solidFill>
              </a:rPr>
              <a:t>:</a:t>
            </a:r>
          </a:p>
          <a:p>
            <a:pPr marL="0" lvl="0" indent="360363" algn="just">
              <a:buClr>
                <a:srgbClr val="FF0000"/>
              </a:buClr>
              <a:buFont typeface="+mj-lt"/>
              <a:buAutoNum type="arabicPeriod"/>
            </a:pPr>
            <a:r>
              <a:rPr lang="ru-RU" sz="2400" dirty="0" err="1" smtClean="0"/>
              <a:t>Бошланғич</a:t>
            </a:r>
            <a:r>
              <a:rPr lang="ru-RU" sz="2400" dirty="0" smtClean="0"/>
              <a:t> </a:t>
            </a:r>
            <a:r>
              <a:rPr lang="ru-RU" sz="2400" dirty="0" err="1" smtClean="0"/>
              <a:t>ўрин</a:t>
            </a:r>
            <a:r>
              <a:rPr lang="ru-RU" sz="2400" dirty="0" smtClean="0"/>
              <a:t> </a:t>
            </a:r>
            <a:r>
              <a:rPr lang="ru-RU" sz="2400" dirty="0" err="1" smtClean="0"/>
              <a:t>алмаштириш</a:t>
            </a:r>
            <a:r>
              <a:rPr lang="ru-RU" sz="2400" dirty="0" smtClean="0"/>
              <a:t> </a:t>
            </a:r>
            <a:r>
              <a:rPr lang="ru-RU" sz="2400" dirty="0" smtClean="0">
                <a:solidFill>
                  <a:srgbClr val="FF0000"/>
                </a:solidFill>
              </a:rPr>
              <a:t>(</a:t>
            </a:r>
            <a:r>
              <a:rPr lang="en-US" sz="2400" b="1" i="1" dirty="0" smtClean="0">
                <a:solidFill>
                  <a:srgbClr val="FF0000"/>
                </a:solidFill>
              </a:rPr>
              <a:t>IP</a:t>
            </a:r>
            <a:r>
              <a:rPr lang="ru-RU" sz="2400" dirty="0" smtClean="0">
                <a:solidFill>
                  <a:srgbClr val="FF0000"/>
                </a:solidFill>
              </a:rPr>
              <a:t>)</a:t>
            </a:r>
            <a:r>
              <a:rPr lang="ru-RU" sz="2400" dirty="0" smtClean="0"/>
              <a:t>,</a:t>
            </a:r>
          </a:p>
          <a:p>
            <a:pPr marL="0" indent="360363" algn="just">
              <a:buClr>
                <a:srgbClr val="FF0000"/>
              </a:buClr>
              <a:buFont typeface="+mj-lt"/>
              <a:buAutoNum type="arabicPeriod"/>
            </a:pPr>
            <a:r>
              <a:rPr lang="ru-RU" sz="2400" dirty="0" err="1"/>
              <a:t>Ҳар</a:t>
            </a:r>
            <a:r>
              <a:rPr lang="ru-RU" sz="2400" dirty="0"/>
              <a:t> </a:t>
            </a:r>
            <a:r>
              <a:rPr lang="ru-RU" sz="2400" dirty="0" err="1"/>
              <a:t>бир</a:t>
            </a:r>
            <a:r>
              <a:rPr lang="ru-RU" sz="2400" dirty="0"/>
              <a:t> </a:t>
            </a:r>
            <a:r>
              <a:rPr lang="ru-RU" sz="2400" dirty="0" err="1" smtClean="0"/>
              <a:t>раундда</a:t>
            </a:r>
            <a:endParaRPr lang="en-US" sz="2400" b="1" dirty="0" smtClean="0"/>
          </a:p>
          <a:p>
            <a:pPr lvl="1"/>
            <a:r>
              <a:rPr lang="en-US" sz="2400" dirty="0" smtClean="0"/>
              <a:t>2,1) </a:t>
            </a:r>
            <a:r>
              <a:rPr lang="uz-Cyrl-UZ" sz="2400" dirty="0" smtClean="0"/>
              <a:t>Маълумотга 128 битли калитлар мос равишда </a:t>
            </a:r>
            <a:r>
              <a:rPr lang="en-US" sz="2400" dirty="0" smtClean="0"/>
              <a:t>XOR </a:t>
            </a:r>
            <a:r>
              <a:rPr lang="uz-Cyrl-UZ" sz="2400" dirty="0" smtClean="0"/>
              <a:t>амали билан қўшилади</a:t>
            </a:r>
            <a:endParaRPr lang="en-US" sz="2400" dirty="0" smtClean="0"/>
          </a:p>
          <a:p>
            <a:pPr lvl="1"/>
            <a:r>
              <a:rPr lang="en-US" sz="2400" dirty="0" smtClean="0"/>
              <a:t>2,2</a:t>
            </a:r>
            <a:r>
              <a:rPr lang="en-US" sz="2400" dirty="0"/>
              <a:t>) </a:t>
            </a:r>
            <a:r>
              <a:rPr lang="uz-Cyrl-UZ" sz="2400" dirty="0"/>
              <a:t>Маълумот</a:t>
            </a:r>
            <a:r>
              <a:rPr lang="en-US" sz="2400" dirty="0" smtClean="0"/>
              <a:t> </a:t>
            </a:r>
            <a:r>
              <a:rPr lang="en-US" sz="2400" dirty="0"/>
              <a:t>S </a:t>
            </a:r>
            <a:r>
              <a:rPr lang="uz-Cyrl-UZ" sz="2400" dirty="0" smtClean="0"/>
              <a:t>блокдан ўтказилади </a:t>
            </a:r>
            <a:r>
              <a:rPr lang="ru-RU" sz="2400" dirty="0">
                <a:solidFill>
                  <a:srgbClr val="FF0000"/>
                </a:solidFill>
              </a:rPr>
              <a:t>(S-</a:t>
            </a:r>
            <a:r>
              <a:rPr lang="ru-RU" sz="2400" dirty="0" err="1">
                <a:solidFill>
                  <a:srgbClr val="FF0000"/>
                </a:solidFill>
              </a:rPr>
              <a:t>box</a:t>
            </a:r>
            <a:r>
              <a:rPr lang="ru-RU" sz="2400" dirty="0">
                <a:solidFill>
                  <a:srgbClr val="FF0000"/>
                </a:solidFill>
              </a:rPr>
              <a:t>)</a:t>
            </a:r>
            <a:r>
              <a:rPr lang="uz-Cyrl-UZ" sz="2400" dirty="0" smtClean="0"/>
              <a:t> </a:t>
            </a:r>
            <a:endParaRPr lang="en-US" sz="2400" dirty="0"/>
          </a:p>
          <a:p>
            <a:pPr lvl="1"/>
            <a:r>
              <a:rPr lang="en-US" sz="2400" dirty="0"/>
              <a:t>2,3</a:t>
            </a:r>
            <a:r>
              <a:rPr lang="en-US" sz="2400" dirty="0" smtClean="0"/>
              <a:t>)</a:t>
            </a:r>
            <a:r>
              <a:rPr lang="uz-Cyrl-UZ" sz="2400" dirty="0" smtClean="0"/>
              <a:t> Чизиқли акслантириш амалга оширилади </a:t>
            </a:r>
            <a:r>
              <a:rPr lang="ru-RU" sz="2400" dirty="0" smtClean="0">
                <a:solidFill>
                  <a:srgbClr val="FF0000"/>
                </a:solidFill>
              </a:rPr>
              <a:t>(</a:t>
            </a:r>
            <a:r>
              <a:rPr lang="en-US" sz="2400" b="1" i="1" dirty="0">
                <a:solidFill>
                  <a:srgbClr val="FF0000"/>
                </a:solidFill>
              </a:rPr>
              <a:t>LT</a:t>
            </a:r>
            <a:r>
              <a:rPr lang="ru-RU" sz="2400" dirty="0" smtClean="0">
                <a:solidFill>
                  <a:srgbClr val="FF0000"/>
                </a:solidFill>
              </a:rPr>
              <a:t>)</a:t>
            </a:r>
            <a:endParaRPr lang="en-US" sz="2400" dirty="0" smtClean="0"/>
          </a:p>
          <a:p>
            <a:pPr marL="457200" lvl="1" indent="0">
              <a:buNone/>
            </a:pPr>
            <a:r>
              <a:rPr lang="uz-Cyrl-UZ" sz="2400" dirty="0" smtClean="0">
                <a:solidFill>
                  <a:srgbClr val="FF0000"/>
                </a:solidFill>
              </a:rPr>
              <a:t>Фақат охирги раундда икки марта калит қўшилади. Чизиқли акслантириш қўлланилмайди.</a:t>
            </a:r>
            <a:endParaRPr lang="en-US" sz="2400" dirty="0" smtClean="0">
              <a:solidFill>
                <a:srgbClr val="FF0000"/>
              </a:solidFill>
            </a:endParaRPr>
          </a:p>
          <a:p>
            <a:pPr marL="0" lvl="0" indent="360363" algn="just">
              <a:buClr>
                <a:srgbClr val="FF0000"/>
              </a:buClr>
              <a:buFont typeface="+mj-lt"/>
              <a:buAutoNum type="arabicPeriod"/>
            </a:pPr>
            <a:r>
              <a:rPr lang="ru-RU" sz="2400" dirty="0" err="1" smtClean="0"/>
              <a:t>Охирги</a:t>
            </a:r>
            <a:r>
              <a:rPr lang="ru-RU" sz="2400" dirty="0" smtClean="0"/>
              <a:t> </a:t>
            </a:r>
            <a:r>
              <a:rPr lang="ru-RU" sz="2400" dirty="0" err="1" smtClean="0"/>
              <a:t>ўрин</a:t>
            </a:r>
            <a:r>
              <a:rPr lang="ru-RU" sz="2400" dirty="0" smtClean="0"/>
              <a:t> </a:t>
            </a:r>
            <a:r>
              <a:rPr lang="ru-RU" sz="2400" dirty="0" err="1" smtClean="0"/>
              <a:t>алмаштириш</a:t>
            </a:r>
            <a:r>
              <a:rPr lang="ru-RU" sz="2400" dirty="0" smtClean="0"/>
              <a:t> </a:t>
            </a:r>
            <a:r>
              <a:rPr lang="ru-RU" sz="2400" dirty="0" smtClean="0">
                <a:solidFill>
                  <a:srgbClr val="FF0000"/>
                </a:solidFill>
              </a:rPr>
              <a:t>(</a:t>
            </a:r>
            <a:r>
              <a:rPr lang="en-US" sz="2400" b="1" i="1" dirty="0" smtClean="0">
                <a:solidFill>
                  <a:srgbClr val="FF0000"/>
                </a:solidFill>
              </a:rPr>
              <a:t>FP</a:t>
            </a:r>
            <a:r>
              <a:rPr lang="ru-RU" sz="2400" dirty="0" smtClean="0">
                <a:solidFill>
                  <a:srgbClr val="FF0000"/>
                </a:solidFill>
              </a:rPr>
              <a:t>)</a:t>
            </a:r>
            <a:r>
              <a:rPr lang="ru-RU" sz="2400" dirty="0" smtClean="0"/>
              <a:t>.</a:t>
            </a:r>
          </a:p>
          <a:p>
            <a:pPr marL="0" lvl="1" indent="360363" algn="just">
              <a:lnSpc>
                <a:spcPct val="80000"/>
              </a:lnSpc>
              <a:buNone/>
            </a:pP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1" y="6537327"/>
            <a:ext cx="1643075" cy="32067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SERPENT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2" descr="D:\Vyorstka\Infokrat\Infokrat-01 - InDezayn\rasm\logo-1111.t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6" y="44624"/>
            <a:ext cx="753094" cy="75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216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2" y="579438"/>
            <a:ext cx="8391556" cy="563562"/>
          </a:xfrm>
        </p:spPr>
        <p:txBody>
          <a:bodyPr/>
          <a:lstStyle/>
          <a:p>
            <a:pPr lvl="1"/>
            <a:r>
              <a:rPr lang="ru-RU" sz="3200" dirty="0"/>
              <a:t>2. </a:t>
            </a:r>
            <a:r>
              <a:rPr lang="ru-RU" sz="3200" dirty="0" err="1"/>
              <a:t>Алгоритмнинг</a:t>
            </a:r>
            <a:r>
              <a:rPr lang="ru-RU" sz="3200" dirty="0"/>
              <a:t> </a:t>
            </a:r>
            <a:r>
              <a:rPr lang="ru-RU" sz="3200" dirty="0" err="1"/>
              <a:t>шифрлаш</a:t>
            </a:r>
            <a:r>
              <a:rPr lang="ru-RU" sz="3200" dirty="0"/>
              <a:t> </a:t>
            </a:r>
            <a:r>
              <a:rPr lang="ru-RU" sz="3200" dirty="0" err="1"/>
              <a:t>жараёни</a:t>
            </a:r>
            <a:r>
              <a:rPr lang="ru-RU" sz="3200" dirty="0"/>
              <a:t>.</a:t>
            </a:r>
            <a:endParaRPr lang="ru-RU" sz="2000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214283" y="1214423"/>
            <a:ext cx="8715436" cy="5286412"/>
          </a:xfrm>
        </p:spPr>
        <p:txBody>
          <a:bodyPr/>
          <a:lstStyle/>
          <a:p>
            <a:pPr>
              <a:buNone/>
            </a:pPr>
            <a:r>
              <a:rPr lang="ru-RU" sz="2000" b="1" dirty="0" err="1" smtClean="0"/>
              <a:t>Алгоритмнинг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тенгламалар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структуралари</a:t>
            </a:r>
            <a:r>
              <a:rPr lang="ru-RU" sz="2000" b="1" dirty="0" smtClean="0"/>
              <a:t>:</a:t>
            </a:r>
            <a:endParaRPr lang="ru-RU" sz="2000" dirty="0" smtClean="0"/>
          </a:p>
          <a:p>
            <a:pPr>
              <a:buNone/>
            </a:pPr>
            <a:r>
              <a:rPr lang="ru-RU" sz="2000" dirty="0" smtClean="0"/>
              <a:t>  </a:t>
            </a:r>
            <a:r>
              <a:rPr lang="ru-RU" sz="2000" dirty="0" smtClean="0">
                <a:solidFill>
                  <a:srgbClr val="FF0000"/>
                </a:solidFill>
              </a:rPr>
              <a:t>1-</a:t>
            </a:r>
            <a:r>
              <a:rPr lang="ru-RU" sz="2000" dirty="0" smtClean="0"/>
              <a:t> </a:t>
            </a:r>
            <a:r>
              <a:rPr lang="ru-RU" sz="2000" dirty="0" err="1" smtClean="0"/>
              <a:t>бошланғич</a:t>
            </a:r>
            <a:r>
              <a:rPr lang="ru-RU" sz="2000" dirty="0" smtClean="0"/>
              <a:t> </a:t>
            </a:r>
            <a:r>
              <a:rPr lang="ru-RU" sz="2000" dirty="0" err="1" smtClean="0"/>
              <a:t>ўрин</a:t>
            </a:r>
            <a:r>
              <a:rPr lang="ru-RU" sz="2000" dirty="0" smtClean="0"/>
              <a:t> </a:t>
            </a:r>
            <a:r>
              <a:rPr lang="ru-RU" sz="2000" dirty="0" err="1" smtClean="0"/>
              <a:t>алмаштириш</a:t>
            </a:r>
            <a:r>
              <a:rPr lang="ru-RU" sz="2000" dirty="0" smtClean="0"/>
              <a:t>:</a:t>
            </a:r>
          </a:p>
          <a:p>
            <a:pPr>
              <a:buNone/>
            </a:pPr>
            <a:endParaRPr lang="ru-RU" sz="2000" dirty="0" smtClean="0"/>
          </a:p>
          <a:p>
            <a:pPr marL="0" indent="0">
              <a:buNone/>
            </a:pPr>
            <a:r>
              <a:rPr lang="ru-RU" sz="2000" dirty="0" smtClean="0"/>
              <a:t>  </a:t>
            </a:r>
            <a:r>
              <a:rPr lang="ru-RU" sz="2000" dirty="0" smtClean="0">
                <a:solidFill>
                  <a:srgbClr val="FF0000"/>
                </a:solidFill>
              </a:rPr>
              <a:t>2-</a:t>
            </a:r>
            <a:r>
              <a:rPr lang="ru-RU" sz="2000" dirty="0" smtClean="0"/>
              <a:t> раунд </a:t>
            </a:r>
            <a:r>
              <a:rPr lang="ru-RU" sz="2000" dirty="0" err="1" smtClean="0"/>
              <a:t>операциялари</a:t>
            </a:r>
            <a:r>
              <a:rPr lang="ru-RU" sz="2000" dirty="0" smtClean="0"/>
              <a:t>:</a:t>
            </a:r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r>
              <a:rPr lang="ru-RU" sz="2000" dirty="0" smtClean="0"/>
              <a:t>  </a:t>
            </a:r>
            <a:r>
              <a:rPr lang="ru-RU" sz="2000" dirty="0" smtClean="0">
                <a:solidFill>
                  <a:srgbClr val="FF0000"/>
                </a:solidFill>
              </a:rPr>
              <a:t>3-</a:t>
            </a:r>
            <a:r>
              <a:rPr lang="ru-RU" sz="2000" dirty="0" smtClean="0"/>
              <a:t> </a:t>
            </a:r>
            <a:r>
              <a:rPr lang="ru-RU" sz="2000" dirty="0" err="1" smtClean="0"/>
              <a:t>охирги</a:t>
            </a:r>
            <a:r>
              <a:rPr lang="ru-RU" sz="2000" dirty="0" smtClean="0"/>
              <a:t> </a:t>
            </a:r>
            <a:r>
              <a:rPr lang="ru-RU" sz="2000" dirty="0" err="1" smtClean="0"/>
              <a:t>ўрин</a:t>
            </a:r>
            <a:r>
              <a:rPr lang="ru-RU" sz="2000" dirty="0" smtClean="0"/>
              <a:t> </a:t>
            </a:r>
            <a:r>
              <a:rPr lang="ru-RU" sz="2000" dirty="0" err="1" smtClean="0"/>
              <a:t>алмаштириш</a:t>
            </a:r>
            <a:r>
              <a:rPr lang="ru-RU" sz="2000" dirty="0" smtClean="0"/>
              <a:t>:</a:t>
            </a:r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r>
              <a:rPr lang="ru-RU" sz="2000" dirty="0" err="1" smtClean="0"/>
              <a:t>бу</a:t>
            </a:r>
            <a:r>
              <a:rPr lang="ru-RU" sz="2000" dirty="0" smtClean="0"/>
              <a:t> </a:t>
            </a:r>
            <a:r>
              <a:rPr lang="ru-RU" sz="2000" dirty="0" err="1" smtClean="0"/>
              <a:t>ерда</a:t>
            </a: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r>
              <a:rPr lang="ru-RU" sz="2000" dirty="0" smtClean="0"/>
              <a:t>         — </a:t>
            </a:r>
            <a:r>
              <a:rPr lang="ru-RU" sz="2000" dirty="0" err="1" smtClean="0"/>
              <a:t>алмаштириш</a:t>
            </a:r>
            <a:r>
              <a:rPr lang="ru-RU" sz="2000" dirty="0" smtClean="0"/>
              <a:t> </a:t>
            </a:r>
            <a:r>
              <a:rPr lang="ru-RU" sz="2000" dirty="0" err="1" smtClean="0"/>
              <a:t>жадвалини</a:t>
            </a:r>
            <a:r>
              <a:rPr lang="ru-RU" sz="2000" dirty="0" smtClean="0"/>
              <a:t> </a:t>
            </a:r>
            <a:r>
              <a:rPr lang="ru-RU" sz="2000" dirty="0" err="1" smtClean="0"/>
              <a:t>қўллаш</a:t>
            </a:r>
            <a:r>
              <a:rPr lang="ru-RU" sz="2000" dirty="0" smtClean="0"/>
              <a:t> (              </a:t>
            </a:r>
            <a:r>
              <a:rPr lang="ru-RU" sz="2000" dirty="0" smtClean="0">
                <a:solidFill>
                  <a:srgbClr val="FF0000"/>
                </a:solidFill>
              </a:rPr>
              <a:t>32</a:t>
            </a:r>
            <a:r>
              <a:rPr lang="ru-RU" sz="2000" dirty="0" smtClean="0"/>
              <a:t>  марта) </a:t>
            </a:r>
          </a:p>
          <a:p>
            <a:pPr>
              <a:buNone/>
            </a:pPr>
            <a:r>
              <a:rPr lang="ru-RU" sz="2000" b="1" i="1" dirty="0">
                <a:solidFill>
                  <a:srgbClr val="FF0000"/>
                </a:solidFill>
              </a:rPr>
              <a:t>	</a:t>
            </a:r>
            <a:r>
              <a:rPr lang="en-US" sz="2000" b="1" i="1" dirty="0" smtClean="0">
                <a:solidFill>
                  <a:srgbClr val="FF0000"/>
                </a:solidFill>
              </a:rPr>
              <a:t>L</a:t>
            </a:r>
            <a:r>
              <a:rPr lang="uz-Cyrl-UZ" sz="2000" b="1" i="1" dirty="0" smtClean="0">
                <a:solidFill>
                  <a:srgbClr val="FF0000"/>
                </a:solidFill>
              </a:rPr>
              <a:t> </a:t>
            </a:r>
            <a:r>
              <a:rPr lang="ru-RU" sz="2000" dirty="0" smtClean="0"/>
              <a:t>— </a:t>
            </a:r>
            <a:r>
              <a:rPr lang="ru-RU" sz="2000" dirty="0" err="1" smtClean="0"/>
              <a:t>чизиқли</a:t>
            </a:r>
            <a:r>
              <a:rPr lang="ru-RU" sz="2000" dirty="0" smtClean="0"/>
              <a:t> </a:t>
            </a:r>
            <a:r>
              <a:rPr lang="ru-RU" sz="2000" dirty="0" err="1" smtClean="0"/>
              <a:t>акслантириш</a:t>
            </a:r>
            <a:r>
              <a:rPr lang="ru-RU" sz="2000" dirty="0" smtClean="0"/>
              <a:t>.</a:t>
            </a:r>
          </a:p>
          <a:p>
            <a:pPr lvl="1">
              <a:lnSpc>
                <a:spcPct val="80000"/>
              </a:lnSpc>
              <a:buNone/>
            </a:pP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1" y="6537327"/>
            <a:ext cx="1643075" cy="32067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SERPENT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98856" y="1643050"/>
            <a:ext cx="2857520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Рисунок 6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98856" y="2285994"/>
            <a:ext cx="2786083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Рисунок 7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98856" y="3071810"/>
            <a:ext cx="2786083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Рисунок 8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90124" y="5659313"/>
            <a:ext cx="285752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Рисунок 9"/>
          <p:cNvPicPr/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162445" y="5625244"/>
            <a:ext cx="785819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Рисунок 10"/>
          <p:cNvPicPr/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214415" y="4143382"/>
            <a:ext cx="6072231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Рисунок 11"/>
          <p:cNvPicPr/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214415" y="4857760"/>
            <a:ext cx="6072231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2" descr="D:\Vyorstka\Infokrat\Infokrat-01 - InDezayn\rasm\logo-1111.tif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6" y="44624"/>
            <a:ext cx="753094" cy="75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645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971872" y="579438"/>
            <a:ext cx="7848600" cy="563562"/>
          </a:xfrm>
        </p:spPr>
        <p:txBody>
          <a:bodyPr/>
          <a:lstStyle/>
          <a:p>
            <a:r>
              <a:rPr lang="ru-RU" sz="3200" dirty="0" err="1" smtClean="0"/>
              <a:t>Бошланғич</a:t>
            </a:r>
            <a:r>
              <a:rPr lang="ru-RU" sz="3200" dirty="0" smtClean="0"/>
              <a:t> </a:t>
            </a:r>
            <a:r>
              <a:rPr lang="ru-RU" sz="3200" dirty="0" err="1" smtClean="0"/>
              <a:t>ўрин</a:t>
            </a:r>
            <a:r>
              <a:rPr lang="ru-RU" sz="3200" dirty="0" smtClean="0"/>
              <a:t> </a:t>
            </a:r>
            <a:r>
              <a:rPr lang="ru-RU" sz="3200" dirty="0" err="1" smtClean="0"/>
              <a:t>алмаштириш</a:t>
            </a:r>
            <a:r>
              <a:rPr lang="ru-RU" sz="3200" dirty="0" smtClean="0"/>
              <a:t> (</a:t>
            </a:r>
            <a:r>
              <a:rPr lang="en-US" sz="3200" b="1" i="1" dirty="0" smtClean="0"/>
              <a:t>IP</a:t>
            </a:r>
            <a:r>
              <a:rPr lang="uz-Cyrl-UZ" sz="3200" b="1" i="1" dirty="0" smtClean="0"/>
              <a:t>)</a:t>
            </a:r>
            <a:endParaRPr lang="en-US" sz="3200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214283" y="1214423"/>
            <a:ext cx="8715436" cy="5286412"/>
          </a:xfrm>
        </p:spPr>
        <p:txBody>
          <a:bodyPr/>
          <a:lstStyle/>
          <a:p>
            <a:pPr lvl="1">
              <a:lnSpc>
                <a:spcPct val="80000"/>
              </a:lnSpc>
              <a:buNone/>
            </a:pPr>
            <a:endParaRPr lang="en-US" sz="2900" dirty="0">
              <a:solidFill>
                <a:schemeClr val="tx2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1" y="6537327"/>
            <a:ext cx="1643075" cy="32067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SERPENT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3529" y="1214422"/>
            <a:ext cx="8496944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 descr="D:\Vyorstka\Infokrat\Infokrat-01 - InDezayn\rasm\logo-1111.t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6" y="44624"/>
            <a:ext cx="753094" cy="75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8931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855476" y="372855"/>
            <a:ext cx="8001000" cy="648109"/>
          </a:xfrm>
        </p:spPr>
        <p:txBody>
          <a:bodyPr/>
          <a:lstStyle/>
          <a:p>
            <a:r>
              <a:rPr lang="ru-RU" sz="3200" b="1" dirty="0" smtClean="0"/>
              <a:t>S-</a:t>
            </a:r>
            <a:r>
              <a:rPr lang="ru-RU" sz="3200" b="1" dirty="0" err="1" smtClean="0"/>
              <a:t>бокслар</a:t>
            </a:r>
            <a:endParaRPr lang="ru-RU" sz="3200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214283" y="1214423"/>
            <a:ext cx="8715436" cy="5286412"/>
          </a:xfrm>
        </p:spPr>
        <p:txBody>
          <a:bodyPr/>
          <a:lstStyle/>
          <a:p>
            <a:pPr marL="0" lvl="1" indent="360363" algn="just">
              <a:lnSpc>
                <a:spcPct val="80000"/>
              </a:lnSpc>
              <a:buNone/>
            </a:pPr>
            <a:r>
              <a:rPr lang="ru-RU" sz="2000" dirty="0" err="1" smtClean="0">
                <a:solidFill>
                  <a:schemeClr val="accent2">
                    <a:lumMod val="50000"/>
                  </a:schemeClr>
                </a:solidFill>
              </a:rPr>
              <a:t>Ҳар</a:t>
            </a:r>
            <a:r>
              <a:rPr lang="ru-RU" sz="2000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ru-RU" sz="2000" dirty="0" err="1" smtClean="0">
                <a:solidFill>
                  <a:schemeClr val="accent2">
                    <a:lumMod val="50000"/>
                  </a:schemeClr>
                </a:solidFill>
              </a:rPr>
              <a:t>бир</a:t>
            </a:r>
            <a:r>
              <a:rPr lang="ru-RU" sz="2000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ru-RU" sz="2000" dirty="0" err="1" smtClean="0">
                <a:solidFill>
                  <a:schemeClr val="accent2">
                    <a:lumMod val="50000"/>
                  </a:schemeClr>
                </a:solidFill>
              </a:rPr>
              <a:t>раундда</a:t>
            </a:r>
            <a:r>
              <a:rPr lang="ru-RU" sz="2000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ru-RU" sz="2000" dirty="0" err="1" smtClean="0">
                <a:solidFill>
                  <a:schemeClr val="accent2">
                    <a:lumMod val="50000"/>
                  </a:schemeClr>
                </a:solidFill>
              </a:rPr>
              <a:t>битта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ru-RU" sz="2000" dirty="0" smtClean="0">
                <a:solidFill>
                  <a:schemeClr val="accent2">
                    <a:lumMod val="50000"/>
                  </a:schemeClr>
                </a:solidFill>
              </a:rPr>
              <a:t>S-блок </a:t>
            </a:r>
            <a:r>
              <a:rPr lang="ru-RU" sz="2000" dirty="0" err="1" smtClean="0">
                <a:solidFill>
                  <a:schemeClr val="accent2">
                    <a:lumMod val="50000"/>
                  </a:schemeClr>
                </a:solidFill>
              </a:rPr>
              <a:t>қўлланилади</a:t>
            </a:r>
            <a:r>
              <a:rPr lang="ru-RU" sz="2000" dirty="0" smtClean="0">
                <a:solidFill>
                  <a:schemeClr val="accent2">
                    <a:lumMod val="50000"/>
                  </a:schemeClr>
                </a:solidFill>
              </a:rPr>
              <a:t>; </a:t>
            </a:r>
            <a:r>
              <a:rPr lang="ru-RU" sz="2000" dirty="0" err="1" smtClean="0">
                <a:solidFill>
                  <a:schemeClr val="accent2">
                    <a:lumMod val="50000"/>
                  </a:schemeClr>
                </a:solidFill>
              </a:rPr>
              <a:t>алгоритмдаги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ru-RU" sz="2000" dirty="0" smtClean="0">
                <a:solidFill>
                  <a:schemeClr val="accent2">
                    <a:lumMod val="50000"/>
                  </a:schemeClr>
                </a:solidFill>
              </a:rPr>
              <a:t>S-</a:t>
            </a:r>
            <a:r>
              <a:rPr lang="ru-RU" sz="2000" dirty="0" err="1" smtClean="0">
                <a:solidFill>
                  <a:schemeClr val="accent2">
                    <a:lumMod val="50000"/>
                  </a:schemeClr>
                </a:solidFill>
              </a:rPr>
              <a:t>блоклар</a:t>
            </a:r>
            <a:r>
              <a:rPr lang="ru-RU" sz="2000" dirty="0" smtClean="0">
                <a:solidFill>
                  <a:schemeClr val="accent2">
                    <a:lumMod val="50000"/>
                  </a:schemeClr>
                </a:solidFill>
              </a:rPr>
              <a:t> сони 8 та </a:t>
            </a:r>
            <a:r>
              <a:rPr lang="ru-RU" sz="2000" dirty="0" err="1" smtClean="0">
                <a:solidFill>
                  <a:schemeClr val="accent2">
                    <a:lumMod val="50000"/>
                  </a:schemeClr>
                </a:solidFill>
              </a:rPr>
              <a:t>бўлиб</a:t>
            </a:r>
            <a:r>
              <a:rPr lang="ru-RU" sz="2000" dirty="0" smtClean="0">
                <a:solidFill>
                  <a:schemeClr val="accent2">
                    <a:lumMod val="50000"/>
                  </a:schemeClr>
                </a:solidFill>
              </a:rPr>
              <a:t> (</a:t>
            </a:r>
            <a:r>
              <a:rPr lang="ru-RU" sz="2000" dirty="0" smtClean="0">
                <a:solidFill>
                  <a:srgbClr val="FF0000"/>
                </a:solidFill>
              </a:rPr>
              <a:t>S0...S7</a:t>
            </a:r>
            <a:r>
              <a:rPr lang="ru-RU" sz="2000" dirty="0" smtClean="0">
                <a:solidFill>
                  <a:schemeClr val="accent2">
                    <a:lumMod val="50000"/>
                  </a:schemeClr>
                </a:solidFill>
              </a:rPr>
              <a:t>) 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</a:rPr>
              <a:t>, 32 </a:t>
            </a:r>
            <a:r>
              <a:rPr lang="ru-RU" sz="2000" dirty="0" smtClean="0">
                <a:solidFill>
                  <a:schemeClr val="accent2">
                    <a:lumMod val="50000"/>
                  </a:schemeClr>
                </a:solidFill>
              </a:rPr>
              <a:t>раунд </a:t>
            </a:r>
            <a:r>
              <a:rPr lang="ru-RU" sz="2000" dirty="0" err="1" smtClean="0">
                <a:solidFill>
                  <a:schemeClr val="accent2">
                    <a:lumMod val="50000"/>
                  </a:schemeClr>
                </a:solidFill>
              </a:rPr>
              <a:t>шифрлаш</a:t>
            </a:r>
            <a:r>
              <a:rPr lang="ru-RU" sz="2000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ru-RU" sz="2000" dirty="0" err="1" smtClean="0">
                <a:solidFill>
                  <a:schemeClr val="accent2">
                    <a:lumMod val="50000"/>
                  </a:schemeClr>
                </a:solidFill>
              </a:rPr>
              <a:t>жараёнида</a:t>
            </a:r>
            <a:r>
              <a:rPr lang="ru-RU" sz="2000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ru-RU" sz="2000" dirty="0" err="1" smtClean="0">
                <a:solidFill>
                  <a:schemeClr val="accent2">
                    <a:lumMod val="50000"/>
                  </a:schemeClr>
                </a:solidFill>
              </a:rPr>
              <a:t>циклик</a:t>
            </a:r>
            <a:r>
              <a:rPr lang="ru-RU" sz="2000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ru-RU" sz="2000" dirty="0" err="1" smtClean="0">
                <a:solidFill>
                  <a:schemeClr val="accent2">
                    <a:lumMod val="50000"/>
                  </a:schemeClr>
                </a:solidFill>
              </a:rPr>
              <a:t>равишда</a:t>
            </a:r>
            <a:r>
              <a:rPr lang="ru-RU" sz="2000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ru-RU" sz="2000" dirty="0" err="1" smtClean="0">
                <a:solidFill>
                  <a:schemeClr val="accent2">
                    <a:lumMod val="50000"/>
                  </a:schemeClr>
                </a:solidFill>
              </a:rPr>
              <a:t>фойдаланилади</a:t>
            </a:r>
            <a:r>
              <a:rPr lang="ru-RU" sz="2000" dirty="0" smtClean="0">
                <a:solidFill>
                  <a:schemeClr val="accent2">
                    <a:lumMod val="50000"/>
                  </a:schemeClr>
                </a:solidFill>
              </a:rPr>
              <a:t>.</a:t>
            </a:r>
          </a:p>
          <a:p>
            <a:pPr marL="0" lvl="1" indent="360363" algn="ctr">
              <a:lnSpc>
                <a:spcPct val="80000"/>
              </a:lnSpc>
              <a:buNone/>
            </a:pPr>
            <a:endParaRPr lang="ru-RU" sz="1600" dirty="0" smtClean="0">
              <a:solidFill>
                <a:srgbClr val="FF0000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600" dirty="0" smtClean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600" dirty="0" smtClean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600" dirty="0" smtClean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600" dirty="0" smtClean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600" dirty="0" smtClean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600" dirty="0" smtClean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600" dirty="0" smtClean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600" dirty="0" smtClean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600" dirty="0" smtClean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600" dirty="0" smtClean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600" dirty="0" smtClean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600" dirty="0" smtClean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600" dirty="0" smtClean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600" dirty="0" smtClean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1" y="6537327"/>
            <a:ext cx="1643075" cy="32067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SERPENT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1433" y="2708920"/>
            <a:ext cx="8491047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 descr="D:\Vyorstka\Infokrat\Infokrat-01 - InDezayn\rasm\logo-1111.t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6" y="44624"/>
            <a:ext cx="753094" cy="75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0752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880" y="579438"/>
            <a:ext cx="7848600" cy="563562"/>
          </a:xfrm>
        </p:spPr>
        <p:txBody>
          <a:bodyPr/>
          <a:lstStyle/>
          <a:p>
            <a:r>
              <a:rPr lang="ru-RU" sz="2800" b="1" dirty="0" err="1" smtClean="0"/>
              <a:t>Чизиқли</a:t>
            </a:r>
            <a:r>
              <a:rPr lang="ru-RU" sz="2800" b="1" dirty="0" smtClean="0"/>
              <a:t> </a:t>
            </a:r>
            <a:r>
              <a:rPr lang="ru-RU" sz="2800" b="1" dirty="0" err="1" smtClean="0"/>
              <a:t>акслантириш</a:t>
            </a:r>
            <a:r>
              <a:rPr lang="ru-RU" sz="2800" b="1" dirty="0" smtClean="0"/>
              <a:t> </a:t>
            </a:r>
            <a:r>
              <a:rPr lang="ru-RU" sz="2800" b="1" dirty="0" err="1" smtClean="0"/>
              <a:t>жадвали</a:t>
            </a:r>
            <a:r>
              <a:rPr lang="ru-RU" sz="2800" b="1" dirty="0" smtClean="0"/>
              <a:t> (</a:t>
            </a:r>
            <a:r>
              <a:rPr lang="en-US" sz="2800" b="1" i="1" dirty="0" smtClean="0"/>
              <a:t>LT</a:t>
            </a:r>
            <a:r>
              <a:rPr lang="uz-Cyrl-UZ" sz="2800" b="1" i="1" dirty="0" smtClean="0"/>
              <a:t>)</a:t>
            </a:r>
            <a:endParaRPr lang="ru-RU" sz="2800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214283" y="1214423"/>
            <a:ext cx="8715436" cy="5286412"/>
          </a:xfrm>
        </p:spPr>
        <p:txBody>
          <a:bodyPr/>
          <a:lstStyle/>
          <a:p>
            <a:pPr marL="0" lvl="1" indent="360363" algn="just">
              <a:lnSpc>
                <a:spcPct val="80000"/>
              </a:lnSpc>
              <a:buNone/>
            </a:pPr>
            <a:r>
              <a:rPr lang="uz-Cyrl-UZ" sz="1800" dirty="0" smtClean="0"/>
              <a:t>Чизиқли акслантириш </a:t>
            </a:r>
            <a:r>
              <a:rPr lang="en-US" sz="1800" b="1" i="1" dirty="0">
                <a:solidFill>
                  <a:srgbClr val="FF0000"/>
                </a:solidFill>
              </a:rPr>
              <a:t>LT </a:t>
            </a:r>
            <a:r>
              <a:rPr lang="ru-RU" sz="1800" dirty="0" err="1" smtClean="0"/>
              <a:t>қуйидаги</a:t>
            </a:r>
            <a:r>
              <a:rPr lang="ru-RU" sz="1800" dirty="0" smtClean="0"/>
              <a:t> </a:t>
            </a:r>
            <a:r>
              <a:rPr lang="ru-RU" sz="1800" dirty="0" err="1" smtClean="0"/>
              <a:t>жадвалда</a:t>
            </a:r>
            <a:r>
              <a:rPr lang="ru-RU" sz="1800" dirty="0" smtClean="0"/>
              <a:t> </a:t>
            </a:r>
            <a:r>
              <a:rPr lang="ru-RU" sz="1800" dirty="0" err="1" smtClean="0"/>
              <a:t>ифодаланган</a:t>
            </a:r>
            <a:r>
              <a:rPr lang="ru-RU" sz="1800" dirty="0" smtClean="0"/>
              <a:t>. </a:t>
            </a:r>
            <a:r>
              <a:rPr lang="ru-RU" sz="1800" dirty="0" err="1" smtClean="0"/>
              <a:t>Жадвалда</a:t>
            </a:r>
            <a:r>
              <a:rPr lang="ru-RU" sz="1800" dirty="0" smtClean="0"/>
              <a:t> 0 дан 127 чага </a:t>
            </a:r>
            <a:r>
              <a:rPr lang="ru-RU" sz="1800" dirty="0" err="1" smtClean="0"/>
              <a:t>битлар</a:t>
            </a:r>
            <a:r>
              <a:rPr lang="ru-RU" sz="1800" dirty="0" smtClean="0"/>
              <a:t> </a:t>
            </a:r>
            <a:r>
              <a:rPr lang="ru-RU" sz="1800" dirty="0" err="1" smtClean="0"/>
              <a:t>жойлаштирилган</a:t>
            </a:r>
            <a:r>
              <a:rPr lang="ru-RU" sz="1800" dirty="0" smtClean="0"/>
              <a:t> (</a:t>
            </a:r>
            <a:r>
              <a:rPr lang="ru-RU" sz="1800" dirty="0" err="1" smtClean="0"/>
              <a:t>Масалан</a:t>
            </a:r>
            <a:r>
              <a:rPr lang="ru-RU" sz="1800" dirty="0" smtClean="0"/>
              <a:t>, </a:t>
            </a:r>
            <a:r>
              <a:rPr lang="ru-RU" sz="1800" dirty="0" err="1" smtClean="0"/>
              <a:t>чиқувчи</a:t>
            </a:r>
            <a:r>
              <a:rPr lang="ru-RU" sz="1800" dirty="0" smtClean="0"/>
              <a:t> 2-бит 2, 9, 15, 30, 76, 84, 126 </a:t>
            </a:r>
            <a:r>
              <a:rPr lang="ru-RU" sz="1800" dirty="0" err="1" smtClean="0"/>
              <a:t>ларнинг</a:t>
            </a:r>
            <a:r>
              <a:rPr lang="ru-RU" sz="1800" dirty="0" smtClean="0"/>
              <a:t> модуль 2 </a:t>
            </a:r>
            <a:r>
              <a:rPr lang="ru-RU" sz="1800" dirty="0" err="1" smtClean="0"/>
              <a:t>бўйича</a:t>
            </a:r>
            <a:r>
              <a:rPr lang="ru-RU" sz="1800" dirty="0" smtClean="0"/>
              <a:t> </a:t>
            </a:r>
            <a:r>
              <a:rPr lang="ru-RU" sz="1800" dirty="0" err="1" smtClean="0"/>
              <a:t>йиғиндиси</a:t>
            </a:r>
            <a:r>
              <a:rPr lang="ru-RU" sz="1800" dirty="0" smtClean="0"/>
              <a:t> </a:t>
            </a:r>
            <a:r>
              <a:rPr lang="ru-RU" sz="1800" dirty="0" err="1" smtClean="0"/>
              <a:t>натижасига</a:t>
            </a:r>
            <a:r>
              <a:rPr lang="ru-RU" sz="1800" dirty="0" smtClean="0"/>
              <a:t> </a:t>
            </a:r>
            <a:r>
              <a:rPr lang="ru-RU" sz="1800" dirty="0" err="1" smtClean="0"/>
              <a:t>тенг</a:t>
            </a:r>
            <a:r>
              <a:rPr lang="ru-RU" sz="1800" dirty="0" smtClean="0"/>
              <a:t>). </a:t>
            </a:r>
            <a:r>
              <a:rPr lang="ru-RU" sz="1800" dirty="0" err="1" smtClean="0"/>
              <a:t>Ҳар</a:t>
            </a:r>
            <a:r>
              <a:rPr lang="ru-RU" sz="1800" dirty="0" smtClean="0"/>
              <a:t> </a:t>
            </a:r>
            <a:r>
              <a:rPr lang="ru-RU" sz="1800" dirty="0" err="1" smtClean="0"/>
              <a:t>бир</a:t>
            </a:r>
            <a:r>
              <a:rPr lang="ru-RU" sz="1800" dirty="0" smtClean="0"/>
              <a:t> </a:t>
            </a:r>
            <a:r>
              <a:rPr lang="ru-RU" sz="1800" dirty="0" err="1" smtClean="0"/>
              <a:t>қаторда</a:t>
            </a:r>
            <a:r>
              <a:rPr lang="ru-RU" sz="1800" dirty="0" smtClean="0"/>
              <a:t> </a:t>
            </a:r>
            <a:r>
              <a:rPr lang="ru-RU" sz="1800" dirty="0" err="1" smtClean="0"/>
              <a:t>чиқувчи</a:t>
            </a:r>
            <a:r>
              <a:rPr lang="ru-RU" sz="1800" dirty="0" smtClean="0"/>
              <a:t> 4 </a:t>
            </a:r>
            <a:r>
              <a:rPr lang="ru-RU" sz="1800" dirty="0" err="1" smtClean="0"/>
              <a:t>битни</a:t>
            </a:r>
            <a:r>
              <a:rPr lang="ru-RU" sz="1800" dirty="0" smtClean="0"/>
              <a:t> </a:t>
            </a:r>
            <a:r>
              <a:rPr lang="ru-RU" sz="1800" dirty="0" err="1" smtClean="0"/>
              <a:t>олинади</a:t>
            </a:r>
            <a:r>
              <a:rPr lang="ru-RU" sz="1800" dirty="0" smtClean="0"/>
              <a:t>.  </a:t>
            </a: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800" dirty="0"/>
          </a:p>
          <a:p>
            <a:pPr marL="0" lvl="1" indent="360363" algn="just">
              <a:lnSpc>
                <a:spcPct val="80000"/>
              </a:lnSpc>
              <a:buNone/>
            </a:pPr>
            <a:r>
              <a:rPr lang="ru-RU" sz="1800" dirty="0" smtClean="0"/>
              <a:t>В каждой строке описывается </a:t>
            </a:r>
            <a:r>
              <a:rPr lang="ru-RU" sz="1800" dirty="0" smtClean="0">
                <a:solidFill>
                  <a:srgbClr val="FF0000"/>
                </a:solidFill>
              </a:rPr>
              <a:t>4 </a:t>
            </a:r>
            <a:r>
              <a:rPr lang="ru-RU" sz="1800" dirty="0" smtClean="0"/>
              <a:t>выходных бита, которые вместе составляют входные данные на одну таблицу замен в следующем раунде. </a:t>
            </a: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800" dirty="0" smtClean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800" dirty="0" smtClean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800" dirty="0" smtClean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800" dirty="0" smtClean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800" dirty="0" smtClean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800" dirty="0" smtClean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800" dirty="0" smtClean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800" dirty="0" smtClean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800" dirty="0" smtClean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800" dirty="0" smtClean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800" dirty="0" smtClean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800" dirty="0" smtClean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1" y="6537327"/>
            <a:ext cx="1643075" cy="32067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SERPENT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520" y="2269275"/>
            <a:ext cx="8568952" cy="8072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 descr="D:\Vyorstka\Infokrat\Infokrat-01 - InDezayn\rasm\logo-1111.t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6" y="44624"/>
            <a:ext cx="753094" cy="75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814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899864" y="579438"/>
            <a:ext cx="7848600" cy="563562"/>
          </a:xfrm>
        </p:spPr>
        <p:txBody>
          <a:bodyPr/>
          <a:lstStyle/>
          <a:p>
            <a:r>
              <a:rPr lang="ru-RU" sz="2800" b="1" dirty="0" err="1"/>
              <a:t>Чизиқли</a:t>
            </a:r>
            <a:r>
              <a:rPr lang="ru-RU" sz="2800" b="1" dirty="0"/>
              <a:t> </a:t>
            </a:r>
            <a:r>
              <a:rPr lang="ru-RU" sz="2800" b="1" dirty="0" err="1"/>
              <a:t>акслантириш</a:t>
            </a:r>
            <a:r>
              <a:rPr lang="ru-RU" sz="2800" b="1" dirty="0"/>
              <a:t> </a:t>
            </a:r>
            <a:r>
              <a:rPr lang="ru-RU" sz="2800" b="1" dirty="0" err="1"/>
              <a:t>жадвали</a:t>
            </a:r>
            <a:r>
              <a:rPr lang="ru-RU" sz="2800" b="1" dirty="0"/>
              <a:t> (</a:t>
            </a:r>
            <a:r>
              <a:rPr lang="en-US" sz="2800" b="1" i="1" dirty="0"/>
              <a:t>LT</a:t>
            </a:r>
            <a:r>
              <a:rPr lang="uz-Cyrl-UZ" sz="2800" b="1" i="1" dirty="0"/>
              <a:t>)</a:t>
            </a:r>
            <a:endParaRPr lang="ru-RU" sz="2800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214283" y="1214423"/>
            <a:ext cx="8715436" cy="5286412"/>
          </a:xfrm>
        </p:spPr>
        <p:txBody>
          <a:bodyPr/>
          <a:lstStyle/>
          <a:p>
            <a:pPr marL="0" lvl="1" indent="360363" algn="just">
              <a:lnSpc>
                <a:spcPct val="80000"/>
              </a:lnSpc>
              <a:buNone/>
            </a:pPr>
            <a:r>
              <a:rPr lang="ru-RU" sz="2000" dirty="0" err="1" smtClean="0"/>
              <a:t>Чизиқли</a:t>
            </a:r>
            <a:r>
              <a:rPr lang="ru-RU" sz="2000" dirty="0" smtClean="0"/>
              <a:t> </a:t>
            </a:r>
            <a:r>
              <a:rPr lang="ru-RU" sz="2000" dirty="0" err="1" smtClean="0"/>
              <a:t>акслантириш</a:t>
            </a:r>
            <a:r>
              <a:rPr lang="ru-RU" sz="2000" dirty="0" smtClean="0"/>
              <a:t>. 32-битли </a:t>
            </a:r>
            <a:r>
              <a:rPr lang="ru-RU" sz="2000" dirty="0" err="1" smtClean="0"/>
              <a:t>сўз</a:t>
            </a:r>
            <a:r>
              <a:rPr lang="ru-RU" sz="2000" dirty="0" smtClean="0"/>
              <a:t> </a:t>
            </a:r>
            <a:r>
              <a:rPr lang="ru-RU" sz="2000" dirty="0" err="1" smtClean="0"/>
              <a:t>қуйидагича</a:t>
            </a:r>
            <a:r>
              <a:rPr lang="ru-RU" sz="2000" dirty="0" smtClean="0"/>
              <a:t> </a:t>
            </a:r>
            <a:r>
              <a:rPr lang="ru-RU" sz="2000" dirty="0" err="1" smtClean="0"/>
              <a:t>акслантирилади</a:t>
            </a:r>
            <a:r>
              <a:rPr lang="ru-RU" sz="2000" dirty="0" smtClean="0"/>
              <a:t>:</a:t>
            </a: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 smtClean="0"/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 smtClean="0"/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 smtClean="0"/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 smtClean="0"/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 smtClean="0"/>
          </a:p>
          <a:p>
            <a:pPr marL="0" lvl="1" indent="360363" algn="just">
              <a:lnSpc>
                <a:spcPct val="80000"/>
              </a:lnSpc>
              <a:buNone/>
            </a:pPr>
            <a:endParaRPr lang="uz-Cyrl-UZ" sz="2000" dirty="0" smtClean="0"/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100" dirty="0" smtClean="0"/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 smtClean="0"/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 smtClean="0"/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 smtClean="0"/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 smtClean="0"/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 smtClean="0"/>
          </a:p>
          <a:p>
            <a:pPr marL="0" lvl="1" indent="360363" algn="just">
              <a:lnSpc>
                <a:spcPct val="80000"/>
              </a:lnSpc>
              <a:buNone/>
            </a:pPr>
            <a:r>
              <a:rPr lang="ru-RU" sz="2000" dirty="0" err="1" smtClean="0"/>
              <a:t>Бу</a:t>
            </a:r>
            <a:r>
              <a:rPr lang="ru-RU" sz="2000" dirty="0" smtClean="0"/>
              <a:t> </a:t>
            </a:r>
            <a:r>
              <a:rPr lang="ru-RU" sz="2000" dirty="0" err="1" smtClean="0"/>
              <a:t>ерда</a:t>
            </a:r>
            <a:r>
              <a:rPr lang="ru-RU" sz="2000" dirty="0" smtClean="0"/>
              <a:t> </a:t>
            </a:r>
            <a:r>
              <a:rPr lang="ru-RU" sz="2000" dirty="0" smtClean="0">
                <a:solidFill>
                  <a:srgbClr val="FF0000"/>
                </a:solidFill>
              </a:rPr>
              <a:t>&lt;&lt;&lt; </a:t>
            </a:r>
            <a:r>
              <a:rPr lang="ru-RU" sz="2000" dirty="0" err="1" smtClean="0"/>
              <a:t>битли</a:t>
            </a:r>
            <a:r>
              <a:rPr lang="ru-RU" sz="2000" dirty="0" smtClean="0"/>
              <a:t> </a:t>
            </a:r>
            <a:r>
              <a:rPr lang="ru-RU" sz="2000" dirty="0" err="1" smtClean="0"/>
              <a:t>циклик</a:t>
            </a:r>
            <a:r>
              <a:rPr lang="ru-RU" sz="2000" dirty="0" smtClean="0"/>
              <a:t> </a:t>
            </a:r>
            <a:r>
              <a:rPr lang="ru-RU" sz="2000" dirty="0" err="1" smtClean="0"/>
              <a:t>суриш</a:t>
            </a:r>
            <a:r>
              <a:rPr lang="ru-RU" sz="2000" dirty="0" smtClean="0"/>
              <a:t>, </a:t>
            </a:r>
            <a:r>
              <a:rPr lang="ru-RU" sz="2000" dirty="0" smtClean="0">
                <a:solidFill>
                  <a:srgbClr val="FF0000"/>
                </a:solidFill>
              </a:rPr>
              <a:t>&lt;&lt;</a:t>
            </a:r>
            <a:r>
              <a:rPr lang="ru-RU" sz="2000" dirty="0" smtClean="0"/>
              <a:t> — </a:t>
            </a:r>
            <a:r>
              <a:rPr lang="ru-RU" sz="2000" dirty="0" err="1" smtClean="0"/>
              <a:t>эса</a:t>
            </a:r>
            <a:r>
              <a:rPr lang="ru-RU" sz="2000" dirty="0" smtClean="0"/>
              <a:t> </a:t>
            </a:r>
            <a:r>
              <a:rPr lang="ru-RU" sz="2000" dirty="0" err="1" smtClean="0"/>
              <a:t>битли</a:t>
            </a:r>
            <a:r>
              <a:rPr lang="ru-RU" sz="2000" dirty="0" smtClean="0"/>
              <a:t> </a:t>
            </a:r>
            <a:r>
              <a:rPr lang="ru-RU" sz="2000" dirty="0" err="1" smtClean="0"/>
              <a:t>суриш</a:t>
            </a:r>
            <a:r>
              <a:rPr lang="ru-RU" sz="2000" dirty="0" smtClean="0"/>
              <a:t>. </a:t>
            </a:r>
            <a:r>
              <a:rPr lang="ru-RU" sz="2000" dirty="0" err="1" smtClean="0"/>
              <a:t>Охирги</a:t>
            </a:r>
            <a:r>
              <a:rPr lang="ru-RU" sz="2000" dirty="0" smtClean="0"/>
              <a:t> </a:t>
            </a:r>
            <a:r>
              <a:rPr lang="ru-RU" sz="2000" dirty="0" err="1" smtClean="0"/>
              <a:t>раундда</a:t>
            </a:r>
            <a:r>
              <a:rPr lang="ru-RU" sz="2000" dirty="0" smtClean="0"/>
              <a:t> </a:t>
            </a:r>
            <a:r>
              <a:rPr lang="ru-RU" sz="2000" dirty="0" err="1" smtClean="0"/>
              <a:t>ушбу</a:t>
            </a:r>
            <a:r>
              <a:rPr lang="ru-RU" sz="2000" dirty="0" smtClean="0"/>
              <a:t> </a:t>
            </a:r>
            <a:r>
              <a:rPr lang="ru-RU" sz="2000" dirty="0" err="1" smtClean="0"/>
              <a:t>чизиқли</a:t>
            </a:r>
            <a:r>
              <a:rPr lang="ru-RU" sz="2000" dirty="0" smtClean="0"/>
              <a:t> </a:t>
            </a:r>
            <a:r>
              <a:rPr lang="ru-RU" sz="2000" dirty="0" err="1" smtClean="0"/>
              <a:t>акслантириш</a:t>
            </a:r>
            <a:r>
              <a:rPr lang="ru-RU" sz="2000" dirty="0" smtClean="0"/>
              <a:t> </a:t>
            </a:r>
            <a:r>
              <a:rPr lang="ru-RU" sz="2000" dirty="0" err="1" smtClean="0"/>
              <a:t>қўшимча</a:t>
            </a:r>
            <a:r>
              <a:rPr lang="ru-RU" sz="2000" dirty="0" smtClean="0"/>
              <a:t> </a:t>
            </a:r>
            <a:r>
              <a:rPr lang="ru-RU" sz="2000" dirty="0" err="1" smtClean="0"/>
              <a:t>калитни</a:t>
            </a:r>
            <a:r>
              <a:rPr lang="ru-RU" sz="2000" dirty="0" smtClean="0"/>
              <a:t> </a:t>
            </a:r>
            <a:r>
              <a:rPr lang="ru-RU" sz="2000" dirty="0" err="1" smtClean="0"/>
              <a:t>қўшиш</a:t>
            </a:r>
            <a:r>
              <a:rPr lang="ru-RU" sz="2000" dirty="0" smtClean="0"/>
              <a:t> </a:t>
            </a:r>
            <a:r>
              <a:rPr lang="ru-RU" sz="2000" dirty="0" err="1" smtClean="0"/>
              <a:t>билан</a:t>
            </a:r>
            <a:r>
              <a:rPr lang="ru-RU" sz="2000" dirty="0" smtClean="0"/>
              <a:t> </a:t>
            </a:r>
            <a:r>
              <a:rPr lang="ru-RU" sz="2000" dirty="0" err="1" smtClean="0"/>
              <a:t>алмаштирилади</a:t>
            </a:r>
            <a:r>
              <a:rPr lang="ru-RU" sz="2000" dirty="0" smtClean="0"/>
              <a:t>:</a:t>
            </a: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 smtClean="0"/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 smtClean="0"/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 smtClean="0"/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 smtClean="0"/>
          </a:p>
          <a:p>
            <a:pPr marL="0" lvl="1" indent="360363" algn="just">
              <a:lnSpc>
                <a:spcPct val="80000"/>
              </a:lnSpc>
              <a:buNone/>
            </a:pP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1" y="6537327"/>
            <a:ext cx="1643075" cy="32067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SERPENT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1628800"/>
            <a:ext cx="3714776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Рисунок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3109" y="5929330"/>
            <a:ext cx="3643339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D:\Vyorstka\Infokrat\Infokrat-01 - InDezayn\rasm\logo-1111.t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6" y="44624"/>
            <a:ext cx="753094" cy="75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611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1" y="6537327"/>
            <a:ext cx="1643075" cy="32067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SERPENT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3" y="142806"/>
            <a:ext cx="5072099" cy="6572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 descr="D:\Vyorstka\Infokrat\Infokrat-01 - InDezayn\rasm\logo-1111.t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6" y="44624"/>
            <a:ext cx="753094" cy="75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386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8620"/>
            <a:ext cx="8001000" cy="1216025"/>
          </a:xfrm>
        </p:spPr>
        <p:txBody>
          <a:bodyPr/>
          <a:lstStyle/>
          <a:p>
            <a:r>
              <a:rPr lang="ru-RU" b="1" dirty="0" err="1" smtClean="0"/>
              <a:t>Охирги</a:t>
            </a:r>
            <a:r>
              <a:rPr lang="ru-RU" b="1" dirty="0" smtClean="0"/>
              <a:t> </a:t>
            </a:r>
            <a:r>
              <a:rPr lang="ru-RU" b="1" dirty="0" err="1" smtClean="0"/>
              <a:t>ўрин</a:t>
            </a:r>
            <a:r>
              <a:rPr lang="ru-RU" b="1" dirty="0" smtClean="0"/>
              <a:t> </a:t>
            </a:r>
            <a:r>
              <a:rPr lang="ru-RU" b="1" dirty="0" err="1" smtClean="0"/>
              <a:t>алмаштириш</a:t>
            </a:r>
            <a:endParaRPr lang="ru-RU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214283" y="1214423"/>
            <a:ext cx="8715436" cy="5286412"/>
          </a:xfrm>
        </p:spPr>
        <p:txBody>
          <a:bodyPr/>
          <a:lstStyle/>
          <a:p>
            <a:pPr marL="0" indent="360363" algn="just">
              <a:buNone/>
            </a:pPr>
            <a:r>
              <a:rPr lang="ru-RU" sz="2000" dirty="0" smtClean="0"/>
              <a:t>Ушбу </a:t>
            </a:r>
            <a:r>
              <a:rPr lang="ru-RU" sz="2000" dirty="0" err="1" smtClean="0"/>
              <a:t>ўрин</a:t>
            </a:r>
            <a:r>
              <a:rPr lang="ru-RU" sz="2000" dirty="0" smtClean="0"/>
              <a:t> </a:t>
            </a:r>
            <a:r>
              <a:rPr lang="ru-RU" sz="2000" dirty="0" err="1" smtClean="0"/>
              <a:t>алмаштириш</a:t>
            </a:r>
            <a:r>
              <a:rPr lang="ru-RU" sz="2000" dirty="0" smtClean="0"/>
              <a:t> </a:t>
            </a:r>
            <a:r>
              <a:rPr lang="ru-RU" sz="2000" dirty="0" err="1" smtClean="0"/>
              <a:t>бошланғич</a:t>
            </a:r>
            <a:r>
              <a:rPr lang="ru-RU" sz="2000" dirty="0" smtClean="0"/>
              <a:t> </a:t>
            </a:r>
            <a:r>
              <a:rPr lang="ru-RU" sz="2000" dirty="0" err="1" smtClean="0"/>
              <a:t>ўрин</a:t>
            </a:r>
            <a:r>
              <a:rPr lang="ru-RU" sz="2000" dirty="0" smtClean="0"/>
              <a:t> </a:t>
            </a:r>
            <a:r>
              <a:rPr lang="ru-RU" sz="2000" dirty="0" err="1" smtClean="0"/>
              <a:t>алмаштиришга</a:t>
            </a:r>
            <a:r>
              <a:rPr lang="ru-RU" sz="2000" dirty="0" smtClean="0"/>
              <a:t> </a:t>
            </a:r>
            <a:r>
              <a:rPr lang="ru-RU" sz="2000" dirty="0" err="1" smtClean="0"/>
              <a:t>тескари</a:t>
            </a:r>
            <a:r>
              <a:rPr lang="ru-RU" sz="2000" dirty="0" smtClean="0"/>
              <a:t> </a:t>
            </a:r>
            <a:r>
              <a:rPr lang="ru-RU" sz="2000" dirty="0" err="1" smtClean="0"/>
              <a:t>ҳисобланади</a:t>
            </a:r>
            <a:r>
              <a:rPr lang="ru-RU" sz="2000" dirty="0" smtClean="0"/>
              <a:t>, </a:t>
            </a:r>
            <a:r>
              <a:rPr lang="ru-RU" sz="2000" dirty="0" err="1" smtClean="0"/>
              <a:t>яъни</a:t>
            </a:r>
            <a:r>
              <a:rPr lang="ru-RU" sz="2000" dirty="0" smtClean="0"/>
              <a:t>  </a:t>
            </a:r>
            <a:r>
              <a:rPr lang="en-US" sz="2000" b="1" i="1" dirty="0" smtClean="0"/>
              <a:t>FP</a:t>
            </a:r>
            <a:r>
              <a:rPr lang="ru-RU" sz="2000" b="1" i="1" dirty="0" smtClean="0"/>
              <a:t>=</a:t>
            </a:r>
            <a:r>
              <a:rPr lang="en-US" sz="2000" b="1" i="1" dirty="0" smtClean="0"/>
              <a:t>IP</a:t>
            </a:r>
            <a:r>
              <a:rPr lang="ru-RU" sz="2000" b="1" i="1" baseline="30000" dirty="0" smtClean="0"/>
              <a:t>-1</a:t>
            </a:r>
            <a:r>
              <a:rPr lang="ru-RU" sz="2000" dirty="0" smtClean="0"/>
              <a:t>, у </a:t>
            </a:r>
            <a:r>
              <a:rPr lang="ru-RU" sz="2000" dirty="0" err="1" smtClean="0"/>
              <a:t>қуйидаги</a:t>
            </a:r>
            <a:r>
              <a:rPr lang="ru-RU" sz="2000" dirty="0" smtClean="0"/>
              <a:t> </a:t>
            </a:r>
            <a:r>
              <a:rPr lang="ru-RU" sz="2000" dirty="0" err="1" smtClean="0"/>
              <a:t>жадвал</a:t>
            </a:r>
            <a:r>
              <a:rPr lang="ru-RU" sz="2000" dirty="0" smtClean="0"/>
              <a:t> </a:t>
            </a:r>
            <a:r>
              <a:rPr lang="ru-RU" sz="2000" dirty="0" err="1" smtClean="0"/>
              <a:t>орқали</a:t>
            </a:r>
            <a:r>
              <a:rPr lang="ru-RU" sz="2000" dirty="0" smtClean="0"/>
              <a:t> </a:t>
            </a:r>
            <a:r>
              <a:rPr lang="ru-RU" sz="2000" dirty="0" err="1" smtClean="0"/>
              <a:t>амалга</a:t>
            </a:r>
            <a:r>
              <a:rPr lang="ru-RU" sz="2000" dirty="0" smtClean="0"/>
              <a:t> </a:t>
            </a:r>
            <a:r>
              <a:rPr lang="ru-RU" sz="2000" dirty="0" err="1" smtClean="0"/>
              <a:t>оширилади</a:t>
            </a:r>
            <a:r>
              <a:rPr lang="ru-RU" sz="2000" dirty="0" smtClean="0"/>
              <a:t>:</a:t>
            </a:r>
          </a:p>
          <a:p>
            <a:pPr marL="0" indent="360363" algn="ctr">
              <a:buNone/>
            </a:pPr>
            <a:r>
              <a:rPr lang="ru-RU" sz="2000" dirty="0" err="1" smtClean="0">
                <a:solidFill>
                  <a:srgbClr val="FF0000"/>
                </a:solidFill>
              </a:rPr>
              <a:t>Охирги</a:t>
            </a:r>
            <a:r>
              <a:rPr lang="ru-RU" sz="2000" dirty="0" smtClean="0">
                <a:solidFill>
                  <a:srgbClr val="FF0000"/>
                </a:solidFill>
              </a:rPr>
              <a:t> </a:t>
            </a:r>
            <a:r>
              <a:rPr lang="ru-RU" sz="2000" dirty="0" err="1" smtClean="0">
                <a:solidFill>
                  <a:srgbClr val="FF0000"/>
                </a:solidFill>
              </a:rPr>
              <a:t>ўрин</a:t>
            </a:r>
            <a:r>
              <a:rPr lang="ru-RU" sz="2000" dirty="0" smtClean="0">
                <a:solidFill>
                  <a:srgbClr val="FF0000"/>
                </a:solidFill>
              </a:rPr>
              <a:t> </a:t>
            </a:r>
            <a:r>
              <a:rPr lang="ru-RU" sz="2000" dirty="0" err="1" smtClean="0">
                <a:solidFill>
                  <a:srgbClr val="FF0000"/>
                </a:solidFill>
              </a:rPr>
              <a:t>алмаштиринг</a:t>
            </a:r>
            <a:r>
              <a:rPr lang="en-US" sz="2000" b="1" i="1" dirty="0" smtClean="0">
                <a:solidFill>
                  <a:srgbClr val="FF0000"/>
                </a:solidFill>
              </a:rPr>
              <a:t> FP</a:t>
            </a:r>
            <a:endParaRPr lang="ru-RU" sz="2000" dirty="0" smtClean="0">
              <a:solidFill>
                <a:srgbClr val="FF0000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1" y="6537327"/>
            <a:ext cx="1643075" cy="32067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SERPENT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1434" y="2708920"/>
            <a:ext cx="8563054" cy="3672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 descr="D:\Vyorstka\Infokrat\Infokrat-01 - InDezayn\rasm\logo-1111.t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6" y="44624"/>
            <a:ext cx="753094" cy="75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3560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579438"/>
            <a:ext cx="8534400" cy="563562"/>
          </a:xfrm>
        </p:spPr>
        <p:txBody>
          <a:bodyPr/>
          <a:lstStyle/>
          <a:p>
            <a:pPr lvl="1"/>
            <a:r>
              <a:rPr lang="ru-RU" dirty="0" smtClean="0"/>
              <a:t>3. </a:t>
            </a:r>
            <a:r>
              <a:rPr lang="uz-Cyrl-UZ" dirty="0" smtClean="0"/>
              <a:t>Д</a:t>
            </a:r>
            <a:r>
              <a:rPr lang="ru-RU" dirty="0" err="1" smtClean="0"/>
              <a:t>ешифрлаш</a:t>
            </a:r>
            <a:r>
              <a:rPr lang="ru-RU" dirty="0" smtClean="0"/>
              <a:t> </a:t>
            </a:r>
            <a:r>
              <a:rPr lang="ru-RU" dirty="0" err="1" smtClean="0"/>
              <a:t>жараёни</a:t>
            </a:r>
            <a:endParaRPr lang="ru-RU" sz="2800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214283" y="1214423"/>
            <a:ext cx="8715436" cy="5286412"/>
          </a:xfrm>
        </p:spPr>
        <p:txBody>
          <a:bodyPr/>
          <a:lstStyle/>
          <a:p>
            <a:pPr marL="0" indent="360363" algn="just">
              <a:buNone/>
            </a:pPr>
            <a:r>
              <a:rPr lang="ru-RU" sz="2400" dirty="0" err="1" smtClean="0"/>
              <a:t>Дешифрлаш</a:t>
            </a:r>
            <a:r>
              <a:rPr lang="ru-RU" sz="2400" dirty="0" smtClean="0"/>
              <a:t> </a:t>
            </a:r>
            <a:r>
              <a:rPr lang="ru-RU" sz="2400" dirty="0" err="1" smtClean="0"/>
              <a:t>шифрлашдан</a:t>
            </a:r>
            <a:r>
              <a:rPr lang="ru-RU" sz="2400" dirty="0" smtClean="0"/>
              <a:t> </a:t>
            </a:r>
            <a:r>
              <a:rPr lang="ru-RU" sz="2400" dirty="0" err="1" smtClean="0"/>
              <a:t>фақат</a:t>
            </a:r>
            <a:r>
              <a:rPr lang="ru-RU" sz="2400" dirty="0" smtClean="0"/>
              <a:t> </a:t>
            </a:r>
            <a:r>
              <a:rPr lang="ru-RU" sz="2400" dirty="0" err="1" smtClean="0"/>
              <a:t>инверс</a:t>
            </a:r>
            <a:r>
              <a:rPr lang="ru-RU" sz="2400" dirty="0" smtClean="0"/>
              <a:t> (</a:t>
            </a:r>
            <a:r>
              <a:rPr lang="ru-RU" sz="2400" dirty="0" err="1" smtClean="0"/>
              <a:t>тескари</a:t>
            </a:r>
            <a:r>
              <a:rPr lang="ru-RU" sz="2400" dirty="0" smtClean="0"/>
              <a:t>) </a:t>
            </a:r>
            <a:r>
              <a:rPr lang="ru-RU" sz="2400" dirty="0" err="1" smtClean="0"/>
              <a:t>алмаштириш</a:t>
            </a:r>
            <a:r>
              <a:rPr lang="ru-RU" sz="2400" dirty="0" smtClean="0"/>
              <a:t> </a:t>
            </a:r>
            <a:r>
              <a:rPr lang="ru-RU" sz="2400" dirty="0" err="1" smtClean="0"/>
              <a:t>жадвалини</a:t>
            </a:r>
            <a:r>
              <a:rPr lang="ru-RU" sz="2400" dirty="0" smtClean="0"/>
              <a:t> </a:t>
            </a:r>
            <a:r>
              <a:rPr lang="ru-RU" sz="2400" dirty="0" err="1" smtClean="0"/>
              <a:t>қўллаш</a:t>
            </a:r>
            <a:r>
              <a:rPr lang="ru-RU" sz="2400" dirty="0" smtClean="0"/>
              <a:t> </a:t>
            </a:r>
            <a:r>
              <a:rPr lang="ru-RU" sz="2400" dirty="0" err="1" smtClean="0"/>
              <a:t>билан</a:t>
            </a:r>
            <a:r>
              <a:rPr lang="ru-RU" sz="2400" dirty="0" smtClean="0"/>
              <a:t> </a:t>
            </a:r>
            <a:r>
              <a:rPr lang="ru-RU" sz="2400" dirty="0" err="1" smtClean="0"/>
              <a:t>фарқланади</a:t>
            </a:r>
            <a:r>
              <a:rPr lang="ru-RU" sz="2400" dirty="0" smtClean="0"/>
              <a:t>. </a:t>
            </a:r>
            <a:r>
              <a:rPr lang="ru-RU" sz="2400" dirty="0" err="1" smtClean="0"/>
              <a:t>Ундан</a:t>
            </a:r>
            <a:r>
              <a:rPr lang="ru-RU" sz="2400" dirty="0" smtClean="0"/>
              <a:t> </a:t>
            </a:r>
            <a:r>
              <a:rPr lang="ru-RU" sz="2400" dirty="0" err="1" smtClean="0"/>
              <a:t>ташқари</a:t>
            </a:r>
            <a:r>
              <a:rPr lang="ru-RU" sz="2400" dirty="0" smtClean="0"/>
              <a:t> </a:t>
            </a:r>
            <a:r>
              <a:rPr lang="ru-RU" sz="2400" dirty="0" err="1" smtClean="0"/>
              <a:t>тескари</a:t>
            </a:r>
            <a:r>
              <a:rPr lang="ru-RU" sz="2400" dirty="0" smtClean="0"/>
              <a:t> </a:t>
            </a:r>
            <a:r>
              <a:rPr lang="ru-RU" sz="2400" dirty="0" err="1" smtClean="0"/>
              <a:t>чизиқли</a:t>
            </a:r>
            <a:r>
              <a:rPr lang="ru-RU" sz="2400" dirty="0" smtClean="0"/>
              <a:t> </a:t>
            </a:r>
            <a:r>
              <a:rPr lang="ru-RU" sz="2400" dirty="0" err="1" smtClean="0"/>
              <a:t>акслантириш</a:t>
            </a:r>
            <a:r>
              <a:rPr lang="ru-RU" sz="2400" dirty="0" smtClean="0"/>
              <a:t> </a:t>
            </a:r>
            <a:r>
              <a:rPr lang="ru-RU" sz="2400" dirty="0" err="1" smtClean="0"/>
              <a:t>билан</a:t>
            </a:r>
            <a:r>
              <a:rPr lang="ru-RU" sz="2400" dirty="0" smtClean="0"/>
              <a:t> </a:t>
            </a:r>
            <a:r>
              <a:rPr lang="ru-RU" sz="2400" dirty="0" err="1" smtClean="0"/>
              <a:t>ҳам</a:t>
            </a:r>
            <a:r>
              <a:rPr lang="ru-RU" sz="2400" dirty="0" smtClean="0"/>
              <a:t>. </a:t>
            </a:r>
            <a:r>
              <a:rPr lang="ru-RU" sz="2400" dirty="0" err="1" smtClean="0"/>
              <a:t>Калитлар</a:t>
            </a:r>
            <a:r>
              <a:rPr lang="ru-RU" sz="2400" dirty="0" smtClean="0"/>
              <a:t> </a:t>
            </a:r>
            <a:r>
              <a:rPr lang="ru-RU" sz="2400" dirty="0" err="1" smtClean="0"/>
              <a:t>тескари</a:t>
            </a:r>
            <a:r>
              <a:rPr lang="ru-RU" sz="2400" dirty="0" smtClean="0"/>
              <a:t> </a:t>
            </a:r>
            <a:r>
              <a:rPr lang="ru-RU" sz="2400" dirty="0" err="1" smtClean="0"/>
              <a:t>тартибда</a:t>
            </a:r>
            <a:r>
              <a:rPr lang="ru-RU" sz="2400" dirty="0" smtClean="0"/>
              <a:t> </a:t>
            </a:r>
            <a:r>
              <a:rPr lang="ru-RU" sz="2400" dirty="0" err="1" smtClean="0"/>
              <a:t>берилади</a:t>
            </a:r>
            <a:r>
              <a:rPr lang="ru-RU" sz="2400" dirty="0" smtClean="0"/>
              <a:t>.</a:t>
            </a:r>
          </a:p>
          <a:p>
            <a:pPr marL="0" lvl="1" indent="360363">
              <a:lnSpc>
                <a:spcPct val="80000"/>
              </a:lnSpc>
              <a:buNone/>
            </a:pPr>
            <a:endParaRPr lang="ru-RU" sz="3200" dirty="0" smtClean="0"/>
          </a:p>
          <a:p>
            <a:pPr marL="0" lvl="1" indent="360363" algn="just">
              <a:lnSpc>
                <a:spcPct val="80000"/>
              </a:lnSpc>
              <a:buClr>
                <a:srgbClr val="FF0000"/>
              </a:buClr>
              <a:buFont typeface="+mj-lt"/>
              <a:buAutoNum type="arabicPeriod"/>
            </a:pPr>
            <a:r>
              <a:rPr lang="ru-RU" sz="2400" dirty="0" smtClean="0">
                <a:solidFill>
                  <a:schemeClr val="tx2"/>
                </a:solidFill>
              </a:rPr>
              <a:t> </a:t>
            </a:r>
            <a:r>
              <a:rPr lang="ru-RU" sz="2400" dirty="0" err="1" smtClean="0"/>
              <a:t>Инверс</a:t>
            </a:r>
            <a:r>
              <a:rPr lang="ru-RU" sz="2400" dirty="0" smtClean="0"/>
              <a:t> (</a:t>
            </a:r>
            <a:r>
              <a:rPr lang="ru-RU" sz="2400" dirty="0" err="1" smtClean="0"/>
              <a:t>тескари</a:t>
            </a:r>
            <a:r>
              <a:rPr lang="ru-RU" sz="2400" dirty="0" smtClean="0"/>
              <a:t>) </a:t>
            </a:r>
            <a:r>
              <a:rPr lang="ru-RU" sz="2400" dirty="0" err="1" smtClean="0"/>
              <a:t>алмаштириш</a:t>
            </a:r>
            <a:r>
              <a:rPr lang="ru-RU" sz="2400" dirty="0" smtClean="0"/>
              <a:t> </a:t>
            </a:r>
            <a:r>
              <a:rPr lang="ru-RU" sz="2400" dirty="0" err="1" smtClean="0"/>
              <a:t>жадвали</a:t>
            </a:r>
            <a:r>
              <a:rPr lang="ru-RU" sz="2400" dirty="0" smtClean="0"/>
              <a:t>:</a:t>
            </a:r>
          </a:p>
          <a:p>
            <a:pPr marL="0" lvl="1" indent="360363" algn="just">
              <a:lnSpc>
                <a:spcPct val="80000"/>
              </a:lnSpc>
              <a:buClr>
                <a:srgbClr val="FF0000"/>
              </a:buClr>
              <a:buFont typeface="+mj-lt"/>
              <a:buAutoNum type="arabicPeriod"/>
            </a:pPr>
            <a:endParaRPr lang="ru-RU" sz="2400" dirty="0" smtClean="0"/>
          </a:p>
          <a:p>
            <a:pPr marL="0" lvl="1" indent="360363" algn="just">
              <a:lnSpc>
                <a:spcPct val="80000"/>
              </a:lnSpc>
              <a:buClr>
                <a:srgbClr val="FF0000"/>
              </a:buClr>
              <a:buFont typeface="+mj-lt"/>
              <a:buAutoNum type="arabicPeriod"/>
            </a:pPr>
            <a:r>
              <a:rPr lang="ru-RU" sz="2400" dirty="0" smtClean="0"/>
              <a:t> </a:t>
            </a:r>
            <a:r>
              <a:rPr lang="ru-RU" sz="2400" dirty="0" err="1" smtClean="0"/>
              <a:t>Тескари</a:t>
            </a:r>
            <a:r>
              <a:rPr lang="ru-RU" sz="2400" dirty="0" smtClean="0"/>
              <a:t> </a:t>
            </a:r>
            <a:r>
              <a:rPr lang="ru-RU" sz="2400" dirty="0" err="1" smtClean="0"/>
              <a:t>чизиқли</a:t>
            </a:r>
            <a:r>
              <a:rPr lang="ru-RU" sz="2400" dirty="0" smtClean="0"/>
              <a:t> </a:t>
            </a:r>
            <a:r>
              <a:rPr lang="ru-RU" sz="2400" dirty="0" err="1" smtClean="0"/>
              <a:t>акслантириш</a:t>
            </a:r>
            <a:r>
              <a:rPr lang="ru-RU" sz="2400" dirty="0" smtClean="0"/>
              <a:t> </a:t>
            </a:r>
            <a:r>
              <a:rPr lang="en-US" sz="2400" b="1" i="1" dirty="0" smtClean="0">
                <a:solidFill>
                  <a:srgbClr val="FF0000"/>
                </a:solidFill>
              </a:rPr>
              <a:t>ILT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1" y="6537327"/>
            <a:ext cx="1643075" cy="32067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SERPENT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2" y="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88324" y="3192912"/>
            <a:ext cx="642943" cy="532090"/>
          </a:xfrm>
          <a:prstGeom prst="rect">
            <a:avLst/>
          </a:prstGeom>
          <a:noFill/>
        </p:spPr>
      </p:pic>
      <p:pic>
        <p:nvPicPr>
          <p:cNvPr id="8" name="Picture 2" descr="D:\Vyorstka\Infokrat\Infokrat-01 - InDezayn\rasm\logo-1111.t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6" y="44624"/>
            <a:ext cx="753094" cy="75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6744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ru-RU" dirty="0" err="1" smtClean="0"/>
              <a:t>Инверс</a:t>
            </a:r>
            <a:r>
              <a:rPr lang="ru-RU" dirty="0" smtClean="0"/>
              <a:t> </a:t>
            </a:r>
            <a:r>
              <a:rPr lang="ru-RU" dirty="0" err="1" smtClean="0"/>
              <a:t>алмаштириш</a:t>
            </a:r>
            <a:r>
              <a:rPr lang="ru-RU" dirty="0" smtClean="0"/>
              <a:t> </a:t>
            </a:r>
            <a:r>
              <a:rPr lang="ru-RU" dirty="0" err="1" smtClean="0"/>
              <a:t>жадвали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1" y="6537327"/>
            <a:ext cx="1643075" cy="32067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SERPENT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51620" y="1772816"/>
            <a:ext cx="7194904" cy="4212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 descr="D:\Vyorstka\Infokrat\Infokrat-01 - InDezayn\rasm\logo-1111.t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6" y="44624"/>
            <a:ext cx="753094" cy="75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3235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14283" y="512676"/>
            <a:ext cx="8715436" cy="563562"/>
          </a:xfrm>
        </p:spPr>
        <p:txBody>
          <a:bodyPr/>
          <a:lstStyle/>
          <a:p>
            <a:pPr algn="ctr"/>
            <a:r>
              <a:rPr lang="ru-RU" sz="2800" dirty="0" err="1" smtClean="0"/>
              <a:t>Тескари</a:t>
            </a:r>
            <a:r>
              <a:rPr lang="ru-RU" sz="2800" dirty="0" smtClean="0"/>
              <a:t> </a:t>
            </a:r>
            <a:r>
              <a:rPr lang="ru-RU" sz="2800" dirty="0" err="1" smtClean="0"/>
              <a:t>чизиқли</a:t>
            </a:r>
            <a:r>
              <a:rPr lang="ru-RU" sz="2800" dirty="0" smtClean="0"/>
              <a:t> </a:t>
            </a:r>
            <a:r>
              <a:rPr lang="ru-RU" sz="2800" dirty="0" err="1" smtClean="0"/>
              <a:t>акслантириш</a:t>
            </a:r>
            <a:r>
              <a:rPr lang="ru-RU" sz="2800" dirty="0" smtClean="0"/>
              <a:t> </a:t>
            </a:r>
            <a:r>
              <a:rPr lang="en-US" sz="2800" b="1" i="1" dirty="0" smtClean="0"/>
              <a:t>ILT</a:t>
            </a:r>
            <a:endParaRPr lang="ru-RU" sz="280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1" y="6537327"/>
            <a:ext cx="1643075" cy="32067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SERPENT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1434" y="1142984"/>
            <a:ext cx="8347030" cy="9027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 descr="D:\Vyorstka\Infokrat\Infokrat-01 - InDezayn\rasm\logo-1111.t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6" y="44624"/>
            <a:ext cx="753094" cy="75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2153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17166"/>
            <a:ext cx="8534400" cy="563562"/>
          </a:xfrm>
        </p:spPr>
        <p:txBody>
          <a:bodyPr/>
          <a:lstStyle/>
          <a:p>
            <a:pPr lvl="0" algn="ctr"/>
            <a:r>
              <a:rPr lang="ru-RU" sz="2400" dirty="0" smtClean="0"/>
              <a:t>4. </a:t>
            </a:r>
            <a:r>
              <a:rPr lang="ru-RU" sz="2400" dirty="0" err="1" smtClean="0"/>
              <a:t>Шифрлаш</a:t>
            </a:r>
            <a:r>
              <a:rPr lang="ru-RU" sz="2400" dirty="0" smtClean="0"/>
              <a:t> </a:t>
            </a:r>
            <a:r>
              <a:rPr lang="ru-RU" sz="2400" dirty="0" err="1" smtClean="0"/>
              <a:t>ва</a:t>
            </a:r>
            <a:r>
              <a:rPr lang="ru-RU" sz="2400" dirty="0" smtClean="0"/>
              <a:t> </a:t>
            </a:r>
            <a:r>
              <a:rPr lang="ru-RU" sz="2400" dirty="0" err="1" smtClean="0"/>
              <a:t>дешифрлаш</a:t>
            </a:r>
            <a:r>
              <a:rPr lang="ru-RU" sz="2400" dirty="0" smtClean="0"/>
              <a:t> блок </a:t>
            </a:r>
            <a:r>
              <a:rPr lang="ru-RU" sz="2400" dirty="0" err="1" smtClean="0"/>
              <a:t>схемаси</a:t>
            </a:r>
            <a:endParaRPr lang="ru-RU" sz="240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1" y="6537327"/>
            <a:ext cx="1643075" cy="32067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SERPENT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000108"/>
            <a:ext cx="4270238" cy="5857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572000" y="1000108"/>
            <a:ext cx="4173766" cy="5857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 descr="D:\Vyorstka\Infokrat\Infokrat-01 - InDezayn\rasm\logo-1111.t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6" y="44624"/>
            <a:ext cx="753094" cy="75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5898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87624" y="1124744"/>
            <a:ext cx="6622504" cy="1467594"/>
          </a:xfrm>
        </p:spPr>
        <p:txBody>
          <a:bodyPr>
            <a:normAutofit/>
          </a:bodyPr>
          <a:lstStyle/>
          <a:p>
            <a:r>
              <a:rPr lang="ru-RU" sz="8000" b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Two</a:t>
            </a:r>
            <a:r>
              <a:rPr lang="ru-RU" sz="8000" b="1" dirty="0" err="1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fish</a:t>
            </a:r>
            <a:endParaRPr lang="ru-RU" sz="8000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2636912"/>
            <a:ext cx="2511425" cy="2116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3982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525963"/>
          </a:xfrm>
        </p:spPr>
        <p:txBody>
          <a:bodyPr>
            <a:noAutofit/>
          </a:bodyPr>
          <a:lstStyle/>
          <a:p>
            <a:pPr algn="just"/>
            <a:r>
              <a:rPr lang="ru-RU" sz="22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Twofish</a:t>
            </a:r>
            <a:r>
              <a:rPr lang="ru-RU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 — </a:t>
            </a:r>
            <a:r>
              <a:rPr lang="en-US" sz="2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simmetrik</a:t>
            </a:r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shifrlash</a:t>
            </a:r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algoritm</a:t>
            </a:r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bo’lib</a:t>
            </a:r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Bryus</a:t>
            </a:r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Shnayer</a:t>
            </a:r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gruppasi</a:t>
            </a:r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tomonidan</a:t>
            </a:r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yaratilgan</a:t>
            </a:r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algn="just"/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Blok </a:t>
            </a:r>
            <a:r>
              <a:rPr lang="en-US" sz="2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uzunligi</a:t>
            </a:r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- 128 bit </a:t>
            </a:r>
          </a:p>
          <a:p>
            <a:pPr algn="just"/>
            <a:r>
              <a:rPr lang="en-US" sz="2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Kalit</a:t>
            </a:r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uzunligi</a:t>
            </a:r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– 128,192,256 bit </a:t>
            </a:r>
          </a:p>
          <a:p>
            <a:pPr algn="just"/>
            <a:r>
              <a:rPr lang="en-US" sz="2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Raundlar</a:t>
            </a:r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soni</a:t>
            </a:r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– 16 </a:t>
            </a:r>
            <a:r>
              <a:rPr lang="en-US" sz="2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raund</a:t>
            </a:r>
            <a:endParaRPr lang="en-US" sz="2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/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AES </a:t>
            </a:r>
            <a:r>
              <a:rPr lang="en-US" sz="2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konkursining</a:t>
            </a:r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2-bosqichiga </a:t>
            </a:r>
            <a:r>
              <a:rPr lang="en-US" sz="2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chiqgan</a:t>
            </a:r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5 </a:t>
            </a:r>
            <a:r>
              <a:rPr lang="en-US" sz="2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algoritmdan</a:t>
            </a:r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bittasi</a:t>
            </a:r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bo’lib</a:t>
            </a:r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u </a:t>
            </a:r>
            <a:r>
              <a:rPr lang="en-US" sz="2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Blowfish,Safer</a:t>
            </a:r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, Square </a:t>
            </a:r>
            <a:r>
              <a:rPr lang="en-US" sz="2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algoritmlari</a:t>
            </a:r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asosida</a:t>
            </a:r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yaratilgan</a:t>
            </a:r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ru-RU" sz="2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332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2110990"/>
            <a:ext cx="2074686" cy="1534034"/>
          </a:xfrm>
        </p:spPr>
        <p:txBody>
          <a:bodyPr>
            <a:normAutofit/>
          </a:bodyPr>
          <a:lstStyle/>
          <a:p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Shifrlash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b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</a:b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sxemasi</a:t>
            </a:r>
            <a:endParaRPr lang="ru-RU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26" name="Picture 2" descr="\\192.168.1.94\h\twofishh\Twofish.pn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6761"/>
            <a:ext cx="5904656" cy="67577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1459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Asosiy</a:t>
            </a:r>
            <a:r>
              <a:rPr lang="en-US" sz="32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32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akslantirishlar</a:t>
            </a:r>
            <a:endParaRPr lang="ru-RU" sz="32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075240" cy="3845024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sz="2600" b="1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Oqartirish</a:t>
                </a:r>
                <a:r>
                  <a:rPr lang="ru-RU" sz="2600" b="1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(</a:t>
                </a:r>
                <a:r>
                  <a:rPr lang="ru-RU" sz="2600" b="1" dirty="0" err="1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whitening</a:t>
                </a:r>
                <a:r>
                  <a:rPr lang="ru-RU" sz="2600" b="1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);</a:t>
                </a:r>
              </a:p>
              <a:p>
                <a:r>
                  <a:rPr lang="ru-RU" sz="2600" b="1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F</a:t>
                </a:r>
                <a:r>
                  <a:rPr lang="en-US" sz="2600" b="1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600" b="1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funksiya</a:t>
                </a:r>
                <a:r>
                  <a:rPr lang="en-US" sz="2600" b="1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ru-RU" sz="2600" b="1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; </a:t>
                </a:r>
                <a:endParaRPr lang="en-US" sz="2600" b="1" dirty="0" smtClean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892175"/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g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funksiya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:</a:t>
                </a:r>
              </a:p>
              <a:p>
                <a:pPr marL="1793875" indent="-514350">
                  <a:buFont typeface="+mj-lt"/>
                  <a:buAutoNum type="arabicPeriod"/>
                </a:pPr>
                <a:r>
                  <a:rPr lang="ru-RU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S-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blok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;</a:t>
                </a:r>
              </a:p>
              <a:p>
                <a:pPr marL="1793875" indent="-514350">
                  <a:buFont typeface="+mj-lt"/>
                  <a:buAutoNum type="arabicPeriod"/>
                </a:pPr>
                <a:r>
                  <a:rPr lang="ru-RU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MDS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matritsa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;</a:t>
                </a:r>
                <a:endParaRPr lang="ru-RU" sz="2600" dirty="0" smtClean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892175"/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Adamar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kriptoalmashtirishi</a:t>
                </a:r>
                <a:r>
                  <a:rPr lang="ru-RU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(</a:t>
                </a:r>
                <a:r>
                  <a:rPr lang="ru-RU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Pseudo-Hadamar</a:t>
                </a:r>
                <a:r>
                  <a:rPr lang="ru-RU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ru-RU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Transform</a:t>
                </a:r>
                <a:r>
                  <a:rPr lang="ru-RU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, PHT);</a:t>
                </a:r>
              </a:p>
              <a:p>
                <a:pPr marL="892175"/>
                <a14:m>
                  <m:oMath xmlns:m="http://schemas.openxmlformats.org/officeDocument/2006/math">
                    <m:sSup>
                      <m:sSupPr>
                        <m:ctrlPr>
                          <a:rPr lang="ru-RU" sz="260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ru-RU" sz="2600" i="1" dirty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ru-RU" sz="2600" i="1" dirty="0">
                            <a:latin typeface="Cambria Math"/>
                          </a:rPr>
                          <m:t>32</m:t>
                        </m:r>
                      </m:sup>
                    </m:sSup>
                  </m:oMath>
                </a14:m>
                <a:r>
                  <a:rPr lang="en-US" sz="2600" b="1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modul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bo’yicha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qo’shish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;</a:t>
                </a:r>
                <a:endParaRPr lang="en-US" sz="2600" b="1" dirty="0" smtClean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892175"/>
                <a:r>
                  <a:rPr lang="en-US" sz="2600" b="1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XOR;</a:t>
                </a:r>
              </a:p>
              <a:p>
                <a:pPr marL="354013"/>
                <a:r>
                  <a:rPr lang="en-US" sz="2600" b="1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Siklik</a:t>
                </a:r>
                <a:r>
                  <a:rPr lang="en-US" sz="2600" b="1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600" b="1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surish</a:t>
                </a:r>
                <a:r>
                  <a:rPr lang="en-US" sz="2600" b="1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;</a:t>
                </a:r>
              </a:p>
              <a:p>
                <a:r>
                  <a:rPr lang="en-US" sz="2600" b="1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h </a:t>
                </a:r>
                <a:r>
                  <a:rPr lang="en-US" sz="2600" b="1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funksiya</a:t>
                </a:r>
                <a:r>
                  <a:rPr lang="en-US" sz="2600" b="1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;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075240" cy="3845024"/>
              </a:xfrm>
              <a:blipFill rotWithShape="1">
                <a:blip r:embed="rId2"/>
                <a:stretch>
                  <a:fillRect l="-830" t="-25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0977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Oqartirish</a:t>
            </a:r>
            <a:r>
              <a:rPr lang="ru-RU" sz="32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(</a:t>
            </a:r>
            <a:r>
              <a:rPr lang="ru-RU" sz="32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whitening</a:t>
            </a:r>
            <a:r>
              <a:rPr lang="ru-RU" sz="32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)</a:t>
            </a:r>
            <a:endParaRPr lang="ru-RU" sz="3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err="1" smtClean="0"/>
              <a:t>Oqartirish</a:t>
            </a:r>
            <a:r>
              <a:rPr lang="ru-RU" dirty="0" smtClean="0"/>
              <a:t> — </a:t>
            </a:r>
            <a:r>
              <a:rPr lang="en-US" dirty="0" err="1" smtClean="0"/>
              <a:t>bu</a:t>
            </a:r>
            <a:r>
              <a:rPr lang="en-US" dirty="0" smtClean="0"/>
              <a:t> </a:t>
            </a:r>
            <a:r>
              <a:rPr lang="en-US" dirty="0" err="1" smtClean="0"/>
              <a:t>oddiy</a:t>
            </a:r>
            <a:r>
              <a:rPr lang="en-US" dirty="0" smtClean="0"/>
              <a:t> </a:t>
            </a:r>
            <a:r>
              <a:rPr lang="en-US" dirty="0" err="1" smtClean="0"/>
              <a:t>xorlash</a:t>
            </a:r>
            <a:r>
              <a:rPr lang="en-US" dirty="0" smtClean="0"/>
              <a:t> </a:t>
            </a:r>
            <a:r>
              <a:rPr lang="en-US" dirty="0" err="1" smtClean="0"/>
              <a:t>bo’lib</a:t>
            </a:r>
            <a:r>
              <a:rPr lang="en-US" dirty="0" smtClean="0"/>
              <a:t>  </a:t>
            </a:r>
            <a:r>
              <a:rPr lang="en-US" dirty="0" err="1" smtClean="0"/>
              <a:t>birinchi</a:t>
            </a:r>
            <a:r>
              <a:rPr lang="en-US" dirty="0" smtClean="0"/>
              <a:t> </a:t>
            </a:r>
            <a:r>
              <a:rPr lang="en-US" dirty="0" err="1" smtClean="0"/>
              <a:t>va</a:t>
            </a:r>
            <a:r>
              <a:rPr lang="en-US" dirty="0" smtClean="0"/>
              <a:t> </a:t>
            </a:r>
            <a:r>
              <a:rPr lang="en-US" dirty="0" err="1" smtClean="0"/>
              <a:t>oxirgi</a:t>
            </a:r>
            <a:r>
              <a:rPr lang="en-US" dirty="0" smtClean="0"/>
              <a:t> </a:t>
            </a:r>
            <a:r>
              <a:rPr lang="en-US" dirty="0" err="1" smtClean="0"/>
              <a:t>raundlarda</a:t>
            </a:r>
            <a:r>
              <a:rPr lang="en-US" dirty="0" smtClean="0"/>
              <a:t> </a:t>
            </a:r>
            <a:r>
              <a:rPr lang="en-US" dirty="0" err="1" smtClean="0"/>
              <a:t>bajariladi</a:t>
            </a:r>
            <a:r>
              <a:rPr lang="en-US" dirty="0" smtClean="0"/>
              <a:t>.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27" y="2996952"/>
            <a:ext cx="8117265" cy="10081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657" y="4941168"/>
            <a:ext cx="8169635" cy="11521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3187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52934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G </a:t>
            </a:r>
            <a:r>
              <a:rPr lang="en-US" sz="3200" b="1" dirty="0" err="1" smtClean="0"/>
              <a:t>funksiyasi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08720"/>
                <a:ext cx="8075240" cy="3240360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sz="2200" b="1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G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funksiyasi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200" b="1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twofish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algoritmining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asosiy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funksiyalaridan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biri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.</a:t>
                </a:r>
                <a:r>
                  <a:rPr lang="ru-RU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Funksiya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kirishiga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32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bitli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X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kiradi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, u 4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baytga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ru-RU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x0, x1, x2, x3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ga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ajratiladi</a:t>
                </a:r>
                <a:r>
                  <a:rPr lang="ru-RU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.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So’ngra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har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bir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bayt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S-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bloklardan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o’tkaziladi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. </a:t>
                </a:r>
                <a:r>
                  <a:rPr lang="ru-RU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(Следует отметить, что S-</a:t>
                </a:r>
                <a:r>
                  <a:rPr lang="ru-RU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box’ы</a:t>
                </a:r>
                <a:r>
                  <a:rPr lang="ru-RU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в алгоритме не фиксированы, а зависят от ключа). 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S-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blokdan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chiquvchi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4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bayt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vektorning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komponentalari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sifatida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MDS 4x4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matritsaga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chekli</a:t>
                </a:r>
                <a:r>
                  <a:rPr lang="en-US" sz="22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GF(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2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ru-RU" sz="2200" i="1">
                            <a:latin typeface="Cambria Math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sz="22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) 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Galua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maydonida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200" b="1" i="1">
                            <a:latin typeface="Cambria Math"/>
                          </a:rPr>
                        </m:ctrlPr>
                      </m:sSupPr>
                      <m:e>
                        <m:r>
                          <a:rPr lang="ru-RU" sz="2200" b="1" i="1">
                            <a:latin typeface="Cambria Math"/>
                          </a:rPr>
                          <m:t> х</m:t>
                        </m:r>
                      </m:e>
                      <m:sup>
                        <m:r>
                          <a:rPr lang="ru-RU" sz="2200" b="1" i="1">
                            <a:latin typeface="Cambria Math"/>
                          </a:rPr>
                          <m:t>𝟖</m:t>
                        </m:r>
                      </m:sup>
                    </m:sSup>
                    <m:r>
                      <a:rPr lang="ru-RU" sz="2200" b="1" i="1">
                        <a:latin typeface="Cambria Math"/>
                      </a:rPr>
                      <m:t>+ </m:t>
                    </m:r>
                    <m:sSup>
                      <m:sSupPr>
                        <m:ctrlPr>
                          <a:rPr lang="ru-RU" sz="2200" b="1" i="1">
                            <a:latin typeface="Cambria Math"/>
                          </a:rPr>
                        </m:ctrlPr>
                      </m:sSupPr>
                      <m:e>
                        <m:r>
                          <a:rPr lang="ru-RU" sz="2200" b="1" i="1">
                            <a:latin typeface="Cambria Math"/>
                          </a:rPr>
                          <m:t>х</m:t>
                        </m:r>
                      </m:e>
                      <m:sup>
                        <m:r>
                          <a:rPr lang="ru-RU" sz="2200" b="1" i="1">
                            <a:latin typeface="Cambria Math"/>
                          </a:rPr>
                          <m:t>𝟔</m:t>
                        </m:r>
                      </m:sup>
                    </m:sSup>
                    <m:r>
                      <a:rPr lang="ru-RU" sz="2200" b="1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ru-RU" sz="2200" b="1" i="1">
                            <a:latin typeface="Cambria Math"/>
                          </a:rPr>
                        </m:ctrlPr>
                      </m:sSupPr>
                      <m:e>
                        <m:r>
                          <a:rPr lang="ru-RU" sz="2200" b="1" i="1">
                            <a:latin typeface="Cambria Math"/>
                          </a:rPr>
                          <m:t>х</m:t>
                        </m:r>
                      </m:e>
                      <m:sup>
                        <m:r>
                          <a:rPr lang="ru-RU" sz="2200" b="1" i="1">
                            <a:latin typeface="Cambria Math"/>
                          </a:rPr>
                          <m:t>𝟓</m:t>
                        </m:r>
                      </m:sup>
                    </m:sSup>
                    <m:r>
                      <a:rPr lang="ru-RU" sz="2200" b="1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ru-RU" sz="2200" b="1" i="1">
                            <a:latin typeface="Cambria Math"/>
                          </a:rPr>
                        </m:ctrlPr>
                      </m:sSupPr>
                      <m:e>
                        <m:r>
                          <a:rPr lang="ru-RU" sz="2200" b="1" i="1">
                            <a:latin typeface="Cambria Math"/>
                          </a:rPr>
                          <m:t>х</m:t>
                        </m:r>
                      </m:e>
                      <m:sup>
                        <m:r>
                          <a:rPr lang="ru-RU" sz="2200" b="1" i="1">
                            <a:latin typeface="Cambria Math"/>
                          </a:rPr>
                          <m:t>𝟑</m:t>
                        </m:r>
                      </m:sup>
                    </m:sSup>
                    <m:r>
                      <a:rPr lang="ru-RU" sz="2200" b="1" i="1">
                        <a:latin typeface="Cambria Math"/>
                      </a:rPr>
                      <m:t>+</m:t>
                    </m:r>
                  </m:oMath>
                </a14:m>
                <a:r>
                  <a:rPr lang="ru-RU" sz="2200" b="1" i="1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1</a:t>
                </a:r>
                <a:r>
                  <a:rPr lang="en-US" sz="2200" b="1" i="1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modul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bo’yicha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2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ko’paytiriladi</a:t>
                </a:r>
                <a:r>
                  <a:rPr lang="en-US" sz="22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. </a:t>
                </a:r>
              </a:p>
              <a:p>
                <a:pPr marL="0" indent="0" algn="just">
                  <a:buNone/>
                </a:pPr>
                <a:endParaRPr lang="en-US" dirty="0" smtClean="0"/>
              </a:p>
              <a:p>
                <a:pPr marL="0" indent="0" algn="just">
                  <a:buNone/>
                </a:pPr>
                <a:endParaRPr lang="en-US" dirty="0" smtClean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endParaRPr lang="en-US" dirty="0" smtClean="0"/>
              </a:p>
              <a:p>
                <a:pPr algn="just"/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08720"/>
                <a:ext cx="8075240" cy="3240360"/>
              </a:xfrm>
              <a:blipFill rotWithShape="1">
                <a:blip r:embed="rId2"/>
                <a:stretch>
                  <a:fillRect l="-906" t="-940" r="-981" b="-1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3933056"/>
            <a:ext cx="4345946" cy="25629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4356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19256" cy="922114"/>
          </a:xfrm>
        </p:spPr>
        <p:txBody>
          <a:bodyPr>
            <a:noAutofit/>
          </a:bodyPr>
          <a:lstStyle/>
          <a:p>
            <a:r>
              <a:rPr lang="en-US" sz="24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Adamar</a:t>
            </a:r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kriptoalmashtirishi</a:t>
            </a:r>
            <a:r>
              <a:rPr lang="ru-RU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(</a:t>
            </a:r>
            <a:r>
              <a:rPr lang="ru-RU" sz="24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Pseudo-Hadamar</a:t>
            </a:r>
            <a:r>
              <a:rPr lang="ru-RU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ru-RU" sz="24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Transform</a:t>
            </a:r>
            <a:r>
              <a:rPr lang="ru-RU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, PHT)</a:t>
            </a:r>
            <a:endParaRPr lang="ru-RU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1412776"/>
                <a:ext cx="8229600" cy="4525963"/>
              </a:xfrm>
            </p:spPr>
            <p:txBody>
              <a:bodyPr>
                <a:normAutofit fontScale="92500"/>
              </a:bodyPr>
              <a:lstStyle/>
              <a:p>
                <a:pPr marL="0" indent="0" algn="just">
                  <a:buNone/>
                </a:pPr>
                <a:r>
                  <a:rPr lang="en-US" sz="2400" b="1" dirty="0" err="1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Adamar</a:t>
                </a:r>
                <a:r>
                  <a:rPr lang="en-US" sz="2400" b="1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b="1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kriptoalmashtirishi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–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uzunligi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2n bit 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bo’lgan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satrlar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ustida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teskari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almashtirish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hisoblanadi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.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Satr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2ta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uzunliklari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n bit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ga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teng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bo’lgan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a,b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ga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bo’linadi</a:t>
                </a:r>
                <a:r>
                  <a:rPr lang="en-US" sz="2400" b="1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</a:p>
              <a:p>
                <a:pPr marL="0" indent="0" algn="just">
                  <a:buNone/>
                </a:pPr>
                <a:endParaRPr lang="en-US" sz="2400" b="1" dirty="0" smtClean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0" indent="0" algn="just">
                  <a:buNone/>
                </a:pPr>
                <a:r>
                  <a:rPr lang="en-US" sz="2400" b="1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Almashtirish</a:t>
                </a:r>
                <a:r>
                  <a:rPr lang="en-US" sz="2400" b="1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quyidagicha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hisoblanadi</a:t>
                </a:r>
                <a:endParaRPr lang="en-US" sz="2400" dirty="0" smtClean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400" b="1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/>
                            </a:rPr>
                            <m:t>𝒂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400" b="1" i="1" smtClean="0">
                          <a:latin typeface="Cambria Math"/>
                        </a:rPr>
                        <m:t>=</m:t>
                      </m:r>
                      <m:r>
                        <a:rPr lang="en-US" sz="2400" b="1" i="1" smtClean="0">
                          <a:latin typeface="Cambria Math"/>
                        </a:rPr>
                        <m:t>𝒂</m:t>
                      </m:r>
                      <m:r>
                        <a:rPr lang="en-US" sz="2400" b="1" i="1" smtClean="0">
                          <a:latin typeface="Cambria Math"/>
                        </a:rPr>
                        <m:t>+</m:t>
                      </m:r>
                      <m:r>
                        <a:rPr lang="en-US" sz="2400" b="1" i="1" smtClean="0">
                          <a:latin typeface="Cambria Math"/>
                        </a:rPr>
                        <m:t>𝒃</m:t>
                      </m:r>
                      <m:r>
                        <a:rPr lang="en-US" sz="2400" b="1" i="1" smtClean="0">
                          <a:latin typeface="Cambria Math"/>
                        </a:rPr>
                        <m:t> (</m:t>
                      </m:r>
                      <m:r>
                        <a:rPr lang="en-US" sz="2400" b="1" i="1" smtClean="0">
                          <a:latin typeface="Cambria Math"/>
                        </a:rPr>
                        <m:t>𝒎𝒐𝒅</m:t>
                      </m:r>
                      <m:r>
                        <a:rPr lang="en-US" sz="2400" b="1" i="1" smtClean="0"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US" sz="2400" b="1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/>
                            </a:rPr>
                            <m:t>𝒏</m:t>
                          </m:r>
                        </m:sup>
                      </m:sSup>
                      <m:r>
                        <a:rPr lang="en-US" sz="24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b="1" dirty="0" smtClean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400" b="1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/>
                            </a:rPr>
                            <m:t>𝒃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400" b="1" i="1" smtClean="0">
                          <a:latin typeface="Cambria Math"/>
                        </a:rPr>
                        <m:t>=</m:t>
                      </m:r>
                      <m:r>
                        <a:rPr lang="en-US" sz="2400" b="1" i="1" smtClean="0">
                          <a:latin typeface="Cambria Math"/>
                        </a:rPr>
                        <m:t>𝒂</m:t>
                      </m:r>
                      <m:r>
                        <a:rPr lang="en-US" sz="2400" b="1" i="1" smtClean="0">
                          <a:latin typeface="Cambria Math"/>
                        </a:rPr>
                        <m:t>+</m:t>
                      </m:r>
                      <m:r>
                        <a:rPr lang="en-US" sz="2400" b="1" i="1" smtClean="0">
                          <a:latin typeface="Cambria Math"/>
                        </a:rPr>
                        <m:t>𝟐</m:t>
                      </m:r>
                      <m:r>
                        <a:rPr lang="en-US" sz="2400" b="1" i="1" smtClean="0">
                          <a:latin typeface="Cambria Math"/>
                        </a:rPr>
                        <m:t>𝒃</m:t>
                      </m:r>
                      <m:r>
                        <a:rPr lang="en-US" sz="2400" b="1" i="1" smtClean="0">
                          <a:latin typeface="Cambria Math"/>
                        </a:rPr>
                        <m:t> (</m:t>
                      </m:r>
                      <m:r>
                        <a:rPr lang="en-US" sz="2400" b="1" i="1" smtClean="0">
                          <a:latin typeface="Cambria Math"/>
                        </a:rPr>
                        <m:t>𝒎𝒐𝒅</m:t>
                      </m:r>
                      <m:r>
                        <a:rPr lang="en-US" sz="2400" b="1" i="1" smtClean="0"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US" sz="2400" b="1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/>
                            </a:rPr>
                            <m:t>𝒏</m:t>
                          </m:r>
                        </m:sup>
                      </m:sSup>
                      <m:r>
                        <a:rPr lang="en-US" sz="24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b="1" dirty="0" smtClean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0" indent="0" algn="just">
                  <a:buNone/>
                </a:pPr>
                <a:endParaRPr lang="ru-RU" sz="2400" b="1" dirty="0" smtClean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0" indent="0" algn="just">
                  <a:buNone/>
                </a:pP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Twofish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algoritmida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bu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almashtirish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2 ta g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funksiyadan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chiqgan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natijalarni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aralashtirish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uchun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ishlatiladi</a:t>
                </a:r>
                <a:r>
                  <a:rPr lang="ru-RU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(n = 32).</a:t>
                </a:r>
              </a:p>
              <a:p>
                <a:pPr algn="just"/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1412776"/>
                <a:ext cx="8229600" cy="4525963"/>
              </a:xfrm>
              <a:blipFill rotWithShape="1">
                <a:blip r:embed="rId2"/>
                <a:stretch>
                  <a:fillRect l="-1185" t="-674" r="-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5153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47248" cy="634082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1 </a:t>
            </a:r>
            <a:r>
              <a:rPr lang="en-US" sz="28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bitga</a:t>
            </a:r>
            <a:r>
              <a:rPr lang="en-US" sz="28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8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siklik</a:t>
            </a:r>
            <a:r>
              <a:rPr lang="en-US" sz="28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8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surish</a:t>
            </a:r>
            <a:endParaRPr lang="ru-RU" sz="28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1124745"/>
            <a:ext cx="8229600" cy="172819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Har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bir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raundda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2 ta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o’ng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32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bitlik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blok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F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funksiya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natijasiga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xorlanadi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va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1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bitga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siklik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suriladi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3-blok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xorlangandan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keyin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4-blok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xorlashdan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oldin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suriladi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</a:t>
            </a:r>
            <a:r>
              <a:rPr lang="ru-RU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636912"/>
            <a:ext cx="2542406" cy="38136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6929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274638"/>
            <a:ext cx="8147248" cy="706090"/>
          </a:xfrm>
        </p:spPr>
        <p:txBody>
          <a:bodyPr>
            <a:normAutofit/>
          </a:bodyPr>
          <a:lstStyle/>
          <a:p>
            <a:r>
              <a:rPr lang="en-US" sz="24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Kalitlar</a:t>
            </a:r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generatsiyasi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196752"/>
            <a:ext cx="8640960" cy="51845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/>
              <a:t>M-</a:t>
            </a:r>
            <a:r>
              <a:rPr lang="en-US" sz="2400" dirty="0" err="1" smtClean="0"/>
              <a:t>berilgan</a:t>
            </a:r>
            <a:r>
              <a:rPr lang="en-US" sz="2400" dirty="0" smtClean="0"/>
              <a:t> </a:t>
            </a:r>
            <a:r>
              <a:rPr lang="en-US" sz="2400" dirty="0" err="1" smtClean="0"/>
              <a:t>boshlang’ich</a:t>
            </a:r>
            <a:r>
              <a:rPr lang="en-US" sz="2400" dirty="0" smtClean="0"/>
              <a:t> </a:t>
            </a:r>
            <a:r>
              <a:rPr lang="en-US" sz="2400" dirty="0" err="1" smtClean="0"/>
              <a:t>kalit</a:t>
            </a:r>
            <a:r>
              <a:rPr lang="ru-RU" sz="2400" dirty="0" smtClean="0"/>
              <a:t>, </a:t>
            </a:r>
            <a:r>
              <a:rPr lang="ru-RU" sz="2400" dirty="0"/>
              <a:t>N — </a:t>
            </a:r>
            <a:r>
              <a:rPr lang="en-US" sz="2400" dirty="0" err="1" smtClean="0"/>
              <a:t>uning</a:t>
            </a:r>
            <a:r>
              <a:rPr lang="en-US" sz="2400" dirty="0" smtClean="0"/>
              <a:t> </a:t>
            </a:r>
            <a:r>
              <a:rPr lang="en-US" sz="2400" dirty="0" err="1" smtClean="0"/>
              <a:t>bitlardagi</a:t>
            </a:r>
            <a:r>
              <a:rPr lang="en-US" sz="2400" dirty="0" smtClean="0"/>
              <a:t> </a:t>
            </a:r>
            <a:r>
              <a:rPr lang="en-US" sz="2400" dirty="0" err="1" smtClean="0"/>
              <a:t>uzunligi</a:t>
            </a:r>
            <a:r>
              <a:rPr lang="ru-RU" sz="2400" smtClean="0"/>
              <a:t>. </a:t>
            </a:r>
            <a:endParaRPr lang="ru-RU" sz="2400" dirty="0"/>
          </a:p>
          <a:p>
            <a:pPr marL="0" indent="0">
              <a:buNone/>
            </a:pPr>
            <a:r>
              <a:rPr lang="en-US" sz="2400" dirty="0" smtClean="0"/>
              <a:t>M  </a:t>
            </a:r>
            <a:r>
              <a:rPr lang="ru-RU" sz="2400" dirty="0" smtClean="0"/>
              <a:t>8*k </a:t>
            </a:r>
            <a:r>
              <a:rPr lang="en-US" sz="2400" dirty="0" err="1" smtClean="0"/>
              <a:t>baytga</a:t>
            </a:r>
            <a:r>
              <a:rPr lang="en-US" sz="2400" dirty="0" smtClean="0"/>
              <a:t> </a:t>
            </a:r>
            <a:r>
              <a:rPr lang="en-US" sz="2400" dirty="0" err="1" smtClean="0"/>
              <a:t>ajratiladi</a:t>
            </a:r>
            <a:r>
              <a:rPr lang="ru-RU" sz="2400" dirty="0" smtClean="0"/>
              <a:t> </a:t>
            </a:r>
            <a:r>
              <a:rPr lang="ru-RU" sz="2400" dirty="0"/>
              <a:t>, </a:t>
            </a:r>
            <a:r>
              <a:rPr lang="en-US" sz="2400" dirty="0" err="1" smtClean="0"/>
              <a:t>bu</a:t>
            </a:r>
            <a:r>
              <a:rPr lang="en-US" sz="2400" dirty="0" smtClean="0"/>
              <a:t> </a:t>
            </a:r>
            <a:r>
              <a:rPr lang="en-US" sz="2400" dirty="0" err="1" smtClean="0"/>
              <a:t>yerda</a:t>
            </a:r>
            <a:r>
              <a:rPr lang="en-US" sz="2400" dirty="0" smtClean="0"/>
              <a:t> </a:t>
            </a:r>
            <a:r>
              <a:rPr lang="ru-RU" sz="2400" dirty="0" smtClean="0"/>
              <a:t> </a:t>
            </a:r>
            <a:r>
              <a:rPr lang="ru-RU" sz="2400" dirty="0"/>
              <a:t>k = N / 64.</a:t>
            </a:r>
          </a:p>
          <a:p>
            <a:pPr marL="0" indent="0">
              <a:buNone/>
            </a:pPr>
            <a:r>
              <a:rPr lang="en-US" sz="2400" dirty="0" smtClean="0"/>
              <a:t>8*k </a:t>
            </a:r>
            <a:r>
              <a:rPr lang="en-US" sz="2400" dirty="0" err="1" smtClean="0"/>
              <a:t>bayt</a:t>
            </a:r>
            <a:r>
              <a:rPr lang="en-US" sz="2400" dirty="0" smtClean="0"/>
              <a:t> 4 </a:t>
            </a:r>
            <a:r>
              <a:rPr lang="en-US" sz="2400" dirty="0" err="1" smtClean="0"/>
              <a:t>so’z</a:t>
            </a:r>
            <a:r>
              <a:rPr lang="en-US" sz="2400" dirty="0" smtClean="0"/>
              <a:t> </a:t>
            </a:r>
            <a:r>
              <a:rPr lang="en-US" sz="2400" dirty="0" err="1" smtClean="0"/>
              <a:t>baytga</a:t>
            </a:r>
            <a:r>
              <a:rPr lang="en-US" sz="2400" dirty="0" smtClean="0"/>
              <a:t> </a:t>
            </a:r>
            <a:r>
              <a:rPr lang="en-US" sz="2400" dirty="0" err="1" smtClean="0"/>
              <a:t>ajratiladi</a:t>
            </a:r>
            <a:r>
              <a:rPr lang="en-US" sz="2400" dirty="0" smtClean="0"/>
              <a:t> </a:t>
            </a:r>
            <a:r>
              <a:rPr lang="en-US" sz="2400" dirty="0" err="1" smtClean="0"/>
              <a:t>va</a:t>
            </a:r>
            <a:r>
              <a:rPr lang="en-US" sz="2400" dirty="0" smtClean="0"/>
              <a:t> </a:t>
            </a:r>
            <a:r>
              <a:rPr lang="en-US" sz="2400" dirty="0" err="1" smtClean="0"/>
              <a:t>har</a:t>
            </a:r>
            <a:r>
              <a:rPr lang="en-US" sz="2400" dirty="0" smtClean="0"/>
              <a:t> </a:t>
            </a:r>
            <a:r>
              <a:rPr lang="en-US" sz="2400" dirty="0" err="1" smtClean="0"/>
              <a:t>bir</a:t>
            </a:r>
            <a:r>
              <a:rPr lang="en-US" sz="2400" dirty="0" smtClean="0"/>
              <a:t> </a:t>
            </a:r>
            <a:r>
              <a:rPr lang="en-US" sz="2400" dirty="0" err="1" smtClean="0"/>
              <a:t>so’z</a:t>
            </a:r>
            <a:r>
              <a:rPr lang="en-US" sz="2400" dirty="0" smtClean="0"/>
              <a:t> </a:t>
            </a:r>
            <a:r>
              <a:rPr lang="en-US" sz="2400" dirty="0" err="1" smtClean="0"/>
              <a:t>bayt</a:t>
            </a:r>
            <a:r>
              <a:rPr lang="en-US" sz="2400" dirty="0" smtClean="0"/>
              <a:t>  </a:t>
            </a:r>
            <a:r>
              <a:rPr lang="en-US" sz="2400" dirty="0" err="1" smtClean="0"/>
              <a:t>teskari</a:t>
            </a:r>
            <a:r>
              <a:rPr lang="en-US" sz="2400" dirty="0" smtClean="0"/>
              <a:t> </a:t>
            </a:r>
            <a:r>
              <a:rPr lang="en-US" sz="2400" dirty="0" err="1" smtClean="0"/>
              <a:t>tartibda</a:t>
            </a:r>
            <a:r>
              <a:rPr lang="en-US" sz="2400" dirty="0" smtClean="0"/>
              <a:t> </a:t>
            </a:r>
            <a:r>
              <a:rPr lang="en-US" sz="2400" dirty="0" err="1" smtClean="0"/>
              <a:t>joylashtiriladi</a:t>
            </a:r>
            <a:r>
              <a:rPr lang="en-US" sz="2400" dirty="0" smtClean="0"/>
              <a:t>.</a:t>
            </a:r>
            <a:r>
              <a:rPr lang="ru-RU" sz="2400" dirty="0" smtClean="0"/>
              <a:t> </a:t>
            </a:r>
            <a:r>
              <a:rPr lang="en-US" sz="2400" dirty="0" smtClean="0"/>
              <a:t> </a:t>
            </a:r>
            <a:r>
              <a:rPr lang="en-US" sz="2400" dirty="0" err="1" smtClean="0"/>
              <a:t>Yakunida</a:t>
            </a:r>
            <a:r>
              <a:rPr lang="en-US" sz="2400" dirty="0" smtClean="0"/>
              <a:t> </a:t>
            </a:r>
            <a:r>
              <a:rPr lang="ru-RU" sz="2400" dirty="0" smtClean="0"/>
              <a:t>2*k </a:t>
            </a:r>
            <a:r>
              <a:rPr lang="en-US" sz="2400" dirty="0" smtClean="0"/>
              <a:t> </a:t>
            </a:r>
            <a:r>
              <a:rPr lang="ru-RU" sz="2400" dirty="0" smtClean="0"/>
              <a:t>32-</a:t>
            </a:r>
            <a:r>
              <a:rPr lang="en-US" sz="2400" dirty="0" err="1" smtClean="0"/>
              <a:t>bitlik</a:t>
            </a:r>
            <a:r>
              <a:rPr lang="en-US" sz="2400" dirty="0" smtClean="0"/>
              <a:t> </a:t>
            </a:r>
            <a:r>
              <a:rPr lang="en-US" sz="2400" dirty="0" err="1" smtClean="0"/>
              <a:t>so’zga</a:t>
            </a:r>
            <a:r>
              <a:rPr lang="en-US" sz="2400" dirty="0" smtClean="0"/>
              <a:t> </a:t>
            </a:r>
            <a:r>
              <a:rPr lang="en-US" sz="2400" dirty="0" err="1" smtClean="0"/>
              <a:t>ega</a:t>
            </a:r>
            <a:r>
              <a:rPr lang="en-US" sz="2400" dirty="0" smtClean="0"/>
              <a:t> </a:t>
            </a:r>
            <a:r>
              <a:rPr lang="en-US" sz="2400" dirty="0" err="1" smtClean="0"/>
              <a:t>bo’linadi</a:t>
            </a:r>
            <a:r>
              <a:rPr lang="en-US" sz="2400" dirty="0" smtClean="0"/>
              <a:t>. </a:t>
            </a:r>
            <a:r>
              <a:rPr lang="en-US" sz="2400" dirty="0" err="1" smtClean="0"/>
              <a:t>Mi</a:t>
            </a:r>
            <a:r>
              <a:rPr lang="en-US" sz="2400" dirty="0" smtClean="0"/>
              <a:t>=Me||Mo </a:t>
            </a:r>
            <a:r>
              <a:rPr lang="ru-RU" sz="2400" dirty="0" smtClean="0"/>
              <a:t> </a:t>
            </a:r>
            <a:endParaRPr lang="ru-RU" sz="23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2053120"/>
            <a:ext cx="2001822" cy="387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7391" y="3861048"/>
            <a:ext cx="5412596" cy="10081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4376" y="5301206"/>
            <a:ext cx="4700027" cy="10272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4365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404664"/>
            <a:ext cx="8291264" cy="57214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i-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raund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uchun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quyidagi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formulalar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hisoblanadi</a:t>
            </a:r>
            <a:endParaRPr lang="ru-RU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196752"/>
            <a:ext cx="6373953" cy="23212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398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363272" cy="117929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128 </a:t>
            </a:r>
            <a:r>
              <a:rPr lang="en-US" sz="2400" b="1" dirty="0" err="1" smtClean="0"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bitli</a:t>
            </a:r>
            <a:r>
              <a:rPr lang="en-US" sz="2400" b="1" dirty="0" smtClean="0"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b="1" dirty="0" err="1" smtClean="0"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kalit</a:t>
            </a:r>
            <a:r>
              <a:rPr lang="en-US" sz="2400" b="1" dirty="0" smtClean="0"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b="1" dirty="0" err="1" smtClean="0"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uchun</a:t>
            </a:r>
            <a:r>
              <a:rPr lang="en-US" sz="2400" b="1" dirty="0" smtClean="0"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 </a:t>
            </a:r>
            <a:r>
              <a:rPr lang="en-US" sz="2400" b="1" dirty="0" err="1" smtClean="0"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bir</a:t>
            </a:r>
            <a:r>
              <a:rPr lang="en-US" sz="2400" b="1" dirty="0" smtClean="0"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b="1" dirty="0" err="1" smtClean="0"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raund</a:t>
            </a:r>
            <a:r>
              <a:rPr lang="en-US" sz="2400" b="1" dirty="0" smtClean="0"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b="1" dirty="0" err="1" smtClean="0"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uchun</a:t>
            </a:r>
            <a:r>
              <a:rPr lang="en-US" sz="2400" b="1" dirty="0" smtClean="0"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b="1" dirty="0" err="1" smtClean="0"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shifrlash</a:t>
            </a:r>
            <a:r>
              <a:rPr lang="en-US" sz="2400" b="1" dirty="0" smtClean="0"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b="1" dirty="0" err="1" smtClean="0"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sxemasi</a:t>
            </a:r>
            <a:endParaRPr lang="ru-RU" sz="24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2050" name="Picture 2" descr="\\192.168.1.94\h\twofishh\Twofish_roun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196752"/>
            <a:ext cx="6255073" cy="54760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8624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16632"/>
            <a:ext cx="8229600" cy="850106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H </a:t>
            </a:r>
            <a:r>
              <a:rPr lang="en-US" sz="28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funksiya</a:t>
            </a:r>
            <a:endParaRPr lang="ru-RU" sz="28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980729"/>
                <a:ext cx="8136904" cy="3672407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Funksiya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k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qadamda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bajariladi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. 256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bitli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kalit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uchun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4, 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192 </a:t>
                </a:r>
                <a:r>
                  <a:rPr lang="en-US" sz="2400" dirty="0" err="1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bitli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kalit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uchun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3,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128 </a:t>
                </a:r>
                <a:r>
                  <a:rPr lang="en-US" sz="2400" dirty="0" err="1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bitli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kalit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uchun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2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qadamdan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iborat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.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Har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bir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qadamda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kirish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4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baytdan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iborat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.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Har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bir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bayt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fiksirlangan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q0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yoki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q1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almashtirish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dan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iborat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.</a:t>
                </a:r>
                <a:endParaRPr lang="en-US" sz="24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0" indent="0" algn="just">
                  <a:buNone/>
                </a:pP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Chiquvchi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4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bayt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MDS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matritsaga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ru-RU" sz="2400" b="1" i="1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GF(2</a:t>
                </a:r>
                <a:r>
                  <a:rPr lang="ru-RU" sz="2400" b="1" i="1" baseline="30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8</a:t>
                </a:r>
                <a:r>
                  <a:rPr lang="ru-RU" sz="2400" b="1" i="1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)</a:t>
                </a:r>
                <a:r>
                  <a:rPr lang="en-US" sz="2400" b="1" i="1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i="1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galua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maydonida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b="1" i="1">
                            <a:latin typeface="Cambria Math"/>
                          </a:rPr>
                        </m:ctrlPr>
                      </m:sSupPr>
                      <m:e>
                        <m:r>
                          <a:rPr lang="ru-RU" sz="2400" b="1" i="1">
                            <a:latin typeface="Cambria Math"/>
                          </a:rPr>
                          <m:t> х</m:t>
                        </m:r>
                      </m:e>
                      <m:sup>
                        <m:r>
                          <a:rPr lang="ru-RU" sz="2400" b="1" i="1">
                            <a:latin typeface="Cambria Math"/>
                          </a:rPr>
                          <m:t>𝟖</m:t>
                        </m:r>
                      </m:sup>
                    </m:sSup>
                    <m:r>
                      <a:rPr lang="ru-RU" sz="2400" b="1" i="1">
                        <a:latin typeface="Cambria Math"/>
                      </a:rPr>
                      <m:t>+ </m:t>
                    </m:r>
                    <m:sSup>
                      <m:sSupPr>
                        <m:ctrlPr>
                          <a:rPr lang="ru-RU" sz="2400" b="1" i="1">
                            <a:latin typeface="Cambria Math"/>
                          </a:rPr>
                        </m:ctrlPr>
                      </m:sSupPr>
                      <m:e>
                        <m:r>
                          <a:rPr lang="ru-RU" sz="2400" b="1" i="1">
                            <a:latin typeface="Cambria Math"/>
                          </a:rPr>
                          <m:t>х</m:t>
                        </m:r>
                      </m:e>
                      <m:sup>
                        <m:r>
                          <a:rPr lang="ru-RU" sz="2400" b="1" i="1">
                            <a:latin typeface="Cambria Math"/>
                          </a:rPr>
                          <m:t>𝟔</m:t>
                        </m:r>
                      </m:sup>
                    </m:sSup>
                    <m:r>
                      <a:rPr lang="ru-RU" sz="2400" b="1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ru-RU" sz="2400" b="1" i="1">
                            <a:latin typeface="Cambria Math"/>
                          </a:rPr>
                        </m:ctrlPr>
                      </m:sSupPr>
                      <m:e>
                        <m:r>
                          <a:rPr lang="ru-RU" sz="2400" b="1" i="1">
                            <a:latin typeface="Cambria Math"/>
                          </a:rPr>
                          <m:t>х</m:t>
                        </m:r>
                      </m:e>
                      <m:sup>
                        <m:r>
                          <a:rPr lang="ru-RU" sz="2400" b="1" i="1">
                            <a:latin typeface="Cambria Math"/>
                          </a:rPr>
                          <m:t>𝟓</m:t>
                        </m:r>
                      </m:sup>
                    </m:sSup>
                    <m:r>
                      <a:rPr lang="ru-RU" sz="2400" b="1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ru-RU" sz="2400" b="1" i="1">
                            <a:latin typeface="Cambria Math"/>
                          </a:rPr>
                        </m:ctrlPr>
                      </m:sSupPr>
                      <m:e>
                        <m:r>
                          <a:rPr lang="ru-RU" sz="2400" b="1" i="1">
                            <a:latin typeface="Cambria Math"/>
                          </a:rPr>
                          <m:t>х</m:t>
                        </m:r>
                      </m:e>
                      <m:sup>
                        <m:r>
                          <a:rPr lang="ru-RU" sz="2400" b="1" i="1">
                            <a:latin typeface="Cambria Math"/>
                          </a:rPr>
                          <m:t>𝟑</m:t>
                        </m:r>
                      </m:sup>
                    </m:sSup>
                    <m:r>
                      <a:rPr lang="ru-RU" sz="2400" b="1" i="1">
                        <a:latin typeface="Cambria Math"/>
                      </a:rPr>
                      <m:t>+</m:t>
                    </m:r>
                  </m:oMath>
                </a14:m>
                <a:r>
                  <a:rPr lang="ru-RU" sz="2400" b="1" i="1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1</a:t>
                </a:r>
                <a:r>
                  <a:rPr lang="ru-RU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.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modul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bo’yicha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ko’paytiriladi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.</a:t>
                </a:r>
                <a:endParaRPr lang="ru-RU" sz="2400" dirty="0" smtClean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0" indent="0" algn="just">
                  <a:buNone/>
                </a:pPr>
                <a:r>
                  <a:rPr lang="ru-RU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MDS 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matritsasi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4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quyidagicha</a:t>
                </a:r>
                <a:r>
                  <a:rPr lang="ru-RU" sz="24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:</a:t>
                </a:r>
                <a:endParaRPr lang="en-US" sz="2400" dirty="0" smtClean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980729"/>
                <a:ext cx="8136904" cy="3672407"/>
              </a:xfrm>
              <a:blipFill rotWithShape="1">
                <a:blip r:embed="rId2"/>
                <a:stretch>
                  <a:fillRect l="-1199" t="-1329" r="-1199" b="-3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~\mbox{MDS} = \begin{pmatrix} &#10;01 &amp; EF &amp; 5B &amp; 5B \\ &#10;5B &amp; EF &amp; EF &amp; 01 \\ &#10;EF &amp; 5B &amp; 01 &amp; EF \\&#10;EF &amp; 01 &amp; EF &amp; 5B&#10;\end{pmatrix}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4724164"/>
            <a:ext cx="4661219" cy="16561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990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q0 </a:t>
            </a:r>
            <a:r>
              <a:rPr lang="en-US" sz="28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va</a:t>
            </a:r>
            <a:r>
              <a:rPr lang="ru-RU" sz="28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8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q1 </a:t>
            </a:r>
            <a:r>
              <a:rPr lang="en-US" sz="28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almashtirish</a:t>
            </a:r>
            <a:endParaRPr lang="ru-RU" sz="28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96752"/>
                <a:ext cx="8229600" cy="525658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sz="26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q0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va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ru-RU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ru-RU" sz="26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q1 </a:t>
                </a:r>
                <a:r>
                  <a:rPr lang="ru-RU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—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kiruvchi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x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baytning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8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bitini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fiksirlangan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o’rin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almashtirishidan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xosil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qilingan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  x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bayt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2ta 4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bitlik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a0,b0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ga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ajratiladi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va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keyin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quyidagilar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600" dirty="0" err="1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bajariladi</a:t>
                </a:r>
                <a:r>
                  <a:rPr lang="en-US" sz="2600" dirty="0" smtClean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b="1" dirty="0" smtClean="0"/>
                  <a:t> </a:t>
                </a:r>
                <a:r>
                  <a:rPr lang="en-US" b="1" dirty="0" smtClean="0"/>
                  <a:t>a</a:t>
                </a:r>
                <a:r>
                  <a:rPr lang="en-US" b="1" baseline="-25000" dirty="0" smtClean="0"/>
                  <a:t>0 </a:t>
                </a:r>
                <a:r>
                  <a:rPr lang="en-US" b="1" dirty="0" smtClean="0"/>
                  <a:t>= x/16		b</a:t>
                </a:r>
                <a:r>
                  <a:rPr lang="en-US" b="1" baseline="-25000" dirty="0" smtClean="0"/>
                  <a:t>0 </a:t>
                </a:r>
                <a:r>
                  <a:rPr lang="en-US" b="1" dirty="0" smtClean="0"/>
                  <a:t>= xmod16</a:t>
                </a:r>
              </a:p>
              <a:p>
                <a:pPr marL="0" indent="0">
                  <a:buNone/>
                </a:pPr>
                <a:r>
                  <a:rPr lang="en-US" b="1" dirty="0" smtClean="0"/>
                  <a:t>a</a:t>
                </a:r>
                <a:r>
                  <a:rPr lang="en-US" b="1" baseline="-25000" dirty="0" smtClean="0"/>
                  <a:t>1 </a:t>
                </a:r>
                <a:r>
                  <a:rPr lang="en-US" b="1" dirty="0"/>
                  <a:t>= a</a:t>
                </a:r>
                <a:r>
                  <a:rPr lang="en-US" b="1" baseline="-25000" dirty="0"/>
                  <a:t>0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  <a:ea typeface="Cambria Math"/>
                      </a:rPr>
                      <m:t>⨁</m:t>
                    </m:r>
                  </m:oMath>
                </a14:m>
                <a:r>
                  <a:rPr lang="en-US" b="1" dirty="0" smtClean="0"/>
                  <a:t>b</a:t>
                </a:r>
                <a:r>
                  <a:rPr lang="en-US" b="1" baseline="-25000" dirty="0" smtClean="0"/>
                  <a:t>0		</a:t>
                </a:r>
                <a:r>
                  <a:rPr lang="en-US" b="1" dirty="0" smtClean="0"/>
                  <a:t>b</a:t>
                </a:r>
                <a:r>
                  <a:rPr lang="en-US" b="1" baseline="-25000" dirty="0" smtClean="0"/>
                  <a:t>1 </a:t>
                </a:r>
                <a:r>
                  <a:rPr lang="en-US" b="1" dirty="0" smtClean="0"/>
                  <a:t>=</a:t>
                </a:r>
                <a:r>
                  <a:rPr lang="en-US" b="1" dirty="0"/>
                  <a:t>a</a:t>
                </a:r>
                <a:r>
                  <a:rPr lang="en-US" b="1" baseline="-25000" dirty="0"/>
                  <a:t>0</a:t>
                </a:r>
                <a:r>
                  <a:rPr lang="en-US" b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⨁</m:t>
                    </m:r>
                  </m:oMath>
                </a14:m>
                <a:r>
                  <a:rPr lang="en-US" b="1" dirty="0" smtClean="0"/>
                  <a:t> ROR</a:t>
                </a:r>
                <a:r>
                  <a:rPr lang="en-US" b="1" baseline="-25000" dirty="0" smtClean="0"/>
                  <a:t>4</a:t>
                </a:r>
                <a:r>
                  <a:rPr lang="en-US" b="1" dirty="0" smtClean="0"/>
                  <a:t>(b</a:t>
                </a:r>
                <a:r>
                  <a:rPr lang="en-US" b="1" baseline="-25000" dirty="0" smtClean="0"/>
                  <a:t>0</a:t>
                </a:r>
                <a:r>
                  <a:rPr lang="en-US" b="1" dirty="0" smtClean="0"/>
                  <a:t>,1)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⨁ </m:t>
                    </m:r>
                  </m:oMath>
                </a14:m>
                <a:r>
                  <a:rPr lang="en-US" b="1" dirty="0" smtClean="0"/>
                  <a:t>8a</a:t>
                </a:r>
                <a:r>
                  <a:rPr lang="en-US" b="1" baseline="-25000" dirty="0" smtClean="0"/>
                  <a:t>0</a:t>
                </a:r>
                <a:r>
                  <a:rPr lang="en-US" b="1" dirty="0" smtClean="0"/>
                  <a:t>mod16</a:t>
                </a:r>
              </a:p>
              <a:p>
                <a:pPr marL="0" indent="0">
                  <a:buNone/>
                </a:pPr>
                <a:r>
                  <a:rPr lang="en-US" b="1" dirty="0" smtClean="0"/>
                  <a:t>a</a:t>
                </a:r>
                <a:r>
                  <a:rPr lang="en-US" b="1" baseline="-25000" dirty="0" smtClean="0"/>
                  <a:t>2 </a:t>
                </a:r>
                <a:r>
                  <a:rPr lang="en-US" b="1" dirty="0"/>
                  <a:t>= </a:t>
                </a:r>
                <a:r>
                  <a:rPr lang="en-US" b="1" dirty="0" smtClean="0"/>
                  <a:t>t</a:t>
                </a:r>
                <a:r>
                  <a:rPr lang="en-US" b="1" baseline="-25000" dirty="0" smtClean="0"/>
                  <a:t>0</a:t>
                </a:r>
                <a:r>
                  <a:rPr lang="en-US" b="1" dirty="0" smtClean="0"/>
                  <a:t>[a</a:t>
                </a:r>
                <a:r>
                  <a:rPr lang="en-US" b="1" baseline="-25000" dirty="0" smtClean="0"/>
                  <a:t>1</a:t>
                </a:r>
                <a:r>
                  <a:rPr lang="en-US" b="1" dirty="0" smtClean="0"/>
                  <a:t>]</a:t>
                </a:r>
                <a:r>
                  <a:rPr lang="en-US" b="1" dirty="0"/>
                  <a:t>	</a:t>
                </a:r>
                <a:r>
                  <a:rPr lang="en-US" b="1" dirty="0" smtClean="0"/>
                  <a:t>	b</a:t>
                </a:r>
                <a:r>
                  <a:rPr lang="en-US" b="1" baseline="-25000" dirty="0" smtClean="0"/>
                  <a:t>2 </a:t>
                </a:r>
                <a:r>
                  <a:rPr lang="en-US" b="1" dirty="0"/>
                  <a:t>= </a:t>
                </a:r>
                <a:r>
                  <a:rPr lang="en-US" b="1" dirty="0" smtClean="0"/>
                  <a:t>t</a:t>
                </a:r>
                <a:r>
                  <a:rPr lang="en-US" b="1" baseline="-25000" dirty="0" smtClean="0"/>
                  <a:t>1</a:t>
                </a:r>
                <a:r>
                  <a:rPr lang="en-US" b="1" dirty="0" smtClean="0"/>
                  <a:t>[b</a:t>
                </a:r>
                <a:r>
                  <a:rPr lang="en-US" b="1" baseline="-25000" dirty="0" smtClean="0"/>
                  <a:t>1</a:t>
                </a:r>
                <a:r>
                  <a:rPr lang="en-US" b="1" dirty="0"/>
                  <a:t>] </a:t>
                </a:r>
                <a:endParaRPr lang="en-US" b="1" dirty="0" smtClean="0"/>
              </a:p>
              <a:p>
                <a:pPr marL="0" indent="0">
                  <a:buNone/>
                </a:pPr>
                <a:r>
                  <a:rPr lang="en-US" b="1" dirty="0" smtClean="0"/>
                  <a:t>a</a:t>
                </a:r>
                <a:r>
                  <a:rPr lang="en-US" b="1" baseline="-25000" dirty="0" smtClean="0"/>
                  <a:t>3 </a:t>
                </a:r>
                <a:r>
                  <a:rPr lang="en-US" b="1" dirty="0"/>
                  <a:t>= </a:t>
                </a:r>
                <a:r>
                  <a:rPr lang="en-US" b="1" dirty="0" smtClean="0"/>
                  <a:t>a</a:t>
                </a:r>
                <a:r>
                  <a:rPr lang="en-US" b="1" baseline="-25000" dirty="0"/>
                  <a:t>2</a:t>
                </a:r>
                <a:r>
                  <a:rPr lang="en-US" b="1" baseline="-25000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⨁</m:t>
                    </m:r>
                  </m:oMath>
                </a14:m>
                <a:r>
                  <a:rPr lang="en-US" b="1" dirty="0" smtClean="0"/>
                  <a:t>b</a:t>
                </a:r>
                <a:r>
                  <a:rPr lang="en-US" b="1" baseline="-25000" dirty="0" smtClean="0"/>
                  <a:t>2</a:t>
                </a:r>
                <a:r>
                  <a:rPr lang="en-US" b="1" baseline="-25000" dirty="0"/>
                  <a:t>	</a:t>
                </a:r>
                <a:r>
                  <a:rPr lang="en-US" b="1" baseline="-25000" dirty="0" smtClean="0"/>
                  <a:t>	</a:t>
                </a:r>
                <a:r>
                  <a:rPr lang="en-US" b="1" dirty="0" smtClean="0"/>
                  <a:t>b</a:t>
                </a:r>
                <a:r>
                  <a:rPr lang="en-US" b="1" baseline="-25000" dirty="0" smtClean="0"/>
                  <a:t>3 </a:t>
                </a:r>
                <a:r>
                  <a:rPr lang="en-US" b="1" dirty="0"/>
                  <a:t>=</a:t>
                </a:r>
                <a:r>
                  <a:rPr lang="en-US" b="1" dirty="0" smtClean="0"/>
                  <a:t>a</a:t>
                </a:r>
                <a:r>
                  <a:rPr lang="en-US" b="1" baseline="-25000" dirty="0"/>
                  <a:t>2</a:t>
                </a:r>
                <a:r>
                  <a:rPr lang="en-US" b="1" dirty="0" smtClean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⨁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 dirty="0" smtClean="0"/>
                  <a:t>ROR</a:t>
                </a:r>
                <a:r>
                  <a:rPr lang="en-US" b="1" baseline="-25000" dirty="0" smtClean="0"/>
                  <a:t>4</a:t>
                </a:r>
                <a:r>
                  <a:rPr lang="en-US" b="1" dirty="0" smtClean="0"/>
                  <a:t>(b</a:t>
                </a:r>
                <a:r>
                  <a:rPr lang="en-US" b="1" baseline="-25000" dirty="0" smtClean="0"/>
                  <a:t>2</a:t>
                </a:r>
                <a:r>
                  <a:rPr lang="en-US" b="1" dirty="0" smtClean="0"/>
                  <a:t>,1</a:t>
                </a:r>
                <a:r>
                  <a:rPr lang="en-US" b="1" dirty="0"/>
                  <a:t>)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⨁ </m:t>
                    </m:r>
                  </m:oMath>
                </a14:m>
                <a:r>
                  <a:rPr lang="en-US" b="1" dirty="0" smtClean="0"/>
                  <a:t>8a</a:t>
                </a:r>
                <a:r>
                  <a:rPr lang="en-US" b="1" baseline="-25000" dirty="0"/>
                  <a:t>2</a:t>
                </a:r>
                <a:r>
                  <a:rPr lang="en-US" b="1" dirty="0" smtClean="0"/>
                  <a:t>mod16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b="1" dirty="0" smtClean="0"/>
                  <a:t>a</a:t>
                </a:r>
                <a:r>
                  <a:rPr lang="en-US" b="1" baseline="-25000" dirty="0"/>
                  <a:t>4</a:t>
                </a:r>
                <a:r>
                  <a:rPr lang="en-US" b="1" baseline="-25000" dirty="0" smtClean="0"/>
                  <a:t> </a:t>
                </a:r>
                <a:r>
                  <a:rPr lang="en-US" b="1" dirty="0"/>
                  <a:t>= </a:t>
                </a:r>
                <a:r>
                  <a:rPr lang="en-US" b="1" dirty="0" smtClean="0"/>
                  <a:t>t</a:t>
                </a:r>
                <a:r>
                  <a:rPr lang="en-US" b="1" baseline="-25000" dirty="0" smtClean="0"/>
                  <a:t>2</a:t>
                </a:r>
                <a:r>
                  <a:rPr lang="en-US" b="1" dirty="0" smtClean="0"/>
                  <a:t>[a</a:t>
                </a:r>
                <a:r>
                  <a:rPr lang="en-US" b="1" baseline="-25000" dirty="0"/>
                  <a:t>3</a:t>
                </a:r>
                <a:r>
                  <a:rPr lang="en-US" b="1" dirty="0" smtClean="0"/>
                  <a:t>]</a:t>
                </a:r>
                <a:r>
                  <a:rPr lang="en-US" b="1" dirty="0"/>
                  <a:t>		</a:t>
                </a:r>
                <a:r>
                  <a:rPr lang="en-US" b="1" dirty="0" smtClean="0"/>
                  <a:t>b</a:t>
                </a:r>
                <a:r>
                  <a:rPr lang="en-US" b="1" baseline="-25000" dirty="0" smtClean="0"/>
                  <a:t>4 </a:t>
                </a:r>
                <a:r>
                  <a:rPr lang="en-US" b="1" dirty="0"/>
                  <a:t>= </a:t>
                </a:r>
                <a:r>
                  <a:rPr lang="en-US" b="1" dirty="0" smtClean="0"/>
                  <a:t>t</a:t>
                </a:r>
                <a:r>
                  <a:rPr lang="en-US" b="1" baseline="-25000" dirty="0" smtClean="0"/>
                  <a:t>3</a:t>
                </a:r>
                <a:r>
                  <a:rPr lang="en-US" b="1" dirty="0" smtClean="0"/>
                  <a:t>[b</a:t>
                </a:r>
                <a:r>
                  <a:rPr lang="en-US" b="1" baseline="-25000" dirty="0"/>
                  <a:t>3</a:t>
                </a:r>
                <a:r>
                  <a:rPr lang="en-US" b="1" dirty="0" smtClean="0"/>
                  <a:t>] </a:t>
                </a:r>
              </a:p>
              <a:p>
                <a:pPr marL="0" indent="0">
                  <a:buNone/>
                </a:pPr>
                <a:r>
                  <a:rPr lang="en-US" b="1" dirty="0" smtClean="0"/>
                  <a:t>y = 16b</a:t>
                </a:r>
                <a:r>
                  <a:rPr lang="en-US" b="1" baseline="-25000" dirty="0" smtClean="0"/>
                  <a:t>4 </a:t>
                </a:r>
                <a:r>
                  <a:rPr lang="en-US" b="1" dirty="0" smtClean="0"/>
                  <a:t>+ a</a:t>
                </a:r>
                <a:r>
                  <a:rPr lang="en-US" b="1" baseline="-25000" dirty="0" smtClean="0"/>
                  <a:t>4</a:t>
                </a:r>
                <a:endParaRPr lang="en-US" b="1" baseline="-25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96752"/>
                <a:ext cx="8229600" cy="5256584"/>
              </a:xfrm>
              <a:blipFill rotWithShape="1">
                <a:blip r:embed="rId2"/>
                <a:stretch>
                  <a:fillRect l="-1704" t="-927" r="-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9645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1926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Bu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yerda</a:t>
            </a:r>
            <a:r>
              <a:rPr lang="ru-RU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ROR</a:t>
            </a:r>
            <a:r>
              <a:rPr lang="en-US" sz="2400" baseline="-25000" dirty="0">
                <a:latin typeface="Verdana" pitchFamily="34" charset="0"/>
                <a:ea typeface="Verdana" pitchFamily="34" charset="0"/>
                <a:cs typeface="Verdana" pitchFamily="34" charset="0"/>
              </a:rPr>
              <a:t>4</a:t>
            </a:r>
            <a:r>
              <a:rPr lang="ru-RU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ru-RU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— </a:t>
            </a:r>
            <a:r>
              <a:rPr lang="ru-RU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4-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bit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o’nga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siklik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surish</a:t>
            </a:r>
            <a:r>
              <a:rPr lang="ru-RU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, t0</a:t>
            </a:r>
            <a:r>
              <a:rPr lang="ru-RU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, t1, t2, t3 — 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4bitli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jadval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almashtirish</a:t>
            </a:r>
            <a:endParaRPr lang="ru-RU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q</a:t>
            </a:r>
            <a:r>
              <a:rPr lang="ru-RU" sz="2400" baseline="-250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0</a:t>
            </a:r>
            <a:r>
              <a:rPr lang="ru-RU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uchun</a:t>
            </a:r>
            <a:r>
              <a:rPr lang="ru-RU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:</a:t>
            </a:r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 algn="ctr">
              <a:buNone/>
            </a:pPr>
            <a:r>
              <a:rPr lang="pt-BR" sz="24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t0 = [ 8 1 7 D 6 F 3 2 0 B 5 9 E C A 4 ]</a:t>
            </a:r>
          </a:p>
          <a:p>
            <a:pPr marL="0" indent="0" algn="ctr">
              <a:buNone/>
            </a:pPr>
            <a:r>
              <a:rPr lang="pt-BR" sz="24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t1 = [ E C B 8 1 2 3 5 F 4 A 6 7 0 9 D ]</a:t>
            </a:r>
          </a:p>
          <a:p>
            <a:pPr marL="0" indent="0" algn="ctr">
              <a:buNone/>
            </a:pPr>
            <a:r>
              <a:rPr lang="pt-BR" sz="24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t2 = [ B A 5 E 6 D 9 0 C 8 F 3 2 4 7 1 ]</a:t>
            </a:r>
          </a:p>
          <a:p>
            <a:pPr marL="0" indent="0" algn="ctr">
              <a:buNone/>
            </a:pPr>
            <a:r>
              <a:rPr lang="pt-BR" sz="24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t3 = [ D 7 F 4 1 2 6 E 9 B 3 0 8 5 C A ]</a:t>
            </a:r>
          </a:p>
          <a:p>
            <a:endParaRPr lang="pt-BR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>
              <a:buNone/>
            </a:pPr>
            <a:r>
              <a:rPr lang="pt-BR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q1 uchun:</a:t>
            </a:r>
            <a:endParaRPr lang="pt-BR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 algn="ctr">
              <a:buNone/>
            </a:pPr>
            <a:r>
              <a:rPr lang="pt-BR" sz="24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t0 = [ 2 8 B D F 7 6 E 3 1 9 4 0 A C 5 ]</a:t>
            </a:r>
          </a:p>
          <a:p>
            <a:pPr marL="0" indent="0" algn="ctr">
              <a:buNone/>
            </a:pPr>
            <a:r>
              <a:rPr lang="pt-BR" sz="24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t1 = [ 1 E 2 B 4 C 3 7 6 D A 5 F 9 0 8 ]</a:t>
            </a:r>
          </a:p>
          <a:p>
            <a:pPr marL="0" indent="0" algn="ctr">
              <a:buNone/>
            </a:pPr>
            <a:r>
              <a:rPr lang="pt-BR" sz="24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t2 = [ 4 C 7 5 1 6 9 A 0 E D 8 2 B 3 F ]</a:t>
            </a:r>
          </a:p>
          <a:p>
            <a:pPr marL="0" indent="0" algn="ctr">
              <a:buNone/>
            </a:pPr>
            <a:r>
              <a:rPr lang="pt-BR" sz="24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t3 = [ B 9 5 1 C 3 D E 6 4 7 F 2 0 8 A ]</a:t>
            </a:r>
            <a:endParaRPr lang="ru-RU" sz="24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192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864096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H </a:t>
            </a:r>
            <a:r>
              <a:rPr lang="en-US" sz="2800" b="1" dirty="0" err="1" smtClean="0"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funksiya</a:t>
            </a:r>
            <a:endParaRPr lang="ru-RU" sz="28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3" name="Picture 2" descr="\\192.168.1.94\h\twofishh\Twofish_h_fun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907" y="1124744"/>
            <a:ext cx="5389817" cy="53637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035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19256" cy="72494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G </a:t>
            </a:r>
            <a:r>
              <a:rPr lang="en-US" sz="24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funksiya</a:t>
            </a:r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va</a:t>
            </a:r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S </a:t>
            </a:r>
            <a:r>
              <a:rPr lang="en-US" sz="24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blok</a:t>
            </a:r>
            <a:endParaRPr lang="ru-RU" sz="24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23528" y="980729"/>
                <a:ext cx="8496944" cy="3384376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 algn="just">
                  <a:buNone/>
                </a:pPr>
                <a:r>
                  <a:rPr lang="en-US" sz="2400" dirty="0" smtClean="0"/>
                  <a:t>G </a:t>
                </a:r>
                <a:r>
                  <a:rPr lang="en-US" sz="2400" dirty="0" err="1" smtClean="0"/>
                  <a:t>funksiya</a:t>
                </a:r>
                <a:r>
                  <a:rPr lang="en-US" sz="2400" dirty="0" smtClean="0"/>
                  <a:t> h </a:t>
                </a:r>
                <a:r>
                  <a:rPr lang="en-US" sz="2400" dirty="0" err="1" smtClean="0"/>
                  <a:t>funksiya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orqali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aniqlanadi</a:t>
                </a:r>
                <a:r>
                  <a:rPr lang="ru-RU" sz="2400" dirty="0" smtClean="0"/>
                  <a:t>: </a:t>
                </a:r>
                <a:r>
                  <a:rPr lang="en-US" sz="2400" dirty="0" smtClean="0"/>
                  <a:t> </a:t>
                </a:r>
                <a:r>
                  <a:rPr lang="en-US" sz="2400" b="1" i="1" dirty="0" smtClean="0"/>
                  <a:t>g(X)=h(X,S)</a:t>
                </a:r>
                <a:endParaRPr lang="ru-RU" sz="2400" b="1" i="1" dirty="0"/>
              </a:p>
              <a:p>
                <a:pPr marL="0" indent="0" algn="just">
                  <a:buNone/>
                </a:pPr>
                <a:r>
                  <a:rPr lang="ru-RU" sz="2400" dirty="0" smtClean="0"/>
                  <a:t>Вектор </a:t>
                </a:r>
                <a:r>
                  <a:rPr lang="ru-RU" sz="2400" dirty="0"/>
                  <a:t>S, как и вектора </a:t>
                </a:r>
                <a:r>
                  <a:rPr lang="ru-RU" sz="2400" b="1" i="1" dirty="0" err="1"/>
                  <a:t>Me</a:t>
                </a:r>
                <a:r>
                  <a:rPr lang="ru-RU" sz="2400" dirty="0"/>
                  <a:t> и </a:t>
                </a:r>
                <a:r>
                  <a:rPr lang="ru-RU" sz="2400" b="1" i="1" dirty="0" err="1"/>
                  <a:t>Mo</a:t>
                </a:r>
                <a:r>
                  <a:rPr lang="ru-RU" sz="2400" dirty="0"/>
                  <a:t>, тоже формируется из исходного ключа и состоит из k 32-битных слов. Исходные байты ключа разбиваются на k групп по восемь байт. Каждая такая группа рассматривается как вектор с 8-ю компонентами и умножается на фиксированную RS матрицу размером 4x8 байт. В результате умножения получается вектор, состоящий из четырех байт. Вычисления проводятся в поле Галуа </a:t>
                </a:r>
                <a:r>
                  <a:rPr lang="ru-RU" sz="2400" b="1" i="1" dirty="0"/>
                  <a:t>GF(2</a:t>
                </a:r>
                <a:r>
                  <a:rPr lang="ru-RU" sz="2400" b="1" i="1" baseline="30000" dirty="0"/>
                  <a:t>8</a:t>
                </a:r>
                <a:r>
                  <a:rPr lang="ru-RU" sz="2400" b="1" i="1" dirty="0"/>
                  <a:t>) </a:t>
                </a:r>
                <a:r>
                  <a:rPr lang="en-US" sz="2400" b="1" i="1" dirty="0" smtClean="0"/>
                  <a:t> </a:t>
                </a:r>
                <a:r>
                  <a:rPr lang="ru-RU" sz="2400" dirty="0" smtClean="0"/>
                  <a:t>по </a:t>
                </a:r>
                <a:r>
                  <a:rPr lang="ru-RU" sz="2400" dirty="0"/>
                  <a:t>модулю неприводимого многочлена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b="1" i="1">
                            <a:latin typeface="Cambria Math"/>
                          </a:rPr>
                        </m:ctrlPr>
                      </m:sSupPr>
                      <m:e>
                        <m:r>
                          <a:rPr lang="ru-RU" sz="2400" b="1" i="1">
                            <a:latin typeface="Cambria Math"/>
                          </a:rPr>
                          <m:t> х</m:t>
                        </m:r>
                      </m:e>
                      <m:sup>
                        <m:r>
                          <a:rPr lang="ru-RU" sz="2400" b="1" i="1">
                            <a:latin typeface="Cambria Math"/>
                          </a:rPr>
                          <m:t>𝟖</m:t>
                        </m:r>
                      </m:sup>
                    </m:sSup>
                    <m:r>
                      <a:rPr lang="ru-RU" sz="2400" b="1" i="1">
                        <a:latin typeface="Cambria Math"/>
                      </a:rPr>
                      <m:t>+ </m:t>
                    </m:r>
                    <m:sSup>
                      <m:sSupPr>
                        <m:ctrlPr>
                          <a:rPr lang="ru-RU" sz="2400" b="1" i="1">
                            <a:latin typeface="Cambria Math"/>
                          </a:rPr>
                        </m:ctrlPr>
                      </m:sSupPr>
                      <m:e>
                        <m:r>
                          <a:rPr lang="ru-RU" sz="2400" b="1" i="1">
                            <a:latin typeface="Cambria Math"/>
                          </a:rPr>
                          <m:t>х</m:t>
                        </m:r>
                      </m:e>
                      <m:sup>
                        <m:r>
                          <a:rPr lang="ru-RU" sz="2400" b="1" i="1">
                            <a:latin typeface="Cambria Math"/>
                          </a:rPr>
                          <m:t>𝟔</m:t>
                        </m:r>
                      </m:sup>
                    </m:sSup>
                    <m:r>
                      <a:rPr lang="ru-RU" sz="2400" b="1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ru-RU" sz="2400" b="1" i="1">
                            <a:latin typeface="Cambria Math"/>
                          </a:rPr>
                        </m:ctrlPr>
                      </m:sSupPr>
                      <m:e>
                        <m:r>
                          <a:rPr lang="ru-RU" sz="2400" b="1" i="1">
                            <a:latin typeface="Cambria Math"/>
                          </a:rPr>
                          <m:t>х</m:t>
                        </m:r>
                      </m:e>
                      <m:sup>
                        <m:r>
                          <a:rPr lang="ru-RU" sz="2400" b="1" i="1">
                            <a:latin typeface="Cambria Math"/>
                          </a:rPr>
                          <m:t>𝟓</m:t>
                        </m:r>
                      </m:sup>
                    </m:sSup>
                    <m:r>
                      <a:rPr lang="ru-RU" sz="2400" b="1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ru-RU" sz="2400" b="1" i="1">
                            <a:latin typeface="Cambria Math"/>
                          </a:rPr>
                        </m:ctrlPr>
                      </m:sSupPr>
                      <m:e>
                        <m:r>
                          <a:rPr lang="ru-RU" sz="2400" b="1" i="1">
                            <a:latin typeface="Cambria Math"/>
                          </a:rPr>
                          <m:t>х</m:t>
                        </m:r>
                      </m:e>
                      <m:sup>
                        <m:r>
                          <a:rPr lang="ru-RU" sz="2400" b="1" i="1">
                            <a:latin typeface="Cambria Math"/>
                          </a:rPr>
                          <m:t>𝟑</m:t>
                        </m:r>
                      </m:sup>
                    </m:sSup>
                    <m:r>
                      <a:rPr lang="ru-RU" sz="2400" b="1" i="1">
                        <a:latin typeface="Cambria Math"/>
                      </a:rPr>
                      <m:t>+</m:t>
                    </m:r>
                  </m:oMath>
                </a14:m>
                <a:r>
                  <a:rPr lang="ru-RU" sz="2400" b="1" i="1" dirty="0"/>
                  <a:t>1</a:t>
                </a:r>
                <a:r>
                  <a:rPr lang="ru-RU" sz="2400" dirty="0"/>
                  <a:t>.</a:t>
                </a:r>
              </a:p>
              <a:p>
                <a:pPr marL="0" indent="0" algn="just">
                  <a:buNone/>
                </a:pPr>
                <a:r>
                  <a:rPr lang="ru-RU" sz="2400" dirty="0"/>
                  <a:t>RS-матрица имеет вид: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980729"/>
                <a:ext cx="8496944" cy="3384376"/>
              </a:xfrm>
              <a:blipFill rotWithShape="1">
                <a:blip r:embed="rId2"/>
                <a:stretch>
                  <a:fillRect l="-861" t="-2162" r="-10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4581128"/>
            <a:ext cx="6826655" cy="15841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04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3528" y="980728"/>
            <a:ext cx="8568952" cy="5472608"/>
          </a:xfrm>
          <a:solidFill>
            <a:schemeClr val="bg1">
              <a:alpha val="60000"/>
            </a:schemeClr>
          </a:solidFill>
        </p:spPr>
        <p:txBody>
          <a:bodyPr>
            <a:normAutofit/>
          </a:bodyPr>
          <a:lstStyle/>
          <a:p>
            <a:pPr algn="ctr">
              <a:defRPr/>
            </a:pPr>
            <a:endParaRPr lang="en-US" b="1" dirty="0" smtClean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ru-RU" sz="36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Алгоритм </a:t>
            </a:r>
            <a:r>
              <a:rPr lang="ru-RU" sz="36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шифрования </a:t>
            </a:r>
            <a:r>
              <a:rPr lang="en-US" sz="36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RC</a:t>
            </a:r>
            <a:r>
              <a:rPr lang="ru-RU" sz="36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-6</a:t>
            </a:r>
            <a:r>
              <a:rPr lang="en-US" sz="32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           </a:t>
            </a:r>
            <a:r>
              <a:rPr lang="ru-RU" sz="32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32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24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24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24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24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43569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88640"/>
            <a:ext cx="8568952" cy="64087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ВВЕДЕНИЕ</a:t>
            </a:r>
          </a:p>
          <a:p>
            <a:pPr marL="0" indent="0" algn="ctr">
              <a:buNone/>
            </a:pPr>
            <a:endParaRPr lang="ru-RU" sz="16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Алгоритм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RC6 был разработан в 1998 г. рядом специалистов научного подразделения известнейшей фирмы RSA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Security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— RSA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Laboratories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Рональдом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Ривестом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Ronald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Rivest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основатель RSA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Security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), Мэттом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Робшоу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Matt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Robshaw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Рэем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Сидни (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Ray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Sidney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) и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Икван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Лайзой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Ин (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Yiqun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Lisa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Yin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) специально для участия в конкурсе AES. Алгоритм во многом унаследовал черты предыдущего алгоритма Рональда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Ривеста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— 64-битного блочного шифра RC5, разработанного в 1997 г. (подробное описание RC5 на русском языке можно найти). Фактически, алгоритм претерпел два принципиальных изменения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Font typeface="Wingdings" pitchFamily="2" charset="2"/>
              <a:buChar char="Ø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 отличие от RC5, в алгоритме используется умножение по модулю 2</a:t>
            </a:r>
            <a:r>
              <a:rPr lang="ru-RU" sz="2000" baseline="30000" dirty="0">
                <a:latin typeface="Times New Roman" pitchFamily="18" charset="0"/>
                <a:cs typeface="Times New Roman" pitchFamily="18" charset="0"/>
              </a:rPr>
              <a:t>32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>
              <a:buFont typeface="Wingdings" pitchFamily="2" charset="2"/>
              <a:buChar char="Ø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для сохранения 32-битных вычислений вместо разбиения шифруемого блока данных (128 бит согласно принципиальному требованию конкурса AES) на два 64-битных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субблока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выполняется его разбиение на 4 32-битных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субблока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и их обработка по несколько измененной схеме.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953097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260648"/>
            <a:ext cx="8496944" cy="63367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Структура алгоритма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 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       Как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 алгоритм RC5, RC6 имеет гибкую структуру: помимо секретного ключа, параметрами алгоритма являются следующие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размер слова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; RC6 шифрует блоками по 4 слова;</a:t>
            </a:r>
          </a:p>
          <a:p>
            <a:pPr lvl="0">
              <a:buFont typeface="Wingdings" pitchFamily="2" charset="2"/>
              <a:buChar char="Ø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количество раундов алгоритма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lvl="0">
              <a:buFont typeface="Wingdings" pitchFamily="2" charset="2"/>
              <a:buChar char="Ø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размер секретного ключа в байтах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Ø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Аналогично RC5, для уточнения параметров алгоритма, используемых в его конкретной реализации, применяется обозначение RC6-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w/R/b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Поскольку в конкурсе AES 128-битный блок является обязательным, значение w фиксировано и равно 32. В спецификации алгоритма фиксируется также количество раундов: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= 20. Поскольку конкурс AES предусматривает использование трех фиксированных размеров ключей, рассмотрим три следующих варианта алгоритма: RC6-32/20/16, RC6-32/20/24 и RC6-32/20/32, совокупность которых и будет подразумеваться далее под названием «RC6».</a:t>
            </a:r>
          </a:p>
        </p:txBody>
      </p:sp>
    </p:spTree>
    <p:extLst>
      <p:ext uri="{BB962C8B-B14F-4D97-AF65-F5344CB8AC3E}">
        <p14:creationId xmlns:p14="http://schemas.microsoft.com/office/powerpoint/2010/main" val="2126922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260648"/>
            <a:ext cx="8496944" cy="6336704"/>
          </a:xfrm>
          <a:solidFill>
            <a:schemeClr val="bg1">
              <a:alpha val="70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Генерация ключей алгоритм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RC</a:t>
            </a: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-6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Процедура </a:t>
            </a: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расширения ключа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 </a:t>
            </a:r>
            <a:endParaRPr lang="ru-RU" sz="17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      Процедура </a:t>
            </a:r>
            <a:r>
              <a:rPr lang="ru-RU" sz="1700" dirty="0">
                <a:latin typeface="Times New Roman" pitchFamily="18" charset="0"/>
                <a:cs typeface="Times New Roman" pitchFamily="18" charset="0"/>
              </a:rPr>
              <a:t>расширения ключа RC6 аналогична RC5, за исключением того, что RC6 требуется существенно больше с генерированных подключи, а именно 2</a:t>
            </a:r>
            <a:r>
              <a:rPr lang="ru-RU" sz="1700" b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1700" dirty="0">
                <a:latin typeface="Times New Roman" pitchFamily="18" charset="0"/>
                <a:cs typeface="Times New Roman" pitchFamily="18" charset="0"/>
              </a:rPr>
              <a:t>+4, то есть </a:t>
            </a:r>
            <a:r>
              <a:rPr lang="ru-RU" sz="1700" b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1700" b="1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sz="1700" b="1" dirty="0">
                <a:latin typeface="Times New Roman" pitchFamily="18" charset="0"/>
                <a:cs typeface="Times New Roman" pitchFamily="18" charset="0"/>
              </a:rPr>
              <a:t>...K</a:t>
            </a:r>
            <a:r>
              <a:rPr lang="ru-RU" sz="1700" b="1" baseline="-25000" dirty="0">
                <a:latin typeface="Times New Roman" pitchFamily="18" charset="0"/>
                <a:cs typeface="Times New Roman" pitchFamily="18" charset="0"/>
              </a:rPr>
              <a:t>43</a:t>
            </a:r>
            <a:r>
              <a:rPr lang="ru-RU" sz="1700" dirty="0">
                <a:latin typeface="Times New Roman" pitchFamily="18" charset="0"/>
                <a:cs typeface="Times New Roman" pitchFamily="18" charset="0"/>
              </a:rPr>
              <a:t> для 20 раундов. Рассмотрим данную процедуру для алгоритма RC6 в варианте для конкурса AES, то есть с указанными выше фиксированными параметрами. </a:t>
            </a:r>
          </a:p>
          <a:p>
            <a:pPr marL="0" indent="0" algn="just">
              <a:buNone/>
            </a:pP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         Расширение </a:t>
            </a:r>
            <a:r>
              <a:rPr lang="ru-RU" sz="1700" dirty="0">
                <a:latin typeface="Times New Roman" pitchFamily="18" charset="0"/>
                <a:cs typeface="Times New Roman" pitchFamily="18" charset="0"/>
              </a:rPr>
              <a:t>ключа выполняется в два этапа:</a:t>
            </a:r>
          </a:p>
          <a:p>
            <a:pPr marL="0" lvl="0" indent="0" algn="just">
              <a:buNone/>
            </a:pPr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   1.  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Инициализация </a:t>
            </a:r>
            <a:r>
              <a:rPr lang="ru-RU" sz="1700" dirty="0">
                <a:latin typeface="Times New Roman" pitchFamily="18" charset="0"/>
                <a:cs typeface="Times New Roman" pitchFamily="18" charset="0"/>
              </a:rPr>
              <a:t>массива расширенных ключей </a:t>
            </a:r>
            <a:r>
              <a:rPr lang="ru-RU" sz="1700" b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1700" b="1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sz="1700" b="1" dirty="0">
                <a:latin typeface="Times New Roman" pitchFamily="18" charset="0"/>
                <a:cs typeface="Times New Roman" pitchFamily="18" charset="0"/>
              </a:rPr>
              <a:t>...K</a:t>
            </a:r>
            <a:r>
              <a:rPr lang="ru-RU" sz="1700" b="1" baseline="-25000" dirty="0">
                <a:latin typeface="Times New Roman" pitchFamily="18" charset="0"/>
                <a:cs typeface="Times New Roman" pitchFamily="18" charset="0"/>
              </a:rPr>
              <a:t>43</a:t>
            </a:r>
            <a:r>
              <a:rPr lang="ru-RU" sz="1700" dirty="0">
                <a:latin typeface="Times New Roman" pitchFamily="18" charset="0"/>
                <a:cs typeface="Times New Roman" pitchFamily="18" charset="0"/>
              </a:rPr>
              <a:t>, которая производится следующим образом: </a:t>
            </a:r>
          </a:p>
          <a:p>
            <a:pPr marL="0" indent="0" algn="ctr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1700" b="1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 = P</a:t>
            </a:r>
            <a:r>
              <a:rPr lang="en-US" sz="1700" b="1" baseline="-25000" dirty="0">
                <a:latin typeface="Times New Roman" pitchFamily="18" charset="0"/>
                <a:cs typeface="Times New Roman" pitchFamily="18" charset="0"/>
              </a:rPr>
              <a:t>32 </a:t>
            </a: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7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1700" b="1" baseline="-25000" dirty="0">
                <a:latin typeface="Times New Roman" pitchFamily="18" charset="0"/>
                <a:cs typeface="Times New Roman" pitchFamily="18" charset="0"/>
              </a:rPr>
              <a:t>i+1</a:t>
            </a: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 = K</a:t>
            </a:r>
            <a:r>
              <a:rPr lang="en-US" sz="1700" b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 + Q</a:t>
            </a:r>
            <a:r>
              <a:rPr lang="en-US" sz="1700" b="1" baseline="-25000" dirty="0">
                <a:latin typeface="Times New Roman" pitchFamily="18" charset="0"/>
                <a:cs typeface="Times New Roman" pitchFamily="18" charset="0"/>
              </a:rPr>
              <a:t>32</a:t>
            </a: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 mod 2</a:t>
            </a:r>
            <a:r>
              <a:rPr lang="en-US" sz="1700" b="1" baseline="30000" dirty="0">
                <a:latin typeface="Times New Roman" pitchFamily="18" charset="0"/>
                <a:cs typeface="Times New Roman" pitchFamily="18" charset="0"/>
              </a:rPr>
              <a:t>32</a:t>
            </a: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,</a:t>
            </a:r>
            <a:endParaRPr lang="ru-RU" sz="17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 </a:t>
            </a:r>
            <a:endParaRPr lang="ru-RU" sz="17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ru-RU" sz="1700" dirty="0">
                <a:latin typeface="Times New Roman" pitchFamily="18" charset="0"/>
                <a:cs typeface="Times New Roman" pitchFamily="18" charset="0"/>
              </a:rPr>
              <a:t>где </a:t>
            </a:r>
            <a:r>
              <a:rPr lang="ru-RU" sz="1700" b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sz="1700" b="1" baseline="-25000" dirty="0">
                <a:latin typeface="Times New Roman" pitchFamily="18" charset="0"/>
                <a:cs typeface="Times New Roman" pitchFamily="18" charset="0"/>
              </a:rPr>
              <a:t>32</a:t>
            </a:r>
            <a:r>
              <a:rPr lang="ru-RU" sz="1700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1700" b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1700" b="1" baseline="-25000" dirty="0">
                <a:latin typeface="Times New Roman" pitchFamily="18" charset="0"/>
                <a:cs typeface="Times New Roman" pitchFamily="18" charset="0"/>
              </a:rPr>
              <a:t>32</a:t>
            </a:r>
            <a:r>
              <a:rPr lang="ru-RU" sz="1700" dirty="0">
                <a:latin typeface="Times New Roman" pitchFamily="18" charset="0"/>
                <a:cs typeface="Times New Roman" pitchFamily="18" charset="0"/>
              </a:rPr>
              <a:t> — псевдослучайные константы, образованные путем умножения на 2</a:t>
            </a:r>
            <a:r>
              <a:rPr lang="ru-RU" sz="1700" baseline="30000" dirty="0">
                <a:latin typeface="Times New Roman" pitchFamily="18" charset="0"/>
                <a:cs typeface="Times New Roman" pitchFamily="18" charset="0"/>
              </a:rPr>
              <a:t>32</a:t>
            </a:r>
            <a:r>
              <a:rPr lang="ru-RU" sz="1700" dirty="0">
                <a:latin typeface="Times New Roman" pitchFamily="18" charset="0"/>
                <a:cs typeface="Times New Roman" pitchFamily="18" charset="0"/>
              </a:rPr>
              <a:t> дробной части и последующего округления до ближайшего нечетного целого двух математических констант (</a:t>
            </a:r>
            <a:r>
              <a:rPr lang="ru-RU" sz="1700" b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ru-RU" sz="1700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1700" b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sz="1700" dirty="0">
                <a:latin typeface="Times New Roman" pitchFamily="18" charset="0"/>
                <a:cs typeface="Times New Roman" pitchFamily="18" charset="0"/>
              </a:rPr>
              <a:t> соответственно): </a:t>
            </a:r>
          </a:p>
          <a:p>
            <a:pPr marL="0" indent="0" algn="ctr">
              <a:buNone/>
            </a:pPr>
            <a:r>
              <a:rPr lang="ru-RU" sz="1700" b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sz="1700" b="1" baseline="-25000" dirty="0">
                <a:latin typeface="Times New Roman" pitchFamily="18" charset="0"/>
                <a:cs typeface="Times New Roman" pitchFamily="18" charset="0"/>
              </a:rPr>
              <a:t>32</a:t>
            </a:r>
            <a:r>
              <a:rPr lang="ru-RU" sz="1700" b="1" dirty="0">
                <a:latin typeface="Times New Roman" pitchFamily="18" charset="0"/>
                <a:cs typeface="Times New Roman" pitchFamily="18" charset="0"/>
              </a:rPr>
              <a:t> = B7E15163,</a:t>
            </a:r>
            <a:br>
              <a:rPr lang="ru-RU" sz="1700" b="1" dirty="0">
                <a:latin typeface="Times New Roman" pitchFamily="18" charset="0"/>
                <a:cs typeface="Times New Roman" pitchFamily="18" charset="0"/>
              </a:rPr>
            </a:br>
            <a:r>
              <a:rPr lang="ru-RU" sz="1700" b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1700" b="1" baseline="-25000" dirty="0">
                <a:latin typeface="Times New Roman" pitchFamily="18" charset="0"/>
                <a:cs typeface="Times New Roman" pitchFamily="18" charset="0"/>
              </a:rPr>
              <a:t>32</a:t>
            </a:r>
            <a:r>
              <a:rPr lang="ru-RU" sz="1700" b="1" dirty="0">
                <a:latin typeface="Times New Roman" pitchFamily="18" charset="0"/>
                <a:cs typeface="Times New Roman" pitchFamily="18" charset="0"/>
              </a:rPr>
              <a:t> = 9E3779B9,</a:t>
            </a:r>
            <a:endParaRPr lang="ru-RU" sz="17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17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Авторы </a:t>
            </a:r>
            <a:r>
              <a:rPr lang="ru-RU" sz="1700" dirty="0">
                <a:latin typeface="Times New Roman" pitchFamily="18" charset="0"/>
                <a:cs typeface="Times New Roman" pitchFamily="18" charset="0"/>
              </a:rPr>
              <a:t>алгоритма в его спецификации утверждают, что выбор данных значений не является важным. Соответственно, аналогично описанному выше алгоритму </a:t>
            </a:r>
            <a:r>
              <a:rPr lang="ru-RU" sz="1700" dirty="0" err="1">
                <a:latin typeface="Times New Roman" pitchFamily="18" charset="0"/>
                <a:cs typeface="Times New Roman" pitchFamily="18" charset="0"/>
              </a:rPr>
              <a:t>Twofish</a:t>
            </a:r>
            <a:r>
              <a:rPr lang="ru-RU" sz="1700" dirty="0">
                <a:latin typeface="Times New Roman" pitchFamily="18" charset="0"/>
                <a:cs typeface="Times New Roman" pitchFamily="18" charset="0"/>
              </a:rPr>
              <a:t>-FK, при необходимости создания реализации алгоритма RC6, не совместимой со стандартной, следует изменить значения </a:t>
            </a:r>
            <a:r>
              <a:rPr lang="ru-RU" sz="1700" b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sz="1700" b="1" baseline="-25000" dirty="0">
                <a:latin typeface="Times New Roman" pitchFamily="18" charset="0"/>
                <a:cs typeface="Times New Roman" pitchFamily="18" charset="0"/>
              </a:rPr>
              <a:t>32</a:t>
            </a:r>
            <a:r>
              <a:rPr lang="ru-RU" sz="1700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1700" b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1700" b="1" baseline="-25000" dirty="0">
                <a:latin typeface="Times New Roman" pitchFamily="18" charset="0"/>
                <a:cs typeface="Times New Roman" pitchFamily="18" charset="0"/>
              </a:rPr>
              <a:t>32</a:t>
            </a:r>
            <a:r>
              <a:rPr lang="ru-RU" sz="17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648157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23528" y="44624"/>
                <a:ext cx="8496944" cy="6696744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ru-RU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sz="2000" b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2.    </a:t>
                </a:r>
                <a:r>
                  <a:rPr lang="ru-RU" sz="21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Циклически </a:t>
                </a:r>
                <a:r>
                  <a:rPr lang="ru-RU" sz="21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выполняются следующие действия: </a:t>
                </a:r>
              </a:p>
              <a:p>
                <a:pPr marL="0" indent="0" algn="ctr">
                  <a:buNone/>
                </a:pPr>
                <a:r>
                  <a:rPr lang="en-US" sz="2100" b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A </a:t>
                </a:r>
                <a:r>
                  <a:rPr lang="en-US" sz="21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= K</a:t>
                </a:r>
                <a:r>
                  <a:rPr lang="en-US" sz="21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US" sz="21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= (K</a:t>
                </a:r>
                <a:r>
                  <a:rPr lang="en-US" sz="21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US" sz="21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+ A + B mod 2</a:t>
                </a:r>
                <a:r>
                  <a:rPr lang="en-US" sz="2100" b="1" baseline="30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32</a:t>
                </a:r>
                <a:r>
                  <a:rPr lang="en-US" sz="21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) &lt;&lt;&lt; 3,</a:t>
                </a:r>
                <a:br>
                  <a:rPr lang="en-US" sz="21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sz="21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B = </a:t>
                </a:r>
                <a:r>
                  <a:rPr lang="en-US" sz="2100" b="1" dirty="0" err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KI</a:t>
                </a:r>
                <a:r>
                  <a:rPr lang="en-US" sz="2100" b="1" baseline="-25000" dirty="0" err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j</a:t>
                </a:r>
                <a:r>
                  <a:rPr lang="en-US" sz="21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= (</a:t>
                </a:r>
                <a:r>
                  <a:rPr lang="en-US" sz="2100" b="1" dirty="0" err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KI</a:t>
                </a:r>
                <a:r>
                  <a:rPr lang="en-US" sz="2100" b="1" baseline="-25000" dirty="0" err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j</a:t>
                </a:r>
                <a:r>
                  <a:rPr lang="en-US" sz="21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+ A + B mod 2</a:t>
                </a:r>
                <a:r>
                  <a:rPr lang="en-US" sz="2100" b="1" baseline="30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32</a:t>
                </a:r>
                <a:r>
                  <a:rPr lang="en-US" sz="21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) &lt;&lt;&lt; (A + B),</a:t>
                </a:r>
                <a:br>
                  <a:rPr lang="en-US" sz="21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sz="21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i = i + 1 mod 44,</a:t>
                </a:r>
                <a:br>
                  <a:rPr lang="en-US" sz="21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sz="21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j = j + 1 mod c</a:t>
                </a:r>
                <a:r>
                  <a:rPr lang="en-US" sz="2100" b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,</a:t>
                </a:r>
                <a:endParaRPr lang="ru-RU" sz="2100" b="1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ru-RU" sz="21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         где </a:t>
                </a:r>
                <a:r>
                  <a:rPr lang="ru-RU" sz="21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ru-RU" sz="21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ru-RU" sz="21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j</a:t>
                </a:r>
                <a:r>
                  <a:rPr lang="ru-RU" sz="21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ru-RU" sz="21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ru-RU" sz="21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и </a:t>
                </a:r>
                <a:r>
                  <a:rPr lang="ru-RU" sz="21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B</a:t>
                </a:r>
                <a:r>
                  <a:rPr lang="ru-RU" sz="21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— временные переменные, их начальные значения равны нулю, </a:t>
                </a:r>
                <a:r>
                  <a:rPr lang="ru-RU" sz="21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KI</a:t>
                </a:r>
                <a:r>
                  <a:rPr lang="ru-RU" sz="21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— исходный ключ шифрования, представленный в виде </a:t>
                </a:r>
                <a:r>
                  <a:rPr lang="ru-RU" sz="21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ru-RU" sz="21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32-битных слов. Выполняется </a:t>
                </a:r>
                <a:r>
                  <a:rPr lang="ru-RU" sz="21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3c</a:t>
                </a:r>
                <a:r>
                  <a:rPr lang="ru-RU" sz="21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итераций цикла</a:t>
                </a:r>
                <a:r>
                  <a:rPr lang="ru-RU" sz="18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ru-RU" sz="2000" b="1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ctr">
                  <a:buNone/>
                </a:pPr>
                <a:r>
                  <a:rPr lang="ru-RU" sz="2300" b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Процесс </a:t>
                </a:r>
                <a:r>
                  <a:rPr lang="ru-RU" sz="23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шифрования</a:t>
                </a:r>
                <a:endParaRPr lang="ru-RU" sz="23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ru-RU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 </a:t>
                </a:r>
                <a:r>
                  <a:rPr lang="ru-RU" sz="2000" b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        </a:t>
                </a:r>
                <a:r>
                  <a:rPr lang="ru-RU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Как </a:t>
                </a:r>
                <a:r>
                  <a:rPr lang="ru-RU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было сказано выше, в алгоритме используется 20 раундов преобразований, перед которыми выполняется частичное входное отбеливание: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B = B + K</a:t>
                </a:r>
                <a:r>
                  <a:rPr lang="en-US" sz="20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0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mod 2</a:t>
                </a:r>
                <a:r>
                  <a:rPr lang="en-US" sz="2000" b="1" baseline="30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32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,</a:t>
                </a:r>
                <a:b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D = D + K</a:t>
                </a:r>
                <a:r>
                  <a:rPr lang="en-US" sz="20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mod 2</a:t>
                </a:r>
                <a:r>
                  <a:rPr lang="en-US" sz="2000" b="1" baseline="30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32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,</a:t>
                </a:r>
                <a:endParaRPr lang="ru-RU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ru-RU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         Где </a:t>
                </a:r>
                <a:r>
                  <a:rPr lang="ru-RU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ru-RU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ru-RU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B</a:t>
                </a:r>
                <a:r>
                  <a:rPr lang="ru-RU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ru-RU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ru-RU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ru-RU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D</a:t>
                </a:r>
                <a:r>
                  <a:rPr lang="ru-RU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— текущие значения обрабатываемые 32-битных </a:t>
                </a:r>
                <a:r>
                  <a:rPr lang="ru-RU" sz="2000" dirty="0" err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субблоков</a:t>
                </a:r>
                <a:r>
                  <a:rPr lang="ru-RU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,</a:t>
                </a:r>
                <a:br>
                  <a:rPr lang="ru-RU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</a:br>
                <a:r>
                  <a:rPr lang="ru-RU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ru-RU" sz="20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0</a:t>
                </a:r>
                <a:r>
                  <a:rPr lang="ru-RU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...K</a:t>
                </a:r>
                <a:r>
                  <a:rPr lang="ru-RU" sz="20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43</a:t>
                </a:r>
                <a:r>
                  <a:rPr lang="ru-RU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— фрагменты расширенного ключа.</a:t>
                </a:r>
              </a:p>
              <a:p>
                <a:pPr marL="0" indent="0">
                  <a:buNone/>
                </a:pPr>
                <a:r>
                  <a:rPr lang="ru-RU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Аналогичным образом выполняется частичное выходное отбеливание:</a:t>
                </a:r>
              </a:p>
              <a:p>
                <a:pPr marL="0" indent="0" algn="ctr">
                  <a:buNone/>
                </a:pP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A = A + K</a:t>
                </a:r>
                <a:r>
                  <a:rPr lang="en-US" sz="20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42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mod 2</a:t>
                </a:r>
                <a:r>
                  <a:rPr lang="en-US" sz="2000" b="1" baseline="30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32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,</a:t>
                </a:r>
                <a:b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C = C + K</a:t>
                </a:r>
                <a:r>
                  <a:rPr lang="en-US" sz="20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43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mod 2</a:t>
                </a:r>
                <a:r>
                  <a:rPr lang="en-US" sz="2000" b="1" baseline="30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32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.</a:t>
                </a:r>
                <a:endParaRPr lang="ru-RU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В каждом раунде алгоритма выполняются следующие действия:</a:t>
                </a:r>
              </a:p>
              <a:p>
                <a:pPr marL="0" indent="0" algn="ctr">
                  <a:buNone/>
                </a:pP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t</a:t>
                </a:r>
                <a:r>
                  <a:rPr lang="en-US" sz="20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= f(B) &lt;&lt;&lt; 5,</a:t>
                </a:r>
                <a:b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t</a:t>
                </a:r>
                <a:r>
                  <a:rPr lang="en-US" sz="20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= f(D) &lt;&lt;&lt; 5,</a:t>
                </a:r>
                <a:b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A = ((A </a:t>
                </a:r>
                <a14:m>
                  <m:oMath xmlns:m="http://schemas.openxmlformats.org/officeDocument/2006/math">
                    <m:r>
                      <a:rPr lang="ru-RU" sz="2000" b="1" i="1" dirty="0" smtClean="0">
                        <a:solidFill>
                          <a:schemeClr val="tx1"/>
                        </a:solidFill>
                        <a:latin typeface="Cambria Math"/>
                        <a:cs typeface="Times New Roman" pitchFamily="18" charset="0"/>
                      </a:rPr>
                      <m:t>⊕</m:t>
                    </m:r>
                  </m:oMath>
                </a14:m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t</a:t>
                </a:r>
                <a:r>
                  <a:rPr lang="en-US" sz="20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) &lt;&lt;&lt; t</a:t>
                </a:r>
                <a:r>
                  <a:rPr lang="en-US" sz="20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) + K</a:t>
                </a:r>
                <a:r>
                  <a:rPr lang="en-US" sz="20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2i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mod 2</a:t>
                </a:r>
                <a:r>
                  <a:rPr lang="en-US" sz="2000" b="1" baseline="30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32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,</a:t>
                </a:r>
                <a:b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C = ((C </a:t>
                </a:r>
                <a:r>
                  <a:rPr lang="ru-RU" sz="2000" dirty="0" smtClean="0">
                    <a:solidFill>
                      <a:schemeClr val="tx1"/>
                    </a:solidFill>
                    <a:latin typeface="Cambria Math"/>
                    <a:ea typeface="Cambria Math"/>
                    <a:cs typeface="Times New Roman" pitchFamily="18" charset="0"/>
                  </a:rPr>
                  <a:t>⊕</a:t>
                </a:r>
                <a:r>
                  <a:rPr lang="en-US" sz="2000" b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t</a:t>
                </a:r>
                <a:r>
                  <a:rPr lang="en-US" sz="20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) &lt;&lt;&lt; t</a:t>
                </a:r>
                <a:r>
                  <a:rPr lang="en-US" sz="20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) + K</a:t>
                </a:r>
                <a:r>
                  <a:rPr lang="en-US" sz="20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2i+1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mod 2</a:t>
                </a:r>
                <a:r>
                  <a:rPr lang="en-US" sz="2000" b="1" baseline="30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32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,</a:t>
                </a:r>
                <a:endParaRPr lang="ru-RU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ru-RU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           Где </a:t>
                </a:r>
                <a:r>
                  <a:rPr lang="ru-RU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t</a:t>
                </a:r>
                <a:r>
                  <a:rPr lang="ru-RU" sz="20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ru-RU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и </a:t>
                </a:r>
                <a:r>
                  <a:rPr lang="ru-RU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t</a:t>
                </a:r>
                <a:r>
                  <a:rPr lang="ru-RU" sz="20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ru-RU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— временные переменные, количество бит вращения на переменное число бит определяется значением 5 младших бит параметра (</a:t>
                </a:r>
                <a:r>
                  <a:rPr lang="ru-RU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t</a:t>
                </a:r>
                <a:r>
                  <a:rPr lang="ru-RU" sz="20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ru-RU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или </a:t>
                </a:r>
                <a:r>
                  <a:rPr lang="ru-RU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t</a:t>
                </a:r>
                <a:r>
                  <a:rPr lang="ru-RU" sz="20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ru-RU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),</a:t>
                </a:r>
                <a:br>
                  <a:rPr lang="ru-RU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</a:br>
                <a:r>
                  <a:rPr lang="ru-RU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функция </a:t>
                </a:r>
                <a:r>
                  <a:rPr lang="ru-RU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f()</a:t>
                </a:r>
                <a:r>
                  <a:rPr lang="ru-RU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выполняет следующее квадратичное преобразование:</a:t>
                </a:r>
              </a:p>
              <a:p>
                <a:pPr marL="0" indent="0" algn="ctr">
                  <a:buNone/>
                </a:pPr>
                <a:r>
                  <a:rPr lang="ru-RU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f(x) = x * (2x + 1) mod2</a:t>
                </a:r>
                <a:r>
                  <a:rPr lang="ru-RU" sz="2000" b="1" baseline="30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32</a:t>
                </a:r>
                <a:endParaRPr lang="ru-RU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В конце каждого раунда выполняется сдвиг </a:t>
                </a:r>
                <a:r>
                  <a:rPr lang="ru-RU" sz="2000" dirty="0" err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субблоков</a:t>
                </a:r>
                <a:r>
                  <a:rPr lang="ru-RU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. Структура алгоритма представлена на рис.1.</a:t>
                </a:r>
              </a:p>
              <a:p>
                <a:pPr marL="0" indent="0">
                  <a:buNone/>
                </a:pPr>
                <a:endParaRPr lang="ru-RU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44624"/>
                <a:ext cx="8496944" cy="6696744"/>
              </a:xfrm>
              <a:blipFill rotWithShape="1">
                <a:blip r:embed="rId2"/>
                <a:stretch>
                  <a:fillRect l="-359" t="-1001" b="-5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6480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260648"/>
            <a:ext cx="8424936" cy="63367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Схема алгоритм шифрования 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RC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-6</a:t>
            </a:r>
          </a:p>
          <a:p>
            <a:pPr marL="0" indent="0" algn="ctr">
              <a:buNone/>
            </a:pPr>
            <a:endParaRPr lang="ru-RU" sz="1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980728"/>
            <a:ext cx="6840760" cy="5328592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</p:pic>
      <p:sp>
        <p:nvSpPr>
          <p:cNvPr id="6" name="Прямоугольник 5"/>
          <p:cNvSpPr/>
          <p:nvPr/>
        </p:nvSpPr>
        <p:spPr>
          <a:xfrm>
            <a:off x="2411760" y="615853"/>
            <a:ext cx="864096" cy="36004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A=32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275856" y="615853"/>
            <a:ext cx="864096" cy="36004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  <a:r>
              <a:rPr lang="en-US" dirty="0" smtClean="0">
                <a:solidFill>
                  <a:schemeClr val="tx1"/>
                </a:solidFill>
              </a:rPr>
              <a:t>=32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4139952" y="615853"/>
            <a:ext cx="864096" cy="36004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  <a:r>
              <a:rPr lang="en-US" dirty="0" smtClean="0">
                <a:solidFill>
                  <a:schemeClr val="tx1"/>
                </a:solidFill>
              </a:rPr>
              <a:t>=32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007395" y="622106"/>
            <a:ext cx="864096" cy="36004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  <a:r>
              <a:rPr lang="en-US" dirty="0" smtClean="0">
                <a:solidFill>
                  <a:schemeClr val="tx1"/>
                </a:solidFill>
              </a:rPr>
              <a:t>=32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934814" y="1700808"/>
            <a:ext cx="432048" cy="2880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K</a:t>
            </a:r>
            <a:r>
              <a:rPr lang="en-US" sz="1000" dirty="0" smtClean="0">
                <a:solidFill>
                  <a:schemeClr val="tx1"/>
                </a:solidFill>
              </a:rPr>
              <a:t>0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7123180" y="1702428"/>
            <a:ext cx="432048" cy="2880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K</a:t>
            </a:r>
            <a:r>
              <a:rPr lang="en-US" sz="1000" dirty="0">
                <a:solidFill>
                  <a:schemeClr val="tx1"/>
                </a:solidFill>
              </a:rPr>
              <a:t>1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2267744" y="3623252"/>
            <a:ext cx="432048" cy="2880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K</a:t>
            </a:r>
            <a:r>
              <a:rPr lang="en-US" sz="1000" dirty="0">
                <a:solidFill>
                  <a:schemeClr val="tx1"/>
                </a:solidFill>
              </a:rPr>
              <a:t>2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5439442" y="3612366"/>
            <a:ext cx="716733" cy="2880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K</a:t>
            </a:r>
            <a:r>
              <a:rPr lang="en-US" sz="1000" dirty="0">
                <a:solidFill>
                  <a:schemeClr val="tx1"/>
                </a:solidFill>
              </a:rPr>
              <a:t>3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17" name="Объект 2"/>
          <p:cNvSpPr txBox="1">
            <a:spLocks/>
          </p:cNvSpPr>
          <p:nvPr/>
        </p:nvSpPr>
        <p:spPr>
          <a:xfrm>
            <a:off x="407910" y="260648"/>
            <a:ext cx="8424936" cy="6336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Схема алгоритм шифрования 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RC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-6</a:t>
            </a:r>
          </a:p>
          <a:p>
            <a:pPr marL="0" indent="0" algn="ctr">
              <a:buFont typeface="Arial" pitchFamily="34" charset="0"/>
              <a:buNone/>
            </a:pPr>
            <a:endParaRPr lang="ru-RU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5439442" y="5589240"/>
            <a:ext cx="788741" cy="2880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K</a:t>
            </a:r>
            <a:r>
              <a:rPr lang="en-US" sz="1000" dirty="0" smtClean="0">
                <a:solidFill>
                  <a:schemeClr val="tx1"/>
                </a:solidFill>
              </a:rPr>
              <a:t>43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2267744" y="5589240"/>
            <a:ext cx="720080" cy="2880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K</a:t>
            </a:r>
            <a:r>
              <a:rPr lang="en-US" sz="1000" dirty="0" smtClean="0">
                <a:solidFill>
                  <a:schemeClr val="tx1"/>
                </a:solidFill>
              </a:rPr>
              <a:t>42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7035824" y="4293096"/>
            <a:ext cx="1944216" cy="36004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F()=</a:t>
            </a:r>
            <a:r>
              <a:rPr lang="ru-RU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x * (2x + </a:t>
            </a:r>
            <a:r>
              <a:rPr lang="ru-RU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1)mod2</a:t>
            </a:r>
            <a:r>
              <a:rPr lang="ru-RU" sz="1400" b="1" baseline="30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32</a:t>
            </a:r>
            <a:endParaRPr lang="ru-RU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Прямая со стрелкой 3"/>
          <p:cNvCxnSpPr/>
          <p:nvPr/>
        </p:nvCxnSpPr>
        <p:spPr>
          <a:xfrm>
            <a:off x="2992962" y="1547699"/>
            <a:ext cx="0" cy="261969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flipH="1">
            <a:off x="3563888" y="1833233"/>
            <a:ext cx="370926" cy="115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760" y="1635139"/>
            <a:ext cx="444127" cy="427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2" name="Прямая со стрелкой 31"/>
          <p:cNvCxnSpPr/>
          <p:nvPr/>
        </p:nvCxnSpPr>
        <p:spPr>
          <a:xfrm>
            <a:off x="6220747" y="1525222"/>
            <a:ext cx="0" cy="261969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/>
          <p:nvPr/>
        </p:nvCxnSpPr>
        <p:spPr>
          <a:xfrm flipH="1">
            <a:off x="6791674" y="1833233"/>
            <a:ext cx="331506" cy="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659" y="1645320"/>
            <a:ext cx="444127" cy="427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7" name="Прямая со стрелкой 36"/>
          <p:cNvCxnSpPr/>
          <p:nvPr/>
        </p:nvCxnSpPr>
        <p:spPr>
          <a:xfrm flipH="1" flipV="1">
            <a:off x="6228183" y="2492896"/>
            <a:ext cx="894997" cy="1800200"/>
          </a:xfrm>
          <a:prstGeom prst="straightConnector1">
            <a:avLst/>
          </a:prstGeom>
          <a:ln w="28575">
            <a:solidFill>
              <a:srgbClr val="00B0F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/>
          <p:nvPr/>
        </p:nvCxnSpPr>
        <p:spPr>
          <a:xfrm flipH="1" flipV="1">
            <a:off x="2987825" y="2505472"/>
            <a:ext cx="4047999" cy="1800200"/>
          </a:xfrm>
          <a:prstGeom prst="straightConnector1">
            <a:avLst/>
          </a:prstGeom>
          <a:ln w="28575">
            <a:solidFill>
              <a:srgbClr val="00B0F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Полилиния 41"/>
          <p:cNvSpPr/>
          <p:nvPr/>
        </p:nvSpPr>
        <p:spPr>
          <a:xfrm>
            <a:off x="3119761" y="2046514"/>
            <a:ext cx="298354" cy="435429"/>
          </a:xfrm>
          <a:custGeom>
            <a:avLst/>
            <a:gdLst>
              <a:gd name="connsiteX0" fmla="*/ 239485 w 239485"/>
              <a:gd name="connsiteY0" fmla="*/ 0 h 435429"/>
              <a:gd name="connsiteX1" fmla="*/ 228600 w 239485"/>
              <a:gd name="connsiteY1" fmla="*/ 174172 h 435429"/>
              <a:gd name="connsiteX2" fmla="*/ 185057 w 239485"/>
              <a:gd name="connsiteY2" fmla="*/ 272143 h 435429"/>
              <a:gd name="connsiteX3" fmla="*/ 163285 w 239485"/>
              <a:gd name="connsiteY3" fmla="*/ 337457 h 435429"/>
              <a:gd name="connsiteX4" fmla="*/ 152400 w 239485"/>
              <a:gd name="connsiteY4" fmla="*/ 370115 h 435429"/>
              <a:gd name="connsiteX5" fmla="*/ 130628 w 239485"/>
              <a:gd name="connsiteY5" fmla="*/ 391886 h 435429"/>
              <a:gd name="connsiteX6" fmla="*/ 32657 w 239485"/>
              <a:gd name="connsiteY6" fmla="*/ 435429 h 435429"/>
              <a:gd name="connsiteX7" fmla="*/ 0 w 239485"/>
              <a:gd name="connsiteY7" fmla="*/ 435429 h 435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9485" h="435429">
                <a:moveTo>
                  <a:pt x="239485" y="0"/>
                </a:moveTo>
                <a:cubicBezTo>
                  <a:pt x="235857" y="58057"/>
                  <a:pt x="236460" y="116535"/>
                  <a:pt x="228600" y="174172"/>
                </a:cubicBezTo>
                <a:cubicBezTo>
                  <a:pt x="215849" y="267677"/>
                  <a:pt x="212056" y="211395"/>
                  <a:pt x="185057" y="272143"/>
                </a:cubicBezTo>
                <a:cubicBezTo>
                  <a:pt x="175736" y="293114"/>
                  <a:pt x="170542" y="315686"/>
                  <a:pt x="163285" y="337457"/>
                </a:cubicBezTo>
                <a:cubicBezTo>
                  <a:pt x="159656" y="348343"/>
                  <a:pt x="160514" y="362001"/>
                  <a:pt x="152400" y="370115"/>
                </a:cubicBezTo>
                <a:cubicBezTo>
                  <a:pt x="145143" y="377372"/>
                  <a:pt x="138642" y="385475"/>
                  <a:pt x="130628" y="391886"/>
                </a:cubicBezTo>
                <a:cubicBezTo>
                  <a:pt x="105964" y="411616"/>
                  <a:pt x="62866" y="435429"/>
                  <a:pt x="32657" y="435429"/>
                </a:cubicBezTo>
                <a:lnTo>
                  <a:pt x="0" y="435429"/>
                </a:lnTo>
              </a:path>
            </a:pathLst>
          </a:custGeom>
          <a:ln w="31750">
            <a:solidFill>
              <a:srgbClr val="00CC00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019" y="2716974"/>
            <a:ext cx="363682" cy="346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8" name="Прямая со стрелкой 47"/>
          <p:cNvCxnSpPr/>
          <p:nvPr/>
        </p:nvCxnSpPr>
        <p:spPr>
          <a:xfrm flipH="1">
            <a:off x="2514329" y="2617709"/>
            <a:ext cx="370926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 стрелкой 50"/>
          <p:cNvCxnSpPr/>
          <p:nvPr/>
        </p:nvCxnSpPr>
        <p:spPr>
          <a:xfrm flipH="1">
            <a:off x="1896818" y="2488838"/>
            <a:ext cx="370926" cy="0"/>
          </a:xfrm>
          <a:prstGeom prst="straightConnector1">
            <a:avLst/>
          </a:prstGeom>
          <a:ln w="28575">
            <a:solidFill>
              <a:srgbClr val="66FF3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/>
          <p:cNvCxnSpPr/>
          <p:nvPr/>
        </p:nvCxnSpPr>
        <p:spPr>
          <a:xfrm>
            <a:off x="1835696" y="1523163"/>
            <a:ext cx="0" cy="65121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Блок-схема: ИЛИ 49"/>
          <p:cNvSpPr/>
          <p:nvPr/>
        </p:nvSpPr>
        <p:spPr>
          <a:xfrm>
            <a:off x="1525892" y="2239623"/>
            <a:ext cx="360040" cy="318518"/>
          </a:xfrm>
          <a:prstGeom prst="flowChartOr">
            <a:avLst/>
          </a:prstGeom>
          <a:solidFill>
            <a:schemeClr val="bg1"/>
          </a:solidFill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Полилиния 57"/>
          <p:cNvSpPr/>
          <p:nvPr/>
        </p:nvSpPr>
        <p:spPr>
          <a:xfrm>
            <a:off x="1926771" y="2449286"/>
            <a:ext cx="3516086" cy="544285"/>
          </a:xfrm>
          <a:custGeom>
            <a:avLst/>
            <a:gdLst>
              <a:gd name="connsiteX0" fmla="*/ 3516086 w 3516086"/>
              <a:gd name="connsiteY0" fmla="*/ 0 h 544285"/>
              <a:gd name="connsiteX1" fmla="*/ 3505200 w 3516086"/>
              <a:gd name="connsiteY1" fmla="*/ 54428 h 544285"/>
              <a:gd name="connsiteX2" fmla="*/ 3494315 w 3516086"/>
              <a:gd name="connsiteY2" fmla="*/ 87085 h 544285"/>
              <a:gd name="connsiteX3" fmla="*/ 3483429 w 3516086"/>
              <a:gd name="connsiteY3" fmla="*/ 381000 h 544285"/>
              <a:gd name="connsiteX4" fmla="*/ 3450772 w 3516086"/>
              <a:gd name="connsiteY4" fmla="*/ 500743 h 544285"/>
              <a:gd name="connsiteX5" fmla="*/ 3418115 w 3516086"/>
              <a:gd name="connsiteY5" fmla="*/ 522514 h 544285"/>
              <a:gd name="connsiteX6" fmla="*/ 3091543 w 3516086"/>
              <a:gd name="connsiteY6" fmla="*/ 511628 h 544285"/>
              <a:gd name="connsiteX7" fmla="*/ 2329543 w 3516086"/>
              <a:gd name="connsiteY7" fmla="*/ 489857 h 544285"/>
              <a:gd name="connsiteX8" fmla="*/ 1262743 w 3516086"/>
              <a:gd name="connsiteY8" fmla="*/ 500743 h 544285"/>
              <a:gd name="connsiteX9" fmla="*/ 1230086 w 3516086"/>
              <a:gd name="connsiteY9" fmla="*/ 511628 h 544285"/>
              <a:gd name="connsiteX10" fmla="*/ 1175658 w 3516086"/>
              <a:gd name="connsiteY10" fmla="*/ 544285 h 544285"/>
              <a:gd name="connsiteX11" fmla="*/ 315686 w 3516086"/>
              <a:gd name="connsiteY11" fmla="*/ 533400 h 544285"/>
              <a:gd name="connsiteX12" fmla="*/ 283029 w 3516086"/>
              <a:gd name="connsiteY12" fmla="*/ 522514 h 544285"/>
              <a:gd name="connsiteX13" fmla="*/ 217715 w 3516086"/>
              <a:gd name="connsiteY13" fmla="*/ 489857 h 544285"/>
              <a:gd name="connsiteX14" fmla="*/ 119743 w 3516086"/>
              <a:gd name="connsiteY14" fmla="*/ 500743 h 544285"/>
              <a:gd name="connsiteX15" fmla="*/ 54429 w 3516086"/>
              <a:gd name="connsiteY15" fmla="*/ 489857 h 544285"/>
              <a:gd name="connsiteX16" fmla="*/ 0 w 3516086"/>
              <a:gd name="connsiteY16" fmla="*/ 489857 h 544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516086" h="544285">
                <a:moveTo>
                  <a:pt x="3516086" y="0"/>
                </a:moveTo>
                <a:cubicBezTo>
                  <a:pt x="3512457" y="18143"/>
                  <a:pt x="3509687" y="36478"/>
                  <a:pt x="3505200" y="54428"/>
                </a:cubicBezTo>
                <a:cubicBezTo>
                  <a:pt x="3502417" y="65560"/>
                  <a:pt x="3495078" y="75636"/>
                  <a:pt x="3494315" y="87085"/>
                </a:cubicBezTo>
                <a:cubicBezTo>
                  <a:pt x="3487794" y="184907"/>
                  <a:pt x="3488867" y="283112"/>
                  <a:pt x="3483429" y="381000"/>
                </a:cubicBezTo>
                <a:cubicBezTo>
                  <a:pt x="3479375" y="453978"/>
                  <a:pt x="3493289" y="466729"/>
                  <a:pt x="3450772" y="500743"/>
                </a:cubicBezTo>
                <a:cubicBezTo>
                  <a:pt x="3440556" y="508916"/>
                  <a:pt x="3429001" y="515257"/>
                  <a:pt x="3418115" y="522514"/>
                </a:cubicBezTo>
                <a:lnTo>
                  <a:pt x="3091543" y="511628"/>
                </a:lnTo>
                <a:cubicBezTo>
                  <a:pt x="2339941" y="495970"/>
                  <a:pt x="2606584" y="559119"/>
                  <a:pt x="2329543" y="489857"/>
                </a:cubicBezTo>
                <a:lnTo>
                  <a:pt x="1262743" y="500743"/>
                </a:lnTo>
                <a:cubicBezTo>
                  <a:pt x="1251271" y="500970"/>
                  <a:pt x="1239925" y="505724"/>
                  <a:pt x="1230086" y="511628"/>
                </a:cubicBezTo>
                <a:cubicBezTo>
                  <a:pt x="1155374" y="556455"/>
                  <a:pt x="1268169" y="513450"/>
                  <a:pt x="1175658" y="544285"/>
                </a:cubicBezTo>
                <a:lnTo>
                  <a:pt x="315686" y="533400"/>
                </a:lnTo>
                <a:cubicBezTo>
                  <a:pt x="304215" y="533120"/>
                  <a:pt x="293292" y="527646"/>
                  <a:pt x="283029" y="522514"/>
                </a:cubicBezTo>
                <a:cubicBezTo>
                  <a:pt x="198620" y="480310"/>
                  <a:pt x="299799" y="517219"/>
                  <a:pt x="217715" y="489857"/>
                </a:cubicBezTo>
                <a:cubicBezTo>
                  <a:pt x="185058" y="493486"/>
                  <a:pt x="152601" y="500743"/>
                  <a:pt x="119743" y="500743"/>
                </a:cubicBezTo>
                <a:cubicBezTo>
                  <a:pt x="97671" y="500743"/>
                  <a:pt x="76410" y="491855"/>
                  <a:pt x="54429" y="489857"/>
                </a:cubicBezTo>
                <a:cubicBezTo>
                  <a:pt x="36361" y="488214"/>
                  <a:pt x="18143" y="489857"/>
                  <a:pt x="0" y="489857"/>
                </a:cubicBezTo>
              </a:path>
            </a:pathLst>
          </a:custGeom>
          <a:ln w="28575">
            <a:solidFill>
              <a:srgbClr val="FF9900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795" y="3554341"/>
            <a:ext cx="444127" cy="427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5694" y="3564522"/>
            <a:ext cx="444127" cy="427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795" y="5546401"/>
            <a:ext cx="444127" cy="427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5694" y="5589240"/>
            <a:ext cx="444127" cy="427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6" name="Прямая со стрелкой 65"/>
          <p:cNvCxnSpPr/>
          <p:nvPr/>
        </p:nvCxnSpPr>
        <p:spPr>
          <a:xfrm>
            <a:off x="5071402" y="1525926"/>
            <a:ext cx="0" cy="65121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Блок-схема: ИЛИ 66"/>
          <p:cNvSpPr/>
          <p:nvPr/>
        </p:nvSpPr>
        <p:spPr>
          <a:xfrm>
            <a:off x="4740696" y="2239623"/>
            <a:ext cx="360040" cy="318518"/>
          </a:xfrm>
          <a:prstGeom prst="flowChartOr">
            <a:avLst/>
          </a:prstGeom>
          <a:solidFill>
            <a:schemeClr val="bg1"/>
          </a:solidFill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Полилиния 67"/>
          <p:cNvSpPr/>
          <p:nvPr/>
        </p:nvSpPr>
        <p:spPr>
          <a:xfrm>
            <a:off x="6345230" y="2068286"/>
            <a:ext cx="298354" cy="435429"/>
          </a:xfrm>
          <a:custGeom>
            <a:avLst/>
            <a:gdLst>
              <a:gd name="connsiteX0" fmla="*/ 239485 w 239485"/>
              <a:gd name="connsiteY0" fmla="*/ 0 h 435429"/>
              <a:gd name="connsiteX1" fmla="*/ 228600 w 239485"/>
              <a:gd name="connsiteY1" fmla="*/ 174172 h 435429"/>
              <a:gd name="connsiteX2" fmla="*/ 185057 w 239485"/>
              <a:gd name="connsiteY2" fmla="*/ 272143 h 435429"/>
              <a:gd name="connsiteX3" fmla="*/ 163285 w 239485"/>
              <a:gd name="connsiteY3" fmla="*/ 337457 h 435429"/>
              <a:gd name="connsiteX4" fmla="*/ 152400 w 239485"/>
              <a:gd name="connsiteY4" fmla="*/ 370115 h 435429"/>
              <a:gd name="connsiteX5" fmla="*/ 130628 w 239485"/>
              <a:gd name="connsiteY5" fmla="*/ 391886 h 435429"/>
              <a:gd name="connsiteX6" fmla="*/ 32657 w 239485"/>
              <a:gd name="connsiteY6" fmla="*/ 435429 h 435429"/>
              <a:gd name="connsiteX7" fmla="*/ 0 w 239485"/>
              <a:gd name="connsiteY7" fmla="*/ 435429 h 435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9485" h="435429">
                <a:moveTo>
                  <a:pt x="239485" y="0"/>
                </a:moveTo>
                <a:cubicBezTo>
                  <a:pt x="235857" y="58057"/>
                  <a:pt x="236460" y="116535"/>
                  <a:pt x="228600" y="174172"/>
                </a:cubicBezTo>
                <a:cubicBezTo>
                  <a:pt x="215849" y="267677"/>
                  <a:pt x="212056" y="211395"/>
                  <a:pt x="185057" y="272143"/>
                </a:cubicBezTo>
                <a:cubicBezTo>
                  <a:pt x="175736" y="293114"/>
                  <a:pt x="170542" y="315686"/>
                  <a:pt x="163285" y="337457"/>
                </a:cubicBezTo>
                <a:cubicBezTo>
                  <a:pt x="159656" y="348343"/>
                  <a:pt x="160514" y="362001"/>
                  <a:pt x="152400" y="370115"/>
                </a:cubicBezTo>
                <a:cubicBezTo>
                  <a:pt x="145143" y="377372"/>
                  <a:pt x="138642" y="385475"/>
                  <a:pt x="130628" y="391886"/>
                </a:cubicBezTo>
                <a:cubicBezTo>
                  <a:pt x="105964" y="411616"/>
                  <a:pt x="62866" y="435429"/>
                  <a:pt x="32657" y="435429"/>
                </a:cubicBezTo>
                <a:lnTo>
                  <a:pt x="0" y="435429"/>
                </a:lnTo>
              </a:path>
            </a:pathLst>
          </a:custGeom>
          <a:ln w="31750">
            <a:solidFill>
              <a:srgbClr val="00CC00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0" name="Прямая со стрелкой 69"/>
          <p:cNvCxnSpPr/>
          <p:nvPr/>
        </p:nvCxnSpPr>
        <p:spPr>
          <a:xfrm flipH="1">
            <a:off x="5739798" y="2639481"/>
            <a:ext cx="370926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 стрелкой 70"/>
          <p:cNvCxnSpPr/>
          <p:nvPr/>
        </p:nvCxnSpPr>
        <p:spPr>
          <a:xfrm flipH="1">
            <a:off x="5122287" y="2510610"/>
            <a:ext cx="370926" cy="0"/>
          </a:xfrm>
          <a:prstGeom prst="straightConnector1">
            <a:avLst/>
          </a:prstGeom>
          <a:ln w="28575">
            <a:solidFill>
              <a:srgbClr val="66FF3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7719" y="3066306"/>
            <a:ext cx="363682" cy="346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927" y="2211777"/>
            <a:ext cx="363682" cy="346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5299" y="2200891"/>
            <a:ext cx="363682" cy="346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5" name="Прямоугольник 74"/>
          <p:cNvSpPr/>
          <p:nvPr/>
        </p:nvSpPr>
        <p:spPr>
          <a:xfrm>
            <a:off x="851764" y="269940"/>
            <a:ext cx="983932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128 </a:t>
            </a:r>
            <a:r>
              <a:rPr lang="ru-RU" sz="1200" dirty="0" smtClean="0">
                <a:solidFill>
                  <a:schemeClr val="tx1"/>
                </a:solidFill>
              </a:rPr>
              <a:t>БИТ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0" name="Полилиния 59"/>
          <p:cNvSpPr/>
          <p:nvPr/>
        </p:nvSpPr>
        <p:spPr>
          <a:xfrm>
            <a:off x="1317171" y="653143"/>
            <a:ext cx="827315" cy="185057"/>
          </a:xfrm>
          <a:custGeom>
            <a:avLst/>
            <a:gdLst>
              <a:gd name="connsiteX0" fmla="*/ 0 w 827315"/>
              <a:gd name="connsiteY0" fmla="*/ 0 h 185057"/>
              <a:gd name="connsiteX1" fmla="*/ 21772 w 827315"/>
              <a:gd name="connsiteY1" fmla="*/ 54428 h 185057"/>
              <a:gd name="connsiteX2" fmla="*/ 43543 w 827315"/>
              <a:gd name="connsiteY2" fmla="*/ 76200 h 185057"/>
              <a:gd name="connsiteX3" fmla="*/ 54429 w 827315"/>
              <a:gd name="connsiteY3" fmla="*/ 108857 h 185057"/>
              <a:gd name="connsiteX4" fmla="*/ 152400 w 827315"/>
              <a:gd name="connsiteY4" fmla="*/ 163286 h 185057"/>
              <a:gd name="connsiteX5" fmla="*/ 228600 w 827315"/>
              <a:gd name="connsiteY5" fmla="*/ 174171 h 185057"/>
              <a:gd name="connsiteX6" fmla="*/ 424543 w 827315"/>
              <a:gd name="connsiteY6" fmla="*/ 185057 h 185057"/>
              <a:gd name="connsiteX7" fmla="*/ 827315 w 827315"/>
              <a:gd name="connsiteY7" fmla="*/ 174171 h 185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7315" h="185057">
                <a:moveTo>
                  <a:pt x="0" y="0"/>
                </a:moveTo>
                <a:cubicBezTo>
                  <a:pt x="7257" y="18143"/>
                  <a:pt x="12077" y="37462"/>
                  <a:pt x="21772" y="54428"/>
                </a:cubicBezTo>
                <a:cubicBezTo>
                  <a:pt x="26864" y="63339"/>
                  <a:pt x="38263" y="67399"/>
                  <a:pt x="43543" y="76200"/>
                </a:cubicBezTo>
                <a:cubicBezTo>
                  <a:pt x="49447" y="86039"/>
                  <a:pt x="46315" y="100743"/>
                  <a:pt x="54429" y="108857"/>
                </a:cubicBezTo>
                <a:cubicBezTo>
                  <a:pt x="76251" y="130679"/>
                  <a:pt x="118179" y="156442"/>
                  <a:pt x="152400" y="163286"/>
                </a:cubicBezTo>
                <a:cubicBezTo>
                  <a:pt x="177560" y="168318"/>
                  <a:pt x="203024" y="172125"/>
                  <a:pt x="228600" y="174171"/>
                </a:cubicBezTo>
                <a:cubicBezTo>
                  <a:pt x="293807" y="179387"/>
                  <a:pt x="359229" y="181428"/>
                  <a:pt x="424543" y="185057"/>
                </a:cubicBezTo>
                <a:lnTo>
                  <a:pt x="827315" y="174171"/>
                </a:lnTo>
              </a:path>
            </a:pathLst>
          </a:custGeom>
          <a:ln w="38100" cmpd="sng">
            <a:solidFill>
              <a:srgbClr val="0000FF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Полилиния 79"/>
          <p:cNvSpPr/>
          <p:nvPr/>
        </p:nvSpPr>
        <p:spPr>
          <a:xfrm>
            <a:off x="1774371" y="2460171"/>
            <a:ext cx="1594093" cy="3058886"/>
          </a:xfrm>
          <a:custGeom>
            <a:avLst/>
            <a:gdLst>
              <a:gd name="connsiteX0" fmla="*/ 21772 w 1594093"/>
              <a:gd name="connsiteY0" fmla="*/ 3058886 h 3058886"/>
              <a:gd name="connsiteX1" fmla="*/ 10886 w 1594093"/>
              <a:gd name="connsiteY1" fmla="*/ 2841172 h 3058886"/>
              <a:gd name="connsiteX2" fmla="*/ 0 w 1594093"/>
              <a:gd name="connsiteY2" fmla="*/ 2808515 h 3058886"/>
              <a:gd name="connsiteX3" fmla="*/ 10886 w 1594093"/>
              <a:gd name="connsiteY3" fmla="*/ 2351315 h 3058886"/>
              <a:gd name="connsiteX4" fmla="*/ 65315 w 1594093"/>
              <a:gd name="connsiteY4" fmla="*/ 2275115 h 3058886"/>
              <a:gd name="connsiteX5" fmla="*/ 108858 w 1594093"/>
              <a:gd name="connsiteY5" fmla="*/ 2231572 h 3058886"/>
              <a:gd name="connsiteX6" fmla="*/ 130629 w 1594093"/>
              <a:gd name="connsiteY6" fmla="*/ 2209800 h 3058886"/>
              <a:gd name="connsiteX7" fmla="*/ 163286 w 1594093"/>
              <a:gd name="connsiteY7" fmla="*/ 2198915 h 3058886"/>
              <a:gd name="connsiteX8" fmla="*/ 304800 w 1594093"/>
              <a:gd name="connsiteY8" fmla="*/ 2166258 h 3058886"/>
              <a:gd name="connsiteX9" fmla="*/ 337458 w 1594093"/>
              <a:gd name="connsiteY9" fmla="*/ 2155372 h 3058886"/>
              <a:gd name="connsiteX10" fmla="*/ 424543 w 1594093"/>
              <a:gd name="connsiteY10" fmla="*/ 2133600 h 3058886"/>
              <a:gd name="connsiteX11" fmla="*/ 457200 w 1594093"/>
              <a:gd name="connsiteY11" fmla="*/ 2122715 h 3058886"/>
              <a:gd name="connsiteX12" fmla="*/ 522515 w 1594093"/>
              <a:gd name="connsiteY12" fmla="*/ 2111829 h 3058886"/>
              <a:gd name="connsiteX13" fmla="*/ 598715 w 1594093"/>
              <a:gd name="connsiteY13" fmla="*/ 2090058 h 3058886"/>
              <a:gd name="connsiteX14" fmla="*/ 685800 w 1594093"/>
              <a:gd name="connsiteY14" fmla="*/ 2068286 h 3058886"/>
              <a:gd name="connsiteX15" fmla="*/ 772886 w 1594093"/>
              <a:gd name="connsiteY15" fmla="*/ 2046515 h 3058886"/>
              <a:gd name="connsiteX16" fmla="*/ 827315 w 1594093"/>
              <a:gd name="connsiteY16" fmla="*/ 2035629 h 3058886"/>
              <a:gd name="connsiteX17" fmla="*/ 892629 w 1594093"/>
              <a:gd name="connsiteY17" fmla="*/ 2013858 h 3058886"/>
              <a:gd name="connsiteX18" fmla="*/ 925286 w 1594093"/>
              <a:gd name="connsiteY18" fmla="*/ 1992086 h 3058886"/>
              <a:gd name="connsiteX19" fmla="*/ 1001486 w 1594093"/>
              <a:gd name="connsiteY19" fmla="*/ 1970315 h 3058886"/>
              <a:gd name="connsiteX20" fmla="*/ 1066800 w 1594093"/>
              <a:gd name="connsiteY20" fmla="*/ 1937658 h 3058886"/>
              <a:gd name="connsiteX21" fmla="*/ 1110343 w 1594093"/>
              <a:gd name="connsiteY21" fmla="*/ 1915886 h 3058886"/>
              <a:gd name="connsiteX22" fmla="*/ 1186543 w 1594093"/>
              <a:gd name="connsiteY22" fmla="*/ 1894115 h 3058886"/>
              <a:gd name="connsiteX23" fmla="*/ 1219200 w 1594093"/>
              <a:gd name="connsiteY23" fmla="*/ 1883229 h 3058886"/>
              <a:gd name="connsiteX24" fmla="*/ 1273629 w 1594093"/>
              <a:gd name="connsiteY24" fmla="*/ 1872343 h 3058886"/>
              <a:gd name="connsiteX25" fmla="*/ 1360715 w 1594093"/>
              <a:gd name="connsiteY25" fmla="*/ 1850572 h 3058886"/>
              <a:gd name="connsiteX26" fmla="*/ 1404258 w 1594093"/>
              <a:gd name="connsiteY26" fmla="*/ 1839686 h 3058886"/>
              <a:gd name="connsiteX27" fmla="*/ 1436915 w 1594093"/>
              <a:gd name="connsiteY27" fmla="*/ 1828800 h 3058886"/>
              <a:gd name="connsiteX28" fmla="*/ 1491343 w 1594093"/>
              <a:gd name="connsiteY28" fmla="*/ 1817915 h 3058886"/>
              <a:gd name="connsiteX29" fmla="*/ 1534886 w 1594093"/>
              <a:gd name="connsiteY29" fmla="*/ 1807029 h 3058886"/>
              <a:gd name="connsiteX30" fmla="*/ 1556658 w 1594093"/>
              <a:gd name="connsiteY30" fmla="*/ 1785258 h 3058886"/>
              <a:gd name="connsiteX31" fmla="*/ 1589315 w 1594093"/>
              <a:gd name="connsiteY31" fmla="*/ 1763486 h 3058886"/>
              <a:gd name="connsiteX32" fmla="*/ 1589315 w 1594093"/>
              <a:gd name="connsiteY32" fmla="*/ 0 h 305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594093" h="3058886">
                <a:moveTo>
                  <a:pt x="21772" y="3058886"/>
                </a:moveTo>
                <a:cubicBezTo>
                  <a:pt x="18143" y="2986315"/>
                  <a:pt x="17181" y="2913561"/>
                  <a:pt x="10886" y="2841172"/>
                </a:cubicBezTo>
                <a:cubicBezTo>
                  <a:pt x="9892" y="2829741"/>
                  <a:pt x="0" y="2819990"/>
                  <a:pt x="0" y="2808515"/>
                </a:cubicBezTo>
                <a:cubicBezTo>
                  <a:pt x="0" y="2656072"/>
                  <a:pt x="4117" y="2503608"/>
                  <a:pt x="10886" y="2351315"/>
                </a:cubicBezTo>
                <a:cubicBezTo>
                  <a:pt x="12502" y="2314946"/>
                  <a:pt x="41852" y="2298578"/>
                  <a:pt x="65315" y="2275115"/>
                </a:cubicBezTo>
                <a:lnTo>
                  <a:pt x="108858" y="2231572"/>
                </a:lnTo>
                <a:cubicBezTo>
                  <a:pt x="116115" y="2224315"/>
                  <a:pt x="120892" y="2213045"/>
                  <a:pt x="130629" y="2209800"/>
                </a:cubicBezTo>
                <a:lnTo>
                  <a:pt x="163286" y="2198915"/>
                </a:lnTo>
                <a:cubicBezTo>
                  <a:pt x="215415" y="2146786"/>
                  <a:pt x="166960" y="2185949"/>
                  <a:pt x="304800" y="2166258"/>
                </a:cubicBezTo>
                <a:cubicBezTo>
                  <a:pt x="316160" y="2164635"/>
                  <a:pt x="326387" y="2158391"/>
                  <a:pt x="337458" y="2155372"/>
                </a:cubicBezTo>
                <a:cubicBezTo>
                  <a:pt x="366325" y="2147499"/>
                  <a:pt x="396157" y="2143062"/>
                  <a:pt x="424543" y="2133600"/>
                </a:cubicBezTo>
                <a:cubicBezTo>
                  <a:pt x="435429" y="2129972"/>
                  <a:pt x="445999" y="2125204"/>
                  <a:pt x="457200" y="2122715"/>
                </a:cubicBezTo>
                <a:cubicBezTo>
                  <a:pt x="478746" y="2117927"/>
                  <a:pt x="500872" y="2116158"/>
                  <a:pt x="522515" y="2111829"/>
                </a:cubicBezTo>
                <a:cubicBezTo>
                  <a:pt x="590487" y="2098234"/>
                  <a:pt x="541666" y="2105617"/>
                  <a:pt x="598715" y="2090058"/>
                </a:cubicBezTo>
                <a:cubicBezTo>
                  <a:pt x="627582" y="2082185"/>
                  <a:pt x="656772" y="2075543"/>
                  <a:pt x="685800" y="2068286"/>
                </a:cubicBezTo>
                <a:cubicBezTo>
                  <a:pt x="685826" y="2068279"/>
                  <a:pt x="772859" y="2046520"/>
                  <a:pt x="772886" y="2046515"/>
                </a:cubicBezTo>
                <a:cubicBezTo>
                  <a:pt x="791029" y="2042886"/>
                  <a:pt x="809465" y="2040497"/>
                  <a:pt x="827315" y="2035629"/>
                </a:cubicBezTo>
                <a:cubicBezTo>
                  <a:pt x="849455" y="2029591"/>
                  <a:pt x="892629" y="2013858"/>
                  <a:pt x="892629" y="2013858"/>
                </a:cubicBezTo>
                <a:cubicBezTo>
                  <a:pt x="903515" y="2006601"/>
                  <a:pt x="913584" y="1997937"/>
                  <a:pt x="925286" y="1992086"/>
                </a:cubicBezTo>
                <a:cubicBezTo>
                  <a:pt x="940906" y="1984276"/>
                  <a:pt x="987530" y="1973804"/>
                  <a:pt x="1001486" y="1970315"/>
                </a:cubicBezTo>
                <a:cubicBezTo>
                  <a:pt x="1064247" y="1928473"/>
                  <a:pt x="1003702" y="1964700"/>
                  <a:pt x="1066800" y="1937658"/>
                </a:cubicBezTo>
                <a:cubicBezTo>
                  <a:pt x="1081716" y="1931266"/>
                  <a:pt x="1095428" y="1922279"/>
                  <a:pt x="1110343" y="1915886"/>
                </a:cubicBezTo>
                <a:cubicBezTo>
                  <a:pt x="1136449" y="1904698"/>
                  <a:pt x="1158916" y="1902008"/>
                  <a:pt x="1186543" y="1894115"/>
                </a:cubicBezTo>
                <a:cubicBezTo>
                  <a:pt x="1197576" y="1890963"/>
                  <a:pt x="1208068" y="1886012"/>
                  <a:pt x="1219200" y="1883229"/>
                </a:cubicBezTo>
                <a:cubicBezTo>
                  <a:pt x="1237150" y="1878741"/>
                  <a:pt x="1255600" y="1876503"/>
                  <a:pt x="1273629" y="1872343"/>
                </a:cubicBezTo>
                <a:cubicBezTo>
                  <a:pt x="1302785" y="1865615"/>
                  <a:pt x="1331686" y="1857829"/>
                  <a:pt x="1360715" y="1850572"/>
                </a:cubicBezTo>
                <a:cubicBezTo>
                  <a:pt x="1375229" y="1846943"/>
                  <a:pt x="1390065" y="1844417"/>
                  <a:pt x="1404258" y="1839686"/>
                </a:cubicBezTo>
                <a:cubicBezTo>
                  <a:pt x="1415144" y="1836057"/>
                  <a:pt x="1425783" y="1831583"/>
                  <a:pt x="1436915" y="1828800"/>
                </a:cubicBezTo>
                <a:cubicBezTo>
                  <a:pt x="1454865" y="1824313"/>
                  <a:pt x="1473282" y="1821929"/>
                  <a:pt x="1491343" y="1817915"/>
                </a:cubicBezTo>
                <a:cubicBezTo>
                  <a:pt x="1505948" y="1814670"/>
                  <a:pt x="1520372" y="1810658"/>
                  <a:pt x="1534886" y="1807029"/>
                </a:cubicBezTo>
                <a:cubicBezTo>
                  <a:pt x="1542143" y="1799772"/>
                  <a:pt x="1548644" y="1791669"/>
                  <a:pt x="1556658" y="1785258"/>
                </a:cubicBezTo>
                <a:cubicBezTo>
                  <a:pt x="1566874" y="1777085"/>
                  <a:pt x="1589076" y="1776567"/>
                  <a:pt x="1589315" y="1763486"/>
                </a:cubicBezTo>
                <a:cubicBezTo>
                  <a:pt x="1600066" y="1175756"/>
                  <a:pt x="1589315" y="587829"/>
                  <a:pt x="1589315" y="0"/>
                </a:cubicBezTo>
              </a:path>
            </a:pathLst>
          </a:custGeom>
          <a:ln w="28575">
            <a:solidFill>
              <a:srgbClr val="FF00FF"/>
            </a:solidFill>
            <a:prstDash val="sys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Полилиния 83"/>
          <p:cNvSpPr/>
          <p:nvPr/>
        </p:nvSpPr>
        <p:spPr>
          <a:xfrm>
            <a:off x="5049491" y="2433438"/>
            <a:ext cx="1594093" cy="3058886"/>
          </a:xfrm>
          <a:custGeom>
            <a:avLst/>
            <a:gdLst>
              <a:gd name="connsiteX0" fmla="*/ 21772 w 1594093"/>
              <a:gd name="connsiteY0" fmla="*/ 3058886 h 3058886"/>
              <a:gd name="connsiteX1" fmla="*/ 10886 w 1594093"/>
              <a:gd name="connsiteY1" fmla="*/ 2841172 h 3058886"/>
              <a:gd name="connsiteX2" fmla="*/ 0 w 1594093"/>
              <a:gd name="connsiteY2" fmla="*/ 2808515 h 3058886"/>
              <a:gd name="connsiteX3" fmla="*/ 10886 w 1594093"/>
              <a:gd name="connsiteY3" fmla="*/ 2351315 h 3058886"/>
              <a:gd name="connsiteX4" fmla="*/ 65315 w 1594093"/>
              <a:gd name="connsiteY4" fmla="*/ 2275115 h 3058886"/>
              <a:gd name="connsiteX5" fmla="*/ 108858 w 1594093"/>
              <a:gd name="connsiteY5" fmla="*/ 2231572 h 3058886"/>
              <a:gd name="connsiteX6" fmla="*/ 130629 w 1594093"/>
              <a:gd name="connsiteY6" fmla="*/ 2209800 h 3058886"/>
              <a:gd name="connsiteX7" fmla="*/ 163286 w 1594093"/>
              <a:gd name="connsiteY7" fmla="*/ 2198915 h 3058886"/>
              <a:gd name="connsiteX8" fmla="*/ 304800 w 1594093"/>
              <a:gd name="connsiteY8" fmla="*/ 2166258 h 3058886"/>
              <a:gd name="connsiteX9" fmla="*/ 337458 w 1594093"/>
              <a:gd name="connsiteY9" fmla="*/ 2155372 h 3058886"/>
              <a:gd name="connsiteX10" fmla="*/ 424543 w 1594093"/>
              <a:gd name="connsiteY10" fmla="*/ 2133600 h 3058886"/>
              <a:gd name="connsiteX11" fmla="*/ 457200 w 1594093"/>
              <a:gd name="connsiteY11" fmla="*/ 2122715 h 3058886"/>
              <a:gd name="connsiteX12" fmla="*/ 522515 w 1594093"/>
              <a:gd name="connsiteY12" fmla="*/ 2111829 h 3058886"/>
              <a:gd name="connsiteX13" fmla="*/ 598715 w 1594093"/>
              <a:gd name="connsiteY13" fmla="*/ 2090058 h 3058886"/>
              <a:gd name="connsiteX14" fmla="*/ 685800 w 1594093"/>
              <a:gd name="connsiteY14" fmla="*/ 2068286 h 3058886"/>
              <a:gd name="connsiteX15" fmla="*/ 772886 w 1594093"/>
              <a:gd name="connsiteY15" fmla="*/ 2046515 h 3058886"/>
              <a:gd name="connsiteX16" fmla="*/ 827315 w 1594093"/>
              <a:gd name="connsiteY16" fmla="*/ 2035629 h 3058886"/>
              <a:gd name="connsiteX17" fmla="*/ 892629 w 1594093"/>
              <a:gd name="connsiteY17" fmla="*/ 2013858 h 3058886"/>
              <a:gd name="connsiteX18" fmla="*/ 925286 w 1594093"/>
              <a:gd name="connsiteY18" fmla="*/ 1992086 h 3058886"/>
              <a:gd name="connsiteX19" fmla="*/ 1001486 w 1594093"/>
              <a:gd name="connsiteY19" fmla="*/ 1970315 h 3058886"/>
              <a:gd name="connsiteX20" fmla="*/ 1066800 w 1594093"/>
              <a:gd name="connsiteY20" fmla="*/ 1937658 h 3058886"/>
              <a:gd name="connsiteX21" fmla="*/ 1110343 w 1594093"/>
              <a:gd name="connsiteY21" fmla="*/ 1915886 h 3058886"/>
              <a:gd name="connsiteX22" fmla="*/ 1186543 w 1594093"/>
              <a:gd name="connsiteY22" fmla="*/ 1894115 h 3058886"/>
              <a:gd name="connsiteX23" fmla="*/ 1219200 w 1594093"/>
              <a:gd name="connsiteY23" fmla="*/ 1883229 h 3058886"/>
              <a:gd name="connsiteX24" fmla="*/ 1273629 w 1594093"/>
              <a:gd name="connsiteY24" fmla="*/ 1872343 h 3058886"/>
              <a:gd name="connsiteX25" fmla="*/ 1360715 w 1594093"/>
              <a:gd name="connsiteY25" fmla="*/ 1850572 h 3058886"/>
              <a:gd name="connsiteX26" fmla="*/ 1404258 w 1594093"/>
              <a:gd name="connsiteY26" fmla="*/ 1839686 h 3058886"/>
              <a:gd name="connsiteX27" fmla="*/ 1436915 w 1594093"/>
              <a:gd name="connsiteY27" fmla="*/ 1828800 h 3058886"/>
              <a:gd name="connsiteX28" fmla="*/ 1491343 w 1594093"/>
              <a:gd name="connsiteY28" fmla="*/ 1817915 h 3058886"/>
              <a:gd name="connsiteX29" fmla="*/ 1534886 w 1594093"/>
              <a:gd name="connsiteY29" fmla="*/ 1807029 h 3058886"/>
              <a:gd name="connsiteX30" fmla="*/ 1556658 w 1594093"/>
              <a:gd name="connsiteY30" fmla="*/ 1785258 h 3058886"/>
              <a:gd name="connsiteX31" fmla="*/ 1589315 w 1594093"/>
              <a:gd name="connsiteY31" fmla="*/ 1763486 h 3058886"/>
              <a:gd name="connsiteX32" fmla="*/ 1589315 w 1594093"/>
              <a:gd name="connsiteY32" fmla="*/ 0 h 305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594093" h="3058886">
                <a:moveTo>
                  <a:pt x="21772" y="3058886"/>
                </a:moveTo>
                <a:cubicBezTo>
                  <a:pt x="18143" y="2986315"/>
                  <a:pt x="17181" y="2913561"/>
                  <a:pt x="10886" y="2841172"/>
                </a:cubicBezTo>
                <a:cubicBezTo>
                  <a:pt x="9892" y="2829741"/>
                  <a:pt x="0" y="2819990"/>
                  <a:pt x="0" y="2808515"/>
                </a:cubicBezTo>
                <a:cubicBezTo>
                  <a:pt x="0" y="2656072"/>
                  <a:pt x="4117" y="2503608"/>
                  <a:pt x="10886" y="2351315"/>
                </a:cubicBezTo>
                <a:cubicBezTo>
                  <a:pt x="12502" y="2314946"/>
                  <a:pt x="41852" y="2298578"/>
                  <a:pt x="65315" y="2275115"/>
                </a:cubicBezTo>
                <a:lnTo>
                  <a:pt x="108858" y="2231572"/>
                </a:lnTo>
                <a:cubicBezTo>
                  <a:pt x="116115" y="2224315"/>
                  <a:pt x="120892" y="2213045"/>
                  <a:pt x="130629" y="2209800"/>
                </a:cubicBezTo>
                <a:lnTo>
                  <a:pt x="163286" y="2198915"/>
                </a:lnTo>
                <a:cubicBezTo>
                  <a:pt x="215415" y="2146786"/>
                  <a:pt x="166960" y="2185949"/>
                  <a:pt x="304800" y="2166258"/>
                </a:cubicBezTo>
                <a:cubicBezTo>
                  <a:pt x="316160" y="2164635"/>
                  <a:pt x="326387" y="2158391"/>
                  <a:pt x="337458" y="2155372"/>
                </a:cubicBezTo>
                <a:cubicBezTo>
                  <a:pt x="366325" y="2147499"/>
                  <a:pt x="396157" y="2143062"/>
                  <a:pt x="424543" y="2133600"/>
                </a:cubicBezTo>
                <a:cubicBezTo>
                  <a:pt x="435429" y="2129972"/>
                  <a:pt x="445999" y="2125204"/>
                  <a:pt x="457200" y="2122715"/>
                </a:cubicBezTo>
                <a:cubicBezTo>
                  <a:pt x="478746" y="2117927"/>
                  <a:pt x="500872" y="2116158"/>
                  <a:pt x="522515" y="2111829"/>
                </a:cubicBezTo>
                <a:cubicBezTo>
                  <a:pt x="590487" y="2098234"/>
                  <a:pt x="541666" y="2105617"/>
                  <a:pt x="598715" y="2090058"/>
                </a:cubicBezTo>
                <a:cubicBezTo>
                  <a:pt x="627582" y="2082185"/>
                  <a:pt x="656772" y="2075543"/>
                  <a:pt x="685800" y="2068286"/>
                </a:cubicBezTo>
                <a:cubicBezTo>
                  <a:pt x="685826" y="2068279"/>
                  <a:pt x="772859" y="2046520"/>
                  <a:pt x="772886" y="2046515"/>
                </a:cubicBezTo>
                <a:cubicBezTo>
                  <a:pt x="791029" y="2042886"/>
                  <a:pt x="809465" y="2040497"/>
                  <a:pt x="827315" y="2035629"/>
                </a:cubicBezTo>
                <a:cubicBezTo>
                  <a:pt x="849455" y="2029591"/>
                  <a:pt x="892629" y="2013858"/>
                  <a:pt x="892629" y="2013858"/>
                </a:cubicBezTo>
                <a:cubicBezTo>
                  <a:pt x="903515" y="2006601"/>
                  <a:pt x="913584" y="1997937"/>
                  <a:pt x="925286" y="1992086"/>
                </a:cubicBezTo>
                <a:cubicBezTo>
                  <a:pt x="940906" y="1984276"/>
                  <a:pt x="987530" y="1973804"/>
                  <a:pt x="1001486" y="1970315"/>
                </a:cubicBezTo>
                <a:cubicBezTo>
                  <a:pt x="1064247" y="1928473"/>
                  <a:pt x="1003702" y="1964700"/>
                  <a:pt x="1066800" y="1937658"/>
                </a:cubicBezTo>
                <a:cubicBezTo>
                  <a:pt x="1081716" y="1931266"/>
                  <a:pt x="1095428" y="1922279"/>
                  <a:pt x="1110343" y="1915886"/>
                </a:cubicBezTo>
                <a:cubicBezTo>
                  <a:pt x="1136449" y="1904698"/>
                  <a:pt x="1158916" y="1902008"/>
                  <a:pt x="1186543" y="1894115"/>
                </a:cubicBezTo>
                <a:cubicBezTo>
                  <a:pt x="1197576" y="1890963"/>
                  <a:pt x="1208068" y="1886012"/>
                  <a:pt x="1219200" y="1883229"/>
                </a:cubicBezTo>
                <a:cubicBezTo>
                  <a:pt x="1237150" y="1878741"/>
                  <a:pt x="1255600" y="1876503"/>
                  <a:pt x="1273629" y="1872343"/>
                </a:cubicBezTo>
                <a:cubicBezTo>
                  <a:pt x="1302785" y="1865615"/>
                  <a:pt x="1331686" y="1857829"/>
                  <a:pt x="1360715" y="1850572"/>
                </a:cubicBezTo>
                <a:cubicBezTo>
                  <a:pt x="1375229" y="1846943"/>
                  <a:pt x="1390065" y="1844417"/>
                  <a:pt x="1404258" y="1839686"/>
                </a:cubicBezTo>
                <a:cubicBezTo>
                  <a:pt x="1415144" y="1836057"/>
                  <a:pt x="1425783" y="1831583"/>
                  <a:pt x="1436915" y="1828800"/>
                </a:cubicBezTo>
                <a:cubicBezTo>
                  <a:pt x="1454865" y="1824313"/>
                  <a:pt x="1473282" y="1821929"/>
                  <a:pt x="1491343" y="1817915"/>
                </a:cubicBezTo>
                <a:cubicBezTo>
                  <a:pt x="1505948" y="1814670"/>
                  <a:pt x="1520372" y="1810658"/>
                  <a:pt x="1534886" y="1807029"/>
                </a:cubicBezTo>
                <a:cubicBezTo>
                  <a:pt x="1542143" y="1799772"/>
                  <a:pt x="1548644" y="1791669"/>
                  <a:pt x="1556658" y="1785258"/>
                </a:cubicBezTo>
                <a:cubicBezTo>
                  <a:pt x="1566874" y="1777085"/>
                  <a:pt x="1589076" y="1776567"/>
                  <a:pt x="1589315" y="1763486"/>
                </a:cubicBezTo>
                <a:cubicBezTo>
                  <a:pt x="1600066" y="1175756"/>
                  <a:pt x="1589315" y="587829"/>
                  <a:pt x="1589315" y="0"/>
                </a:cubicBezTo>
              </a:path>
            </a:pathLst>
          </a:custGeom>
          <a:ln w="28575">
            <a:solidFill>
              <a:srgbClr val="FF00FF"/>
            </a:solidFill>
            <a:prstDash val="sys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5" name="Прямая со стрелкой 84"/>
          <p:cNvCxnSpPr/>
          <p:nvPr/>
        </p:nvCxnSpPr>
        <p:spPr>
          <a:xfrm flipH="1">
            <a:off x="1885932" y="5728118"/>
            <a:ext cx="354822" cy="5138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Прямая со стрелкой 88"/>
          <p:cNvCxnSpPr/>
          <p:nvPr/>
        </p:nvCxnSpPr>
        <p:spPr>
          <a:xfrm flipH="1">
            <a:off x="5088035" y="5762265"/>
            <a:ext cx="354822" cy="5138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Полилиния 85"/>
          <p:cNvSpPr/>
          <p:nvPr/>
        </p:nvSpPr>
        <p:spPr>
          <a:xfrm>
            <a:off x="1621971" y="3995057"/>
            <a:ext cx="4844143" cy="2090057"/>
          </a:xfrm>
          <a:custGeom>
            <a:avLst/>
            <a:gdLst>
              <a:gd name="connsiteX0" fmla="*/ 0 w 4844143"/>
              <a:gd name="connsiteY0" fmla="*/ 0 h 2090057"/>
              <a:gd name="connsiteX1" fmla="*/ 21772 w 4844143"/>
              <a:gd name="connsiteY1" fmla="*/ 185057 h 2090057"/>
              <a:gd name="connsiteX2" fmla="*/ 54429 w 4844143"/>
              <a:gd name="connsiteY2" fmla="*/ 250372 h 2090057"/>
              <a:gd name="connsiteX3" fmla="*/ 141515 w 4844143"/>
              <a:gd name="connsiteY3" fmla="*/ 272143 h 2090057"/>
              <a:gd name="connsiteX4" fmla="*/ 217715 w 4844143"/>
              <a:gd name="connsiteY4" fmla="*/ 283029 h 2090057"/>
              <a:gd name="connsiteX5" fmla="*/ 468086 w 4844143"/>
              <a:gd name="connsiteY5" fmla="*/ 315686 h 2090057"/>
              <a:gd name="connsiteX6" fmla="*/ 511629 w 4844143"/>
              <a:gd name="connsiteY6" fmla="*/ 326572 h 2090057"/>
              <a:gd name="connsiteX7" fmla="*/ 566058 w 4844143"/>
              <a:gd name="connsiteY7" fmla="*/ 337457 h 2090057"/>
              <a:gd name="connsiteX8" fmla="*/ 598715 w 4844143"/>
              <a:gd name="connsiteY8" fmla="*/ 348343 h 2090057"/>
              <a:gd name="connsiteX9" fmla="*/ 707572 w 4844143"/>
              <a:gd name="connsiteY9" fmla="*/ 359229 h 2090057"/>
              <a:gd name="connsiteX10" fmla="*/ 816429 w 4844143"/>
              <a:gd name="connsiteY10" fmla="*/ 381000 h 2090057"/>
              <a:gd name="connsiteX11" fmla="*/ 849086 w 4844143"/>
              <a:gd name="connsiteY11" fmla="*/ 391886 h 2090057"/>
              <a:gd name="connsiteX12" fmla="*/ 1164772 w 4844143"/>
              <a:gd name="connsiteY12" fmla="*/ 402772 h 2090057"/>
              <a:gd name="connsiteX13" fmla="*/ 1295400 w 4844143"/>
              <a:gd name="connsiteY13" fmla="*/ 413657 h 2090057"/>
              <a:gd name="connsiteX14" fmla="*/ 1328058 w 4844143"/>
              <a:gd name="connsiteY14" fmla="*/ 424543 h 2090057"/>
              <a:gd name="connsiteX15" fmla="*/ 1382486 w 4844143"/>
              <a:gd name="connsiteY15" fmla="*/ 435429 h 2090057"/>
              <a:gd name="connsiteX16" fmla="*/ 1415143 w 4844143"/>
              <a:gd name="connsiteY16" fmla="*/ 446314 h 2090057"/>
              <a:gd name="connsiteX17" fmla="*/ 1589315 w 4844143"/>
              <a:gd name="connsiteY17" fmla="*/ 457200 h 2090057"/>
              <a:gd name="connsiteX18" fmla="*/ 1796143 w 4844143"/>
              <a:gd name="connsiteY18" fmla="*/ 478972 h 2090057"/>
              <a:gd name="connsiteX19" fmla="*/ 2035629 w 4844143"/>
              <a:gd name="connsiteY19" fmla="*/ 489857 h 2090057"/>
              <a:gd name="connsiteX20" fmla="*/ 2155372 w 4844143"/>
              <a:gd name="connsiteY20" fmla="*/ 511629 h 2090057"/>
              <a:gd name="connsiteX21" fmla="*/ 2264229 w 4844143"/>
              <a:gd name="connsiteY21" fmla="*/ 533400 h 2090057"/>
              <a:gd name="connsiteX22" fmla="*/ 2318658 w 4844143"/>
              <a:gd name="connsiteY22" fmla="*/ 544286 h 2090057"/>
              <a:gd name="connsiteX23" fmla="*/ 2449286 w 4844143"/>
              <a:gd name="connsiteY23" fmla="*/ 555172 h 2090057"/>
              <a:gd name="connsiteX24" fmla="*/ 2558143 w 4844143"/>
              <a:gd name="connsiteY24" fmla="*/ 566057 h 2090057"/>
              <a:gd name="connsiteX25" fmla="*/ 3048000 w 4844143"/>
              <a:gd name="connsiteY25" fmla="*/ 576943 h 2090057"/>
              <a:gd name="connsiteX26" fmla="*/ 3418115 w 4844143"/>
              <a:gd name="connsiteY26" fmla="*/ 598714 h 2090057"/>
              <a:gd name="connsiteX27" fmla="*/ 3472543 w 4844143"/>
              <a:gd name="connsiteY27" fmla="*/ 609600 h 2090057"/>
              <a:gd name="connsiteX28" fmla="*/ 3624943 w 4844143"/>
              <a:gd name="connsiteY28" fmla="*/ 642257 h 2090057"/>
              <a:gd name="connsiteX29" fmla="*/ 3733800 w 4844143"/>
              <a:gd name="connsiteY29" fmla="*/ 674914 h 2090057"/>
              <a:gd name="connsiteX30" fmla="*/ 3831772 w 4844143"/>
              <a:gd name="connsiteY30" fmla="*/ 685800 h 2090057"/>
              <a:gd name="connsiteX31" fmla="*/ 3875315 w 4844143"/>
              <a:gd name="connsiteY31" fmla="*/ 696686 h 2090057"/>
              <a:gd name="connsiteX32" fmla="*/ 3951515 w 4844143"/>
              <a:gd name="connsiteY32" fmla="*/ 729343 h 2090057"/>
              <a:gd name="connsiteX33" fmla="*/ 4005943 w 4844143"/>
              <a:gd name="connsiteY33" fmla="*/ 740229 h 2090057"/>
              <a:gd name="connsiteX34" fmla="*/ 4049486 w 4844143"/>
              <a:gd name="connsiteY34" fmla="*/ 751114 h 2090057"/>
              <a:gd name="connsiteX35" fmla="*/ 4234543 w 4844143"/>
              <a:gd name="connsiteY35" fmla="*/ 783772 h 2090057"/>
              <a:gd name="connsiteX36" fmla="*/ 4278086 w 4844143"/>
              <a:gd name="connsiteY36" fmla="*/ 805543 h 2090057"/>
              <a:gd name="connsiteX37" fmla="*/ 4332515 w 4844143"/>
              <a:gd name="connsiteY37" fmla="*/ 816429 h 2090057"/>
              <a:gd name="connsiteX38" fmla="*/ 4397829 w 4844143"/>
              <a:gd name="connsiteY38" fmla="*/ 838200 h 2090057"/>
              <a:gd name="connsiteX39" fmla="*/ 4430486 w 4844143"/>
              <a:gd name="connsiteY39" fmla="*/ 849086 h 2090057"/>
              <a:gd name="connsiteX40" fmla="*/ 4506686 w 4844143"/>
              <a:gd name="connsiteY40" fmla="*/ 903514 h 2090057"/>
              <a:gd name="connsiteX41" fmla="*/ 4550229 w 4844143"/>
              <a:gd name="connsiteY41" fmla="*/ 914400 h 2090057"/>
              <a:gd name="connsiteX42" fmla="*/ 4572000 w 4844143"/>
              <a:gd name="connsiteY42" fmla="*/ 936172 h 2090057"/>
              <a:gd name="connsiteX43" fmla="*/ 4637315 w 4844143"/>
              <a:gd name="connsiteY43" fmla="*/ 957943 h 2090057"/>
              <a:gd name="connsiteX44" fmla="*/ 4659086 w 4844143"/>
              <a:gd name="connsiteY44" fmla="*/ 990600 h 2090057"/>
              <a:gd name="connsiteX45" fmla="*/ 4680858 w 4844143"/>
              <a:gd name="connsiteY45" fmla="*/ 1012372 h 2090057"/>
              <a:gd name="connsiteX46" fmla="*/ 4713515 w 4844143"/>
              <a:gd name="connsiteY46" fmla="*/ 1066800 h 2090057"/>
              <a:gd name="connsiteX47" fmla="*/ 4724400 w 4844143"/>
              <a:gd name="connsiteY47" fmla="*/ 1121229 h 2090057"/>
              <a:gd name="connsiteX48" fmla="*/ 4757058 w 4844143"/>
              <a:gd name="connsiteY48" fmla="*/ 1284514 h 2090057"/>
              <a:gd name="connsiteX49" fmla="*/ 4767943 w 4844143"/>
              <a:gd name="connsiteY49" fmla="*/ 1317172 h 2090057"/>
              <a:gd name="connsiteX50" fmla="*/ 4789715 w 4844143"/>
              <a:gd name="connsiteY50" fmla="*/ 1349829 h 2090057"/>
              <a:gd name="connsiteX51" fmla="*/ 4822372 w 4844143"/>
              <a:gd name="connsiteY51" fmla="*/ 1447800 h 2090057"/>
              <a:gd name="connsiteX52" fmla="*/ 4833258 w 4844143"/>
              <a:gd name="connsiteY52" fmla="*/ 1480457 h 2090057"/>
              <a:gd name="connsiteX53" fmla="*/ 4844143 w 4844143"/>
              <a:gd name="connsiteY53" fmla="*/ 2090057 h 2090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4844143" h="2090057">
                <a:moveTo>
                  <a:pt x="0" y="0"/>
                </a:moveTo>
                <a:cubicBezTo>
                  <a:pt x="28924" y="144618"/>
                  <a:pt x="-13012" y="-75813"/>
                  <a:pt x="21772" y="185057"/>
                </a:cubicBezTo>
                <a:cubicBezTo>
                  <a:pt x="24127" y="202716"/>
                  <a:pt x="40738" y="239419"/>
                  <a:pt x="54429" y="250372"/>
                </a:cubicBezTo>
                <a:cubicBezTo>
                  <a:pt x="65496" y="259226"/>
                  <a:pt x="138951" y="271716"/>
                  <a:pt x="141515" y="272143"/>
                </a:cubicBezTo>
                <a:cubicBezTo>
                  <a:pt x="166824" y="276361"/>
                  <a:pt x="192315" y="279400"/>
                  <a:pt x="217715" y="283029"/>
                </a:cubicBezTo>
                <a:cubicBezTo>
                  <a:pt x="341650" y="324340"/>
                  <a:pt x="260120" y="303452"/>
                  <a:pt x="468086" y="315686"/>
                </a:cubicBezTo>
                <a:cubicBezTo>
                  <a:pt x="482600" y="319315"/>
                  <a:pt x="497024" y="323327"/>
                  <a:pt x="511629" y="326572"/>
                </a:cubicBezTo>
                <a:cubicBezTo>
                  <a:pt x="529691" y="330586"/>
                  <a:pt x="548108" y="332970"/>
                  <a:pt x="566058" y="337457"/>
                </a:cubicBezTo>
                <a:cubicBezTo>
                  <a:pt x="577190" y="340240"/>
                  <a:pt x="587374" y="346598"/>
                  <a:pt x="598715" y="348343"/>
                </a:cubicBezTo>
                <a:cubicBezTo>
                  <a:pt x="634758" y="353888"/>
                  <a:pt x="671286" y="355600"/>
                  <a:pt x="707572" y="359229"/>
                </a:cubicBezTo>
                <a:cubicBezTo>
                  <a:pt x="781356" y="383822"/>
                  <a:pt x="691336" y="355981"/>
                  <a:pt x="816429" y="381000"/>
                </a:cubicBezTo>
                <a:cubicBezTo>
                  <a:pt x="827681" y="383250"/>
                  <a:pt x="837634" y="391170"/>
                  <a:pt x="849086" y="391886"/>
                </a:cubicBezTo>
                <a:cubicBezTo>
                  <a:pt x="954172" y="398454"/>
                  <a:pt x="1059543" y="399143"/>
                  <a:pt x="1164772" y="402772"/>
                </a:cubicBezTo>
                <a:cubicBezTo>
                  <a:pt x="1208315" y="406400"/>
                  <a:pt x="1252090" y="407882"/>
                  <a:pt x="1295400" y="413657"/>
                </a:cubicBezTo>
                <a:cubicBezTo>
                  <a:pt x="1306774" y="415174"/>
                  <a:pt x="1316926" y="421760"/>
                  <a:pt x="1328058" y="424543"/>
                </a:cubicBezTo>
                <a:cubicBezTo>
                  <a:pt x="1346008" y="429030"/>
                  <a:pt x="1364536" y="430942"/>
                  <a:pt x="1382486" y="435429"/>
                </a:cubicBezTo>
                <a:cubicBezTo>
                  <a:pt x="1393618" y="438212"/>
                  <a:pt x="1403732" y="445113"/>
                  <a:pt x="1415143" y="446314"/>
                </a:cubicBezTo>
                <a:cubicBezTo>
                  <a:pt x="1472994" y="452403"/>
                  <a:pt x="1531258" y="453571"/>
                  <a:pt x="1589315" y="457200"/>
                </a:cubicBezTo>
                <a:cubicBezTo>
                  <a:pt x="1686862" y="476710"/>
                  <a:pt x="1644066" y="470523"/>
                  <a:pt x="1796143" y="478972"/>
                </a:cubicBezTo>
                <a:cubicBezTo>
                  <a:pt x="1875931" y="483405"/>
                  <a:pt x="1955800" y="486229"/>
                  <a:pt x="2035629" y="489857"/>
                </a:cubicBezTo>
                <a:cubicBezTo>
                  <a:pt x="2228384" y="528409"/>
                  <a:pt x="1932615" y="469862"/>
                  <a:pt x="2155372" y="511629"/>
                </a:cubicBezTo>
                <a:cubicBezTo>
                  <a:pt x="2191742" y="518448"/>
                  <a:pt x="2227943" y="526143"/>
                  <a:pt x="2264229" y="533400"/>
                </a:cubicBezTo>
                <a:cubicBezTo>
                  <a:pt x="2282372" y="537029"/>
                  <a:pt x="2300220" y="542749"/>
                  <a:pt x="2318658" y="544286"/>
                </a:cubicBezTo>
                <a:lnTo>
                  <a:pt x="2449286" y="555172"/>
                </a:lnTo>
                <a:cubicBezTo>
                  <a:pt x="2485603" y="558473"/>
                  <a:pt x="2521700" y="564732"/>
                  <a:pt x="2558143" y="566057"/>
                </a:cubicBezTo>
                <a:cubicBezTo>
                  <a:pt x="2721361" y="571992"/>
                  <a:pt x="2884714" y="573314"/>
                  <a:pt x="3048000" y="576943"/>
                </a:cubicBezTo>
                <a:cubicBezTo>
                  <a:pt x="3230251" y="607319"/>
                  <a:pt x="3014544" y="574256"/>
                  <a:pt x="3418115" y="598714"/>
                </a:cubicBezTo>
                <a:cubicBezTo>
                  <a:pt x="3436583" y="599833"/>
                  <a:pt x="3454339" y="606290"/>
                  <a:pt x="3472543" y="609600"/>
                </a:cubicBezTo>
                <a:cubicBezTo>
                  <a:pt x="3532834" y="620562"/>
                  <a:pt x="3563267" y="621698"/>
                  <a:pt x="3624943" y="642257"/>
                </a:cubicBezTo>
                <a:cubicBezTo>
                  <a:pt x="3650380" y="650736"/>
                  <a:pt x="3703242" y="670213"/>
                  <a:pt x="3733800" y="674914"/>
                </a:cubicBezTo>
                <a:cubicBezTo>
                  <a:pt x="3766276" y="679910"/>
                  <a:pt x="3799115" y="682171"/>
                  <a:pt x="3831772" y="685800"/>
                </a:cubicBezTo>
                <a:cubicBezTo>
                  <a:pt x="3846286" y="689429"/>
                  <a:pt x="3861307" y="691433"/>
                  <a:pt x="3875315" y="696686"/>
                </a:cubicBezTo>
                <a:cubicBezTo>
                  <a:pt x="3937620" y="720050"/>
                  <a:pt x="3897454" y="715827"/>
                  <a:pt x="3951515" y="729343"/>
                </a:cubicBezTo>
                <a:cubicBezTo>
                  <a:pt x="3969465" y="733831"/>
                  <a:pt x="3987882" y="736215"/>
                  <a:pt x="4005943" y="740229"/>
                </a:cubicBezTo>
                <a:cubicBezTo>
                  <a:pt x="4020548" y="743474"/>
                  <a:pt x="4034972" y="747486"/>
                  <a:pt x="4049486" y="751114"/>
                </a:cubicBezTo>
                <a:cubicBezTo>
                  <a:pt x="4132613" y="806534"/>
                  <a:pt x="4037581" y="750945"/>
                  <a:pt x="4234543" y="783772"/>
                </a:cubicBezTo>
                <a:cubicBezTo>
                  <a:pt x="4250550" y="786440"/>
                  <a:pt x="4262691" y="800411"/>
                  <a:pt x="4278086" y="805543"/>
                </a:cubicBezTo>
                <a:cubicBezTo>
                  <a:pt x="4295639" y="811394"/>
                  <a:pt x="4314665" y="811561"/>
                  <a:pt x="4332515" y="816429"/>
                </a:cubicBezTo>
                <a:cubicBezTo>
                  <a:pt x="4354655" y="822467"/>
                  <a:pt x="4376058" y="830943"/>
                  <a:pt x="4397829" y="838200"/>
                </a:cubicBezTo>
                <a:lnTo>
                  <a:pt x="4430486" y="849086"/>
                </a:lnTo>
                <a:cubicBezTo>
                  <a:pt x="4475928" y="894528"/>
                  <a:pt x="4458030" y="889613"/>
                  <a:pt x="4506686" y="903514"/>
                </a:cubicBezTo>
                <a:cubicBezTo>
                  <a:pt x="4521071" y="907624"/>
                  <a:pt x="4535715" y="910771"/>
                  <a:pt x="4550229" y="914400"/>
                </a:cubicBezTo>
                <a:cubicBezTo>
                  <a:pt x="4557486" y="921657"/>
                  <a:pt x="4562820" y="931582"/>
                  <a:pt x="4572000" y="936172"/>
                </a:cubicBezTo>
                <a:cubicBezTo>
                  <a:pt x="4592526" y="946435"/>
                  <a:pt x="4637315" y="957943"/>
                  <a:pt x="4637315" y="957943"/>
                </a:cubicBezTo>
                <a:cubicBezTo>
                  <a:pt x="4644572" y="968829"/>
                  <a:pt x="4650913" y="980384"/>
                  <a:pt x="4659086" y="990600"/>
                </a:cubicBezTo>
                <a:cubicBezTo>
                  <a:pt x="4665497" y="998614"/>
                  <a:pt x="4675578" y="1003571"/>
                  <a:pt x="4680858" y="1012372"/>
                </a:cubicBezTo>
                <a:cubicBezTo>
                  <a:pt x="4723250" y="1083026"/>
                  <a:pt x="4658351" y="1011639"/>
                  <a:pt x="4713515" y="1066800"/>
                </a:cubicBezTo>
                <a:cubicBezTo>
                  <a:pt x="4717143" y="1084943"/>
                  <a:pt x="4721358" y="1102978"/>
                  <a:pt x="4724400" y="1121229"/>
                </a:cubicBezTo>
                <a:cubicBezTo>
                  <a:pt x="4736557" y="1194170"/>
                  <a:pt x="4732516" y="1210882"/>
                  <a:pt x="4757058" y="1284514"/>
                </a:cubicBezTo>
                <a:cubicBezTo>
                  <a:pt x="4760686" y="1295400"/>
                  <a:pt x="4762811" y="1306909"/>
                  <a:pt x="4767943" y="1317172"/>
                </a:cubicBezTo>
                <a:cubicBezTo>
                  <a:pt x="4773794" y="1328874"/>
                  <a:pt x="4782458" y="1338943"/>
                  <a:pt x="4789715" y="1349829"/>
                </a:cubicBezTo>
                <a:lnTo>
                  <a:pt x="4822372" y="1447800"/>
                </a:lnTo>
                <a:lnTo>
                  <a:pt x="4833258" y="1480457"/>
                </a:lnTo>
                <a:lnTo>
                  <a:pt x="4844143" y="2090057"/>
                </a:lnTo>
              </a:path>
            </a:pathLst>
          </a:custGeom>
          <a:ln w="28575">
            <a:solidFill>
              <a:srgbClr val="00CCFF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8" name="Полилиния 87"/>
          <p:cNvSpPr/>
          <p:nvPr/>
        </p:nvSpPr>
        <p:spPr>
          <a:xfrm>
            <a:off x="3119761" y="3995057"/>
            <a:ext cx="1724382" cy="2090057"/>
          </a:xfrm>
          <a:custGeom>
            <a:avLst/>
            <a:gdLst>
              <a:gd name="connsiteX0" fmla="*/ 1636792 w 1636792"/>
              <a:gd name="connsiteY0" fmla="*/ 0 h 2068285"/>
              <a:gd name="connsiteX1" fmla="*/ 1625906 w 1636792"/>
              <a:gd name="connsiteY1" fmla="*/ 54428 h 2068285"/>
              <a:gd name="connsiteX2" fmla="*/ 1615020 w 1636792"/>
              <a:gd name="connsiteY2" fmla="*/ 119742 h 2068285"/>
              <a:gd name="connsiteX3" fmla="*/ 1560592 w 1636792"/>
              <a:gd name="connsiteY3" fmla="*/ 152400 h 2068285"/>
              <a:gd name="connsiteX4" fmla="*/ 1517049 w 1636792"/>
              <a:gd name="connsiteY4" fmla="*/ 163285 h 2068285"/>
              <a:gd name="connsiteX5" fmla="*/ 1484392 w 1636792"/>
              <a:gd name="connsiteY5" fmla="*/ 174171 h 2068285"/>
              <a:gd name="connsiteX6" fmla="*/ 1342878 w 1636792"/>
              <a:gd name="connsiteY6" fmla="*/ 185057 h 2068285"/>
              <a:gd name="connsiteX7" fmla="*/ 1168706 w 1636792"/>
              <a:gd name="connsiteY7" fmla="*/ 217714 h 2068285"/>
              <a:gd name="connsiteX8" fmla="*/ 1092506 w 1636792"/>
              <a:gd name="connsiteY8" fmla="*/ 239485 h 2068285"/>
              <a:gd name="connsiteX9" fmla="*/ 1059849 w 1636792"/>
              <a:gd name="connsiteY9" fmla="*/ 250371 h 2068285"/>
              <a:gd name="connsiteX10" fmla="*/ 972763 w 1636792"/>
              <a:gd name="connsiteY10" fmla="*/ 272142 h 2068285"/>
              <a:gd name="connsiteX11" fmla="*/ 940106 w 1636792"/>
              <a:gd name="connsiteY11" fmla="*/ 283028 h 2068285"/>
              <a:gd name="connsiteX12" fmla="*/ 896563 w 1636792"/>
              <a:gd name="connsiteY12" fmla="*/ 293914 h 2068285"/>
              <a:gd name="connsiteX13" fmla="*/ 831249 w 1636792"/>
              <a:gd name="connsiteY13" fmla="*/ 315685 h 2068285"/>
              <a:gd name="connsiteX14" fmla="*/ 798592 w 1636792"/>
              <a:gd name="connsiteY14" fmla="*/ 326571 h 2068285"/>
              <a:gd name="connsiteX15" fmla="*/ 765935 w 1636792"/>
              <a:gd name="connsiteY15" fmla="*/ 348342 h 2068285"/>
              <a:gd name="connsiteX16" fmla="*/ 635306 w 1636792"/>
              <a:gd name="connsiteY16" fmla="*/ 359228 h 2068285"/>
              <a:gd name="connsiteX17" fmla="*/ 493792 w 1636792"/>
              <a:gd name="connsiteY17" fmla="*/ 391885 h 2068285"/>
              <a:gd name="connsiteX18" fmla="*/ 450249 w 1636792"/>
              <a:gd name="connsiteY18" fmla="*/ 402771 h 2068285"/>
              <a:gd name="connsiteX19" fmla="*/ 384935 w 1636792"/>
              <a:gd name="connsiteY19" fmla="*/ 424542 h 2068285"/>
              <a:gd name="connsiteX20" fmla="*/ 352278 w 1636792"/>
              <a:gd name="connsiteY20" fmla="*/ 435428 h 2068285"/>
              <a:gd name="connsiteX21" fmla="*/ 178106 w 1636792"/>
              <a:gd name="connsiteY21" fmla="*/ 446314 h 2068285"/>
              <a:gd name="connsiteX22" fmla="*/ 145449 w 1636792"/>
              <a:gd name="connsiteY22" fmla="*/ 468085 h 2068285"/>
              <a:gd name="connsiteX23" fmla="*/ 80135 w 1636792"/>
              <a:gd name="connsiteY23" fmla="*/ 489857 h 2068285"/>
              <a:gd name="connsiteX24" fmla="*/ 58363 w 1636792"/>
              <a:gd name="connsiteY24" fmla="*/ 555171 h 2068285"/>
              <a:gd name="connsiteX25" fmla="*/ 36592 w 1636792"/>
              <a:gd name="connsiteY25" fmla="*/ 729342 h 2068285"/>
              <a:gd name="connsiteX26" fmla="*/ 25706 w 1636792"/>
              <a:gd name="connsiteY26" fmla="*/ 762000 h 2068285"/>
              <a:gd name="connsiteX27" fmla="*/ 14820 w 1636792"/>
              <a:gd name="connsiteY27" fmla="*/ 2068285 h 2068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636792" h="2068285">
                <a:moveTo>
                  <a:pt x="1636792" y="0"/>
                </a:moveTo>
                <a:cubicBezTo>
                  <a:pt x="1633163" y="18143"/>
                  <a:pt x="1629216" y="36224"/>
                  <a:pt x="1625906" y="54428"/>
                </a:cubicBezTo>
                <a:cubicBezTo>
                  <a:pt x="1621958" y="76144"/>
                  <a:pt x="1622770" y="99076"/>
                  <a:pt x="1615020" y="119742"/>
                </a:cubicBezTo>
                <a:cubicBezTo>
                  <a:pt x="1606813" y="141628"/>
                  <a:pt x="1578750" y="147212"/>
                  <a:pt x="1560592" y="152400"/>
                </a:cubicBezTo>
                <a:cubicBezTo>
                  <a:pt x="1546207" y="156510"/>
                  <a:pt x="1531434" y="159175"/>
                  <a:pt x="1517049" y="163285"/>
                </a:cubicBezTo>
                <a:cubicBezTo>
                  <a:pt x="1506016" y="166437"/>
                  <a:pt x="1495778" y="172748"/>
                  <a:pt x="1484392" y="174171"/>
                </a:cubicBezTo>
                <a:cubicBezTo>
                  <a:pt x="1437447" y="180039"/>
                  <a:pt x="1390049" y="181428"/>
                  <a:pt x="1342878" y="185057"/>
                </a:cubicBezTo>
                <a:cubicBezTo>
                  <a:pt x="1242968" y="218359"/>
                  <a:pt x="1300398" y="204544"/>
                  <a:pt x="1168706" y="217714"/>
                </a:cubicBezTo>
                <a:cubicBezTo>
                  <a:pt x="1090406" y="243815"/>
                  <a:pt x="1188187" y="212148"/>
                  <a:pt x="1092506" y="239485"/>
                </a:cubicBezTo>
                <a:cubicBezTo>
                  <a:pt x="1081473" y="242637"/>
                  <a:pt x="1070919" y="247352"/>
                  <a:pt x="1059849" y="250371"/>
                </a:cubicBezTo>
                <a:cubicBezTo>
                  <a:pt x="1030981" y="258244"/>
                  <a:pt x="1001149" y="262680"/>
                  <a:pt x="972763" y="272142"/>
                </a:cubicBezTo>
                <a:cubicBezTo>
                  <a:pt x="961877" y="275771"/>
                  <a:pt x="951139" y="279876"/>
                  <a:pt x="940106" y="283028"/>
                </a:cubicBezTo>
                <a:cubicBezTo>
                  <a:pt x="925721" y="287138"/>
                  <a:pt x="910893" y="289615"/>
                  <a:pt x="896563" y="293914"/>
                </a:cubicBezTo>
                <a:cubicBezTo>
                  <a:pt x="874582" y="300508"/>
                  <a:pt x="853020" y="308428"/>
                  <a:pt x="831249" y="315685"/>
                </a:cubicBezTo>
                <a:cubicBezTo>
                  <a:pt x="820363" y="319314"/>
                  <a:pt x="808139" y="320206"/>
                  <a:pt x="798592" y="326571"/>
                </a:cubicBezTo>
                <a:cubicBezTo>
                  <a:pt x="787706" y="333828"/>
                  <a:pt x="778764" y="345776"/>
                  <a:pt x="765935" y="348342"/>
                </a:cubicBezTo>
                <a:cubicBezTo>
                  <a:pt x="723090" y="356911"/>
                  <a:pt x="678849" y="355599"/>
                  <a:pt x="635306" y="359228"/>
                </a:cubicBezTo>
                <a:cubicBezTo>
                  <a:pt x="551542" y="375981"/>
                  <a:pt x="598820" y="365628"/>
                  <a:pt x="493792" y="391885"/>
                </a:cubicBezTo>
                <a:cubicBezTo>
                  <a:pt x="479278" y="395514"/>
                  <a:pt x="464442" y="398040"/>
                  <a:pt x="450249" y="402771"/>
                </a:cubicBezTo>
                <a:lnTo>
                  <a:pt x="384935" y="424542"/>
                </a:lnTo>
                <a:cubicBezTo>
                  <a:pt x="374049" y="428171"/>
                  <a:pt x="363730" y="434712"/>
                  <a:pt x="352278" y="435428"/>
                </a:cubicBezTo>
                <a:lnTo>
                  <a:pt x="178106" y="446314"/>
                </a:lnTo>
                <a:cubicBezTo>
                  <a:pt x="167220" y="453571"/>
                  <a:pt x="157404" y="462772"/>
                  <a:pt x="145449" y="468085"/>
                </a:cubicBezTo>
                <a:cubicBezTo>
                  <a:pt x="124478" y="477406"/>
                  <a:pt x="80135" y="489857"/>
                  <a:pt x="80135" y="489857"/>
                </a:cubicBezTo>
                <a:cubicBezTo>
                  <a:pt x="72878" y="511628"/>
                  <a:pt x="60646" y="532336"/>
                  <a:pt x="58363" y="555171"/>
                </a:cubicBezTo>
                <a:cubicBezTo>
                  <a:pt x="52887" y="609934"/>
                  <a:pt x="48870" y="674091"/>
                  <a:pt x="36592" y="729342"/>
                </a:cubicBezTo>
                <a:cubicBezTo>
                  <a:pt x="34103" y="740544"/>
                  <a:pt x="29335" y="751114"/>
                  <a:pt x="25706" y="762000"/>
                </a:cubicBezTo>
                <a:cubicBezTo>
                  <a:pt x="-24897" y="1268019"/>
                  <a:pt x="14820" y="834390"/>
                  <a:pt x="14820" y="2068285"/>
                </a:cubicBezTo>
              </a:path>
            </a:pathLst>
          </a:custGeom>
          <a:ln w="28575">
            <a:solidFill>
              <a:srgbClr val="FF000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1" name="Полилиния 90"/>
          <p:cNvSpPr/>
          <p:nvPr/>
        </p:nvSpPr>
        <p:spPr>
          <a:xfrm>
            <a:off x="2057400" y="2623457"/>
            <a:ext cx="2656114" cy="751114"/>
          </a:xfrm>
          <a:custGeom>
            <a:avLst/>
            <a:gdLst>
              <a:gd name="connsiteX0" fmla="*/ 10886 w 2656114"/>
              <a:gd name="connsiteY0" fmla="*/ 0 h 751114"/>
              <a:gd name="connsiteX1" fmla="*/ 0 w 2656114"/>
              <a:gd name="connsiteY1" fmla="*/ 130629 h 751114"/>
              <a:gd name="connsiteX2" fmla="*/ 10886 w 2656114"/>
              <a:gd name="connsiteY2" fmla="*/ 468086 h 751114"/>
              <a:gd name="connsiteX3" fmla="*/ 32657 w 2656114"/>
              <a:gd name="connsiteY3" fmla="*/ 598714 h 751114"/>
              <a:gd name="connsiteX4" fmla="*/ 43543 w 2656114"/>
              <a:gd name="connsiteY4" fmla="*/ 631372 h 751114"/>
              <a:gd name="connsiteX5" fmla="*/ 108857 w 2656114"/>
              <a:gd name="connsiteY5" fmla="*/ 674914 h 751114"/>
              <a:gd name="connsiteX6" fmla="*/ 141514 w 2656114"/>
              <a:gd name="connsiteY6" fmla="*/ 696686 h 751114"/>
              <a:gd name="connsiteX7" fmla="*/ 381000 w 2656114"/>
              <a:gd name="connsiteY7" fmla="*/ 707572 h 751114"/>
              <a:gd name="connsiteX8" fmla="*/ 859971 w 2656114"/>
              <a:gd name="connsiteY8" fmla="*/ 718457 h 751114"/>
              <a:gd name="connsiteX9" fmla="*/ 1132114 w 2656114"/>
              <a:gd name="connsiteY9" fmla="*/ 740229 h 751114"/>
              <a:gd name="connsiteX10" fmla="*/ 1752600 w 2656114"/>
              <a:gd name="connsiteY10" fmla="*/ 751114 h 751114"/>
              <a:gd name="connsiteX11" fmla="*/ 2656114 w 2656114"/>
              <a:gd name="connsiteY11" fmla="*/ 740229 h 751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656114" h="751114">
                <a:moveTo>
                  <a:pt x="10886" y="0"/>
                </a:moveTo>
                <a:cubicBezTo>
                  <a:pt x="7257" y="43543"/>
                  <a:pt x="0" y="86935"/>
                  <a:pt x="0" y="130629"/>
                </a:cubicBezTo>
                <a:cubicBezTo>
                  <a:pt x="0" y="243173"/>
                  <a:pt x="4971" y="355697"/>
                  <a:pt x="10886" y="468086"/>
                </a:cubicBezTo>
                <a:cubicBezTo>
                  <a:pt x="12115" y="491442"/>
                  <a:pt x="25588" y="570440"/>
                  <a:pt x="32657" y="598714"/>
                </a:cubicBezTo>
                <a:cubicBezTo>
                  <a:pt x="35440" y="609846"/>
                  <a:pt x="35429" y="623258"/>
                  <a:pt x="43543" y="631372"/>
                </a:cubicBezTo>
                <a:cubicBezTo>
                  <a:pt x="62045" y="649874"/>
                  <a:pt x="87086" y="660400"/>
                  <a:pt x="108857" y="674914"/>
                </a:cubicBezTo>
                <a:cubicBezTo>
                  <a:pt x="119743" y="682171"/>
                  <a:pt x="128444" y="696092"/>
                  <a:pt x="141514" y="696686"/>
                </a:cubicBezTo>
                <a:lnTo>
                  <a:pt x="381000" y="707572"/>
                </a:lnTo>
                <a:lnTo>
                  <a:pt x="859971" y="718457"/>
                </a:lnTo>
                <a:cubicBezTo>
                  <a:pt x="966083" y="753828"/>
                  <a:pt x="897574" y="734291"/>
                  <a:pt x="1132114" y="740229"/>
                </a:cubicBezTo>
                <a:lnTo>
                  <a:pt x="1752600" y="751114"/>
                </a:lnTo>
                <a:lnTo>
                  <a:pt x="2656114" y="740229"/>
                </a:lnTo>
              </a:path>
            </a:pathLst>
          </a:custGeom>
          <a:ln w="28575">
            <a:solidFill>
              <a:srgbClr val="FF9900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4" name="Прямая со стрелкой 93"/>
          <p:cNvCxnSpPr/>
          <p:nvPr/>
        </p:nvCxnSpPr>
        <p:spPr>
          <a:xfrm>
            <a:off x="1774371" y="3066306"/>
            <a:ext cx="0" cy="488035"/>
          </a:xfrm>
          <a:prstGeom prst="straightConnector1">
            <a:avLst/>
          </a:prstGeom>
          <a:ln w="25400">
            <a:solidFill>
              <a:srgbClr val="00CC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Прямая со стрелкой 99"/>
          <p:cNvCxnSpPr/>
          <p:nvPr/>
        </p:nvCxnSpPr>
        <p:spPr>
          <a:xfrm flipH="1">
            <a:off x="1912922" y="3859141"/>
            <a:ext cx="313983" cy="0"/>
          </a:xfrm>
          <a:prstGeom prst="straightConnector1">
            <a:avLst/>
          </a:prstGeom>
          <a:ln w="25400">
            <a:solidFill>
              <a:srgbClr val="00CC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Прямая со стрелкой 100"/>
          <p:cNvCxnSpPr/>
          <p:nvPr/>
        </p:nvCxnSpPr>
        <p:spPr>
          <a:xfrm flipH="1">
            <a:off x="5154068" y="3859141"/>
            <a:ext cx="222756" cy="0"/>
          </a:xfrm>
          <a:prstGeom prst="straightConnector1">
            <a:avLst/>
          </a:prstGeom>
          <a:ln w="25400">
            <a:solidFill>
              <a:srgbClr val="00CC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 стрелкой 101"/>
          <p:cNvCxnSpPr/>
          <p:nvPr/>
        </p:nvCxnSpPr>
        <p:spPr>
          <a:xfrm>
            <a:off x="4775044" y="3346775"/>
            <a:ext cx="0" cy="231895"/>
          </a:xfrm>
          <a:prstGeom prst="straightConnector1">
            <a:avLst/>
          </a:prstGeom>
          <a:ln w="25400">
            <a:solidFill>
              <a:srgbClr val="00CC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58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repeatCount="7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repeatCount="7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0.00162 L -0.12587 0.07801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02" y="3981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2.22222E-6 L -0.03941 0.07963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79" y="3981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0.03941 0.07963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3981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85185E-6 L 0.11788 0.0787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85" y="3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repeatCount="7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repeatCount="7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repeatCount="7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repeatCount="7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repeatCount="7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repeatCount="7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repeatCount="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repeatCount="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repeatCount="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repeatCount="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repeatCount="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2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repeatCount="7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9"/>
                                            </p:cond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2" presetID="22" presetClass="entr" presetSubtype="4" repeatCount="7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2"/>
                                            </p:cond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5" presetID="10" presetClass="entr" presetSubtype="0" repeatCount="7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repeatCount="7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0"/>
                                            </p:cond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3" presetID="10" presetClass="entr" presetSubtype="0" repeatCount="7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repeatCount="7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2" repeatCount="7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9"/>
                                            </p:cond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2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2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repeatCount="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repeatCount="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4"/>
                                            </p:cond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27" presetID="22" presetClass="entr" presetSubtype="2" repeatCount="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9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7"/>
                                            </p:cond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0" presetID="10" presetClass="entr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1" repeatCount="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8"/>
                                            </p:cond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41" presetID="22" presetClass="entr" presetSubtype="2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1"/>
                                            </p:cond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44" presetID="22" presetClass="entr" presetSubtype="1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4"/>
                                            </p:cond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47" presetID="22" presetClass="entr" presetSubtype="2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9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7"/>
                                            </p:cond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50" presetID="10" presetClass="entr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1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22" grpId="0" animBg="1"/>
      <p:bldP spid="42" grpId="0" animBg="1"/>
      <p:bldP spid="50" grpId="0" animBg="1"/>
      <p:bldP spid="58" grpId="0" animBg="1"/>
      <p:bldP spid="67" grpId="0" animBg="1"/>
      <p:bldP spid="68" grpId="0" animBg="1"/>
      <p:bldP spid="75" grpId="0" animBg="1"/>
      <p:bldP spid="60" grpId="0" animBg="1"/>
      <p:bldP spid="80" grpId="0" animBg="1"/>
      <p:bldP spid="84" grpId="0" animBg="1"/>
      <p:bldP spid="86" grpId="0" animBg="1"/>
      <p:bldP spid="88" grpId="0" animBg="1"/>
      <p:bldP spid="9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88640"/>
            <a:ext cx="8496944" cy="64087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Процесс расшифровано алгоритм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RC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-6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 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При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расшифрованные подключить используются в обратном порядке, наложение подключай вместо сложения по модулю 2</a:t>
            </a:r>
            <a:r>
              <a:rPr lang="ru-RU" sz="1800" baseline="30000" dirty="0">
                <a:latin typeface="Times New Roman" pitchFamily="18" charset="0"/>
                <a:cs typeface="Times New Roman" pitchFamily="18" charset="0"/>
              </a:rPr>
              <a:t>32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выполняется вычитанием, а также сдвиг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субблоков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выполняется в начале раунда и в обратную сторону. Преобразование 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f()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не претерпело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изменений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endParaRPr lang="ru-RU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060847"/>
            <a:ext cx="5832648" cy="4462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3133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88640"/>
            <a:ext cx="8568952" cy="648072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900" b="1" dirty="0">
                <a:latin typeface="Times New Roman" pitchFamily="18" charset="0"/>
                <a:cs typeface="Times New Roman" pitchFamily="18" charset="0"/>
              </a:rPr>
              <a:t>Заключение</a:t>
            </a:r>
            <a:endParaRPr lang="ru-RU" sz="19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1900" b="1" dirty="0">
                <a:latin typeface="Times New Roman" pitchFamily="18" charset="0"/>
                <a:cs typeface="Times New Roman" pitchFamily="18" charset="0"/>
              </a:rPr>
              <a:t> </a:t>
            </a:r>
            <a:endParaRPr lang="ru-RU" sz="19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1900" b="1" dirty="0">
                <a:latin typeface="Times New Roman" pitchFamily="18" charset="0"/>
                <a:cs typeface="Times New Roman" pitchFamily="18" charset="0"/>
              </a:rPr>
              <a:t>Достоинства</a:t>
            </a: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9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Простая структура алгоритма облегчает его анализ. Кроме того, алгоритм унаследовал часть преобразований от своего предшественника — алгоритма RC5, тщательно проанализированного до конкурса AES.</a:t>
            </a:r>
          </a:p>
          <a:p>
            <a:pPr lvl="0">
              <a:buFont typeface="Wingdings" pitchFamily="2" charset="2"/>
              <a:buChar char="Ø"/>
            </a:pP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Самый быстрый из алгоритмов-финалистов на 32-битных платформах.</a:t>
            </a:r>
          </a:p>
          <a:p>
            <a:pPr lvl="0">
              <a:buFont typeface="Wingdings" pitchFamily="2" charset="2"/>
              <a:buChar char="Ø"/>
            </a:pP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Зашифровано и расшифровано в алгоритме RC6 практически идентично</a:t>
            </a:r>
            <a:r>
              <a:rPr lang="ru-RU" sz="19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9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0" indent="0">
              <a:buNone/>
            </a:pPr>
            <a:endParaRPr lang="ru-RU" sz="19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1900" b="1" dirty="0">
                <a:latin typeface="Times New Roman" pitchFamily="18" charset="0"/>
                <a:cs typeface="Times New Roman" pitchFamily="18" charset="0"/>
              </a:rPr>
              <a:t>Недостатки</a:t>
            </a: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9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Скорость шифрования при программной реализации сильно зависит от того, поддерживает ли платформа 32-битное умножение и вращение на переменное число бит.</a:t>
            </a:r>
          </a:p>
          <a:p>
            <a:pPr lvl="0">
              <a:buFont typeface="Wingdings" pitchFamily="2" charset="2"/>
              <a:buChar char="Ø"/>
            </a:pP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RC6 сложно реализуем аппаратно и в условиях ограниченных ресурсов.</a:t>
            </a:r>
          </a:p>
          <a:p>
            <a:pPr lvl="0">
              <a:buFont typeface="Wingdings" pitchFamily="2" charset="2"/>
              <a:buChar char="Ø"/>
            </a:pP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Достаточно сложно защищается от атак по времени выполнения и потребляемой мощности.</a:t>
            </a:r>
          </a:p>
          <a:p>
            <a:pPr lvl="0">
              <a:buFont typeface="Wingdings" pitchFamily="2" charset="2"/>
              <a:buChar char="Ø"/>
            </a:pP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Недостаточно полно поддерживает расширение ключей «на лету».</a:t>
            </a:r>
          </a:p>
          <a:p>
            <a:pPr lvl="0">
              <a:buFont typeface="Wingdings" pitchFamily="2" charset="2"/>
              <a:buChar char="Ø"/>
            </a:pP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Распараллеливание вычислений при шифровании алгоритмом RC6 реализуемо с ограничениями.</a:t>
            </a:r>
          </a:p>
          <a:p>
            <a:pPr>
              <a:buFont typeface="Wingdings" pitchFamily="2" charset="2"/>
              <a:buChar char="Ø"/>
            </a:pPr>
            <a:endParaRPr lang="ru-RU" sz="19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8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Профиль">
  <a:themeElements>
    <a:clrScheme name="Профиль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Профиль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рофиль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рофиль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5657</TotalTime>
  <Words>2648</Words>
  <Application>Microsoft Office PowerPoint</Application>
  <PresentationFormat>Экран (4:3)</PresentationFormat>
  <Paragraphs>645</Paragraphs>
  <Slides>57</Slides>
  <Notes>16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57</vt:i4>
      </vt:variant>
    </vt:vector>
  </HeadingPairs>
  <TitlesOfParts>
    <vt:vector size="58" baseType="lpstr">
      <vt:lpstr>Профиль</vt:lpstr>
      <vt:lpstr>Презентация PowerPoint</vt:lpstr>
      <vt:lpstr>MARS  shifrlash algoritmi</vt:lpstr>
      <vt:lpstr>Презентация PowerPoint</vt:lpstr>
      <vt:lpstr>  Algoritmda ishlatiladigan funksiyalar</vt:lpstr>
      <vt:lpstr>Shifrlash</vt:lpstr>
      <vt:lpstr>To’g’ri almashtirish</vt:lpstr>
      <vt:lpstr>To’g’ri kripto akslantirish</vt:lpstr>
      <vt:lpstr>E funksiyasi</vt:lpstr>
      <vt:lpstr>Teskari kripto akslantirish</vt:lpstr>
      <vt:lpstr>Teskari almashtirish</vt:lpstr>
      <vt:lpstr>AES tanlovi finalining yakuniy natijasi</vt:lpstr>
      <vt:lpstr>Kalitlar generatsiyasi</vt:lpstr>
      <vt:lpstr>Презентация PowerPoint</vt:lpstr>
      <vt:lpstr>Kalitlar generatsiyasi</vt:lpstr>
      <vt:lpstr>Презентация PowerPoint</vt:lpstr>
      <vt:lpstr>Презентация PowerPoint</vt:lpstr>
      <vt:lpstr>Презентация PowerPoint</vt:lpstr>
      <vt:lpstr>Асосий қисм</vt:lpstr>
      <vt:lpstr>1. Калитларни генерация қилиш алгоритми</vt:lpstr>
      <vt:lpstr>1. Калитларни генерация қилиш алгоритми</vt:lpstr>
      <vt:lpstr>1. Калитларни генерация қилиш алгоритми</vt:lpstr>
      <vt:lpstr>2. Алгоритмнинг шифрлаш жараёни.</vt:lpstr>
      <vt:lpstr>2. Алгоритмнинг шифрлаш жараёни.</vt:lpstr>
      <vt:lpstr>Бошланғич ўрин алмаштириш (IP)</vt:lpstr>
      <vt:lpstr>S-бокслар</vt:lpstr>
      <vt:lpstr>Чизиқли акслантириш жадвали (LT)</vt:lpstr>
      <vt:lpstr>Чизиқли акслантириш жадвали (LT)</vt:lpstr>
      <vt:lpstr>Презентация PowerPoint</vt:lpstr>
      <vt:lpstr>Охирги ўрин алмаштириш</vt:lpstr>
      <vt:lpstr>3. Дешифрлаш жараёни</vt:lpstr>
      <vt:lpstr>Инверс алмаштириш жадвали</vt:lpstr>
      <vt:lpstr>Тескари чизиқли акслантириш ILT</vt:lpstr>
      <vt:lpstr>4. Шифрлаш ва дешифрлаш блок схемаси</vt:lpstr>
      <vt:lpstr>Twofish</vt:lpstr>
      <vt:lpstr>Презентация PowerPoint</vt:lpstr>
      <vt:lpstr>Shifrlash  sxemasi</vt:lpstr>
      <vt:lpstr>Asosiy akslantirishlar</vt:lpstr>
      <vt:lpstr>Oqartirish (whitening)</vt:lpstr>
      <vt:lpstr>G funksiyasi</vt:lpstr>
      <vt:lpstr>Adamar kriptoalmashtirishi(Pseudo-Hadamar Transform, PHT)</vt:lpstr>
      <vt:lpstr>1 bitga siklik surish</vt:lpstr>
      <vt:lpstr>Kalitlar generatsiyasi</vt:lpstr>
      <vt:lpstr>Презентация PowerPoint</vt:lpstr>
      <vt:lpstr>128 bitli kalit uchun  bir raund uchun shifrlash sxemasi</vt:lpstr>
      <vt:lpstr>H funksiya</vt:lpstr>
      <vt:lpstr>q0 va q1 almashtirish</vt:lpstr>
      <vt:lpstr>Презентация PowerPoint</vt:lpstr>
      <vt:lpstr>H funksiya</vt:lpstr>
      <vt:lpstr>G funksiya va S blok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Тошкент - 2009</dc:title>
  <dc:creator>USER</dc:creator>
  <cp:lastModifiedBy>Microsoft Office</cp:lastModifiedBy>
  <cp:revision>950</cp:revision>
  <dcterms:created xsi:type="dcterms:W3CDTF">2010-10-01T16:11:11Z</dcterms:created>
  <dcterms:modified xsi:type="dcterms:W3CDTF">2019-08-21T11:27:47Z</dcterms:modified>
</cp:coreProperties>
</file>