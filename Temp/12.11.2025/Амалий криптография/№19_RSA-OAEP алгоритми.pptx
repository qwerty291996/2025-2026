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742113" cy="9872663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000099"/>
    <a:srgbClr val="99CCFF"/>
    <a:srgbClr val="CCCCFF"/>
    <a:srgbClr val="CCFFFF"/>
    <a:srgbClr val="CCECFF"/>
    <a:srgbClr val="FFCC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97876" autoAdjust="0"/>
  </p:normalViewPr>
  <p:slideViewPr>
    <p:cSldViewPr>
      <p:cViewPr>
        <p:scale>
          <a:sx n="66" d="100"/>
          <a:sy n="66" d="100"/>
        </p:scale>
        <p:origin x="-2850" y="-10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102"/>
      </p:cViewPr>
      <p:guideLst>
        <p:guide orient="horz" pos="3110"/>
        <p:guide pos="212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95D3FFC-7420-48E8-AA1C-46E37B34947B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797F8DD-84FF-42BF-B4B3-F4248FD2CDC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964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35BA1B6-29B3-4C44-A790-40D16DBC3B3A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8713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4688" y="4689475"/>
            <a:ext cx="5392737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ru-R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EB17F3A-830B-4CB8-BAC4-5673496C310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5746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uz-Cyrl-UZ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868D474A-2E24-4E3F-A55B-3A9744152082}" type="slidenum">
              <a:rPr lang="ru-RU" smtClean="0"/>
              <a:pPr eaLnBrk="1" hangingPunct="1"/>
              <a:t>1</a:t>
            </a:fld>
            <a:endParaRPr lang="ru-RU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5B221-89C0-4458-99EA-A08D9A9203E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766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11998573 h 1000"/>
              <a:gd name="T6" fmla="*/ 0 w 1000"/>
              <a:gd name="T7" fmla="*/ 11998573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DD15A-50E6-444C-9B11-BBA901CF42F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91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41F344-EBBD-4CC1-8449-DF4F8484B00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09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EAB7E3-1D8F-469B-BFF9-C152245F031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20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12FE8-2FCD-45DE-89AA-FF294E41D55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638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B9FCA3-BAC3-46E9-A6F6-EB9F3719648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566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FBC8F-E31E-455A-B31F-98E6C8E2D11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321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A1F92-18C1-4744-BA22-30A8644937D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42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07B96-D12D-42C6-B182-A5ECDA925A0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6838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A609F0-B022-426A-A8C8-2C45106BD85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961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9F6A25-7F9E-4019-ADE1-79B6B90EE8D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000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9192F-A2BA-4C5D-985B-E9FACB503D7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844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11998354 h 1000"/>
              <a:gd name="T6" fmla="*/ 0 w 1000"/>
              <a:gd name="T7" fmla="*/ 11998354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EFAFCF0-E5AA-4D36-A1B1-7DC0AD59589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214282" y="214290"/>
            <a:ext cx="8721900" cy="6429420"/>
          </a:xfrm>
          <a:prstGeom prst="flowChartProcess">
            <a:avLst/>
          </a:prstGeom>
          <a:noFill/>
          <a:ln w="57150">
            <a:solidFill>
              <a:srgbClr val="00206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538163" y="581025"/>
            <a:ext cx="8086725" cy="4302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2200" b="1" dirty="0" err="1">
                <a:solidFill>
                  <a:srgbClr val="800000"/>
                </a:solidFill>
                <a:latin typeface="Times New Roman" pitchFamily="18" charset="0"/>
              </a:rPr>
              <a:t>Радиоэлектрон</a:t>
            </a:r>
            <a:r>
              <a:rPr lang="ru-RU" sz="2200" b="1" dirty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latin typeface="Times New Roman" pitchFamily="18" charset="0"/>
              </a:rPr>
              <a:t>тизимлар</a:t>
            </a:r>
            <a:r>
              <a:rPr lang="ru-RU" sz="2200" b="1" dirty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latin typeface="Times New Roman" pitchFamily="18" charset="0"/>
              </a:rPr>
              <a:t>ва</a:t>
            </a:r>
            <a:r>
              <a:rPr lang="ru-RU" sz="2200" b="1" dirty="0">
                <a:solidFill>
                  <a:srgbClr val="800000"/>
                </a:solidFill>
                <a:latin typeface="Times New Roman" pitchFamily="18" charset="0"/>
              </a:rPr>
              <a:t> а</a:t>
            </a:r>
            <a:r>
              <a:rPr lang="uz-Cyrl-UZ" sz="2200" b="1" dirty="0">
                <a:solidFill>
                  <a:srgbClr val="800000"/>
                </a:solidFill>
                <a:latin typeface="Times New Roman" pitchFamily="18" charset="0"/>
              </a:rPr>
              <a:t>хборот технологиялари маркази</a:t>
            </a:r>
            <a:endParaRPr lang="ru-RU" sz="2200" b="1" dirty="0">
              <a:solidFill>
                <a:srgbClr val="800000"/>
              </a:solidFill>
              <a:latin typeface="Times New Roman" pitchFamily="18" charset="0"/>
            </a:endParaRPr>
          </a:p>
        </p:txBody>
      </p: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3487738" y="6148388"/>
            <a:ext cx="19446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uz-Cyrl-UZ" sz="2000" b="1" dirty="0">
                <a:latin typeface="Times New Roman" pitchFamily="18" charset="0"/>
              </a:rPr>
              <a:t>Тошкент - </a:t>
            </a:r>
            <a:r>
              <a:rPr lang="uz-Cyrl-UZ" sz="2000" b="1" dirty="0" smtClean="0">
                <a:latin typeface="Times New Roman" pitchFamily="18" charset="0"/>
              </a:rPr>
              <a:t>201</a:t>
            </a:r>
            <a:r>
              <a:rPr lang="en-US" sz="2000" b="1" dirty="0" smtClean="0">
                <a:latin typeface="Times New Roman" pitchFamily="18" charset="0"/>
              </a:rPr>
              <a:t>9</a:t>
            </a:r>
            <a:endParaRPr lang="ru-RU" sz="2000" b="1" dirty="0">
              <a:latin typeface="Times New Roman" pitchFamily="18" charset="0"/>
            </a:endParaRPr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1036638" y="2774284"/>
            <a:ext cx="6931025" cy="1132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anchor="ctr">
            <a:spAutoFit/>
          </a:bodyPr>
          <a:lstStyle/>
          <a:p>
            <a:pPr algn="ctr" eaLnBrk="0" hangingPunct="0">
              <a:lnSpc>
                <a:spcPct val="130000"/>
              </a:lnSpc>
              <a:defRPr/>
            </a:pPr>
            <a:r>
              <a:rPr lang="en-US" altLang="zh-CN" sz="2600" b="1" dirty="0">
                <a:latin typeface="Times New Roman" pitchFamily="18" charset="0"/>
                <a:ea typeface="宋体" charset="-122"/>
              </a:rPr>
              <a:t>RSA-OAEP </a:t>
            </a:r>
            <a:r>
              <a:rPr lang="uz-Cyrl-UZ" altLang="zh-CN" sz="2600" b="1" dirty="0">
                <a:latin typeface="Times New Roman" pitchFamily="18" charset="0"/>
                <a:ea typeface="宋体" charset="-122"/>
              </a:rPr>
              <a:t>асимметрик шифрлаш </a:t>
            </a:r>
            <a:r>
              <a:rPr lang="uz-Cyrl-UZ" altLang="zh-CN" sz="2600" b="1" dirty="0" smtClean="0">
                <a:latin typeface="Times New Roman" pitchFamily="18" charset="0"/>
                <a:ea typeface="宋体" charset="-122"/>
              </a:rPr>
              <a:t>алгоритми</a:t>
            </a:r>
            <a:endParaRPr lang="uz-Cyrl-UZ" sz="2600" b="1" dirty="0">
              <a:latin typeface="Times New Roman" pitchFamily="18" charset="0"/>
            </a:endParaRPr>
          </a:p>
        </p:txBody>
      </p:sp>
      <p:sp>
        <p:nvSpPr>
          <p:cNvPr id="3080" name="Text Box 25"/>
          <p:cNvSpPr txBox="1">
            <a:spLocks noChangeArrowheads="1"/>
          </p:cNvSpPr>
          <p:nvPr/>
        </p:nvSpPr>
        <p:spPr bwMode="auto">
          <a:xfrm>
            <a:off x="2746375" y="1639888"/>
            <a:ext cx="3346450" cy="46196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737373"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/>
            <a:r>
              <a:rPr lang="uz-Cyrl-UZ" sz="2400" b="1" i="1" u="sng" dirty="0">
                <a:latin typeface="Times New Roman" pitchFamily="18" charset="0"/>
              </a:rPr>
              <a:t>Амалий криптография</a:t>
            </a:r>
            <a:endParaRPr lang="ru-RU" sz="2400" b="1" i="1" u="sng" dirty="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 title="Мавзунинг долзарблиги"/>
          <p:cNvSpPr txBox="1"/>
          <p:nvPr/>
        </p:nvSpPr>
        <p:spPr>
          <a:xfrm>
            <a:off x="152400" y="76200"/>
            <a:ext cx="88392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RSA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оптимал асимметрик шифрлаш алгоритми математик 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Прямоугольник с двумя вырезанными противолежащими углами 4"/>
          <p:cNvSpPr/>
          <p:nvPr/>
        </p:nvSpPr>
        <p:spPr>
          <a:xfrm>
            <a:off x="163461" y="838200"/>
            <a:ext cx="8828139" cy="5791200"/>
          </a:xfrm>
          <a:prstGeom prst="snip2DiagRect">
            <a:avLst>
              <a:gd name="adj1" fmla="val 0"/>
              <a:gd name="adj2" fmla="val 7355"/>
            </a:avLst>
          </a:prstGeom>
          <a:pattFill prst="wdUp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273050" algn="just"/>
            <a:r>
              <a:rPr lang="ru-RU" sz="19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838200"/>
            <a:ext cx="8534400" cy="1709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450215" algn="just">
              <a:lnSpc>
                <a:spcPct val="150000"/>
              </a:lnSpc>
              <a:spcAft>
                <a:spcPts val="0"/>
              </a:spcAft>
              <a:tabLst>
                <a:tab pos="540385" algn="l"/>
              </a:tabLst>
            </a:pPr>
            <a:r>
              <a:rPr lang="uz-Cyrl-UZ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Асимметрик </a:t>
            </a:r>
            <a:r>
              <a:rPr lang="uz-Cyrl-UZ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шифрлаш алгоритмлари актив ҳужум турига бардошли бўлиши учун унинг қадамлар кетма-кетлигида маълумот тўлалиги ва аутентификациясини таъминлаш механизми ҳисобланган хэш функциялардан фойдаланилади.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28600" y="2530886"/>
            <a:ext cx="8686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uz-Cyrl-UZ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OAEP-классик </a:t>
            </a:r>
            <a:r>
              <a:rPr lang="uz-Cyrl-UZ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схемаси ҳар бир ячейкасидаги маълумотлар криптографик хэш функциялар ёрдамида ҳосил қилинадиган икки ячейкали фейстел тармоғини ўз ичига олади.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uz-Cyrl-UZ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Схемада қуйидаги белгилашлардан фойдаланилади: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-190500" y="4221114"/>
                <a:ext cx="8915400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42950" lvl="1" indent="-285750" algn="just">
                  <a:lnSpc>
                    <a:spcPct val="150000"/>
                  </a:lnSpc>
                  <a:spcAft>
                    <a:spcPts val="0"/>
                  </a:spcAft>
                  <a:buFont typeface="Wingdings" panose="05000000000000000000" pitchFamily="2" charset="2"/>
                  <a:buChar char=""/>
                  <a:tabLst>
                    <a:tab pos="540385" algn="l"/>
                  </a:tabLst>
                </a:pPr>
                <a14:m>
                  <m:oMath xmlns:m="http://schemas.openxmlformats.org/officeDocument/2006/math">
                    <m:r>
                      <a:rPr lang="uz-Cyrl-UZ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uz-Cyrl-UZ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uz-Cyrl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асимметрик шифрлаш алгоритми учун тайёрланувчи  блокдаги битлар сони;</a:t>
                </a:r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42950" lvl="1" indent="-285750" algn="just">
                  <a:lnSpc>
                    <a:spcPct val="150000"/>
                  </a:lnSpc>
                  <a:spcAft>
                    <a:spcPts val="0"/>
                  </a:spcAft>
                  <a:buFont typeface="Wingdings" panose="05000000000000000000" pitchFamily="2" charset="2"/>
                  <a:buChar char=""/>
                  <a:tabLst>
                    <a:tab pos="54038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-протокол </a:t>
                </a:r>
                <a:r>
                  <a:rPr lang="ru-RU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билан</a:t>
                </a:r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фиксирланган</a:t>
                </a:r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бутун</a:t>
                </a:r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сонлар</a:t>
                </a:r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42950" lvl="1" indent="-285750" algn="just">
                  <a:lnSpc>
                    <a:spcPct val="150000"/>
                  </a:lnSpc>
                  <a:spcAft>
                    <a:spcPts val="0"/>
                  </a:spcAft>
                  <a:buFont typeface="Wingdings" panose="05000000000000000000" pitchFamily="2" charset="2"/>
                  <a:buChar char=""/>
                  <a:tabLst>
                    <a:tab pos="540385" algn="l"/>
                  </a:tabLst>
                </a:pPr>
                <a14:m>
                  <m:oMath xmlns:m="http://schemas.openxmlformats.org/officeDocument/2006/math">
                    <m:r>
                      <a:rPr lang="uz-Cyrl-UZ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очиқ</a:t>
                </a:r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матн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блоки</a:t>
                </a:r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 </m:t>
                    </m:r>
                    <m:sSub>
                      <m:sSub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uz-Cyrl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битли</a:t>
                </a:r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қатор</a:t>
                </a:r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"/>
                </a:pP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ва</a:t>
                </a:r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—</a:t>
                </a:r>
                <a:r>
                  <a:rPr lang="ru-RU" dirty="0" err="1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криптографик</a:t>
                </a:r>
                <a:r>
                  <a:rPr lang="ru-RU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хэш</a:t>
                </a:r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функция ;</a:t>
                </a:r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0500" y="4221114"/>
                <a:ext cx="8915400" cy="1754326"/>
              </a:xfrm>
              <a:prstGeom prst="rect">
                <a:avLst/>
              </a:prstGeom>
              <a:blipFill rotWithShape="0">
                <a:blip r:embed="rId2"/>
                <a:stretch>
                  <a:fillRect b="-17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Прямая соединительная линия 7"/>
          <p:cNvCxnSpPr/>
          <p:nvPr/>
        </p:nvCxnSpPr>
        <p:spPr>
          <a:xfrm flipV="1">
            <a:off x="228600" y="752272"/>
            <a:ext cx="8686801" cy="19280"/>
          </a:xfrm>
          <a:prstGeom prst="line">
            <a:avLst/>
          </a:prstGeom>
          <a:ln w="50800" cmpd="sng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0021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 title="Мавзунинг долзарблиги"/>
          <p:cNvSpPr txBox="1"/>
          <p:nvPr/>
        </p:nvSpPr>
        <p:spPr>
          <a:xfrm>
            <a:off x="157579" y="66368"/>
            <a:ext cx="88392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криптоҳужум усулларига бардошли  RSA оптимал асимметрик шифрлаш алгоритми математик 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Прямоугольник с двумя вырезанными противолежащими углами 4"/>
          <p:cNvSpPr/>
          <p:nvPr/>
        </p:nvSpPr>
        <p:spPr>
          <a:xfrm>
            <a:off x="239001" y="722531"/>
            <a:ext cx="8762694" cy="5926807"/>
          </a:xfrm>
          <a:prstGeom prst="snip2DiagRect">
            <a:avLst>
              <a:gd name="adj1" fmla="val 0"/>
              <a:gd name="adj2" fmla="val 7682"/>
            </a:avLst>
          </a:prstGeom>
          <a:pattFill prst="wdUp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273050" algn="just"/>
            <a:r>
              <a:rPr lang="ru-RU" sz="19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" name="Прямоугольник 1047"/>
          <p:cNvSpPr/>
          <p:nvPr/>
        </p:nvSpPr>
        <p:spPr>
          <a:xfrm>
            <a:off x="2743200" y="722531"/>
            <a:ext cx="2708434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algn="ctr">
              <a:lnSpc>
                <a:spcPct val="107000"/>
              </a:lnSpc>
              <a:spcAft>
                <a:spcPts val="600"/>
              </a:spcAft>
            </a:pPr>
            <a:r>
              <a:rPr lang="ru-RU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Шифрлаш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жараёни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9" name="Прямоугольник 1048"/>
              <p:cNvSpPr/>
              <p:nvPr/>
            </p:nvSpPr>
            <p:spPr>
              <a:xfrm>
                <a:off x="239001" y="1029922"/>
                <a:ext cx="8580666" cy="22775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uz-Cyrl-UZ" sz="160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1. </m:t>
                    </m:r>
                    <m:r>
                      <a:rPr lang="uz-Cyrl-UZ" sz="160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-маълумот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та ноллар билан тўлдирилади;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uz-Cyrl-UZ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2. 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-битли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тасодифий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қатор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генерация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қилинади</a:t>
                </a:r>
                <a:r>
                  <a:rPr lang="ru-RU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en-US" sz="1600" dirty="0" smtClean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16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3. </a:t>
                </a:r>
                <a14:m>
                  <m:oMath xmlns:m="http://schemas.openxmlformats.org/officeDocument/2006/math">
                    <m:r>
                      <a:rPr lang="ru-RU" sz="16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хэш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функция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қаторни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гача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бит билан кенгайтиради</a:t>
                </a:r>
                <a:r>
                  <a:rPr lang="uz-Cyrl-UZ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en-US" sz="1600" dirty="0" smtClean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4. 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000..0</m:t>
                    </m:r>
                    <m:r>
                      <a:rPr lang="uz-Cyrl-UZ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uz-Cyrl-UZ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ҳисобланади</a:t>
                </a:r>
                <a:r>
                  <a:rPr lang="uz-Cyrl-UZ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en-US" sz="1600" dirty="0" smtClean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16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5.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uz-Cyrl-UZ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uz-Cyrl-UZ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H</m:t>
                    </m:r>
                    <m:r>
                      <a:rPr lang="uz-Cyrl-UZ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uz-Cyrl-UZ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X</m:t>
                    </m:r>
                    <m:r>
                      <a:rPr lang="uz-Cyrl-UZ" sz="16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uz-Cyrl-UZ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ҳисобланади;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>
                  <a:spcAft>
                    <a:spcPts val="600"/>
                  </a:spcAft>
                </a:pPr>
                <a:r>
                  <a:rPr lang="en-US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6. </a:t>
                </a:r>
                <a:r>
                  <a:rPr lang="ru-RU" sz="1600" dirty="0" err="1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Шифрланувчи</a:t>
                </a:r>
                <a:r>
                  <a:rPr lang="ru-RU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маълумот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||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>
                  <a:spcAft>
                    <a:spcPts val="600"/>
                  </a:spcAft>
                </a:pPr>
                <a:r>
                  <a:rPr lang="en-US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7. </a:t>
                </a:r>
                <a:r>
                  <a:rPr lang="ru-RU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ru-RU" sz="16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p>
                    </m:sSup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𝑚𝑜𝑑𝑁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ҳисобланади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9" name="Прямоугольник 10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01" y="1029922"/>
                <a:ext cx="8580666" cy="2277547"/>
              </a:xfrm>
              <a:prstGeom prst="rect">
                <a:avLst/>
              </a:prstGeom>
              <a:blipFill rotWithShape="0">
                <a:blip r:embed="rId2"/>
                <a:stretch>
                  <a:fillRect l="-355" t="-1070" b="-21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Рисунок 12"/>
          <p:cNvPicPr/>
          <p:nvPr/>
        </p:nvPicPr>
        <p:blipFill>
          <a:blip r:embed="rId3"/>
          <a:stretch>
            <a:fillRect/>
          </a:stretch>
        </p:blipFill>
        <p:spPr>
          <a:xfrm>
            <a:off x="1559121" y="3317301"/>
            <a:ext cx="5940425" cy="3086100"/>
          </a:xfrm>
          <a:prstGeom prst="rect">
            <a:avLst/>
          </a:prstGeom>
        </p:spPr>
      </p:pic>
      <p:cxnSp>
        <p:nvCxnSpPr>
          <p:cNvPr id="8" name="Прямая соединительная линия 7"/>
          <p:cNvCxnSpPr/>
          <p:nvPr/>
        </p:nvCxnSpPr>
        <p:spPr>
          <a:xfrm flipV="1">
            <a:off x="185932" y="712891"/>
            <a:ext cx="8686801" cy="19280"/>
          </a:xfrm>
          <a:prstGeom prst="line">
            <a:avLst/>
          </a:prstGeom>
          <a:ln w="50800" cmpd="sng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642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 title="Мавзунинг долзарблиги"/>
          <p:cNvSpPr txBox="1"/>
          <p:nvPr/>
        </p:nvSpPr>
        <p:spPr>
          <a:xfrm>
            <a:off x="126897" y="46773"/>
            <a:ext cx="88392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криптоҳужум усулларига бардошли  RSA оптимал асимметрик шифрлаш алгоритми математик 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Прямоугольник с двумя вырезанными противолежащими углами 4"/>
          <p:cNvSpPr/>
          <p:nvPr/>
        </p:nvSpPr>
        <p:spPr>
          <a:xfrm>
            <a:off x="126897" y="729905"/>
            <a:ext cx="8839201" cy="5830669"/>
          </a:xfrm>
          <a:prstGeom prst="snip2DiagRect">
            <a:avLst>
              <a:gd name="adj1" fmla="val 0"/>
              <a:gd name="adj2" fmla="val 7682"/>
            </a:avLst>
          </a:prstGeom>
          <a:pattFill prst="wdUp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273050" algn="just"/>
            <a:r>
              <a:rPr lang="ru-RU" sz="19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73050" algn="just"/>
            <a:endParaRPr lang="ru-RU" sz="19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Прямоугольник 10"/>
              <p:cNvSpPr/>
              <p:nvPr/>
            </p:nvSpPr>
            <p:spPr>
              <a:xfrm>
                <a:off x="264242" y="840482"/>
                <a:ext cx="8633952" cy="33085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31445" algn="ctr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ru-RU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Дешифрлаш</a:t>
                </a:r>
                <a:r>
                  <a:rPr lang="ru-RU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b="1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жараёни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50000"/>
                  </a:lnSpc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b="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ru-RU" b="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b="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ru-RU" b="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p>
                    </m:sSup>
                    <m:r>
                      <a:rPr lang="ru-RU" b="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b="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𝑚𝑜𝑑𝑁</m:t>
                    </m:r>
                    <m:r>
                      <a:rPr lang="ru-RU" b="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ҳисобланади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ru-RU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2. 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uz-Cyrl-UZ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uz-Cyrl-UZ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H</m:t>
                    </m:r>
                    <m:r>
                      <a:rPr lang="uz-Cyrl-UZ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uz-Cyrl-UZ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X</m:t>
                    </m:r>
                    <m:r>
                      <a:rPr lang="uz-Cyrl-UZ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uz-Cyrl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тасодифий қатор қайта тикланади;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ru-RU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3.  </a:t>
                </a:r>
                <a:r>
                  <a:rPr lang="uz-Cyrl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Б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ошанғич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хабар 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000..0=</m:t>
                    </m:r>
                    <m:r>
                      <a:rPr lang="ru-RU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uz-Cyrl-UZ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uz-Cyrl-UZ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G</m:t>
                    </m:r>
                    <m:r>
                      <a:rPr lang="uz-Cyrl-UZ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uz-Cyrl-UZ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r</m:t>
                    </m:r>
                    <m:r>
                      <a:rPr lang="uz-Cyrl-UZ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кўринишда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қайта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тикланади</a:t>
                </a:r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uz-Cyrl-UZ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4. Агар </a:t>
                </a:r>
                <a14:m>
                  <m:oMath xmlns:m="http://schemas.openxmlformats.org/officeDocument/2006/math">
                    <m:r>
                      <a:rPr lang="ru-RU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uz-Cyrl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очиқ матн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uz-Cyrl-UZ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uz-Cyrl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та ноллар билан тугаса, у ҳолда маълумот тўғри </a:t>
                </a:r>
                <a:r>
                  <a:rPr lang="uz-Cyrl-UZ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шифрланган Акс </a:t>
                </a:r>
                <a:r>
                  <a:rPr lang="uz-Cyrl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ҳолда , шифрматнга ҳужум қилувчи томонидан тегишли ўзгартиришлар қилинган ҳисобланади.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42" y="840482"/>
                <a:ext cx="8633952" cy="3308598"/>
              </a:xfrm>
              <a:prstGeom prst="rect">
                <a:avLst/>
              </a:prstGeom>
              <a:blipFill rotWithShape="1">
                <a:blip r:embed="rId3"/>
                <a:stretch>
                  <a:fillRect l="-565" r="-847" b="-552"/>
                </a:stretch>
              </a:blipFill>
            </p:spPr>
            <p:txBody>
              <a:bodyPr/>
              <a:lstStyle/>
              <a:p>
                <a:r>
                  <a:rPr lang="uz-Cyrl-U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/>
          <p:cNvCxnSpPr/>
          <p:nvPr/>
        </p:nvCxnSpPr>
        <p:spPr>
          <a:xfrm flipV="1">
            <a:off x="237817" y="722915"/>
            <a:ext cx="8686801" cy="19280"/>
          </a:xfrm>
          <a:prstGeom prst="line">
            <a:avLst/>
          </a:prstGeom>
          <a:ln w="50800" cmpd="sng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3407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Asymmetric Encryption Padding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8016" lvl="1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ОАЕР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Asymmetric Encryption Padding,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to’ldirilgan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optimal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asimmetrik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—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odatda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qandaydir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tomonlama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birgalikda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ishlatiladigan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qo’shimcha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sxemasi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oxirgi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kriptobardoshlilikni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xizmat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RSA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Rabin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ОАЕР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Mirix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Beluar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Filipp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taklif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RSA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qo’llanilishi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keyinchalik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PKCS#1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RFC 2437da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standartlashtirilgan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2175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Tarixi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28016" lvl="1" indent="0" algn="just">
              <a:lnSpc>
                <a:spcPct val="150000"/>
              </a:lnSpc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Mirix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Beluar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Filipp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1994-yilda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taklif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ОАЕР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(original)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versiyasi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ixtiyoriy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maxfiy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kirishli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funsiya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shifrmatn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hujumlarga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bardoshli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ekanligi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ta’kidlangan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Keyinchalik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tadqiqotlar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ko’rsatdiki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sxema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неадаптивно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shifrmatnlar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hujumlargagina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bardoshli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hisoblanar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qaramay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ekponentali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shifrlovchi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RSA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qo’llanilganda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sxema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shifrmatnlar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hujumlarga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bardoshlilik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xususiyatiga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ekanligi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isbotlandi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18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ОАЕР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68096" y="2286000"/>
            <a:ext cx="5387776" cy="4023360"/>
          </a:xfrm>
        </p:spPr>
        <p:txBody>
          <a:bodyPr>
            <a:normAutofit fontScale="32500" lnSpcReduction="20000"/>
          </a:bodyPr>
          <a:lstStyle/>
          <a:p>
            <a:pPr marL="128016" lvl="1" indent="0" algn="just">
              <a:lnSpc>
                <a:spcPct val="120000"/>
              </a:lnSpc>
              <a:buNone/>
            </a:pPr>
            <a:r>
              <a:rPr lang="en-US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ОАЕР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klassik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sxemasi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yacheykali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Feystel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tarmog’ini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etadi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yacheykada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kriptografik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xesh-funksiya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akslantiriladi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Tarmoq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chiqishida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nollar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to’ldirib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qo’yilgan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nazorat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raqami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olinadi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Sxemada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belgilanishlardan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foydalaniladi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ru-RU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asimmetrik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shifrlash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tayyorlanadigan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bitlar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k0</a:t>
            </a:r>
            <a:r>
              <a:rPr lang="ru-RU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protokol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fiksirlangan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sonlar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ochiq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en-US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k</a:t>
            </a:r>
            <a:r>
              <a:rPr lang="ru-RU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k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bitli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sz="4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protokol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kriptografik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xesh-funsiya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8016" lvl="1" indent="0" algn="just">
              <a:lnSpc>
                <a:spcPct val="150000"/>
              </a:lnSpc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872" y="2084832"/>
            <a:ext cx="2988128" cy="39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2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Shifrlash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68096" y="2286000"/>
            <a:ext cx="4661154" cy="4023360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k1 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to’ldiriladi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n-k0 bit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yetadi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Tasodifiy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k0 bit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n-k0 bit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kengaytiradi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P1=m00…0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G(r)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P1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n-k0 bit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bitgacha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siqadi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P2=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r+H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(P1)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Shifrlangan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P1||P2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386" y="1470582"/>
            <a:ext cx="3184072" cy="5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64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Deshifrlash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68097" y="2286000"/>
            <a:ext cx="4652990" cy="4023360"/>
          </a:xfrm>
        </p:spPr>
        <p:txBody>
          <a:bodyPr>
            <a:normAutofit fontScale="62500" lnSpcReduction="20000"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Tasodifiy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r=P1+H(P1)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tiklanadi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m00..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0=P1+G(r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tiklanadi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Deshifrlangan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oxirgi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k1 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simvolining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nolga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tekshiriladi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bo’lmagan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simvollari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buzg’unchi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qalbakilashtirilgan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343" y="1619906"/>
            <a:ext cx="3061607" cy="52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539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Qo’llanilishi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68096" y="1448780"/>
            <a:ext cx="7559476" cy="4023360"/>
          </a:xfrm>
        </p:spPr>
        <p:txBody>
          <a:bodyPr/>
          <a:lstStyle/>
          <a:p>
            <a:pPr marL="128016" lvl="1" indent="0" algn="just">
              <a:lnSpc>
                <a:spcPct val="150000"/>
              </a:lnSpc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OAEP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qo’llashdan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oldingi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dastlabki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OAEP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fiksirlangan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uzunlikkacha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to’ldiriladi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RSA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sxemasi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RSA-OAEP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ochiq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(RFC 3447)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standartining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tarkibiy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81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Asymmetric Encryption Padding</a:t>
            </a:r>
            <a:endParaRPr lang="ru-RU" sz="2800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72" y="2084833"/>
            <a:ext cx="7870371" cy="4675197"/>
          </a:xfrm>
        </p:spPr>
      </p:pic>
    </p:spTree>
    <p:extLst>
      <p:ext uri="{BB962C8B-B14F-4D97-AF65-F5344CB8AC3E}">
        <p14:creationId xmlns:p14="http://schemas.microsoft.com/office/powerpoint/2010/main" val="388017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OAEP+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Tanlab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shifrmatn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hujumlarga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kriptogarafik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bardoshliligini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isbotlash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yo’qligi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sxemaning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tezlikda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kamchiliklar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keyinchalik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nuqsonlarni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bartaraf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OAEP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modifikatsiyasi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taklif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etildi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Viktor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Shoup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OAEP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to’ldirilgan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sxema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variantini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(OAEP+ deb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nomlanuvchi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taklif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variantda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sxema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shifrmatnlar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qilinadigan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bardoshli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qachonki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ixtiyoriy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maxfiy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kirishli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funsiya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kombinatsiyalashganda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484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Shifrlash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768097" y="2286000"/>
            <a:ext cx="5167340" cy="4023360"/>
          </a:xfrm>
        </p:spPr>
        <p:txBody>
          <a:bodyPr>
            <a:normAutofit fontScale="47500" lnSpcReduction="20000"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Tasodifiy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r||m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ko’rinishiga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o’tkazadi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 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n-k0-k1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ko’rinishiga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o’tkazadi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shakllantiriladi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G(r)+m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)||R(r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||m)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 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ko’rinishiga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o’tkazadi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shakllantiriladi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t=H(S)+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Shifrmatn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S||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436" y="2286000"/>
            <a:ext cx="2824842" cy="385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81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Deshifrlash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68096" y="1073883"/>
            <a:ext cx="4963232" cy="4023360"/>
          </a:xfrm>
        </p:spPr>
        <p:txBody>
          <a:bodyPr/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Tasodifiy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r=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t+H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tiklanadi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ajratiladi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o’lchamlari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n-k1-k0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k1 bit.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m=G(r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)+S1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tiklanadi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Agar 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)=S2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bajarilmasa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soxta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272" y="872716"/>
            <a:ext cx="2824842" cy="385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1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RSA-OAEP+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6" y="2286001"/>
            <a:ext cx="7290054" cy="4022725"/>
          </a:xfrm>
        </p:spPr>
      </p:pic>
    </p:spTree>
    <p:extLst>
      <p:ext uri="{BB962C8B-B14F-4D97-AF65-F5344CB8AC3E}">
        <p14:creationId xmlns:p14="http://schemas.microsoft.com/office/powerpoint/2010/main" val="2837705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SAEP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OAEP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realizatsiyasi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tayanch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so`zlarni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kiritdi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SAEP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g`oyasi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tasodifiy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qatorni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generatsiyalashdan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Shunday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sxema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Feystelning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bittasi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yacheykasidan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ta’minlangan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Yuqoridagi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alogoritmlar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bir-biridan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tekshiruvchi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SAEP da 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SAEP+ 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qiymati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kamchiligi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kengayib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ketishidir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Ishonchligi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RABIN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RSA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cheklangan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tasodifiy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qo`llanishidir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m≤n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/2+k0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SAEP+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SAEP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qo`shimcha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tarzda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m≤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/4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SAEP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SAEP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tezliklari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deyarli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Farqi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SAEP+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shifrmatn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SAEP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qisqaroq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668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SAEP+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shifrlash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768097" y="2286000"/>
            <a:ext cx="4418266" cy="4023360"/>
          </a:xfrm>
        </p:spPr>
        <p:txBody>
          <a:bodyPr>
            <a:normAutofit fontScale="62500" lnSpcReduction="20000"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Tasodifiy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 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ko’rinishiga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o’tkazadi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akslantiriladi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 n-k0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uzunlikdagi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ko’rinishiga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o’tkazadi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S= (m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||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|| 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+ H(r))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Shifrmatn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370" y="2084832"/>
            <a:ext cx="2850648" cy="383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596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Deshifrlash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||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S2 = S + H(r)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isoblanadi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S2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n-k0-k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k1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uzunlikka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S2 = G(S1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||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tekshiriladi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bajarilsa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haqiqiy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buzilgan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63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Профиль">
  <a:themeElements>
    <a:clrScheme name="Профиль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Профиль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рофиль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рофиль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5730</TotalTime>
  <Words>790</Words>
  <Application>Microsoft Office PowerPoint</Application>
  <PresentationFormat>Экран (4:3)</PresentationFormat>
  <Paragraphs>105</Paragraphs>
  <Slides>18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Профиль</vt:lpstr>
      <vt:lpstr>Презентация PowerPoint</vt:lpstr>
      <vt:lpstr>Презентация PowerPoint</vt:lpstr>
      <vt:lpstr>Презентация PowerPoint</vt:lpstr>
      <vt:lpstr>Презентация PowerPoint</vt:lpstr>
      <vt:lpstr>Optimal Asymmetric Encryption Padding</vt:lpstr>
      <vt:lpstr>Tarixi </vt:lpstr>
      <vt:lpstr>ОАЕР algoritmi </vt:lpstr>
      <vt:lpstr>Shifrlash </vt:lpstr>
      <vt:lpstr>Deshifrlash </vt:lpstr>
      <vt:lpstr>Qo’llanilishi </vt:lpstr>
      <vt:lpstr>Optimal Asymmetric Encryption Padding</vt:lpstr>
      <vt:lpstr>OAEP+</vt:lpstr>
      <vt:lpstr>Shifrlash </vt:lpstr>
      <vt:lpstr>Deshifrlash </vt:lpstr>
      <vt:lpstr>RSA-OAEP+</vt:lpstr>
      <vt:lpstr>SAEP</vt:lpstr>
      <vt:lpstr>SAEP+ shifrlash </vt:lpstr>
      <vt:lpstr>Deshifrlash 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Тошкент - 2009</dc:title>
  <dc:creator>USER</dc:creator>
  <cp:lastModifiedBy>Microsoft Office</cp:lastModifiedBy>
  <cp:revision>975</cp:revision>
  <cp:lastPrinted>2014-05-31T08:12:20Z</cp:lastPrinted>
  <dcterms:created xsi:type="dcterms:W3CDTF">2010-10-01T16:11:11Z</dcterms:created>
  <dcterms:modified xsi:type="dcterms:W3CDTF">2019-08-21T12:12:43Z</dcterms:modified>
</cp:coreProperties>
</file>