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4" r:id="rId3"/>
    <p:sldId id="354" r:id="rId4"/>
    <p:sldId id="264" r:id="rId5"/>
    <p:sldId id="265" r:id="rId6"/>
    <p:sldId id="293" r:id="rId7"/>
    <p:sldId id="302" r:id="rId8"/>
    <p:sldId id="323" r:id="rId9"/>
    <p:sldId id="359" r:id="rId10"/>
    <p:sldId id="360" r:id="rId11"/>
  </p:sldIdLst>
  <p:sldSz cx="10801350" cy="6858000"/>
  <p:notesSz cx="6858000" cy="9144000"/>
  <p:defaultTextStyle>
    <a:defPPr>
      <a:defRPr lang="ru-RU"/>
    </a:defPPr>
    <a:lvl1pPr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56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28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00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7213" indent="1588" algn="l" defTabSz="9128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3A3A"/>
    <a:srgbClr val="8A421A"/>
    <a:srgbClr val="F4F933"/>
    <a:srgbClr val="E0AB16"/>
    <a:srgbClr val="9B4A1D"/>
    <a:srgbClr val="BE5B24"/>
    <a:srgbClr val="FFE07D"/>
    <a:srgbClr val="6F3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Средний стиль 4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Светлый стиль 2 -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1" autoAdjust="0"/>
    <p:restoredTop sz="94660"/>
  </p:normalViewPr>
  <p:slideViewPr>
    <p:cSldViewPr>
      <p:cViewPr>
        <p:scale>
          <a:sx n="66" d="100"/>
          <a:sy n="66" d="100"/>
        </p:scale>
        <p:origin x="-2490" y="-984"/>
      </p:cViewPr>
      <p:guideLst>
        <p:guide orient="horz" pos="2161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07922A9-5EA6-4CFF-A4D9-C7B497F15141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685800"/>
            <a:ext cx="54006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2D96CBC2-D85B-48C0-8C81-E1DDF9135E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928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0102" y="2130434"/>
            <a:ext cx="9181147" cy="14700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20205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F2E4E-276B-4A85-AFBD-68C6F7608DD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6E16C-A183-4E92-B3F0-B051EF090A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974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F1934-E000-4F8D-9E57-9C0719054AB4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81819-C47B-4E38-93D9-3FFB36B23D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18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3233" y="4406904"/>
            <a:ext cx="9181147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53233" y="2906721"/>
            <a:ext cx="9181147" cy="150018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2815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51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223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19926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5630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3AB95-4C82-40DA-9225-53B1CE64A598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669C1-4536-4443-9956-E6998ED3DD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1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40068" y="1600201"/>
            <a:ext cx="4770596" cy="452596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490689" y="1600201"/>
            <a:ext cx="4770596" cy="452596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BDE10-2DA6-42F4-A678-BCE4B510A6E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3D976-BF59-4BFF-AEA9-9379472965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47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0068" y="1535116"/>
            <a:ext cx="4772473" cy="639766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038" indent="0">
              <a:buNone/>
              <a:defRPr sz="2000" b="1"/>
            </a:lvl2pPr>
            <a:lvl3pPr marL="914077" indent="0">
              <a:buNone/>
              <a:defRPr sz="1800" b="1"/>
            </a:lvl3pPr>
            <a:lvl4pPr marL="1371115" indent="0">
              <a:buNone/>
              <a:defRPr sz="1600" b="1"/>
            </a:lvl4pPr>
            <a:lvl5pPr marL="1828153" indent="0">
              <a:buNone/>
              <a:defRPr sz="1600" b="1"/>
            </a:lvl5pPr>
            <a:lvl6pPr marL="2285191" indent="0">
              <a:buNone/>
              <a:defRPr sz="1600" b="1"/>
            </a:lvl6pPr>
            <a:lvl7pPr marL="2742231" indent="0">
              <a:buNone/>
              <a:defRPr sz="1600" b="1"/>
            </a:lvl7pPr>
            <a:lvl8pPr marL="3199268" indent="0">
              <a:buNone/>
              <a:defRPr sz="1600" b="1"/>
            </a:lvl8pPr>
            <a:lvl9pPr marL="365630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40068" y="2174884"/>
            <a:ext cx="4772473" cy="3951285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86945" y="1535116"/>
            <a:ext cx="4774346" cy="639766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038" indent="0">
              <a:buNone/>
              <a:defRPr sz="2000" b="1"/>
            </a:lvl2pPr>
            <a:lvl3pPr marL="914077" indent="0">
              <a:buNone/>
              <a:defRPr sz="1800" b="1"/>
            </a:lvl3pPr>
            <a:lvl4pPr marL="1371115" indent="0">
              <a:buNone/>
              <a:defRPr sz="1600" b="1"/>
            </a:lvl4pPr>
            <a:lvl5pPr marL="1828153" indent="0">
              <a:buNone/>
              <a:defRPr sz="1600" b="1"/>
            </a:lvl5pPr>
            <a:lvl6pPr marL="2285191" indent="0">
              <a:buNone/>
              <a:defRPr sz="1600" b="1"/>
            </a:lvl6pPr>
            <a:lvl7pPr marL="2742231" indent="0">
              <a:buNone/>
              <a:defRPr sz="1600" b="1"/>
            </a:lvl7pPr>
            <a:lvl8pPr marL="3199268" indent="0">
              <a:buNone/>
              <a:defRPr sz="1600" b="1"/>
            </a:lvl8pPr>
            <a:lvl9pPr marL="3656308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486945" y="2174884"/>
            <a:ext cx="4774346" cy="3951285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84ED0-0A97-422D-9B34-7CE28B4AC294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60992-381B-4D35-9D44-B1125EFF7F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939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0237C-9D6A-4338-86EE-03618DB2FA11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CFC18-6DF3-4998-BBC6-4FD20CC620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7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B0F0-64D2-4142-A103-BA914B127A34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F4D3C-2716-4FC3-B15F-FA9D2C5AF7F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86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0077" y="273054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23029" y="273058"/>
            <a:ext cx="6038254" cy="585311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40077" y="1435108"/>
            <a:ext cx="3553570" cy="4691062"/>
          </a:xfrm>
        </p:spPr>
        <p:txBody>
          <a:bodyPr/>
          <a:lstStyle>
            <a:lvl1pPr marL="0" indent="0">
              <a:buNone/>
              <a:defRPr sz="1500"/>
            </a:lvl1pPr>
            <a:lvl2pPr marL="457038" indent="0">
              <a:buNone/>
              <a:defRPr sz="1300"/>
            </a:lvl2pPr>
            <a:lvl3pPr marL="914077" indent="0">
              <a:buNone/>
              <a:defRPr sz="1000"/>
            </a:lvl3pPr>
            <a:lvl4pPr marL="1371115" indent="0">
              <a:buNone/>
              <a:defRPr sz="900"/>
            </a:lvl4pPr>
            <a:lvl5pPr marL="1828153" indent="0">
              <a:buNone/>
              <a:defRPr sz="900"/>
            </a:lvl5pPr>
            <a:lvl6pPr marL="2285191" indent="0">
              <a:buNone/>
              <a:defRPr sz="900"/>
            </a:lvl6pPr>
            <a:lvl7pPr marL="2742231" indent="0">
              <a:buNone/>
              <a:defRPr sz="900"/>
            </a:lvl7pPr>
            <a:lvl8pPr marL="3199268" indent="0">
              <a:buNone/>
              <a:defRPr sz="900"/>
            </a:lvl8pPr>
            <a:lvl9pPr marL="365630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D6994-0623-4B50-98B0-E3343BC3E4E9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5705B-318D-4301-AF29-4D9E551111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67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17139" y="4800603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117139" y="612773"/>
            <a:ext cx="648081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8" indent="0">
              <a:buNone/>
              <a:defRPr sz="2700"/>
            </a:lvl2pPr>
            <a:lvl3pPr marL="914077" indent="0">
              <a:buNone/>
              <a:defRPr sz="2300"/>
            </a:lvl3pPr>
            <a:lvl4pPr marL="1371115" indent="0">
              <a:buNone/>
              <a:defRPr sz="2000"/>
            </a:lvl4pPr>
            <a:lvl5pPr marL="1828153" indent="0">
              <a:buNone/>
              <a:defRPr sz="2000"/>
            </a:lvl5pPr>
            <a:lvl6pPr marL="2285191" indent="0">
              <a:buNone/>
              <a:defRPr sz="2000"/>
            </a:lvl6pPr>
            <a:lvl7pPr marL="2742231" indent="0">
              <a:buNone/>
              <a:defRPr sz="2000"/>
            </a:lvl7pPr>
            <a:lvl8pPr marL="3199268" indent="0">
              <a:buNone/>
              <a:defRPr sz="2000"/>
            </a:lvl8pPr>
            <a:lvl9pPr marL="3656308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117139" y="5367346"/>
            <a:ext cx="648081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038" indent="0">
              <a:buNone/>
              <a:defRPr sz="1300"/>
            </a:lvl2pPr>
            <a:lvl3pPr marL="914077" indent="0">
              <a:buNone/>
              <a:defRPr sz="1000"/>
            </a:lvl3pPr>
            <a:lvl4pPr marL="1371115" indent="0">
              <a:buNone/>
              <a:defRPr sz="900"/>
            </a:lvl4pPr>
            <a:lvl5pPr marL="1828153" indent="0">
              <a:buNone/>
              <a:defRPr sz="900"/>
            </a:lvl5pPr>
            <a:lvl6pPr marL="2285191" indent="0">
              <a:buNone/>
              <a:defRPr sz="900"/>
            </a:lvl6pPr>
            <a:lvl7pPr marL="2742231" indent="0">
              <a:buNone/>
              <a:defRPr sz="900"/>
            </a:lvl7pPr>
            <a:lvl8pPr marL="3199268" indent="0">
              <a:buNone/>
              <a:defRPr sz="900"/>
            </a:lvl8pPr>
            <a:lvl9pPr marL="3656308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5CEC-4DB4-4661-8A23-B225342B7F88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60345-E81E-466D-9053-8103FA302F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986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7DFBB-1A08-403B-AAF0-7E187401CA55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62DAA-B096-4EC3-9F1D-8036852439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58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830980" y="274650"/>
            <a:ext cx="2430305" cy="585152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40068" y="274650"/>
            <a:ext cx="7110888" cy="585152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6BC48-79CC-4305-AC81-3FE95E2C0F97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8E3C2-699D-4921-B7BD-76F8562CDE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30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539750" y="274638"/>
            <a:ext cx="9721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6" tIns="45705" rIns="91406" bIns="457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539750" y="1600200"/>
            <a:ext cx="972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6" tIns="45705" rIns="91406" bIns="457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750" y="6357938"/>
            <a:ext cx="2520950" cy="363537"/>
          </a:xfrm>
          <a:prstGeom prst="rect">
            <a:avLst/>
          </a:prstGeom>
        </p:spPr>
        <p:txBody>
          <a:bodyPr vert="horz" lIns="91406" tIns="45705" rIns="91406" bIns="45705" rtlCol="0" anchor="ctr"/>
          <a:lstStyle>
            <a:lvl1pPr algn="l" defTabSz="914077" fontAlgn="auto">
              <a:spcBef>
                <a:spcPts val="0"/>
              </a:spcBef>
              <a:spcAft>
                <a:spcPts val="0"/>
              </a:spcAft>
              <a:defRPr sz="13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C2E416-2C3E-42E4-9B6B-71F7B0DBB23F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689350" y="6357938"/>
            <a:ext cx="3422650" cy="363537"/>
          </a:xfrm>
          <a:prstGeom prst="rect">
            <a:avLst/>
          </a:prstGeom>
        </p:spPr>
        <p:txBody>
          <a:bodyPr vert="horz" lIns="91406" tIns="45705" rIns="91406" bIns="45705" rtlCol="0" anchor="ctr"/>
          <a:lstStyle>
            <a:lvl1pPr algn="ctr" defTabSz="914077" fontAlgn="auto">
              <a:spcBef>
                <a:spcPts val="0"/>
              </a:spcBef>
              <a:spcAft>
                <a:spcPts val="0"/>
              </a:spcAft>
              <a:defRPr sz="13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740650" y="6357938"/>
            <a:ext cx="2520950" cy="363537"/>
          </a:xfrm>
          <a:prstGeom prst="rect">
            <a:avLst/>
          </a:prstGeom>
        </p:spPr>
        <p:txBody>
          <a:bodyPr vert="horz" lIns="91406" tIns="45705" rIns="91406" bIns="45705" rtlCol="0" anchor="ctr"/>
          <a:lstStyle>
            <a:lvl1pPr algn="r" defTabSz="914077" fontAlgn="auto">
              <a:spcBef>
                <a:spcPts val="0"/>
              </a:spcBef>
              <a:spcAft>
                <a:spcPts val="0"/>
              </a:spcAft>
              <a:defRPr sz="13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0D1E67-F7F6-45C3-950D-283FB1356C8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0" indent="-228521" algn="l" defTabSz="9140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9" indent="-228521" algn="l" defTabSz="9140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89" indent="-228521" algn="l" defTabSz="9140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27" indent="-228521" algn="l" defTabSz="9140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8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7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15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53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91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1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8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08" algn="l" defTabSz="9140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.xml"/><Relationship Id="rId7" Type="http://schemas.openxmlformats.org/officeDocument/2006/relationships/image" Target="../media/image11.png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Прямоугольник 4"/>
          <p:cNvSpPr>
            <a:spLocks noChangeArrowheads="1"/>
          </p:cNvSpPr>
          <p:nvPr/>
        </p:nvSpPr>
        <p:spPr bwMode="auto">
          <a:xfrm>
            <a:off x="2944813" y="692150"/>
            <a:ext cx="4903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000">
                <a:solidFill>
                  <a:srgbClr val="002060"/>
                </a:solidFill>
                <a:latin typeface="Arial Narrow" pitchFamily="34" charset="0"/>
                <a:ea typeface="Batang" pitchFamily="18" charset="-127"/>
                <a:cs typeface="Times New Roman" pitchFamily="18" charset="0"/>
              </a:rPr>
              <a:t>РАДИОЭЛЕКТРОН  ТИЗИМЛАР ВА АХБОРОТ ТЕХНОЛОГИЯЛАРИ МАРКАЗИ</a:t>
            </a:r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1125538" y="3104799"/>
            <a:ext cx="8569325" cy="78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defTabSz="914400">
              <a:lnSpc>
                <a:spcPct val="80000"/>
              </a:lnSpc>
            </a:pPr>
            <a:r>
              <a:rPr lang="uz-Cyrl-UZ" sz="2800" b="1" dirty="0" smtClean="0">
                <a:solidFill>
                  <a:srgbClr val="002060"/>
                </a:solidFill>
                <a:latin typeface="Cambria Math" pitchFamily="18" charset="0"/>
                <a:ea typeface="Calibri" pitchFamily="34" charset="0"/>
                <a:cs typeface="Times New Roman" pitchFamily="18" charset="0"/>
              </a:rPr>
              <a:t>O’zDSt </a:t>
            </a:r>
            <a:r>
              <a:rPr lang="uz-Cyrl-UZ" sz="2800" b="1" dirty="0">
                <a:solidFill>
                  <a:srgbClr val="002060"/>
                </a:solidFill>
                <a:latin typeface="Cambria Math" pitchFamily="18" charset="0"/>
                <a:ea typeface="Calibri" pitchFamily="34" charset="0"/>
                <a:cs typeface="Times New Roman" pitchFamily="18" charset="0"/>
              </a:rPr>
              <a:t>1105:2009  миллий стандарт алгоритми </a:t>
            </a:r>
            <a:r>
              <a:rPr lang="uz-Cyrl-UZ" sz="2800" b="1" dirty="0" smtClean="0">
                <a:solidFill>
                  <a:srgbClr val="002060"/>
                </a:solidFill>
                <a:latin typeface="Cambria Math" pitchFamily="18" charset="0"/>
                <a:ea typeface="Calibri" pitchFamily="34" charset="0"/>
                <a:cs typeface="Times New Roman" pitchFamily="18" charset="0"/>
              </a:rPr>
              <a:t>модификацияси</a:t>
            </a:r>
            <a:r>
              <a:rPr lang="en-US" sz="2800" b="1" dirty="0" smtClean="0">
                <a:solidFill>
                  <a:srgbClr val="002060"/>
                </a:solidFill>
                <a:latin typeface="Cambria Math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lang="uz-Cyrl-UZ" sz="2800" b="1" dirty="0" smtClean="0">
                <a:solidFill>
                  <a:srgbClr val="002060"/>
                </a:solidFill>
                <a:latin typeface="Cambria Math" pitchFamily="18" charset="0"/>
                <a:ea typeface="Calibri" pitchFamily="34" charset="0"/>
                <a:cs typeface="Times New Roman" pitchFamily="18" charset="0"/>
              </a:rPr>
              <a:t>калитга боғлиқсиз варианти</a:t>
            </a:r>
            <a:r>
              <a:rPr lang="en-US" sz="2800" b="1" dirty="0" smtClean="0">
                <a:solidFill>
                  <a:srgbClr val="002060"/>
                </a:solidFill>
                <a:latin typeface="Cambria Math" pitchFamily="18" charset="0"/>
                <a:ea typeface="Calibri" pitchFamily="34" charset="0"/>
                <a:cs typeface="Times New Roman" pitchFamily="18" charset="0"/>
              </a:rPr>
              <a:t>)</a:t>
            </a:r>
            <a:endParaRPr lang="ru-RU" sz="2800" b="1" dirty="0">
              <a:solidFill>
                <a:srgbClr val="002060"/>
              </a:solidFill>
              <a:latin typeface="Cambria Math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4082108" y="6092825"/>
            <a:ext cx="199364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defTabSz="914400"/>
            <a:r>
              <a:rPr lang="uz-Cyrl-UZ" sz="1400" dirty="0">
                <a:solidFill>
                  <a:schemeClr val="bg1"/>
                </a:solidFill>
                <a:latin typeface="Arial Narrow" pitchFamily="34" charset="0"/>
                <a:ea typeface="Cambria Math" pitchFamily="18" charset="0"/>
                <a:cs typeface="Times New Roman" pitchFamily="18" charset="0"/>
              </a:rPr>
              <a:t>Тошкент 2014</a:t>
            </a:r>
            <a:endParaRPr lang="ru-RU" sz="1400" dirty="0">
              <a:solidFill>
                <a:schemeClr val="bg1"/>
              </a:solidFill>
              <a:latin typeface="Arial Narrow" pitchFamily="34" charset="0"/>
              <a:ea typeface="Cambria Math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11" descr="D:\serie\DiSSERTATSIYA JS\lin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260350"/>
            <a:ext cx="95250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Прямоугольник 2"/>
          <p:cNvSpPr>
            <a:spLocks noChangeArrowheads="1"/>
          </p:cNvSpPr>
          <p:nvPr/>
        </p:nvSpPr>
        <p:spPr bwMode="auto">
          <a:xfrm>
            <a:off x="1179513" y="357188"/>
            <a:ext cx="91455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000" b="1" dirty="0" smtClean="0"/>
              <a:t>Алгебраик </a:t>
            </a:r>
            <a:r>
              <a:rPr lang="uz-Cyrl-UZ" sz="2000" b="1" dirty="0"/>
              <a:t>хусусиятларига асосланган холда симметрик алгоритмлар учун S-блокларни танлаш ва </a:t>
            </a:r>
            <a:r>
              <a:rPr lang="uz-Cyrl-UZ" sz="2000" b="1" i="1" dirty="0"/>
              <a:t>BaytAlmash </a:t>
            </a:r>
            <a:r>
              <a:rPr lang="uz-Cyrl-UZ" sz="2000" b="1" dirty="0"/>
              <a:t>акслантиришининг калитга боғлиқсиз варианти</a:t>
            </a:r>
            <a:endParaRPr lang="ru-RU" sz="2000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081088" y="1881188"/>
            <a:ext cx="2855912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uz-Cyrl-UZ" dirty="0"/>
              <a:t>Rijndael алгоритми S-блоки</a:t>
            </a:r>
            <a:endParaRPr lang="ru-RU" dirty="0"/>
          </a:p>
        </p:txBody>
      </p:sp>
      <p:sp>
        <p:nvSpPr>
          <p:cNvPr id="13318" name="Прямоугольник 3"/>
          <p:cNvSpPr>
            <a:spLocks noChangeArrowheads="1"/>
          </p:cNvSpPr>
          <p:nvPr/>
        </p:nvSpPr>
        <p:spPr bwMode="auto">
          <a:xfrm>
            <a:off x="5330825" y="1773238"/>
            <a:ext cx="2679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uz-Cyrl-UZ" sz="3200" i="1"/>
              <a:t>b=M×(a)</a:t>
            </a:r>
            <a:r>
              <a:rPr lang="uz-Cyrl-UZ" sz="3200" i="1" baseline="30000"/>
              <a:t>-1</a:t>
            </a:r>
            <a:r>
              <a:rPr lang="uz-Cyrl-UZ" sz="3200" i="1"/>
              <a:t>+</a:t>
            </a:r>
            <a:r>
              <a:rPr lang="en-US" sz="3200" i="1"/>
              <a:t>β</a:t>
            </a:r>
            <a:r>
              <a:rPr lang="uz-Cyrl-UZ" sz="3200" i="1"/>
              <a:t>, </a:t>
            </a:r>
            <a:endParaRPr lang="ru-RU" sz="3200"/>
          </a:p>
        </p:txBody>
      </p:sp>
      <p:sp>
        <p:nvSpPr>
          <p:cNvPr id="13319" name="Прямоугольник 4"/>
          <p:cNvSpPr>
            <a:spLocks noChangeArrowheads="1"/>
          </p:cNvSpPr>
          <p:nvPr/>
        </p:nvSpPr>
        <p:spPr bwMode="auto">
          <a:xfrm>
            <a:off x="379413" y="2424113"/>
            <a:ext cx="101536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1600" i="1"/>
              <a:t>М</a:t>
            </a:r>
            <a:r>
              <a:rPr lang="uz-Cyrl-UZ" sz="1600"/>
              <a:t> – GF(8) майдонга тегишли 16х16 элементли квадрат хосмас матрица, </a:t>
            </a:r>
            <a:r>
              <a:rPr lang="uz-Cyrl-UZ" sz="1600" i="1"/>
              <a:t>a</a:t>
            </a:r>
            <a:r>
              <a:rPr lang="uz-Cyrl-UZ" sz="1600"/>
              <a:t> ва </a:t>
            </a:r>
            <a:r>
              <a:rPr lang="uz-Cyrl-UZ" sz="1600" i="1"/>
              <a:t>b</a:t>
            </a:r>
            <a:r>
              <a:rPr lang="uz-Cyrl-UZ" sz="1600"/>
              <a:t> 8 битли вектор қиймат бўлиб  </a:t>
            </a:r>
            <a:r>
              <a:rPr lang="uz-Cyrl-UZ" sz="1600" i="1"/>
              <a:t>SubBytes </a:t>
            </a:r>
            <a:r>
              <a:rPr lang="uz-Cyrl-UZ" sz="1600"/>
              <a:t>акслантиришига кириш ва чиқиш қиймати,  </a:t>
            </a:r>
            <a:r>
              <a:rPr lang="en-US" sz="1600" i="1"/>
              <a:t>β</a:t>
            </a:r>
            <a:r>
              <a:rPr lang="uz-Cyrl-UZ" sz="1600"/>
              <a:t> фиксирланган 8 битли вектор (a,b,</a:t>
            </a:r>
            <a:r>
              <a:rPr lang="uz-Cyrl-UZ" sz="1600" i="1"/>
              <a:t> </a:t>
            </a:r>
            <a:r>
              <a:rPr lang="en-US" sz="1600" i="1"/>
              <a:t>β </a:t>
            </a:r>
            <a:r>
              <a:rPr lang="uz-Cyrl-UZ" sz="1600"/>
              <a:t>ϵ GF(2</a:t>
            </a:r>
            <a:r>
              <a:rPr lang="uz-Cyrl-UZ" sz="1600" baseline="30000"/>
              <a:t>8</a:t>
            </a:r>
            <a:r>
              <a:rPr lang="uz-Cyrl-UZ" sz="1600"/>
              <a:t>)). </a:t>
            </a:r>
            <a:endParaRPr lang="ru-RU" sz="1600"/>
          </a:p>
        </p:txBody>
      </p:sp>
      <p:sp>
        <p:nvSpPr>
          <p:cNvPr id="17" name="Прямоугольник 16"/>
          <p:cNvSpPr/>
          <p:nvPr/>
        </p:nvSpPr>
        <p:spPr>
          <a:xfrm>
            <a:off x="1057275" y="3465513"/>
            <a:ext cx="2487613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uz-Cyrl-UZ" dirty="0"/>
              <a:t>ADE алгоритми S-блоки</a:t>
            </a:r>
            <a:endParaRPr lang="ru-RU" dirty="0"/>
          </a:p>
        </p:txBody>
      </p:sp>
      <p:sp>
        <p:nvSpPr>
          <p:cNvPr id="13321" name="Прямоугольник 7"/>
          <p:cNvSpPr>
            <a:spLocks noChangeArrowheads="1"/>
          </p:cNvSpPr>
          <p:nvPr/>
        </p:nvSpPr>
        <p:spPr bwMode="auto">
          <a:xfrm>
            <a:off x="5240338" y="3357563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uz-Cyrl-UZ" sz="3200" i="1"/>
              <a:t>b=M(a×</a:t>
            </a:r>
            <a:r>
              <a:rPr lang="en-US" sz="3200" i="1"/>
              <a:t>γ</a:t>
            </a:r>
            <a:r>
              <a:rPr lang="uz-Cyrl-UZ" sz="3200" i="1"/>
              <a:t>)</a:t>
            </a:r>
            <a:r>
              <a:rPr lang="uz-Cyrl-UZ" sz="3200" i="1" baseline="30000"/>
              <a:t>-1</a:t>
            </a:r>
            <a:r>
              <a:rPr lang="uz-Cyrl-UZ" sz="3200" i="1"/>
              <a:t>+</a:t>
            </a:r>
            <a:r>
              <a:rPr lang="en-US" sz="3200" i="1"/>
              <a:t>β</a:t>
            </a:r>
            <a:endParaRPr lang="ru-RU" sz="3200"/>
          </a:p>
        </p:txBody>
      </p:sp>
      <p:sp>
        <p:nvSpPr>
          <p:cNvPr id="13322" name="Прямоугольник 8"/>
          <p:cNvSpPr>
            <a:spLocks noChangeArrowheads="1"/>
          </p:cNvSpPr>
          <p:nvPr/>
        </p:nvSpPr>
        <p:spPr bwMode="auto">
          <a:xfrm>
            <a:off x="287338" y="4113213"/>
            <a:ext cx="1015365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1600"/>
              <a:t>бу ерда, </a:t>
            </a:r>
            <a:r>
              <a:rPr lang="uz-Cyrl-UZ" sz="1600" i="1"/>
              <a:t>a</a:t>
            </a:r>
            <a:r>
              <a:rPr lang="uz-Cyrl-UZ" sz="1600"/>
              <a:t>={a</a:t>
            </a:r>
            <a:r>
              <a:rPr lang="uz-Cyrl-UZ" sz="1600" baseline="-25000"/>
              <a:t>0</a:t>
            </a:r>
            <a:r>
              <a:rPr lang="uz-Cyrl-UZ" sz="1600"/>
              <a:t>,a</a:t>
            </a:r>
            <a:r>
              <a:rPr lang="uz-Cyrl-UZ" sz="1600" baseline="-25000"/>
              <a:t>1</a:t>
            </a:r>
            <a:r>
              <a:rPr lang="uz-Cyrl-UZ" sz="1600"/>
              <a:t>,a</a:t>
            </a:r>
            <a:r>
              <a:rPr lang="uz-Cyrl-UZ" sz="1600" baseline="-25000"/>
              <a:t>2</a:t>
            </a:r>
            <a:r>
              <a:rPr lang="uz-Cyrl-UZ" sz="1600"/>
              <a:t>,a</a:t>
            </a:r>
            <a:r>
              <a:rPr lang="uz-Cyrl-UZ" sz="1600" baseline="-25000"/>
              <a:t>3</a:t>
            </a:r>
            <a:r>
              <a:rPr lang="uz-Cyrl-UZ" sz="1600"/>
              <a:t>,a</a:t>
            </a:r>
            <a:r>
              <a:rPr lang="uz-Cyrl-UZ" sz="1600" baseline="-25000"/>
              <a:t>4</a:t>
            </a:r>
            <a:r>
              <a:rPr lang="uz-Cyrl-UZ" sz="1600"/>
              <a:t>,a</a:t>
            </a:r>
            <a:r>
              <a:rPr lang="uz-Cyrl-UZ" sz="1600" baseline="-25000"/>
              <a:t>5</a:t>
            </a:r>
            <a:r>
              <a:rPr lang="uz-Cyrl-UZ" sz="1600"/>
              <a:t>,a</a:t>
            </a:r>
            <a:r>
              <a:rPr lang="uz-Cyrl-UZ" sz="1600" baseline="-25000"/>
              <a:t>6</a:t>
            </a:r>
            <a:r>
              <a:rPr lang="uz-Cyrl-UZ" sz="1600"/>
              <a:t>,a</a:t>
            </a:r>
            <a:r>
              <a:rPr lang="uz-Cyrl-UZ" sz="1600" baseline="-25000"/>
              <a:t>7</a:t>
            </a:r>
            <a:r>
              <a:rPr lang="uz-Cyrl-UZ" sz="1600"/>
              <a:t>} ва </a:t>
            </a:r>
            <a:r>
              <a:rPr lang="uz-Cyrl-UZ" sz="1600" i="1"/>
              <a:t>b</a:t>
            </a:r>
            <a:r>
              <a:rPr lang="uz-Cyrl-UZ" sz="1600"/>
              <a:t>={b</a:t>
            </a:r>
            <a:r>
              <a:rPr lang="uz-Cyrl-UZ" sz="1600" baseline="-25000"/>
              <a:t>0</a:t>
            </a:r>
            <a:r>
              <a:rPr lang="uz-Cyrl-UZ" sz="1600"/>
              <a:t>,b</a:t>
            </a:r>
            <a:r>
              <a:rPr lang="uz-Cyrl-UZ" sz="1600" baseline="-25000"/>
              <a:t>1</a:t>
            </a:r>
            <a:r>
              <a:rPr lang="uz-Cyrl-UZ" sz="1600"/>
              <a:t>,b</a:t>
            </a:r>
            <a:r>
              <a:rPr lang="uz-Cyrl-UZ" sz="1600" baseline="-25000"/>
              <a:t>2</a:t>
            </a:r>
            <a:r>
              <a:rPr lang="uz-Cyrl-UZ" sz="1600"/>
              <a:t>,b</a:t>
            </a:r>
            <a:r>
              <a:rPr lang="uz-Cyrl-UZ" sz="1600" baseline="-25000"/>
              <a:t>3</a:t>
            </a:r>
            <a:r>
              <a:rPr lang="uz-Cyrl-UZ" sz="1600"/>
              <a:t>,b</a:t>
            </a:r>
            <a:r>
              <a:rPr lang="uz-Cyrl-UZ" sz="1600" baseline="-25000"/>
              <a:t>4</a:t>
            </a:r>
            <a:r>
              <a:rPr lang="uz-Cyrl-UZ" sz="1600"/>
              <a:t>,b</a:t>
            </a:r>
            <a:r>
              <a:rPr lang="uz-Cyrl-UZ" sz="1600" baseline="-25000"/>
              <a:t>5</a:t>
            </a:r>
            <a:r>
              <a:rPr lang="uz-Cyrl-UZ" sz="1600"/>
              <a:t>,b</a:t>
            </a:r>
            <a:r>
              <a:rPr lang="uz-Cyrl-UZ" sz="1600" baseline="-25000"/>
              <a:t>6</a:t>
            </a:r>
            <a:r>
              <a:rPr lang="uz-Cyrl-UZ" sz="1600"/>
              <a:t>,b</a:t>
            </a:r>
            <a:r>
              <a:rPr lang="uz-Cyrl-UZ" sz="1600" baseline="-25000"/>
              <a:t>7</a:t>
            </a:r>
            <a:r>
              <a:rPr lang="uz-Cyrl-UZ" sz="1600"/>
              <a:t>} 8 битли векторлар,  </a:t>
            </a:r>
            <a:r>
              <a:rPr lang="uz-Cyrl-UZ" sz="1600" i="1"/>
              <a:t>M</a:t>
            </a:r>
            <a:r>
              <a:rPr lang="uz-Cyrl-UZ" sz="1600"/>
              <a:t>-хосмас квадрат матрица, </a:t>
            </a:r>
            <a:r>
              <a:rPr lang="en-US" sz="1600" i="1"/>
              <a:t>β</a:t>
            </a:r>
            <a:r>
              <a:rPr lang="uz-Cyrl-UZ" sz="1600"/>
              <a:t> –вектор (</a:t>
            </a:r>
            <a:r>
              <a:rPr lang="en-US" sz="1600"/>
              <a:t>β</a:t>
            </a:r>
            <a:r>
              <a:rPr lang="uz-Cyrl-UZ" sz="1600"/>
              <a:t> ϵ GF(2</a:t>
            </a:r>
            <a:r>
              <a:rPr lang="uz-Cyrl-UZ" sz="1600" baseline="30000"/>
              <a:t>8</a:t>
            </a:r>
            <a:r>
              <a:rPr lang="uz-Cyrl-UZ" sz="1600"/>
              <a:t>) ). Хар сафар </a:t>
            </a:r>
            <a:r>
              <a:rPr lang="uz-Cyrl-UZ" sz="1600" i="1"/>
              <a:t>b</a:t>
            </a:r>
            <a:r>
              <a:rPr lang="uz-Cyrl-UZ" sz="1600"/>
              <a:t> чиқиш векторининг холати </a:t>
            </a:r>
            <a:r>
              <a:rPr lang="uz-Cyrl-UZ" sz="1600" i="1"/>
              <a:t>a</a:t>
            </a:r>
            <a:r>
              <a:rPr lang="uz-Cyrl-UZ" sz="1600"/>
              <a:t> кириш векторига хамда </a:t>
            </a:r>
            <a:r>
              <a:rPr lang="en-US" sz="1600" i="1"/>
              <a:t>γ</a:t>
            </a:r>
            <a:r>
              <a:rPr lang="uz-Cyrl-UZ" sz="1600" i="1"/>
              <a:t>=</a:t>
            </a:r>
            <a:r>
              <a:rPr lang="uz-Cyrl-UZ" sz="1600"/>
              <a:t>{ </a:t>
            </a:r>
            <a:r>
              <a:rPr lang="en-US" sz="1600" i="1"/>
              <a:t>γ</a:t>
            </a:r>
            <a:r>
              <a:rPr lang="uz-Cyrl-UZ" sz="1600" baseline="-25000"/>
              <a:t>0</a:t>
            </a:r>
            <a:r>
              <a:rPr lang="uz-Cyrl-UZ" sz="1600"/>
              <a:t>,</a:t>
            </a:r>
            <a:r>
              <a:rPr lang="uz-Cyrl-UZ" sz="1600" i="1"/>
              <a:t> </a:t>
            </a:r>
            <a:r>
              <a:rPr lang="en-US" sz="1600" i="1"/>
              <a:t>γ</a:t>
            </a:r>
            <a:r>
              <a:rPr lang="uz-Cyrl-UZ" sz="1600" baseline="-25000"/>
              <a:t>1</a:t>
            </a:r>
            <a:r>
              <a:rPr lang="uz-Cyrl-UZ" sz="1600"/>
              <a:t>,</a:t>
            </a:r>
            <a:r>
              <a:rPr lang="uz-Cyrl-UZ" sz="1600" i="1"/>
              <a:t> </a:t>
            </a:r>
            <a:r>
              <a:rPr lang="en-US" sz="1600" i="1"/>
              <a:t>γ</a:t>
            </a:r>
            <a:r>
              <a:rPr lang="uz-Cyrl-UZ" sz="1600" baseline="-25000"/>
              <a:t>2</a:t>
            </a:r>
            <a:r>
              <a:rPr lang="uz-Cyrl-UZ" sz="1600"/>
              <a:t>,</a:t>
            </a:r>
            <a:r>
              <a:rPr lang="en-US" sz="1600" i="1"/>
              <a:t>γ</a:t>
            </a:r>
            <a:r>
              <a:rPr lang="uz-Cyrl-UZ" sz="1600" baseline="-25000"/>
              <a:t>3</a:t>
            </a:r>
            <a:r>
              <a:rPr lang="uz-Cyrl-UZ" sz="1600"/>
              <a:t>,</a:t>
            </a:r>
            <a:r>
              <a:rPr lang="en-US" sz="1600" i="1"/>
              <a:t>γ</a:t>
            </a:r>
            <a:r>
              <a:rPr lang="uz-Cyrl-UZ" sz="1600" baseline="-25000"/>
              <a:t>4</a:t>
            </a:r>
            <a:r>
              <a:rPr lang="uz-Cyrl-UZ" sz="1600"/>
              <a:t>,</a:t>
            </a:r>
            <a:r>
              <a:rPr lang="en-US" sz="1600" i="1"/>
              <a:t>γ</a:t>
            </a:r>
            <a:r>
              <a:rPr lang="uz-Cyrl-UZ" sz="1600" baseline="-25000"/>
              <a:t>5</a:t>
            </a:r>
            <a:r>
              <a:rPr lang="uz-Cyrl-UZ" sz="1600"/>
              <a:t>,</a:t>
            </a:r>
            <a:r>
              <a:rPr lang="en-US" sz="1600" i="1"/>
              <a:t>γ</a:t>
            </a:r>
            <a:r>
              <a:rPr lang="uz-Cyrl-UZ" sz="1600" baseline="-25000"/>
              <a:t>6</a:t>
            </a:r>
            <a:r>
              <a:rPr lang="uz-Cyrl-UZ" sz="1600"/>
              <a:t>,</a:t>
            </a:r>
            <a:r>
              <a:rPr lang="en-US" sz="1600" i="1"/>
              <a:t>γ</a:t>
            </a:r>
            <a:r>
              <a:rPr lang="uz-Cyrl-UZ" sz="1600" baseline="-25000"/>
              <a:t>7</a:t>
            </a:r>
            <a:r>
              <a:rPr lang="uz-Cyrl-UZ" sz="1600"/>
              <a:t>}цикл калит векторига боғлиқ. Натижада S блоклар чизиқсизлик кўрсаткичлари сақланган холда динамик ўзгариб туради.</a:t>
            </a:r>
            <a:endParaRPr lang="ru-RU" sz="1600"/>
          </a:p>
        </p:txBody>
      </p:sp>
      <p:sp>
        <p:nvSpPr>
          <p:cNvPr id="21" name="Прямоугольник 20"/>
          <p:cNvSpPr/>
          <p:nvPr/>
        </p:nvSpPr>
        <p:spPr>
          <a:xfrm>
            <a:off x="1041400" y="5334000"/>
            <a:ext cx="3059113" cy="3698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uz-Cyrl-UZ" dirty="0"/>
              <a:t>Лабиринт алгоритми S-блоки</a:t>
            </a:r>
            <a:endParaRPr lang="ru-RU" dirty="0"/>
          </a:p>
        </p:txBody>
      </p:sp>
      <p:sp>
        <p:nvSpPr>
          <p:cNvPr id="13324" name="Прямоугольник 14"/>
          <p:cNvSpPr>
            <a:spLocks noChangeArrowheads="1"/>
          </p:cNvSpPr>
          <p:nvPr/>
        </p:nvSpPr>
        <p:spPr bwMode="auto">
          <a:xfrm>
            <a:off x="4856163" y="5334000"/>
            <a:ext cx="5113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i="1"/>
              <a:t>S(x)=M</a:t>
            </a:r>
            <a:r>
              <a:rPr lang="en-US" sz="2800" i="1" baseline="-25000"/>
              <a:t>Y</a:t>
            </a:r>
            <a:r>
              <a:rPr lang="en-US" sz="2800" i="1"/>
              <a:t>×[(M</a:t>
            </a:r>
            <a:r>
              <a:rPr lang="en-US" sz="2800" i="1" baseline="-25000"/>
              <a:t>X</a:t>
            </a:r>
            <a:r>
              <a:rPr lang="en-US" sz="2800" i="1"/>
              <a:t>×x </a:t>
            </a:r>
            <a:r>
              <a:rPr lang="uz-Cyrl-UZ" sz="2800" i="1"/>
              <a:t>+ </a:t>
            </a:r>
            <a:r>
              <a:rPr lang="en-US" sz="2800" i="1"/>
              <a:t> V</a:t>
            </a:r>
            <a:r>
              <a:rPr lang="en-US" sz="2800" i="1" baseline="-25000"/>
              <a:t>X</a:t>
            </a:r>
            <a:r>
              <a:rPr lang="en-US" sz="2800" i="1"/>
              <a:t>)</a:t>
            </a:r>
            <a:r>
              <a:rPr lang="en-US" sz="2800" i="1" baseline="30000"/>
              <a:t>E</a:t>
            </a:r>
            <a:r>
              <a:rPr lang="en-US" sz="2800" i="1"/>
              <a:t>]</a:t>
            </a:r>
            <a:r>
              <a:rPr lang="en-US" sz="2800" i="1" baseline="-25000"/>
              <a:t>B </a:t>
            </a:r>
            <a:r>
              <a:rPr lang="en-US" sz="2800" i="1"/>
              <a:t> </a:t>
            </a:r>
            <a:r>
              <a:rPr lang="uz-Cyrl-UZ" sz="2800" i="1"/>
              <a:t>+</a:t>
            </a:r>
            <a:r>
              <a:rPr lang="en-US" sz="2800" i="1"/>
              <a:t> V</a:t>
            </a:r>
            <a:r>
              <a:rPr lang="en-US" sz="2800" i="1" baseline="-25000"/>
              <a:t>Y</a:t>
            </a:r>
            <a:endParaRPr lang="ru-RU" sz="2800"/>
          </a:p>
        </p:txBody>
      </p:sp>
      <p:sp>
        <p:nvSpPr>
          <p:cNvPr id="23" name="Овал 22"/>
          <p:cNvSpPr/>
          <p:nvPr/>
        </p:nvSpPr>
        <p:spPr>
          <a:xfrm>
            <a:off x="7961313" y="5505450"/>
            <a:ext cx="206375" cy="18415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9631363" y="5502275"/>
            <a:ext cx="204787" cy="18573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dirty="0"/>
              <a:t> </a:t>
            </a:r>
            <a:endParaRPr lang="ru-RU" dirty="0"/>
          </a:p>
        </p:txBody>
      </p:sp>
      <p:sp>
        <p:nvSpPr>
          <p:cNvPr id="13327" name="Прямоугольник 16"/>
          <p:cNvSpPr>
            <a:spLocks noChangeArrowheads="1"/>
          </p:cNvSpPr>
          <p:nvPr/>
        </p:nvSpPr>
        <p:spPr bwMode="auto">
          <a:xfrm>
            <a:off x="434975" y="5913438"/>
            <a:ext cx="9845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1600"/>
              <a:t>бу ерда, </a:t>
            </a:r>
            <a:r>
              <a:rPr lang="uz-Cyrl-UZ" sz="1600" i="1"/>
              <a:t>x,V</a:t>
            </a:r>
            <a:r>
              <a:rPr lang="uz-Cyrl-UZ" sz="1600" i="1" baseline="-25000"/>
              <a:t>X</a:t>
            </a:r>
            <a:r>
              <a:rPr lang="uz-Cyrl-UZ" sz="1600" i="1"/>
              <a:t>,V</a:t>
            </a:r>
            <a:r>
              <a:rPr lang="uz-Cyrl-UZ" sz="1600" i="1" baseline="-25000"/>
              <a:t>Y  </a:t>
            </a:r>
            <a:r>
              <a:rPr lang="uz-Cyrl-UZ" sz="1600" i="1"/>
              <a:t>ϵ </a:t>
            </a:r>
            <a:r>
              <a:rPr lang="uz-Cyrl-UZ" sz="1600"/>
              <a:t>GF(2</a:t>
            </a:r>
            <a:r>
              <a:rPr lang="uz-Cyrl-UZ" sz="1600" baseline="30000"/>
              <a:t>8</a:t>
            </a:r>
            <a:r>
              <a:rPr lang="uz-Cyrl-UZ" sz="1600"/>
              <a:t>); E=2</a:t>
            </a:r>
            <a:r>
              <a:rPr lang="uz-Cyrl-UZ" sz="1600" baseline="30000"/>
              <a:t>8</a:t>
            </a:r>
            <a:r>
              <a:rPr lang="uz-Cyrl-UZ" sz="1600"/>
              <a:t>-1-2</a:t>
            </a:r>
            <a:r>
              <a:rPr lang="uz-Cyrl-UZ" sz="1600" baseline="30000"/>
              <a:t>t</a:t>
            </a:r>
            <a:r>
              <a:rPr lang="uz-Cyrl-UZ" sz="1600"/>
              <a:t>, 0≤t≤8; B – </a:t>
            </a:r>
            <a:r>
              <a:rPr lang="uz-Cyrl-UZ" sz="1600" i="1"/>
              <a:t>f</a:t>
            </a:r>
            <a:r>
              <a:rPr lang="uz-Cyrl-UZ" sz="1600" i="1" baseline="-25000"/>
              <a:t>s</a:t>
            </a:r>
            <a:r>
              <a:rPr lang="uz-Cyrl-UZ" sz="1600" i="1"/>
              <a:t>(x) </a:t>
            </a:r>
            <a:r>
              <a:rPr lang="uz-Cyrl-UZ" sz="1600"/>
              <a:t>8- даражали келтирилмайдиган кўпхад асосида аниқланувчи вектор, Е– даража кўрсаткичи,  </a:t>
            </a:r>
            <a:r>
              <a:rPr lang="uz-Cyrl-UZ" sz="1600" i="1"/>
              <a:t>M</a:t>
            </a:r>
            <a:r>
              <a:rPr lang="uz-Cyrl-UZ" sz="1600" i="1" baseline="-25000"/>
              <a:t>Y</a:t>
            </a:r>
            <a:r>
              <a:rPr lang="uz-Cyrl-UZ" sz="1600" i="1"/>
              <a:t>,M</a:t>
            </a:r>
            <a:r>
              <a:rPr lang="uz-Cyrl-UZ" sz="1600" i="1" baseline="-25000"/>
              <a:t>X </a:t>
            </a:r>
            <a:r>
              <a:rPr lang="uz-Cyrl-UZ" sz="1600" i="1"/>
              <a:t>– 8х8 </a:t>
            </a:r>
            <a:r>
              <a:rPr lang="uz-Cyrl-UZ" sz="1600"/>
              <a:t>хосмас квадрат матрица. </a:t>
            </a:r>
            <a:endParaRPr lang="ru-RU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Прямоугольник 20"/>
          <p:cNvSpPr/>
          <p:nvPr/>
        </p:nvSpPr>
        <p:spPr>
          <a:xfrm>
            <a:off x="1144588" y="2487613"/>
            <a:ext cx="2860675" cy="460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uz-Cyrl-UZ" sz="2400" b="1" dirty="0"/>
              <a:t>BaytAlmash</a:t>
            </a:r>
            <a:r>
              <a:rPr lang="uz-Cyrl-UZ" sz="2400" dirty="0"/>
              <a:t> (х</a:t>
            </a:r>
            <a:r>
              <a:rPr lang="ru-RU" sz="2400" dirty="0"/>
              <a:t>, </a:t>
            </a:r>
            <a:r>
              <a:rPr lang="en-US" sz="2400" dirty="0"/>
              <a:t>z</a:t>
            </a:r>
            <a:r>
              <a:rPr lang="uz-Cyrl-UZ" sz="2400" dirty="0"/>
              <a:t>) </a:t>
            </a:r>
            <a:r>
              <a:rPr lang="ru-RU" sz="2400" dirty="0"/>
              <a:t>= у</a:t>
            </a:r>
          </a:p>
        </p:txBody>
      </p:sp>
      <p:sp>
        <p:nvSpPr>
          <p:cNvPr id="14340" name="Прямоугольник 9"/>
          <p:cNvSpPr>
            <a:spLocks noChangeArrowheads="1"/>
          </p:cNvSpPr>
          <p:nvPr/>
        </p:nvSpPr>
        <p:spPr bwMode="auto">
          <a:xfrm>
            <a:off x="522288" y="684213"/>
            <a:ext cx="969327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ru-RU" sz="2000"/>
              <a:t>Шунга к</a:t>
            </a:r>
            <a:r>
              <a:rPr lang="uz-Cyrl-UZ" sz="2000"/>
              <a:t>ўра S блокларни генерация қилувчи янги математик </a:t>
            </a:r>
            <a:r>
              <a:rPr lang="ru-RU" sz="2000"/>
              <a:t>модел таклиф этилди</a:t>
            </a:r>
            <a:r>
              <a:rPr lang="uz-Cyrl-UZ" sz="2000"/>
              <a:t>. Ушбу модел O’zDSt 1105:2009 стандарт шифрлаш алгоритми </a:t>
            </a:r>
            <a:r>
              <a:rPr lang="uz-Cyrl-UZ" sz="2000" b="1"/>
              <a:t>BaytAlmash</a:t>
            </a:r>
            <a:r>
              <a:rPr lang="uz-Cyrl-UZ" sz="2000" i="1"/>
              <a:t> </a:t>
            </a:r>
            <a:r>
              <a:rPr lang="uz-Cyrl-UZ" sz="2000"/>
              <a:t>акслантиришининг асоси хисобланган диаматрицали кўпайтириш хоссасини ўзида сақлаб қолган.</a:t>
            </a:r>
            <a:endParaRPr lang="ru-RU" sz="2000"/>
          </a:p>
        </p:txBody>
      </p:sp>
      <p:sp>
        <p:nvSpPr>
          <p:cNvPr id="14341" name="Прямоугольник 20"/>
          <p:cNvSpPr>
            <a:spLocks noChangeArrowheads="1"/>
          </p:cNvSpPr>
          <p:nvPr/>
        </p:nvSpPr>
        <p:spPr bwMode="auto">
          <a:xfrm>
            <a:off x="620713" y="3338513"/>
            <a:ext cx="91455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/>
              <a:t>Бу ерда : </a:t>
            </a:r>
            <a:endParaRPr lang="ru-RU"/>
          </a:p>
          <a:p>
            <a:r>
              <a:rPr lang="uz-Cyrl-UZ"/>
              <a:t>M, v – фиксирланган матрица ва векторлар </a:t>
            </a:r>
            <a:r>
              <a:rPr lang="en-US"/>
              <a:t>(</a:t>
            </a:r>
            <a:r>
              <a:rPr lang="uz-Cyrl-UZ"/>
              <a:t>AES алгоритми  </a:t>
            </a:r>
            <a:r>
              <a:rPr lang="uz-Cyrl-UZ" i="1"/>
              <a:t>SubBytes</a:t>
            </a:r>
            <a:r>
              <a:rPr lang="uz-Cyrl-UZ"/>
              <a:t>( )</a:t>
            </a:r>
            <a:r>
              <a:rPr lang="uz-Cyrl-UZ" b="1"/>
              <a:t> –</a:t>
            </a:r>
            <a:r>
              <a:rPr lang="uz-Cyrl-UZ"/>
              <a:t>  акслантиришида келтирилган каби қийматлар</a:t>
            </a:r>
            <a:r>
              <a:rPr lang="en-US"/>
              <a:t>)</a:t>
            </a:r>
            <a:r>
              <a:rPr lang="uz-Cyrl-UZ"/>
              <a:t>;</a:t>
            </a:r>
            <a:endParaRPr lang="ru-RU"/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836613" y="4214813"/>
            <a:ext cx="5040312" cy="33813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ru-RU" altLang="ja-JP" sz="1600">
                <a:cs typeface="Times New Roman" pitchFamily="18" charset="0"/>
              </a:rPr>
              <a:t>z – мастер калит  </a:t>
            </a:r>
            <a:r>
              <a:rPr lang="uz-Cyrl-UZ" altLang="ja-JP" sz="1600">
                <a:cs typeface="Times New Roman" pitchFamily="18" charset="0"/>
              </a:rPr>
              <a:t>бўлиб,  </a:t>
            </a:r>
            <a:r>
              <a:rPr lang="ru-RU" altLang="ja-JP" sz="1600">
                <a:cs typeface="Times New Roman" pitchFamily="18" charset="0"/>
              </a:rPr>
              <a:t> x, у, z   </a:t>
            </a:r>
            <a:endParaRPr lang="ru-RU" altLang="ja-JP" sz="2000"/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4221163" y="4230688"/>
            <a:ext cx="4176712" cy="33813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ru-RU" altLang="ja-JP" sz="1600" dirty="0">
                <a:cs typeface="Times New Roman" pitchFamily="18" charset="0"/>
              </a:rPr>
              <a:t> GF(2</a:t>
            </a:r>
            <a:r>
              <a:rPr lang="ru-RU" altLang="ja-JP" sz="1600" baseline="30000" dirty="0">
                <a:cs typeface="Times New Roman" pitchFamily="18" charset="0"/>
              </a:rPr>
              <a:t>8</a:t>
            </a:r>
            <a:r>
              <a:rPr lang="ru-RU" altLang="ja-JP" sz="1600" dirty="0">
                <a:cs typeface="Times New Roman" pitchFamily="18" charset="0"/>
              </a:rPr>
              <a:t>)  </a:t>
            </a:r>
            <a:r>
              <a:rPr lang="ru-RU" altLang="ja-JP" sz="1600" dirty="0" err="1">
                <a:cs typeface="Times New Roman" pitchFamily="18" charset="0"/>
              </a:rPr>
              <a:t>майдон</a:t>
            </a:r>
            <a:r>
              <a:rPr lang="ru-RU" altLang="ja-JP" sz="1600" dirty="0">
                <a:cs typeface="Times New Roman" pitchFamily="18" charset="0"/>
              </a:rPr>
              <a:t> </a:t>
            </a:r>
            <a:r>
              <a:rPr lang="ru-RU" altLang="ja-JP" sz="1600" dirty="0" err="1">
                <a:cs typeface="Times New Roman" pitchFamily="18" charset="0"/>
              </a:rPr>
              <a:t>элементлари</a:t>
            </a:r>
            <a:r>
              <a:rPr lang="ru-RU" altLang="ja-JP" sz="900" dirty="0"/>
              <a:t> </a:t>
            </a:r>
            <a:endParaRPr lang="ru-RU" altLang="ja-JP" sz="2000" dirty="0"/>
          </a:p>
        </p:txBody>
      </p:sp>
      <p:graphicFrame>
        <p:nvGraphicFramePr>
          <p:cNvPr id="14344" name="Объект 24"/>
          <p:cNvGraphicFramePr>
            <a:graphicFrameLocks noChangeAspect="1"/>
          </p:cNvGraphicFramePr>
          <p:nvPr/>
        </p:nvGraphicFramePr>
        <p:xfrm>
          <a:off x="4151313" y="3784600"/>
          <a:ext cx="31432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Формула" r:id="rId5" imgW="126725" imgH="126725" progId="Equation.3">
                  <p:embed/>
                </p:oleObj>
              </mc:Choice>
              <mc:Fallback>
                <p:oleObj name="Формула" r:id="rId5" imgW="126725" imgH="126725" progId="Equation.3">
                  <p:embed/>
                  <p:pic>
                    <p:nvPicPr>
                      <p:cNvPr id="0" name="Объект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3784600"/>
                        <a:ext cx="31432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Прямоугольник 25"/>
          <p:cNvSpPr>
            <a:spLocks noChangeArrowheads="1"/>
          </p:cNvSpPr>
          <p:nvPr/>
        </p:nvSpPr>
        <p:spPr bwMode="auto">
          <a:xfrm>
            <a:off x="692150" y="4568825"/>
            <a:ext cx="9074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baseline="30000"/>
              <a:t>-1</a:t>
            </a:r>
            <a:r>
              <a:rPr lang="uz-Cyrl-UZ"/>
              <a:t>  амали </a:t>
            </a:r>
            <a:r>
              <a:rPr lang="ru-RU"/>
              <a:t>GF(2</a:t>
            </a:r>
            <a:r>
              <a:rPr lang="ru-RU" baseline="30000"/>
              <a:t>8</a:t>
            </a:r>
            <a:r>
              <a:rPr lang="ru-RU"/>
              <a:t>)  майдон</a:t>
            </a:r>
            <a:r>
              <a:rPr lang="uz-Cyrl-UZ"/>
              <a:t>да  тескари элемент.</a:t>
            </a:r>
            <a:endParaRPr lang="ru-RU"/>
          </a:p>
          <a:p>
            <a:r>
              <a:rPr lang="uz-Cyrl-UZ"/>
              <a:t>@ - GF(2</a:t>
            </a:r>
            <a:r>
              <a:rPr lang="uz-Cyrl-UZ" baseline="30000"/>
              <a:t>8</a:t>
            </a:r>
            <a:r>
              <a:rPr lang="uz-Cyrl-UZ"/>
              <a:t>)  майдон элементлари бўлган 7 даражали кўпҳадларни «</a:t>
            </a:r>
            <a:r>
              <a:rPr lang="uz-Cyrl-UZ" i="1"/>
              <a:t>а</a:t>
            </a:r>
            <a:r>
              <a:rPr lang="uz-Cyrl-UZ"/>
              <a:t>» параметр бўйича кўпайтириш ва шу майдонда келтирилмайдиган 8-даражали  (масалан:  x</a:t>
            </a:r>
            <a:r>
              <a:rPr lang="uz-Cyrl-UZ" baseline="30000"/>
              <a:t>8</a:t>
            </a:r>
            <a:r>
              <a:rPr lang="uz-Cyrl-UZ"/>
              <a:t>+x</a:t>
            </a:r>
            <a:r>
              <a:rPr lang="uz-Cyrl-UZ" baseline="30000"/>
              <a:t>6</a:t>
            </a:r>
            <a:r>
              <a:rPr lang="uz-Cyrl-UZ"/>
              <a:t>+ x</a:t>
            </a:r>
            <a:r>
              <a:rPr lang="uz-Cyrl-UZ" baseline="30000"/>
              <a:t>5</a:t>
            </a:r>
            <a:r>
              <a:rPr lang="uz-Cyrl-UZ"/>
              <a:t>+x</a:t>
            </a:r>
            <a:r>
              <a:rPr lang="uz-Cyrl-UZ" baseline="30000"/>
              <a:t>3</a:t>
            </a:r>
            <a:r>
              <a:rPr lang="uz-Cyrl-UZ"/>
              <a:t>+1 )  кўпҳад бўйича қолдиғини ҳисоблаш.</a:t>
            </a:r>
            <a:endParaRPr lang="ru-RU"/>
          </a:p>
        </p:txBody>
      </p:sp>
      <p:sp>
        <p:nvSpPr>
          <p:cNvPr id="14346" name="Прямоугольник 1"/>
          <p:cNvSpPr>
            <a:spLocks noChangeArrowheads="1"/>
          </p:cNvSpPr>
          <p:nvPr/>
        </p:nvSpPr>
        <p:spPr bwMode="auto">
          <a:xfrm>
            <a:off x="4614863" y="2425700"/>
            <a:ext cx="3792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/>
              <a:t>у = М* (х@z)</a:t>
            </a:r>
            <a:r>
              <a:rPr lang="uz-Cyrl-UZ" sz="3200" b="1" baseline="30000"/>
              <a:t>-1</a:t>
            </a:r>
            <a:r>
              <a:rPr lang="ru-RU" sz="3200" b="1"/>
              <a:t> + v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Прямоугольник 7"/>
          <p:cNvSpPr>
            <a:spLocks noChangeArrowheads="1"/>
          </p:cNvSpPr>
          <p:nvPr/>
        </p:nvSpPr>
        <p:spPr bwMode="auto">
          <a:xfrm>
            <a:off x="561975" y="414338"/>
            <a:ext cx="951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2400" b="1" i="1">
                <a:solidFill>
                  <a:srgbClr val="8A421A"/>
                </a:solidFill>
              </a:rPr>
              <a:t>BaytAlmash </a:t>
            </a:r>
            <a:r>
              <a:rPr lang="uz-Cyrl-UZ" sz="2400" b="1">
                <a:solidFill>
                  <a:srgbClr val="8A421A"/>
                </a:solidFill>
              </a:rPr>
              <a:t>акслантиришининг калитга боғлиқсиз варианти.</a:t>
            </a:r>
            <a:endParaRPr lang="ru-RU" sz="2400" b="1">
              <a:solidFill>
                <a:srgbClr val="8A421A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57200" y="1049338"/>
            <a:ext cx="9856788" cy="95408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uz-Cyrl-UZ" sz="2800" dirty="0"/>
              <a:t>Алгоритмда иккита S</a:t>
            </a:r>
            <a:r>
              <a:rPr lang="en-US" sz="2800" dirty="0"/>
              <a:t>-</a:t>
            </a:r>
            <a:r>
              <a:rPr lang="uz-Cyrl-UZ" sz="2800" dirty="0"/>
              <a:t>блок, тоқ раундларда биринчи, жуфт раундларда эса иккинчи S-блок ишлатилади. 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7200" y="2124075"/>
            <a:ext cx="4752975" cy="44005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uz-Cyrl-UZ" sz="1400" i="1" dirty="0"/>
              <a:t>S</a:t>
            </a:r>
            <a:r>
              <a:rPr lang="uz-Cyrl-UZ" sz="1400" i="1" baseline="-25000" dirty="0"/>
              <a:t>1</a:t>
            </a:r>
            <a:r>
              <a:rPr lang="uz-Cyrl-UZ" sz="1400" dirty="0"/>
              <a:t> блок  </a:t>
            </a:r>
            <a:endParaRPr lang="ru-RU" sz="1400" dirty="0"/>
          </a:p>
          <a:p>
            <a:pPr algn="just">
              <a:defRPr/>
            </a:pPr>
            <a:r>
              <a:rPr lang="uz-Cyrl-UZ" sz="1400" dirty="0"/>
              <a:t>242, 240, 91, 195, 38, 44, 106, 14, 152, 105, 180, 126, 190, 54, 13, 118, 111, 64, 150, 194, 248, 16, 181, 128, 212, 148, 145, 75, 37, 185, 48, 132, 61, 32, 130, 223, 65, 157, 235, 52, 222, 7, 42, 30, 121, 84, 227, 140, 73, 198, 232, 82, 107, 226, 47, 43, 176, 19, 254, 162, 58, 108, 225, 172, 60, 247, 51, 27, 74, 112, 228, 182, 3, 98, 236, 83, 255, 12, 56, 136, 101, 238, 9, 209, 31, 93, 4, 23, 159, 186, 137, 146, 122, 114, 100, 204, 134, 207, 233, 188, 215, 216, 34, 179, 63, 177, 251, 46, 156, 45, 158, 41, 250, 217, 2, 173, 117, 49, 90, 95, 22, 175, 21, 94, 211, 87, 116, 239, 189, 200, 113, 62, 18, 219, 135, 160, 174, 142, 155, 8, 80, 151, 81, 103, 11, 85, 59, 218, 213, 57, 163, 5, 244, 89, 164, 143, 191, 241, 102, 76, 17, 131, 124, 230, 39, 201, 202, 243, 133, 252, 141, 199, 33, 26, 0, 20, 69, 139, 214, 192, 231, 10, 67, 184, 183, 221, 50, 205, 144, 71, 197, 166, 72, 120, 237, 15, 86, 170, 125, 127, 97, 1, 206, 78, 154, 224, 210, 66, 149, 234, 123, 168, 246, 193, 29, 88, 109, 208, 53, 77, 196, 147, 55, 68, 119, 25, 79, 70, 138, 110, 245, 115, 24, 171, 187, 203, 167, 28, 36, 249, 129, 178, 92, 6, 169, 35, 165, 40, 99, 96, 161, 220, 153, 229, 253, 104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418138" y="2068513"/>
            <a:ext cx="4878387" cy="45561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uz-Cyrl-UZ" sz="1430" i="1" dirty="0"/>
              <a:t>S</a:t>
            </a:r>
            <a:r>
              <a:rPr lang="uz-Cyrl-UZ" sz="1430" i="1" baseline="-25000" dirty="0"/>
              <a:t>2</a:t>
            </a:r>
            <a:r>
              <a:rPr lang="uz-Cyrl-UZ" sz="1430" dirty="0"/>
              <a:t> блок  </a:t>
            </a:r>
            <a:endParaRPr lang="ru-RU" sz="1430" dirty="0"/>
          </a:p>
          <a:p>
            <a:pPr algn="just">
              <a:defRPr/>
            </a:pPr>
            <a:r>
              <a:rPr lang="uz-Cyrl-UZ" sz="1430" dirty="0"/>
              <a:t>241, 243, 77, 216, 46, 63, 100, 186, 34, 54, 170, 141, 187, 160, 232, 75, 165, 176, 47, 108, 224, 33, 78, 23, 104, 107, 89, 179, 124, 36, 16, 171, 91, 198, 81, 129, 162, 233, 190, 188, 121, 210, 153, 134, 18, 206, 191, 67, 60, 43, 0, 49, 164, 132, 109, 19, 182, 83, 155, 166, 1, 138, 96, 151, 24, 5, 87, 199, 161, 208, 201, 38, 229, 13, 252, 184, 106, 195, 214, 45, 180, 131, 221, 144, 196, 177, 119, 183, 189, 174, 82, 90, 234, 238, 21, 220, 150, 2, 32, 227, 9, 247, 145, 41, 219, 226, 203, 126, 62, 147, 61, 249, 111, 158, 29, 72, 120, 55, 103, 205, 137, 136, 240, 56, 57, 245, 255, 213, 4, 58, 11, 59, 159, 154, 215, 12, 217, 35, 97, 15, 236, 73, 39, 173, 123, 163, 14, 253, 246, 79, 84, 146, 128, 50, 85, 118, 95, 8, 30, 101, 211, 167, 117, 94, 102, 254, 65, 172, 235, 185, 209, 178, 143, 228, 239, 37, 86, 223, 98, 142, 157, 250, 152, 248, 192, 48, 66, 40, 3, 139, 230, 168, 127, 71, 181, 92, 25, 53, 69, 112, 140, 149, 207, 28, 193, 105, 156, 17, 88, 68, 197, 116, 80, 70, 10, 200, 42, 133, 125, 114, 22, 31, 244, 218, 130, 194, 122, 27, 6, 242, 44, 251, 52, 225, 175, 237, 135, 64, 110, 212, 204, 169, 76, 222, 113, 7, 20, 74, 148, 51, 115, 26, 202, 93, 99, 231</a:t>
            </a:r>
            <a:endParaRPr lang="ru-RU" sz="14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109538"/>
            <a:ext cx="6842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/>
            <a:r>
              <a:rPr lang="ru-RU" sz="12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</a:t>
            </a:r>
            <a:endParaRPr lang="ru-RU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6389" name="Rectangle 80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0" name="Прямоугольник 1"/>
          <p:cNvSpPr>
            <a:spLocks noChangeArrowheads="1"/>
          </p:cNvSpPr>
          <p:nvPr/>
        </p:nvSpPr>
        <p:spPr bwMode="auto">
          <a:xfrm>
            <a:off x="557213" y="333375"/>
            <a:ext cx="9956800" cy="922338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uz-Cyrl-UZ"/>
              <a:t>Қуйида </a:t>
            </a:r>
            <a:r>
              <a:rPr lang="uz-Cyrl-UZ" i="1"/>
              <a:t>S</a:t>
            </a:r>
            <a:r>
              <a:rPr lang="uz-Cyrl-UZ" i="1" baseline="-25000"/>
              <a:t>1 </a:t>
            </a:r>
            <a:r>
              <a:rPr lang="uz-Cyrl-UZ"/>
              <a:t>ва </a:t>
            </a:r>
            <a:r>
              <a:rPr lang="uz-Cyrl-UZ" i="1"/>
              <a:t>S</a:t>
            </a:r>
            <a:r>
              <a:rPr lang="uz-Cyrl-UZ" i="1" baseline="-25000"/>
              <a:t>2</a:t>
            </a:r>
            <a:r>
              <a:rPr lang="uz-Cyrl-UZ"/>
              <a:t> блокларнинг баланслашганлиги, регулярлиги, алгебраик чизиқсизлик даражаси, умумий чизиқсизлик даражаси, корреляцион иммунстлик даражаси, қатьий лавин эффекти критериялари натижалари келтирилган.</a:t>
            </a:r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60363" y="1484313"/>
          <a:ext cx="10160001" cy="258444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525789"/>
                <a:gridCol w="962256"/>
                <a:gridCol w="962256"/>
                <a:gridCol w="961198"/>
                <a:gridCol w="961198"/>
                <a:gridCol w="961198"/>
                <a:gridCol w="961198"/>
                <a:gridCol w="967550"/>
                <a:gridCol w="897358"/>
              </a:tblGrid>
              <a:tr h="289998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600" dirty="0">
                          <a:effectLst/>
                        </a:rPr>
                        <a:t>S</a:t>
                      </a:r>
                      <a:r>
                        <a:rPr lang="uz-Cyrl-UZ" sz="1600" baseline="-250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 dirty="0">
                          <a:effectLst/>
                        </a:rPr>
                        <a:t>Генерация қилинган </a:t>
                      </a:r>
                      <a:r>
                        <a:rPr lang="uz-Cyrl-UZ" sz="1600" dirty="0">
                          <a:effectLst/>
                        </a:rPr>
                        <a:t>S</a:t>
                      </a:r>
                      <a:r>
                        <a:rPr lang="uz-Cyrl-UZ" sz="1600" baseline="-25000" dirty="0">
                          <a:effectLst/>
                        </a:rPr>
                        <a:t>1 </a:t>
                      </a:r>
                      <a:r>
                        <a:rPr lang="uz-Cyrl-UZ" sz="1400" dirty="0">
                          <a:effectLst/>
                        </a:rPr>
                        <a:t>блок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493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ru-RU" sz="1400" baseline="-250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ru-RU" sz="1400" baseline="-250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ru-RU" sz="1400" baseline="-250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аргументлари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баланслашганлик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регулярлик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deg 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N 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112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 dirty="0">
                          <a:effectLst/>
                        </a:rPr>
                        <a:t>N (φ)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effectLst/>
                        </a:rPr>
                        <a:t>112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CI(f)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SAC(f)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effectLst/>
                        </a:rPr>
                        <a:t>8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1" marR="76191" marT="9527" marB="0"/>
                </a:tc>
              </a:tr>
            </a:tbl>
          </a:graphicData>
        </a:graphic>
      </p:graphicFrame>
      <p:sp>
        <p:nvSpPr>
          <p:cNvPr id="4" name="Rectangle 811"/>
          <p:cNvSpPr>
            <a:spLocks noChangeArrowheads="1"/>
          </p:cNvSpPr>
          <p:nvPr/>
        </p:nvSpPr>
        <p:spPr bwMode="auto">
          <a:xfrm>
            <a:off x="1273175" y="1196975"/>
            <a:ext cx="8447088" cy="30638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tabLst>
                <a:tab pos="342900" algn="l"/>
              </a:tabLst>
              <a:defRPr/>
            </a:pPr>
            <a:r>
              <a:rPr lang="uz-Cyrl-UZ" altLang="ja-JP" sz="1400" b="1" i="1" dirty="0">
                <a:cs typeface="Times New Roman" pitchFamily="18" charset="0"/>
              </a:rPr>
              <a:t>BaytAlmash </a:t>
            </a:r>
            <a:r>
              <a:rPr lang="uz-Cyrl-UZ" altLang="ja-JP" sz="1400" b="1" dirty="0">
                <a:cs typeface="Times New Roman" pitchFamily="18" charset="0"/>
              </a:rPr>
              <a:t> </a:t>
            </a:r>
            <a:r>
              <a:rPr lang="uz-Cyrl-UZ" altLang="ja-JP" sz="1400" dirty="0">
                <a:cs typeface="Times New Roman" pitchFamily="18" charset="0"/>
              </a:rPr>
              <a:t>акслантириши учун генерация қилинган </a:t>
            </a:r>
            <a:r>
              <a:rPr lang="uz-Cyrl-UZ" altLang="ja-JP" sz="1400" i="1" dirty="0">
                <a:cs typeface="Times New Roman" pitchFamily="18" charset="0"/>
              </a:rPr>
              <a:t>S</a:t>
            </a:r>
            <a:r>
              <a:rPr lang="uz-Cyrl-UZ" altLang="ja-JP" sz="1400" i="1" baseline="-30000" dirty="0">
                <a:cs typeface="Times New Roman" pitchFamily="18" charset="0"/>
              </a:rPr>
              <a:t>1   </a:t>
            </a:r>
            <a:r>
              <a:rPr lang="uz-Cyrl-UZ" altLang="ja-JP" sz="1400" i="1" dirty="0">
                <a:cs typeface="Times New Roman" pitchFamily="18" charset="0"/>
              </a:rPr>
              <a:t>ва S</a:t>
            </a:r>
            <a:r>
              <a:rPr lang="uz-Cyrl-UZ" altLang="ja-JP" sz="1400" i="1" baseline="-30000" dirty="0">
                <a:cs typeface="Times New Roman" pitchFamily="18" charset="0"/>
              </a:rPr>
              <a:t>2 </a:t>
            </a:r>
            <a:r>
              <a:rPr lang="uz-Cyrl-UZ" altLang="ja-JP" sz="1400" i="1" dirty="0">
                <a:cs typeface="Times New Roman" pitchFamily="18" charset="0"/>
              </a:rPr>
              <a:t>–</a:t>
            </a:r>
            <a:r>
              <a:rPr lang="uz-Cyrl-UZ" altLang="ja-JP" sz="1200" dirty="0">
                <a:cs typeface="Times New Roman" pitchFamily="18" charset="0"/>
              </a:rPr>
              <a:t>блок</a:t>
            </a:r>
            <a:endParaRPr lang="uz-Cyrl-UZ" altLang="ja-JP" dirty="0"/>
          </a:p>
        </p:txBody>
      </p:sp>
      <p:graphicFrame>
        <p:nvGraphicFramePr>
          <p:cNvPr id="812" name="Таблица 811"/>
          <p:cNvGraphicFramePr>
            <a:graphicFrameLocks noGrp="1"/>
          </p:cNvGraphicFramePr>
          <p:nvPr/>
        </p:nvGraphicFramePr>
        <p:xfrm>
          <a:off x="287338" y="4149725"/>
          <a:ext cx="10306051" cy="258444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544519"/>
                <a:gridCol w="969392"/>
                <a:gridCol w="969392"/>
                <a:gridCol w="968325"/>
                <a:gridCol w="968325"/>
                <a:gridCol w="968325"/>
                <a:gridCol w="968325"/>
                <a:gridCol w="974724"/>
                <a:gridCol w="974724"/>
              </a:tblGrid>
              <a:tr h="289998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600" dirty="0">
                          <a:effectLst/>
                        </a:rPr>
                        <a:t>S</a:t>
                      </a:r>
                      <a:r>
                        <a:rPr lang="uz-Cyrl-UZ" sz="1600" baseline="-25000" dirty="0">
                          <a:effectLst/>
                        </a:rPr>
                        <a:t>2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 dirty="0">
                          <a:effectLst/>
                        </a:rPr>
                        <a:t>Генерация қилинган </a:t>
                      </a:r>
                      <a:r>
                        <a:rPr lang="uz-Cyrl-UZ" sz="1600" dirty="0">
                          <a:effectLst/>
                        </a:rPr>
                        <a:t>S</a:t>
                      </a:r>
                      <a:r>
                        <a:rPr lang="uz-Cyrl-UZ" sz="1600" baseline="-25000" dirty="0">
                          <a:effectLst/>
                        </a:rPr>
                        <a:t>2 </a:t>
                      </a:r>
                      <a:r>
                        <a:rPr lang="uz-Cyrl-UZ" sz="1400" dirty="0">
                          <a:effectLst/>
                        </a:rPr>
                        <a:t>блок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493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ru-RU" sz="1400" baseline="-250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ru-RU" sz="1400" baseline="-250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ru-RU" sz="1400" baseline="-250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f</a:t>
                      </a:r>
                      <a:r>
                        <a:rPr lang="en-US" sz="1400" baseline="-250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аргументлари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баланслашганлик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ru-RU" sz="1400">
                          <a:effectLst/>
                        </a:rPr>
                        <a:t>регулярлик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uz-Cyrl-UZ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deg 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N 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r>
                        <a:rPr lang="uz-Cyrl-UZ" sz="14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112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N (φ)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112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CI(f)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</a:tr>
              <a:tr h="2549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400">
                          <a:effectLst/>
                        </a:rPr>
                        <a:t>SAC(f)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effectLst/>
                        </a:rPr>
                        <a:t>4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97" marR="76197" marT="9527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11" descr="D:\serie\DiSSERTATSIYA JS\lin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260350"/>
            <a:ext cx="9625012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14"/>
          <p:cNvSpPr>
            <a:spLocks noChangeArrowheads="1"/>
          </p:cNvSpPr>
          <p:nvPr/>
        </p:nvSpPr>
        <p:spPr bwMode="auto">
          <a:xfrm>
            <a:off x="715963" y="260350"/>
            <a:ext cx="938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400" b="1" i="1" dirty="0" smtClean="0"/>
              <a:t>Aralash </a:t>
            </a:r>
            <a:r>
              <a:rPr lang="uz-Cyrl-UZ" sz="2400" b="1" dirty="0"/>
              <a:t>акслантиришининг калитга боғлиқсиз варианти</a:t>
            </a:r>
            <a:endParaRPr lang="ru-RU" sz="2400" b="1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98550" y="2573338"/>
          <a:ext cx="3224214" cy="1262064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800352"/>
                <a:gridCol w="808334"/>
                <a:gridCol w="807194"/>
                <a:gridCol w="808334"/>
              </a:tblGrid>
              <a:tr h="315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7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</a:tr>
              <a:tr h="315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</a:tr>
              <a:tr h="315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</a:tr>
              <a:tr h="315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178" marR="76178" marT="0" marB="0"/>
                </a:tc>
              </a:tr>
            </a:tbl>
          </a:graphicData>
        </a:graphic>
      </p:graphicFrame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4325" y="998538"/>
            <a:ext cx="10158413" cy="14779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>
              <a:defRPr/>
            </a:pPr>
            <a:r>
              <a:rPr lang="uz-Cyrl-UZ" altLang="ja-JP" b="1" i="1" dirty="0">
                <a:cs typeface="Times New Roman" pitchFamily="18" charset="0"/>
              </a:rPr>
              <a:t>Aralash </a:t>
            </a:r>
            <a:r>
              <a:rPr lang="uz-Cyrl-UZ" altLang="ja-JP" dirty="0">
                <a:cs typeface="Times New Roman" pitchFamily="18" charset="0"/>
              </a:rPr>
              <a:t>акслантириши </a:t>
            </a:r>
            <a:r>
              <a:rPr lang="en-US" altLang="ja-JP" b="1" i="1" dirty="0">
                <a:cs typeface="Times New Roman" pitchFamily="18" charset="0"/>
              </a:rPr>
              <a:t>U</a:t>
            </a:r>
            <a:r>
              <a:rPr lang="uz-Cyrl-UZ" altLang="ja-JP" dirty="0">
                <a:cs typeface="Times New Roman" pitchFamily="18" charset="0"/>
              </a:rPr>
              <a:t> массиви элементлари билан </a:t>
            </a:r>
            <a:r>
              <a:rPr lang="uz-Cyrl-UZ" altLang="ja-JP" b="1" i="1" dirty="0">
                <a:cs typeface="Times New Roman" pitchFamily="18" charset="0"/>
              </a:rPr>
              <a:t>Holat</a:t>
            </a:r>
            <a:r>
              <a:rPr lang="uz-Cyrl-UZ" altLang="ja-JP" dirty="0">
                <a:cs typeface="Times New Roman" pitchFamily="18" charset="0"/>
              </a:rPr>
              <a:t>  массиви элементларини диаматрицали кўпайтириш орқали натижани янги </a:t>
            </a:r>
            <a:r>
              <a:rPr lang="uz-Cyrl-UZ" altLang="ja-JP" b="1" i="1" dirty="0">
                <a:cs typeface="Times New Roman" pitchFamily="18" charset="0"/>
              </a:rPr>
              <a:t>Holat</a:t>
            </a:r>
            <a:r>
              <a:rPr lang="uz-Cyrl-UZ" altLang="ja-JP" dirty="0">
                <a:cs typeface="Times New Roman" pitchFamily="18" charset="0"/>
              </a:rPr>
              <a:t>  массивига ёзади. </a:t>
            </a:r>
            <a:r>
              <a:rPr lang="uz-Cyrl-UZ" altLang="ja-JP" b="1" i="1" dirty="0">
                <a:cs typeface="Times New Roman" pitchFamily="18" charset="0"/>
              </a:rPr>
              <a:t>Aralash</a:t>
            </a:r>
            <a:r>
              <a:rPr lang="uz-Cyrl-UZ" altLang="ja-JP" dirty="0">
                <a:cs typeface="Times New Roman" pitchFamily="18" charset="0"/>
              </a:rPr>
              <a:t> акслантиришидаги </a:t>
            </a:r>
            <a:r>
              <a:rPr lang="uz-Cyrl-UZ" altLang="ja-JP" b="1" i="1" dirty="0">
                <a:cs typeface="Times New Roman" pitchFamily="18" charset="0"/>
              </a:rPr>
              <a:t>U</a:t>
            </a:r>
            <a:r>
              <a:rPr lang="uz-Cyrl-UZ" altLang="ja-JP" dirty="0">
                <a:cs typeface="Times New Roman" pitchFamily="18" charset="0"/>
              </a:rPr>
              <a:t> массиви сеанс калитлари асосида шакллантирилган. Шунинг учун бу массивни калитга боғлиқсиз холда </a:t>
            </a:r>
            <a:r>
              <a:rPr lang="uz-Cyrl-UZ" altLang="ja-JP" b="1" i="1" dirty="0">
                <a:cs typeface="Times New Roman" pitchFamily="18" charset="0"/>
              </a:rPr>
              <a:t>U= [256]</a:t>
            </a:r>
            <a:r>
              <a:rPr lang="uz-Cyrl-UZ" altLang="ja-JP" b="1" dirty="0">
                <a:cs typeface="Times New Roman" pitchFamily="18" charset="0"/>
              </a:rPr>
              <a:t> </a:t>
            </a:r>
            <a:r>
              <a:rPr lang="uz-Cyrl-UZ" altLang="ja-JP" dirty="0">
                <a:cs typeface="Times New Roman" pitchFamily="18" charset="0"/>
              </a:rPr>
              <a:t>элементлари 256 дан ошмайдиган  </a:t>
            </a:r>
            <a:r>
              <a:rPr lang="uz-Cyrl-UZ" altLang="ja-JP" i="1" dirty="0">
                <a:cs typeface="Times New Roman" pitchFamily="18" charset="0"/>
              </a:rPr>
              <a:t>U</a:t>
            </a:r>
            <a:r>
              <a:rPr lang="uz-Cyrl-UZ" altLang="ja-JP" i="1" baseline="-30000" dirty="0">
                <a:cs typeface="Times New Roman" pitchFamily="18" charset="0"/>
              </a:rPr>
              <a:t>1</a:t>
            </a:r>
            <a:r>
              <a:rPr lang="uz-Cyrl-UZ" altLang="ja-JP" i="1" dirty="0">
                <a:cs typeface="Times New Roman" pitchFamily="18" charset="0"/>
              </a:rPr>
              <a:t>[4,4] ва U</a:t>
            </a:r>
            <a:r>
              <a:rPr lang="uz-Cyrl-UZ" altLang="ja-JP" i="1" baseline="-30000" dirty="0">
                <a:cs typeface="Times New Roman" pitchFamily="18" charset="0"/>
              </a:rPr>
              <a:t>2</a:t>
            </a:r>
            <a:r>
              <a:rPr lang="uz-Cyrl-UZ" altLang="ja-JP" i="1" dirty="0">
                <a:cs typeface="Times New Roman" pitchFamily="18" charset="0"/>
              </a:rPr>
              <a:t>[4,4] </a:t>
            </a:r>
            <a:r>
              <a:rPr lang="uz-Cyrl-UZ" altLang="ja-JP" dirty="0">
                <a:cs typeface="Times New Roman" pitchFamily="18" charset="0"/>
              </a:rPr>
              <a:t>иккита махсус тузилмали диаматрица шакллантириб оламиз:</a:t>
            </a:r>
            <a:endParaRPr lang="ru-RU" altLang="ja-JP" sz="1000" dirty="0"/>
          </a:p>
        </p:txBody>
      </p:sp>
      <p:sp>
        <p:nvSpPr>
          <p:cNvPr id="17441" name="Прямоугольник 3"/>
          <p:cNvSpPr>
            <a:spLocks noChangeArrowheads="1"/>
          </p:cNvSpPr>
          <p:nvPr/>
        </p:nvSpPr>
        <p:spPr bwMode="auto">
          <a:xfrm>
            <a:off x="392113" y="3968750"/>
            <a:ext cx="101393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uz-Cyrl-UZ"/>
              <a:t>Дастлабки матнга ўгириш (дешифрлаш) учун </a:t>
            </a:r>
            <a:r>
              <a:rPr lang="uz-Cyrl-UZ" b="1" i="1"/>
              <a:t>U</a:t>
            </a:r>
            <a:r>
              <a:rPr lang="uz-Cyrl-UZ" b="1" i="1" baseline="-25000"/>
              <a:t>1</a:t>
            </a:r>
            <a:r>
              <a:rPr lang="uz-Cyrl-UZ" b="1" i="1"/>
              <a:t>, U</a:t>
            </a:r>
            <a:r>
              <a:rPr lang="uz-Cyrl-UZ" b="1" i="1" baseline="-25000"/>
              <a:t>2</a:t>
            </a:r>
            <a:r>
              <a:rPr lang="uz-Cyrl-UZ" i="1"/>
              <a:t> </a:t>
            </a:r>
            <a:r>
              <a:rPr lang="uz-Cyrl-UZ"/>
              <a:t>массивларни тескарилаш </a:t>
            </a:r>
            <a:r>
              <a:rPr lang="uz-Cyrl-UZ" b="1" i="1"/>
              <a:t>U</a:t>
            </a:r>
            <a:r>
              <a:rPr lang="uz-Cyrl-UZ" b="1" i="1" baseline="-25000"/>
              <a:t>1t</a:t>
            </a:r>
            <a:r>
              <a:rPr lang="uz-Cyrl-UZ" b="1" i="1"/>
              <a:t>, U</a:t>
            </a:r>
            <a:r>
              <a:rPr lang="uz-Cyrl-UZ" b="1" i="1" baseline="-25000"/>
              <a:t>2t</a:t>
            </a:r>
            <a:r>
              <a:rPr lang="uz-Cyrl-UZ"/>
              <a:t> қийматлари берилиши шарт. Тескарилаш натижасида иккала </a:t>
            </a:r>
            <a:r>
              <a:rPr lang="uz-Cyrl-UZ" b="1" i="1"/>
              <a:t>U</a:t>
            </a:r>
            <a:r>
              <a:rPr lang="uz-Cyrl-UZ" b="1" i="1" baseline="-25000"/>
              <a:t>1t</a:t>
            </a:r>
            <a:r>
              <a:rPr lang="uz-Cyrl-UZ" b="1" i="1"/>
              <a:t>[4, 4]</a:t>
            </a:r>
            <a:r>
              <a:rPr lang="uz-Cyrl-UZ" i="1"/>
              <a:t> </a:t>
            </a:r>
            <a:r>
              <a:rPr lang="uz-Cyrl-UZ"/>
              <a:t>ва </a:t>
            </a:r>
            <a:r>
              <a:rPr lang="uz-Cyrl-UZ" b="1" i="1"/>
              <a:t>U</a:t>
            </a:r>
            <a:r>
              <a:rPr lang="uz-Cyrl-UZ" b="1" i="1" baseline="-25000"/>
              <a:t>2t</a:t>
            </a:r>
            <a:r>
              <a:rPr lang="uz-Cyrl-UZ" b="1" i="1"/>
              <a:t>[4, 4]</a:t>
            </a:r>
            <a:r>
              <a:rPr lang="uz-Cyrl-UZ"/>
              <a:t> ҳам махсус  тузилмали диаматрица кўринишига эга бўлган қуйидаги </a:t>
            </a:r>
            <a:r>
              <a:rPr lang="uz-Cyrl-UZ" b="1" i="1"/>
              <a:t>U</a:t>
            </a:r>
            <a:r>
              <a:rPr lang="uz-Cyrl-UZ" b="1" i="1" baseline="-25000"/>
              <a:t>1t </a:t>
            </a:r>
            <a:r>
              <a:rPr lang="uz-Cyrl-UZ"/>
              <a:t>ва </a:t>
            </a:r>
            <a:r>
              <a:rPr lang="uz-Cyrl-UZ" b="1" i="1"/>
              <a:t>U</a:t>
            </a:r>
            <a:r>
              <a:rPr lang="uz-Cyrl-UZ" b="1" i="1" baseline="-25000"/>
              <a:t>2t </a:t>
            </a:r>
            <a:r>
              <a:rPr lang="uz-Cyrl-UZ"/>
              <a:t> массивлар ҳосил бўлади:</a:t>
            </a:r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098550" y="4959350"/>
          <a:ext cx="3357562" cy="1122364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792533"/>
                <a:gridCol w="900010"/>
                <a:gridCol w="855010"/>
                <a:gridCol w="810009"/>
              </a:tblGrid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147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47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170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165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</a:tr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145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147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145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145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</a:tr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145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147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</a:tr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120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245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147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10" marR="76210" marT="0" marB="0"/>
                </a:tc>
              </a:tr>
            </a:tbl>
          </a:graphicData>
        </a:graphic>
      </p:graphicFrame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319088" y="5399088"/>
            <a:ext cx="8878887" cy="4619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uz-Cyrl-UZ" altLang="ja-JP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  </a:t>
            </a:r>
            <a:endParaRPr lang="uz-Cyrl-UZ" altLang="ja-JP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70" name="Прямоугольник 14"/>
          <p:cNvSpPr>
            <a:spLocks noChangeArrowheads="1"/>
          </p:cNvSpPr>
          <p:nvPr/>
        </p:nvSpPr>
        <p:spPr bwMode="auto">
          <a:xfrm>
            <a:off x="661988" y="2476500"/>
            <a:ext cx="436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ja-JP" i="1">
                <a:cs typeface="Times New Roman" pitchFamily="18" charset="0"/>
              </a:rPr>
              <a:t>U</a:t>
            </a:r>
            <a:r>
              <a:rPr lang="uz-Cyrl-UZ" altLang="ja-JP" i="1" baseline="-30000">
                <a:cs typeface="Times New Roman" pitchFamily="18" charset="0"/>
              </a:rPr>
              <a:t>1</a:t>
            </a:r>
            <a:endParaRPr lang="ru-RU">
              <a:ea typeface="ＭＳ Ｐゴシック" charset="-128"/>
              <a:cs typeface="Times New Roman" pitchFamily="18" charset="0"/>
            </a:endParaRPr>
          </a:p>
        </p:txBody>
      </p:sp>
      <p:sp>
        <p:nvSpPr>
          <p:cNvPr id="17471" name="Прямоугольник 15"/>
          <p:cNvSpPr>
            <a:spLocks noChangeArrowheads="1"/>
          </p:cNvSpPr>
          <p:nvPr/>
        </p:nvSpPr>
        <p:spPr bwMode="auto">
          <a:xfrm>
            <a:off x="5746750" y="2478088"/>
            <a:ext cx="693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 eaLnBrk="0" hangingPunct="0"/>
            <a:r>
              <a:rPr lang="en-US" altLang="ja-JP" i="1">
                <a:cs typeface="Times New Roman" pitchFamily="18" charset="0"/>
              </a:rPr>
              <a:t>U</a:t>
            </a:r>
            <a:r>
              <a:rPr lang="uz-Cyrl-UZ" altLang="ja-JP" i="1" baseline="-30000">
                <a:cs typeface="Times New Roman" pitchFamily="18" charset="0"/>
              </a:rPr>
              <a:t>2</a:t>
            </a:r>
            <a:r>
              <a:rPr lang="uz-Cyrl-UZ" altLang="ja-JP" i="1">
                <a:cs typeface="Times New Roman" pitchFamily="18" charset="0"/>
              </a:rPr>
              <a:t>    </a:t>
            </a:r>
            <a:endParaRPr lang="ru-RU" altLang="ja-JP" sz="2400">
              <a:cs typeface="Times New Roman" pitchFamily="18" charset="0"/>
            </a:endParaRPr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6332538" y="2573338"/>
          <a:ext cx="3203574" cy="1262063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778938"/>
                <a:gridCol w="807452"/>
                <a:gridCol w="808592"/>
                <a:gridCol w="808592"/>
              </a:tblGrid>
              <a:tr h="315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</a:tr>
              <a:tr h="31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</a:tr>
              <a:tr h="31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</a:tr>
              <a:tr h="31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2" marR="76202" marT="0" marB="0"/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6376988" y="5006975"/>
          <a:ext cx="3444874" cy="1122364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793274"/>
                <a:gridCol w="1004658"/>
                <a:gridCol w="823471"/>
                <a:gridCol w="823471"/>
              </a:tblGrid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</a:tr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154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</a:tr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34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</a:tr>
              <a:tr h="280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171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171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171</a:t>
                      </a:r>
                      <a:endParaRPr lang="ru-RU" sz="1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25" marR="76225" marT="0" marB="0"/>
                </a:tc>
              </a:tr>
            </a:tbl>
          </a:graphicData>
        </a:graphic>
      </p:graphicFrame>
      <p:sp>
        <p:nvSpPr>
          <p:cNvPr id="17526" name="Прямоугольник 18"/>
          <p:cNvSpPr>
            <a:spLocks noChangeArrowheads="1"/>
          </p:cNvSpPr>
          <p:nvPr/>
        </p:nvSpPr>
        <p:spPr bwMode="auto">
          <a:xfrm>
            <a:off x="5746750" y="4959350"/>
            <a:ext cx="544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ja-JP" i="1">
                <a:cs typeface="Times New Roman" pitchFamily="18" charset="0"/>
              </a:rPr>
              <a:t>U</a:t>
            </a:r>
            <a:r>
              <a:rPr lang="uz-Cyrl-UZ" altLang="ja-JP" i="1" baseline="-30000">
                <a:cs typeface="Times New Roman" pitchFamily="18" charset="0"/>
              </a:rPr>
              <a:t>2t</a:t>
            </a:r>
            <a:r>
              <a:rPr lang="uz-Cyrl-UZ" altLang="ja-JP" i="1">
                <a:cs typeface="Times New Roman" pitchFamily="18" charset="0"/>
              </a:rPr>
              <a:t> </a:t>
            </a:r>
            <a:endParaRPr lang="ru-RU">
              <a:ea typeface="ＭＳ Ｐゴシック" charset="-128"/>
              <a:cs typeface="Times New Roman" pitchFamily="18" charset="0"/>
            </a:endParaRPr>
          </a:p>
        </p:txBody>
      </p:sp>
      <p:sp>
        <p:nvSpPr>
          <p:cNvPr id="17527" name="Прямоугольник 19"/>
          <p:cNvSpPr>
            <a:spLocks noChangeArrowheads="1"/>
          </p:cNvSpPr>
          <p:nvPr/>
        </p:nvSpPr>
        <p:spPr bwMode="auto">
          <a:xfrm>
            <a:off x="617538" y="4868863"/>
            <a:ext cx="479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ja-JP" i="1">
                <a:cs typeface="Times New Roman" pitchFamily="18" charset="0"/>
              </a:rPr>
              <a:t>U</a:t>
            </a:r>
            <a:r>
              <a:rPr lang="uz-Cyrl-UZ" altLang="ja-JP" i="1" baseline="-30000">
                <a:cs typeface="Times New Roman" pitchFamily="18" charset="0"/>
              </a:rPr>
              <a:t>1t</a:t>
            </a:r>
            <a:endParaRPr lang="uz-Cyrl-UZ" altLang="ja-JP" sz="240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Прямоугольник 3"/>
          <p:cNvSpPr>
            <a:spLocks noChangeArrowheads="1"/>
          </p:cNvSpPr>
          <p:nvPr/>
        </p:nvSpPr>
        <p:spPr bwMode="auto">
          <a:xfrm>
            <a:off x="280988" y="276225"/>
            <a:ext cx="1023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uz-Cyrl-UZ" sz="1600" b="1" i="1"/>
              <a:t>Aralash(Holat) </a:t>
            </a:r>
            <a:r>
              <a:rPr lang="uz-Cyrl-UZ" sz="1600"/>
              <a:t>алмаштириши қуйидаги амалларни бажаришдан иборат: агар </a:t>
            </a:r>
            <a:r>
              <a:rPr lang="uz-Cyrl-UZ" sz="1600" b="1" i="1"/>
              <a:t>m=sh</a:t>
            </a:r>
            <a:r>
              <a:rPr lang="uz-Cyrl-UZ" sz="1600"/>
              <a:t> бўлса, унда </a:t>
            </a:r>
            <a:r>
              <a:rPr lang="en-US" sz="1600" b="1" i="1"/>
              <a:t>U</a:t>
            </a:r>
            <a:r>
              <a:rPr lang="uz-Cyrl-UZ" sz="1600" b="1" i="1" baseline="-25000"/>
              <a:t>1</a:t>
            </a:r>
            <a:r>
              <a:rPr lang="uz-Cyrl-UZ" sz="1600" b="1" i="1"/>
              <a:t>=</a:t>
            </a:r>
            <a:r>
              <a:rPr lang="en-US" sz="1600" b="1" i="1"/>
              <a:t>U</a:t>
            </a:r>
            <a:r>
              <a:rPr lang="uz-Cyrl-UZ" sz="1600" b="1" i="1" baseline="-25000"/>
              <a:t>1t</a:t>
            </a:r>
            <a:r>
              <a:rPr lang="uz-Cyrl-UZ" sz="1600" b="1" i="1"/>
              <a:t>, </a:t>
            </a:r>
            <a:r>
              <a:rPr lang="en-US" sz="1600" b="1" i="1"/>
              <a:t>U</a:t>
            </a:r>
            <a:r>
              <a:rPr lang="uz-Cyrl-UZ" sz="1600" b="1" i="1" baseline="-25000"/>
              <a:t>2</a:t>
            </a:r>
            <a:r>
              <a:rPr lang="uz-Cyrl-UZ" sz="1600" b="1" i="1"/>
              <a:t>=</a:t>
            </a:r>
            <a:r>
              <a:rPr lang="en-US" sz="1600" b="1" i="1"/>
              <a:t>U</a:t>
            </a:r>
            <a:r>
              <a:rPr lang="uz-Cyrl-UZ" sz="1600" b="1" i="1" baseline="-25000"/>
              <a:t>2</a:t>
            </a:r>
            <a:r>
              <a:rPr lang="uz-Cyrl-UZ" sz="1600"/>
              <a:t> қабул қилинади ва </a:t>
            </a:r>
            <a:r>
              <a:rPr lang="uz-Cyrl-UZ" sz="1600" b="1" i="1"/>
              <a:t>H</a:t>
            </a:r>
            <a:r>
              <a:rPr lang="uz-Cyrl-UZ" sz="1600" b="1" baseline="-25000"/>
              <a:t>1</a:t>
            </a:r>
            <a:r>
              <a:rPr lang="ru-RU" sz="1600" b="1">
                <a:sym typeface="Symbol" pitchFamily="18" charset="2"/>
              </a:rPr>
              <a:t></a:t>
            </a:r>
            <a:r>
              <a:rPr lang="uz-Cyrl-UZ" sz="1600" b="1" baseline="-25000"/>
              <a:t>2</a:t>
            </a:r>
            <a:r>
              <a:rPr lang="en-US" sz="1600" b="1" i="1"/>
              <a:t>U</a:t>
            </a:r>
            <a:r>
              <a:rPr lang="uz-Cyrl-UZ" sz="1600" b="1" i="1" baseline="-25000"/>
              <a:t>1</a:t>
            </a:r>
            <a:r>
              <a:rPr lang="uz-Cyrl-UZ" sz="1600" b="1"/>
              <a:t> </a:t>
            </a:r>
            <a:r>
              <a:rPr lang="uz-Cyrl-UZ" sz="1600" b="1" i="1"/>
              <a:t>(mod p)</a:t>
            </a:r>
            <a:r>
              <a:rPr lang="uz-Cyrl-UZ" sz="1600" b="1"/>
              <a:t>,</a:t>
            </a:r>
            <a:r>
              <a:rPr lang="uz-Cyrl-UZ" sz="1600"/>
              <a:t> </a:t>
            </a:r>
            <a:r>
              <a:rPr lang="uz-Cyrl-UZ" sz="1600" b="1" i="1"/>
              <a:t>H</a:t>
            </a:r>
            <a:r>
              <a:rPr lang="uz-Cyrl-UZ" sz="1600" b="1" i="1" baseline="-25000"/>
              <a:t>2</a:t>
            </a:r>
            <a:r>
              <a:rPr lang="ru-RU" sz="1600" b="1">
                <a:sym typeface="Symbol" pitchFamily="18" charset="2"/>
              </a:rPr>
              <a:t></a:t>
            </a:r>
            <a:r>
              <a:rPr lang="uz-Cyrl-UZ" sz="1600" b="1" baseline="-25000"/>
              <a:t>2</a:t>
            </a:r>
            <a:r>
              <a:rPr lang="en-US" sz="1600" b="1" i="1"/>
              <a:t>U</a:t>
            </a:r>
            <a:r>
              <a:rPr lang="uz-Cyrl-UZ" sz="1600" b="1" i="1" baseline="-25000"/>
              <a:t>2</a:t>
            </a:r>
            <a:r>
              <a:rPr lang="uz-Cyrl-UZ" sz="1600" b="1"/>
              <a:t> </a:t>
            </a:r>
            <a:r>
              <a:rPr lang="uz-Cyrl-UZ" sz="1600" b="1" i="1"/>
              <a:t>(mod p)</a:t>
            </a:r>
            <a:r>
              <a:rPr lang="uz-Cyrl-UZ" sz="1600"/>
              <a:t> ҳисобланади. Натижа </a:t>
            </a:r>
            <a:r>
              <a:rPr lang="uz-Cyrl-UZ" sz="1600" b="1" i="1"/>
              <a:t>H</a:t>
            </a:r>
            <a:r>
              <a:rPr lang="uz-Cyrl-UZ" sz="1600" b="1" i="1" baseline="-25000"/>
              <a:t>1</a:t>
            </a:r>
            <a:r>
              <a:rPr lang="uz-Cyrl-UZ" sz="1600" b="1" i="1"/>
              <a:t>,H</a:t>
            </a:r>
            <a:r>
              <a:rPr lang="uz-Cyrl-UZ" sz="1600" b="1" i="1" baseline="-25000"/>
              <a:t>2</a:t>
            </a:r>
            <a:r>
              <a:rPr lang="uz-Cyrl-UZ" sz="1600" baseline="-25000"/>
              <a:t> </a:t>
            </a:r>
            <a:r>
              <a:rPr lang="uz-Cyrl-UZ" sz="1600"/>
              <a:t>массивларга ёзилиб </a:t>
            </a:r>
            <a:r>
              <a:rPr lang="uz-Cyrl-UZ" sz="1600" b="1" i="1"/>
              <a:t>Holat </a:t>
            </a:r>
            <a:r>
              <a:rPr lang="uz-Cyrl-UZ" sz="1600"/>
              <a:t>массивига кўчирилади акс холда </a:t>
            </a:r>
            <a:r>
              <a:rPr lang="uz-Cyrl-UZ" sz="1600" b="1" i="1"/>
              <a:t>m=dsh</a:t>
            </a:r>
            <a:r>
              <a:rPr lang="uz-Cyrl-UZ" sz="1600"/>
              <a:t> бўлса унда </a:t>
            </a:r>
            <a:r>
              <a:rPr lang="uz-Cyrl-UZ" sz="1600" b="1" i="1"/>
              <a:t>U</a:t>
            </a:r>
            <a:r>
              <a:rPr lang="uz-Cyrl-UZ" sz="1600" b="1" i="1" baseline="-25000"/>
              <a:t>1</a:t>
            </a:r>
            <a:r>
              <a:rPr lang="uz-Cyrl-UZ" sz="1600" b="1" i="1"/>
              <a:t>=U</a:t>
            </a:r>
            <a:r>
              <a:rPr lang="uz-Cyrl-UZ" sz="1600" b="1" i="1" baseline="-25000"/>
              <a:t>1</a:t>
            </a:r>
            <a:r>
              <a:rPr lang="uz-Cyrl-UZ" sz="1600" b="1" i="1"/>
              <a:t>, U</a:t>
            </a:r>
            <a:r>
              <a:rPr lang="uz-Cyrl-UZ" sz="1600" b="1" i="1" baseline="-25000"/>
              <a:t>2</a:t>
            </a:r>
            <a:r>
              <a:rPr lang="uz-Cyrl-UZ" sz="1600" b="1" i="1"/>
              <a:t>=U</a:t>
            </a:r>
            <a:r>
              <a:rPr lang="uz-Cyrl-UZ" sz="1600" b="1" i="1" baseline="-25000"/>
              <a:t>2t</a:t>
            </a:r>
            <a:r>
              <a:rPr lang="uz-Cyrl-UZ" sz="1600"/>
              <a:t>  қабул қилинади ва </a:t>
            </a:r>
            <a:r>
              <a:rPr lang="uz-Cyrl-UZ" sz="1600" b="1" i="1"/>
              <a:t>H</a:t>
            </a:r>
            <a:r>
              <a:rPr lang="uz-Cyrl-UZ" sz="1600" b="1" baseline="-25000"/>
              <a:t>1</a:t>
            </a:r>
            <a:r>
              <a:rPr lang="ru-RU" sz="1600" b="1">
                <a:sym typeface="Symbol" pitchFamily="18" charset="2"/>
              </a:rPr>
              <a:t></a:t>
            </a:r>
            <a:r>
              <a:rPr lang="uz-Cyrl-UZ" sz="1600" b="1" baseline="-25000"/>
              <a:t>2</a:t>
            </a:r>
            <a:r>
              <a:rPr lang="uz-Cyrl-UZ" sz="1600" b="1" i="1"/>
              <a:t>U</a:t>
            </a:r>
            <a:r>
              <a:rPr lang="uz-Cyrl-UZ" sz="1600" b="1" i="1" baseline="-25000"/>
              <a:t>1</a:t>
            </a:r>
            <a:r>
              <a:rPr lang="uz-Cyrl-UZ" sz="1600" b="1" i="1"/>
              <a:t>(mod p)</a:t>
            </a:r>
            <a:r>
              <a:rPr lang="uz-Cyrl-UZ" sz="1600" b="1"/>
              <a:t>,</a:t>
            </a:r>
            <a:r>
              <a:rPr lang="uz-Cyrl-UZ" sz="1600"/>
              <a:t> </a:t>
            </a:r>
            <a:r>
              <a:rPr lang="uz-Cyrl-UZ" sz="1600" b="1" i="1"/>
              <a:t>H</a:t>
            </a:r>
            <a:r>
              <a:rPr lang="uz-Cyrl-UZ" sz="1600" b="1" i="1" baseline="-25000"/>
              <a:t>2</a:t>
            </a:r>
            <a:r>
              <a:rPr lang="ru-RU" sz="1600" b="1">
                <a:sym typeface="Symbol" pitchFamily="18" charset="2"/>
              </a:rPr>
              <a:t></a:t>
            </a:r>
            <a:r>
              <a:rPr lang="uz-Cyrl-UZ" sz="1600" b="1" baseline="-25000"/>
              <a:t>2</a:t>
            </a:r>
            <a:r>
              <a:rPr lang="uz-Cyrl-UZ" sz="1600" b="1"/>
              <a:t> </a:t>
            </a:r>
            <a:r>
              <a:rPr lang="uz-Cyrl-UZ" sz="1600" b="1" i="1"/>
              <a:t>U</a:t>
            </a:r>
            <a:r>
              <a:rPr lang="uz-Cyrl-UZ" sz="1600" b="1" i="1" baseline="-25000"/>
              <a:t>2</a:t>
            </a:r>
            <a:r>
              <a:rPr lang="uz-Cyrl-UZ" sz="1600" b="1" i="1"/>
              <a:t>(mod p) </a:t>
            </a:r>
            <a:r>
              <a:rPr lang="uz-Cyrl-UZ" sz="1600"/>
              <a:t> хисобланади. Натижа </a:t>
            </a:r>
            <a:r>
              <a:rPr lang="uz-Cyrl-UZ" sz="1600" b="1" i="1"/>
              <a:t>H</a:t>
            </a:r>
            <a:r>
              <a:rPr lang="uz-Cyrl-UZ" sz="1600" b="1" i="1" baseline="-25000"/>
              <a:t>1</a:t>
            </a:r>
            <a:r>
              <a:rPr lang="uz-Cyrl-UZ" sz="1600" b="1" i="1"/>
              <a:t>,H</a:t>
            </a:r>
            <a:r>
              <a:rPr lang="uz-Cyrl-UZ" sz="1600" b="1" i="1" baseline="-25000"/>
              <a:t>2</a:t>
            </a:r>
            <a:r>
              <a:rPr lang="uz-Cyrl-UZ" sz="1600" baseline="-25000"/>
              <a:t> </a:t>
            </a:r>
            <a:r>
              <a:rPr lang="uz-Cyrl-UZ" sz="1600"/>
              <a:t>массивларга ёзилиб </a:t>
            </a:r>
            <a:r>
              <a:rPr lang="uz-Cyrl-UZ" sz="1600" b="1" i="1"/>
              <a:t>Holat </a:t>
            </a:r>
            <a:r>
              <a:rPr lang="uz-Cyrl-UZ" sz="1600"/>
              <a:t>массивига кўчирилади.</a:t>
            </a:r>
            <a:endParaRPr lang="ru-RU" sz="1600"/>
          </a:p>
        </p:txBody>
      </p:sp>
      <p:sp>
        <p:nvSpPr>
          <p:cNvPr id="18436" name="Прямоугольник 4"/>
          <p:cNvSpPr>
            <a:spLocks noChangeArrowheads="1"/>
          </p:cNvSpPr>
          <p:nvPr/>
        </p:nvSpPr>
        <p:spPr bwMode="auto">
          <a:xfrm>
            <a:off x="360363" y="1600200"/>
            <a:ext cx="99996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ru-RU" sz="1600"/>
              <a:t>Мазкур алмаштириш матрицавий алмаштиришга нисбатан аралаштириш нуқтаи назаридан </a:t>
            </a:r>
            <a:r>
              <a:rPr lang="uz-Cyrl-UZ" sz="1600"/>
              <a:t>самарали</a:t>
            </a:r>
            <a:r>
              <a:rPr lang="ru-RU" sz="1600"/>
              <a:t>ро</a:t>
            </a:r>
            <a:r>
              <a:rPr lang="uz-Cyrl-UZ" sz="1600"/>
              <a:t>қ</a:t>
            </a:r>
            <a:r>
              <a:rPr lang="ru-RU" sz="1600"/>
              <a:t>дир</a:t>
            </a:r>
            <a:r>
              <a:rPr lang="en-US" sz="1600"/>
              <a:t>. </a:t>
            </a:r>
            <a:r>
              <a:rPr lang="ru-RU" sz="1600"/>
              <a:t>Бу ерда</a:t>
            </a:r>
            <a:r>
              <a:rPr lang="en-US" sz="1600"/>
              <a:t>, </a:t>
            </a:r>
            <a:r>
              <a:rPr lang="ru-RU" sz="1600"/>
              <a:t>берилган </a:t>
            </a:r>
            <a:r>
              <a:rPr lang="en-US" sz="1600" b="1" i="1"/>
              <a:t>Holat</a:t>
            </a:r>
            <a:r>
              <a:rPr lang="en-US" sz="1600" b="1"/>
              <a:t> </a:t>
            </a:r>
            <a:r>
              <a:rPr lang="ru-RU" sz="1600"/>
              <a:t>массивининг битта элементини ўзгариши</a:t>
            </a:r>
            <a:r>
              <a:rPr lang="en-US" sz="1600"/>
              <a:t>, </a:t>
            </a:r>
            <a:r>
              <a:rPr lang="ru-RU" sz="1600"/>
              <a:t>қайси элемент ўзгарган бўлишига қараб </a:t>
            </a:r>
            <a:r>
              <a:rPr lang="en-US" sz="1600" b="1" i="1"/>
              <a:t>6</a:t>
            </a:r>
            <a:r>
              <a:rPr lang="en-US" sz="1600"/>
              <a:t> </a:t>
            </a:r>
            <a:r>
              <a:rPr lang="ru-RU" sz="1600"/>
              <a:t>ёки </a:t>
            </a:r>
            <a:r>
              <a:rPr lang="en-US" sz="1600" b="1" i="1"/>
              <a:t>7</a:t>
            </a:r>
            <a:r>
              <a:rPr lang="en-US" sz="1600"/>
              <a:t> </a:t>
            </a:r>
            <a:r>
              <a:rPr lang="ru-RU" sz="1600"/>
              <a:t>та элементнинг ўзгаришига олиб келади</a:t>
            </a:r>
            <a:r>
              <a:rPr lang="en-US" sz="1600"/>
              <a:t>.</a:t>
            </a:r>
            <a:endParaRPr lang="ru-RU" sz="1600"/>
          </a:p>
        </p:txBody>
      </p:sp>
      <p:pic>
        <p:nvPicPr>
          <p:cNvPr id="18437" name="Picture 2" descr="D:\serie\DiSSERTATSIYA JS\Untitled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2492375"/>
            <a:ext cx="9056687" cy="25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Рисунок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5407025"/>
            <a:ext cx="49117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Рисунок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013" y="5294313"/>
            <a:ext cx="495935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олилиния 4"/>
          <p:cNvSpPr/>
          <p:nvPr/>
        </p:nvSpPr>
        <p:spPr>
          <a:xfrm>
            <a:off x="9573417" y="6433864"/>
            <a:ext cx="461931" cy="246939"/>
          </a:xfrm>
          <a:custGeom>
            <a:avLst/>
            <a:gdLst>
              <a:gd name="connsiteX0" fmla="*/ 0 w 415765"/>
              <a:gd name="connsiteY0" fmla="*/ 0 h 246939"/>
              <a:gd name="connsiteX1" fmla="*/ 415765 w 415765"/>
              <a:gd name="connsiteY1" fmla="*/ 0 h 246939"/>
              <a:gd name="connsiteX2" fmla="*/ 415765 w 415765"/>
              <a:gd name="connsiteY2" fmla="*/ 246939 h 246939"/>
              <a:gd name="connsiteX3" fmla="*/ 0 w 415765"/>
              <a:gd name="connsiteY3" fmla="*/ 246939 h 246939"/>
              <a:gd name="connsiteX4" fmla="*/ 0 w 415765"/>
              <a:gd name="connsiteY4" fmla="*/ 0 h 246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765" h="246939">
                <a:moveTo>
                  <a:pt x="0" y="0"/>
                </a:moveTo>
                <a:lnTo>
                  <a:pt x="415765" y="0"/>
                </a:lnTo>
                <a:lnTo>
                  <a:pt x="415765" y="246939"/>
                </a:lnTo>
                <a:lnTo>
                  <a:pt x="0" y="24693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39116" rIns="0" bIns="41910" spcCol="1270" anchor="ctr"/>
          <a:lstStyle/>
          <a:p>
            <a:pPr algn="ctr" defTabSz="488950">
              <a:lnSpc>
                <a:spcPct val="90000"/>
              </a:lnSpc>
              <a:spcAft>
                <a:spcPct val="35000"/>
              </a:spcAft>
              <a:defRPr/>
            </a:pPr>
            <a:endParaRPr lang="ru-RU" sz="1100" dirty="0"/>
          </a:p>
        </p:txBody>
      </p:sp>
      <p:sp>
        <p:nvSpPr>
          <p:cNvPr id="6" name="Полилиния 5"/>
          <p:cNvSpPr/>
          <p:nvPr/>
        </p:nvSpPr>
        <p:spPr>
          <a:xfrm>
            <a:off x="10105339" y="6514497"/>
            <a:ext cx="545919" cy="246939"/>
          </a:xfrm>
          <a:custGeom>
            <a:avLst/>
            <a:gdLst>
              <a:gd name="connsiteX0" fmla="*/ 0 w 491359"/>
              <a:gd name="connsiteY0" fmla="*/ 0 h 246939"/>
              <a:gd name="connsiteX1" fmla="*/ 491359 w 491359"/>
              <a:gd name="connsiteY1" fmla="*/ 0 h 246939"/>
              <a:gd name="connsiteX2" fmla="*/ 491359 w 491359"/>
              <a:gd name="connsiteY2" fmla="*/ 246939 h 246939"/>
              <a:gd name="connsiteX3" fmla="*/ 0 w 491359"/>
              <a:gd name="connsiteY3" fmla="*/ 246939 h 246939"/>
              <a:gd name="connsiteX4" fmla="*/ 0 w 491359"/>
              <a:gd name="connsiteY4" fmla="*/ 0 h 246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359" h="246939">
                <a:moveTo>
                  <a:pt x="0" y="0"/>
                </a:moveTo>
                <a:lnTo>
                  <a:pt x="491359" y="0"/>
                </a:lnTo>
                <a:lnTo>
                  <a:pt x="491359" y="246939"/>
                </a:lnTo>
                <a:lnTo>
                  <a:pt x="0" y="24693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39116" rIns="0" bIns="41910" spcCol="1270" anchor="ctr"/>
          <a:lstStyle/>
          <a:p>
            <a:pPr algn="ctr" defTabSz="488950">
              <a:lnSpc>
                <a:spcPct val="90000"/>
              </a:lnSpc>
              <a:spcAft>
                <a:spcPct val="35000"/>
              </a:spcAft>
              <a:defRPr/>
            </a:pPr>
            <a:endParaRPr lang="ru-RU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11" descr="D:\serie\DiSSERTATSIYA JS\line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349250"/>
            <a:ext cx="4103687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Прямоугольник 14"/>
          <p:cNvSpPr>
            <a:spLocks noChangeArrowheads="1"/>
          </p:cNvSpPr>
          <p:nvPr/>
        </p:nvSpPr>
        <p:spPr bwMode="auto">
          <a:xfrm>
            <a:off x="360363" y="336550"/>
            <a:ext cx="42973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1600" b="1" dirty="0" smtClean="0"/>
              <a:t>Таклиф </a:t>
            </a:r>
            <a:r>
              <a:rPr lang="uz-Cyrl-UZ" sz="1600" b="1" dirty="0"/>
              <a:t>этилаётган алгоритмнинг қадамлар кетма-кетлиги ва калитлар генерацияси жараёни</a:t>
            </a:r>
            <a:endParaRPr lang="ru-RU" sz="1600" b="1" dirty="0"/>
          </a:p>
        </p:txBody>
      </p:sp>
      <p:sp>
        <p:nvSpPr>
          <p:cNvPr id="19461" name="Прямоугольник 21"/>
          <p:cNvSpPr>
            <a:spLocks noChangeArrowheads="1"/>
          </p:cNvSpPr>
          <p:nvPr/>
        </p:nvSpPr>
        <p:spPr bwMode="auto">
          <a:xfrm>
            <a:off x="287338" y="1192213"/>
            <a:ext cx="4321175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1200"/>
              <a:t>Калитлар</a:t>
            </a:r>
            <a:r>
              <a:rPr lang="en-US" sz="1200"/>
              <a:t> </a:t>
            </a:r>
            <a:r>
              <a:rPr lang="uz-Cyrl-UZ" sz="1200"/>
              <a:t>генерацияси жараёни қуйидаги қадамлар кетма-кетлигидан иборат:</a:t>
            </a:r>
            <a:endParaRPr lang="ru-RU" sz="1200"/>
          </a:p>
          <a:p>
            <a:r>
              <a:rPr lang="en-US" sz="1400" b="1">
                <a:solidFill>
                  <a:srgbClr val="FF0000"/>
                </a:solidFill>
              </a:rPr>
              <a:t>1) </a:t>
            </a:r>
            <a:r>
              <a:rPr lang="uz-Cyrl-UZ" sz="1200"/>
              <a:t>Дастлаб тасодифий сонлар асосида байтли элементлардан ташкил топган  </a:t>
            </a:r>
            <a:r>
              <a:rPr lang="uz-Cyrl-UZ" sz="1200" i="1"/>
              <a:t>K[32] </a:t>
            </a:r>
            <a:r>
              <a:rPr lang="uz-Cyrl-UZ" sz="1200"/>
              <a:t>массив олинади.</a:t>
            </a:r>
            <a:endParaRPr lang="ru-RU" sz="1200"/>
          </a:p>
          <a:p>
            <a:r>
              <a:rPr lang="en-US" sz="1400" b="1">
                <a:solidFill>
                  <a:srgbClr val="FF0000"/>
                </a:solidFill>
              </a:rPr>
              <a:t>2) </a:t>
            </a:r>
            <a:r>
              <a:rPr lang="uz-Cyrl-UZ" sz="1200"/>
              <a:t>Сўнгра</a:t>
            </a:r>
            <a:r>
              <a:rPr lang="uz-Cyrl-UZ" sz="1200" i="1"/>
              <a:t> K[32] </a:t>
            </a:r>
            <a:r>
              <a:rPr lang="uz-Cyrl-UZ" sz="1200"/>
              <a:t>массив иккита </a:t>
            </a:r>
            <a:r>
              <a:rPr lang="uz-Cyrl-UZ" sz="1200" i="1"/>
              <a:t>K1[16], K2[16] 4х4</a:t>
            </a:r>
            <a:r>
              <a:rPr lang="uz-Cyrl-UZ" sz="1200"/>
              <a:t> матрицага ажратилади ва </a:t>
            </a:r>
            <a:r>
              <a:rPr lang="uz-Cyrl-UZ" sz="1200" i="1"/>
              <a:t>Aralash </a:t>
            </a:r>
            <a:r>
              <a:rPr lang="uz-Cyrl-UZ" sz="1200"/>
              <a:t>акслантиришидан ўтказилади </a:t>
            </a:r>
            <a:r>
              <a:rPr lang="uz-Cyrl-UZ" sz="1200" i="1"/>
              <a:t>Aralash (U1, K1)</a:t>
            </a:r>
            <a:r>
              <a:rPr lang="uz-Cyrl-UZ" sz="1200"/>
              <a:t>, </a:t>
            </a:r>
            <a:r>
              <a:rPr lang="uz-Cyrl-UZ" sz="1200" i="1"/>
              <a:t>Aralash (U2, K2). </a:t>
            </a:r>
            <a:r>
              <a:rPr lang="uz-Cyrl-UZ" sz="1200"/>
              <a:t>Бу ерда U1,U2 </a:t>
            </a:r>
            <a:r>
              <a:rPr lang="uz-Cyrl-UZ" sz="1200" i="1"/>
              <a:t>Aralash </a:t>
            </a:r>
            <a:r>
              <a:rPr lang="uz-Cyrl-UZ" sz="1200"/>
              <a:t>акслантиришидан фиксирланган иккита </a:t>
            </a:r>
            <a:r>
              <a:rPr lang="uz-Cyrl-UZ" sz="1200" i="1"/>
              <a:t>4х4</a:t>
            </a:r>
            <a:r>
              <a:rPr lang="uz-Cyrl-UZ" sz="1200"/>
              <a:t> матрица. </a:t>
            </a:r>
            <a:endParaRPr lang="ru-RU" sz="1200"/>
          </a:p>
          <a:p>
            <a:r>
              <a:rPr lang="en-US" sz="1400" b="1">
                <a:solidFill>
                  <a:srgbClr val="FF0000"/>
                </a:solidFill>
              </a:rPr>
              <a:t>3) </a:t>
            </a:r>
            <a:r>
              <a:rPr lang="uz-Cyrl-UZ" sz="1200" i="1"/>
              <a:t>Aralash </a:t>
            </a:r>
            <a:r>
              <a:rPr lang="uz-Cyrl-UZ" sz="1200"/>
              <a:t>акслантиришидан чиққан натижа конкатенация қилинади ва </a:t>
            </a:r>
            <a:r>
              <a:rPr lang="uz-Cyrl-UZ" sz="1200" i="1"/>
              <a:t>8х4</a:t>
            </a:r>
            <a:r>
              <a:rPr lang="uz-Cyrl-UZ" sz="1200"/>
              <a:t> матрица шаклида </a:t>
            </a:r>
            <a:r>
              <a:rPr lang="uz-Cyrl-UZ" sz="1200" i="1"/>
              <a:t>Sur (K) </a:t>
            </a:r>
            <a:r>
              <a:rPr lang="uz-Cyrl-UZ" sz="1200"/>
              <a:t>акслантиришидан ўтказилади.</a:t>
            </a:r>
            <a:endParaRPr lang="ru-RU" sz="1200"/>
          </a:p>
          <a:p>
            <a:r>
              <a:rPr lang="en-US" sz="1400" b="1">
                <a:solidFill>
                  <a:srgbClr val="FF0000"/>
                </a:solidFill>
              </a:rPr>
              <a:t>4) </a:t>
            </a:r>
            <a:r>
              <a:rPr lang="uz-Cyrl-UZ" sz="1200" i="1"/>
              <a:t>Sur </a:t>
            </a:r>
            <a:r>
              <a:rPr lang="uz-Cyrl-UZ" sz="1200"/>
              <a:t>акслантиришидан чиққан </a:t>
            </a:r>
            <a:r>
              <a:rPr lang="uz-Cyrl-UZ" sz="1200" i="1"/>
              <a:t>K[32] </a:t>
            </a:r>
            <a:r>
              <a:rPr lang="uz-Cyrl-UZ" sz="1200"/>
              <a:t>матрица иккита </a:t>
            </a:r>
            <a:r>
              <a:rPr lang="uz-Cyrl-UZ" sz="1200" i="1"/>
              <a:t>S1, S2</a:t>
            </a:r>
            <a:r>
              <a:rPr lang="uz-Cyrl-UZ" sz="1200"/>
              <a:t> блоклардан қуйидаги шаклда (3.1) ўтказилади. Бу ерда  </a:t>
            </a:r>
            <a:r>
              <a:rPr lang="uz-Cyrl-UZ" sz="1200" i="1"/>
              <a:t>S1,S2</a:t>
            </a:r>
            <a:r>
              <a:rPr lang="uz-Cyrl-UZ" sz="1200"/>
              <a:t> блоклар модификацияланган алгоритм </a:t>
            </a:r>
            <a:r>
              <a:rPr lang="uz-Cyrl-UZ" sz="1200" i="1"/>
              <a:t>S</a:t>
            </a:r>
            <a:r>
              <a:rPr lang="uz-Cyrl-UZ" sz="1200"/>
              <a:t> блоклари хисобланади. </a:t>
            </a:r>
            <a:endParaRPr lang="ru-RU" sz="1200"/>
          </a:p>
        </p:txBody>
      </p:sp>
      <p:grpSp>
        <p:nvGrpSpPr>
          <p:cNvPr id="19462" name="Группа 32"/>
          <p:cNvGrpSpPr>
            <a:grpSpLocks/>
          </p:cNvGrpSpPr>
          <p:nvPr/>
        </p:nvGrpSpPr>
        <p:grpSpPr bwMode="auto">
          <a:xfrm>
            <a:off x="585788" y="4335463"/>
            <a:ext cx="3240087" cy="307975"/>
            <a:chOff x="18404" y="1284032"/>
            <a:chExt cx="3240435" cy="307777"/>
          </a:xfrm>
        </p:grpSpPr>
        <p:grpSp>
          <p:nvGrpSpPr>
            <p:cNvPr id="19470" name="Group 1"/>
            <p:cNvGrpSpPr>
              <a:grpSpLocks/>
            </p:cNvGrpSpPr>
            <p:nvPr/>
          </p:nvGrpSpPr>
          <p:grpSpPr bwMode="auto">
            <a:xfrm>
              <a:off x="826179" y="1386359"/>
              <a:ext cx="98425" cy="98425"/>
              <a:chOff x="8780" y="10199"/>
              <a:chExt cx="201" cy="201"/>
            </a:xfrm>
          </p:grpSpPr>
          <p:cxnSp>
            <p:nvCxnSpPr>
              <p:cNvPr id="19476" name="AutoShape 4"/>
              <p:cNvCxnSpPr>
                <a:cxnSpLocks noChangeShapeType="1"/>
              </p:cNvCxnSpPr>
              <p:nvPr/>
            </p:nvCxnSpPr>
            <p:spPr bwMode="auto">
              <a:xfrm>
                <a:off x="8879" y="10219"/>
                <a:ext cx="0" cy="18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77" name="AutoShape 3"/>
              <p:cNvCxnSpPr>
                <a:cxnSpLocks noChangeShapeType="1"/>
              </p:cNvCxnSpPr>
              <p:nvPr/>
            </p:nvCxnSpPr>
            <p:spPr bwMode="auto">
              <a:xfrm>
                <a:off x="8794" y="10307"/>
                <a:ext cx="18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478" name="Rectangle 2"/>
              <p:cNvSpPr>
                <a:spLocks noChangeArrowheads="1"/>
              </p:cNvSpPr>
              <p:nvPr/>
            </p:nvSpPr>
            <p:spPr bwMode="auto">
              <a:xfrm>
                <a:off x="8780" y="10199"/>
                <a:ext cx="201" cy="201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9471" name="Group 5"/>
            <p:cNvGrpSpPr>
              <a:grpSpLocks/>
            </p:cNvGrpSpPr>
            <p:nvPr/>
          </p:nvGrpSpPr>
          <p:grpSpPr bwMode="auto">
            <a:xfrm>
              <a:off x="2088307" y="1417318"/>
              <a:ext cx="98425" cy="98425"/>
              <a:chOff x="8780" y="10199"/>
              <a:chExt cx="201" cy="201"/>
            </a:xfrm>
          </p:grpSpPr>
          <p:cxnSp>
            <p:nvCxnSpPr>
              <p:cNvPr id="19473" name="AutoShape 8"/>
              <p:cNvCxnSpPr>
                <a:cxnSpLocks noChangeShapeType="1"/>
              </p:cNvCxnSpPr>
              <p:nvPr/>
            </p:nvCxnSpPr>
            <p:spPr bwMode="auto">
              <a:xfrm>
                <a:off x="8879" y="10219"/>
                <a:ext cx="0" cy="18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74" name="AutoShape 7"/>
              <p:cNvCxnSpPr>
                <a:cxnSpLocks noChangeShapeType="1"/>
              </p:cNvCxnSpPr>
              <p:nvPr/>
            </p:nvCxnSpPr>
            <p:spPr bwMode="auto">
              <a:xfrm>
                <a:off x="8794" y="10307"/>
                <a:ext cx="18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475" name="Rectangle 6"/>
              <p:cNvSpPr>
                <a:spLocks noChangeArrowheads="1"/>
              </p:cNvSpPr>
              <p:nvPr/>
            </p:nvSpPr>
            <p:spPr bwMode="auto">
              <a:xfrm>
                <a:off x="8780" y="10199"/>
                <a:ext cx="201" cy="201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9472" name="Rectangle 10"/>
            <p:cNvSpPr>
              <a:spLocks noChangeArrowheads="1"/>
            </p:cNvSpPr>
            <p:nvPr/>
          </p:nvSpPr>
          <p:spPr bwMode="auto">
            <a:xfrm>
              <a:off x="18404" y="1284032"/>
              <a:ext cx="324043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defTabSz="914400">
                <a:tabLst>
                  <a:tab pos="449263" algn="r"/>
                  <a:tab pos="2636838" algn="ctr"/>
                  <a:tab pos="5273675" algn="r"/>
                </a:tabLst>
              </a:pPr>
              <a:r>
                <a:rPr lang="en-US" altLang="ja-JP" sz="1400">
                  <a:cs typeface="Times New Roman" pitchFamily="18" charset="0"/>
                </a:rPr>
                <a:t>k’</a:t>
              </a:r>
              <a:r>
                <a:rPr lang="en-US" altLang="ja-JP" sz="1400" baseline="-30000">
                  <a:cs typeface="Times New Roman" pitchFamily="18" charset="0"/>
                </a:rPr>
                <a:t>i</a:t>
              </a:r>
              <a:r>
                <a:rPr lang="en-US" altLang="ja-JP" sz="1400">
                  <a:cs typeface="Times New Roman" pitchFamily="18" charset="0"/>
                </a:rPr>
                <a:t>=S</a:t>
              </a:r>
              <a:r>
                <a:rPr lang="en-US" altLang="ja-JP" sz="1400" baseline="-30000">
                  <a:cs typeface="Times New Roman" pitchFamily="18" charset="0"/>
                </a:rPr>
                <a:t>1</a:t>
              </a:r>
              <a:r>
                <a:rPr lang="en-US" altLang="ja-JP" sz="1400">
                  <a:cs typeface="Times New Roman" pitchFamily="18" charset="0"/>
                </a:rPr>
                <a:t>(k</a:t>
              </a:r>
              <a:r>
                <a:rPr lang="en-US" altLang="ja-JP" sz="1400" baseline="-30000">
                  <a:cs typeface="Times New Roman" pitchFamily="18" charset="0"/>
                </a:rPr>
                <a:t>i</a:t>
              </a:r>
              <a:r>
                <a:rPr lang="en-US" altLang="ja-JP" sz="1400">
                  <a:cs typeface="Times New Roman" pitchFamily="18" charset="0"/>
                </a:rPr>
                <a:t>)    S</a:t>
              </a:r>
              <a:r>
                <a:rPr lang="en-US" altLang="ja-JP" sz="1400" baseline="-30000">
                  <a:cs typeface="Times New Roman" pitchFamily="18" charset="0"/>
                </a:rPr>
                <a:t>2</a:t>
              </a:r>
              <a:r>
                <a:rPr lang="en-US" altLang="ja-JP" sz="1400">
                  <a:cs typeface="Times New Roman" pitchFamily="18" charset="0"/>
                </a:rPr>
                <a:t>(k</a:t>
              </a:r>
              <a:r>
                <a:rPr lang="en-US" altLang="ja-JP" sz="1400" baseline="-30000">
                  <a:cs typeface="Times New Roman" pitchFamily="18" charset="0"/>
                </a:rPr>
                <a:t>(i+12)mod32</a:t>
              </a:r>
              <a:r>
                <a:rPr lang="en-US" altLang="ja-JP" sz="1400">
                  <a:cs typeface="Times New Roman" pitchFamily="18" charset="0"/>
                </a:rPr>
                <a:t>)    k</a:t>
              </a:r>
              <a:r>
                <a:rPr lang="en-US" altLang="ja-JP" sz="1400" baseline="-30000">
                  <a:cs typeface="Times New Roman" pitchFamily="18" charset="0"/>
                </a:rPr>
                <a:t>(i+23)mod32</a:t>
              </a:r>
              <a:endParaRPr lang="en-US" altLang="ja-JP">
                <a:cs typeface="Times New Roman" pitchFamily="18" charset="0"/>
              </a:endParaRPr>
            </a:p>
          </p:txBody>
        </p:sp>
      </p:grpSp>
      <p:grpSp>
        <p:nvGrpSpPr>
          <p:cNvPr id="19463" name="Группа 54"/>
          <p:cNvGrpSpPr>
            <a:grpSpLocks/>
          </p:cNvGrpSpPr>
          <p:nvPr/>
        </p:nvGrpSpPr>
        <p:grpSpPr bwMode="auto">
          <a:xfrm>
            <a:off x="287338" y="4637088"/>
            <a:ext cx="4033837" cy="1601787"/>
            <a:chOff x="360115" y="4787180"/>
            <a:chExt cx="4032448" cy="1600054"/>
          </a:xfrm>
        </p:grpSpPr>
        <p:grpSp>
          <p:nvGrpSpPr>
            <p:cNvPr id="19465" name="Group 11"/>
            <p:cNvGrpSpPr>
              <a:grpSpLocks/>
            </p:cNvGrpSpPr>
            <p:nvPr/>
          </p:nvGrpSpPr>
          <p:grpSpPr bwMode="auto">
            <a:xfrm>
              <a:off x="888554" y="5219675"/>
              <a:ext cx="216024" cy="177033"/>
              <a:chOff x="8780" y="10199"/>
              <a:chExt cx="201" cy="201"/>
            </a:xfrm>
          </p:grpSpPr>
          <p:cxnSp>
            <p:nvCxnSpPr>
              <p:cNvPr id="19467" name="AutoShape 14"/>
              <p:cNvCxnSpPr>
                <a:cxnSpLocks noChangeShapeType="1"/>
              </p:cNvCxnSpPr>
              <p:nvPr/>
            </p:nvCxnSpPr>
            <p:spPr bwMode="auto">
              <a:xfrm>
                <a:off x="8879" y="10219"/>
                <a:ext cx="0" cy="18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68" name="AutoShape 13"/>
              <p:cNvCxnSpPr>
                <a:cxnSpLocks noChangeShapeType="1"/>
              </p:cNvCxnSpPr>
              <p:nvPr/>
            </p:nvCxnSpPr>
            <p:spPr bwMode="auto">
              <a:xfrm>
                <a:off x="8794" y="10307"/>
                <a:ext cx="18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469" name="Rectangle 12"/>
              <p:cNvSpPr>
                <a:spLocks noChangeArrowheads="1"/>
              </p:cNvSpPr>
              <p:nvPr/>
            </p:nvSpPr>
            <p:spPr bwMode="auto">
              <a:xfrm>
                <a:off x="8780" y="10199"/>
                <a:ext cx="201" cy="201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ru-RU" sz="1600"/>
              </a:p>
            </p:txBody>
          </p:sp>
        </p:grpSp>
        <p:sp>
          <p:nvSpPr>
            <p:cNvPr id="19466" name="Rectangle 16"/>
            <p:cNvSpPr>
              <a:spLocks noChangeArrowheads="1"/>
            </p:cNvSpPr>
            <p:nvPr/>
          </p:nvSpPr>
          <p:spPr bwMode="auto">
            <a:xfrm>
              <a:off x="360115" y="4787180"/>
              <a:ext cx="4032448" cy="1600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defTabSz="914400">
                <a:tabLst>
                  <a:tab pos="449263" algn="r"/>
                  <a:tab pos="2636838" algn="ctr"/>
                  <a:tab pos="5273675" algn="r"/>
                </a:tabLst>
              </a:pPr>
              <a:r>
                <a:rPr lang="uz-Cyrl-UZ" altLang="ja-JP" sz="1200">
                  <a:cs typeface="Times New Roman" pitchFamily="18" charset="0"/>
                </a:rPr>
                <a:t>Бу ерда </a:t>
              </a:r>
              <a:r>
                <a:rPr lang="en-US" altLang="ja-JP" sz="1200" i="1">
                  <a:cs typeface="Times New Roman" pitchFamily="18" charset="0"/>
                </a:rPr>
                <a:t>k</a:t>
              </a:r>
              <a:r>
                <a:rPr lang="en-US" altLang="ja-JP" sz="1200" i="1" baseline="-30000">
                  <a:cs typeface="Times New Roman" pitchFamily="18" charset="0"/>
                </a:rPr>
                <a:t>i</a:t>
              </a:r>
              <a:r>
                <a:rPr lang="en-US" altLang="ja-JP" sz="1200" i="1">
                  <a:cs typeface="Times New Roman" pitchFamily="18" charset="0"/>
                </a:rPr>
                <a:t> </a:t>
              </a:r>
              <a:r>
                <a:rPr lang="en-US" altLang="ja-JP" sz="1200">
                  <a:cs typeface="Times New Roman" pitchFamily="18" charset="0"/>
                </a:rPr>
                <a:t>- </a:t>
              </a:r>
              <a:r>
                <a:rPr lang="uz-Cyrl-UZ" altLang="ja-JP" sz="1200" i="1">
                  <a:cs typeface="Times New Roman" pitchFamily="18" charset="0"/>
                </a:rPr>
                <a:t>K[32] </a:t>
              </a:r>
              <a:r>
                <a:rPr lang="uz-Cyrl-UZ" altLang="ja-JP" sz="1200">
                  <a:cs typeface="Times New Roman" pitchFamily="18" charset="0"/>
                </a:rPr>
                <a:t>массив элементларининг тартиб рақами, </a:t>
              </a:r>
              <a:r>
                <a:rPr lang="en-US" altLang="ja-JP" sz="1200" i="1">
                  <a:cs typeface="Times New Roman" pitchFamily="18" charset="0"/>
                </a:rPr>
                <a:t>i=[0…31],</a:t>
              </a:r>
              <a:r>
                <a:rPr lang="en-US" altLang="ja-JP" sz="1200">
                  <a:cs typeface="Times New Roman" pitchFamily="18" charset="0"/>
                </a:rPr>
                <a:t> </a:t>
              </a:r>
              <a:r>
                <a:rPr lang="en-US" altLang="ja-JP" sz="1200" i="1">
                  <a:cs typeface="Times New Roman" pitchFamily="18" charset="0"/>
                </a:rPr>
                <a:t>k’</a:t>
              </a:r>
              <a:r>
                <a:rPr lang="en-US" altLang="ja-JP" sz="1200" i="1" baseline="-30000">
                  <a:cs typeface="Times New Roman" pitchFamily="18" charset="0"/>
                </a:rPr>
                <a:t>i</a:t>
              </a:r>
              <a:r>
                <a:rPr lang="en-US" altLang="ja-JP" sz="1200">
                  <a:cs typeface="Times New Roman" pitchFamily="18" charset="0"/>
                </a:rPr>
                <a:t>-</a:t>
              </a:r>
              <a:r>
                <a:rPr lang="uz-Cyrl-UZ" altLang="ja-JP" sz="1200">
                  <a:cs typeface="Times New Roman" pitchFamily="18" charset="0"/>
                </a:rPr>
                <a:t> хосил бўлган янги байт калит,        </a:t>
              </a:r>
            </a:p>
            <a:p>
              <a:pPr algn="just" defTabSz="914400">
                <a:tabLst>
                  <a:tab pos="449263" algn="r"/>
                  <a:tab pos="2636838" algn="ctr"/>
                  <a:tab pos="5273675" algn="r"/>
                </a:tabLst>
              </a:pPr>
              <a:r>
                <a:rPr lang="uz-Cyrl-UZ" altLang="ja-JP" sz="1200">
                  <a:cs typeface="Times New Roman" pitchFamily="18" charset="0"/>
                </a:rPr>
                <a:t>                - </a:t>
              </a:r>
              <a:r>
                <a:rPr lang="en-US" altLang="ja-JP" sz="1200">
                  <a:cs typeface="Times New Roman" pitchFamily="18" charset="0"/>
                </a:rPr>
                <a:t>mod</a:t>
              </a:r>
              <a:r>
                <a:rPr lang="en-US" altLang="ja-JP" sz="1200" b="1">
                  <a:cs typeface="Times New Roman" pitchFamily="18" charset="0"/>
                </a:rPr>
                <a:t> </a:t>
              </a:r>
              <a:r>
                <a:rPr lang="uz-Cyrl-UZ" altLang="ja-JP" sz="1200" i="1">
                  <a:cs typeface="Times New Roman" pitchFamily="18" charset="0"/>
                </a:rPr>
                <a:t>2</a:t>
              </a:r>
              <a:r>
                <a:rPr lang="uz-Cyrl-UZ" altLang="ja-JP" sz="1200" i="1" baseline="30000">
                  <a:cs typeface="Times New Roman" pitchFamily="18" charset="0"/>
                </a:rPr>
                <a:t>8</a:t>
              </a:r>
              <a:r>
                <a:rPr lang="uz-Cyrl-UZ" altLang="ja-JP" sz="1200">
                  <a:cs typeface="Times New Roman" pitchFamily="18" charset="0"/>
                </a:rPr>
                <a:t> бў</a:t>
              </a:r>
              <a:r>
                <a:rPr lang="ru-RU" altLang="ja-JP" sz="1200">
                  <a:cs typeface="Times New Roman" pitchFamily="18" charset="0"/>
                </a:rPr>
                <a:t>йича</a:t>
              </a:r>
              <a:r>
                <a:rPr lang="en-US" altLang="ja-JP" sz="1200">
                  <a:cs typeface="Times New Roman" pitchFamily="18" charset="0"/>
                </a:rPr>
                <a:t> </a:t>
              </a:r>
              <a:r>
                <a:rPr lang="uz-Cyrl-UZ" altLang="ja-JP" sz="1200">
                  <a:cs typeface="Times New Roman" pitchFamily="18" charset="0"/>
                </a:rPr>
                <a:t>қўшиш амали.</a:t>
              </a:r>
              <a:endParaRPr lang="ru-RU" altLang="ja-JP" sz="800">
                <a:cs typeface="Times New Roman" pitchFamily="18" charset="0"/>
              </a:endParaRPr>
            </a:p>
            <a:p>
              <a:pPr algn="just" defTabSz="914400">
                <a:tabLst>
                  <a:tab pos="449263" algn="r"/>
                  <a:tab pos="2636838" algn="ctr"/>
                  <a:tab pos="5273675" algn="r"/>
                </a:tabLst>
              </a:pPr>
              <a:r>
                <a:rPr lang="en-US" altLang="ja-JP" sz="1400" b="1">
                  <a:solidFill>
                    <a:srgbClr val="FF0000"/>
                  </a:solidFill>
                  <a:cs typeface="Times New Roman" pitchFamily="18" charset="0"/>
                </a:rPr>
                <a:t>5) </a:t>
              </a:r>
              <a:r>
                <a:rPr lang="ru-RU" altLang="ja-JP" sz="1200">
                  <a:cs typeface="Times New Roman" pitchFamily="18" charset="0"/>
                </a:rPr>
                <a:t>Хосил</a:t>
              </a:r>
              <a:r>
                <a:rPr lang="en-US" altLang="ja-JP" sz="1200">
                  <a:cs typeface="Times New Roman" pitchFamily="18" charset="0"/>
                </a:rPr>
                <a:t> </a:t>
              </a:r>
              <a:r>
                <a:rPr lang="ru-RU" altLang="ja-JP" sz="1200">
                  <a:cs typeface="Times New Roman" pitchFamily="18" charset="0"/>
                </a:rPr>
                <a:t>б</a:t>
              </a:r>
              <a:r>
                <a:rPr lang="uz-Cyrl-UZ" altLang="ja-JP" sz="1200">
                  <a:cs typeface="Times New Roman" pitchFamily="18" charset="0"/>
                </a:rPr>
                <a:t>ўлган янги </a:t>
              </a:r>
              <a:r>
                <a:rPr lang="en-US" altLang="ja-JP" sz="1200" i="1">
                  <a:cs typeface="Times New Roman" pitchFamily="18" charset="0"/>
                </a:rPr>
                <a:t>i</a:t>
              </a:r>
              <a:r>
                <a:rPr lang="en-US" altLang="ja-JP" sz="1200">
                  <a:cs typeface="Times New Roman" pitchFamily="18" charset="0"/>
                </a:rPr>
                <a:t> </a:t>
              </a:r>
              <a:r>
                <a:rPr lang="uz-Cyrl-UZ" altLang="ja-JP" sz="1200">
                  <a:cs typeface="Times New Roman" pitchFamily="18" charset="0"/>
                </a:rPr>
                <a:t>– раунд калити кейинги раунднинг </a:t>
              </a:r>
              <a:r>
                <a:rPr lang="uz-Cyrl-UZ" altLang="ja-JP" sz="1200" i="1">
                  <a:cs typeface="Times New Roman" pitchFamily="18" charset="0"/>
                </a:rPr>
                <a:t>K[32] </a:t>
              </a:r>
              <a:r>
                <a:rPr lang="uz-Cyrl-UZ" altLang="ja-JP" sz="1200">
                  <a:cs typeface="Times New Roman" pitchFamily="18" charset="0"/>
                </a:rPr>
                <a:t>массиви бўлиб киради ва юқоридаги 2,3 ва 4 қадамлар бажарилади. Шу тартибда қолган раунд (шартли равишда 10 та раунд) калитлари генерация қилинади.</a:t>
              </a:r>
              <a:endParaRPr lang="uz-Cyrl-UZ" altLang="ja-JP" sz="1600">
                <a:cs typeface="Times New Roman" pitchFamily="18" charset="0"/>
              </a:endParaRPr>
            </a:p>
          </p:txBody>
        </p:sp>
      </p:grpSp>
      <p:pic>
        <p:nvPicPr>
          <p:cNvPr id="1946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2" y="319087"/>
            <a:ext cx="5626100" cy="622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ontrols>
      <mc:AlternateContent xmlns:mc="http://schemas.openxmlformats.org/markup-compatibility/2006">
        <mc:Choice xmlns:v="urn:schemas-microsoft-com:vml" Requires="v">
          <p:control spid="39942" r:id="rId2" imgW="5888830" imgH="6298571"/>
        </mc:Choice>
        <mc:Fallback>
          <p:control r:id="rId2" imgW="5888830" imgH="6298571">
            <p:pic>
              <p:nvPicPr>
                <p:cNvPr id="0" name="ShockwaveFlash1"/>
                <p:cNvPicPr preferRelativeResize="0">
                  <a:picLocks noChangeAspect="1" noChangeArrowheads="1" noChangeShapeType="1"/>
                </p:cNvPicPr>
                <p:nvPr>
                  <p:custDataLst>
                    <p:tags r:id="rId3"/>
                  </p:custDataLst>
                </p:nvPr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35500" y="323850"/>
                  <a:ext cx="5889625" cy="6299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6" descr="D:\serie\DiSSERTATSIYA JS\RASMLAR\liniy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60325"/>
            <a:ext cx="1071721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55" y="323655"/>
            <a:ext cx="9457540" cy="6224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503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80" y="233530"/>
            <a:ext cx="8809457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25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MANAGE_ASSETS" val="FALSE"/>
  <p:tag name="MMPROD_IS_H264" val="0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7566</TotalTime>
  <Words>1104</Words>
  <Application>Microsoft Office PowerPoint</Application>
  <PresentationFormat>Произвольный</PresentationFormat>
  <Paragraphs>252</Paragraphs>
  <Slides>10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Тема Office</vt:lpstr>
      <vt:lpstr>Формула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COMP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serie</dc:creator>
  <cp:lastModifiedBy>Microsoft Office</cp:lastModifiedBy>
  <cp:revision>252</cp:revision>
  <dcterms:created xsi:type="dcterms:W3CDTF">2013-05-08T16:08:32Z</dcterms:created>
  <dcterms:modified xsi:type="dcterms:W3CDTF">2019-08-21T09:13:46Z</dcterms:modified>
</cp:coreProperties>
</file>