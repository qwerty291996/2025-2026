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  <a:srgbClr val="0000FF"/>
    <a:srgbClr val="5B3BE5"/>
    <a:srgbClr val="AC0808"/>
    <a:srgbClr val="FFCC99"/>
    <a:srgbClr val="B8549E"/>
    <a:srgbClr val="448AF2"/>
    <a:srgbClr val="0066FF"/>
    <a:srgbClr val="0DAB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860" y="-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DE90C6F-8347-4229-983D-7763B4884A05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635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1BBF1C-E814-4741-9BF5-031FC522918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03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1A9D6E-662A-4E81-9FEE-6A561A1FB29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511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859D1D-DD03-4B0F-AF86-8D6A740B7CD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591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0F4233-D4B4-4EA5-85DD-83682518C5A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821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97AF68-81EC-4FEA-90B3-3EAF2F31321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7744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26F57A-831C-419F-8AEA-DB5AAB2E56D1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114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E69178-A5AB-4B50-ACFD-833DF80A521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671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E868EE9-A811-47F7-8D8A-9A96A16D95F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2665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B27EBC-9111-4BB6-97C4-1B72195F108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6198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8A9E08-BEF3-404C-AE23-CA74C6C4EC3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943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92ABBA0-10CD-4A82-9265-97A0ED6832B0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98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688032" y="1439044"/>
            <a:ext cx="7772400" cy="1485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4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Чизиқли криптотаҳлил </a:t>
            </a:r>
            <a:r>
              <a:rPr lang="uz-Cyrl-UZ" sz="4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усули</a:t>
            </a:r>
          </a:p>
          <a:p>
            <a:pPr algn="ctr">
              <a:defRPr/>
            </a:pPr>
            <a:r>
              <a:rPr lang="uz-Cyrl-UZ" sz="30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(умумий тушунчалар)</a:t>
            </a:r>
            <a:endParaRPr lang="ru-RU" sz="3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6516216" y="5733256"/>
            <a:ext cx="2592288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uz-Cyrl-UZ" sz="2000" i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Саттаров А.Б.</a:t>
            </a:r>
            <a:endParaRPr lang="ru-RU" sz="1600" i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29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/>
        </p:nvSpPr>
        <p:spPr>
          <a:xfrm>
            <a:off x="288032" y="419174"/>
            <a:ext cx="8532440" cy="54476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spAutoFit/>
          </a:bodyPr>
          <a:lstStyle/>
          <a:p>
            <a:pPr indent="357188" algn="just">
              <a:spcBef>
                <a:spcPts val="600"/>
              </a:spcBef>
              <a:spcAft>
                <a:spcPts val="600"/>
              </a:spcAft>
            </a:pPr>
            <a:r>
              <a:rPr lang="uz-Cyrl-UZ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Чизиқли криптотаҳлил усулини ўтказишда криптотаҳлилчининг асосий вазифаси сифатида қуйидагиларни келтириш мумкин:</a:t>
            </a: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r>
              <a:rPr lang="uz-Cyrl-UZ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</a:t>
            </a:r>
            <a:r>
              <a:rPr lang="uz-Cyrl-UZ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Эффектив чизиқли боғланишни аниқлаш;</a:t>
            </a:r>
            <a:r>
              <a:rPr lang="en-US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Яъни, қуйидаги:</a:t>
            </a: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endParaRPr lang="en-US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endParaRPr lang="uz-Cyrl-UZ" sz="30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r>
              <a:rPr lang="uz-Cyrl-UZ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тенгликдан энг самаралисини аниқлаш.</a:t>
            </a: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r>
              <a:rPr lang="uz-Cyrl-UZ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Статистик таҳлил олиб бориш;</a:t>
            </a:r>
            <a:r>
              <a:rPr lang="uz-Cyrl-UZ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400" dirty="0" smtClean="0">
                <a:solidFill>
                  <a:schemeClr val="tx1"/>
                </a:solidFill>
                <a:latin typeface="Times New Roman"/>
                <a:ea typeface="SimSun"/>
              </a:rPr>
              <a:t>Яъни, фақатгина калит битлари билан ифодаланувчи тўғри тенгламалар </a:t>
            </a:r>
            <a:r>
              <a:rPr lang="uz-Cyrl-UZ" sz="2400" dirty="0">
                <a:solidFill>
                  <a:schemeClr val="tx1"/>
                </a:solidFill>
                <a:latin typeface="Times New Roman"/>
                <a:ea typeface="SimSun"/>
              </a:rPr>
              <a:t>системасини қуриш</a:t>
            </a:r>
            <a:r>
              <a:rPr lang="uz-Cyrl-UZ" sz="2400" dirty="0" smtClean="0">
                <a:solidFill>
                  <a:schemeClr val="tx1"/>
                </a:solidFill>
                <a:latin typeface="Times New Roman"/>
                <a:ea typeface="SimSun"/>
              </a:rPr>
              <a:t>).</a:t>
            </a:r>
            <a:endParaRPr lang="ru-RU" sz="2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Bef>
                <a:spcPts val="600"/>
              </a:spcBef>
              <a:spcAft>
                <a:spcPts val="600"/>
              </a:spcAft>
            </a:pPr>
            <a:r>
              <a:rPr lang="uz-Cyrl-UZ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Тенгламалар системасини ечиш</a:t>
            </a:r>
            <a:r>
              <a:rPr lang="en-US" sz="2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uz-Cyrl-UZ" sz="22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Яъни калит битларини аниқлаш.</a:t>
            </a:r>
            <a:endParaRPr lang="ru-RU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788" y="1792443"/>
            <a:ext cx="4854488" cy="15645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/>
          <p:cNvSpPr/>
          <p:nvPr/>
        </p:nvSpPr>
        <p:spPr>
          <a:xfrm>
            <a:off x="251520" y="145232"/>
            <a:ext cx="8568952" cy="540147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indent="357188" algn="just">
              <a:spcAft>
                <a:spcPts val="600"/>
              </a:spcAft>
            </a:pP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Чизиқли криптотаҳлил усулини амалиётда қўллашда юқорида келтирилган ҳар </a:t>
            </a:r>
            <a:r>
              <a:rPr lang="uz-Cyrl-UZ" sz="2200" dirty="0" smtClean="0">
                <a:latin typeface="Times New Roman" pitchFamily="18" charset="0"/>
                <a:cs typeface="Times New Roman" pitchFamily="18" charset="0"/>
              </a:rPr>
              <a:t>бир масалани 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ҳал этиш жараёнида ҳам, ҳисоблашлар учун сарф этиладиган вақт билан боғлиқ мураккабликларга дуч келинади. Жумладан, 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Aft>
                <a:spcPts val="600"/>
              </a:spcAft>
            </a:pPr>
            <a:r>
              <a:rPr lang="uz-Cyrl-UZ" sz="2200" dirty="0" smtClean="0">
                <a:latin typeface="Times New Roman" pitchFamily="18" charset="0"/>
                <a:cs typeface="Times New Roman" pitchFamily="18" charset="0"/>
              </a:rPr>
              <a:t>- эффектив 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чизиқли боғланишни аниқлаш масаласида </a:t>
            </a:r>
            <a:r>
              <a:rPr lang="uz-Cyrl-UZ" sz="2200" dirty="0" smtClean="0">
                <a:latin typeface="Times New Roman" pitchFamily="18" charset="0"/>
                <a:cs typeface="Times New Roman" pitchFamily="18" charset="0"/>
              </a:rPr>
              <a:t>тенгликдаги 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2200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 та кирувчи битларни, 2</a:t>
            </a:r>
            <a:r>
              <a:rPr lang="uz-Cyrl-UZ" sz="2200" baseline="300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 та чиқувчи битлар билан мумкин бўлган барча боғланишлари ичидан энг эффективларини танлаш мураккаблиги (ГОСТ 28147-89 ва DES алгоритмларида n ва m ларнинг максимал қиймати 64 га тенг); 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lvl="0" indent="357188" algn="just">
              <a:spcAft>
                <a:spcPts val="600"/>
              </a:spcAft>
            </a:pPr>
            <a:r>
              <a:rPr lang="uz-Cyrl-UZ" sz="2200" dirty="0" smtClean="0">
                <a:latin typeface="Times New Roman" pitchFamily="18" charset="0"/>
                <a:cs typeface="Times New Roman" pitchFamily="18" charset="0"/>
              </a:rPr>
              <a:t>- статистик 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таҳлил олиб бориш масаласида етарлича кўп миқдордаги очиқ матн ва шифр матн жуфтликлари устида таҳлил олиб бориш мураккаблиги; 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indent="357188" algn="just">
              <a:spcAft>
                <a:spcPts val="600"/>
              </a:spcAft>
            </a:pPr>
            <a:r>
              <a:rPr lang="uz-Cyrl-UZ" sz="2200" dirty="0" smtClean="0">
                <a:latin typeface="Times New Roman" pitchFamily="18" charset="0"/>
                <a:cs typeface="Times New Roman" pitchFamily="18" charset="0"/>
              </a:rPr>
              <a:t>- тенгламалар </a:t>
            </a:r>
            <a:r>
              <a:rPr lang="uz-Cyrl-UZ" sz="2200" dirty="0">
                <a:latin typeface="Times New Roman" pitchFamily="18" charset="0"/>
                <a:cs typeface="Times New Roman" pitchFamily="18" charset="0"/>
              </a:rPr>
              <a:t>системасини қуриш ва калит битларини аниқлаш масаласида ўзаро чизиқли боғлиқсиз тенгламалар  системасини қуриш мураккаблиги.</a:t>
            </a:r>
            <a:endParaRPr lang="ru-RU" sz="2200" dirty="0">
              <a:solidFill>
                <a:schemeClr val="tx1">
                  <a:lumMod val="95000"/>
                  <a:lumOff val="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202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864" y="487213"/>
            <a:ext cx="8229600" cy="4525963"/>
          </a:xfr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pPr marL="0" indent="357188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Охирги санаб ўтилган масалада, шуни таъкидлаш жоизки, аслида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раундли шифрлаш алгоритмини тўлиқ калит битларини аниқлаш учун ўзаро чизиқли боғлиқсиз 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r*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та </a:t>
            </a: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тенглама етарли, бу ерда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600" i="1" baseline="-25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раунд калитининг битлар сони (ГОСТ 28147-89 алгоритмида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=32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DES шифрлаш алгоритмида эса </a:t>
            </a:r>
            <a:r>
              <a:rPr lang="en-US" sz="26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600" i="1" baseline="-25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600" i="1" dirty="0" smtClean="0">
                <a:latin typeface="Times New Roman" pitchFamily="18" charset="0"/>
                <a:cs typeface="Times New Roman" pitchFamily="18" charset="0"/>
              </a:rPr>
              <a:t>=48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Лекин, топилган ҳар бир тенглама ҳам 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бошқалари </a:t>
            </a:r>
            <a:r>
              <a:rPr lang="uz-Cyrl-UZ" sz="2600" dirty="0">
                <a:latin typeface="Times New Roman" pitchFamily="18" charset="0"/>
                <a:cs typeface="Times New Roman" pitchFamily="18" charset="0"/>
              </a:rPr>
              <a:t>билан ўзаро чизиқли боғлиқсиз бўлавермайди. Бу эса бир нечта тенгламалар устида амаллар бажаришни тақазо этади</a:t>
            </a:r>
            <a:r>
              <a:rPr lang="uz-Cyrl-UZ" sz="2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758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Группа 45"/>
          <p:cNvGrpSpPr/>
          <p:nvPr/>
        </p:nvGrpSpPr>
        <p:grpSpPr>
          <a:xfrm>
            <a:off x="179512" y="-27384"/>
            <a:ext cx="3403202" cy="4388712"/>
            <a:chOff x="179512" y="-9800"/>
            <a:chExt cx="3403202" cy="4388712"/>
          </a:xfrm>
        </p:grpSpPr>
        <p:sp>
          <p:nvSpPr>
            <p:cNvPr id="32" name="Прямоугольник 31"/>
            <p:cNvSpPr/>
            <p:nvPr/>
          </p:nvSpPr>
          <p:spPr>
            <a:xfrm>
              <a:off x="179512" y="560383"/>
              <a:ext cx="3403202" cy="3096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z-Cyrl-UZ"/>
            </a:p>
          </p:txBody>
        </p:sp>
        <p:sp>
          <p:nvSpPr>
            <p:cNvPr id="4" name="Прямоугольник 3"/>
            <p:cNvSpPr/>
            <p:nvPr/>
          </p:nvSpPr>
          <p:spPr>
            <a:xfrm>
              <a:off x="484703" y="2301557"/>
              <a:ext cx="2786608" cy="91440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dirty="0" smtClean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uz-Cyrl-UZ" sz="3600" dirty="0" smtClean="0">
                  <a:solidFill>
                    <a:sysClr val="windowText" lastClr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(3х3)-блок</a:t>
              </a:r>
              <a:endParaRPr lang="uz-Cyrl-UZ" sz="36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" name="Прямая соединительная линия 5"/>
            <p:cNvCxnSpPr/>
            <p:nvPr/>
          </p:nvCxnSpPr>
          <p:spPr>
            <a:xfrm>
              <a:off x="603474" y="351912"/>
              <a:ext cx="252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/>
            <p:cNvCxnSpPr/>
            <p:nvPr/>
          </p:nvCxnSpPr>
          <p:spPr>
            <a:xfrm>
              <a:off x="587562" y="4021785"/>
              <a:ext cx="25200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 стрелкой 8"/>
            <p:cNvCxnSpPr/>
            <p:nvPr/>
          </p:nvCxnSpPr>
          <p:spPr>
            <a:xfrm>
              <a:off x="1864170" y="351912"/>
              <a:ext cx="0" cy="648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Блок-схема: узел суммирования 9"/>
            <p:cNvSpPr/>
            <p:nvPr/>
          </p:nvSpPr>
          <p:spPr>
            <a:xfrm rot="2650071">
              <a:off x="1655111" y="1010294"/>
              <a:ext cx="432000" cy="432000"/>
            </a:xfrm>
            <a:prstGeom prst="flowChartSummingJunction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uz-Cyrl-UZ"/>
            </a:p>
          </p:txBody>
        </p:sp>
        <p:cxnSp>
          <p:nvCxnSpPr>
            <p:cNvPr id="16" name="Прямая со стрелкой 15"/>
            <p:cNvCxnSpPr/>
            <p:nvPr/>
          </p:nvCxnSpPr>
          <p:spPr>
            <a:xfrm>
              <a:off x="1034450" y="1205544"/>
              <a:ext cx="57600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 стрелкой 16"/>
            <p:cNvCxnSpPr/>
            <p:nvPr/>
          </p:nvCxnSpPr>
          <p:spPr>
            <a:xfrm>
              <a:off x="1878007" y="1467288"/>
              <a:ext cx="0" cy="792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 стрелкой 17"/>
            <p:cNvCxnSpPr/>
            <p:nvPr/>
          </p:nvCxnSpPr>
          <p:spPr>
            <a:xfrm>
              <a:off x="1864170" y="3233541"/>
              <a:ext cx="0" cy="72000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>
            <a:xfrm>
              <a:off x="696584" y="-9800"/>
              <a:ext cx="23337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>
                  <a:solidFill>
                    <a:srgbClr val="C00000"/>
                  </a:solidFill>
                </a:rPr>
                <a:t>M</a:t>
              </a:r>
              <a:r>
                <a:rPr lang="en-US" dirty="0" smtClean="0"/>
                <a:t> (</a:t>
              </a:r>
              <a:r>
                <a:rPr lang="uz-Cyrl-UZ" dirty="0" smtClean="0"/>
                <a:t>очиқ матн, 3 бит</a:t>
              </a:r>
              <a:r>
                <a:rPr lang="en-US" dirty="0" smtClean="0"/>
                <a:t>)</a:t>
              </a:r>
              <a:endParaRPr lang="uz-Cyrl-UZ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27920" y="4009580"/>
              <a:ext cx="2467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uz-Cyrl-UZ" b="1" dirty="0" smtClean="0">
                  <a:solidFill>
                    <a:srgbClr val="C00000"/>
                  </a:solidFill>
                </a:rPr>
                <a:t>С</a:t>
              </a:r>
              <a:r>
                <a:rPr lang="en-US" dirty="0" smtClean="0"/>
                <a:t> (</a:t>
              </a:r>
              <a:r>
                <a:rPr lang="uz-Cyrl-UZ" dirty="0" smtClean="0"/>
                <a:t>шифр матн, 3 бит</a:t>
              </a:r>
              <a:r>
                <a:rPr lang="en-US" dirty="0" smtClean="0"/>
                <a:t>)</a:t>
              </a:r>
              <a:endParaRPr lang="uz-Cyrl-UZ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16070" y="1022992"/>
              <a:ext cx="160204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uz-Cyrl-UZ" b="1" dirty="0" smtClean="0">
                  <a:solidFill>
                    <a:srgbClr val="C00000"/>
                  </a:solidFill>
                </a:rPr>
                <a:t>        </a:t>
              </a:r>
              <a:r>
                <a:rPr lang="en-US" b="1" dirty="0" smtClean="0">
                  <a:solidFill>
                    <a:srgbClr val="C00000"/>
                  </a:solidFill>
                </a:rPr>
                <a:t>K</a:t>
              </a:r>
              <a:endParaRPr lang="uz-Cyrl-UZ" b="1" dirty="0" smtClean="0">
                <a:solidFill>
                  <a:srgbClr val="C00000"/>
                </a:solidFill>
              </a:endParaRPr>
            </a:p>
            <a:p>
              <a:r>
                <a:rPr lang="en-US" dirty="0" smtClean="0"/>
                <a:t>(</a:t>
              </a:r>
              <a:r>
                <a:rPr lang="uz-Cyrl-UZ" dirty="0" smtClean="0"/>
                <a:t>калит, 3 бит</a:t>
              </a:r>
              <a:r>
                <a:rPr lang="en-US" dirty="0" smtClean="0"/>
                <a:t>)</a:t>
              </a:r>
              <a:endParaRPr lang="uz-Cyrl-UZ" dirty="0"/>
            </a:p>
          </p:txBody>
        </p:sp>
        <p:grpSp>
          <p:nvGrpSpPr>
            <p:cNvPr id="28" name="Группа 27"/>
            <p:cNvGrpSpPr/>
            <p:nvPr/>
          </p:nvGrpSpPr>
          <p:grpSpPr>
            <a:xfrm>
              <a:off x="1864170" y="1674020"/>
              <a:ext cx="440840" cy="369332"/>
              <a:chOff x="1835696" y="1693654"/>
              <a:chExt cx="440840" cy="369332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1937982" y="1693654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uz-Cyrl-UZ" dirty="0" smtClean="0">
                    <a:solidFill>
                      <a:srgbClr val="7030A0"/>
                    </a:solidFill>
                  </a:rPr>
                  <a:t>Х</a:t>
                </a:r>
                <a:endParaRPr lang="uz-Cyrl-UZ" dirty="0">
                  <a:solidFill>
                    <a:srgbClr val="7030A0"/>
                  </a:solidFill>
                </a:endParaRPr>
              </a:p>
            </p:txBody>
          </p:sp>
          <p:cxnSp>
            <p:nvCxnSpPr>
              <p:cNvPr id="25" name="Прямая соединительная линия 24"/>
              <p:cNvCxnSpPr/>
              <p:nvPr/>
            </p:nvCxnSpPr>
            <p:spPr>
              <a:xfrm>
                <a:off x="1835696" y="1878320"/>
                <a:ext cx="18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9" name="Группа 28"/>
            <p:cNvGrpSpPr/>
            <p:nvPr/>
          </p:nvGrpSpPr>
          <p:grpSpPr>
            <a:xfrm>
              <a:off x="1871111" y="3281621"/>
              <a:ext cx="440840" cy="369332"/>
              <a:chOff x="1835696" y="1693654"/>
              <a:chExt cx="440840" cy="369332"/>
            </a:xfrm>
          </p:grpSpPr>
          <p:sp>
            <p:nvSpPr>
              <p:cNvPr id="30" name="TextBox 29"/>
              <p:cNvSpPr txBox="1"/>
              <p:nvPr/>
            </p:nvSpPr>
            <p:spPr>
              <a:xfrm>
                <a:off x="1937982" y="1693654"/>
                <a:ext cx="3385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rgbClr val="7030A0"/>
                    </a:solidFill>
                  </a:rPr>
                  <a:t>Y</a:t>
                </a:r>
                <a:endParaRPr lang="uz-Cyrl-UZ" dirty="0">
                  <a:solidFill>
                    <a:srgbClr val="7030A0"/>
                  </a:solidFill>
                </a:endParaRPr>
              </a:p>
            </p:txBody>
          </p:sp>
          <p:cxnSp>
            <p:nvCxnSpPr>
              <p:cNvPr id="31" name="Прямая соединительная линия 30"/>
              <p:cNvCxnSpPr/>
              <p:nvPr/>
            </p:nvCxnSpPr>
            <p:spPr>
              <a:xfrm>
                <a:off x="1835696" y="1878320"/>
                <a:ext cx="180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7" name="TextBox 36"/>
          <p:cNvSpPr txBox="1"/>
          <p:nvPr/>
        </p:nvSpPr>
        <p:spPr>
          <a:xfrm>
            <a:off x="448718" y="5818038"/>
            <a:ext cx="32591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=m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||m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||m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	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=x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||x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||x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uz-Cyrl-UZ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||k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||k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Y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=y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||y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||y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i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=c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||c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||c</a:t>
            </a:r>
            <a:r>
              <a:rPr 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i="1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995936" y="44624"/>
            <a:ext cx="5004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uz-Cyrl-UZ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S(3x3)-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блокка корреляцион мартица тузиш:</a:t>
            </a:r>
          </a:p>
          <a:p>
            <a:pPr>
              <a:spcAft>
                <a:spcPts val="1200"/>
              </a:spcAft>
            </a:pPr>
            <a:endParaRPr lang="uz-Cyrl-UZ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9" name="Таблица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6402562"/>
              </p:ext>
            </p:extLst>
          </p:nvPr>
        </p:nvGraphicFramePr>
        <p:xfrm>
          <a:off x="188305" y="4524390"/>
          <a:ext cx="3807629" cy="1097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0949"/>
                <a:gridCol w="352085"/>
                <a:gridCol w="352085"/>
                <a:gridCol w="352085"/>
                <a:gridCol w="352085"/>
                <a:gridCol w="352085"/>
                <a:gridCol w="352085"/>
                <a:gridCol w="352085"/>
                <a:gridCol w="352085"/>
              </a:tblGrid>
              <a:tr h="288032">
                <a:tc gridSpan="9"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S(3</a:t>
                      </a:r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х3)-блок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Кириш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uz-Cyrl-UZ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Чиқиш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5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u-RU" sz="18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2" name="Таблица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740292"/>
              </p:ext>
            </p:extLst>
          </p:nvPr>
        </p:nvGraphicFramePr>
        <p:xfrm>
          <a:off x="5020943" y="495989"/>
          <a:ext cx="3223465" cy="2926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4380"/>
                <a:gridCol w="354330"/>
                <a:gridCol w="354330"/>
                <a:gridCol w="352085"/>
                <a:gridCol w="352085"/>
                <a:gridCol w="352085"/>
                <a:gridCol w="352085"/>
                <a:gridCol w="352085"/>
              </a:tblGrid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i="1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b="1" i="1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  <a:r>
                        <a:rPr lang="en-US" sz="2400" b="1" i="1" baseline="30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uz-Cyrl-UZ" b="1" i="1" baseline="30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uz-Cyrl-UZ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8</a:t>
                      </a:r>
                      <a:endParaRPr lang="uz-Cyrl-UZ" sz="18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561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uz-Cyrl-UZ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4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</a:t>
                      </a:r>
                      <a:endParaRPr lang="uz-Cyrl-UZ" sz="18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" name="Прямоугольник 43"/>
          <p:cNvSpPr/>
          <p:nvPr/>
        </p:nvSpPr>
        <p:spPr>
          <a:xfrm>
            <a:off x="4139952" y="3460465"/>
            <a:ext cx="4932000" cy="1031051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S(3x3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)-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блокка нисбатан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оптимал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аппроксимация тенгламасини қуриш:</a:t>
            </a:r>
          </a:p>
          <a:p>
            <a:pPr algn="ctr">
              <a:spcAft>
                <a:spcPts val="1200"/>
              </a:spcAft>
            </a:pPr>
            <a:r>
              <a:rPr lang="uz-Cyrl-U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j</a:t>
            </a:r>
            <a:r>
              <a:rPr lang="uz-Cyrl-UZ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(5, 2) = (101, 010)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x</a:t>
            </a:r>
            <a:r>
              <a:rPr lang="en-US" sz="20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  x</a:t>
            </a:r>
            <a:r>
              <a:rPr lang="en-US" sz="20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r>
              <a:rPr 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= y</a:t>
            </a:r>
            <a:r>
              <a:rPr lang="en-US" sz="20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endParaRPr lang="uz-Cyrl-UZ" sz="2000" b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Блок-схема: узел суммирования 44"/>
          <p:cNvSpPr/>
          <p:nvPr/>
        </p:nvSpPr>
        <p:spPr>
          <a:xfrm rot="2608532">
            <a:off x="7740338" y="4223221"/>
            <a:ext cx="180000" cy="180000"/>
          </a:xfrm>
          <a:prstGeom prst="flowChartSummingJuncti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47" name="Прямоугольник 46"/>
          <p:cNvSpPr/>
          <p:nvPr/>
        </p:nvSpPr>
        <p:spPr>
          <a:xfrm>
            <a:off x="4212000" y="4774213"/>
            <a:ext cx="4932000" cy="155427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600"/>
              </a:spcAft>
            </a:pPr>
            <a:r>
              <a:rPr lang="ru-RU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uz-Cyrl-UZ" b="1" dirty="0" smtClean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Алгоритмга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нисбатан </a:t>
            </a:r>
            <a:r>
              <a:rPr lang="ru-RU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умумий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аппроксимация тенгламасини қуриш:</a:t>
            </a:r>
          </a:p>
          <a:p>
            <a:pPr algn="ctr">
              <a:spcAft>
                <a:spcPts val="1200"/>
              </a:spcAft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   x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=k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    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y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=c</a:t>
            </a:r>
            <a:r>
              <a:rPr lang="en-US" sz="2000" b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</a:p>
          <a:p>
            <a:pPr algn="ctr">
              <a:spcAft>
                <a:spcPts val="1200"/>
              </a:spcAft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</a:t>
            </a:r>
            <a:r>
              <a:rPr lang="en-US" sz="24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  m</a:t>
            </a:r>
            <a:r>
              <a:rPr lang="en-US" sz="24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    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r>
              <a:rPr lang="en-US" sz="24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=k</a:t>
            </a:r>
            <a:r>
              <a:rPr lang="en-US" sz="24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     </a:t>
            </a:r>
            <a:r>
              <a:rPr lang="en-US" sz="24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k</a:t>
            </a:r>
            <a:r>
              <a:rPr lang="en-US" sz="2400" b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3</a:t>
            </a:r>
            <a:endParaRPr lang="uz-Cyrl-UZ" sz="2400" b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Блок-схема: узел суммирования 48"/>
          <p:cNvSpPr/>
          <p:nvPr/>
        </p:nvSpPr>
        <p:spPr>
          <a:xfrm rot="2608532">
            <a:off x="5421513" y="5525546"/>
            <a:ext cx="180000" cy="180000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50" name="Блок-схема: узел суммирования 49"/>
          <p:cNvSpPr/>
          <p:nvPr/>
        </p:nvSpPr>
        <p:spPr>
          <a:xfrm rot="2608532">
            <a:off x="6875390" y="5530866"/>
            <a:ext cx="180000" cy="180000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51" name="Блок-схема: узел суммирования 50"/>
          <p:cNvSpPr/>
          <p:nvPr/>
        </p:nvSpPr>
        <p:spPr>
          <a:xfrm rot="2608532">
            <a:off x="5886328" y="6043419"/>
            <a:ext cx="180000" cy="180000"/>
          </a:xfrm>
          <a:prstGeom prst="flowChartSummingJuncti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52" name="Блок-схема: узел суммирования 51"/>
          <p:cNvSpPr/>
          <p:nvPr/>
        </p:nvSpPr>
        <p:spPr>
          <a:xfrm rot="2608532">
            <a:off x="6534401" y="6039473"/>
            <a:ext cx="180000" cy="180000"/>
          </a:xfrm>
          <a:prstGeom prst="flowChartSummingJuncti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  <p:sp>
        <p:nvSpPr>
          <p:cNvPr id="53" name="Блок-схема: узел суммирования 52"/>
          <p:cNvSpPr/>
          <p:nvPr/>
        </p:nvSpPr>
        <p:spPr>
          <a:xfrm rot="2608532">
            <a:off x="7461820" y="6039472"/>
            <a:ext cx="180000" cy="180000"/>
          </a:xfrm>
          <a:prstGeom prst="flowChartSummingJunction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z-Cyrl-UZ"/>
          </a:p>
        </p:txBody>
      </p:sp>
    </p:spTree>
    <p:extLst>
      <p:ext uri="{BB962C8B-B14F-4D97-AF65-F5344CB8AC3E}">
        <p14:creationId xmlns:p14="http://schemas.microsoft.com/office/powerpoint/2010/main" val="424591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4258</TotalTime>
  <Words>435</Words>
  <Application>Microsoft Office PowerPoint</Application>
  <PresentationFormat>Экран (4:3)</PresentationFormat>
  <Paragraphs>115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asb2602</cp:lastModifiedBy>
  <cp:revision>182</cp:revision>
  <cp:lastPrinted>1601-01-01T00:00:00Z</cp:lastPrinted>
  <dcterms:created xsi:type="dcterms:W3CDTF">2011-09-06T09:23:06Z</dcterms:created>
  <dcterms:modified xsi:type="dcterms:W3CDTF">2017-04-20T03:58:49Z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