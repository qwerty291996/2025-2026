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2"/>
  </p:notesMasterIdLst>
  <p:handoutMasterIdLst>
    <p:handoutMasterId r:id="rId13"/>
  </p:handoutMasterIdLst>
  <p:sldIdLst>
    <p:sldId id="256" r:id="rId2"/>
    <p:sldId id="314" r:id="rId3"/>
    <p:sldId id="317" r:id="rId4"/>
    <p:sldId id="319" r:id="rId5"/>
    <p:sldId id="320" r:id="rId6"/>
    <p:sldId id="321" r:id="rId7"/>
    <p:sldId id="322" r:id="rId8"/>
    <p:sldId id="323" r:id="rId9"/>
    <p:sldId id="324" r:id="rId10"/>
    <p:sldId id="266" r:id="rId11"/>
  </p:sldIdLst>
  <p:sldSz cx="9144000" cy="6858000" type="screen4x3"/>
  <p:notesSz cx="6742113" cy="9872663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800000"/>
    <a:srgbClr val="99CCFF"/>
    <a:srgbClr val="EAEAEA"/>
    <a:srgbClr val="6666FF"/>
    <a:srgbClr val="CCCCFF"/>
    <a:srgbClr val="CCFF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7292A2E-F333-43FB-9621-5CBBE7FDCDCB}" styleName="Светлый стиль 2 -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4C1A8A3-306A-4EB7-A6B1-4F7E0EB9C5D6}" styleName="Средний стиль 3 -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7371" autoAdjust="0"/>
  </p:normalViewPr>
  <p:slideViewPr>
    <p:cSldViewPr>
      <p:cViewPr varScale="1">
        <p:scale>
          <a:sx n="110" d="100"/>
          <a:sy n="110" d="100"/>
        </p:scale>
        <p:origin x="-174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C8004B8-BFCC-4873-B9BF-D00CD62BEE78}" type="datetimeFigureOut">
              <a:rPr lang="ru-RU"/>
              <a:pPr>
                <a:defRPr/>
              </a:pPr>
              <a:t>22.08.2019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3B7CD0D-DF19-4BAB-8434-31F68B091A1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5205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5A2C722-7DF1-41E8-AA56-BF7EFF0ED5DE}" type="datetimeFigureOut">
              <a:rPr lang="ru-RU"/>
              <a:pPr>
                <a:defRPr/>
              </a:pPr>
              <a:t>22.08.2019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8713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688" y="4689475"/>
            <a:ext cx="5392737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7D02410-A587-4883-B428-3F7A2578654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5360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9BEAD786-C671-4C42-98CB-4C06D5271992}" type="slidenum">
              <a:rPr lang="ru-RU" smtClean="0"/>
              <a:pPr eaLnBrk="1" hangingPunct="1"/>
              <a:t>1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ru-RU" sz="2400">
              <a:latin typeface="Times New Roman" pitchFamily="18" charset="0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8882A8-F77B-4515-A411-0AE6BD9BD7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56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DF462-DCE9-4C30-B1AA-C4FBC68E1A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19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6EF62-8F41-4046-B048-898BCEEB3D3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2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1CEAD-39EE-4F3B-BBE7-C8B0D1092D3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68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212FA-5FE0-42A4-A0B9-24E13D9CC0D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51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77409E-7DE8-4FEF-9859-EEA6FBC5646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40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2B1CB-C71A-42FC-8187-0F138F6A79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49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5C171-C35C-44A6-814B-AAAF0E01222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84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8660FF-4E39-4FC1-B8E4-40F084AC087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48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5D562-5564-4165-925D-EAF008AA7D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430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89656-F5B6-4FCF-95BE-DA92734AD9A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423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AEAE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53252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ru-RU" sz="2400">
              <a:latin typeface="Times New Roman" pitchFamily="18" charset="0"/>
            </a:endParaRPr>
          </a:p>
        </p:txBody>
      </p:sp>
      <p:sp>
        <p:nvSpPr>
          <p:cNvPr id="53253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F0BFD4B-D1CE-45E9-B5F0-E0429312984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acr.org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F:\САЙТ\ёрдам\Cryptography_barnst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193336"/>
            <a:ext cx="1037943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lowchart: Process 9"/>
          <p:cNvSpPr/>
          <p:nvPr/>
        </p:nvSpPr>
        <p:spPr>
          <a:xfrm>
            <a:off x="107504" y="116632"/>
            <a:ext cx="8928000" cy="637200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716545" y="332656"/>
            <a:ext cx="7736350" cy="4154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ru-RU" sz="2100" b="1" dirty="0" err="1" smtClean="0">
                <a:solidFill>
                  <a:srgbClr val="800000"/>
                </a:solidFill>
                <a:latin typeface="Times New Roman" pitchFamily="18" charset="0"/>
              </a:rPr>
              <a:t>Радиоэлектрон</a:t>
            </a:r>
            <a:r>
              <a:rPr lang="ru-RU" sz="2100" b="1" dirty="0" smtClean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100" b="1" dirty="0" err="1" smtClean="0">
                <a:solidFill>
                  <a:srgbClr val="800000"/>
                </a:solidFill>
                <a:latin typeface="Times New Roman" pitchFamily="18" charset="0"/>
              </a:rPr>
              <a:t>тизимлар</a:t>
            </a:r>
            <a:r>
              <a:rPr lang="ru-RU" sz="2100" b="1" dirty="0" smtClean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100" b="1" dirty="0" err="1" smtClean="0">
                <a:solidFill>
                  <a:srgbClr val="800000"/>
                </a:solidFill>
                <a:latin typeface="Times New Roman" pitchFamily="18" charset="0"/>
              </a:rPr>
              <a:t>ва</a:t>
            </a:r>
            <a:r>
              <a:rPr lang="ru-RU" sz="2100" b="1" dirty="0" smtClean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100" b="1" dirty="0" err="1" smtClean="0">
                <a:solidFill>
                  <a:srgbClr val="800000"/>
                </a:solidFill>
                <a:latin typeface="Times New Roman" pitchFamily="18" charset="0"/>
              </a:rPr>
              <a:t>ахборот</a:t>
            </a:r>
            <a:r>
              <a:rPr lang="ru-RU" sz="2100" b="1" dirty="0" smtClean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100" b="1" dirty="0" err="1" smtClean="0">
                <a:solidFill>
                  <a:srgbClr val="800000"/>
                </a:solidFill>
                <a:latin typeface="Times New Roman" pitchFamily="18" charset="0"/>
              </a:rPr>
              <a:t>технологиялари</a:t>
            </a:r>
            <a:r>
              <a:rPr lang="ru-RU" sz="2100" b="1" dirty="0" smtClean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100" b="1" dirty="0" err="1" smtClean="0">
                <a:solidFill>
                  <a:srgbClr val="800000"/>
                </a:solidFill>
                <a:latin typeface="Times New Roman" pitchFamily="18" charset="0"/>
              </a:rPr>
              <a:t>маркази</a:t>
            </a:r>
            <a:endParaRPr lang="ru-RU" sz="2100" b="1" dirty="0">
              <a:solidFill>
                <a:srgbClr val="800000"/>
              </a:solidFill>
              <a:latin typeface="Times New Roman" pitchFamily="18" charset="0"/>
            </a:endParaRP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3487738" y="6093296"/>
            <a:ext cx="1944687" cy="40011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000" b="1" dirty="0" smtClean="0">
                <a:latin typeface="Times New Roman" pitchFamily="18" charset="0"/>
              </a:rPr>
              <a:t>Тошкент </a:t>
            </a:r>
            <a:r>
              <a:rPr lang="uz-Cyrl-UZ" sz="2000" b="1" dirty="0">
                <a:latin typeface="Times New Roman" pitchFamily="18" charset="0"/>
              </a:rPr>
              <a:t>- </a:t>
            </a:r>
            <a:r>
              <a:rPr lang="uz-Cyrl-UZ" sz="2000" b="1" dirty="0" smtClean="0">
                <a:latin typeface="Times New Roman" pitchFamily="18" charset="0"/>
              </a:rPr>
              <a:t>201</a:t>
            </a:r>
            <a:r>
              <a:rPr lang="en-US" sz="2000" b="1" dirty="0" smtClean="0">
                <a:latin typeface="Times New Roman" pitchFamily="18" charset="0"/>
              </a:rPr>
              <a:t>9</a:t>
            </a:r>
            <a:endParaRPr lang="ru-RU" sz="2000" b="1" dirty="0">
              <a:latin typeface="Times New Roman" pitchFamily="18" charset="0"/>
            </a:endParaRP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1404336" y="2321585"/>
            <a:ext cx="6624000" cy="1077218"/>
          </a:xfrm>
          <a:prstGeom prst="rect">
            <a:avLst/>
          </a:prstGeom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ru-RU" sz="3200" b="1" dirty="0" err="1" smtClean="0">
                <a:latin typeface="Times New Roman" pitchFamily="18" charset="0"/>
                <a:cs typeface="Times New Roman" pitchFamily="18" charset="0"/>
              </a:rPr>
              <a:t>Криптотаҳлилга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3200" b="1" dirty="0" smtClean="0">
                <a:latin typeface="Times New Roman" pitchFamily="18" charset="0"/>
                <a:cs typeface="Times New Roman" pitchFamily="18" charset="0"/>
              </a:rPr>
              <a:t>фанига </a:t>
            </a:r>
            <a:r>
              <a:rPr lang="ru-RU" sz="3200" b="1" dirty="0" err="1" smtClean="0">
                <a:latin typeface="Times New Roman" pitchFamily="18" charset="0"/>
                <a:cs typeface="Times New Roman" pitchFamily="18" charset="0"/>
              </a:rPr>
              <a:t>кириш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3200" b="1" dirty="0" err="1" smtClean="0">
                <a:latin typeface="Times New Roman" pitchFamily="18" charset="0"/>
                <a:cs typeface="Times New Roman" pitchFamily="18" charset="0"/>
              </a:rPr>
              <a:t>асосий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b="1" dirty="0" err="1" smtClean="0">
                <a:latin typeface="Times New Roman" pitchFamily="18" charset="0"/>
                <a:cs typeface="Times New Roman" pitchFamily="18" charset="0"/>
              </a:rPr>
              <a:t>тушунчалар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3300733" y="980728"/>
            <a:ext cx="2456826" cy="40011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C0C0C0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uz-Cyrl-UZ" sz="2000" b="1" dirty="0" smtClean="0">
                <a:latin typeface="Times New Roman" pitchFamily="18" charset="0"/>
              </a:rPr>
              <a:t>1 – Ўқув кафедраси</a:t>
            </a:r>
            <a:endParaRPr lang="ru-RU" sz="2000" b="1" dirty="0">
              <a:latin typeface="Times New Roman" pitchFamily="18" charset="0"/>
            </a:endParaRPr>
          </a:p>
        </p:txBody>
      </p:sp>
      <p:sp>
        <p:nvSpPr>
          <p:cNvPr id="9" name="Text Box 58"/>
          <p:cNvSpPr txBox="1">
            <a:spLocks noChangeArrowheads="1"/>
          </p:cNvSpPr>
          <p:nvPr/>
        </p:nvSpPr>
        <p:spPr bwMode="auto">
          <a:xfrm>
            <a:off x="-8545" y="6602068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 	</a:t>
            </a:r>
            <a:r>
              <a:rPr lang="en-US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						</a:t>
            </a:r>
            <a:r>
              <a:rPr lang="ru-RU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	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1 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9" name="Rectangle 3"/>
          <p:cNvSpPr>
            <a:spLocks noChangeArrowheads="1"/>
          </p:cNvSpPr>
          <p:nvPr/>
        </p:nvSpPr>
        <p:spPr bwMode="auto">
          <a:xfrm>
            <a:off x="251520" y="285901"/>
            <a:ext cx="8712000" cy="621708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342900" indent="-342900" algn="ctr"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ru-RU" sz="2800" b="1" u="sng" dirty="0" err="1" smtClean="0">
                <a:latin typeface="Times New Roman" pitchFamily="18" charset="0"/>
                <a:cs typeface="Times New Roman" pitchFamily="18" charset="0"/>
              </a:rPr>
              <a:t>Адабиётлар</a:t>
            </a:r>
            <a:endParaRPr lang="ru-RU" sz="2800" b="1" i="1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O’z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DSt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1109:2013. </a:t>
            </a:r>
            <a:r>
              <a:rPr lang="uz-Cyrl-UZ" sz="2000" dirty="0" smtClean="0">
                <a:latin typeface="Times New Roman" pitchFamily="18" charset="0"/>
                <a:cs typeface="Times New Roman" pitchFamily="18" charset="0"/>
              </a:rPr>
              <a:t>Государственный Стандарт Узбекистана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Информационная технология. Криптографическая защита информации.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Термины и определения. </a:t>
            </a:r>
          </a:p>
          <a:p>
            <a:pPr marL="457200" indent="-457200" algn="just"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Курьязов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Д.М.,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Саттаров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А.Б., Ахмедов Б.Б.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Блокли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симметрик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алгоритмлари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бардошлилигини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замонавий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криптотаҳлил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усуллари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билан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баҳолаш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Ўқув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қўлланма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Т.: «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Aloqachi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2017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224 бет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Бабенко Л.К.,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Ищукова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Е.А.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Современные алгоритмы блочного шифрования и методы их анализа. - М., «Гелиос АРВ», 2006. – 376с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Ростовцев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Г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Маховенко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Б.E.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Введение в теорию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итерированных шифров. «Мир 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Семья», 2003.</a:t>
            </a:r>
          </a:p>
          <a:p>
            <a:pPr marL="457200" indent="-457200" algn="just"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Жуков А.Е.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Анализ стойкости систем поточного шифрования. Пособие по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курсу «Криптографические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методы защиты информации»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Sareh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S.E.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Security Analysis of Cryptographic Algorithms. A thesis submitted for the degree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Doctor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Philosophy. December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2013.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www.IACR.org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" name="Text Box 58"/>
          <p:cNvSpPr txBox="1">
            <a:spLocks noChangeArrowheads="1"/>
          </p:cNvSpPr>
          <p:nvPr/>
        </p:nvSpPr>
        <p:spPr bwMode="auto">
          <a:xfrm>
            <a:off x="-8545" y="6602068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 	</a:t>
            </a:r>
            <a:r>
              <a:rPr lang="en-US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						</a:t>
            </a:r>
            <a:r>
              <a:rPr lang="ru-RU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	2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71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9" name="Rectangle 3"/>
          <p:cNvSpPr>
            <a:spLocks noChangeArrowheads="1"/>
          </p:cNvSpPr>
          <p:nvPr/>
        </p:nvSpPr>
        <p:spPr bwMode="auto">
          <a:xfrm>
            <a:off x="251520" y="285901"/>
            <a:ext cx="8712000" cy="513986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342900" indent="-342900" algn="ctr"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ru-RU" sz="3600" b="1" u="sng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Асосий</a:t>
            </a:r>
            <a:r>
              <a:rPr lang="ru-RU" sz="36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u="sng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тушунча</a:t>
            </a:r>
            <a:r>
              <a:rPr lang="ru-RU" sz="36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u="sng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36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u="sng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терминлар</a:t>
            </a:r>
            <a:endParaRPr lang="ru-RU" sz="3600" b="1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uz-Cyrl-UZ" sz="1200" b="1" dirty="0" smtClean="0">
              <a:solidFill>
                <a:srgbClr val="000099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uz-Cyrl-UZ" sz="3200" b="1" dirty="0" smtClean="0">
                <a:solidFill>
                  <a:srgbClr val="0000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Криптотаҳлил</a:t>
            </a:r>
            <a:r>
              <a:rPr lang="uz-Cyrl-UZ" sz="3200" b="1" dirty="0">
                <a:solidFill>
                  <a:srgbClr val="0000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627063" indent="-271463" algn="just">
              <a:spcAft>
                <a:spcPts val="600"/>
              </a:spcAft>
              <a:buClr>
                <a:srgbClr val="C00000"/>
              </a:buClr>
              <a:buSzPct val="110000"/>
              <a:buAutoNum type="arabicPeriod"/>
            </a:pPr>
            <a:r>
              <a:rPr lang="uz-Cyrl-UZ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Шифр ёки ҳар қандай бошқа шаклдаги криптография объектини очиш санъати ва фани.</a:t>
            </a:r>
          </a:p>
          <a:p>
            <a:pPr marL="627063" indent="-271463" algn="just">
              <a:spcAft>
                <a:spcPts val="0"/>
              </a:spcAft>
              <a:buClr>
                <a:srgbClr val="C00000"/>
              </a:buClr>
              <a:buSzPct val="110000"/>
              <a:buAutoNum type="arabicPeriod"/>
            </a:pPr>
            <a:r>
              <a:rPr lang="uz-Cyrl-UZ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Калитни билмасдан  туриб шифрланган матндан дастлабки матнни олиш ёки дастлабки матн ва шифрланган матн бўйича калитни ҳисоблаш жараёни</a:t>
            </a:r>
            <a:r>
              <a:rPr lang="uz-Cyrl-UZ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55600" algn="just">
              <a:spcAft>
                <a:spcPts val="0"/>
              </a:spcAft>
              <a:buClr>
                <a:srgbClr val="C00000"/>
              </a:buClr>
              <a:buSzPct val="110000"/>
            </a:pPr>
            <a:endParaRPr lang="ru-RU" sz="2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55600" algn="just">
              <a:spcAft>
                <a:spcPts val="0"/>
              </a:spcAft>
              <a:buClr>
                <a:srgbClr val="C00000"/>
              </a:buClr>
              <a:buSzPct val="110000"/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uz-Cyrl-UZ" sz="3200" b="1" dirty="0">
                <a:solidFill>
                  <a:srgbClr val="0000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Дешифрлаш:</a:t>
            </a:r>
          </a:p>
          <a:p>
            <a:pPr marL="355600" algn="just">
              <a:spcAft>
                <a:spcPts val="600"/>
              </a:spcAft>
              <a:buClr>
                <a:srgbClr val="C00000"/>
              </a:buClr>
              <a:buSzPct val="110000"/>
            </a:pPr>
            <a:r>
              <a:rPr lang="uz-Cyrl-UZ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Шифрлаш калитини билмасдан шифрланган матндан дастлабки матнни тиклаш билан шуғулланадиган криптотаҳлил жараёни</a:t>
            </a:r>
            <a:r>
              <a:rPr lang="uz-Cyrl-UZ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" name="Text Box 58"/>
          <p:cNvSpPr txBox="1">
            <a:spLocks noChangeArrowheads="1"/>
          </p:cNvSpPr>
          <p:nvPr/>
        </p:nvSpPr>
        <p:spPr bwMode="auto">
          <a:xfrm>
            <a:off x="-8545" y="6602068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 	</a:t>
            </a:r>
            <a:r>
              <a:rPr lang="en-US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						</a:t>
            </a:r>
            <a:r>
              <a:rPr lang="ru-RU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	3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37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9" name="Rectangle 3"/>
          <p:cNvSpPr>
            <a:spLocks noChangeArrowheads="1"/>
          </p:cNvSpPr>
          <p:nvPr/>
        </p:nvSpPr>
        <p:spPr bwMode="auto">
          <a:xfrm>
            <a:off x="251520" y="285901"/>
            <a:ext cx="8712000" cy="603242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spcAft>
                <a:spcPts val="600"/>
              </a:spcAft>
            </a:pPr>
            <a:r>
              <a:rPr lang="uz-Cyrl-UZ" sz="3200" b="1" dirty="0">
                <a:solidFill>
                  <a:srgbClr val="0000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Ҳужум:</a:t>
            </a:r>
          </a:p>
          <a:p>
            <a:pPr marL="627063" indent="-271463" algn="just">
              <a:spcAft>
                <a:spcPts val="600"/>
              </a:spcAft>
              <a:buClr>
                <a:srgbClr val="C00000"/>
              </a:buClr>
              <a:buSzPct val="110000"/>
              <a:buAutoNum type="arabicPeriod"/>
            </a:pPr>
            <a:r>
              <a:rPr lang="uz-Cyrl-UZ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Бузғунчининг автоматлаштирилган тизимнинг заифликларидан фойдаланиш йўли билан тахдиднинг амалга оширилишига олиб келадиган хатти-ҳаракатлар.</a:t>
            </a:r>
          </a:p>
          <a:p>
            <a:pPr marL="627063" indent="-271463" algn="just">
              <a:spcAft>
                <a:spcPts val="0"/>
              </a:spcAft>
              <a:buClr>
                <a:srgbClr val="C00000"/>
              </a:buClr>
              <a:buSzPct val="110000"/>
              <a:buAutoNum type="arabicPeriod"/>
            </a:pPr>
            <a:r>
              <a:rPr lang="uz-Cyrl-UZ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Ахборотни мухофаза қилиш тизимининг қисми ёки бутун тизимни бузиб киришга муваффақиятли ёки муваффақиятсиз уриниш.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uz-Cyrl-UZ" sz="3200" b="1" dirty="0" smtClean="0">
                <a:solidFill>
                  <a:srgbClr val="0000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Криптотизимга </a:t>
            </a:r>
            <a:r>
              <a:rPr lang="uz-Cyrl-UZ" sz="3200" b="1" dirty="0">
                <a:solidFill>
                  <a:srgbClr val="0000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қилинадиган ҳужум:</a:t>
            </a:r>
          </a:p>
          <a:p>
            <a:pPr marL="355600" algn="just">
              <a:spcAft>
                <a:spcPts val="600"/>
              </a:spcAft>
              <a:buClr>
                <a:srgbClr val="C00000"/>
              </a:buClr>
              <a:buSzPct val="110000"/>
            </a:pPr>
            <a:r>
              <a:rPr lang="uz-Cyrl-UZ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Рақиб ва/ёки бузғунчининг криптотаҳлилининг маълум усуллари асосида ва криптотаҳлилнинг баъзи тахминлари ёрдамида муайян криптографик тизимнинг хавфсизлик даражасини пасайтиришга уруниш.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uz-Cyrl-UZ" sz="3200" b="1" dirty="0">
                <a:solidFill>
                  <a:srgbClr val="0000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Бузиш, криптотизимни очиш:</a:t>
            </a:r>
          </a:p>
          <a:p>
            <a:pPr marL="627063" indent="-271463" algn="just">
              <a:spcAft>
                <a:spcPts val="600"/>
              </a:spcAft>
              <a:buClr>
                <a:srgbClr val="C00000"/>
              </a:buClr>
              <a:buSzPct val="110000"/>
              <a:buAutoNum type="arabicPeriod"/>
            </a:pPr>
            <a:r>
              <a:rPr lang="uz-Cyrl-UZ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Криптотизимдан фойдаланиш билан муҳофазаланган ахборот жараёнининг нормал ўтадиган шароитдан оғишига олиб келадиган тартиботни яратиш.</a:t>
            </a:r>
          </a:p>
          <a:p>
            <a:pPr marL="627063" indent="-271463" algn="just">
              <a:spcAft>
                <a:spcPts val="0"/>
              </a:spcAft>
              <a:buClr>
                <a:srgbClr val="C00000"/>
              </a:buClr>
              <a:buSzPct val="110000"/>
              <a:buAutoNum type="arabicPeriod"/>
            </a:pPr>
            <a:r>
              <a:rPr lang="uz-Cyrl-UZ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Замонавий ҳисоблаш воситаларидан фойдаланишда оқилона вақт ичида криптотаҳлил масаласини ечиш усулини топиш</a:t>
            </a:r>
            <a:r>
              <a:rPr lang="uz-Cyrl-UZ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" name="Text Box 58"/>
          <p:cNvSpPr txBox="1">
            <a:spLocks noChangeArrowheads="1"/>
          </p:cNvSpPr>
          <p:nvPr/>
        </p:nvSpPr>
        <p:spPr bwMode="auto">
          <a:xfrm>
            <a:off x="-8545" y="6602068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 	</a:t>
            </a:r>
            <a:r>
              <a:rPr lang="en-US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						</a:t>
            </a:r>
            <a:r>
              <a:rPr lang="ru-RU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	4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10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9" name="Rectangle 3"/>
          <p:cNvSpPr>
            <a:spLocks noChangeArrowheads="1"/>
          </p:cNvSpPr>
          <p:nvPr/>
        </p:nvSpPr>
        <p:spPr bwMode="auto">
          <a:xfrm>
            <a:off x="251520" y="285901"/>
            <a:ext cx="8712000" cy="62478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" name="Text Box 58"/>
          <p:cNvSpPr txBox="1">
            <a:spLocks noChangeArrowheads="1"/>
          </p:cNvSpPr>
          <p:nvPr/>
        </p:nvSpPr>
        <p:spPr bwMode="auto">
          <a:xfrm>
            <a:off x="-8545" y="6602068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 	</a:t>
            </a:r>
            <a:r>
              <a:rPr lang="en-US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						</a:t>
            </a:r>
            <a:r>
              <a:rPr lang="ru-RU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	5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64"/>
          <a:stretch/>
        </p:blipFill>
        <p:spPr bwMode="auto">
          <a:xfrm>
            <a:off x="719572" y="404664"/>
            <a:ext cx="7818500" cy="5940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4599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9" name="Rectangle 3"/>
          <p:cNvSpPr>
            <a:spLocks noChangeArrowheads="1"/>
          </p:cNvSpPr>
          <p:nvPr/>
        </p:nvSpPr>
        <p:spPr bwMode="auto">
          <a:xfrm>
            <a:off x="251520" y="80628"/>
            <a:ext cx="8712000" cy="655564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uz-Cyrl-UZ" sz="2000" b="1" dirty="0">
                <a:latin typeface="Times New Roman" pitchFamily="18" charset="0"/>
                <a:cs typeface="Times New Roman" pitchFamily="18" charset="0"/>
              </a:rPr>
              <a:t>Шифр бардошлилигини таъминловчи калит ўлчамлари</a:t>
            </a: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Box 58"/>
          <p:cNvSpPr txBox="1">
            <a:spLocks noChangeArrowheads="1"/>
          </p:cNvSpPr>
          <p:nvPr/>
        </p:nvSpPr>
        <p:spPr bwMode="auto">
          <a:xfrm>
            <a:off x="-8545" y="6602068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 	</a:t>
            </a:r>
            <a:r>
              <a:rPr lang="en-US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						</a:t>
            </a:r>
            <a:r>
              <a:rPr lang="ru-RU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	6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58538"/>
              </p:ext>
            </p:extLst>
          </p:nvPr>
        </p:nvGraphicFramePr>
        <p:xfrm>
          <a:off x="371442" y="490304"/>
          <a:ext cx="8581179" cy="603504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3532160"/>
                <a:gridCol w="2311054"/>
                <a:gridCol w="2737965"/>
              </a:tblGrid>
              <a:tr h="52470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Тавсия </a:t>
                      </a:r>
                      <a:r>
                        <a:rPr lang="uz-Cyrl-UZ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этувчининг</a:t>
                      </a:r>
                      <a:r>
                        <a:rPr lang="en-US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uz-Cyrl-UZ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шартли номи</a:t>
                      </a:r>
                      <a:endParaRPr lang="en-US" sz="18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(эълон </a:t>
                      </a: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қилинган йил)</a:t>
                      </a:r>
                      <a:endParaRPr lang="uz-Cyrl-UZ" sz="18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Калит</a:t>
                      </a:r>
                      <a:r>
                        <a:rPr lang="en-US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uz-Cyrl-UZ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узунлиги</a:t>
                      </a:r>
                      <a:r>
                        <a:rPr lang="en-US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uz-Cyrl-UZ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(бит)</a:t>
                      </a:r>
                      <a:endParaRPr lang="uz-Cyrl-UZ" sz="18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Фойдаланиш</a:t>
                      </a:r>
                      <a:r>
                        <a:rPr lang="en-US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uz-Cyrl-UZ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даври</a:t>
                      </a:r>
                      <a:r>
                        <a:rPr lang="en-US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uz-Cyrl-UZ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(йил</a:t>
                      </a: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uz-Cyrl-UZ" sz="18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74901">
                <a:tc row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Lenstra / Verheul (2000)</a:t>
                      </a:r>
                      <a:endParaRPr lang="uz-Cyrl-UZ" sz="18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2014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82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2015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83</a:t>
                      </a:r>
                      <a:endParaRPr lang="uz-Cyrl-UZ" sz="18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2016 – 2017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84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2018</a:t>
                      </a:r>
                      <a:endParaRPr lang="uz-Cyrl-UZ" sz="18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2019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Lenstra Updated (2004)</a:t>
                      </a:r>
                      <a:endParaRPr lang="uz-Cyrl-UZ" sz="18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78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2014 – 2015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79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2016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2017 – 2018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2019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NIST (2012)</a:t>
                      </a:r>
                      <a:endParaRPr lang="uz-Cyrl-UZ" sz="18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2010 гача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2011 – 2030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128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2030 – ?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ANSSI (2014)</a:t>
                      </a:r>
                      <a:endParaRPr lang="uz-Cyrl-UZ" sz="18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2014 – 2020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128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2021 – ? 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BSI (2015)</a:t>
                      </a:r>
                      <a:endParaRPr lang="uz-Cyrl-UZ" sz="18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128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2015 – 2021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NSA (2015)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256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?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RFC3766 (2004)</a:t>
                      </a:r>
                      <a:endParaRPr lang="uz-Cyrl-UZ" sz="18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102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2014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2016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104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2017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  <a:tr h="174901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105</a:t>
                      </a:r>
                      <a:endParaRPr lang="uz-Cyrl-UZ" sz="18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2019</a:t>
                      </a:r>
                      <a:endParaRPr lang="uz-Cyrl-UZ" sz="18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004" marR="17004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50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9" name="Rectangle 3"/>
          <p:cNvSpPr>
            <a:spLocks noChangeArrowheads="1"/>
          </p:cNvSpPr>
          <p:nvPr/>
        </p:nvSpPr>
        <p:spPr bwMode="auto">
          <a:xfrm>
            <a:off x="251520" y="80628"/>
            <a:ext cx="8712000" cy="61709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Box 58"/>
          <p:cNvSpPr txBox="1">
            <a:spLocks noChangeArrowheads="1"/>
          </p:cNvSpPr>
          <p:nvPr/>
        </p:nvSpPr>
        <p:spPr bwMode="auto">
          <a:xfrm>
            <a:off x="-8545" y="6602068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 	</a:t>
            </a:r>
            <a:r>
              <a:rPr lang="en-US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						</a:t>
            </a:r>
            <a:r>
              <a:rPr lang="ru-RU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	7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5" name="Табличка 4"/>
          <p:cNvSpPr/>
          <p:nvPr/>
        </p:nvSpPr>
        <p:spPr>
          <a:xfrm>
            <a:off x="395536" y="186118"/>
            <a:ext cx="8363222" cy="726714"/>
          </a:xfrm>
          <a:prstGeom prst="plaque">
            <a:avLst/>
          </a:prstGeom>
          <a:solidFill>
            <a:schemeClr val="accent5">
              <a:lumMod val="40000"/>
              <a:lumOff val="6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Криптотаҳлилнинг асосий йўналишлари</a:t>
            </a:r>
            <a:endParaRPr lang="ru-RU" sz="2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Табличка 6"/>
          <p:cNvSpPr/>
          <p:nvPr/>
        </p:nvSpPr>
        <p:spPr>
          <a:xfrm>
            <a:off x="1331640" y="1374250"/>
            <a:ext cx="7344816" cy="720000"/>
          </a:xfrm>
          <a:prstGeom prst="plaqu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Криптографик алгоритм ёки протоколларнинг нозик томонларини </a:t>
            </a:r>
            <a:r>
              <a:rPr lang="uz-Cyrl-UZ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топиш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Табличка 7"/>
          <p:cNvSpPr/>
          <p:nvPr/>
        </p:nvSpPr>
        <p:spPr>
          <a:xfrm>
            <a:off x="1331640" y="2452013"/>
            <a:ext cx="7344816" cy="720000"/>
          </a:xfrm>
          <a:prstGeom prst="plaqu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Шифрлаш алгоритми калитини аниқлаш (дешифрлаш)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шифрлаш</a:t>
            </a:r>
            <a:r>
              <a:rPr lang="ru-RU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алгоритмига</a:t>
            </a:r>
            <a:r>
              <a:rPr lang="ru-RU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хужум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Табличка 8"/>
          <p:cNvSpPr/>
          <p:nvPr/>
        </p:nvSpPr>
        <p:spPr>
          <a:xfrm>
            <a:off x="1331640" y="3465084"/>
            <a:ext cx="7344816" cy="720000"/>
          </a:xfrm>
          <a:prstGeom prst="plaqu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Коллизияни аниқлаш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хэш-функция </a:t>
            </a:r>
            <a:r>
              <a:rPr lang="ru-RU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алгоритмига</a:t>
            </a:r>
            <a:r>
              <a:rPr lang="ru-RU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хужум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Соединительная линия уступом 9"/>
          <p:cNvCxnSpPr/>
          <p:nvPr/>
        </p:nvCxnSpPr>
        <p:spPr>
          <a:xfrm rot="10800000" flipV="1">
            <a:off x="935596" y="884891"/>
            <a:ext cx="3240360" cy="288561"/>
          </a:xfrm>
          <a:prstGeom prst="bentConnector3">
            <a:avLst>
              <a:gd name="adj1" fmla="val 105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Соединительная линия уступом 10"/>
          <p:cNvCxnSpPr>
            <a:endCxn id="7" idx="1"/>
          </p:cNvCxnSpPr>
          <p:nvPr/>
        </p:nvCxnSpPr>
        <p:spPr>
          <a:xfrm rot="16200000" flipH="1">
            <a:off x="853219" y="1255829"/>
            <a:ext cx="560798" cy="396044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/>
          <p:cNvCxnSpPr>
            <a:endCxn id="8" idx="1"/>
          </p:cNvCxnSpPr>
          <p:nvPr/>
        </p:nvCxnSpPr>
        <p:spPr>
          <a:xfrm rot="16200000" flipH="1">
            <a:off x="314337" y="1794710"/>
            <a:ext cx="1638562" cy="396044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>
            <a:endCxn id="9" idx="1"/>
          </p:cNvCxnSpPr>
          <p:nvPr/>
        </p:nvCxnSpPr>
        <p:spPr>
          <a:xfrm rot="16200000" flipH="1">
            <a:off x="-192199" y="2301245"/>
            <a:ext cx="2651634" cy="396044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Табличка 13"/>
          <p:cNvSpPr/>
          <p:nvPr/>
        </p:nvSpPr>
        <p:spPr>
          <a:xfrm>
            <a:off x="1331640" y="4365184"/>
            <a:ext cx="7344816" cy="720000"/>
          </a:xfrm>
          <a:prstGeom prst="plaqu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 имзони қалбакилаштириш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ЭРИ </a:t>
            </a:r>
            <a:r>
              <a:rPr lang="ru-RU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алгоритмига</a:t>
            </a:r>
            <a:r>
              <a:rPr lang="ru-RU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хужум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Соединительная линия уступом 14"/>
          <p:cNvCxnSpPr>
            <a:endCxn id="14" idx="1"/>
          </p:cNvCxnSpPr>
          <p:nvPr/>
        </p:nvCxnSpPr>
        <p:spPr>
          <a:xfrm rot="16200000" flipH="1">
            <a:off x="-192199" y="3201345"/>
            <a:ext cx="2651634" cy="396044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Табличка 18"/>
          <p:cNvSpPr/>
          <p:nvPr/>
        </p:nvSpPr>
        <p:spPr>
          <a:xfrm>
            <a:off x="1331640" y="5229280"/>
            <a:ext cx="7344816" cy="720000"/>
          </a:xfrm>
          <a:prstGeom prst="plaqu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 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Соединительная линия уступом 19"/>
          <p:cNvCxnSpPr>
            <a:endCxn id="19" idx="1"/>
          </p:cNvCxnSpPr>
          <p:nvPr/>
        </p:nvCxnSpPr>
        <p:spPr>
          <a:xfrm rot="16200000" flipH="1">
            <a:off x="-192199" y="4065441"/>
            <a:ext cx="2651634" cy="396044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28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9" name="Rectangle 3"/>
          <p:cNvSpPr>
            <a:spLocks noChangeArrowheads="1"/>
          </p:cNvSpPr>
          <p:nvPr/>
        </p:nvSpPr>
        <p:spPr bwMode="auto">
          <a:xfrm>
            <a:off x="108472" y="80628"/>
            <a:ext cx="8892000" cy="6480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Box 58"/>
          <p:cNvSpPr txBox="1">
            <a:spLocks noChangeArrowheads="1"/>
          </p:cNvSpPr>
          <p:nvPr/>
        </p:nvSpPr>
        <p:spPr bwMode="auto">
          <a:xfrm>
            <a:off x="-8545" y="6602068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 	</a:t>
            </a:r>
            <a:r>
              <a:rPr lang="en-US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						</a:t>
            </a:r>
            <a:r>
              <a:rPr lang="ru-RU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	8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24" name="Straight Connector 1"/>
          <p:cNvCxnSpPr/>
          <p:nvPr/>
        </p:nvCxnSpPr>
        <p:spPr>
          <a:xfrm>
            <a:off x="285720" y="475976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Табличка 24"/>
          <p:cNvSpPr/>
          <p:nvPr/>
        </p:nvSpPr>
        <p:spPr>
          <a:xfrm>
            <a:off x="222682" y="260648"/>
            <a:ext cx="8631038" cy="464779"/>
          </a:xfrm>
          <a:prstGeom prst="plaque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000080"/>
            </a:solidFill>
            <a:round/>
            <a:headEnd/>
            <a:tailEnd/>
          </a:ln>
          <a:effectLst>
            <a:glow rad="63500">
              <a:schemeClr val="tx1">
                <a:lumMod val="50000"/>
                <a:lumOff val="50000"/>
                <a:alpha val="40000"/>
              </a:schemeClr>
            </a:glow>
            <a:innerShdw blurRad="114300">
              <a:prstClr val="black"/>
            </a:innerShdw>
          </a:effectLst>
        </p:spPr>
        <p:txBody>
          <a:bodyPr lIns="198000" tIns="198000" rIns="198000" bIns="198000" anchor="ctr"/>
          <a:lstStyle/>
          <a:p>
            <a:pPr algn="ctr">
              <a:buSzPct val="120000"/>
              <a:defRPr/>
            </a:pPr>
            <a:r>
              <a:rPr lang="uz-Cyrl-UZ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Криптоаналитик эга бўлган маълумотларга кўра криптотаҳлил турлари</a:t>
            </a:r>
            <a:endParaRPr lang="ru-RU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Шестиугольник 25"/>
          <p:cNvSpPr/>
          <p:nvPr/>
        </p:nvSpPr>
        <p:spPr>
          <a:xfrm>
            <a:off x="1043608" y="1019190"/>
            <a:ext cx="7704856" cy="612000"/>
          </a:xfrm>
          <a:prstGeom prst="hexagon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Калит ва шифрлаш алгоритми ҳақида маълумотга эга бўлиш мақсадида шифрматнни тахлил қилиш</a:t>
            </a:r>
            <a:endParaRPr lang="ru-RU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Шестиугольник 26"/>
          <p:cNvSpPr/>
          <p:nvPr/>
        </p:nvSpPr>
        <p:spPr>
          <a:xfrm>
            <a:off x="1053007" y="1798137"/>
            <a:ext cx="7704856" cy="612000"/>
          </a:xfrm>
          <a:prstGeom prst="hexagon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Калит ҳақида маълумотга эга бўлиш мақсадида шифрматнларни тахлил қилиш</a:t>
            </a:r>
            <a:endParaRPr lang="ru-RU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Шестиугольник 27"/>
          <p:cNvSpPr/>
          <p:nvPr/>
        </p:nvSpPr>
        <p:spPr>
          <a:xfrm>
            <a:off x="1043608" y="2590225"/>
            <a:ext cx="7704856" cy="612000"/>
          </a:xfrm>
          <a:prstGeom prst="hexagon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Калит ҳақида маълумотга эга бўлиш мақсадида очиқ матн асосида тахлил қилиш</a:t>
            </a:r>
            <a:endParaRPr lang="ru-RU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Шестиугольник 28"/>
          <p:cNvSpPr/>
          <p:nvPr/>
        </p:nvSpPr>
        <p:spPr>
          <a:xfrm>
            <a:off x="1053007" y="3382313"/>
            <a:ext cx="7704856" cy="612000"/>
          </a:xfrm>
          <a:prstGeom prst="hexagon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Калит ҳақида маълумотга эга бўлиш мақсадида танлаб олинган очиқ матн асосида тахлил қилиш</a:t>
            </a:r>
            <a:endParaRPr lang="ru-RU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Шестиугольник 29"/>
          <p:cNvSpPr/>
          <p:nvPr/>
        </p:nvSpPr>
        <p:spPr>
          <a:xfrm>
            <a:off x="1079612" y="4174401"/>
            <a:ext cx="7704856" cy="612000"/>
          </a:xfrm>
          <a:prstGeom prst="hexagon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Калит ҳақида маълумотга эга бўлиш мақсадида танлаб олинган шифр матнлар асосида таҳлил қилиш</a:t>
            </a:r>
            <a:endParaRPr lang="ru-RU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Шестиугольник 30"/>
          <p:cNvSpPr/>
          <p:nvPr/>
        </p:nvSpPr>
        <p:spPr>
          <a:xfrm>
            <a:off x="1079612" y="4977290"/>
            <a:ext cx="7704856" cy="612000"/>
          </a:xfrm>
          <a:prstGeom prst="hexagon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Калит ҳақида маълумотга эга бўлиш мақсадида танлаб олинган матнлар ёрдамида анализ қилиш</a:t>
            </a:r>
            <a:endParaRPr lang="ru-RU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Шестиугольник 31"/>
          <p:cNvSpPr/>
          <p:nvPr/>
        </p:nvSpPr>
        <p:spPr>
          <a:xfrm>
            <a:off x="1079612" y="5744057"/>
            <a:ext cx="7704856" cy="612000"/>
          </a:xfrm>
          <a:prstGeom prst="hexagon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Калит ҳақида маълумотга эга бўлиш мақсадида танлаб олинган калитлар ёрдамида таҳлил қилиш</a:t>
            </a:r>
            <a:endParaRPr lang="ru-RU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Соединительная линия уступом 32"/>
          <p:cNvCxnSpPr/>
          <p:nvPr/>
        </p:nvCxnSpPr>
        <p:spPr>
          <a:xfrm rot="10800000" flipV="1">
            <a:off x="719572" y="725426"/>
            <a:ext cx="3816424" cy="147289"/>
          </a:xfrm>
          <a:prstGeom prst="bentConnector3">
            <a:avLst>
              <a:gd name="adj1" fmla="val -3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Соединительная линия уступом 33"/>
          <p:cNvCxnSpPr>
            <a:endCxn id="26" idx="3"/>
          </p:cNvCxnSpPr>
          <p:nvPr/>
        </p:nvCxnSpPr>
        <p:spPr>
          <a:xfrm rot="16200000" flipH="1">
            <a:off x="673355" y="954937"/>
            <a:ext cx="416470" cy="324036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Соединительная линия уступом 34"/>
          <p:cNvCxnSpPr>
            <a:endCxn id="27" idx="3"/>
          </p:cNvCxnSpPr>
          <p:nvPr/>
        </p:nvCxnSpPr>
        <p:spPr>
          <a:xfrm rot="16200000" flipH="1">
            <a:off x="270578" y="1321708"/>
            <a:ext cx="1231422" cy="333436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Соединительная линия уступом 35"/>
          <p:cNvCxnSpPr>
            <a:endCxn id="28" idx="3"/>
          </p:cNvCxnSpPr>
          <p:nvPr/>
        </p:nvCxnSpPr>
        <p:spPr>
          <a:xfrm rot="16200000" flipH="1">
            <a:off x="-130165" y="1722452"/>
            <a:ext cx="2023510" cy="324036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Соединительная линия уступом 36"/>
          <p:cNvCxnSpPr>
            <a:endCxn id="29" idx="3"/>
          </p:cNvCxnSpPr>
          <p:nvPr/>
        </p:nvCxnSpPr>
        <p:spPr>
          <a:xfrm rot="16200000" flipH="1">
            <a:off x="-521510" y="2113796"/>
            <a:ext cx="2815598" cy="333436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Соединительная линия уступом 37"/>
          <p:cNvCxnSpPr>
            <a:endCxn id="30" idx="3"/>
          </p:cNvCxnSpPr>
          <p:nvPr/>
        </p:nvCxnSpPr>
        <p:spPr>
          <a:xfrm rot="16200000" flipH="1">
            <a:off x="-904252" y="2496537"/>
            <a:ext cx="3607686" cy="360042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Соединительная линия уступом 38"/>
          <p:cNvCxnSpPr>
            <a:endCxn id="31" idx="3"/>
          </p:cNvCxnSpPr>
          <p:nvPr/>
        </p:nvCxnSpPr>
        <p:spPr>
          <a:xfrm rot="16200000" flipH="1">
            <a:off x="-1305697" y="2897981"/>
            <a:ext cx="4410576" cy="360042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Соединительная линия уступом 39"/>
          <p:cNvCxnSpPr>
            <a:endCxn id="32" idx="3"/>
          </p:cNvCxnSpPr>
          <p:nvPr/>
        </p:nvCxnSpPr>
        <p:spPr>
          <a:xfrm rot="16200000" flipH="1">
            <a:off x="-1689082" y="3281363"/>
            <a:ext cx="5177344" cy="360044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16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9" name="Rectangle 3"/>
          <p:cNvSpPr>
            <a:spLocks noChangeArrowheads="1"/>
          </p:cNvSpPr>
          <p:nvPr/>
        </p:nvSpPr>
        <p:spPr bwMode="auto">
          <a:xfrm>
            <a:off x="251520" y="285901"/>
            <a:ext cx="8712000" cy="62478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" name="Text Box 58"/>
          <p:cNvSpPr txBox="1">
            <a:spLocks noChangeArrowheads="1"/>
          </p:cNvSpPr>
          <p:nvPr/>
        </p:nvSpPr>
        <p:spPr bwMode="auto">
          <a:xfrm>
            <a:off x="-8545" y="6602068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 	</a:t>
            </a:r>
            <a:r>
              <a:rPr lang="en-US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						</a:t>
            </a:r>
            <a:r>
              <a:rPr lang="ru-RU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	9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6" name="Табличка 5"/>
          <p:cNvSpPr/>
          <p:nvPr/>
        </p:nvSpPr>
        <p:spPr>
          <a:xfrm>
            <a:off x="503548" y="368660"/>
            <a:ext cx="8081081" cy="535596"/>
          </a:xfrm>
          <a:prstGeom prst="plaque">
            <a:avLst/>
          </a:prstGeom>
          <a:solidFill>
            <a:schemeClr val="accent5">
              <a:lumMod val="40000"/>
              <a:lumOff val="6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Асосий криптотаҳлил усуллари</a:t>
            </a:r>
            <a:endParaRPr lang="ru-RU" sz="2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ятиугольник 6"/>
          <p:cNvSpPr/>
          <p:nvPr/>
        </p:nvSpPr>
        <p:spPr>
          <a:xfrm>
            <a:off x="683568" y="1012268"/>
            <a:ext cx="7092788" cy="504000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Тўлиқ танлаш (перебор) усули</a:t>
            </a:r>
            <a:endParaRPr lang="ru-RU" b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>
            <a:off x="683568" y="1696344"/>
            <a:ext cx="7092788" cy="500667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 характеристикалар усули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ятиугольник 8"/>
          <p:cNvSpPr/>
          <p:nvPr/>
        </p:nvSpPr>
        <p:spPr>
          <a:xfrm>
            <a:off x="683568" y="2380420"/>
            <a:ext cx="7092788" cy="500667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 криптотаҳлил усули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ятиугольник 9"/>
          <p:cNvSpPr/>
          <p:nvPr/>
        </p:nvSpPr>
        <p:spPr>
          <a:xfrm>
            <a:off x="682047" y="3100500"/>
            <a:ext cx="7092788" cy="500667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Дифференциал криптотаҳлил усули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ятиугольник 10"/>
          <p:cNvSpPr/>
          <p:nvPr/>
        </p:nvSpPr>
        <p:spPr>
          <a:xfrm>
            <a:off x="719572" y="4504656"/>
            <a:ext cx="7092788" cy="500667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Слайдли ҳужум криптотаҳлил усули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ятиугольник 11"/>
          <p:cNvSpPr/>
          <p:nvPr/>
        </p:nvSpPr>
        <p:spPr>
          <a:xfrm>
            <a:off x="719572" y="5228125"/>
            <a:ext cx="7092788" cy="500667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Интеграл криптотаҳлил усули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Трапеция 12"/>
          <p:cNvSpPr/>
          <p:nvPr/>
        </p:nvSpPr>
        <p:spPr>
          <a:xfrm rot="5400000">
            <a:off x="5360088" y="3475060"/>
            <a:ext cx="5364596" cy="397565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Ҳ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</a:p>
          <a:p>
            <a:pPr algn="ctr"/>
            <a:endParaRPr lang="uz-Cyrl-UZ" sz="1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</a:p>
          <a:p>
            <a:pPr algn="ctr"/>
            <a:r>
              <a:rPr lang="uz-Cyrl-U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ятиугольник 13"/>
          <p:cNvSpPr/>
          <p:nvPr/>
        </p:nvSpPr>
        <p:spPr>
          <a:xfrm>
            <a:off x="683568" y="3784576"/>
            <a:ext cx="7092788" cy="500667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 – дифференциал криптотаҳлил усули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ятиугольник 14"/>
          <p:cNvSpPr/>
          <p:nvPr/>
        </p:nvSpPr>
        <p:spPr>
          <a:xfrm>
            <a:off x="683568" y="5908812"/>
            <a:ext cx="7092788" cy="500667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innerShdw blurRad="114300">
              <a:prstClr val="black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Алгебраик криптотаҳлил усули ва ...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60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2" name="Rectangle 22"/>
          <p:cNvSpPr>
            <a:spLocks noChangeArrowheads="1"/>
          </p:cNvSpPr>
          <p:nvPr/>
        </p:nvSpPr>
        <p:spPr bwMode="auto">
          <a:xfrm>
            <a:off x="0" y="548680"/>
            <a:ext cx="9144000" cy="64633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anchor="ctr">
            <a:spAutoFit/>
          </a:bodyPr>
          <a:lstStyle/>
          <a:p>
            <a:pPr eaLnBrk="0" hangingPunct="0"/>
            <a:r>
              <a:rPr lang="uz-Cyrl-UZ" sz="3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</a:rPr>
              <a:t>?</a:t>
            </a:r>
            <a:endParaRPr lang="uz-Cyrl-UZ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832140" y="6125234"/>
            <a:ext cx="3312368" cy="40011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2000" dirty="0" smtClean="0">
                <a:latin typeface="Times New Roman" pitchFamily="18" charset="0"/>
              </a:rPr>
              <a:t>Эътиборингиз учун рахмат.</a:t>
            </a:r>
            <a:endParaRPr lang="uz-Cyrl-UZ" sz="2400" dirty="0">
              <a:latin typeface="Times New Roman" pitchFamily="18" charset="0"/>
            </a:endParaRPr>
          </a:p>
        </p:txBody>
      </p:sp>
      <p:sp>
        <p:nvSpPr>
          <p:cNvPr id="5" name="Text Box 58"/>
          <p:cNvSpPr txBox="1">
            <a:spLocks noChangeArrowheads="1"/>
          </p:cNvSpPr>
          <p:nvPr/>
        </p:nvSpPr>
        <p:spPr bwMode="auto">
          <a:xfrm>
            <a:off x="-8545" y="6602068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 	</a:t>
            </a:r>
            <a:r>
              <a:rPr lang="en-US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						</a:t>
            </a:r>
            <a:r>
              <a:rPr lang="ru-RU" sz="140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	10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-36512" y="1187460"/>
            <a:ext cx="34453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err="1">
                <a:latin typeface="Times New Roman" pitchFamily="18" charset="0"/>
              </a:rPr>
              <a:t>Саттаров</a:t>
            </a:r>
            <a:r>
              <a:rPr lang="ru-RU" b="1" dirty="0">
                <a:latin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</a:rPr>
              <a:t>Алижон</a:t>
            </a:r>
            <a:r>
              <a:rPr lang="ru-RU" b="1" dirty="0">
                <a:latin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</a:rPr>
              <a:t>Бозорбоевич</a:t>
            </a:r>
            <a:endParaRPr lang="uz-Cyrl-U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6631</TotalTime>
  <Words>635</Words>
  <Application>Microsoft Office PowerPoint</Application>
  <PresentationFormat>Экран (4:3)</PresentationFormat>
  <Paragraphs>212</Paragraphs>
  <Slides>10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Профиль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- 2009</dc:title>
  <dc:creator>USER</dc:creator>
  <cp:lastModifiedBy>Microsoft Office</cp:lastModifiedBy>
  <cp:revision>958</cp:revision>
  <cp:lastPrinted>2014-04-25T14:19:32Z</cp:lastPrinted>
  <dcterms:created xsi:type="dcterms:W3CDTF">2010-10-01T16:11:11Z</dcterms:created>
  <dcterms:modified xsi:type="dcterms:W3CDTF">2019-08-22T04:29:00Z</dcterms:modified>
</cp:coreProperties>
</file>