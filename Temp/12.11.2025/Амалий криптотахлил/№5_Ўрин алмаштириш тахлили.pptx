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sldIdLst>
    <p:sldId id="256" r:id="rId2"/>
    <p:sldId id="305" r:id="rId3"/>
    <p:sldId id="315" r:id="rId4"/>
    <p:sldId id="316" r:id="rId5"/>
    <p:sldId id="344" r:id="rId6"/>
    <p:sldId id="345" r:id="rId7"/>
    <p:sldId id="346" r:id="rId8"/>
    <p:sldId id="347" r:id="rId9"/>
    <p:sldId id="348" r:id="rId10"/>
    <p:sldId id="349" r:id="rId11"/>
    <p:sldId id="341" r:id="rId1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0000"/>
    <a:srgbClr val="66CCFF"/>
    <a:srgbClr val="3399FF"/>
    <a:srgbClr val="00FFFF"/>
    <a:srgbClr val="66FFFF"/>
    <a:srgbClr val="00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8936" autoAdjust="0"/>
  </p:normalViewPr>
  <p:slideViewPr>
    <p:cSldViewPr>
      <p:cViewPr>
        <p:scale>
          <a:sx n="75" d="100"/>
          <a:sy n="75" d="100"/>
        </p:scale>
        <p:origin x="-2724" y="-8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Cyrl-U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C5229-DF8E-411C-AD7B-923FCBA756C1}" type="datetimeFigureOut">
              <a:rPr lang="uz-Cyrl-UZ" smtClean="0"/>
              <a:t>06.04.2022</a:t>
            </a:fld>
            <a:endParaRPr lang="uz-Cyrl-U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Cyrl-U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Cyrl-U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D7B99-A0FF-4B0C-AE33-4501C52854BA}" type="slidenum">
              <a:rPr lang="uz-Cyrl-UZ" smtClean="0"/>
              <a:t>‹#›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08133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1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832535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2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664969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3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997092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4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895914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5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078082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6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564425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7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237623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8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077134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9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534912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10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567462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D7B99-A0FF-4B0C-AE33-4501C52854BA}" type="slidenum">
              <a:rPr lang="uz-Cyrl-UZ" smtClean="0"/>
              <a:t>11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79735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08DBD-FB0D-4F10-A21D-43E8C71AAFD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87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6BA54E-CDCC-4817-B987-5046034AB2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8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233D3-5C9A-4948-B240-3590182E9B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34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E7182-BD36-4D82-BF55-63C86654B4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5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AB60E-DCC9-439F-9CFC-43C192567C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12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B5964-D3ED-4C79-813D-A36F78D647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00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87D7B-EB50-4207-BEE3-2A8322EC22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66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7E735-2777-4892-BF52-6D96D4EAF6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7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27591-17FD-481E-81D4-F04E7BE51A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46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DE394-19B8-4556-A7CC-FE9A9DB984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45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F011D-D2F6-4A16-A35F-4FAE23B0D5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70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2CB84-9BBB-43F9-8522-C574E3D9C2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420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57200" y="41148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88112-844F-4FC4-B44A-173CFCD7BF4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796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40386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FF628-8594-4565-98C2-4C1637B072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09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1A010-07F5-4AF5-8601-1C1D562E2D4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30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>
            <a:duotone>
              <a:schemeClr val="bg1"/>
              <a:srgbClr val="FFFFFF"/>
            </a:duotone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8C60636C-5226-4CC0-ACCA-5F7EB526FC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8.bin"/><Relationship Id="rId42" Type="http://schemas.openxmlformats.org/officeDocument/2006/relationships/oleObject" Target="../embeddings/oleObject26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oleObject" Target="../embeddings/oleObject17.bin"/><Relationship Id="rId38" Type="http://schemas.openxmlformats.org/officeDocument/2006/relationships/oleObject" Target="../embeddings/oleObject22.bin"/><Relationship Id="rId46" Type="http://schemas.openxmlformats.org/officeDocument/2006/relationships/image" Target="../media/image1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wmf"/><Relationship Id="rId41" Type="http://schemas.openxmlformats.org/officeDocument/2006/relationships/oleObject" Target="../embeddings/oleObject25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6.bin"/><Relationship Id="rId37" Type="http://schemas.openxmlformats.org/officeDocument/2006/relationships/oleObject" Target="../embeddings/oleObject21.bin"/><Relationship Id="rId40" Type="http://schemas.openxmlformats.org/officeDocument/2006/relationships/oleObject" Target="../embeddings/oleObject24.bin"/><Relationship Id="rId45" Type="http://schemas.openxmlformats.org/officeDocument/2006/relationships/oleObject" Target="../embeddings/oleObject29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20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31" Type="http://schemas.openxmlformats.org/officeDocument/2006/relationships/oleObject" Target="../embeddings/oleObject15.bin"/><Relationship Id="rId44" Type="http://schemas.openxmlformats.org/officeDocument/2006/relationships/oleObject" Target="../embeddings/oleObject28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Relationship Id="rId35" Type="http://schemas.openxmlformats.org/officeDocument/2006/relationships/oleObject" Target="../embeddings/oleObject19.bin"/><Relationship Id="rId43" Type="http://schemas.openxmlformats.org/officeDocument/2006/relationships/oleObject" Target="../embeddings/oleObject27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16.wmf"/><Relationship Id="rId10" Type="http://schemas.openxmlformats.org/officeDocument/2006/relationships/slide" Target="slide3.xml"/><Relationship Id="rId4" Type="http://schemas.openxmlformats.org/officeDocument/2006/relationships/oleObject" Target="../embeddings/oleObject30.bin"/><Relationship Id="rId9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250825" y="1268413"/>
            <a:ext cx="8713788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endParaRPr lang="en-US" sz="3200" b="1" dirty="0">
              <a:solidFill>
                <a:srgbClr val="0000CC"/>
              </a:solidFill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endParaRPr lang="en-US" sz="3200" b="1" dirty="0" smtClean="0">
              <a:solidFill>
                <a:srgbClr val="0000CC"/>
              </a:solidFill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uz-Cyrl-UZ" sz="3200" b="1" dirty="0" smtClean="0">
                <a:solidFill>
                  <a:srgbClr val="0000CC"/>
                </a:solidFill>
                <a:latin typeface="Times New Roman" pitchFamily="18" charset="0"/>
              </a:rPr>
              <a:t>Ўрин  </a:t>
            </a:r>
            <a:r>
              <a:rPr lang="uz-Cyrl-UZ" sz="3200" b="1" dirty="0">
                <a:solidFill>
                  <a:srgbClr val="0000CC"/>
                </a:solidFill>
                <a:latin typeface="Times New Roman" pitchFamily="18" charset="0"/>
              </a:rPr>
              <a:t>алмаштириш  шифр  </a:t>
            </a:r>
            <a:r>
              <a:rPr lang="uz-Cyrl-UZ" sz="3200" b="1" dirty="0" smtClean="0">
                <a:solidFill>
                  <a:srgbClr val="0000CC"/>
                </a:solidFill>
                <a:latin typeface="Times New Roman" pitchFamily="18" charset="0"/>
              </a:rPr>
              <a:t>криптограммалари криптотаҳлили</a:t>
            </a:r>
            <a:endParaRPr lang="ru-RU" sz="2800" dirty="0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755650" y="188913"/>
            <a:ext cx="7772400" cy="647700"/>
          </a:xfrm>
          <a:gradFill rotWithShape="1">
            <a:gsLst>
              <a:gs pos="0">
                <a:srgbClr val="00FFFF"/>
              </a:gs>
              <a:gs pos="50000">
                <a:schemeClr val="tx2"/>
              </a:gs>
              <a:gs pos="100000">
                <a:srgbClr val="00FFFF"/>
              </a:gs>
            </a:gsLst>
            <a:lin ang="5400000" scaled="1"/>
          </a:gradFill>
          <a:ln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/>
            </a:r>
            <a:br>
              <a:rPr lang="en-US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</a:br>
            <a:r>
              <a:rPr lang="uz-Cyrl-UZ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РАДИОЭЛЕКТРОН ТИЗИМЛАР ВА АХБОРОТ ТЕХНОЛОГИЯЛАРИ МАРКАЗИ</a:t>
            </a:r>
            <a:r>
              <a:rPr lang="ru-RU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/>
            </a:r>
            <a:br>
              <a:rPr lang="ru-RU" sz="16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</a:br>
            <a:endParaRPr lang="ru-RU" sz="1600" b="1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322388" y="260350"/>
            <a:ext cx="6562725" cy="4643438"/>
            <a:chOff x="385" y="799"/>
            <a:chExt cx="4134" cy="2925"/>
          </a:xfrm>
        </p:grpSpPr>
        <p:graphicFrame>
          <p:nvGraphicFramePr>
            <p:cNvPr id="3077" name="Object 3"/>
            <p:cNvGraphicFramePr>
              <a:graphicFrameLocks noChangeAspect="1"/>
            </p:cNvGraphicFramePr>
            <p:nvPr/>
          </p:nvGraphicFramePr>
          <p:xfrm>
            <a:off x="750" y="1033"/>
            <a:ext cx="304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" name="Формула" r:id="rId4" imgW="203112" imgH="241195" progId="Equation.3">
                    <p:embed/>
                  </p:oleObj>
                </mc:Choice>
                <mc:Fallback>
                  <p:oleObj name="Формула" r:id="rId4" imgW="203112" imgH="24119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" y="1033"/>
                          <a:ext cx="304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" name="Object 4"/>
            <p:cNvGraphicFramePr>
              <a:graphicFrameLocks noChangeAspect="1"/>
            </p:cNvGraphicFramePr>
            <p:nvPr/>
          </p:nvGraphicFramePr>
          <p:xfrm>
            <a:off x="1839" y="1033"/>
            <a:ext cx="348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Формула" r:id="rId6" imgW="228600" imgH="241300" progId="Equation.3">
                    <p:embed/>
                  </p:oleObj>
                </mc:Choice>
                <mc:Fallback>
                  <p:oleObj name="Формула" r:id="rId6" imgW="228600" imgH="241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1033"/>
                          <a:ext cx="348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" name="Object 5"/>
            <p:cNvGraphicFramePr>
              <a:graphicFrameLocks noChangeAspect="1"/>
            </p:cNvGraphicFramePr>
            <p:nvPr/>
          </p:nvGraphicFramePr>
          <p:xfrm>
            <a:off x="3744" y="1033"/>
            <a:ext cx="3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Формула" r:id="rId8" imgW="241195" imgH="241195" progId="Equation.3">
                    <p:embed/>
                  </p:oleObj>
                </mc:Choice>
                <mc:Fallback>
                  <p:oleObj name="Формула" r:id="rId8" imgW="241195" imgH="24119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033"/>
                          <a:ext cx="363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0" name="Object 6"/>
            <p:cNvGraphicFramePr>
              <a:graphicFrameLocks noChangeAspect="1"/>
            </p:cNvGraphicFramePr>
            <p:nvPr/>
          </p:nvGraphicFramePr>
          <p:xfrm>
            <a:off x="750" y="1804"/>
            <a:ext cx="30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Формула" r:id="rId10" imgW="203112" imgH="241195" progId="Equation.3">
                    <p:embed/>
                  </p:oleObj>
                </mc:Choice>
                <mc:Fallback>
                  <p:oleObj name="Формула" r:id="rId10" imgW="203112" imgH="24119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" y="1804"/>
                          <a:ext cx="304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1" name="Object 7"/>
            <p:cNvGraphicFramePr>
              <a:graphicFrameLocks noChangeAspect="1"/>
            </p:cNvGraphicFramePr>
            <p:nvPr/>
          </p:nvGraphicFramePr>
          <p:xfrm>
            <a:off x="1839" y="1804"/>
            <a:ext cx="33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Формула" r:id="rId12" imgW="215713" imgH="241091" progId="Equation.3">
                    <p:embed/>
                  </p:oleObj>
                </mc:Choice>
                <mc:Fallback>
                  <p:oleObj name="Формула" r:id="rId12" imgW="215713" imgH="24109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1804"/>
                          <a:ext cx="334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2" name="Object 8"/>
            <p:cNvGraphicFramePr>
              <a:graphicFrameLocks noChangeAspect="1"/>
            </p:cNvGraphicFramePr>
            <p:nvPr/>
          </p:nvGraphicFramePr>
          <p:xfrm>
            <a:off x="3789" y="1804"/>
            <a:ext cx="3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Формула" r:id="rId14" imgW="241195" imgH="241195" progId="Equation.3">
                    <p:embed/>
                  </p:oleObj>
                </mc:Choice>
                <mc:Fallback>
                  <p:oleObj name="Формула" r:id="rId14" imgW="241195" imgH="24119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9" y="1804"/>
                          <a:ext cx="363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3" name="Object 9"/>
            <p:cNvGraphicFramePr>
              <a:graphicFrameLocks noChangeAspect="1"/>
            </p:cNvGraphicFramePr>
            <p:nvPr/>
          </p:nvGraphicFramePr>
          <p:xfrm>
            <a:off x="750" y="2575"/>
            <a:ext cx="34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" name="Формула" r:id="rId16" imgW="228600" imgH="241300" progId="Equation.3">
                    <p:embed/>
                  </p:oleObj>
                </mc:Choice>
                <mc:Fallback>
                  <p:oleObj name="Формула" r:id="rId16" imgW="2286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" y="2575"/>
                          <a:ext cx="348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4" name="Object 10"/>
            <p:cNvGraphicFramePr>
              <a:graphicFrameLocks noChangeAspect="1"/>
            </p:cNvGraphicFramePr>
            <p:nvPr/>
          </p:nvGraphicFramePr>
          <p:xfrm>
            <a:off x="1839" y="2575"/>
            <a:ext cx="36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2" name="Формула" r:id="rId18" imgW="241195" imgH="241195" progId="Equation.3">
                    <p:embed/>
                  </p:oleObj>
                </mc:Choice>
                <mc:Fallback>
                  <p:oleObj name="Формула" r:id="rId18" imgW="241195" imgH="24119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2575"/>
                          <a:ext cx="368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5" name="Object 11"/>
            <p:cNvGraphicFramePr>
              <a:graphicFrameLocks noChangeAspect="1"/>
            </p:cNvGraphicFramePr>
            <p:nvPr/>
          </p:nvGraphicFramePr>
          <p:xfrm>
            <a:off x="3744" y="2575"/>
            <a:ext cx="408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3" name="Формула" r:id="rId20" imgW="253890" imgH="241195" progId="Equation.3">
                    <p:embed/>
                  </p:oleObj>
                </mc:Choice>
                <mc:Fallback>
                  <p:oleObj name="Формула" r:id="rId20" imgW="253890" imgH="24119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575"/>
                          <a:ext cx="408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6" name="Object 12"/>
            <p:cNvGraphicFramePr>
              <a:graphicFrameLocks noChangeAspect="1"/>
            </p:cNvGraphicFramePr>
            <p:nvPr/>
          </p:nvGraphicFramePr>
          <p:xfrm>
            <a:off x="750" y="3346"/>
            <a:ext cx="34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Формула" r:id="rId22" imgW="228600" imgH="241300" progId="Equation.3">
                    <p:embed/>
                  </p:oleObj>
                </mc:Choice>
                <mc:Fallback>
                  <p:oleObj name="Формула" r:id="rId22" imgW="228600" imgH="241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" y="3346"/>
                          <a:ext cx="348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7" name="Object 13"/>
            <p:cNvGraphicFramePr>
              <a:graphicFrameLocks noChangeAspect="1"/>
            </p:cNvGraphicFramePr>
            <p:nvPr/>
          </p:nvGraphicFramePr>
          <p:xfrm>
            <a:off x="1793" y="3346"/>
            <a:ext cx="3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5" name="Формула" r:id="rId24" imgW="241195" imgH="241195" progId="Equation.3">
                    <p:embed/>
                  </p:oleObj>
                </mc:Choice>
                <mc:Fallback>
                  <p:oleObj name="Формула" r:id="rId24" imgW="241195" imgH="24119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" y="3346"/>
                          <a:ext cx="363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8" name="Object 14"/>
            <p:cNvGraphicFramePr>
              <a:graphicFrameLocks noChangeAspect="1"/>
            </p:cNvGraphicFramePr>
            <p:nvPr/>
          </p:nvGraphicFramePr>
          <p:xfrm>
            <a:off x="3789" y="3343"/>
            <a:ext cx="408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Формула" r:id="rId26" imgW="253890" imgH="241195" progId="Equation.3">
                    <p:embed/>
                  </p:oleObj>
                </mc:Choice>
                <mc:Fallback>
                  <p:oleObj name="Формула" r:id="rId26" imgW="253890" imgH="24119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9" y="3343"/>
                          <a:ext cx="408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9" name="Rectangle 15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0" name="Rectangle 16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1" name="Rectangle 17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2" name="Rectangle 18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3" name="Rectangle 19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4" name="Rectangle 20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5" name="Rectangle 21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6" name="Rectangle 22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7" name="Rectangle 23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8" name="Rectangle 24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099" name="Rectangle 25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0" name="Rectangle 26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1" name="Rectangle 27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2" name="Rectangle 28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3" name="Rectangle 29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4" name="Rectangle 30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5" name="Rectangle 31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6" name="Rectangle 32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7" name="Rectangle 33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8" name="Rectangle 34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09" name="Rectangle 35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0" name="Rectangle 36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1" name="Rectangle 37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2" name="Rectangle 38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3" name="Rectangle 39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4" name="Rectangle 40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5" name="Rectangle 41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6" name="Rectangle 42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7" name="Rectangle 43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8" name="Rectangle 44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19" name="Rectangle 45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0" name="Rectangle 46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1" name="Rectangle 47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2" name="Rectangle 48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3" name="Rectangle 49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4" name="Rectangle 50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5" name="Rectangle 51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6" name="Rectangle 52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7" name="Rectangle 53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sp>
          <p:nvSpPr>
            <p:cNvPr id="3128" name="Rectangle 54"/>
            <p:cNvSpPr>
              <a:spLocks noChangeArrowheads="1"/>
            </p:cNvSpPr>
            <p:nvPr/>
          </p:nvSpPr>
          <p:spPr bwMode="auto">
            <a:xfrm>
              <a:off x="2154" y="799"/>
              <a:ext cx="25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uz-Cyrl-UZ"/>
            </a:p>
          </p:txBody>
        </p:sp>
        <p:grpSp>
          <p:nvGrpSpPr>
            <p:cNvPr id="3129" name="Group 55"/>
            <p:cNvGrpSpPr>
              <a:grpSpLocks/>
            </p:cNvGrpSpPr>
            <p:nvPr/>
          </p:nvGrpSpPr>
          <p:grpSpPr bwMode="auto">
            <a:xfrm>
              <a:off x="385" y="1026"/>
              <a:ext cx="4134" cy="2698"/>
              <a:chOff x="431" y="981"/>
              <a:chExt cx="4134" cy="2698"/>
            </a:xfrm>
          </p:grpSpPr>
          <p:sp>
            <p:nvSpPr>
              <p:cNvPr id="63544" name="Rectangle 56"/>
              <p:cNvSpPr>
                <a:spLocks noChangeArrowheads="1"/>
              </p:cNvSpPr>
              <p:nvPr/>
            </p:nvSpPr>
            <p:spPr bwMode="auto">
              <a:xfrm>
                <a:off x="3532" y="3294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45" name="Rectangle 57"/>
              <p:cNvSpPr>
                <a:spLocks noChangeArrowheads="1"/>
              </p:cNvSpPr>
              <p:nvPr/>
            </p:nvSpPr>
            <p:spPr bwMode="auto">
              <a:xfrm>
                <a:off x="2498" y="3294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46" name="Rectangle 58"/>
              <p:cNvSpPr>
                <a:spLocks noChangeArrowheads="1"/>
              </p:cNvSpPr>
              <p:nvPr/>
            </p:nvSpPr>
            <p:spPr bwMode="auto">
              <a:xfrm>
                <a:off x="1465" y="3294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47" name="Rectangle 59"/>
              <p:cNvSpPr>
                <a:spLocks noChangeArrowheads="1"/>
              </p:cNvSpPr>
              <p:nvPr/>
            </p:nvSpPr>
            <p:spPr bwMode="auto">
              <a:xfrm>
                <a:off x="431" y="3294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48" name="Rectangle 60"/>
              <p:cNvSpPr>
                <a:spLocks noChangeArrowheads="1"/>
              </p:cNvSpPr>
              <p:nvPr/>
            </p:nvSpPr>
            <p:spPr bwMode="auto">
              <a:xfrm>
                <a:off x="3532" y="2911"/>
                <a:ext cx="103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49" name="Rectangle 61"/>
              <p:cNvSpPr>
                <a:spLocks noChangeArrowheads="1"/>
              </p:cNvSpPr>
              <p:nvPr/>
            </p:nvSpPr>
            <p:spPr bwMode="auto">
              <a:xfrm>
                <a:off x="2498" y="2911"/>
                <a:ext cx="103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0" name="Rectangle 62"/>
              <p:cNvSpPr>
                <a:spLocks noChangeArrowheads="1"/>
              </p:cNvSpPr>
              <p:nvPr/>
            </p:nvSpPr>
            <p:spPr bwMode="auto">
              <a:xfrm>
                <a:off x="1465" y="2911"/>
                <a:ext cx="103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1" name="Rectangle 63"/>
              <p:cNvSpPr>
                <a:spLocks noChangeArrowheads="1"/>
              </p:cNvSpPr>
              <p:nvPr/>
            </p:nvSpPr>
            <p:spPr bwMode="auto">
              <a:xfrm>
                <a:off x="431" y="2911"/>
                <a:ext cx="103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2" name="Rectangle 64"/>
              <p:cNvSpPr>
                <a:spLocks noChangeArrowheads="1"/>
              </p:cNvSpPr>
              <p:nvPr/>
            </p:nvSpPr>
            <p:spPr bwMode="auto">
              <a:xfrm>
                <a:off x="3532" y="2526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3" name="Rectangle 65"/>
              <p:cNvSpPr>
                <a:spLocks noChangeArrowheads="1"/>
              </p:cNvSpPr>
              <p:nvPr/>
            </p:nvSpPr>
            <p:spPr bwMode="auto">
              <a:xfrm>
                <a:off x="2498" y="2526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4" name="Rectangle 66"/>
              <p:cNvSpPr>
                <a:spLocks noChangeArrowheads="1"/>
              </p:cNvSpPr>
              <p:nvPr/>
            </p:nvSpPr>
            <p:spPr bwMode="auto">
              <a:xfrm>
                <a:off x="1465" y="2526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5" name="Rectangle 67"/>
              <p:cNvSpPr>
                <a:spLocks noChangeArrowheads="1"/>
              </p:cNvSpPr>
              <p:nvPr/>
            </p:nvSpPr>
            <p:spPr bwMode="auto">
              <a:xfrm>
                <a:off x="431" y="2526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6" name="Rectangle 68"/>
              <p:cNvSpPr>
                <a:spLocks noChangeArrowheads="1"/>
              </p:cNvSpPr>
              <p:nvPr/>
            </p:nvSpPr>
            <p:spPr bwMode="auto">
              <a:xfrm>
                <a:off x="3532" y="2141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7" name="Rectangle 69"/>
              <p:cNvSpPr>
                <a:spLocks noChangeArrowheads="1"/>
              </p:cNvSpPr>
              <p:nvPr/>
            </p:nvSpPr>
            <p:spPr bwMode="auto">
              <a:xfrm>
                <a:off x="2498" y="2141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8" name="Rectangle 70"/>
              <p:cNvSpPr>
                <a:spLocks noChangeArrowheads="1"/>
              </p:cNvSpPr>
              <p:nvPr/>
            </p:nvSpPr>
            <p:spPr bwMode="auto">
              <a:xfrm>
                <a:off x="1465" y="2141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59" name="Rectangle 71"/>
              <p:cNvSpPr>
                <a:spLocks noChangeArrowheads="1"/>
              </p:cNvSpPr>
              <p:nvPr/>
            </p:nvSpPr>
            <p:spPr bwMode="auto">
              <a:xfrm>
                <a:off x="431" y="2141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0" name="Rectangle 72"/>
              <p:cNvSpPr>
                <a:spLocks noChangeArrowheads="1"/>
              </p:cNvSpPr>
              <p:nvPr/>
            </p:nvSpPr>
            <p:spPr bwMode="auto">
              <a:xfrm>
                <a:off x="3532" y="1756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1" name="Rectangle 73"/>
              <p:cNvSpPr>
                <a:spLocks noChangeArrowheads="1"/>
              </p:cNvSpPr>
              <p:nvPr/>
            </p:nvSpPr>
            <p:spPr bwMode="auto">
              <a:xfrm>
                <a:off x="2498" y="1756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2" name="Rectangle 74"/>
              <p:cNvSpPr>
                <a:spLocks noChangeArrowheads="1"/>
              </p:cNvSpPr>
              <p:nvPr/>
            </p:nvSpPr>
            <p:spPr bwMode="auto">
              <a:xfrm>
                <a:off x="1465" y="1756"/>
                <a:ext cx="103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3" name="Rectangle 75"/>
              <p:cNvSpPr>
                <a:spLocks noChangeArrowheads="1"/>
              </p:cNvSpPr>
              <p:nvPr/>
            </p:nvSpPr>
            <p:spPr bwMode="auto">
              <a:xfrm>
                <a:off x="431" y="1756"/>
                <a:ext cx="1034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4" name="Rectangle 76"/>
              <p:cNvSpPr>
                <a:spLocks noChangeArrowheads="1"/>
              </p:cNvSpPr>
              <p:nvPr/>
            </p:nvSpPr>
            <p:spPr bwMode="auto">
              <a:xfrm>
                <a:off x="3532" y="1373"/>
                <a:ext cx="103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5" name="Rectangle 77"/>
              <p:cNvSpPr>
                <a:spLocks noChangeArrowheads="1"/>
              </p:cNvSpPr>
              <p:nvPr/>
            </p:nvSpPr>
            <p:spPr bwMode="auto">
              <a:xfrm>
                <a:off x="2498" y="1373"/>
                <a:ext cx="103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6" name="Rectangle 78"/>
              <p:cNvSpPr>
                <a:spLocks noChangeArrowheads="1"/>
              </p:cNvSpPr>
              <p:nvPr/>
            </p:nvSpPr>
            <p:spPr bwMode="auto">
              <a:xfrm>
                <a:off x="1465" y="1373"/>
                <a:ext cx="103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7" name="Rectangle 79"/>
              <p:cNvSpPr>
                <a:spLocks noChangeArrowheads="1"/>
              </p:cNvSpPr>
              <p:nvPr/>
            </p:nvSpPr>
            <p:spPr bwMode="auto">
              <a:xfrm>
                <a:off x="431" y="1373"/>
                <a:ext cx="103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8" name="Rectangle 80"/>
              <p:cNvSpPr>
                <a:spLocks noChangeArrowheads="1"/>
              </p:cNvSpPr>
              <p:nvPr/>
            </p:nvSpPr>
            <p:spPr bwMode="auto">
              <a:xfrm>
                <a:off x="3532" y="981"/>
                <a:ext cx="1033" cy="3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69" name="Rectangle 81"/>
              <p:cNvSpPr>
                <a:spLocks noChangeArrowheads="1"/>
              </p:cNvSpPr>
              <p:nvPr/>
            </p:nvSpPr>
            <p:spPr bwMode="auto">
              <a:xfrm>
                <a:off x="2498" y="981"/>
                <a:ext cx="1034" cy="3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70" name="Rectangle 82"/>
              <p:cNvSpPr>
                <a:spLocks noChangeArrowheads="1"/>
              </p:cNvSpPr>
              <p:nvPr/>
            </p:nvSpPr>
            <p:spPr bwMode="auto">
              <a:xfrm>
                <a:off x="1465" y="981"/>
                <a:ext cx="1033" cy="3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3571" name="Rectangle 83"/>
              <p:cNvSpPr>
                <a:spLocks noChangeArrowheads="1"/>
              </p:cNvSpPr>
              <p:nvPr/>
            </p:nvSpPr>
            <p:spPr bwMode="auto">
              <a:xfrm>
                <a:off x="431" y="981"/>
                <a:ext cx="1034" cy="3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endParaRPr lang="ru-RU" sz="280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174" name="Line 84"/>
              <p:cNvSpPr>
                <a:spLocks noChangeShapeType="1"/>
              </p:cNvSpPr>
              <p:nvPr/>
            </p:nvSpPr>
            <p:spPr bwMode="auto">
              <a:xfrm>
                <a:off x="431" y="981"/>
                <a:ext cx="4134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75" name="Line 85"/>
              <p:cNvSpPr>
                <a:spLocks noChangeShapeType="1"/>
              </p:cNvSpPr>
              <p:nvPr/>
            </p:nvSpPr>
            <p:spPr bwMode="auto">
              <a:xfrm>
                <a:off x="431" y="1373"/>
                <a:ext cx="413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76" name="Line 86"/>
              <p:cNvSpPr>
                <a:spLocks noChangeShapeType="1"/>
              </p:cNvSpPr>
              <p:nvPr/>
            </p:nvSpPr>
            <p:spPr bwMode="auto">
              <a:xfrm>
                <a:off x="431" y="1756"/>
                <a:ext cx="413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77" name="Line 87"/>
              <p:cNvSpPr>
                <a:spLocks noChangeShapeType="1"/>
              </p:cNvSpPr>
              <p:nvPr/>
            </p:nvSpPr>
            <p:spPr bwMode="auto">
              <a:xfrm>
                <a:off x="431" y="2141"/>
                <a:ext cx="413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78" name="Line 88"/>
              <p:cNvSpPr>
                <a:spLocks noChangeShapeType="1"/>
              </p:cNvSpPr>
              <p:nvPr/>
            </p:nvSpPr>
            <p:spPr bwMode="auto">
              <a:xfrm>
                <a:off x="431" y="2526"/>
                <a:ext cx="413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79" name="Line 89"/>
              <p:cNvSpPr>
                <a:spLocks noChangeShapeType="1"/>
              </p:cNvSpPr>
              <p:nvPr/>
            </p:nvSpPr>
            <p:spPr bwMode="auto">
              <a:xfrm>
                <a:off x="431" y="2911"/>
                <a:ext cx="413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80" name="Line 90"/>
              <p:cNvSpPr>
                <a:spLocks noChangeShapeType="1"/>
              </p:cNvSpPr>
              <p:nvPr/>
            </p:nvSpPr>
            <p:spPr bwMode="auto">
              <a:xfrm>
                <a:off x="431" y="3294"/>
                <a:ext cx="413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81" name="Line 91"/>
              <p:cNvSpPr>
                <a:spLocks noChangeShapeType="1"/>
              </p:cNvSpPr>
              <p:nvPr/>
            </p:nvSpPr>
            <p:spPr bwMode="auto">
              <a:xfrm>
                <a:off x="431" y="3679"/>
                <a:ext cx="4134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82" name="Line 92"/>
              <p:cNvSpPr>
                <a:spLocks noChangeShapeType="1"/>
              </p:cNvSpPr>
              <p:nvPr/>
            </p:nvSpPr>
            <p:spPr bwMode="auto">
              <a:xfrm>
                <a:off x="431" y="981"/>
                <a:ext cx="0" cy="2698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83" name="Line 93"/>
              <p:cNvSpPr>
                <a:spLocks noChangeShapeType="1"/>
              </p:cNvSpPr>
              <p:nvPr/>
            </p:nvSpPr>
            <p:spPr bwMode="auto">
              <a:xfrm>
                <a:off x="1465" y="981"/>
                <a:ext cx="0" cy="269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84" name="Line 94"/>
              <p:cNvSpPr>
                <a:spLocks noChangeShapeType="1"/>
              </p:cNvSpPr>
              <p:nvPr/>
            </p:nvSpPr>
            <p:spPr bwMode="auto">
              <a:xfrm>
                <a:off x="2498" y="981"/>
                <a:ext cx="0" cy="269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85" name="Line 95"/>
              <p:cNvSpPr>
                <a:spLocks noChangeShapeType="1"/>
              </p:cNvSpPr>
              <p:nvPr/>
            </p:nvSpPr>
            <p:spPr bwMode="auto">
              <a:xfrm>
                <a:off x="3532" y="981"/>
                <a:ext cx="0" cy="269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3186" name="Line 96"/>
              <p:cNvSpPr>
                <a:spLocks noChangeShapeType="1"/>
              </p:cNvSpPr>
              <p:nvPr/>
            </p:nvSpPr>
            <p:spPr bwMode="auto">
              <a:xfrm>
                <a:off x="4565" y="981"/>
                <a:ext cx="0" cy="2698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</p:grpSp>
        <p:graphicFrame>
          <p:nvGraphicFramePr>
            <p:cNvPr id="3130" name="Object 97"/>
            <p:cNvGraphicFramePr>
              <a:graphicFrameLocks noChangeAspect="1"/>
            </p:cNvGraphicFramePr>
            <p:nvPr/>
          </p:nvGraphicFramePr>
          <p:xfrm>
            <a:off x="2791" y="2666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" name="Формула" r:id="rId28" imgW="177338" imgH="88669" progId="Equation.3">
                    <p:embed/>
                  </p:oleObj>
                </mc:Choice>
                <mc:Fallback>
                  <p:oleObj name="Формула" r:id="rId28" imgW="177338" imgH="88669" progId="Equation.3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" y="2666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1" name="Object 98"/>
            <p:cNvGraphicFramePr>
              <a:graphicFrameLocks noChangeAspect="1"/>
            </p:cNvGraphicFramePr>
            <p:nvPr/>
          </p:nvGraphicFramePr>
          <p:xfrm>
            <a:off x="705" y="1486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8" name="Формула" r:id="rId30" imgW="177338" imgH="88669" progId="Equation.3">
                    <p:embed/>
                  </p:oleObj>
                </mc:Choice>
                <mc:Fallback>
                  <p:oleObj name="Формула" r:id="rId30" imgW="177338" imgH="88669" progId="Equation.3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5" y="1486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2" name="Object 99"/>
            <p:cNvGraphicFramePr>
              <a:graphicFrameLocks noChangeAspect="1"/>
            </p:cNvGraphicFramePr>
            <p:nvPr/>
          </p:nvGraphicFramePr>
          <p:xfrm>
            <a:off x="3834" y="2303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" name="Формула" r:id="rId31" imgW="177338" imgH="88669" progId="Equation.3">
                    <p:embed/>
                  </p:oleObj>
                </mc:Choice>
                <mc:Fallback>
                  <p:oleObj name="Формула" r:id="rId31" imgW="177338" imgH="88669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4" y="2303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3" name="Object 100"/>
            <p:cNvGraphicFramePr>
              <a:graphicFrameLocks noChangeAspect="1"/>
            </p:cNvGraphicFramePr>
            <p:nvPr/>
          </p:nvGraphicFramePr>
          <p:xfrm>
            <a:off x="2791" y="1532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Формула" r:id="rId32" imgW="177338" imgH="88669" progId="Equation.3">
                    <p:embed/>
                  </p:oleObj>
                </mc:Choice>
                <mc:Fallback>
                  <p:oleObj name="Формула" r:id="rId32" imgW="177338" imgH="88669" progId="Equation.3">
                    <p:embed/>
                    <p:pic>
                      <p:nvPicPr>
                        <p:cNvPr id="0" name="Object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" y="1532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4" name="Object 101"/>
            <p:cNvGraphicFramePr>
              <a:graphicFrameLocks noChangeAspect="1"/>
            </p:cNvGraphicFramePr>
            <p:nvPr/>
          </p:nvGraphicFramePr>
          <p:xfrm>
            <a:off x="1748" y="1532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1" name="Формула" r:id="rId33" imgW="177338" imgH="88669" progId="Equation.3">
                    <p:embed/>
                  </p:oleObj>
                </mc:Choice>
                <mc:Fallback>
                  <p:oleObj name="Формула" r:id="rId33" imgW="177338" imgH="88669" progId="Equation.3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8" y="1532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5" name="Object 102"/>
            <p:cNvGraphicFramePr>
              <a:graphicFrameLocks noChangeAspect="1"/>
            </p:cNvGraphicFramePr>
            <p:nvPr/>
          </p:nvGraphicFramePr>
          <p:xfrm>
            <a:off x="2791" y="1940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Формула" r:id="rId34" imgW="177338" imgH="88669" progId="Equation.3">
                    <p:embed/>
                  </p:oleObj>
                </mc:Choice>
                <mc:Fallback>
                  <p:oleObj name="Формула" r:id="rId34" imgW="177338" imgH="88669" progId="Equation.3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" y="1940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6" name="Object 103"/>
            <p:cNvGraphicFramePr>
              <a:graphicFrameLocks noChangeAspect="1"/>
            </p:cNvGraphicFramePr>
            <p:nvPr/>
          </p:nvGraphicFramePr>
          <p:xfrm>
            <a:off x="3834" y="1532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Формула" r:id="rId35" imgW="177338" imgH="88669" progId="Equation.3">
                    <p:embed/>
                  </p:oleObj>
                </mc:Choice>
                <mc:Fallback>
                  <p:oleObj name="Формула" r:id="rId35" imgW="177338" imgH="88669" progId="Equation.3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4" y="1532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7" name="Object 104"/>
            <p:cNvGraphicFramePr>
              <a:graphicFrameLocks noChangeAspect="1"/>
            </p:cNvGraphicFramePr>
            <p:nvPr/>
          </p:nvGraphicFramePr>
          <p:xfrm>
            <a:off x="2791" y="2303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Формула" r:id="rId36" imgW="177338" imgH="88669" progId="Equation.3">
                    <p:embed/>
                  </p:oleObj>
                </mc:Choice>
                <mc:Fallback>
                  <p:oleObj name="Формула" r:id="rId36" imgW="177338" imgH="88669" progId="Equation.3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" y="2303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8" name="Object 105"/>
            <p:cNvGraphicFramePr>
              <a:graphicFrameLocks noChangeAspect="1"/>
            </p:cNvGraphicFramePr>
            <p:nvPr/>
          </p:nvGraphicFramePr>
          <p:xfrm>
            <a:off x="795" y="2303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Формула" r:id="rId37" imgW="177338" imgH="88669" progId="Equation.3">
                    <p:embed/>
                  </p:oleObj>
                </mc:Choice>
                <mc:Fallback>
                  <p:oleObj name="Формула" r:id="rId37" imgW="177338" imgH="88669" progId="Equation.3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" y="2303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9" name="Object 106"/>
            <p:cNvGraphicFramePr>
              <a:graphicFrameLocks noChangeAspect="1"/>
            </p:cNvGraphicFramePr>
            <p:nvPr/>
          </p:nvGraphicFramePr>
          <p:xfrm>
            <a:off x="1748" y="2303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Формула" r:id="rId38" imgW="177338" imgH="88669" progId="Equation.3">
                    <p:embed/>
                  </p:oleObj>
                </mc:Choice>
                <mc:Fallback>
                  <p:oleObj name="Формула" r:id="rId38" imgW="177338" imgH="88669" progId="Equation.3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8" y="2303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40" name="Object 107"/>
            <p:cNvGraphicFramePr>
              <a:graphicFrameLocks noChangeAspect="1"/>
            </p:cNvGraphicFramePr>
            <p:nvPr/>
          </p:nvGraphicFramePr>
          <p:xfrm>
            <a:off x="2791" y="1124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Формула" r:id="rId39" imgW="177338" imgH="88669" progId="Equation.3">
                    <p:embed/>
                  </p:oleObj>
                </mc:Choice>
                <mc:Fallback>
                  <p:oleObj name="Формула" r:id="rId39" imgW="177338" imgH="88669" progId="Equation.3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" y="1124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41" name="Object 108"/>
            <p:cNvGraphicFramePr>
              <a:graphicFrameLocks noChangeAspect="1"/>
            </p:cNvGraphicFramePr>
            <p:nvPr/>
          </p:nvGraphicFramePr>
          <p:xfrm>
            <a:off x="3789" y="3074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Формула" r:id="rId40" imgW="177338" imgH="88669" progId="Equation.3">
                    <p:embed/>
                  </p:oleObj>
                </mc:Choice>
                <mc:Fallback>
                  <p:oleObj name="Формула" r:id="rId40" imgW="177338" imgH="88669" progId="Equation.3">
                    <p:embed/>
                    <p:pic>
                      <p:nvPicPr>
                        <p:cNvPr id="0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9" y="3074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42" name="Object 109"/>
            <p:cNvGraphicFramePr>
              <a:graphicFrameLocks noChangeAspect="1"/>
            </p:cNvGraphicFramePr>
            <p:nvPr/>
          </p:nvGraphicFramePr>
          <p:xfrm>
            <a:off x="2791" y="3029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Формула" r:id="rId41" imgW="177338" imgH="88669" progId="Equation.3">
                    <p:embed/>
                  </p:oleObj>
                </mc:Choice>
                <mc:Fallback>
                  <p:oleObj name="Формула" r:id="rId41" imgW="177338" imgH="88669" progId="Equation.3">
                    <p:embed/>
                    <p:pic>
                      <p:nvPicPr>
                        <p:cNvPr id="0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" y="3029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43" name="Object 110"/>
            <p:cNvGraphicFramePr>
              <a:graphicFrameLocks noChangeAspect="1"/>
            </p:cNvGraphicFramePr>
            <p:nvPr/>
          </p:nvGraphicFramePr>
          <p:xfrm>
            <a:off x="1793" y="3029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" name="Формула" r:id="rId42" imgW="177338" imgH="88669" progId="Equation.3">
                    <p:embed/>
                  </p:oleObj>
                </mc:Choice>
                <mc:Fallback>
                  <p:oleObj name="Формула" r:id="rId42" imgW="177338" imgH="88669" progId="Equation.3">
                    <p:embed/>
                    <p:pic>
                      <p:nvPicPr>
                        <p:cNvPr id="0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" y="3029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44" name="Object 111"/>
            <p:cNvGraphicFramePr>
              <a:graphicFrameLocks noChangeAspect="1"/>
            </p:cNvGraphicFramePr>
            <p:nvPr/>
          </p:nvGraphicFramePr>
          <p:xfrm>
            <a:off x="750" y="3074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" name="Формула" r:id="rId43" imgW="177338" imgH="88669" progId="Equation.3">
                    <p:embed/>
                  </p:oleObj>
                </mc:Choice>
                <mc:Fallback>
                  <p:oleObj name="Формула" r:id="rId43" imgW="177338" imgH="88669" progId="Equation.3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" y="3074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45" name="Object 112"/>
            <p:cNvGraphicFramePr>
              <a:graphicFrameLocks noChangeAspect="1"/>
            </p:cNvGraphicFramePr>
            <p:nvPr/>
          </p:nvGraphicFramePr>
          <p:xfrm>
            <a:off x="2836" y="3437"/>
            <a:ext cx="45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Формула" r:id="rId44" imgW="177338" imgH="88669" progId="Equation.3">
                    <p:embed/>
                  </p:oleObj>
                </mc:Choice>
                <mc:Fallback>
                  <p:oleObj name="Формула" r:id="rId44" imgW="177338" imgH="88669" progId="Equation.3">
                    <p:embed/>
                    <p:pic>
                      <p:nvPicPr>
                        <p:cNvPr id="0" name="Object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6" y="3437"/>
                          <a:ext cx="45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5" name="Rectangle 11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3076" name="Object 114"/>
          <p:cNvGraphicFramePr>
            <a:graphicFrameLocks noChangeAspect="1"/>
          </p:cNvGraphicFramePr>
          <p:nvPr/>
        </p:nvGraphicFramePr>
        <p:xfrm>
          <a:off x="3059113" y="5300663"/>
          <a:ext cx="31686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Формула" r:id="rId45" imgW="1459866" imgH="431613" progId="Equation.3">
                  <p:embed/>
                </p:oleObj>
              </mc:Choice>
              <mc:Fallback>
                <p:oleObj name="Формула" r:id="rId45" imgW="1459866" imgH="431613" progId="Equation.3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300663"/>
                        <a:ext cx="3168650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AutoShape 3"/>
          <p:cNvSpPr>
            <a:spLocks noChangeArrowheads="1"/>
          </p:cNvSpPr>
          <p:nvPr/>
        </p:nvSpPr>
        <p:spPr bwMode="auto">
          <a:xfrm>
            <a:off x="1447800" y="228600"/>
            <a:ext cx="5791200" cy="774700"/>
          </a:xfrm>
          <a:prstGeom prst="parallelogram">
            <a:avLst>
              <a:gd name="adj" fmla="val 186885"/>
            </a:avLst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Жадвал ўлчами бўйича</a:t>
            </a:r>
          </a:p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 шифрматнни ўқиш 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2133600" y="2209800"/>
            <a:ext cx="4032250" cy="10668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342900" indent="-342900"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Биграммалар частоталарини </a:t>
            </a:r>
          </a:p>
          <a:p>
            <a:pPr marL="342900" indent="-342900"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ҳисоблаш ва унга асосан ўрин </a:t>
            </a:r>
          </a:p>
          <a:p>
            <a:pPr marL="342900" indent="-342900"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алмаштиришларни </a:t>
            </a:r>
            <a:r>
              <a:rPr lang="uz-Cyrl-UZ" sz="2400">
                <a:solidFill>
                  <a:srgbClr val="000000"/>
                </a:solidFill>
                <a:latin typeface="Times New Roman" pitchFamily="18" charset="0"/>
                <a:hlinkClick r:id="rId3" action="ppaction://hlinksldjump"/>
              </a:rPr>
              <a:t>бажариш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3429000"/>
            <a:ext cx="3492500" cy="12192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Тегишли  соҳаларга оид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очиқматнлар частотавий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 хусусиятлари  базаси</a:t>
            </a:r>
            <a:r>
              <a:rPr lang="uz-Cyrl-UZ" sz="2400">
                <a:solidFill>
                  <a:srgbClr val="000000"/>
                </a:solidFill>
              </a:rPr>
              <a:t>.</a:t>
            </a:r>
            <a:r>
              <a:rPr lang="ru-RU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73735" name="AutoShape 7"/>
          <p:cNvSpPr>
            <a:spLocks noChangeArrowheads="1"/>
          </p:cNvSpPr>
          <p:nvPr/>
        </p:nvSpPr>
        <p:spPr bwMode="auto">
          <a:xfrm>
            <a:off x="2628900" y="3978275"/>
            <a:ext cx="3455988" cy="2879725"/>
          </a:xfrm>
          <a:prstGeom prst="diamond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02" name="Text Box 8"/>
          <p:cNvSpPr txBox="1">
            <a:spLocks noChangeArrowheads="1"/>
          </p:cNvSpPr>
          <p:nvPr/>
        </p:nvSpPr>
        <p:spPr bwMode="auto">
          <a:xfrm>
            <a:off x="3348038" y="4689475"/>
            <a:ext cx="20002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Частотавий хусусиятларини </a:t>
            </a:r>
            <a:r>
              <a:rPr lang="uz-Cyrl-UZ" sz="2400">
                <a:solidFill>
                  <a:srgbClr val="000000"/>
                </a:solidFill>
                <a:latin typeface="Times New Roman" pitchFamily="18" charset="0"/>
                <a:hlinkClick r:id="" action="ppaction://noaction"/>
              </a:rPr>
              <a:t>таққослаш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3737" name="Rectangle 9"/>
          <p:cNvSpPr>
            <a:spLocks noChangeArrowheads="1"/>
          </p:cNvSpPr>
          <p:nvPr/>
        </p:nvSpPr>
        <p:spPr bwMode="auto">
          <a:xfrm>
            <a:off x="0" y="5229225"/>
            <a:ext cx="1871663" cy="1084263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Очиқматнни </a:t>
            </a:r>
          </a:p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эълон қилиш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3738" name="Rectangle 10"/>
          <p:cNvSpPr>
            <a:spLocks noChangeArrowheads="1"/>
          </p:cNvSpPr>
          <p:nvPr/>
        </p:nvSpPr>
        <p:spPr bwMode="auto">
          <a:xfrm>
            <a:off x="5651500" y="3716338"/>
            <a:ext cx="2881313" cy="1152525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Тилнинг хусусиятла-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ри асосида ўзгарти-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ришларни бажариш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5" name="Rectangle 11"/>
          <p:cNvSpPr>
            <a:spLocks noChangeArrowheads="1"/>
          </p:cNvSpPr>
          <p:nvPr/>
        </p:nvSpPr>
        <p:spPr bwMode="auto">
          <a:xfrm>
            <a:off x="1979613" y="5013325"/>
            <a:ext cx="504825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ҳа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6" name="Rectangle 12"/>
          <p:cNvSpPr>
            <a:spLocks noChangeArrowheads="1"/>
          </p:cNvSpPr>
          <p:nvPr/>
        </p:nvSpPr>
        <p:spPr bwMode="auto">
          <a:xfrm>
            <a:off x="6084888" y="4868863"/>
            <a:ext cx="6477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йўқ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7" name="Line 13"/>
          <p:cNvSpPr>
            <a:spLocks noChangeShapeType="1"/>
          </p:cNvSpPr>
          <p:nvPr/>
        </p:nvSpPr>
        <p:spPr bwMode="auto">
          <a:xfrm>
            <a:off x="4114800" y="19050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08" name="Line 14"/>
          <p:cNvSpPr>
            <a:spLocks noChangeShapeType="1"/>
          </p:cNvSpPr>
          <p:nvPr/>
        </p:nvSpPr>
        <p:spPr bwMode="auto">
          <a:xfrm>
            <a:off x="4114800" y="990600"/>
            <a:ext cx="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09" name="Line 15"/>
          <p:cNvSpPr>
            <a:spLocks noChangeShapeType="1"/>
          </p:cNvSpPr>
          <p:nvPr/>
        </p:nvSpPr>
        <p:spPr bwMode="auto">
          <a:xfrm>
            <a:off x="4343400" y="3276600"/>
            <a:ext cx="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0" name="Line 16"/>
          <p:cNvSpPr>
            <a:spLocks noChangeShapeType="1"/>
          </p:cNvSpPr>
          <p:nvPr/>
        </p:nvSpPr>
        <p:spPr bwMode="auto">
          <a:xfrm>
            <a:off x="5867400" y="5257800"/>
            <a:ext cx="123666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1" name="Line 17"/>
          <p:cNvSpPr>
            <a:spLocks noChangeShapeType="1"/>
          </p:cNvSpPr>
          <p:nvPr/>
        </p:nvSpPr>
        <p:spPr bwMode="auto">
          <a:xfrm>
            <a:off x="3492500" y="4005263"/>
            <a:ext cx="431800" cy="2873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2" name="Line 18"/>
          <p:cNvSpPr>
            <a:spLocks noChangeShapeType="1"/>
          </p:cNvSpPr>
          <p:nvPr/>
        </p:nvSpPr>
        <p:spPr bwMode="auto">
          <a:xfrm flipH="1">
            <a:off x="1835150" y="5445125"/>
            <a:ext cx="79216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3" name="Line 19"/>
          <p:cNvSpPr>
            <a:spLocks noChangeShapeType="1"/>
          </p:cNvSpPr>
          <p:nvPr/>
        </p:nvSpPr>
        <p:spPr bwMode="auto">
          <a:xfrm>
            <a:off x="8604250" y="6092825"/>
            <a:ext cx="2159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4" name="Line 20"/>
          <p:cNvSpPr>
            <a:spLocks noChangeShapeType="1"/>
          </p:cNvSpPr>
          <p:nvPr/>
        </p:nvSpPr>
        <p:spPr bwMode="auto">
          <a:xfrm flipV="1">
            <a:off x="8820150" y="762000"/>
            <a:ext cx="19050" cy="5330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5" name="Line 21"/>
          <p:cNvSpPr>
            <a:spLocks noChangeShapeType="1"/>
          </p:cNvSpPr>
          <p:nvPr/>
        </p:nvSpPr>
        <p:spPr bwMode="auto">
          <a:xfrm flipH="1" flipV="1">
            <a:off x="6324600" y="762000"/>
            <a:ext cx="2514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3750" name="Rectangle 22"/>
          <p:cNvSpPr>
            <a:spLocks noChangeArrowheads="1"/>
          </p:cNvSpPr>
          <p:nvPr/>
        </p:nvSpPr>
        <p:spPr bwMode="auto">
          <a:xfrm>
            <a:off x="6013450" y="5516563"/>
            <a:ext cx="2590800" cy="1268412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Тегишли коррек-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тировкаларни  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амалга ошириш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17" name="Line 23"/>
          <p:cNvSpPr>
            <a:spLocks noChangeShapeType="1"/>
          </p:cNvSpPr>
          <p:nvPr/>
        </p:nvSpPr>
        <p:spPr bwMode="auto">
          <a:xfrm flipV="1">
            <a:off x="7092950" y="4868863"/>
            <a:ext cx="0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8" name="Line 24"/>
          <p:cNvSpPr>
            <a:spLocks noChangeShapeType="1"/>
          </p:cNvSpPr>
          <p:nvPr/>
        </p:nvSpPr>
        <p:spPr bwMode="auto">
          <a:xfrm>
            <a:off x="7092950" y="5373688"/>
            <a:ext cx="0" cy="1428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9" name="Line 25"/>
          <p:cNvSpPr>
            <a:spLocks noChangeShapeType="1"/>
          </p:cNvSpPr>
          <p:nvPr/>
        </p:nvSpPr>
        <p:spPr bwMode="auto">
          <a:xfrm flipH="1">
            <a:off x="4859338" y="4149725"/>
            <a:ext cx="792162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3754" name="Rectangle 26"/>
          <p:cNvSpPr>
            <a:spLocks noChangeArrowheads="1"/>
          </p:cNvSpPr>
          <p:nvPr/>
        </p:nvSpPr>
        <p:spPr bwMode="auto">
          <a:xfrm>
            <a:off x="1524000" y="1219200"/>
            <a:ext cx="5638800" cy="6985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Шифрматн блокини сатр(устун) бўйича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 жадвалга жойлаштириш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066800" y="609600"/>
            <a:ext cx="6934200" cy="13716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Жадвалнинг бирор </a:t>
            </a:r>
            <a:r>
              <a:rPr lang="en-US" sz="2400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   сатр(устун)идан бошқа </a:t>
            </a: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defRPr/>
            </a:pPr>
            <a:r>
              <a:rPr lang="en-US" sz="2400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  сатр(устун)ларига</a:t>
            </a:r>
            <a:r>
              <a:rPr lang="en-US" sz="2400">
                <a:solidFill>
                  <a:srgbClr val="000000"/>
                </a:solidFill>
                <a:latin typeface="Times New Roman" pitchFamily="18" charset="0"/>
              </a:rPr>
              <a:t>                  </a:t>
            </a: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 ўтиши</a:t>
            </a:r>
            <a:r>
              <a:rPr lang="en-US" sz="240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частотала-</a:t>
            </a:r>
          </a:p>
          <a:p>
            <a:pPr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рини биграммалар базаси асосида ҳисоблаш 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4191000" y="1143000"/>
          <a:ext cx="1066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Формула" r:id="rId4" imgW="431613" imgH="203112" progId="Equation.3">
                  <p:embed/>
                </p:oleObj>
              </mc:Choice>
              <mc:Fallback>
                <p:oleObj name="Формула" r:id="rId4" imgW="431613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143000"/>
                        <a:ext cx="1066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5"/>
          <p:cNvGraphicFramePr>
            <a:graphicFrameLocks noChangeAspect="1"/>
          </p:cNvGraphicFramePr>
          <p:nvPr/>
        </p:nvGraphicFramePr>
        <p:xfrm>
          <a:off x="3810000" y="762000"/>
          <a:ext cx="381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Формула" r:id="rId6" imgW="203024" imgH="164957" progId="Equation.3">
                  <p:embed/>
                </p:oleObj>
              </mc:Choice>
              <mc:Fallback>
                <p:oleObj name="Формула" r:id="rId6" imgW="203024" imgH="16495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762000"/>
                        <a:ext cx="381000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6"/>
          <p:cNvGraphicFramePr>
            <a:graphicFrameLocks noChangeAspect="1"/>
          </p:cNvGraphicFramePr>
          <p:nvPr/>
        </p:nvGraphicFramePr>
        <p:xfrm>
          <a:off x="1219200" y="1219200"/>
          <a:ext cx="3492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Формула" r:id="rId8" imgW="241195" imgH="190417" progId="Equation.3">
                  <p:embed/>
                </p:oleObj>
              </mc:Choice>
              <mc:Fallback>
                <p:oleObj name="Формула" r:id="rId8" imgW="241195" imgH="19041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19200"/>
                        <a:ext cx="3492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1066800" y="2514600"/>
            <a:ext cx="7010400" cy="12954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Ҳосил бўлган частоталар асосида сатр(устун)-</a:t>
            </a:r>
          </a:p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дан  сатр(устун)га ўтиш йўлининг оптимал </a:t>
            </a:r>
          </a:p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вариантини топиш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1066800" y="4495800"/>
            <a:ext cx="7086600" cy="9144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chemeClr val="tx2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Топилган йўл асосида ўрин алмаштиришни</a:t>
            </a:r>
          </a:p>
          <a:p>
            <a:pPr algn="ctr">
              <a:defRPr/>
            </a:pPr>
            <a:r>
              <a:rPr lang="uz-Cyrl-UZ" sz="2400">
                <a:solidFill>
                  <a:srgbClr val="000000"/>
                </a:solidFill>
                <a:latin typeface="Times New Roman" pitchFamily="18" charset="0"/>
              </a:rPr>
              <a:t>сатр(устун)лар бўйича амалга ошириш.</a:t>
            </a:r>
            <a:endParaRPr lang="ru-RU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>
            <a:off x="4419600" y="1981200"/>
            <a:ext cx="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>
            <a:off x="4495800" y="3810000"/>
            <a:ext cx="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74763" name="AutoShape 11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6705600" y="6019800"/>
            <a:ext cx="1066800" cy="533400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gradFill rotWithShape="1">
            <a:gsLst>
              <a:gs pos="0">
                <a:srgbClr val="3399FF"/>
              </a:gs>
              <a:gs pos="50000">
                <a:schemeClr val="tx2"/>
              </a:gs>
              <a:gs pos="100000">
                <a:srgbClr val="3399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827088" y="1916113"/>
          <a:ext cx="7705728" cy="4321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4288"/>
                <a:gridCol w="1284288"/>
                <a:gridCol w="1284288"/>
                <a:gridCol w="1284288"/>
                <a:gridCol w="1284288"/>
                <a:gridCol w="1284288"/>
              </a:tblGrid>
              <a:tr h="8209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i/j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1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2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3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4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5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</a:tr>
              <a:tr h="7004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С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Н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В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Й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К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</a:tr>
              <a:tr h="7188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2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О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_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С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О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Ч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</a:tr>
              <a:tr h="6820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3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О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Д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Т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Р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Й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</a:tr>
              <a:tr h="704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4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М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М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_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Л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Е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</a:tr>
              <a:tr h="694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5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Т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А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Е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_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effectLst/>
                        </a:rPr>
                        <a:t>О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090" marR="4509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538662"/>
          </a:xfrm>
        </p:spPr>
        <p:txBody>
          <a:bodyPr/>
          <a:lstStyle/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1-сатр: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1-&gt;2 0.002141+0.003230+0.002141+0+0 =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1-&gt;3 0.002141+0.000113+0.000188+0+0 =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1-&gt;4 0.001352+0+0.004395+0+0.000901 = 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1-&gt;5 0.010442+0.011607+0.005296+0.006874+0.007024 = 0.041243</a:t>
            </a:r>
          </a:p>
          <a:p>
            <a:pPr>
              <a:defRPr/>
            </a:pPr>
            <a:endParaRPr lang="ru-RU" sz="3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54562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2-сатр: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2-&gt;1 0.006235+0.015137+0.002103+0.004845+0.000376 = 0.028696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2-&gt;3 0.000075+0.005784+0.010442+0.004395+0 = 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2-&gt;4 0.006348+0.006874+0.002892+0.007362+0.003381 = 0.026857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2-&gt;5 0.005146+0.002028+0.003456+0.017654+0.000188 = 0.028472</a:t>
            </a:r>
          </a:p>
          <a:p>
            <a:pPr>
              <a:defRPr/>
            </a:pPr>
            <a:endParaRPr lang="ru-RU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970462"/>
          </a:xfrm>
        </p:spPr>
        <p:txBody>
          <a:bodyPr/>
          <a:lstStyle/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3-сатр: 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3-&gt;1 0.006235+0.001502+0.001690+0+0.000225 = 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3-&gt;2 0.000075+0.001390+0.000901+0.007475+0.000075 = 0.009916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3-&gt;4 0.006348+0.000038+0.002667+0.000038+0 = 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3-&gt;5 0.005146+0.003681+0.003831+0.000300+0 = </a:t>
            </a:r>
          </a:p>
          <a:p>
            <a:pPr>
              <a:defRPr/>
            </a:pPr>
            <a:endParaRPr lang="ru-RU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827587"/>
          </a:xfrm>
        </p:spPr>
        <p:txBody>
          <a:bodyPr/>
          <a:lstStyle/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4-сатр: 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4-&gt;1 0.000038+0.003230+0.013823+0+0.001202 = 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4-&gt;2 0.003719+0.007625+0.014086+0.007062+0.001164 = 0.033656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4-&gt;3 0.003719+0+0.005897+0+0.002103 = </a:t>
            </a:r>
          </a:p>
          <a:p>
            <a:pPr>
              <a:defRPr/>
            </a:pPr>
            <a:r>
              <a:rPr lang="ru-RU" sz="2800" dirty="0">
                <a:solidFill>
                  <a:srgbClr val="000000"/>
                </a:solidFill>
                <a:effectLst/>
              </a:rPr>
              <a:t>4-&gt;5 0.000038+0.001615+0.003643+0.007324+0.000113 = 0.012733</a:t>
            </a:r>
          </a:p>
          <a:p>
            <a:pPr>
              <a:defRPr/>
            </a:pPr>
            <a:endParaRPr lang="ru-RU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114925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5-сатр: 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5-&gt;1 0.000901+0.002517+0.001427+0+0.002742 = 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5-&gt;2 0.009278+0.017090+0.003568+0.009165+0.002028 = 0.041129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5-&gt;3 0.009278+0.001765+0.004244+0.004132+0.004845 = 0.024264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  <a:effectLst/>
              </a:rPr>
              <a:t>5-&gt;4 0.00213+0.003080+0.018142+0.003944+0.002554 =</a:t>
            </a:r>
          </a:p>
          <a:p>
            <a:pPr>
              <a:defRPr/>
            </a:pPr>
            <a:endParaRPr lang="ru-RU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476250"/>
            <a:ext cx="6840537" cy="6192838"/>
          </a:xfrm>
        </p:spPr>
      </p:pic>
      <p:sp>
        <p:nvSpPr>
          <p:cNvPr id="12291" name="AutoShape 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8388350" y="6308725"/>
            <a:ext cx="576263" cy="360363"/>
          </a:xfrm>
          <a:custGeom>
            <a:avLst/>
            <a:gdLst>
              <a:gd name="T0" fmla="*/ 10981759 w 21600"/>
              <a:gd name="T1" fmla="*/ 0 h 21600"/>
              <a:gd name="T2" fmla="*/ 6588767 w 21600"/>
              <a:gd name="T3" fmla="*/ 2004035 h 21600"/>
              <a:gd name="T4" fmla="*/ 0 w 21600"/>
              <a:gd name="T5" fmla="*/ 5010364 h 21600"/>
              <a:gd name="T6" fmla="*/ 6588767 w 21600"/>
              <a:gd name="T7" fmla="*/ 6012106 h 21600"/>
              <a:gd name="T8" fmla="*/ 13177534 w 21600"/>
              <a:gd name="T9" fmla="*/ 4175072 h 21600"/>
              <a:gd name="T10" fmla="*/ 15374030 w 21600"/>
              <a:gd name="T11" fmla="*/ 2004035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кстура">
  <a:themeElements>
    <a:clrScheme name="Текстура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Текстура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Текстура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кстура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2110</TotalTime>
  <Words>259</Words>
  <Application>Microsoft Office PowerPoint</Application>
  <PresentationFormat>Экран (4:3)</PresentationFormat>
  <Paragraphs>105</Paragraphs>
  <Slides>11</Slides>
  <Notes>11</Notes>
  <HiddenSlides>3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Текстура</vt:lpstr>
      <vt:lpstr>Формула</vt:lpstr>
      <vt:lpstr> РАДИОЭЛЕКТРОН ТИЗИМЛАР ВА АХБОРОТ ТЕХНОЛОГИЯЛАРИ МАРКАЗИ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Centr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C223_6</dc:creator>
  <cp:lastModifiedBy>Microsoft Office</cp:lastModifiedBy>
  <cp:revision>90</cp:revision>
  <dcterms:created xsi:type="dcterms:W3CDTF">2006-01-07T09:22:17Z</dcterms:created>
  <dcterms:modified xsi:type="dcterms:W3CDTF">2022-04-06T03:56:54Z</dcterms:modified>
</cp:coreProperties>
</file>