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1"/>
  </p:notesMasterIdLst>
  <p:sldIdLst>
    <p:sldId id="270" r:id="rId2"/>
    <p:sldId id="338" r:id="rId3"/>
    <p:sldId id="337" r:id="rId4"/>
    <p:sldId id="323" r:id="rId5"/>
    <p:sldId id="318" r:id="rId6"/>
    <p:sldId id="324" r:id="rId7"/>
    <p:sldId id="272" r:id="rId8"/>
    <p:sldId id="264" r:id="rId9"/>
    <p:sldId id="265" r:id="rId10"/>
    <p:sldId id="322" r:id="rId11"/>
    <p:sldId id="325" r:id="rId12"/>
    <p:sldId id="327" r:id="rId13"/>
    <p:sldId id="282" r:id="rId14"/>
    <p:sldId id="284" r:id="rId15"/>
    <p:sldId id="285" r:id="rId16"/>
    <p:sldId id="286" r:id="rId17"/>
    <p:sldId id="287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3" r:id="rId27"/>
    <p:sldId id="314" r:id="rId28"/>
    <p:sldId id="315" r:id="rId29"/>
    <p:sldId id="316" r:id="rId3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9900"/>
    <a:srgbClr val="CCFFFF"/>
    <a:srgbClr val="66CCFF"/>
    <a:srgbClr val="CCECFF"/>
    <a:srgbClr val="003300"/>
    <a:srgbClr val="996600"/>
    <a:srgbClr val="EA6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>
        <p:scale>
          <a:sx n="70" d="100"/>
          <a:sy n="70" d="100"/>
        </p:scale>
        <p:origin x="-2730" y="-8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B0185B-3D91-43F0-9290-D31A1575A91E}" type="doc">
      <dgm:prSet loTypeId="urn:microsoft.com/office/officeart/2005/8/layout/hList1" loCatId="list" qsTypeId="urn:microsoft.com/office/officeart/2005/8/quickstyle/simple3" qsCatId="simple" csTypeId="urn:microsoft.com/office/officeart/2005/8/colors/accent6_2" csCatId="accent6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ru-RU"/>
        </a:p>
      </dgm:t>
    </dgm:pt>
    <dgm:pt modelId="{D1903DAF-44A1-4C91-8364-119D2F067043}">
      <dgm:prSet phldrT="[Текст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ru-RU" smtClean="0"/>
            <a:t>Махсус жадвал кўринишдаги  чизиқсиз        </a:t>
          </a:r>
          <a:r>
            <a:rPr lang="en-US" smtClean="0"/>
            <a:t>S</a:t>
          </a:r>
          <a:r>
            <a:rPr lang="ru-RU" smtClean="0"/>
            <a:t>-блоклар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14BD48-6177-4F41-9166-7E75745F9CC5}" type="parTrans" cxnId="{97E0105F-C76E-4A2B-8CB4-6926B47ED76F}">
      <dgm:prSet/>
      <dgm:spPr/>
      <dgm:t>
        <a:bodyPr/>
        <a:lstStyle/>
        <a:p>
          <a:endParaRPr lang="ru-RU"/>
        </a:p>
      </dgm:t>
    </dgm:pt>
    <dgm:pt modelId="{17ABFCEE-28EC-4A92-ACD1-3443214492A4}" type="sibTrans" cxnId="{97E0105F-C76E-4A2B-8CB4-6926B47ED76F}">
      <dgm:prSet/>
      <dgm:spPr/>
      <dgm:t>
        <a:bodyPr/>
        <a:lstStyle/>
        <a:p>
          <a:endParaRPr lang="ru-RU"/>
        </a:p>
      </dgm:t>
    </dgm:pt>
    <dgm:pt modelId="{7763C7DD-99B2-4C6C-8E91-C8F02692A2F1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  <dgm:t>
        <a:bodyPr/>
        <a:lstStyle/>
        <a:p>
          <a:pPr algn="l"/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акслантирилиши лозим бўлган кирувчи </a:t>
          </a:r>
          <a:r>
            <a:rPr lang="en-US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</a:t>
          </a:r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-битли блок,  </a:t>
          </a:r>
          <a:r>
            <a:rPr lang="en-US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k</a:t>
          </a:r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&lt;</a:t>
          </a:r>
          <a:r>
            <a:rPr lang="en-US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 </a:t>
          </a:r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битдан иборат блок остиларга ажратилади  ва  ушбу </a:t>
          </a:r>
          <a:r>
            <a:rPr lang="en-US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k</a:t>
          </a:r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-битли блок остилар учун  ўлчови  2</a:t>
          </a:r>
          <a:r>
            <a:rPr lang="en-US" sz="2000" i="0" baseline="30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k</a:t>
          </a:r>
          <a:r>
            <a:rPr lang="en-US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га тенг бўлган «ўрнига қўйиш» </a:t>
          </a:r>
          <a:r>
            <a:rPr lang="en-US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S</a:t>
          </a:r>
          <a:r>
            <a:rPr lang="ru-RU" sz="2000" i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-блок жадваллари тузиб олинади.</a:t>
          </a:r>
          <a:endParaRPr lang="ru-RU" sz="2000" i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491A2BCD-FA27-4F16-BC3F-B717C8F044DD}" type="parTrans" cxnId="{4967C859-16DB-4D25-BE2C-A9DD258ACC95}">
      <dgm:prSet/>
      <dgm:spPr/>
      <dgm:t>
        <a:bodyPr/>
        <a:lstStyle/>
        <a:p>
          <a:endParaRPr lang="ru-RU"/>
        </a:p>
      </dgm:t>
    </dgm:pt>
    <dgm:pt modelId="{65D4BE0C-F5E3-4DEF-8386-6A40CD5DEE58}" type="sibTrans" cxnId="{4967C859-16DB-4D25-BE2C-A9DD258ACC95}">
      <dgm:prSet/>
      <dgm:spPr/>
      <dgm:t>
        <a:bodyPr/>
        <a:lstStyle/>
        <a:p>
          <a:endParaRPr lang="ru-RU"/>
        </a:p>
      </dgm:t>
    </dgm:pt>
    <dgm:pt modelId="{5CA024BD-1F24-4418-9A93-8F36796C90A2}">
      <dgm:prSet phldrT="[Текст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ru-RU" smtClean="0"/>
            <a:t>Стандарт арифметик       ёки  алгебраик  амаллар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2A39E87-011E-4375-835C-E4FA428C6FFD}" type="parTrans" cxnId="{E3145962-F5EA-44CD-80A7-1294D6CC978F}">
      <dgm:prSet/>
      <dgm:spPr/>
      <dgm:t>
        <a:bodyPr/>
        <a:lstStyle/>
        <a:p>
          <a:endParaRPr lang="ru-RU"/>
        </a:p>
      </dgm:t>
    </dgm:pt>
    <dgm:pt modelId="{2F8E57DC-3F3C-41CE-9BC7-6AE32FF30C52}" type="sibTrans" cxnId="{E3145962-F5EA-44CD-80A7-1294D6CC978F}">
      <dgm:prSet/>
      <dgm:spPr/>
      <dgm:t>
        <a:bodyPr/>
        <a:lstStyle/>
        <a:p>
          <a:endParaRPr lang="ru-RU"/>
        </a:p>
      </dgm:t>
    </dgm:pt>
    <dgm:pt modelId="{497FE406-0301-458C-A9C1-822DFFF3E739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  <dgm:t>
        <a:bodyPr/>
        <a:lstStyle/>
        <a:p>
          <a:r>
            <a:rPr lang="ru-RU" sz="2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чизиқли (</a:t>
          </a:r>
          <a:r>
            <a:rPr lang="en-US" sz="2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XOR</a:t>
          </a:r>
          <a:r>
            <a:rPr lang="ru-RU" sz="2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) ёки чизиқсизлик даражаси кам бўлган( 2</a:t>
          </a:r>
          <a:r>
            <a:rPr lang="en-US" sz="2000" baseline="30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</a:t>
          </a:r>
          <a:r>
            <a:rPr lang="ru-RU" sz="2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 модул бўйича қўшиш) ёки бўлмаса аппарат-техник қўлланилиши мураккаб бўлган «даражага ошириш», «2</a:t>
          </a:r>
          <a:r>
            <a:rPr lang="en-US" sz="2000" baseline="30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</a:t>
          </a:r>
          <a:r>
            <a:rPr lang="ru-RU" sz="2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модул бўйича кўпайтириш», «туб модул бўйича кўпайтириш»  амаллари</a:t>
          </a:r>
          <a:endParaRPr lang="ru-RU" sz="200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B8093A48-4137-47DB-8714-2D1BAA7FF39E}" type="parTrans" cxnId="{31E38755-3A16-4FFE-A8A9-9BB1DE6FD5B2}">
      <dgm:prSet/>
      <dgm:spPr/>
      <dgm:t>
        <a:bodyPr/>
        <a:lstStyle/>
        <a:p>
          <a:endParaRPr lang="ru-RU"/>
        </a:p>
      </dgm:t>
    </dgm:pt>
    <dgm:pt modelId="{81969580-7860-4742-85B6-B6368BAC0222}" type="sibTrans" cxnId="{31E38755-3A16-4FFE-A8A9-9BB1DE6FD5B2}">
      <dgm:prSet/>
      <dgm:spPr/>
      <dgm:t>
        <a:bodyPr/>
        <a:lstStyle/>
        <a:p>
          <a:endParaRPr lang="ru-RU"/>
        </a:p>
      </dgm:t>
    </dgm:pt>
    <dgm:pt modelId="{6EFE0682-EE15-424A-AF30-73714CA19F15}">
      <dgm:prSet phldrT="[Текст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  <dgm:t>
        <a:bodyPr/>
        <a:lstStyle/>
        <a:p>
          <a:pPr algn="l"/>
          <a:endParaRPr lang="ru-RU" sz="2800"/>
        </a:p>
      </dgm:t>
    </dgm:pt>
    <dgm:pt modelId="{D9261999-2D54-4500-8AF7-7C43907917DC}" type="parTrans" cxnId="{97639842-5E29-4150-89A8-8AB18F436047}">
      <dgm:prSet/>
      <dgm:spPr/>
      <dgm:t>
        <a:bodyPr/>
        <a:lstStyle/>
        <a:p>
          <a:endParaRPr lang="ru-RU"/>
        </a:p>
      </dgm:t>
    </dgm:pt>
    <dgm:pt modelId="{72ADFE28-E621-4249-B2F9-FB8B1762837F}" type="sibTrans" cxnId="{97639842-5E29-4150-89A8-8AB18F436047}">
      <dgm:prSet/>
      <dgm:spPr/>
      <dgm:t>
        <a:bodyPr/>
        <a:lstStyle/>
        <a:p>
          <a:endParaRPr lang="ru-RU"/>
        </a:p>
      </dgm:t>
    </dgm:pt>
    <dgm:pt modelId="{94F4FFF6-1535-45B9-96D2-2D4747C0721B}">
      <dgm:prSet phldrT="[Текст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F3932292-1E6C-4592-8BB9-CDF5592A07E5}" type="parTrans" cxnId="{7E0A68D3-A462-4849-BF0C-354F8B0061E0}">
      <dgm:prSet/>
      <dgm:spPr/>
      <dgm:t>
        <a:bodyPr/>
        <a:lstStyle/>
        <a:p>
          <a:endParaRPr lang="ru-RU"/>
        </a:p>
      </dgm:t>
    </dgm:pt>
    <dgm:pt modelId="{89BFA6C8-6C63-4A58-9141-416873A8D572}" type="sibTrans" cxnId="{7E0A68D3-A462-4849-BF0C-354F8B0061E0}">
      <dgm:prSet/>
      <dgm:spPr/>
      <dgm:t>
        <a:bodyPr/>
        <a:lstStyle/>
        <a:p>
          <a:endParaRPr lang="ru-RU"/>
        </a:p>
      </dgm:t>
    </dgm:pt>
    <dgm:pt modelId="{0C6BDB99-14BD-4B6F-8855-8515DCF19FAF}" type="pres">
      <dgm:prSet presAssocID="{A9B0185B-3D91-43F0-9290-D31A1575A91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658851C-9F02-4C09-BE22-DEB17CB3BD16}" type="pres">
      <dgm:prSet presAssocID="{D1903DAF-44A1-4C91-8364-119D2F067043}" presName="composit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</dgm:pt>
    <dgm:pt modelId="{57C9592E-5AD7-436A-85E4-5D0AA1B3DE31}" type="pres">
      <dgm:prSet presAssocID="{D1903DAF-44A1-4C91-8364-119D2F067043}" presName="parTx" presStyleLbl="alignNode1" presStyleIdx="0" presStyleCnt="2" custScaleX="1030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950BF0-9838-4FDE-9AC2-1A7E5D58C5C1}" type="pres">
      <dgm:prSet presAssocID="{D1903DAF-44A1-4C91-8364-119D2F067043}" presName="desTx" presStyleLbl="alignAccFollowNode1" presStyleIdx="0" presStyleCnt="2" custScaleX="10319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E3750F-EADD-4FAE-9B87-AF9690FCE8F6}" type="pres">
      <dgm:prSet presAssocID="{17ABFCEE-28EC-4A92-ACD1-3443214492A4}" presName="spac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</dgm:pt>
    <dgm:pt modelId="{0BED06C2-7D05-4AD4-A890-52473299647D}" type="pres">
      <dgm:prSet presAssocID="{5CA024BD-1F24-4418-9A93-8F36796C90A2}" presName="composit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p3d prstMaterial="matte">
          <a:bevelT w="127000" h="63500"/>
        </a:sp3d>
      </dgm:spPr>
    </dgm:pt>
    <dgm:pt modelId="{6110C382-EF65-462F-9303-21BA6F286D09}" type="pres">
      <dgm:prSet presAssocID="{5CA024BD-1F24-4418-9A93-8F36796C90A2}" presName="parTx" presStyleLbl="alignNode1" presStyleIdx="1" presStyleCnt="2" custScaleX="10338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33FE41-C507-4903-8A41-809E4B7C1C8E}" type="pres">
      <dgm:prSet presAssocID="{5CA024BD-1F24-4418-9A93-8F36796C90A2}" presName="desTx" presStyleLbl="alignAccFollowNode1" presStyleIdx="1" presStyleCnt="2" custScaleX="10358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8A90905-EDB0-40B5-99A0-50AA96853835}" type="presOf" srcId="{5CA024BD-1F24-4418-9A93-8F36796C90A2}" destId="{6110C382-EF65-462F-9303-21BA6F286D09}" srcOrd="0" destOrd="0" presId="urn:microsoft.com/office/officeart/2005/8/layout/hList1"/>
    <dgm:cxn modelId="{9A7A6F40-70C5-42F7-BD68-940A6F8EF91C}" type="presOf" srcId="{A9B0185B-3D91-43F0-9290-D31A1575A91E}" destId="{0C6BDB99-14BD-4B6F-8855-8515DCF19FAF}" srcOrd="0" destOrd="0" presId="urn:microsoft.com/office/officeart/2005/8/layout/hList1"/>
    <dgm:cxn modelId="{9F2E89F9-7F04-49CB-A176-D28CABBEBD06}" type="presOf" srcId="{6EFE0682-EE15-424A-AF30-73714CA19F15}" destId="{15950BF0-9838-4FDE-9AC2-1A7E5D58C5C1}" srcOrd="0" destOrd="1" presId="urn:microsoft.com/office/officeart/2005/8/layout/hList1"/>
    <dgm:cxn modelId="{33AF319B-C90F-4AFD-977B-378FD0480612}" type="presOf" srcId="{D1903DAF-44A1-4C91-8364-119D2F067043}" destId="{57C9592E-5AD7-436A-85E4-5D0AA1B3DE31}" srcOrd="0" destOrd="0" presId="urn:microsoft.com/office/officeart/2005/8/layout/hList1"/>
    <dgm:cxn modelId="{97E0105F-C76E-4A2B-8CB4-6926B47ED76F}" srcId="{A9B0185B-3D91-43F0-9290-D31A1575A91E}" destId="{D1903DAF-44A1-4C91-8364-119D2F067043}" srcOrd="0" destOrd="0" parTransId="{5414BD48-6177-4F41-9166-7E75745F9CC5}" sibTransId="{17ABFCEE-28EC-4A92-ACD1-3443214492A4}"/>
    <dgm:cxn modelId="{6ECD8C91-3783-4512-B167-D17517CDF834}" type="presOf" srcId="{497FE406-0301-458C-A9C1-822DFFF3E739}" destId="{2C33FE41-C507-4903-8A41-809E4B7C1C8E}" srcOrd="0" destOrd="0" presId="urn:microsoft.com/office/officeart/2005/8/layout/hList1"/>
    <dgm:cxn modelId="{7E0A68D3-A462-4849-BF0C-354F8B0061E0}" srcId="{5CA024BD-1F24-4418-9A93-8F36796C90A2}" destId="{94F4FFF6-1535-45B9-96D2-2D4747C0721B}" srcOrd="1" destOrd="0" parTransId="{F3932292-1E6C-4592-8BB9-CDF5592A07E5}" sibTransId="{89BFA6C8-6C63-4A58-9141-416873A8D572}"/>
    <dgm:cxn modelId="{97639842-5E29-4150-89A8-8AB18F436047}" srcId="{D1903DAF-44A1-4C91-8364-119D2F067043}" destId="{6EFE0682-EE15-424A-AF30-73714CA19F15}" srcOrd="1" destOrd="0" parTransId="{D9261999-2D54-4500-8AF7-7C43907917DC}" sibTransId="{72ADFE28-E621-4249-B2F9-FB8B1762837F}"/>
    <dgm:cxn modelId="{9F299EF7-5865-4D37-ABF3-86AE6757382A}" type="presOf" srcId="{7763C7DD-99B2-4C6C-8E91-C8F02692A2F1}" destId="{15950BF0-9838-4FDE-9AC2-1A7E5D58C5C1}" srcOrd="0" destOrd="0" presId="urn:microsoft.com/office/officeart/2005/8/layout/hList1"/>
    <dgm:cxn modelId="{31E38755-3A16-4FFE-A8A9-9BB1DE6FD5B2}" srcId="{5CA024BD-1F24-4418-9A93-8F36796C90A2}" destId="{497FE406-0301-458C-A9C1-822DFFF3E739}" srcOrd="0" destOrd="0" parTransId="{B8093A48-4137-47DB-8714-2D1BAA7FF39E}" sibTransId="{81969580-7860-4742-85B6-B6368BAC0222}"/>
    <dgm:cxn modelId="{4967C859-16DB-4D25-BE2C-A9DD258ACC95}" srcId="{D1903DAF-44A1-4C91-8364-119D2F067043}" destId="{7763C7DD-99B2-4C6C-8E91-C8F02692A2F1}" srcOrd="0" destOrd="0" parTransId="{491A2BCD-FA27-4F16-BC3F-B717C8F044DD}" sibTransId="{65D4BE0C-F5E3-4DEF-8386-6A40CD5DEE58}"/>
    <dgm:cxn modelId="{E3145962-F5EA-44CD-80A7-1294D6CC978F}" srcId="{A9B0185B-3D91-43F0-9290-D31A1575A91E}" destId="{5CA024BD-1F24-4418-9A93-8F36796C90A2}" srcOrd="1" destOrd="0" parTransId="{A2A39E87-011E-4375-835C-E4FA428C6FFD}" sibTransId="{2F8E57DC-3F3C-41CE-9BC7-6AE32FF30C52}"/>
    <dgm:cxn modelId="{5959AEB6-404F-412F-9609-C6596575EEC8}" type="presOf" srcId="{94F4FFF6-1535-45B9-96D2-2D4747C0721B}" destId="{2C33FE41-C507-4903-8A41-809E4B7C1C8E}" srcOrd="0" destOrd="1" presId="urn:microsoft.com/office/officeart/2005/8/layout/hList1"/>
    <dgm:cxn modelId="{DF9587BC-1442-4B7C-8BE6-C16DEA89D6DE}" type="presParOf" srcId="{0C6BDB99-14BD-4B6F-8855-8515DCF19FAF}" destId="{B658851C-9F02-4C09-BE22-DEB17CB3BD16}" srcOrd="0" destOrd="0" presId="urn:microsoft.com/office/officeart/2005/8/layout/hList1"/>
    <dgm:cxn modelId="{A9D72A5C-BB8A-4CB1-A48B-7D0611CE173D}" type="presParOf" srcId="{B658851C-9F02-4C09-BE22-DEB17CB3BD16}" destId="{57C9592E-5AD7-436A-85E4-5D0AA1B3DE31}" srcOrd="0" destOrd="0" presId="urn:microsoft.com/office/officeart/2005/8/layout/hList1"/>
    <dgm:cxn modelId="{267FF268-65B0-4284-9E29-9C5F0CC8AC1E}" type="presParOf" srcId="{B658851C-9F02-4C09-BE22-DEB17CB3BD16}" destId="{15950BF0-9838-4FDE-9AC2-1A7E5D58C5C1}" srcOrd="1" destOrd="0" presId="urn:microsoft.com/office/officeart/2005/8/layout/hList1"/>
    <dgm:cxn modelId="{B799E2BA-2745-4B1E-8176-01FEB31B0198}" type="presParOf" srcId="{0C6BDB99-14BD-4B6F-8855-8515DCF19FAF}" destId="{61E3750F-EADD-4FAE-9B87-AF9690FCE8F6}" srcOrd="1" destOrd="0" presId="urn:microsoft.com/office/officeart/2005/8/layout/hList1"/>
    <dgm:cxn modelId="{24609D3A-9444-4B10-9C33-B633C3000014}" type="presParOf" srcId="{0C6BDB99-14BD-4B6F-8855-8515DCF19FAF}" destId="{0BED06C2-7D05-4AD4-A890-52473299647D}" srcOrd="2" destOrd="0" presId="urn:microsoft.com/office/officeart/2005/8/layout/hList1"/>
    <dgm:cxn modelId="{4DB78FD8-DDC0-484F-A57E-AB00699B6A7F}" type="presParOf" srcId="{0BED06C2-7D05-4AD4-A890-52473299647D}" destId="{6110C382-EF65-462F-9303-21BA6F286D09}" srcOrd="0" destOrd="0" presId="urn:microsoft.com/office/officeart/2005/8/layout/hList1"/>
    <dgm:cxn modelId="{740C92D0-1171-4347-8023-F459F55CFAD6}" type="presParOf" srcId="{0BED06C2-7D05-4AD4-A890-52473299647D}" destId="{2C33FE41-C507-4903-8A41-809E4B7C1C8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3C29B8-6E8B-495E-B546-06D6C72DA183}" type="doc">
      <dgm:prSet loTypeId="urn:microsoft.com/office/officeart/2005/8/layout/vList2" loCatId="list" qsTypeId="urn:microsoft.com/office/officeart/2005/8/quickstyle/simple3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ABF1D31C-73C8-4BDC-A6D0-34B6DC5F7609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clear">
          <a:bevelT w="127000" h="63500"/>
        </a:sp3d>
      </dgm:spPr>
      <dgm:t>
        <a:bodyPr/>
        <a:lstStyle/>
        <a:p>
          <a:pPr algn="ctr"/>
          <a:r>
            <a:rPr lang="ru-RU" b="0" i="0" u="none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«</a:t>
          </a:r>
          <a:r>
            <a:rPr lang="uz-Cyrl-UZ" b="0" i="0" u="none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ўрнига қўйиш</a:t>
          </a:r>
          <a:r>
            <a:rPr lang="ru-RU" b="0" i="0" u="none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»</a:t>
          </a:r>
          <a:r>
            <a:rPr lang="uz-Cyrl-UZ" b="0" i="0" u="none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акслантиришлари</a:t>
          </a:r>
          <a:endParaRPr lang="ru-RU" b="0" i="0" u="none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C497C613-DDCD-4EDF-8931-D1EFB0B8D09C}" type="parTrans" cxnId="{57E44B04-75F7-4A94-8AC5-08CD6BCB2833}">
      <dgm:prSet/>
      <dgm:spPr/>
      <dgm:t>
        <a:bodyPr/>
        <a:lstStyle/>
        <a:p>
          <a:endParaRPr lang="ru-RU"/>
        </a:p>
      </dgm:t>
    </dgm:pt>
    <dgm:pt modelId="{793DCD27-7EA9-4358-BAE3-701A6C87FA49}" type="sibTrans" cxnId="{57E44B04-75F7-4A94-8AC5-08CD6BCB2833}">
      <dgm:prSet/>
      <dgm:spPr/>
      <dgm:t>
        <a:bodyPr/>
        <a:lstStyle/>
        <a:p>
          <a:endParaRPr lang="ru-RU"/>
        </a:p>
      </dgm:t>
    </dgm:pt>
    <dgm:pt modelId="{D140075D-7DA6-4E49-93D8-0C60E6EC273D}" type="pres">
      <dgm:prSet presAssocID="{433C29B8-6E8B-495E-B546-06D6C72DA1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00B0D23-0292-4D7C-B0BE-99EFF5E32E11}" type="pres">
      <dgm:prSet presAssocID="{ABF1D31C-73C8-4BDC-A6D0-34B6DC5F760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7E44B04-75F7-4A94-8AC5-08CD6BCB2833}" srcId="{433C29B8-6E8B-495E-B546-06D6C72DA183}" destId="{ABF1D31C-73C8-4BDC-A6D0-34B6DC5F7609}" srcOrd="0" destOrd="0" parTransId="{C497C613-DDCD-4EDF-8931-D1EFB0B8D09C}" sibTransId="{793DCD27-7EA9-4358-BAE3-701A6C87FA49}"/>
    <dgm:cxn modelId="{9B4CE8BB-8FB1-4CCA-9F0A-6AECE7B79594}" type="presOf" srcId="{433C29B8-6E8B-495E-B546-06D6C72DA183}" destId="{D140075D-7DA6-4E49-93D8-0C60E6EC273D}" srcOrd="0" destOrd="0" presId="urn:microsoft.com/office/officeart/2005/8/layout/vList2"/>
    <dgm:cxn modelId="{00C53C07-8B4D-49E1-87D5-CAB651311A37}" type="presOf" srcId="{ABF1D31C-73C8-4BDC-A6D0-34B6DC5F7609}" destId="{300B0D23-0292-4D7C-B0BE-99EFF5E32E11}" srcOrd="0" destOrd="0" presId="urn:microsoft.com/office/officeart/2005/8/layout/vList2"/>
    <dgm:cxn modelId="{EB579250-4A32-42CD-A306-0351EBDCA5DB}" type="presParOf" srcId="{D140075D-7DA6-4E49-93D8-0C60E6EC273D}" destId="{300B0D23-0292-4D7C-B0BE-99EFF5E32E11}" srcOrd="0" destOrd="0" presId="urn:microsoft.com/office/officeart/2005/8/layout/vList2"/>
  </dgm:cxnLst>
  <dgm:bg>
    <a:effectLst>
      <a:outerShdw blurRad="50800" dist="38100" algn="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166B6C-CCEB-4B30-A038-37BD665EB8C2}" type="doc">
      <dgm:prSet loTypeId="urn:microsoft.com/office/officeart/2005/8/layout/process2" loCatId="process" qsTypeId="urn:microsoft.com/office/officeart/2005/8/quickstyle/simple3" qsCatId="simple" csTypeId="urn:microsoft.com/office/officeart/2005/8/colors/accent1_2" csCatId="accent1" phldr="1"/>
      <dgm:spPr/>
    </dgm:pt>
    <dgm:pt modelId="{A9A77A65-D69A-4600-9481-DA833A4A531A}">
      <dgm:prSet phldrT="[Текст]" custT="1"/>
      <dgm:spPr/>
      <dgm:t>
        <a:bodyPr/>
        <a:lstStyle/>
        <a:p>
          <a:pPr algn="l"/>
          <a:r>
            <a:rPr lang="uz-Cyrl-UZ" sz="1600" i="1" smtClean="0"/>
            <a:t>                   </a:t>
          </a:r>
          <a:r>
            <a:rPr lang="uz-Cyrl-UZ" sz="1800" b="1" i="1" smtClean="0"/>
            <a:t>Акслантиришнинг</a:t>
          </a:r>
          <a:r>
            <a:rPr lang="en-US" sz="1800" b="1" i="1" smtClean="0"/>
            <a:t> </a:t>
          </a:r>
          <a:r>
            <a:rPr lang="uz-Cyrl-UZ" sz="1800" b="1" i="1" smtClean="0"/>
            <a:t>регуляр бўлишлиги, </a:t>
          </a:r>
          <a:r>
            <a:rPr lang="en-US" sz="1800" b="1" i="1" smtClean="0"/>
            <a:t> </a:t>
          </a:r>
          <a:r>
            <a:rPr lang="uz-Cyrl-UZ" sz="1800" b="1" i="1" smtClean="0"/>
            <a:t>яъни буль</a:t>
          </a:r>
          <a:r>
            <a:rPr lang="en-US" sz="1800" b="1" i="1" smtClean="0"/>
            <a:t> </a:t>
          </a:r>
          <a:r>
            <a:rPr lang="uz-Cyrl-UZ" sz="1800" b="1" i="1" smtClean="0"/>
            <a:t>функция 	компоненталарининг  баланслашганлигини 	таъминлаш</a:t>
          </a:r>
          <a:endParaRPr lang="ru-RU" sz="1800" b="1" i="1"/>
        </a:p>
      </dgm:t>
    </dgm:pt>
    <dgm:pt modelId="{3C14EC9B-5FAC-42B9-A93A-87B00B69FCCE}" type="parTrans" cxnId="{76423078-6E5B-4091-9737-3CEAA9BBD4CB}">
      <dgm:prSet/>
      <dgm:spPr/>
      <dgm:t>
        <a:bodyPr/>
        <a:lstStyle/>
        <a:p>
          <a:endParaRPr lang="ru-RU"/>
        </a:p>
      </dgm:t>
    </dgm:pt>
    <dgm:pt modelId="{E4589340-E33D-4799-B659-93573F131EF3}" type="sibTrans" cxnId="{76423078-6E5B-4091-9737-3CEAA9BBD4CB}">
      <dgm:prSet/>
      <dgm:spPr/>
      <dgm:t>
        <a:bodyPr/>
        <a:lstStyle/>
        <a:p>
          <a:endParaRPr lang="ru-RU"/>
        </a:p>
      </dgm:t>
    </dgm:pt>
    <dgm:pt modelId="{5EF47E89-05CD-4D96-95DF-46B2546F08A9}">
      <dgm:prSet phldrT="[Текст]" custT="1"/>
      <dgm:spPr/>
      <dgm:t>
        <a:bodyPr/>
        <a:lstStyle/>
        <a:p>
          <a:pPr algn="l"/>
          <a:r>
            <a:rPr lang="en-US" sz="1600" smtClean="0"/>
            <a:t>   	</a:t>
          </a:r>
          <a:r>
            <a:rPr lang="uz-Cyrl-UZ" sz="1600" b="1" i="1" smtClean="0"/>
            <a:t>    Б</a:t>
          </a:r>
          <a:r>
            <a:rPr lang="uz-Cyrl-UZ" sz="1800" b="1" i="1" smtClean="0"/>
            <a:t>уль функциялар алгебраик  </a:t>
          </a:r>
          <a:r>
            <a:rPr lang="uz-Cyrl-UZ" sz="1800" b="1" i="0" smtClean="0">
              <a:solidFill>
                <a:srgbClr val="002060"/>
              </a:solidFill>
              <a:latin typeface="Cambria" pitchFamily="18" charset="0"/>
            </a:rPr>
            <a:t>                 </a:t>
          </a:r>
          <a:r>
            <a:rPr lang="ru-RU" sz="1800" b="1" i="1" smtClean="0">
              <a:latin typeface="Cambria" pitchFamily="18" charset="0"/>
            </a:rPr>
            <a:t>     ва мантиқий чизиқсизлик</a:t>
          </a:r>
          <a:r>
            <a:rPr lang="en-US" sz="1800" b="1" i="1" smtClean="0">
              <a:latin typeface="Cambria" pitchFamily="18" charset="0"/>
            </a:rPr>
            <a:t> </a:t>
          </a:r>
          <a:r>
            <a:rPr lang="ru-RU" sz="1800" b="1" i="1" smtClean="0">
              <a:latin typeface="Cambria" pitchFamily="18" charset="0"/>
            </a:rPr>
            <a:t> </a:t>
          </a:r>
          <a:r>
            <a:rPr lang="uz-Cyrl-UZ" sz="1800" b="1" i="0" smtClean="0">
              <a:latin typeface="Cambria" pitchFamily="18" charset="0"/>
            </a:rPr>
            <a:t>   </a:t>
          </a:r>
          <a:r>
            <a:rPr lang="ru-RU" sz="1800" b="1" i="0" smtClean="0">
              <a:latin typeface="Cambria" pitchFamily="18" charset="0"/>
            </a:rPr>
            <a:t>                  	                   </a:t>
          </a:r>
          <a:r>
            <a:rPr lang="ru-RU" sz="1800" b="1" i="1" smtClean="0">
              <a:latin typeface="Cambria" pitchFamily="18" charset="0"/>
            </a:rPr>
            <a:t>даражаларининг қийматлари юқори </a:t>
          </a:r>
          <a:r>
            <a:rPr lang="uz-Cyrl-UZ" sz="1800" b="1" i="1" smtClean="0"/>
            <a:t>бўлишлигини </a:t>
          </a:r>
        </a:p>
        <a:p>
          <a:pPr algn="l"/>
          <a:r>
            <a:rPr lang="uz-Cyrl-UZ" sz="1800" b="1" i="1" smtClean="0"/>
            <a:t>                 таъминлаш </a:t>
          </a:r>
          <a:endParaRPr lang="ru-RU" sz="1800" b="1" i="1"/>
        </a:p>
      </dgm:t>
    </dgm:pt>
    <dgm:pt modelId="{26A77583-BB8C-4CCA-A673-52746682FDFB}" type="parTrans" cxnId="{61E94995-FDCF-4945-8805-D6D485017613}">
      <dgm:prSet/>
      <dgm:spPr/>
      <dgm:t>
        <a:bodyPr/>
        <a:lstStyle/>
        <a:p>
          <a:endParaRPr lang="ru-RU"/>
        </a:p>
      </dgm:t>
    </dgm:pt>
    <dgm:pt modelId="{C3AFA44A-485E-4F99-A203-EB202F7DA5F6}" type="sibTrans" cxnId="{61E94995-FDCF-4945-8805-D6D485017613}">
      <dgm:prSet/>
      <dgm:spPr/>
      <dgm:t>
        <a:bodyPr/>
        <a:lstStyle/>
        <a:p>
          <a:endParaRPr lang="ru-RU"/>
        </a:p>
      </dgm:t>
    </dgm:pt>
    <dgm:pt modelId="{8924AC18-4DA5-4296-9C71-2C572DD31255}">
      <dgm:prSet phldrT="[Текст]" custT="1"/>
      <dgm:spPr/>
      <dgm:t>
        <a:bodyPr/>
        <a:lstStyle/>
        <a:p>
          <a:pPr algn="just"/>
          <a:r>
            <a:rPr lang="ru-RU" sz="1800" smtClean="0"/>
            <a:t>	  </a:t>
          </a:r>
          <a:r>
            <a:rPr lang="uz-Cyrl-UZ" sz="1800" b="1" i="1" smtClean="0"/>
            <a:t>Акслантириш учун чизиқсизлик қиймати </a:t>
          </a:r>
          <a:r>
            <a:rPr lang="uz-Cyrl-UZ" sz="1800" b="1" i="0" smtClean="0"/>
            <a:t>   </a:t>
          </a:r>
          <a:r>
            <a:rPr lang="uz-Cyrl-UZ" sz="1800" b="1" i="1" smtClean="0"/>
            <a:t>юқори ва  </a:t>
          </a:r>
          <a:r>
            <a:rPr lang="en-US" sz="1800" b="1" i="1" smtClean="0"/>
            <a:t>	</a:t>
          </a:r>
          <a:r>
            <a:rPr lang="uz-Cyrl-UZ" sz="1800" b="1" i="1" smtClean="0"/>
            <a:t>чизиқлилик</a:t>
          </a:r>
          <a:r>
            <a:rPr lang="en-US" sz="1800" b="1" i="1" smtClean="0"/>
            <a:t>  </a:t>
          </a:r>
          <a:r>
            <a:rPr lang="uz-Cyrl-UZ" sz="1800" b="1" i="1" smtClean="0"/>
            <a:t>қиймати</a:t>
          </a:r>
          <a:r>
            <a:rPr lang="en-US" sz="1800" b="1" i="1" smtClean="0"/>
            <a:t> </a:t>
          </a:r>
          <a:r>
            <a:rPr lang="uz-Cyrl-UZ" sz="1800" b="1" i="0" smtClean="0"/>
            <a:t>                </a:t>
          </a:r>
          <a:r>
            <a:rPr lang="uz-Cyrl-UZ" sz="1800" b="1" i="1" smtClean="0"/>
            <a:t>кичик бўлишлигини таъминлаш</a:t>
          </a:r>
          <a:endParaRPr lang="ru-RU" sz="1800" b="1" i="1"/>
        </a:p>
      </dgm:t>
    </dgm:pt>
    <dgm:pt modelId="{611D5B16-5016-4DC9-BCB9-F1FB5440037F}" type="parTrans" cxnId="{449BBB08-5F3E-47B7-8015-364FFA44D539}">
      <dgm:prSet/>
      <dgm:spPr/>
      <dgm:t>
        <a:bodyPr/>
        <a:lstStyle/>
        <a:p>
          <a:endParaRPr lang="ru-RU"/>
        </a:p>
      </dgm:t>
    </dgm:pt>
    <dgm:pt modelId="{8A09C0F4-D6A9-44EE-86F1-645F6FB1A84E}" type="sibTrans" cxnId="{449BBB08-5F3E-47B7-8015-364FFA44D539}">
      <dgm:prSet/>
      <dgm:spPr/>
      <dgm:t>
        <a:bodyPr/>
        <a:lstStyle/>
        <a:p>
          <a:endParaRPr lang="ru-RU"/>
        </a:p>
      </dgm:t>
    </dgm:pt>
    <dgm:pt modelId="{227B20CA-5962-4BAF-9883-66D8F128C6C3}" type="pres">
      <dgm:prSet presAssocID="{D2166B6C-CCEB-4B30-A038-37BD665EB8C2}" presName="linearFlow" presStyleCnt="0">
        <dgm:presLayoutVars>
          <dgm:resizeHandles val="exact"/>
        </dgm:presLayoutVars>
      </dgm:prSet>
      <dgm:spPr/>
    </dgm:pt>
    <dgm:pt modelId="{B4C9F140-B5C5-464F-85D5-E665D8CA71BB}" type="pres">
      <dgm:prSet presAssocID="{A9A77A65-D69A-4600-9481-DA833A4A531A}" presName="node" presStyleLbl="node1" presStyleIdx="0" presStyleCnt="3" custScaleX="510101" custScaleY="17236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32C213-B03D-44A2-8B55-80960A36490D}" type="pres">
      <dgm:prSet presAssocID="{E4589340-E33D-4799-B659-93573F131EF3}" presName="sibTrans" presStyleLbl="sibTrans2D1" presStyleIdx="0" presStyleCnt="2" custFlipVert="0" custFlipHor="0" custScaleX="25789" custScaleY="21491"/>
      <dgm:spPr/>
      <dgm:t>
        <a:bodyPr/>
        <a:lstStyle/>
        <a:p>
          <a:endParaRPr lang="ru-RU"/>
        </a:p>
      </dgm:t>
    </dgm:pt>
    <dgm:pt modelId="{97BD43F7-60C1-4C8F-9DC4-77FED8175E24}" type="pres">
      <dgm:prSet presAssocID="{E4589340-E33D-4799-B659-93573F131EF3}" presName="connectorText" presStyleLbl="sibTrans2D1" presStyleIdx="0" presStyleCnt="2"/>
      <dgm:spPr/>
      <dgm:t>
        <a:bodyPr/>
        <a:lstStyle/>
        <a:p>
          <a:endParaRPr lang="ru-RU"/>
        </a:p>
      </dgm:t>
    </dgm:pt>
    <dgm:pt modelId="{3D3E50A2-1DCF-4A40-8CBA-D1A5FCF1983B}" type="pres">
      <dgm:prSet presAssocID="{5EF47E89-05CD-4D96-95DF-46B2546F08A9}" presName="node" presStyleLbl="node1" presStyleIdx="1" presStyleCnt="3" custScaleX="510101" custScaleY="195225" custLinFactNeighborX="-42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A6CD09-F99C-4C4C-A3B0-039A196593AB}" type="pres">
      <dgm:prSet presAssocID="{C3AFA44A-485E-4F99-A203-EB202F7DA5F6}" presName="sibTrans" presStyleLbl="sibTrans2D1" presStyleIdx="1" presStyleCnt="2" custFlipVert="1" custFlipHor="1" custScaleX="25870" custScaleY="21491"/>
      <dgm:spPr/>
      <dgm:t>
        <a:bodyPr/>
        <a:lstStyle/>
        <a:p>
          <a:endParaRPr lang="ru-RU"/>
        </a:p>
      </dgm:t>
    </dgm:pt>
    <dgm:pt modelId="{0081B91B-4FD3-41A1-B2B3-027212C6CCC5}" type="pres">
      <dgm:prSet presAssocID="{C3AFA44A-485E-4F99-A203-EB202F7DA5F6}" presName="connectorText" presStyleLbl="sibTrans2D1" presStyleIdx="1" presStyleCnt="2"/>
      <dgm:spPr/>
      <dgm:t>
        <a:bodyPr/>
        <a:lstStyle/>
        <a:p>
          <a:endParaRPr lang="ru-RU"/>
        </a:p>
      </dgm:t>
    </dgm:pt>
    <dgm:pt modelId="{7E50F322-59C5-4D40-8B27-5635EEF14CE5}" type="pres">
      <dgm:prSet presAssocID="{8924AC18-4DA5-4296-9C71-2C572DD31255}" presName="node" presStyleLbl="node1" presStyleIdx="2" presStyleCnt="3" custScaleX="510101" custScaleY="1812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6423078-6E5B-4091-9737-3CEAA9BBD4CB}" srcId="{D2166B6C-CCEB-4B30-A038-37BD665EB8C2}" destId="{A9A77A65-D69A-4600-9481-DA833A4A531A}" srcOrd="0" destOrd="0" parTransId="{3C14EC9B-5FAC-42B9-A93A-87B00B69FCCE}" sibTransId="{E4589340-E33D-4799-B659-93573F131EF3}"/>
    <dgm:cxn modelId="{61E94995-FDCF-4945-8805-D6D485017613}" srcId="{D2166B6C-CCEB-4B30-A038-37BD665EB8C2}" destId="{5EF47E89-05CD-4D96-95DF-46B2546F08A9}" srcOrd="1" destOrd="0" parTransId="{26A77583-BB8C-4CCA-A673-52746682FDFB}" sibTransId="{C3AFA44A-485E-4F99-A203-EB202F7DA5F6}"/>
    <dgm:cxn modelId="{0BA5FA68-893B-455A-BEE6-93217C22EAB0}" type="presOf" srcId="{A9A77A65-D69A-4600-9481-DA833A4A531A}" destId="{B4C9F140-B5C5-464F-85D5-E665D8CA71BB}" srcOrd="0" destOrd="0" presId="urn:microsoft.com/office/officeart/2005/8/layout/process2"/>
    <dgm:cxn modelId="{8B5F01C9-3785-480E-94D7-A2FF8FF489A5}" type="presOf" srcId="{5EF47E89-05CD-4D96-95DF-46B2546F08A9}" destId="{3D3E50A2-1DCF-4A40-8CBA-D1A5FCF1983B}" srcOrd="0" destOrd="0" presId="urn:microsoft.com/office/officeart/2005/8/layout/process2"/>
    <dgm:cxn modelId="{046F8C5D-45F7-40AD-AA5C-161B4CD47498}" type="presOf" srcId="{D2166B6C-CCEB-4B30-A038-37BD665EB8C2}" destId="{227B20CA-5962-4BAF-9883-66D8F128C6C3}" srcOrd="0" destOrd="0" presId="urn:microsoft.com/office/officeart/2005/8/layout/process2"/>
    <dgm:cxn modelId="{449BBB08-5F3E-47B7-8015-364FFA44D539}" srcId="{D2166B6C-CCEB-4B30-A038-37BD665EB8C2}" destId="{8924AC18-4DA5-4296-9C71-2C572DD31255}" srcOrd="2" destOrd="0" parTransId="{611D5B16-5016-4DC9-BCB9-F1FB5440037F}" sibTransId="{8A09C0F4-D6A9-44EE-86F1-645F6FB1A84E}"/>
    <dgm:cxn modelId="{977D0926-886E-4E5F-81D5-ED1019A58C40}" type="presOf" srcId="{E4589340-E33D-4799-B659-93573F131EF3}" destId="{5532C213-B03D-44A2-8B55-80960A36490D}" srcOrd="0" destOrd="0" presId="urn:microsoft.com/office/officeart/2005/8/layout/process2"/>
    <dgm:cxn modelId="{5E6B6698-7B40-4102-8044-5B5E3F4D31BB}" type="presOf" srcId="{C3AFA44A-485E-4F99-A203-EB202F7DA5F6}" destId="{0081B91B-4FD3-41A1-B2B3-027212C6CCC5}" srcOrd="1" destOrd="0" presId="urn:microsoft.com/office/officeart/2005/8/layout/process2"/>
    <dgm:cxn modelId="{8E862D3B-D4E8-4FB6-9DC5-2D39C487AB1E}" type="presOf" srcId="{8924AC18-4DA5-4296-9C71-2C572DD31255}" destId="{7E50F322-59C5-4D40-8B27-5635EEF14CE5}" srcOrd="0" destOrd="0" presId="urn:microsoft.com/office/officeart/2005/8/layout/process2"/>
    <dgm:cxn modelId="{32B5CACD-63D7-48E5-874B-9F73BA5E6387}" type="presOf" srcId="{C3AFA44A-485E-4F99-A203-EB202F7DA5F6}" destId="{DFA6CD09-F99C-4C4C-A3B0-039A196593AB}" srcOrd="0" destOrd="0" presId="urn:microsoft.com/office/officeart/2005/8/layout/process2"/>
    <dgm:cxn modelId="{F687A00D-6DCE-4886-B13B-09D11B287E5F}" type="presOf" srcId="{E4589340-E33D-4799-B659-93573F131EF3}" destId="{97BD43F7-60C1-4C8F-9DC4-77FED8175E24}" srcOrd="1" destOrd="0" presId="urn:microsoft.com/office/officeart/2005/8/layout/process2"/>
    <dgm:cxn modelId="{B702BB6E-B745-4036-8B23-4E3744FAEC28}" type="presParOf" srcId="{227B20CA-5962-4BAF-9883-66D8F128C6C3}" destId="{B4C9F140-B5C5-464F-85D5-E665D8CA71BB}" srcOrd="0" destOrd="0" presId="urn:microsoft.com/office/officeart/2005/8/layout/process2"/>
    <dgm:cxn modelId="{6BEFB13E-007D-4485-9911-19C44A6C0F4F}" type="presParOf" srcId="{227B20CA-5962-4BAF-9883-66D8F128C6C3}" destId="{5532C213-B03D-44A2-8B55-80960A36490D}" srcOrd="1" destOrd="0" presId="urn:microsoft.com/office/officeart/2005/8/layout/process2"/>
    <dgm:cxn modelId="{16501332-27C8-4E2F-A87B-FE98FB4CDDAC}" type="presParOf" srcId="{5532C213-B03D-44A2-8B55-80960A36490D}" destId="{97BD43F7-60C1-4C8F-9DC4-77FED8175E24}" srcOrd="0" destOrd="0" presId="urn:microsoft.com/office/officeart/2005/8/layout/process2"/>
    <dgm:cxn modelId="{0810A0CC-2B2E-45BE-81A8-F73DA85735FD}" type="presParOf" srcId="{227B20CA-5962-4BAF-9883-66D8F128C6C3}" destId="{3D3E50A2-1DCF-4A40-8CBA-D1A5FCF1983B}" srcOrd="2" destOrd="0" presId="urn:microsoft.com/office/officeart/2005/8/layout/process2"/>
    <dgm:cxn modelId="{81585304-24CC-4DB1-9131-AC3EF79D2818}" type="presParOf" srcId="{227B20CA-5962-4BAF-9883-66D8F128C6C3}" destId="{DFA6CD09-F99C-4C4C-A3B0-039A196593AB}" srcOrd="3" destOrd="0" presId="urn:microsoft.com/office/officeart/2005/8/layout/process2"/>
    <dgm:cxn modelId="{0F23241C-2DB6-4399-889B-77ED707ABE4A}" type="presParOf" srcId="{DFA6CD09-F99C-4C4C-A3B0-039A196593AB}" destId="{0081B91B-4FD3-41A1-B2B3-027212C6CCC5}" srcOrd="0" destOrd="0" presId="urn:microsoft.com/office/officeart/2005/8/layout/process2"/>
    <dgm:cxn modelId="{3B110422-1C64-4B17-A93F-C4B6FB119A7E}" type="presParOf" srcId="{227B20CA-5962-4BAF-9883-66D8F128C6C3}" destId="{7E50F322-59C5-4D40-8B27-5635EEF14CE5}" srcOrd="4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166B6C-CCEB-4B30-A038-37BD665EB8C2}" type="doc">
      <dgm:prSet loTypeId="urn:microsoft.com/office/officeart/2005/8/layout/process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924AC18-4DA5-4296-9C71-2C572DD31255}">
      <dgm:prSet phldrT="[Текст]" custT="1"/>
      <dgm:spPr/>
      <dgm:t>
        <a:bodyPr/>
        <a:lstStyle/>
        <a:p>
          <a:pPr algn="l"/>
          <a:r>
            <a:rPr lang="ru-RU" sz="1600" b="1" i="1" smtClean="0"/>
            <a:t>	   </a:t>
          </a:r>
          <a:r>
            <a:rPr lang="ru-RU" sz="1800" b="1" i="1" smtClean="0"/>
            <a:t>Буль функциялар</a:t>
          </a:r>
          <a:r>
            <a:rPr lang="uz-Cyrl-UZ" sz="1800" b="1" i="1" smtClean="0"/>
            <a:t> қатъий лавин самарадорлик ва тарқалиш 	тамойиллари</a:t>
          </a:r>
          <a:r>
            <a:rPr lang="ru-RU" sz="1800" b="1" i="1" smtClean="0"/>
            <a:t> кўрсаткичларига </a:t>
          </a:r>
          <a:r>
            <a:rPr lang="en-US" sz="1800" b="1" i="1" smtClean="0"/>
            <a:t> </a:t>
          </a:r>
          <a:r>
            <a:rPr lang="ru-RU" sz="1800" b="1" i="1" smtClean="0"/>
            <a:t>мос келишини таъминлаш</a:t>
          </a:r>
          <a:endParaRPr lang="ru-RU" sz="1800" b="1" i="1"/>
        </a:p>
      </dgm:t>
    </dgm:pt>
    <dgm:pt modelId="{611D5B16-5016-4DC9-BCB9-F1FB5440037F}" type="parTrans" cxnId="{449BBB08-5F3E-47B7-8015-364FFA44D539}">
      <dgm:prSet/>
      <dgm:spPr/>
      <dgm:t>
        <a:bodyPr/>
        <a:lstStyle/>
        <a:p>
          <a:endParaRPr lang="ru-RU"/>
        </a:p>
      </dgm:t>
    </dgm:pt>
    <dgm:pt modelId="{8A09C0F4-D6A9-44EE-86F1-645F6FB1A84E}" type="sibTrans" cxnId="{449BBB08-5F3E-47B7-8015-364FFA44D539}">
      <dgm:prSet/>
      <dgm:spPr/>
      <dgm:t>
        <a:bodyPr/>
        <a:lstStyle/>
        <a:p>
          <a:endParaRPr lang="ru-RU"/>
        </a:p>
      </dgm:t>
    </dgm:pt>
    <dgm:pt modelId="{A9A77A65-D69A-4600-9481-DA833A4A531A}">
      <dgm:prSet phldrT="[Текст]" custT="1"/>
      <dgm:spPr/>
      <dgm:t>
        <a:bodyPr/>
        <a:lstStyle/>
        <a:p>
          <a:pPr algn="just"/>
          <a:r>
            <a:rPr lang="ru-RU" sz="1800" b="1" i="1" smtClean="0"/>
            <a:t>	 Буль функцияларнинг корреляцион  иммунистлик</a:t>
          </a:r>
          <a:r>
            <a:rPr lang="en-US" sz="1800" b="1" i="1" smtClean="0"/>
            <a:t> </a:t>
          </a:r>
          <a:r>
            <a:rPr lang="ru-RU" sz="1800" b="1" i="1" smtClean="0"/>
            <a:t>  </a:t>
          </a:r>
        </a:p>
        <a:p>
          <a:pPr algn="just"/>
          <a:r>
            <a:rPr lang="en-US" sz="1800" b="1" i="1" smtClean="0"/>
            <a:t>	</a:t>
          </a:r>
          <a:r>
            <a:rPr lang="ru-RU" sz="1800" b="1" i="1" smtClean="0"/>
            <a:t>кўрсаткичларига  мос  келишини  таъминлаш</a:t>
          </a:r>
          <a:endParaRPr lang="ru-RU" sz="1800" b="1" i="1"/>
        </a:p>
      </dgm:t>
    </dgm:pt>
    <dgm:pt modelId="{E4589340-E33D-4799-B659-93573F131EF3}" type="sibTrans" cxnId="{76423078-6E5B-4091-9737-3CEAA9BBD4CB}">
      <dgm:prSet/>
      <dgm:spPr/>
      <dgm:t>
        <a:bodyPr/>
        <a:lstStyle/>
        <a:p>
          <a:endParaRPr lang="ru-RU"/>
        </a:p>
      </dgm:t>
    </dgm:pt>
    <dgm:pt modelId="{3C14EC9B-5FAC-42B9-A93A-87B00B69FCCE}" type="parTrans" cxnId="{76423078-6E5B-4091-9737-3CEAA9BBD4CB}">
      <dgm:prSet/>
      <dgm:spPr/>
      <dgm:t>
        <a:bodyPr/>
        <a:lstStyle/>
        <a:p>
          <a:endParaRPr lang="ru-RU"/>
        </a:p>
      </dgm:t>
    </dgm:pt>
    <dgm:pt modelId="{227B20CA-5962-4BAF-9883-66D8F128C6C3}" type="pres">
      <dgm:prSet presAssocID="{D2166B6C-CCEB-4B30-A038-37BD665EB8C2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4C9F140-B5C5-464F-85D5-E665D8CA71BB}" type="pres">
      <dgm:prSet presAssocID="{A9A77A65-D69A-4600-9481-DA833A4A531A}" presName="node" presStyleLbl="node1" presStyleIdx="0" presStyleCnt="2" custScaleX="510101" custScaleY="20840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32C213-B03D-44A2-8B55-80960A36490D}" type="pres">
      <dgm:prSet presAssocID="{E4589340-E33D-4799-B659-93573F131EF3}" presName="sibTrans" presStyleLbl="sibTrans2D1" presStyleIdx="0" presStyleCnt="1" custFlipVert="0" custFlipHor="0" custScaleX="29552" custScaleY="18199"/>
      <dgm:spPr/>
      <dgm:t>
        <a:bodyPr/>
        <a:lstStyle/>
        <a:p>
          <a:endParaRPr lang="ru-RU"/>
        </a:p>
      </dgm:t>
    </dgm:pt>
    <dgm:pt modelId="{97BD43F7-60C1-4C8F-9DC4-77FED8175E24}" type="pres">
      <dgm:prSet presAssocID="{E4589340-E33D-4799-B659-93573F131EF3}" presName="connectorText" presStyleLbl="sibTrans2D1" presStyleIdx="0" presStyleCnt="1"/>
      <dgm:spPr/>
      <dgm:t>
        <a:bodyPr/>
        <a:lstStyle/>
        <a:p>
          <a:endParaRPr lang="ru-RU"/>
        </a:p>
      </dgm:t>
    </dgm:pt>
    <dgm:pt modelId="{7E50F322-59C5-4D40-8B27-5635EEF14CE5}" type="pres">
      <dgm:prSet presAssocID="{8924AC18-4DA5-4296-9C71-2C572DD31255}" presName="node" presStyleLbl="node1" presStyleIdx="1" presStyleCnt="2" custScaleX="510101" custScaleY="22137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6423078-6E5B-4091-9737-3CEAA9BBD4CB}" srcId="{D2166B6C-CCEB-4B30-A038-37BD665EB8C2}" destId="{A9A77A65-D69A-4600-9481-DA833A4A531A}" srcOrd="0" destOrd="0" parTransId="{3C14EC9B-5FAC-42B9-A93A-87B00B69FCCE}" sibTransId="{E4589340-E33D-4799-B659-93573F131EF3}"/>
    <dgm:cxn modelId="{C6A86A60-C728-4B5C-983E-4DDFF9534ED1}" type="presOf" srcId="{8924AC18-4DA5-4296-9C71-2C572DD31255}" destId="{7E50F322-59C5-4D40-8B27-5635EEF14CE5}" srcOrd="0" destOrd="0" presId="urn:microsoft.com/office/officeart/2005/8/layout/process2"/>
    <dgm:cxn modelId="{96EE25D2-11A1-486D-B5AD-C883705BB7AC}" type="presOf" srcId="{E4589340-E33D-4799-B659-93573F131EF3}" destId="{97BD43F7-60C1-4C8F-9DC4-77FED8175E24}" srcOrd="1" destOrd="0" presId="urn:microsoft.com/office/officeart/2005/8/layout/process2"/>
    <dgm:cxn modelId="{7B594C3C-1166-4789-BE36-ADB7AB6A5BED}" type="presOf" srcId="{E4589340-E33D-4799-B659-93573F131EF3}" destId="{5532C213-B03D-44A2-8B55-80960A36490D}" srcOrd="0" destOrd="0" presId="urn:microsoft.com/office/officeart/2005/8/layout/process2"/>
    <dgm:cxn modelId="{449BBB08-5F3E-47B7-8015-364FFA44D539}" srcId="{D2166B6C-CCEB-4B30-A038-37BD665EB8C2}" destId="{8924AC18-4DA5-4296-9C71-2C572DD31255}" srcOrd="1" destOrd="0" parTransId="{611D5B16-5016-4DC9-BCB9-F1FB5440037F}" sibTransId="{8A09C0F4-D6A9-44EE-86F1-645F6FB1A84E}"/>
    <dgm:cxn modelId="{784E959A-CA03-463C-9C72-E02DC4B10A90}" type="presOf" srcId="{D2166B6C-CCEB-4B30-A038-37BD665EB8C2}" destId="{227B20CA-5962-4BAF-9883-66D8F128C6C3}" srcOrd="0" destOrd="0" presId="urn:microsoft.com/office/officeart/2005/8/layout/process2"/>
    <dgm:cxn modelId="{A13132D3-AE8C-47BD-96A6-9B7EAE0B6CCD}" type="presOf" srcId="{A9A77A65-D69A-4600-9481-DA833A4A531A}" destId="{B4C9F140-B5C5-464F-85D5-E665D8CA71BB}" srcOrd="0" destOrd="0" presId="urn:microsoft.com/office/officeart/2005/8/layout/process2"/>
    <dgm:cxn modelId="{FA1FDD15-2178-4793-8DB2-4AC35487EFF0}" type="presParOf" srcId="{227B20CA-5962-4BAF-9883-66D8F128C6C3}" destId="{B4C9F140-B5C5-464F-85D5-E665D8CA71BB}" srcOrd="0" destOrd="0" presId="urn:microsoft.com/office/officeart/2005/8/layout/process2"/>
    <dgm:cxn modelId="{B75B24A9-E3B5-4F7E-AEC5-93286039F742}" type="presParOf" srcId="{227B20CA-5962-4BAF-9883-66D8F128C6C3}" destId="{5532C213-B03D-44A2-8B55-80960A36490D}" srcOrd="1" destOrd="0" presId="urn:microsoft.com/office/officeart/2005/8/layout/process2"/>
    <dgm:cxn modelId="{0C81DD65-4168-4026-A7B0-5F9351CA2318}" type="presParOf" srcId="{5532C213-B03D-44A2-8B55-80960A36490D}" destId="{97BD43F7-60C1-4C8F-9DC4-77FED8175E24}" srcOrd="0" destOrd="0" presId="urn:microsoft.com/office/officeart/2005/8/layout/process2"/>
    <dgm:cxn modelId="{D22EF7E3-0BBE-4413-BE9A-7B01A61289F3}" type="presParOf" srcId="{227B20CA-5962-4BAF-9883-66D8F128C6C3}" destId="{7E50F322-59C5-4D40-8B27-5635EEF14CE5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166B6C-CCEB-4B30-A038-37BD665EB8C2}" type="doc">
      <dgm:prSet loTypeId="urn:microsoft.com/office/officeart/2005/8/layout/process2" loCatId="process" qsTypeId="urn:microsoft.com/office/officeart/2005/8/quickstyle/simple3" qsCatId="simple" csTypeId="urn:microsoft.com/office/officeart/2005/8/colors/accent1_2" csCatId="accent1" phldr="1"/>
      <dgm:spPr/>
    </dgm:pt>
    <dgm:pt modelId="{A9A77A65-D69A-4600-9481-DA833A4A531A}">
      <dgm:prSet phldrT="[Текст]" custT="1"/>
      <dgm:spPr/>
      <dgm:t>
        <a:bodyPr/>
        <a:lstStyle/>
        <a:p>
          <a:pPr algn="l"/>
          <a:r>
            <a:rPr lang="uz-Cyrl-UZ" sz="1600" i="1" smtClean="0"/>
            <a:t>                   </a:t>
          </a:r>
          <a:r>
            <a:rPr lang="uz-Cyrl-UZ" sz="1800" b="1" i="1" smtClean="0"/>
            <a:t>Акслантиришнинг</a:t>
          </a:r>
          <a:r>
            <a:rPr lang="en-US" sz="1800" b="1" i="1" smtClean="0"/>
            <a:t> </a:t>
          </a:r>
          <a:r>
            <a:rPr lang="uz-Cyrl-UZ" sz="1800" b="1" i="1" smtClean="0"/>
            <a:t>регуляр бўлишлиги, </a:t>
          </a:r>
          <a:r>
            <a:rPr lang="en-US" sz="1800" b="1" i="1" smtClean="0"/>
            <a:t> </a:t>
          </a:r>
          <a:r>
            <a:rPr lang="uz-Cyrl-UZ" sz="1800" b="1" i="1" smtClean="0"/>
            <a:t>яъни буль</a:t>
          </a:r>
          <a:r>
            <a:rPr lang="en-US" sz="1800" b="1" i="1" smtClean="0"/>
            <a:t> </a:t>
          </a:r>
          <a:r>
            <a:rPr lang="uz-Cyrl-UZ" sz="1800" b="1" i="1" smtClean="0"/>
            <a:t>функция 	компоненталарининг  баланслашганлигини 	таъминлаш</a:t>
          </a:r>
          <a:endParaRPr lang="ru-RU" sz="1800" b="1" i="1"/>
        </a:p>
      </dgm:t>
    </dgm:pt>
    <dgm:pt modelId="{3C14EC9B-5FAC-42B9-A93A-87B00B69FCCE}" type="parTrans" cxnId="{76423078-6E5B-4091-9737-3CEAA9BBD4CB}">
      <dgm:prSet/>
      <dgm:spPr/>
      <dgm:t>
        <a:bodyPr/>
        <a:lstStyle/>
        <a:p>
          <a:endParaRPr lang="ru-RU"/>
        </a:p>
      </dgm:t>
    </dgm:pt>
    <dgm:pt modelId="{E4589340-E33D-4799-B659-93573F131EF3}" type="sibTrans" cxnId="{76423078-6E5B-4091-9737-3CEAA9BBD4CB}">
      <dgm:prSet/>
      <dgm:spPr/>
      <dgm:t>
        <a:bodyPr/>
        <a:lstStyle/>
        <a:p>
          <a:endParaRPr lang="ru-RU"/>
        </a:p>
      </dgm:t>
    </dgm:pt>
    <dgm:pt modelId="{5EF47E89-05CD-4D96-95DF-46B2546F08A9}">
      <dgm:prSet phldrT="[Текст]" custT="1"/>
      <dgm:spPr/>
      <dgm:t>
        <a:bodyPr/>
        <a:lstStyle/>
        <a:p>
          <a:pPr algn="l"/>
          <a:r>
            <a:rPr lang="en-US" sz="1600" smtClean="0"/>
            <a:t>   	</a:t>
          </a:r>
          <a:r>
            <a:rPr lang="uz-Cyrl-UZ" sz="1600" b="1" i="1" smtClean="0"/>
            <a:t>    Б</a:t>
          </a:r>
          <a:r>
            <a:rPr lang="uz-Cyrl-UZ" sz="1800" b="1" i="1" smtClean="0"/>
            <a:t>уль функциялар алгебраик </a:t>
          </a:r>
          <a:r>
            <a:rPr lang="uz-Cyrl-UZ" sz="1800" b="1" i="0" smtClean="0">
              <a:solidFill>
                <a:srgbClr val="002060"/>
              </a:solidFill>
              <a:latin typeface="Cambria" pitchFamily="18" charset="0"/>
            </a:rPr>
            <a:t>                  </a:t>
          </a:r>
          <a:r>
            <a:rPr lang="ru-RU" sz="1800" b="1" i="1" smtClean="0">
              <a:latin typeface="Cambria" pitchFamily="18" charset="0"/>
            </a:rPr>
            <a:t>     ва чизиқсизлик</a:t>
          </a:r>
          <a:r>
            <a:rPr lang="en-US" sz="1800" b="1" i="1" smtClean="0">
              <a:latin typeface="Cambria" pitchFamily="18" charset="0"/>
            </a:rPr>
            <a:t> </a:t>
          </a:r>
          <a:r>
            <a:rPr lang="ru-RU" sz="1800" b="1" i="1" smtClean="0">
              <a:latin typeface="Cambria" pitchFamily="18" charset="0"/>
            </a:rPr>
            <a:t> </a:t>
          </a:r>
          <a:r>
            <a:rPr lang="uz-Cyrl-UZ" sz="1800" b="1" i="0" smtClean="0">
              <a:latin typeface="Cambria" pitchFamily="18" charset="0"/>
            </a:rPr>
            <a:t>   </a:t>
          </a:r>
          <a:r>
            <a:rPr lang="ru-RU" sz="1800" b="1" i="0" smtClean="0">
              <a:latin typeface="Cambria" pitchFamily="18" charset="0"/>
            </a:rPr>
            <a:t> 	</a:t>
          </a:r>
          <a:r>
            <a:rPr lang="ru-RU" sz="1800" b="1" i="1" smtClean="0">
              <a:latin typeface="Cambria" pitchFamily="18" charset="0"/>
            </a:rPr>
            <a:t>даражаларининг қийматлари юқори </a:t>
          </a:r>
          <a:r>
            <a:rPr lang="uz-Cyrl-UZ" sz="1800" b="1" i="1" smtClean="0"/>
            <a:t>бўлишлигини таъминлаш </a:t>
          </a:r>
          <a:endParaRPr lang="ru-RU" sz="1800" b="1" i="1"/>
        </a:p>
      </dgm:t>
    </dgm:pt>
    <dgm:pt modelId="{26A77583-BB8C-4CCA-A673-52746682FDFB}" type="parTrans" cxnId="{61E94995-FDCF-4945-8805-D6D485017613}">
      <dgm:prSet/>
      <dgm:spPr/>
      <dgm:t>
        <a:bodyPr/>
        <a:lstStyle/>
        <a:p>
          <a:endParaRPr lang="ru-RU"/>
        </a:p>
      </dgm:t>
    </dgm:pt>
    <dgm:pt modelId="{C3AFA44A-485E-4F99-A203-EB202F7DA5F6}" type="sibTrans" cxnId="{61E94995-FDCF-4945-8805-D6D485017613}">
      <dgm:prSet/>
      <dgm:spPr/>
      <dgm:t>
        <a:bodyPr/>
        <a:lstStyle/>
        <a:p>
          <a:endParaRPr lang="ru-RU"/>
        </a:p>
      </dgm:t>
    </dgm:pt>
    <dgm:pt modelId="{8924AC18-4DA5-4296-9C71-2C572DD31255}">
      <dgm:prSet phldrT="[Текст]" custT="1"/>
      <dgm:spPr/>
      <dgm:t>
        <a:bodyPr/>
        <a:lstStyle/>
        <a:p>
          <a:pPr algn="just"/>
          <a:r>
            <a:rPr lang="ru-RU" sz="1800" smtClean="0"/>
            <a:t>	  </a:t>
          </a:r>
          <a:r>
            <a:rPr lang="uz-Cyrl-UZ" sz="1800" b="1" i="1" smtClean="0"/>
            <a:t>Акслантириш учун чизиқсизлик қиймати </a:t>
          </a:r>
          <a:r>
            <a:rPr lang="uz-Cyrl-UZ" sz="1800" b="1" i="0" smtClean="0"/>
            <a:t>   </a:t>
          </a:r>
          <a:r>
            <a:rPr lang="uz-Cyrl-UZ" sz="1800" b="1" i="1" smtClean="0"/>
            <a:t>юқори ва  </a:t>
          </a:r>
          <a:r>
            <a:rPr lang="en-US" sz="1800" b="1" i="1" smtClean="0"/>
            <a:t>	</a:t>
          </a:r>
          <a:r>
            <a:rPr lang="uz-Cyrl-UZ" sz="1800" b="1" i="1" smtClean="0"/>
            <a:t>чизиқлилик</a:t>
          </a:r>
          <a:r>
            <a:rPr lang="en-US" sz="1800" b="1" i="1" smtClean="0"/>
            <a:t>  </a:t>
          </a:r>
          <a:r>
            <a:rPr lang="uz-Cyrl-UZ" sz="1800" b="1" i="1" smtClean="0"/>
            <a:t>қиймати</a:t>
          </a:r>
          <a:r>
            <a:rPr lang="en-US" sz="1800" b="1" i="1" smtClean="0"/>
            <a:t> </a:t>
          </a:r>
          <a:r>
            <a:rPr lang="uz-Cyrl-UZ" sz="1800" b="1" i="0" smtClean="0"/>
            <a:t>                </a:t>
          </a:r>
          <a:r>
            <a:rPr lang="uz-Cyrl-UZ" sz="1800" b="1" i="1" smtClean="0"/>
            <a:t>кичик бўлишлигини таъминлаш</a:t>
          </a:r>
          <a:endParaRPr lang="ru-RU" sz="1800" b="1" i="1"/>
        </a:p>
      </dgm:t>
    </dgm:pt>
    <dgm:pt modelId="{611D5B16-5016-4DC9-BCB9-F1FB5440037F}" type="parTrans" cxnId="{449BBB08-5F3E-47B7-8015-364FFA44D539}">
      <dgm:prSet/>
      <dgm:spPr/>
      <dgm:t>
        <a:bodyPr/>
        <a:lstStyle/>
        <a:p>
          <a:endParaRPr lang="ru-RU"/>
        </a:p>
      </dgm:t>
    </dgm:pt>
    <dgm:pt modelId="{8A09C0F4-D6A9-44EE-86F1-645F6FB1A84E}" type="sibTrans" cxnId="{449BBB08-5F3E-47B7-8015-364FFA44D539}">
      <dgm:prSet/>
      <dgm:spPr/>
      <dgm:t>
        <a:bodyPr/>
        <a:lstStyle/>
        <a:p>
          <a:endParaRPr lang="ru-RU"/>
        </a:p>
      </dgm:t>
    </dgm:pt>
    <dgm:pt modelId="{227B20CA-5962-4BAF-9883-66D8F128C6C3}" type="pres">
      <dgm:prSet presAssocID="{D2166B6C-CCEB-4B30-A038-37BD665EB8C2}" presName="linearFlow" presStyleCnt="0">
        <dgm:presLayoutVars>
          <dgm:resizeHandles val="exact"/>
        </dgm:presLayoutVars>
      </dgm:prSet>
      <dgm:spPr/>
    </dgm:pt>
    <dgm:pt modelId="{B4C9F140-B5C5-464F-85D5-E665D8CA71BB}" type="pres">
      <dgm:prSet presAssocID="{A9A77A65-D69A-4600-9481-DA833A4A531A}" presName="node" presStyleLbl="node1" presStyleIdx="0" presStyleCnt="3" custScaleX="510101" custScaleY="17236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32C213-B03D-44A2-8B55-80960A36490D}" type="pres">
      <dgm:prSet presAssocID="{E4589340-E33D-4799-B659-93573F131EF3}" presName="sibTrans" presStyleLbl="sibTrans2D1" presStyleIdx="0" presStyleCnt="2" custFlipVert="0" custFlipHor="0" custScaleX="25789" custScaleY="21491"/>
      <dgm:spPr/>
      <dgm:t>
        <a:bodyPr/>
        <a:lstStyle/>
        <a:p>
          <a:endParaRPr lang="ru-RU"/>
        </a:p>
      </dgm:t>
    </dgm:pt>
    <dgm:pt modelId="{97BD43F7-60C1-4C8F-9DC4-77FED8175E24}" type="pres">
      <dgm:prSet presAssocID="{E4589340-E33D-4799-B659-93573F131EF3}" presName="connectorText" presStyleLbl="sibTrans2D1" presStyleIdx="0" presStyleCnt="2"/>
      <dgm:spPr/>
      <dgm:t>
        <a:bodyPr/>
        <a:lstStyle/>
        <a:p>
          <a:endParaRPr lang="ru-RU"/>
        </a:p>
      </dgm:t>
    </dgm:pt>
    <dgm:pt modelId="{3D3E50A2-1DCF-4A40-8CBA-D1A5FCF1983B}" type="pres">
      <dgm:prSet presAssocID="{5EF47E89-05CD-4D96-95DF-46B2546F08A9}" presName="node" presStyleLbl="node1" presStyleIdx="1" presStyleCnt="3" custScaleX="510101" custScaleY="195225" custLinFactNeighborX="-42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A6CD09-F99C-4C4C-A3B0-039A196593AB}" type="pres">
      <dgm:prSet presAssocID="{C3AFA44A-485E-4F99-A203-EB202F7DA5F6}" presName="sibTrans" presStyleLbl="sibTrans2D1" presStyleIdx="1" presStyleCnt="2" custFlipVert="1" custFlipHor="1" custScaleX="25870" custScaleY="21491"/>
      <dgm:spPr/>
      <dgm:t>
        <a:bodyPr/>
        <a:lstStyle/>
        <a:p>
          <a:endParaRPr lang="ru-RU"/>
        </a:p>
      </dgm:t>
    </dgm:pt>
    <dgm:pt modelId="{0081B91B-4FD3-41A1-B2B3-027212C6CCC5}" type="pres">
      <dgm:prSet presAssocID="{C3AFA44A-485E-4F99-A203-EB202F7DA5F6}" presName="connectorText" presStyleLbl="sibTrans2D1" presStyleIdx="1" presStyleCnt="2"/>
      <dgm:spPr/>
      <dgm:t>
        <a:bodyPr/>
        <a:lstStyle/>
        <a:p>
          <a:endParaRPr lang="ru-RU"/>
        </a:p>
      </dgm:t>
    </dgm:pt>
    <dgm:pt modelId="{7E50F322-59C5-4D40-8B27-5635EEF14CE5}" type="pres">
      <dgm:prSet presAssocID="{8924AC18-4DA5-4296-9C71-2C572DD31255}" presName="node" presStyleLbl="node1" presStyleIdx="2" presStyleCnt="3" custScaleX="510101" custScaleY="1812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CAF5F8C-4BD7-4196-88AF-BFF4CB9D998A}" type="presOf" srcId="{8924AC18-4DA5-4296-9C71-2C572DD31255}" destId="{7E50F322-59C5-4D40-8B27-5635EEF14CE5}" srcOrd="0" destOrd="0" presId="urn:microsoft.com/office/officeart/2005/8/layout/process2"/>
    <dgm:cxn modelId="{C29AED52-912D-4750-8A86-83C1E3DF0EAC}" type="presOf" srcId="{A9A77A65-D69A-4600-9481-DA833A4A531A}" destId="{B4C9F140-B5C5-464F-85D5-E665D8CA71BB}" srcOrd="0" destOrd="0" presId="urn:microsoft.com/office/officeart/2005/8/layout/process2"/>
    <dgm:cxn modelId="{449BBB08-5F3E-47B7-8015-364FFA44D539}" srcId="{D2166B6C-CCEB-4B30-A038-37BD665EB8C2}" destId="{8924AC18-4DA5-4296-9C71-2C572DD31255}" srcOrd="2" destOrd="0" parTransId="{611D5B16-5016-4DC9-BCB9-F1FB5440037F}" sibTransId="{8A09C0F4-D6A9-44EE-86F1-645F6FB1A84E}"/>
    <dgm:cxn modelId="{F8B34FF2-D52C-4BFA-B440-B1A0ED8AAEAF}" type="presOf" srcId="{C3AFA44A-485E-4F99-A203-EB202F7DA5F6}" destId="{0081B91B-4FD3-41A1-B2B3-027212C6CCC5}" srcOrd="1" destOrd="0" presId="urn:microsoft.com/office/officeart/2005/8/layout/process2"/>
    <dgm:cxn modelId="{DF2B8A97-8700-497A-AEA3-FA976C19D215}" type="presOf" srcId="{E4589340-E33D-4799-B659-93573F131EF3}" destId="{5532C213-B03D-44A2-8B55-80960A36490D}" srcOrd="0" destOrd="0" presId="urn:microsoft.com/office/officeart/2005/8/layout/process2"/>
    <dgm:cxn modelId="{41DAAABB-EF69-4BE1-8CEB-39737EBE2603}" type="presOf" srcId="{5EF47E89-05CD-4D96-95DF-46B2546F08A9}" destId="{3D3E50A2-1DCF-4A40-8CBA-D1A5FCF1983B}" srcOrd="0" destOrd="0" presId="urn:microsoft.com/office/officeart/2005/8/layout/process2"/>
    <dgm:cxn modelId="{61E94995-FDCF-4945-8805-D6D485017613}" srcId="{D2166B6C-CCEB-4B30-A038-37BD665EB8C2}" destId="{5EF47E89-05CD-4D96-95DF-46B2546F08A9}" srcOrd="1" destOrd="0" parTransId="{26A77583-BB8C-4CCA-A673-52746682FDFB}" sibTransId="{C3AFA44A-485E-4F99-A203-EB202F7DA5F6}"/>
    <dgm:cxn modelId="{76423078-6E5B-4091-9737-3CEAA9BBD4CB}" srcId="{D2166B6C-CCEB-4B30-A038-37BD665EB8C2}" destId="{A9A77A65-D69A-4600-9481-DA833A4A531A}" srcOrd="0" destOrd="0" parTransId="{3C14EC9B-5FAC-42B9-A93A-87B00B69FCCE}" sibTransId="{E4589340-E33D-4799-B659-93573F131EF3}"/>
    <dgm:cxn modelId="{2EAE20F3-9AF7-42E8-AD48-03C910DC5879}" type="presOf" srcId="{C3AFA44A-485E-4F99-A203-EB202F7DA5F6}" destId="{DFA6CD09-F99C-4C4C-A3B0-039A196593AB}" srcOrd="0" destOrd="0" presId="urn:microsoft.com/office/officeart/2005/8/layout/process2"/>
    <dgm:cxn modelId="{161BB650-7213-498A-A00E-BE3ADBDCBD97}" type="presOf" srcId="{E4589340-E33D-4799-B659-93573F131EF3}" destId="{97BD43F7-60C1-4C8F-9DC4-77FED8175E24}" srcOrd="1" destOrd="0" presId="urn:microsoft.com/office/officeart/2005/8/layout/process2"/>
    <dgm:cxn modelId="{E869C3E5-258E-4DE5-B992-B316841DBD02}" type="presOf" srcId="{D2166B6C-CCEB-4B30-A038-37BD665EB8C2}" destId="{227B20CA-5962-4BAF-9883-66D8F128C6C3}" srcOrd="0" destOrd="0" presId="urn:microsoft.com/office/officeart/2005/8/layout/process2"/>
    <dgm:cxn modelId="{11B3C30A-472A-44A1-BE87-5BDC4076DD20}" type="presParOf" srcId="{227B20CA-5962-4BAF-9883-66D8F128C6C3}" destId="{B4C9F140-B5C5-464F-85D5-E665D8CA71BB}" srcOrd="0" destOrd="0" presId="urn:microsoft.com/office/officeart/2005/8/layout/process2"/>
    <dgm:cxn modelId="{33B44252-6A4F-4895-9629-4638EF3C7C3C}" type="presParOf" srcId="{227B20CA-5962-4BAF-9883-66D8F128C6C3}" destId="{5532C213-B03D-44A2-8B55-80960A36490D}" srcOrd="1" destOrd="0" presId="urn:microsoft.com/office/officeart/2005/8/layout/process2"/>
    <dgm:cxn modelId="{CCFF9E55-DC8D-41C9-B8D7-6DACBE190104}" type="presParOf" srcId="{5532C213-B03D-44A2-8B55-80960A36490D}" destId="{97BD43F7-60C1-4C8F-9DC4-77FED8175E24}" srcOrd="0" destOrd="0" presId="urn:microsoft.com/office/officeart/2005/8/layout/process2"/>
    <dgm:cxn modelId="{A65AB5CB-0FA8-4D1F-B0E2-35D914B66190}" type="presParOf" srcId="{227B20CA-5962-4BAF-9883-66D8F128C6C3}" destId="{3D3E50A2-1DCF-4A40-8CBA-D1A5FCF1983B}" srcOrd="2" destOrd="0" presId="urn:microsoft.com/office/officeart/2005/8/layout/process2"/>
    <dgm:cxn modelId="{0CA1128C-46A0-4BAC-AD1E-3F70A1953BE9}" type="presParOf" srcId="{227B20CA-5962-4BAF-9883-66D8F128C6C3}" destId="{DFA6CD09-F99C-4C4C-A3B0-039A196593AB}" srcOrd="3" destOrd="0" presId="urn:microsoft.com/office/officeart/2005/8/layout/process2"/>
    <dgm:cxn modelId="{EE469FCC-5E36-4AC9-8A22-DEDE9E8D5F83}" type="presParOf" srcId="{DFA6CD09-F99C-4C4C-A3B0-039A196593AB}" destId="{0081B91B-4FD3-41A1-B2B3-027212C6CCC5}" srcOrd="0" destOrd="0" presId="urn:microsoft.com/office/officeart/2005/8/layout/process2"/>
    <dgm:cxn modelId="{D58DA31C-4C74-4A97-B7D5-4335E32B2082}" type="presParOf" srcId="{227B20CA-5962-4BAF-9883-66D8F128C6C3}" destId="{7E50F322-59C5-4D40-8B27-5635EEF14CE5}" srcOrd="4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166B6C-CCEB-4B30-A038-37BD665EB8C2}" type="doc">
      <dgm:prSet loTypeId="urn:microsoft.com/office/officeart/2005/8/layout/process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924AC18-4DA5-4296-9C71-2C572DD31255}">
      <dgm:prSet phldrT="[Текст]" custT="1"/>
      <dgm:spPr/>
      <dgm:t>
        <a:bodyPr/>
        <a:lstStyle/>
        <a:p>
          <a:pPr algn="l"/>
          <a:r>
            <a:rPr lang="ru-RU" sz="1600" b="1" i="1" smtClean="0"/>
            <a:t>	   </a:t>
          </a:r>
          <a:r>
            <a:rPr lang="ru-RU" sz="1800" b="1" i="1" smtClean="0"/>
            <a:t>Буль функциялар</a:t>
          </a:r>
          <a:r>
            <a:rPr lang="uz-Cyrl-UZ" sz="1800" b="1" i="1" smtClean="0"/>
            <a:t> қатъий лавин эффективлик ва тарқалиш 	тамойиллари</a:t>
          </a:r>
          <a:r>
            <a:rPr lang="ru-RU" sz="1800" b="1" i="1" smtClean="0"/>
            <a:t> кўрсаткичларига </a:t>
          </a:r>
          <a:r>
            <a:rPr lang="en-US" sz="1800" b="1" i="1" smtClean="0"/>
            <a:t> </a:t>
          </a:r>
          <a:r>
            <a:rPr lang="ru-RU" sz="1800" b="1" i="1" smtClean="0"/>
            <a:t>мос келишини таъминлаш</a:t>
          </a:r>
          <a:endParaRPr lang="ru-RU" sz="1800" b="1" i="1"/>
        </a:p>
      </dgm:t>
    </dgm:pt>
    <dgm:pt modelId="{611D5B16-5016-4DC9-BCB9-F1FB5440037F}" type="parTrans" cxnId="{449BBB08-5F3E-47B7-8015-364FFA44D539}">
      <dgm:prSet/>
      <dgm:spPr/>
      <dgm:t>
        <a:bodyPr/>
        <a:lstStyle/>
        <a:p>
          <a:endParaRPr lang="ru-RU"/>
        </a:p>
      </dgm:t>
    </dgm:pt>
    <dgm:pt modelId="{8A09C0F4-D6A9-44EE-86F1-645F6FB1A84E}" type="sibTrans" cxnId="{449BBB08-5F3E-47B7-8015-364FFA44D539}">
      <dgm:prSet/>
      <dgm:spPr/>
      <dgm:t>
        <a:bodyPr/>
        <a:lstStyle/>
        <a:p>
          <a:endParaRPr lang="ru-RU"/>
        </a:p>
      </dgm:t>
    </dgm:pt>
    <dgm:pt modelId="{A9A77A65-D69A-4600-9481-DA833A4A531A}">
      <dgm:prSet phldrT="[Текст]" custT="1"/>
      <dgm:spPr/>
      <dgm:t>
        <a:bodyPr/>
        <a:lstStyle/>
        <a:p>
          <a:pPr algn="just"/>
          <a:r>
            <a:rPr lang="ru-RU" sz="1800" b="1" i="1" smtClean="0"/>
            <a:t>	 Буль функцияларнинг корреляцион  иммунистлик</a:t>
          </a:r>
          <a:r>
            <a:rPr lang="en-US" sz="1800" b="1" i="1" smtClean="0"/>
            <a:t> </a:t>
          </a:r>
          <a:r>
            <a:rPr lang="ru-RU" sz="1800" b="1" i="1" smtClean="0"/>
            <a:t>  </a:t>
          </a:r>
        </a:p>
        <a:p>
          <a:pPr algn="just"/>
          <a:r>
            <a:rPr lang="en-US" sz="1800" b="1" i="1" smtClean="0"/>
            <a:t>	</a:t>
          </a:r>
          <a:r>
            <a:rPr lang="ru-RU" sz="1800" b="1" i="1" smtClean="0"/>
            <a:t>кўрсаткичларига  мос  келишини  таъминлаш</a:t>
          </a:r>
          <a:endParaRPr lang="ru-RU" sz="1800" b="1" i="1"/>
        </a:p>
      </dgm:t>
    </dgm:pt>
    <dgm:pt modelId="{E4589340-E33D-4799-B659-93573F131EF3}" type="sibTrans" cxnId="{76423078-6E5B-4091-9737-3CEAA9BBD4CB}">
      <dgm:prSet/>
      <dgm:spPr/>
      <dgm:t>
        <a:bodyPr/>
        <a:lstStyle/>
        <a:p>
          <a:endParaRPr lang="ru-RU"/>
        </a:p>
      </dgm:t>
    </dgm:pt>
    <dgm:pt modelId="{3C14EC9B-5FAC-42B9-A93A-87B00B69FCCE}" type="parTrans" cxnId="{76423078-6E5B-4091-9737-3CEAA9BBD4CB}">
      <dgm:prSet/>
      <dgm:spPr/>
      <dgm:t>
        <a:bodyPr/>
        <a:lstStyle/>
        <a:p>
          <a:endParaRPr lang="ru-RU"/>
        </a:p>
      </dgm:t>
    </dgm:pt>
    <dgm:pt modelId="{227B20CA-5962-4BAF-9883-66D8F128C6C3}" type="pres">
      <dgm:prSet presAssocID="{D2166B6C-CCEB-4B30-A038-37BD665EB8C2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4C9F140-B5C5-464F-85D5-E665D8CA71BB}" type="pres">
      <dgm:prSet presAssocID="{A9A77A65-D69A-4600-9481-DA833A4A531A}" presName="node" presStyleLbl="node1" presStyleIdx="0" presStyleCnt="2" custScaleX="510101" custScaleY="20840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32C213-B03D-44A2-8B55-80960A36490D}" type="pres">
      <dgm:prSet presAssocID="{E4589340-E33D-4799-B659-93573F131EF3}" presName="sibTrans" presStyleLbl="sibTrans2D1" presStyleIdx="0" presStyleCnt="1" custFlipVert="0" custFlipHor="0" custScaleX="29552" custScaleY="18199"/>
      <dgm:spPr/>
      <dgm:t>
        <a:bodyPr/>
        <a:lstStyle/>
        <a:p>
          <a:endParaRPr lang="ru-RU"/>
        </a:p>
      </dgm:t>
    </dgm:pt>
    <dgm:pt modelId="{97BD43F7-60C1-4C8F-9DC4-77FED8175E24}" type="pres">
      <dgm:prSet presAssocID="{E4589340-E33D-4799-B659-93573F131EF3}" presName="connectorText" presStyleLbl="sibTrans2D1" presStyleIdx="0" presStyleCnt="1"/>
      <dgm:spPr/>
      <dgm:t>
        <a:bodyPr/>
        <a:lstStyle/>
        <a:p>
          <a:endParaRPr lang="ru-RU"/>
        </a:p>
      </dgm:t>
    </dgm:pt>
    <dgm:pt modelId="{7E50F322-59C5-4D40-8B27-5635EEF14CE5}" type="pres">
      <dgm:prSet presAssocID="{8924AC18-4DA5-4296-9C71-2C572DD31255}" presName="node" presStyleLbl="node1" presStyleIdx="1" presStyleCnt="2" custScaleX="510101" custScaleY="22137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C3DBBF-C90D-4F2A-B09F-050596233449}" type="presOf" srcId="{E4589340-E33D-4799-B659-93573F131EF3}" destId="{97BD43F7-60C1-4C8F-9DC4-77FED8175E24}" srcOrd="1" destOrd="0" presId="urn:microsoft.com/office/officeart/2005/8/layout/process2"/>
    <dgm:cxn modelId="{449BBB08-5F3E-47B7-8015-364FFA44D539}" srcId="{D2166B6C-CCEB-4B30-A038-37BD665EB8C2}" destId="{8924AC18-4DA5-4296-9C71-2C572DD31255}" srcOrd="1" destOrd="0" parTransId="{611D5B16-5016-4DC9-BCB9-F1FB5440037F}" sibTransId="{8A09C0F4-D6A9-44EE-86F1-645F6FB1A84E}"/>
    <dgm:cxn modelId="{FC3431F0-6B79-4142-B0BB-B9BEEF217C41}" type="presOf" srcId="{E4589340-E33D-4799-B659-93573F131EF3}" destId="{5532C213-B03D-44A2-8B55-80960A36490D}" srcOrd="0" destOrd="0" presId="urn:microsoft.com/office/officeart/2005/8/layout/process2"/>
    <dgm:cxn modelId="{EE3BBC0D-998A-409C-AA81-0E9FBB6507CA}" type="presOf" srcId="{8924AC18-4DA5-4296-9C71-2C572DD31255}" destId="{7E50F322-59C5-4D40-8B27-5635EEF14CE5}" srcOrd="0" destOrd="0" presId="urn:microsoft.com/office/officeart/2005/8/layout/process2"/>
    <dgm:cxn modelId="{3A77FA3F-084E-4C29-B745-6EB27DC92DB2}" type="presOf" srcId="{D2166B6C-CCEB-4B30-A038-37BD665EB8C2}" destId="{227B20CA-5962-4BAF-9883-66D8F128C6C3}" srcOrd="0" destOrd="0" presId="urn:microsoft.com/office/officeart/2005/8/layout/process2"/>
    <dgm:cxn modelId="{76423078-6E5B-4091-9737-3CEAA9BBD4CB}" srcId="{D2166B6C-CCEB-4B30-A038-37BD665EB8C2}" destId="{A9A77A65-D69A-4600-9481-DA833A4A531A}" srcOrd="0" destOrd="0" parTransId="{3C14EC9B-5FAC-42B9-A93A-87B00B69FCCE}" sibTransId="{E4589340-E33D-4799-B659-93573F131EF3}"/>
    <dgm:cxn modelId="{A992CBFC-FF65-44FD-85DB-CB7E1E43BFCA}" type="presOf" srcId="{A9A77A65-D69A-4600-9481-DA833A4A531A}" destId="{B4C9F140-B5C5-464F-85D5-E665D8CA71BB}" srcOrd="0" destOrd="0" presId="urn:microsoft.com/office/officeart/2005/8/layout/process2"/>
    <dgm:cxn modelId="{6968A362-38A6-4D7B-9C50-905B46369229}" type="presParOf" srcId="{227B20CA-5962-4BAF-9883-66D8F128C6C3}" destId="{B4C9F140-B5C5-464F-85D5-E665D8CA71BB}" srcOrd="0" destOrd="0" presId="urn:microsoft.com/office/officeart/2005/8/layout/process2"/>
    <dgm:cxn modelId="{F3652AEF-CE9A-4136-9995-4F6F7EB6F092}" type="presParOf" srcId="{227B20CA-5962-4BAF-9883-66D8F128C6C3}" destId="{5532C213-B03D-44A2-8B55-80960A36490D}" srcOrd="1" destOrd="0" presId="urn:microsoft.com/office/officeart/2005/8/layout/process2"/>
    <dgm:cxn modelId="{24F713D9-8914-4700-BCB9-666945ABB064}" type="presParOf" srcId="{5532C213-B03D-44A2-8B55-80960A36490D}" destId="{97BD43F7-60C1-4C8F-9DC4-77FED8175E24}" srcOrd="0" destOrd="0" presId="urn:microsoft.com/office/officeart/2005/8/layout/process2"/>
    <dgm:cxn modelId="{E8E9FF9B-5B07-4C88-930E-4CF7857A0924}" type="presParOf" srcId="{227B20CA-5962-4BAF-9883-66D8F128C6C3}" destId="{7E50F322-59C5-4D40-8B27-5635EEF14CE5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E41AC1D-EEAF-4138-8511-087413433D88}" type="doc">
      <dgm:prSet loTypeId="urn:microsoft.com/office/officeart/2005/8/layout/vList3#3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C8FA6A5-EB8E-46CB-8203-8AC056CF61EA}" type="pres">
      <dgm:prSet presAssocID="{5E41AC1D-EEAF-4138-8511-087413433D8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</dgm:ptLst>
  <dgm:cxnLst>
    <dgm:cxn modelId="{D5DAD80E-08CF-4DE9-838F-0A348E3CF970}" type="presOf" srcId="{5E41AC1D-EEAF-4138-8511-087413433D88}" destId="{EC8FA6A5-EB8E-46CB-8203-8AC056CF61EA}" srcOrd="0" destOrd="0" presId="urn:microsoft.com/office/officeart/2005/8/layout/vList3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9592E-5AD7-436A-85E4-5D0AA1B3DE31}">
      <dsp:nvSpPr>
        <dsp:cNvPr id="0" name=""/>
        <dsp:cNvSpPr/>
      </dsp:nvSpPr>
      <dsp:spPr>
        <a:xfrm>
          <a:off x="4946" y="9705"/>
          <a:ext cx="3197951" cy="959548"/>
        </a:xfrm>
        <a:prstGeom prst="rect">
          <a:avLst/>
        </a:prstGeom>
        <a:gradFill rotWithShape="1">
          <a:gsLst>
            <a:gs pos="0">
              <a:schemeClr val="accent4">
                <a:tint val="60000"/>
                <a:satMod val="160000"/>
              </a:schemeClr>
            </a:gs>
            <a:gs pos="46000">
              <a:schemeClr val="accent4">
                <a:tint val="86000"/>
                <a:satMod val="160000"/>
              </a:schemeClr>
            </a:gs>
            <a:gs pos="100000">
              <a:schemeClr val="accent4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prstMaterial="plastic">
          <a:bevelT w="127000" h="38200" prst="relaxedInset"/>
          <a:contourClr>
            <a:schemeClr val="accent4"/>
          </a:contourClr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/>
            <a:t>Махсус жадвал кўринишдаги  чизиқсиз        </a:t>
          </a:r>
          <a:r>
            <a:rPr lang="en-US" sz="1900" kern="1200" smtClean="0"/>
            <a:t>S</a:t>
          </a:r>
          <a:r>
            <a:rPr lang="ru-RU" sz="1900" kern="1200" smtClean="0"/>
            <a:t>-блоклар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4946" y="9705"/>
        <a:ext cx="3197951" cy="959548"/>
      </dsp:txXfrm>
    </dsp:sp>
    <dsp:sp modelId="{15950BF0-9838-4FDE-9AC2-1A7E5D58C5C1}">
      <dsp:nvSpPr>
        <dsp:cNvPr id="0" name=""/>
        <dsp:cNvSpPr/>
      </dsp:nvSpPr>
      <dsp:spPr>
        <a:xfrm>
          <a:off x="2277" y="969254"/>
          <a:ext cx="3203290" cy="3442229"/>
        </a:xfrm>
        <a:prstGeom prst="rect">
          <a:avLst/>
        </a:prstGeom>
        <a:solidFill>
          <a:schemeClr val="lt1"/>
        </a:solidFill>
        <a:ln w="25400" cap="flat" cmpd="sng" algn="ctr">
          <a:noFill/>
          <a:prstDash val="solid"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prstMaterial="matte">
          <a:bevelT w="127000" h="63500"/>
        </a:sp3d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акслантирилиши лозим бўлган кирувчи </a:t>
          </a:r>
          <a:r>
            <a:rPr lang="en-US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</a:t>
          </a: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-битли блок,  </a:t>
          </a:r>
          <a:r>
            <a:rPr lang="en-US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k</a:t>
          </a: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&lt;</a:t>
          </a:r>
          <a:r>
            <a:rPr lang="en-US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 </a:t>
          </a: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битдан иборат блок остиларга ажратилади  ва  ушбу </a:t>
          </a:r>
          <a:r>
            <a:rPr lang="en-US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k</a:t>
          </a: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-битли блок остилар учун  ўлчови  2</a:t>
          </a:r>
          <a:r>
            <a:rPr lang="en-US" sz="2000" i="0" kern="1200" baseline="30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k</a:t>
          </a:r>
          <a:r>
            <a:rPr lang="en-US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га тенг бўлган «ўрнига қўйиш» </a:t>
          </a:r>
          <a:r>
            <a:rPr lang="en-US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S</a:t>
          </a:r>
          <a:r>
            <a:rPr lang="ru-RU" sz="2000" i="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-блок жадваллари тузиб олинади.</a:t>
          </a:r>
          <a:endParaRPr lang="ru-RU" sz="2000" i="0" kern="120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2800" kern="1200"/>
        </a:p>
      </dsp:txBody>
      <dsp:txXfrm>
        <a:off x="2277" y="969254"/>
        <a:ext cx="3203290" cy="3442229"/>
      </dsp:txXfrm>
    </dsp:sp>
    <dsp:sp modelId="{6110C382-EF65-462F-9303-21BA6F286D09}">
      <dsp:nvSpPr>
        <dsp:cNvPr id="0" name=""/>
        <dsp:cNvSpPr/>
      </dsp:nvSpPr>
      <dsp:spPr>
        <a:xfrm>
          <a:off x="3643338" y="9705"/>
          <a:ext cx="3209250" cy="959548"/>
        </a:xfrm>
        <a:prstGeom prst="rect">
          <a:avLst/>
        </a:prstGeom>
        <a:gradFill rotWithShape="1">
          <a:gsLst>
            <a:gs pos="0">
              <a:schemeClr val="accent4">
                <a:tint val="60000"/>
                <a:satMod val="160000"/>
              </a:schemeClr>
            </a:gs>
            <a:gs pos="46000">
              <a:schemeClr val="accent4">
                <a:tint val="86000"/>
                <a:satMod val="160000"/>
              </a:schemeClr>
            </a:gs>
            <a:gs pos="100000">
              <a:schemeClr val="accent4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prstMaterial="plastic">
          <a:bevelT w="127000" h="38200" prst="relaxedInset"/>
          <a:contourClr>
            <a:schemeClr val="accent4"/>
          </a:contourClr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/>
            <a:t>Стандарт арифметик       ёки  алгебраик  амаллар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3643338" y="9705"/>
        <a:ext cx="3209250" cy="959548"/>
      </dsp:txXfrm>
    </dsp:sp>
    <dsp:sp modelId="{2C33FE41-C507-4903-8A41-809E4B7C1C8E}">
      <dsp:nvSpPr>
        <dsp:cNvPr id="0" name=""/>
        <dsp:cNvSpPr/>
      </dsp:nvSpPr>
      <dsp:spPr>
        <a:xfrm>
          <a:off x="3640156" y="969254"/>
          <a:ext cx="3215614" cy="3442229"/>
        </a:xfrm>
        <a:prstGeom prst="rect">
          <a:avLst/>
        </a:prstGeom>
        <a:solidFill>
          <a:schemeClr val="lt1"/>
        </a:solidFill>
        <a:ln w="25400" cap="flat" cmpd="sng" algn="ctr">
          <a:noFill/>
          <a:prstDash val="solid"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prstMaterial="matte">
          <a:bevelT w="127000" h="63500"/>
        </a:sp3d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чизиқли (</a:t>
          </a:r>
          <a:r>
            <a:rPr lang="en-US" sz="200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XOR</a:t>
          </a:r>
          <a:r>
            <a:rPr lang="ru-RU" sz="200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) ёки чизиқсизлик даражаси кам бўлган( 2</a:t>
          </a:r>
          <a:r>
            <a:rPr lang="en-US" sz="2000" kern="1200" baseline="30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</a:t>
          </a:r>
          <a:r>
            <a:rPr lang="ru-RU" sz="200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 модул бўйича қўшиш) ёки бўлмаса аппарат-техник қўлланилиши мураккаб бўлган «даражага ошириш», «2</a:t>
          </a:r>
          <a:r>
            <a:rPr lang="en-US" sz="2000" kern="1200" baseline="30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n</a:t>
          </a:r>
          <a:r>
            <a:rPr lang="ru-RU" sz="2000" kern="12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 модул бўйича кўпайтириш», «туб модул бўйича кўпайтириш»  амаллари</a:t>
          </a:r>
          <a:endParaRPr lang="ru-RU" sz="2000" kern="120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3640156" y="969254"/>
        <a:ext cx="3215614" cy="3442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B0D23-0292-4D7C-B0BE-99EFF5E32E11}">
      <dsp:nvSpPr>
        <dsp:cNvPr id="0" name=""/>
        <dsp:cNvSpPr/>
      </dsp:nvSpPr>
      <dsp:spPr>
        <a:xfrm>
          <a:off x="0" y="11658"/>
          <a:ext cx="6096000" cy="1119690"/>
        </a:xfrm>
        <a:prstGeom prst="roundRect">
          <a:avLst/>
        </a:prstGeom>
        <a:gradFill rotWithShape="1">
          <a:gsLst>
            <a:gs pos="0">
              <a:schemeClr val="accent6">
                <a:tint val="10000"/>
                <a:satMod val="300000"/>
              </a:schemeClr>
            </a:gs>
            <a:gs pos="34000">
              <a:schemeClr val="accent6">
                <a:tint val="13500"/>
                <a:satMod val="250000"/>
              </a:schemeClr>
            </a:gs>
            <a:gs pos="100000">
              <a:schemeClr val="accent6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 w="9525" cap="flat" cmpd="sng" algn="ctr">
          <a:noFill/>
          <a:prstDash val="solid"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clear">
          <a:bevelT w="127000" h="63500"/>
        </a:sp3d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0" i="0" u="none" kern="1200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«</a:t>
          </a:r>
          <a:r>
            <a:rPr lang="uz-Cyrl-UZ" sz="2900" b="0" i="0" u="none" kern="1200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ўрнига қўйиш</a:t>
          </a:r>
          <a:r>
            <a:rPr lang="ru-RU" sz="2900" b="0" i="0" u="none" kern="1200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»</a:t>
          </a:r>
          <a:r>
            <a:rPr lang="uz-Cyrl-UZ" sz="2900" b="0" i="0" u="none" kern="1200" cap="none" spc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акслантиришлари</a:t>
          </a:r>
          <a:endParaRPr lang="ru-RU" sz="2900" b="0" i="0" u="none" kern="120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sp:txBody>
      <dsp:txXfrm>
        <a:off x="54659" y="66317"/>
        <a:ext cx="5986682" cy="10103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9F140-B5C5-464F-85D5-E665D8CA71BB}">
      <dsp:nvSpPr>
        <dsp:cNvPr id="0" name=""/>
        <dsp:cNvSpPr/>
      </dsp:nvSpPr>
      <dsp:spPr>
        <a:xfrm>
          <a:off x="0" y="2240"/>
          <a:ext cx="8572560" cy="8148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i="1" kern="1200" smtClean="0"/>
            <a:t>                   </a:t>
          </a:r>
          <a:r>
            <a:rPr lang="uz-Cyrl-UZ" sz="1800" b="1" i="1" kern="1200" smtClean="0"/>
            <a:t>Акслантиришнинг</a:t>
          </a:r>
          <a:r>
            <a:rPr lang="en-US" sz="1800" b="1" i="1" kern="1200" smtClean="0"/>
            <a:t> </a:t>
          </a:r>
          <a:r>
            <a:rPr lang="uz-Cyrl-UZ" sz="1800" b="1" i="1" kern="1200" smtClean="0"/>
            <a:t>регуляр бўлишлиги, </a:t>
          </a:r>
          <a:r>
            <a:rPr lang="en-US" sz="1800" b="1" i="1" kern="1200" smtClean="0"/>
            <a:t> </a:t>
          </a:r>
          <a:r>
            <a:rPr lang="uz-Cyrl-UZ" sz="1800" b="1" i="1" kern="1200" smtClean="0"/>
            <a:t>яъни буль</a:t>
          </a:r>
          <a:r>
            <a:rPr lang="en-US" sz="1800" b="1" i="1" kern="1200" smtClean="0"/>
            <a:t> </a:t>
          </a:r>
          <a:r>
            <a:rPr lang="uz-Cyrl-UZ" sz="1800" b="1" i="1" kern="1200" smtClean="0"/>
            <a:t>функция 	компоненталарининг  баланслашганлигини 	таъминлаш</a:t>
          </a:r>
          <a:endParaRPr lang="ru-RU" sz="1800" b="1" i="1" kern="1200"/>
        </a:p>
      </dsp:txBody>
      <dsp:txXfrm>
        <a:off x="23867" y="26107"/>
        <a:ext cx="8524826" cy="767138"/>
      </dsp:txXfrm>
    </dsp:sp>
    <dsp:sp modelId="{5532C213-B03D-44A2-8B55-80960A36490D}">
      <dsp:nvSpPr>
        <dsp:cNvPr id="0" name=""/>
        <dsp:cNvSpPr/>
      </dsp:nvSpPr>
      <dsp:spPr>
        <a:xfrm rot="5400000">
          <a:off x="4263419" y="912442"/>
          <a:ext cx="45720" cy="457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-5400000">
        <a:off x="4272563" y="912442"/>
        <a:ext cx="27432" cy="32004"/>
      </dsp:txXfrm>
    </dsp:sp>
    <dsp:sp modelId="{3D3E50A2-1DCF-4A40-8CBA-D1A5FCF1983B}">
      <dsp:nvSpPr>
        <dsp:cNvPr id="0" name=""/>
        <dsp:cNvSpPr/>
      </dsp:nvSpPr>
      <dsp:spPr>
        <a:xfrm>
          <a:off x="0" y="1053493"/>
          <a:ext cx="8572560" cy="9229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   	</a:t>
          </a:r>
          <a:r>
            <a:rPr lang="uz-Cyrl-UZ" sz="1600" b="1" i="1" kern="1200" smtClean="0"/>
            <a:t>    Б</a:t>
          </a:r>
          <a:r>
            <a:rPr lang="uz-Cyrl-UZ" sz="1800" b="1" i="1" kern="1200" smtClean="0"/>
            <a:t>уль функциялар алгебраик  </a:t>
          </a:r>
          <a:r>
            <a:rPr lang="uz-Cyrl-UZ" sz="1800" b="1" i="0" kern="1200" smtClean="0">
              <a:solidFill>
                <a:srgbClr val="002060"/>
              </a:solidFill>
              <a:latin typeface="Cambria" pitchFamily="18" charset="0"/>
            </a:rPr>
            <a:t>                 </a:t>
          </a:r>
          <a:r>
            <a:rPr lang="ru-RU" sz="1800" b="1" i="1" kern="1200" smtClean="0">
              <a:latin typeface="Cambria" pitchFamily="18" charset="0"/>
            </a:rPr>
            <a:t>     ва мантиқий чизиқсизлик</a:t>
          </a:r>
          <a:r>
            <a:rPr lang="en-US" sz="1800" b="1" i="1" kern="1200" smtClean="0">
              <a:latin typeface="Cambria" pitchFamily="18" charset="0"/>
            </a:rPr>
            <a:t> </a:t>
          </a:r>
          <a:r>
            <a:rPr lang="ru-RU" sz="1800" b="1" i="1" kern="1200" smtClean="0">
              <a:latin typeface="Cambria" pitchFamily="18" charset="0"/>
            </a:rPr>
            <a:t> </a:t>
          </a:r>
          <a:r>
            <a:rPr lang="uz-Cyrl-UZ" sz="1800" b="1" i="0" kern="1200" smtClean="0">
              <a:latin typeface="Cambria" pitchFamily="18" charset="0"/>
            </a:rPr>
            <a:t>   </a:t>
          </a:r>
          <a:r>
            <a:rPr lang="ru-RU" sz="1800" b="1" i="0" kern="1200" smtClean="0">
              <a:latin typeface="Cambria" pitchFamily="18" charset="0"/>
            </a:rPr>
            <a:t>                  	                   </a:t>
          </a:r>
          <a:r>
            <a:rPr lang="ru-RU" sz="1800" b="1" i="1" kern="1200" smtClean="0">
              <a:latin typeface="Cambria" pitchFamily="18" charset="0"/>
            </a:rPr>
            <a:t>даражаларининг қийматлари юқори </a:t>
          </a:r>
          <a:r>
            <a:rPr lang="uz-Cyrl-UZ" sz="1800" b="1" i="1" kern="1200" smtClean="0"/>
            <a:t>бўлишлигини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b="1" i="1" kern="1200" smtClean="0"/>
            <a:t>                 таъминлаш </a:t>
          </a:r>
          <a:endParaRPr lang="ru-RU" sz="1800" b="1" i="1" kern="1200"/>
        </a:p>
      </dsp:txBody>
      <dsp:txXfrm>
        <a:off x="27032" y="1080525"/>
        <a:ext cx="8518496" cy="868886"/>
      </dsp:txXfrm>
    </dsp:sp>
    <dsp:sp modelId="{DFA6CD09-F99C-4C4C-A3B0-039A196593AB}">
      <dsp:nvSpPr>
        <dsp:cNvPr id="0" name=""/>
        <dsp:cNvSpPr/>
      </dsp:nvSpPr>
      <dsp:spPr>
        <a:xfrm rot="5400000" flipH="1" flipV="1">
          <a:off x="4263348" y="2071774"/>
          <a:ext cx="45863" cy="457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-5400000">
        <a:off x="4272563" y="2085419"/>
        <a:ext cx="27432" cy="32147"/>
      </dsp:txXfrm>
    </dsp:sp>
    <dsp:sp modelId="{7E50F322-59C5-4D40-8B27-5635EEF14CE5}">
      <dsp:nvSpPr>
        <dsp:cNvPr id="0" name=""/>
        <dsp:cNvSpPr/>
      </dsp:nvSpPr>
      <dsp:spPr>
        <a:xfrm>
          <a:off x="0" y="2212825"/>
          <a:ext cx="8572560" cy="856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/>
            <a:t>	  </a:t>
          </a:r>
          <a:r>
            <a:rPr lang="uz-Cyrl-UZ" sz="1800" b="1" i="1" kern="1200" smtClean="0"/>
            <a:t>Акслантириш учун чизиқсизлик қиймати </a:t>
          </a:r>
          <a:r>
            <a:rPr lang="uz-Cyrl-UZ" sz="1800" b="1" i="0" kern="1200" smtClean="0"/>
            <a:t>   </a:t>
          </a:r>
          <a:r>
            <a:rPr lang="uz-Cyrl-UZ" sz="1800" b="1" i="1" kern="1200" smtClean="0"/>
            <a:t>юқори ва  </a:t>
          </a:r>
          <a:r>
            <a:rPr lang="en-US" sz="1800" b="1" i="1" kern="1200" smtClean="0"/>
            <a:t>	</a:t>
          </a:r>
          <a:r>
            <a:rPr lang="uz-Cyrl-UZ" sz="1800" b="1" i="1" kern="1200" smtClean="0"/>
            <a:t>чизиқлилик</a:t>
          </a:r>
          <a:r>
            <a:rPr lang="en-US" sz="1800" b="1" i="1" kern="1200" smtClean="0"/>
            <a:t>  </a:t>
          </a:r>
          <a:r>
            <a:rPr lang="uz-Cyrl-UZ" sz="1800" b="1" i="1" kern="1200" smtClean="0"/>
            <a:t>қиймати</a:t>
          </a:r>
          <a:r>
            <a:rPr lang="en-US" sz="1800" b="1" i="1" kern="1200" smtClean="0"/>
            <a:t> </a:t>
          </a:r>
          <a:r>
            <a:rPr lang="uz-Cyrl-UZ" sz="1800" b="1" i="0" kern="1200" smtClean="0"/>
            <a:t>                </a:t>
          </a:r>
          <a:r>
            <a:rPr lang="uz-Cyrl-UZ" sz="1800" b="1" i="1" kern="1200" smtClean="0"/>
            <a:t>кичик бўлишлигини таъминлаш</a:t>
          </a:r>
          <a:endParaRPr lang="ru-RU" sz="1800" b="1" i="1" kern="1200"/>
        </a:p>
      </dsp:txBody>
      <dsp:txXfrm>
        <a:off x="25094" y="2237919"/>
        <a:ext cx="8522372" cy="8065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9F140-B5C5-464F-85D5-E665D8CA71BB}">
      <dsp:nvSpPr>
        <dsp:cNvPr id="0" name=""/>
        <dsp:cNvSpPr/>
      </dsp:nvSpPr>
      <dsp:spPr>
        <a:xfrm>
          <a:off x="0" y="2038"/>
          <a:ext cx="8572560" cy="9601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1" kern="1200" smtClean="0"/>
            <a:t>	 Буль функцияларнинг корреляцион  иммунистлик</a:t>
          </a:r>
          <a:r>
            <a:rPr lang="en-US" sz="1800" b="1" i="1" kern="1200" smtClean="0"/>
            <a:t> </a:t>
          </a:r>
          <a:r>
            <a:rPr lang="ru-RU" sz="1800" b="1" i="1" kern="1200" smtClean="0"/>
            <a:t>  </a:t>
          </a:r>
        </a:p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kern="1200" smtClean="0"/>
            <a:t>	</a:t>
          </a:r>
          <a:r>
            <a:rPr lang="ru-RU" sz="1800" b="1" i="1" kern="1200" smtClean="0"/>
            <a:t>кўрсаткичларига  мос  келишини  таъминлаш</a:t>
          </a:r>
          <a:endParaRPr lang="ru-RU" sz="1800" b="1" i="1" kern="1200"/>
        </a:p>
      </dsp:txBody>
      <dsp:txXfrm>
        <a:off x="28123" y="30161"/>
        <a:ext cx="8516314" cy="903944"/>
      </dsp:txXfrm>
    </dsp:sp>
    <dsp:sp modelId="{5532C213-B03D-44A2-8B55-80960A36490D}">
      <dsp:nvSpPr>
        <dsp:cNvPr id="0" name=""/>
        <dsp:cNvSpPr/>
      </dsp:nvSpPr>
      <dsp:spPr>
        <a:xfrm rot="5400000">
          <a:off x="4260750" y="1058548"/>
          <a:ext cx="51059" cy="377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-5400000">
        <a:off x="4274959" y="1051885"/>
        <a:ext cx="22640" cy="39739"/>
      </dsp:txXfrm>
    </dsp:sp>
    <dsp:sp modelId="{7E50F322-59C5-4D40-8B27-5635EEF14CE5}">
      <dsp:nvSpPr>
        <dsp:cNvPr id="0" name=""/>
        <dsp:cNvSpPr/>
      </dsp:nvSpPr>
      <dsp:spPr>
        <a:xfrm>
          <a:off x="0" y="1192599"/>
          <a:ext cx="8572560" cy="10199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1" kern="1200" smtClean="0"/>
            <a:t>	   </a:t>
          </a:r>
          <a:r>
            <a:rPr lang="ru-RU" sz="1800" b="1" i="1" kern="1200" smtClean="0"/>
            <a:t>Буль функциялар</a:t>
          </a:r>
          <a:r>
            <a:rPr lang="uz-Cyrl-UZ" sz="1800" b="1" i="1" kern="1200" smtClean="0"/>
            <a:t> қатъий лавин самарадорлик ва тарқалиш 	тамойиллари</a:t>
          </a:r>
          <a:r>
            <a:rPr lang="ru-RU" sz="1800" b="1" i="1" kern="1200" smtClean="0"/>
            <a:t> кўрсаткичларига </a:t>
          </a:r>
          <a:r>
            <a:rPr lang="en-US" sz="1800" b="1" i="1" kern="1200" smtClean="0"/>
            <a:t> </a:t>
          </a:r>
          <a:r>
            <a:rPr lang="ru-RU" sz="1800" b="1" i="1" kern="1200" smtClean="0"/>
            <a:t>мос келишини таъминлаш</a:t>
          </a:r>
          <a:endParaRPr lang="ru-RU" sz="1800" b="1" i="1" kern="1200"/>
        </a:p>
      </dsp:txBody>
      <dsp:txXfrm>
        <a:off x="29873" y="1222472"/>
        <a:ext cx="8512814" cy="9601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9F140-B5C5-464F-85D5-E665D8CA71BB}">
      <dsp:nvSpPr>
        <dsp:cNvPr id="0" name=""/>
        <dsp:cNvSpPr/>
      </dsp:nvSpPr>
      <dsp:spPr>
        <a:xfrm>
          <a:off x="0" y="2240"/>
          <a:ext cx="8572560" cy="8148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i="1" kern="1200" smtClean="0"/>
            <a:t>                   </a:t>
          </a:r>
          <a:r>
            <a:rPr lang="uz-Cyrl-UZ" sz="1800" b="1" i="1" kern="1200" smtClean="0"/>
            <a:t>Акслантиришнинг</a:t>
          </a:r>
          <a:r>
            <a:rPr lang="en-US" sz="1800" b="1" i="1" kern="1200" smtClean="0"/>
            <a:t> </a:t>
          </a:r>
          <a:r>
            <a:rPr lang="uz-Cyrl-UZ" sz="1800" b="1" i="1" kern="1200" smtClean="0"/>
            <a:t>регуляр бўлишлиги, </a:t>
          </a:r>
          <a:r>
            <a:rPr lang="en-US" sz="1800" b="1" i="1" kern="1200" smtClean="0"/>
            <a:t> </a:t>
          </a:r>
          <a:r>
            <a:rPr lang="uz-Cyrl-UZ" sz="1800" b="1" i="1" kern="1200" smtClean="0"/>
            <a:t>яъни буль</a:t>
          </a:r>
          <a:r>
            <a:rPr lang="en-US" sz="1800" b="1" i="1" kern="1200" smtClean="0"/>
            <a:t> </a:t>
          </a:r>
          <a:r>
            <a:rPr lang="uz-Cyrl-UZ" sz="1800" b="1" i="1" kern="1200" smtClean="0"/>
            <a:t>функция 	компоненталарининг  баланслашганлигини 	таъминлаш</a:t>
          </a:r>
          <a:endParaRPr lang="ru-RU" sz="1800" b="1" i="1" kern="1200"/>
        </a:p>
      </dsp:txBody>
      <dsp:txXfrm>
        <a:off x="23867" y="26107"/>
        <a:ext cx="8524826" cy="767138"/>
      </dsp:txXfrm>
    </dsp:sp>
    <dsp:sp modelId="{5532C213-B03D-44A2-8B55-80960A36490D}">
      <dsp:nvSpPr>
        <dsp:cNvPr id="0" name=""/>
        <dsp:cNvSpPr/>
      </dsp:nvSpPr>
      <dsp:spPr>
        <a:xfrm rot="5400000">
          <a:off x="4263419" y="912442"/>
          <a:ext cx="45720" cy="457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-5400000">
        <a:off x="4272563" y="912442"/>
        <a:ext cx="27432" cy="32004"/>
      </dsp:txXfrm>
    </dsp:sp>
    <dsp:sp modelId="{3D3E50A2-1DCF-4A40-8CBA-D1A5FCF1983B}">
      <dsp:nvSpPr>
        <dsp:cNvPr id="0" name=""/>
        <dsp:cNvSpPr/>
      </dsp:nvSpPr>
      <dsp:spPr>
        <a:xfrm>
          <a:off x="0" y="1053493"/>
          <a:ext cx="8572560" cy="9229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   	</a:t>
          </a:r>
          <a:r>
            <a:rPr lang="uz-Cyrl-UZ" sz="1600" b="1" i="1" kern="1200" smtClean="0"/>
            <a:t>    Б</a:t>
          </a:r>
          <a:r>
            <a:rPr lang="uz-Cyrl-UZ" sz="1800" b="1" i="1" kern="1200" smtClean="0"/>
            <a:t>уль функциялар алгебраик </a:t>
          </a:r>
          <a:r>
            <a:rPr lang="uz-Cyrl-UZ" sz="1800" b="1" i="0" kern="1200" smtClean="0">
              <a:solidFill>
                <a:srgbClr val="002060"/>
              </a:solidFill>
              <a:latin typeface="Cambria" pitchFamily="18" charset="0"/>
            </a:rPr>
            <a:t>                  </a:t>
          </a:r>
          <a:r>
            <a:rPr lang="ru-RU" sz="1800" b="1" i="1" kern="1200" smtClean="0">
              <a:latin typeface="Cambria" pitchFamily="18" charset="0"/>
            </a:rPr>
            <a:t>     ва чизиқсизлик</a:t>
          </a:r>
          <a:r>
            <a:rPr lang="en-US" sz="1800" b="1" i="1" kern="1200" smtClean="0">
              <a:latin typeface="Cambria" pitchFamily="18" charset="0"/>
            </a:rPr>
            <a:t> </a:t>
          </a:r>
          <a:r>
            <a:rPr lang="ru-RU" sz="1800" b="1" i="1" kern="1200" smtClean="0">
              <a:latin typeface="Cambria" pitchFamily="18" charset="0"/>
            </a:rPr>
            <a:t> </a:t>
          </a:r>
          <a:r>
            <a:rPr lang="uz-Cyrl-UZ" sz="1800" b="1" i="0" kern="1200" smtClean="0">
              <a:latin typeface="Cambria" pitchFamily="18" charset="0"/>
            </a:rPr>
            <a:t>   </a:t>
          </a:r>
          <a:r>
            <a:rPr lang="ru-RU" sz="1800" b="1" i="0" kern="1200" smtClean="0">
              <a:latin typeface="Cambria" pitchFamily="18" charset="0"/>
            </a:rPr>
            <a:t> 	</a:t>
          </a:r>
          <a:r>
            <a:rPr lang="ru-RU" sz="1800" b="1" i="1" kern="1200" smtClean="0">
              <a:latin typeface="Cambria" pitchFamily="18" charset="0"/>
            </a:rPr>
            <a:t>даражаларининг қийматлари юқори </a:t>
          </a:r>
          <a:r>
            <a:rPr lang="uz-Cyrl-UZ" sz="1800" b="1" i="1" kern="1200" smtClean="0"/>
            <a:t>бўлишлигини таъминлаш </a:t>
          </a:r>
          <a:endParaRPr lang="ru-RU" sz="1800" b="1" i="1" kern="1200"/>
        </a:p>
      </dsp:txBody>
      <dsp:txXfrm>
        <a:off x="27032" y="1080525"/>
        <a:ext cx="8518496" cy="868886"/>
      </dsp:txXfrm>
    </dsp:sp>
    <dsp:sp modelId="{DFA6CD09-F99C-4C4C-A3B0-039A196593AB}">
      <dsp:nvSpPr>
        <dsp:cNvPr id="0" name=""/>
        <dsp:cNvSpPr/>
      </dsp:nvSpPr>
      <dsp:spPr>
        <a:xfrm rot="5400000" flipH="1" flipV="1">
          <a:off x="4263348" y="2071774"/>
          <a:ext cx="45863" cy="457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-5400000">
        <a:off x="4272563" y="2085419"/>
        <a:ext cx="27432" cy="32147"/>
      </dsp:txXfrm>
    </dsp:sp>
    <dsp:sp modelId="{7E50F322-59C5-4D40-8B27-5635EEF14CE5}">
      <dsp:nvSpPr>
        <dsp:cNvPr id="0" name=""/>
        <dsp:cNvSpPr/>
      </dsp:nvSpPr>
      <dsp:spPr>
        <a:xfrm>
          <a:off x="0" y="2212825"/>
          <a:ext cx="8572560" cy="856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/>
            <a:t>	  </a:t>
          </a:r>
          <a:r>
            <a:rPr lang="uz-Cyrl-UZ" sz="1800" b="1" i="1" kern="1200" smtClean="0"/>
            <a:t>Акслантириш учун чизиқсизлик қиймати </a:t>
          </a:r>
          <a:r>
            <a:rPr lang="uz-Cyrl-UZ" sz="1800" b="1" i="0" kern="1200" smtClean="0"/>
            <a:t>   </a:t>
          </a:r>
          <a:r>
            <a:rPr lang="uz-Cyrl-UZ" sz="1800" b="1" i="1" kern="1200" smtClean="0"/>
            <a:t>юқори ва  </a:t>
          </a:r>
          <a:r>
            <a:rPr lang="en-US" sz="1800" b="1" i="1" kern="1200" smtClean="0"/>
            <a:t>	</a:t>
          </a:r>
          <a:r>
            <a:rPr lang="uz-Cyrl-UZ" sz="1800" b="1" i="1" kern="1200" smtClean="0"/>
            <a:t>чизиқлилик</a:t>
          </a:r>
          <a:r>
            <a:rPr lang="en-US" sz="1800" b="1" i="1" kern="1200" smtClean="0"/>
            <a:t>  </a:t>
          </a:r>
          <a:r>
            <a:rPr lang="uz-Cyrl-UZ" sz="1800" b="1" i="1" kern="1200" smtClean="0"/>
            <a:t>қиймати</a:t>
          </a:r>
          <a:r>
            <a:rPr lang="en-US" sz="1800" b="1" i="1" kern="1200" smtClean="0"/>
            <a:t> </a:t>
          </a:r>
          <a:r>
            <a:rPr lang="uz-Cyrl-UZ" sz="1800" b="1" i="0" kern="1200" smtClean="0"/>
            <a:t>                </a:t>
          </a:r>
          <a:r>
            <a:rPr lang="uz-Cyrl-UZ" sz="1800" b="1" i="1" kern="1200" smtClean="0"/>
            <a:t>кичик бўлишлигини таъминлаш</a:t>
          </a:r>
          <a:endParaRPr lang="ru-RU" sz="1800" b="1" i="1" kern="1200"/>
        </a:p>
      </dsp:txBody>
      <dsp:txXfrm>
        <a:off x="25094" y="2237919"/>
        <a:ext cx="8522372" cy="8065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9F140-B5C5-464F-85D5-E665D8CA71BB}">
      <dsp:nvSpPr>
        <dsp:cNvPr id="0" name=""/>
        <dsp:cNvSpPr/>
      </dsp:nvSpPr>
      <dsp:spPr>
        <a:xfrm>
          <a:off x="0" y="2038"/>
          <a:ext cx="8572560" cy="9601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1" kern="1200" smtClean="0"/>
            <a:t>	 Буль функцияларнинг корреляцион  иммунистлик</a:t>
          </a:r>
          <a:r>
            <a:rPr lang="en-US" sz="1800" b="1" i="1" kern="1200" smtClean="0"/>
            <a:t> </a:t>
          </a:r>
          <a:r>
            <a:rPr lang="ru-RU" sz="1800" b="1" i="1" kern="1200" smtClean="0"/>
            <a:t>  </a:t>
          </a:r>
        </a:p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kern="1200" smtClean="0"/>
            <a:t>	</a:t>
          </a:r>
          <a:r>
            <a:rPr lang="ru-RU" sz="1800" b="1" i="1" kern="1200" smtClean="0"/>
            <a:t>кўрсаткичларига  мос  келишини  таъминлаш</a:t>
          </a:r>
          <a:endParaRPr lang="ru-RU" sz="1800" b="1" i="1" kern="1200"/>
        </a:p>
      </dsp:txBody>
      <dsp:txXfrm>
        <a:off x="28123" y="30161"/>
        <a:ext cx="8516314" cy="903944"/>
      </dsp:txXfrm>
    </dsp:sp>
    <dsp:sp modelId="{5532C213-B03D-44A2-8B55-80960A36490D}">
      <dsp:nvSpPr>
        <dsp:cNvPr id="0" name=""/>
        <dsp:cNvSpPr/>
      </dsp:nvSpPr>
      <dsp:spPr>
        <a:xfrm rot="5400000">
          <a:off x="4260750" y="1058548"/>
          <a:ext cx="51059" cy="377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-5400000">
        <a:off x="4274959" y="1051885"/>
        <a:ext cx="22640" cy="39739"/>
      </dsp:txXfrm>
    </dsp:sp>
    <dsp:sp modelId="{7E50F322-59C5-4D40-8B27-5635EEF14CE5}">
      <dsp:nvSpPr>
        <dsp:cNvPr id="0" name=""/>
        <dsp:cNvSpPr/>
      </dsp:nvSpPr>
      <dsp:spPr>
        <a:xfrm>
          <a:off x="0" y="1192599"/>
          <a:ext cx="8572560" cy="10199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1" kern="1200" smtClean="0"/>
            <a:t>	   </a:t>
          </a:r>
          <a:r>
            <a:rPr lang="ru-RU" sz="1800" b="1" i="1" kern="1200" smtClean="0"/>
            <a:t>Буль функциялар</a:t>
          </a:r>
          <a:r>
            <a:rPr lang="uz-Cyrl-UZ" sz="1800" b="1" i="1" kern="1200" smtClean="0"/>
            <a:t> қатъий лавин эффективлик ва тарқалиш 	тамойиллари</a:t>
          </a:r>
          <a:r>
            <a:rPr lang="ru-RU" sz="1800" b="1" i="1" kern="1200" smtClean="0"/>
            <a:t> кўрсаткичларига </a:t>
          </a:r>
          <a:r>
            <a:rPr lang="en-US" sz="1800" b="1" i="1" kern="1200" smtClean="0"/>
            <a:t> </a:t>
          </a:r>
          <a:r>
            <a:rPr lang="ru-RU" sz="1800" b="1" i="1" kern="1200" smtClean="0"/>
            <a:t>мос келишини таъминлаш</a:t>
          </a:r>
          <a:endParaRPr lang="ru-RU" sz="1800" b="1" i="1" kern="1200"/>
        </a:p>
      </dsp:txBody>
      <dsp:txXfrm>
        <a:off x="29873" y="1222472"/>
        <a:ext cx="8512814" cy="9601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#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jpeg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1.jpe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9.wmf"/><Relationship Id="rId1" Type="http://schemas.openxmlformats.org/officeDocument/2006/relationships/image" Target="../media/image4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11.wmf"/><Relationship Id="rId1" Type="http://schemas.openxmlformats.org/officeDocument/2006/relationships/image" Target="../media/image33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11.wmf"/><Relationship Id="rId1" Type="http://schemas.openxmlformats.org/officeDocument/2006/relationships/image" Target="../media/image33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11.wmf"/><Relationship Id="rId1" Type="http://schemas.openxmlformats.org/officeDocument/2006/relationships/image" Target="../media/image33.wmf"/><Relationship Id="rId5" Type="http://schemas.openxmlformats.org/officeDocument/2006/relationships/image" Target="../media/image46.wmf"/><Relationship Id="rId4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9.wmf"/><Relationship Id="rId7" Type="http://schemas.openxmlformats.org/officeDocument/2006/relationships/image" Target="../media/image17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1.wmf"/><Relationship Id="rId11" Type="http://schemas.openxmlformats.org/officeDocument/2006/relationships/image" Target="../media/image54.wmf"/><Relationship Id="rId5" Type="http://schemas.openxmlformats.org/officeDocument/2006/relationships/image" Target="../media/image15.wmf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69.wmf"/><Relationship Id="rId5" Type="http://schemas.openxmlformats.org/officeDocument/2006/relationships/image" Target="../media/image52.wmf"/><Relationship Id="rId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3.wmf"/><Relationship Id="rId7" Type="http://schemas.openxmlformats.org/officeDocument/2006/relationships/image" Target="../media/image72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9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31.wmf"/><Relationship Id="rId1" Type="http://schemas.openxmlformats.org/officeDocument/2006/relationships/image" Target="../media/image82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88.wmf"/><Relationship Id="rId1" Type="http://schemas.openxmlformats.org/officeDocument/2006/relationships/image" Target="../media/image35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97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6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4D24381-7877-4A14-B0FE-48473D115ECF}" type="datetimeFigureOut">
              <a:rPr lang="ru-RU"/>
              <a:pPr>
                <a:defRPr/>
              </a:pPr>
              <a:t>22.05.2020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D49A0F-5CD5-4DAC-969D-48F98A469E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3208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z-Cyrl-UZ" smtClean="0"/>
          </a:p>
        </p:txBody>
      </p:sp>
      <p:sp>
        <p:nvSpPr>
          <p:cNvPr id="5939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AE80FDD-4D13-4836-871E-3CE63B3B323B}" type="slidenum">
              <a:rPr lang="ru-RU" smtClean="0"/>
              <a:pPr eaLnBrk="1" hangingPunct="1"/>
              <a:t>1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Скругленный прямоугольник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1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0494ED2-CF16-4486-A383-466692CEA4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451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A1B38-03BE-4C82-862A-161F4BD3C3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56896"/>
      </p:ext>
    </p:extLst>
  </p:cSld>
  <p:clrMapOvr>
    <a:masterClrMapping/>
  </p:clrMapOvr>
  <p:transition spd="med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Скругленный прямоугольник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8C02F-3BE6-4DE8-A082-120885124AA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642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009D2-BF2A-477C-9EE8-DD9047F0EF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280509"/>
      </p:ext>
    </p:extLst>
  </p:cSld>
  <p:clrMapOvr>
    <a:masterClrMapping/>
  </p:clrMapOvr>
  <p:transition spd="med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CF5FC-1A56-4F7F-A1FC-21B06EF37AD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255127"/>
      </p:ext>
    </p:extLst>
  </p:cSld>
  <p:clrMapOvr>
    <a:masterClrMapping/>
  </p:clrMapOvr>
  <p:transition spd="med"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AF39D-C315-4F35-BA74-CC6460E1D6B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622461"/>
      </p:ext>
    </p:extLst>
  </p:cSld>
  <p:clrMapOvr>
    <a:masterClrMapping/>
  </p:clrMapOvr>
  <p:transition spd="med">
    <p:circl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ACF98-3DC6-4631-9DA9-5E7C69CD82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886693"/>
      </p:ext>
    </p:extLst>
  </p:cSld>
  <p:clrMapOvr>
    <a:masterClrMapping/>
  </p:clrMapOvr>
  <p:transition spd="med">
    <p:circl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Скругленный прямоугольник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74AD7-2E22-4DCD-8F6C-A8259A6BD9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652268"/>
      </p:ext>
    </p:extLst>
  </p:cSld>
  <p:clrMapOvr>
    <a:masterClrMapping/>
  </p:clrMapOvr>
  <p:transition spd="med">
    <p:circl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F4607-5161-41DF-BB6E-FB5DB3172E8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536477"/>
      </p:ext>
    </p:extLst>
  </p:cSld>
  <p:clrMapOvr>
    <a:masterClrMapping/>
  </p:clrMapOvr>
  <p:transition spd="med">
    <p:circl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FF6FA-AAB7-4609-A108-C65A1C70EED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360932"/>
      </p:ext>
    </p:extLst>
  </p:cSld>
  <p:clrMapOvr>
    <a:masterClrMapping/>
  </p:clrMapOvr>
  <p:transition spd="med"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80EA0-F713-47CC-AFCA-2BF454BA25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491245"/>
      </p:ext>
    </p:extLst>
  </p:cSld>
  <p:clrMapOvr>
    <a:masterClrMapping/>
  </p:clrMapOvr>
  <p:transition spd="med"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8" name="Заголовок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21509" name="Текст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2725EB1-EBC4-48A7-907E-849CE74DBA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52" r:id="rId2"/>
    <p:sldLayoutId id="2147483760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62" r:id="rId9"/>
    <p:sldLayoutId id="2147483757" r:id="rId10"/>
    <p:sldLayoutId id="2147483758" r:id="rId11"/>
  </p:sldLayoutIdLst>
  <p:transition spd="med">
    <p:circl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slide" Target="slide8.xml"/><Relationship Id="rId18" Type="http://schemas.openxmlformats.org/officeDocument/2006/relationships/image" Target="../media/image15.wmf"/><Relationship Id="rId3" Type="http://schemas.openxmlformats.org/officeDocument/2006/relationships/diagramData" Target="../diagrams/data3.xml"/><Relationship Id="rId21" Type="http://schemas.openxmlformats.org/officeDocument/2006/relationships/oleObject" Target="../embeddings/oleObject14.bin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slide" Target="slide7.xml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2.v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24" Type="http://schemas.openxmlformats.org/officeDocument/2006/relationships/image" Target="../media/image18.wmf"/><Relationship Id="rId5" Type="http://schemas.openxmlformats.org/officeDocument/2006/relationships/diagramQuickStyle" Target="../diagrams/quickStyle3.xml"/><Relationship Id="rId15" Type="http://schemas.openxmlformats.org/officeDocument/2006/relationships/slide" Target="slide14.xml"/><Relationship Id="rId23" Type="http://schemas.openxmlformats.org/officeDocument/2006/relationships/oleObject" Target="../embeddings/oleObject15.bin"/><Relationship Id="rId10" Type="http://schemas.openxmlformats.org/officeDocument/2006/relationships/diagramQuickStyle" Target="../diagrams/quickStyle4.xml"/><Relationship Id="rId19" Type="http://schemas.openxmlformats.org/officeDocument/2006/relationships/oleObject" Target="../embeddings/oleObject13.bin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slide" Target="slide13.xml"/><Relationship Id="rId22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19.jpeg"/><Relationship Id="rId7" Type="http://schemas.openxmlformats.org/officeDocument/2006/relationships/image" Target="../media/image22.wmf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19.bin"/><Relationship Id="rId5" Type="http://schemas.openxmlformats.org/officeDocument/2006/relationships/image" Target="../media/image20.wmf"/><Relationship Id="rId10" Type="http://schemas.openxmlformats.org/officeDocument/2006/relationships/image" Target="../media/image23.wmf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19.jpeg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jpe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0.wmf"/><Relationship Id="rId3" Type="http://schemas.openxmlformats.org/officeDocument/2006/relationships/image" Target="../media/image19.jpeg"/><Relationship Id="rId7" Type="http://schemas.openxmlformats.org/officeDocument/2006/relationships/image" Target="../media/image9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9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4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17.wm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6.v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5" Type="http://schemas.openxmlformats.org/officeDocument/2006/relationships/oleObject" Target="../embeddings/oleObject31.bin"/><Relationship Id="rId10" Type="http://schemas.openxmlformats.org/officeDocument/2006/relationships/diagramQuickStyle" Target="../diagrams/quickStyle6.xml"/><Relationship Id="rId19" Type="http://schemas.openxmlformats.org/officeDocument/2006/relationships/oleObject" Target="../embeddings/oleObject33.bin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Relationship Id="rId1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41.bin"/><Relationship Id="rId26" Type="http://schemas.openxmlformats.org/officeDocument/2006/relationships/image" Target="../media/image42.wmf"/><Relationship Id="rId3" Type="http://schemas.openxmlformats.org/officeDocument/2006/relationships/image" Target="../media/image19.jpeg"/><Relationship Id="rId21" Type="http://schemas.openxmlformats.org/officeDocument/2006/relationships/image" Target="../media/image40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38.wmf"/><Relationship Id="rId25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2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5.wmf"/><Relationship Id="rId24" Type="http://schemas.openxmlformats.org/officeDocument/2006/relationships/image" Target="../media/image41.wmf"/><Relationship Id="rId5" Type="http://schemas.openxmlformats.org/officeDocument/2006/relationships/image" Target="../media/image33.wmf"/><Relationship Id="rId15" Type="http://schemas.openxmlformats.org/officeDocument/2006/relationships/image" Target="../media/image37.wmf"/><Relationship Id="rId23" Type="http://schemas.openxmlformats.org/officeDocument/2006/relationships/oleObject" Target="../embeddings/oleObject44.bin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oleObject" Target="../embeddings/oleObject51.bin"/><Relationship Id="rId3" Type="http://schemas.openxmlformats.org/officeDocument/2006/relationships/image" Target="../media/image19.jpeg"/><Relationship Id="rId7" Type="http://schemas.openxmlformats.org/officeDocument/2006/relationships/image" Target="../media/image11.wmf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7.bin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33.wmf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43.wmf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4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oleObject" Target="../embeddings/oleObject58.bin"/><Relationship Id="rId3" Type="http://schemas.openxmlformats.org/officeDocument/2006/relationships/image" Target="../media/image19.jpeg"/><Relationship Id="rId7" Type="http://schemas.openxmlformats.org/officeDocument/2006/relationships/image" Target="../media/image11.wmf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4.bin"/><Relationship Id="rId11" Type="http://schemas.openxmlformats.org/officeDocument/2006/relationships/oleObject" Target="../embeddings/oleObject57.bin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7.wmf"/><Relationship Id="rId14" Type="http://schemas.openxmlformats.org/officeDocument/2006/relationships/image" Target="../media/image4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55.jpeg"/><Relationship Id="rId21" Type="http://schemas.openxmlformats.org/officeDocument/2006/relationships/image" Target="../media/image52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17.wmf"/><Relationship Id="rId25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69.bin"/><Relationship Id="rId5" Type="http://schemas.openxmlformats.org/officeDocument/2006/relationships/image" Target="../media/image48.wmf"/><Relationship Id="rId15" Type="http://schemas.openxmlformats.org/officeDocument/2006/relationships/image" Target="../media/image51.wmf"/><Relationship Id="rId23" Type="http://schemas.openxmlformats.org/officeDocument/2006/relationships/image" Target="../media/image53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18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78.bin"/><Relationship Id="rId3" Type="http://schemas.openxmlformats.org/officeDocument/2006/relationships/image" Target="../media/image55.jpeg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74.bin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6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51.wmf"/><Relationship Id="rId5" Type="http://schemas.openxmlformats.org/officeDocument/2006/relationships/image" Target="../media/image56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73.bin"/><Relationship Id="rId19" Type="http://schemas.openxmlformats.org/officeDocument/2006/relationships/oleObject" Target="../embeddings/oleObject79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7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11" Type="http://schemas.openxmlformats.org/officeDocument/2006/relationships/image" Target="../media/image19.jpeg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8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5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9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6.wmf"/><Relationship Id="rId11" Type="http://schemas.openxmlformats.org/officeDocument/2006/relationships/image" Target="../media/image19.jpeg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5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64.wmf"/><Relationship Id="rId19" Type="http://schemas.openxmlformats.org/officeDocument/2006/relationships/image" Target="../media/image19.jpeg"/><Relationship Id="rId4" Type="http://schemas.openxmlformats.org/officeDocument/2006/relationships/image" Target="../media/image61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7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81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0.wmf"/><Relationship Id="rId20" Type="http://schemas.openxmlformats.org/officeDocument/2006/relationships/image" Target="../media/image55.jpeg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77.wmf"/><Relationship Id="rId19" Type="http://schemas.openxmlformats.org/officeDocument/2006/relationships/image" Target="../media/image19.jpeg"/><Relationship Id="rId4" Type="http://schemas.openxmlformats.org/officeDocument/2006/relationships/image" Target="../media/image74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79.wmf"/><Relationship Id="rId22" Type="http://schemas.openxmlformats.org/officeDocument/2006/relationships/image" Target="../media/image2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85.wmf"/><Relationship Id="rId3" Type="http://schemas.openxmlformats.org/officeDocument/2006/relationships/image" Target="../media/image19.jpeg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8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3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84.wmf"/><Relationship Id="rId5" Type="http://schemas.openxmlformats.org/officeDocument/2006/relationships/image" Target="../media/image82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110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11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oleObject" Target="../embeddings/oleObject121.bin"/><Relationship Id="rId18" Type="http://schemas.openxmlformats.org/officeDocument/2006/relationships/oleObject" Target="../embeddings/oleObject124.bin"/><Relationship Id="rId3" Type="http://schemas.openxmlformats.org/officeDocument/2006/relationships/image" Target="../media/image19.jpeg"/><Relationship Id="rId21" Type="http://schemas.openxmlformats.org/officeDocument/2006/relationships/image" Target="../media/image37.wmf"/><Relationship Id="rId7" Type="http://schemas.openxmlformats.org/officeDocument/2006/relationships/oleObject" Target="../embeddings/oleObject116.bin"/><Relationship Id="rId12" Type="http://schemas.openxmlformats.org/officeDocument/2006/relationships/oleObject" Target="../embeddings/oleObject120.bin"/><Relationship Id="rId17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20" Type="http://schemas.openxmlformats.org/officeDocument/2006/relationships/oleObject" Target="../embeddings/oleObject125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15.bin"/><Relationship Id="rId11" Type="http://schemas.openxmlformats.org/officeDocument/2006/relationships/oleObject" Target="../embeddings/oleObject119.bin"/><Relationship Id="rId5" Type="http://schemas.openxmlformats.org/officeDocument/2006/relationships/image" Target="../media/image35.wmf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88.wmf"/><Relationship Id="rId19" Type="http://schemas.openxmlformats.org/officeDocument/2006/relationships/image" Target="../media/image36.wmf"/><Relationship Id="rId4" Type="http://schemas.openxmlformats.org/officeDocument/2006/relationships/oleObject" Target="../embeddings/oleObject114.bin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55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oleObject" Target="../embeddings/oleObject132.bin"/><Relationship Id="rId18" Type="http://schemas.openxmlformats.org/officeDocument/2006/relationships/oleObject" Target="../embeddings/oleObject134.bin"/><Relationship Id="rId3" Type="http://schemas.openxmlformats.org/officeDocument/2006/relationships/image" Target="../media/image19.jpeg"/><Relationship Id="rId21" Type="http://schemas.openxmlformats.org/officeDocument/2006/relationships/image" Target="../media/image95.wmf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91.wmf"/><Relationship Id="rId17" Type="http://schemas.openxmlformats.org/officeDocument/2006/relationships/image" Target="../media/image5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3.wmf"/><Relationship Id="rId20" Type="http://schemas.openxmlformats.org/officeDocument/2006/relationships/oleObject" Target="../embeddings/oleObject135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27.bin"/><Relationship Id="rId11" Type="http://schemas.openxmlformats.org/officeDocument/2006/relationships/oleObject" Target="../embeddings/oleObject131.bin"/><Relationship Id="rId5" Type="http://schemas.openxmlformats.org/officeDocument/2006/relationships/image" Target="../media/image89.wmf"/><Relationship Id="rId15" Type="http://schemas.openxmlformats.org/officeDocument/2006/relationships/oleObject" Target="../embeddings/oleObject133.bin"/><Relationship Id="rId10" Type="http://schemas.openxmlformats.org/officeDocument/2006/relationships/image" Target="../media/image90.wmf"/><Relationship Id="rId19" Type="http://schemas.openxmlformats.org/officeDocument/2006/relationships/image" Target="../media/image94.wmf"/><Relationship Id="rId4" Type="http://schemas.openxmlformats.org/officeDocument/2006/relationships/oleObject" Target="../embeddings/oleObject126.bin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9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oleObject" Target="../embeddings/oleObject142.bin"/><Relationship Id="rId18" Type="http://schemas.openxmlformats.org/officeDocument/2006/relationships/oleObject" Target="../embeddings/oleObject144.bin"/><Relationship Id="rId3" Type="http://schemas.openxmlformats.org/officeDocument/2006/relationships/image" Target="../media/image19.jpeg"/><Relationship Id="rId21" Type="http://schemas.openxmlformats.org/officeDocument/2006/relationships/image" Target="../media/image97.wmf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91.wmf"/><Relationship Id="rId17" Type="http://schemas.openxmlformats.org/officeDocument/2006/relationships/image" Target="../media/image5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3.wmf"/><Relationship Id="rId20" Type="http://schemas.openxmlformats.org/officeDocument/2006/relationships/oleObject" Target="../embeddings/oleObject145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37.bin"/><Relationship Id="rId11" Type="http://schemas.openxmlformats.org/officeDocument/2006/relationships/oleObject" Target="../embeddings/oleObject141.bin"/><Relationship Id="rId5" Type="http://schemas.openxmlformats.org/officeDocument/2006/relationships/image" Target="../media/image89.wmf"/><Relationship Id="rId15" Type="http://schemas.openxmlformats.org/officeDocument/2006/relationships/oleObject" Target="../embeddings/oleObject143.bin"/><Relationship Id="rId10" Type="http://schemas.openxmlformats.org/officeDocument/2006/relationships/image" Target="../media/image90.wmf"/><Relationship Id="rId19" Type="http://schemas.openxmlformats.org/officeDocument/2006/relationships/image" Target="../media/image96.wmf"/><Relationship Id="rId4" Type="http://schemas.openxmlformats.org/officeDocument/2006/relationships/oleObject" Target="../embeddings/oleObject136.bin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9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438150" y="2928938"/>
            <a:ext cx="87058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uz-Cyrl-UZ" sz="2400" b="1" i="1">
                <a:latin typeface="Thin Times Uzb"/>
              </a:rPr>
              <a:t/>
            </a:r>
            <a:br>
              <a:rPr lang="uz-Cyrl-UZ" sz="2400" b="1" i="1">
                <a:latin typeface="Thin Times Uzb"/>
              </a:rPr>
            </a:br>
            <a:endParaRPr lang="ru-RU" sz="2400" b="1" i="1">
              <a:latin typeface="Thin Times Uzb"/>
            </a:endParaRPr>
          </a:p>
        </p:txBody>
      </p:sp>
      <p:sp>
        <p:nvSpPr>
          <p:cNvPr id="26628" name="Rectangle 150"/>
          <p:cNvSpPr>
            <a:spLocks noChangeArrowheads="1"/>
          </p:cNvSpPr>
          <p:nvPr/>
        </p:nvSpPr>
        <p:spPr bwMode="auto">
          <a:xfrm>
            <a:off x="357188" y="6215063"/>
            <a:ext cx="8572500" cy="71437"/>
          </a:xfrm>
          <a:prstGeom prst="rect">
            <a:avLst/>
          </a:prstGeom>
          <a:solidFill>
            <a:srgbClr val="339966">
              <a:alpha val="7607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6630" name="Line 152"/>
          <p:cNvSpPr>
            <a:spLocks noChangeShapeType="1"/>
          </p:cNvSpPr>
          <p:nvPr/>
        </p:nvSpPr>
        <p:spPr bwMode="auto">
          <a:xfrm flipV="1">
            <a:off x="214313" y="4714875"/>
            <a:ext cx="8763000" cy="0"/>
          </a:xfrm>
          <a:prstGeom prst="line">
            <a:avLst/>
          </a:prstGeom>
          <a:noFill/>
          <a:ln w="12700">
            <a:solidFill>
              <a:srgbClr val="E1175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0" name="Скругленный прямоугольник 4"/>
          <p:cNvSpPr/>
          <p:nvPr/>
        </p:nvSpPr>
        <p:spPr>
          <a:xfrm>
            <a:off x="363162" y="2676364"/>
            <a:ext cx="8489050" cy="1933900"/>
          </a:xfrm>
          <a:prstGeom prst="rect">
            <a:avLst/>
          </a:prstGeo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110490" tIns="110490" rIns="110490" bIns="110490" spcCol="1270" anchor="ctr"/>
          <a:lstStyle/>
          <a:p>
            <a:pPr algn="just">
              <a:defRPr/>
            </a:pPr>
            <a:r>
              <a:rPr lang="uz-Cyrl-UZ" sz="2800" b="1" i="1">
                <a:latin typeface="Thin Times Uzb" pitchFamily="18" charset="0"/>
              </a:rPr>
              <a:t>         </a:t>
            </a:r>
            <a:endParaRPr lang="ru-RU" sz="2400">
              <a:solidFill>
                <a:srgbClr val="002060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Times New Roman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00063" y="142875"/>
            <a:ext cx="8143875" cy="71437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 b="1" dirty="0">
                <a:solidFill>
                  <a:srgbClr val="002060"/>
                </a:solidFill>
                <a:latin typeface="Times New Roman" pitchFamily="18" charset="0"/>
              </a:rPr>
              <a:t>Радиоэлектрон тизимлар ва ахборот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endParaRPr lang="uz-Cyrl-UZ" sz="2400" b="1" dirty="0">
              <a:solidFill>
                <a:srgbClr val="002060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uz-Cyrl-UZ" sz="2400" b="1" dirty="0" smtClean="0">
                <a:solidFill>
                  <a:srgbClr val="002060"/>
                </a:solidFill>
                <a:latin typeface="Times New Roman" pitchFamily="18" charset="0"/>
              </a:rPr>
              <a:t>технологиялари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uz-Cyrl-UZ" sz="2400" b="1" dirty="0" smtClean="0">
                <a:solidFill>
                  <a:srgbClr val="002060"/>
                </a:solidFill>
                <a:latin typeface="Times New Roman" pitchFamily="18" charset="0"/>
              </a:rPr>
              <a:t>маркази</a:t>
            </a:r>
            <a:endParaRPr lang="ru-RU" sz="2400" b="1" dirty="0">
              <a:solidFill>
                <a:srgbClr val="002060"/>
              </a:solidFill>
            </a:endParaRPr>
          </a:p>
        </p:txBody>
      </p:sp>
      <p:sp>
        <p:nvSpPr>
          <p:cNvPr id="26633" name="Rectangle 150"/>
          <p:cNvSpPr>
            <a:spLocks noChangeArrowheads="1"/>
          </p:cNvSpPr>
          <p:nvPr/>
        </p:nvSpPr>
        <p:spPr bwMode="auto">
          <a:xfrm>
            <a:off x="214313" y="928688"/>
            <a:ext cx="8643937" cy="46037"/>
          </a:xfrm>
          <a:prstGeom prst="rect">
            <a:avLst/>
          </a:prstGeom>
          <a:solidFill>
            <a:srgbClr val="003300">
              <a:alpha val="7607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4" name="Прямоугольник 23"/>
          <p:cNvSpPr>
            <a:spLocks noChangeAspect="1"/>
          </p:cNvSpPr>
          <p:nvPr/>
        </p:nvSpPr>
        <p:spPr>
          <a:xfrm>
            <a:off x="0" y="2428875"/>
            <a:ext cx="9286875" cy="200025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800" b="1" dirty="0" smtClean="0">
                <a:solidFill>
                  <a:srgbClr val="002060"/>
                </a:solidFill>
                <a:latin typeface="Times New Roman" pitchFamily="18" charset="0"/>
              </a:rPr>
              <a:t>Симметрик </a:t>
            </a:r>
            <a:r>
              <a:rPr lang="uz-Cyrl-UZ" sz="2800" b="1" dirty="0">
                <a:solidFill>
                  <a:srgbClr val="002060"/>
                </a:solidFill>
                <a:latin typeface="Times New Roman" pitchFamily="18" charset="0"/>
              </a:rPr>
              <a:t>блокли шифрлаш     алгоритмлари </a:t>
            </a:r>
            <a:r>
              <a:rPr lang="uz-Cyrl-UZ" sz="2800" b="1" dirty="0" smtClean="0">
                <a:solidFill>
                  <a:srgbClr val="002060"/>
                </a:solidFill>
                <a:latin typeface="Times New Roman" pitchFamily="18" charset="0"/>
              </a:rPr>
              <a:t>криптографик  </a:t>
            </a:r>
            <a:r>
              <a:rPr lang="uz-Cyrl-UZ" sz="2800" b="1" dirty="0">
                <a:solidFill>
                  <a:srgbClr val="002060"/>
                </a:solidFill>
                <a:latin typeface="Times New Roman" pitchFamily="18" charset="0"/>
              </a:rPr>
              <a:t>акслантиришларининг математик  </a:t>
            </a:r>
          </a:p>
          <a:p>
            <a:pPr algn="ctr">
              <a:defRPr/>
            </a:pPr>
            <a:r>
              <a:rPr lang="uz-Cyrl-UZ" sz="2800" b="1" dirty="0" smtClean="0">
                <a:solidFill>
                  <a:srgbClr val="002060"/>
                </a:solidFill>
                <a:latin typeface="Times New Roman" pitchFamily="18" charset="0"/>
              </a:rPr>
              <a:t>хоссаларини </a:t>
            </a:r>
            <a:r>
              <a:rPr lang="uz-Cyrl-UZ" sz="2800" b="1" dirty="0">
                <a:solidFill>
                  <a:srgbClr val="002060"/>
                </a:solidFill>
                <a:latin typeface="Times New Roman" pitchFamily="18" charset="0"/>
              </a:rPr>
              <a:t>таҳлили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26636" name="Line 152"/>
          <p:cNvSpPr>
            <a:spLocks noChangeShapeType="1"/>
          </p:cNvSpPr>
          <p:nvPr/>
        </p:nvSpPr>
        <p:spPr bwMode="auto">
          <a:xfrm flipV="1">
            <a:off x="214313" y="2500313"/>
            <a:ext cx="8763000" cy="0"/>
          </a:xfrm>
          <a:prstGeom prst="line">
            <a:avLst/>
          </a:prstGeom>
          <a:noFill/>
          <a:ln w="12700">
            <a:solidFill>
              <a:srgbClr val="E1175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79512" y="1247272"/>
            <a:ext cx="8748713" cy="15696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  <a:buFont typeface="Wingdings" pitchFamily="2" charset="2"/>
              <a:buChar char="v"/>
            </a:pPr>
            <a:r>
              <a:rPr lang="uz-Cyrl-UZ" sz="2400" dirty="0">
                <a:latin typeface="Times New Roman" pitchFamily="18" charset="0"/>
              </a:rPr>
              <a:t>Ахборот тизимлари хав</a:t>
            </a:r>
            <a:r>
              <a:rPr lang="ru-RU" sz="2400" dirty="0">
                <a:latin typeface="Times New Roman" pitchFamily="18" charset="0"/>
              </a:rPr>
              <a:t>ф</a:t>
            </a:r>
            <a:r>
              <a:rPr lang="uz-Cyrl-UZ" sz="2400" dirty="0">
                <a:latin typeface="Times New Roman" pitchFamily="18" charset="0"/>
              </a:rPr>
              <a:t>сизлик </a:t>
            </a:r>
            <a:r>
              <a:rPr lang="uz-Cyrl-UZ" sz="2400" dirty="0" smtClean="0">
                <a:latin typeface="Times New Roman" pitchFamily="18" charset="0"/>
              </a:rPr>
              <a:t>масаласининг </a:t>
            </a:r>
            <a:r>
              <a:rPr lang="uz-Cyrl-UZ" sz="2400" dirty="0">
                <a:latin typeface="Times New Roman" pitchFamily="18" charset="0"/>
              </a:rPr>
              <a:t>асосий аспектларидан </a:t>
            </a:r>
            <a:r>
              <a:rPr lang="uz-Cyrl-UZ" sz="2400" dirty="0" smtClean="0">
                <a:latin typeface="Times New Roman" pitchFamily="18" charset="0"/>
              </a:rPr>
              <a:t>бири – тизимда </a:t>
            </a:r>
            <a:r>
              <a:rPr lang="uz-Cyrl-UZ" sz="2400" dirty="0">
                <a:latin typeface="Times New Roman" pitchFamily="18" charset="0"/>
              </a:rPr>
              <a:t>фойдаланилган криптографик алгоритмларнинг, хусусан </a:t>
            </a:r>
            <a:r>
              <a:rPr lang="uz-Cyrl-UZ" sz="2400" b="1" u="sng" dirty="0" smtClean="0">
                <a:solidFill>
                  <a:srgbClr val="800000"/>
                </a:solidFill>
                <a:latin typeface="Times New Roman" pitchFamily="18" charset="0"/>
              </a:rPr>
              <a:t>шифрлаш </a:t>
            </a:r>
            <a:r>
              <a:rPr lang="uz-Cyrl-UZ" sz="2400" b="1" u="sng" dirty="0">
                <a:solidFill>
                  <a:srgbClr val="800000"/>
                </a:solidFill>
                <a:latin typeface="Times New Roman" pitchFamily="18" charset="0"/>
              </a:rPr>
              <a:t>алгоритмларининг ишончлилигини баҳолаш</a:t>
            </a:r>
            <a:r>
              <a:rPr lang="uz-Cyrl-UZ" sz="2400" dirty="0">
                <a:latin typeface="Times New Roman" pitchFamily="18" charset="0"/>
              </a:rPr>
              <a:t> ҳисобланади.</a:t>
            </a:r>
          </a:p>
        </p:txBody>
      </p:sp>
      <p:sp>
        <p:nvSpPr>
          <p:cNvPr id="14" name="AutoShape 28"/>
          <p:cNvSpPr>
            <a:spLocks noChangeArrowheads="1"/>
          </p:cNvSpPr>
          <p:nvPr/>
        </p:nvSpPr>
        <p:spPr bwMode="auto">
          <a:xfrm>
            <a:off x="468313" y="3265683"/>
            <a:ext cx="8139112" cy="919401"/>
          </a:xfrm>
          <a:prstGeom prst="flowChartAlternateProcess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pPr algn="ctr"/>
            <a:r>
              <a:rPr lang="uz-Cyrl-UZ" sz="2400" b="1" dirty="0">
                <a:latin typeface="Times New Roman" pitchFamily="18" charset="0"/>
              </a:rPr>
              <a:t>Блокли симметрик шифрлаш алгоритмлари </a:t>
            </a:r>
            <a:r>
              <a:rPr lang="uz-Cyrl-UZ" sz="2400" dirty="0">
                <a:latin typeface="Times New Roman" pitchFamily="18" charset="0"/>
              </a:rPr>
              <a:t>(БСША)</a:t>
            </a:r>
            <a:r>
              <a:rPr lang="uz-Cyrl-UZ" sz="2400" b="1" dirty="0">
                <a:latin typeface="Times New Roman" pitchFamily="18" charset="0"/>
              </a:rPr>
              <a:t> криптобардошлигини баҳолаш</a:t>
            </a:r>
            <a:endParaRPr lang="ru-RU" sz="2400" b="1" dirty="0">
              <a:latin typeface="Times New Roman" pitchFamily="18" charset="0"/>
            </a:endParaRPr>
          </a:p>
        </p:txBody>
      </p:sp>
      <p:pic>
        <p:nvPicPr>
          <p:cNvPr id="15" name="Picture 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4150655"/>
            <a:ext cx="100806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6" name="Picture 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5265824"/>
            <a:ext cx="1008063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7" name="AutoShape 55"/>
          <p:cNvSpPr>
            <a:spLocks noChangeArrowheads="1"/>
          </p:cNvSpPr>
          <p:nvPr/>
        </p:nvSpPr>
        <p:spPr bwMode="gray">
          <a:xfrm>
            <a:off x="1584325" y="4431643"/>
            <a:ext cx="5940425" cy="827087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uz-Cyrl-UZ" sz="2400" b="1" i="1" dirty="0">
                <a:solidFill>
                  <a:srgbClr val="000000"/>
                </a:solidFill>
                <a:latin typeface="Times New Roman" pitchFamily="18" charset="0"/>
              </a:rPr>
              <a:t>криптографик талабларга текшириш</a:t>
            </a:r>
            <a:endParaRPr lang="ru-RU" sz="2400" b="1" i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" name="AutoShape 56"/>
          <p:cNvSpPr>
            <a:spLocks noChangeArrowheads="1"/>
          </p:cNvSpPr>
          <p:nvPr/>
        </p:nvSpPr>
        <p:spPr bwMode="gray">
          <a:xfrm>
            <a:off x="3048000" y="5554749"/>
            <a:ext cx="5737225" cy="7905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uz-Cyrl-UZ" sz="2400" b="1" i="1">
                <a:solidFill>
                  <a:srgbClr val="000000"/>
                </a:solidFill>
                <a:latin typeface="Times New Roman" pitchFamily="18" charset="0"/>
              </a:rPr>
              <a:t>мавжуд криптотаҳлил усулларига</a:t>
            </a:r>
          </a:p>
          <a:p>
            <a:pPr algn="ctr"/>
            <a:r>
              <a:rPr lang="uz-Cyrl-UZ" sz="2400" b="1" i="1">
                <a:solidFill>
                  <a:srgbClr val="000000"/>
                </a:solidFill>
                <a:latin typeface="Times New Roman" pitchFamily="18" charset="0"/>
              </a:rPr>
              <a:t>бардошлилигини аниқлаш</a:t>
            </a:r>
            <a:endParaRPr lang="ru-RU" sz="2400" b="1" i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815916" y="165410"/>
            <a:ext cx="5148572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r" eaLnBrk="0" hangingPunct="0">
              <a:buClr>
                <a:schemeClr val="accent2"/>
              </a:buClr>
            </a:pPr>
            <a:r>
              <a:rPr lang="uz-Cyrl-UZ" b="1" i="1" u="sng" dirty="0" smtClean="0">
                <a:solidFill>
                  <a:schemeClr val="tx1"/>
                </a:solidFill>
                <a:latin typeface="Times New Roman" pitchFamily="18" charset="0"/>
              </a:rPr>
              <a:t>Буюк давлат</a:t>
            </a:r>
            <a:r>
              <a:rPr lang="uz-Cyrl-UZ" i="1" u="sng" dirty="0" smtClean="0">
                <a:solidFill>
                  <a:schemeClr val="tx1"/>
                </a:solidFill>
                <a:latin typeface="Times New Roman" pitchFamily="18" charset="0"/>
              </a:rPr>
              <a:t> – бу ядро қуролга, космик ракетага ва криптографияга эга бўлган мамлакатдир.</a:t>
            </a:r>
          </a:p>
          <a:p>
            <a:pPr algn="r" eaLnBrk="0" hangingPunct="0">
              <a:buClr>
                <a:schemeClr val="accent2"/>
              </a:buClr>
            </a:pPr>
            <a:r>
              <a:rPr lang="uz-Cyrl-UZ" i="1" u="sng" dirty="0" smtClean="0">
                <a:solidFill>
                  <a:schemeClr val="tx1"/>
                </a:solidFill>
                <a:latin typeface="Times New Roman" pitchFamily="18" charset="0"/>
              </a:rPr>
              <a:t>Д э в и д  К а н</a:t>
            </a:r>
            <a:endParaRPr lang="uz-Cyrl-UZ" i="1" u="sng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562573"/>
      </p:ext>
    </p:extLst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" name="Прямоугольник 8"/>
          <p:cNvSpPr/>
          <p:nvPr/>
        </p:nvSpPr>
        <p:spPr>
          <a:xfrm>
            <a:off x="214282" y="785794"/>
            <a:ext cx="8715436" cy="5857916"/>
          </a:xfrm>
          <a:prstGeom prst="rect">
            <a:avLst/>
          </a:prstGeom>
          <a:ln/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just">
              <a:defRPr/>
            </a:pPr>
            <a:r>
              <a:rPr lang="en-US" sz="2200" i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Бугунги кунда симметрик шифрлаш алгоритмларини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нг замонавий криптотахлил турларидан ҳисобланган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чизиқли, дифференциал ва бошқа турларига бардошли эканлигини баҳолаш алгоритмларда фойдаланилаётган криптографик 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ак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слантиришларнинг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қуйидаги  учта асосий :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2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чизиқсизлик 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даражаси ;</a:t>
            </a:r>
            <a:endParaRPr lang="en-US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2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ўзгаришларнинг тарқалиш даражаси;</a:t>
            </a:r>
            <a:endParaRPr lang="en-US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sz="22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-</a:t>
            </a: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корреляцион иммунстлик даражаси; </a:t>
            </a:r>
            <a:endParaRPr lang="en-US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тушунчалари 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билан  узвий  боғлиқдир.</a:t>
            </a:r>
            <a:endParaRPr lang="en-US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Криптография фанининг назарий асосларига мувофиқ, блокли симметрик шифрлаш алгоритмлари бардошлигини таъминловчи «</a:t>
            </a:r>
            <a:r>
              <a:rPr lang="ru-RU" sz="22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тарқалиш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 ва «</a:t>
            </a:r>
            <a:r>
              <a:rPr lang="ru-RU" sz="22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аралаштириш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 сифатлари уларнинг ҳар бир раунд босқичларида  «</a:t>
            </a:r>
            <a:r>
              <a:rPr lang="ru-RU" sz="22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ўрнига қўйиш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 ва «</a:t>
            </a:r>
            <a:r>
              <a:rPr lang="ru-RU" sz="22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ўрин алмаштириш</a:t>
            </a:r>
            <a:r>
              <a:rPr lang="ru-RU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 акслантиришларини кетма-кет қўллаш орқали амалга оширилади.</a:t>
            </a:r>
          </a:p>
          <a:p>
            <a:pPr algn="just">
              <a:lnSpc>
                <a:spcPct val="150000"/>
              </a:lnSpc>
              <a:defRPr/>
            </a:pPr>
            <a:endParaRPr lang="ru-RU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50" name="TextBox 9"/>
          <p:cNvSpPr txBox="1">
            <a:spLocks noChangeArrowheads="1"/>
          </p:cNvSpPr>
          <p:nvPr/>
        </p:nvSpPr>
        <p:spPr bwMode="auto">
          <a:xfrm>
            <a:off x="4000500" y="285750"/>
            <a:ext cx="12779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uz-Cyrl-UZ" sz="19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9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КИРИШ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/>
          <p:cNvGraphicFramePr/>
          <p:nvPr/>
        </p:nvGraphicFramePr>
        <p:xfrm>
          <a:off x="1142976" y="2008206"/>
          <a:ext cx="6858048" cy="4421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/>
          <p:cNvGraphicFramePr/>
          <p:nvPr/>
        </p:nvGraphicFramePr>
        <p:xfrm>
          <a:off x="1785918" y="357166"/>
          <a:ext cx="6096000" cy="1143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1" name="Прямая со стрелкой 10"/>
          <p:cNvCxnSpPr/>
          <p:nvPr/>
        </p:nvCxnSpPr>
        <p:spPr>
          <a:xfrm rot="5400000">
            <a:off x="2465388" y="1892300"/>
            <a:ext cx="214312" cy="1588"/>
          </a:xfrm>
          <a:prstGeom prst="straightConnector1">
            <a:avLst/>
          </a:prstGeom>
          <a:ln w="28575"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5400000">
            <a:off x="6465888" y="1892300"/>
            <a:ext cx="214312" cy="1588"/>
          </a:xfrm>
          <a:prstGeom prst="straightConnector1">
            <a:avLst/>
          </a:prstGeom>
          <a:ln w="28575"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2571750" y="1785938"/>
            <a:ext cx="4000500" cy="1587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rot="5400000">
            <a:off x="4501357" y="1642269"/>
            <a:ext cx="285750" cy="1587"/>
          </a:xfrm>
          <a:prstGeom prst="line">
            <a:avLst/>
          </a:prstGeom>
          <a:ln w="28575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" name="Прямоугольник 8"/>
          <p:cNvSpPr/>
          <p:nvPr/>
        </p:nvSpPr>
        <p:spPr>
          <a:xfrm>
            <a:off x="214282" y="785794"/>
            <a:ext cx="8715436" cy="5929354"/>
          </a:xfrm>
          <a:prstGeom prst="rect">
            <a:avLst/>
          </a:prstGeom>
          <a:ln/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just">
              <a:defRPr/>
            </a:pPr>
            <a:r>
              <a:rPr lang="uz-Cyrl-UZ" sz="2400" i="1">
                <a:solidFill>
                  <a:srgbClr val="002060"/>
                </a:solidFill>
              </a:rPr>
              <a:t>    </a:t>
            </a:r>
            <a:r>
              <a:rPr lang="uz-Cyrl-UZ" sz="2400" i="1">
                <a:solidFill>
                  <a:srgbClr val="002060"/>
                </a:solidFill>
                <a:cs typeface="Times New Roman" pitchFamily="18" charset="0"/>
              </a:rPr>
              <a:t>Симметрик шифрлаш алгоритмларида ҳар қандай криптографик акслантиришни               фазодан                фазога акслантириш деб қараш мумкин. </a:t>
            </a:r>
          </a:p>
          <a:p>
            <a:pPr algn="just">
              <a:defRPr/>
            </a:pPr>
            <a:endParaRPr lang="uz-Cyrl-UZ" sz="2400" i="1">
              <a:solidFill>
                <a:srgbClr val="002060"/>
              </a:solidFill>
              <a:cs typeface="Times New Roman" pitchFamily="18" charset="0"/>
            </a:endParaRPr>
          </a:p>
          <a:p>
            <a:pPr algn="just">
              <a:defRPr/>
            </a:pPr>
            <a:endParaRPr lang="uz-Cyrl-UZ" sz="24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- 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кирувчи битлар</a:t>
            </a: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uz-Cyrl-UZ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- 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чиқувчи битлар</a:t>
            </a:r>
            <a:r>
              <a:rPr lang="en-US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				</a:t>
            </a: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uz-Cyrl-UZ" sz="22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буль функциялар вектори.</a:t>
            </a:r>
          </a:p>
          <a:p>
            <a:pPr algn="r">
              <a:lnSpc>
                <a:spcPct val="150000"/>
              </a:lnSpc>
              <a:defRPr/>
            </a:pP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,                                -  чиқувчи битни ифодаловчи,</a:t>
            </a:r>
          </a:p>
          <a:p>
            <a:pPr>
              <a:lnSpc>
                <a:spcPct val="150000"/>
              </a:lnSpc>
              <a:defRPr/>
            </a:pPr>
            <a:r>
              <a:rPr lang="uz-Cyrl-UZ" sz="2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- аргументли, АНФ  кўринишига эга бўлган буль функция.                      </a:t>
            </a:r>
          </a:p>
          <a:p>
            <a:pPr algn="just">
              <a:defRPr/>
            </a:pPr>
            <a:r>
              <a:rPr lang="uz-Cyrl-UZ" sz="2400">
                <a:solidFill>
                  <a:srgbClr val="002060"/>
                </a:solidFill>
              </a:rPr>
              <a:t>    </a:t>
            </a:r>
            <a:r>
              <a:rPr lang="uz-Cyrl-UZ" sz="2400" i="1">
                <a:solidFill>
                  <a:srgbClr val="002060"/>
                </a:solidFill>
              </a:rPr>
              <a:t>Қайсидир симметрик шифрлаш алгоритмидаги бирор криптографик алмаштиришни баҳолаш жараёнида унга математик модел бўлган берилган буль функциясининг хоссаларини ўрганиш етарли деб ҳисобланади.</a:t>
            </a:r>
            <a:endParaRPr lang="uz-Cyrl-UZ" sz="24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endParaRPr lang="uz-Cyrl-UZ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uz-Cyrl-UZ" sz="2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240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>
                <a:solidFill>
                  <a:srgbClr val="002060"/>
                </a:solidFill>
              </a:rPr>
              <a:t>  </a:t>
            </a:r>
            <a:endParaRPr lang="ru-RU" sz="2400">
              <a:solidFill>
                <a:srgbClr val="002060"/>
              </a:solidFill>
            </a:endParaRPr>
          </a:p>
          <a:p>
            <a:pPr algn="ctr">
              <a:defRPr/>
            </a:pPr>
            <a:endParaRPr lang="ru-RU">
              <a:solidFill>
                <a:srgbClr val="002060"/>
              </a:solidFill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57188" y="3714750"/>
          <a:ext cx="42433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Формула" r:id="rId3" imgW="1892160" imgH="228600" progId="Equation.3">
                  <p:embed/>
                </p:oleObj>
              </mc:Choice>
              <mc:Fallback>
                <p:oleObj name="Формула" r:id="rId3" imgW="189216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714750"/>
                        <a:ext cx="424338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714875" y="1214438"/>
          <a:ext cx="92868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Формула" r:id="rId5" imgW="507960" imgH="228600" progId="Equation.3">
                  <p:embed/>
                </p:oleObj>
              </mc:Choice>
              <mc:Fallback>
                <p:oleObj name="Формула" r:id="rId5" imgW="507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1214438"/>
                        <a:ext cx="92868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6858000" y="1214438"/>
          <a:ext cx="10001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Формула" r:id="rId7" imgW="533160" imgH="228600" progId="Equation.3">
                  <p:embed/>
                </p:oleObj>
              </mc:Choice>
              <mc:Fallback>
                <p:oleObj name="Формула" r:id="rId7" imgW="5331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214438"/>
                        <a:ext cx="10001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357188" y="2643188"/>
          <a:ext cx="2476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Формула" r:id="rId9" imgW="1104840" imgH="228600" progId="Equation.3">
                  <p:embed/>
                </p:oleObj>
              </mc:Choice>
              <mc:Fallback>
                <p:oleObj name="Формула" r:id="rId9" imgW="11048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643188"/>
                        <a:ext cx="2476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357188" y="3143250"/>
          <a:ext cx="2505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Формула" r:id="rId11" imgW="1117440" imgH="228600" progId="Equation.3">
                  <p:embed/>
                </p:oleObj>
              </mc:Choice>
              <mc:Fallback>
                <p:oleObj name="Формула" r:id="rId11" imgW="11174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143250"/>
                        <a:ext cx="25050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2357438" y="2143125"/>
          <a:ext cx="4214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Формула" r:id="rId13" imgW="1879560" imgH="228600" progId="Equation.3">
                  <p:embed/>
                </p:oleObj>
              </mc:Choice>
              <mc:Fallback>
                <p:oleObj name="Формула" r:id="rId13" imgW="18795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2143125"/>
                        <a:ext cx="42148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14"/>
          <p:cNvGraphicFramePr>
            <a:graphicFrameLocks noChangeAspect="1"/>
          </p:cNvGraphicFramePr>
          <p:nvPr/>
        </p:nvGraphicFramePr>
        <p:xfrm>
          <a:off x="2214563" y="4214813"/>
          <a:ext cx="785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Формула" r:id="rId15" imgW="355320" imgH="228600" progId="Equation.3">
                  <p:embed/>
                </p:oleObj>
              </mc:Choice>
              <mc:Fallback>
                <p:oleObj name="Формула" r:id="rId15" imgW="35532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214813"/>
                        <a:ext cx="7858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15"/>
          <p:cNvGraphicFramePr>
            <a:graphicFrameLocks noChangeAspect="1"/>
          </p:cNvGraphicFramePr>
          <p:nvPr/>
        </p:nvGraphicFramePr>
        <p:xfrm>
          <a:off x="3143250" y="4214813"/>
          <a:ext cx="12858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Формула" r:id="rId17" imgW="1227726" imgH="368318" progId="Equation.3">
                  <p:embed/>
                </p:oleObj>
              </mc:Choice>
              <mc:Fallback>
                <p:oleObj name="Формула" r:id="rId17" imgW="1227726" imgH="36831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214813"/>
                        <a:ext cx="128587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6"/>
          <p:cNvGraphicFramePr>
            <a:graphicFrameLocks noChangeAspect="1"/>
          </p:cNvGraphicFramePr>
          <p:nvPr/>
        </p:nvGraphicFramePr>
        <p:xfrm>
          <a:off x="571500" y="4143375"/>
          <a:ext cx="14414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Формула" r:id="rId19" imgW="495000" imgH="241200" progId="Equation.3">
                  <p:embed/>
                </p:oleObj>
              </mc:Choice>
              <mc:Fallback>
                <p:oleObj name="Формула" r:id="rId19" imgW="495000" imgH="24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143375"/>
                        <a:ext cx="14414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7"/>
          <p:cNvGraphicFramePr>
            <a:graphicFrameLocks noChangeAspect="1"/>
          </p:cNvGraphicFramePr>
          <p:nvPr/>
        </p:nvGraphicFramePr>
        <p:xfrm>
          <a:off x="5000625" y="4286250"/>
          <a:ext cx="25876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Формула" r:id="rId21" imgW="88560" imgH="164880" progId="Equation.3">
                  <p:embed/>
                </p:oleObj>
              </mc:Choice>
              <mc:Fallback>
                <p:oleObj name="Формула" r:id="rId21" imgW="88560" imgH="1648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4286250"/>
                        <a:ext cx="258763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8"/>
          <p:cNvGraphicFramePr>
            <a:graphicFrameLocks noChangeAspect="1"/>
          </p:cNvGraphicFramePr>
          <p:nvPr/>
        </p:nvGraphicFramePr>
        <p:xfrm>
          <a:off x="285750" y="4786313"/>
          <a:ext cx="3698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Формула" r:id="rId23" imgW="126720" imgH="139680" progId="Equation.3">
                  <p:embed/>
                </p:oleObj>
              </mc:Choice>
              <mc:Fallback>
                <p:oleObj name="Формула" r:id="rId23" imgW="126720" imgH="1396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786313"/>
                        <a:ext cx="3698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" name="TextBox 17"/>
          <p:cNvSpPr txBox="1">
            <a:spLocks noChangeArrowheads="1"/>
          </p:cNvSpPr>
          <p:nvPr/>
        </p:nvSpPr>
        <p:spPr bwMode="auto">
          <a:xfrm>
            <a:off x="0" y="214313"/>
            <a:ext cx="89789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uz-Cyrl-UZ" sz="19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9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Буль функциялари ва уларнинг криптографик акслантиришларда қўлланилиши</a:t>
            </a:r>
            <a:endParaRPr lang="ru-RU" sz="19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Схема 27"/>
          <p:cNvGraphicFramePr/>
          <p:nvPr/>
        </p:nvGraphicFramePr>
        <p:xfrm>
          <a:off x="357158" y="1000108"/>
          <a:ext cx="8572560" cy="3071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0" name="Схема 29"/>
          <p:cNvGraphicFramePr/>
          <p:nvPr/>
        </p:nvGraphicFramePr>
        <p:xfrm>
          <a:off x="357158" y="4286256"/>
          <a:ext cx="8572560" cy="2214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7" name="7-конечная звезда 36">
            <a:hlinkClick r:id="rId13" action="ppaction://hlinksldjump"/>
          </p:cNvPr>
          <p:cNvSpPr/>
          <p:nvPr/>
        </p:nvSpPr>
        <p:spPr>
          <a:xfrm>
            <a:off x="428596" y="2143116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2</a:t>
            </a:r>
            <a:endParaRPr lang="ru-RU" sz="2400" b="1">
              <a:solidFill>
                <a:schemeClr val="accent1"/>
              </a:solidFill>
            </a:endParaRPr>
          </a:p>
        </p:txBody>
      </p:sp>
      <p:sp>
        <p:nvSpPr>
          <p:cNvPr id="38" name="7-конечная звезда 37"/>
          <p:cNvSpPr/>
          <p:nvPr/>
        </p:nvSpPr>
        <p:spPr>
          <a:xfrm>
            <a:off x="428596" y="3286124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3</a:t>
            </a:r>
            <a:endParaRPr lang="ru-RU" sz="2400" b="1">
              <a:solidFill>
                <a:schemeClr val="accent1"/>
              </a:solidFill>
            </a:endParaRPr>
          </a:p>
        </p:txBody>
      </p:sp>
      <p:sp>
        <p:nvSpPr>
          <p:cNvPr id="39" name="7-конечная звезда 38">
            <a:hlinkClick r:id="rId14" action="ppaction://hlinksldjump"/>
          </p:cNvPr>
          <p:cNvSpPr/>
          <p:nvPr/>
        </p:nvSpPr>
        <p:spPr>
          <a:xfrm>
            <a:off x="428596" y="4357694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4</a:t>
            </a:r>
            <a:endParaRPr lang="ru-RU" sz="2400" b="1">
              <a:solidFill>
                <a:schemeClr val="accent1"/>
              </a:solidFill>
            </a:endParaRPr>
          </a:p>
        </p:txBody>
      </p:sp>
      <p:sp>
        <p:nvSpPr>
          <p:cNvPr id="40" name="7-конечная звезда 39">
            <a:hlinkClick r:id="rId15" action="ppaction://hlinksldjump"/>
          </p:cNvPr>
          <p:cNvSpPr/>
          <p:nvPr/>
        </p:nvSpPr>
        <p:spPr>
          <a:xfrm>
            <a:off x="428596" y="5572140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5</a:t>
            </a:r>
            <a:endParaRPr lang="ru-RU" sz="2400" b="1">
              <a:solidFill>
                <a:schemeClr val="accent1"/>
              </a:solidFill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71472" y="712788"/>
            <a:ext cx="8072494" cy="0"/>
          </a:xfrm>
          <a:prstGeom prst="line">
            <a:avLst/>
          </a:prstGeom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7-конечная звезда 22">
            <a:hlinkClick r:id="rId16" action="ppaction://hlinksldjump"/>
          </p:cNvPr>
          <p:cNvSpPr/>
          <p:nvPr/>
        </p:nvSpPr>
        <p:spPr>
          <a:xfrm>
            <a:off x="428596" y="1000108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>
                <a:solidFill>
                  <a:schemeClr val="accent1"/>
                </a:solidFill>
              </a:rPr>
              <a:t>1</a:t>
            </a:r>
            <a:endParaRPr lang="ru-RU" sz="2400">
              <a:solidFill>
                <a:schemeClr val="accent1"/>
              </a:solidFill>
            </a:endParaRPr>
          </a:p>
        </p:txBody>
      </p:sp>
      <p:sp>
        <p:nvSpPr>
          <p:cNvPr id="2072" name="TextBox 23"/>
          <p:cNvSpPr txBox="1">
            <a:spLocks noChangeArrowheads="1"/>
          </p:cNvSpPr>
          <p:nvPr/>
        </p:nvSpPr>
        <p:spPr bwMode="auto">
          <a:xfrm>
            <a:off x="571500" y="0"/>
            <a:ext cx="82867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uz-Cyrl-UZ" sz="22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Симметрик блокли шифрлаш алгоритмларининг </a:t>
            </a:r>
          </a:p>
          <a:p>
            <a:pPr algn="ctr" eaLnBrk="1" hangingPunct="1"/>
            <a:r>
              <a:rPr lang="ru-RU" sz="22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криптографик акслантиришларига қўйилган  умумий талаблар</a:t>
            </a:r>
          </a:p>
        </p:txBody>
      </p:sp>
      <p:sp>
        <p:nvSpPr>
          <p:cNvPr id="20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214438" y="2286000"/>
          <a:ext cx="84613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Формула" r:id="rId17" imgW="406080" imgH="228600" progId="Equation.3">
                  <p:embed/>
                </p:oleObj>
              </mc:Choice>
              <mc:Fallback>
                <p:oleObj name="Формула" r:id="rId17" imgW="4060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286000"/>
                        <a:ext cx="846137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4500563" y="2071688"/>
          <a:ext cx="1004887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Формула" r:id="rId19" imgW="482400" imgH="203040" progId="Equation.3">
                  <p:embed/>
                </p:oleObj>
              </mc:Choice>
              <mc:Fallback>
                <p:oleObj name="Формула" r:id="rId19" imgW="48240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071688"/>
                        <a:ext cx="1004887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6805613" y="3286125"/>
          <a:ext cx="7667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Формула" r:id="rId21" imgW="368280" imgH="203040" progId="Equation.3">
                  <p:embed/>
                </p:oleObj>
              </mc:Choice>
              <mc:Fallback>
                <p:oleObj name="Формула" r:id="rId21" imgW="3682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3" y="3286125"/>
                        <a:ext cx="76676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3786188" y="3571875"/>
          <a:ext cx="71278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Формула" r:id="rId23" imgW="342720" imgH="203040" progId="Equation.3">
                  <p:embed/>
                </p:oleObj>
              </mc:Choice>
              <mc:Fallback>
                <p:oleObj name="Формула" r:id="rId23" imgW="34272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3571875"/>
                        <a:ext cx="712787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/>
          <p:cNvSpPr/>
          <p:nvPr/>
        </p:nvSpPr>
        <p:spPr>
          <a:xfrm>
            <a:off x="214313" y="785813"/>
            <a:ext cx="8715375" cy="121443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" name="Прямоугольник 4"/>
          <p:cNvSpPr/>
          <p:nvPr/>
        </p:nvSpPr>
        <p:spPr>
          <a:xfrm>
            <a:off x="214313" y="2500313"/>
            <a:ext cx="8715375" cy="385762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Мисол сифатида </a:t>
            </a:r>
            <a:r>
              <a:rPr lang="en-US" sz="2200">
                <a:solidFill>
                  <a:srgbClr val="002060"/>
                </a:solidFill>
              </a:rPr>
              <a:t>DES </a:t>
            </a:r>
            <a:r>
              <a:rPr lang="uz-Cyrl-UZ" sz="2200">
                <a:solidFill>
                  <a:srgbClr val="002060"/>
                </a:solidFill>
              </a:rPr>
              <a:t>ва стандарт </a:t>
            </a:r>
            <a:r>
              <a:rPr lang="uz-Cyrl-UZ" sz="2000">
                <a:solidFill>
                  <a:srgbClr val="002060"/>
                </a:solidFill>
              </a:rPr>
              <a:t>ГОСТ 28147-89 </a:t>
            </a:r>
            <a:r>
              <a:rPr lang="uz-Cyrl-UZ" sz="2200">
                <a:solidFill>
                  <a:srgbClr val="002060"/>
                </a:solidFill>
              </a:rPr>
              <a:t>криптоалгоритм ларининг </a:t>
            </a:r>
            <a:r>
              <a:rPr lang="en-US" sz="2200">
                <a:solidFill>
                  <a:srgbClr val="002060"/>
                </a:solidFill>
              </a:rPr>
              <a:t>S – </a:t>
            </a:r>
            <a:r>
              <a:rPr lang="uz-Cyrl-UZ" sz="2200">
                <a:solidFill>
                  <a:srgbClr val="002060"/>
                </a:solidFill>
              </a:rPr>
              <a:t>блок акслантиришларини кўрайлик</a:t>
            </a:r>
          </a:p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 </a:t>
            </a:r>
            <a:endParaRPr lang="ru-RU" sz="2200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ГОСТ </a:t>
            </a:r>
            <a:r>
              <a:rPr lang="uz-Cyrl-UZ" sz="2000">
                <a:solidFill>
                  <a:srgbClr val="002060"/>
                </a:solidFill>
              </a:rPr>
              <a:t>28147-89</a:t>
            </a:r>
            <a:r>
              <a:rPr lang="en-US" sz="2000"/>
              <a:t> </a:t>
            </a:r>
            <a:r>
              <a:rPr lang="uz-Cyrl-UZ" sz="2200">
                <a:solidFill>
                  <a:srgbClr val="002060"/>
                </a:solidFill>
              </a:rPr>
              <a:t>шифрлаш алгоритмида </a:t>
            </a:r>
            <a:r>
              <a:rPr lang="en-US" sz="2200">
                <a:solidFill>
                  <a:srgbClr val="002060"/>
                </a:solidFill>
              </a:rPr>
              <a:t>n</a:t>
            </a:r>
            <a:r>
              <a:rPr lang="ru-RU" sz="2200">
                <a:solidFill>
                  <a:srgbClr val="002060"/>
                </a:solidFill>
              </a:rPr>
              <a:t>=4 </a:t>
            </a:r>
            <a:r>
              <a:rPr lang="uz-Cyrl-UZ" sz="2200">
                <a:solidFill>
                  <a:srgbClr val="002060"/>
                </a:solidFill>
              </a:rPr>
              <a:t>ва </a:t>
            </a:r>
            <a:r>
              <a:rPr lang="en-US" sz="2200">
                <a:solidFill>
                  <a:srgbClr val="002060"/>
                </a:solidFill>
              </a:rPr>
              <a:t>m</a:t>
            </a:r>
            <a:r>
              <a:rPr lang="ru-RU" sz="2200">
                <a:solidFill>
                  <a:srgbClr val="002060"/>
                </a:solidFill>
              </a:rPr>
              <a:t>=4</a:t>
            </a:r>
            <a:r>
              <a:rPr lang="uz-Cyrl-UZ" sz="2200">
                <a:solidFill>
                  <a:srgbClr val="002060"/>
                </a:solidFill>
              </a:rPr>
              <a:t>. </a:t>
            </a:r>
            <a:r>
              <a:rPr lang="en-US" sz="2200">
                <a:solidFill>
                  <a:srgbClr val="002060"/>
                </a:solidFill>
              </a:rPr>
              <a:t> </a:t>
            </a:r>
            <a:r>
              <a:rPr lang="uz-Cyrl-UZ" sz="2400">
                <a:solidFill>
                  <a:srgbClr val="002060"/>
                </a:solidFill>
              </a:rPr>
              <a:t>2</a:t>
            </a:r>
            <a:r>
              <a:rPr lang="en-US" sz="2400" baseline="30000">
                <a:solidFill>
                  <a:srgbClr val="002060"/>
                </a:solidFill>
              </a:rPr>
              <a:t>n-m</a:t>
            </a:r>
            <a:r>
              <a:rPr lang="en-US" sz="2400">
                <a:solidFill>
                  <a:srgbClr val="002060"/>
                </a:solidFill>
              </a:rPr>
              <a:t>=2</a:t>
            </a:r>
            <a:r>
              <a:rPr lang="en-US" sz="2400" baseline="30000">
                <a:solidFill>
                  <a:srgbClr val="002060"/>
                </a:solidFill>
              </a:rPr>
              <a:t>4-4</a:t>
            </a:r>
            <a:r>
              <a:rPr lang="uz-Cyrl-UZ" sz="2400">
                <a:solidFill>
                  <a:srgbClr val="002060"/>
                </a:solidFill>
              </a:rPr>
              <a:t> </a:t>
            </a:r>
            <a:r>
              <a:rPr lang="en-US" sz="2400">
                <a:solidFill>
                  <a:srgbClr val="002060"/>
                </a:solidFill>
              </a:rPr>
              <a:t>=2</a:t>
            </a:r>
            <a:r>
              <a:rPr lang="en-US" sz="2400" baseline="30000">
                <a:solidFill>
                  <a:srgbClr val="002060"/>
                </a:solidFill>
              </a:rPr>
              <a:t>0</a:t>
            </a:r>
            <a:r>
              <a:rPr lang="en-US" sz="2400">
                <a:solidFill>
                  <a:srgbClr val="002060"/>
                </a:solidFill>
              </a:rPr>
              <a:t>=</a:t>
            </a:r>
            <a:r>
              <a:rPr lang="en-US" sz="2400" b="1">
                <a:solidFill>
                  <a:srgbClr val="002060"/>
                </a:solidFill>
              </a:rPr>
              <a:t>1</a:t>
            </a:r>
            <a:endParaRPr lang="ru-RU" sz="2400" b="1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Демак,  </a:t>
            </a:r>
            <a:r>
              <a:rPr lang="en-US" sz="2200">
                <a:solidFill>
                  <a:srgbClr val="002060"/>
                </a:solidFill>
              </a:rPr>
              <a:t>S</a:t>
            </a:r>
            <a:r>
              <a:rPr lang="ru-RU" sz="2200">
                <a:solidFill>
                  <a:srgbClr val="002060"/>
                </a:solidFill>
              </a:rPr>
              <a:t> – </a:t>
            </a:r>
            <a:r>
              <a:rPr lang="uz-Cyrl-UZ" sz="2200">
                <a:solidFill>
                  <a:srgbClr val="002060"/>
                </a:solidFill>
              </a:rPr>
              <a:t>блокда 0 дан 15 гача бўлган сонлар 1 мартадан қатнашса регулярлик шартини қаноатлантиради. </a:t>
            </a:r>
          </a:p>
          <a:p>
            <a:pPr algn="just">
              <a:defRPr/>
            </a:pPr>
            <a:endParaRPr lang="ru-RU" sz="2200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DES шифрлаш</a:t>
            </a:r>
            <a:r>
              <a:rPr lang="en-US" sz="2200">
                <a:solidFill>
                  <a:srgbClr val="002060"/>
                </a:solidFill>
              </a:rPr>
              <a:t> </a:t>
            </a:r>
            <a:r>
              <a:rPr lang="uz-Cyrl-UZ" sz="2200">
                <a:solidFill>
                  <a:srgbClr val="002060"/>
                </a:solidFill>
              </a:rPr>
              <a:t>криптоалгоритмида n=6 ва m=4, </a:t>
            </a:r>
            <a:r>
              <a:rPr lang="uz-Cyrl-UZ" sz="2000">
                <a:solidFill>
                  <a:srgbClr val="002060"/>
                </a:solidFill>
              </a:rPr>
              <a:t>2</a:t>
            </a:r>
            <a:r>
              <a:rPr lang="en-US" sz="2000" baseline="30000">
                <a:solidFill>
                  <a:srgbClr val="002060"/>
                </a:solidFill>
              </a:rPr>
              <a:t>n-m</a:t>
            </a:r>
            <a:r>
              <a:rPr lang="en-US" sz="2000">
                <a:solidFill>
                  <a:srgbClr val="002060"/>
                </a:solidFill>
              </a:rPr>
              <a:t>=2</a:t>
            </a:r>
            <a:r>
              <a:rPr lang="en-US" sz="2000" baseline="30000">
                <a:solidFill>
                  <a:srgbClr val="002060"/>
                </a:solidFill>
              </a:rPr>
              <a:t>6-4</a:t>
            </a:r>
            <a:r>
              <a:rPr lang="uz-Cyrl-UZ" sz="2000">
                <a:solidFill>
                  <a:srgbClr val="002060"/>
                </a:solidFill>
              </a:rPr>
              <a:t> </a:t>
            </a:r>
            <a:r>
              <a:rPr lang="en-US" sz="2000">
                <a:solidFill>
                  <a:srgbClr val="002060"/>
                </a:solidFill>
              </a:rPr>
              <a:t>=2</a:t>
            </a:r>
            <a:r>
              <a:rPr lang="en-US" sz="2000" baseline="30000">
                <a:solidFill>
                  <a:srgbClr val="002060"/>
                </a:solidFill>
              </a:rPr>
              <a:t>2</a:t>
            </a:r>
            <a:r>
              <a:rPr lang="en-US" sz="2000">
                <a:solidFill>
                  <a:srgbClr val="002060"/>
                </a:solidFill>
              </a:rPr>
              <a:t>=</a:t>
            </a:r>
            <a:r>
              <a:rPr lang="en-US" sz="2000" b="1">
                <a:solidFill>
                  <a:srgbClr val="002060"/>
                </a:solidFill>
              </a:rPr>
              <a:t>4</a:t>
            </a:r>
            <a:endParaRPr lang="ru-RU" sz="2200" b="1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Демак,  </a:t>
            </a:r>
            <a:r>
              <a:rPr lang="en-US" sz="2200">
                <a:solidFill>
                  <a:srgbClr val="002060"/>
                </a:solidFill>
              </a:rPr>
              <a:t>S</a:t>
            </a:r>
            <a:r>
              <a:rPr lang="ru-RU" sz="2200">
                <a:solidFill>
                  <a:srgbClr val="002060"/>
                </a:solidFill>
              </a:rPr>
              <a:t> – </a:t>
            </a:r>
            <a:r>
              <a:rPr lang="uz-Cyrl-UZ" sz="2200">
                <a:solidFill>
                  <a:srgbClr val="002060"/>
                </a:solidFill>
              </a:rPr>
              <a:t>блокда 0 дан 15 гача бўлган сонлар 4 мартадан қатнашса регулярлик шартини қаноатлантиради. </a:t>
            </a:r>
            <a:endParaRPr lang="ru-RU" sz="2200">
              <a:solidFill>
                <a:srgbClr val="002060"/>
              </a:solidFill>
            </a:endParaRPr>
          </a:p>
          <a:p>
            <a:pPr>
              <a:defRPr/>
            </a:pPr>
            <a:endParaRPr lang="ru-RU"/>
          </a:p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000250" y="142875"/>
            <a:ext cx="6002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Баланслашганлик ва регулярлик хоссалари</a:t>
            </a:r>
            <a:endParaRPr lang="ru-RU" sz="24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571500"/>
            <a:ext cx="8572500" cy="158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380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25" name="Прямоугольник 24"/>
          <p:cNvSpPr/>
          <p:nvPr/>
        </p:nvSpPr>
        <p:spPr>
          <a:xfrm>
            <a:off x="214313" y="785813"/>
            <a:ext cx="8715375" cy="121443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    Таъриф. Берилган</a:t>
            </a:r>
            <a:r>
              <a:rPr lang="en-US" sz="2200">
                <a:solidFill>
                  <a:srgbClr val="002060"/>
                </a:solidFill>
              </a:rPr>
              <a:t> f(x)</a:t>
            </a:r>
            <a:r>
              <a:rPr lang="uz-Cyrl-UZ" sz="2200">
                <a:solidFill>
                  <a:srgbClr val="002060"/>
                </a:solidFill>
              </a:rPr>
              <a:t> буль функция баланслашган дейилади, агар унинг чинлик жадвалида “0” ва “1” лар сони тенг бўлса, яъни</a:t>
            </a:r>
            <a:endParaRPr lang="ru-RU" sz="2200">
              <a:solidFill>
                <a:srgbClr val="002060"/>
              </a:solidFill>
            </a:endParaRPr>
          </a:p>
          <a:p>
            <a:pPr algn="ctr">
              <a:defRPr/>
            </a:pPr>
            <a:r>
              <a:rPr lang="uz-Cyrl-UZ" sz="2400">
                <a:solidFill>
                  <a:srgbClr val="002060"/>
                </a:solidFill>
              </a:rPr>
              <a:t> </a:t>
            </a:r>
            <a:r>
              <a:rPr lang="en-US" sz="2400">
                <a:solidFill>
                  <a:srgbClr val="002060"/>
                </a:solidFill>
              </a:rPr>
              <a:t>#{x|f(x)=0}=#{x|f(x)=1=2</a:t>
            </a:r>
            <a:r>
              <a:rPr lang="en-US" sz="2400" baseline="30000">
                <a:solidFill>
                  <a:srgbClr val="002060"/>
                </a:solidFill>
              </a:rPr>
              <a:t>n-1</a:t>
            </a:r>
            <a:r>
              <a:rPr lang="en-US" sz="2400">
                <a:solidFill>
                  <a:srgbClr val="002060"/>
                </a:solidFill>
              </a:rPr>
              <a:t>}</a:t>
            </a:r>
            <a:endParaRPr lang="uz-Cyrl-UZ" sz="2400">
              <a:solidFill>
                <a:srgbClr val="002060"/>
              </a:solidFill>
            </a:endParaRPr>
          </a:p>
          <a:p>
            <a:pPr algn="just">
              <a:defRPr/>
            </a:pPr>
            <a:endParaRPr lang="uz-Cyrl-UZ" sz="2200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    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214313" y="785813"/>
            <a:ext cx="8715375" cy="114300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200">
                <a:solidFill>
                  <a:srgbClr val="002060"/>
                </a:solidFill>
              </a:rPr>
              <a:t>  Таъриф. </a:t>
            </a:r>
            <a:r>
              <a:rPr lang="en-US" sz="2200">
                <a:solidFill>
                  <a:srgbClr val="002060"/>
                </a:solidFill>
              </a:rPr>
              <a:t>Y=F(x) </a:t>
            </a:r>
            <a:r>
              <a:rPr lang="uz-Cyrl-UZ" sz="2200">
                <a:solidFill>
                  <a:srgbClr val="002060"/>
                </a:solidFill>
              </a:rPr>
              <a:t>акслантириш регуляр дейилади, агар </a:t>
            </a:r>
            <a:r>
              <a:rPr lang="en-US" sz="2200">
                <a:solidFill>
                  <a:srgbClr val="002060"/>
                </a:solidFill>
              </a:rPr>
              <a:t>Y </a:t>
            </a:r>
            <a:r>
              <a:rPr lang="ru-RU" sz="2200">
                <a:solidFill>
                  <a:srgbClr val="002060"/>
                </a:solidFill>
              </a:rPr>
              <a:t>– </a:t>
            </a:r>
            <a:r>
              <a:rPr lang="uz-Cyrl-UZ" sz="2200">
                <a:solidFill>
                  <a:srgbClr val="002060"/>
                </a:solidFill>
              </a:rPr>
              <a:t>функция қиймати</a:t>
            </a:r>
            <a:r>
              <a:rPr lang="en-US" sz="2200">
                <a:solidFill>
                  <a:srgbClr val="002060"/>
                </a:solidFill>
              </a:rPr>
              <a:t> </a:t>
            </a:r>
            <a:r>
              <a:rPr lang="uz-Cyrl-UZ" sz="2200">
                <a:solidFill>
                  <a:srgbClr val="002060"/>
                </a:solidFill>
              </a:rPr>
              <a:t> </a:t>
            </a:r>
            <a:r>
              <a:rPr lang="en-US" sz="2200" b="1">
                <a:solidFill>
                  <a:srgbClr val="002060"/>
                </a:solidFill>
              </a:rPr>
              <a:t>2 </a:t>
            </a:r>
            <a:r>
              <a:rPr lang="en-US" sz="2400" b="1" baseline="30000">
                <a:solidFill>
                  <a:srgbClr val="002060"/>
                </a:solidFill>
              </a:rPr>
              <a:t>m</a:t>
            </a:r>
            <a:r>
              <a:rPr lang="en-US" sz="2200">
                <a:solidFill>
                  <a:srgbClr val="002060"/>
                </a:solidFill>
              </a:rPr>
              <a:t>  </a:t>
            </a:r>
            <a:r>
              <a:rPr lang="uz-Cyrl-UZ" sz="2200">
                <a:solidFill>
                  <a:srgbClr val="002060"/>
                </a:solidFill>
              </a:rPr>
              <a:t>нинг ҳар хил қийматлари</a:t>
            </a:r>
            <a:r>
              <a:rPr lang="en-US" sz="2200">
                <a:solidFill>
                  <a:srgbClr val="002060"/>
                </a:solidFill>
              </a:rPr>
              <a:t> </a:t>
            </a:r>
            <a:r>
              <a:rPr lang="uz-Cyrl-UZ" sz="2200">
                <a:solidFill>
                  <a:srgbClr val="002060"/>
                </a:solidFill>
              </a:rPr>
              <a:t> </a:t>
            </a:r>
            <a:r>
              <a:rPr lang="en-US" sz="2200" b="1">
                <a:solidFill>
                  <a:srgbClr val="002060"/>
                </a:solidFill>
              </a:rPr>
              <a:t>2</a:t>
            </a:r>
            <a:r>
              <a:rPr lang="en-US" sz="2200" b="1" baseline="30000">
                <a:solidFill>
                  <a:srgbClr val="002060"/>
                </a:solidFill>
              </a:rPr>
              <a:t> </a:t>
            </a:r>
            <a:r>
              <a:rPr lang="en-US" sz="2400" b="1" baseline="30000">
                <a:solidFill>
                  <a:srgbClr val="002060"/>
                </a:solidFill>
              </a:rPr>
              <a:t>n-m</a:t>
            </a:r>
            <a:r>
              <a:rPr lang="en-US" sz="2200" b="1">
                <a:solidFill>
                  <a:srgbClr val="002060"/>
                </a:solidFill>
              </a:rPr>
              <a:t>  </a:t>
            </a:r>
            <a:r>
              <a:rPr lang="uz-Cyrl-UZ" sz="2200">
                <a:solidFill>
                  <a:srgbClr val="002060"/>
                </a:solidFill>
              </a:rPr>
              <a:t>та қийматлар қабул қилса.</a:t>
            </a:r>
            <a:endParaRPr lang="ru-RU" sz="2200">
              <a:solidFill>
                <a:srgbClr val="002060"/>
              </a:solidFill>
            </a:endParaRPr>
          </a:p>
        </p:txBody>
      </p:sp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428625" y="2357438"/>
          <a:ext cx="8286752" cy="335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  <a:gridCol w="517922"/>
              </a:tblGrid>
              <a:tr h="671512">
                <a:tc gridSpan="16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DES</a:t>
                      </a:r>
                      <a:r>
                        <a:rPr lang="en-US" sz="1800" baseline="0" smtClean="0"/>
                        <a:t> </a:t>
                      </a:r>
                      <a:r>
                        <a:rPr lang="uz-Cyrl-UZ" sz="1800" baseline="0" smtClean="0"/>
                        <a:t> крипто алгоритмининг  </a:t>
                      </a:r>
                      <a:r>
                        <a:rPr lang="en-US" sz="1800" baseline="0" smtClean="0"/>
                        <a:t>S</a:t>
                      </a:r>
                      <a:r>
                        <a:rPr lang="en-US" sz="1800" baseline="-25000" smtClean="0"/>
                        <a:t>2 </a:t>
                      </a:r>
                      <a:r>
                        <a:rPr lang="en-US" sz="1800" baseline="0" smtClean="0"/>
                        <a:t> </a:t>
                      </a:r>
                      <a:r>
                        <a:rPr lang="uz-Cyrl-UZ" sz="1800" baseline="0" smtClean="0"/>
                        <a:t>блоги</a:t>
                      </a:r>
                      <a:endParaRPr lang="ru-RU" sz="1800"/>
                    </a:p>
                  </a:txBody>
                  <a:tcPr marL="91439" marR="91439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67151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15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8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9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10</a:t>
                      </a:r>
                      <a:endParaRPr lang="ru-RU" sz="1800" b="1"/>
                    </a:p>
                  </a:txBody>
                  <a:tcPr marL="91439" marR="91439"/>
                </a:tc>
              </a:tr>
              <a:tr h="67151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15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8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9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 b="1"/>
                    </a:p>
                  </a:txBody>
                  <a:tcPr marL="91439" marR="91439"/>
                </a:tc>
              </a:tr>
              <a:tr h="67151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8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9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15</a:t>
                      </a:r>
                      <a:endParaRPr lang="ru-RU" sz="1800" b="1"/>
                    </a:p>
                  </a:txBody>
                  <a:tcPr marL="91439" marR="91439"/>
                </a:tc>
              </a:tr>
              <a:tr h="67151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8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15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11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12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ru-RU" sz="1800" b="1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9</a:t>
                      </a:r>
                      <a:endParaRPr lang="ru-RU" sz="1800" b="1"/>
                    </a:p>
                  </a:txBody>
                  <a:tcPr marL="91439" marR="91439"/>
                </a:tc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/>
        </p:nvGraphicFramePr>
        <p:xfrm>
          <a:off x="428596" y="2357430"/>
          <a:ext cx="8358254" cy="378621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10822"/>
                <a:gridCol w="464474"/>
                <a:gridCol w="464474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  <a:gridCol w="465606"/>
              </a:tblGrid>
              <a:tr h="420690">
                <a:tc gridSpan="1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ГОСТ </a:t>
                      </a:r>
                      <a:r>
                        <a:rPr lang="uz-Cyrl-UZ" sz="1800" smtClean="0">
                          <a:solidFill>
                            <a:srgbClr val="002060"/>
                          </a:solidFill>
                        </a:rPr>
                        <a:t>28147-89</a:t>
                      </a:r>
                      <a:r>
                        <a:rPr lang="uz-Cyrl-UZ" sz="1800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800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1-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2-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3-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4-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5-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6-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7-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206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7030A0"/>
                          </a:solidFill>
                        </a:rPr>
                        <a:t>8- блок</a:t>
                      </a:r>
                      <a:endParaRPr lang="ru-RU" sz="180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7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10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9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11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8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/>
                        <a:t>12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4" presetClass="exit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8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2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*0.0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h+1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9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" name="Прямоугольник 6"/>
          <p:cNvSpPr/>
          <p:nvPr/>
        </p:nvSpPr>
        <p:spPr>
          <a:xfrm>
            <a:off x="214282" y="714356"/>
            <a:ext cx="8715436" cy="59293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200">
                <a:solidFill>
                  <a:schemeClr val="tx1"/>
                </a:solidFill>
              </a:rPr>
              <a:t>            </a:t>
            </a:r>
            <a:r>
              <a:rPr lang="uz-Cyrl-UZ" sz="2200">
                <a:solidFill>
                  <a:srgbClr val="002060"/>
                </a:solidFill>
              </a:rPr>
              <a:t>Бирор қаралаётган симметрик блокли алгоритмни чизиқли, дифференциал, корреляцион криптотаҳлил усулларига бардошли лигини текширишда Уолш – Адамар алмаштириши деб аталувчи алмаштириш муҳим ўрин тутади. У</a:t>
            </a:r>
            <a:r>
              <a:rPr lang="ru-RU" sz="2200" err="1">
                <a:solidFill>
                  <a:srgbClr val="002060"/>
                </a:solidFill>
              </a:rPr>
              <a:t>шбу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алмаштириш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берилган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буль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функциянинг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қуйидаги</a:t>
            </a:r>
            <a:r>
              <a:rPr lang="en-US" sz="2200">
                <a:solidFill>
                  <a:srgbClr val="002060"/>
                </a:solidFill>
              </a:rPr>
              <a:t>:</a:t>
            </a:r>
            <a:endParaRPr lang="ru-RU" sz="2200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chemeClr val="tx1"/>
                </a:solidFill>
              </a:rPr>
              <a:t>    </a:t>
            </a:r>
            <a:r>
              <a:rPr lang="en-US" sz="2200">
                <a:solidFill>
                  <a:schemeClr val="tx1"/>
                </a:solidFill>
              </a:rPr>
              <a:t>- </a:t>
            </a:r>
            <a:r>
              <a:rPr lang="uz-Cyrl-UZ" sz="2200">
                <a:solidFill>
                  <a:schemeClr val="tx1"/>
                </a:solidFill>
              </a:rPr>
              <a:t>балансланганлик;</a:t>
            </a:r>
            <a:endParaRPr lang="ru-RU" sz="22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chemeClr val="tx1"/>
                </a:solidFill>
              </a:rPr>
              <a:t>    </a:t>
            </a:r>
            <a:r>
              <a:rPr lang="en-US" sz="2200">
                <a:solidFill>
                  <a:schemeClr val="tx1"/>
                </a:solidFill>
              </a:rPr>
              <a:t>- </a:t>
            </a:r>
            <a:r>
              <a:rPr lang="ru-RU" sz="2200" err="1">
                <a:solidFill>
                  <a:schemeClr val="tx1"/>
                </a:solidFill>
              </a:rPr>
              <a:t>чизиқсизлик;</a:t>
            </a:r>
            <a:endParaRPr lang="ru-RU" sz="22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chemeClr val="tx1"/>
                </a:solidFill>
              </a:rPr>
              <a:t>    </a:t>
            </a:r>
            <a:r>
              <a:rPr lang="en-US" sz="2200">
                <a:solidFill>
                  <a:schemeClr val="tx1"/>
                </a:solidFill>
              </a:rPr>
              <a:t>- </a:t>
            </a:r>
            <a:r>
              <a:rPr lang="ru-RU" sz="2200" err="1">
                <a:solidFill>
                  <a:schemeClr val="tx1"/>
                </a:solidFill>
              </a:rPr>
              <a:t>корреляцион</a:t>
            </a:r>
            <a:r>
              <a:rPr lang="ru-RU" sz="2200">
                <a:solidFill>
                  <a:schemeClr val="tx1"/>
                </a:solidFill>
              </a:rPr>
              <a:t> </a:t>
            </a:r>
            <a:r>
              <a:rPr lang="ru-RU" sz="2200" err="1">
                <a:solidFill>
                  <a:schemeClr val="tx1"/>
                </a:solidFill>
              </a:rPr>
              <a:t>иммунстлик</a:t>
            </a:r>
            <a:endParaRPr lang="ru-RU" sz="22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sz="2200" err="1">
                <a:solidFill>
                  <a:srgbClr val="002060"/>
                </a:solidFill>
              </a:rPr>
              <a:t>каби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сифатларини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аниқлашда ёрдам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беради</a:t>
            </a:r>
            <a:r>
              <a:rPr lang="ru-RU" sz="2200">
                <a:solidFill>
                  <a:srgbClr val="002060"/>
                </a:solidFill>
              </a:rPr>
              <a:t>.</a:t>
            </a:r>
          </a:p>
          <a:p>
            <a:pPr algn="just">
              <a:defRPr/>
            </a:pPr>
            <a:r>
              <a:rPr lang="en-US" sz="2200">
                <a:solidFill>
                  <a:srgbClr val="002060"/>
                </a:solidFill>
              </a:rPr>
              <a:t>      </a:t>
            </a:r>
            <a:r>
              <a:rPr lang="ru-RU" sz="2200" err="1">
                <a:solidFill>
                  <a:srgbClr val="002060"/>
                </a:solidFill>
              </a:rPr>
              <a:t>Таъриф</a:t>
            </a:r>
            <a:r>
              <a:rPr lang="ru-RU" sz="2200">
                <a:solidFill>
                  <a:srgbClr val="002060"/>
                </a:solidFill>
              </a:rPr>
              <a:t>. </a:t>
            </a:r>
            <a:r>
              <a:rPr lang="ru-RU" sz="2200" err="1">
                <a:solidFill>
                  <a:srgbClr val="002060"/>
                </a:solidFill>
              </a:rPr>
              <a:t>Берилган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en-US" sz="2200" b="1">
                <a:solidFill>
                  <a:schemeClr val="tx1"/>
                </a:solidFill>
              </a:rPr>
              <a:t>f</a:t>
            </a:r>
            <a:r>
              <a:rPr lang="ru-RU" sz="2200">
                <a:solidFill>
                  <a:schemeClr val="tx1"/>
                </a:solidFill>
              </a:rPr>
              <a:t>(</a:t>
            </a:r>
            <a:r>
              <a:rPr lang="en-US" sz="2200">
                <a:solidFill>
                  <a:schemeClr val="tx1"/>
                </a:solidFill>
              </a:rPr>
              <a:t>x</a:t>
            </a:r>
            <a:r>
              <a:rPr lang="ru-RU" sz="2200">
                <a:solidFill>
                  <a:schemeClr val="tx1"/>
                </a:solidFill>
              </a:rPr>
              <a:t>)</a:t>
            </a:r>
            <a:r>
              <a:rPr lang="ru-RU" sz="2200">
                <a:solidFill>
                  <a:srgbClr val="002060"/>
                </a:solidFill>
              </a:rPr>
              <a:t>,  </a:t>
            </a:r>
            <a:r>
              <a:rPr lang="uz-Cyrl-UZ" sz="2200">
                <a:solidFill>
                  <a:srgbClr val="002060"/>
                </a:solidFill>
              </a:rPr>
              <a:t>xє</a:t>
            </a:r>
            <a:r>
              <a:rPr lang="uz-Cyrl-UZ" sz="2200" baseline="-25000">
                <a:solidFill>
                  <a:srgbClr val="002060"/>
                </a:solidFill>
              </a:rPr>
              <a:t> </a:t>
            </a:r>
            <a:r>
              <a:rPr lang="uz-Cyrl-UZ" sz="2200">
                <a:solidFill>
                  <a:srgbClr val="002060"/>
                </a:solidFill>
              </a:rPr>
              <a:t>GF(2</a:t>
            </a:r>
            <a:r>
              <a:rPr lang="en-US" sz="2200" baseline="30000">
                <a:solidFill>
                  <a:srgbClr val="002060"/>
                </a:solidFill>
              </a:rPr>
              <a:t>n</a:t>
            </a:r>
            <a:r>
              <a:rPr lang="uz-Cyrl-UZ" sz="2200">
                <a:solidFill>
                  <a:srgbClr val="002060"/>
                </a:solidFill>
              </a:rPr>
              <a:t>) </a:t>
            </a:r>
            <a:r>
              <a:rPr lang="ru-RU" sz="2200">
                <a:solidFill>
                  <a:srgbClr val="002060"/>
                </a:solidFill>
              </a:rPr>
              <a:t>функция </a:t>
            </a:r>
            <a:r>
              <a:rPr lang="ru-RU" sz="2200" err="1">
                <a:solidFill>
                  <a:srgbClr val="002060"/>
                </a:solidFill>
              </a:rPr>
              <a:t>ва</a:t>
            </a:r>
            <a:r>
              <a:rPr lang="ru-RU" sz="2200">
                <a:solidFill>
                  <a:srgbClr val="002060"/>
                </a:solidFill>
              </a:rPr>
              <a:t>  </a:t>
            </a:r>
            <a:r>
              <a:rPr lang="en-US" sz="2200">
                <a:solidFill>
                  <a:srgbClr val="002060"/>
                </a:solidFill>
              </a:rPr>
              <a:t>   </a:t>
            </a:r>
            <a:r>
              <a:rPr lang="uz-Cyrl-UZ" sz="2200">
                <a:solidFill>
                  <a:srgbClr val="002060"/>
                </a:solidFill>
              </a:rPr>
              <a:t>є</a:t>
            </a:r>
            <a:r>
              <a:rPr lang="uz-Cyrl-UZ" sz="2200" baseline="-25000">
                <a:solidFill>
                  <a:srgbClr val="002060"/>
                </a:solidFill>
              </a:rPr>
              <a:t> </a:t>
            </a:r>
            <a:r>
              <a:rPr lang="uz-Cyrl-UZ" sz="2200">
                <a:solidFill>
                  <a:srgbClr val="002060"/>
                </a:solidFill>
              </a:rPr>
              <a:t>GF(2</a:t>
            </a:r>
            <a:r>
              <a:rPr lang="en-US" sz="2200" baseline="30000">
                <a:solidFill>
                  <a:srgbClr val="002060"/>
                </a:solidFill>
              </a:rPr>
              <a:t>n</a:t>
            </a:r>
            <a:r>
              <a:rPr lang="uz-Cyrl-UZ" sz="2200">
                <a:solidFill>
                  <a:srgbClr val="002060"/>
                </a:solidFill>
              </a:rPr>
              <a:t>) </a:t>
            </a:r>
            <a:r>
              <a:rPr lang="ru-RU" sz="2200" err="1">
                <a:solidFill>
                  <a:srgbClr val="002060"/>
                </a:solidFill>
              </a:rPr>
              <a:t>учун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uz-Cyrl-UZ" sz="2200">
                <a:solidFill>
                  <a:srgbClr val="002060"/>
                </a:solidFill>
              </a:rPr>
              <a:t>Уолш – Адамар алмаштириши</a:t>
            </a:r>
            <a:r>
              <a:rPr lang="ru-RU" sz="2200">
                <a:solidFill>
                  <a:srgbClr val="002060"/>
                </a:solidFill>
              </a:rPr>
              <a:t>  </a:t>
            </a:r>
            <a:r>
              <a:rPr lang="ru-RU" sz="2200" err="1">
                <a:solidFill>
                  <a:srgbClr val="002060"/>
                </a:solidFill>
              </a:rPr>
              <a:t>деб</a:t>
            </a:r>
            <a:r>
              <a:rPr lang="ru-RU" sz="2200">
                <a:solidFill>
                  <a:srgbClr val="002060"/>
                </a:solidFill>
              </a:rPr>
              <a:t> :  </a:t>
            </a:r>
            <a:r>
              <a:rPr lang="uz-Cyrl-UZ" sz="2200">
                <a:solidFill>
                  <a:srgbClr val="002060"/>
                </a:solidFill>
              </a:rPr>
              <a:t>GF(2</a:t>
            </a:r>
            <a:r>
              <a:rPr lang="en-US" sz="2200" baseline="30000">
                <a:solidFill>
                  <a:srgbClr val="002060"/>
                </a:solidFill>
              </a:rPr>
              <a:t>n</a:t>
            </a:r>
            <a:r>
              <a:rPr lang="uz-Cyrl-UZ" sz="2200">
                <a:solidFill>
                  <a:srgbClr val="002060"/>
                </a:solidFill>
              </a:rPr>
              <a:t>)     </a:t>
            </a:r>
            <a:r>
              <a:rPr lang="en-US" sz="2200">
                <a:solidFill>
                  <a:srgbClr val="002060"/>
                </a:solidFill>
              </a:rPr>
              <a:t>Z</a:t>
            </a:r>
            <a:r>
              <a:rPr lang="ru-RU" sz="2200">
                <a:solidFill>
                  <a:srgbClr val="002060"/>
                </a:solidFill>
              </a:rPr>
              <a:t>, бутун </a:t>
            </a:r>
            <a:r>
              <a:rPr lang="uz-Cyrl-UZ" sz="2200">
                <a:solidFill>
                  <a:srgbClr val="002060"/>
                </a:solidFill>
              </a:rPr>
              <a:t>қ</a:t>
            </a:r>
            <a:r>
              <a:rPr lang="ru-RU" sz="2200" err="1">
                <a:solidFill>
                  <a:srgbClr val="002060"/>
                </a:solidFill>
              </a:rPr>
              <a:t>иймат</a:t>
            </a:r>
            <a:r>
              <a:rPr lang="uz-Cyrl-UZ" sz="2200">
                <a:solidFill>
                  <a:srgbClr val="002060"/>
                </a:solidFill>
              </a:rPr>
              <a:t> қабул қилувчи :</a:t>
            </a:r>
            <a:endParaRPr lang="ru-RU" sz="2200">
              <a:solidFill>
                <a:srgbClr val="002060"/>
              </a:solidFill>
            </a:endParaRPr>
          </a:p>
          <a:p>
            <a:pPr algn="just">
              <a:defRPr/>
            </a:pPr>
            <a:r>
              <a:rPr lang="en-US" sz="2200">
                <a:solidFill>
                  <a:schemeClr val="tx1"/>
                </a:solidFill>
              </a:rPr>
              <a:t>                 </a:t>
            </a:r>
            <a:r>
              <a:rPr lang="uz-Cyrl-UZ" sz="2200">
                <a:solidFill>
                  <a:schemeClr val="tx1"/>
                </a:solidFill>
              </a:rPr>
              <a:t>   </a:t>
            </a:r>
            <a:r>
              <a:rPr lang="en-US" sz="2200">
                <a:solidFill>
                  <a:schemeClr val="tx1"/>
                </a:solidFill>
              </a:rPr>
              <a:t>                                                        </a:t>
            </a:r>
            <a:r>
              <a:rPr lang="uz-Cyrl-UZ" sz="2200">
                <a:solidFill>
                  <a:schemeClr val="tx1"/>
                </a:solidFill>
              </a:rPr>
              <a:t>                                                 </a:t>
            </a:r>
            <a:endParaRPr lang="en-US" sz="2200">
              <a:solidFill>
                <a:schemeClr val="tx1"/>
              </a:solidFill>
            </a:endParaRPr>
          </a:p>
          <a:p>
            <a:pPr algn="just">
              <a:defRPr/>
            </a:pPr>
            <a:endParaRPr lang="ru-RU" sz="2200">
              <a:solidFill>
                <a:schemeClr val="tx1"/>
              </a:solidFill>
            </a:endParaRPr>
          </a:p>
          <a:p>
            <a:pPr algn="just">
              <a:defRPr/>
            </a:pPr>
            <a:endParaRPr lang="ru-RU" sz="22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sz="2200">
                <a:solidFill>
                  <a:srgbClr val="002060"/>
                </a:solidFill>
              </a:rPr>
              <a:t>чизиқли </a:t>
            </a:r>
            <a:r>
              <a:rPr lang="ru-RU" sz="2200" err="1">
                <a:solidFill>
                  <a:srgbClr val="002060"/>
                </a:solidFill>
              </a:rPr>
              <a:t>алмаштиришга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ru-RU" sz="2200" err="1">
                <a:solidFill>
                  <a:srgbClr val="002060"/>
                </a:solidFill>
              </a:rPr>
              <a:t>айтилади</a:t>
            </a:r>
            <a:r>
              <a:rPr lang="ru-RU" sz="2200">
                <a:solidFill>
                  <a:srgbClr val="002060"/>
                </a:solidFill>
              </a:rPr>
              <a:t>. </a:t>
            </a:r>
          </a:p>
          <a:p>
            <a:pPr algn="just">
              <a:defRPr/>
            </a:pPr>
            <a:r>
              <a:rPr lang="ru-RU" sz="2200">
                <a:solidFill>
                  <a:srgbClr val="002060"/>
                </a:solidFill>
              </a:rPr>
              <a:t>  Бу </a:t>
            </a:r>
            <a:r>
              <a:rPr lang="ru-RU" sz="2200" err="1">
                <a:solidFill>
                  <a:srgbClr val="002060"/>
                </a:solidFill>
              </a:rPr>
              <a:t>ерда</a:t>
            </a:r>
            <a:r>
              <a:rPr lang="ru-RU" sz="2200">
                <a:solidFill>
                  <a:srgbClr val="002060"/>
                </a:solidFill>
              </a:rPr>
              <a:t>               =                                        </a:t>
            </a:r>
            <a:r>
              <a:rPr lang="en-US" sz="2200">
                <a:solidFill>
                  <a:srgbClr val="002060"/>
                </a:solidFill>
              </a:rPr>
              <a:t>  </a:t>
            </a:r>
            <a:r>
              <a:rPr lang="ru-RU" sz="2200">
                <a:solidFill>
                  <a:srgbClr val="002060"/>
                </a:solidFill>
              </a:rPr>
              <a:t>(скаляр кўпайтма)</a:t>
            </a:r>
            <a:r>
              <a:rPr lang="uz-Cyrl-UZ" sz="2200">
                <a:solidFill>
                  <a:srgbClr val="002060"/>
                </a:solidFill>
              </a:rPr>
              <a:t>.</a:t>
            </a:r>
            <a:endParaRPr lang="ru-RU" sz="2200">
              <a:solidFill>
                <a:srgbClr val="002060"/>
              </a:solidFill>
            </a:endParaRPr>
          </a:p>
          <a:p>
            <a:pPr algn="ctr">
              <a:defRPr/>
            </a:pPr>
            <a:endParaRPr lang="ru-RU" sz="2200"/>
          </a:p>
        </p:txBody>
      </p:sp>
      <p:sp>
        <p:nvSpPr>
          <p:cNvPr id="30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3074" name="Object 1"/>
          <p:cNvGraphicFramePr>
            <a:graphicFrameLocks noChangeAspect="1"/>
          </p:cNvGraphicFramePr>
          <p:nvPr/>
        </p:nvGraphicFramePr>
        <p:xfrm>
          <a:off x="6786563" y="3786188"/>
          <a:ext cx="357187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Формула" r:id="rId4" imgW="152334" imgH="139639" progId="Equation.3">
                  <p:embed/>
                </p:oleObj>
              </mc:Choice>
              <mc:Fallback>
                <p:oleObj name="Формула" r:id="rId4" imgW="152334" imgH="13963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3786188"/>
                        <a:ext cx="357187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4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25616" name="Object 16" descr="Почтовая бумага"/>
          <p:cNvGraphicFramePr>
            <a:graphicFrameLocks noChangeAspect="1"/>
          </p:cNvGraphicFramePr>
          <p:nvPr/>
        </p:nvGraphicFramePr>
        <p:xfrm>
          <a:off x="1785938" y="4572000"/>
          <a:ext cx="54292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Формула" r:id="rId6" imgW="1752480" imgH="368280" progId="Equation.3">
                  <p:embed/>
                </p:oleObj>
              </mc:Choice>
              <mc:Fallback>
                <p:oleObj name="Формула" r:id="rId6" imgW="1752480" imgH="368280" progId="Equation.3">
                  <p:embed/>
                  <p:pic>
                    <p:nvPicPr>
                      <p:cNvPr id="0" name="Object 16" descr="Почтовая бумага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572000"/>
                        <a:ext cx="5429250" cy="1071563"/>
                      </a:xfrm>
                      <a:prstGeom prst="rect">
                        <a:avLst/>
                      </a:prstGeom>
                      <a:blipFill dpi="0" rotWithShape="0">
                        <a:blip r:embed="rId8"/>
                        <a:srcRect/>
                        <a:tile tx="0" ty="0" sx="100000" sy="100000" flip="none" algn="tl"/>
                      </a:blipFill>
                      <a:ln w="12700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TextBox 23"/>
          <p:cNvSpPr txBox="1">
            <a:spLocks noChangeArrowheads="1"/>
          </p:cNvSpPr>
          <p:nvPr/>
        </p:nvSpPr>
        <p:spPr bwMode="auto">
          <a:xfrm>
            <a:off x="2357438" y="0"/>
            <a:ext cx="4986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 sz="28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Уолш – Адамар </a:t>
            </a:r>
            <a:r>
              <a:rPr lang="uz-Cyrl-UZ" sz="28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алмаштириши</a:t>
            </a:r>
            <a:endParaRPr lang="ru-RU" sz="2800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357188" y="571500"/>
            <a:ext cx="8572500" cy="158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7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3076" name="Object 18"/>
          <p:cNvGraphicFramePr>
            <a:graphicFrameLocks noChangeAspect="1"/>
          </p:cNvGraphicFramePr>
          <p:nvPr/>
        </p:nvGraphicFramePr>
        <p:xfrm>
          <a:off x="1428750" y="6215063"/>
          <a:ext cx="9286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Формула" r:id="rId9" imgW="520474" imgH="165028" progId="Equation.3">
                  <p:embed/>
                </p:oleObj>
              </mc:Choice>
              <mc:Fallback>
                <p:oleObj name="Формула" r:id="rId9" imgW="520474" imgH="16502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6215063"/>
                        <a:ext cx="9286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8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3077" name="Object 20"/>
          <p:cNvGraphicFramePr>
            <a:graphicFrameLocks noChangeAspect="1"/>
          </p:cNvGraphicFramePr>
          <p:nvPr/>
        </p:nvGraphicFramePr>
        <p:xfrm>
          <a:off x="2482850" y="6129338"/>
          <a:ext cx="23749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Формула" r:id="rId11" imgW="1701720" imgH="228600" progId="Equation.3">
                  <p:embed/>
                </p:oleObj>
              </mc:Choice>
              <mc:Fallback>
                <p:oleObj name="Формула" r:id="rId11" imgW="170172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6129338"/>
                        <a:ext cx="23749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9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3078" name="Object 21"/>
          <p:cNvGraphicFramePr>
            <a:graphicFrameLocks noChangeAspect="1"/>
          </p:cNvGraphicFramePr>
          <p:nvPr/>
        </p:nvGraphicFramePr>
        <p:xfrm>
          <a:off x="5715000" y="4214813"/>
          <a:ext cx="1143000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Формула" r:id="rId13" imgW="190417" imgH="139639" progId="Equation.3">
                  <p:embed/>
                </p:oleObj>
              </mc:Choice>
              <mc:Fallback>
                <p:oleObj name="Формула" r:id="rId13" imgW="190417" imgH="13963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214813"/>
                        <a:ext cx="1143000" cy="142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" name="Прямоугольник 4"/>
          <p:cNvSpPr/>
          <p:nvPr/>
        </p:nvSpPr>
        <p:spPr>
          <a:xfrm>
            <a:off x="214282" y="714356"/>
            <a:ext cx="8715436" cy="59293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000">
                <a:solidFill>
                  <a:schemeClr val="tx1"/>
                </a:solidFill>
              </a:rPr>
              <a:t>      </a:t>
            </a: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Қаралаётган алгоритмнинг криптографик алмаштиришларини чизиқли криптотаҳлил усулига нисбатан баҳолашда уни ифодаловчи буль функцияларнинг асосий характеристикалари дан бири чизиқсизлик ҳисобланади.</a:t>
            </a:r>
            <a:endParaRPr lang="en-US" sz="24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Тасдиқ.</a:t>
            </a: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Берилган  буль функцияси учун чизиқсизлик қиймати, Уолш-Адамар алмаштириши орқали қуйидагича аниқланади:</a:t>
            </a: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бу ерда</a:t>
            </a:r>
          </a:p>
          <a:p>
            <a:pPr algn="just">
              <a:defRPr/>
            </a:pPr>
            <a:r>
              <a:rPr lang="uz-Cyrl-UZ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, </a:t>
            </a:r>
            <a:r>
              <a:rPr lang="uz-Cyrl-UZ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lang="en-US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жуфт бўлса </a:t>
            </a: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, </a:t>
            </a:r>
            <a:r>
              <a:rPr lang="uz-Cyrl-UZ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lang="en-US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2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тоқ бўлса        </a:t>
            </a:r>
            <a:r>
              <a:rPr lang="uz-Cyrl-UZ" sz="2000">
                <a:solidFill>
                  <a:srgbClr val="002060"/>
                </a:solidFill>
              </a:rPr>
              <a:t>                   </a:t>
            </a:r>
            <a:endParaRPr lang="ru-RU" sz="2400">
              <a:solidFill>
                <a:srgbClr val="002060"/>
              </a:solidFill>
            </a:endParaRPr>
          </a:p>
        </p:txBody>
      </p:sp>
      <p:sp>
        <p:nvSpPr>
          <p:cNvPr id="41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24577" name="Object 1" descr="Почтовая бумага"/>
          <p:cNvGraphicFramePr>
            <a:graphicFrameLocks noChangeAspect="1"/>
          </p:cNvGraphicFramePr>
          <p:nvPr/>
        </p:nvGraphicFramePr>
        <p:xfrm>
          <a:off x="357188" y="3000375"/>
          <a:ext cx="83581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Формула" r:id="rId4" imgW="3924300" imgH="393700" progId="Equation.3">
                  <p:embed/>
                </p:oleObj>
              </mc:Choice>
              <mc:Fallback>
                <p:oleObj name="Формула" r:id="rId4" imgW="3924300" imgH="393700" progId="Equation.3">
                  <p:embed/>
                  <p:pic>
                    <p:nvPicPr>
                      <p:cNvPr id="0" name="Object 1" descr="Почтовая бумага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000375"/>
                        <a:ext cx="8358187" cy="857250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000125" y="3929063"/>
          <a:ext cx="4357688" cy="22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Формула" r:id="rId7" imgW="1397000" imgH="889000" progId="Equation.3">
                  <p:embed/>
                </p:oleObj>
              </mc:Choice>
              <mc:Fallback>
                <p:oleObj name="Формула" r:id="rId7" imgW="1397000" imgH="889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929063"/>
                        <a:ext cx="4357688" cy="221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TextBox 8"/>
          <p:cNvSpPr txBox="1">
            <a:spLocks noChangeArrowheads="1"/>
          </p:cNvSpPr>
          <p:nvPr/>
        </p:nvSpPr>
        <p:spPr bwMode="auto">
          <a:xfrm>
            <a:off x="311150" y="142875"/>
            <a:ext cx="82978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Алгоритм криптографик алмаштиришининг чизиқсизлик характеристикаси</a:t>
            </a:r>
          </a:p>
          <a:p>
            <a:pPr eaLnBrk="1" hangingPunct="1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7188" y="500063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245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00" fill="hold"/>
                                        <p:tgtEl>
                                          <p:spTgt spid="245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00" fill="hold"/>
                                        <p:tgtEl>
                                          <p:spTgt spid="245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" fill="hold"/>
                                        <p:tgtEl>
                                          <p:spTgt spid="245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" name="Прямоугольник 4"/>
          <p:cNvSpPr/>
          <p:nvPr/>
        </p:nvSpPr>
        <p:spPr>
          <a:xfrm>
            <a:off x="214282" y="714356"/>
            <a:ext cx="8715436" cy="59293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uz-Cyrl-UZ" sz="2000">
              <a:solidFill>
                <a:srgbClr val="0000FF"/>
              </a:solidFill>
            </a:endParaRPr>
          </a:p>
          <a:p>
            <a:pPr>
              <a:defRPr/>
            </a:pPr>
            <a:r>
              <a:rPr lang="uz-Cyrl-UZ" sz="2000">
                <a:solidFill>
                  <a:srgbClr val="0000FF"/>
                </a:solidFill>
              </a:rPr>
              <a:t>Таъриф.</a:t>
            </a:r>
          </a:p>
          <a:p>
            <a:pPr>
              <a:defRPr/>
            </a:pPr>
            <a:endParaRPr lang="uz-Cyrl-UZ" sz="2000">
              <a:solidFill>
                <a:srgbClr val="002060"/>
              </a:solidFill>
            </a:endParaRPr>
          </a:p>
          <a:p>
            <a:pPr>
              <a:defRPr/>
            </a:pPr>
            <a:r>
              <a:rPr lang="uz-Cyrl-UZ" sz="2000">
                <a:solidFill>
                  <a:srgbClr val="002060"/>
                </a:solidFill>
              </a:rPr>
              <a:t>                                                                </a:t>
            </a:r>
          </a:p>
          <a:p>
            <a:pPr>
              <a:defRPr/>
            </a:pPr>
            <a:r>
              <a:rPr lang="uz-Cyrl-UZ" sz="2000">
                <a:solidFill>
                  <a:srgbClr val="002060"/>
                </a:solidFill>
              </a:rPr>
              <a:t>буль функция вектори учун мос равишда чизиқсизлик ва чизиқлилик даражалари қуйидагича аниқланади: </a:t>
            </a:r>
          </a:p>
          <a:p>
            <a:pPr>
              <a:defRPr/>
            </a:pPr>
            <a:endParaRPr lang="uz-Cyrl-UZ" sz="2000">
              <a:solidFill>
                <a:srgbClr val="002060"/>
              </a:solidFill>
            </a:endParaRPr>
          </a:p>
          <a:p>
            <a:pPr>
              <a:defRPr/>
            </a:pPr>
            <a:endParaRPr lang="uz-Cyrl-UZ" sz="2000">
              <a:solidFill>
                <a:srgbClr val="002060"/>
              </a:solidFill>
            </a:endParaRPr>
          </a:p>
          <a:p>
            <a:pPr>
              <a:defRPr/>
            </a:pPr>
            <a:endParaRPr lang="ru-RU" sz="2000">
              <a:solidFill>
                <a:srgbClr val="002060"/>
              </a:solidFill>
            </a:endParaRPr>
          </a:p>
          <a:p>
            <a:pPr>
              <a:defRPr/>
            </a:pPr>
            <a:r>
              <a:rPr lang="uz-Cyrl-UZ" sz="2000">
                <a:solidFill>
                  <a:srgbClr val="002060"/>
                </a:solidFill>
              </a:rPr>
              <a:t>               </a:t>
            </a:r>
            <a:endParaRPr lang="ru-RU" sz="2000">
              <a:solidFill>
                <a:srgbClr val="002060"/>
              </a:solidFill>
            </a:endParaRPr>
          </a:p>
          <a:p>
            <a:pPr>
              <a:defRPr/>
            </a:pPr>
            <a:endParaRPr lang="ru-RU" sz="2000">
              <a:solidFill>
                <a:srgbClr val="002060"/>
              </a:solidFill>
            </a:endParaRPr>
          </a:p>
          <a:p>
            <a:pPr>
              <a:defRPr/>
            </a:pPr>
            <a:endParaRPr lang="ru-RU" sz="2000">
              <a:solidFill>
                <a:srgbClr val="002060"/>
              </a:solidFill>
            </a:endParaRPr>
          </a:p>
          <a:p>
            <a:pPr>
              <a:defRPr/>
            </a:pPr>
            <a:endParaRPr lang="ru-RU" sz="2000">
              <a:solidFill>
                <a:srgbClr val="002060"/>
              </a:solidFill>
            </a:endParaRPr>
          </a:p>
          <a:p>
            <a:pPr>
              <a:defRPr/>
            </a:pPr>
            <a:endParaRPr lang="ru-RU" sz="2000">
              <a:solidFill>
                <a:srgbClr val="002060"/>
              </a:solidFill>
            </a:endParaRPr>
          </a:p>
          <a:p>
            <a:pPr>
              <a:defRPr/>
            </a:pPr>
            <a:r>
              <a:rPr lang="ru-RU" sz="2000">
                <a:solidFill>
                  <a:srgbClr val="002060"/>
                </a:solidFill>
              </a:rPr>
              <a:t>бу ерда                                      вектор </a:t>
            </a:r>
            <a:r>
              <a:rPr lang="uz-Cyrl-UZ" sz="2000">
                <a:solidFill>
                  <a:srgbClr val="002060"/>
                </a:solidFill>
              </a:rPr>
              <a:t>, </a:t>
            </a:r>
          </a:p>
          <a:p>
            <a:pPr>
              <a:defRPr/>
            </a:pPr>
            <a:r>
              <a:rPr lang="uz-Cyrl-UZ" sz="2000">
                <a:solidFill>
                  <a:srgbClr val="002060"/>
                </a:solidFill>
              </a:rPr>
              <a:t>-скаляр кўпайтма натижаси буль функция деб қаралади.</a:t>
            </a:r>
            <a:endParaRPr lang="ru-RU" sz="2000">
              <a:solidFill>
                <a:srgbClr val="002060"/>
              </a:solidFill>
            </a:endParaRPr>
          </a:p>
          <a:p>
            <a:pPr algn="just">
              <a:defRPr/>
            </a:pPr>
            <a:endParaRPr lang="en-US" sz="24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sz="24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134" name="TextBox 8"/>
          <p:cNvSpPr txBox="1">
            <a:spLocks noChangeArrowheads="1"/>
          </p:cNvSpPr>
          <p:nvPr/>
        </p:nvSpPr>
        <p:spPr bwMode="auto">
          <a:xfrm>
            <a:off x="311150" y="142875"/>
            <a:ext cx="82978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Алгоритм криптографик алмаштиришининг чизиқсизлик характеристикаси</a:t>
            </a:r>
          </a:p>
          <a:p>
            <a:pPr eaLnBrk="1" hangingPunct="1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7188" y="500063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1428750" y="1571625"/>
          <a:ext cx="42433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Формула" r:id="rId4" imgW="1892160" imgH="228600" progId="Equation.3">
                  <p:embed/>
                </p:oleObj>
              </mc:Choice>
              <mc:Fallback>
                <p:oleObj name="Формула" r:id="rId4" imgW="18921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571625"/>
                        <a:ext cx="424338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1500188" y="1000125"/>
          <a:ext cx="4214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Формула" r:id="rId6" imgW="1879560" imgH="228600" progId="Equation.3">
                  <p:embed/>
                </p:oleObj>
              </mc:Choice>
              <mc:Fallback>
                <p:oleObj name="Формула" r:id="rId6" imgW="18795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1000125"/>
                        <a:ext cx="42148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0"/>
          <p:cNvGraphicFramePr>
            <a:graphicFrameLocks noChangeAspect="1"/>
          </p:cNvGraphicFramePr>
          <p:nvPr/>
        </p:nvGraphicFramePr>
        <p:xfrm>
          <a:off x="2071688" y="2786063"/>
          <a:ext cx="42862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Формула" r:id="rId8" imgW="1739900" imgH="393700" progId="Equation.3">
                  <p:embed/>
                </p:oleObj>
              </mc:Choice>
              <mc:Fallback>
                <p:oleObj name="Формула" r:id="rId8" imgW="17399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2786063"/>
                        <a:ext cx="4286250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9"/>
          <p:cNvGraphicFramePr>
            <a:graphicFrameLocks noChangeAspect="1"/>
          </p:cNvGraphicFramePr>
          <p:nvPr/>
        </p:nvGraphicFramePr>
        <p:xfrm>
          <a:off x="0" y="542925"/>
          <a:ext cx="11430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Формула" r:id="rId10" imgW="76068" imgH="101424" progId="Equation.3">
                  <p:embed/>
                </p:oleObj>
              </mc:Choice>
              <mc:Fallback>
                <p:oleObj name="Формула" r:id="rId10" imgW="76068" imgH="10142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2925"/>
                        <a:ext cx="114300" cy="20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8"/>
          <p:cNvGraphicFramePr>
            <a:graphicFrameLocks noChangeAspect="1"/>
          </p:cNvGraphicFramePr>
          <p:nvPr/>
        </p:nvGraphicFramePr>
        <p:xfrm>
          <a:off x="2000250" y="3857625"/>
          <a:ext cx="42862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Формула" r:id="rId12" imgW="1675673" imgH="393529" progId="Equation.3">
                  <p:embed/>
                </p:oleObj>
              </mc:Choice>
              <mc:Fallback>
                <p:oleObj name="Формула" r:id="rId12" imgW="1675673" imgH="3935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3857625"/>
                        <a:ext cx="4286250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137" name="Rectangle 12"/>
          <p:cNvSpPr>
            <a:spLocks noChangeArrowheads="1"/>
          </p:cNvSpPr>
          <p:nvPr/>
        </p:nvSpPr>
        <p:spPr bwMode="auto">
          <a:xfrm>
            <a:off x="0" y="542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z-Cyrl-UZ" sz="1200">
                <a:cs typeface="Times New Roman" pitchFamily="18" charset="0"/>
              </a:rPr>
              <a:t>   </a:t>
            </a:r>
            <a:endParaRPr lang="uz-Cyrl-UZ"/>
          </a:p>
        </p:txBody>
      </p:sp>
      <p:sp>
        <p:nvSpPr>
          <p:cNvPr id="5138" name="Rectangle 13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z-Cyrl-UZ" sz="1200">
                <a:cs typeface="Times New Roman" pitchFamily="18" charset="0"/>
              </a:rPr>
              <a:t>   </a:t>
            </a:r>
            <a:endParaRPr lang="uz-Cyrl-UZ"/>
          </a:p>
        </p:txBody>
      </p:sp>
      <p:sp>
        <p:nvSpPr>
          <p:cNvPr id="5139" name="Rectangle 14"/>
          <p:cNvSpPr>
            <a:spLocks noChangeArrowheads="1"/>
          </p:cNvSpPr>
          <p:nvPr/>
        </p:nvSpPr>
        <p:spPr bwMode="auto">
          <a:xfrm>
            <a:off x="0" y="1276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ru-RU" sz="1100"/>
              <a:t> </a:t>
            </a:r>
            <a:endParaRPr lang="ru-RU"/>
          </a:p>
        </p:txBody>
      </p:sp>
      <p:graphicFrame>
        <p:nvGraphicFramePr>
          <p:cNvPr id="5127" name="Object 16"/>
          <p:cNvGraphicFramePr>
            <a:graphicFrameLocks noChangeAspect="1"/>
          </p:cNvGraphicFramePr>
          <p:nvPr/>
        </p:nvGraphicFramePr>
        <p:xfrm>
          <a:off x="1285875" y="5000625"/>
          <a:ext cx="192881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Формула" r:id="rId14" imgW="1066800" imgH="228600" progId="Equation.3">
                  <p:embed/>
                </p:oleObj>
              </mc:Choice>
              <mc:Fallback>
                <p:oleObj name="Формула" r:id="rId14" imgW="10668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5000625"/>
                        <a:ext cx="1928813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15"/>
          <p:cNvGraphicFramePr>
            <a:graphicFrameLocks noChangeAspect="1"/>
          </p:cNvGraphicFramePr>
          <p:nvPr/>
        </p:nvGraphicFramePr>
        <p:xfrm>
          <a:off x="4286250" y="5000625"/>
          <a:ext cx="421481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Формула" r:id="rId16" imgW="2565400" imgH="228600" progId="Equation.3">
                  <p:embed/>
                </p:oleObj>
              </mc:Choice>
              <mc:Fallback>
                <p:oleObj name="Формула" r:id="rId16" imgW="25654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000625"/>
                        <a:ext cx="4214813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141" name="Rectangle 19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z-Cyrl-UZ" sz="1200">
                <a:cs typeface="Times New Roman" pitchFamily="18" charset="0"/>
              </a:rPr>
              <a:t>, </a:t>
            </a:r>
            <a:endParaRPr lang="uz-Cyrl-UZ"/>
          </a:p>
        </p:txBody>
      </p:sp>
      <p:sp>
        <p:nvSpPr>
          <p:cNvPr id="5142" name="Rectangle 20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z-Cyrl-UZ" sz="1200">
                <a:cs typeface="Times New Roman" pitchFamily="18" charset="0"/>
              </a:rPr>
              <a:t>,</a:t>
            </a:r>
            <a:endParaRPr lang="uz-Cyrl-UZ"/>
          </a:p>
        </p:txBody>
      </p:sp>
      <p:sp>
        <p:nvSpPr>
          <p:cNvPr id="5143" name="Rectangle 21"/>
          <p:cNvSpPr>
            <a:spLocks noChangeArrowheads="1"/>
          </p:cNvSpPr>
          <p:nvPr/>
        </p:nvSpPr>
        <p:spPr bwMode="auto">
          <a:xfrm>
            <a:off x="0" y="685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ru-RU" sz="1100"/>
              <a:t> </a:t>
            </a:r>
            <a:endParaRPr lang="ru-RU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Схема 27"/>
          <p:cNvGraphicFramePr/>
          <p:nvPr/>
        </p:nvGraphicFramePr>
        <p:xfrm>
          <a:off x="357158" y="1000108"/>
          <a:ext cx="8572560" cy="3071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0" name="Схема 29"/>
          <p:cNvGraphicFramePr/>
          <p:nvPr/>
        </p:nvGraphicFramePr>
        <p:xfrm>
          <a:off x="357158" y="4286256"/>
          <a:ext cx="8572560" cy="2214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7" name="7-конечная звезда 36"/>
          <p:cNvSpPr/>
          <p:nvPr/>
        </p:nvSpPr>
        <p:spPr>
          <a:xfrm>
            <a:off x="428596" y="2143116"/>
            <a:ext cx="642942" cy="642942"/>
          </a:xfrm>
          <a:prstGeom prst="star7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2</a:t>
            </a:r>
            <a:endParaRPr lang="ru-RU" sz="2400" b="1">
              <a:solidFill>
                <a:schemeClr val="accent1"/>
              </a:solidFill>
            </a:endParaRPr>
          </a:p>
        </p:txBody>
      </p:sp>
      <p:sp>
        <p:nvSpPr>
          <p:cNvPr id="38" name="7-конечная звезда 37"/>
          <p:cNvSpPr/>
          <p:nvPr/>
        </p:nvSpPr>
        <p:spPr>
          <a:xfrm>
            <a:off x="428596" y="3286124"/>
            <a:ext cx="642942" cy="642942"/>
          </a:xfrm>
          <a:prstGeom prst="star7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3</a:t>
            </a:r>
            <a:endParaRPr lang="ru-RU" sz="2400" b="1">
              <a:solidFill>
                <a:schemeClr val="accent1"/>
              </a:solidFill>
            </a:endParaRPr>
          </a:p>
        </p:txBody>
      </p:sp>
      <p:sp>
        <p:nvSpPr>
          <p:cNvPr id="39" name="7-конечная звезда 38"/>
          <p:cNvSpPr/>
          <p:nvPr/>
        </p:nvSpPr>
        <p:spPr>
          <a:xfrm>
            <a:off x="428596" y="4357694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4</a:t>
            </a:r>
            <a:endParaRPr lang="ru-RU" sz="2400" b="1">
              <a:solidFill>
                <a:schemeClr val="accent1"/>
              </a:solidFill>
            </a:endParaRPr>
          </a:p>
        </p:txBody>
      </p:sp>
      <p:sp>
        <p:nvSpPr>
          <p:cNvPr id="40" name="7-конечная звезда 39"/>
          <p:cNvSpPr/>
          <p:nvPr/>
        </p:nvSpPr>
        <p:spPr>
          <a:xfrm>
            <a:off x="428596" y="5572140"/>
            <a:ext cx="642942" cy="642942"/>
          </a:xfrm>
          <a:prstGeom prst="star7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accent1"/>
                </a:solidFill>
              </a:rPr>
              <a:t>5</a:t>
            </a:r>
            <a:endParaRPr lang="ru-RU" sz="2400" b="1">
              <a:solidFill>
                <a:schemeClr val="accent1"/>
              </a:solidFill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71472" y="712788"/>
            <a:ext cx="8072494" cy="0"/>
          </a:xfrm>
          <a:prstGeom prst="line">
            <a:avLst/>
          </a:prstGeom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7-конечная звезда 22"/>
          <p:cNvSpPr/>
          <p:nvPr/>
        </p:nvSpPr>
        <p:spPr>
          <a:xfrm>
            <a:off x="428596" y="1000108"/>
            <a:ext cx="642942" cy="642942"/>
          </a:xfrm>
          <a:prstGeom prst="star7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>
                <a:solidFill>
                  <a:schemeClr val="accent1"/>
                </a:solidFill>
              </a:rPr>
              <a:t>1</a:t>
            </a:r>
            <a:endParaRPr lang="ru-RU" sz="2400">
              <a:solidFill>
                <a:schemeClr val="accent1"/>
              </a:solidFill>
            </a:endParaRPr>
          </a:p>
        </p:txBody>
      </p:sp>
      <p:sp>
        <p:nvSpPr>
          <p:cNvPr id="6168" name="TextBox 23"/>
          <p:cNvSpPr txBox="1">
            <a:spLocks noChangeArrowheads="1"/>
          </p:cNvSpPr>
          <p:nvPr/>
        </p:nvSpPr>
        <p:spPr bwMode="auto">
          <a:xfrm>
            <a:off x="571500" y="0"/>
            <a:ext cx="82867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uz-Cyrl-UZ" sz="22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Симметрик блокли шифрлаш алгоритмларининг </a:t>
            </a:r>
          </a:p>
          <a:p>
            <a:pPr algn="ctr" eaLnBrk="1" hangingPunct="1"/>
            <a:r>
              <a:rPr lang="ru-RU" sz="22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криптографик акслантиришларига қўйилган  умумий талаблар</a:t>
            </a:r>
          </a:p>
        </p:txBody>
      </p:sp>
      <p:sp>
        <p:nvSpPr>
          <p:cNvPr id="61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7429500" y="2170113"/>
          <a:ext cx="84613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Формула" r:id="rId13" imgW="406080" imgH="228600" progId="Equation.3">
                  <p:embed/>
                </p:oleObj>
              </mc:Choice>
              <mc:Fallback>
                <p:oleObj name="Формула" r:id="rId13" imgW="4060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2170113"/>
                        <a:ext cx="846138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567238" y="2214563"/>
          <a:ext cx="1004887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Формула" r:id="rId15" imgW="482400" imgH="203040" progId="Equation.3">
                  <p:embed/>
                </p:oleObj>
              </mc:Choice>
              <mc:Fallback>
                <p:oleObj name="Формула" r:id="rId15" imgW="48240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2214563"/>
                        <a:ext cx="1004887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6805613" y="3286125"/>
          <a:ext cx="7667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Формула" r:id="rId17" imgW="368280" imgH="203040" progId="Equation.3">
                  <p:embed/>
                </p:oleObj>
              </mc:Choice>
              <mc:Fallback>
                <p:oleObj name="Формула" r:id="rId17" imgW="3682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3" y="3286125"/>
                        <a:ext cx="76676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3786188" y="3571875"/>
          <a:ext cx="71278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Формула" r:id="rId19" imgW="342720" imgH="203040" progId="Equation.3">
                  <p:embed/>
                </p:oleObj>
              </mc:Choice>
              <mc:Fallback>
                <p:oleObj name="Формула" r:id="rId19" imgW="34272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3571875"/>
                        <a:ext cx="712787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ятиугольник 4"/>
          <p:cNvSpPr/>
          <p:nvPr/>
        </p:nvSpPr>
        <p:spPr>
          <a:xfrm>
            <a:off x="642910" y="142852"/>
            <a:ext cx="8072494" cy="135732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567039" tIns="91440" rIns="170688" bIns="91440" spcCol="1270"/>
          <a:lstStyle/>
          <a:p>
            <a:pPr algn="just">
              <a:defRPr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sz="2400" i="1" dirty="0" err="1" smtClean="0">
                <a:solidFill>
                  <a:srgbClr val="00246C"/>
                </a:solidFill>
              </a:rPr>
              <a:t>Симметрик</a:t>
            </a:r>
            <a:r>
              <a:rPr lang="en-US" sz="2400" i="1" dirty="0" smtClean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блокли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шифрлаш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алгоритмлари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криптографик</a:t>
            </a:r>
            <a:r>
              <a:rPr lang="ru-RU" sz="2400" i="1" dirty="0">
                <a:solidFill>
                  <a:srgbClr val="00246C"/>
                </a:solidFill>
              </a:rPr>
              <a:t>  </a:t>
            </a:r>
            <a:r>
              <a:rPr lang="ru-RU" sz="2400" i="1" dirty="0" err="1">
                <a:solidFill>
                  <a:srgbClr val="00246C"/>
                </a:solidFill>
              </a:rPr>
              <a:t>акслантиришларининг</a:t>
            </a:r>
            <a:r>
              <a:rPr lang="ru-RU" sz="2400" i="1" dirty="0">
                <a:solidFill>
                  <a:srgbClr val="00246C"/>
                </a:solidFill>
              </a:rPr>
              <a:t>  </a:t>
            </a:r>
            <a:r>
              <a:rPr lang="ru-RU" sz="2400" i="1" dirty="0" err="1">
                <a:solidFill>
                  <a:srgbClr val="00246C"/>
                </a:solidFill>
              </a:rPr>
              <a:t>корреляцион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иммунистлик</a:t>
            </a:r>
            <a:r>
              <a:rPr lang="ru-RU" sz="2400" i="1" dirty="0">
                <a:solidFill>
                  <a:srgbClr val="00246C"/>
                </a:solidFill>
              </a:rPr>
              <a:t>, </a:t>
            </a:r>
            <a:r>
              <a:rPr lang="ru-RU" sz="2400" i="1" dirty="0" err="1">
                <a:solidFill>
                  <a:srgbClr val="00246C"/>
                </a:solidFill>
              </a:rPr>
              <a:t>тарқалиш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тамойиллари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ва</a:t>
            </a:r>
            <a:r>
              <a:rPr lang="ru-RU" sz="2400" i="1" dirty="0">
                <a:solidFill>
                  <a:srgbClr val="00246C"/>
                </a:solidFill>
              </a:rPr>
              <a:t> лавин </a:t>
            </a:r>
            <a:r>
              <a:rPr lang="ru-RU" sz="2400" i="1" dirty="0" err="1">
                <a:solidFill>
                  <a:srgbClr val="00246C"/>
                </a:solidFill>
              </a:rPr>
              <a:t>эффективлик</a:t>
            </a:r>
            <a:r>
              <a:rPr lang="ru-RU" sz="2400" i="1" dirty="0">
                <a:solidFill>
                  <a:srgbClr val="00246C"/>
                </a:solidFill>
              </a:rPr>
              <a:t> </a:t>
            </a:r>
            <a:r>
              <a:rPr lang="ru-RU" sz="2400" i="1" dirty="0" err="1">
                <a:solidFill>
                  <a:srgbClr val="00246C"/>
                </a:solidFill>
              </a:rPr>
              <a:t>даражалари</a:t>
            </a:r>
            <a:endParaRPr lang="ru-RU" sz="2400" i="1" dirty="0">
              <a:solidFill>
                <a:srgbClr val="00246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500063" y="1712913"/>
            <a:ext cx="828675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Схема 6"/>
          <p:cNvGraphicFramePr/>
          <p:nvPr/>
        </p:nvGraphicFramePr>
        <p:xfrm>
          <a:off x="357158" y="2643182"/>
          <a:ext cx="8358214" cy="12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Группа 7"/>
          <p:cNvGrpSpPr/>
          <p:nvPr/>
        </p:nvGrpSpPr>
        <p:grpSpPr>
          <a:xfrm>
            <a:off x="1142976" y="5000636"/>
            <a:ext cx="7643866" cy="1285884"/>
            <a:chOff x="571493" y="-75640"/>
            <a:chExt cx="7215226" cy="136152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9" name="Пятиугольник 8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Пятиугольник 4"/>
            <p:cNvSpPr/>
            <p:nvPr/>
          </p:nvSpPr>
          <p:spPr>
            <a:xfrm>
              <a:off x="892967" y="-75640"/>
              <a:ext cx="6893752" cy="136152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uz-Cyrl-UZ" sz="2000"/>
                <a:t>Буль функцияларнинг тарқалиш тамойили даражалари.</a:t>
              </a:r>
              <a:endParaRPr lang="ru-RU" sz="2000"/>
            </a:p>
          </p:txBody>
        </p:sp>
      </p:grpSp>
      <p:grpSp>
        <p:nvGrpSpPr>
          <p:cNvPr id="3" name="Группа 10"/>
          <p:cNvGrpSpPr/>
          <p:nvPr/>
        </p:nvGrpSpPr>
        <p:grpSpPr>
          <a:xfrm>
            <a:off x="1142976" y="3571876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2" name="Пятиугольник 11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ятиугольник 4"/>
            <p:cNvSpPr/>
            <p:nvPr/>
          </p:nvSpPr>
          <p:spPr>
            <a:xfrm rot="21600000"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uz-Cyrl-UZ" sz="2000"/>
                <a:t>  Буль функцияларнинг қатъий  лавин самарадорлик</a:t>
              </a:r>
              <a:endParaRPr lang="en-US" sz="2000"/>
            </a:p>
            <a:p>
              <a:pPr algn="just">
                <a:defRPr/>
              </a:pPr>
              <a:r>
                <a:rPr lang="uz-Cyrl-UZ" sz="2000"/>
                <a:t>даражалари.</a:t>
              </a:r>
              <a:endParaRPr lang="ru-RU" sz="2000"/>
            </a:p>
          </p:txBody>
        </p:sp>
      </p:grpSp>
      <p:grpSp>
        <p:nvGrpSpPr>
          <p:cNvPr id="4" name="Группа 13"/>
          <p:cNvGrpSpPr/>
          <p:nvPr/>
        </p:nvGrpSpPr>
        <p:grpSpPr>
          <a:xfrm>
            <a:off x="1142976" y="2000240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5" name="Пятиугольник 14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sp3d prstMaterial="dkEdge">
              <a:bevelT w="82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Пятиугольник 4"/>
            <p:cNvSpPr/>
            <p:nvPr/>
          </p:nvSpPr>
          <p:spPr>
            <a:xfrm rot="21600000"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uz-Cyrl-UZ" sz="2000"/>
                <a:t>   Буль функцияларнинг корреляцион иммунистлик</a:t>
              </a:r>
              <a:endParaRPr lang="en-US" sz="2000"/>
            </a:p>
            <a:p>
              <a:pPr algn="just">
                <a:defRPr/>
              </a:pPr>
              <a:r>
                <a:rPr lang="uz-Cyrl-UZ" sz="2000"/>
                <a:t>даражаси. </a:t>
              </a:r>
              <a:endParaRPr lang="ru-RU" sz="20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1" name="Овал 20"/>
          <p:cNvSpPr/>
          <p:nvPr/>
        </p:nvSpPr>
        <p:spPr>
          <a:xfrm>
            <a:off x="785786" y="1928802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/>
              <a:t>2</a:t>
            </a:r>
            <a:r>
              <a:rPr lang="uz-Cyrl-UZ" sz="2200" b="1"/>
              <a:t>.</a:t>
            </a:r>
            <a:r>
              <a:rPr lang="en-US" sz="2200" b="1"/>
              <a:t>1</a:t>
            </a:r>
            <a:endParaRPr lang="ru-RU" sz="2200" b="1"/>
          </a:p>
        </p:txBody>
      </p:sp>
      <p:sp>
        <p:nvSpPr>
          <p:cNvPr id="22" name="Овал 21"/>
          <p:cNvSpPr/>
          <p:nvPr/>
        </p:nvSpPr>
        <p:spPr>
          <a:xfrm>
            <a:off x="785786" y="3429000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/>
              <a:t>2</a:t>
            </a:r>
            <a:r>
              <a:rPr lang="uz-Cyrl-UZ" sz="2200" b="1"/>
              <a:t>.</a:t>
            </a:r>
            <a:r>
              <a:rPr lang="en-US" sz="2200" b="1"/>
              <a:t>2</a:t>
            </a:r>
            <a:endParaRPr lang="ru-RU" sz="2200" b="1"/>
          </a:p>
        </p:txBody>
      </p:sp>
      <p:sp>
        <p:nvSpPr>
          <p:cNvPr id="23" name="Овал 22"/>
          <p:cNvSpPr/>
          <p:nvPr/>
        </p:nvSpPr>
        <p:spPr>
          <a:xfrm>
            <a:off x="785786" y="5000636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/>
              <a:t>2</a:t>
            </a:r>
            <a:r>
              <a:rPr lang="uz-Cyrl-UZ" sz="2200" b="1"/>
              <a:t>.</a:t>
            </a:r>
            <a:r>
              <a:rPr lang="en-US" sz="2200" b="1"/>
              <a:t>3</a:t>
            </a:r>
            <a:endParaRPr lang="ru-RU" sz="2200" b="1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" name="Прямоугольник 6"/>
          <p:cNvSpPr/>
          <p:nvPr/>
        </p:nvSpPr>
        <p:spPr>
          <a:xfrm>
            <a:off x="214282" y="714356"/>
            <a:ext cx="8715436" cy="59293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400">
                <a:solidFill>
                  <a:srgbClr val="00246C"/>
                </a:solidFill>
              </a:rPr>
              <a:t>   </a:t>
            </a:r>
            <a:r>
              <a:rPr lang="en-US" sz="2400">
                <a:solidFill>
                  <a:srgbClr val="00246C"/>
                </a:solidFill>
              </a:rPr>
              <a:t> </a:t>
            </a:r>
            <a:r>
              <a:rPr lang="uz-Cyrl-UZ" sz="2400">
                <a:solidFill>
                  <a:srgbClr val="00246C"/>
                </a:solidFill>
              </a:rPr>
              <a:t>Қаралаётган симметрик шифрлаш алгоритмининг криптографик акслантиришларини статистик ҳужум турларига </a:t>
            </a:r>
            <a:r>
              <a:rPr lang="uz-Cyrl-UZ" sz="2400">
                <a:solidFill>
                  <a:srgbClr val="002060"/>
                </a:solidFill>
                <a:cs typeface="Times New Roman" pitchFamily="18" charset="0"/>
              </a:rPr>
              <a:t>нисбатан баҳолашда уни ифодаловчи буль функцияларнинг </a:t>
            </a:r>
            <a:r>
              <a:rPr lang="uz-Cyrl-UZ" sz="2400">
                <a:solidFill>
                  <a:srgbClr val="00246C"/>
                </a:solidFill>
              </a:rPr>
              <a:t>корреляцион иммунистлик даражаси </a:t>
            </a:r>
            <a:r>
              <a:rPr lang="uz-Cyrl-UZ" sz="2400">
                <a:solidFill>
                  <a:srgbClr val="002060"/>
                </a:solidFill>
                <a:cs typeface="Times New Roman" pitchFamily="18" charset="0"/>
              </a:rPr>
              <a:t>асосий характеристикалардан бири ҳисобланади.</a:t>
            </a:r>
            <a:endParaRPr lang="en-US" sz="2400">
              <a:solidFill>
                <a:srgbClr val="00246C"/>
              </a:solidFill>
              <a:latin typeface="Cambria" pitchFamily="18" charset="0"/>
            </a:endParaRPr>
          </a:p>
          <a:p>
            <a:pPr>
              <a:defRPr/>
            </a:pPr>
            <a:r>
              <a:rPr lang="ru-RU" sz="2200">
                <a:solidFill>
                  <a:srgbClr val="00246C"/>
                </a:solidFill>
              </a:rPr>
              <a:t>   </a:t>
            </a:r>
            <a:r>
              <a:rPr lang="ru-RU" sz="2200">
                <a:solidFill>
                  <a:srgbClr val="0000FF"/>
                </a:solidFill>
              </a:rPr>
              <a:t>Таъриф.</a:t>
            </a:r>
            <a:r>
              <a:rPr lang="ru-RU" sz="2200">
                <a:solidFill>
                  <a:srgbClr val="00246C"/>
                </a:solidFill>
              </a:rPr>
              <a:t>             ,     </a:t>
            </a:r>
            <a:r>
              <a:rPr lang="uz-Cyrl-UZ" sz="2400">
                <a:solidFill>
                  <a:srgbClr val="00246C"/>
                </a:solidFill>
              </a:rPr>
              <a:t> </a:t>
            </a:r>
            <a:r>
              <a:rPr lang="ru-RU" sz="2400">
                <a:solidFill>
                  <a:srgbClr val="00246C"/>
                </a:solidFill>
              </a:rPr>
              <a:t>                   </a:t>
            </a:r>
            <a:r>
              <a:rPr lang="uz-Cyrl-UZ" sz="2400">
                <a:solidFill>
                  <a:srgbClr val="00246C"/>
                </a:solidFill>
              </a:rPr>
              <a:t>буль функция “к”- даражали корреляцион иммунистга эга дейилади (бу ерда              ), агар                         </a:t>
            </a:r>
            <a:r>
              <a:rPr lang="en-US" sz="2400">
                <a:solidFill>
                  <a:srgbClr val="00246C"/>
                </a:solidFill>
                <a:latin typeface="Cambria" pitchFamily="18" charset="0"/>
              </a:rPr>
              <a:t>    	</a:t>
            </a:r>
            <a:r>
              <a:rPr lang="uz-Cyrl-UZ" sz="2400">
                <a:solidFill>
                  <a:srgbClr val="00246C"/>
                </a:solidFill>
              </a:rPr>
              <a:t>          - шартни қаноатлантирувчи барча                       - лар учун                      бўлса.</a:t>
            </a:r>
            <a:endParaRPr lang="ru-RU" sz="2400">
              <a:solidFill>
                <a:srgbClr val="00246C"/>
              </a:solidFill>
            </a:endParaRPr>
          </a:p>
          <a:p>
            <a:pPr>
              <a:defRPr/>
            </a:pPr>
            <a:r>
              <a:rPr lang="en-US" sz="2400">
                <a:solidFill>
                  <a:srgbClr val="00246C"/>
                </a:solidFill>
                <a:latin typeface="Cambria" pitchFamily="18" charset="0"/>
              </a:rPr>
              <a:t>   </a:t>
            </a:r>
            <a:r>
              <a:rPr lang="uz-Cyrl-UZ" sz="2400">
                <a:solidFill>
                  <a:srgbClr val="00246C"/>
                </a:solidFill>
              </a:rPr>
              <a:t>Бу ерда           - “    ” – вектор учун “</a:t>
            </a:r>
            <a:r>
              <a:rPr lang="uz-Cyrl-UZ" sz="2400">
                <a:solidFill>
                  <a:srgbClr val="0037A4"/>
                </a:solidFill>
              </a:rPr>
              <a:t>Хемминг ўлчови</a:t>
            </a:r>
            <a:r>
              <a:rPr lang="uz-Cyrl-UZ" sz="2400">
                <a:solidFill>
                  <a:srgbClr val="00246C"/>
                </a:solidFill>
              </a:rPr>
              <a:t>” бўлиб, яъни                                    - вектордаги бирлар сонини англатади</a:t>
            </a:r>
            <a:r>
              <a:rPr lang="uz-Cyrl-UZ" sz="2400">
                <a:solidFill>
                  <a:srgbClr val="0037A4"/>
                </a:solidFill>
              </a:rPr>
              <a:t>. </a:t>
            </a:r>
            <a:endParaRPr lang="en-US" sz="2400">
              <a:solidFill>
                <a:srgbClr val="0037A4"/>
              </a:solidFill>
              <a:latin typeface="Cambria" pitchFamily="18" charset="0"/>
            </a:endParaRPr>
          </a:p>
          <a:p>
            <a:pPr algn="just">
              <a:defRPr/>
            </a:pPr>
            <a:r>
              <a:rPr lang="ru-RU" sz="2400">
                <a:solidFill>
                  <a:srgbClr val="00246C"/>
                </a:solidFill>
                <a:cs typeface="Times New Roman" pitchFamily="18" charset="0"/>
              </a:rPr>
              <a:t>   </a:t>
            </a:r>
            <a:r>
              <a:rPr lang="ru-RU" sz="2400">
                <a:solidFill>
                  <a:srgbClr val="0000FF"/>
                </a:solidFill>
                <a:cs typeface="Times New Roman" pitchFamily="18" charset="0"/>
              </a:rPr>
              <a:t>Тасдиқ. </a:t>
            </a:r>
            <a:r>
              <a:rPr lang="ru-RU" sz="2400">
                <a:solidFill>
                  <a:srgbClr val="00246C"/>
                </a:solidFill>
                <a:cs typeface="Times New Roman" pitchFamily="18" charset="0"/>
              </a:rPr>
              <a:t>Максимал к</a:t>
            </a:r>
            <a:r>
              <a:rPr lang="uz-Cyrl-UZ" sz="2400">
                <a:solidFill>
                  <a:srgbClr val="00246C"/>
                </a:solidFill>
                <a:cs typeface="Times New Roman" pitchFamily="18" charset="0"/>
              </a:rPr>
              <a:t>орреляцион иммунистлик даражаси</a:t>
            </a:r>
            <a:r>
              <a:rPr lang="ru-RU" sz="2400">
                <a:solidFill>
                  <a:srgbClr val="00246C"/>
                </a:solidFill>
                <a:cs typeface="Times New Roman" pitchFamily="18" charset="0"/>
              </a:rPr>
              <a:t>га эга бўлган, яъни </a:t>
            </a:r>
            <a:r>
              <a:rPr lang="uz-Cyrl-UZ" sz="2400">
                <a:solidFill>
                  <a:srgbClr val="00246C"/>
                </a:solidFill>
                <a:cs typeface="Times New Roman" pitchFamily="18" charset="0"/>
              </a:rPr>
              <a:t>“к”</a:t>
            </a:r>
            <a:r>
              <a:rPr lang="ru-RU" sz="2400">
                <a:solidFill>
                  <a:srgbClr val="00246C"/>
                </a:solidFill>
                <a:cs typeface="Times New Roman" pitchFamily="18" charset="0"/>
              </a:rPr>
              <a:t>=</a:t>
            </a:r>
            <a:r>
              <a:rPr lang="en-US" sz="2400">
                <a:solidFill>
                  <a:srgbClr val="00246C"/>
                </a:solidFill>
                <a:latin typeface="Cambria" pitchFamily="18" charset="0"/>
                <a:cs typeface="Times New Roman" pitchFamily="18" charset="0"/>
              </a:rPr>
              <a:t>n</a:t>
            </a:r>
            <a:r>
              <a:rPr lang="ru-RU" sz="2400">
                <a:solidFill>
                  <a:srgbClr val="00246C"/>
                </a:solidFill>
                <a:cs typeface="Times New Roman" pitchFamily="18" charset="0"/>
              </a:rPr>
              <a:t>-1</a:t>
            </a:r>
            <a:r>
              <a:rPr lang="uz-Cyrl-UZ" sz="2400">
                <a:solidFill>
                  <a:srgbClr val="00246C"/>
                </a:solidFill>
                <a:cs typeface="Times New Roman" pitchFamily="18" charset="0"/>
              </a:rPr>
              <a:t> функция </a:t>
            </a:r>
            <a:r>
              <a:rPr lang="ru-RU" sz="2400">
                <a:solidFill>
                  <a:srgbClr val="00246C"/>
                </a:solidFill>
                <a:cs typeface="Times New Roman" pitchFamily="18" charset="0"/>
              </a:rPr>
              <a:t>бу аффин функцияси:</a:t>
            </a:r>
          </a:p>
          <a:p>
            <a:pPr algn="just">
              <a:defRPr/>
            </a:pPr>
            <a:r>
              <a:rPr lang="uz-Cyrl-UZ" sz="2400">
                <a:solidFill>
                  <a:srgbClr val="00246C"/>
                </a:solidFill>
              </a:rPr>
              <a:t>                                                       ва</a:t>
            </a:r>
            <a:endParaRPr lang="ru-RU" sz="2000">
              <a:solidFill>
                <a:srgbClr val="00246C"/>
              </a:solidFill>
            </a:endParaRPr>
          </a:p>
          <a:p>
            <a:pPr>
              <a:defRPr/>
            </a:pPr>
            <a:endParaRPr lang="ru-RU" sz="2400">
              <a:solidFill>
                <a:srgbClr val="0037A4"/>
              </a:solidFill>
            </a:endParaRPr>
          </a:p>
        </p:txBody>
      </p:sp>
      <p:sp>
        <p:nvSpPr>
          <p:cNvPr id="7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187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188" name="TextBox 23"/>
          <p:cNvSpPr txBox="1">
            <a:spLocks noChangeArrowheads="1"/>
          </p:cNvSpPr>
          <p:nvPr/>
        </p:nvSpPr>
        <p:spPr bwMode="auto">
          <a:xfrm>
            <a:off x="1357313" y="0"/>
            <a:ext cx="665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 sz="2800" i="1">
                <a:solidFill>
                  <a:srgbClr val="00246C"/>
                </a:solidFill>
              </a:rPr>
              <a:t> </a:t>
            </a:r>
            <a:r>
              <a:rPr lang="uz-Cyrl-UZ" sz="2800" b="1" i="1">
                <a:solidFill>
                  <a:srgbClr val="00246C"/>
                </a:solidFill>
                <a:latin typeface="Times New Roman" pitchFamily="18" charset="0"/>
                <a:cs typeface="Times New Roman" pitchFamily="18" charset="0"/>
              </a:rPr>
              <a:t>Корреляцион иммунистлик даражаси </a:t>
            </a:r>
            <a:endParaRPr lang="ru-RU" sz="28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357188" y="571500"/>
            <a:ext cx="8572500" cy="158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19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19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719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1714500" y="2643188"/>
          <a:ext cx="571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" name="Формула" r:id="rId4" imgW="342751" imgH="203112" progId="Equation.3">
                  <p:embed/>
                </p:oleObj>
              </mc:Choice>
              <mc:Fallback>
                <p:oleObj name="Формула" r:id="rId4" imgW="342751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2643188"/>
                        <a:ext cx="57150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2500313" y="2571750"/>
          <a:ext cx="14287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" name="Формула" r:id="rId6" imgW="1227726" imgH="368318" progId="Equation.3">
                  <p:embed/>
                </p:oleObj>
              </mc:Choice>
              <mc:Fallback>
                <p:oleObj name="Формула" r:id="rId6" imgW="1227726" imgH="3683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2571750"/>
                        <a:ext cx="14287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7000875" y="3000375"/>
          <a:ext cx="8382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Формула" r:id="rId8" imgW="558720" imgH="177480" progId="Equation.3">
                  <p:embed/>
                </p:oleObj>
              </mc:Choice>
              <mc:Fallback>
                <p:oleObj name="Формула" r:id="rId8" imgW="55872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3000375"/>
                        <a:ext cx="8382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85750" y="3357563"/>
          <a:ext cx="150018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Формула" r:id="rId10" imgW="863225" imgH="203112" progId="Equation.3">
                  <p:embed/>
                </p:oleObj>
              </mc:Choice>
              <mc:Fallback>
                <p:oleObj name="Формула" r:id="rId10" imgW="863225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357563"/>
                        <a:ext cx="150018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6929438" y="3286125"/>
          <a:ext cx="11430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Формула" r:id="rId12" imgW="774364" imgH="228501" progId="Equation.3">
                  <p:embed/>
                </p:oleObj>
              </mc:Choice>
              <mc:Fallback>
                <p:oleObj name="Формула" r:id="rId12" imgW="774364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3286125"/>
                        <a:ext cx="11430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1071563" y="3643313"/>
          <a:ext cx="1285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Формула" r:id="rId14" imgW="698500" imgH="241300" progId="Equation.3">
                  <p:embed/>
                </p:oleObj>
              </mc:Choice>
              <mc:Fallback>
                <p:oleObj name="Формула" r:id="rId14" imgW="6985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643313"/>
                        <a:ext cx="12858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1643063" y="4143375"/>
          <a:ext cx="5715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name="Формула" r:id="rId16" imgW="418918" imgH="203112" progId="Equation.3">
                  <p:embed/>
                </p:oleObj>
              </mc:Choice>
              <mc:Fallback>
                <p:oleObj name="Формула" r:id="rId16" imgW="418918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4143375"/>
                        <a:ext cx="5715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2571750" y="4143375"/>
          <a:ext cx="28575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Формула" r:id="rId18" imgW="152334" imgH="139639" progId="Equation.3">
                  <p:embed/>
                </p:oleObj>
              </mc:Choice>
              <mc:Fallback>
                <p:oleObj name="Формула" r:id="rId18" imgW="152334" imgH="13963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143375"/>
                        <a:ext cx="285750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1" name="Rectangle 3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1785938" y="4429125"/>
          <a:ext cx="150018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Формула" r:id="rId20" imgW="1143000" imgH="228600" progId="Equation.3">
                  <p:embed/>
                </p:oleObj>
              </mc:Choice>
              <mc:Fallback>
                <p:oleObj name="Формула" r:id="rId20" imgW="1143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429125"/>
                        <a:ext cx="1500187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1071563" y="4500563"/>
          <a:ext cx="5715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Формула" r:id="rId22" imgW="418918" imgH="203112" progId="Equation.3">
                  <p:embed/>
                </p:oleObj>
              </mc:Choice>
              <mc:Fallback>
                <p:oleObj name="Формула" r:id="rId22" imgW="418918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500563"/>
                        <a:ext cx="5715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285750" y="5929313"/>
          <a:ext cx="35004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" name="Формула" r:id="rId23" imgW="2209800" imgH="228600" progId="Equation.3">
                  <p:embed/>
                </p:oleObj>
              </mc:Choice>
              <mc:Fallback>
                <p:oleObj name="Формула" r:id="rId23" imgW="22098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5929313"/>
                        <a:ext cx="35004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3"/>
          <p:cNvGraphicFramePr>
            <a:graphicFrameLocks noChangeAspect="1"/>
          </p:cNvGraphicFramePr>
          <p:nvPr/>
        </p:nvGraphicFramePr>
        <p:xfrm>
          <a:off x="4429125" y="5929313"/>
          <a:ext cx="42148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" name="Формула" r:id="rId25" imgW="2451100" imgH="228600" progId="Equation.3">
                  <p:embed/>
                </p:oleObj>
              </mc:Choice>
              <mc:Fallback>
                <p:oleObj name="Формула" r:id="rId25" imgW="24511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5929313"/>
                        <a:ext cx="42148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2" name="Rectangle 44"/>
          <p:cNvSpPr>
            <a:spLocks noChangeArrowheads="1"/>
          </p:cNvSpPr>
          <p:nvPr/>
        </p:nvSpPr>
        <p:spPr bwMode="auto">
          <a:xfrm>
            <a:off x="0" y="685800"/>
            <a:ext cx="444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uz-Cyrl-UZ" sz="1200">
                <a:cs typeface="Times New Roman" pitchFamily="18" charset="0"/>
              </a:rPr>
              <a:t>      </a:t>
            </a:r>
            <a:endParaRPr lang="uz-Cyrl-UZ"/>
          </a:p>
        </p:txBody>
      </p:sp>
      <p:sp>
        <p:nvSpPr>
          <p:cNvPr id="7203" name="Rectangle 45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sz="1200">
                <a:cs typeface="Times New Roman" pitchFamily="18" charset="0"/>
              </a:rPr>
              <a:t>.</a:t>
            </a:r>
            <a:endParaRPr lang="ru-RU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5" name="Прямоугольник 4"/>
          <p:cNvSpPr/>
          <p:nvPr/>
        </p:nvSpPr>
        <p:spPr>
          <a:xfrm>
            <a:off x="214282" y="714356"/>
            <a:ext cx="8715436" cy="59293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000">
                <a:solidFill>
                  <a:srgbClr val="0037A4"/>
                </a:solidFill>
              </a:rPr>
              <a:t>    </a:t>
            </a:r>
            <a:r>
              <a:rPr lang="uz-Cyrl-UZ" sz="2200">
                <a:solidFill>
                  <a:srgbClr val="00246C"/>
                </a:solidFill>
              </a:rPr>
              <a:t>Берилган          , </a:t>
            </a:r>
            <a:r>
              <a:rPr lang="ru-RU" sz="2200">
                <a:solidFill>
                  <a:srgbClr val="00246C"/>
                </a:solidFill>
              </a:rPr>
              <a:t>                        </a:t>
            </a:r>
            <a:r>
              <a:rPr lang="uz-Cyrl-UZ" sz="2200">
                <a:solidFill>
                  <a:srgbClr val="00246C"/>
                </a:solidFill>
              </a:rPr>
              <a:t>буль функция бир қисм аргументлари нинг ўзгариши билан буль функция қийматининг ўзгариш эҳтимоллигини баҳолашда тарқалиш тамойили ва қатъий лавин самарадорлик тушунчалари муҳим ўрин тутади. </a:t>
            </a:r>
            <a:r>
              <a:rPr lang="ru-RU" sz="2200">
                <a:solidFill>
                  <a:srgbClr val="00246C"/>
                </a:solidFill>
              </a:rPr>
              <a:t>Ушбу тушунчалар бевосита криптографик алмаштиришни баҳолаш масалалари билан узвий боғлиқ</a:t>
            </a:r>
            <a:r>
              <a:rPr lang="uz-Cyrl-UZ" sz="2200">
                <a:solidFill>
                  <a:srgbClr val="00246C"/>
                </a:solidFill>
              </a:rPr>
              <a:t>. </a:t>
            </a:r>
            <a:endParaRPr lang="en-US" sz="2200">
              <a:solidFill>
                <a:srgbClr val="00246C"/>
              </a:solidFill>
            </a:endParaRPr>
          </a:p>
          <a:p>
            <a:pPr>
              <a:defRPr/>
            </a:pPr>
            <a:endParaRPr lang="uz-Cyrl-UZ" sz="2200">
              <a:solidFill>
                <a:srgbClr val="0000FF"/>
              </a:solidFill>
            </a:endParaRPr>
          </a:p>
          <a:p>
            <a:pPr>
              <a:defRPr/>
            </a:pPr>
            <a:r>
              <a:rPr lang="uz-Cyrl-UZ" sz="2200">
                <a:solidFill>
                  <a:srgbClr val="0000FF"/>
                </a:solidFill>
              </a:rPr>
              <a:t>Таъриф. </a:t>
            </a:r>
            <a:r>
              <a:rPr lang="uz-Cyrl-UZ" sz="2200">
                <a:solidFill>
                  <a:srgbClr val="002060"/>
                </a:solidFill>
              </a:rPr>
              <a:t>Берилган</a:t>
            </a:r>
            <a:r>
              <a:rPr lang="en-US" sz="2200">
                <a:solidFill>
                  <a:srgbClr val="002060"/>
                </a:solidFill>
              </a:rPr>
              <a:t>       </a:t>
            </a:r>
            <a:r>
              <a:rPr lang="uz-Cyrl-UZ" sz="2200">
                <a:solidFill>
                  <a:srgbClr val="002060"/>
                </a:solidFill>
              </a:rPr>
              <a:t> , </a:t>
            </a:r>
            <a:r>
              <a:rPr lang="en-US" sz="2200">
                <a:solidFill>
                  <a:srgbClr val="002060"/>
                </a:solidFill>
              </a:rPr>
              <a:t>        </a:t>
            </a:r>
            <a:r>
              <a:rPr lang="ru-RU" sz="2200">
                <a:solidFill>
                  <a:srgbClr val="002060"/>
                </a:solidFill>
              </a:rPr>
              <a:t> </a:t>
            </a:r>
            <a:r>
              <a:rPr lang="en-US" sz="2200">
                <a:solidFill>
                  <a:srgbClr val="002060"/>
                </a:solidFill>
              </a:rPr>
              <a:t>       </a:t>
            </a:r>
            <a:r>
              <a:rPr lang="uz-Cyrl-UZ" sz="2200">
                <a:solidFill>
                  <a:srgbClr val="002060"/>
                </a:solidFill>
              </a:rPr>
              <a:t>буль функция қатъий лавин </a:t>
            </a:r>
            <a:r>
              <a:rPr lang="uz-Cyrl-UZ" sz="2200">
                <a:solidFill>
                  <a:srgbClr val="00246C"/>
                </a:solidFill>
              </a:rPr>
              <a:t>самарадорлик</a:t>
            </a:r>
            <a:r>
              <a:rPr lang="uz-Cyrl-UZ" sz="2200">
                <a:solidFill>
                  <a:srgbClr val="002060"/>
                </a:solidFill>
              </a:rPr>
              <a:t> (КСЛЭ) га эга дейилади, агар              </a:t>
            </a:r>
            <a:r>
              <a:rPr lang="en-US" sz="2200">
                <a:solidFill>
                  <a:srgbClr val="002060"/>
                </a:solidFill>
              </a:rPr>
              <a:t> </a:t>
            </a:r>
            <a:r>
              <a:rPr lang="ru-RU" sz="2200">
                <a:solidFill>
                  <a:srgbClr val="002060"/>
                </a:solidFill>
              </a:rPr>
              <a:t>    шартни </a:t>
            </a:r>
            <a:r>
              <a:rPr lang="uz-Cyrl-UZ" sz="2200">
                <a:solidFill>
                  <a:srgbClr val="002060"/>
                </a:solidFill>
              </a:rPr>
              <a:t>қаноатлантирувчи                        </a:t>
            </a:r>
            <a:r>
              <a:rPr lang="ru-RU" sz="2200">
                <a:solidFill>
                  <a:srgbClr val="002060"/>
                </a:solidFill>
              </a:rPr>
              <a:t>век</a:t>
            </a:r>
            <a:r>
              <a:rPr lang="uz-Cyrl-UZ" sz="2200">
                <a:solidFill>
                  <a:srgbClr val="002060"/>
                </a:solidFill>
              </a:rPr>
              <a:t>тор учун қуйидаги тенглик бажарилса:</a:t>
            </a:r>
            <a:endParaRPr lang="ru-RU" sz="2200">
              <a:solidFill>
                <a:srgbClr val="002060"/>
              </a:solidFill>
            </a:endParaRPr>
          </a:p>
          <a:p>
            <a:pPr>
              <a:defRPr/>
            </a:pPr>
            <a:r>
              <a:rPr lang="uz-Cyrl-UZ" sz="2400"/>
              <a:t>                                    </a:t>
            </a:r>
            <a:endParaRPr lang="ru-RU" sz="2400"/>
          </a:p>
          <a:p>
            <a:pPr algn="just">
              <a:defRPr/>
            </a:pPr>
            <a:endParaRPr lang="uz-Cyrl-UZ" sz="2200">
              <a:solidFill>
                <a:srgbClr val="00246C"/>
              </a:solidFill>
            </a:endParaRPr>
          </a:p>
          <a:p>
            <a:pPr algn="just">
              <a:defRPr/>
            </a:pPr>
            <a:r>
              <a:rPr lang="uz-Cyrl-UZ" sz="2200">
                <a:solidFill>
                  <a:srgbClr val="00246C"/>
                </a:solidFill>
              </a:rPr>
              <a:t> </a:t>
            </a:r>
            <a:r>
              <a:rPr lang="en-US" sz="2200">
                <a:solidFill>
                  <a:srgbClr val="00246C"/>
                </a:solidFill>
              </a:rPr>
              <a:t> </a:t>
            </a:r>
            <a:endParaRPr lang="ru-RU" sz="2000">
              <a:solidFill>
                <a:srgbClr val="00246C"/>
              </a:solidFill>
            </a:endParaRPr>
          </a:p>
          <a:p>
            <a:pPr algn="just">
              <a:defRPr/>
            </a:pPr>
            <a:endParaRPr lang="uz-Cyrl-UZ" sz="2000">
              <a:solidFill>
                <a:srgbClr val="00246C"/>
              </a:solidFill>
            </a:endParaRPr>
          </a:p>
          <a:p>
            <a:pPr algn="just">
              <a:defRPr/>
            </a:pPr>
            <a:r>
              <a:rPr lang="uz-Cyrl-UZ" sz="2000">
                <a:solidFill>
                  <a:srgbClr val="00246C"/>
                </a:solidFill>
              </a:rPr>
              <a:t>  	</a:t>
            </a:r>
          </a:p>
          <a:p>
            <a:pPr algn="just">
              <a:defRPr/>
            </a:pPr>
            <a:endParaRPr lang="uz-Cyrl-UZ" sz="2000">
              <a:solidFill>
                <a:srgbClr val="00246C"/>
              </a:solidFill>
            </a:endParaRPr>
          </a:p>
          <a:p>
            <a:pPr algn="just">
              <a:defRPr/>
            </a:pPr>
            <a:endParaRPr lang="ru-RU" sz="2400">
              <a:solidFill>
                <a:srgbClr val="00246C"/>
              </a:solidFill>
            </a:endParaRPr>
          </a:p>
        </p:txBody>
      </p:sp>
      <p:sp>
        <p:nvSpPr>
          <p:cNvPr id="820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06" name="TextBox 8"/>
          <p:cNvSpPr txBox="1">
            <a:spLocks noChangeArrowheads="1"/>
          </p:cNvSpPr>
          <p:nvPr/>
        </p:nvSpPr>
        <p:spPr bwMode="auto">
          <a:xfrm>
            <a:off x="357188" y="71438"/>
            <a:ext cx="86391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ru-RU" sz="24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Буль функцияларнинг </a:t>
            </a:r>
            <a:r>
              <a:rPr lang="uz-Cyrl-UZ" sz="2400" b="1" i="1">
                <a:solidFill>
                  <a:srgbClr val="00246C"/>
                </a:solidFill>
                <a:latin typeface="Times New Roman" pitchFamily="18" charset="0"/>
                <a:cs typeface="Times New Roman" pitchFamily="18" charset="0"/>
              </a:rPr>
              <a:t>қатъий лавин самарадорлик даражаси</a:t>
            </a:r>
            <a:r>
              <a:rPr lang="uz-Cyrl-UZ" sz="2400" b="1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7188" y="500063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785938" y="785813"/>
          <a:ext cx="571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Формула" r:id="rId4" imgW="342751" imgH="203112" progId="Equation.3">
                  <p:embed/>
                </p:oleObj>
              </mc:Choice>
              <mc:Fallback>
                <p:oleObj name="Формула" r:id="rId4" imgW="342751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785813"/>
                        <a:ext cx="57150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500313" y="714375"/>
          <a:ext cx="14287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Формула" r:id="rId6" imgW="1227726" imgH="368318" progId="Equation.3">
                  <p:embed/>
                </p:oleObj>
              </mc:Choice>
              <mc:Fallback>
                <p:oleObj name="Формула" r:id="rId6" imgW="1227726" imgH="3683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714375"/>
                        <a:ext cx="14287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0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1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1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12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1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8214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8196" name="Object 29"/>
          <p:cNvGraphicFramePr>
            <a:graphicFrameLocks noChangeAspect="1"/>
          </p:cNvGraphicFramePr>
          <p:nvPr/>
        </p:nvGraphicFramePr>
        <p:xfrm>
          <a:off x="2586038" y="3071813"/>
          <a:ext cx="4857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Формула" r:id="rId8" imgW="342751" imgH="203112" progId="Equation.3">
                  <p:embed/>
                </p:oleObj>
              </mc:Choice>
              <mc:Fallback>
                <p:oleObj name="Формула" r:id="rId8" imgW="342751" imgH="203112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3071813"/>
                        <a:ext cx="48577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28"/>
          <p:cNvGraphicFramePr>
            <a:graphicFrameLocks noChangeAspect="1"/>
          </p:cNvGraphicFramePr>
          <p:nvPr/>
        </p:nvGraphicFramePr>
        <p:xfrm>
          <a:off x="3214688" y="3128963"/>
          <a:ext cx="1000125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Формула" r:id="rId9" imgW="761669" imgH="228501" progId="Equation.3">
                  <p:embed/>
                </p:oleObj>
              </mc:Choice>
              <mc:Fallback>
                <p:oleObj name="Формула" r:id="rId9" imgW="761669" imgH="228501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3128963"/>
                        <a:ext cx="1000125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26"/>
          <p:cNvGraphicFramePr>
            <a:graphicFrameLocks noChangeAspect="1"/>
          </p:cNvGraphicFramePr>
          <p:nvPr/>
        </p:nvGraphicFramePr>
        <p:xfrm>
          <a:off x="2714625" y="3786188"/>
          <a:ext cx="13144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3786188"/>
                        <a:ext cx="131445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25"/>
          <p:cNvGraphicFramePr>
            <a:graphicFrameLocks noChangeAspect="1"/>
          </p:cNvGraphicFramePr>
          <p:nvPr/>
        </p:nvGraphicFramePr>
        <p:xfrm>
          <a:off x="5857875" y="3500438"/>
          <a:ext cx="10302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Формула" r:id="rId13" imgW="622080" imgH="203040" progId="Equation.3">
                  <p:embed/>
                </p:oleObj>
              </mc:Choice>
              <mc:Fallback>
                <p:oleObj name="Формула" r:id="rId13" imgW="622080" imgH="203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3500438"/>
                        <a:ext cx="10302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24"/>
          <p:cNvGraphicFramePr>
            <a:graphicFrameLocks noChangeAspect="1"/>
          </p:cNvGraphicFramePr>
          <p:nvPr/>
        </p:nvGraphicFramePr>
        <p:xfrm>
          <a:off x="2286000" y="4429125"/>
          <a:ext cx="47863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Формула" r:id="rId15" imgW="1536700" imgH="469900" progId="Equation.3">
                  <p:embed/>
                </p:oleObj>
              </mc:Choice>
              <mc:Fallback>
                <p:oleObj name="Формула" r:id="rId15" imgW="1536700" imgH="4699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29125"/>
                        <a:ext cx="4786313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Rectangle 31"/>
          <p:cNvSpPr>
            <a:spLocks noChangeArrowheads="1"/>
          </p:cNvSpPr>
          <p:nvPr/>
        </p:nvSpPr>
        <p:spPr bwMode="auto">
          <a:xfrm>
            <a:off x="0" y="657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uz-Cyrl-UZ" sz="1200">
                <a:cs typeface="Times New Roman" pitchFamily="18" charset="0"/>
              </a:rPr>
              <a:t>, </a:t>
            </a:r>
            <a:endParaRPr lang="uz-Cyrl-UZ"/>
          </a:p>
        </p:txBody>
      </p:sp>
      <p:sp>
        <p:nvSpPr>
          <p:cNvPr id="8216" name="Rectangle 33"/>
          <p:cNvSpPr>
            <a:spLocks noChangeArrowheads="1"/>
          </p:cNvSpPr>
          <p:nvPr/>
        </p:nvSpPr>
        <p:spPr bwMode="auto">
          <a:xfrm>
            <a:off x="0" y="1123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uz-Cyrl-UZ" sz="1200">
                <a:cs typeface="Times New Roman" pitchFamily="18" charset="0"/>
              </a:rPr>
              <a:t>,  </a:t>
            </a:r>
            <a:endParaRPr lang="uz-Cyrl-UZ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14282" y="785794"/>
            <a:ext cx="8786874" cy="585791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defRPr/>
            </a:pPr>
            <a:r>
              <a:rPr lang="uz-Cyrl-UZ" sz="2200">
                <a:solidFill>
                  <a:srgbClr val="00246C"/>
                </a:solidFill>
              </a:rPr>
              <a:t>  </a:t>
            </a:r>
            <a:r>
              <a:rPr lang="uz-Cyrl-UZ" sz="2200" i="1">
                <a:solidFill>
                  <a:srgbClr val="00246C"/>
                </a:solidFill>
              </a:rPr>
              <a:t>Тарқалиш тамойили тушунчасини қатъий лавин </a:t>
            </a:r>
            <a:r>
              <a:rPr lang="uz-Cyrl-UZ" sz="2200">
                <a:solidFill>
                  <a:srgbClr val="00246C"/>
                </a:solidFill>
              </a:rPr>
              <a:t>самарадорлик </a:t>
            </a:r>
            <a:r>
              <a:rPr lang="uz-Cyrl-UZ" sz="2200" i="1">
                <a:solidFill>
                  <a:srgbClr val="00246C"/>
                </a:solidFill>
              </a:rPr>
              <a:t>(КСЛЭ) тушунчасининг умумлашгани деб тушиниш мумкин, яъни    </a:t>
            </a:r>
            <a:r>
              <a:rPr lang="uz-Cyrl-UZ" sz="2200">
                <a:solidFill>
                  <a:schemeClr val="tx1"/>
                </a:solidFill>
              </a:rPr>
              <a:t>КР = РС(1) </a:t>
            </a:r>
            <a:r>
              <a:rPr lang="uz-Cyrl-UZ" sz="2200" i="1">
                <a:solidFill>
                  <a:srgbClr val="00246C"/>
                </a:solidFill>
              </a:rPr>
              <a:t>га эквивалент .</a:t>
            </a:r>
          </a:p>
          <a:p>
            <a:pPr>
              <a:defRPr/>
            </a:pPr>
            <a:endParaRPr lang="uz-Cyrl-UZ" sz="2200" i="1">
              <a:solidFill>
                <a:srgbClr val="00246C"/>
              </a:solidFill>
            </a:endParaRPr>
          </a:p>
          <a:p>
            <a:pPr>
              <a:defRPr/>
            </a:pPr>
            <a:r>
              <a:rPr lang="uz-Cyrl-UZ" sz="2200" i="1">
                <a:solidFill>
                  <a:srgbClr val="00246C"/>
                </a:solidFill>
              </a:rPr>
              <a:t> </a:t>
            </a:r>
            <a:r>
              <a:rPr lang="uz-Cyrl-UZ" sz="2200" i="1">
                <a:solidFill>
                  <a:srgbClr val="0000FF"/>
                </a:solidFill>
              </a:rPr>
              <a:t>Таъриф. </a:t>
            </a:r>
            <a:r>
              <a:rPr lang="uz-Cyrl-UZ" sz="2200" i="1">
                <a:solidFill>
                  <a:srgbClr val="00246C"/>
                </a:solidFill>
              </a:rPr>
              <a:t>Берилган           , </a:t>
            </a:r>
            <a:r>
              <a:rPr lang="ru-RU" sz="2200" i="1">
                <a:solidFill>
                  <a:srgbClr val="00246C"/>
                </a:solidFill>
              </a:rPr>
              <a:t>                        </a:t>
            </a:r>
            <a:r>
              <a:rPr lang="uz-Cyrl-UZ" sz="2200" i="1">
                <a:solidFill>
                  <a:srgbClr val="00246C"/>
                </a:solidFill>
              </a:rPr>
              <a:t>буль функция “</a:t>
            </a:r>
            <a:r>
              <a:rPr lang="uz-Cyrl-UZ" sz="2200" i="1">
                <a:solidFill>
                  <a:srgbClr val="0000FF"/>
                </a:solidFill>
              </a:rPr>
              <a:t>е</a:t>
            </a:r>
            <a:r>
              <a:rPr lang="uz-Cyrl-UZ" sz="2200" i="1">
                <a:solidFill>
                  <a:srgbClr val="00246C"/>
                </a:solidFill>
              </a:rPr>
              <a:t>” – даражали тарқалиш тамойилига эга дейилади, агар </a:t>
            </a:r>
            <a:r>
              <a:rPr lang="ru-RU" sz="2200" i="1">
                <a:solidFill>
                  <a:srgbClr val="00246C"/>
                </a:solidFill>
              </a:rPr>
              <a:t>           </a:t>
            </a:r>
            <a:r>
              <a:rPr lang="uz-Cyrl-UZ" sz="2200" i="1">
                <a:solidFill>
                  <a:srgbClr val="00246C"/>
                </a:solidFill>
              </a:rPr>
              <a:t>буль функция ва  Хемминг  ўлчови                              </a:t>
            </a:r>
            <a:r>
              <a:rPr lang="ru-RU" sz="2200" i="1">
                <a:solidFill>
                  <a:srgbClr val="00246C"/>
                </a:solidFill>
              </a:rPr>
              <a:t> </a:t>
            </a:r>
            <a:r>
              <a:rPr lang="uz-Cyrl-UZ" sz="2200" i="1">
                <a:solidFill>
                  <a:srgbClr val="00246C"/>
                </a:solidFill>
              </a:rPr>
              <a:t>оралиқда бўлган барча</a:t>
            </a:r>
            <a:r>
              <a:rPr lang="ru-RU" sz="2200" i="1">
                <a:solidFill>
                  <a:srgbClr val="00246C"/>
                </a:solidFill>
              </a:rPr>
              <a:t> </a:t>
            </a:r>
            <a:r>
              <a:rPr lang="uz-Cyrl-UZ" sz="2200" i="1">
                <a:solidFill>
                  <a:srgbClr val="00246C"/>
                </a:solidFill>
              </a:rPr>
              <a:t>                       - векторлар учун  қуйидаги тенглик ўринли бўлса:  </a:t>
            </a:r>
          </a:p>
          <a:p>
            <a:pPr>
              <a:defRPr/>
            </a:pPr>
            <a:r>
              <a:rPr lang="uz-Cyrl-UZ" sz="2200" i="1">
                <a:solidFill>
                  <a:srgbClr val="00246C"/>
                </a:solidFill>
              </a:rPr>
              <a:t> </a:t>
            </a:r>
          </a:p>
          <a:p>
            <a:pPr>
              <a:defRPr/>
            </a:pPr>
            <a:r>
              <a:rPr lang="en-US" sz="2200" i="1">
                <a:solidFill>
                  <a:srgbClr val="00246C"/>
                </a:solidFill>
              </a:rPr>
              <a:t>  </a:t>
            </a:r>
            <a:r>
              <a:rPr lang="uz-Cyrl-UZ" sz="2200" i="1">
                <a:solidFill>
                  <a:srgbClr val="00246C"/>
                </a:solidFill>
              </a:rPr>
              <a:t>                 </a:t>
            </a:r>
          </a:p>
          <a:p>
            <a:pPr algn="just">
              <a:defRPr/>
            </a:pPr>
            <a:endParaRPr lang="ru-RU" sz="2200">
              <a:solidFill>
                <a:srgbClr val="00246C"/>
              </a:solidFill>
            </a:endParaRPr>
          </a:p>
          <a:p>
            <a:pPr algn="just">
              <a:defRPr/>
            </a:pPr>
            <a:endParaRPr lang="uz-Cyrl-UZ" sz="2200">
              <a:solidFill>
                <a:srgbClr val="00246C"/>
              </a:solidFill>
            </a:endParaRPr>
          </a:p>
          <a:p>
            <a:pPr>
              <a:defRPr/>
            </a:pPr>
            <a:endParaRPr lang="ru-RU" sz="2200">
              <a:solidFill>
                <a:srgbClr val="00246C"/>
              </a:solidFill>
            </a:endParaRPr>
          </a:p>
          <a:p>
            <a:pPr algn="just">
              <a:defRPr/>
            </a:pP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92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28" name="TextBox 6"/>
          <p:cNvSpPr txBox="1">
            <a:spLocks noChangeArrowheads="1"/>
          </p:cNvSpPr>
          <p:nvPr/>
        </p:nvSpPr>
        <p:spPr bwMode="auto">
          <a:xfrm>
            <a:off x="1428750" y="142875"/>
            <a:ext cx="6724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ru-RU" sz="2400" b="1" i="1">
                <a:solidFill>
                  <a:srgbClr val="00246C"/>
                </a:solidFill>
                <a:latin typeface="Times New Roman" pitchFamily="18" charset="0"/>
                <a:cs typeface="Times New Roman" pitchFamily="18" charset="0"/>
              </a:rPr>
              <a:t>Буль функцияларнинг тарқалиш </a:t>
            </a:r>
            <a:r>
              <a:rPr lang="uz-Cyrl-UZ" sz="2400" b="1" i="1">
                <a:solidFill>
                  <a:srgbClr val="00246C"/>
                </a:solidFill>
                <a:latin typeface="Times New Roman" pitchFamily="18" charset="0"/>
                <a:cs typeface="Times New Roman" pitchFamily="18" charset="0"/>
              </a:rPr>
              <a:t>тамойиллари.</a:t>
            </a:r>
            <a:endParaRPr lang="ru-RU" sz="2400" b="1" i="1">
              <a:solidFill>
                <a:srgbClr val="00246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57188" y="571500"/>
            <a:ext cx="8572500" cy="158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9239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643188" y="2214563"/>
          <a:ext cx="5715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name="Формула" r:id="rId4" imgW="342751" imgH="203112" progId="Equation.3">
                  <p:embed/>
                </p:oleObj>
              </mc:Choice>
              <mc:Fallback>
                <p:oleObj name="Формула" r:id="rId4" imgW="342751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2214563"/>
                        <a:ext cx="5715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3286125" y="2143125"/>
          <a:ext cx="12858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name="Формула" r:id="rId6" imgW="1227726" imgH="368318" progId="Equation.3">
                  <p:embed/>
                </p:oleObj>
              </mc:Choice>
              <mc:Fallback>
                <p:oleObj name="Формула" r:id="rId6" imgW="1227726" imgH="3683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2143125"/>
                        <a:ext cx="128587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2428875" y="2857500"/>
          <a:ext cx="17145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Формула" r:id="rId8" imgW="863225" imgH="203112" progId="Equation.3">
                  <p:embed/>
                </p:oleObj>
              </mc:Choice>
              <mc:Fallback>
                <p:oleObj name="Формула" r:id="rId8" imgW="863225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2857500"/>
                        <a:ext cx="17145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5643563" y="2571750"/>
          <a:ext cx="5715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Формула" r:id="rId10" imgW="342751" imgH="203112" progId="Equation.3">
                  <p:embed/>
                </p:oleObj>
              </mc:Choice>
              <mc:Fallback>
                <p:oleObj name="Формула" r:id="rId10" imgW="342751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2571750"/>
                        <a:ext cx="5715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7215188" y="2857500"/>
          <a:ext cx="13573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2857500"/>
                        <a:ext cx="135731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9223" name="Object 14"/>
          <p:cNvGraphicFramePr>
            <a:graphicFrameLocks noChangeAspect="1"/>
          </p:cNvGraphicFramePr>
          <p:nvPr/>
        </p:nvGraphicFramePr>
        <p:xfrm>
          <a:off x="2214563" y="3857625"/>
          <a:ext cx="471487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" name="Формула" r:id="rId13" imgW="1536700" imgH="469900" progId="Equation.3">
                  <p:embed/>
                </p:oleObj>
              </mc:Choice>
              <mc:Fallback>
                <p:oleObj name="Формула" r:id="rId13" imgW="1536700" imgH="469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857625"/>
                        <a:ext cx="4714875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/>
          <p:cNvSpPr/>
          <p:nvPr/>
        </p:nvSpPr>
        <p:spPr>
          <a:xfrm>
            <a:off x="214313" y="2071688"/>
            <a:ext cx="8643937" cy="4572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2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5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5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59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6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61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62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63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026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26" name="Прямоугольник 25"/>
          <p:cNvSpPr/>
          <p:nvPr/>
        </p:nvSpPr>
        <p:spPr>
          <a:xfrm>
            <a:off x="285720" y="3643314"/>
            <a:ext cx="3929090" cy="1285884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ru-RU"/>
              <a:t>   </a:t>
            </a:r>
            <a:r>
              <a:rPr lang="ru-RU">
                <a:solidFill>
                  <a:srgbClr val="00246C"/>
                </a:solidFill>
              </a:rPr>
              <a:t>Акслантиришга мос буль функция </a:t>
            </a:r>
          </a:p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 компоненталарини </a:t>
            </a:r>
            <a:r>
              <a:rPr lang="uz-Cyrl-UZ">
                <a:solidFill>
                  <a:srgbClr val="00246C"/>
                </a:solidFill>
              </a:rPr>
              <a:t>қ</a:t>
            </a:r>
            <a:r>
              <a:rPr lang="ru-RU">
                <a:solidFill>
                  <a:srgbClr val="00246C"/>
                </a:solidFill>
              </a:rPr>
              <a:t>уриш.     </a:t>
            </a:r>
          </a:p>
          <a:p>
            <a:pPr algn="ctr">
              <a:defRPr/>
            </a:pPr>
            <a:r>
              <a:rPr lang="ru-RU">
                <a:solidFill>
                  <a:srgbClr val="00246C"/>
                </a:solidFill>
              </a:rPr>
              <a:t>ДНФ, Жегалкин кўпҳади (АНФ)</a:t>
            </a:r>
          </a:p>
          <a:p>
            <a:pPr algn="ctr">
              <a:defRPr/>
            </a:pPr>
            <a:endParaRPr lang="ru-RU"/>
          </a:p>
        </p:txBody>
      </p:sp>
      <p:sp>
        <p:nvSpPr>
          <p:cNvPr id="29" name="Блок-схема: знак завершения 28"/>
          <p:cNvSpPr/>
          <p:nvPr/>
        </p:nvSpPr>
        <p:spPr>
          <a:xfrm>
            <a:off x="3000364" y="142852"/>
            <a:ext cx="3071834" cy="500066"/>
          </a:xfrm>
          <a:prstGeom prst="flowChartTerminator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 b="1">
                <a:solidFill>
                  <a:srgbClr val="0037A4"/>
                </a:solidFill>
              </a:rPr>
              <a:t>Бошланиш</a:t>
            </a:r>
            <a:endParaRPr lang="ru-RU" b="1">
              <a:solidFill>
                <a:srgbClr val="0037A4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285720" y="5214094"/>
            <a:ext cx="3929090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uz-Cyrl-UZ"/>
              <a:t>     </a:t>
            </a:r>
            <a:r>
              <a:rPr lang="uz-Cyrl-UZ">
                <a:solidFill>
                  <a:srgbClr val="00246C"/>
                </a:solidFill>
              </a:rPr>
              <a:t>Буль функция компоненталари</a:t>
            </a:r>
          </a:p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 учун балансланганлик  ва регуляр лик  шартларини  текшириш</a:t>
            </a:r>
          </a:p>
          <a:p>
            <a:pPr algn="just">
              <a:defRPr/>
            </a:pPr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4786314" y="2143972"/>
            <a:ext cx="3929090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    Буль функция компоненталари</a:t>
            </a:r>
          </a:p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 </a:t>
            </a:r>
            <a:r>
              <a:rPr lang="ru-RU">
                <a:solidFill>
                  <a:srgbClr val="00246C"/>
                </a:solidFill>
              </a:rPr>
              <a:t>ва барча</a:t>
            </a:r>
            <a:r>
              <a:rPr lang="en-US">
                <a:solidFill>
                  <a:srgbClr val="00246C"/>
                </a:solidFill>
              </a:rPr>
              <a:t> </a:t>
            </a:r>
            <a:r>
              <a:rPr lang="ru-RU">
                <a:solidFill>
                  <a:srgbClr val="00246C"/>
                </a:solidFill>
              </a:rPr>
              <a:t>      </a:t>
            </a:r>
            <a:r>
              <a:rPr lang="en-US">
                <a:solidFill>
                  <a:schemeClr val="tx1"/>
                </a:solidFill>
              </a:rPr>
              <a:t>                </a:t>
            </a:r>
            <a:r>
              <a:rPr lang="uz-Cyrl-UZ">
                <a:solidFill>
                  <a:srgbClr val="00246C"/>
                </a:solidFill>
              </a:rPr>
              <a:t>векторлар </a:t>
            </a:r>
            <a:r>
              <a:rPr lang="ru-RU">
                <a:solidFill>
                  <a:srgbClr val="00246C"/>
                </a:solidFill>
              </a:rPr>
              <a:t>учун</a:t>
            </a:r>
            <a:r>
              <a:rPr lang="en-US">
                <a:solidFill>
                  <a:srgbClr val="00246C"/>
                </a:solidFill>
              </a:rPr>
              <a:t> </a:t>
            </a:r>
            <a:r>
              <a:rPr lang="uz-Cyrl-UZ">
                <a:solidFill>
                  <a:srgbClr val="00246C"/>
                </a:solidFill>
              </a:rPr>
              <a:t>Уолш-Адамар алмаштиришини</a:t>
            </a:r>
            <a:endParaRPr lang="en-US">
              <a:solidFill>
                <a:srgbClr val="00246C"/>
              </a:solidFill>
            </a:endParaRPr>
          </a:p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ҳисоблаш                    ,</a:t>
            </a:r>
            <a:endParaRPr lang="ru-RU">
              <a:solidFill>
                <a:srgbClr val="00246C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4786314" y="3644170"/>
            <a:ext cx="3929090" cy="1285884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uz-Cyrl-UZ"/>
              <a:t>      </a:t>
            </a:r>
            <a:r>
              <a:rPr lang="uz-Cyrl-UZ">
                <a:solidFill>
                  <a:srgbClr val="00246C"/>
                </a:solidFill>
              </a:rPr>
              <a:t>Буль функция компоненталари</a:t>
            </a:r>
          </a:p>
          <a:p>
            <a:pPr>
              <a:defRPr/>
            </a:pPr>
            <a:r>
              <a:rPr lang="uz-Cyrl-UZ">
                <a:solidFill>
                  <a:srgbClr val="00246C"/>
                </a:solidFill>
              </a:rPr>
              <a:t>   нинг чизиқсизлик даражасини  </a:t>
            </a:r>
          </a:p>
          <a:p>
            <a:pPr>
              <a:defRPr/>
            </a:pPr>
            <a:r>
              <a:rPr lang="uz-Cyrl-UZ">
                <a:solidFill>
                  <a:srgbClr val="00246C"/>
                </a:solidFill>
              </a:rPr>
              <a:t>   ҳисоблаш.      </a:t>
            </a:r>
          </a:p>
          <a:p>
            <a:pPr algn="ctr">
              <a:defRPr/>
            </a:pPr>
            <a:r>
              <a:rPr lang="uz-Cyrl-UZ"/>
              <a:t>,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4786314" y="5214950"/>
            <a:ext cx="3929090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>
                <a:solidFill>
                  <a:srgbClr val="00246C"/>
                </a:solidFill>
              </a:rPr>
              <a:t>Умумий акслантириш учун чизиқсизлик ва чизиқлилик даражаларини ҳисоблаш</a:t>
            </a:r>
          </a:p>
          <a:p>
            <a:pPr algn="ctr">
              <a:defRPr/>
            </a:pPr>
            <a:r>
              <a:rPr lang="uz-Cyrl-UZ"/>
              <a:t>,</a:t>
            </a:r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285720" y="2143116"/>
            <a:ext cx="3929090" cy="12144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Акслантиришнинг кириш ва чиқиш битларига мос чинлик жадвалини қуриш </a:t>
            </a:r>
          </a:p>
          <a:p>
            <a:pPr algn="ctr">
              <a:defRPr/>
            </a:pPr>
            <a:endParaRPr lang="ru-RU"/>
          </a:p>
        </p:txBody>
      </p:sp>
      <p:sp>
        <p:nvSpPr>
          <p:cNvPr id="40" name="Параллелограмм 39"/>
          <p:cNvSpPr/>
          <p:nvPr/>
        </p:nvSpPr>
        <p:spPr>
          <a:xfrm>
            <a:off x="785786" y="942964"/>
            <a:ext cx="7929618" cy="771524"/>
          </a:xfrm>
          <a:prstGeom prst="parallelogram">
            <a:avLst>
              <a:gd name="adj" fmla="val 25000"/>
            </a:avLst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r">
              <a:defRPr/>
            </a:pPr>
            <a:r>
              <a:rPr lang="uz-Cyrl-UZ" sz="2000"/>
              <a:t>-  </a:t>
            </a:r>
            <a:r>
              <a:rPr lang="uz-Cyrl-UZ" sz="2000">
                <a:solidFill>
                  <a:srgbClr val="00246C"/>
                </a:solidFill>
              </a:rPr>
              <a:t>акслантириш</a:t>
            </a:r>
          </a:p>
        </p:txBody>
      </p:sp>
      <p:sp>
        <p:nvSpPr>
          <p:cNvPr id="102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7345" name="Object 2"/>
          <p:cNvGraphicFramePr>
            <a:graphicFrameLocks noChangeAspect="1"/>
          </p:cNvGraphicFramePr>
          <p:nvPr/>
        </p:nvGraphicFramePr>
        <p:xfrm>
          <a:off x="5857875" y="2411413"/>
          <a:ext cx="11430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" name="Формула" r:id="rId4" imgW="761760" imgH="228600" progId="Equation.3">
                  <p:embed/>
                </p:oleObj>
              </mc:Choice>
              <mc:Fallback>
                <p:oleObj name="Формула" r:id="rId4" imgW="76176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2411413"/>
                        <a:ext cx="1143000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642938" y="4573588"/>
          <a:ext cx="307181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" name="Формула" r:id="rId6" imgW="1892160" imgH="228600" progId="Equation.3">
                  <p:embed/>
                </p:oleObj>
              </mc:Choice>
              <mc:Fallback>
                <p:oleObj name="Формула" r:id="rId6" imgW="18921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4573588"/>
                        <a:ext cx="3071812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2000250" y="1158875"/>
          <a:ext cx="4000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Формула" r:id="rId8" imgW="1879560" imgH="228600" progId="Equation.3">
                  <p:embed/>
                </p:oleObj>
              </mc:Choice>
              <mc:Fallback>
                <p:oleObj name="Формула" r:id="rId8" imgW="18795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158875"/>
                        <a:ext cx="4000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7351" name="Object 5"/>
          <p:cNvGraphicFramePr>
            <a:graphicFrameLocks noChangeAspect="1"/>
          </p:cNvGraphicFramePr>
          <p:nvPr/>
        </p:nvGraphicFramePr>
        <p:xfrm>
          <a:off x="1143000" y="2930525"/>
          <a:ext cx="30003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" name="Формула" r:id="rId10" imgW="1930320" imgH="228600" progId="Equation.3">
                  <p:embed/>
                </p:oleObj>
              </mc:Choice>
              <mc:Fallback>
                <p:oleObj name="Формула" r:id="rId10" imgW="19303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30525"/>
                        <a:ext cx="300037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6"/>
          <p:cNvGraphicFramePr>
            <a:graphicFrameLocks noChangeAspect="1"/>
          </p:cNvGraphicFramePr>
          <p:nvPr/>
        </p:nvGraphicFramePr>
        <p:xfrm>
          <a:off x="5929313" y="4502150"/>
          <a:ext cx="84613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Формула" r:id="rId12" imgW="406080" imgH="228600" progId="Equation.3">
                  <p:embed/>
                </p:oleObj>
              </mc:Choice>
              <mc:Fallback>
                <p:oleObj name="Формула" r:id="rId12" imgW="4060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4502150"/>
                        <a:ext cx="846137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7"/>
          <p:cNvGraphicFramePr>
            <a:graphicFrameLocks noChangeAspect="1"/>
          </p:cNvGraphicFramePr>
          <p:nvPr/>
        </p:nvGraphicFramePr>
        <p:xfrm>
          <a:off x="6929438" y="4546600"/>
          <a:ext cx="100488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Формула" r:id="rId14" imgW="482400" imgH="177480" progId="Equation.3">
                  <p:embed/>
                </p:oleObj>
              </mc:Choice>
              <mc:Fallback>
                <p:oleObj name="Формула" r:id="rId14" imgW="48240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4546600"/>
                        <a:ext cx="1004887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5" name="Object 8"/>
          <p:cNvGraphicFramePr>
            <a:graphicFrameLocks noChangeAspect="1"/>
          </p:cNvGraphicFramePr>
          <p:nvPr/>
        </p:nvGraphicFramePr>
        <p:xfrm>
          <a:off x="5929313" y="6072188"/>
          <a:ext cx="7667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Формула" r:id="rId16" imgW="368280" imgH="203040" progId="Equation.3">
                  <p:embed/>
                </p:oleObj>
              </mc:Choice>
              <mc:Fallback>
                <p:oleObj name="Формула" r:id="rId16" imgW="36828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6072188"/>
                        <a:ext cx="766762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9"/>
          <p:cNvGraphicFramePr>
            <a:graphicFrameLocks noChangeAspect="1"/>
          </p:cNvGraphicFramePr>
          <p:nvPr/>
        </p:nvGraphicFramePr>
        <p:xfrm>
          <a:off x="6858000" y="6072188"/>
          <a:ext cx="71278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" name="Формула" r:id="rId18" imgW="342720" imgH="203040" progId="Equation.3">
                  <p:embed/>
                </p:oleObj>
              </mc:Choice>
              <mc:Fallback>
                <p:oleObj name="Формула" r:id="rId18" imgW="34272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6072188"/>
                        <a:ext cx="71278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7358" name="Object 10"/>
          <p:cNvGraphicFramePr>
            <a:graphicFrameLocks noChangeAspect="1"/>
          </p:cNvGraphicFramePr>
          <p:nvPr/>
        </p:nvGraphicFramePr>
        <p:xfrm>
          <a:off x="428625" y="6072188"/>
          <a:ext cx="364331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" name="Формула" r:id="rId20" imgW="2336800" imgH="228600" progId="Equation.3">
                  <p:embed/>
                </p:oleObj>
              </mc:Choice>
              <mc:Fallback>
                <p:oleObj name="Формула" r:id="rId20" imgW="23368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6072188"/>
                        <a:ext cx="3643313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Стрелка вниз 42"/>
          <p:cNvSpPr/>
          <p:nvPr/>
        </p:nvSpPr>
        <p:spPr>
          <a:xfrm>
            <a:off x="2071670" y="3357562"/>
            <a:ext cx="214314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4" name="Стрелка вниз 43"/>
          <p:cNvSpPr/>
          <p:nvPr/>
        </p:nvSpPr>
        <p:spPr>
          <a:xfrm>
            <a:off x="2071670" y="4929198"/>
            <a:ext cx="214314" cy="214314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5" name="Стрелка вниз 44"/>
          <p:cNvSpPr/>
          <p:nvPr/>
        </p:nvSpPr>
        <p:spPr>
          <a:xfrm>
            <a:off x="6715140" y="3357562"/>
            <a:ext cx="214314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6" name="Стрелка вниз 45"/>
          <p:cNvSpPr/>
          <p:nvPr/>
        </p:nvSpPr>
        <p:spPr>
          <a:xfrm>
            <a:off x="6715140" y="4929198"/>
            <a:ext cx="214314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2" name="Object 11"/>
          <p:cNvGraphicFramePr>
            <a:graphicFrameLocks noChangeAspect="1"/>
          </p:cNvGraphicFramePr>
          <p:nvPr/>
        </p:nvGraphicFramePr>
        <p:xfrm>
          <a:off x="7000875" y="3000375"/>
          <a:ext cx="6826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" name="Формула" r:id="rId22" imgW="444240" imgH="241200" progId="Equation.3">
                  <p:embed/>
                </p:oleObj>
              </mc:Choice>
              <mc:Fallback>
                <p:oleObj name="Формула" r:id="rId22" imgW="44424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3000375"/>
                        <a:ext cx="68262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2"/>
          <p:cNvGraphicFramePr>
            <a:graphicFrameLocks noChangeAspect="1"/>
          </p:cNvGraphicFramePr>
          <p:nvPr/>
        </p:nvGraphicFramePr>
        <p:xfrm>
          <a:off x="6215063" y="3000375"/>
          <a:ext cx="6826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4" name="Формула" r:id="rId24" imgW="444240" imgH="241200" progId="Equation.3">
                  <p:embed/>
                </p:oleObj>
              </mc:Choice>
              <mc:Fallback>
                <p:oleObj name="Формула" r:id="rId24" imgW="44424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3000375"/>
                        <a:ext cx="68262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Стрелка вниз 69"/>
          <p:cNvSpPr/>
          <p:nvPr/>
        </p:nvSpPr>
        <p:spPr>
          <a:xfrm>
            <a:off x="4357686" y="1714488"/>
            <a:ext cx="357190" cy="285752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1" name="Стрелка вниз 70"/>
          <p:cNvSpPr/>
          <p:nvPr/>
        </p:nvSpPr>
        <p:spPr>
          <a:xfrm>
            <a:off x="4429124" y="642918"/>
            <a:ext cx="285752" cy="285752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70" grpId="0" animBg="1"/>
      <p:bldP spid="7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62"/>
          <p:cNvSpPr/>
          <p:nvPr/>
        </p:nvSpPr>
        <p:spPr>
          <a:xfrm>
            <a:off x="214313" y="142875"/>
            <a:ext cx="8786812" cy="29289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2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5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7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8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30" name="Прямоугольник 29"/>
          <p:cNvSpPr/>
          <p:nvPr/>
        </p:nvSpPr>
        <p:spPr>
          <a:xfrm>
            <a:off x="357158" y="1714488"/>
            <a:ext cx="4071966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uz-Cyrl-UZ"/>
              <a:t>      </a:t>
            </a:r>
          </a:p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     Буль функция компоненталари</a:t>
            </a:r>
          </a:p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 </a:t>
            </a:r>
            <a:r>
              <a:rPr lang="ru-RU">
                <a:solidFill>
                  <a:srgbClr val="00246C"/>
                </a:solidFill>
              </a:rPr>
              <a:t>ва барча                                </a:t>
            </a:r>
            <a:r>
              <a:rPr lang="uz-Cyrl-UZ">
                <a:solidFill>
                  <a:srgbClr val="00246C"/>
                </a:solidFill>
              </a:rPr>
              <a:t>векторларга </a:t>
            </a:r>
          </a:p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нисбатан автокорреляция                 ни</a:t>
            </a:r>
          </a:p>
          <a:p>
            <a:pPr algn="just">
              <a:defRPr/>
            </a:pPr>
            <a:r>
              <a:rPr lang="uz-Cyrl-UZ">
                <a:solidFill>
                  <a:srgbClr val="00246C"/>
                </a:solidFill>
              </a:rPr>
              <a:t>ҳисоблаш</a:t>
            </a:r>
            <a:endParaRPr lang="ru-RU">
              <a:solidFill>
                <a:srgbClr val="00246C"/>
              </a:solidFill>
            </a:endParaRPr>
          </a:p>
          <a:p>
            <a:pPr algn="just">
              <a:defRPr/>
            </a:pPr>
            <a:r>
              <a:rPr lang="ru-RU"/>
              <a:t> 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357158" y="214290"/>
            <a:ext cx="4071966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   Буль функция барча          , </a:t>
            </a:r>
          </a:p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компоненталари  учун корреляцион</a:t>
            </a:r>
          </a:p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иммунистлик </a:t>
            </a:r>
            <a:r>
              <a:rPr lang="en-US">
                <a:solidFill>
                  <a:srgbClr val="00246C"/>
                </a:solidFill>
              </a:rPr>
              <a:t> </a:t>
            </a:r>
            <a:r>
              <a:rPr lang="ru-RU">
                <a:solidFill>
                  <a:srgbClr val="00246C"/>
                </a:solidFill>
              </a:rPr>
              <a:t>даражасини топиш </a:t>
            </a:r>
          </a:p>
          <a:p>
            <a:pPr>
              <a:defRPr/>
            </a:pPr>
            <a:r>
              <a:rPr lang="ru-RU"/>
              <a:t>                                     ,</a:t>
            </a:r>
          </a:p>
        </p:txBody>
      </p:sp>
      <p:sp>
        <p:nvSpPr>
          <p:cNvPr id="112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8371" name="Object 2"/>
          <p:cNvGraphicFramePr>
            <a:graphicFrameLocks noChangeAspect="1"/>
          </p:cNvGraphicFramePr>
          <p:nvPr/>
        </p:nvGraphicFramePr>
        <p:xfrm>
          <a:off x="2500313" y="1071563"/>
          <a:ext cx="10001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8" name="Формула" r:id="rId4" imgW="571004" imgH="177646" progId="Equation.3">
                  <p:embed/>
                </p:oleObj>
              </mc:Choice>
              <mc:Fallback>
                <p:oleObj name="Формула" r:id="rId4" imgW="571004" imgH="1776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071563"/>
                        <a:ext cx="10001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3"/>
          <p:cNvGraphicFramePr>
            <a:graphicFrameLocks noChangeAspect="1"/>
          </p:cNvGraphicFramePr>
          <p:nvPr/>
        </p:nvGraphicFramePr>
        <p:xfrm>
          <a:off x="1500188" y="1071563"/>
          <a:ext cx="8572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9" name="Формула" r:id="rId6" imgW="393480" imgH="203040" progId="Equation.3">
                  <p:embed/>
                </p:oleObj>
              </mc:Choice>
              <mc:Fallback>
                <p:oleObj name="Формула" r:id="rId6" imgW="39348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1071563"/>
                        <a:ext cx="85725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4"/>
          <p:cNvGraphicFramePr>
            <a:graphicFrameLocks noChangeAspect="1"/>
          </p:cNvGraphicFramePr>
          <p:nvPr/>
        </p:nvGraphicFramePr>
        <p:xfrm>
          <a:off x="2786063" y="214313"/>
          <a:ext cx="4286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0" name="Формула" r:id="rId8" imgW="152280" imgH="228600" progId="Equation.3">
                  <p:embed/>
                </p:oleObj>
              </mc:Choice>
              <mc:Fallback>
                <p:oleObj name="Формула" r:id="rId8" imgW="1522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214313"/>
                        <a:ext cx="4286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5"/>
          <p:cNvGraphicFramePr>
            <a:graphicFrameLocks noChangeAspect="1"/>
          </p:cNvGraphicFramePr>
          <p:nvPr/>
        </p:nvGraphicFramePr>
        <p:xfrm>
          <a:off x="3357563" y="214313"/>
          <a:ext cx="100488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1" name="Формула" r:id="rId10" imgW="482400" imgH="177480" progId="Equation.3">
                  <p:embed/>
                </p:oleObj>
              </mc:Choice>
              <mc:Fallback>
                <p:oleObj name="Формула" r:id="rId10" imgW="48240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214313"/>
                        <a:ext cx="1004887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6"/>
          <p:cNvGraphicFramePr>
            <a:graphicFrameLocks noChangeAspect="1"/>
          </p:cNvGraphicFramePr>
          <p:nvPr/>
        </p:nvGraphicFramePr>
        <p:xfrm>
          <a:off x="1500188" y="2000250"/>
          <a:ext cx="14287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2" name="Формула" r:id="rId12" imgW="761760" imgH="228600" progId="Equation.3">
                  <p:embed/>
                </p:oleObj>
              </mc:Choice>
              <mc:Fallback>
                <p:oleObj name="Формула" r:id="rId12" imgW="7617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2000250"/>
                        <a:ext cx="142875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8377" name="Object 7"/>
          <p:cNvGraphicFramePr>
            <a:graphicFrameLocks noChangeAspect="1"/>
          </p:cNvGraphicFramePr>
          <p:nvPr/>
        </p:nvGraphicFramePr>
        <p:xfrm>
          <a:off x="3357563" y="2214563"/>
          <a:ext cx="571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3" name="Формула" r:id="rId14" imgW="393480" imgH="241200" progId="Equation.3">
                  <p:embed/>
                </p:oleObj>
              </mc:Choice>
              <mc:Fallback>
                <p:oleObj name="Формула" r:id="rId14" imgW="39348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2214563"/>
                        <a:ext cx="571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Прямоугольник 36"/>
          <p:cNvSpPr/>
          <p:nvPr/>
        </p:nvSpPr>
        <p:spPr>
          <a:xfrm>
            <a:off x="4786314" y="214290"/>
            <a:ext cx="4071966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ru-RU"/>
              <a:t>   </a:t>
            </a:r>
          </a:p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Буль функция барча           , </a:t>
            </a:r>
          </a:p>
          <a:p>
            <a:pPr>
              <a:defRPr/>
            </a:pPr>
            <a:r>
              <a:rPr lang="ru-RU">
                <a:solidFill>
                  <a:srgbClr val="00246C"/>
                </a:solidFill>
              </a:rPr>
              <a:t>компоненталари  учун </a:t>
            </a:r>
            <a:r>
              <a:rPr lang="uz-Cyrl-UZ">
                <a:solidFill>
                  <a:srgbClr val="00246C"/>
                </a:solidFill>
              </a:rPr>
              <a:t>қаътий лавин самарадорлик тартибини топиш</a:t>
            </a:r>
          </a:p>
          <a:p>
            <a:pPr algn="ctr">
              <a:defRPr/>
            </a:pPr>
            <a:r>
              <a:rPr lang="uz-Cyrl-UZ" sz="2000" i="1"/>
              <a:t>SAC(k) </a:t>
            </a:r>
            <a:endParaRPr lang="ru-RU" sz="2000" i="1"/>
          </a:p>
          <a:p>
            <a:pPr algn="just">
              <a:defRPr/>
            </a:pPr>
            <a:endParaRPr lang="ru-RU"/>
          </a:p>
        </p:txBody>
      </p:sp>
      <p:graphicFrame>
        <p:nvGraphicFramePr>
          <p:cNvPr id="58379" name="Object 8"/>
          <p:cNvGraphicFramePr>
            <a:graphicFrameLocks noChangeAspect="1"/>
          </p:cNvGraphicFramePr>
          <p:nvPr/>
        </p:nvGraphicFramePr>
        <p:xfrm>
          <a:off x="7143750" y="214313"/>
          <a:ext cx="4286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4" name="Формула" r:id="rId16" imgW="152280" imgH="228600" progId="Equation.3">
                  <p:embed/>
                </p:oleObj>
              </mc:Choice>
              <mc:Fallback>
                <p:oleObj name="Формула" r:id="rId16" imgW="1522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214313"/>
                        <a:ext cx="4286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9"/>
          <p:cNvGraphicFramePr>
            <a:graphicFrameLocks noChangeAspect="1"/>
          </p:cNvGraphicFramePr>
          <p:nvPr/>
        </p:nvGraphicFramePr>
        <p:xfrm>
          <a:off x="7643813" y="214313"/>
          <a:ext cx="100488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5" name="Формула" r:id="rId17" imgW="482400" imgH="177480" progId="Equation.3">
                  <p:embed/>
                </p:oleObj>
              </mc:Choice>
              <mc:Fallback>
                <p:oleObj name="Формула" r:id="rId17" imgW="482400" imgH="177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214313"/>
                        <a:ext cx="1004887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Прямоугольник 39"/>
          <p:cNvSpPr/>
          <p:nvPr/>
        </p:nvSpPr>
        <p:spPr>
          <a:xfrm>
            <a:off x="4786314" y="1714485"/>
            <a:ext cx="4071966" cy="1214446"/>
          </a:xfrm>
          <a:prstGeom prst="rect">
            <a:avLst/>
          </a:prstGeom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ru-RU"/>
              <a:t>   </a:t>
            </a:r>
          </a:p>
          <a:p>
            <a:pPr algn="just">
              <a:defRPr/>
            </a:pPr>
            <a:r>
              <a:rPr lang="ru-RU">
                <a:solidFill>
                  <a:srgbClr val="00246C"/>
                </a:solidFill>
              </a:rPr>
              <a:t>Буль функция барча           , </a:t>
            </a:r>
          </a:p>
          <a:p>
            <a:pPr>
              <a:defRPr/>
            </a:pPr>
            <a:r>
              <a:rPr lang="ru-RU">
                <a:solidFill>
                  <a:srgbClr val="00246C"/>
                </a:solidFill>
              </a:rPr>
              <a:t>компоненталари  учун </a:t>
            </a:r>
            <a:r>
              <a:rPr lang="uz-Cyrl-UZ">
                <a:solidFill>
                  <a:srgbClr val="00246C"/>
                </a:solidFill>
              </a:rPr>
              <a:t>тарқалиш тамойили даражасини топиш</a:t>
            </a:r>
          </a:p>
          <a:p>
            <a:pPr algn="ctr">
              <a:defRPr/>
            </a:pPr>
            <a:r>
              <a:rPr lang="en-US" sz="2000" i="1"/>
              <a:t>PC</a:t>
            </a:r>
            <a:r>
              <a:rPr lang="uz-Cyrl-UZ" sz="2000" i="1"/>
              <a:t>(</a:t>
            </a:r>
            <a:r>
              <a:rPr lang="en-US" sz="2000" i="1"/>
              <a:t>e</a:t>
            </a:r>
            <a:r>
              <a:rPr lang="uz-Cyrl-UZ" sz="2000" i="1"/>
              <a:t>) </a:t>
            </a:r>
            <a:endParaRPr lang="ru-RU" sz="2000" i="1"/>
          </a:p>
          <a:p>
            <a:pPr algn="just">
              <a:defRPr/>
            </a:pPr>
            <a:endParaRPr lang="ru-RU"/>
          </a:p>
        </p:txBody>
      </p:sp>
      <p:graphicFrame>
        <p:nvGraphicFramePr>
          <p:cNvPr id="58381" name="Object 10"/>
          <p:cNvGraphicFramePr>
            <a:graphicFrameLocks noChangeAspect="1"/>
          </p:cNvGraphicFramePr>
          <p:nvPr/>
        </p:nvGraphicFramePr>
        <p:xfrm>
          <a:off x="7143750" y="16430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" name="Формула" r:id="rId18" imgW="152280" imgH="228600" progId="Equation.3">
                  <p:embed/>
                </p:oleObj>
              </mc:Choice>
              <mc:Fallback>
                <p:oleObj name="Формула" r:id="rId18" imgW="15228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1643063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2" name="Object 11"/>
          <p:cNvGraphicFramePr>
            <a:graphicFrameLocks noChangeAspect="1"/>
          </p:cNvGraphicFramePr>
          <p:nvPr/>
        </p:nvGraphicFramePr>
        <p:xfrm>
          <a:off x="7710488" y="1714500"/>
          <a:ext cx="100488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" name="Формула" r:id="rId19" imgW="482400" imgH="177480" progId="Equation.3">
                  <p:embed/>
                </p:oleObj>
              </mc:Choice>
              <mc:Fallback>
                <p:oleObj name="Формула" r:id="rId19" imgW="48240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488" y="1714500"/>
                        <a:ext cx="1004887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Стрелка вниз 34"/>
          <p:cNvSpPr/>
          <p:nvPr/>
        </p:nvSpPr>
        <p:spPr>
          <a:xfrm>
            <a:off x="2214546" y="1428736"/>
            <a:ext cx="214314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6" name="Стрелка вниз 35"/>
          <p:cNvSpPr/>
          <p:nvPr/>
        </p:nvSpPr>
        <p:spPr>
          <a:xfrm>
            <a:off x="6786578" y="1428736"/>
            <a:ext cx="214314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8" name="Блок-схема: знак завершения 37"/>
          <p:cNvSpPr/>
          <p:nvPr/>
        </p:nvSpPr>
        <p:spPr>
          <a:xfrm>
            <a:off x="3143240" y="6215082"/>
            <a:ext cx="3071834" cy="500066"/>
          </a:xfrm>
          <a:prstGeom prst="flowChartTerminator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 b="1">
                <a:solidFill>
                  <a:srgbClr val="0037A4"/>
                </a:solidFill>
              </a:rPr>
              <a:t>Тамом</a:t>
            </a:r>
            <a:endParaRPr lang="ru-RU" b="1">
              <a:solidFill>
                <a:srgbClr val="0037A4"/>
              </a:solidFill>
            </a:endParaRPr>
          </a:p>
        </p:txBody>
      </p:sp>
      <p:sp>
        <p:nvSpPr>
          <p:cNvPr id="41" name="Блок-схема: решение 40"/>
          <p:cNvSpPr/>
          <p:nvPr/>
        </p:nvSpPr>
        <p:spPr>
          <a:xfrm>
            <a:off x="2714612" y="3643314"/>
            <a:ext cx="4000528" cy="1285884"/>
          </a:xfrm>
          <a:prstGeom prst="flowChartDecision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ru-RU" sz="1600">
                <a:solidFill>
                  <a:srgbClr val="00246C"/>
                </a:solidFill>
              </a:rPr>
              <a:t>    Акслантиришни   </a:t>
            </a:r>
          </a:p>
          <a:p>
            <a:pPr algn="just">
              <a:defRPr/>
            </a:pPr>
            <a:r>
              <a:rPr lang="ru-RU" sz="1600">
                <a:solidFill>
                  <a:srgbClr val="00246C"/>
                </a:solidFill>
              </a:rPr>
              <a:t>  умумий талаблар </a:t>
            </a:r>
          </a:p>
          <a:p>
            <a:pPr algn="just">
              <a:defRPr/>
            </a:pPr>
            <a:r>
              <a:rPr lang="ru-RU" sz="1600">
                <a:solidFill>
                  <a:srgbClr val="00246C"/>
                </a:solidFill>
              </a:rPr>
              <a:t>  б</a:t>
            </a:r>
            <a:r>
              <a:rPr lang="uz-Cyrl-UZ" sz="1600">
                <a:solidFill>
                  <a:srgbClr val="00246C"/>
                </a:solidFill>
              </a:rPr>
              <a:t>ўйича </a:t>
            </a:r>
            <a:r>
              <a:rPr lang="ru-RU" sz="1600">
                <a:solidFill>
                  <a:srgbClr val="00246C"/>
                </a:solidFill>
              </a:rPr>
              <a:t>текшириш</a:t>
            </a:r>
          </a:p>
        </p:txBody>
      </p:sp>
      <p:sp>
        <p:nvSpPr>
          <p:cNvPr id="57" name="Тройная стрелка влево/вправо/вверх 56"/>
          <p:cNvSpPr/>
          <p:nvPr/>
        </p:nvSpPr>
        <p:spPr>
          <a:xfrm flipV="1">
            <a:off x="428625" y="3071813"/>
            <a:ext cx="8572500" cy="500062"/>
          </a:xfrm>
          <a:prstGeom prst="leftRightUpArrow">
            <a:avLst>
              <a:gd name="adj1" fmla="val 25000"/>
              <a:gd name="adj2" fmla="val 30458"/>
              <a:gd name="adj3" fmla="val 2500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9" name="Параллелограмм 58"/>
          <p:cNvSpPr/>
          <p:nvPr/>
        </p:nvSpPr>
        <p:spPr>
          <a:xfrm>
            <a:off x="785786" y="5214950"/>
            <a:ext cx="7929618" cy="642942"/>
          </a:xfrm>
          <a:prstGeom prst="parallelogram">
            <a:avLst>
              <a:gd name="adj" fmla="val 25000"/>
            </a:avLst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r">
              <a:defRPr/>
            </a:pPr>
            <a:r>
              <a:rPr lang="uz-Cyrl-UZ" sz="2000">
                <a:solidFill>
                  <a:srgbClr val="00246C"/>
                </a:solidFill>
              </a:rPr>
              <a:t>Акслантиришни умумий талаблар бўйи</a:t>
            </a:r>
            <a:r>
              <a:rPr lang="ru-RU" sz="2000">
                <a:solidFill>
                  <a:srgbClr val="00246C"/>
                </a:solidFill>
              </a:rPr>
              <a:t>ч</a:t>
            </a:r>
            <a:r>
              <a:rPr lang="uz-Cyrl-UZ" sz="2000">
                <a:solidFill>
                  <a:srgbClr val="00246C"/>
                </a:solidFill>
              </a:rPr>
              <a:t>а баҳоси</a:t>
            </a:r>
          </a:p>
        </p:txBody>
      </p:sp>
      <p:sp>
        <p:nvSpPr>
          <p:cNvPr id="60" name="Стрелка вниз 59"/>
          <p:cNvSpPr/>
          <p:nvPr/>
        </p:nvSpPr>
        <p:spPr>
          <a:xfrm>
            <a:off x="4572000" y="5857892"/>
            <a:ext cx="285752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2" name="Стрелка вниз 61"/>
          <p:cNvSpPr/>
          <p:nvPr/>
        </p:nvSpPr>
        <p:spPr>
          <a:xfrm>
            <a:off x="4572000" y="4929198"/>
            <a:ext cx="285752" cy="214314"/>
          </a:xfrm>
          <a:prstGeom prst="downArrow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57" grpId="0" animBg="1"/>
      <p:bldP spid="60" grpId="0" animBg="1"/>
      <p:bldP spid="6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285689" y="785794"/>
            <a:ext cx="7527160" cy="4594593"/>
          </a:xfrm>
          <a:prstGeom prst="rect">
            <a:avLst/>
          </a:prstGeo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tIns="227584" rIns="227584" bIns="227584" spcCol="1270" anchor="ctr"/>
          <a:lstStyle/>
          <a:p>
            <a:pPr algn="just" defTabSz="1422400">
              <a:spcAft>
                <a:spcPct val="35000"/>
              </a:spcAft>
              <a:defRPr/>
            </a:pPr>
            <a:endParaRPr lang="ru-RU" sz="3400">
              <a:solidFill>
                <a:srgbClr val="00206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14282" y="1428736"/>
            <a:ext cx="8715436" cy="5143536"/>
          </a:xfrm>
          <a:prstGeom prst="rect">
            <a:avLst/>
          </a:prstGeom>
          <a:ln>
            <a:noFill/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just">
              <a:defRPr/>
            </a:pPr>
            <a:r>
              <a:rPr lang="uz-Cyrl-UZ" sz="2400">
                <a:solidFill>
                  <a:srgbClr val="002060"/>
                </a:solidFill>
              </a:rPr>
              <a:t>    </a:t>
            </a:r>
            <a:r>
              <a:rPr lang="uz-Cyrl-UZ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uz-Cyrl-UZ" sz="2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240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>
                <a:solidFill>
                  <a:srgbClr val="002060"/>
                </a:solidFill>
              </a:rPr>
              <a:t>  </a:t>
            </a:r>
            <a:endParaRPr lang="ru-RU" sz="2400">
              <a:solidFill>
                <a:srgbClr val="002060"/>
              </a:solidFill>
            </a:endParaRPr>
          </a:p>
          <a:p>
            <a:pPr algn="ctr">
              <a:defRPr/>
            </a:pPr>
            <a:endParaRPr lang="ru-RU">
              <a:solidFill>
                <a:srgbClr val="002060"/>
              </a:solidFill>
            </a:endParaRP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571500" y="2571750"/>
          <a:ext cx="7858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Формула" r:id="rId3" imgW="5219640" imgH="457200" progId="Equation.3">
                  <p:embed/>
                </p:oleObj>
              </mc:Choice>
              <mc:Fallback>
                <p:oleObj name="Формула" r:id="rId3" imgW="521964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571750"/>
                        <a:ext cx="7858125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571500" y="1785938"/>
          <a:ext cx="8001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Формула" r:id="rId5" imgW="5549760" imgH="457200" progId="Equation.3">
                  <p:embed/>
                </p:oleObj>
              </mc:Choice>
              <mc:Fallback>
                <p:oleObj name="Формула" r:id="rId5" imgW="554976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785938"/>
                        <a:ext cx="8001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571500" y="3500438"/>
          <a:ext cx="7786688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Формула" r:id="rId7" imgW="5574960" imgH="914400" progId="Equation.3">
                  <p:embed/>
                </p:oleObj>
              </mc:Choice>
              <mc:Fallback>
                <p:oleObj name="Формула" r:id="rId7" imgW="557496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500438"/>
                        <a:ext cx="7786688" cy="1214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500063" y="5000625"/>
          <a:ext cx="80010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Формула" r:id="rId9" imgW="5879880" imgH="685800" progId="Equation.3">
                  <p:embed/>
                </p:oleObj>
              </mc:Choice>
              <mc:Fallback>
                <p:oleObj name="Формула" r:id="rId9" imgW="587988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5000625"/>
                        <a:ext cx="8001000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214313" y="428625"/>
            <a:ext cx="8715375" cy="847725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Тасдиқ.</a:t>
            </a:r>
            <a:r>
              <a:rPr lang="uz-Cyrl-UZ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алгоритми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</a:t>
            </a:r>
            <a:r>
              <a:rPr lang="uz-Cyrl-UZ" sz="2400" baseline="-30000">
                <a:solidFill>
                  <a:srgbClr val="0037A4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- блоки учун буль функция компоненталари қуйидагича АНФ кўринишга эга бўлади.</a:t>
            </a:r>
            <a:endParaRPr lang="ru-RU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6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14282" y="1785926"/>
            <a:ext cx="8715436" cy="48577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en-US" sz="2400"/>
              <a:t>                   </a:t>
            </a:r>
            <a:r>
              <a:rPr lang="ru-RU" sz="2400"/>
              <a:t>                                                              </a:t>
            </a:r>
            <a:endParaRPr lang="en-US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357188" y="2714625"/>
          <a:ext cx="8358188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14563"/>
                <a:gridCol w="1571625"/>
                <a:gridCol w="1571625"/>
                <a:gridCol w="1500188"/>
                <a:gridCol w="1500187"/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1439" marR="9143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“0”  </a:t>
                      </a:r>
                      <a:r>
                        <a:rPr lang="ru-RU" smtClean="0"/>
                        <a:t>лар</a:t>
                      </a:r>
                      <a:r>
                        <a:rPr lang="ru-RU" baseline="0" smtClean="0"/>
                        <a:t> сони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“</a:t>
                      </a:r>
                      <a:r>
                        <a:rPr lang="ru-RU" smtClean="0"/>
                        <a:t>1</a:t>
                      </a:r>
                      <a:r>
                        <a:rPr lang="en-US" smtClean="0"/>
                        <a:t>”  </a:t>
                      </a:r>
                      <a:r>
                        <a:rPr lang="ru-RU" smtClean="0"/>
                        <a:t>лар</a:t>
                      </a:r>
                      <a:r>
                        <a:rPr lang="ru-RU" baseline="0" smtClean="0"/>
                        <a:t> сони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32</a:t>
                      </a:r>
                      <a:endParaRPr lang="ru-RU"/>
                    </a:p>
                  </a:txBody>
                  <a:tcPr marL="91439" marR="91439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баланслашганлик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+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+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+</a:t>
                      </a:r>
                      <a:endParaRPr lang="ru-RU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+</a:t>
                      </a:r>
                      <a:endParaRPr lang="ru-RU"/>
                    </a:p>
                  </a:txBody>
                  <a:tcPr marL="91439" marR="91439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регулярлик</a:t>
                      </a:r>
                      <a:endParaRPr lang="ru-RU"/>
                    </a:p>
                  </a:txBody>
                  <a:tcPr marL="91439" marR="91439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Акслантириш регуляр!</a:t>
                      </a:r>
                      <a:endParaRPr lang="ru-RU"/>
                    </a:p>
                  </a:txBody>
                  <a:tcPr marL="91439" marR="91439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3071813" y="2786063"/>
          <a:ext cx="512762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name="Формула" r:id="rId3" imgW="355320" imgH="215640" progId="Equation.3">
                  <p:embed/>
                </p:oleObj>
              </mc:Choice>
              <mc:Fallback>
                <p:oleObj name="Формула" r:id="rId3" imgW="3553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786063"/>
                        <a:ext cx="512762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4643438" y="2786063"/>
          <a:ext cx="54927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Формула" r:id="rId5" imgW="380880" imgH="215640" progId="Equation.3">
                  <p:embed/>
                </p:oleObj>
              </mc:Choice>
              <mc:Fallback>
                <p:oleObj name="Формула" r:id="rId5" imgW="3808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786063"/>
                        <a:ext cx="549275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6286500" y="2786063"/>
          <a:ext cx="5302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name="Формула" r:id="rId7" imgW="368280" imgH="228600" progId="Equation.3">
                  <p:embed/>
                </p:oleObj>
              </mc:Choice>
              <mc:Fallback>
                <p:oleObj name="Формула" r:id="rId7" imgW="3682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786063"/>
                        <a:ext cx="5302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7786688" y="2786063"/>
          <a:ext cx="54927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Формула" r:id="rId9" imgW="380880" imgH="215640" progId="Equation.3">
                  <p:embed/>
                </p:oleObj>
              </mc:Choice>
              <mc:Fallback>
                <p:oleObj name="Формула" r:id="rId9" imgW="3808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688" y="2786063"/>
                        <a:ext cx="549275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214313" y="428625"/>
            <a:ext cx="8715375" cy="1214438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Тасдиқ.</a:t>
            </a:r>
            <a:r>
              <a:rPr lang="uz-Cyrl-UZ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алгоритми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</a:t>
            </a:r>
            <a:r>
              <a:rPr lang="uz-Cyrl-UZ" sz="2400" baseline="-30000">
                <a:solidFill>
                  <a:srgbClr val="0037A4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- блоки акслантиришига мос келувчи буль функция регуляр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бўлади, яъни ушбу буль функциянинг барча компоненталари баланслашган.</a:t>
            </a:r>
            <a:endParaRPr lang="ru-RU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5" name="Прямоугольник с двумя вырезанными противолежащими углами 14"/>
          <p:cNvSpPr/>
          <p:nvPr/>
        </p:nvSpPr>
        <p:spPr>
          <a:xfrm>
            <a:off x="428625" y="5357813"/>
            <a:ext cx="8215313" cy="1000125"/>
          </a:xfrm>
          <a:prstGeom prst="snip2DiagRect">
            <a:avLst/>
          </a:prstGeom>
          <a:blipFill>
            <a:blip r:embed="rId12"/>
            <a:tile tx="0" ty="0" sx="100000" sy="100000" flip="none" algn="tl"/>
          </a:blipFill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Эслатма</a:t>
            </a:r>
            <a:r>
              <a:rPr lang="ru-RU">
                <a:solidFill>
                  <a:srgbClr val="FF0000"/>
                </a:solidFill>
              </a:rPr>
              <a:t>.                                                                                                     </a:t>
            </a:r>
            <a:r>
              <a:rPr lang="en-US"/>
              <a:t>,    </a:t>
            </a:r>
            <a:r>
              <a:rPr lang="ru-RU" i="1"/>
              <a:t>бу ерда               . </a:t>
            </a:r>
            <a:endParaRPr lang="en-US"/>
          </a:p>
          <a:p>
            <a:pPr>
              <a:defRPr/>
            </a:pPr>
            <a:endParaRPr lang="ru-RU"/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1643063" y="5500688"/>
          <a:ext cx="49291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Формула" r:id="rId13" imgW="2336800" imgH="228600" progId="Equation.3">
                  <p:embed/>
                </p:oleObj>
              </mc:Choice>
              <mc:Fallback>
                <p:oleObj name="Формула" r:id="rId13" imgW="2336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500688"/>
                        <a:ext cx="4929187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7732713" y="5534025"/>
          <a:ext cx="554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Формула" r:id="rId15" imgW="355320" imgH="177480" progId="Equation.3">
                  <p:embed/>
                </p:oleObj>
              </mc:Choice>
              <mc:Fallback>
                <p:oleObj name="Формула" r:id="rId15" imgW="35532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2713" y="5534025"/>
                        <a:ext cx="554037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285689" y="785794"/>
            <a:ext cx="7527160" cy="4594593"/>
          </a:xfrm>
          <a:prstGeom prst="rect">
            <a:avLst/>
          </a:prstGeo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tIns="227584" rIns="227584" bIns="227584" spcCol="1270" anchor="ctr"/>
          <a:lstStyle/>
          <a:p>
            <a:pPr algn="just" defTabSz="1422400">
              <a:spcAft>
                <a:spcPct val="35000"/>
              </a:spcAft>
              <a:defRPr/>
            </a:pPr>
            <a:endParaRPr lang="ru-RU" sz="3400">
              <a:solidFill>
                <a:srgbClr val="00206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14282" y="1357298"/>
            <a:ext cx="8715436" cy="52864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just">
              <a:defRPr/>
            </a:pPr>
            <a:r>
              <a:rPr lang="uz-Cyrl-UZ" sz="2400">
                <a:solidFill>
                  <a:srgbClr val="002060"/>
                </a:solidFill>
              </a:rPr>
              <a:t>    </a:t>
            </a:r>
            <a:r>
              <a:rPr lang="uz-Cyrl-UZ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uz-Cyrl-UZ" sz="2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uz-Cyrl-UZ" sz="240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>
                <a:solidFill>
                  <a:srgbClr val="002060"/>
                </a:solidFill>
              </a:rPr>
              <a:t>  </a:t>
            </a:r>
            <a:endParaRPr lang="ru-RU" sz="2400">
              <a:solidFill>
                <a:srgbClr val="002060"/>
              </a:solidFill>
            </a:endParaRPr>
          </a:p>
          <a:p>
            <a:pPr algn="ctr">
              <a:defRPr/>
            </a:pPr>
            <a:endParaRPr lang="ru-RU">
              <a:solidFill>
                <a:srgbClr val="002060"/>
              </a:solidFill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571500" y="2428875"/>
          <a:ext cx="7858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Формула" r:id="rId3" imgW="5219640" imgH="457200" progId="Equation.3">
                  <p:embed/>
                </p:oleObj>
              </mc:Choice>
              <mc:Fallback>
                <p:oleObj name="Формула" r:id="rId3" imgW="521964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428875"/>
                        <a:ext cx="7858125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571500" y="1428750"/>
          <a:ext cx="8001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Формула" r:id="rId5" imgW="5549760" imgH="457200" progId="Equation.3">
                  <p:embed/>
                </p:oleObj>
              </mc:Choice>
              <mc:Fallback>
                <p:oleObj name="Формула" r:id="rId5" imgW="554976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428750"/>
                        <a:ext cx="8001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571500" y="3571875"/>
          <a:ext cx="7786688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" name="Формула" r:id="rId7" imgW="5574960" imgH="914400" progId="Equation.3">
                  <p:embed/>
                </p:oleObj>
              </mc:Choice>
              <mc:Fallback>
                <p:oleObj name="Формула" r:id="rId7" imgW="557496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571875"/>
                        <a:ext cx="7786688" cy="1214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571500" y="5214938"/>
          <a:ext cx="80010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6" name="Формула" r:id="rId9" imgW="5879880" imgH="685800" progId="Equation.3">
                  <p:embed/>
                </p:oleObj>
              </mc:Choice>
              <mc:Fallback>
                <p:oleObj name="Формула" r:id="rId9" imgW="587988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214938"/>
                        <a:ext cx="8001000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642938" y="2087563"/>
          <a:ext cx="1214437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name="Формула" r:id="rId11" imgW="838080" imgH="215640" progId="Equation.3">
                  <p:embed/>
                </p:oleObj>
              </mc:Choice>
              <mc:Fallback>
                <p:oleObj name="Формула" r:id="rId11" imgW="8380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2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087563"/>
                        <a:ext cx="1214437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571500" y="3159125"/>
          <a:ext cx="12319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8" name="Формула" r:id="rId13" imgW="850680" imgH="215640" progId="Equation.3">
                  <p:embed/>
                </p:oleObj>
              </mc:Choice>
              <mc:Fallback>
                <p:oleObj name="Формула" r:id="rId13" imgW="85068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-40000" contrast="-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159125"/>
                        <a:ext cx="1231900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571500" y="4857750"/>
          <a:ext cx="12334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9" name="Формула" r:id="rId15" imgW="850680" imgH="228600" progId="Equation.3">
                  <p:embed/>
                </p:oleObj>
              </mc:Choice>
              <mc:Fallback>
                <p:oleObj name="Формула" r:id="rId15" imgW="8506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857750"/>
                        <a:ext cx="12334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642938" y="6230938"/>
          <a:ext cx="12319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0" name="Формула" r:id="rId17" imgW="850680" imgH="215640" progId="Equation.3">
                  <p:embed/>
                </p:oleObj>
              </mc:Choice>
              <mc:Fallback>
                <p:oleObj name="Формула" r:id="rId17" imgW="8506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lum brigh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6230938"/>
                        <a:ext cx="1231900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214313" y="295275"/>
            <a:ext cx="8715375" cy="847725"/>
          </a:xfrm>
          <a:prstGeom prst="rect">
            <a:avLst/>
          </a:prstGeom>
          <a:blipFill>
            <a:blip r:embed="rId19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Тасдиқ.</a:t>
            </a:r>
            <a:r>
              <a:rPr lang="uz-Cyrl-UZ" sz="24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алгоритми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</a:t>
            </a:r>
            <a:r>
              <a:rPr lang="uz-Cyrl-UZ" sz="2400" baseline="-30000">
                <a:solidFill>
                  <a:srgbClr val="0037A4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- блок буль функция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компоненталари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қуйидагича 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алгебраик чизи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қсизлик даражаси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га эга б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ўлади.</a:t>
            </a:r>
            <a:endParaRPr lang="ru-RU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/>
          <p:cNvSpPr/>
          <p:nvPr/>
        </p:nvSpPr>
        <p:spPr>
          <a:xfrm>
            <a:off x="214282" y="1285860"/>
            <a:ext cx="8715436" cy="53578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sv-SE" sz="2400"/>
              <a:t> </a:t>
            </a: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lnSpc>
                <a:spcPct val="150000"/>
              </a:lnSpc>
              <a:defRPr/>
            </a:pPr>
            <a:r>
              <a:rPr lang="ru-RU" sz="2400"/>
              <a:t> </a:t>
            </a:r>
            <a:endParaRPr lang="en-US" sz="2400"/>
          </a:p>
        </p:txBody>
      </p:sp>
      <p:sp>
        <p:nvSpPr>
          <p:cNvPr id="163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0" name="Прямоугольник 5"/>
          <p:cNvSpPr>
            <a:spLocks noChangeArrowheads="1"/>
          </p:cNvSpPr>
          <p:nvPr/>
        </p:nvSpPr>
        <p:spPr bwMode="auto">
          <a:xfrm>
            <a:off x="3389313" y="4960938"/>
            <a:ext cx="185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176338" y="1428750"/>
          <a:ext cx="63960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Формула" r:id="rId3" imgW="4762440" imgH="685800" progId="Equation.3">
                  <p:embed/>
                </p:oleObj>
              </mc:Choice>
              <mc:Fallback>
                <p:oleObj name="Формула" r:id="rId3" imgW="4762440" imgH="68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1428750"/>
                        <a:ext cx="6396037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143000" y="2357438"/>
          <a:ext cx="639603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1" name="Формула" r:id="rId5" imgW="4851360" imgH="685800" progId="Equation.3">
                  <p:embed/>
                </p:oleObj>
              </mc:Choice>
              <mc:Fallback>
                <p:oleObj name="Формула" r:id="rId5" imgW="485136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57438"/>
                        <a:ext cx="6396038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198563" y="3286125"/>
          <a:ext cx="65008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2" name="Формула" r:id="rId7" imgW="4647960" imgH="685800" progId="Equation.3">
                  <p:embed/>
                </p:oleObj>
              </mc:Choice>
              <mc:Fallback>
                <p:oleObj name="Формула" r:id="rId7" imgW="464796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3286125"/>
                        <a:ext cx="6500812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198563" y="4286250"/>
          <a:ext cx="64293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Формула" r:id="rId9" imgW="4394160" imgH="685800" progId="Equation.3">
                  <p:embed/>
                </p:oleObj>
              </mc:Choice>
              <mc:Fallback>
                <p:oleObj name="Формула" r:id="rId9" imgW="439416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4286250"/>
                        <a:ext cx="6429375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1873250" y="5214938"/>
          <a:ext cx="155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Формула" r:id="rId11" imgW="710891" imgH="215806" progId="Equation.3">
                  <p:embed/>
                </p:oleObj>
              </mc:Choice>
              <mc:Fallback>
                <p:oleObj name="Формула" r:id="rId11" imgW="710891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5214938"/>
                        <a:ext cx="15557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3500438" y="5214938"/>
          <a:ext cx="128587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Формула" r:id="rId13" imgW="723586" imgH="215806" progId="Equation.3">
                  <p:embed/>
                </p:oleObj>
              </mc:Choice>
              <mc:Fallback>
                <p:oleObj name="Формула" r:id="rId13" imgW="723586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5214938"/>
                        <a:ext cx="128587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4929188" y="5214938"/>
          <a:ext cx="142875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Формула" r:id="rId15" imgW="736600" imgH="228600" progId="Equation.3">
                  <p:embed/>
                </p:oleObj>
              </mc:Choice>
              <mc:Fallback>
                <p:oleObj name="Формула" r:id="rId15" imgW="736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5214938"/>
                        <a:ext cx="1428750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6500813" y="5214938"/>
          <a:ext cx="1428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Формула" r:id="rId17" imgW="748975" imgH="215806" progId="Equation.3">
                  <p:embed/>
                </p:oleObj>
              </mc:Choice>
              <mc:Fallback>
                <p:oleObj name="Формула" r:id="rId17" imgW="748975" imgH="2158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5214938"/>
                        <a:ext cx="14287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Rectangle 19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2571750" algn="l"/>
                <a:tab pos="4819650" algn="l"/>
                <a:tab pos="5638800" algn="l"/>
              </a:tabLst>
            </a:pPr>
            <a:r>
              <a:rPr lang="ru-RU"/>
              <a:t/>
            </a:r>
            <a:br>
              <a:rPr lang="ru-RU"/>
            </a:br>
            <a:endParaRPr lang="ru-RU"/>
          </a:p>
          <a:p>
            <a:pPr eaLnBrk="0" hangingPunct="0">
              <a:tabLst>
                <a:tab pos="2571750" algn="l"/>
                <a:tab pos="4819650" algn="l"/>
                <a:tab pos="5638800" algn="l"/>
              </a:tabLst>
            </a:pPr>
            <a:endParaRPr lang="ru-RU"/>
          </a:p>
        </p:txBody>
      </p:sp>
      <p:sp>
        <p:nvSpPr>
          <p:cNvPr id="16402" name="Rectangle 20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6403" name="Rectangle 21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2571750" algn="l"/>
                <a:tab pos="4819650" algn="l"/>
                <a:tab pos="5638800" algn="l"/>
              </a:tabLst>
            </a:pPr>
            <a:endParaRPr lang="uz-Cyrl-UZ"/>
          </a:p>
        </p:txBody>
      </p:sp>
      <p:sp>
        <p:nvSpPr>
          <p:cNvPr id="16404" name="Rectangle 2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2571750" algn="l"/>
                <a:tab pos="4819650" algn="l"/>
                <a:tab pos="5638800" algn="l"/>
              </a:tabLst>
            </a:pPr>
            <a:endParaRPr lang="uz-Cyrl-UZ"/>
          </a:p>
        </p:txBody>
      </p:sp>
      <p:sp>
        <p:nvSpPr>
          <p:cNvPr id="16405" name="Rectangle 23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2571750" algn="l"/>
                <a:tab pos="4819650" algn="l"/>
                <a:tab pos="5638800" algn="l"/>
              </a:tabLst>
            </a:pPr>
            <a:r>
              <a:rPr lang="ru-RU"/>
              <a:t/>
            </a:r>
            <a:br>
              <a:rPr lang="ru-RU"/>
            </a:br>
            <a:endParaRPr lang="ru-RU"/>
          </a:p>
          <a:p>
            <a:pPr eaLnBrk="0" hangingPunct="0">
              <a:tabLst>
                <a:tab pos="2571750" algn="l"/>
                <a:tab pos="4819650" algn="l"/>
                <a:tab pos="5638800" algn="l"/>
              </a:tabLst>
            </a:pPr>
            <a:endParaRPr lang="ru-RU"/>
          </a:p>
        </p:txBody>
      </p:sp>
      <p:sp>
        <p:nvSpPr>
          <p:cNvPr id="16406" name="Rectangle 24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6407" name="Rectangle 25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2571750" algn="l"/>
                <a:tab pos="4819650" algn="l"/>
                <a:tab pos="5638800" algn="l"/>
              </a:tabLst>
            </a:pPr>
            <a:r>
              <a:rPr lang="uz-Cyrl-UZ" sz="1400">
                <a:cs typeface="Times New Roman" pitchFamily="18" charset="0"/>
              </a:rPr>
              <a:t>                   </a:t>
            </a:r>
            <a:endParaRPr lang="ru-RU" sz="1100"/>
          </a:p>
          <a:p>
            <a:pPr eaLnBrk="0" hangingPunct="0">
              <a:tabLst>
                <a:tab pos="2571750" algn="l"/>
                <a:tab pos="4819650" algn="l"/>
                <a:tab pos="5638800" algn="l"/>
              </a:tabLst>
            </a:pPr>
            <a:endParaRPr lang="ru-RU"/>
          </a:p>
        </p:txBody>
      </p:sp>
      <p:sp>
        <p:nvSpPr>
          <p:cNvPr id="16408" name="Rectangle 26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2571750" algn="l"/>
                <a:tab pos="4819650" algn="l"/>
                <a:tab pos="5638800" algn="l"/>
              </a:tabLst>
            </a:pPr>
            <a:endParaRPr lang="uz-Cyrl-UZ"/>
          </a:p>
        </p:txBody>
      </p:sp>
      <p:sp>
        <p:nvSpPr>
          <p:cNvPr id="16409" name="Rectangle 27"/>
          <p:cNvSpPr>
            <a:spLocks noChangeArrowheads="1"/>
          </p:cNvSpPr>
          <p:nvPr/>
        </p:nvSpPr>
        <p:spPr bwMode="auto">
          <a:xfrm>
            <a:off x="357188" y="5191125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>
              <a:tabLst>
                <a:tab pos="2571750" algn="l"/>
                <a:tab pos="4819650" algn="l"/>
                <a:tab pos="5638800" algn="l"/>
              </a:tabLst>
            </a:pPr>
            <a:r>
              <a:rPr lang="uz-Cyrl-UZ" sz="1400" i="1">
                <a:latin typeface="Times New Roman" pitchFamily="18" charset="0"/>
                <a:cs typeface="Times New Roman" pitchFamily="18" charset="0"/>
              </a:rPr>
              <a:t>мос равишда</a:t>
            </a:r>
            <a:r>
              <a:rPr lang="en-US" sz="1400" i="1">
                <a:latin typeface="Times New Roman" pitchFamily="18" charset="0"/>
                <a:cs typeface="Times New Roman" pitchFamily="18" charset="0"/>
              </a:rPr>
              <a:t>:</a:t>
            </a:r>
            <a:endParaRPr lang="ru-RU" sz="1100" i="1">
              <a:latin typeface="Times New Roman" pitchFamily="18" charset="0"/>
              <a:cs typeface="Times New Roman" pitchFamily="18" charset="0"/>
            </a:endParaRPr>
          </a:p>
          <a:p>
            <a:pPr algn="just" eaLnBrk="0" hangingPunct="0">
              <a:tabLst>
                <a:tab pos="2571750" algn="l"/>
                <a:tab pos="4819650" algn="l"/>
                <a:tab pos="5638800" algn="l"/>
              </a:tabLst>
            </a:pPr>
            <a:r>
              <a:rPr lang="ru-RU" sz="1400" i="1">
                <a:latin typeface="Times New Roman" pitchFamily="18" charset="0"/>
                <a:cs typeface="Times New Roman" pitchFamily="18" charset="0"/>
              </a:rPr>
              <a:t>чизиқсизлик</a:t>
            </a:r>
            <a:r>
              <a:rPr lang="en-US" sz="1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>
                <a:latin typeface="Times New Roman" pitchFamily="18" charset="0"/>
                <a:cs typeface="Times New Roman" pitchFamily="18" charset="0"/>
              </a:rPr>
              <a:t>қийматларига</a:t>
            </a:r>
            <a:r>
              <a:rPr lang="en-US" sz="1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>
                <a:latin typeface="Times New Roman" pitchFamily="18" charset="0"/>
                <a:cs typeface="Times New Roman" pitchFamily="18" charset="0"/>
              </a:rPr>
              <a:t>эга</a:t>
            </a:r>
            <a:r>
              <a:rPr lang="en-US" sz="1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>
                <a:latin typeface="Times New Roman" pitchFamily="18" charset="0"/>
                <a:cs typeface="Times New Roman" pitchFamily="18" charset="0"/>
              </a:rPr>
              <a:t>бўлади</a:t>
            </a:r>
            <a:r>
              <a:rPr lang="en-US" sz="1400" i="1">
                <a:latin typeface="Times New Roman" pitchFamily="18" charset="0"/>
                <a:cs typeface="Times New Roman" pitchFamily="18" charset="0"/>
              </a:rPr>
              <a:t>.</a:t>
            </a:r>
            <a:endParaRPr lang="en-US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214313" y="295275"/>
            <a:ext cx="8715375" cy="847725"/>
          </a:xfrm>
          <a:prstGeom prst="rect">
            <a:avLst/>
          </a:prstGeom>
          <a:blipFill>
            <a:blip r:embed="rId19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23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Тасдиқ.</a:t>
            </a:r>
            <a:r>
              <a:rPr lang="uz-Cyrl-UZ" sz="23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3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алгоритми </a:t>
            </a:r>
            <a:r>
              <a:rPr lang="en-US" sz="23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sz="23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2-блоки буль функция компоненталари қуйидагича </a:t>
            </a:r>
            <a:r>
              <a:rPr lang="ru-RU" sz="23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чизи</a:t>
            </a:r>
            <a:r>
              <a:rPr lang="uz-Cyrl-UZ" sz="23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қсизлик даражасига эга бўлади.</a:t>
            </a:r>
            <a:endParaRPr lang="ru-RU" sz="23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11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26" name="Прямоугольник с двумя вырезанными противолежащими углами 25"/>
          <p:cNvSpPr/>
          <p:nvPr/>
        </p:nvSpPr>
        <p:spPr>
          <a:xfrm>
            <a:off x="428625" y="5786438"/>
            <a:ext cx="8215313" cy="642937"/>
          </a:xfrm>
          <a:prstGeom prst="snip2DiagRect">
            <a:avLst/>
          </a:prstGeom>
          <a:blipFill>
            <a:blip r:embed="rId20"/>
            <a:tile tx="0" ty="0" sx="100000" sy="100000" flip="none" algn="tl"/>
          </a:blipFill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Эслатма</a:t>
            </a:r>
            <a:r>
              <a:rPr lang="ru-RU">
                <a:solidFill>
                  <a:srgbClr val="FF0000"/>
                </a:solidFill>
              </a:rPr>
              <a:t>.</a:t>
            </a:r>
            <a:endParaRPr lang="ru-RU"/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1643063" y="5857875"/>
          <a:ext cx="5772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Формула" r:id="rId21" imgW="3924300" imgH="393700" progId="Equation.3">
                  <p:embed/>
                </p:oleObj>
              </mc:Choice>
              <mc:Fallback>
                <p:oleObj name="Формула" r:id="rId21" imgW="39243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857875"/>
                        <a:ext cx="577215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9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14282" y="1142984"/>
            <a:ext cx="8715436" cy="557216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r>
              <a:rPr lang="en-US" i="1">
                <a:solidFill>
                  <a:srgbClr val="000000"/>
                </a:solidFill>
              </a:rPr>
              <a:t>                                                         </a:t>
            </a:r>
            <a:endParaRPr lang="uz-Cyrl-UZ" i="1">
              <a:solidFill>
                <a:srgbClr val="000000"/>
              </a:solidFill>
            </a:endParaRPr>
          </a:p>
          <a:p>
            <a:pPr>
              <a:defRPr/>
            </a:pPr>
            <a:endParaRPr lang="uz-Cyrl-UZ" i="1">
              <a:solidFill>
                <a:srgbClr val="000000"/>
              </a:solidFill>
            </a:endParaRPr>
          </a:p>
          <a:p>
            <a:pPr>
              <a:defRPr/>
            </a:pPr>
            <a:endParaRPr lang="uz-Cyrl-UZ" i="1">
              <a:solidFill>
                <a:srgbClr val="000000"/>
              </a:solidFill>
            </a:endParaRPr>
          </a:p>
          <a:p>
            <a:pPr>
              <a:defRPr/>
            </a:pPr>
            <a:r>
              <a:rPr lang="uz-Cyrl-UZ" i="1">
                <a:solidFill>
                  <a:srgbClr val="000000"/>
                </a:solidFill>
              </a:rPr>
              <a:t>                                                         </a:t>
            </a:r>
            <a:r>
              <a:rPr lang="en-US" i="1">
                <a:solidFill>
                  <a:srgbClr val="000000"/>
                </a:solidFill>
              </a:rPr>
              <a:t> </a:t>
            </a:r>
            <a:r>
              <a:rPr lang="ru-RU" i="1">
                <a:solidFill>
                  <a:srgbClr val="000000"/>
                </a:solidFill>
              </a:rPr>
              <a:t>бу </a:t>
            </a:r>
            <a:r>
              <a:rPr lang="uz-Cyrl-UZ" i="1">
                <a:solidFill>
                  <a:srgbClr val="000000"/>
                </a:solidFill>
              </a:rPr>
              <a:t>ерда                                      ,</a:t>
            </a:r>
          </a:p>
          <a:p>
            <a:pPr>
              <a:defRPr/>
            </a:pPr>
            <a:endParaRPr lang="uz-Cyrl-UZ">
              <a:solidFill>
                <a:srgbClr val="000000"/>
              </a:solidFill>
            </a:endParaRPr>
          </a:p>
          <a:p>
            <a:pPr>
              <a:defRPr/>
            </a:pPr>
            <a:endParaRPr lang="uz-Cyrl-UZ">
              <a:solidFill>
                <a:srgbClr val="000000"/>
              </a:solidFill>
            </a:endParaRPr>
          </a:p>
          <a:p>
            <a:pPr>
              <a:defRPr/>
            </a:pPr>
            <a:endParaRPr lang="uz-Cyrl-UZ">
              <a:solidFill>
                <a:srgbClr val="000000"/>
              </a:solidFill>
            </a:endParaRPr>
          </a:p>
          <a:p>
            <a:pPr>
              <a:defRPr/>
            </a:pPr>
            <a:r>
              <a:rPr lang="uz-Cyrl-UZ">
                <a:solidFill>
                  <a:srgbClr val="000000"/>
                </a:solidFill>
              </a:rPr>
              <a:t>                                                                       </a:t>
            </a:r>
            <a:r>
              <a:rPr lang="uz-Cyrl-UZ">
                <a:solidFill>
                  <a:schemeClr val="tx1"/>
                </a:solidFill>
                <a:latin typeface="Arial" pitchFamily="34" charset="0"/>
                <a:cs typeface="Times New Roman" pitchFamily="18" charset="0"/>
              </a:rPr>
              <a:t>- </a:t>
            </a:r>
            <a:r>
              <a:rPr lang="uz-Cyrl-UZ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скаляр кўпайтма натижаси буль функция</a:t>
            </a:r>
          </a:p>
          <a:p>
            <a:pPr>
              <a:defRPr/>
            </a:pPr>
            <a:r>
              <a:rPr lang="uz-Cyrl-UZ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</a:t>
            </a:r>
            <a:r>
              <a:rPr lang="en-US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деб қаралади.</a:t>
            </a:r>
            <a:r>
              <a:rPr lang="ru-RU" sz="1600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i="1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14313" y="214313"/>
            <a:ext cx="8715375" cy="84772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шифрлаш алгоритми  S</a:t>
            </a:r>
            <a:r>
              <a:rPr lang="uz-Cyrl-UZ" sz="2400" baseline="-30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блоки  умумий         функциясининг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чизиқсизлик даражаси  </a:t>
            </a:r>
            <a:r>
              <a:rPr lang="uz-Cyrl-UZ" sz="24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га тенг.</a:t>
            </a:r>
            <a:r>
              <a:rPr lang="ru-RU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742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6072188" y="3071813"/>
          <a:ext cx="192881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4" name="Формула" r:id="rId4" imgW="1130300" imgH="228600" progId="Equation.3">
                  <p:embed/>
                </p:oleObj>
              </mc:Choice>
              <mc:Fallback>
                <p:oleObj name="Формула" r:id="rId4" imgW="1130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3071813"/>
                        <a:ext cx="1928812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4143375" y="3071813"/>
          <a:ext cx="17859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5" name="Формула" r:id="rId6" imgW="1066800" imgH="228600" progId="Equation.3">
                  <p:embed/>
                </p:oleObj>
              </mc:Choice>
              <mc:Fallback>
                <p:oleObj name="Формула" r:id="rId6" imgW="10668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3071813"/>
                        <a:ext cx="178593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106738" y="3643313"/>
          <a:ext cx="45370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6" name="Формула" r:id="rId8" imgW="2552400" imgH="228600" progId="Equation.3">
                  <p:embed/>
                </p:oleObj>
              </mc:Choice>
              <mc:Fallback>
                <p:oleObj name="Формула" r:id="rId8" imgW="2552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3643313"/>
                        <a:ext cx="453707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3643313" y="2071688"/>
          <a:ext cx="38576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7" name="Формула" r:id="rId10" imgW="1752480" imgH="393480" progId="Equation.3">
                  <p:embed/>
                </p:oleObj>
              </mc:Choice>
              <mc:Fallback>
                <p:oleObj name="Формула" r:id="rId10" imgW="17524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2071688"/>
                        <a:ext cx="3857625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357188" y="1303338"/>
          <a:ext cx="2643187" cy="5197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186"/>
                <a:gridCol w="1143001"/>
              </a:tblGrid>
              <a:tr h="381049">
                <a:tc>
                  <a:txBody>
                    <a:bodyPr/>
                    <a:lstStyle/>
                    <a:p>
                      <a:pPr algn="ctr"/>
                      <a:endParaRPr lang="ru-RU" sz="18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0 0 0 1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0 0 1 0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20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0 0 1 1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0 1 0 0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18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0 1 0 1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0 1 1 0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24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0 1 1 1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1 0 0 0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18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1 0 0 1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20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1 0 1 0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35321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1 0 1 1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ru-RU" sz="1600" b="1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26" marB="45726">
                    <a:solidFill>
                      <a:srgbClr val="CCECFF"/>
                    </a:solidFill>
                  </a:tcPr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1 1 0 0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1 1 0 1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20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1 1 1 0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22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  <a:tr h="320079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1 1 1 1 </a:t>
                      </a:r>
                      <a:endParaRPr lang="ru-RU" sz="1400"/>
                    </a:p>
                  </a:txBody>
                  <a:tcPr marL="91439" marR="9143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/>
                        <a:t>20</a:t>
                      </a:r>
                      <a:endParaRPr lang="ru-RU" sz="1500"/>
                    </a:p>
                  </a:txBody>
                  <a:tcPr marL="91439" marR="91439" marT="45726" marB="45726"/>
                </a:tc>
              </a:tr>
            </a:tbl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2000250" y="1357313"/>
          <a:ext cx="939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8" name="Формула" r:id="rId12" imgW="660240" imgH="203040" progId="Equation.3">
                  <p:embed/>
                </p:oleObj>
              </mc:Choice>
              <mc:Fallback>
                <p:oleObj name="Формула" r:id="rId12" imgW="66024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357313"/>
                        <a:ext cx="939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8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3143250" y="4286250"/>
          <a:ext cx="7096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9" name="Формула" r:id="rId14" imgW="494870" imgH="164957" progId="Equation.3">
                  <p:embed/>
                </p:oleObj>
              </mc:Choice>
              <mc:Fallback>
                <p:oleObj name="Формула" r:id="rId14" imgW="494870" imgH="16495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286250"/>
                        <a:ext cx="709613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428625" y="1357313"/>
          <a:ext cx="13970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0" name="Формула" r:id="rId16" imgW="1028520" imgH="228600" progId="Equation.3">
                  <p:embed/>
                </p:oleObj>
              </mc:Choice>
              <mc:Fallback>
                <p:oleObj name="Формула" r:id="rId16" imgW="10285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357313"/>
                        <a:ext cx="13970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8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8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14282" y="1285860"/>
            <a:ext cx="8715436" cy="53578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  <a:p>
            <a:pPr>
              <a:defRPr/>
            </a:pPr>
            <a:endParaRPr lang="ru-RU" sz="2400"/>
          </a:p>
        </p:txBody>
      </p:sp>
      <p:sp>
        <p:nvSpPr>
          <p:cNvPr id="7" name="Прямоугольник 6"/>
          <p:cNvSpPr/>
          <p:nvPr/>
        </p:nvSpPr>
        <p:spPr>
          <a:xfrm>
            <a:off x="214313" y="214313"/>
            <a:ext cx="8715375" cy="92868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2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sz="2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</a:t>
            </a:r>
            <a:r>
              <a:rPr lang="en-US" sz="2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шифрлаш алгоритми  S</a:t>
            </a:r>
            <a:r>
              <a:rPr lang="uz-Cyrl-UZ" sz="2000" baseline="-30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2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блоки учун  буль функция  барча компоненталари </a:t>
            </a:r>
            <a:r>
              <a:rPr lang="ru-RU" sz="2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sz="2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орреляцион иммунистлик даражаси </a:t>
            </a:r>
            <a:r>
              <a:rPr lang="uz-Cyrl-UZ" sz="22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нолга</a:t>
            </a:r>
            <a:r>
              <a:rPr lang="uz-Cyrl-UZ" sz="22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тенг бўлади.</a:t>
            </a:r>
            <a:endParaRPr lang="en-US" sz="22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625" y="1558925"/>
          <a:ext cx="8358189" cy="3340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541"/>
                <a:gridCol w="1026444"/>
                <a:gridCol w="733174"/>
                <a:gridCol w="1246396"/>
                <a:gridCol w="733174"/>
                <a:gridCol w="1317836"/>
                <a:gridCol w="714375"/>
                <a:gridCol w="1193756"/>
                <a:gridCol w="806493"/>
              </a:tblGrid>
              <a:tr h="365704">
                <a:tc rowSpan="2">
                  <a:txBody>
                    <a:bodyPr/>
                    <a:lstStyle/>
                    <a:p>
                      <a:pPr algn="ctr"/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 </a:t>
                      </a:r>
                      <a:r>
                        <a:rPr lang="ru-RU" sz="1800" smtClean="0"/>
                        <a:t>функция</a:t>
                      </a:r>
                      <a:r>
                        <a:rPr lang="en-US" sz="1800" smtClean="0"/>
                        <a:t>: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 </a:t>
                      </a:r>
                      <a:r>
                        <a:rPr lang="ru-RU" sz="1800" smtClean="0"/>
                        <a:t>функция</a:t>
                      </a:r>
                      <a:r>
                        <a:rPr lang="en-US" sz="1800" smtClean="0"/>
                        <a:t> :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f3 </a:t>
                      </a:r>
                      <a:r>
                        <a:rPr lang="ru-RU" sz="1800" smtClean="0"/>
                        <a:t>функция</a:t>
                      </a:r>
                      <a:r>
                        <a:rPr lang="en-US" sz="1800" smtClean="0"/>
                        <a:t>: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f4 </a:t>
                      </a:r>
                      <a:r>
                        <a:rPr lang="ru-RU" sz="1800" smtClean="0"/>
                        <a:t>функция</a:t>
                      </a:r>
                      <a:r>
                        <a:rPr lang="en-US" sz="1800" smtClean="0"/>
                        <a:t> :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70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  <a:tr h="416147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k=0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  <a:tr h="163604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k=1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</a:p>
                    <a:p>
                      <a:pPr algn="ctr"/>
                      <a:r>
                        <a:rPr lang="ru-RU" sz="1800" smtClean="0"/>
                        <a:t>000001</a:t>
                      </a:r>
                    </a:p>
                    <a:p>
                      <a:pPr algn="ctr"/>
                      <a:r>
                        <a:rPr lang="ru-RU" sz="1800" smtClean="0"/>
                        <a:t>000010</a:t>
                      </a:r>
                    </a:p>
                    <a:p>
                      <a:pPr algn="ctr"/>
                      <a:r>
                        <a:rPr lang="ru-RU" sz="1800" smtClean="0"/>
                        <a:t>000100001000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-4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</a:p>
                    <a:p>
                      <a:pPr algn="ctr"/>
                      <a:r>
                        <a:rPr lang="ru-RU" sz="1800" smtClean="0"/>
                        <a:t>000001</a:t>
                      </a:r>
                    </a:p>
                    <a:p>
                      <a:pPr algn="ctr"/>
                      <a:r>
                        <a:rPr lang="ru-RU" sz="1800" smtClean="0"/>
                        <a:t>000010</a:t>
                      </a:r>
                    </a:p>
                    <a:p>
                      <a:pPr algn="ctr"/>
                      <a:r>
                        <a:rPr lang="ru-RU" sz="1800" smtClean="0"/>
                        <a:t>000100</a:t>
                      </a:r>
                      <a:endParaRPr lang="en-US" sz="1800" smtClean="0"/>
                    </a:p>
                    <a:p>
                      <a:pPr algn="ctr"/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4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</a:p>
                    <a:p>
                      <a:pPr algn="ctr"/>
                      <a:r>
                        <a:rPr lang="ru-RU" sz="1800" smtClean="0"/>
                        <a:t>000001</a:t>
                      </a:r>
                    </a:p>
                    <a:p>
                      <a:pPr algn="ctr"/>
                      <a:r>
                        <a:rPr lang="ru-RU" sz="1800" smtClean="0"/>
                        <a:t>000010</a:t>
                      </a:r>
                    </a:p>
                    <a:p>
                      <a:pPr algn="ctr"/>
                      <a:r>
                        <a:rPr lang="ru-RU" sz="1800" smtClean="0"/>
                        <a:t>000100</a:t>
                      </a:r>
                      <a:endParaRPr lang="en-US" sz="1800" smtClean="0"/>
                    </a:p>
                    <a:p>
                      <a:pPr algn="ctr"/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4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000000</a:t>
                      </a:r>
                    </a:p>
                    <a:p>
                      <a:pPr algn="ctr"/>
                      <a:r>
                        <a:rPr lang="ru-RU" sz="1800" smtClean="0"/>
                        <a:t>000001</a:t>
                      </a:r>
                    </a:p>
                    <a:p>
                      <a:pPr algn="ctr"/>
                      <a:r>
                        <a:rPr lang="ru-RU" sz="1800" smtClean="0"/>
                        <a:t>000010</a:t>
                      </a:r>
                      <a:r>
                        <a:rPr lang="en-US" sz="1800" smtClean="0"/>
                        <a:t>  </a:t>
                      </a:r>
                      <a:r>
                        <a:rPr lang="ru-RU" sz="1800" smtClean="0"/>
                        <a:t>000100</a:t>
                      </a:r>
                      <a:endParaRPr lang="en-US" sz="1800" smtClean="0"/>
                    </a:p>
                    <a:p>
                      <a:pPr algn="ctr"/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0</a:t>
                      </a:r>
                    </a:p>
                    <a:p>
                      <a:pPr algn="ctr"/>
                      <a:r>
                        <a:rPr lang="en-US" sz="1800" smtClean="0"/>
                        <a:t>-4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  <a:tr h="55650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CI</a:t>
                      </a:r>
                      <a:endParaRPr lang="ru-RU" sz="1800"/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mtClean="0">
                          <a:solidFill>
                            <a:schemeClr val="accent2"/>
                          </a:solidFill>
                        </a:rPr>
                        <a:t>CI(</a:t>
                      </a:r>
                      <a:r>
                        <a:rPr lang="ru-RU" sz="1800" b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r>
                        <a:rPr lang="en-US" sz="1800" b="0" smtClean="0">
                          <a:solidFill>
                            <a:schemeClr val="accent2"/>
                          </a:solidFill>
                        </a:rPr>
                        <a:t>)</a:t>
                      </a:r>
                      <a:endParaRPr lang="ru-RU" sz="1800" b="0">
                        <a:solidFill>
                          <a:schemeClr val="accent2"/>
                        </a:solidFill>
                      </a:endParaRPr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mtClean="0">
                          <a:solidFill>
                            <a:schemeClr val="accent2"/>
                          </a:solidFill>
                        </a:rPr>
                        <a:t>CI(</a:t>
                      </a:r>
                      <a:r>
                        <a:rPr lang="ru-RU" sz="1800" b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r>
                        <a:rPr lang="en-US" sz="1800" b="0" smtClean="0">
                          <a:solidFill>
                            <a:schemeClr val="accent2"/>
                          </a:solidFill>
                        </a:rPr>
                        <a:t>)</a:t>
                      </a:r>
                      <a:endParaRPr lang="ru-RU" sz="1800" b="0">
                        <a:solidFill>
                          <a:schemeClr val="accent2"/>
                        </a:solidFill>
                      </a:endParaRPr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mtClean="0">
                          <a:solidFill>
                            <a:schemeClr val="accent2"/>
                          </a:solidFill>
                        </a:rPr>
                        <a:t>CI(</a:t>
                      </a:r>
                      <a:r>
                        <a:rPr lang="ru-RU" sz="1800" b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r>
                        <a:rPr lang="en-US" sz="1800" b="0" smtClean="0">
                          <a:solidFill>
                            <a:schemeClr val="accent2"/>
                          </a:solidFill>
                        </a:rPr>
                        <a:t>)</a:t>
                      </a:r>
                      <a:endParaRPr lang="ru-RU" sz="1800" b="0">
                        <a:solidFill>
                          <a:schemeClr val="accent2"/>
                        </a:solidFill>
                      </a:endParaRPr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>
                          <a:solidFill>
                            <a:schemeClr val="accent2"/>
                          </a:solidFill>
                        </a:rPr>
                        <a:t>CI(</a:t>
                      </a:r>
                      <a:r>
                        <a:rPr lang="ru-RU" sz="1800" smtClean="0">
                          <a:solidFill>
                            <a:schemeClr val="accent2"/>
                          </a:solidFill>
                        </a:rPr>
                        <a:t>0</a:t>
                      </a:r>
                      <a:r>
                        <a:rPr lang="en-US" sz="1800" smtClean="0">
                          <a:solidFill>
                            <a:schemeClr val="accent2"/>
                          </a:solidFill>
                        </a:rPr>
                        <a:t>)</a:t>
                      </a:r>
                      <a:endParaRPr lang="ru-RU" sz="1800">
                        <a:solidFill>
                          <a:schemeClr val="accent2"/>
                        </a:solidFill>
                      </a:endParaRPr>
                    </a:p>
                  </a:txBody>
                  <a:tcPr marL="91439" marR="91439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071563" y="2000250"/>
          <a:ext cx="8667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" name="Формула" r:id="rId4" imgW="863225" imgH="203112" progId="Equation.3">
                  <p:embed/>
                </p:oleObj>
              </mc:Choice>
              <mc:Fallback>
                <p:oleObj name="Формула" r:id="rId4" imgW="863225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000250"/>
                        <a:ext cx="8667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928938" y="2000250"/>
          <a:ext cx="8667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" name="Формула" r:id="rId6" imgW="863225" imgH="203112" progId="Equation.3">
                  <p:embed/>
                </p:oleObj>
              </mc:Choice>
              <mc:Fallback>
                <p:oleObj name="Формула" r:id="rId6" imgW="863225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2000250"/>
                        <a:ext cx="8667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5000625" y="2000250"/>
          <a:ext cx="8667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0" name="Формула" r:id="rId7" imgW="863225" imgH="203112" progId="Equation.3">
                  <p:embed/>
                </p:oleObj>
              </mc:Choice>
              <mc:Fallback>
                <p:oleObj name="Формула" r:id="rId7" imgW="863225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2000250"/>
                        <a:ext cx="8667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6858000" y="2000250"/>
          <a:ext cx="8667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" name="Формула" r:id="rId8" imgW="863225" imgH="203112" progId="Equation.3">
                  <p:embed/>
                </p:oleObj>
              </mc:Choice>
              <mc:Fallback>
                <p:oleObj name="Формула" r:id="rId8" imgW="863225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000250"/>
                        <a:ext cx="8667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0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8438" name="Object 7"/>
          <p:cNvGraphicFramePr>
            <a:graphicFrameLocks noChangeAspect="1"/>
          </p:cNvGraphicFramePr>
          <p:nvPr/>
        </p:nvGraphicFramePr>
        <p:xfrm>
          <a:off x="2143125" y="2000250"/>
          <a:ext cx="4429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2" name="Формула" r:id="rId9" imgW="444240" imgH="241200" progId="Equation.3">
                  <p:embed/>
                </p:oleObj>
              </mc:Choice>
              <mc:Fallback>
                <p:oleObj name="Формула" r:id="rId9" imgW="44424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2000250"/>
                        <a:ext cx="442913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8"/>
          <p:cNvGraphicFramePr>
            <a:graphicFrameLocks noChangeAspect="1"/>
          </p:cNvGraphicFramePr>
          <p:nvPr/>
        </p:nvGraphicFramePr>
        <p:xfrm>
          <a:off x="4143375" y="2000250"/>
          <a:ext cx="4429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3" name="Формула" r:id="rId11" imgW="444240" imgH="241200" progId="Equation.3">
                  <p:embed/>
                </p:oleObj>
              </mc:Choice>
              <mc:Fallback>
                <p:oleObj name="Формула" r:id="rId11" imgW="44424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2000250"/>
                        <a:ext cx="442913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9"/>
          <p:cNvGraphicFramePr>
            <a:graphicFrameLocks noChangeAspect="1"/>
          </p:cNvGraphicFramePr>
          <p:nvPr/>
        </p:nvGraphicFramePr>
        <p:xfrm>
          <a:off x="6143625" y="2000250"/>
          <a:ext cx="4429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4" name="Формула" r:id="rId12" imgW="444240" imgH="241200" progId="Equation.3">
                  <p:embed/>
                </p:oleObj>
              </mc:Choice>
              <mc:Fallback>
                <p:oleObj name="Формула" r:id="rId12" imgW="44424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2000250"/>
                        <a:ext cx="442913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10"/>
          <p:cNvGraphicFramePr>
            <a:graphicFrameLocks noChangeAspect="1"/>
          </p:cNvGraphicFramePr>
          <p:nvPr/>
        </p:nvGraphicFramePr>
        <p:xfrm>
          <a:off x="8143875" y="2000250"/>
          <a:ext cx="4429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5" name="Формула" r:id="rId13" imgW="444240" imgH="241200" progId="Equation.3">
                  <p:embed/>
                </p:oleObj>
              </mc:Choice>
              <mc:Fallback>
                <p:oleObj name="Формула" r:id="rId13" imgW="44424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75" y="2000250"/>
                        <a:ext cx="442913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Прямоугольник с двумя вырезанными противолежащими углами 18"/>
          <p:cNvSpPr/>
          <p:nvPr/>
        </p:nvSpPr>
        <p:spPr>
          <a:xfrm>
            <a:off x="428625" y="5357813"/>
            <a:ext cx="8215313" cy="1071562"/>
          </a:xfrm>
          <a:prstGeom prst="snip2DiagRect">
            <a:avLst/>
          </a:prstGeom>
          <a:blipFill>
            <a:blip r:embed="rId14"/>
            <a:tile tx="0" ty="0" sx="100000" sy="100000" flip="none" algn="tl"/>
          </a:blipFill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Эслатма</a:t>
            </a:r>
            <a:r>
              <a:rPr lang="ru-RU">
                <a:solidFill>
                  <a:srgbClr val="FF0000"/>
                </a:solidFill>
              </a:rPr>
              <a:t>.        </a:t>
            </a:r>
            <a:r>
              <a:rPr lang="ru-RU"/>
              <a:t>      </a:t>
            </a:r>
            <a:r>
              <a:rPr lang="uz-Cyrl-UZ"/>
              <a:t>буль функция “к”- даражали корреляцион иммунистга эга бўлиши учун                            - шартни қаноатлантирувчи барча                    - лар учун                        бўлса.</a:t>
            </a:r>
            <a:endParaRPr lang="ru-RU"/>
          </a:p>
        </p:txBody>
      </p:sp>
      <p:sp>
        <p:nvSpPr>
          <p:cNvPr id="1850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8442" name="Object 11"/>
          <p:cNvGraphicFramePr>
            <a:graphicFrameLocks noChangeAspect="1"/>
          </p:cNvGraphicFramePr>
          <p:nvPr/>
        </p:nvGraphicFramePr>
        <p:xfrm>
          <a:off x="1643063" y="5500688"/>
          <a:ext cx="50006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Формула" r:id="rId15" imgW="342751" imgH="203112" progId="Equation.3">
                  <p:embed/>
                </p:oleObj>
              </mc:Choice>
              <mc:Fallback>
                <p:oleObj name="Формула" r:id="rId15" imgW="342751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500688"/>
                        <a:ext cx="500062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1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8443" name="Object 12"/>
          <p:cNvGraphicFramePr>
            <a:graphicFrameLocks noChangeAspect="1"/>
          </p:cNvGraphicFramePr>
          <p:nvPr/>
        </p:nvGraphicFramePr>
        <p:xfrm>
          <a:off x="2071688" y="5786438"/>
          <a:ext cx="121443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7" name="Формула" r:id="rId17" imgW="863225" imgH="203112" progId="Equation.3">
                  <p:embed/>
                </p:oleObj>
              </mc:Choice>
              <mc:Fallback>
                <p:oleObj name="Формула" r:id="rId17" imgW="863225" imgH="203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786438"/>
                        <a:ext cx="1214437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11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8444" name="Object 13"/>
          <p:cNvGraphicFramePr>
            <a:graphicFrameLocks noChangeAspect="1"/>
          </p:cNvGraphicFramePr>
          <p:nvPr/>
        </p:nvGraphicFramePr>
        <p:xfrm>
          <a:off x="7000875" y="5749925"/>
          <a:ext cx="9286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Формула" r:id="rId18" imgW="774364" imgH="228501" progId="Equation.3">
                  <p:embed/>
                </p:oleObj>
              </mc:Choice>
              <mc:Fallback>
                <p:oleObj name="Формула" r:id="rId18" imgW="774364" imgH="2285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5749925"/>
                        <a:ext cx="9286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6"/>
          <p:cNvGraphicFramePr>
            <a:graphicFrameLocks noChangeAspect="1"/>
          </p:cNvGraphicFramePr>
          <p:nvPr/>
        </p:nvGraphicFramePr>
        <p:xfrm>
          <a:off x="1214438" y="6000750"/>
          <a:ext cx="10001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Формула" r:id="rId20" imgW="698500" imgH="241300" progId="Equation.3">
                  <p:embed/>
                </p:oleObj>
              </mc:Choice>
              <mc:Fallback>
                <p:oleObj name="Формула" r:id="rId20" imgW="6985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6000750"/>
                        <a:ext cx="100012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0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14282" y="1643050"/>
            <a:ext cx="8715436" cy="50006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sv-SE" sz="2400"/>
              <a:t> </a:t>
            </a:r>
            <a:r>
              <a:rPr lang="uz-Cyrl-UZ" sz="2400"/>
              <a:t> </a:t>
            </a:r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r>
              <a:rPr lang="uz-Cyrl-UZ" sz="2400"/>
              <a:t>                                                                             </a:t>
            </a:r>
          </a:p>
          <a:p>
            <a:pPr>
              <a:defRPr/>
            </a:pPr>
            <a:r>
              <a:rPr lang="uz-Cyrl-UZ" sz="2400"/>
              <a:t>                                                                             </a:t>
            </a:r>
            <a:endParaRPr lang="en-US" sz="2400"/>
          </a:p>
        </p:txBody>
      </p:sp>
      <p:sp>
        <p:nvSpPr>
          <p:cNvPr id="7" name="Прямоугольник 6"/>
          <p:cNvSpPr/>
          <p:nvPr/>
        </p:nvSpPr>
        <p:spPr>
          <a:xfrm>
            <a:off x="214313" y="295275"/>
            <a:ext cx="8715375" cy="120491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шифрлаш алгоритми  S</a:t>
            </a:r>
            <a:r>
              <a:rPr lang="uz-Cyrl-UZ" sz="2400" baseline="-30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блоки буль функция барча компоненталарининг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>
                <a:solidFill>
                  <a:srgbClr val="0037A4"/>
                </a:solidFill>
              </a:rPr>
              <a:t>қатъий лавин самарадорлик даражаси </a:t>
            </a:r>
            <a:r>
              <a:rPr lang="uz-Cyrl-UZ" sz="2400">
                <a:solidFill>
                  <a:srgbClr val="0000FF"/>
                </a:solidFill>
              </a:rPr>
              <a:t>нолга</a:t>
            </a:r>
            <a:r>
              <a:rPr lang="uz-Cyrl-UZ" sz="2400">
                <a:solidFill>
                  <a:srgbClr val="0037A4"/>
                </a:solidFill>
              </a:rPr>
              <a:t> тенг бўлади.</a:t>
            </a:r>
            <a:endParaRPr lang="en-US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625" y="1928813"/>
          <a:ext cx="8224838" cy="301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2980"/>
                <a:gridCol w="1000105"/>
                <a:gridCol w="1224096"/>
                <a:gridCol w="918987"/>
                <a:gridCol w="1214414"/>
                <a:gridCol w="785797"/>
                <a:gridCol w="1071541"/>
                <a:gridCol w="866918"/>
              </a:tblGrid>
              <a:tr h="640147">
                <a:tc gridSpan="2">
                  <a:txBody>
                    <a:bodyPr/>
                    <a:lstStyle/>
                    <a:p>
                      <a:pPr algn="ctr"/>
                      <a:endParaRPr lang="en-US" sz="1800" smtClean="0"/>
                    </a:p>
                    <a:p>
                      <a:pPr algn="ctr"/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smtClean="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98">
                <a:tc>
                  <a:txBody>
                    <a:bodyPr/>
                    <a:lstStyle/>
                    <a:p>
                      <a:pPr algn="ctr"/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КЛЭ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smtClean="0"/>
                        <a:t>КЛЭ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smtClean="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smtClean="0"/>
                        <a:t>КЛЭ</a:t>
                      </a:r>
                      <a:endParaRPr lang="ru-RU" sz="1800" smtClean="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smtClean="0"/>
                        <a:t>КЛЭ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  <a:tr h="20118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1536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  <a:endParaRPr lang="ru-RU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-2560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-536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-3584</a:t>
                      </a:r>
                      <a:endParaRPr lang="ru-RU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-1024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-1536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-512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-1024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-1024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</a:tbl>
          </a:graphicData>
        </a:graphic>
      </p:graphicFrame>
      <p:sp>
        <p:nvSpPr>
          <p:cNvPr id="195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95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857250" y="2619375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2" name="Формула" r:id="rId4" imgW="152280" imgH="203040" progId="Equation.3">
                  <p:embed/>
                </p:oleObj>
              </mc:Choice>
              <mc:Fallback>
                <p:oleObj name="Формула" r:id="rId4" imgW="1522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619375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5"/>
          <p:cNvGraphicFramePr>
            <a:graphicFrameLocks noChangeAspect="1"/>
          </p:cNvGraphicFramePr>
          <p:nvPr/>
        </p:nvGraphicFramePr>
        <p:xfrm>
          <a:off x="3000375" y="2619375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3" name="Формула" r:id="rId6" imgW="152280" imgH="203040" progId="Equation.3">
                  <p:embed/>
                </p:oleObj>
              </mc:Choice>
              <mc:Fallback>
                <p:oleObj name="Формула" r:id="rId6" imgW="1522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619375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6"/>
          <p:cNvGraphicFramePr>
            <a:graphicFrameLocks noChangeAspect="1"/>
          </p:cNvGraphicFramePr>
          <p:nvPr/>
        </p:nvGraphicFramePr>
        <p:xfrm>
          <a:off x="5143500" y="2619375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4" name="Формула" r:id="rId7" imgW="152280" imgH="203040" progId="Equation.3">
                  <p:embed/>
                </p:oleObj>
              </mc:Choice>
              <mc:Fallback>
                <p:oleObj name="Формула" r:id="rId7" imgW="1522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2619375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7"/>
          <p:cNvGraphicFramePr>
            <a:graphicFrameLocks noChangeAspect="1"/>
          </p:cNvGraphicFramePr>
          <p:nvPr/>
        </p:nvGraphicFramePr>
        <p:xfrm>
          <a:off x="7072313" y="2619375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5" name="Формула" r:id="rId8" imgW="152280" imgH="203040" progId="Equation.3">
                  <p:embed/>
                </p:oleObj>
              </mc:Choice>
              <mc:Fallback>
                <p:oleObj name="Формула" r:id="rId8" imgW="1522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2619375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8"/>
          <p:cNvGraphicFramePr>
            <a:graphicFrameLocks noChangeAspect="1"/>
          </p:cNvGraphicFramePr>
          <p:nvPr/>
        </p:nvGraphicFramePr>
        <p:xfrm>
          <a:off x="1200150" y="2071688"/>
          <a:ext cx="8001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6" name="Формула" r:id="rId9" imgW="355320" imgH="215640" progId="Equation.3">
                  <p:embed/>
                </p:oleObj>
              </mc:Choice>
              <mc:Fallback>
                <p:oleObj name="Формула" r:id="rId9" imgW="3553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071688"/>
                        <a:ext cx="8001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9"/>
          <p:cNvGraphicFramePr>
            <a:graphicFrameLocks noChangeAspect="1"/>
          </p:cNvGraphicFramePr>
          <p:nvPr/>
        </p:nvGraphicFramePr>
        <p:xfrm>
          <a:off x="3171825" y="2071688"/>
          <a:ext cx="8572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7" name="Формула" r:id="rId11" imgW="380880" imgH="215640" progId="Equation.3">
                  <p:embed/>
                </p:oleObj>
              </mc:Choice>
              <mc:Fallback>
                <p:oleObj name="Формула" r:id="rId11" imgW="3808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2071688"/>
                        <a:ext cx="85725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10"/>
          <p:cNvGraphicFramePr>
            <a:graphicFrameLocks noChangeAspect="1"/>
          </p:cNvGraphicFramePr>
          <p:nvPr/>
        </p:nvGraphicFramePr>
        <p:xfrm>
          <a:off x="5257800" y="2060575"/>
          <a:ext cx="8286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Формула" r:id="rId13" imgW="368280" imgH="228600" progId="Equation.3">
                  <p:embed/>
                </p:oleObj>
              </mc:Choice>
              <mc:Fallback>
                <p:oleObj name="Формула" r:id="rId13" imgW="36828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060575"/>
                        <a:ext cx="8286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11"/>
          <p:cNvGraphicFramePr>
            <a:graphicFrameLocks noChangeAspect="1"/>
          </p:cNvGraphicFramePr>
          <p:nvPr/>
        </p:nvGraphicFramePr>
        <p:xfrm>
          <a:off x="7315200" y="2071688"/>
          <a:ext cx="8572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9" name="Формула" r:id="rId15" imgW="380880" imgH="215640" progId="Equation.3">
                  <p:embed/>
                </p:oleObj>
              </mc:Choice>
              <mc:Fallback>
                <p:oleObj name="Формула" r:id="rId15" imgW="38088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071688"/>
                        <a:ext cx="85725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Прямоугольник с двумя вырезанными противолежащими углами 19"/>
          <p:cNvSpPr/>
          <p:nvPr/>
        </p:nvSpPr>
        <p:spPr>
          <a:xfrm>
            <a:off x="428625" y="5357813"/>
            <a:ext cx="8215313" cy="1071562"/>
          </a:xfrm>
          <a:prstGeom prst="snip2DiagRect">
            <a:avLst/>
          </a:prstGeom>
          <a:blipFill>
            <a:blip r:embed="rId17"/>
            <a:tile tx="0" ty="0" sx="100000" sy="100000" flip="none" algn="tl"/>
          </a:blipFill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Эслатма</a:t>
            </a:r>
            <a:r>
              <a:rPr lang="ru-RU">
                <a:solidFill>
                  <a:srgbClr val="FF0000"/>
                </a:solidFill>
              </a:rPr>
              <a:t>.                                                                                                     </a:t>
            </a:r>
            <a:r>
              <a:rPr lang="ru-RU">
                <a:solidFill>
                  <a:schemeClr val="tx1"/>
                </a:solidFill>
              </a:rPr>
              <a:t>,</a:t>
            </a:r>
          </a:p>
        </p:txBody>
      </p:sp>
      <p:graphicFrame>
        <p:nvGraphicFramePr>
          <p:cNvPr id="19466" name="Object 2"/>
          <p:cNvGraphicFramePr>
            <a:graphicFrameLocks noChangeAspect="1"/>
          </p:cNvGraphicFramePr>
          <p:nvPr/>
        </p:nvGraphicFramePr>
        <p:xfrm>
          <a:off x="1843088" y="5357813"/>
          <a:ext cx="472916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0" name="Формула" r:id="rId18" imgW="1993680" imgH="469800" progId="Equation.3">
                  <p:embed/>
                </p:oleObj>
              </mc:Choice>
              <mc:Fallback>
                <p:oleObj name="Формула" r:id="rId18" imgW="199368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5357813"/>
                        <a:ext cx="4729162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3"/>
          <p:cNvGraphicFramePr>
            <a:graphicFrameLocks noChangeAspect="1"/>
          </p:cNvGraphicFramePr>
          <p:nvPr/>
        </p:nvGraphicFramePr>
        <p:xfrm>
          <a:off x="6786563" y="5643563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Формула" r:id="rId20" imgW="558720" imgH="203040" progId="Equation.3">
                  <p:embed/>
                </p:oleObj>
              </mc:Choice>
              <mc:Fallback>
                <p:oleObj name="Формула" r:id="rId20" imgW="55872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5643563"/>
                        <a:ext cx="1257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4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14282" y="1714488"/>
            <a:ext cx="8715436" cy="4929222"/>
          </a:xfrm>
          <a:prstGeom prst="rect">
            <a:avLst/>
          </a:prstGeom>
          <a:ln>
            <a:noFill/>
            <a:prstDash val="lgDashDot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/>
              <a:t> </a:t>
            </a:r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endParaRPr lang="uz-Cyrl-UZ" sz="2400"/>
          </a:p>
          <a:p>
            <a:pPr>
              <a:defRPr/>
            </a:pPr>
            <a:r>
              <a:rPr lang="uz-Cyrl-UZ" sz="2400"/>
              <a:t>                                                                             ,</a:t>
            </a:r>
            <a:endParaRPr lang="ru-RU" sz="2400"/>
          </a:p>
        </p:txBody>
      </p:sp>
      <p:sp>
        <p:nvSpPr>
          <p:cNvPr id="7" name="Прямоугольник 6"/>
          <p:cNvSpPr/>
          <p:nvPr/>
        </p:nvSpPr>
        <p:spPr>
          <a:xfrm>
            <a:off x="214313" y="295275"/>
            <a:ext cx="8715375" cy="12763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prstDash val="sysDot"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uz-Cyrl-UZ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uz-Cyrl-UZ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Тасдиқ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 шифрлаш алгоритми  S</a:t>
            </a:r>
            <a:r>
              <a:rPr lang="uz-Cyrl-UZ" sz="2400" baseline="-300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блоки  умумий         функциясининг</a:t>
            </a:r>
            <a:r>
              <a:rPr lang="en-US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v-SE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тарқалиш тамойили даражаси </a:t>
            </a:r>
            <a:r>
              <a:rPr lang="uz-Cyrl-UZ" sz="2400">
                <a:solidFill>
                  <a:srgbClr val="0000FF"/>
                </a:solidFill>
              </a:rPr>
              <a:t>нолга</a:t>
            </a:r>
            <a:r>
              <a:rPr lang="uz-Cyrl-UZ" sz="2400">
                <a:solidFill>
                  <a:srgbClr val="0037A4"/>
                </a:solidFill>
              </a:rPr>
              <a:t> тенг бўлади.</a:t>
            </a:r>
            <a:endParaRPr lang="en-US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sz="2400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428625" y="2071688"/>
          <a:ext cx="8224838" cy="301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2980"/>
                <a:gridCol w="1000105"/>
                <a:gridCol w="1224096"/>
                <a:gridCol w="918987"/>
                <a:gridCol w="1214414"/>
                <a:gridCol w="785797"/>
                <a:gridCol w="1071541"/>
                <a:gridCol w="866918"/>
              </a:tblGrid>
              <a:tr h="640147">
                <a:tc gridSpan="2">
                  <a:txBody>
                    <a:bodyPr/>
                    <a:lstStyle/>
                    <a:p>
                      <a:pPr algn="ctr"/>
                      <a:endParaRPr lang="en-US" sz="1800" smtClean="0"/>
                    </a:p>
                    <a:p>
                      <a:pPr algn="ctr"/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smtClean="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98">
                <a:tc>
                  <a:txBody>
                    <a:bodyPr/>
                    <a:lstStyle/>
                    <a:p>
                      <a:pPr algn="ctr"/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КР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КР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smtClean="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smtClean="0"/>
                        <a:t>КР</a:t>
                      </a:r>
                      <a:endParaRPr lang="ru-RU" sz="1800" smtClean="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smtClean="0"/>
                        <a:t>КР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  <a:tr h="20118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1536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  <a:endParaRPr lang="ru-RU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-2560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-536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-3584</a:t>
                      </a:r>
                      <a:endParaRPr lang="ru-RU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-1024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-1536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-2048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-512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000001</a:t>
                      </a:r>
                      <a:endParaRPr kumimoji="0" lang="en-US" sz="18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100000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-1024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-512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-1024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800"/>
                    </a:p>
                  </a:txBody>
                  <a:tcPr marL="91438" marR="9143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857250" y="2762250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4" name="Формула" r:id="rId4" imgW="152280" imgH="203040" progId="Equation.3">
                  <p:embed/>
                </p:oleObj>
              </mc:Choice>
              <mc:Fallback>
                <p:oleObj name="Формула" r:id="rId4" imgW="1522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762250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5"/>
          <p:cNvGraphicFramePr>
            <a:graphicFrameLocks noChangeAspect="1"/>
          </p:cNvGraphicFramePr>
          <p:nvPr/>
        </p:nvGraphicFramePr>
        <p:xfrm>
          <a:off x="3000375" y="2762250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5" name="Формула" r:id="rId6" imgW="152280" imgH="203040" progId="Equation.3">
                  <p:embed/>
                </p:oleObj>
              </mc:Choice>
              <mc:Fallback>
                <p:oleObj name="Формула" r:id="rId6" imgW="1522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762250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6"/>
          <p:cNvGraphicFramePr>
            <a:graphicFrameLocks noChangeAspect="1"/>
          </p:cNvGraphicFramePr>
          <p:nvPr/>
        </p:nvGraphicFramePr>
        <p:xfrm>
          <a:off x="5143500" y="2762250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6" name="Формула" r:id="rId7" imgW="152280" imgH="203040" progId="Equation.3">
                  <p:embed/>
                </p:oleObj>
              </mc:Choice>
              <mc:Fallback>
                <p:oleObj name="Формула" r:id="rId7" imgW="1522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2762250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7"/>
          <p:cNvGraphicFramePr>
            <a:graphicFrameLocks noChangeAspect="1"/>
          </p:cNvGraphicFramePr>
          <p:nvPr/>
        </p:nvGraphicFramePr>
        <p:xfrm>
          <a:off x="7072313" y="2762250"/>
          <a:ext cx="3429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7" name="Формула" r:id="rId8" imgW="152280" imgH="203040" progId="Equation.3">
                  <p:embed/>
                </p:oleObj>
              </mc:Choice>
              <mc:Fallback>
                <p:oleObj name="Формула" r:id="rId8" imgW="1522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2762250"/>
                        <a:ext cx="3429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8"/>
          <p:cNvGraphicFramePr>
            <a:graphicFrameLocks noChangeAspect="1"/>
          </p:cNvGraphicFramePr>
          <p:nvPr/>
        </p:nvGraphicFramePr>
        <p:xfrm>
          <a:off x="1200150" y="2214563"/>
          <a:ext cx="8001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8" name="Формула" r:id="rId9" imgW="355320" imgH="215640" progId="Equation.3">
                  <p:embed/>
                </p:oleObj>
              </mc:Choice>
              <mc:Fallback>
                <p:oleObj name="Формула" r:id="rId9" imgW="3553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214563"/>
                        <a:ext cx="8001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9"/>
          <p:cNvGraphicFramePr>
            <a:graphicFrameLocks noChangeAspect="1"/>
          </p:cNvGraphicFramePr>
          <p:nvPr/>
        </p:nvGraphicFramePr>
        <p:xfrm>
          <a:off x="3171825" y="2214563"/>
          <a:ext cx="8572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9" name="Формула" r:id="rId11" imgW="380880" imgH="215640" progId="Equation.3">
                  <p:embed/>
                </p:oleObj>
              </mc:Choice>
              <mc:Fallback>
                <p:oleObj name="Формула" r:id="rId11" imgW="3808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2214563"/>
                        <a:ext cx="85725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0"/>
          <p:cNvGraphicFramePr>
            <a:graphicFrameLocks noChangeAspect="1"/>
          </p:cNvGraphicFramePr>
          <p:nvPr/>
        </p:nvGraphicFramePr>
        <p:xfrm>
          <a:off x="5257800" y="2203450"/>
          <a:ext cx="8286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0" name="Формула" r:id="rId13" imgW="368280" imgH="228600" progId="Equation.3">
                  <p:embed/>
                </p:oleObj>
              </mc:Choice>
              <mc:Fallback>
                <p:oleObj name="Формула" r:id="rId13" imgW="36828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03450"/>
                        <a:ext cx="8286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11"/>
          <p:cNvGraphicFramePr>
            <a:graphicFrameLocks noChangeAspect="1"/>
          </p:cNvGraphicFramePr>
          <p:nvPr/>
        </p:nvGraphicFramePr>
        <p:xfrm>
          <a:off x="7315200" y="2214563"/>
          <a:ext cx="8572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1" name="Формула" r:id="rId15" imgW="380880" imgH="215640" progId="Equation.3">
                  <p:embed/>
                </p:oleObj>
              </mc:Choice>
              <mc:Fallback>
                <p:oleObj name="Формула" r:id="rId15" imgW="38088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214563"/>
                        <a:ext cx="85725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Прямоугольник с двумя вырезанными противолежащими углами 21"/>
          <p:cNvSpPr/>
          <p:nvPr/>
        </p:nvSpPr>
        <p:spPr>
          <a:xfrm>
            <a:off x="500063" y="5357813"/>
            <a:ext cx="8215312" cy="1071562"/>
          </a:xfrm>
          <a:prstGeom prst="snip2DiagRect">
            <a:avLst/>
          </a:prstGeom>
          <a:blipFill>
            <a:blip r:embed="rId17"/>
            <a:tile tx="0" ty="0" sx="100000" sy="100000" flip="none" algn="tl"/>
          </a:blipFill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Эслатма</a:t>
            </a:r>
            <a:r>
              <a:rPr lang="ru-RU">
                <a:solidFill>
                  <a:srgbClr val="FF0000"/>
                </a:solidFill>
              </a:rPr>
              <a:t>.                                                                                              </a:t>
            </a:r>
            <a:r>
              <a:rPr lang="ru-RU">
                <a:solidFill>
                  <a:schemeClr val="tx1"/>
                </a:solidFill>
              </a:rPr>
              <a:t>,</a:t>
            </a:r>
          </a:p>
        </p:txBody>
      </p:sp>
      <p:graphicFrame>
        <p:nvGraphicFramePr>
          <p:cNvPr id="20490" name="Object 3"/>
          <p:cNvGraphicFramePr>
            <a:graphicFrameLocks noChangeAspect="1"/>
          </p:cNvGraphicFramePr>
          <p:nvPr/>
        </p:nvGraphicFramePr>
        <p:xfrm>
          <a:off x="1830388" y="5357813"/>
          <a:ext cx="445611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2" name="Формула" r:id="rId18" imgW="1879560" imgH="469800" progId="Equation.3">
                  <p:embed/>
                </p:oleObj>
              </mc:Choice>
              <mc:Fallback>
                <p:oleObj name="Формула" r:id="rId18" imgW="187956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5357813"/>
                        <a:ext cx="4456112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2"/>
          <p:cNvGraphicFramePr>
            <a:graphicFrameLocks noChangeAspect="1"/>
          </p:cNvGraphicFramePr>
          <p:nvPr/>
        </p:nvGraphicFramePr>
        <p:xfrm>
          <a:off x="6572250" y="5691188"/>
          <a:ext cx="1743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3" name="Формула" r:id="rId20" imgW="774360" imgH="203040" progId="Equation.3">
                  <p:embed/>
                </p:oleObj>
              </mc:Choice>
              <mc:Fallback>
                <p:oleObj name="Формула" r:id="rId20" imgW="77436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5691188"/>
                        <a:ext cx="17430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04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42844" y="785794"/>
            <a:ext cx="8858312" cy="578647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sv-SE" sz="2400"/>
              <a:t> </a:t>
            </a:r>
            <a:endParaRPr lang="en-US" sz="240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14282" y="1428736"/>
          <a:ext cx="2357454" cy="37862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57454"/>
              </a:tblGrid>
              <a:tr h="763048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950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балансланганлик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74752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регулярлик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deg(f)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</a:t>
                      </a:r>
                      <a:r>
                        <a:rPr lang="ru-RU" smtClean="0"/>
                        <a:t>Ф)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CI(f)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SAC(f)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КР</a:t>
                      </a:r>
                      <a:r>
                        <a:rPr lang="en-US" smtClean="0"/>
                        <a:t>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601913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4102100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5602288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7102475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S4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sp>
        <p:nvSpPr>
          <p:cNvPr id="51425" name="TextBox 11"/>
          <p:cNvSpPr txBox="1">
            <a:spLocks noChangeArrowheads="1"/>
          </p:cNvSpPr>
          <p:nvPr/>
        </p:nvSpPr>
        <p:spPr bwMode="auto">
          <a:xfrm>
            <a:off x="285750" y="285750"/>
            <a:ext cx="8550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криптоалгоритми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блоклари учун умумий талаблар бўйича баҳолаш жадвали</a:t>
            </a:r>
            <a:endParaRPr lang="ru-RU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426" name="TextBox 13"/>
          <p:cNvSpPr txBox="1">
            <a:spLocks noChangeArrowheads="1"/>
          </p:cNvSpPr>
          <p:nvPr/>
        </p:nvSpPr>
        <p:spPr bwMode="auto">
          <a:xfrm>
            <a:off x="1000125" y="1571625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</a:t>
            </a:r>
            <a:endParaRPr lang="ru-RU" sz="2000" b="1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64293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28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42844" y="785794"/>
            <a:ext cx="8858312" cy="578647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sv-SE" sz="2400"/>
              <a:t> </a:t>
            </a:r>
            <a:endParaRPr lang="en-US" sz="240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14282" y="1428736"/>
          <a:ext cx="2357454" cy="37862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57454"/>
              </a:tblGrid>
              <a:tr h="763048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950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балансланганлик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74752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регулярлик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deg(f)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</a:t>
                      </a:r>
                      <a:r>
                        <a:rPr lang="ru-RU" smtClean="0"/>
                        <a:t>Ф)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CI(f)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SAC(f)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КР</a:t>
                      </a:r>
                      <a:r>
                        <a:rPr lang="en-US" smtClean="0"/>
                        <a:t>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601913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4102100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S6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18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5602288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S7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18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7102475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S8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20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22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sp>
        <p:nvSpPr>
          <p:cNvPr id="52449" name="TextBox 11"/>
          <p:cNvSpPr txBox="1">
            <a:spLocks noChangeArrowheads="1"/>
          </p:cNvSpPr>
          <p:nvPr/>
        </p:nvSpPr>
        <p:spPr bwMode="auto">
          <a:xfrm>
            <a:off x="1000125" y="1571625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DES</a:t>
            </a:r>
            <a:endParaRPr lang="ru-RU" sz="2000" b="1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450" name="TextBox 13"/>
          <p:cNvSpPr txBox="1">
            <a:spLocks noChangeArrowheads="1"/>
          </p:cNvSpPr>
          <p:nvPr/>
        </p:nvSpPr>
        <p:spPr bwMode="auto">
          <a:xfrm>
            <a:off x="285750" y="285750"/>
            <a:ext cx="854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криптоалгоритми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блоклари учун умумий талаблар бўйича баҳолаш жадвали</a:t>
            </a:r>
            <a:endParaRPr lang="ru-RU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927100"/>
            <a:ext cx="8572500" cy="158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2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42844" y="1142984"/>
            <a:ext cx="8858312" cy="55007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sv-SE" sz="2400"/>
              <a:t> </a:t>
            </a:r>
            <a:endParaRPr lang="en-US" sz="240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14282" y="1428736"/>
          <a:ext cx="2357454" cy="37862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57454"/>
              </a:tblGrid>
              <a:tr h="763048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950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балансланганлик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74752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регулярлик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deg(f)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</a:t>
                      </a:r>
                      <a:r>
                        <a:rPr lang="ru-RU" smtClean="0"/>
                        <a:t>Ф)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CI(f)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SAC(f)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КР</a:t>
                      </a:r>
                      <a:r>
                        <a:rPr lang="en-US" smtClean="0"/>
                        <a:t>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601913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uz-Cyrl-UZ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uz-Cyrl-UZ" sz="1800" smtClean="0"/>
                        <a:t>4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4102100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5602288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7102475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S4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sp>
        <p:nvSpPr>
          <p:cNvPr id="53473" name="TextBox 11"/>
          <p:cNvSpPr txBox="1">
            <a:spLocks noChangeArrowheads="1"/>
          </p:cNvSpPr>
          <p:nvPr/>
        </p:nvSpPr>
        <p:spPr bwMode="auto">
          <a:xfrm>
            <a:off x="428625" y="1600200"/>
            <a:ext cx="1947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ru-RU" sz="20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ГОСТ 28147-89</a:t>
            </a:r>
          </a:p>
        </p:txBody>
      </p:sp>
      <p:sp>
        <p:nvSpPr>
          <p:cNvPr id="53474" name="TextBox 13"/>
          <p:cNvSpPr txBox="1">
            <a:spLocks noChangeArrowheads="1"/>
          </p:cNvSpPr>
          <p:nvPr/>
        </p:nvSpPr>
        <p:spPr bwMode="auto">
          <a:xfrm>
            <a:off x="357188" y="285750"/>
            <a:ext cx="814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   ГОСТ 28147-89 криптоалгоритми 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S –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блоклари учун умумий талаблар бўйича </a:t>
            </a:r>
          </a:p>
          <a:p>
            <a:pPr eaLnBrk="1" hangingPunct="1"/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баҳолаш жадвали</a:t>
            </a:r>
            <a:endParaRPr lang="ru-RU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4313" y="928688"/>
            <a:ext cx="8572500" cy="1587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6" name="Прямоугольник 5"/>
          <p:cNvSpPr>
            <a:spLocks noChangeArrowheads="1"/>
          </p:cNvSpPr>
          <p:nvPr/>
        </p:nvSpPr>
        <p:spPr bwMode="auto">
          <a:xfrm>
            <a:off x="2457450" y="3244850"/>
            <a:ext cx="185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uz-Cyrl-UZ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42844" y="1071546"/>
            <a:ext cx="8858312" cy="55007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ru-RU" sz="2400"/>
          </a:p>
          <a:p>
            <a:pPr>
              <a:defRPr/>
            </a:pPr>
            <a:r>
              <a:rPr lang="sv-SE" sz="2400"/>
              <a:t> </a:t>
            </a:r>
            <a:endParaRPr lang="en-US" sz="240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14282" y="1428736"/>
          <a:ext cx="2357454" cy="37862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57454"/>
              </a:tblGrid>
              <a:tr h="763048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950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балансланганлик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74752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регулярлик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deg(f)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N(</a:t>
                      </a:r>
                      <a:r>
                        <a:rPr lang="ru-RU" smtClean="0"/>
                        <a:t>Ф)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CI(f)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SAC(f)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  <a:tr h="384155"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КР</a:t>
                      </a:r>
                      <a:r>
                        <a:rPr lang="en-US" smtClean="0"/>
                        <a:t>(F)</a:t>
                      </a:r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601913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S5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4102100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S6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5602288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S7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2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7102475" y="1428750"/>
          <a:ext cx="1470026" cy="37230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7045"/>
                <a:gridCol w="347045"/>
                <a:gridCol w="347045"/>
                <a:gridCol w="428891"/>
              </a:tblGrid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S8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f1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f4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+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39990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/>
                        <a:t>4</a:t>
                      </a:r>
                      <a:endParaRPr lang="ru-RU" sz="1400"/>
                    </a:p>
                  </a:txBody>
                  <a:tcPr marL="91474" marR="91474" marT="45712" marB="45712"/>
                </a:tc>
              </a:tr>
              <a:tr h="3656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</a:t>
                      </a:r>
                      <a:endParaRPr lang="ru-RU" sz="1800"/>
                    </a:p>
                  </a:txBody>
                  <a:tcPr marL="91474" marR="91474" marT="45712" marB="45712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411415"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  <a:tr h="365695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-</a:t>
                      </a:r>
                      <a:endParaRPr lang="ru-RU" sz="1800"/>
                    </a:p>
                  </a:txBody>
                  <a:tcPr marL="91474" marR="91474" marT="45712" marB="45712"/>
                </a:tc>
              </a:tr>
            </a:tbl>
          </a:graphicData>
        </a:graphic>
      </p:graphicFrame>
      <p:sp>
        <p:nvSpPr>
          <p:cNvPr id="54497" name="TextBox 11"/>
          <p:cNvSpPr txBox="1">
            <a:spLocks noChangeArrowheads="1"/>
          </p:cNvSpPr>
          <p:nvPr/>
        </p:nvSpPr>
        <p:spPr bwMode="auto">
          <a:xfrm>
            <a:off x="428625" y="1600200"/>
            <a:ext cx="1947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ru-RU" sz="2000" b="1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ГОСТ 28147-89</a:t>
            </a:r>
          </a:p>
        </p:txBody>
      </p:sp>
      <p:sp>
        <p:nvSpPr>
          <p:cNvPr id="54498" name="TextBox 14"/>
          <p:cNvSpPr txBox="1">
            <a:spLocks noChangeArrowheads="1"/>
          </p:cNvSpPr>
          <p:nvPr/>
        </p:nvSpPr>
        <p:spPr bwMode="auto">
          <a:xfrm>
            <a:off x="425450" y="285750"/>
            <a:ext cx="814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ГОСТ 28147-89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криптоалгоритми 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блоклари учун умумий талаблар бўйича </a:t>
            </a:r>
          </a:p>
          <a:p>
            <a:pPr eaLnBrk="1" hangingPunct="1"/>
            <a:r>
              <a:rPr lang="uz-Cyrl-UZ">
                <a:solidFill>
                  <a:srgbClr val="0037A4"/>
                </a:solidFill>
                <a:latin typeface="Times New Roman" pitchFamily="18" charset="0"/>
                <a:cs typeface="Times New Roman" pitchFamily="18" charset="0"/>
              </a:rPr>
              <a:t>баҳолаш жадвали</a:t>
            </a:r>
            <a:endParaRPr lang="ru-RU">
              <a:solidFill>
                <a:srgbClr val="0037A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Яркая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Delphi_crypto</Template>
  <TotalTime>14750</TotalTime>
  <Words>2409</Words>
  <Application>Microsoft Office PowerPoint</Application>
  <PresentationFormat>Экран (4:3)</PresentationFormat>
  <Paragraphs>1240</Paragraphs>
  <Slides>29</Slides>
  <Notes>1</Notes>
  <HiddenSlides>1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1" baseType="lpstr">
      <vt:lpstr>Справедливость</vt:lpstr>
      <vt:lpstr>Формула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ЦРСиИТ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Iskandar</dc:creator>
  <cp:lastModifiedBy>Microsoft Office</cp:lastModifiedBy>
  <cp:revision>861</cp:revision>
  <dcterms:created xsi:type="dcterms:W3CDTF">2006-01-12T08:11:46Z</dcterms:created>
  <dcterms:modified xsi:type="dcterms:W3CDTF">2020-05-22T03:59:35Z</dcterms:modified>
</cp:coreProperties>
</file>