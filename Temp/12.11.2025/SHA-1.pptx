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sldIdLst>
    <p:sldId id="256" r:id="rId2"/>
    <p:sldId id="257" r:id="rId3"/>
    <p:sldId id="258" r:id="rId4"/>
    <p:sldId id="259" r:id="rId5"/>
    <p:sldId id="260" r:id="rId6"/>
    <p:sldId id="261" r:id="rId7"/>
    <p:sldId id="262" r:id="rId8"/>
    <p:sldId id="263" r:id="rId9"/>
    <p:sldId id="264" r:id="rId10"/>
    <p:sldId id="267" r:id="rId11"/>
    <p:sldId id="268" r:id="rId12"/>
    <p:sldId id="265" r:id="rId13"/>
    <p:sldId id="266" r:id="rId14"/>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10" d="100"/>
          <a:sy n="110" d="100"/>
        </p:scale>
        <p:origin x="594" y="10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presProps" Target="pres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s>
</file>

<file path=ppt/slideLayouts/_rels/slideLayout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Титульный слайд">
    <p:spTree>
      <p:nvGrpSpPr>
        <p:cNvPr id="1" name=""/>
        <p:cNvGrpSpPr/>
        <p:nvPr/>
      </p:nvGrpSpPr>
      <p:grpSpPr>
        <a:xfrm>
          <a:off x="0" y="0"/>
          <a:ext cx="0" cy="0"/>
          <a:chOff x="0" y="0"/>
          <a:chExt cx="0" cy="0"/>
        </a:xfrm>
      </p:grpSpPr>
      <p:grpSp>
        <p:nvGrpSpPr>
          <p:cNvPr id="7" name="Group 6"/>
          <p:cNvGrpSpPr/>
          <p:nvPr/>
        </p:nvGrpSpPr>
        <p:grpSpPr>
          <a:xfrm>
            <a:off x="-16934" y="0"/>
            <a:ext cx="12231160" cy="6856214"/>
            <a:chOff x="-16934" y="0"/>
            <a:chExt cx="12231160" cy="6856214"/>
          </a:xfrm>
        </p:grpSpPr>
        <p:pic>
          <p:nvPicPr>
            <p:cNvPr id="16" name="Picture 15" descr="HD-PanelTitleR1.png"/>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26" name="Rectangle 25"/>
            <p:cNvSpPr/>
            <p:nvPr/>
          </p:nvSpPr>
          <p:spPr>
            <a:xfrm>
              <a:off x="2328332" y="1540931"/>
              <a:ext cx="7543802" cy="3835401"/>
            </a:xfrm>
            <a:prstGeom prst="rect">
              <a:avLst/>
            </a:prstGeom>
            <a:noFill/>
            <a:ln w="15875">
              <a:miter lim="800000"/>
            </a:ln>
          </p:spPr>
          <p:style>
            <a:lnRef idx="1">
              <a:schemeClr val="accent1"/>
            </a:lnRef>
            <a:fillRef idx="3">
              <a:schemeClr val="accent1"/>
            </a:fillRef>
            <a:effectRef idx="2">
              <a:schemeClr val="accent1"/>
            </a:effectRef>
            <a:fontRef idx="minor">
              <a:schemeClr val="lt1"/>
            </a:fontRef>
          </p:style>
        </p:sp>
        <p:pic>
          <p:nvPicPr>
            <p:cNvPr id="17" name="Picture 16"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16934" y="3147609"/>
              <a:ext cx="2478024" cy="612648"/>
            </a:xfrm>
            <a:prstGeom prst="rect">
              <a:avLst/>
            </a:prstGeom>
          </p:spPr>
        </p:pic>
        <p:pic>
          <p:nvPicPr>
            <p:cNvPr id="20" name="Picture 19" descr="HDRibbonTitle-UniformTrim.png"/>
            <p:cNvPicPr>
              <a:picLocks noChangeAspect="1"/>
            </p:cNvPicPr>
            <p:nvPr/>
          </p:nvPicPr>
          <p:blipFill rotWithShape="1">
            <a:blip r:embed="rId3">
              <a:extLst>
                <a:ext uri="{28A0092B-C50C-407E-A947-70E740481C1C}">
                  <a14:useLocalDpi xmlns:a14="http://schemas.microsoft.com/office/drawing/2010/main" val="0"/>
                </a:ext>
              </a:extLst>
            </a:blip>
            <a:srcRect/>
            <a:stretch/>
          </p:blipFill>
          <p:spPr>
            <a:xfrm>
              <a:off x="9736202" y="3147609"/>
              <a:ext cx="2478024" cy="612648"/>
            </a:xfrm>
            <a:prstGeom prst="rect">
              <a:avLst/>
            </a:prstGeom>
          </p:spPr>
        </p:pic>
      </p:grpSp>
      <p:sp>
        <p:nvSpPr>
          <p:cNvPr id="2" name="Title 1"/>
          <p:cNvSpPr>
            <a:spLocks noGrp="1"/>
          </p:cNvSpPr>
          <p:nvPr>
            <p:ph type="ctrTitle"/>
          </p:nvPr>
        </p:nvSpPr>
        <p:spPr>
          <a:xfrm>
            <a:off x="2692398" y="1871131"/>
            <a:ext cx="6815669" cy="1515533"/>
          </a:xfrm>
        </p:spPr>
        <p:txBody>
          <a:bodyPr anchor="b">
            <a:noAutofit/>
          </a:bodyPr>
          <a:lstStyle>
            <a:lvl1pPr algn="ctr">
              <a:defRPr sz="5400">
                <a:effectLst/>
              </a:defRPr>
            </a:lvl1pPr>
          </a:lstStyle>
          <a:p>
            <a:r>
              <a:rPr lang="ru-RU" smtClean="0"/>
              <a:t>Образец заголовка</a:t>
            </a:r>
            <a:endParaRPr lang="en-US" dirty="0"/>
          </a:p>
        </p:txBody>
      </p:sp>
      <p:sp>
        <p:nvSpPr>
          <p:cNvPr id="3" name="Subtitle 2"/>
          <p:cNvSpPr>
            <a:spLocks noGrp="1"/>
          </p:cNvSpPr>
          <p:nvPr>
            <p:ph type="subTitle" idx="1"/>
          </p:nvPr>
        </p:nvSpPr>
        <p:spPr>
          <a:xfrm>
            <a:off x="2692398" y="3657597"/>
            <a:ext cx="6815669" cy="1320802"/>
          </a:xfrm>
        </p:spPr>
        <p:txBody>
          <a:bodyPr anchor="t">
            <a:normAutofit/>
          </a:bodyPr>
          <a:lstStyle>
            <a:lvl1pPr marL="0" indent="0" algn="ctr">
              <a:buNone/>
              <a:defRPr sz="2100">
                <a:solidFill>
                  <a:schemeClr val="tx1"/>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ru-RU" smtClean="0"/>
              <a:t>Образец подзаголовка</a:t>
            </a:r>
            <a:endParaRPr lang="en-US" dirty="0"/>
          </a:p>
        </p:txBody>
      </p:sp>
      <p:sp>
        <p:nvSpPr>
          <p:cNvPr id="4" name="Date Placeholder 3"/>
          <p:cNvSpPr>
            <a:spLocks noGrp="1"/>
          </p:cNvSpPr>
          <p:nvPr>
            <p:ph type="dt" sz="half" idx="10"/>
          </p:nvPr>
        </p:nvSpPr>
        <p:spPr>
          <a:xfrm>
            <a:off x="7983232" y="5037663"/>
            <a:ext cx="897467" cy="279400"/>
          </a:xfrm>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a:xfrm>
            <a:off x="2692397" y="5037663"/>
            <a:ext cx="5214635" cy="279400"/>
          </a:xfrm>
        </p:spPr>
        <p:txBody>
          <a:bodyPr/>
          <a:lstStyle/>
          <a:p>
            <a:endParaRPr lang="en-US"/>
          </a:p>
        </p:txBody>
      </p:sp>
      <p:sp>
        <p:nvSpPr>
          <p:cNvPr id="6" name="Slide Number Placeholder 5"/>
          <p:cNvSpPr>
            <a:spLocks noGrp="1"/>
          </p:cNvSpPr>
          <p:nvPr>
            <p:ph type="sldNum" sz="quarter" idx="12"/>
          </p:nvPr>
        </p:nvSpPr>
        <p:spPr>
          <a:xfrm>
            <a:off x="8956900" y="5037663"/>
            <a:ext cx="551167" cy="279400"/>
          </a:xfrm>
        </p:spPr>
        <p:txBody>
          <a:bodyPr/>
          <a:lstStyle/>
          <a:p>
            <a:fld id="{3DD4E084-CBDB-462C-8CAD-DFD6E1A8A146}" type="slidenum">
              <a:rPr lang="en-US" smtClean="0"/>
              <a:t>‹#›</a:t>
            </a:fld>
            <a:endParaRPr lang="en-US"/>
          </a:p>
        </p:txBody>
      </p:sp>
      <p:cxnSp>
        <p:nvCxnSpPr>
          <p:cNvPr id="15" name="Straight Connector 14"/>
          <p:cNvCxnSpPr/>
          <p:nvPr/>
        </p:nvCxnSpPr>
        <p:spPr>
          <a:xfrm>
            <a:off x="2692399" y="3522131"/>
            <a:ext cx="6815668" cy="0"/>
          </a:xfrm>
          <a:prstGeom prst="line">
            <a:avLst/>
          </a:prstGeom>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9358891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cxnSp>
        <p:nvCxnSpPr>
          <p:cNvPr id="7" name="Straight Connector 6"/>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idx="1"/>
          </p:nvPr>
        </p:nvSpPr>
        <p:spPr/>
        <p:txBody>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271540734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2015069" y="1752606"/>
            <a:ext cx="8158688" cy="1822514"/>
          </a:xfrm>
        </p:spPr>
        <p:txBody>
          <a:bodyPr anchor="b">
            <a:normAutofit/>
          </a:bodyPr>
          <a:lstStyle>
            <a:lvl1pPr algn="ctr">
              <a:defRPr sz="44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2015067" y="3846051"/>
            <a:ext cx="8158690" cy="954547"/>
          </a:xfrm>
        </p:spPr>
        <p:txBody>
          <a:bodyPr anchor="t">
            <a:normAutofit/>
          </a:bodyPr>
          <a:lstStyle>
            <a:lvl1pPr marL="0" indent="0" algn="ctr">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cxnSp>
        <p:nvCxnSpPr>
          <p:cNvPr id="16" name="Straight Connector 15"/>
          <p:cNvCxnSpPr/>
          <p:nvPr/>
        </p:nvCxnSpPr>
        <p:spPr>
          <a:xfrm>
            <a:off x="2012723" y="3710585"/>
            <a:ext cx="8163380"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31625950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cxnSp>
        <p:nvCxnSpPr>
          <p:cNvPr id="8" name="Straight Connector 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
        <p:nvSpPr>
          <p:cNvPr id="2" name="Title 1"/>
          <p:cNvSpPr>
            <a:spLocks noGrp="1"/>
          </p:cNvSpPr>
          <p:nvPr>
            <p:ph type="title"/>
          </p:nvPr>
        </p:nvSpPr>
        <p:spPr/>
        <p:txBody>
          <a:bodyPr/>
          <a:lstStyle/>
          <a:p>
            <a:r>
              <a:rPr lang="ru-RU" smtClean="0"/>
              <a:t>Образец заголовка</a:t>
            </a:r>
            <a:endParaRPr lang="en-US" dirty="0"/>
          </a:p>
        </p:txBody>
      </p:sp>
      <p:sp>
        <p:nvSpPr>
          <p:cNvPr id="3" name="Content Placeholder 2"/>
          <p:cNvSpPr>
            <a:spLocks noGrp="1"/>
          </p:cNvSpPr>
          <p:nvPr>
            <p:ph sz="half" idx="1"/>
          </p:nvPr>
        </p:nvSpPr>
        <p:spPr>
          <a:xfrm>
            <a:off x="1298448"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Content Placeholder 3"/>
          <p:cNvSpPr>
            <a:spLocks noGrp="1"/>
          </p:cNvSpPr>
          <p:nvPr>
            <p:ph sz="half" idx="2"/>
          </p:nvPr>
        </p:nvSpPr>
        <p:spPr>
          <a:xfrm>
            <a:off x="6181344" y="2560320"/>
            <a:ext cx="4718304" cy="3310128"/>
          </a:xfrm>
        </p:spPr>
        <p:txBody>
          <a:bodyP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Date Placeholder 4"/>
          <p:cNvSpPr>
            <a:spLocks noGrp="1"/>
          </p:cNvSpPr>
          <p:nvPr>
            <p:ph type="dt" sz="half" idx="10"/>
          </p:nvPr>
        </p:nvSpPr>
        <p:spPr/>
        <p:txBody>
          <a:bodyPr/>
          <a:lstStyle/>
          <a:p>
            <a:fld id="{B15377B7-99C4-4568-A7CC-D5469636D66D}"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23004991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ru-RU" smtClean="0"/>
              <a:t>Образец заголовка</a:t>
            </a:r>
            <a:endParaRPr lang="en-US" dirty="0"/>
          </a:p>
        </p:txBody>
      </p:sp>
      <p:sp>
        <p:nvSpPr>
          <p:cNvPr id="3" name="Text Placeholder 2"/>
          <p:cNvSpPr>
            <a:spLocks noGrp="1"/>
          </p:cNvSpPr>
          <p:nvPr>
            <p:ph type="body" idx="1"/>
          </p:nvPr>
        </p:nvSpPr>
        <p:spPr>
          <a:xfrm>
            <a:off x="129540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4" name="Content Placeholder 3"/>
          <p:cNvSpPr>
            <a:spLocks noGrp="1"/>
          </p:cNvSpPr>
          <p:nvPr>
            <p:ph sz="half" idx="2"/>
          </p:nvPr>
        </p:nvSpPr>
        <p:spPr>
          <a:xfrm>
            <a:off x="129540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5" name="Text Placeholder 4"/>
          <p:cNvSpPr>
            <a:spLocks noGrp="1"/>
          </p:cNvSpPr>
          <p:nvPr>
            <p:ph type="body" sz="quarter" idx="3"/>
          </p:nvPr>
        </p:nvSpPr>
        <p:spPr>
          <a:xfrm>
            <a:off x="6180670" y="2658533"/>
            <a:ext cx="4718304" cy="576262"/>
          </a:xfrm>
        </p:spPr>
        <p:txBody>
          <a:bodyPr anchor="b">
            <a:noAutofit/>
          </a:bodyPr>
          <a:lstStyle>
            <a:lvl1pPr marL="0" indent="0">
              <a:spcBef>
                <a:spcPts val="672"/>
              </a:spcBef>
              <a:spcAft>
                <a:spcPts val="600"/>
              </a:spcAft>
              <a:buNone/>
              <a:defRPr sz="2800" b="0">
                <a:solidFill>
                  <a:schemeClr val="accent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smtClean="0"/>
              <a:t>Образец текста</a:t>
            </a:r>
          </a:p>
        </p:txBody>
      </p:sp>
      <p:sp>
        <p:nvSpPr>
          <p:cNvPr id="6" name="Content Placeholder 5"/>
          <p:cNvSpPr>
            <a:spLocks noGrp="1"/>
          </p:cNvSpPr>
          <p:nvPr>
            <p:ph sz="quarter" idx="4"/>
          </p:nvPr>
        </p:nvSpPr>
        <p:spPr>
          <a:xfrm>
            <a:off x="6180670" y="3243262"/>
            <a:ext cx="4718304" cy="2632605"/>
          </a:xfrm>
        </p:spPr>
        <p:txBody>
          <a:bodyPr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7" name="Date Placeholder 6"/>
          <p:cNvSpPr>
            <a:spLocks noGrp="1"/>
          </p:cNvSpPr>
          <p:nvPr>
            <p:ph type="dt" sz="half" idx="10"/>
          </p:nvPr>
        </p:nvSpPr>
        <p:spPr/>
        <p:txBody>
          <a:bodyPr/>
          <a:lstStyle/>
          <a:p>
            <a:fld id="{B15377B7-99C4-4568-A7CC-D5469636D66D}" type="datetimeFigureOut">
              <a:rPr lang="en-US" smtClean="0"/>
              <a:t>12/11/2023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DD4E084-CBDB-462C-8CAD-DFD6E1A8A146}" type="slidenum">
              <a:rPr lang="en-US" smtClean="0"/>
              <a:t>‹#›</a:t>
            </a:fld>
            <a:endParaRPr lang="en-US"/>
          </a:p>
        </p:txBody>
      </p:sp>
      <p:cxnSp>
        <p:nvCxnSpPr>
          <p:cNvPr id="18" name="Straight Connector 17"/>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9118543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smtClean="0"/>
              <a:t>Образец заголовка</a:t>
            </a:r>
            <a:endParaRPr lang="en-US" dirty="0"/>
          </a:p>
        </p:txBody>
      </p:sp>
      <p:sp>
        <p:nvSpPr>
          <p:cNvPr id="3" name="Date Placeholder 2"/>
          <p:cNvSpPr>
            <a:spLocks noGrp="1"/>
          </p:cNvSpPr>
          <p:nvPr>
            <p:ph type="dt" sz="half" idx="10"/>
          </p:nvPr>
        </p:nvSpPr>
        <p:spPr/>
        <p:txBody>
          <a:bodyPr/>
          <a:lstStyle/>
          <a:p>
            <a:fld id="{B15377B7-99C4-4568-A7CC-D5469636D66D}" type="datetimeFigureOut">
              <a:rPr lang="en-US" smtClean="0"/>
              <a:t>12/11/2023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DD4E084-CBDB-462C-8CAD-DFD6E1A8A14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86241716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15377B7-99C4-4568-A7CC-D5469636D66D}" type="datetimeFigureOut">
              <a:rPr lang="en-US" smtClean="0"/>
              <a:t>12/11/2023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208880148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3811" y="1388534"/>
            <a:ext cx="3718455" cy="1371600"/>
          </a:xfrm>
        </p:spPr>
        <p:txBody>
          <a:bodyPr anchor="b">
            <a:normAutofit/>
          </a:bodyPr>
          <a:lstStyle>
            <a:lvl1pPr algn="ctr">
              <a:defRPr sz="2400" b="0"/>
            </a:lvl1pPr>
          </a:lstStyle>
          <a:p>
            <a:r>
              <a:rPr lang="ru-RU" smtClean="0"/>
              <a:t>Образец заголовка</a:t>
            </a:r>
            <a:endParaRPr lang="en-US" dirty="0"/>
          </a:p>
        </p:txBody>
      </p:sp>
      <p:sp>
        <p:nvSpPr>
          <p:cNvPr id="3" name="Content Placeholder 2"/>
          <p:cNvSpPr>
            <a:spLocks noGrp="1"/>
          </p:cNvSpPr>
          <p:nvPr>
            <p:ph idx="1"/>
          </p:nvPr>
        </p:nvSpPr>
        <p:spPr>
          <a:xfrm>
            <a:off x="5418668" y="982131"/>
            <a:ext cx="5469466" cy="4893735"/>
          </a:xfrm>
        </p:spPr>
        <p:txBody>
          <a:bodyPr anchor="ctr">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Text Placeholder 3"/>
          <p:cNvSpPr>
            <a:spLocks noGrp="1"/>
          </p:cNvSpPr>
          <p:nvPr>
            <p:ph type="body" sz="half" idx="2"/>
          </p:nvPr>
        </p:nvSpPr>
        <p:spPr>
          <a:xfrm>
            <a:off x="1293811" y="3031065"/>
            <a:ext cx="3718455" cy="2438404"/>
          </a:xfrm>
        </p:spPr>
        <p:txBody>
          <a:bodyPr anchor="t">
            <a:normAutofit/>
          </a:bodyPr>
          <a:lstStyle>
            <a:lvl1pPr marL="0" indent="0" algn="ctr">
              <a:buNone/>
              <a:defRPr sz="16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15377B7-99C4-4568-A7CC-D5469636D66D}"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4E084-CBDB-462C-8CAD-DFD6E1A8A146}" type="slidenum">
              <a:rPr lang="en-US" smtClean="0"/>
              <a:t>‹#›</a:t>
            </a:fld>
            <a:endParaRPr lang="en-US"/>
          </a:p>
        </p:txBody>
      </p:sp>
      <p:cxnSp>
        <p:nvCxnSpPr>
          <p:cNvPr id="16" name="Straight Connector 15"/>
          <p:cNvCxnSpPr/>
          <p:nvPr/>
        </p:nvCxnSpPr>
        <p:spPr>
          <a:xfrm>
            <a:off x="1396169" y="2912533"/>
            <a:ext cx="35144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4752211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399" y="1883832"/>
            <a:ext cx="6241816" cy="1371600"/>
          </a:xfrm>
        </p:spPr>
        <p:txBody>
          <a:bodyPr anchor="b">
            <a:normAutofit/>
          </a:bodyPr>
          <a:lstStyle>
            <a:lvl1pPr algn="ctr">
              <a:defRPr sz="2800" b="0"/>
            </a:lvl1pPr>
          </a:lstStyle>
          <a:p>
            <a:r>
              <a:rPr lang="ru-RU" smtClean="0"/>
              <a:t>Образец заголовка</a:t>
            </a:r>
            <a:endParaRPr lang="en-US" dirty="0"/>
          </a:p>
        </p:txBody>
      </p:sp>
      <p:sp>
        <p:nvSpPr>
          <p:cNvPr id="17" name="Picture Placeholder 2"/>
          <p:cNvSpPr>
            <a:spLocks noGrp="1" noChangeAspect="1"/>
          </p:cNvSpPr>
          <p:nvPr>
            <p:ph type="pic" idx="1"/>
          </p:nvPr>
        </p:nvSpPr>
        <p:spPr>
          <a:xfrm>
            <a:off x="8094831" y="1041400"/>
            <a:ext cx="3063347" cy="4775200"/>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399" y="3255432"/>
            <a:ext cx="6241816" cy="1828800"/>
          </a:xfrm>
        </p:spPr>
        <p:txBody>
          <a:bodyPr anchor="t">
            <a:normAutofit/>
          </a:bodyPr>
          <a:lstStyle>
            <a:lvl1pPr marL="0" indent="0" algn="ctr">
              <a:buNone/>
              <a:defRPr sz="18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15377B7-99C4-4568-A7CC-D5469636D66D}"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4794861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Панорамная фотография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295401" y="4815415"/>
            <a:ext cx="9609666" cy="566738"/>
          </a:xfrm>
        </p:spPr>
        <p:txBody>
          <a:bodyPr anchor="b">
            <a:normAutofit/>
          </a:bodyPr>
          <a:lstStyle>
            <a:lvl1pPr algn="ctr">
              <a:defRPr sz="2400" b="0"/>
            </a:lvl1pPr>
          </a:lstStyle>
          <a:p>
            <a:r>
              <a:rPr lang="ru-RU" smtClean="0"/>
              <a:t>Образец заголовка</a:t>
            </a:r>
            <a:endParaRPr lang="en-US" dirty="0"/>
          </a:p>
        </p:txBody>
      </p:sp>
      <p:sp>
        <p:nvSpPr>
          <p:cNvPr id="3" name="Picture Placeholder 2"/>
          <p:cNvSpPr>
            <a:spLocks noGrp="1" noChangeAspect="1"/>
          </p:cNvSpPr>
          <p:nvPr>
            <p:ph type="pic" idx="1"/>
          </p:nvPr>
        </p:nvSpPr>
        <p:spPr>
          <a:xfrm>
            <a:off x="1041427" y="1041399"/>
            <a:ext cx="10105972" cy="3335869"/>
          </a:xfrm>
          <a:prstGeom prst="roundRect">
            <a:avLst>
              <a:gd name="adj" fmla="val 0"/>
            </a:avLst>
          </a:prstGeom>
          <a:ln w="57150" cmpd="thickThin">
            <a:solidFill>
              <a:schemeClr val="tx1">
                <a:lumMod val="50000"/>
                <a:lumOff val="50000"/>
              </a:schemeClr>
            </a:solidFill>
            <a:miter lim="800000"/>
          </a:ln>
          <a:effectLst>
            <a:innerShdw blurRad="57150" dist="38100" dir="14460000">
              <a:srgbClr val="000000">
                <a:alpha val="70000"/>
              </a:srgbClr>
            </a:innerShdw>
          </a:effectLst>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ru-RU" smtClean="0"/>
              <a:t>Вставка рисунка</a:t>
            </a:r>
            <a:endParaRPr lang="en-US" dirty="0"/>
          </a:p>
        </p:txBody>
      </p:sp>
      <p:sp>
        <p:nvSpPr>
          <p:cNvPr id="4" name="Text Placeholder 3"/>
          <p:cNvSpPr>
            <a:spLocks noGrp="1"/>
          </p:cNvSpPr>
          <p:nvPr>
            <p:ph type="body" sz="half" idx="2"/>
          </p:nvPr>
        </p:nvSpPr>
        <p:spPr>
          <a:xfrm>
            <a:off x="1295401" y="5382153"/>
            <a:ext cx="9609666" cy="493712"/>
          </a:xfrm>
        </p:spPr>
        <p:txBody>
          <a:bodyPr>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smtClean="0"/>
              <a:t>Образец текста</a:t>
            </a:r>
          </a:p>
        </p:txBody>
      </p:sp>
      <p:sp>
        <p:nvSpPr>
          <p:cNvPr id="5" name="Date Placeholder 4"/>
          <p:cNvSpPr>
            <a:spLocks noGrp="1"/>
          </p:cNvSpPr>
          <p:nvPr>
            <p:ph type="dt" sz="half" idx="10"/>
          </p:nvPr>
        </p:nvSpPr>
        <p:spPr/>
        <p:txBody>
          <a:bodyPr/>
          <a:lstStyle/>
          <a:p>
            <a:fld id="{B15377B7-99C4-4568-A7CC-D5469636D66D}" type="datetimeFigureOut">
              <a:rPr lang="en-US" smtClean="0"/>
              <a:t>12/11/2023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35129169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Заголовок и подпись">
    <p:spTree>
      <p:nvGrpSpPr>
        <p:cNvPr id="1" name=""/>
        <p:cNvGrpSpPr/>
        <p:nvPr/>
      </p:nvGrpSpPr>
      <p:grpSpPr>
        <a:xfrm>
          <a:off x="0" y="0"/>
          <a:ext cx="0" cy="0"/>
          <a:chOff x="0" y="0"/>
          <a:chExt cx="0" cy="0"/>
        </a:xfrm>
      </p:grpSpPr>
      <p:sp>
        <p:nvSpPr>
          <p:cNvPr id="2" name="Title 1"/>
          <p:cNvSpPr>
            <a:spLocks noGrp="1"/>
          </p:cNvSpPr>
          <p:nvPr>
            <p:ph type="title"/>
          </p:nvPr>
        </p:nvSpPr>
        <p:spPr>
          <a:xfrm>
            <a:off x="1303868" y="982132"/>
            <a:ext cx="9592732" cy="2954868"/>
          </a:xfrm>
        </p:spPr>
        <p:txBody>
          <a:bodyPr anchor="ctr">
            <a:normAutofit/>
          </a:bodyPr>
          <a:lstStyle>
            <a:lvl1pPr algn="ctr">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303868" y="4343399"/>
            <a:ext cx="9592732"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cxnSp>
        <p:nvCxnSpPr>
          <p:cNvPr id="15" name="Straight Connector 14"/>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65317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Цитата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370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10" name="Text Placeholder 9"/>
          <p:cNvSpPr>
            <a:spLocks noGrp="1"/>
          </p:cNvSpPr>
          <p:nvPr>
            <p:ph type="body" sz="quarter" idx="13"/>
          </p:nvPr>
        </p:nvSpPr>
        <p:spPr>
          <a:xfrm>
            <a:off x="1674812" y="3352800"/>
            <a:ext cx="8839202" cy="584200"/>
          </a:xfrm>
        </p:spPr>
        <p:txBody>
          <a:bodyPr anchor="ctr">
            <a:normAutofit/>
          </a:bodyPr>
          <a:lstStyle>
            <a:lvl1pPr marL="0" indent="0" algn="r">
              <a:buFontTx/>
              <a:buNone/>
              <a:defRPr sz="2000"/>
            </a:lvl1pPr>
            <a:lvl2pPr marL="457200" indent="0">
              <a:buFontTx/>
              <a:buNone/>
              <a:defRPr/>
            </a:lvl2pPr>
            <a:lvl3pPr marL="914400" indent="0">
              <a:buFontTx/>
              <a:buNone/>
              <a:defRPr/>
            </a:lvl3pPr>
            <a:lvl4pPr marL="1371600" indent="0">
              <a:buFontTx/>
              <a:buNone/>
              <a:defRPr/>
            </a:lvl4pPr>
            <a:lvl5pPr marL="1828800" indent="0">
              <a:buFontTx/>
              <a:buNone/>
              <a:defRPr/>
            </a:lvl5pPr>
          </a:lstStyle>
          <a:p>
            <a:pPr lvl="0"/>
            <a:r>
              <a:rPr lang="ru-RU" smtClean="0"/>
              <a:t>Образец текста</a:t>
            </a:r>
          </a:p>
        </p:txBody>
      </p:sp>
      <p:sp>
        <p:nvSpPr>
          <p:cNvPr id="3" name="Text Placeholder 2"/>
          <p:cNvSpPr>
            <a:spLocks noGrp="1"/>
          </p:cNvSpPr>
          <p:nvPr>
            <p:ph type="body" idx="1"/>
          </p:nvPr>
        </p:nvSpPr>
        <p:spPr>
          <a:xfrm>
            <a:off x="1295401" y="4343399"/>
            <a:ext cx="9609666" cy="1532467"/>
          </a:xfrm>
        </p:spPr>
        <p:txBody>
          <a:bodyPr anchor="ctr">
            <a:normAutofit/>
          </a:bodyPr>
          <a:lstStyle>
            <a:lvl1pPr marL="0" indent="0" algn="ctr">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sp>
        <p:nvSpPr>
          <p:cNvPr id="14" name="TextBox 13"/>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5" name="TextBox 14"/>
          <p:cNvSpPr txBox="1"/>
          <p:nvPr/>
        </p:nvSpPr>
        <p:spPr>
          <a:xfrm>
            <a:off x="10600267" y="2827870"/>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19" name="Straight Connector 18"/>
          <p:cNvCxnSpPr/>
          <p:nvPr/>
        </p:nvCxnSpPr>
        <p:spPr>
          <a:xfrm>
            <a:off x="1396169" y="4140199"/>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1875817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Карточка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295402" y="3308581"/>
            <a:ext cx="9609668" cy="1468800"/>
          </a:xfrm>
        </p:spPr>
        <p:txBody>
          <a:bodyPr anchor="b">
            <a:normAutofit/>
          </a:bodyPr>
          <a:lstStyle>
            <a:lvl1pPr algn="l">
              <a:defRPr sz="3200" b="0" cap="none"/>
            </a:lvl1pPr>
          </a:lstStyle>
          <a:p>
            <a:r>
              <a:rPr lang="ru-RU" smtClean="0"/>
              <a:t>Образец заголовка</a:t>
            </a:r>
            <a:endParaRPr lang="en-US" dirty="0"/>
          </a:p>
        </p:txBody>
      </p:sp>
      <p:sp>
        <p:nvSpPr>
          <p:cNvPr id="3" name="Text Placeholder 2"/>
          <p:cNvSpPr>
            <a:spLocks noGrp="1"/>
          </p:cNvSpPr>
          <p:nvPr>
            <p:ph type="body" idx="1"/>
          </p:nvPr>
        </p:nvSpPr>
        <p:spPr>
          <a:xfrm>
            <a:off x="1295401" y="4777381"/>
            <a:ext cx="9609668" cy="860400"/>
          </a:xfrm>
        </p:spPr>
        <p:txBody>
          <a:bodyPr anchor="t">
            <a:normAutofit/>
          </a:bodyPr>
          <a:lstStyle>
            <a:lvl1pPr marL="0" indent="0" algn="l">
              <a:buNone/>
              <a:defRPr sz="20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spTree>
    <p:extLst>
      <p:ext uri="{BB962C8B-B14F-4D97-AF65-F5344CB8AC3E}">
        <p14:creationId xmlns:p14="http://schemas.microsoft.com/office/powerpoint/2010/main" val="275563801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Цитата карточки имени">
    <p:spTree>
      <p:nvGrpSpPr>
        <p:cNvPr id="1" name=""/>
        <p:cNvGrpSpPr/>
        <p:nvPr/>
      </p:nvGrpSpPr>
      <p:grpSpPr>
        <a:xfrm>
          <a:off x="0" y="0"/>
          <a:ext cx="0" cy="0"/>
          <a:chOff x="0" y="0"/>
          <a:chExt cx="0" cy="0"/>
        </a:xfrm>
      </p:grpSpPr>
      <p:sp>
        <p:nvSpPr>
          <p:cNvPr id="2" name="Title 1"/>
          <p:cNvSpPr>
            <a:spLocks noGrp="1"/>
          </p:cNvSpPr>
          <p:nvPr>
            <p:ph type="title"/>
          </p:nvPr>
        </p:nvSpPr>
        <p:spPr>
          <a:xfrm>
            <a:off x="1446213" y="982132"/>
            <a:ext cx="9296398" cy="2243668"/>
          </a:xfrm>
        </p:spPr>
        <p:txBody>
          <a:bodyPr anchor="ctr">
            <a:normAutofit/>
          </a:bodyPr>
          <a:lstStyle>
            <a:lvl1pPr algn="ctr">
              <a:defRPr sz="3200" b="0" cap="none">
                <a:solidFill>
                  <a:schemeClr val="tx1"/>
                </a:solidFill>
              </a:defRPr>
            </a:lvl1pPr>
          </a:lstStyle>
          <a:p>
            <a:r>
              <a:rPr lang="ru-RU" smtClean="0"/>
              <a:t>Образец заголовка</a:t>
            </a:r>
            <a:endParaRPr lang="en-US" dirty="0"/>
          </a:p>
        </p:txBody>
      </p:sp>
      <p:sp>
        <p:nvSpPr>
          <p:cNvPr id="23" name="Text Placeholder 2"/>
          <p:cNvSpPr>
            <a:spLocks noGrp="1"/>
          </p:cNvSpPr>
          <p:nvPr>
            <p:ph type="body" idx="13"/>
          </p:nvPr>
        </p:nvSpPr>
        <p:spPr>
          <a:xfrm>
            <a:off x="1295401" y="3639312"/>
            <a:ext cx="9609668" cy="886968"/>
          </a:xfrm>
        </p:spPr>
        <p:txBody>
          <a:bodyPr anchor="b">
            <a:normAutofit/>
          </a:bodyPr>
          <a:lstStyle>
            <a:lvl1pPr marL="0" indent="0" algn="l">
              <a:spcBef>
                <a:spcPts val="0"/>
              </a:spcBef>
              <a:buNone/>
              <a:defRPr sz="24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1" y="4529667"/>
            <a:ext cx="9609668" cy="1346200"/>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sp>
        <p:nvSpPr>
          <p:cNvPr id="12" name="TextBox 11"/>
          <p:cNvSpPr txBox="1"/>
          <p:nvPr/>
        </p:nvSpPr>
        <p:spPr>
          <a:xfrm>
            <a:off x="862013" y="879961"/>
            <a:ext cx="609600" cy="584776"/>
          </a:xfrm>
          <a:prstGeom prst="rect">
            <a:avLst/>
          </a:prstGeom>
        </p:spPr>
        <p:txBody>
          <a:bodyPr vert="horz" lIns="91440" tIns="45720" rIns="91440" bIns="45720" rtlCol="0" anchor="ctr">
            <a:noAutofit/>
          </a:bodyPr>
          <a:lstStyle/>
          <a:p>
            <a:pPr lvl="0"/>
            <a:r>
              <a:rPr lang="en-US" sz="8000" dirty="0">
                <a:solidFill>
                  <a:schemeClr val="tx1"/>
                </a:solidFill>
                <a:effectLst/>
              </a:rPr>
              <a:t>“</a:t>
            </a:r>
          </a:p>
        </p:txBody>
      </p:sp>
      <p:sp>
        <p:nvSpPr>
          <p:cNvPr id="13" name="TextBox 12"/>
          <p:cNvSpPr txBox="1"/>
          <p:nvPr/>
        </p:nvSpPr>
        <p:spPr>
          <a:xfrm>
            <a:off x="10600267" y="2599261"/>
            <a:ext cx="609600" cy="584776"/>
          </a:xfrm>
          <a:prstGeom prst="rect">
            <a:avLst/>
          </a:prstGeom>
        </p:spPr>
        <p:txBody>
          <a:bodyPr vert="horz" lIns="91440" tIns="45720" rIns="91440" bIns="45720" rtlCol="0" anchor="ctr">
            <a:noAutofit/>
          </a:bodyPr>
          <a:lstStyle/>
          <a:p>
            <a:pPr lvl="0" algn="r"/>
            <a:r>
              <a:rPr lang="en-US" sz="8000" dirty="0">
                <a:solidFill>
                  <a:schemeClr val="tx1"/>
                </a:solidFill>
                <a:effectLst/>
              </a:rPr>
              <a:t>”</a:t>
            </a:r>
          </a:p>
        </p:txBody>
      </p:sp>
      <p:cxnSp>
        <p:nvCxnSpPr>
          <p:cNvPr id="26" name="Straight Connector 25"/>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341508531"/>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Истина или ложь">
    <p:spTree>
      <p:nvGrpSpPr>
        <p:cNvPr id="1" name=""/>
        <p:cNvGrpSpPr/>
        <p:nvPr/>
      </p:nvGrpSpPr>
      <p:grpSpPr>
        <a:xfrm>
          <a:off x="0" y="0"/>
          <a:ext cx="0" cy="0"/>
          <a:chOff x="0" y="0"/>
          <a:chExt cx="0" cy="0"/>
        </a:xfrm>
      </p:grpSpPr>
      <p:sp>
        <p:nvSpPr>
          <p:cNvPr id="2" name="Title 1"/>
          <p:cNvSpPr>
            <a:spLocks noGrp="1"/>
          </p:cNvSpPr>
          <p:nvPr>
            <p:ph type="title"/>
          </p:nvPr>
        </p:nvSpPr>
        <p:spPr>
          <a:xfrm>
            <a:off x="1295401" y="982132"/>
            <a:ext cx="9609666" cy="2243668"/>
          </a:xfrm>
        </p:spPr>
        <p:txBody>
          <a:bodyPr vert="horz" lIns="91440" tIns="45720" rIns="91440" bIns="45720" rtlCol="0" anchor="ctr">
            <a:normAutofit/>
          </a:bodyPr>
          <a:lstStyle>
            <a:lvl1pPr>
              <a:defRPr lang="en-US" b="0" dirty="0"/>
            </a:lvl1pPr>
          </a:lstStyle>
          <a:p>
            <a:pPr marL="0" lvl="0"/>
            <a:r>
              <a:rPr lang="ru-RU" smtClean="0"/>
              <a:t>Образец заголовка</a:t>
            </a:r>
            <a:endParaRPr lang="en-US" dirty="0"/>
          </a:p>
        </p:txBody>
      </p:sp>
      <p:sp>
        <p:nvSpPr>
          <p:cNvPr id="20" name="Text Placeholder 2"/>
          <p:cNvSpPr>
            <a:spLocks noGrp="1"/>
          </p:cNvSpPr>
          <p:nvPr>
            <p:ph type="body" idx="13"/>
          </p:nvPr>
        </p:nvSpPr>
        <p:spPr>
          <a:xfrm>
            <a:off x="1295401" y="3630168"/>
            <a:ext cx="9609668" cy="841248"/>
          </a:xfrm>
        </p:spPr>
        <p:txBody>
          <a:bodyPr anchor="b">
            <a:normAutofit/>
          </a:bodyPr>
          <a:lstStyle>
            <a:lvl1pPr marL="0" indent="0" algn="l">
              <a:spcBef>
                <a:spcPts val="0"/>
              </a:spcBef>
              <a:buNone/>
              <a:defRPr sz="2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3" name="Text Placeholder 2"/>
          <p:cNvSpPr>
            <a:spLocks noGrp="1"/>
          </p:cNvSpPr>
          <p:nvPr>
            <p:ph type="body" idx="1"/>
          </p:nvPr>
        </p:nvSpPr>
        <p:spPr>
          <a:xfrm>
            <a:off x="1295400" y="4470399"/>
            <a:ext cx="9609670" cy="1405467"/>
          </a:xfrm>
        </p:spPr>
        <p:txBody>
          <a:bodyPr anchor="t">
            <a:norm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smtClean="0"/>
              <a:t>Образец текста</a:t>
            </a:r>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cxnSp>
        <p:nvCxnSpPr>
          <p:cNvPr id="15" name="Straight Connector 14"/>
          <p:cNvCxnSpPr/>
          <p:nvPr/>
        </p:nvCxnSpPr>
        <p:spPr>
          <a:xfrm>
            <a:off x="1396169" y="3429000"/>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899433838"/>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lgn="ctr">
              <a:defRPr/>
            </a:lvl1pPr>
          </a:lstStyle>
          <a:p>
            <a:r>
              <a:rPr lang="ru-RU" smtClean="0"/>
              <a:t>Образец заголовка</a:t>
            </a:r>
            <a:endParaRPr lang="en-US" dirty="0"/>
          </a:p>
        </p:txBody>
      </p:sp>
      <p:sp>
        <p:nvSpPr>
          <p:cNvPr id="3" name="Vertical Text Placeholder 2"/>
          <p:cNvSpPr>
            <a:spLocks noGrp="1"/>
          </p:cNvSpPr>
          <p:nvPr>
            <p:ph type="body" orient="vert" idx="1"/>
          </p:nvPr>
        </p:nvSpPr>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cxnSp>
        <p:nvCxnSpPr>
          <p:cNvPr id="14" name="Straight Connector 13"/>
          <p:cNvCxnSpPr/>
          <p:nvPr/>
        </p:nvCxnSpPr>
        <p:spPr>
          <a:xfrm>
            <a:off x="1396169" y="2421466"/>
            <a:ext cx="9407298" cy="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8380782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999356" y="982131"/>
            <a:ext cx="1890895" cy="4893735"/>
          </a:xfrm>
        </p:spPr>
        <p:txBody>
          <a:bodyPr vert="eaVert"/>
          <a:lstStyle/>
          <a:p>
            <a:r>
              <a:rPr lang="ru-RU" smtClean="0"/>
              <a:t>Образец заголовка</a:t>
            </a:r>
            <a:endParaRPr lang="en-US" dirty="0"/>
          </a:p>
        </p:txBody>
      </p:sp>
      <p:sp>
        <p:nvSpPr>
          <p:cNvPr id="3" name="Vertical Text Placeholder 2"/>
          <p:cNvSpPr>
            <a:spLocks noGrp="1"/>
          </p:cNvSpPr>
          <p:nvPr>
            <p:ph type="body" orient="vert" idx="1"/>
          </p:nvPr>
        </p:nvSpPr>
        <p:spPr>
          <a:xfrm>
            <a:off x="1295398" y="982132"/>
            <a:ext cx="7433025" cy="4893734"/>
          </a:xfrm>
        </p:spPr>
        <p:txBody>
          <a:bodyPr vert="eaVert" anchor="t"/>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10"/>
          </p:nvPr>
        </p:nvSpPr>
        <p:spPr/>
        <p:txBody>
          <a:bodyPr/>
          <a:lstStyle/>
          <a:p>
            <a:fld id="{B15377B7-99C4-4568-A7CC-D5469636D66D}" type="datetimeFigureOut">
              <a:rPr lang="en-US" smtClean="0"/>
              <a:t>12/11/2023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DD4E084-CBDB-462C-8CAD-DFD6E1A8A146}" type="slidenum">
              <a:rPr lang="en-US" smtClean="0"/>
              <a:t>‹#›</a:t>
            </a:fld>
            <a:endParaRPr lang="en-US"/>
          </a:p>
        </p:txBody>
      </p:sp>
      <p:cxnSp>
        <p:nvCxnSpPr>
          <p:cNvPr id="14" name="Straight Connector 13"/>
          <p:cNvCxnSpPr/>
          <p:nvPr/>
        </p:nvCxnSpPr>
        <p:spPr>
          <a:xfrm>
            <a:off x="8863890" y="990600"/>
            <a:ext cx="0" cy="4876800"/>
          </a:xfrm>
          <a:prstGeom prst="line">
            <a:avLst/>
          </a:prstGeom>
          <a:ln w="15875"/>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583018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4.pn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3.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1"/>
      </p:bgRef>
    </p:bg>
    <p:spTree>
      <p:nvGrpSpPr>
        <p:cNvPr id="1" name=""/>
        <p:cNvGrpSpPr/>
        <p:nvPr/>
      </p:nvGrpSpPr>
      <p:grpSpPr>
        <a:xfrm>
          <a:off x="0" y="0"/>
          <a:ext cx="0" cy="0"/>
          <a:chOff x="0" y="0"/>
          <a:chExt cx="0" cy="0"/>
        </a:xfrm>
      </p:grpSpPr>
      <p:grpSp>
        <p:nvGrpSpPr>
          <p:cNvPr id="7" name="Group 6"/>
          <p:cNvGrpSpPr/>
          <p:nvPr/>
        </p:nvGrpSpPr>
        <p:grpSpPr>
          <a:xfrm>
            <a:off x="-15736" y="0"/>
            <a:ext cx="12229962" cy="6856214"/>
            <a:chOff x="-15736" y="0"/>
            <a:chExt cx="12229962" cy="6856214"/>
          </a:xfrm>
        </p:grpSpPr>
        <p:pic>
          <p:nvPicPr>
            <p:cNvPr id="8" name="Picture 7" descr="HD-PanelContent.png"/>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0" y="0"/>
              <a:ext cx="12188825" cy="6856214"/>
            </a:xfrm>
            <a:prstGeom prst="rect">
              <a:avLst/>
            </a:prstGeom>
          </p:spPr>
        </p:pic>
        <p:sp>
          <p:nvSpPr>
            <p:cNvPr id="9" name="Rectangle 8"/>
            <p:cNvSpPr/>
            <p:nvPr/>
          </p:nvSpPr>
          <p:spPr>
            <a:xfrm>
              <a:off x="608012" y="609600"/>
              <a:ext cx="10972800" cy="5638800"/>
            </a:xfrm>
            <a:prstGeom prst="rect">
              <a:avLst/>
            </a:prstGeom>
            <a:noFill/>
            <a:ln w="15875" cap="flat">
              <a:miter lim="800000"/>
            </a:ln>
          </p:spPr>
          <p:style>
            <a:lnRef idx="1">
              <a:schemeClr val="accent1"/>
            </a:lnRef>
            <a:fillRef idx="3">
              <a:schemeClr val="accent1"/>
            </a:fillRef>
            <a:effectRef idx="2">
              <a:schemeClr val="accent1"/>
            </a:effectRef>
            <a:fontRef idx="minor">
              <a:schemeClr val="lt1"/>
            </a:fontRef>
          </p:style>
        </p:sp>
        <p:pic>
          <p:nvPicPr>
            <p:cNvPr id="10" name="Picture 9"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5736" y="3153832"/>
              <a:ext cx="777240" cy="606425"/>
            </a:xfrm>
            <a:prstGeom prst="rect">
              <a:avLst/>
            </a:prstGeom>
          </p:spPr>
        </p:pic>
        <p:pic>
          <p:nvPicPr>
            <p:cNvPr id="11" name="Picture 10" descr="HDRibbonContent-UniformTrim.png"/>
            <p:cNvPicPr>
              <a:picLocks noChangeAspect="1"/>
            </p:cNvPicPr>
            <p:nvPr/>
          </p:nvPicPr>
          <p:blipFill rotWithShape="1">
            <a:blip r:embed="rId20">
              <a:extLst>
                <a:ext uri="{28A0092B-C50C-407E-A947-70E740481C1C}">
                  <a14:useLocalDpi xmlns:a14="http://schemas.microsoft.com/office/drawing/2010/main" val="0"/>
                </a:ext>
              </a:extLst>
            </a:blip>
            <a:srcRect/>
            <a:stretch/>
          </p:blipFill>
          <p:spPr>
            <a:xfrm>
              <a:off x="11436986" y="3153832"/>
              <a:ext cx="777240" cy="606425"/>
            </a:xfrm>
            <a:prstGeom prst="rect">
              <a:avLst/>
            </a:prstGeom>
          </p:spPr>
        </p:pic>
      </p:grpSp>
      <p:sp>
        <p:nvSpPr>
          <p:cNvPr id="2" name="Title Placeholder 1"/>
          <p:cNvSpPr>
            <a:spLocks noGrp="1"/>
          </p:cNvSpPr>
          <p:nvPr>
            <p:ph type="title"/>
          </p:nvPr>
        </p:nvSpPr>
        <p:spPr>
          <a:xfrm>
            <a:off x="1295402" y="982132"/>
            <a:ext cx="9601196" cy="1303867"/>
          </a:xfrm>
          <a:prstGeom prst="rect">
            <a:avLst/>
          </a:prstGeom>
          <a:effectLst/>
        </p:spPr>
        <p:txBody>
          <a:bodyPr vert="horz" lIns="91440" tIns="45720" rIns="91440" bIns="45720" rtlCol="0" anchor="ctr">
            <a:normAutofit/>
          </a:bodyPr>
          <a:lstStyle/>
          <a:p>
            <a:r>
              <a:rPr lang="ru-RU" smtClean="0"/>
              <a:t>Образец заголовка</a:t>
            </a:r>
            <a:endParaRPr lang="en-US" dirty="0"/>
          </a:p>
        </p:txBody>
      </p:sp>
      <p:sp>
        <p:nvSpPr>
          <p:cNvPr id="3" name="Text Placeholder 2"/>
          <p:cNvSpPr>
            <a:spLocks noGrp="1"/>
          </p:cNvSpPr>
          <p:nvPr>
            <p:ph type="body" idx="1"/>
          </p:nvPr>
        </p:nvSpPr>
        <p:spPr>
          <a:xfrm>
            <a:off x="1295401" y="2556932"/>
            <a:ext cx="9601196" cy="3318936"/>
          </a:xfrm>
          <a:prstGeom prst="rect">
            <a:avLst/>
          </a:prstGeom>
        </p:spPr>
        <p:txBody>
          <a:bodyPr vert="horz" lIns="91440" tIns="45720" rIns="91440" bIns="45720" rtlCol="0" anchor="t">
            <a:normAutofit/>
          </a:bodyPr>
          <a:lstStyle/>
          <a:p>
            <a:pPr lvl="0"/>
            <a:r>
              <a:rPr lang="ru-RU" smtClean="0"/>
              <a:t>Образец текста</a:t>
            </a:r>
          </a:p>
          <a:p>
            <a:pPr lvl="1"/>
            <a:r>
              <a:rPr lang="ru-RU" smtClean="0"/>
              <a:t>Второй уровень</a:t>
            </a:r>
          </a:p>
          <a:p>
            <a:pPr lvl="2"/>
            <a:r>
              <a:rPr lang="ru-RU" smtClean="0"/>
              <a:t>Третий уровень</a:t>
            </a:r>
          </a:p>
          <a:p>
            <a:pPr lvl="3"/>
            <a:r>
              <a:rPr lang="ru-RU" smtClean="0"/>
              <a:t>Четвертый уровень</a:t>
            </a:r>
          </a:p>
          <a:p>
            <a:pPr lvl="4"/>
            <a:r>
              <a:rPr lang="ru-RU" smtClean="0"/>
              <a:t>Пятый уровень</a:t>
            </a:r>
            <a:endParaRPr lang="en-US" dirty="0"/>
          </a:p>
        </p:txBody>
      </p:sp>
      <p:sp>
        <p:nvSpPr>
          <p:cNvPr id="4" name="Date Placeholder 3"/>
          <p:cNvSpPr>
            <a:spLocks noGrp="1"/>
          </p:cNvSpPr>
          <p:nvPr>
            <p:ph type="dt" sz="half" idx="2"/>
          </p:nvPr>
        </p:nvSpPr>
        <p:spPr>
          <a:xfrm>
            <a:off x="8677501" y="5969000"/>
            <a:ext cx="1600200"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B15377B7-99C4-4568-A7CC-D5469636D66D}" type="datetimeFigureOut">
              <a:rPr lang="en-US" smtClean="0"/>
              <a:t>12/11/2023</a:t>
            </a:fld>
            <a:endParaRPr lang="en-US"/>
          </a:p>
        </p:txBody>
      </p:sp>
      <p:sp>
        <p:nvSpPr>
          <p:cNvPr id="5" name="Footer Placeholder 4"/>
          <p:cNvSpPr>
            <a:spLocks noGrp="1"/>
          </p:cNvSpPr>
          <p:nvPr>
            <p:ph type="ftr" sz="quarter" idx="3"/>
          </p:nvPr>
        </p:nvSpPr>
        <p:spPr>
          <a:xfrm>
            <a:off x="1295401" y="5969000"/>
            <a:ext cx="7305900" cy="279400"/>
          </a:xfrm>
          <a:prstGeom prst="rect">
            <a:avLst/>
          </a:prstGeom>
        </p:spPr>
        <p:txBody>
          <a:bodyPr vert="horz" lIns="91440" tIns="45720" rIns="91440" bIns="45720" rtlCol="0" anchor="ctr"/>
          <a:lstStyle>
            <a:lvl1pPr algn="l">
              <a:defRPr sz="1000" b="0" i="0">
                <a:solidFill>
                  <a:schemeClr val="tx1"/>
                </a:solidFill>
                <a:effectLst/>
                <a:latin typeface="+mn-lt"/>
              </a:defRPr>
            </a:lvl1pPr>
          </a:lstStyle>
          <a:p>
            <a:endParaRPr lang="en-US"/>
          </a:p>
        </p:txBody>
      </p:sp>
      <p:sp>
        <p:nvSpPr>
          <p:cNvPr id="6" name="Slide Number Placeholder 5"/>
          <p:cNvSpPr>
            <a:spLocks noGrp="1"/>
          </p:cNvSpPr>
          <p:nvPr>
            <p:ph type="sldNum" sz="quarter" idx="4"/>
          </p:nvPr>
        </p:nvSpPr>
        <p:spPr>
          <a:xfrm>
            <a:off x="10353901" y="5969000"/>
            <a:ext cx="542697" cy="279400"/>
          </a:xfrm>
          <a:prstGeom prst="rect">
            <a:avLst/>
          </a:prstGeom>
        </p:spPr>
        <p:txBody>
          <a:bodyPr vert="horz" lIns="91440" tIns="45720" rIns="91440" bIns="45720" rtlCol="0" anchor="ctr"/>
          <a:lstStyle>
            <a:lvl1pPr algn="r">
              <a:defRPr sz="1000" b="0" i="0">
                <a:solidFill>
                  <a:schemeClr val="tx1"/>
                </a:solidFill>
                <a:effectLst/>
                <a:latin typeface="+mn-lt"/>
              </a:defRPr>
            </a:lvl1pPr>
          </a:lstStyle>
          <a:p>
            <a:fld id="{3DD4E084-CBDB-462C-8CAD-DFD6E1A8A146}" type="slidenum">
              <a:rPr lang="en-US" smtClean="0"/>
              <a:t>‹#›</a:t>
            </a:fld>
            <a:endParaRPr lang="en-US"/>
          </a:p>
        </p:txBody>
      </p:sp>
    </p:spTree>
    <p:extLst>
      <p:ext uri="{BB962C8B-B14F-4D97-AF65-F5344CB8AC3E}">
        <p14:creationId xmlns:p14="http://schemas.microsoft.com/office/powerpoint/2010/main" val="71751593"/>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457200" rtl="0" eaLnBrk="1" latinLnBrk="0" hangingPunct="1">
        <a:spcBef>
          <a:spcPct val="0"/>
        </a:spcBef>
        <a:buNone/>
        <a:defRPr sz="4400" kern="1200" cap="none">
          <a:ln w="3175" cmpd="sng">
            <a:noFill/>
          </a:ln>
          <a:solidFill>
            <a:schemeClr val="tx1">
              <a:lumMod val="85000"/>
              <a:lumOff val="15000"/>
            </a:schemeClr>
          </a:solidFill>
          <a:effectLst/>
          <a:latin typeface="+mj-lt"/>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285750" indent="-285750" algn="l" defTabSz="457200" rtl="0" eaLnBrk="1" latinLnBrk="0" hangingPunct="1">
        <a:spcBef>
          <a:spcPct val="20000"/>
        </a:spcBef>
        <a:spcAft>
          <a:spcPts val="600"/>
        </a:spcAft>
        <a:buClr>
          <a:schemeClr val="accent1"/>
        </a:buClr>
        <a:buSzPct val="115000"/>
        <a:buFont typeface="Arial"/>
        <a:buChar char="•"/>
        <a:defRPr sz="2400" kern="1200" cap="none">
          <a:solidFill>
            <a:schemeClr val="tx1">
              <a:lumMod val="85000"/>
              <a:lumOff val="15000"/>
            </a:schemeClr>
          </a:solidFill>
          <a:effectLst/>
          <a:latin typeface="+mn-lt"/>
          <a:ea typeface="+mn-ea"/>
          <a:cs typeface="+mn-cs"/>
        </a:defRPr>
      </a:lvl1pPr>
      <a:lvl2pPr marL="742950" indent="-285750" algn="l" defTabSz="457200" rtl="0" eaLnBrk="1" latinLnBrk="0" hangingPunct="1">
        <a:spcBef>
          <a:spcPct val="20000"/>
        </a:spcBef>
        <a:spcAft>
          <a:spcPts val="600"/>
        </a:spcAft>
        <a:buClr>
          <a:schemeClr val="accent1"/>
        </a:buClr>
        <a:buSzPct val="115000"/>
        <a:buFont typeface="Arial"/>
        <a:buChar char="•"/>
        <a:defRPr sz="2000" kern="1200" cap="none">
          <a:solidFill>
            <a:schemeClr val="tx1">
              <a:lumMod val="85000"/>
              <a:lumOff val="15000"/>
            </a:schemeClr>
          </a:solidFill>
          <a:effectLst/>
          <a:latin typeface="+mn-lt"/>
          <a:ea typeface="+mn-ea"/>
          <a:cs typeface="+mn-cs"/>
        </a:defRPr>
      </a:lvl2pPr>
      <a:lvl3pPr marL="1200150" indent="-285750" algn="l" defTabSz="457200" rtl="0" eaLnBrk="1" latinLnBrk="0" hangingPunct="1">
        <a:spcBef>
          <a:spcPct val="20000"/>
        </a:spcBef>
        <a:spcAft>
          <a:spcPts val="600"/>
        </a:spcAft>
        <a:buClr>
          <a:schemeClr val="accent1"/>
        </a:buClr>
        <a:buSzPct val="115000"/>
        <a:buFont typeface="Arial"/>
        <a:buChar char="•"/>
        <a:defRPr sz="1800" kern="1200" cap="none">
          <a:solidFill>
            <a:schemeClr val="tx1">
              <a:lumMod val="85000"/>
              <a:lumOff val="15000"/>
            </a:schemeClr>
          </a:solidFill>
          <a:effectLst/>
          <a:latin typeface="+mn-lt"/>
          <a:ea typeface="+mn-ea"/>
          <a:cs typeface="+mn-cs"/>
        </a:defRPr>
      </a:lvl3pPr>
      <a:lvl4pPr marL="1543050" indent="-171450" algn="l" defTabSz="457200" rtl="0" eaLnBrk="1" latinLnBrk="0" hangingPunct="1">
        <a:spcBef>
          <a:spcPct val="20000"/>
        </a:spcBef>
        <a:spcAft>
          <a:spcPts val="600"/>
        </a:spcAft>
        <a:buClr>
          <a:schemeClr val="accent1"/>
        </a:buClr>
        <a:buSzPct val="115000"/>
        <a:buFont typeface="Arial"/>
        <a:buChar char="•"/>
        <a:defRPr sz="1600" kern="1200" cap="none">
          <a:solidFill>
            <a:schemeClr val="tx1">
              <a:lumMod val="85000"/>
              <a:lumOff val="15000"/>
            </a:schemeClr>
          </a:solidFill>
          <a:effectLst/>
          <a:latin typeface="+mn-lt"/>
          <a:ea typeface="+mn-ea"/>
          <a:cs typeface="+mn-cs"/>
        </a:defRPr>
      </a:lvl4pPr>
      <a:lvl5pPr marL="2000250" indent="-17145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5pPr>
      <a:lvl6pPr marL="25146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6pPr>
      <a:lvl7pPr marL="29718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7pPr>
      <a:lvl8pPr marL="34290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8pPr>
      <a:lvl9pPr marL="3886200" indent="-228600" algn="l" defTabSz="457200" rtl="0" eaLnBrk="1" latinLnBrk="0" hangingPunct="1">
        <a:spcBef>
          <a:spcPct val="20000"/>
        </a:spcBef>
        <a:spcAft>
          <a:spcPts val="600"/>
        </a:spcAft>
        <a:buClr>
          <a:schemeClr val="accent1"/>
        </a:buClr>
        <a:buSzPct val="115000"/>
        <a:buFont typeface="Arial"/>
        <a:buChar char="•"/>
        <a:defRPr sz="1400" kern="1200" cap="none">
          <a:solidFill>
            <a:schemeClr val="tx1">
              <a:lumMod val="85000"/>
              <a:lumOff val="15000"/>
            </a:schemeClr>
          </a:solidFill>
          <a:effectLst/>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pPr algn="ctr"/>
            <a:r>
              <a:rPr lang="en-US" b="1" dirty="0" smtClean="0"/>
              <a:t>SHA1 </a:t>
            </a:r>
            <a:r>
              <a:rPr lang="en-US" b="1" dirty="0" err="1" smtClean="0"/>
              <a:t>xesh</a:t>
            </a:r>
            <a:r>
              <a:rPr lang="en-US" b="1" dirty="0" smtClean="0"/>
              <a:t> </a:t>
            </a:r>
            <a:r>
              <a:rPr lang="en-US" b="1" dirty="0" err="1" smtClean="0"/>
              <a:t>funksiyasi</a:t>
            </a:r>
            <a:endParaRPr lang="en-US" b="1" dirty="0"/>
          </a:p>
        </p:txBody>
      </p:sp>
      <p:sp>
        <p:nvSpPr>
          <p:cNvPr id="3" name="Объект 2"/>
          <p:cNvSpPr>
            <a:spLocks noGrp="1"/>
          </p:cNvSpPr>
          <p:nvPr>
            <p:ph idx="1"/>
          </p:nvPr>
        </p:nvSpPr>
        <p:spPr/>
        <p:txBody>
          <a:bodyPr>
            <a:normAutofit fontScale="92500"/>
          </a:bodyPr>
          <a:lstStyle/>
          <a:p>
            <a:pPr marL="0" indent="0" algn="just">
              <a:buNone/>
            </a:pPr>
            <a:r>
              <a:rPr lang="en-US" dirty="0" smtClean="0"/>
              <a:t>	SHA (Secure Hash Algorithm) </a:t>
            </a:r>
            <a:r>
              <a:rPr lang="en-US" dirty="0" err="1" smtClean="0"/>
              <a:t>xeshlash</a:t>
            </a:r>
            <a:r>
              <a:rPr lang="en-US" dirty="0" smtClean="0"/>
              <a:t> </a:t>
            </a:r>
            <a:r>
              <a:rPr lang="en-US" dirty="0" err="1" smtClean="0"/>
              <a:t>algoritmi</a:t>
            </a:r>
            <a:r>
              <a:rPr lang="en-US" dirty="0" smtClean="0"/>
              <a:t> </a:t>
            </a:r>
            <a:r>
              <a:rPr lang="en-US" dirty="0" err="1" smtClean="0"/>
              <a:t>AQShning</a:t>
            </a:r>
            <a:r>
              <a:rPr lang="en-US" dirty="0" smtClean="0"/>
              <a:t> </a:t>
            </a:r>
            <a:r>
              <a:rPr lang="en-US" dirty="0" err="1" smtClean="0"/>
              <a:t>standartlar</a:t>
            </a:r>
            <a:r>
              <a:rPr lang="en-US" dirty="0" smtClean="0"/>
              <a:t> </a:t>
            </a:r>
            <a:r>
              <a:rPr lang="en-US" dirty="0" err="1" smtClean="0"/>
              <a:t>va</a:t>
            </a:r>
            <a:r>
              <a:rPr lang="en-US" dirty="0" smtClean="0"/>
              <a:t> </a:t>
            </a:r>
            <a:r>
              <a:rPr lang="en-US" dirty="0" err="1" smtClean="0"/>
              <a:t>texnologiyalar</a:t>
            </a:r>
            <a:r>
              <a:rPr lang="en-US" dirty="0" smtClean="0"/>
              <a:t> </a:t>
            </a:r>
            <a:r>
              <a:rPr lang="en-US" dirty="0" err="1" smtClean="0"/>
              <a:t>Milliy</a:t>
            </a:r>
            <a:r>
              <a:rPr lang="en-US" dirty="0" smtClean="0"/>
              <a:t> </a:t>
            </a:r>
            <a:r>
              <a:rPr lang="en-US" dirty="0" err="1" smtClean="0"/>
              <a:t>instituti</a:t>
            </a:r>
            <a:r>
              <a:rPr lang="en-US" dirty="0" smtClean="0"/>
              <a:t> (NIST) </a:t>
            </a:r>
            <a:r>
              <a:rPr lang="en-US" dirty="0" err="1" smtClean="0"/>
              <a:t>tomonidan</a:t>
            </a:r>
            <a:r>
              <a:rPr lang="en-US" dirty="0" smtClean="0"/>
              <a:t> </a:t>
            </a:r>
            <a:r>
              <a:rPr lang="en-US" dirty="0" err="1" smtClean="0"/>
              <a:t>ishlab</a:t>
            </a:r>
            <a:r>
              <a:rPr lang="en-US" dirty="0" smtClean="0"/>
              <a:t> </a:t>
            </a:r>
            <a:r>
              <a:rPr lang="en-US" dirty="0" err="1" smtClean="0"/>
              <a:t>chiqilgan</a:t>
            </a:r>
            <a:r>
              <a:rPr lang="en-US" dirty="0" smtClean="0"/>
              <a:t> </a:t>
            </a:r>
            <a:r>
              <a:rPr lang="en-US" dirty="0" err="1" smtClean="0"/>
              <a:t>bo‘lib</a:t>
            </a:r>
            <a:r>
              <a:rPr lang="en-US" dirty="0" smtClean="0"/>
              <a:t>, 1992-yilda </a:t>
            </a:r>
            <a:r>
              <a:rPr lang="en-US" dirty="0" err="1" smtClean="0"/>
              <a:t>axborotni</a:t>
            </a:r>
            <a:r>
              <a:rPr lang="en-US" dirty="0" smtClean="0"/>
              <a:t> </a:t>
            </a:r>
            <a:r>
              <a:rPr lang="en-US" dirty="0" err="1" smtClean="0"/>
              <a:t>qayta</a:t>
            </a:r>
            <a:r>
              <a:rPr lang="en-US" dirty="0" smtClean="0"/>
              <a:t> </a:t>
            </a:r>
            <a:r>
              <a:rPr lang="en-US" dirty="0" err="1" smtClean="0"/>
              <a:t>ishlash</a:t>
            </a:r>
            <a:r>
              <a:rPr lang="en-US" dirty="0" smtClean="0"/>
              <a:t> federal </a:t>
            </a:r>
            <a:r>
              <a:rPr lang="en-US" dirty="0" err="1" smtClean="0"/>
              <a:t>standarti</a:t>
            </a:r>
            <a:r>
              <a:rPr lang="en-US" dirty="0" smtClean="0"/>
              <a:t> (PUB FIPS 180) </a:t>
            </a:r>
            <a:r>
              <a:rPr lang="en-US" dirty="0" err="1" smtClean="0"/>
              <a:t>sifatida</a:t>
            </a:r>
            <a:r>
              <a:rPr lang="en-US" dirty="0" smtClean="0"/>
              <a:t> </a:t>
            </a:r>
            <a:r>
              <a:rPr lang="en-US" dirty="0" err="1" smtClean="0"/>
              <a:t>nashr</a:t>
            </a:r>
            <a:r>
              <a:rPr lang="en-US" dirty="0" smtClean="0"/>
              <a:t> </a:t>
            </a:r>
            <a:r>
              <a:rPr lang="en-US" dirty="0" err="1" smtClean="0"/>
              <a:t>qilingan</a:t>
            </a:r>
            <a:r>
              <a:rPr lang="en-US" dirty="0" smtClean="0"/>
              <a:t>. </a:t>
            </a:r>
            <a:r>
              <a:rPr lang="en-US" dirty="0" err="1" smtClean="0"/>
              <a:t>Ushbu</a:t>
            </a:r>
            <a:r>
              <a:rPr lang="en-US" dirty="0" smtClean="0"/>
              <a:t> </a:t>
            </a:r>
            <a:r>
              <a:rPr lang="en-US" dirty="0" err="1" smtClean="0"/>
              <a:t>standart</a:t>
            </a:r>
            <a:r>
              <a:rPr lang="en-US" dirty="0" smtClean="0"/>
              <a:t> 1995-yilda </a:t>
            </a:r>
            <a:r>
              <a:rPr lang="en-US" dirty="0" err="1" smtClean="0"/>
              <a:t>qaytadan</a:t>
            </a:r>
            <a:r>
              <a:rPr lang="en-US" dirty="0" smtClean="0"/>
              <a:t> </a:t>
            </a:r>
            <a:r>
              <a:rPr lang="en-US" dirty="0" err="1" smtClean="0"/>
              <a:t>ko‘rib</a:t>
            </a:r>
            <a:r>
              <a:rPr lang="en-US" dirty="0" smtClean="0"/>
              <a:t> </a:t>
            </a:r>
            <a:r>
              <a:rPr lang="en-US" dirty="0" err="1" smtClean="0"/>
              <a:t>chiqilib</a:t>
            </a:r>
            <a:r>
              <a:rPr lang="en-US" dirty="0" smtClean="0"/>
              <a:t>, SHA-1 deb </a:t>
            </a:r>
            <a:r>
              <a:rPr lang="en-US" dirty="0" err="1" smtClean="0"/>
              <a:t>nomlandi</a:t>
            </a:r>
            <a:r>
              <a:rPr lang="en-US" dirty="0" smtClean="0"/>
              <a:t> (PUB FIPS 180-1). SHA1 </a:t>
            </a:r>
            <a:r>
              <a:rPr lang="en-US" dirty="0" err="1" smtClean="0"/>
              <a:t>algoritmi</a:t>
            </a:r>
            <a:r>
              <a:rPr lang="en-US" dirty="0" smtClean="0"/>
              <a:t> MD4 </a:t>
            </a:r>
            <a:r>
              <a:rPr lang="en-US" dirty="0" err="1" smtClean="0"/>
              <a:t>algoritmiga</a:t>
            </a:r>
            <a:r>
              <a:rPr lang="en-US" dirty="0" smtClean="0"/>
              <a:t> </a:t>
            </a:r>
            <a:r>
              <a:rPr lang="en-US" dirty="0" err="1" smtClean="0"/>
              <a:t>asoslangan</a:t>
            </a:r>
            <a:r>
              <a:rPr lang="en-US" dirty="0" smtClean="0"/>
              <a:t>. </a:t>
            </a:r>
            <a:r>
              <a:rPr lang="en-US" dirty="0" err="1" smtClean="0"/>
              <a:t>Ushbu</a:t>
            </a:r>
            <a:r>
              <a:rPr lang="en-US" dirty="0" smtClean="0"/>
              <a:t> </a:t>
            </a:r>
            <a:r>
              <a:rPr lang="en-US" dirty="0" err="1" smtClean="0"/>
              <a:t>algoritm</a:t>
            </a:r>
            <a:r>
              <a:rPr lang="en-US" dirty="0" smtClean="0"/>
              <a:t> DSS (Digital Signature Standard) </a:t>
            </a:r>
            <a:r>
              <a:rPr lang="en-US" dirty="0" err="1" smtClean="0"/>
              <a:t>standartida</a:t>
            </a:r>
            <a:r>
              <a:rPr lang="en-US" dirty="0" smtClean="0"/>
              <a:t> </a:t>
            </a:r>
            <a:r>
              <a:rPr lang="en-US" dirty="0" err="1" smtClean="0"/>
              <a:t>elektron</a:t>
            </a:r>
            <a:r>
              <a:rPr lang="en-US" dirty="0" smtClean="0"/>
              <a:t> </a:t>
            </a:r>
            <a:r>
              <a:rPr lang="en-US" dirty="0" err="1" smtClean="0"/>
              <a:t>raqamli</a:t>
            </a:r>
            <a:r>
              <a:rPr lang="en-US" dirty="0" smtClean="0"/>
              <a:t> </a:t>
            </a:r>
            <a:r>
              <a:rPr lang="en-US" dirty="0" err="1" smtClean="0"/>
              <a:t>imzo</a:t>
            </a:r>
            <a:r>
              <a:rPr lang="en-US" dirty="0" smtClean="0"/>
              <a:t> </a:t>
            </a:r>
            <a:r>
              <a:rPr lang="en-US" dirty="0" err="1" smtClean="0"/>
              <a:t>algoritmlarini</a:t>
            </a:r>
            <a:r>
              <a:rPr lang="en-US" dirty="0" smtClean="0"/>
              <a:t> </a:t>
            </a:r>
            <a:r>
              <a:rPr lang="en-US" dirty="0" err="1" smtClean="0"/>
              <a:t>shakllantirishda</a:t>
            </a:r>
            <a:r>
              <a:rPr lang="en-US" dirty="0" smtClean="0"/>
              <a:t> </a:t>
            </a:r>
            <a:r>
              <a:rPr lang="en-US" dirty="0" err="1" smtClean="0"/>
              <a:t>foydalanish</a:t>
            </a:r>
            <a:r>
              <a:rPr lang="en-US" dirty="0" smtClean="0"/>
              <a:t> </a:t>
            </a:r>
            <a:r>
              <a:rPr lang="en-US" dirty="0" err="1" smtClean="0"/>
              <a:t>uchun</a:t>
            </a:r>
            <a:r>
              <a:rPr lang="en-US" dirty="0" smtClean="0"/>
              <a:t> </a:t>
            </a:r>
            <a:r>
              <a:rPr lang="en-US" dirty="0" err="1" smtClean="0"/>
              <a:t>mo‘ljallangan</a:t>
            </a:r>
            <a:r>
              <a:rPr lang="en-US" dirty="0" smtClean="0"/>
              <a:t>. SHA1 </a:t>
            </a:r>
            <a:r>
              <a:rPr lang="en-US" dirty="0" err="1" smtClean="0"/>
              <a:t>algoritmida</a:t>
            </a:r>
            <a:r>
              <a:rPr lang="en-US" dirty="0" smtClean="0"/>
              <a:t> </a:t>
            </a:r>
            <a:r>
              <a:rPr lang="en-US" dirty="0" err="1" smtClean="0"/>
              <a:t>kiruvchi</a:t>
            </a:r>
            <a:r>
              <a:rPr lang="en-US" dirty="0" smtClean="0"/>
              <a:t> </a:t>
            </a:r>
            <a:r>
              <a:rPr lang="en-US" dirty="0" err="1" smtClean="0"/>
              <a:t>ma’lumotning</a:t>
            </a:r>
            <a:r>
              <a:rPr lang="en-US" dirty="0" smtClean="0"/>
              <a:t> </a:t>
            </a:r>
            <a:r>
              <a:rPr lang="en-US" dirty="0" err="1" smtClean="0"/>
              <a:t>uzunligi</a:t>
            </a:r>
            <a:r>
              <a:rPr lang="en-US" dirty="0" smtClean="0"/>
              <a:t> 2</a:t>
            </a:r>
            <a:r>
              <a:rPr lang="en-US" baseline="30000" dirty="0" smtClean="0"/>
              <a:t>64</a:t>
            </a:r>
            <a:r>
              <a:rPr lang="en-US" dirty="0" smtClean="0"/>
              <a:t> </a:t>
            </a:r>
            <a:r>
              <a:rPr lang="en-US" dirty="0" err="1" smtClean="0"/>
              <a:t>bitdan</a:t>
            </a:r>
            <a:r>
              <a:rPr lang="en-US" dirty="0" smtClean="0"/>
              <a:t> </a:t>
            </a:r>
            <a:r>
              <a:rPr lang="en-US" dirty="0" err="1" smtClean="0"/>
              <a:t>kichik</a:t>
            </a:r>
            <a:r>
              <a:rPr lang="en-US" dirty="0" smtClean="0"/>
              <a:t> </a:t>
            </a:r>
            <a:r>
              <a:rPr lang="en-US" dirty="0" err="1" smtClean="0"/>
              <a:t>bo‘lib</a:t>
            </a:r>
            <a:r>
              <a:rPr lang="en-US" dirty="0" smtClean="0"/>
              <a:t>, </a:t>
            </a:r>
            <a:r>
              <a:rPr lang="en-US" dirty="0" err="1" smtClean="0"/>
              <a:t>xesh</a:t>
            </a:r>
            <a:r>
              <a:rPr lang="en-US" dirty="0" smtClean="0"/>
              <a:t> </a:t>
            </a:r>
            <a:r>
              <a:rPr lang="en-US" dirty="0" err="1" smtClean="0"/>
              <a:t>qiymat</a:t>
            </a:r>
            <a:r>
              <a:rPr lang="en-US" dirty="0" smtClean="0"/>
              <a:t> </a:t>
            </a:r>
            <a:r>
              <a:rPr lang="en-US" dirty="0" err="1" smtClean="0"/>
              <a:t>uzunligi</a:t>
            </a:r>
            <a:r>
              <a:rPr lang="en-US" dirty="0" smtClean="0"/>
              <a:t> 160 </a:t>
            </a:r>
            <a:r>
              <a:rPr lang="en-US" dirty="0" err="1" smtClean="0"/>
              <a:t>bitga</a:t>
            </a:r>
            <a:r>
              <a:rPr lang="en-US" dirty="0" smtClean="0"/>
              <a:t> </a:t>
            </a:r>
            <a:r>
              <a:rPr lang="en-US" dirty="0" err="1" smtClean="0"/>
              <a:t>teng</a:t>
            </a:r>
            <a:r>
              <a:rPr lang="en-US" dirty="0" smtClean="0"/>
              <a:t>. </a:t>
            </a:r>
            <a:r>
              <a:rPr lang="en-US" dirty="0" err="1" smtClean="0"/>
              <a:t>Kiritilayotgan</a:t>
            </a:r>
            <a:r>
              <a:rPr lang="en-US" dirty="0" smtClean="0"/>
              <a:t> </a:t>
            </a:r>
            <a:r>
              <a:rPr lang="en-US" dirty="0" err="1" smtClean="0"/>
              <a:t>ma’lumot</a:t>
            </a:r>
            <a:r>
              <a:rPr lang="en-US" dirty="0" smtClean="0"/>
              <a:t> 512 </a:t>
            </a:r>
            <a:r>
              <a:rPr lang="en-US" dirty="0" err="1" smtClean="0"/>
              <a:t>bitli</a:t>
            </a:r>
            <a:r>
              <a:rPr lang="en-US" dirty="0" smtClean="0"/>
              <a:t> </a:t>
            </a:r>
            <a:r>
              <a:rPr lang="en-US" dirty="0" err="1" smtClean="0"/>
              <a:t>bloklarga</a:t>
            </a:r>
            <a:r>
              <a:rPr lang="en-US" dirty="0" smtClean="0"/>
              <a:t> </a:t>
            </a:r>
            <a:r>
              <a:rPr lang="en-US" dirty="0" err="1" smtClean="0"/>
              <a:t>ajratilib</a:t>
            </a:r>
            <a:r>
              <a:rPr lang="en-US" dirty="0" smtClean="0"/>
              <a:t> </a:t>
            </a:r>
            <a:r>
              <a:rPr lang="en-US" dirty="0" err="1" smtClean="0"/>
              <a:t>qayta</a:t>
            </a:r>
            <a:r>
              <a:rPr lang="en-US" dirty="0" smtClean="0"/>
              <a:t> </a:t>
            </a:r>
            <a:r>
              <a:rPr lang="en-US" dirty="0" err="1" smtClean="0"/>
              <a:t>ishlanadi</a:t>
            </a:r>
            <a:r>
              <a:rPr lang="en-US" dirty="0" smtClean="0"/>
              <a:t>.</a:t>
            </a:r>
            <a:endParaRPr lang="en-US" dirty="0"/>
          </a:p>
        </p:txBody>
      </p:sp>
    </p:spTree>
    <p:extLst>
      <p:ext uri="{BB962C8B-B14F-4D97-AF65-F5344CB8AC3E}">
        <p14:creationId xmlns:p14="http://schemas.microsoft.com/office/powerpoint/2010/main" val="2660967683"/>
      </p:ext>
    </p:extLst>
  </p:cSld>
  <p:clrMapOvr>
    <a:masterClrMapping/>
  </p:clrMapOvr>
  <mc:AlternateContent xmlns:mc="http://schemas.openxmlformats.org/markup-compatibility/2006" xmlns:p14="http://schemas.microsoft.com/office/powerpoint/2010/main">
    <mc:Choice Requires="p14">
      <p:transition spd="slow" p14:dur="1500">
        <p:split orient="vert"/>
      </p:transition>
    </mc:Choice>
    <mc:Fallback xmlns="">
      <p:transition spd="slow">
        <p:split orient="ver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childTnLst>
                                </p:cTn>
                              </p:par>
                            </p:childTnLst>
                          </p:cTn>
                        </p:par>
                        <p:par>
                          <p:cTn id="7" fill="hold">
                            <p:stCondLst>
                              <p:cond delay="0"/>
                            </p:stCondLst>
                            <p:childTnLst>
                              <p:par>
                                <p:cTn id="8" presetID="16" presetClass="entr" presetSubtype="21" fill="hold" grpId="0" nodeType="afterEffect">
                                  <p:stCondLst>
                                    <p:cond delay="0"/>
                                  </p:stCondLst>
                                  <p:childTnLst>
                                    <p:set>
                                      <p:cBhvr>
                                        <p:cTn id="9" dur="1" fill="hold">
                                          <p:stCondLst>
                                            <p:cond delay="0"/>
                                          </p:stCondLst>
                                        </p:cTn>
                                        <p:tgtEl>
                                          <p:spTgt spid="3">
                                            <p:txEl>
                                              <p:pRg st="0" end="0"/>
                                            </p:txEl>
                                          </p:spTgt>
                                        </p:tgtEl>
                                        <p:attrNameLst>
                                          <p:attrName>style.visibility</p:attrName>
                                        </p:attrNameLst>
                                      </p:cBhvr>
                                      <p:to>
                                        <p:strVal val="visible"/>
                                      </p:to>
                                    </p:set>
                                    <p:animEffect transition="in" filter="barn(inVertical)">
                                      <p:cBhvr>
                                        <p:cTn id="10"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b="1" dirty="0" err="1" smtClean="0"/>
              <a:t>Xesh</a:t>
            </a:r>
            <a:r>
              <a:rPr lang="en-US" b="1" dirty="0" smtClean="0"/>
              <a:t> </a:t>
            </a:r>
            <a:r>
              <a:rPr lang="en-US" b="1" dirty="0" err="1" smtClean="0"/>
              <a:t>qiymatni</a:t>
            </a:r>
            <a:r>
              <a:rPr lang="en-US" b="1" dirty="0" smtClean="0"/>
              <a:t> </a:t>
            </a:r>
            <a:r>
              <a:rPr lang="en-US" b="1" dirty="0" err="1" smtClean="0"/>
              <a:t>hisoblash</a:t>
            </a:r>
            <a:r>
              <a:rPr lang="en-US" b="1" dirty="0" smtClean="0"/>
              <a:t> </a:t>
            </a:r>
            <a:r>
              <a:rPr lang="en-US" b="1" dirty="0" err="1" smtClean="0"/>
              <a:t>jarayoni</a:t>
            </a:r>
            <a:r>
              <a:rPr lang="en-US" b="1" dirty="0" smtClean="0"/>
              <a:t> </a:t>
            </a:r>
            <a:r>
              <a:rPr lang="en-US" b="1" dirty="0" err="1" smtClean="0"/>
              <a:t>quyidagi</a:t>
            </a:r>
            <a:r>
              <a:rPr lang="en-US" b="1" dirty="0" smtClean="0"/>
              <a:t> </a:t>
            </a:r>
            <a:r>
              <a:rPr lang="en-US" b="1" dirty="0" err="1" smtClean="0"/>
              <a:t>bosqichlardan</a:t>
            </a:r>
            <a:r>
              <a:rPr lang="en-US" b="1" dirty="0" smtClean="0"/>
              <a:t> </a:t>
            </a:r>
            <a:r>
              <a:rPr lang="en-US" b="1" dirty="0" err="1" smtClean="0"/>
              <a:t>iborat</a:t>
            </a:r>
            <a:r>
              <a:rPr lang="en-US" b="1" dirty="0" smtClean="0"/>
              <a:t>:</a:t>
            </a:r>
            <a:endParaRPr lang="en-US" b="1" dirty="0"/>
          </a:p>
        </p:txBody>
      </p:sp>
      <p:sp>
        <p:nvSpPr>
          <p:cNvPr id="3" name="Объект 2"/>
          <p:cNvSpPr>
            <a:spLocks noGrp="1"/>
          </p:cNvSpPr>
          <p:nvPr>
            <p:ph idx="1"/>
          </p:nvPr>
        </p:nvSpPr>
        <p:spPr/>
        <p:txBody>
          <a:bodyPr>
            <a:normAutofit lnSpcReduction="10000"/>
          </a:bodyPr>
          <a:lstStyle/>
          <a:p>
            <a:pPr marL="0" indent="0" algn="ctr">
              <a:buNone/>
            </a:pPr>
            <a:r>
              <a:rPr lang="en-US" b="1" dirty="0" smtClean="0"/>
              <a:t>1-bosqich. </a:t>
            </a:r>
            <a:r>
              <a:rPr lang="en-US" b="1" dirty="0" err="1" smtClean="0"/>
              <a:t>To‘ldirish</a:t>
            </a:r>
            <a:r>
              <a:rPr lang="en-US" b="1" dirty="0" smtClean="0"/>
              <a:t> </a:t>
            </a:r>
            <a:r>
              <a:rPr lang="en-US" b="1" dirty="0" err="1" smtClean="0"/>
              <a:t>bitlarini</a:t>
            </a:r>
            <a:r>
              <a:rPr lang="en-US" b="1" dirty="0" smtClean="0"/>
              <a:t> </a:t>
            </a:r>
            <a:r>
              <a:rPr lang="en-US" b="1" dirty="0" err="1" smtClean="0"/>
              <a:t>qo‘shish</a:t>
            </a:r>
            <a:endParaRPr lang="en-US" b="1" dirty="0" smtClean="0"/>
          </a:p>
          <a:p>
            <a:pPr marL="0" indent="0" algn="just">
              <a:buNone/>
            </a:pPr>
            <a:r>
              <a:rPr lang="en-US" dirty="0" smtClean="0"/>
              <a:t>	</a:t>
            </a:r>
            <a:r>
              <a:rPr lang="en-US" dirty="0" err="1" smtClean="0"/>
              <a:t>Berilgan</a:t>
            </a:r>
            <a:r>
              <a:rPr lang="en-US" dirty="0" smtClean="0"/>
              <a:t> </a:t>
            </a:r>
            <a:r>
              <a:rPr lang="en-US" dirty="0" err="1" smtClean="0"/>
              <a:t>ma’lumot</a:t>
            </a:r>
            <a:r>
              <a:rPr lang="en-US" dirty="0" smtClean="0"/>
              <a:t> </a:t>
            </a:r>
            <a:r>
              <a:rPr lang="en-US" dirty="0" err="1" smtClean="0"/>
              <a:t>uzunligi</a:t>
            </a:r>
            <a:r>
              <a:rPr lang="en-US" dirty="0" smtClean="0"/>
              <a:t> 𝐿, 512 </a:t>
            </a:r>
            <a:r>
              <a:rPr lang="en-US" dirty="0" err="1" smtClean="0"/>
              <a:t>modul</a:t>
            </a:r>
            <a:r>
              <a:rPr lang="en-US" dirty="0" smtClean="0"/>
              <a:t> </a:t>
            </a:r>
            <a:r>
              <a:rPr lang="en-US" dirty="0" err="1" smtClean="0"/>
              <a:t>bo‘yicha</a:t>
            </a:r>
            <a:r>
              <a:rPr lang="en-US" dirty="0" smtClean="0"/>
              <a:t> 448 </a:t>
            </a:r>
            <a:r>
              <a:rPr lang="en-US" dirty="0" err="1" smtClean="0"/>
              <a:t>bilan</a:t>
            </a:r>
            <a:r>
              <a:rPr lang="en-US" dirty="0" smtClean="0"/>
              <a:t> </a:t>
            </a:r>
            <a:r>
              <a:rPr lang="en-US" dirty="0" err="1" smtClean="0"/>
              <a:t>taqqoslanadigan</a:t>
            </a:r>
            <a:r>
              <a:rPr lang="en-US" dirty="0" smtClean="0"/>
              <a:t> (𝐿 ≡ 448 𝑚𝑜𝑑 512) </a:t>
            </a:r>
            <a:r>
              <a:rPr lang="en-US" dirty="0" err="1" smtClean="0"/>
              <a:t>ko‘rinishda</a:t>
            </a:r>
            <a:r>
              <a:rPr lang="en-US" dirty="0" smtClean="0"/>
              <a:t> </a:t>
            </a:r>
            <a:r>
              <a:rPr lang="en-US" dirty="0" err="1" smtClean="0"/>
              <a:t>to‘ldiriladi</a:t>
            </a:r>
            <a:r>
              <a:rPr lang="en-US" dirty="0" smtClean="0"/>
              <a:t>, </a:t>
            </a:r>
            <a:r>
              <a:rPr lang="en-US" dirty="0" err="1" smtClean="0"/>
              <a:t>ya’ni</a:t>
            </a:r>
            <a:r>
              <a:rPr lang="en-US" dirty="0" smtClean="0"/>
              <a:t>, </a:t>
            </a:r>
            <a:r>
              <a:rPr lang="en-US" dirty="0" err="1" smtClean="0"/>
              <a:t>kengaytirilgan</a:t>
            </a:r>
            <a:r>
              <a:rPr lang="en-US" dirty="0" smtClean="0"/>
              <a:t> </a:t>
            </a:r>
            <a:r>
              <a:rPr lang="en-US" dirty="0" err="1" smtClean="0"/>
              <a:t>ma’lumotning</a:t>
            </a:r>
            <a:r>
              <a:rPr lang="en-US" dirty="0" smtClean="0"/>
              <a:t> </a:t>
            </a:r>
            <a:r>
              <a:rPr lang="en-US" dirty="0" err="1" smtClean="0"/>
              <a:t>uzunligi</a:t>
            </a:r>
            <a:r>
              <a:rPr lang="en-US" dirty="0" smtClean="0"/>
              <a:t> </a:t>
            </a:r>
            <a:r>
              <a:rPr lang="en-US" dirty="0" err="1" smtClean="0"/>
              <a:t>unga</a:t>
            </a:r>
            <a:r>
              <a:rPr lang="en-US" dirty="0" smtClean="0"/>
              <a:t> </a:t>
            </a:r>
            <a:r>
              <a:rPr lang="en-US" dirty="0" err="1" smtClean="0"/>
              <a:t>eng</a:t>
            </a:r>
            <a:r>
              <a:rPr lang="en-US" dirty="0" smtClean="0"/>
              <a:t> </a:t>
            </a:r>
            <a:r>
              <a:rPr lang="en-US" dirty="0" err="1" smtClean="0"/>
              <a:t>yaqin</a:t>
            </a:r>
            <a:r>
              <a:rPr lang="en-US" dirty="0" smtClean="0"/>
              <a:t> </a:t>
            </a:r>
            <a:r>
              <a:rPr lang="en-US" dirty="0" err="1" smtClean="0"/>
              <a:t>bo‘lgan</a:t>
            </a:r>
            <a:r>
              <a:rPr lang="en-US" dirty="0" smtClean="0"/>
              <a:t> 512 </a:t>
            </a:r>
            <a:r>
              <a:rPr lang="en-US" dirty="0" err="1" smtClean="0"/>
              <a:t>ga</a:t>
            </a:r>
            <a:r>
              <a:rPr lang="en-US" dirty="0" smtClean="0"/>
              <a:t> </a:t>
            </a:r>
            <a:r>
              <a:rPr lang="en-US" dirty="0" err="1" smtClean="0"/>
              <a:t>karrali</a:t>
            </a:r>
            <a:r>
              <a:rPr lang="en-US" dirty="0" smtClean="0"/>
              <a:t> </a:t>
            </a:r>
            <a:r>
              <a:rPr lang="en-US" dirty="0" err="1" smtClean="0"/>
              <a:t>bo‘lgan</a:t>
            </a:r>
            <a:r>
              <a:rPr lang="en-US" dirty="0" smtClean="0"/>
              <a:t> </a:t>
            </a:r>
            <a:r>
              <a:rPr lang="en-US" dirty="0" err="1" smtClean="0"/>
              <a:t>sondan</a:t>
            </a:r>
            <a:r>
              <a:rPr lang="en-US" dirty="0" smtClean="0"/>
              <a:t> 64 </a:t>
            </a:r>
            <a:r>
              <a:rPr lang="en-US" dirty="0" err="1" smtClean="0"/>
              <a:t>bitga</a:t>
            </a:r>
            <a:r>
              <a:rPr lang="en-US" dirty="0" smtClean="0"/>
              <a:t> </a:t>
            </a:r>
            <a:r>
              <a:rPr lang="en-US" dirty="0" err="1" smtClean="0"/>
              <a:t>kichik</a:t>
            </a:r>
            <a:r>
              <a:rPr lang="en-US" dirty="0" smtClean="0"/>
              <a:t> </a:t>
            </a:r>
            <a:r>
              <a:rPr lang="en-US" dirty="0" err="1" smtClean="0"/>
              <a:t>bo‘lishi</a:t>
            </a:r>
            <a:r>
              <a:rPr lang="en-US" dirty="0" smtClean="0"/>
              <a:t> </a:t>
            </a:r>
            <a:r>
              <a:rPr lang="en-US" dirty="0" err="1" smtClean="0"/>
              <a:t>kerak</a:t>
            </a:r>
            <a:r>
              <a:rPr lang="en-US" dirty="0" smtClean="0"/>
              <a:t>. </a:t>
            </a:r>
            <a:r>
              <a:rPr lang="en-US" dirty="0" err="1" smtClean="0"/>
              <a:t>To‘ldirish</a:t>
            </a:r>
            <a:r>
              <a:rPr lang="en-US" dirty="0" smtClean="0"/>
              <a:t> </a:t>
            </a:r>
            <a:r>
              <a:rPr lang="en-US" dirty="0" err="1" smtClean="0"/>
              <a:t>bosqichi</a:t>
            </a:r>
            <a:r>
              <a:rPr lang="en-US" dirty="0" smtClean="0"/>
              <a:t>, </a:t>
            </a:r>
            <a:r>
              <a:rPr lang="en-US" dirty="0" err="1" smtClean="0"/>
              <a:t>hamma</a:t>
            </a:r>
            <a:r>
              <a:rPr lang="en-US" dirty="0" smtClean="0"/>
              <a:t> </a:t>
            </a:r>
            <a:r>
              <a:rPr lang="en-US" dirty="0" err="1" smtClean="0"/>
              <a:t>vaqt</a:t>
            </a:r>
            <a:r>
              <a:rPr lang="en-US" dirty="0" smtClean="0"/>
              <a:t> </a:t>
            </a:r>
            <a:r>
              <a:rPr lang="en-US" dirty="0" err="1" smtClean="0"/>
              <a:t>xattoki</a:t>
            </a:r>
            <a:r>
              <a:rPr lang="en-US" dirty="0" smtClean="0"/>
              <a:t> </a:t>
            </a:r>
            <a:r>
              <a:rPr lang="en-US" dirty="0" err="1" smtClean="0"/>
              <a:t>ma’lumot</a:t>
            </a:r>
            <a:r>
              <a:rPr lang="en-US" dirty="0" smtClean="0"/>
              <a:t> </a:t>
            </a:r>
            <a:r>
              <a:rPr lang="en-US" dirty="0" err="1" smtClean="0"/>
              <a:t>uzunligi</a:t>
            </a:r>
            <a:r>
              <a:rPr lang="en-US" dirty="0" smtClean="0"/>
              <a:t> 512 </a:t>
            </a:r>
            <a:r>
              <a:rPr lang="en-US" dirty="0" err="1" smtClean="0"/>
              <a:t>modul</a:t>
            </a:r>
            <a:r>
              <a:rPr lang="en-US" dirty="0" smtClean="0"/>
              <a:t> </a:t>
            </a:r>
            <a:r>
              <a:rPr lang="en-US" dirty="0" err="1" smtClean="0"/>
              <a:t>bo‘yicha</a:t>
            </a:r>
            <a:r>
              <a:rPr lang="en-US" dirty="0" smtClean="0"/>
              <a:t> 448 </a:t>
            </a:r>
            <a:r>
              <a:rPr lang="en-US" dirty="0" err="1" smtClean="0"/>
              <a:t>bilan</a:t>
            </a:r>
            <a:r>
              <a:rPr lang="en-US" dirty="0" smtClean="0"/>
              <a:t> </a:t>
            </a:r>
            <a:r>
              <a:rPr lang="en-US" dirty="0" err="1" smtClean="0"/>
              <a:t>taqqoslanadigan</a:t>
            </a:r>
            <a:r>
              <a:rPr lang="en-US" dirty="0" smtClean="0"/>
              <a:t> </a:t>
            </a:r>
            <a:r>
              <a:rPr lang="en-US" dirty="0" err="1" smtClean="0"/>
              <a:t>bo‘lsa</a:t>
            </a:r>
            <a:r>
              <a:rPr lang="en-US" dirty="0" smtClean="0"/>
              <a:t> ham </a:t>
            </a:r>
            <a:r>
              <a:rPr lang="en-US" dirty="0" err="1" smtClean="0"/>
              <a:t>bajariladi</a:t>
            </a:r>
            <a:r>
              <a:rPr lang="en-US" dirty="0" smtClean="0"/>
              <a:t>. </a:t>
            </a:r>
            <a:r>
              <a:rPr lang="en-US" dirty="0" err="1" smtClean="0"/>
              <a:t>To‘ldirish</a:t>
            </a:r>
            <a:r>
              <a:rPr lang="en-US" dirty="0" smtClean="0"/>
              <a:t> </a:t>
            </a:r>
            <a:r>
              <a:rPr lang="en-US" dirty="0" err="1" smtClean="0"/>
              <a:t>quyidagi</a:t>
            </a:r>
            <a:r>
              <a:rPr lang="en-US" dirty="0" smtClean="0"/>
              <a:t> </a:t>
            </a:r>
            <a:r>
              <a:rPr lang="en-US" dirty="0" err="1" smtClean="0"/>
              <a:t>tartibda</a:t>
            </a:r>
            <a:r>
              <a:rPr lang="en-US" dirty="0" smtClean="0"/>
              <a:t> </a:t>
            </a:r>
            <a:r>
              <a:rPr lang="en-US" dirty="0" err="1" smtClean="0"/>
              <a:t>amalga</a:t>
            </a:r>
            <a:r>
              <a:rPr lang="en-US" dirty="0" smtClean="0"/>
              <a:t> </a:t>
            </a:r>
            <a:r>
              <a:rPr lang="en-US" dirty="0" err="1" smtClean="0"/>
              <a:t>oshiriladi</a:t>
            </a:r>
            <a:r>
              <a:rPr lang="en-US" dirty="0" smtClean="0"/>
              <a:t>: </a:t>
            </a:r>
            <a:r>
              <a:rPr lang="en-US" dirty="0" err="1" smtClean="0"/>
              <a:t>ma’lumotga</a:t>
            </a:r>
            <a:r>
              <a:rPr lang="en-US" dirty="0" smtClean="0"/>
              <a:t> </a:t>
            </a:r>
            <a:r>
              <a:rPr lang="en-US" dirty="0" err="1" smtClean="0"/>
              <a:t>qiymati</a:t>
            </a:r>
            <a:r>
              <a:rPr lang="en-US" dirty="0" smtClean="0"/>
              <a:t> 1 </a:t>
            </a:r>
            <a:r>
              <a:rPr lang="en-US" dirty="0" err="1" smtClean="0"/>
              <a:t>ga</a:t>
            </a:r>
            <a:r>
              <a:rPr lang="en-US" dirty="0" smtClean="0"/>
              <a:t> </a:t>
            </a:r>
            <a:r>
              <a:rPr lang="en-US" dirty="0" err="1" smtClean="0"/>
              <a:t>teng</a:t>
            </a:r>
            <a:r>
              <a:rPr lang="en-US" dirty="0" smtClean="0"/>
              <a:t> </a:t>
            </a:r>
            <a:r>
              <a:rPr lang="en-US" dirty="0" err="1" smtClean="0"/>
              <a:t>bo‘lgan</a:t>
            </a:r>
            <a:r>
              <a:rPr lang="en-US" dirty="0" smtClean="0"/>
              <a:t> </a:t>
            </a:r>
            <a:r>
              <a:rPr lang="en-US" dirty="0" err="1" smtClean="0"/>
              <a:t>bitta</a:t>
            </a:r>
            <a:r>
              <a:rPr lang="en-US" dirty="0" smtClean="0"/>
              <a:t> bit </a:t>
            </a:r>
            <a:r>
              <a:rPr lang="en-US" dirty="0" err="1" smtClean="0"/>
              <a:t>qo‘shiladi</a:t>
            </a:r>
            <a:r>
              <a:rPr lang="en-US" dirty="0" smtClean="0"/>
              <a:t>, </a:t>
            </a:r>
            <a:r>
              <a:rPr lang="en-US" dirty="0" err="1" smtClean="0"/>
              <a:t>qolgan</a:t>
            </a:r>
            <a:r>
              <a:rPr lang="en-US" dirty="0" smtClean="0"/>
              <a:t> </a:t>
            </a:r>
            <a:r>
              <a:rPr lang="en-US" dirty="0" err="1" smtClean="0"/>
              <a:t>bitlar</a:t>
            </a:r>
            <a:r>
              <a:rPr lang="en-US" dirty="0" smtClean="0"/>
              <a:t> </a:t>
            </a:r>
            <a:r>
              <a:rPr lang="en-US" dirty="0" err="1" smtClean="0"/>
              <a:t>esa</a:t>
            </a:r>
            <a:r>
              <a:rPr lang="en-US" dirty="0" smtClean="0"/>
              <a:t> 0 </a:t>
            </a:r>
            <a:r>
              <a:rPr lang="en-US" dirty="0" err="1" smtClean="0"/>
              <a:t>lar</a:t>
            </a:r>
            <a:r>
              <a:rPr lang="en-US" dirty="0" smtClean="0"/>
              <a:t> </a:t>
            </a:r>
            <a:r>
              <a:rPr lang="en-US" dirty="0" err="1" smtClean="0"/>
              <a:t>bilan</a:t>
            </a:r>
            <a:r>
              <a:rPr lang="en-US" dirty="0" smtClean="0"/>
              <a:t> </a:t>
            </a:r>
            <a:r>
              <a:rPr lang="en-US" dirty="0" err="1" smtClean="0"/>
              <a:t>to‘ldiriladi</a:t>
            </a:r>
            <a:r>
              <a:rPr lang="en-US" dirty="0" smtClean="0"/>
              <a:t>. </a:t>
            </a:r>
            <a:r>
              <a:rPr lang="en-US" dirty="0" err="1" smtClean="0"/>
              <a:t>Shuning</a:t>
            </a:r>
            <a:r>
              <a:rPr lang="en-US" dirty="0" smtClean="0"/>
              <a:t> </a:t>
            </a:r>
            <a:r>
              <a:rPr lang="en-US" dirty="0" err="1" smtClean="0"/>
              <a:t>uchun</a:t>
            </a:r>
            <a:r>
              <a:rPr lang="en-US" dirty="0" smtClean="0"/>
              <a:t> </a:t>
            </a:r>
            <a:r>
              <a:rPr lang="en-US" dirty="0" err="1" smtClean="0"/>
              <a:t>qo‘shilgan</a:t>
            </a:r>
            <a:r>
              <a:rPr lang="en-US" dirty="0" smtClean="0"/>
              <a:t> </a:t>
            </a:r>
            <a:r>
              <a:rPr lang="en-US" dirty="0" err="1" smtClean="0"/>
              <a:t>bitlar</a:t>
            </a:r>
            <a:r>
              <a:rPr lang="en-US" dirty="0" smtClean="0"/>
              <a:t> </a:t>
            </a:r>
            <a:r>
              <a:rPr lang="en-US" dirty="0" err="1" smtClean="0"/>
              <a:t>soni</a:t>
            </a:r>
            <a:r>
              <a:rPr lang="en-US" dirty="0" smtClean="0"/>
              <a:t> 1 </a:t>
            </a:r>
            <a:r>
              <a:rPr lang="en-US" dirty="0" err="1" smtClean="0"/>
              <a:t>dan</a:t>
            </a:r>
            <a:r>
              <a:rPr lang="en-US" dirty="0" smtClean="0"/>
              <a:t> 512 </a:t>
            </a:r>
            <a:r>
              <a:rPr lang="en-US" dirty="0" err="1" smtClean="0"/>
              <a:t>tagacha</a:t>
            </a:r>
            <a:r>
              <a:rPr lang="en-US" dirty="0" smtClean="0"/>
              <a:t> </a:t>
            </a:r>
            <a:r>
              <a:rPr lang="en-US" dirty="0" err="1" smtClean="0"/>
              <a:t>bo‘ladi</a:t>
            </a:r>
            <a:r>
              <a:rPr lang="en-US" dirty="0" smtClean="0"/>
              <a:t>. </a:t>
            </a:r>
            <a:endParaRPr lang="en-US" dirty="0"/>
          </a:p>
        </p:txBody>
      </p:sp>
    </p:spTree>
    <p:extLst>
      <p:ext uri="{BB962C8B-B14F-4D97-AF65-F5344CB8AC3E}">
        <p14:creationId xmlns:p14="http://schemas.microsoft.com/office/powerpoint/2010/main" val="146739975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6" presetClass="entr" presetSubtype="16"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circle(in)">
                                      <p:cBhvr>
                                        <p:cTn id="7" dur="2000"/>
                                        <p:tgtEl>
                                          <p:spTgt spid="2"/>
                                        </p:tgtEl>
                                      </p:cBhvr>
                                    </p:animEffect>
                                  </p:childTnLst>
                                </p:cTn>
                              </p:par>
                            </p:childTnLst>
                          </p:cTn>
                        </p:par>
                        <p:par>
                          <p:cTn id="8" fill="hold">
                            <p:stCondLst>
                              <p:cond delay="2000"/>
                            </p:stCondLst>
                            <p:childTnLst>
                              <p:par>
                                <p:cTn id="9" presetID="21" presetClass="entr" presetSubtype="1"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wheel(1)">
                                      <p:cBhvr>
                                        <p:cTn id="11" dur="2000"/>
                                        <p:tgtEl>
                                          <p:spTgt spid="3">
                                            <p:txEl>
                                              <p:pRg st="0" end="0"/>
                                            </p:txEl>
                                          </p:spTgt>
                                        </p:tgtEl>
                                      </p:cBhvr>
                                    </p:animEffect>
                                  </p:childTnLst>
                                </p:cTn>
                              </p:par>
                            </p:childTnLst>
                          </p:cTn>
                        </p:par>
                        <p:par>
                          <p:cTn id="12" fill="hold">
                            <p:stCondLst>
                              <p:cond delay="4000"/>
                            </p:stCondLst>
                            <p:childTnLst>
                              <p:par>
                                <p:cTn id="13" presetID="21" presetClass="entr" presetSubtype="1" fill="hold" nodeType="afterEffect">
                                  <p:stCondLst>
                                    <p:cond delay="0"/>
                                  </p:stCondLst>
                                  <p:childTnLst>
                                    <p:set>
                                      <p:cBhvr>
                                        <p:cTn id="14" dur="1" fill="hold">
                                          <p:stCondLst>
                                            <p:cond delay="0"/>
                                          </p:stCondLst>
                                        </p:cTn>
                                        <p:tgtEl>
                                          <p:spTgt spid="3">
                                            <p:txEl>
                                              <p:pRg st="1" end="1"/>
                                            </p:txEl>
                                          </p:spTgt>
                                        </p:tgtEl>
                                        <p:attrNameLst>
                                          <p:attrName>style.visibility</p:attrName>
                                        </p:attrNameLst>
                                      </p:cBhvr>
                                      <p:to>
                                        <p:strVal val="visible"/>
                                      </p:to>
                                    </p:set>
                                    <p:animEffect transition="in" filter="wheel(1)">
                                      <p:cBhvr>
                                        <p:cTn id="15"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740664" y="649224"/>
            <a:ext cx="10613136" cy="5527739"/>
          </a:xfrm>
        </p:spPr>
        <p:txBody>
          <a:bodyPr>
            <a:normAutofit lnSpcReduction="10000"/>
          </a:bodyPr>
          <a:lstStyle/>
          <a:p>
            <a:pPr marL="0" indent="0" algn="just">
              <a:buNone/>
            </a:pPr>
            <a:r>
              <a:rPr lang="en-US" b="1" dirty="0" smtClean="0"/>
              <a:t>	</a:t>
            </a:r>
            <a:r>
              <a:rPr lang="en-US" b="1" dirty="0" err="1" smtClean="0"/>
              <a:t>Masalan</a:t>
            </a:r>
            <a:r>
              <a:rPr lang="en-US" b="1" dirty="0" smtClean="0"/>
              <a:t>, </a:t>
            </a:r>
            <a:r>
              <a:rPr lang="en-US" b="1" dirty="0" err="1" smtClean="0"/>
              <a:t>xabar</a:t>
            </a:r>
            <a:r>
              <a:rPr lang="en-US" b="1" dirty="0" smtClean="0"/>
              <a:t> 𝑀=”message” </a:t>
            </a:r>
            <a:r>
              <a:rPr lang="en-US" b="1" dirty="0" err="1" smtClean="0"/>
              <a:t>ga</a:t>
            </a:r>
            <a:r>
              <a:rPr lang="en-US" b="1" dirty="0" smtClean="0"/>
              <a:t> </a:t>
            </a:r>
            <a:r>
              <a:rPr lang="en-US" b="1" dirty="0" err="1" smtClean="0"/>
              <a:t>teng</a:t>
            </a:r>
            <a:r>
              <a:rPr lang="en-US" b="1" dirty="0" smtClean="0"/>
              <a:t> </a:t>
            </a:r>
            <a:r>
              <a:rPr lang="en-US" b="1" dirty="0" err="1" smtClean="0"/>
              <a:t>bo‘lsin</a:t>
            </a:r>
            <a:r>
              <a:rPr lang="en-US" b="1" dirty="0" smtClean="0"/>
              <a:t>. U </a:t>
            </a:r>
            <a:r>
              <a:rPr lang="en-US" b="1" dirty="0" err="1" smtClean="0"/>
              <a:t>holda</a:t>
            </a:r>
            <a:r>
              <a:rPr lang="en-US" b="1" dirty="0" smtClean="0"/>
              <a:t> </a:t>
            </a:r>
            <a:r>
              <a:rPr lang="en-US" b="1" dirty="0" err="1" smtClean="0"/>
              <a:t>xabarning</a:t>
            </a:r>
            <a:r>
              <a:rPr lang="en-US" b="1" dirty="0" smtClean="0"/>
              <a:t> </a:t>
            </a:r>
            <a:r>
              <a:rPr lang="en-US" b="1" dirty="0" err="1" smtClean="0"/>
              <a:t>ASCIIdagi</a:t>
            </a:r>
            <a:r>
              <a:rPr lang="en-US" b="1" dirty="0" smtClean="0"/>
              <a:t> </a:t>
            </a:r>
            <a:r>
              <a:rPr lang="en-US" b="1" dirty="0" err="1" smtClean="0"/>
              <a:t>ko‘rinishi</a:t>
            </a:r>
            <a:r>
              <a:rPr lang="en-US" b="1" dirty="0" smtClean="0"/>
              <a:t> </a:t>
            </a:r>
            <a:r>
              <a:rPr lang="en-US" b="1" dirty="0" err="1" smtClean="0"/>
              <a:t>quyidagicha</a:t>
            </a:r>
            <a:r>
              <a:rPr lang="en-US" b="1" dirty="0" smtClean="0"/>
              <a:t> </a:t>
            </a:r>
            <a:r>
              <a:rPr lang="en-US" b="1" dirty="0" err="1" smtClean="0"/>
              <a:t>bo‘ladi</a:t>
            </a:r>
            <a:r>
              <a:rPr lang="en-US" b="1" dirty="0" smtClean="0"/>
              <a:t>:</a:t>
            </a:r>
          </a:p>
          <a:p>
            <a:pPr marL="0" indent="0" algn="ctr">
              <a:buNone/>
            </a:pPr>
            <a:r>
              <a:rPr lang="en-US" dirty="0" smtClean="0"/>
              <a:t>01101101 01100101 01110011 01110011 01100001 01100111 01100101</a:t>
            </a:r>
          </a:p>
          <a:p>
            <a:pPr marL="0" indent="0" algn="just">
              <a:buNone/>
            </a:pPr>
            <a:r>
              <a:rPr lang="en-US" dirty="0" smtClean="0"/>
              <a:t>	</a:t>
            </a:r>
            <a:r>
              <a:rPr lang="en-US" dirty="0" err="1" smtClean="0"/>
              <a:t>Xabar</a:t>
            </a:r>
            <a:r>
              <a:rPr lang="en-US" dirty="0" smtClean="0"/>
              <a:t> </a:t>
            </a:r>
            <a:r>
              <a:rPr lang="en-US" dirty="0" err="1" smtClean="0"/>
              <a:t>uzunligi</a:t>
            </a:r>
            <a:r>
              <a:rPr lang="en-US" dirty="0" smtClean="0"/>
              <a:t> 𝐿 = 56 </a:t>
            </a:r>
            <a:r>
              <a:rPr lang="en-US" dirty="0" err="1" smtClean="0"/>
              <a:t>ga</a:t>
            </a:r>
            <a:r>
              <a:rPr lang="en-US" dirty="0" smtClean="0"/>
              <a:t> </a:t>
            </a:r>
            <a:r>
              <a:rPr lang="en-US" dirty="0" err="1" smtClean="0"/>
              <a:t>tengligi</a:t>
            </a:r>
            <a:r>
              <a:rPr lang="en-US" dirty="0" smtClean="0"/>
              <a:t> bois, </a:t>
            </a:r>
            <a:r>
              <a:rPr lang="en-US" dirty="0" err="1" smtClean="0"/>
              <a:t>qo‘shiluvchi</a:t>
            </a:r>
            <a:r>
              <a:rPr lang="en-US" dirty="0" smtClean="0"/>
              <a:t> </a:t>
            </a:r>
            <a:r>
              <a:rPr lang="en-US" dirty="0" err="1" smtClean="0"/>
              <a:t>bitlar</a:t>
            </a:r>
            <a:r>
              <a:rPr lang="en-US" dirty="0" smtClean="0"/>
              <a:t> </a:t>
            </a:r>
            <a:r>
              <a:rPr lang="en-US" dirty="0" err="1" smtClean="0"/>
              <a:t>sonini</a:t>
            </a:r>
            <a:r>
              <a:rPr lang="en-US" dirty="0" smtClean="0"/>
              <a:t> 392 </a:t>
            </a:r>
            <a:r>
              <a:rPr lang="en-US" dirty="0" err="1" smtClean="0"/>
              <a:t>ga</a:t>
            </a:r>
            <a:r>
              <a:rPr lang="en-US" dirty="0" smtClean="0"/>
              <a:t> </a:t>
            </a:r>
            <a:r>
              <a:rPr lang="en-US" dirty="0" err="1" smtClean="0"/>
              <a:t>tengligini</a:t>
            </a:r>
            <a:r>
              <a:rPr lang="en-US" dirty="0" smtClean="0"/>
              <a:t> </a:t>
            </a:r>
            <a:r>
              <a:rPr lang="en-US" dirty="0" err="1" smtClean="0"/>
              <a:t>ko‘rish</a:t>
            </a:r>
            <a:r>
              <a:rPr lang="en-US" dirty="0" smtClean="0"/>
              <a:t> </a:t>
            </a:r>
            <a:r>
              <a:rPr lang="en-US" dirty="0" err="1" smtClean="0"/>
              <a:t>mumkin</a:t>
            </a:r>
            <a:r>
              <a:rPr lang="en-US" dirty="0" smtClean="0"/>
              <a:t>: </a:t>
            </a:r>
          </a:p>
          <a:p>
            <a:pPr marL="0" indent="0" algn="just">
              <a:buNone/>
            </a:pPr>
            <a:r>
              <a:rPr lang="en-US" dirty="0" smtClean="0"/>
              <a:t>(56 + 392)𝑚𝑜𝑑512 = 448. </a:t>
            </a:r>
          </a:p>
          <a:p>
            <a:pPr marL="0" indent="0" algn="just">
              <a:buNone/>
            </a:pPr>
            <a:r>
              <a:rPr lang="en-US" dirty="0" smtClean="0"/>
              <a:t>Shu </a:t>
            </a:r>
            <a:r>
              <a:rPr lang="en-US" dirty="0" err="1" smtClean="0"/>
              <a:t>sababli</a:t>
            </a:r>
            <a:r>
              <a:rPr lang="en-US" dirty="0" smtClean="0"/>
              <a:t>, </a:t>
            </a:r>
            <a:r>
              <a:rPr lang="en-US" dirty="0" err="1" smtClean="0"/>
              <a:t>birinchi</a:t>
            </a:r>
            <a:r>
              <a:rPr lang="en-US" dirty="0" smtClean="0"/>
              <a:t> </a:t>
            </a:r>
            <a:r>
              <a:rPr lang="en-US" dirty="0" err="1" smtClean="0"/>
              <a:t>bosqich</a:t>
            </a:r>
            <a:r>
              <a:rPr lang="en-US" dirty="0" smtClean="0"/>
              <a:t> </a:t>
            </a:r>
            <a:r>
              <a:rPr lang="en-US" dirty="0" err="1" smtClean="0"/>
              <a:t>natijasi</a:t>
            </a:r>
            <a:r>
              <a:rPr lang="en-US" dirty="0" smtClean="0"/>
              <a:t> </a:t>
            </a:r>
            <a:r>
              <a:rPr lang="en-US" dirty="0" err="1" smtClean="0"/>
              <a:t>quyidagicha</a:t>
            </a:r>
            <a:r>
              <a:rPr lang="en-US" dirty="0" smtClean="0"/>
              <a:t> </a:t>
            </a:r>
            <a:r>
              <a:rPr lang="en-US" dirty="0" err="1" smtClean="0"/>
              <a:t>bo‘ladi</a:t>
            </a:r>
            <a:r>
              <a:rPr lang="en-US" dirty="0" smtClean="0"/>
              <a:t>: </a:t>
            </a:r>
          </a:p>
          <a:p>
            <a:pPr marL="0" indent="0" algn="just">
              <a:buNone/>
            </a:pPr>
            <a:r>
              <a:rPr lang="en-US" dirty="0" smtClean="0"/>
              <a:t>01101101 01100101 01110011 01110011 01100001 01100111 01100101 10000000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 00000000</a:t>
            </a:r>
            <a:endParaRPr lang="en-US" dirty="0"/>
          </a:p>
        </p:txBody>
      </p:sp>
    </p:spTree>
    <p:extLst>
      <p:ext uri="{BB962C8B-B14F-4D97-AF65-F5344CB8AC3E}">
        <p14:creationId xmlns:p14="http://schemas.microsoft.com/office/powerpoint/2010/main" val="2080823568"/>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 presetClass="entr" presetSubtype="4" fill="hold" nodeType="after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anim calcmode="lin" valueType="num">
                                      <p:cBhvr additive="base">
                                        <p:cTn id="7" dur="500" fill="hold"/>
                                        <p:tgtEl>
                                          <p:spTgt spid="3">
                                            <p:txEl>
                                              <p:pRg st="0" end="0"/>
                                            </p:txEl>
                                          </p:spTgt>
                                        </p:tgtEl>
                                        <p:attrNameLst>
                                          <p:attrName>ppt_x</p:attrName>
                                        </p:attrNameLst>
                                      </p:cBhvr>
                                      <p:tavLst>
                                        <p:tav tm="0">
                                          <p:val>
                                            <p:strVal val="#ppt_x"/>
                                          </p:val>
                                        </p:tav>
                                        <p:tav tm="100000">
                                          <p:val>
                                            <p:strVal val="#ppt_x"/>
                                          </p:val>
                                        </p:tav>
                                      </p:tavLst>
                                    </p:anim>
                                    <p:anim calcmode="lin" valueType="num">
                                      <p:cBhvr additive="base">
                                        <p:cTn id="8" dur="500" fill="hold"/>
                                        <p:tgtEl>
                                          <p:spTgt spid="3">
                                            <p:txEl>
                                              <p:pRg st="0" end="0"/>
                                            </p:txEl>
                                          </p:spTgt>
                                        </p:tgtEl>
                                        <p:attrNameLst>
                                          <p:attrName>ppt_y</p:attrName>
                                        </p:attrNameLst>
                                      </p:cBhvr>
                                      <p:tavLst>
                                        <p:tav tm="0">
                                          <p:val>
                                            <p:strVal val="1+#ppt_h/2"/>
                                          </p:val>
                                        </p:tav>
                                        <p:tav tm="100000">
                                          <p:val>
                                            <p:strVal val="#ppt_y"/>
                                          </p:val>
                                        </p:tav>
                                      </p:tavLst>
                                    </p:anim>
                                  </p:childTnLst>
                                </p:cTn>
                              </p:par>
                            </p:childTnLst>
                          </p:cTn>
                        </p:par>
                        <p:par>
                          <p:cTn id="9" fill="hold">
                            <p:stCondLst>
                              <p:cond delay="500"/>
                            </p:stCondLst>
                            <p:childTnLst>
                              <p:par>
                                <p:cTn id="10" presetID="53" presetClass="entr" presetSubtype="16" fill="hold" nodeType="afterEffect">
                                  <p:stCondLst>
                                    <p:cond delay="0"/>
                                  </p:stCondLst>
                                  <p:childTnLst>
                                    <p:set>
                                      <p:cBhvr>
                                        <p:cTn id="11" dur="1" fill="hold">
                                          <p:stCondLst>
                                            <p:cond delay="0"/>
                                          </p:stCondLst>
                                        </p:cTn>
                                        <p:tgtEl>
                                          <p:spTgt spid="3">
                                            <p:txEl>
                                              <p:pRg st="1" end="1"/>
                                            </p:txEl>
                                          </p:spTgt>
                                        </p:tgtEl>
                                        <p:attrNameLst>
                                          <p:attrName>style.visibility</p:attrName>
                                        </p:attrNameLst>
                                      </p:cBhvr>
                                      <p:to>
                                        <p:strVal val="visible"/>
                                      </p:to>
                                    </p:set>
                                    <p:anim calcmode="lin" valueType="num">
                                      <p:cBhvr>
                                        <p:cTn id="12" dur="500" fill="hold"/>
                                        <p:tgtEl>
                                          <p:spTgt spid="3">
                                            <p:txEl>
                                              <p:pRg st="1" end="1"/>
                                            </p:txEl>
                                          </p:spTgt>
                                        </p:tgtEl>
                                        <p:attrNameLst>
                                          <p:attrName>ppt_w</p:attrName>
                                        </p:attrNameLst>
                                      </p:cBhvr>
                                      <p:tavLst>
                                        <p:tav tm="0">
                                          <p:val>
                                            <p:fltVal val="0"/>
                                          </p:val>
                                        </p:tav>
                                        <p:tav tm="100000">
                                          <p:val>
                                            <p:strVal val="#ppt_w"/>
                                          </p:val>
                                        </p:tav>
                                      </p:tavLst>
                                    </p:anim>
                                    <p:anim calcmode="lin" valueType="num">
                                      <p:cBhvr>
                                        <p:cTn id="13" dur="500" fill="hold"/>
                                        <p:tgtEl>
                                          <p:spTgt spid="3">
                                            <p:txEl>
                                              <p:pRg st="1" end="1"/>
                                            </p:txEl>
                                          </p:spTgt>
                                        </p:tgtEl>
                                        <p:attrNameLst>
                                          <p:attrName>ppt_h</p:attrName>
                                        </p:attrNameLst>
                                      </p:cBhvr>
                                      <p:tavLst>
                                        <p:tav tm="0">
                                          <p:val>
                                            <p:fltVal val="0"/>
                                          </p:val>
                                        </p:tav>
                                        <p:tav tm="100000">
                                          <p:val>
                                            <p:strVal val="#ppt_h"/>
                                          </p:val>
                                        </p:tav>
                                      </p:tavLst>
                                    </p:anim>
                                    <p:animEffect transition="in" filter="fade">
                                      <p:cBhvr>
                                        <p:cTn id="14" dur="500"/>
                                        <p:tgtEl>
                                          <p:spTgt spid="3">
                                            <p:txEl>
                                              <p:pRg st="1" end="1"/>
                                            </p:txEl>
                                          </p:spTgt>
                                        </p:tgtEl>
                                      </p:cBhvr>
                                    </p:animEffect>
                                  </p:childTnLst>
                                </p:cTn>
                              </p:par>
                              <p:par>
                                <p:cTn id="15" presetID="53" presetClass="entr" presetSubtype="16" fill="hold" nodeType="withEffect">
                                  <p:stCondLst>
                                    <p:cond delay="0"/>
                                  </p:stCondLst>
                                  <p:childTnLst>
                                    <p:set>
                                      <p:cBhvr>
                                        <p:cTn id="16" dur="1" fill="hold">
                                          <p:stCondLst>
                                            <p:cond delay="0"/>
                                          </p:stCondLst>
                                        </p:cTn>
                                        <p:tgtEl>
                                          <p:spTgt spid="3">
                                            <p:txEl>
                                              <p:pRg st="2" end="2"/>
                                            </p:txEl>
                                          </p:spTgt>
                                        </p:tgtEl>
                                        <p:attrNameLst>
                                          <p:attrName>style.visibility</p:attrName>
                                        </p:attrNameLst>
                                      </p:cBhvr>
                                      <p:to>
                                        <p:strVal val="visible"/>
                                      </p:to>
                                    </p:set>
                                    <p:anim calcmode="lin" valueType="num">
                                      <p:cBhvr>
                                        <p:cTn id="17" dur="500" fill="hold"/>
                                        <p:tgtEl>
                                          <p:spTgt spid="3">
                                            <p:txEl>
                                              <p:pRg st="2" end="2"/>
                                            </p:txEl>
                                          </p:spTgt>
                                        </p:tgtEl>
                                        <p:attrNameLst>
                                          <p:attrName>ppt_w</p:attrName>
                                        </p:attrNameLst>
                                      </p:cBhvr>
                                      <p:tavLst>
                                        <p:tav tm="0">
                                          <p:val>
                                            <p:fltVal val="0"/>
                                          </p:val>
                                        </p:tav>
                                        <p:tav tm="100000">
                                          <p:val>
                                            <p:strVal val="#ppt_w"/>
                                          </p:val>
                                        </p:tav>
                                      </p:tavLst>
                                    </p:anim>
                                    <p:anim calcmode="lin" valueType="num">
                                      <p:cBhvr>
                                        <p:cTn id="18" dur="500" fill="hold"/>
                                        <p:tgtEl>
                                          <p:spTgt spid="3">
                                            <p:txEl>
                                              <p:pRg st="2" end="2"/>
                                            </p:txEl>
                                          </p:spTgt>
                                        </p:tgtEl>
                                        <p:attrNameLst>
                                          <p:attrName>ppt_h</p:attrName>
                                        </p:attrNameLst>
                                      </p:cBhvr>
                                      <p:tavLst>
                                        <p:tav tm="0">
                                          <p:val>
                                            <p:fltVal val="0"/>
                                          </p:val>
                                        </p:tav>
                                        <p:tav tm="100000">
                                          <p:val>
                                            <p:strVal val="#ppt_h"/>
                                          </p:val>
                                        </p:tav>
                                      </p:tavLst>
                                    </p:anim>
                                    <p:animEffect transition="in" filter="fade">
                                      <p:cBhvr>
                                        <p:cTn id="19" dur="500"/>
                                        <p:tgtEl>
                                          <p:spTgt spid="3">
                                            <p:txEl>
                                              <p:pRg st="2" end="2"/>
                                            </p:txEl>
                                          </p:spTgt>
                                        </p:tgtEl>
                                      </p:cBhvr>
                                    </p:animEffect>
                                  </p:childTnLst>
                                </p:cTn>
                              </p:par>
                              <p:par>
                                <p:cTn id="20" presetID="53"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 calcmode="lin" valueType="num">
                                      <p:cBhvr>
                                        <p:cTn id="22" dur="500" fill="hold"/>
                                        <p:tgtEl>
                                          <p:spTgt spid="3">
                                            <p:txEl>
                                              <p:pRg st="3" end="3"/>
                                            </p:txEl>
                                          </p:spTgt>
                                        </p:tgtEl>
                                        <p:attrNameLst>
                                          <p:attrName>ppt_w</p:attrName>
                                        </p:attrNameLst>
                                      </p:cBhvr>
                                      <p:tavLst>
                                        <p:tav tm="0">
                                          <p:val>
                                            <p:fltVal val="0"/>
                                          </p:val>
                                        </p:tav>
                                        <p:tav tm="100000">
                                          <p:val>
                                            <p:strVal val="#ppt_w"/>
                                          </p:val>
                                        </p:tav>
                                      </p:tavLst>
                                    </p:anim>
                                    <p:anim calcmode="lin" valueType="num">
                                      <p:cBhvr>
                                        <p:cTn id="23" dur="500" fill="hold"/>
                                        <p:tgtEl>
                                          <p:spTgt spid="3">
                                            <p:txEl>
                                              <p:pRg st="3" end="3"/>
                                            </p:txEl>
                                          </p:spTgt>
                                        </p:tgtEl>
                                        <p:attrNameLst>
                                          <p:attrName>ppt_h</p:attrName>
                                        </p:attrNameLst>
                                      </p:cBhvr>
                                      <p:tavLst>
                                        <p:tav tm="0">
                                          <p:val>
                                            <p:fltVal val="0"/>
                                          </p:val>
                                        </p:tav>
                                        <p:tav tm="100000">
                                          <p:val>
                                            <p:strVal val="#ppt_h"/>
                                          </p:val>
                                        </p:tav>
                                      </p:tavLst>
                                    </p:anim>
                                    <p:animEffect transition="in" filter="fade">
                                      <p:cBhvr>
                                        <p:cTn id="24" dur="500"/>
                                        <p:tgtEl>
                                          <p:spTgt spid="3">
                                            <p:txEl>
                                              <p:pRg st="3" end="3"/>
                                            </p:txEl>
                                          </p:spTgt>
                                        </p:tgtEl>
                                      </p:cBhvr>
                                    </p:animEffect>
                                  </p:childTnLst>
                                </p:cTn>
                              </p:par>
                              <p:par>
                                <p:cTn id="25" presetID="53" presetClass="entr" presetSubtype="16" fill="hold" nodeType="withEffect">
                                  <p:stCondLst>
                                    <p:cond delay="0"/>
                                  </p:stCondLst>
                                  <p:childTnLst>
                                    <p:set>
                                      <p:cBhvr>
                                        <p:cTn id="26" dur="1" fill="hold">
                                          <p:stCondLst>
                                            <p:cond delay="0"/>
                                          </p:stCondLst>
                                        </p:cTn>
                                        <p:tgtEl>
                                          <p:spTgt spid="3">
                                            <p:txEl>
                                              <p:pRg st="4" end="4"/>
                                            </p:txEl>
                                          </p:spTgt>
                                        </p:tgtEl>
                                        <p:attrNameLst>
                                          <p:attrName>style.visibility</p:attrName>
                                        </p:attrNameLst>
                                      </p:cBhvr>
                                      <p:to>
                                        <p:strVal val="visible"/>
                                      </p:to>
                                    </p:set>
                                    <p:anim calcmode="lin" valueType="num">
                                      <p:cBhvr>
                                        <p:cTn id="27" dur="500" fill="hold"/>
                                        <p:tgtEl>
                                          <p:spTgt spid="3">
                                            <p:txEl>
                                              <p:pRg st="4" end="4"/>
                                            </p:txEl>
                                          </p:spTgt>
                                        </p:tgtEl>
                                        <p:attrNameLst>
                                          <p:attrName>ppt_w</p:attrName>
                                        </p:attrNameLst>
                                      </p:cBhvr>
                                      <p:tavLst>
                                        <p:tav tm="0">
                                          <p:val>
                                            <p:fltVal val="0"/>
                                          </p:val>
                                        </p:tav>
                                        <p:tav tm="100000">
                                          <p:val>
                                            <p:strVal val="#ppt_w"/>
                                          </p:val>
                                        </p:tav>
                                      </p:tavLst>
                                    </p:anim>
                                    <p:anim calcmode="lin" valueType="num">
                                      <p:cBhvr>
                                        <p:cTn id="28" dur="500" fill="hold"/>
                                        <p:tgtEl>
                                          <p:spTgt spid="3">
                                            <p:txEl>
                                              <p:pRg st="4" end="4"/>
                                            </p:txEl>
                                          </p:spTgt>
                                        </p:tgtEl>
                                        <p:attrNameLst>
                                          <p:attrName>ppt_h</p:attrName>
                                        </p:attrNameLst>
                                      </p:cBhvr>
                                      <p:tavLst>
                                        <p:tav tm="0">
                                          <p:val>
                                            <p:fltVal val="0"/>
                                          </p:val>
                                        </p:tav>
                                        <p:tav tm="100000">
                                          <p:val>
                                            <p:strVal val="#ppt_h"/>
                                          </p:val>
                                        </p:tav>
                                      </p:tavLst>
                                    </p:anim>
                                    <p:animEffect transition="in" filter="fade">
                                      <p:cBhvr>
                                        <p:cTn id="29" dur="500"/>
                                        <p:tgtEl>
                                          <p:spTgt spid="3">
                                            <p:txEl>
                                              <p:pRg st="4" end="4"/>
                                            </p:txEl>
                                          </p:spTgt>
                                        </p:tgtEl>
                                      </p:cBhvr>
                                    </p:animEffect>
                                  </p:childTnLst>
                                </p:cTn>
                              </p:par>
                              <p:par>
                                <p:cTn id="30" presetID="53" presetClass="entr" presetSubtype="16" fill="hold" nodeType="withEffect">
                                  <p:stCondLst>
                                    <p:cond delay="0"/>
                                  </p:stCondLst>
                                  <p:childTnLst>
                                    <p:set>
                                      <p:cBhvr>
                                        <p:cTn id="31" dur="1" fill="hold">
                                          <p:stCondLst>
                                            <p:cond delay="0"/>
                                          </p:stCondLst>
                                        </p:cTn>
                                        <p:tgtEl>
                                          <p:spTgt spid="3">
                                            <p:txEl>
                                              <p:pRg st="5" end="5"/>
                                            </p:txEl>
                                          </p:spTgt>
                                        </p:tgtEl>
                                        <p:attrNameLst>
                                          <p:attrName>style.visibility</p:attrName>
                                        </p:attrNameLst>
                                      </p:cBhvr>
                                      <p:to>
                                        <p:strVal val="visible"/>
                                      </p:to>
                                    </p:set>
                                    <p:anim calcmode="lin" valueType="num">
                                      <p:cBhvr>
                                        <p:cTn id="32" dur="500" fill="hold"/>
                                        <p:tgtEl>
                                          <p:spTgt spid="3">
                                            <p:txEl>
                                              <p:pRg st="5" end="5"/>
                                            </p:txEl>
                                          </p:spTgt>
                                        </p:tgtEl>
                                        <p:attrNameLst>
                                          <p:attrName>ppt_w</p:attrName>
                                        </p:attrNameLst>
                                      </p:cBhvr>
                                      <p:tavLst>
                                        <p:tav tm="0">
                                          <p:val>
                                            <p:fltVal val="0"/>
                                          </p:val>
                                        </p:tav>
                                        <p:tav tm="100000">
                                          <p:val>
                                            <p:strVal val="#ppt_w"/>
                                          </p:val>
                                        </p:tav>
                                      </p:tavLst>
                                    </p:anim>
                                    <p:anim calcmode="lin" valueType="num">
                                      <p:cBhvr>
                                        <p:cTn id="33" dur="500" fill="hold"/>
                                        <p:tgtEl>
                                          <p:spTgt spid="3">
                                            <p:txEl>
                                              <p:pRg st="5" end="5"/>
                                            </p:txEl>
                                          </p:spTgt>
                                        </p:tgtEl>
                                        <p:attrNameLst>
                                          <p:attrName>ppt_h</p:attrName>
                                        </p:attrNameLst>
                                      </p:cBhvr>
                                      <p:tavLst>
                                        <p:tav tm="0">
                                          <p:val>
                                            <p:fltVal val="0"/>
                                          </p:val>
                                        </p:tav>
                                        <p:tav tm="100000">
                                          <p:val>
                                            <p:strVal val="#ppt_h"/>
                                          </p:val>
                                        </p:tav>
                                      </p:tavLst>
                                    </p:anim>
                                    <p:animEffect transition="in" filter="fade">
                                      <p:cBhvr>
                                        <p:cTn id="34" dur="500"/>
                                        <p:tgtEl>
                                          <p:spTgt spid="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b="1" dirty="0" smtClean="0"/>
              <a:t>2-bosqich. </a:t>
            </a:r>
            <a:r>
              <a:rPr lang="en-US" b="1" dirty="0" err="1" smtClean="0"/>
              <a:t>Ma’lumotning</a:t>
            </a:r>
            <a:r>
              <a:rPr lang="en-US" b="1" dirty="0" smtClean="0"/>
              <a:t> </a:t>
            </a:r>
            <a:r>
              <a:rPr lang="en-US" b="1" dirty="0" err="1" smtClean="0"/>
              <a:t>uzunligini</a:t>
            </a:r>
            <a:r>
              <a:rPr lang="en-US" b="1" dirty="0" smtClean="0"/>
              <a:t> </a:t>
            </a:r>
            <a:r>
              <a:rPr lang="en-US" b="1" dirty="0" err="1" smtClean="0"/>
              <a:t>qo‘shish</a:t>
            </a:r>
            <a:r>
              <a:rPr lang="en-US" b="1" dirty="0" smtClean="0"/>
              <a:t>.</a:t>
            </a:r>
            <a:endParaRPr lang="en-US" b="1" dirty="0"/>
          </a:p>
        </p:txBody>
      </p:sp>
      <p:sp>
        <p:nvSpPr>
          <p:cNvPr id="3" name="Объект 2"/>
          <p:cNvSpPr>
            <a:spLocks noGrp="1"/>
          </p:cNvSpPr>
          <p:nvPr>
            <p:ph idx="1"/>
          </p:nvPr>
        </p:nvSpPr>
        <p:spPr/>
        <p:txBody>
          <a:bodyPr>
            <a:normAutofit fontScale="92500"/>
          </a:bodyPr>
          <a:lstStyle/>
          <a:p>
            <a:pPr marL="0" indent="0" algn="just">
              <a:buNone/>
            </a:pPr>
            <a:r>
              <a:rPr lang="en-US" dirty="0"/>
              <a:t>	</a:t>
            </a:r>
            <a:r>
              <a:rPr lang="en-US" dirty="0" smtClean="0"/>
              <a:t>1-bosqichning </a:t>
            </a:r>
            <a:r>
              <a:rPr lang="en-US" dirty="0" err="1" smtClean="0"/>
              <a:t>natijasiga</a:t>
            </a:r>
            <a:r>
              <a:rPr lang="en-US" dirty="0" smtClean="0"/>
              <a:t> </a:t>
            </a:r>
            <a:r>
              <a:rPr lang="en-US" dirty="0" err="1" smtClean="0"/>
              <a:t>berilgan</a:t>
            </a:r>
            <a:r>
              <a:rPr lang="en-US" dirty="0" smtClean="0"/>
              <a:t> </a:t>
            </a:r>
            <a:r>
              <a:rPr lang="en-US" dirty="0" err="1" smtClean="0"/>
              <a:t>ma’lumot</a:t>
            </a:r>
            <a:r>
              <a:rPr lang="en-US" dirty="0" smtClean="0"/>
              <a:t> </a:t>
            </a:r>
            <a:r>
              <a:rPr lang="en-US" dirty="0" err="1" smtClean="0"/>
              <a:t>uzunligining</a:t>
            </a:r>
            <a:r>
              <a:rPr lang="en-US" dirty="0" smtClean="0"/>
              <a:t> 64 </a:t>
            </a:r>
            <a:r>
              <a:rPr lang="en-US" dirty="0" err="1" smtClean="0"/>
              <a:t>bitlik</a:t>
            </a:r>
            <a:r>
              <a:rPr lang="en-US" dirty="0" smtClean="0"/>
              <a:t> </a:t>
            </a:r>
            <a:r>
              <a:rPr lang="en-US" dirty="0" err="1" smtClean="0"/>
              <a:t>qiymati</a:t>
            </a:r>
            <a:r>
              <a:rPr lang="en-US" dirty="0" smtClean="0"/>
              <a:t> </a:t>
            </a:r>
            <a:r>
              <a:rPr lang="en-US" dirty="0" err="1" smtClean="0"/>
              <a:t>qo‘shiladi</a:t>
            </a:r>
            <a:r>
              <a:rPr lang="en-US" dirty="0" smtClean="0"/>
              <a:t>. Agar </a:t>
            </a:r>
            <a:r>
              <a:rPr lang="en-US" dirty="0" err="1" smtClean="0"/>
              <a:t>ma’lumotning</a:t>
            </a:r>
            <a:r>
              <a:rPr lang="en-US" dirty="0" smtClean="0"/>
              <a:t> </a:t>
            </a:r>
            <a:r>
              <a:rPr lang="en-US" dirty="0" err="1" smtClean="0"/>
              <a:t>uzunligi</a:t>
            </a:r>
            <a:r>
              <a:rPr lang="en-US" dirty="0" smtClean="0"/>
              <a:t> 2</a:t>
            </a:r>
            <a:r>
              <a:rPr lang="en-US" baseline="30000" dirty="0" smtClean="0"/>
              <a:t>64</a:t>
            </a:r>
            <a:r>
              <a:rPr lang="en-US" dirty="0" smtClean="0"/>
              <a:t> </a:t>
            </a:r>
            <a:r>
              <a:rPr lang="en-US" dirty="0" err="1" smtClean="0"/>
              <a:t>bitdan</a:t>
            </a:r>
            <a:r>
              <a:rPr lang="en-US" dirty="0" smtClean="0"/>
              <a:t> </a:t>
            </a:r>
            <a:r>
              <a:rPr lang="en-US" dirty="0" err="1" smtClean="0"/>
              <a:t>katta</a:t>
            </a:r>
            <a:r>
              <a:rPr lang="en-US" dirty="0" smtClean="0"/>
              <a:t> </a:t>
            </a:r>
            <a:r>
              <a:rPr lang="en-US" dirty="0" err="1" smtClean="0"/>
              <a:t>bo‘lsa</a:t>
            </a:r>
            <a:r>
              <a:rPr lang="en-US" dirty="0" smtClean="0"/>
              <a:t>, </a:t>
            </a:r>
            <a:r>
              <a:rPr lang="en-US" dirty="0" err="1" smtClean="0"/>
              <a:t>uzunlik</a:t>
            </a:r>
            <a:r>
              <a:rPr lang="en-US" dirty="0" smtClean="0"/>
              <a:t> 𝑚𝑜𝑑2</a:t>
            </a:r>
            <a:r>
              <a:rPr lang="en-US" baseline="30000" dirty="0" smtClean="0"/>
              <a:t>64</a:t>
            </a:r>
            <a:r>
              <a:rPr lang="en-US" dirty="0" smtClean="0"/>
              <a:t> </a:t>
            </a:r>
            <a:r>
              <a:rPr lang="en-US" dirty="0" err="1" smtClean="0"/>
              <a:t>bo‘yicha</a:t>
            </a:r>
            <a:r>
              <a:rPr lang="en-US" dirty="0" smtClean="0"/>
              <a:t> </a:t>
            </a:r>
            <a:r>
              <a:rPr lang="en-US" dirty="0" err="1" smtClean="0"/>
              <a:t>qo‘shiladi</a:t>
            </a:r>
            <a:r>
              <a:rPr lang="en-US" dirty="0" smtClean="0"/>
              <a:t>. </a:t>
            </a:r>
            <a:r>
              <a:rPr lang="en-US" dirty="0" err="1" smtClean="0"/>
              <a:t>Shunday</a:t>
            </a:r>
            <a:r>
              <a:rPr lang="en-US" dirty="0" smtClean="0"/>
              <a:t> </a:t>
            </a:r>
            <a:r>
              <a:rPr lang="en-US" dirty="0" err="1" smtClean="0"/>
              <a:t>qilib</a:t>
            </a:r>
            <a:r>
              <a:rPr lang="en-US" dirty="0" smtClean="0"/>
              <a:t>, </a:t>
            </a:r>
            <a:r>
              <a:rPr lang="en-US" dirty="0" err="1" smtClean="0"/>
              <a:t>birinchi</a:t>
            </a:r>
            <a:r>
              <a:rPr lang="en-US" dirty="0" smtClean="0"/>
              <a:t> </a:t>
            </a:r>
            <a:r>
              <a:rPr lang="en-US" dirty="0" err="1" smtClean="0"/>
              <a:t>ikkita</a:t>
            </a:r>
            <a:r>
              <a:rPr lang="en-US" dirty="0" smtClean="0"/>
              <a:t> </a:t>
            </a:r>
            <a:r>
              <a:rPr lang="en-US" dirty="0" err="1" smtClean="0"/>
              <a:t>bosqich</a:t>
            </a:r>
            <a:r>
              <a:rPr lang="en-US" dirty="0" smtClean="0"/>
              <a:t> </a:t>
            </a:r>
            <a:r>
              <a:rPr lang="en-US" dirty="0" err="1" smtClean="0"/>
              <a:t>bajarilgandan</a:t>
            </a:r>
            <a:r>
              <a:rPr lang="en-US" dirty="0" smtClean="0"/>
              <a:t> </a:t>
            </a:r>
            <a:r>
              <a:rPr lang="en-US" dirty="0" err="1" smtClean="0"/>
              <a:t>keyin</a:t>
            </a:r>
            <a:r>
              <a:rPr lang="en-US" dirty="0" smtClean="0"/>
              <a:t> </a:t>
            </a:r>
            <a:r>
              <a:rPr lang="en-US" dirty="0" err="1" smtClean="0"/>
              <a:t>uzunligi</a:t>
            </a:r>
            <a:r>
              <a:rPr lang="en-US" dirty="0" smtClean="0"/>
              <a:t> 512 </a:t>
            </a:r>
            <a:r>
              <a:rPr lang="en-US" dirty="0" err="1" smtClean="0"/>
              <a:t>bitga</a:t>
            </a:r>
            <a:r>
              <a:rPr lang="en-US" dirty="0" smtClean="0"/>
              <a:t> </a:t>
            </a:r>
            <a:r>
              <a:rPr lang="en-US" dirty="0" err="1" smtClean="0"/>
              <a:t>karrali</a:t>
            </a:r>
            <a:r>
              <a:rPr lang="en-US" dirty="0" smtClean="0"/>
              <a:t> </a:t>
            </a:r>
            <a:r>
              <a:rPr lang="en-US" dirty="0" err="1" smtClean="0"/>
              <a:t>bo‘lgan</a:t>
            </a:r>
            <a:r>
              <a:rPr lang="en-US" dirty="0" smtClean="0"/>
              <a:t> </a:t>
            </a:r>
            <a:r>
              <a:rPr lang="en-US" dirty="0" err="1" smtClean="0"/>
              <a:t>ma’lumot</a:t>
            </a:r>
            <a:r>
              <a:rPr lang="en-US" dirty="0" smtClean="0"/>
              <a:t> </a:t>
            </a:r>
            <a:r>
              <a:rPr lang="en-US" dirty="0" err="1" smtClean="0"/>
              <a:t>olinadi</a:t>
            </a:r>
            <a:r>
              <a:rPr lang="en-US" dirty="0" smtClean="0"/>
              <a:t>, </a:t>
            </a:r>
            <a:r>
              <a:rPr lang="en-US" dirty="0" err="1" smtClean="0"/>
              <a:t>ya’ni</a:t>
            </a:r>
            <a:r>
              <a:rPr lang="en-US" dirty="0" smtClean="0"/>
              <a:t>, </a:t>
            </a:r>
            <a:r>
              <a:rPr lang="en-US" dirty="0" err="1" smtClean="0"/>
              <a:t>kengaytirilgan</a:t>
            </a:r>
            <a:r>
              <a:rPr lang="en-US" dirty="0" smtClean="0"/>
              <a:t> </a:t>
            </a:r>
            <a:r>
              <a:rPr lang="en-US" dirty="0" err="1" smtClean="0"/>
              <a:t>ma’lumot</a:t>
            </a:r>
            <a:r>
              <a:rPr lang="en-US" dirty="0" smtClean="0"/>
              <a:t> </a:t>
            </a:r>
            <a:r>
              <a:rPr lang="en-US" dirty="0" err="1" smtClean="0"/>
              <a:t>uzunligi</a:t>
            </a:r>
            <a:r>
              <a:rPr lang="en-US" dirty="0" smtClean="0"/>
              <a:t> 16 ta 32 </a:t>
            </a:r>
            <a:r>
              <a:rPr lang="en-US" dirty="0" err="1" smtClean="0"/>
              <a:t>bitlik</a:t>
            </a:r>
            <a:r>
              <a:rPr lang="en-US" dirty="0" smtClean="0"/>
              <a:t> </a:t>
            </a:r>
            <a:r>
              <a:rPr lang="en-US" dirty="0" err="1" smtClean="0"/>
              <a:t>so‘zdan</a:t>
            </a:r>
            <a:r>
              <a:rPr lang="en-US" dirty="0" smtClean="0"/>
              <a:t> </a:t>
            </a:r>
            <a:r>
              <a:rPr lang="en-US" dirty="0" err="1" smtClean="0"/>
              <a:t>iborat</a:t>
            </a:r>
            <a:r>
              <a:rPr lang="en-US" dirty="0" smtClean="0"/>
              <a:t> </a:t>
            </a:r>
            <a:r>
              <a:rPr lang="en-US" dirty="0" err="1" smtClean="0"/>
              <a:t>blok</a:t>
            </a:r>
            <a:r>
              <a:rPr lang="en-US" dirty="0" smtClean="0"/>
              <a:t> </a:t>
            </a:r>
            <a:r>
              <a:rPr lang="en-US" dirty="0" err="1" smtClean="0"/>
              <a:t>uzunligiga</a:t>
            </a:r>
            <a:r>
              <a:rPr lang="en-US" dirty="0" smtClean="0"/>
              <a:t> </a:t>
            </a:r>
            <a:r>
              <a:rPr lang="en-US" dirty="0" err="1" smtClean="0"/>
              <a:t>karrali</a:t>
            </a:r>
            <a:r>
              <a:rPr lang="en-US" dirty="0" smtClean="0"/>
              <a:t> </a:t>
            </a:r>
            <a:r>
              <a:rPr lang="en-US" dirty="0" err="1" smtClean="0"/>
              <a:t>bo‘ladi</a:t>
            </a:r>
            <a:r>
              <a:rPr lang="en-US" dirty="0" smtClean="0"/>
              <a:t>. </a:t>
            </a:r>
            <a:r>
              <a:rPr lang="en-US" dirty="0" err="1" smtClean="0"/>
              <a:t>Natijada</a:t>
            </a:r>
            <a:r>
              <a:rPr lang="en-US" dirty="0" smtClean="0"/>
              <a:t>, </a:t>
            </a:r>
            <a:r>
              <a:rPr lang="en-US" dirty="0" err="1" smtClean="0"/>
              <a:t>hosil</a:t>
            </a:r>
            <a:r>
              <a:rPr lang="en-US" dirty="0" smtClean="0"/>
              <a:t> </a:t>
            </a:r>
            <a:r>
              <a:rPr lang="en-US" dirty="0" err="1" smtClean="0"/>
              <a:t>qilingan</a:t>
            </a:r>
            <a:r>
              <a:rPr lang="en-US" dirty="0" smtClean="0"/>
              <a:t> </a:t>
            </a:r>
            <a:r>
              <a:rPr lang="en-US" dirty="0" err="1" smtClean="0"/>
              <a:t>ma’lumot</a:t>
            </a:r>
            <a:r>
              <a:rPr lang="en-US" dirty="0" smtClean="0"/>
              <a:t> </a:t>
            </a:r>
            <a:r>
              <a:rPr lang="en-US" dirty="0" err="1" smtClean="0"/>
              <a:t>so‘zlarini</a:t>
            </a:r>
            <a:r>
              <a:rPr lang="en-US" dirty="0" smtClean="0"/>
              <a:t> 𝑀[0, . . . , 𝑁 − 1] </a:t>
            </a:r>
            <a:r>
              <a:rPr lang="en-US" dirty="0" err="1" smtClean="0"/>
              <a:t>orqali</a:t>
            </a:r>
            <a:r>
              <a:rPr lang="en-US" dirty="0" smtClean="0"/>
              <a:t> </a:t>
            </a:r>
            <a:r>
              <a:rPr lang="en-US" dirty="0" err="1" smtClean="0"/>
              <a:t>belgilaymiz</a:t>
            </a:r>
            <a:r>
              <a:rPr lang="en-US" dirty="0" smtClean="0"/>
              <a:t>. U </a:t>
            </a:r>
            <a:r>
              <a:rPr lang="en-US" dirty="0" err="1" smtClean="0"/>
              <a:t>holda</a:t>
            </a:r>
            <a:r>
              <a:rPr lang="en-US" dirty="0" smtClean="0"/>
              <a:t> 𝑁 </a:t>
            </a:r>
            <a:r>
              <a:rPr lang="en-US" dirty="0" err="1" smtClean="0"/>
              <a:t>soni</a:t>
            </a:r>
            <a:r>
              <a:rPr lang="en-US" dirty="0" smtClean="0"/>
              <a:t> 16 </a:t>
            </a:r>
            <a:r>
              <a:rPr lang="en-US" dirty="0" err="1" smtClean="0"/>
              <a:t>ga</a:t>
            </a:r>
            <a:r>
              <a:rPr lang="en-US" dirty="0" smtClean="0"/>
              <a:t> </a:t>
            </a:r>
            <a:r>
              <a:rPr lang="en-US" dirty="0" err="1" smtClean="0"/>
              <a:t>karrali</a:t>
            </a:r>
            <a:r>
              <a:rPr lang="en-US" dirty="0" smtClean="0"/>
              <a:t> </a:t>
            </a:r>
            <a:r>
              <a:rPr lang="en-US" dirty="0" err="1" smtClean="0"/>
              <a:t>bo‘ladi</a:t>
            </a:r>
            <a:r>
              <a:rPr lang="en-US" dirty="0" smtClean="0"/>
              <a:t>. </a:t>
            </a:r>
            <a:r>
              <a:rPr lang="en-US" dirty="0" err="1" smtClean="0"/>
              <a:t>Shunday</a:t>
            </a:r>
            <a:r>
              <a:rPr lang="en-US" dirty="0" smtClean="0"/>
              <a:t> </a:t>
            </a:r>
            <a:r>
              <a:rPr lang="en-US" dirty="0" err="1" smtClean="0"/>
              <a:t>qilib</a:t>
            </a:r>
            <a:r>
              <a:rPr lang="en-US" dirty="0" smtClean="0"/>
              <a:t>, 𝑁 = 𝑇 × 16 </a:t>
            </a:r>
            <a:r>
              <a:rPr lang="en-US" dirty="0" err="1" smtClean="0"/>
              <a:t>bo‘ladi</a:t>
            </a:r>
            <a:r>
              <a:rPr lang="en-US" dirty="0" smtClean="0"/>
              <a:t>. </a:t>
            </a:r>
            <a:r>
              <a:rPr lang="en-US" dirty="0" err="1" smtClean="0"/>
              <a:t>Yuqoridagi</a:t>
            </a:r>
            <a:r>
              <a:rPr lang="en-US" dirty="0" smtClean="0"/>
              <a:t> </a:t>
            </a:r>
            <a:r>
              <a:rPr lang="en-US" dirty="0" err="1" smtClean="0"/>
              <a:t>misolda</a:t>
            </a:r>
            <a:r>
              <a:rPr lang="en-US" dirty="0" smtClean="0"/>
              <a:t> 𝐿 = 56 </a:t>
            </a:r>
            <a:r>
              <a:rPr lang="en-US" dirty="0" err="1" smtClean="0"/>
              <a:t>bo‘lgani</a:t>
            </a:r>
            <a:r>
              <a:rPr lang="en-US" dirty="0" smtClean="0"/>
              <a:t> bois, </a:t>
            </a:r>
            <a:r>
              <a:rPr lang="en-US" dirty="0" err="1" smtClean="0"/>
              <a:t>uning</a:t>
            </a:r>
            <a:r>
              <a:rPr lang="en-US" dirty="0" smtClean="0"/>
              <a:t> 64 </a:t>
            </a:r>
            <a:r>
              <a:rPr lang="en-US" dirty="0" err="1" smtClean="0"/>
              <a:t>bitli</a:t>
            </a:r>
            <a:r>
              <a:rPr lang="en-US" dirty="0" smtClean="0"/>
              <a:t> </a:t>
            </a:r>
            <a:r>
              <a:rPr lang="en-US" dirty="0" err="1" smtClean="0"/>
              <a:t>razryaddagi</a:t>
            </a:r>
            <a:r>
              <a:rPr lang="en-US" dirty="0" smtClean="0"/>
              <a:t> </a:t>
            </a:r>
            <a:r>
              <a:rPr lang="en-US" dirty="0" err="1" smtClean="0"/>
              <a:t>ko‘rinishi</a:t>
            </a:r>
            <a:r>
              <a:rPr lang="en-US" dirty="0" smtClean="0"/>
              <a:t> </a:t>
            </a:r>
            <a:r>
              <a:rPr lang="en-US" dirty="0" err="1" smtClean="0"/>
              <a:t>quyidagicha</a:t>
            </a:r>
            <a:r>
              <a:rPr lang="en-US" dirty="0" smtClean="0"/>
              <a:t> </a:t>
            </a:r>
            <a:r>
              <a:rPr lang="en-US" dirty="0" err="1" smtClean="0"/>
              <a:t>bo‘ladi</a:t>
            </a:r>
            <a:r>
              <a:rPr lang="en-US" dirty="0" smtClean="0"/>
              <a:t>:</a:t>
            </a:r>
          </a:p>
          <a:p>
            <a:pPr marL="0" indent="0" algn="just">
              <a:buNone/>
            </a:pPr>
            <a:r>
              <a:rPr lang="en-US" dirty="0" smtClean="0"/>
              <a:t> 00000000 00000000 00000000 00000000 00000000 00000000 00000000 00111000</a:t>
            </a:r>
            <a:endParaRPr lang="en-US" dirty="0"/>
          </a:p>
        </p:txBody>
      </p:sp>
    </p:spTree>
    <p:extLst>
      <p:ext uri="{BB962C8B-B14F-4D97-AF65-F5344CB8AC3E}">
        <p14:creationId xmlns:p14="http://schemas.microsoft.com/office/powerpoint/2010/main" val="1803383782"/>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2" presetClass="entr" presetSubtype="4"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00"/>
                                        <p:tgtEl>
                                          <p:spTgt spid="2"/>
                                        </p:tgtEl>
                                      </p:cBhvr>
                                    </p:animEffect>
                                  </p:childTnLst>
                                </p:cTn>
                              </p:par>
                            </p:childTnLst>
                          </p:cTn>
                        </p:par>
                        <p:par>
                          <p:cTn id="8" fill="hold">
                            <p:stCondLst>
                              <p:cond delay="500"/>
                            </p:stCondLst>
                            <p:childTnLst>
                              <p:par>
                                <p:cTn id="9" presetID="6" presetClass="entr" presetSubtype="16"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circle(in)">
                                      <p:cBhvr>
                                        <p:cTn id="11" dur="2000"/>
                                        <p:tgtEl>
                                          <p:spTgt spid="3">
                                            <p:txEl>
                                              <p:pRg st="0" end="0"/>
                                            </p:txEl>
                                          </p:spTgt>
                                        </p:tgtEl>
                                      </p:cBhvr>
                                    </p:animEffect>
                                  </p:childTnLst>
                                </p:cTn>
                              </p:par>
                              <p:par>
                                <p:cTn id="12" presetID="6" presetClass="entr" presetSubtype="16" fill="hold" nodeType="withEffect">
                                  <p:stCondLst>
                                    <p:cond delay="0"/>
                                  </p:stCondLst>
                                  <p:childTnLst>
                                    <p:set>
                                      <p:cBhvr>
                                        <p:cTn id="13" dur="1" fill="hold">
                                          <p:stCondLst>
                                            <p:cond delay="0"/>
                                          </p:stCondLst>
                                        </p:cTn>
                                        <p:tgtEl>
                                          <p:spTgt spid="3">
                                            <p:txEl>
                                              <p:pRg st="1" end="1"/>
                                            </p:txEl>
                                          </p:spTgt>
                                        </p:tgtEl>
                                        <p:attrNameLst>
                                          <p:attrName>style.visibility</p:attrName>
                                        </p:attrNameLst>
                                      </p:cBhvr>
                                      <p:to>
                                        <p:strVal val="visible"/>
                                      </p:to>
                                    </p:set>
                                    <p:animEffect transition="in" filter="circle(in)">
                                      <p:cBhvr>
                                        <p:cTn id="14" dur="2000"/>
                                        <p:tgtEl>
                                          <p:spTgt spid="3">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b="1" dirty="0" smtClean="0"/>
              <a:t>3- </a:t>
            </a:r>
            <a:r>
              <a:rPr lang="en-US" b="1" dirty="0" err="1" smtClean="0"/>
              <a:t>bosqich</a:t>
            </a:r>
            <a:r>
              <a:rPr lang="en-US" b="1" dirty="0" smtClean="0"/>
              <a:t>. </a:t>
            </a:r>
            <a:r>
              <a:rPr lang="en-US" b="1" dirty="0" err="1" smtClean="0"/>
              <a:t>Xesh</a:t>
            </a:r>
            <a:r>
              <a:rPr lang="en-US" b="1" dirty="0" smtClean="0"/>
              <a:t> </a:t>
            </a:r>
            <a:r>
              <a:rPr lang="en-US" b="1" dirty="0" err="1" smtClean="0"/>
              <a:t>qiymat</a:t>
            </a:r>
            <a:r>
              <a:rPr lang="en-US" b="1" dirty="0" smtClean="0"/>
              <a:t> </a:t>
            </a:r>
            <a:r>
              <a:rPr lang="en-US" b="1" dirty="0" err="1" smtClean="0"/>
              <a:t>uchun</a:t>
            </a:r>
            <a:r>
              <a:rPr lang="en-US" b="1" dirty="0" smtClean="0"/>
              <a:t> </a:t>
            </a:r>
            <a:r>
              <a:rPr lang="en-US" b="1" dirty="0" err="1" smtClean="0"/>
              <a:t>bufer</a:t>
            </a:r>
            <a:r>
              <a:rPr lang="en-US" b="1" dirty="0" smtClean="0"/>
              <a:t> </a:t>
            </a:r>
            <a:r>
              <a:rPr lang="en-US" b="1" dirty="0" err="1" smtClean="0"/>
              <a:t>initsializatsiya</a:t>
            </a:r>
            <a:r>
              <a:rPr lang="en-US" b="1" dirty="0" smtClean="0"/>
              <a:t> </a:t>
            </a:r>
            <a:r>
              <a:rPr lang="en-US" b="1" dirty="0" err="1" smtClean="0"/>
              <a:t>qilish</a:t>
            </a:r>
            <a:r>
              <a:rPr lang="en-US" b="1" dirty="0" smtClean="0"/>
              <a:t>.</a:t>
            </a:r>
            <a:endParaRPr lang="en-US" b="1" dirty="0"/>
          </a:p>
        </p:txBody>
      </p:sp>
      <p:sp>
        <p:nvSpPr>
          <p:cNvPr id="3" name="Объект 2"/>
          <p:cNvSpPr>
            <a:spLocks noGrp="1"/>
          </p:cNvSpPr>
          <p:nvPr>
            <p:ph idx="1"/>
          </p:nvPr>
        </p:nvSpPr>
        <p:spPr/>
        <p:txBody>
          <a:bodyPr>
            <a:normAutofit fontScale="77500" lnSpcReduction="20000"/>
          </a:bodyPr>
          <a:lstStyle/>
          <a:p>
            <a:pPr marL="0" indent="0" algn="just">
              <a:buNone/>
            </a:pPr>
            <a:r>
              <a:rPr lang="en-US" dirty="0" smtClean="0"/>
              <a:t>	SHA1 </a:t>
            </a:r>
            <a:r>
              <a:rPr lang="en-US" dirty="0" err="1" smtClean="0"/>
              <a:t>algoritmida</a:t>
            </a:r>
            <a:r>
              <a:rPr lang="en-US" dirty="0" smtClean="0"/>
              <a:t> </a:t>
            </a:r>
            <a:r>
              <a:rPr lang="en-US" dirty="0" err="1" smtClean="0"/>
              <a:t>oraliq</a:t>
            </a:r>
            <a:r>
              <a:rPr lang="en-US" dirty="0" smtClean="0"/>
              <a:t> </a:t>
            </a:r>
            <a:r>
              <a:rPr lang="en-US" dirty="0" err="1" smtClean="0"/>
              <a:t>va</a:t>
            </a:r>
            <a:r>
              <a:rPr lang="en-US" dirty="0" smtClean="0"/>
              <a:t> </a:t>
            </a:r>
            <a:r>
              <a:rPr lang="en-US" dirty="0" err="1" smtClean="0"/>
              <a:t>oxirgi</a:t>
            </a:r>
            <a:r>
              <a:rPr lang="en-US" dirty="0" smtClean="0"/>
              <a:t> </a:t>
            </a:r>
            <a:r>
              <a:rPr lang="en-US" dirty="0" err="1" smtClean="0"/>
              <a:t>natijalarini</a:t>
            </a:r>
            <a:r>
              <a:rPr lang="en-US" dirty="0" smtClean="0"/>
              <a:t> </a:t>
            </a:r>
            <a:r>
              <a:rPr lang="en-US" dirty="0" err="1" smtClean="0"/>
              <a:t>saqlash</a:t>
            </a:r>
            <a:r>
              <a:rPr lang="en-US" dirty="0" smtClean="0"/>
              <a:t> </a:t>
            </a:r>
            <a:r>
              <a:rPr lang="en-US" dirty="0" err="1" smtClean="0"/>
              <a:t>uchun</a:t>
            </a:r>
            <a:r>
              <a:rPr lang="en-US" dirty="0" smtClean="0"/>
              <a:t> 160 </a:t>
            </a:r>
            <a:r>
              <a:rPr lang="en-US" dirty="0" err="1" smtClean="0"/>
              <a:t>bitli</a:t>
            </a:r>
            <a:r>
              <a:rPr lang="en-US" dirty="0" smtClean="0"/>
              <a:t> </a:t>
            </a:r>
            <a:r>
              <a:rPr lang="en-US" dirty="0" err="1" smtClean="0"/>
              <a:t>buferdan</a:t>
            </a:r>
            <a:r>
              <a:rPr lang="en-US" dirty="0" smtClean="0"/>
              <a:t> </a:t>
            </a:r>
            <a:r>
              <a:rPr lang="en-US" dirty="0" err="1" smtClean="0"/>
              <a:t>foydalanilgan</a:t>
            </a:r>
            <a:r>
              <a:rPr lang="en-US" dirty="0" smtClean="0"/>
              <a:t>. </a:t>
            </a:r>
            <a:r>
              <a:rPr lang="en-US" dirty="0" err="1" smtClean="0"/>
              <a:t>Ushbu</a:t>
            </a:r>
            <a:r>
              <a:rPr lang="en-US" dirty="0" smtClean="0"/>
              <a:t> </a:t>
            </a:r>
            <a:r>
              <a:rPr lang="en-US" dirty="0" err="1" smtClean="0"/>
              <a:t>bufer</a:t>
            </a:r>
            <a:r>
              <a:rPr lang="en-US" dirty="0" smtClean="0"/>
              <a:t> </a:t>
            </a:r>
            <a:r>
              <a:rPr lang="en-US" dirty="0" err="1" smtClean="0"/>
              <a:t>beshta</a:t>
            </a:r>
            <a:r>
              <a:rPr lang="en-US" dirty="0" smtClean="0"/>
              <a:t> 32 </a:t>
            </a:r>
            <a:r>
              <a:rPr lang="en-US" dirty="0" err="1" smtClean="0"/>
              <a:t>bitli</a:t>
            </a:r>
            <a:r>
              <a:rPr lang="en-US" dirty="0" smtClean="0"/>
              <a:t> 𝐴, 𝐵, 𝐶, 𝐷, 𝐸 </a:t>
            </a:r>
            <a:r>
              <a:rPr lang="en-US" dirty="0" err="1" smtClean="0"/>
              <a:t>registrlardan</a:t>
            </a:r>
            <a:r>
              <a:rPr lang="en-US" dirty="0" smtClean="0"/>
              <a:t> </a:t>
            </a:r>
            <a:r>
              <a:rPr lang="en-US" dirty="0" err="1" smtClean="0"/>
              <a:t>tashkil</a:t>
            </a:r>
            <a:r>
              <a:rPr lang="en-US" dirty="0" smtClean="0"/>
              <a:t> </a:t>
            </a:r>
            <a:r>
              <a:rPr lang="en-US" dirty="0" err="1" smtClean="0"/>
              <a:t>topgan</a:t>
            </a:r>
            <a:r>
              <a:rPr lang="en-US" dirty="0" smtClean="0"/>
              <a:t>. </a:t>
            </a:r>
            <a:r>
              <a:rPr lang="en-US" dirty="0" err="1" smtClean="0"/>
              <a:t>Ushbu</a:t>
            </a:r>
            <a:r>
              <a:rPr lang="en-US" dirty="0" smtClean="0"/>
              <a:t> </a:t>
            </a:r>
            <a:r>
              <a:rPr lang="en-US" dirty="0" err="1" smtClean="0"/>
              <a:t>registorlarning</a:t>
            </a:r>
            <a:r>
              <a:rPr lang="en-US" dirty="0" smtClean="0"/>
              <a:t> 16 </a:t>
            </a:r>
            <a:r>
              <a:rPr lang="en-US" dirty="0" err="1" smtClean="0"/>
              <a:t>lik</a:t>
            </a:r>
            <a:r>
              <a:rPr lang="en-US" dirty="0" smtClean="0"/>
              <a:t> </a:t>
            </a:r>
            <a:r>
              <a:rPr lang="en-US" dirty="0" err="1" smtClean="0"/>
              <a:t>sanoq</a:t>
            </a:r>
            <a:r>
              <a:rPr lang="en-US" dirty="0" smtClean="0"/>
              <a:t> </a:t>
            </a:r>
            <a:r>
              <a:rPr lang="en-US" dirty="0" err="1" smtClean="0"/>
              <a:t>tizimidagi</a:t>
            </a:r>
            <a:r>
              <a:rPr lang="en-US" dirty="0" smtClean="0"/>
              <a:t> </a:t>
            </a:r>
            <a:r>
              <a:rPr lang="en-US" dirty="0" err="1" smtClean="0"/>
              <a:t>boshlang‘ich</a:t>
            </a:r>
            <a:r>
              <a:rPr lang="en-US" dirty="0" smtClean="0"/>
              <a:t> </a:t>
            </a:r>
            <a:r>
              <a:rPr lang="en-US" dirty="0" err="1" smtClean="0"/>
              <a:t>qiymatlari</a:t>
            </a:r>
            <a:r>
              <a:rPr lang="en-US" dirty="0" smtClean="0"/>
              <a:t> </a:t>
            </a:r>
            <a:r>
              <a:rPr lang="en-US" dirty="0" err="1" smtClean="0"/>
              <a:t>quyida</a:t>
            </a:r>
            <a:r>
              <a:rPr lang="en-US" dirty="0" smtClean="0"/>
              <a:t> </a:t>
            </a:r>
            <a:r>
              <a:rPr lang="en-US" dirty="0" err="1" smtClean="0"/>
              <a:t>berilgan</a:t>
            </a:r>
            <a:r>
              <a:rPr lang="en-US" dirty="0" smtClean="0"/>
              <a:t>:</a:t>
            </a:r>
          </a:p>
          <a:p>
            <a:pPr marL="0" indent="0" algn="just">
              <a:buNone/>
            </a:pPr>
            <a:r>
              <a:rPr lang="en-US" dirty="0" smtClean="0"/>
              <a:t> 𝐴 = 0𝑥67452301; </a:t>
            </a:r>
          </a:p>
          <a:p>
            <a:pPr marL="0" indent="0" algn="just">
              <a:buNone/>
            </a:pPr>
            <a:r>
              <a:rPr lang="en-US" dirty="0" smtClean="0"/>
              <a:t>𝐵 = 0𝑥𝐸𝐹𝐶𝐷𝐴𝐵89; </a:t>
            </a:r>
          </a:p>
          <a:p>
            <a:pPr marL="0" indent="0" algn="just">
              <a:buNone/>
            </a:pPr>
            <a:r>
              <a:rPr lang="en-US" dirty="0" smtClean="0"/>
              <a:t>𝐶 = 0𝑥98𝐵𝐴𝐷𝐶𝐹𝐸; </a:t>
            </a:r>
          </a:p>
          <a:p>
            <a:pPr marL="0" indent="0" algn="just">
              <a:buNone/>
            </a:pPr>
            <a:r>
              <a:rPr lang="en-US" dirty="0" smtClean="0"/>
              <a:t>𝐷 = 0𝑥10325476; </a:t>
            </a:r>
          </a:p>
          <a:p>
            <a:pPr marL="0" indent="0" algn="just">
              <a:buNone/>
            </a:pPr>
            <a:r>
              <a:rPr lang="en-US" dirty="0" smtClean="0"/>
              <a:t>𝐸 = 0𝑥𝐶3𝐷2𝐸1𝐹0. </a:t>
            </a:r>
          </a:p>
          <a:p>
            <a:pPr marL="0" indent="0" algn="just">
              <a:buNone/>
            </a:pPr>
            <a:r>
              <a:rPr lang="en-US" dirty="0" err="1" smtClean="0"/>
              <a:t>Keyinchalik</a:t>
            </a:r>
            <a:r>
              <a:rPr lang="en-US" dirty="0" smtClean="0"/>
              <a:t> </a:t>
            </a:r>
            <a:r>
              <a:rPr lang="en-US" dirty="0" err="1" smtClean="0"/>
              <a:t>ushbu</a:t>
            </a:r>
            <a:r>
              <a:rPr lang="en-US" dirty="0" smtClean="0"/>
              <a:t> </a:t>
            </a:r>
            <a:r>
              <a:rPr lang="en-US" dirty="0" err="1" smtClean="0"/>
              <a:t>o‘zgaruvchilar</a:t>
            </a:r>
            <a:r>
              <a:rPr lang="en-US" dirty="0" smtClean="0"/>
              <a:t> </a:t>
            </a:r>
            <a:r>
              <a:rPr lang="en-US" dirty="0" err="1" smtClean="0"/>
              <a:t>mos</a:t>
            </a:r>
            <a:r>
              <a:rPr lang="en-US" dirty="0" smtClean="0"/>
              <a:t> </a:t>
            </a:r>
            <a:r>
              <a:rPr lang="en-US" dirty="0" err="1" smtClean="0"/>
              <a:t>ravishda</a:t>
            </a:r>
            <a:r>
              <a:rPr lang="en-US" dirty="0" smtClean="0"/>
              <a:t> </a:t>
            </a:r>
            <a:r>
              <a:rPr lang="en-US" dirty="0" err="1" smtClean="0"/>
              <a:t>yangi</a:t>
            </a:r>
            <a:r>
              <a:rPr lang="en-US" dirty="0" smtClean="0"/>
              <a:t> 𝑎, 𝑏, 𝑐, 𝑑 </a:t>
            </a:r>
            <a:r>
              <a:rPr lang="en-US" dirty="0" err="1" smtClean="0"/>
              <a:t>va</a:t>
            </a:r>
            <a:r>
              <a:rPr lang="en-US" dirty="0" smtClean="0"/>
              <a:t> 𝑒 </a:t>
            </a:r>
            <a:r>
              <a:rPr lang="en-US" dirty="0" err="1" smtClean="0"/>
              <a:t>o‘zgaruvchilarga</a:t>
            </a:r>
            <a:r>
              <a:rPr lang="en-US" dirty="0" smtClean="0"/>
              <a:t> </a:t>
            </a:r>
            <a:r>
              <a:rPr lang="en-US" dirty="0" err="1" smtClean="0"/>
              <a:t>o‘zlashtiriladi</a:t>
            </a:r>
            <a:endParaRPr lang="en-US" dirty="0"/>
          </a:p>
        </p:txBody>
      </p:sp>
    </p:spTree>
    <p:extLst>
      <p:ext uri="{BB962C8B-B14F-4D97-AF65-F5344CB8AC3E}">
        <p14:creationId xmlns:p14="http://schemas.microsoft.com/office/powerpoint/2010/main" val="100219681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6" presetClass="entr" presetSubtype="16" fill="hold" nodeType="afterEffect">
                                  <p:stCondLst>
                                    <p:cond delay="0"/>
                                  </p:stCondLst>
                                  <p:childTnLst>
                                    <p:set>
                                      <p:cBhvr>
                                        <p:cTn id="12" dur="1" fill="hold">
                                          <p:stCondLst>
                                            <p:cond delay="0"/>
                                          </p:stCondLst>
                                        </p:cTn>
                                        <p:tgtEl>
                                          <p:spTgt spid="3">
                                            <p:txEl>
                                              <p:pRg st="0" end="0"/>
                                            </p:txEl>
                                          </p:spTgt>
                                        </p:tgtEl>
                                        <p:attrNameLst>
                                          <p:attrName>style.visibility</p:attrName>
                                        </p:attrNameLst>
                                      </p:cBhvr>
                                      <p:to>
                                        <p:strVal val="visible"/>
                                      </p:to>
                                    </p:set>
                                    <p:animEffect transition="in" filter="circle(in)">
                                      <p:cBhvr>
                                        <p:cTn id="13" dur="2000"/>
                                        <p:tgtEl>
                                          <p:spTgt spid="3">
                                            <p:txEl>
                                              <p:pRg st="0" end="0"/>
                                            </p:txEl>
                                          </p:spTgt>
                                        </p:tgtEl>
                                      </p:cBhvr>
                                    </p:animEffect>
                                  </p:childTnLst>
                                </p:cTn>
                              </p:par>
                              <p:par>
                                <p:cTn id="14" presetID="6" presetClass="entr" presetSubtype="16" fill="hold" nodeType="withEffect">
                                  <p:stCondLst>
                                    <p:cond delay="0"/>
                                  </p:stCondLst>
                                  <p:childTnLst>
                                    <p:set>
                                      <p:cBhvr>
                                        <p:cTn id="15" dur="1" fill="hold">
                                          <p:stCondLst>
                                            <p:cond delay="0"/>
                                          </p:stCondLst>
                                        </p:cTn>
                                        <p:tgtEl>
                                          <p:spTgt spid="3">
                                            <p:txEl>
                                              <p:pRg st="1" end="1"/>
                                            </p:txEl>
                                          </p:spTgt>
                                        </p:tgtEl>
                                        <p:attrNameLst>
                                          <p:attrName>style.visibility</p:attrName>
                                        </p:attrNameLst>
                                      </p:cBhvr>
                                      <p:to>
                                        <p:strVal val="visible"/>
                                      </p:to>
                                    </p:set>
                                    <p:animEffect transition="in" filter="circle(in)">
                                      <p:cBhvr>
                                        <p:cTn id="16" dur="2000"/>
                                        <p:tgtEl>
                                          <p:spTgt spid="3">
                                            <p:txEl>
                                              <p:pRg st="1" end="1"/>
                                            </p:txEl>
                                          </p:spTgt>
                                        </p:tgtEl>
                                      </p:cBhvr>
                                    </p:animEffect>
                                  </p:childTnLst>
                                </p:cTn>
                              </p:par>
                              <p:par>
                                <p:cTn id="17" presetID="6" presetClass="entr" presetSubtype="16" fill="hold" nodeType="withEffect">
                                  <p:stCondLst>
                                    <p:cond delay="0"/>
                                  </p:stCondLst>
                                  <p:childTnLst>
                                    <p:set>
                                      <p:cBhvr>
                                        <p:cTn id="18" dur="1" fill="hold">
                                          <p:stCondLst>
                                            <p:cond delay="0"/>
                                          </p:stCondLst>
                                        </p:cTn>
                                        <p:tgtEl>
                                          <p:spTgt spid="3">
                                            <p:txEl>
                                              <p:pRg st="2" end="2"/>
                                            </p:txEl>
                                          </p:spTgt>
                                        </p:tgtEl>
                                        <p:attrNameLst>
                                          <p:attrName>style.visibility</p:attrName>
                                        </p:attrNameLst>
                                      </p:cBhvr>
                                      <p:to>
                                        <p:strVal val="visible"/>
                                      </p:to>
                                    </p:set>
                                    <p:animEffect transition="in" filter="circle(in)">
                                      <p:cBhvr>
                                        <p:cTn id="19" dur="2000"/>
                                        <p:tgtEl>
                                          <p:spTgt spid="3">
                                            <p:txEl>
                                              <p:pRg st="2" end="2"/>
                                            </p:txEl>
                                          </p:spTgt>
                                        </p:tgtEl>
                                      </p:cBhvr>
                                    </p:animEffect>
                                  </p:childTnLst>
                                </p:cTn>
                              </p:par>
                              <p:par>
                                <p:cTn id="20" presetID="6" presetClass="entr" presetSubtype="16" fill="hold" nodeType="withEffect">
                                  <p:stCondLst>
                                    <p:cond delay="0"/>
                                  </p:stCondLst>
                                  <p:childTnLst>
                                    <p:set>
                                      <p:cBhvr>
                                        <p:cTn id="21" dur="1" fill="hold">
                                          <p:stCondLst>
                                            <p:cond delay="0"/>
                                          </p:stCondLst>
                                        </p:cTn>
                                        <p:tgtEl>
                                          <p:spTgt spid="3">
                                            <p:txEl>
                                              <p:pRg st="3" end="3"/>
                                            </p:txEl>
                                          </p:spTgt>
                                        </p:tgtEl>
                                        <p:attrNameLst>
                                          <p:attrName>style.visibility</p:attrName>
                                        </p:attrNameLst>
                                      </p:cBhvr>
                                      <p:to>
                                        <p:strVal val="visible"/>
                                      </p:to>
                                    </p:set>
                                    <p:animEffect transition="in" filter="circle(in)">
                                      <p:cBhvr>
                                        <p:cTn id="22" dur="2000"/>
                                        <p:tgtEl>
                                          <p:spTgt spid="3">
                                            <p:txEl>
                                              <p:pRg st="3" end="3"/>
                                            </p:txEl>
                                          </p:spTgt>
                                        </p:tgtEl>
                                      </p:cBhvr>
                                    </p:animEffect>
                                  </p:childTnLst>
                                </p:cTn>
                              </p:par>
                              <p:par>
                                <p:cTn id="23" presetID="6" presetClass="entr" presetSubtype="16" fill="hold" nodeType="withEffect">
                                  <p:stCondLst>
                                    <p:cond delay="0"/>
                                  </p:stCondLst>
                                  <p:childTnLst>
                                    <p:set>
                                      <p:cBhvr>
                                        <p:cTn id="24" dur="1" fill="hold">
                                          <p:stCondLst>
                                            <p:cond delay="0"/>
                                          </p:stCondLst>
                                        </p:cTn>
                                        <p:tgtEl>
                                          <p:spTgt spid="3">
                                            <p:txEl>
                                              <p:pRg st="4" end="4"/>
                                            </p:txEl>
                                          </p:spTgt>
                                        </p:tgtEl>
                                        <p:attrNameLst>
                                          <p:attrName>style.visibility</p:attrName>
                                        </p:attrNameLst>
                                      </p:cBhvr>
                                      <p:to>
                                        <p:strVal val="visible"/>
                                      </p:to>
                                    </p:set>
                                    <p:animEffect transition="in" filter="circle(in)">
                                      <p:cBhvr>
                                        <p:cTn id="25" dur="2000"/>
                                        <p:tgtEl>
                                          <p:spTgt spid="3">
                                            <p:txEl>
                                              <p:pRg st="4" end="4"/>
                                            </p:txEl>
                                          </p:spTgt>
                                        </p:tgtEl>
                                      </p:cBhvr>
                                    </p:animEffect>
                                  </p:childTnLst>
                                </p:cTn>
                              </p:par>
                              <p:par>
                                <p:cTn id="26" presetID="6" presetClass="entr" presetSubtype="16" fill="hold" nodeType="withEffect">
                                  <p:stCondLst>
                                    <p:cond delay="0"/>
                                  </p:stCondLst>
                                  <p:childTnLst>
                                    <p:set>
                                      <p:cBhvr>
                                        <p:cTn id="27" dur="1" fill="hold">
                                          <p:stCondLst>
                                            <p:cond delay="0"/>
                                          </p:stCondLst>
                                        </p:cTn>
                                        <p:tgtEl>
                                          <p:spTgt spid="3">
                                            <p:txEl>
                                              <p:pRg st="5" end="5"/>
                                            </p:txEl>
                                          </p:spTgt>
                                        </p:tgtEl>
                                        <p:attrNameLst>
                                          <p:attrName>style.visibility</p:attrName>
                                        </p:attrNameLst>
                                      </p:cBhvr>
                                      <p:to>
                                        <p:strVal val="visible"/>
                                      </p:to>
                                    </p:set>
                                    <p:animEffect transition="in" filter="circle(in)">
                                      <p:cBhvr>
                                        <p:cTn id="28" dur="2000"/>
                                        <p:tgtEl>
                                          <p:spTgt spid="3">
                                            <p:txEl>
                                              <p:pRg st="5" end="5"/>
                                            </p:txEl>
                                          </p:spTgt>
                                        </p:tgtEl>
                                      </p:cBhvr>
                                    </p:animEffect>
                                  </p:childTnLst>
                                </p:cTn>
                              </p:par>
                              <p:par>
                                <p:cTn id="29" presetID="6" presetClass="entr" presetSubtype="16" fill="hold" nodeType="with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animEffect transition="in" filter="circle(in)">
                                      <p:cBhvr>
                                        <p:cTn id="31" dur="2000"/>
                                        <p:tgtEl>
                                          <p:spTgt spid="3">
                                            <p:txEl>
                                              <p:pRg st="6" end="6"/>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 name="Рисунок 6"/>
          <p:cNvPicPr>
            <a:picLocks noChangeAspect="1"/>
          </p:cNvPicPr>
          <p:nvPr/>
        </p:nvPicPr>
        <p:blipFill>
          <a:blip r:embed="rId2"/>
          <a:stretch>
            <a:fillRect/>
          </a:stretch>
        </p:blipFill>
        <p:spPr>
          <a:xfrm>
            <a:off x="1916786" y="5142782"/>
            <a:ext cx="7935432" cy="1124107"/>
          </a:xfrm>
          <a:prstGeom prst="rect">
            <a:avLst/>
          </a:prstGeom>
        </p:spPr>
      </p:pic>
      <p:pic>
        <p:nvPicPr>
          <p:cNvPr id="5" name="Рисунок 4"/>
          <p:cNvPicPr>
            <a:picLocks noChangeAspect="1"/>
          </p:cNvPicPr>
          <p:nvPr/>
        </p:nvPicPr>
        <p:blipFill rotWithShape="1">
          <a:blip r:embed="rId3"/>
          <a:srcRect t="15453"/>
          <a:stretch/>
        </p:blipFill>
        <p:spPr>
          <a:xfrm>
            <a:off x="1578628" y="4011256"/>
            <a:ext cx="1374878" cy="387475"/>
          </a:xfrm>
          <a:prstGeom prst="rect">
            <a:avLst/>
          </a:prstGeom>
        </p:spPr>
      </p:pic>
      <p:pic>
        <p:nvPicPr>
          <p:cNvPr id="6" name="Рисунок 5"/>
          <p:cNvPicPr>
            <a:picLocks noChangeAspect="1"/>
          </p:cNvPicPr>
          <p:nvPr/>
        </p:nvPicPr>
        <p:blipFill>
          <a:blip r:embed="rId4"/>
          <a:stretch>
            <a:fillRect/>
          </a:stretch>
        </p:blipFill>
        <p:spPr>
          <a:xfrm>
            <a:off x="2889498" y="3730751"/>
            <a:ext cx="5624248" cy="1050794"/>
          </a:xfrm>
          <a:prstGeom prst="rect">
            <a:avLst/>
          </a:prstGeom>
        </p:spPr>
      </p:pic>
      <p:pic>
        <p:nvPicPr>
          <p:cNvPr id="4" name="Рисунок 3"/>
          <p:cNvPicPr>
            <a:picLocks noChangeAspect="1"/>
          </p:cNvPicPr>
          <p:nvPr/>
        </p:nvPicPr>
        <p:blipFill>
          <a:blip r:embed="rId5"/>
          <a:stretch>
            <a:fillRect/>
          </a:stretch>
        </p:blipFill>
        <p:spPr>
          <a:xfrm>
            <a:off x="2266067" y="1785883"/>
            <a:ext cx="4763165" cy="1448002"/>
          </a:xfrm>
          <a:prstGeom prst="rect">
            <a:avLst/>
          </a:prstGeom>
        </p:spPr>
      </p:pic>
      <p:sp>
        <p:nvSpPr>
          <p:cNvPr id="2" name="Заголовок 1"/>
          <p:cNvSpPr>
            <a:spLocks noGrp="1"/>
          </p:cNvSpPr>
          <p:nvPr>
            <p:ph type="title"/>
          </p:nvPr>
        </p:nvSpPr>
        <p:spPr>
          <a:xfrm>
            <a:off x="819912" y="134069"/>
            <a:ext cx="10515600" cy="548640"/>
          </a:xfrm>
        </p:spPr>
        <p:txBody>
          <a:bodyPr>
            <a:normAutofit fontScale="90000"/>
          </a:bodyPr>
          <a:lstStyle/>
          <a:p>
            <a:pPr algn="ctr"/>
            <a:r>
              <a:rPr lang="en-US" sz="3200" b="1" dirty="0" smtClean="0"/>
              <a:t>4- </a:t>
            </a:r>
            <a:r>
              <a:rPr lang="en-US" sz="3200" b="1" dirty="0" err="1" smtClean="0"/>
              <a:t>bosqich</a:t>
            </a:r>
            <a:r>
              <a:rPr lang="en-US" sz="3200" b="1" dirty="0" smtClean="0"/>
              <a:t>. </a:t>
            </a:r>
            <a:r>
              <a:rPr lang="en-US" sz="3200" b="1" dirty="0" err="1" smtClean="0"/>
              <a:t>Ma’lumotni</a:t>
            </a:r>
            <a:r>
              <a:rPr lang="en-US" sz="3200" b="1" dirty="0" smtClean="0"/>
              <a:t> 512 </a:t>
            </a:r>
            <a:r>
              <a:rPr lang="en-US" sz="3200" b="1" dirty="0" err="1" smtClean="0"/>
              <a:t>bitli</a:t>
            </a:r>
            <a:r>
              <a:rPr lang="en-US" sz="3200" b="1" dirty="0" smtClean="0"/>
              <a:t> </a:t>
            </a:r>
            <a:r>
              <a:rPr lang="en-US" sz="3200" b="1" dirty="0" err="1" smtClean="0"/>
              <a:t>bloklarga</a:t>
            </a:r>
            <a:r>
              <a:rPr lang="en-US" sz="3200" b="1" dirty="0" smtClean="0"/>
              <a:t> </a:t>
            </a:r>
            <a:r>
              <a:rPr lang="en-US" sz="3200" b="1" dirty="0" err="1" smtClean="0"/>
              <a:t>ajratib</a:t>
            </a:r>
            <a:r>
              <a:rPr lang="en-US" sz="3200" b="1" dirty="0" smtClean="0"/>
              <a:t> </a:t>
            </a:r>
            <a:r>
              <a:rPr lang="en-US" sz="3200" b="1" dirty="0" err="1" smtClean="0"/>
              <a:t>qayta</a:t>
            </a:r>
            <a:r>
              <a:rPr lang="en-US" sz="3200" b="1" dirty="0" smtClean="0"/>
              <a:t> </a:t>
            </a:r>
            <a:r>
              <a:rPr lang="en-US" sz="3200" b="1" dirty="0" err="1" smtClean="0"/>
              <a:t>ishlash</a:t>
            </a:r>
            <a:endParaRPr lang="en-US" sz="3200" b="1" dirty="0"/>
          </a:p>
        </p:txBody>
      </p:sp>
      <p:sp>
        <p:nvSpPr>
          <p:cNvPr id="3" name="Объект 2"/>
          <p:cNvSpPr>
            <a:spLocks noGrp="1"/>
          </p:cNvSpPr>
          <p:nvPr>
            <p:ph idx="1"/>
          </p:nvPr>
        </p:nvSpPr>
        <p:spPr>
          <a:xfrm>
            <a:off x="755904" y="905255"/>
            <a:ext cx="10515600" cy="5650992"/>
          </a:xfrm>
        </p:spPr>
        <p:txBody>
          <a:bodyPr>
            <a:normAutofit fontScale="85000" lnSpcReduction="20000"/>
          </a:bodyPr>
          <a:lstStyle/>
          <a:p>
            <a:pPr marL="0" indent="0">
              <a:buNone/>
            </a:pPr>
            <a:r>
              <a:rPr lang="en-US" dirty="0" smtClean="0"/>
              <a:t>	SHA1 </a:t>
            </a:r>
            <a:r>
              <a:rPr lang="en-US" dirty="0" err="1" smtClean="0"/>
              <a:t>algoritmida</a:t>
            </a:r>
            <a:r>
              <a:rPr lang="en-US" dirty="0" smtClean="0"/>
              <a:t> </a:t>
            </a:r>
            <a:r>
              <a:rPr lang="en-US" dirty="0" err="1" smtClean="0"/>
              <a:t>har</a:t>
            </a:r>
            <a:r>
              <a:rPr lang="en-US" dirty="0" smtClean="0"/>
              <a:t> </a:t>
            </a:r>
            <a:r>
              <a:rPr lang="en-US" dirty="0" err="1" smtClean="0"/>
              <a:t>bir</a:t>
            </a:r>
            <a:r>
              <a:rPr lang="en-US" dirty="0" smtClean="0"/>
              <a:t> 512 </a:t>
            </a:r>
            <a:r>
              <a:rPr lang="en-US" dirty="0" err="1" smtClean="0"/>
              <a:t>bitli</a:t>
            </a:r>
            <a:r>
              <a:rPr lang="en-US" dirty="0" smtClean="0"/>
              <a:t> </a:t>
            </a:r>
            <a:r>
              <a:rPr lang="en-US" dirty="0" err="1" smtClean="0"/>
              <a:t>blok</a:t>
            </a:r>
            <a:r>
              <a:rPr lang="en-US" dirty="0" smtClean="0"/>
              <a:t> </a:t>
            </a:r>
            <a:r>
              <a:rPr lang="en-US" dirty="0" err="1" smtClean="0"/>
              <a:t>ustida</a:t>
            </a:r>
            <a:r>
              <a:rPr lang="en-US" dirty="0" smtClean="0"/>
              <a:t> 80 </a:t>
            </a:r>
            <a:r>
              <a:rPr lang="en-US" dirty="0" err="1" smtClean="0"/>
              <a:t>raund</a:t>
            </a:r>
            <a:r>
              <a:rPr lang="en-US" dirty="0" smtClean="0"/>
              <a:t> </a:t>
            </a:r>
            <a:r>
              <a:rPr lang="en-US" dirty="0" err="1" smtClean="0"/>
              <a:t>davomida</a:t>
            </a:r>
            <a:r>
              <a:rPr lang="en-US" dirty="0" smtClean="0"/>
              <a:t> </a:t>
            </a:r>
            <a:r>
              <a:rPr lang="en-US" dirty="0" err="1" smtClean="0"/>
              <a:t>qayta</a:t>
            </a:r>
            <a:r>
              <a:rPr lang="en-US" dirty="0" smtClean="0"/>
              <a:t> </a:t>
            </a:r>
            <a:r>
              <a:rPr lang="en-US" dirty="0" err="1" smtClean="0"/>
              <a:t>ishlash</a:t>
            </a:r>
            <a:r>
              <a:rPr lang="en-US" dirty="0" smtClean="0"/>
              <a:t> </a:t>
            </a:r>
            <a:r>
              <a:rPr lang="en-US" dirty="0" err="1" smtClean="0"/>
              <a:t>amalga</a:t>
            </a:r>
            <a:r>
              <a:rPr lang="en-US" dirty="0" smtClean="0"/>
              <a:t> </a:t>
            </a:r>
            <a:r>
              <a:rPr lang="en-US" dirty="0" err="1" smtClean="0"/>
              <a:t>oshiriladi</a:t>
            </a:r>
            <a:r>
              <a:rPr lang="en-US" dirty="0" smtClean="0"/>
              <a:t>. </a:t>
            </a:r>
            <a:r>
              <a:rPr lang="en-US" dirty="0" err="1" smtClean="0"/>
              <a:t>Ushbu</a:t>
            </a:r>
            <a:r>
              <a:rPr lang="en-US" dirty="0" smtClean="0"/>
              <a:t> </a:t>
            </a:r>
            <a:r>
              <a:rPr lang="en-US" dirty="0" err="1" smtClean="0"/>
              <a:t>algoritmda</a:t>
            </a:r>
            <a:r>
              <a:rPr lang="en-US" dirty="0" smtClean="0"/>
              <a:t> </a:t>
            </a:r>
            <a:r>
              <a:rPr lang="en-US" dirty="0" err="1" smtClean="0"/>
              <a:t>quyidagi</a:t>
            </a:r>
            <a:r>
              <a:rPr lang="en-US" dirty="0" smtClean="0"/>
              <a:t> </a:t>
            </a:r>
            <a:r>
              <a:rPr lang="en-US" dirty="0" err="1" smtClean="0"/>
              <a:t>o‘zgarmaslar</a:t>
            </a:r>
            <a:r>
              <a:rPr lang="en-US" dirty="0" smtClean="0"/>
              <a:t> </a:t>
            </a:r>
            <a:r>
              <a:rPr lang="en-US" dirty="0" err="1" smtClean="0"/>
              <a:t>va</a:t>
            </a:r>
            <a:r>
              <a:rPr lang="en-US" dirty="0" smtClean="0"/>
              <a:t> </a:t>
            </a:r>
            <a:r>
              <a:rPr lang="en-US" dirty="0" err="1" smtClean="0"/>
              <a:t>funksiyalardan</a:t>
            </a:r>
            <a:r>
              <a:rPr lang="en-US" dirty="0" smtClean="0"/>
              <a:t> </a:t>
            </a:r>
            <a:r>
              <a:rPr lang="en-US" dirty="0" err="1" smtClean="0"/>
              <a:t>foydalanilgan</a:t>
            </a:r>
            <a:r>
              <a:rPr lang="en-US" dirty="0" smtClean="0"/>
              <a:t>: </a:t>
            </a:r>
          </a:p>
          <a:p>
            <a:pPr marL="0" indent="0">
              <a:buNone/>
            </a:pPr>
            <a:r>
              <a:rPr lang="en-US" dirty="0" smtClean="0"/>
              <a:t>	</a:t>
            </a:r>
            <a:r>
              <a:rPr lang="en-US" dirty="0" err="1" smtClean="0"/>
              <a:t>Barcha</a:t>
            </a:r>
            <a:r>
              <a:rPr lang="en-US" dirty="0" smtClean="0"/>
              <a:t> </a:t>
            </a:r>
            <a:r>
              <a:rPr lang="en-US" dirty="0" err="1" smtClean="0"/>
              <a:t>raundlar</a:t>
            </a:r>
            <a:r>
              <a:rPr lang="en-US" dirty="0" smtClean="0"/>
              <a:t> </a:t>
            </a:r>
            <a:r>
              <a:rPr lang="en-US" dirty="0" err="1" smtClean="0"/>
              <a:t>uchun</a:t>
            </a:r>
            <a:r>
              <a:rPr lang="en-US" dirty="0" smtClean="0"/>
              <a:t> 32 </a:t>
            </a:r>
            <a:r>
              <a:rPr lang="en-US" dirty="0" err="1" smtClean="0"/>
              <a:t>bitli</a:t>
            </a:r>
            <a:r>
              <a:rPr lang="en-US" dirty="0" smtClean="0"/>
              <a:t> 𝐾𝑡 </a:t>
            </a:r>
            <a:r>
              <a:rPr lang="en-US" dirty="0" err="1" smtClean="0"/>
              <a:t>o‘zgarmas</a:t>
            </a:r>
            <a:r>
              <a:rPr lang="en-US" dirty="0" smtClean="0"/>
              <a:t> </a:t>
            </a:r>
            <a:r>
              <a:rPr lang="en-US" dirty="0" err="1" smtClean="0"/>
              <a:t>qiymatlari</a:t>
            </a:r>
            <a:r>
              <a:rPr lang="en-US" dirty="0" smtClean="0"/>
              <a:t>: </a:t>
            </a:r>
          </a:p>
          <a:p>
            <a:pPr marL="0" indent="0">
              <a:buNone/>
            </a:pPr>
            <a:endParaRPr lang="en-US" dirty="0" smtClean="0"/>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dirty="0" smtClean="0"/>
              <a:t>𝑓𝑡 (𝑥, 𝑦, 𝑧) </a:t>
            </a:r>
            <a:r>
              <a:rPr lang="en-US" dirty="0" err="1" smtClean="0"/>
              <a:t>esa</a:t>
            </a:r>
            <a:r>
              <a:rPr lang="en-US" dirty="0" smtClean="0"/>
              <a:t> </a:t>
            </a:r>
            <a:r>
              <a:rPr lang="en-US" dirty="0" err="1" smtClean="0"/>
              <a:t>raundlar</a:t>
            </a:r>
            <a:r>
              <a:rPr lang="en-US" dirty="0" smtClean="0"/>
              <a:t> </a:t>
            </a:r>
            <a:r>
              <a:rPr lang="en-US" dirty="0" err="1" smtClean="0"/>
              <a:t>bo‘yicha</a:t>
            </a:r>
            <a:r>
              <a:rPr lang="en-US" dirty="0" smtClean="0"/>
              <a:t> </a:t>
            </a:r>
            <a:r>
              <a:rPr lang="en-US" dirty="0" err="1" smtClean="0"/>
              <a:t>quyidagicha</a:t>
            </a:r>
            <a:r>
              <a:rPr lang="en-US" dirty="0" smtClean="0"/>
              <a:t> </a:t>
            </a:r>
            <a:r>
              <a:rPr lang="en-US" dirty="0" err="1" smtClean="0"/>
              <a:t>ifodalanadi</a:t>
            </a:r>
            <a:r>
              <a:rPr lang="en-US" dirty="0" smtClean="0"/>
              <a:t>: </a:t>
            </a:r>
          </a:p>
          <a:p>
            <a:pPr marL="0" indent="0">
              <a:buNone/>
            </a:pPr>
            <a:endParaRPr lang="en-US" dirty="0" smtClean="0"/>
          </a:p>
          <a:p>
            <a:pPr marL="0" indent="0">
              <a:buNone/>
            </a:pPr>
            <a:endParaRPr lang="en-US" dirty="0" smtClean="0"/>
          </a:p>
          <a:p>
            <a:pPr marL="0" indent="0">
              <a:buNone/>
            </a:pPr>
            <a:endParaRPr lang="en-US" dirty="0" smtClean="0"/>
          </a:p>
          <a:p>
            <a:pPr marL="0" indent="0">
              <a:buNone/>
            </a:pPr>
            <a:r>
              <a:rPr lang="en-US" dirty="0" smtClean="0"/>
              <a:t>512 </a:t>
            </a:r>
            <a:r>
              <a:rPr lang="en-US" dirty="0" err="1" smtClean="0"/>
              <a:t>bitli</a:t>
            </a:r>
            <a:r>
              <a:rPr lang="en-US" dirty="0" smtClean="0"/>
              <a:t> </a:t>
            </a:r>
            <a:r>
              <a:rPr lang="en-US" dirty="0" err="1" smtClean="0"/>
              <a:t>blok</a:t>
            </a:r>
            <a:r>
              <a:rPr lang="en-US" dirty="0" smtClean="0"/>
              <a:t> (𝑀) 16 ta 32 </a:t>
            </a:r>
            <a:r>
              <a:rPr lang="en-US" dirty="0" err="1" smtClean="0"/>
              <a:t>bitli</a:t>
            </a:r>
            <a:r>
              <a:rPr lang="en-US" dirty="0" smtClean="0"/>
              <a:t> </a:t>
            </a:r>
            <a:r>
              <a:rPr lang="en-US" dirty="0" err="1" smtClean="0"/>
              <a:t>qismlarga</a:t>
            </a:r>
            <a:r>
              <a:rPr lang="en-US" dirty="0" smtClean="0"/>
              <a:t> </a:t>
            </a:r>
            <a:r>
              <a:rPr lang="en-US" dirty="0" err="1" smtClean="0"/>
              <a:t>ajratiladi</a:t>
            </a:r>
            <a:r>
              <a:rPr lang="en-US" dirty="0" smtClean="0"/>
              <a:t> </a:t>
            </a:r>
            <a:r>
              <a:rPr lang="en-US" dirty="0" err="1" smtClean="0"/>
              <a:t>va</a:t>
            </a:r>
            <a:r>
              <a:rPr lang="en-US" dirty="0" smtClean="0"/>
              <a:t> </a:t>
            </a:r>
            <a:r>
              <a:rPr lang="en-US" dirty="0" err="1" smtClean="0"/>
              <a:t>undan</a:t>
            </a:r>
            <a:r>
              <a:rPr lang="en-US" dirty="0" smtClean="0"/>
              <a:t> 80 ta </a:t>
            </a:r>
            <a:r>
              <a:rPr lang="en-US" dirty="0" err="1" smtClean="0"/>
              <a:t>raund</a:t>
            </a:r>
            <a:r>
              <a:rPr lang="en-US" dirty="0" smtClean="0"/>
              <a:t> </a:t>
            </a:r>
            <a:r>
              <a:rPr lang="en-US" dirty="0" err="1" smtClean="0"/>
              <a:t>uchun</a:t>
            </a:r>
            <a:r>
              <a:rPr lang="en-US" dirty="0" smtClean="0"/>
              <a:t> 𝑊𝑡 </a:t>
            </a:r>
            <a:r>
              <a:rPr lang="en-US" dirty="0" err="1" smtClean="0"/>
              <a:t>quyidagicha</a:t>
            </a:r>
            <a:r>
              <a:rPr lang="en-US" dirty="0" smtClean="0"/>
              <a:t> </a:t>
            </a:r>
            <a:r>
              <a:rPr lang="en-US" dirty="0" err="1" smtClean="0"/>
              <a:t>hosil</a:t>
            </a:r>
            <a:r>
              <a:rPr lang="en-US" dirty="0" smtClean="0"/>
              <a:t> </a:t>
            </a:r>
            <a:r>
              <a:rPr lang="en-US" dirty="0" err="1" smtClean="0"/>
              <a:t>qilinadi</a:t>
            </a:r>
            <a:r>
              <a:rPr lang="en-US" dirty="0" smtClean="0"/>
              <a:t>: </a:t>
            </a:r>
          </a:p>
          <a:p>
            <a:pPr marL="0" indent="0">
              <a:buNone/>
            </a:pPr>
            <a:r>
              <a:rPr lang="en-US" dirty="0" smtClean="0"/>
              <a:t> </a:t>
            </a:r>
          </a:p>
          <a:p>
            <a:pPr marL="0" indent="0">
              <a:buNone/>
            </a:pPr>
            <a:r>
              <a:rPr lang="en-US" dirty="0" smtClean="0"/>
              <a:t>          </a:t>
            </a:r>
            <a:r>
              <a:rPr lang="en-US" dirty="0" smtClean="0">
                <a:solidFill>
                  <a:schemeClr val="bg1"/>
                </a:solidFill>
              </a:rPr>
              <a:t>(𝑊𝑡−3⨁𝑊𝑡−8⨁𝑊𝑡−14⨁𝑊𝑡−16) ⋘ 1, 16 ≤ 𝑡 ≤ 79</a:t>
            </a:r>
            <a:endParaRPr lang="en-US" dirty="0">
              <a:solidFill>
                <a:schemeClr val="bg1"/>
              </a:solidFill>
            </a:endParaRPr>
          </a:p>
        </p:txBody>
      </p:sp>
    </p:spTree>
    <p:extLst>
      <p:ext uri="{BB962C8B-B14F-4D97-AF65-F5344CB8AC3E}">
        <p14:creationId xmlns:p14="http://schemas.microsoft.com/office/powerpoint/2010/main" val="309886968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6"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down)">
                                      <p:cBhvr>
                                        <p:cTn id="7" dur="580">
                                          <p:stCondLst>
                                            <p:cond delay="0"/>
                                          </p:stCondLst>
                                        </p:cTn>
                                        <p:tgtEl>
                                          <p:spTgt spid="2"/>
                                        </p:tgtEl>
                                      </p:cBhvr>
                                    </p:animEffect>
                                    <p:anim calcmode="lin" valueType="num">
                                      <p:cBhvr>
                                        <p:cTn id="8" dur="1822" tmFilter="0,0; 0.14,0.36; 0.43,0.73; 0.71,0.91; 1.0,1.0">
                                          <p:stCondLst>
                                            <p:cond delay="0"/>
                                          </p:stCondLst>
                                        </p:cTn>
                                        <p:tgtEl>
                                          <p:spTgt spid="2"/>
                                        </p:tgtEl>
                                        <p:attrNameLst>
                                          <p:attrName>ppt_x</p:attrName>
                                        </p:attrNameLst>
                                      </p:cBhvr>
                                      <p:tavLst>
                                        <p:tav tm="0">
                                          <p:val>
                                            <p:strVal val="#ppt_x-0.25"/>
                                          </p:val>
                                        </p:tav>
                                        <p:tav tm="100000">
                                          <p:val>
                                            <p:strVal val="#ppt_x"/>
                                          </p:val>
                                        </p:tav>
                                      </p:tavLst>
                                    </p:anim>
                                    <p:anim calcmode="lin" valueType="num">
                                      <p:cBhvr>
                                        <p:cTn id="9" dur="664" tmFilter="0.0,0.0; 0.25,0.07; 0.50,0.2; 0.75,0.467; 1.0,1.0">
                                          <p:stCondLst>
                                            <p:cond delay="0"/>
                                          </p:stCondLst>
                                        </p:cTn>
                                        <p:tgtEl>
                                          <p:spTgt spid="2"/>
                                        </p:tgtEl>
                                        <p:attrNameLst>
                                          <p:attrName>ppt_y</p:attrName>
                                        </p:attrNameLst>
                                      </p:cBhvr>
                                      <p:tavLst>
                                        <p:tav tm="0" fmla="#ppt_y-sin(pi*$)/3">
                                          <p:val>
                                            <p:fltVal val="0.5"/>
                                          </p:val>
                                        </p:tav>
                                        <p:tav tm="100000">
                                          <p:val>
                                            <p:fltVal val="1"/>
                                          </p:val>
                                        </p:tav>
                                      </p:tavLst>
                                    </p:anim>
                                    <p:anim calcmode="lin" valueType="num">
                                      <p:cBhvr>
                                        <p:cTn id="10" dur="664" tmFilter="0, 0; 0.125,0.2665; 0.25,0.4; 0.375,0.465; 0.5,0.5;  0.625,0.535; 0.75,0.6; 0.875,0.7335; 1,1">
                                          <p:stCondLst>
                                            <p:cond delay="664"/>
                                          </p:stCondLst>
                                        </p:cTn>
                                        <p:tgtEl>
                                          <p:spTgt spid="2"/>
                                        </p:tgtEl>
                                        <p:attrNameLst>
                                          <p:attrName>ppt_y</p:attrName>
                                        </p:attrNameLst>
                                      </p:cBhvr>
                                      <p:tavLst>
                                        <p:tav tm="0" fmla="#ppt_y-sin(pi*$)/9">
                                          <p:val>
                                            <p:fltVal val="0"/>
                                          </p:val>
                                        </p:tav>
                                        <p:tav tm="100000">
                                          <p:val>
                                            <p:fltVal val="1"/>
                                          </p:val>
                                        </p:tav>
                                      </p:tavLst>
                                    </p:anim>
                                    <p:anim calcmode="lin" valueType="num">
                                      <p:cBhvr>
                                        <p:cTn id="11" dur="332" tmFilter="0, 0; 0.125,0.2665; 0.25,0.4; 0.375,0.465; 0.5,0.5;  0.625,0.535; 0.75,0.6; 0.875,0.7335; 1,1">
                                          <p:stCondLst>
                                            <p:cond delay="1324"/>
                                          </p:stCondLst>
                                        </p:cTn>
                                        <p:tgtEl>
                                          <p:spTgt spid="2"/>
                                        </p:tgtEl>
                                        <p:attrNameLst>
                                          <p:attrName>ppt_y</p:attrName>
                                        </p:attrNameLst>
                                      </p:cBhvr>
                                      <p:tavLst>
                                        <p:tav tm="0" fmla="#ppt_y-sin(pi*$)/27">
                                          <p:val>
                                            <p:fltVal val="0"/>
                                          </p:val>
                                        </p:tav>
                                        <p:tav tm="100000">
                                          <p:val>
                                            <p:fltVal val="1"/>
                                          </p:val>
                                        </p:tav>
                                      </p:tavLst>
                                    </p:anim>
                                    <p:anim calcmode="lin" valueType="num">
                                      <p:cBhvr>
                                        <p:cTn id="12" dur="164" tmFilter="0, 0; 0.125,0.2665; 0.25,0.4; 0.375,0.465; 0.5,0.5;  0.625,0.535; 0.75,0.6; 0.875,0.7335; 1,1">
                                          <p:stCondLst>
                                            <p:cond delay="1656"/>
                                          </p:stCondLst>
                                        </p:cTn>
                                        <p:tgtEl>
                                          <p:spTgt spid="2"/>
                                        </p:tgtEl>
                                        <p:attrNameLst>
                                          <p:attrName>ppt_y</p:attrName>
                                        </p:attrNameLst>
                                      </p:cBhvr>
                                      <p:tavLst>
                                        <p:tav tm="0" fmla="#ppt_y-sin(pi*$)/81">
                                          <p:val>
                                            <p:fltVal val="0"/>
                                          </p:val>
                                        </p:tav>
                                        <p:tav tm="100000">
                                          <p:val>
                                            <p:fltVal val="1"/>
                                          </p:val>
                                        </p:tav>
                                      </p:tavLst>
                                    </p:anim>
                                    <p:animScale>
                                      <p:cBhvr>
                                        <p:cTn id="13" dur="26">
                                          <p:stCondLst>
                                            <p:cond delay="650"/>
                                          </p:stCondLst>
                                        </p:cTn>
                                        <p:tgtEl>
                                          <p:spTgt spid="2"/>
                                        </p:tgtEl>
                                      </p:cBhvr>
                                      <p:to x="100000" y="60000"/>
                                    </p:animScale>
                                    <p:animScale>
                                      <p:cBhvr>
                                        <p:cTn id="14" dur="166" decel="50000">
                                          <p:stCondLst>
                                            <p:cond delay="676"/>
                                          </p:stCondLst>
                                        </p:cTn>
                                        <p:tgtEl>
                                          <p:spTgt spid="2"/>
                                        </p:tgtEl>
                                      </p:cBhvr>
                                      <p:to x="100000" y="100000"/>
                                    </p:animScale>
                                    <p:animScale>
                                      <p:cBhvr>
                                        <p:cTn id="15" dur="26">
                                          <p:stCondLst>
                                            <p:cond delay="1312"/>
                                          </p:stCondLst>
                                        </p:cTn>
                                        <p:tgtEl>
                                          <p:spTgt spid="2"/>
                                        </p:tgtEl>
                                      </p:cBhvr>
                                      <p:to x="100000" y="80000"/>
                                    </p:animScale>
                                    <p:animScale>
                                      <p:cBhvr>
                                        <p:cTn id="16" dur="166" decel="50000">
                                          <p:stCondLst>
                                            <p:cond delay="1338"/>
                                          </p:stCondLst>
                                        </p:cTn>
                                        <p:tgtEl>
                                          <p:spTgt spid="2"/>
                                        </p:tgtEl>
                                      </p:cBhvr>
                                      <p:to x="100000" y="100000"/>
                                    </p:animScale>
                                    <p:animScale>
                                      <p:cBhvr>
                                        <p:cTn id="17" dur="26">
                                          <p:stCondLst>
                                            <p:cond delay="1642"/>
                                          </p:stCondLst>
                                        </p:cTn>
                                        <p:tgtEl>
                                          <p:spTgt spid="2"/>
                                        </p:tgtEl>
                                      </p:cBhvr>
                                      <p:to x="100000" y="90000"/>
                                    </p:animScale>
                                    <p:animScale>
                                      <p:cBhvr>
                                        <p:cTn id="18" dur="166" decel="50000">
                                          <p:stCondLst>
                                            <p:cond delay="1668"/>
                                          </p:stCondLst>
                                        </p:cTn>
                                        <p:tgtEl>
                                          <p:spTgt spid="2"/>
                                        </p:tgtEl>
                                      </p:cBhvr>
                                      <p:to x="100000" y="100000"/>
                                    </p:animScale>
                                    <p:animScale>
                                      <p:cBhvr>
                                        <p:cTn id="19" dur="26">
                                          <p:stCondLst>
                                            <p:cond delay="1808"/>
                                          </p:stCondLst>
                                        </p:cTn>
                                        <p:tgtEl>
                                          <p:spTgt spid="2"/>
                                        </p:tgtEl>
                                      </p:cBhvr>
                                      <p:to x="100000" y="95000"/>
                                    </p:animScale>
                                    <p:animScale>
                                      <p:cBhvr>
                                        <p:cTn id="20" dur="166" decel="50000">
                                          <p:stCondLst>
                                            <p:cond delay="1834"/>
                                          </p:stCondLst>
                                        </p:cTn>
                                        <p:tgtEl>
                                          <p:spTgt spid="2"/>
                                        </p:tgtEl>
                                      </p:cBhvr>
                                      <p:to x="100000" y="100000"/>
                                    </p:animScale>
                                  </p:childTnLst>
                                </p:cTn>
                              </p:par>
                            </p:childTnLst>
                          </p:cTn>
                        </p:par>
                        <p:par>
                          <p:cTn id="21" fill="hold">
                            <p:stCondLst>
                              <p:cond delay="2000"/>
                            </p:stCondLst>
                            <p:childTnLst>
                              <p:par>
                                <p:cTn id="22" presetID="6" presetClass="entr" presetSubtype="16" fill="hold" nodeType="afterEffect">
                                  <p:stCondLst>
                                    <p:cond delay="0"/>
                                  </p:stCondLst>
                                  <p:childTnLst>
                                    <p:set>
                                      <p:cBhvr>
                                        <p:cTn id="23" dur="1" fill="hold">
                                          <p:stCondLst>
                                            <p:cond delay="0"/>
                                          </p:stCondLst>
                                        </p:cTn>
                                        <p:tgtEl>
                                          <p:spTgt spid="3">
                                            <p:txEl>
                                              <p:pRg st="0" end="0"/>
                                            </p:txEl>
                                          </p:spTgt>
                                        </p:tgtEl>
                                        <p:attrNameLst>
                                          <p:attrName>style.visibility</p:attrName>
                                        </p:attrNameLst>
                                      </p:cBhvr>
                                      <p:to>
                                        <p:strVal val="visible"/>
                                      </p:to>
                                    </p:set>
                                    <p:animEffect transition="in" filter="circle(in)">
                                      <p:cBhvr>
                                        <p:cTn id="24" dur="2000"/>
                                        <p:tgtEl>
                                          <p:spTgt spid="3">
                                            <p:txEl>
                                              <p:pRg st="0" end="0"/>
                                            </p:txEl>
                                          </p:spTgt>
                                        </p:tgtEl>
                                      </p:cBhvr>
                                    </p:animEffect>
                                  </p:childTnLst>
                                </p:cTn>
                              </p:par>
                              <p:par>
                                <p:cTn id="25" presetID="6" presetClass="entr" presetSubtype="16" fill="hold" nodeType="withEffect">
                                  <p:stCondLst>
                                    <p:cond delay="0"/>
                                  </p:stCondLst>
                                  <p:childTnLst>
                                    <p:set>
                                      <p:cBhvr>
                                        <p:cTn id="26" dur="1" fill="hold">
                                          <p:stCondLst>
                                            <p:cond delay="0"/>
                                          </p:stCondLst>
                                        </p:cTn>
                                        <p:tgtEl>
                                          <p:spTgt spid="3">
                                            <p:txEl>
                                              <p:pRg st="1" end="1"/>
                                            </p:txEl>
                                          </p:spTgt>
                                        </p:tgtEl>
                                        <p:attrNameLst>
                                          <p:attrName>style.visibility</p:attrName>
                                        </p:attrNameLst>
                                      </p:cBhvr>
                                      <p:to>
                                        <p:strVal val="visible"/>
                                      </p:to>
                                    </p:set>
                                    <p:animEffect transition="in" filter="circle(in)">
                                      <p:cBhvr>
                                        <p:cTn id="27" dur="2000"/>
                                        <p:tgtEl>
                                          <p:spTgt spid="3">
                                            <p:txEl>
                                              <p:pRg st="1" end="1"/>
                                            </p:txEl>
                                          </p:spTgt>
                                        </p:tgtEl>
                                      </p:cBhvr>
                                    </p:animEffect>
                                  </p:childTnLst>
                                </p:cTn>
                              </p:par>
                              <p:par>
                                <p:cTn id="28" presetID="6" presetClass="entr" presetSubtype="16" fill="hold" nodeType="withEffect">
                                  <p:stCondLst>
                                    <p:cond delay="0"/>
                                  </p:stCondLst>
                                  <p:childTnLst>
                                    <p:set>
                                      <p:cBhvr>
                                        <p:cTn id="29" dur="1" fill="hold">
                                          <p:stCondLst>
                                            <p:cond delay="0"/>
                                          </p:stCondLst>
                                        </p:cTn>
                                        <p:tgtEl>
                                          <p:spTgt spid="3">
                                            <p:txEl>
                                              <p:pRg st="6" end="6"/>
                                            </p:txEl>
                                          </p:spTgt>
                                        </p:tgtEl>
                                        <p:attrNameLst>
                                          <p:attrName>style.visibility</p:attrName>
                                        </p:attrNameLst>
                                      </p:cBhvr>
                                      <p:to>
                                        <p:strVal val="visible"/>
                                      </p:to>
                                    </p:set>
                                    <p:animEffect transition="in" filter="circle(in)">
                                      <p:cBhvr>
                                        <p:cTn id="30" dur="2000"/>
                                        <p:tgtEl>
                                          <p:spTgt spid="3">
                                            <p:txEl>
                                              <p:pRg st="6" end="6"/>
                                            </p:txEl>
                                          </p:spTgt>
                                        </p:tgtEl>
                                      </p:cBhvr>
                                    </p:animEffect>
                                  </p:childTnLst>
                                </p:cTn>
                              </p:par>
                              <p:par>
                                <p:cTn id="31" presetID="6" presetClass="entr" presetSubtype="16" fill="hold" nodeType="withEffect">
                                  <p:stCondLst>
                                    <p:cond delay="0"/>
                                  </p:stCondLst>
                                  <p:childTnLst>
                                    <p:set>
                                      <p:cBhvr>
                                        <p:cTn id="32" dur="1" fill="hold">
                                          <p:stCondLst>
                                            <p:cond delay="0"/>
                                          </p:stCondLst>
                                        </p:cTn>
                                        <p:tgtEl>
                                          <p:spTgt spid="3">
                                            <p:txEl>
                                              <p:pRg st="10" end="10"/>
                                            </p:txEl>
                                          </p:spTgt>
                                        </p:tgtEl>
                                        <p:attrNameLst>
                                          <p:attrName>style.visibility</p:attrName>
                                        </p:attrNameLst>
                                      </p:cBhvr>
                                      <p:to>
                                        <p:strVal val="visible"/>
                                      </p:to>
                                    </p:set>
                                    <p:animEffect transition="in" filter="circle(in)">
                                      <p:cBhvr>
                                        <p:cTn id="33" dur="2000"/>
                                        <p:tgtEl>
                                          <p:spTgt spid="3">
                                            <p:txEl>
                                              <p:pRg st="10" end="10"/>
                                            </p:txEl>
                                          </p:spTgt>
                                        </p:tgtEl>
                                      </p:cBhvr>
                                    </p:animEffect>
                                  </p:childTnLst>
                                </p:cTn>
                              </p:par>
                              <p:par>
                                <p:cTn id="34" presetID="6" presetClass="entr" presetSubtype="16" fill="hold" nodeType="withEffect">
                                  <p:stCondLst>
                                    <p:cond delay="0"/>
                                  </p:stCondLst>
                                  <p:childTnLst>
                                    <p:set>
                                      <p:cBhvr>
                                        <p:cTn id="35" dur="1" fill="hold">
                                          <p:stCondLst>
                                            <p:cond delay="0"/>
                                          </p:stCondLst>
                                        </p:cTn>
                                        <p:tgtEl>
                                          <p:spTgt spid="3">
                                            <p:txEl>
                                              <p:pRg st="11" end="11"/>
                                            </p:txEl>
                                          </p:spTgt>
                                        </p:tgtEl>
                                        <p:attrNameLst>
                                          <p:attrName>style.visibility</p:attrName>
                                        </p:attrNameLst>
                                      </p:cBhvr>
                                      <p:to>
                                        <p:strVal val="visible"/>
                                      </p:to>
                                    </p:set>
                                    <p:animEffect transition="in" filter="circle(in)">
                                      <p:cBhvr>
                                        <p:cTn id="36" dur="2000"/>
                                        <p:tgtEl>
                                          <p:spTgt spid="3">
                                            <p:txEl>
                                              <p:pRg st="11" end="1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Объект 3"/>
          <p:cNvPicPr>
            <a:picLocks noGrp="1" noChangeAspect="1"/>
          </p:cNvPicPr>
          <p:nvPr>
            <p:ph idx="1"/>
          </p:nvPr>
        </p:nvPicPr>
        <p:blipFill>
          <a:blip r:embed="rId2"/>
          <a:stretch>
            <a:fillRect/>
          </a:stretch>
        </p:blipFill>
        <p:spPr>
          <a:xfrm>
            <a:off x="1315489" y="640080"/>
            <a:ext cx="9639023" cy="5029199"/>
          </a:xfrm>
          <a:prstGeom prst="rect">
            <a:avLst/>
          </a:prstGeom>
        </p:spPr>
      </p:pic>
      <p:pic>
        <p:nvPicPr>
          <p:cNvPr id="5" name="Рисунок 4"/>
          <p:cNvPicPr>
            <a:picLocks noChangeAspect="1"/>
          </p:cNvPicPr>
          <p:nvPr/>
        </p:nvPicPr>
        <p:blipFill>
          <a:blip r:embed="rId3"/>
          <a:stretch>
            <a:fillRect/>
          </a:stretch>
        </p:blipFill>
        <p:spPr>
          <a:xfrm>
            <a:off x="2181619" y="5669279"/>
            <a:ext cx="2543530" cy="409632"/>
          </a:xfrm>
          <a:prstGeom prst="rect">
            <a:avLst/>
          </a:prstGeom>
        </p:spPr>
      </p:pic>
    </p:spTree>
    <p:extLst>
      <p:ext uri="{BB962C8B-B14F-4D97-AF65-F5344CB8AC3E}">
        <p14:creationId xmlns:p14="http://schemas.microsoft.com/office/powerpoint/2010/main" val="49604059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nodeType="after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2000"/>
                                        <p:tgtEl>
                                          <p:spTgt spid="4"/>
                                        </p:tgtEl>
                                      </p:cBhvr>
                                    </p:animEffect>
                                    <p:anim calcmode="lin" valueType="num">
                                      <p:cBhvr>
                                        <p:cTn id="8" dur="2000" fill="hold"/>
                                        <p:tgtEl>
                                          <p:spTgt spid="4"/>
                                        </p:tgtEl>
                                        <p:attrNameLst>
                                          <p:attrName>ppt_w</p:attrName>
                                        </p:attrNameLst>
                                      </p:cBhvr>
                                      <p:tavLst>
                                        <p:tav tm="0" fmla="#ppt_w*sin(2.5*pi*$)">
                                          <p:val>
                                            <p:fltVal val="0"/>
                                          </p:val>
                                        </p:tav>
                                        <p:tav tm="100000">
                                          <p:val>
                                            <p:fltVal val="1"/>
                                          </p:val>
                                        </p:tav>
                                      </p:tavLst>
                                    </p:anim>
                                    <p:anim calcmode="lin" valueType="num">
                                      <p:cBhvr>
                                        <p:cTn id="9" dur="2000" fill="hold"/>
                                        <p:tgtEl>
                                          <p:spTgt spid="4"/>
                                        </p:tgtEl>
                                        <p:attrNameLst>
                                          <p:attrName>ppt_h</p:attrName>
                                        </p:attrNameLst>
                                      </p:cBhvr>
                                      <p:tavLst>
                                        <p:tav tm="0">
                                          <p:val>
                                            <p:strVal val="#ppt_h"/>
                                          </p:val>
                                        </p:tav>
                                        <p:tav tm="100000">
                                          <p:val>
                                            <p:strVal val="#ppt_h"/>
                                          </p:val>
                                        </p:tav>
                                      </p:tavLst>
                                    </p:anim>
                                  </p:childTnLst>
                                </p:cTn>
                              </p:par>
                            </p:childTnLst>
                          </p:cTn>
                        </p:par>
                        <p:par>
                          <p:cTn id="10" fill="hold">
                            <p:stCondLst>
                              <p:cond delay="2000"/>
                            </p:stCondLst>
                            <p:childTnLst>
                              <p:par>
                                <p:cTn id="11" presetID="45" presetClass="entr" presetSubtype="0" fill="hold" nodeType="afterEffect">
                                  <p:stCondLst>
                                    <p:cond delay="0"/>
                                  </p:stCondLst>
                                  <p:childTnLst>
                                    <p:set>
                                      <p:cBhvr>
                                        <p:cTn id="12" dur="1" fill="hold">
                                          <p:stCondLst>
                                            <p:cond delay="0"/>
                                          </p:stCondLst>
                                        </p:cTn>
                                        <p:tgtEl>
                                          <p:spTgt spid="5"/>
                                        </p:tgtEl>
                                        <p:attrNameLst>
                                          <p:attrName>style.visibility</p:attrName>
                                        </p:attrNameLst>
                                      </p:cBhvr>
                                      <p:to>
                                        <p:strVal val="visible"/>
                                      </p:to>
                                    </p:set>
                                    <p:animEffect transition="in" filter="fade">
                                      <p:cBhvr>
                                        <p:cTn id="13" dur="2000"/>
                                        <p:tgtEl>
                                          <p:spTgt spid="5"/>
                                        </p:tgtEl>
                                      </p:cBhvr>
                                    </p:animEffect>
                                    <p:anim calcmode="lin" valueType="num">
                                      <p:cBhvr>
                                        <p:cTn id="14" dur="2000" fill="hold"/>
                                        <p:tgtEl>
                                          <p:spTgt spid="5"/>
                                        </p:tgtEl>
                                        <p:attrNameLst>
                                          <p:attrName>ppt_w</p:attrName>
                                        </p:attrNameLst>
                                      </p:cBhvr>
                                      <p:tavLst>
                                        <p:tav tm="0" fmla="#ppt_w*sin(2.5*pi*$)">
                                          <p:val>
                                            <p:fltVal val="0"/>
                                          </p:val>
                                        </p:tav>
                                        <p:tav tm="100000">
                                          <p:val>
                                            <p:fltVal val="1"/>
                                          </p:val>
                                        </p:tav>
                                      </p:tavLst>
                                    </p:anim>
                                    <p:anim calcmode="lin" valueType="num">
                                      <p:cBhvr>
                                        <p:cTn id="15" dur="2000" fill="hold"/>
                                        <p:tgtEl>
                                          <p:spTgt spid="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b="1" dirty="0" smtClean="0"/>
              <a:t>5- </a:t>
            </a:r>
            <a:r>
              <a:rPr lang="en-US" b="1" dirty="0" err="1" smtClean="0"/>
              <a:t>bosqich</a:t>
            </a:r>
            <a:r>
              <a:rPr lang="en-US" b="1" dirty="0" smtClean="0"/>
              <a:t>. </a:t>
            </a:r>
            <a:r>
              <a:rPr lang="en-US" b="1" dirty="0" err="1" smtClean="0"/>
              <a:t>Yakuniy</a:t>
            </a:r>
            <a:r>
              <a:rPr lang="en-US" b="1" dirty="0" smtClean="0"/>
              <a:t> </a:t>
            </a:r>
            <a:r>
              <a:rPr lang="en-US" b="1" dirty="0" err="1" smtClean="0"/>
              <a:t>xesh</a:t>
            </a:r>
            <a:r>
              <a:rPr lang="en-US" b="1" dirty="0" smtClean="0"/>
              <a:t> </a:t>
            </a:r>
            <a:r>
              <a:rPr lang="en-US" b="1" dirty="0" err="1" smtClean="0"/>
              <a:t>qiymatni</a:t>
            </a:r>
            <a:r>
              <a:rPr lang="en-US" b="1" dirty="0" smtClean="0"/>
              <a:t> </a:t>
            </a:r>
            <a:r>
              <a:rPr lang="en-US" b="1" dirty="0" err="1" smtClean="0"/>
              <a:t>hosil</a:t>
            </a:r>
            <a:r>
              <a:rPr lang="en-US" b="1" dirty="0" smtClean="0"/>
              <a:t> </a:t>
            </a:r>
            <a:r>
              <a:rPr lang="en-US" b="1" dirty="0" err="1" smtClean="0"/>
              <a:t>qilish</a:t>
            </a:r>
            <a:r>
              <a:rPr lang="en-US" b="1" dirty="0" smtClean="0"/>
              <a:t>.</a:t>
            </a:r>
            <a:endParaRPr lang="en-US" b="1" dirty="0"/>
          </a:p>
        </p:txBody>
      </p:sp>
      <p:sp>
        <p:nvSpPr>
          <p:cNvPr id="3" name="Объект 2"/>
          <p:cNvSpPr>
            <a:spLocks noGrp="1"/>
          </p:cNvSpPr>
          <p:nvPr>
            <p:ph idx="1"/>
          </p:nvPr>
        </p:nvSpPr>
        <p:spPr/>
        <p:txBody>
          <a:bodyPr/>
          <a:lstStyle/>
          <a:p>
            <a:pPr marL="0" indent="0" algn="just">
              <a:buNone/>
            </a:pPr>
            <a:r>
              <a:rPr lang="en-US" dirty="0" smtClean="0"/>
              <a:t>	</a:t>
            </a:r>
            <a:r>
              <a:rPr lang="en-US" dirty="0" err="1" smtClean="0"/>
              <a:t>Ma’lumotning</a:t>
            </a:r>
            <a:r>
              <a:rPr lang="en-US" dirty="0" smtClean="0"/>
              <a:t> </a:t>
            </a:r>
            <a:r>
              <a:rPr lang="en-US" dirty="0" err="1" smtClean="0"/>
              <a:t>xesh</a:t>
            </a:r>
            <a:r>
              <a:rPr lang="en-US" dirty="0" smtClean="0"/>
              <a:t> </a:t>
            </a:r>
            <a:r>
              <a:rPr lang="en-US" dirty="0" err="1" smtClean="0"/>
              <a:t>qiymati</a:t>
            </a:r>
            <a:r>
              <a:rPr lang="en-US" dirty="0" smtClean="0"/>
              <a:t> 𝐴, 𝐵, 𝐶, 𝐷 </a:t>
            </a:r>
            <a:r>
              <a:rPr lang="en-US" dirty="0" err="1" smtClean="0"/>
              <a:t>va</a:t>
            </a:r>
            <a:r>
              <a:rPr lang="en-US" dirty="0" smtClean="0"/>
              <a:t> 𝐸 </a:t>
            </a:r>
            <a:r>
              <a:rPr lang="en-US" dirty="0" err="1" smtClean="0"/>
              <a:t>registrlardagi</a:t>
            </a:r>
            <a:r>
              <a:rPr lang="en-US" dirty="0" smtClean="0"/>
              <a:t> </a:t>
            </a:r>
            <a:r>
              <a:rPr lang="en-US" dirty="0" err="1" smtClean="0"/>
              <a:t>qiymatlarni</a:t>
            </a:r>
            <a:r>
              <a:rPr lang="en-US" dirty="0" smtClean="0"/>
              <a:t> </a:t>
            </a:r>
            <a:r>
              <a:rPr lang="en-US" dirty="0" err="1" smtClean="0"/>
              <a:t>birlashtirish</a:t>
            </a:r>
            <a:r>
              <a:rPr lang="en-US" dirty="0" smtClean="0"/>
              <a:t> </a:t>
            </a:r>
            <a:r>
              <a:rPr lang="en-US" dirty="0" err="1" smtClean="0"/>
              <a:t>natijasida</a:t>
            </a:r>
            <a:r>
              <a:rPr lang="en-US" dirty="0" smtClean="0"/>
              <a:t> </a:t>
            </a:r>
            <a:r>
              <a:rPr lang="en-US" dirty="0" err="1" smtClean="0"/>
              <a:t>hosil</a:t>
            </a:r>
            <a:r>
              <a:rPr lang="en-US" dirty="0" smtClean="0"/>
              <a:t> </a:t>
            </a:r>
            <a:r>
              <a:rPr lang="en-US" dirty="0" err="1" smtClean="0"/>
              <a:t>qilinadi</a:t>
            </a:r>
            <a:r>
              <a:rPr lang="en-US" dirty="0" smtClean="0"/>
              <a:t>: ℎ = 𝐴 ∥ 𝐵 ∥ 𝐶 ∥ 𝐷 ∥ 𝐸</a:t>
            </a:r>
            <a:endParaRPr lang="en-US" dirty="0"/>
          </a:p>
        </p:txBody>
      </p:sp>
    </p:spTree>
    <p:extLst>
      <p:ext uri="{BB962C8B-B14F-4D97-AF65-F5344CB8AC3E}">
        <p14:creationId xmlns:p14="http://schemas.microsoft.com/office/powerpoint/2010/main" val="3924248941"/>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4" presetClass="entr" presetSubtype="1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randombar(horizontal)">
                                      <p:cBhvr>
                                        <p:cTn id="7" dur="500"/>
                                        <p:tgtEl>
                                          <p:spTgt spid="2"/>
                                        </p:tgtEl>
                                      </p:cBhvr>
                                    </p:animEffect>
                                  </p:childTnLst>
                                </p:cTn>
                              </p:par>
                            </p:childTnLst>
                          </p:cTn>
                        </p:par>
                        <p:par>
                          <p:cTn id="8" fill="hold">
                            <p:stCondLst>
                              <p:cond delay="500"/>
                            </p:stCondLst>
                            <p:childTnLst>
                              <p:par>
                                <p:cTn id="9" presetID="45" presetClass="entr" presetSubtype="0" fill="hold" grpId="0"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Effect transition="in" filter="fade">
                                      <p:cBhvr>
                                        <p:cTn id="11" dur="2000"/>
                                        <p:tgtEl>
                                          <p:spTgt spid="3">
                                            <p:txEl>
                                              <p:pRg st="0" end="0"/>
                                            </p:txEl>
                                          </p:spTgt>
                                        </p:tgtEl>
                                      </p:cBhvr>
                                    </p:animEffect>
                                    <p:anim calcmode="lin" valueType="num">
                                      <p:cBhvr>
                                        <p:cTn id="12" dur="2000" fill="hold"/>
                                        <p:tgtEl>
                                          <p:spTgt spid="3">
                                            <p:txEl>
                                              <p:pRg st="0" end="0"/>
                                            </p:txEl>
                                          </p:spTgt>
                                        </p:tgtEl>
                                        <p:attrNameLst>
                                          <p:attrName>ppt_w</p:attrName>
                                        </p:attrNameLst>
                                      </p:cBhvr>
                                      <p:tavLst>
                                        <p:tav tm="0" fmla="#ppt_w*sin(2.5*pi*$)">
                                          <p:val>
                                            <p:fltVal val="0"/>
                                          </p:val>
                                        </p:tav>
                                        <p:tav tm="100000">
                                          <p:val>
                                            <p:fltVal val="1"/>
                                          </p:val>
                                        </p:tav>
                                      </p:tavLst>
                                    </p:anim>
                                    <p:anim calcmode="lin" valueType="num">
                                      <p:cBhvr>
                                        <p:cTn id="13" dur="2000" fill="hold"/>
                                        <p:tgtEl>
                                          <p:spTgt spid="3">
                                            <p:txEl>
                                              <p:pRg st="0" end="0"/>
                                            </p:txEl>
                                          </p:spTgt>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3" grpId="0" build="p"/>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fontScale="90000"/>
          </a:bodyPr>
          <a:lstStyle/>
          <a:p>
            <a:pPr algn="ctr"/>
            <a:r>
              <a:rPr lang="en-US" b="1" dirty="0" err="1"/>
              <a:t>R</a:t>
            </a:r>
            <a:r>
              <a:rPr lang="en-US" b="1" dirty="0" err="1" smtClean="0"/>
              <a:t>asmda</a:t>
            </a:r>
            <a:r>
              <a:rPr lang="en-US" b="1" dirty="0" smtClean="0"/>
              <a:t> SHA1 </a:t>
            </a:r>
            <a:r>
              <a:rPr lang="en-US" b="1" dirty="0" err="1" smtClean="0"/>
              <a:t>xesh</a:t>
            </a:r>
            <a:r>
              <a:rPr lang="en-US" b="1" dirty="0" smtClean="0"/>
              <a:t> </a:t>
            </a:r>
            <a:r>
              <a:rPr lang="en-US" b="1" dirty="0" err="1" smtClean="0"/>
              <a:t>funksiyasi</a:t>
            </a:r>
            <a:r>
              <a:rPr lang="en-US" b="1" dirty="0" smtClean="0"/>
              <a:t> </a:t>
            </a:r>
            <a:r>
              <a:rPr lang="en-US" b="1" dirty="0" err="1" smtClean="0"/>
              <a:t>algoritmining</a:t>
            </a:r>
            <a:r>
              <a:rPr lang="en-US" b="1" dirty="0" smtClean="0"/>
              <a:t> 𝑖-</a:t>
            </a:r>
            <a:r>
              <a:rPr lang="en-US" b="1" dirty="0" err="1" smtClean="0"/>
              <a:t>raund</a:t>
            </a:r>
            <a:r>
              <a:rPr lang="en-US" b="1" dirty="0" smtClean="0"/>
              <a:t> </a:t>
            </a:r>
            <a:r>
              <a:rPr lang="en-US" b="1" dirty="0" err="1" smtClean="0"/>
              <a:t>ko‘rinishi</a:t>
            </a:r>
            <a:r>
              <a:rPr lang="en-US" b="1" dirty="0" smtClean="0"/>
              <a:t> </a:t>
            </a:r>
            <a:r>
              <a:rPr lang="en-US" b="1" dirty="0" err="1" smtClean="0"/>
              <a:t>keltirilgan</a:t>
            </a:r>
            <a:endParaRPr lang="en-US" b="1" dirty="0"/>
          </a:p>
        </p:txBody>
      </p:sp>
      <p:pic>
        <p:nvPicPr>
          <p:cNvPr id="4" name="Объект 3"/>
          <p:cNvPicPr>
            <a:picLocks noGrp="1" noChangeAspect="1"/>
          </p:cNvPicPr>
          <p:nvPr>
            <p:ph idx="1"/>
          </p:nvPr>
        </p:nvPicPr>
        <p:blipFill>
          <a:blip r:embed="rId2"/>
          <a:stretch>
            <a:fillRect/>
          </a:stretch>
        </p:blipFill>
        <p:spPr>
          <a:xfrm>
            <a:off x="4105275" y="2557463"/>
            <a:ext cx="3981450" cy="3317875"/>
          </a:xfrm>
          <a:prstGeom prst="rect">
            <a:avLst/>
          </a:prstGeom>
        </p:spPr>
      </p:pic>
    </p:spTree>
    <p:extLst>
      <p:ext uri="{BB962C8B-B14F-4D97-AF65-F5344CB8AC3E}">
        <p14:creationId xmlns:p14="http://schemas.microsoft.com/office/powerpoint/2010/main" val="3270505970"/>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after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par>
                          <p:cTn id="7" fill="hold">
                            <p:stCondLst>
                              <p:cond delay="1780"/>
                            </p:stCondLst>
                            <p:childTnLst>
                              <p:par>
                                <p:cTn id="8" presetID="31" presetClass="entr" presetSubtype="0" fill="hold" nodeType="afterEffect">
                                  <p:stCondLst>
                                    <p:cond delay="0"/>
                                  </p:stCondLst>
                                  <p:childTnLst>
                                    <p:set>
                                      <p:cBhvr>
                                        <p:cTn id="9" dur="1" fill="hold">
                                          <p:stCondLst>
                                            <p:cond delay="0"/>
                                          </p:stCondLst>
                                        </p:cTn>
                                        <p:tgtEl>
                                          <p:spTgt spid="4"/>
                                        </p:tgtEl>
                                        <p:attrNameLst>
                                          <p:attrName>style.visibility</p:attrName>
                                        </p:attrNameLst>
                                      </p:cBhvr>
                                      <p:to>
                                        <p:strVal val="visible"/>
                                      </p:to>
                                    </p:set>
                                    <p:anim calcmode="lin" valueType="num">
                                      <p:cBhvr>
                                        <p:cTn id="10" dur="1000" fill="hold"/>
                                        <p:tgtEl>
                                          <p:spTgt spid="4"/>
                                        </p:tgtEl>
                                        <p:attrNameLst>
                                          <p:attrName>ppt_w</p:attrName>
                                        </p:attrNameLst>
                                      </p:cBhvr>
                                      <p:tavLst>
                                        <p:tav tm="0">
                                          <p:val>
                                            <p:fltVal val="0"/>
                                          </p:val>
                                        </p:tav>
                                        <p:tav tm="100000">
                                          <p:val>
                                            <p:strVal val="#ppt_w"/>
                                          </p:val>
                                        </p:tav>
                                      </p:tavLst>
                                    </p:anim>
                                    <p:anim calcmode="lin" valueType="num">
                                      <p:cBhvr>
                                        <p:cTn id="11" dur="1000" fill="hold"/>
                                        <p:tgtEl>
                                          <p:spTgt spid="4"/>
                                        </p:tgtEl>
                                        <p:attrNameLst>
                                          <p:attrName>ppt_h</p:attrName>
                                        </p:attrNameLst>
                                      </p:cBhvr>
                                      <p:tavLst>
                                        <p:tav tm="0">
                                          <p:val>
                                            <p:fltVal val="0"/>
                                          </p:val>
                                        </p:tav>
                                        <p:tav tm="100000">
                                          <p:val>
                                            <p:strVal val="#ppt_h"/>
                                          </p:val>
                                        </p:tav>
                                      </p:tavLst>
                                    </p:anim>
                                    <p:anim calcmode="lin" valueType="num">
                                      <p:cBhvr>
                                        <p:cTn id="12" dur="1000" fill="hold"/>
                                        <p:tgtEl>
                                          <p:spTgt spid="4"/>
                                        </p:tgtEl>
                                        <p:attrNameLst>
                                          <p:attrName>style.rotation</p:attrName>
                                        </p:attrNameLst>
                                      </p:cBhvr>
                                      <p:tavLst>
                                        <p:tav tm="0">
                                          <p:val>
                                            <p:fltVal val="90"/>
                                          </p:val>
                                        </p:tav>
                                        <p:tav tm="100000">
                                          <p:val>
                                            <p:fltVal val="0"/>
                                          </p:val>
                                        </p:tav>
                                      </p:tavLst>
                                    </p:anim>
                                    <p:animEffect transition="in" filter="fade">
                                      <p:cBhvr>
                                        <p:cTn id="13" dur="10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en-US" b="1" dirty="0" err="1" smtClean="0"/>
              <a:t>Foydalanilishi</a:t>
            </a:r>
            <a:endParaRPr lang="en-US" b="1" dirty="0"/>
          </a:p>
        </p:txBody>
      </p:sp>
      <p:sp>
        <p:nvSpPr>
          <p:cNvPr id="3" name="Объект 2"/>
          <p:cNvSpPr>
            <a:spLocks noGrp="1"/>
          </p:cNvSpPr>
          <p:nvPr>
            <p:ph idx="1"/>
          </p:nvPr>
        </p:nvSpPr>
        <p:spPr/>
        <p:txBody>
          <a:bodyPr/>
          <a:lstStyle/>
          <a:p>
            <a:r>
              <a:rPr lang="en-US" dirty="0" smtClean="0"/>
              <a:t>- </a:t>
            </a:r>
            <a:r>
              <a:rPr lang="en-US" dirty="0" err="1" smtClean="0"/>
              <a:t>parollarni</a:t>
            </a:r>
            <a:r>
              <a:rPr lang="en-US" dirty="0" smtClean="0"/>
              <a:t> </a:t>
            </a:r>
            <a:r>
              <a:rPr lang="en-US" dirty="0" err="1" smtClean="0"/>
              <a:t>saqlash</a:t>
            </a:r>
            <a:r>
              <a:rPr lang="en-US" dirty="0" smtClean="0"/>
              <a:t> </a:t>
            </a:r>
            <a:r>
              <a:rPr lang="en-US" dirty="0" err="1" smtClean="0"/>
              <a:t>va</a:t>
            </a:r>
            <a:r>
              <a:rPr lang="en-US" dirty="0" smtClean="0"/>
              <a:t> </a:t>
            </a:r>
            <a:r>
              <a:rPr lang="en-US" dirty="0" err="1" smtClean="0"/>
              <a:t>verifikatsiyasiya</a:t>
            </a:r>
            <a:r>
              <a:rPr lang="en-US" dirty="0" smtClean="0"/>
              <a:t> </a:t>
            </a:r>
            <a:r>
              <a:rPr lang="en-US" dirty="0" err="1" smtClean="0"/>
              <a:t>qilishda</a:t>
            </a:r>
            <a:r>
              <a:rPr lang="en-US" dirty="0" smtClean="0"/>
              <a:t>;</a:t>
            </a:r>
          </a:p>
          <a:p>
            <a:r>
              <a:rPr lang="en-US" dirty="0" smtClean="0"/>
              <a:t>- </a:t>
            </a:r>
            <a:r>
              <a:rPr lang="en-US" dirty="0" err="1" smtClean="0"/>
              <a:t>elektron</a:t>
            </a:r>
            <a:r>
              <a:rPr lang="en-US" dirty="0" smtClean="0"/>
              <a:t> </a:t>
            </a:r>
            <a:r>
              <a:rPr lang="en-US" dirty="0" err="1" smtClean="0"/>
              <a:t>raqamli</a:t>
            </a:r>
            <a:r>
              <a:rPr lang="en-US" dirty="0" smtClean="0"/>
              <a:t> </a:t>
            </a:r>
            <a:r>
              <a:rPr lang="en-US" dirty="0" err="1" smtClean="0"/>
              <a:t>imzoda</a:t>
            </a:r>
            <a:r>
              <a:rPr lang="en-US" dirty="0" smtClean="0"/>
              <a:t>;</a:t>
            </a:r>
          </a:p>
          <a:p>
            <a:r>
              <a:rPr lang="en-US" dirty="0" smtClean="0"/>
              <a:t>- </a:t>
            </a:r>
            <a:r>
              <a:rPr lang="en-US" dirty="0" err="1" smtClean="0"/>
              <a:t>hujjatlarning</a:t>
            </a:r>
            <a:r>
              <a:rPr lang="en-US" dirty="0" smtClean="0"/>
              <a:t> </a:t>
            </a:r>
            <a:r>
              <a:rPr lang="en-US" dirty="0" err="1" smtClean="0"/>
              <a:t>butunligi</a:t>
            </a:r>
            <a:r>
              <a:rPr lang="en-US" dirty="0" smtClean="0"/>
              <a:t> </a:t>
            </a:r>
            <a:r>
              <a:rPr lang="en-US" dirty="0" err="1" smtClean="0"/>
              <a:t>va</a:t>
            </a:r>
            <a:r>
              <a:rPr lang="en-US" dirty="0" smtClean="0"/>
              <a:t> </a:t>
            </a:r>
            <a:r>
              <a:rPr lang="en-US" dirty="0" err="1" smtClean="0"/>
              <a:t>autentifikatsiyasini</a:t>
            </a:r>
            <a:r>
              <a:rPr lang="en-US" dirty="0" smtClean="0"/>
              <a:t> </a:t>
            </a:r>
            <a:r>
              <a:rPr lang="en-US" dirty="0" err="1" smtClean="0"/>
              <a:t>ta’minlashda</a:t>
            </a:r>
            <a:endParaRPr lang="ru-RU" dirty="0"/>
          </a:p>
        </p:txBody>
      </p:sp>
    </p:spTree>
    <p:extLst>
      <p:ext uri="{BB962C8B-B14F-4D97-AF65-F5344CB8AC3E}">
        <p14:creationId xmlns:p14="http://schemas.microsoft.com/office/powerpoint/2010/main" val="729347015"/>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after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normAutofit/>
          </a:bodyPr>
          <a:lstStyle/>
          <a:p>
            <a:pPr algn="ctr"/>
            <a:r>
              <a:rPr lang="en-US" b="1" dirty="0" err="1" smtClean="0"/>
              <a:t>Afzalliklari</a:t>
            </a:r>
            <a:endParaRPr lang="en-US" b="1" dirty="0"/>
          </a:p>
        </p:txBody>
      </p:sp>
      <p:sp>
        <p:nvSpPr>
          <p:cNvPr id="3" name="Объект 2"/>
          <p:cNvSpPr>
            <a:spLocks noGrp="1"/>
          </p:cNvSpPr>
          <p:nvPr>
            <p:ph idx="1"/>
          </p:nvPr>
        </p:nvSpPr>
        <p:spPr/>
        <p:txBody>
          <a:bodyPr/>
          <a:lstStyle/>
          <a:p>
            <a:r>
              <a:rPr lang="en-US" dirty="0" smtClean="0"/>
              <a:t>- </a:t>
            </a:r>
            <a:r>
              <a:rPr lang="en-US" dirty="0" err="1" smtClean="0"/>
              <a:t>tezligi</a:t>
            </a:r>
            <a:r>
              <a:rPr lang="en-US" dirty="0" smtClean="0"/>
              <a:t>;</a:t>
            </a:r>
          </a:p>
          <a:p>
            <a:r>
              <a:rPr lang="en-US" dirty="0" smtClean="0"/>
              <a:t>- </a:t>
            </a:r>
            <a:r>
              <a:rPr lang="en-US" dirty="0" err="1" smtClean="0"/>
              <a:t>bir</a:t>
            </a:r>
            <a:r>
              <a:rPr lang="en-US" dirty="0" smtClean="0"/>
              <a:t> </a:t>
            </a:r>
            <a:r>
              <a:rPr lang="en-US" dirty="0" err="1" smtClean="0"/>
              <a:t>tomonlama</a:t>
            </a:r>
            <a:r>
              <a:rPr lang="en-US" dirty="0" smtClean="0"/>
              <a:t> </a:t>
            </a:r>
            <a:r>
              <a:rPr lang="en-US" dirty="0" err="1" smtClean="0"/>
              <a:t>funksiyaligi</a:t>
            </a:r>
            <a:r>
              <a:rPr lang="en-US" dirty="0" smtClean="0"/>
              <a:t>;</a:t>
            </a:r>
          </a:p>
          <a:p>
            <a:r>
              <a:rPr lang="en-US" dirty="0" smtClean="0"/>
              <a:t>- </a:t>
            </a:r>
            <a:r>
              <a:rPr lang="en-US" dirty="0" err="1" smtClean="0"/>
              <a:t>kolliziyalarga</a:t>
            </a:r>
            <a:r>
              <a:rPr lang="en-US" dirty="0" smtClean="0"/>
              <a:t> </a:t>
            </a:r>
            <a:r>
              <a:rPr lang="en-US" dirty="0" err="1" smtClean="0"/>
              <a:t>bardoshliligi</a:t>
            </a:r>
            <a:r>
              <a:rPr lang="en-US" dirty="0" smtClean="0"/>
              <a:t> (2017-yilgacha)</a:t>
            </a:r>
            <a:endParaRPr lang="ru-RU" dirty="0"/>
          </a:p>
        </p:txBody>
      </p:sp>
    </p:spTree>
    <p:extLst>
      <p:ext uri="{BB962C8B-B14F-4D97-AF65-F5344CB8AC3E}">
        <p14:creationId xmlns:p14="http://schemas.microsoft.com/office/powerpoint/2010/main" val="1035602294"/>
      </p:ext>
    </p:extLst>
  </p:cSld>
  <p:clrMapOvr>
    <a:masterClrMapping/>
  </p:clrMapOvr>
  <mc:AlternateContent xmlns:mc="http://schemas.openxmlformats.org/markup-compatibility/2006">
    <mc:Choice xmlns:p15="http://schemas.microsoft.com/office/powerpoint/2012/main" Requires="p15">
      <p:transition xmlns:p14="http://schemas.microsoft.com/office/powerpoint/2010/main" spd="slow" p14:dur="1250">
        <p15:prstTrans prst="pageCurlDouble"/>
      </p:transition>
    </mc:Choice>
    <mc:Fallback>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8" presetClass="emph" presetSubtype="0" fill="hold" grpId="0" nodeType="afterEffect">
                                  <p:stCondLst>
                                    <p:cond delay="0"/>
                                  </p:stCondLst>
                                  <p:iterate type="lt">
                                    <p:tmPct val="4000"/>
                                  </p:iterate>
                                  <p:childTnLst>
                                    <p:set>
                                      <p:cBhvr override="childStyle">
                                        <p:cTn id="6" dur="500" fill="hold"/>
                                        <p:tgtEl>
                                          <p:spTgt spid="2"/>
                                        </p:tgtEl>
                                        <p:attrNameLst>
                                          <p:attrName>style.textDecorationUnderline</p:attrName>
                                        </p:attrNameLst>
                                      </p:cBhvr>
                                      <p:to>
                                        <p:strVal val="tru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p:txBody>
          <a:bodyPr/>
          <a:lstStyle/>
          <a:p>
            <a:r>
              <a:rPr lang="en-US" b="1" dirty="0" err="1" smtClean="0"/>
              <a:t>Kamchiligi</a:t>
            </a:r>
            <a:endParaRPr lang="en-US" b="1" dirty="0"/>
          </a:p>
        </p:txBody>
      </p:sp>
      <p:sp>
        <p:nvSpPr>
          <p:cNvPr id="3" name="Объект 2"/>
          <p:cNvSpPr>
            <a:spLocks noGrp="1"/>
          </p:cNvSpPr>
          <p:nvPr>
            <p:ph idx="1"/>
          </p:nvPr>
        </p:nvSpPr>
        <p:spPr/>
        <p:txBody>
          <a:bodyPr/>
          <a:lstStyle/>
          <a:p>
            <a:pPr marL="0" indent="0" algn="just">
              <a:buNone/>
            </a:pPr>
            <a:r>
              <a:rPr lang="en-US" dirty="0" smtClean="0"/>
              <a:t>	MD5 </a:t>
            </a:r>
            <a:r>
              <a:rPr lang="en-US" dirty="0" err="1" smtClean="0"/>
              <a:t>algoritmi</a:t>
            </a:r>
            <a:r>
              <a:rPr lang="en-US" dirty="0" smtClean="0"/>
              <a:t> </a:t>
            </a:r>
            <a:r>
              <a:rPr lang="en-US" dirty="0" err="1" smtClean="0"/>
              <a:t>kabi</a:t>
            </a:r>
            <a:r>
              <a:rPr lang="en-US" dirty="0" smtClean="0"/>
              <a:t>, SHA1 </a:t>
            </a:r>
            <a:r>
              <a:rPr lang="en-US" dirty="0" err="1" smtClean="0"/>
              <a:t>algoritmi</a:t>
            </a:r>
            <a:r>
              <a:rPr lang="en-US" dirty="0" smtClean="0"/>
              <a:t> </a:t>
            </a:r>
            <a:r>
              <a:rPr lang="en-US" dirty="0" err="1" smtClean="0"/>
              <a:t>uchun</a:t>
            </a:r>
            <a:r>
              <a:rPr lang="en-US" dirty="0" smtClean="0"/>
              <a:t> ham </a:t>
            </a:r>
            <a:r>
              <a:rPr lang="en-US" dirty="0" err="1" smtClean="0"/>
              <a:t>kolliziya</a:t>
            </a:r>
            <a:r>
              <a:rPr lang="en-US" dirty="0" smtClean="0"/>
              <a:t> </a:t>
            </a:r>
            <a:r>
              <a:rPr lang="en-US" dirty="0" err="1" smtClean="0"/>
              <a:t>holati</a:t>
            </a:r>
            <a:r>
              <a:rPr lang="en-US" dirty="0" smtClean="0"/>
              <a:t> </a:t>
            </a:r>
            <a:r>
              <a:rPr lang="en-US" dirty="0" err="1" smtClean="0"/>
              <a:t>aniqlangan</a:t>
            </a:r>
            <a:r>
              <a:rPr lang="en-US" dirty="0" smtClean="0"/>
              <a:t>. 2017 </a:t>
            </a:r>
            <a:r>
              <a:rPr lang="en-US" dirty="0" err="1" smtClean="0"/>
              <a:t>yilda</a:t>
            </a:r>
            <a:r>
              <a:rPr lang="en-US" dirty="0" smtClean="0"/>
              <a:t> Google </a:t>
            </a:r>
            <a:r>
              <a:rPr lang="en-US" dirty="0" err="1" smtClean="0"/>
              <a:t>tashkiloti</a:t>
            </a:r>
            <a:r>
              <a:rPr lang="en-US" dirty="0" smtClean="0"/>
              <a:t> </a:t>
            </a:r>
            <a:r>
              <a:rPr lang="en-US" dirty="0" err="1" smtClean="0"/>
              <a:t>va</a:t>
            </a:r>
            <a:r>
              <a:rPr lang="en-US" dirty="0" smtClean="0"/>
              <a:t> CWI (Centrum </a:t>
            </a:r>
            <a:r>
              <a:rPr lang="en-US" dirty="0" err="1" smtClean="0"/>
              <a:t>Wiskunde</a:t>
            </a:r>
            <a:r>
              <a:rPr lang="en-US" dirty="0" smtClean="0"/>
              <a:t> &amp; </a:t>
            </a:r>
            <a:r>
              <a:rPr lang="en-US" dirty="0" err="1" smtClean="0"/>
              <a:t>Informatica</a:t>
            </a:r>
            <a:r>
              <a:rPr lang="en-US" dirty="0" smtClean="0"/>
              <a:t>) </a:t>
            </a:r>
            <a:r>
              <a:rPr lang="en-US" dirty="0" err="1" smtClean="0"/>
              <a:t>markazi</a:t>
            </a:r>
            <a:r>
              <a:rPr lang="en-US" dirty="0" smtClean="0"/>
              <a:t> </a:t>
            </a:r>
            <a:r>
              <a:rPr lang="en-US" dirty="0" err="1" smtClean="0"/>
              <a:t>mutaxassislari</a:t>
            </a:r>
            <a:r>
              <a:rPr lang="en-US" dirty="0" smtClean="0"/>
              <a:t> </a:t>
            </a:r>
            <a:r>
              <a:rPr lang="en-US" dirty="0" err="1" smtClean="0"/>
              <a:t>tomonidan</a:t>
            </a:r>
            <a:r>
              <a:rPr lang="en-US" dirty="0" smtClean="0"/>
              <a:t> </a:t>
            </a:r>
            <a:r>
              <a:rPr lang="en-US" dirty="0" err="1" smtClean="0"/>
              <a:t>bir</a:t>
            </a:r>
            <a:r>
              <a:rPr lang="en-US" dirty="0" smtClean="0"/>
              <a:t> </a:t>
            </a:r>
            <a:r>
              <a:rPr lang="en-US" dirty="0" err="1" smtClean="0"/>
              <a:t>xil</a:t>
            </a:r>
            <a:r>
              <a:rPr lang="en-US" dirty="0" smtClean="0"/>
              <a:t> </a:t>
            </a:r>
            <a:r>
              <a:rPr lang="en-US" dirty="0" err="1" smtClean="0"/>
              <a:t>xesh</a:t>
            </a:r>
            <a:r>
              <a:rPr lang="en-US" dirty="0" smtClean="0"/>
              <a:t> </a:t>
            </a:r>
            <a:r>
              <a:rPr lang="en-US" dirty="0" err="1" smtClean="0"/>
              <a:t>qiymatni</a:t>
            </a:r>
            <a:r>
              <a:rPr lang="en-US" dirty="0" smtClean="0"/>
              <a:t> </a:t>
            </a:r>
            <a:r>
              <a:rPr lang="en-US" dirty="0" err="1" smtClean="0"/>
              <a:t>beruvchi</a:t>
            </a:r>
            <a:r>
              <a:rPr lang="en-US" dirty="0" smtClean="0"/>
              <a:t> </a:t>
            </a:r>
            <a:r>
              <a:rPr lang="en-US" dirty="0" err="1" smtClean="0"/>
              <a:t>ikkita</a:t>
            </a:r>
            <a:r>
              <a:rPr lang="en-US" dirty="0" smtClean="0"/>
              <a:t> </a:t>
            </a:r>
            <a:r>
              <a:rPr lang="en-US" dirty="0" err="1" smtClean="0"/>
              <a:t>turli</a:t>
            </a:r>
            <a:r>
              <a:rPr lang="en-US" dirty="0" smtClean="0"/>
              <a:t> PDF </a:t>
            </a:r>
            <a:r>
              <a:rPr lang="en-US" dirty="0" err="1" smtClean="0"/>
              <a:t>formatidagi</a:t>
            </a:r>
            <a:r>
              <a:rPr lang="en-US" dirty="0" smtClean="0"/>
              <a:t> </a:t>
            </a:r>
            <a:r>
              <a:rPr lang="en-US" dirty="0" err="1" smtClean="0"/>
              <a:t>fayllar</a:t>
            </a:r>
            <a:r>
              <a:rPr lang="en-US" dirty="0" smtClean="0"/>
              <a:t> </a:t>
            </a:r>
            <a:r>
              <a:rPr lang="en-US" dirty="0" err="1" smtClean="0"/>
              <a:t>generatsiya</a:t>
            </a:r>
            <a:r>
              <a:rPr lang="en-US" dirty="0" smtClean="0"/>
              <a:t> </a:t>
            </a:r>
            <a:r>
              <a:rPr lang="en-US" dirty="0" err="1" smtClean="0"/>
              <a:t>qilingan</a:t>
            </a:r>
            <a:r>
              <a:rPr lang="en-US" dirty="0" smtClean="0"/>
              <a:t>. Shu </a:t>
            </a:r>
            <a:r>
              <a:rPr lang="en-US" dirty="0" err="1" smtClean="0"/>
              <a:t>sababli</a:t>
            </a:r>
            <a:r>
              <a:rPr lang="en-US" dirty="0" smtClean="0"/>
              <a:t>, </a:t>
            </a:r>
            <a:r>
              <a:rPr lang="en-US" dirty="0" err="1" smtClean="0"/>
              <a:t>yuqori</a:t>
            </a:r>
            <a:r>
              <a:rPr lang="en-US" dirty="0" smtClean="0"/>
              <a:t> </a:t>
            </a:r>
            <a:r>
              <a:rPr lang="en-US" dirty="0" err="1" smtClean="0"/>
              <a:t>darajadagi</a:t>
            </a:r>
            <a:r>
              <a:rPr lang="en-US" dirty="0" smtClean="0"/>
              <a:t> </a:t>
            </a:r>
            <a:r>
              <a:rPr lang="en-US" dirty="0" err="1" smtClean="0"/>
              <a:t>xavfsizlik</a:t>
            </a:r>
            <a:r>
              <a:rPr lang="en-US" dirty="0" smtClean="0"/>
              <a:t> </a:t>
            </a:r>
            <a:r>
              <a:rPr lang="en-US" dirty="0" err="1" smtClean="0"/>
              <a:t>talab</a:t>
            </a:r>
            <a:r>
              <a:rPr lang="en-US" dirty="0" smtClean="0"/>
              <a:t> </a:t>
            </a:r>
            <a:r>
              <a:rPr lang="en-US" dirty="0" err="1" smtClean="0"/>
              <a:t>etilgan</a:t>
            </a:r>
            <a:r>
              <a:rPr lang="en-US" dirty="0" smtClean="0"/>
              <a:t> </a:t>
            </a:r>
            <a:r>
              <a:rPr lang="en-US" dirty="0" err="1" smtClean="0"/>
              <a:t>tizimlarda</a:t>
            </a:r>
            <a:r>
              <a:rPr lang="en-US" dirty="0" smtClean="0"/>
              <a:t> </a:t>
            </a:r>
            <a:r>
              <a:rPr lang="en-US" dirty="0" err="1" smtClean="0"/>
              <a:t>ushbu</a:t>
            </a:r>
            <a:r>
              <a:rPr lang="en-US" dirty="0" smtClean="0"/>
              <a:t> </a:t>
            </a:r>
            <a:r>
              <a:rPr lang="en-US" dirty="0" err="1" smtClean="0"/>
              <a:t>algoritmdan</a:t>
            </a:r>
            <a:r>
              <a:rPr lang="en-US" dirty="0" smtClean="0"/>
              <a:t> </a:t>
            </a:r>
            <a:r>
              <a:rPr lang="en-US" dirty="0" err="1" smtClean="0"/>
              <a:t>foydalanish</a:t>
            </a:r>
            <a:r>
              <a:rPr lang="en-US" dirty="0" smtClean="0"/>
              <a:t> </a:t>
            </a:r>
            <a:r>
              <a:rPr lang="en-US" dirty="0" err="1" smtClean="0"/>
              <a:t>tavsiya</a:t>
            </a:r>
            <a:r>
              <a:rPr lang="en-US" dirty="0" smtClean="0"/>
              <a:t> </a:t>
            </a:r>
            <a:r>
              <a:rPr lang="en-US" dirty="0" err="1" smtClean="0"/>
              <a:t>etilmaydi</a:t>
            </a:r>
            <a:r>
              <a:rPr lang="en-US" dirty="0" smtClean="0"/>
              <a:t>.</a:t>
            </a:r>
            <a:endParaRPr lang="en-US" dirty="0"/>
          </a:p>
        </p:txBody>
      </p:sp>
    </p:spTree>
    <p:extLst>
      <p:ext uri="{BB962C8B-B14F-4D97-AF65-F5344CB8AC3E}">
        <p14:creationId xmlns:p14="http://schemas.microsoft.com/office/powerpoint/2010/main" val="3411023005"/>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1250">
        <p15:prstTrans prst="pageCurlDoubl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21" presetClass="entr" presetSubtype="1"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heel(1)">
                                      <p:cBhvr>
                                        <p:cTn id="7" dur="2000"/>
                                        <p:tgtEl>
                                          <p:spTgt spid="2"/>
                                        </p:tgtEl>
                                      </p:cBhvr>
                                    </p:animEffect>
                                  </p:childTnLst>
                                </p:cTn>
                              </p:par>
                            </p:childTnLst>
                          </p:cTn>
                        </p:par>
                        <p:par>
                          <p:cTn id="8" fill="hold">
                            <p:stCondLst>
                              <p:cond delay="2000"/>
                            </p:stCondLst>
                            <p:childTnLst>
                              <p:par>
                                <p:cTn id="9" presetID="53" presetClass="entr" presetSubtype="16" fill="hold" nodeType="afterEffect">
                                  <p:stCondLst>
                                    <p:cond delay="0"/>
                                  </p:stCondLst>
                                  <p:childTnLst>
                                    <p:set>
                                      <p:cBhvr>
                                        <p:cTn id="10" dur="1" fill="hold">
                                          <p:stCondLst>
                                            <p:cond delay="0"/>
                                          </p:stCondLst>
                                        </p:cTn>
                                        <p:tgtEl>
                                          <p:spTgt spid="3">
                                            <p:txEl>
                                              <p:pRg st="0" end="0"/>
                                            </p:txEl>
                                          </p:spTgt>
                                        </p:tgtEl>
                                        <p:attrNameLst>
                                          <p:attrName>style.visibility</p:attrName>
                                        </p:attrNameLst>
                                      </p:cBhvr>
                                      <p:to>
                                        <p:strVal val="visible"/>
                                      </p:to>
                                    </p:set>
                                    <p:anim calcmode="lin" valueType="num">
                                      <p:cBhvr>
                                        <p:cTn id="11" dur="500" fill="hold"/>
                                        <p:tgtEl>
                                          <p:spTgt spid="3">
                                            <p:txEl>
                                              <p:pRg st="0" end="0"/>
                                            </p:txEl>
                                          </p:spTgt>
                                        </p:tgtEl>
                                        <p:attrNameLst>
                                          <p:attrName>ppt_w</p:attrName>
                                        </p:attrNameLst>
                                      </p:cBhvr>
                                      <p:tavLst>
                                        <p:tav tm="0">
                                          <p:val>
                                            <p:fltVal val="0"/>
                                          </p:val>
                                        </p:tav>
                                        <p:tav tm="100000">
                                          <p:val>
                                            <p:strVal val="#ppt_w"/>
                                          </p:val>
                                        </p:tav>
                                      </p:tavLst>
                                    </p:anim>
                                    <p:anim calcmode="lin" valueType="num">
                                      <p:cBhvr>
                                        <p:cTn id="12" dur="500" fill="hold"/>
                                        <p:tgtEl>
                                          <p:spTgt spid="3">
                                            <p:txEl>
                                              <p:pRg st="0" end="0"/>
                                            </p:txEl>
                                          </p:spTgt>
                                        </p:tgtEl>
                                        <p:attrNameLst>
                                          <p:attrName>ppt_h</p:attrName>
                                        </p:attrNameLst>
                                      </p:cBhvr>
                                      <p:tavLst>
                                        <p:tav tm="0">
                                          <p:val>
                                            <p:fltVal val="0"/>
                                          </p:val>
                                        </p:tav>
                                        <p:tav tm="100000">
                                          <p:val>
                                            <p:strVal val="#ppt_h"/>
                                          </p:val>
                                        </p:tav>
                                      </p:tavLst>
                                    </p:anim>
                                    <p:animEffect transition="in" filter="fade">
                                      <p:cBhvr>
                                        <p:cTn id="13" dur="500"/>
                                        <p:tgtEl>
                                          <p:spTgt spid="3">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1249220" y="2607732"/>
            <a:ext cx="9601196" cy="1303867"/>
          </a:xfrm>
        </p:spPr>
        <p:txBody>
          <a:bodyPr/>
          <a:lstStyle/>
          <a:p>
            <a:r>
              <a:rPr lang="en-US" b="1" dirty="0" err="1" smtClean="0"/>
              <a:t>Etiboringiz</a:t>
            </a:r>
            <a:r>
              <a:rPr lang="en-US" b="1" dirty="0" smtClean="0"/>
              <a:t> </a:t>
            </a:r>
            <a:r>
              <a:rPr lang="en-US" b="1" dirty="0" err="1" smtClean="0"/>
              <a:t>uchun</a:t>
            </a:r>
            <a:r>
              <a:rPr lang="en-US" b="1" dirty="0" smtClean="0"/>
              <a:t> </a:t>
            </a:r>
            <a:r>
              <a:rPr lang="en-US" b="1" dirty="0" err="1" smtClean="0"/>
              <a:t>rahmat</a:t>
            </a:r>
            <a:r>
              <a:rPr lang="en-US" b="1" dirty="0" smtClean="0"/>
              <a:t>!</a:t>
            </a:r>
            <a:endParaRPr lang="en-US" b="1" dirty="0"/>
          </a:p>
        </p:txBody>
      </p:sp>
    </p:spTree>
    <p:extLst>
      <p:ext uri="{BB962C8B-B14F-4D97-AF65-F5344CB8AC3E}">
        <p14:creationId xmlns:p14="http://schemas.microsoft.com/office/powerpoint/2010/main" val="2917245346"/>
      </p:ext>
    </p:extLst>
  </p:cSld>
  <p:clrMapOvr>
    <a:masterClrMapping/>
  </p:clrMapOvr>
  <mc:AlternateContent xmlns:mc="http://schemas.openxmlformats.org/markup-compatibility/2006" xmlns:p15="http://schemas.microsoft.com/office/powerpoint/2012/main">
    <mc:Choice Requires="p15">
      <p:transition xmlns:p14="http://schemas.microsoft.com/office/powerpoint/2010/main" spd="slow" p14:dur="2000">
        <p15:prstTrans prst="fracture"/>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45" presetClass="entr" presetSubtype="0" fill="hold" grpId="0" nodeType="after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fade">
                                      <p:cBhvr>
                                        <p:cTn id="7" dur="2000"/>
                                        <p:tgtEl>
                                          <p:spTgt spid="2"/>
                                        </p:tgtEl>
                                      </p:cBhvr>
                                    </p:animEffect>
                                    <p:anim calcmode="lin" valueType="num">
                                      <p:cBhvr>
                                        <p:cTn id="8" dur="2000" fill="hold"/>
                                        <p:tgtEl>
                                          <p:spTgt spid="2"/>
                                        </p:tgtEl>
                                        <p:attrNameLst>
                                          <p:attrName>ppt_w</p:attrName>
                                        </p:attrNameLst>
                                      </p:cBhvr>
                                      <p:tavLst>
                                        <p:tav tm="0" fmla="#ppt_w*sin(2.5*pi*$)">
                                          <p:val>
                                            <p:fltVal val="0"/>
                                          </p:val>
                                        </p:tav>
                                        <p:tav tm="100000">
                                          <p:val>
                                            <p:fltVal val="1"/>
                                          </p:val>
                                        </p:tav>
                                      </p:tavLst>
                                    </p:anim>
                                    <p:anim calcmode="lin" valueType="num">
                                      <p:cBhvr>
                                        <p:cTn id="9" dur="2000" fill="hold"/>
                                        <p:tgtEl>
                                          <p:spTgt spid="2"/>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theme/_rels/them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image" Target="../media/image1.jpeg"/></Relationships>
</file>

<file path=ppt/theme/theme1.xml><?xml version="1.0" encoding="utf-8"?>
<a:theme xmlns:a="http://schemas.openxmlformats.org/drawingml/2006/main" name="Натуральные материалы">
  <a:themeElements>
    <a:clrScheme name="Натуральные материалы">
      <a:dk1>
        <a:sysClr val="windowText" lastClr="000000"/>
      </a:dk1>
      <a:lt1>
        <a:sysClr val="window" lastClr="FFFFFF"/>
      </a:lt1>
      <a:dk2>
        <a:srgbClr val="212121"/>
      </a:dk2>
      <a:lt2>
        <a:srgbClr val="DADADA"/>
      </a:lt2>
      <a:accent1>
        <a:srgbClr val="83992A"/>
      </a:accent1>
      <a:accent2>
        <a:srgbClr val="3C9770"/>
      </a:accent2>
      <a:accent3>
        <a:srgbClr val="44709D"/>
      </a:accent3>
      <a:accent4>
        <a:srgbClr val="A23C33"/>
      </a:accent4>
      <a:accent5>
        <a:srgbClr val="D97828"/>
      </a:accent5>
      <a:accent6>
        <a:srgbClr val="DEB340"/>
      </a:accent6>
      <a:hlink>
        <a:srgbClr val="A8BF4D"/>
      </a:hlink>
      <a:folHlink>
        <a:srgbClr val="B4CA80"/>
      </a:folHlink>
    </a:clrScheme>
    <a:fontScheme name="Натуральные материалы">
      <a:majorFont>
        <a:latin typeface="Garamond" panose="02020404030301010803"/>
        <a:ea typeface=""/>
        <a:cs typeface=""/>
        <a:font script="Jpan" typeface="ＭＳ Ｐゴシック"/>
        <a:font script="Hang" typeface="돋움"/>
        <a:font script="Hans" typeface="方正舒体"/>
        <a:font script="Hant" typeface="微軟正黑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Garamond" panose="02020404030301010803"/>
        <a:ea typeface=""/>
        <a:cs typeface=""/>
        <a:font script="Jpan" typeface="ＭＳ Ｐ明朝"/>
        <a:font script="Hang" typeface="바탕"/>
        <a:font script="Hans" typeface="方正舒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inorFont>
    </a:fontScheme>
    <a:fmtScheme name="Натуральные материалы">
      <a:fillStyleLst>
        <a:solidFill>
          <a:schemeClr val="phClr"/>
        </a:solidFill>
        <a:gradFill rotWithShape="1">
          <a:gsLst>
            <a:gs pos="0">
              <a:schemeClr val="phClr">
                <a:tint val="60000"/>
                <a:lumMod val="110000"/>
              </a:schemeClr>
            </a:gs>
            <a:gs pos="100000">
              <a:schemeClr val="phClr">
                <a:tint val="82000"/>
              </a:schemeClr>
            </a:gs>
          </a:gsLst>
          <a:lin ang="5400000" scaled="0"/>
        </a:gradFill>
        <a:blipFill>
          <a:blip xmlns:r="http://schemas.openxmlformats.org/officeDocument/2006/relationships" r:embed="rId1">
            <a:duotone>
              <a:schemeClr val="phClr">
                <a:shade val="74000"/>
                <a:satMod val="130000"/>
                <a:lumMod val="90000"/>
              </a:schemeClr>
              <a:schemeClr val="phClr">
                <a:tint val="94000"/>
                <a:satMod val="120000"/>
                <a:lumMod val="104000"/>
              </a:schemeClr>
            </a:duotone>
          </a:blip>
          <a:tile tx="0" ty="0" sx="100000" sy="100000" flip="none" algn="tl"/>
        </a:blipFill>
      </a:fillStyleLst>
      <a:lnStyleLst>
        <a:ln w="9525" cap="flat" cmpd="sng" algn="ctr">
          <a:solidFill>
            <a:schemeClr val="phClr"/>
          </a:solidFill>
          <a:prstDash val="solid"/>
        </a:ln>
        <a:ln w="15875"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innerShdw blurRad="25400" dist="12700" dir="13500000">
              <a:srgbClr val="000000">
                <a:alpha val="45000"/>
              </a:srgbClr>
            </a:innerShdw>
          </a:effectLst>
        </a:effectStyle>
        <a:effectStyle>
          <a:effectLst>
            <a:outerShdw blurRad="38100" dist="25400" dir="5400000" rotWithShape="0">
              <a:srgbClr val="000000">
                <a:alpha val="60000"/>
              </a:srgbClr>
            </a:outerShdw>
          </a:effectLst>
        </a:effectStyle>
      </a:effectStyleLst>
      <a:bgFillStyleLst>
        <a:solidFill>
          <a:schemeClr val="phClr"/>
        </a:solidFill>
        <a:gradFill rotWithShape="1">
          <a:gsLst>
            <a:gs pos="0">
              <a:schemeClr val="phClr">
                <a:tint val="90000"/>
                <a:lumMod val="110000"/>
              </a:schemeClr>
            </a:gs>
            <a:gs pos="100000">
              <a:schemeClr val="phClr">
                <a:shade val="88000"/>
                <a:lumMod val="98000"/>
              </a:schemeClr>
            </a:gs>
          </a:gsLst>
          <a:lin ang="5400000" scaled="0"/>
        </a:gradFill>
        <a:blipFill>
          <a:blip xmlns:r="http://schemas.openxmlformats.org/officeDocument/2006/relationships" r:embed="rId2"/>
          <a:stretch/>
        </a:blipFill>
      </a:bgFillStyleLst>
    </a:fmtScheme>
  </a:themeElements>
  <a:objectDefaults/>
  <a:extraClrSchemeLst/>
  <a:extLst>
    <a:ext uri="{05A4C25C-085E-4340-85A3-A5531E510DB2}">
      <thm15:themeFamily xmlns:thm15="http://schemas.microsoft.com/office/thememl/2012/main" name="Organic" id="{28CDC826-8792-45C0-861B-85EB3ADEDA33}" vid="{7DAC20F1-423D-49E2-BD0B-50532748BAD0}"/>
    </a:ext>
  </a:extLst>
</a:theme>
</file>

<file path=docProps/app.xml><?xml version="1.0" encoding="utf-8"?>
<Properties xmlns="http://schemas.openxmlformats.org/officeDocument/2006/extended-properties" xmlns:vt="http://schemas.openxmlformats.org/officeDocument/2006/docPropsVTypes">
  <Template>Organic</Template>
  <TotalTime>72</TotalTime>
  <Words>100</Words>
  <Application>Microsoft Office PowerPoint</Application>
  <PresentationFormat>Широкоэкранный</PresentationFormat>
  <Paragraphs>50</Paragraphs>
  <Slides>13</Slides>
  <Notes>0</Notes>
  <HiddenSlides>0</HiddenSlides>
  <MMClips>0</MMClips>
  <ScaleCrop>false</ScaleCrop>
  <HeadingPairs>
    <vt:vector size="6" baseType="variant">
      <vt:variant>
        <vt:lpstr>Использованные шрифты</vt:lpstr>
      </vt:variant>
      <vt:variant>
        <vt:i4>2</vt:i4>
      </vt:variant>
      <vt:variant>
        <vt:lpstr>Тема</vt:lpstr>
      </vt:variant>
      <vt:variant>
        <vt:i4>1</vt:i4>
      </vt:variant>
      <vt:variant>
        <vt:lpstr>Заголовки слайдов</vt:lpstr>
      </vt:variant>
      <vt:variant>
        <vt:i4>13</vt:i4>
      </vt:variant>
    </vt:vector>
  </HeadingPairs>
  <TitlesOfParts>
    <vt:vector size="16" baseType="lpstr">
      <vt:lpstr>Arial</vt:lpstr>
      <vt:lpstr>Garamond</vt:lpstr>
      <vt:lpstr>Натуральные материалы</vt:lpstr>
      <vt:lpstr>SHA1 xesh funksiyasi</vt:lpstr>
      <vt:lpstr>Xesh qiymatni hisoblash jarayoni quyidagi bosqichlardan iborat:</vt:lpstr>
      <vt:lpstr>Презентация PowerPoint</vt:lpstr>
      <vt:lpstr>2-bosqich. Ma’lumotning uzunligini qo‘shish.</vt:lpstr>
      <vt:lpstr>3- bosqich. Xesh qiymat uchun bufer initsializatsiya qilish.</vt:lpstr>
      <vt:lpstr>4- bosqich. Ma’lumotni 512 bitli bloklarga ajratib qayta ishlash</vt:lpstr>
      <vt:lpstr>Презентация PowerPoint</vt:lpstr>
      <vt:lpstr>5- bosqich. Yakuniy xesh qiymatni hosil qilish.</vt:lpstr>
      <vt:lpstr>Rasmda SHA1 xesh funksiyasi algoritmining 𝑖-raund ko‘rinishi keltirilgan</vt:lpstr>
      <vt:lpstr>Foydalanilishi</vt:lpstr>
      <vt:lpstr>Afzalliklari</vt:lpstr>
      <vt:lpstr>Kamchiligi</vt:lpstr>
      <vt:lpstr>Etiboringiz uchun rahmat!</vt:lpstr>
    </vt:vector>
  </TitlesOfParts>
  <Company>SPecialiST RePack</Company>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SHA1 xesh funksiyasi</dc:title>
  <dc:creator>SSA</dc:creator>
  <cp:lastModifiedBy>SSA</cp:lastModifiedBy>
  <cp:revision>10</cp:revision>
  <dcterms:created xsi:type="dcterms:W3CDTF">2023-12-10T09:58:10Z</dcterms:created>
  <dcterms:modified xsi:type="dcterms:W3CDTF">2023-12-11T05:51:31Z</dcterms:modified>
</cp:coreProperties>
</file>