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CDA2B-AB17-4FE9-AB15-D8523C736CA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38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5378F-49EA-4CB1-82E5-263F870D51F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99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159D11-57C4-42EF-B3C1-DA4803AB5A3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58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B65265-855A-4F00-ABCA-2093228E6CB7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01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2599C-8AB9-4D71-AC98-9D10C217982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BC382-A40C-46E0-8F33-CEB1C9C4277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33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D3803A-09B1-4637-B508-02365B19140A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38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603A06-E415-4098-B545-8ABBD355B72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05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z-Cyrl-UZ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C6ABC-DB97-4D30-BBBB-CED2551EDBF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74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0B8BB-A486-475D-9E71-A5FF587F874F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05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B0435-E9DE-4BD3-A1B0-9B95BB74D27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716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3F95B78-3228-4CF9-890E-1D11E316CD5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151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z-Cyrl-UZ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53C087F-80EC-4259-BDD8-DD238F87D01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27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E3FB18A-4B98-49EF-BDD2-192247999239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uz-Cyrl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uz-Cyrl-UZ" sz="4000"/>
              <a:t>Маъноли матнларнинг энтропиялари қийматларини ҳисоблаш</a:t>
            </a:r>
            <a:endParaRPr lang="ru-RU"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96875" y="765175"/>
            <a:ext cx="8496300" cy="576263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</a:rPr>
              <a:t>Матннинг частотавий  хусусиятлари, ҳамда Мослик индекси ва Казиски </a:t>
            </a:r>
          </a:p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</a:rPr>
              <a:t>усулидан фойдаланилган ҳолда  калит узунлиги  ҳисоблаш.</a:t>
            </a:r>
            <a:endParaRPr lang="ru-RU" sz="20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95288" y="1557338"/>
            <a:ext cx="8424862" cy="792162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</a:rPr>
              <a:t>Блоклар ҳосил қилиниб, ҳар бир блокдаги символнинг учраш частотаси </a:t>
            </a:r>
          </a:p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</a:rPr>
              <a:t>ҳисоблаш, ҳосил қилинган ҳар бир блокдаги символларни частоталари орқали </a:t>
            </a:r>
          </a:p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</a:rPr>
              <a:t>калит элементлари тўпламини ҳосил қилиш ва дешифрлашда фойдаланиш</a:t>
            </a:r>
            <a:endParaRPr lang="ru-RU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132138" y="115888"/>
            <a:ext cx="2736850" cy="504825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Шифрматн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828675" y="2492375"/>
            <a:ext cx="7272338" cy="719138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Криптограммаларни дешифрлаш натижасида олинган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 мумкин бўлган очиқ матн (МБОМ)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5508625" y="3429000"/>
            <a:ext cx="3384550" cy="6477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МБОМнинг энтропиясини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ҳисоблаш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3492500" y="4292600"/>
            <a:ext cx="3024188" cy="1368425"/>
          </a:xfrm>
          <a:prstGeom prst="flowChartDecision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Энтропияларни 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таққослаш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6156325" y="5300663"/>
            <a:ext cx="2303463" cy="1008062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Мумкин бўлган 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очиқ матнни 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эълон қилиш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611188" y="3429000"/>
            <a:ext cx="4681537" cy="649288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Тегишли  соҳаларга оид матнларнинг час-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тотавий хусусиятлари  базасини қуриш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323850" y="4941888"/>
            <a:ext cx="2447925" cy="17272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50000">
                <a:srgbClr val="CCECFF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8000" rIns="18000" bIns="18000" anchor="ctr"/>
          <a:lstStyle/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Кейинги калит билан </a:t>
            </a:r>
          </a:p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дешифрлашни </a:t>
            </a:r>
          </a:p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давом эттириш, </a:t>
            </a:r>
          </a:p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калит тамом бўлганда </a:t>
            </a:r>
          </a:p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ишни тўхтатиш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2987675" y="4581525"/>
            <a:ext cx="504825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йўқ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6732588" y="4581525"/>
            <a:ext cx="43180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ҳа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7235825" y="4941888"/>
            <a:ext cx="0" cy="3587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3059113" y="4941888"/>
            <a:ext cx="0" cy="7588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 flipH="1">
            <a:off x="2843213" y="6021388"/>
            <a:ext cx="33131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>
            <a:off x="2843213" y="4221163"/>
            <a:ext cx="1296987" cy="431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3" name="Line 17"/>
          <p:cNvSpPr>
            <a:spLocks noChangeShapeType="1"/>
          </p:cNvSpPr>
          <p:nvPr/>
        </p:nvSpPr>
        <p:spPr bwMode="auto">
          <a:xfrm flipH="1">
            <a:off x="5867400" y="4076700"/>
            <a:ext cx="1296988" cy="5762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4" name="Line 18"/>
          <p:cNvSpPr>
            <a:spLocks noChangeShapeType="1"/>
          </p:cNvSpPr>
          <p:nvPr/>
        </p:nvSpPr>
        <p:spPr bwMode="auto">
          <a:xfrm flipV="1">
            <a:off x="6516688" y="4941888"/>
            <a:ext cx="7191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5" name="Line 19"/>
          <p:cNvSpPr>
            <a:spLocks noChangeShapeType="1"/>
          </p:cNvSpPr>
          <p:nvPr/>
        </p:nvSpPr>
        <p:spPr bwMode="auto">
          <a:xfrm flipH="1">
            <a:off x="107950" y="5876925"/>
            <a:ext cx="2508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6" name="Line 20"/>
          <p:cNvSpPr>
            <a:spLocks noChangeShapeType="1"/>
          </p:cNvSpPr>
          <p:nvPr/>
        </p:nvSpPr>
        <p:spPr bwMode="auto">
          <a:xfrm flipV="1">
            <a:off x="107950" y="1989138"/>
            <a:ext cx="0" cy="38877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7" name="Line 21"/>
          <p:cNvSpPr>
            <a:spLocks noChangeShapeType="1"/>
          </p:cNvSpPr>
          <p:nvPr/>
        </p:nvSpPr>
        <p:spPr bwMode="auto">
          <a:xfrm>
            <a:off x="107950" y="1989138"/>
            <a:ext cx="28733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8" name="Line 22"/>
          <p:cNvSpPr>
            <a:spLocks noChangeShapeType="1"/>
          </p:cNvSpPr>
          <p:nvPr/>
        </p:nvSpPr>
        <p:spPr bwMode="auto">
          <a:xfrm flipH="1">
            <a:off x="2843213" y="4076700"/>
            <a:ext cx="0" cy="1444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>
            <a:off x="3059113" y="4941888"/>
            <a:ext cx="4333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20" name="Line 24"/>
          <p:cNvSpPr>
            <a:spLocks noChangeShapeType="1"/>
          </p:cNvSpPr>
          <p:nvPr/>
        </p:nvSpPr>
        <p:spPr bwMode="auto">
          <a:xfrm>
            <a:off x="7164388" y="321310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21" name="Line 25"/>
          <p:cNvSpPr>
            <a:spLocks noChangeShapeType="1"/>
          </p:cNvSpPr>
          <p:nvPr/>
        </p:nvSpPr>
        <p:spPr bwMode="auto">
          <a:xfrm>
            <a:off x="4572000" y="692150"/>
            <a:ext cx="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22" name="Line 26"/>
          <p:cNvSpPr>
            <a:spLocks noChangeShapeType="1"/>
          </p:cNvSpPr>
          <p:nvPr/>
        </p:nvSpPr>
        <p:spPr bwMode="auto">
          <a:xfrm>
            <a:off x="4500563" y="620713"/>
            <a:ext cx="0" cy="142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23" name="Line 27"/>
          <p:cNvSpPr>
            <a:spLocks noChangeShapeType="1"/>
          </p:cNvSpPr>
          <p:nvPr/>
        </p:nvSpPr>
        <p:spPr bwMode="auto">
          <a:xfrm>
            <a:off x="4500563" y="1341438"/>
            <a:ext cx="0" cy="21431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24" name="Line 28"/>
          <p:cNvSpPr>
            <a:spLocks noChangeShapeType="1"/>
          </p:cNvSpPr>
          <p:nvPr/>
        </p:nvSpPr>
        <p:spPr bwMode="auto">
          <a:xfrm>
            <a:off x="4500563" y="227647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25" name="Line 29"/>
          <p:cNvSpPr>
            <a:spLocks noChangeShapeType="1"/>
          </p:cNvSpPr>
          <p:nvPr/>
        </p:nvSpPr>
        <p:spPr bwMode="auto">
          <a:xfrm flipH="1">
            <a:off x="2770188" y="5661025"/>
            <a:ext cx="2889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/>
          <p:cNvSpPr>
            <a:spLocks noChangeArrowheads="1"/>
          </p:cNvSpPr>
          <p:nvPr/>
        </p:nvSpPr>
        <p:spPr bwMode="auto">
          <a:xfrm>
            <a:off x="1116013" y="260350"/>
            <a:ext cx="6985000" cy="503238"/>
          </a:xfrm>
          <a:prstGeom prst="flowChartProcess">
            <a:avLst/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Мумкин бўлган очиқ матнлар киритилади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(матн)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5076825" y="1484313"/>
            <a:ext cx="3527425" cy="1081087"/>
          </a:xfrm>
          <a:prstGeom prst="flowChartProcess">
            <a:avLst/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М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атн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нинг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1, 2, 3, ..., </a:t>
            </a:r>
          </a:p>
          <a:p>
            <a:pPr algn="ctr"/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к-граммалари 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шартли 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эҳтимолликлари ҳисобланади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6148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752600" y="3736975"/>
          <a:ext cx="14478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Формула" r:id="rId3" imgW="1447560" imgH="228600" progId="Equation.3">
                  <p:embed/>
                </p:oleObj>
              </mc:Choice>
              <mc:Fallback>
                <p:oleObj name="Формула" r:id="rId3" imgW="14475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36975"/>
                        <a:ext cx="14478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9" name="Group 5"/>
          <p:cNvGrpSpPr>
            <a:grpSpLocks/>
          </p:cNvGrpSpPr>
          <p:nvPr/>
        </p:nvGrpSpPr>
        <p:grpSpPr bwMode="auto">
          <a:xfrm>
            <a:off x="323850" y="1484313"/>
            <a:ext cx="3455988" cy="1439862"/>
            <a:chOff x="204" y="935"/>
            <a:chExt cx="2177" cy="907"/>
          </a:xfrm>
        </p:grpSpPr>
        <p:sp>
          <p:nvSpPr>
            <p:cNvPr id="6150" name="AutoShape 6"/>
            <p:cNvSpPr>
              <a:spLocks noChangeArrowheads="1"/>
            </p:cNvSpPr>
            <p:nvPr/>
          </p:nvSpPr>
          <p:spPr bwMode="auto">
            <a:xfrm>
              <a:off x="204" y="935"/>
              <a:ext cx="2177" cy="907"/>
            </a:xfrm>
            <a:prstGeom prst="flowChartProcess">
              <a:avLst/>
            </a:prstGeom>
            <a:solidFill>
              <a:schemeClr val="accent1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sz="2000">
                  <a:solidFill>
                    <a:srgbClr val="000000"/>
                  </a:solidFill>
                  <a:latin typeface="Times New Roman" pitchFamily="18" charset="0"/>
                </a:rPr>
                <a:t>М</a:t>
              </a:r>
              <a:r>
                <a:rPr lang="uz-Cyrl-UZ" sz="2000">
                  <a:solidFill>
                    <a:srgbClr val="000000"/>
                  </a:solidFill>
                  <a:latin typeface="Times New Roman" pitchFamily="18" charset="0"/>
                </a:rPr>
                <a:t>атн к-граммаларга ажрати-</a:t>
              </a:r>
            </a:p>
            <a:p>
              <a:pPr algn="ctr"/>
              <a:r>
                <a:rPr lang="uz-Cyrl-UZ" sz="2000">
                  <a:solidFill>
                    <a:srgbClr val="000000"/>
                  </a:solidFill>
                  <a:latin typeface="Times New Roman" pitchFamily="18" charset="0"/>
                </a:rPr>
                <a:t>либ, ҳар бир к-грамманинг </a:t>
              </a:r>
            </a:p>
            <a:p>
              <a:pPr algn="ctr"/>
              <a:r>
                <a:rPr lang="uz-Cyrl-UZ" sz="2000">
                  <a:solidFill>
                    <a:srgbClr val="000000"/>
                  </a:solidFill>
                  <a:latin typeface="Times New Roman" pitchFamily="18" charset="0"/>
                </a:rPr>
                <a:t>1 ва 2 граммалар</a:t>
              </a:r>
              <a:r>
                <a:rPr lang="ru-RU" sz="2000">
                  <a:solidFill>
                    <a:srgbClr val="000000"/>
                  </a:solidFill>
                  <a:latin typeface="Times New Roman" pitchFamily="18" charset="0"/>
                </a:rPr>
                <a:t>и </a:t>
              </a:r>
              <a:r>
                <a:rPr lang="uz-Cyrl-UZ" sz="2000">
                  <a:solidFill>
                    <a:srgbClr val="000000"/>
                  </a:solidFill>
                  <a:latin typeface="Times New Roman" pitchFamily="18" charset="0"/>
                </a:rPr>
                <a:t>учун </a:t>
              </a:r>
            </a:p>
            <a:p>
              <a:pPr algn="ctr"/>
              <a:r>
                <a:rPr lang="uz-Cyrl-UZ" sz="2000">
                  <a:solidFill>
                    <a:srgbClr val="000000"/>
                  </a:solidFill>
                  <a:latin typeface="Times New Roman" pitchFamily="18" charset="0"/>
                </a:rPr>
                <a:t>эҳтимолликлари ҳисобланади</a:t>
              </a:r>
              <a:endParaRPr lang="ru-RU" sz="20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6151" name="Object 7"/>
            <p:cNvGraphicFramePr>
              <a:graphicFrameLocks noChangeAspect="1"/>
            </p:cNvGraphicFramePr>
            <p:nvPr/>
          </p:nvGraphicFramePr>
          <p:xfrm>
            <a:off x="2169" y="1353"/>
            <a:ext cx="2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4" name="Формула" r:id="rId5" imgW="177480" imgH="228600" progId="Equation.3">
                    <p:embed/>
                  </p:oleObj>
                </mc:Choice>
                <mc:Fallback>
                  <p:oleObj name="Формула" r:id="rId5" imgW="17748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9" y="1353"/>
                          <a:ext cx="2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4787900" y="2924175"/>
            <a:ext cx="3816350" cy="2089150"/>
          </a:xfrm>
          <a:prstGeom prst="flowChartProcess">
            <a:avLst/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Ҳ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ар бир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1, 2, 3, …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, к-граммалар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учун 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1, 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2, 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3, ..., 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к 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–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энтропиялар ҳисобланиб, 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уларнинг ўрта қиймати     </a:t>
            </a:r>
          </a:p>
          <a:p>
            <a:pPr algn="ctr"/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1+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2+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3+ ...+</a:t>
            </a:r>
            <a:r>
              <a:rPr lang="uz-Cyrl-UZ" sz="2000" i="1">
                <a:solidFill>
                  <a:srgbClr val="000000"/>
                </a:solidFill>
                <a:latin typeface="Times New Roman" pitchFamily="18" charset="0"/>
              </a:rPr>
              <a:t>Н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к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)/к</a:t>
            </a:r>
          </a:p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ҳисобланади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325438" y="3284538"/>
            <a:ext cx="3814762" cy="1728787"/>
          </a:xfrm>
          <a:prstGeom prst="flowChartProcess">
            <a:avLst/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Ҳ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ар 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бир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sz="20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 к-грамма учун </a:t>
            </a:r>
            <a:endParaRPr lang="en-US" sz="200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,c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,…,ck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) = </a:t>
            </a:r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1) ∏  </a:t>
            </a:r>
            <a:r>
              <a:rPr lang="en-US" sz="20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(ci/ci-1)</a:t>
            </a:r>
            <a:endParaRPr lang="uz-Cyrl-UZ" sz="200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ҳисобланиб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,</a:t>
            </a:r>
          </a:p>
          <a:p>
            <a:endParaRPr lang="uz-Cyrl-UZ" sz="200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энтропияси ҳисобланади.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6154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35150" y="3933825"/>
          <a:ext cx="21621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Формула" r:id="rId7" imgW="1358640" imgH="431640" progId="Equation.3">
                  <p:embed/>
                </p:oleObj>
              </mc:Choice>
              <mc:Fallback>
                <p:oleObj name="Формула" r:id="rId7" imgW="135864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933825"/>
                        <a:ext cx="21621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AutoShape 11"/>
          <p:cNvSpPr>
            <a:spLocks noChangeArrowheads="1"/>
          </p:cNvSpPr>
          <p:nvPr/>
        </p:nvSpPr>
        <p:spPr bwMode="auto">
          <a:xfrm>
            <a:off x="1331913" y="5734050"/>
            <a:ext cx="6408737" cy="8636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МБОМ ва база матн энтропиялари айирмаси ҳисобланади </a:t>
            </a:r>
            <a:endParaRPr lang="en-US" sz="2000">
              <a:solidFill>
                <a:srgbClr val="000000"/>
              </a:solidFill>
              <a:latin typeface="Times New Roman" pitchFamily="18" charset="0"/>
            </a:endParaRPr>
          </a:p>
          <a:p>
            <a:pPr algn="ctr"/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farq=H(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МБОМ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)-H(</a:t>
            </a:r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база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2051050" y="981075"/>
            <a:ext cx="0" cy="5032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57" name="AutoShape 13"/>
          <p:cNvSpPr>
            <a:spLocks noChangeArrowheads="1"/>
          </p:cNvSpPr>
          <p:nvPr/>
        </p:nvSpPr>
        <p:spPr bwMode="auto">
          <a:xfrm>
            <a:off x="323850" y="908050"/>
            <a:ext cx="1079500" cy="360363"/>
          </a:xfrm>
          <a:prstGeom prst="flowChartProcess">
            <a:avLst/>
          </a:prstGeom>
          <a:solidFill>
            <a:srgbClr val="FFFF00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1-усул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58" name="AutoShape 14"/>
          <p:cNvSpPr>
            <a:spLocks noChangeArrowheads="1"/>
          </p:cNvSpPr>
          <p:nvPr/>
        </p:nvSpPr>
        <p:spPr bwMode="auto">
          <a:xfrm>
            <a:off x="7453313" y="908050"/>
            <a:ext cx="1079500" cy="360363"/>
          </a:xfrm>
          <a:prstGeom prst="flowChartProcess">
            <a:avLst/>
          </a:prstGeom>
          <a:solidFill>
            <a:srgbClr val="FFFF00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solidFill>
                  <a:srgbClr val="000000"/>
                </a:solidFill>
                <a:latin typeface="Times New Roman" pitchFamily="18" charset="0"/>
              </a:rPr>
              <a:t>2-усул</a:t>
            </a:r>
            <a:endParaRPr lang="ru-RU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>
            <a:off x="4427538" y="765175"/>
            <a:ext cx="0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0" name="Line 16"/>
          <p:cNvSpPr>
            <a:spLocks noChangeShapeType="1"/>
          </p:cNvSpPr>
          <p:nvPr/>
        </p:nvSpPr>
        <p:spPr bwMode="auto">
          <a:xfrm>
            <a:off x="2051050" y="981075"/>
            <a:ext cx="47529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1" name="Line 17"/>
          <p:cNvSpPr>
            <a:spLocks noChangeShapeType="1"/>
          </p:cNvSpPr>
          <p:nvPr/>
        </p:nvSpPr>
        <p:spPr bwMode="auto">
          <a:xfrm>
            <a:off x="6804025" y="981075"/>
            <a:ext cx="0" cy="5032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2" name="Line 18"/>
          <p:cNvSpPr>
            <a:spLocks noChangeShapeType="1"/>
          </p:cNvSpPr>
          <p:nvPr/>
        </p:nvSpPr>
        <p:spPr bwMode="auto">
          <a:xfrm>
            <a:off x="1979613" y="2924175"/>
            <a:ext cx="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3" name="Line 19"/>
          <p:cNvSpPr>
            <a:spLocks noChangeShapeType="1"/>
          </p:cNvSpPr>
          <p:nvPr/>
        </p:nvSpPr>
        <p:spPr bwMode="auto">
          <a:xfrm>
            <a:off x="4529138" y="5373688"/>
            <a:ext cx="0" cy="3603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4" name="Line 20"/>
          <p:cNvSpPr>
            <a:spLocks noChangeShapeType="1"/>
          </p:cNvSpPr>
          <p:nvPr/>
        </p:nvSpPr>
        <p:spPr bwMode="auto">
          <a:xfrm>
            <a:off x="6804025" y="2565400"/>
            <a:ext cx="0" cy="35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5" name="Line 21"/>
          <p:cNvSpPr>
            <a:spLocks noChangeShapeType="1"/>
          </p:cNvSpPr>
          <p:nvPr/>
        </p:nvSpPr>
        <p:spPr bwMode="auto">
          <a:xfrm>
            <a:off x="2051050" y="5373688"/>
            <a:ext cx="47529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6" name="Line 22"/>
          <p:cNvSpPr>
            <a:spLocks noChangeShapeType="1"/>
          </p:cNvSpPr>
          <p:nvPr/>
        </p:nvSpPr>
        <p:spPr bwMode="auto">
          <a:xfrm flipV="1">
            <a:off x="2051050" y="5013325"/>
            <a:ext cx="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6167" name="Line 23"/>
          <p:cNvSpPr>
            <a:spLocks noChangeShapeType="1"/>
          </p:cNvSpPr>
          <p:nvPr/>
        </p:nvSpPr>
        <p:spPr bwMode="auto">
          <a:xfrm>
            <a:off x="6804025" y="5013325"/>
            <a:ext cx="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50913" y="-26988"/>
            <a:ext cx="8229600" cy="1143001"/>
          </a:xfrm>
        </p:spPr>
        <p:txBody>
          <a:bodyPr/>
          <a:lstStyle/>
          <a:p>
            <a:r>
              <a:rPr lang="uz-Cyrl-UZ" sz="3600"/>
              <a:t>1-усул </a:t>
            </a:r>
            <a:r>
              <a:rPr lang="uz-Cyrl-UZ" sz="2400"/>
              <a:t>(математик модел)</a:t>
            </a:r>
            <a:endParaRPr lang="ru-RU" sz="2400"/>
          </a:p>
        </p:txBody>
      </p:sp>
      <p:sp>
        <p:nvSpPr>
          <p:cNvPr id="10243" name="AutoShape 3"/>
          <p:cNvSpPr>
            <a:spLocks noChangeArrowheads="1"/>
          </p:cNvSpPr>
          <p:nvPr/>
        </p:nvSpPr>
        <p:spPr bwMode="auto">
          <a:xfrm>
            <a:off x="755650" y="1628775"/>
            <a:ext cx="5903913" cy="503238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latin typeface="Times New Roman" pitchFamily="18" charset="0"/>
              </a:rPr>
              <a:t>Мумкин бўлган очиқ матнлар киритилади</a:t>
            </a: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755650" y="2349500"/>
            <a:ext cx="5903913" cy="503238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latin typeface="Times New Roman" pitchFamily="18" charset="0"/>
              </a:rPr>
              <a:t>Мумкин </a:t>
            </a:r>
            <a:r>
              <a:rPr lang="uz-Cyrl-UZ" sz="2000">
                <a:latin typeface="Times New Roman" pitchFamily="18" charset="0"/>
              </a:rPr>
              <a:t>бўлган очиқ матн к-граммаларга ажратилади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755650" y="3068638"/>
            <a:ext cx="5903913" cy="719137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latin typeface="Times New Roman" pitchFamily="18" charset="0"/>
              </a:rPr>
              <a:t>Ҳар бир к-грамма учун 1 ва 2 граммалар</a:t>
            </a:r>
            <a:r>
              <a:rPr lang="ru-RU" sz="2000">
                <a:latin typeface="Times New Roman" pitchFamily="18" charset="0"/>
              </a:rPr>
              <a:t>и </a:t>
            </a:r>
            <a:r>
              <a:rPr lang="uz-Cyrl-UZ" sz="2000">
                <a:latin typeface="Times New Roman" pitchFamily="18" charset="0"/>
              </a:rPr>
              <a:t> </a:t>
            </a:r>
          </a:p>
          <a:p>
            <a:pPr algn="ctr"/>
            <a:r>
              <a:rPr lang="ru-RU" sz="2000">
                <a:latin typeface="Times New Roman" pitchFamily="18" charset="0"/>
              </a:rPr>
              <a:t>тузиб олинади</a:t>
            </a:r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>
            <a:off x="6877050" y="1628775"/>
            <a:ext cx="2016125" cy="208756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  <a:p>
            <a:r>
              <a:rPr lang="ru-RU" sz="1600">
                <a:latin typeface="Times New Roman" pitchFamily="18" charset="0"/>
              </a:rPr>
              <a:t>Танлаб </a:t>
            </a:r>
            <a:r>
              <a:rPr lang="uz-Cyrl-UZ" sz="1600">
                <a:latin typeface="Times New Roman" pitchFamily="18" charset="0"/>
              </a:rPr>
              <a:t>олинган</a:t>
            </a:r>
          </a:p>
          <a:p>
            <a:r>
              <a:rPr lang="uz-Cyrl-UZ" sz="1600">
                <a:latin typeface="Times New Roman" pitchFamily="18" charset="0"/>
              </a:rPr>
              <a:t> база очиқ Матн</a:t>
            </a:r>
          </a:p>
          <a:p>
            <a:r>
              <a:rPr lang="uz-Cyrl-UZ" sz="1600">
                <a:latin typeface="Times New Roman" pitchFamily="18" charset="0"/>
              </a:rPr>
              <a:t> к-граммалари,</a:t>
            </a:r>
          </a:p>
          <a:p>
            <a:r>
              <a:rPr lang="uz-Cyrl-UZ" sz="1600">
                <a:latin typeface="Times New Roman" pitchFamily="18" charset="0"/>
              </a:rPr>
              <a:t> уларга мос  частота </a:t>
            </a:r>
          </a:p>
          <a:p>
            <a:r>
              <a:rPr lang="ru-RU" sz="1600">
                <a:latin typeface="Times New Roman" pitchFamily="18" charset="0"/>
              </a:rPr>
              <a:t>ва эҳтимолликлар</a:t>
            </a:r>
          </a:p>
        </p:txBody>
      </p:sp>
      <p:sp>
        <p:nvSpPr>
          <p:cNvPr id="10247" name="AutoShape 7"/>
          <p:cNvSpPr>
            <a:spLocks noChangeArrowheads="1"/>
          </p:cNvSpPr>
          <p:nvPr/>
        </p:nvSpPr>
        <p:spPr bwMode="auto">
          <a:xfrm>
            <a:off x="715963" y="4005263"/>
            <a:ext cx="5976937" cy="2016125"/>
          </a:xfrm>
          <a:prstGeom prst="flowChartDecision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ru-RU" sz="2000">
                <a:latin typeface="Times New Roman" pitchFamily="18" charset="0"/>
              </a:rPr>
              <a:t>Мумкин бўлган</a:t>
            </a:r>
          </a:p>
          <a:p>
            <a:pPr algn="ctr"/>
            <a:r>
              <a:rPr lang="ru-RU" sz="2000">
                <a:latin typeface="Times New Roman" pitchFamily="18" charset="0"/>
              </a:rPr>
              <a:t> очиқ матннинг</a:t>
            </a:r>
            <a:r>
              <a:rPr lang="uz-Cyrl-UZ" sz="2000">
                <a:latin typeface="Times New Roman" pitchFamily="18" charset="0"/>
              </a:rPr>
              <a:t> 1 ва 2</a:t>
            </a:r>
            <a:r>
              <a:rPr lang="ru-RU" sz="2000">
                <a:latin typeface="Times New Roman" pitchFamily="18" charset="0"/>
              </a:rPr>
              <a:t>-граммалари</a:t>
            </a:r>
            <a:endParaRPr lang="uz-Cyrl-UZ" sz="2000">
              <a:latin typeface="Times New Roman" pitchFamily="18" charset="0"/>
            </a:endParaRPr>
          </a:p>
          <a:p>
            <a:pPr algn="ctr"/>
            <a:r>
              <a:rPr lang="uz-Cyrl-UZ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б</a:t>
            </a:r>
            <a:r>
              <a:rPr lang="uz-Cyrl-UZ" sz="2000">
                <a:latin typeface="Times New Roman" pitchFamily="18" charset="0"/>
              </a:rPr>
              <a:t>аза матн 1 ва 2-</a:t>
            </a:r>
            <a:r>
              <a:rPr lang="ru-RU" sz="2000">
                <a:latin typeface="Times New Roman" pitchFamily="18" charset="0"/>
              </a:rPr>
              <a:t>г</a:t>
            </a:r>
            <a:r>
              <a:rPr lang="uz-Cyrl-UZ" sz="2000">
                <a:latin typeface="Times New Roman" pitchFamily="18" charset="0"/>
              </a:rPr>
              <a:t>рамма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>
                <a:latin typeface="Times New Roman" pitchFamily="18" charset="0"/>
              </a:rPr>
              <a:t>и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билан солиштирил</a:t>
            </a:r>
            <a:r>
              <a:rPr lang="ru-RU" sz="2000">
                <a:latin typeface="Times New Roman" pitchFamily="18" charset="0"/>
              </a:rPr>
              <a:t>ади</a:t>
            </a:r>
            <a:r>
              <a:rPr lang="uz-Cyrl-UZ" sz="2000">
                <a:latin typeface="Times New Roman" pitchFamily="18" charset="0"/>
              </a:rPr>
              <a:t>.</a:t>
            </a:r>
            <a:endParaRPr lang="ru-RU" sz="2000">
              <a:latin typeface="Times New Roman" pitchFamily="18" charset="0"/>
            </a:endParaRPr>
          </a:p>
        </p:txBody>
      </p:sp>
      <p:cxnSp>
        <p:nvCxnSpPr>
          <p:cNvPr id="10248" name="AutoShape 8"/>
          <p:cNvCxnSpPr>
            <a:cxnSpLocks noChangeShapeType="1"/>
            <a:stCxn id="10247" idx="1"/>
          </p:cNvCxnSpPr>
          <p:nvPr/>
        </p:nvCxnSpPr>
        <p:spPr bwMode="auto">
          <a:xfrm rot="10800000" flipV="1">
            <a:off x="539750" y="5013325"/>
            <a:ext cx="176213" cy="1511300"/>
          </a:xfrm>
          <a:prstGeom prst="bentConnector2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49" name="AutoShape 9"/>
          <p:cNvCxnSpPr>
            <a:cxnSpLocks noChangeShapeType="1"/>
            <a:stCxn id="10246" idx="3"/>
            <a:endCxn id="10247" idx="3"/>
          </p:cNvCxnSpPr>
          <p:nvPr/>
        </p:nvCxnSpPr>
        <p:spPr bwMode="auto">
          <a:xfrm rot="5400000">
            <a:off x="6640513" y="3768725"/>
            <a:ext cx="1296987" cy="1192213"/>
          </a:xfrm>
          <a:prstGeom prst="bentConnector2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7512050" y="3867150"/>
            <a:ext cx="0" cy="2663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 flipH="1">
            <a:off x="3708400" y="3860800"/>
            <a:ext cx="3816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pSp>
        <p:nvGrpSpPr>
          <p:cNvPr id="10252" name="Группа 18"/>
          <p:cNvGrpSpPr>
            <a:grpSpLocks/>
          </p:cNvGrpSpPr>
          <p:nvPr/>
        </p:nvGrpSpPr>
        <p:grpSpPr bwMode="auto">
          <a:xfrm>
            <a:off x="107950" y="354013"/>
            <a:ext cx="7232650" cy="1130300"/>
            <a:chOff x="268288" y="369888"/>
            <a:chExt cx="7232650" cy="1130300"/>
          </a:xfrm>
        </p:grpSpPr>
        <p:pic>
          <p:nvPicPr>
            <p:cNvPr id="10253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563" y="1000125"/>
              <a:ext cx="6429375" cy="12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4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963" y="1114425"/>
              <a:ext cx="5276850" cy="1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5" name="Picture 18" descr="C:\Program Files\Microsoft Office\MEDIA\CAGCAT10\j020558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8" y="369888"/>
              <a:ext cx="1231900" cy="113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256" name="AutoShape 16"/>
          <p:cNvCxnSpPr>
            <a:cxnSpLocks noChangeShapeType="1"/>
            <a:stCxn id="10245" idx="2"/>
            <a:endCxn id="10247" idx="0"/>
          </p:cNvCxnSpPr>
          <p:nvPr/>
        </p:nvCxnSpPr>
        <p:spPr bwMode="auto">
          <a:xfrm flipH="1">
            <a:off x="3705225" y="3787775"/>
            <a:ext cx="3175" cy="217488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57" name="AutoShape 17"/>
          <p:cNvCxnSpPr>
            <a:cxnSpLocks noChangeShapeType="1"/>
            <a:stCxn id="10244" idx="2"/>
            <a:endCxn id="10245" idx="0"/>
          </p:cNvCxnSpPr>
          <p:nvPr/>
        </p:nvCxnSpPr>
        <p:spPr bwMode="auto">
          <a:xfrm>
            <a:off x="3708400" y="2852738"/>
            <a:ext cx="0" cy="215900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58" name="AutoShape 18"/>
          <p:cNvCxnSpPr>
            <a:cxnSpLocks noChangeShapeType="1"/>
          </p:cNvCxnSpPr>
          <p:nvPr/>
        </p:nvCxnSpPr>
        <p:spPr bwMode="auto">
          <a:xfrm>
            <a:off x="3708400" y="2133600"/>
            <a:ext cx="0" cy="215900"/>
          </a:xfrm>
          <a:prstGeom prst="straightConnector1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59" name="AutoShape 19"/>
          <p:cNvCxnSpPr>
            <a:cxnSpLocks noChangeShapeType="1"/>
            <a:stCxn id="10247" idx="2"/>
          </p:cNvCxnSpPr>
          <p:nvPr/>
        </p:nvCxnSpPr>
        <p:spPr bwMode="auto">
          <a:xfrm>
            <a:off x="3705225" y="6021388"/>
            <a:ext cx="3175" cy="2159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60" name="Oval 20"/>
          <p:cNvSpPr>
            <a:spLocks noChangeArrowheads="1"/>
          </p:cNvSpPr>
          <p:nvPr/>
        </p:nvSpPr>
        <p:spPr bwMode="auto">
          <a:xfrm>
            <a:off x="307975" y="6237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2</a:t>
            </a:r>
            <a:endParaRPr lang="ru-RU"/>
          </a:p>
        </p:txBody>
      </p:sp>
      <p:sp>
        <p:nvSpPr>
          <p:cNvPr id="10261" name="Oval 21"/>
          <p:cNvSpPr>
            <a:spLocks noChangeArrowheads="1"/>
          </p:cNvSpPr>
          <p:nvPr/>
        </p:nvSpPr>
        <p:spPr bwMode="auto">
          <a:xfrm>
            <a:off x="3492500" y="6237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1</a:t>
            </a:r>
            <a:endParaRPr lang="ru-RU"/>
          </a:p>
        </p:txBody>
      </p:sp>
      <p:sp>
        <p:nvSpPr>
          <p:cNvPr id="10262" name="Oval 22"/>
          <p:cNvSpPr>
            <a:spLocks noChangeArrowheads="1"/>
          </p:cNvSpPr>
          <p:nvPr/>
        </p:nvSpPr>
        <p:spPr bwMode="auto">
          <a:xfrm>
            <a:off x="7292975" y="6237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3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ChangeArrowheads="1"/>
          </p:cNvSpPr>
          <p:nvPr/>
        </p:nvSpPr>
        <p:spPr bwMode="auto">
          <a:xfrm>
            <a:off x="1393825" y="684213"/>
            <a:ext cx="5903913" cy="1368425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 i="1" baseline="-25000">
                <a:latin typeface="Times New Roman" pitchFamily="18" charset="0"/>
              </a:rPr>
              <a:t>i</a:t>
            </a:r>
            <a:r>
              <a:rPr lang="en-US" sz="2000" i="1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=0</a:t>
            </a:r>
            <a:r>
              <a:rPr lang="uz-Cyrl-UZ" sz="2000">
                <a:latin typeface="Times New Roman" pitchFamily="18" charset="0"/>
              </a:rPr>
              <a:t>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де</a:t>
            </a:r>
            <a:r>
              <a:rPr lang="ru-RU" sz="2000">
                <a:latin typeface="Times New Roman" pitchFamily="18" charset="0"/>
              </a:rPr>
              <a:t>б</a:t>
            </a:r>
            <a:r>
              <a:rPr lang="uz-Cyrl-UZ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олинади</a:t>
            </a:r>
            <a:r>
              <a:rPr lang="uz-Cyrl-UZ" sz="2000">
                <a:latin typeface="Times New Roman" pitchFamily="18" charset="0"/>
              </a:rPr>
              <a:t> ва </a:t>
            </a:r>
            <a:r>
              <a:rPr lang="ru-RU" sz="2000">
                <a:latin typeface="Times New Roman" pitchFamily="18" charset="0"/>
              </a:rPr>
              <a:t>мос</a:t>
            </a:r>
            <a:r>
              <a:rPr lang="uz-Cyrl-UZ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ҳолда</a:t>
            </a:r>
            <a:r>
              <a:rPr lang="uz-Cyrl-UZ" sz="2000">
                <a:latin typeface="Times New Roman" pitchFamily="18" charset="0"/>
              </a:rPr>
              <a:t>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 </a:t>
            </a:r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 i="1" baseline="-25000">
                <a:latin typeface="Times New Roman" pitchFamily="18" charset="0"/>
              </a:rPr>
              <a:t>i</a:t>
            </a:r>
            <a:r>
              <a:rPr lang="uz-Cyrl-UZ" sz="2000" i="1" baseline="-25000">
                <a:latin typeface="Times New Roman" pitchFamily="18" charset="0"/>
              </a:rPr>
              <a:t> </a:t>
            </a:r>
            <a:r>
              <a:rPr lang="en-US" sz="2000" i="1">
                <a:latin typeface="Times New Roman" pitchFamily="18" charset="0"/>
              </a:rPr>
              <a:t>log</a:t>
            </a:r>
            <a:r>
              <a:rPr lang="en-US" sz="2000" i="1" baseline="-25000">
                <a:latin typeface="Times New Roman" pitchFamily="18" charset="0"/>
              </a:rPr>
              <a:t>2 </a:t>
            </a:r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 i="1" baseline="-25000">
                <a:latin typeface="Times New Roman" pitchFamily="18" charset="0"/>
              </a:rPr>
              <a:t>i</a:t>
            </a:r>
            <a:r>
              <a:rPr lang="ru-RU" sz="2000">
                <a:latin typeface="Times New Roman" pitchFamily="18" charset="0"/>
              </a:rPr>
              <a:t> =0</a:t>
            </a:r>
            <a:r>
              <a:rPr lang="uz-Cyrl-UZ" sz="2000">
                <a:latin typeface="Times New Roman" pitchFamily="18" charset="0"/>
              </a:rPr>
              <a:t>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бўлиши ҳам келишилган тарзда </a:t>
            </a:r>
            <a:r>
              <a:rPr lang="ru-RU" sz="2000">
                <a:latin typeface="Times New Roman" pitchFamily="18" charset="0"/>
              </a:rPr>
              <a:t>олинади</a:t>
            </a:r>
            <a:r>
              <a:rPr lang="uz-Cyrl-UZ" sz="2000">
                <a:latin typeface="Times New Roman" pitchFamily="18" charset="0"/>
              </a:rPr>
              <a:t>. 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68" name="AutoShape 4"/>
          <p:cNvSpPr>
            <a:spLocks noChangeArrowheads="1"/>
          </p:cNvSpPr>
          <p:nvPr/>
        </p:nvSpPr>
        <p:spPr bwMode="auto">
          <a:xfrm>
            <a:off x="1393825" y="2205038"/>
            <a:ext cx="5903913" cy="1368425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anchor="ctr"/>
          <a:lstStyle/>
          <a:p>
            <a:pPr algn="ctr"/>
            <a:r>
              <a:rPr lang="uz-Cyrl-UZ" sz="2000">
                <a:latin typeface="Times New Roman" pitchFamily="18" charset="0"/>
              </a:rPr>
              <a:t>мумкин бўлган очиқ матннинг 1 ва 2-грамма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>
                <a:latin typeface="Times New Roman" pitchFamily="18" charset="0"/>
              </a:rPr>
              <a:t>ининг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эҳтимолли</a:t>
            </a:r>
            <a:r>
              <a:rPr lang="ru-RU" sz="2000">
                <a:latin typeface="Times New Roman" pitchFamily="18" charset="0"/>
              </a:rPr>
              <a:t>клар</a:t>
            </a:r>
            <a:r>
              <a:rPr lang="uz-Cyrl-UZ" sz="2000">
                <a:latin typeface="Times New Roman" pitchFamily="18" charset="0"/>
              </a:rPr>
              <a:t>и сифатида база матндаги мос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 к-грамма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>
                <a:latin typeface="Times New Roman" pitchFamily="18" charset="0"/>
              </a:rPr>
              <a:t>нинг эҳтимолли</a:t>
            </a:r>
            <a:r>
              <a:rPr lang="ru-RU" sz="2000">
                <a:latin typeface="Times New Roman" pitchFamily="18" charset="0"/>
              </a:rPr>
              <a:t>клар</a:t>
            </a:r>
            <a:r>
              <a:rPr lang="uz-Cyrl-UZ" sz="2000">
                <a:latin typeface="Times New Roman" pitchFamily="18" charset="0"/>
              </a:rPr>
              <a:t>и  </a:t>
            </a:r>
            <a:r>
              <a:rPr lang="en-US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 i="1" baseline="-25000">
                <a:latin typeface="Times New Roman" pitchFamily="18" charset="0"/>
              </a:rPr>
              <a:t>i</a:t>
            </a:r>
            <a:r>
              <a:rPr lang="en-US" sz="2000" i="1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 i="1">
                <a:latin typeface="Times New Roman" pitchFamily="18" charset="0"/>
              </a:rPr>
              <a:t>  </a:t>
            </a:r>
            <a:r>
              <a:rPr lang="en-US" sz="2000" i="1">
                <a:latin typeface="Times New Roman" pitchFamily="18" charset="0"/>
              </a:rPr>
              <a:t>) </a:t>
            </a:r>
            <a:r>
              <a:rPr lang="uz-Cyrl-UZ" sz="2000">
                <a:latin typeface="Times New Roman" pitchFamily="18" charset="0"/>
              </a:rPr>
              <a:t>олинади.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1269" name="AutoShape 5"/>
          <p:cNvSpPr>
            <a:spLocks noChangeArrowheads="1"/>
          </p:cNvSpPr>
          <p:nvPr/>
        </p:nvSpPr>
        <p:spPr bwMode="auto">
          <a:xfrm>
            <a:off x="1393825" y="3757613"/>
            <a:ext cx="5903913" cy="1800225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0" tIns="0" rIns="0" bIns="0"/>
          <a:lstStyle/>
          <a:p>
            <a:pPr>
              <a:lnSpc>
                <a:spcPct val="120000"/>
              </a:lnSpc>
            </a:pPr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 i="1" baseline="-25000">
                <a:latin typeface="Times New Roman" pitchFamily="18" charset="0"/>
              </a:rPr>
              <a:t>i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 i="1">
                <a:latin typeface="Times New Roman" pitchFamily="18" charset="0"/>
              </a:rPr>
              <a:t>  </a:t>
            </a:r>
            <a:r>
              <a:rPr lang="ru-RU" sz="2000">
                <a:latin typeface="Times New Roman" pitchFamily="18" charset="0"/>
              </a:rPr>
              <a:t>ёрдамида ҳар бир </a:t>
            </a:r>
            <a:r>
              <a:rPr lang="uz-Cyrl-UZ" sz="2000">
                <a:latin typeface="Times New Roman" pitchFamily="18" charset="0"/>
              </a:rPr>
              <a:t> к-грамма учун </a:t>
            </a:r>
            <a:endParaRPr lang="en-US" sz="200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c</a:t>
            </a:r>
            <a:r>
              <a:rPr lang="en-US" sz="2000" baseline="-25000">
                <a:latin typeface="Times New Roman" pitchFamily="18" charset="0"/>
              </a:rPr>
              <a:t>1</a:t>
            </a:r>
            <a:r>
              <a:rPr lang="en-US" sz="2000" i="1">
                <a:latin typeface="Times New Roman" pitchFamily="18" charset="0"/>
              </a:rPr>
              <a:t>,c</a:t>
            </a:r>
            <a:r>
              <a:rPr lang="en-US" sz="2000" baseline="-25000">
                <a:latin typeface="Times New Roman" pitchFamily="18" charset="0"/>
              </a:rPr>
              <a:t>2</a:t>
            </a:r>
            <a:r>
              <a:rPr lang="en-US" sz="2000" i="1">
                <a:latin typeface="Times New Roman" pitchFamily="18" charset="0"/>
              </a:rPr>
              <a:t>,…,c</a:t>
            </a:r>
            <a:r>
              <a:rPr lang="en-US" sz="2000" i="1" baseline="-25000">
                <a:latin typeface="Times New Roman" pitchFamily="18" charset="0"/>
              </a:rPr>
              <a:t>k</a:t>
            </a:r>
            <a:r>
              <a:rPr lang="en-US" sz="2000">
                <a:latin typeface="Times New Roman" pitchFamily="18" charset="0"/>
              </a:rPr>
              <a:t>) = </a:t>
            </a:r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c</a:t>
            </a:r>
            <a:r>
              <a:rPr lang="en-US" sz="2000" baseline="-25000">
                <a:latin typeface="Times New Roman" pitchFamily="18" charset="0"/>
              </a:rPr>
              <a:t>1</a:t>
            </a:r>
            <a:r>
              <a:rPr lang="en-US" sz="2000">
                <a:latin typeface="Times New Roman" pitchFamily="18" charset="0"/>
              </a:rPr>
              <a:t>) </a:t>
            </a:r>
            <a:r>
              <a:rPr lang="en-US" sz="2000">
                <a:latin typeface="Times New Roman" pitchFamily="18" charset="0"/>
                <a:cs typeface="Arial" charset="0"/>
              </a:rPr>
              <a:t>∏</a:t>
            </a:r>
            <a:r>
              <a:rPr lang="en-US" sz="2000" baseline="-25000">
                <a:latin typeface="Times New Roman" pitchFamily="18" charset="0"/>
                <a:cs typeface="Arial" charset="0"/>
              </a:rPr>
              <a:t>  </a:t>
            </a:r>
            <a:r>
              <a:rPr lang="en-US" sz="2000" i="1">
                <a:latin typeface="Times New Roman" pitchFamily="18" charset="0"/>
                <a:cs typeface="Arial" charset="0"/>
              </a:rPr>
              <a:t>p</a:t>
            </a:r>
            <a:r>
              <a:rPr lang="en-US" sz="2000">
                <a:latin typeface="Times New Roman" pitchFamily="18" charset="0"/>
                <a:cs typeface="Arial" charset="0"/>
              </a:rPr>
              <a:t>(c</a:t>
            </a:r>
            <a:r>
              <a:rPr lang="en-US" sz="2000" baseline="-25000">
                <a:latin typeface="Times New Roman" pitchFamily="18" charset="0"/>
                <a:cs typeface="Arial" charset="0"/>
              </a:rPr>
              <a:t>i</a:t>
            </a:r>
            <a:r>
              <a:rPr lang="en-US" sz="2000">
                <a:latin typeface="Times New Roman" pitchFamily="18" charset="0"/>
                <a:cs typeface="Arial" charset="0"/>
              </a:rPr>
              <a:t>/c</a:t>
            </a:r>
            <a:r>
              <a:rPr lang="en-US" sz="2000" baseline="-25000">
                <a:latin typeface="Times New Roman" pitchFamily="18" charset="0"/>
                <a:cs typeface="Arial" charset="0"/>
              </a:rPr>
              <a:t>i-1</a:t>
            </a:r>
            <a:r>
              <a:rPr lang="en-US" sz="2000">
                <a:latin typeface="Times New Roman" pitchFamily="18" charset="0"/>
                <a:cs typeface="Arial" charset="0"/>
              </a:rPr>
              <a:t>)</a:t>
            </a:r>
            <a:r>
              <a:rPr lang="en-US" sz="2000" baseline="-25000">
                <a:latin typeface="Times New Roman" pitchFamily="18" charset="0"/>
                <a:cs typeface="Arial" charset="0"/>
              </a:rPr>
              <a:t>  </a:t>
            </a:r>
            <a:endParaRPr lang="en-US" sz="2000">
              <a:latin typeface="Times New Roman" pitchFamily="18" charset="0"/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uz-Cyrl-UZ" sz="2000">
                <a:latin typeface="Times New Roman" pitchFamily="18" charset="0"/>
              </a:rPr>
              <a:t> ҳисобланади. Ушбу хисобланган  </a:t>
            </a:r>
            <a:r>
              <a:rPr lang="uz-Cyrl-UZ" sz="2000" i="1">
                <a:latin typeface="Times New Roman" pitchFamily="18" charset="0"/>
              </a:rPr>
              <a:t>p</a:t>
            </a:r>
            <a:r>
              <a:rPr lang="uz-Cyrl-UZ" sz="2000">
                <a:latin typeface="Times New Roman" pitchFamily="18" charset="0"/>
              </a:rPr>
              <a:t> лар ёрдамида</a:t>
            </a:r>
            <a:endParaRPr lang="en-US" sz="200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uz-Cyrl-UZ" sz="2000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                                   </a:t>
            </a:r>
            <a:r>
              <a:rPr lang="uz-Cyrl-UZ" sz="2000">
                <a:latin typeface="Times New Roman" pitchFamily="18" charset="0"/>
              </a:rPr>
              <a:t>-энтропия ҳисобланади</a:t>
            </a:r>
            <a:r>
              <a:rPr lang="uz-Cyrl-UZ"/>
              <a:t> .</a:t>
            </a:r>
            <a:endParaRPr lang="ru-RU"/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1538288" y="4622800"/>
          <a:ext cx="201612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Формула" r:id="rId3" imgW="1041120" imgH="431640" progId="Equation.3">
                  <p:embed/>
                </p:oleObj>
              </mc:Choice>
              <mc:Fallback>
                <p:oleObj name="Формула" r:id="rId3" imgW="104112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4622800"/>
                        <a:ext cx="2016125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1393825" y="5732463"/>
            <a:ext cx="5905500" cy="86360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/>
            <a:r>
              <a:rPr lang="ru-RU" sz="2000">
                <a:latin typeface="Times New Roman" pitchFamily="18" charset="0"/>
              </a:rPr>
              <a:t>Энтропиялар </a:t>
            </a:r>
            <a:r>
              <a:rPr lang="uz-Cyrl-UZ" sz="2000">
                <a:latin typeface="Times New Roman" pitchFamily="18" charset="0"/>
              </a:rPr>
              <a:t>солиштирилади ва энтропияси энг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катта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 бўлган матн </a:t>
            </a:r>
            <a:r>
              <a:rPr lang="ru-RU" sz="2000">
                <a:latin typeface="Times New Roman" pitchFamily="18" charset="0"/>
              </a:rPr>
              <a:t>матнлар ичида маънолиси ҳисобланади.</a:t>
            </a:r>
          </a:p>
        </p:txBody>
      </p:sp>
      <p:cxnSp>
        <p:nvCxnSpPr>
          <p:cNvPr id="11274" name="AutoShape 10"/>
          <p:cNvCxnSpPr>
            <a:cxnSpLocks noChangeShapeType="1"/>
            <a:stCxn id="11281" idx="4"/>
            <a:endCxn id="11268" idx="1"/>
          </p:cNvCxnSpPr>
          <p:nvPr/>
        </p:nvCxnSpPr>
        <p:spPr bwMode="auto">
          <a:xfrm rot="16200000" flipH="1">
            <a:off x="28575" y="1533526"/>
            <a:ext cx="2370137" cy="341312"/>
          </a:xfrm>
          <a:prstGeom prst="bentConnector2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75" name="AutoShape 11"/>
          <p:cNvCxnSpPr>
            <a:cxnSpLocks noChangeShapeType="1"/>
            <a:stCxn id="11269" idx="3"/>
          </p:cNvCxnSpPr>
          <p:nvPr/>
        </p:nvCxnSpPr>
        <p:spPr bwMode="auto">
          <a:xfrm flipV="1">
            <a:off x="7307263" y="407988"/>
            <a:ext cx="649287" cy="4249737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7299325" y="908050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cxnSp>
        <p:nvCxnSpPr>
          <p:cNvPr id="11277" name="AutoShape 13"/>
          <p:cNvCxnSpPr>
            <a:cxnSpLocks noChangeShapeType="1"/>
            <a:stCxn id="11268" idx="2"/>
            <a:endCxn id="11269" idx="0"/>
          </p:cNvCxnSpPr>
          <p:nvPr/>
        </p:nvCxnSpPr>
        <p:spPr bwMode="auto">
          <a:xfrm>
            <a:off x="4346575" y="3582988"/>
            <a:ext cx="0" cy="165100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78" name="AutoShape 14"/>
          <p:cNvCxnSpPr>
            <a:cxnSpLocks noChangeShapeType="1"/>
            <a:stCxn id="11269" idx="2"/>
            <a:endCxn id="11273" idx="0"/>
          </p:cNvCxnSpPr>
          <p:nvPr/>
        </p:nvCxnSpPr>
        <p:spPr bwMode="auto">
          <a:xfrm>
            <a:off x="4346575" y="5567363"/>
            <a:ext cx="0" cy="155575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79" name="Line 15"/>
          <p:cNvSpPr>
            <a:spLocks noChangeShapeType="1"/>
          </p:cNvSpPr>
          <p:nvPr/>
        </p:nvSpPr>
        <p:spPr bwMode="auto">
          <a:xfrm flipV="1">
            <a:off x="7947025" y="260350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>
            <a:off x="4356100" y="476250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uz-Cyrl-UZ"/>
          </a:p>
        </p:txBody>
      </p:sp>
      <p:sp>
        <p:nvSpPr>
          <p:cNvPr id="11281" name="Oval 17"/>
          <p:cNvSpPr>
            <a:spLocks noChangeArrowheads="1"/>
          </p:cNvSpPr>
          <p:nvPr/>
        </p:nvSpPr>
        <p:spPr bwMode="auto">
          <a:xfrm>
            <a:off x="827088" y="149225"/>
            <a:ext cx="431800" cy="360363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2</a:t>
            </a:r>
            <a:endParaRPr lang="ru-RU"/>
          </a:p>
        </p:txBody>
      </p:sp>
      <p:sp>
        <p:nvSpPr>
          <p:cNvPr id="11282" name="Oval 18"/>
          <p:cNvSpPr>
            <a:spLocks noChangeArrowheads="1"/>
          </p:cNvSpPr>
          <p:nvPr/>
        </p:nvSpPr>
        <p:spPr bwMode="auto">
          <a:xfrm>
            <a:off x="4124325" y="14763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1</a:t>
            </a:r>
            <a:endParaRPr lang="ru-RU"/>
          </a:p>
        </p:txBody>
      </p:sp>
      <p:sp>
        <p:nvSpPr>
          <p:cNvPr id="11283" name="Oval 19"/>
          <p:cNvSpPr>
            <a:spLocks noChangeArrowheads="1"/>
          </p:cNvSpPr>
          <p:nvPr/>
        </p:nvSpPr>
        <p:spPr bwMode="auto">
          <a:xfrm>
            <a:off x="7740650" y="141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3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 sz="3600"/>
              <a:t>2-</a:t>
            </a:r>
            <a:r>
              <a:rPr lang="uz-Cyrl-UZ" sz="3600"/>
              <a:t>усул</a:t>
            </a:r>
            <a:r>
              <a:rPr lang="uz-Cyrl-UZ"/>
              <a:t> </a:t>
            </a:r>
            <a:r>
              <a:rPr lang="uz-Cyrl-UZ" sz="2400"/>
              <a:t>(шартли энтропия)</a:t>
            </a:r>
            <a:endParaRPr lang="ru-RU" sz="2400"/>
          </a:p>
        </p:txBody>
      </p:sp>
      <p:sp>
        <p:nvSpPr>
          <p:cNvPr id="12291" name="AutoShape 3"/>
          <p:cNvSpPr>
            <a:spLocks noChangeArrowheads="1"/>
          </p:cNvSpPr>
          <p:nvPr/>
        </p:nvSpPr>
        <p:spPr bwMode="auto">
          <a:xfrm>
            <a:off x="755650" y="1917700"/>
            <a:ext cx="5903913" cy="503238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latin typeface="Times New Roman" pitchFamily="18" charset="0"/>
              </a:rPr>
              <a:t>Мумкин бўлган очиқ матнлар киритилади</a:t>
            </a: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755650" y="2709863"/>
            <a:ext cx="5903913" cy="719137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latin typeface="Times New Roman" pitchFamily="18" charset="0"/>
              </a:rPr>
              <a:t>Мумкин бўлган очиқ матннинг</a:t>
            </a:r>
            <a:r>
              <a:rPr lang="uz-Cyrl-UZ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1, 2, 3, ..., </a:t>
            </a:r>
            <a:r>
              <a:rPr lang="ru-RU" sz="2000">
                <a:latin typeface="Times New Roman" pitchFamily="18" charset="0"/>
              </a:rPr>
              <a:t>к-</a:t>
            </a:r>
            <a:endParaRPr lang="uz-Cyrl-UZ" sz="2000">
              <a:latin typeface="Times New Roman" pitchFamily="18" charset="0"/>
            </a:endParaRPr>
          </a:p>
          <a:p>
            <a:pPr algn="ctr"/>
            <a:r>
              <a:rPr lang="ru-RU" sz="2000">
                <a:latin typeface="Times New Roman" pitchFamily="18" charset="0"/>
              </a:rPr>
              <a:t>граммалари </a:t>
            </a:r>
            <a:r>
              <a:rPr lang="uz-Cyrl-UZ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тузиб олинади</a:t>
            </a: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>
            <a:off x="6804025" y="1484313"/>
            <a:ext cx="2016125" cy="2087562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  <a:p>
            <a:r>
              <a:rPr lang="ru-RU" sz="1600">
                <a:latin typeface="Times New Roman" pitchFamily="18" charset="0"/>
              </a:rPr>
              <a:t>Танлаб </a:t>
            </a:r>
            <a:r>
              <a:rPr lang="uz-Cyrl-UZ" sz="1600">
                <a:latin typeface="Times New Roman" pitchFamily="18" charset="0"/>
              </a:rPr>
              <a:t>олинган</a:t>
            </a:r>
          </a:p>
          <a:p>
            <a:r>
              <a:rPr lang="uz-Cyrl-UZ" sz="1600">
                <a:latin typeface="Times New Roman" pitchFamily="18" charset="0"/>
              </a:rPr>
              <a:t> база очиқ Матн</a:t>
            </a:r>
          </a:p>
          <a:p>
            <a:r>
              <a:rPr lang="uz-Cyrl-UZ" sz="1600">
                <a:latin typeface="Times New Roman" pitchFamily="18" charset="0"/>
              </a:rPr>
              <a:t> к-граммалари,</a:t>
            </a:r>
          </a:p>
          <a:p>
            <a:r>
              <a:rPr lang="uz-Cyrl-UZ" sz="1600">
                <a:latin typeface="Times New Roman" pitchFamily="18" charset="0"/>
              </a:rPr>
              <a:t> уларга мос  частота </a:t>
            </a:r>
          </a:p>
          <a:p>
            <a:r>
              <a:rPr lang="ru-RU" sz="1600">
                <a:latin typeface="Times New Roman" pitchFamily="18" charset="0"/>
              </a:rPr>
              <a:t>ва эҳтимолликлар</a:t>
            </a:r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715963" y="3862388"/>
            <a:ext cx="5976937" cy="2016125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ru-RU" sz="2000">
                <a:latin typeface="Times New Roman" pitchFamily="18" charset="0"/>
              </a:rPr>
              <a:t>Мумкин бўлган</a:t>
            </a:r>
          </a:p>
          <a:p>
            <a:pPr algn="ctr"/>
            <a:r>
              <a:rPr lang="ru-RU" sz="2000">
                <a:latin typeface="Times New Roman" pitchFamily="18" charset="0"/>
              </a:rPr>
              <a:t> очиқ матннинг</a:t>
            </a:r>
            <a:r>
              <a:rPr lang="uz-Cyrl-UZ" sz="2000">
                <a:latin typeface="Times New Roman" pitchFamily="18" charset="0"/>
              </a:rPr>
              <a:t> 1,2,...,к</a:t>
            </a:r>
            <a:r>
              <a:rPr lang="ru-RU" sz="2000">
                <a:latin typeface="Times New Roman" pitchFamily="18" charset="0"/>
              </a:rPr>
              <a:t>-граммалари</a:t>
            </a:r>
            <a:endParaRPr lang="uz-Cyrl-UZ" sz="2000">
              <a:latin typeface="Times New Roman" pitchFamily="18" charset="0"/>
            </a:endParaRPr>
          </a:p>
          <a:p>
            <a:pPr algn="ctr"/>
            <a:r>
              <a:rPr lang="uz-Cyrl-UZ" sz="2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б</a:t>
            </a:r>
            <a:r>
              <a:rPr lang="uz-Cyrl-UZ" sz="2000">
                <a:latin typeface="Times New Roman" pitchFamily="18" charset="0"/>
              </a:rPr>
              <a:t>аза матн 1,2,...,к-</a:t>
            </a:r>
            <a:r>
              <a:rPr lang="ru-RU" sz="2000">
                <a:latin typeface="Times New Roman" pitchFamily="18" charset="0"/>
              </a:rPr>
              <a:t>г</a:t>
            </a:r>
            <a:r>
              <a:rPr lang="uz-Cyrl-UZ" sz="2000">
                <a:latin typeface="Times New Roman" pitchFamily="18" charset="0"/>
              </a:rPr>
              <a:t>рамма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>
                <a:latin typeface="Times New Roman" pitchFamily="18" charset="0"/>
              </a:rPr>
              <a:t>и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билан солиштирил</a:t>
            </a:r>
            <a:r>
              <a:rPr lang="ru-RU" sz="2000">
                <a:latin typeface="Times New Roman" pitchFamily="18" charset="0"/>
              </a:rPr>
              <a:t>ади</a:t>
            </a:r>
            <a:r>
              <a:rPr lang="uz-Cyrl-UZ" sz="2000">
                <a:latin typeface="Times New Roman" pitchFamily="18" charset="0"/>
              </a:rPr>
              <a:t>.</a:t>
            </a:r>
            <a:endParaRPr lang="ru-RU" sz="2000">
              <a:latin typeface="Times New Roman" pitchFamily="18" charset="0"/>
            </a:endParaRPr>
          </a:p>
        </p:txBody>
      </p:sp>
      <p:cxnSp>
        <p:nvCxnSpPr>
          <p:cNvPr id="12295" name="AutoShape 7"/>
          <p:cNvCxnSpPr>
            <a:cxnSpLocks noChangeShapeType="1"/>
          </p:cNvCxnSpPr>
          <p:nvPr/>
        </p:nvCxnSpPr>
        <p:spPr bwMode="auto">
          <a:xfrm>
            <a:off x="3708400" y="2420938"/>
            <a:ext cx="0" cy="269875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96" name="AutoShape 8"/>
          <p:cNvCxnSpPr>
            <a:cxnSpLocks noChangeShapeType="1"/>
            <a:stCxn id="12292" idx="2"/>
            <a:endCxn id="12294" idx="0"/>
          </p:cNvCxnSpPr>
          <p:nvPr/>
        </p:nvCxnSpPr>
        <p:spPr bwMode="auto">
          <a:xfrm flipH="1">
            <a:off x="3705225" y="3438525"/>
            <a:ext cx="3175" cy="414338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97" name="AutoShape 9"/>
          <p:cNvCxnSpPr>
            <a:cxnSpLocks noChangeShapeType="1"/>
            <a:stCxn id="12294" idx="1"/>
          </p:cNvCxnSpPr>
          <p:nvPr/>
        </p:nvCxnSpPr>
        <p:spPr bwMode="auto">
          <a:xfrm rot="10800000" flipV="1">
            <a:off x="530225" y="4870450"/>
            <a:ext cx="176213" cy="1511300"/>
          </a:xfrm>
          <a:prstGeom prst="bentConnector2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98" name="AutoShape 10"/>
          <p:cNvCxnSpPr>
            <a:cxnSpLocks noChangeShapeType="1"/>
            <a:stCxn id="12293" idx="3"/>
            <a:endCxn id="12294" idx="3"/>
          </p:cNvCxnSpPr>
          <p:nvPr/>
        </p:nvCxnSpPr>
        <p:spPr bwMode="auto">
          <a:xfrm rot="5400000">
            <a:off x="6612732" y="3671093"/>
            <a:ext cx="1289050" cy="1109663"/>
          </a:xfrm>
          <a:prstGeom prst="bentConnector2">
            <a:avLst/>
          </a:prstGeom>
          <a:noFill/>
          <a:ln w="38100">
            <a:solidFill>
              <a:srgbClr val="00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9" name="Line 11"/>
          <p:cNvSpPr>
            <a:spLocks noChangeShapeType="1"/>
          </p:cNvSpPr>
          <p:nvPr/>
        </p:nvSpPr>
        <p:spPr bwMode="auto">
          <a:xfrm flipH="1">
            <a:off x="3779838" y="3716338"/>
            <a:ext cx="37766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7556500" y="3717925"/>
            <a:ext cx="0" cy="2663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grpSp>
        <p:nvGrpSpPr>
          <p:cNvPr id="12301" name="Группа 18"/>
          <p:cNvGrpSpPr>
            <a:grpSpLocks/>
          </p:cNvGrpSpPr>
          <p:nvPr/>
        </p:nvGrpSpPr>
        <p:grpSpPr bwMode="auto">
          <a:xfrm>
            <a:off x="285750" y="476250"/>
            <a:ext cx="7232650" cy="1130300"/>
            <a:chOff x="268288" y="369888"/>
            <a:chExt cx="7232650" cy="1130300"/>
          </a:xfrm>
        </p:grpSpPr>
        <p:pic>
          <p:nvPicPr>
            <p:cNvPr id="12302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563" y="1000125"/>
              <a:ext cx="6429375" cy="12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3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963" y="1114425"/>
              <a:ext cx="5276850" cy="1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4" name="Picture 18" descr="C:\Program Files\Microsoft Office\MEDIA\CAGCAT10\j020558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8" y="369888"/>
              <a:ext cx="1231900" cy="113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3708400" y="5876925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uz-Cyrl-UZ"/>
          </a:p>
        </p:txBody>
      </p:sp>
      <p:sp>
        <p:nvSpPr>
          <p:cNvPr id="12306" name="Oval 18"/>
          <p:cNvSpPr>
            <a:spLocks noChangeArrowheads="1"/>
          </p:cNvSpPr>
          <p:nvPr/>
        </p:nvSpPr>
        <p:spPr bwMode="auto">
          <a:xfrm>
            <a:off x="323850" y="6237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2</a:t>
            </a:r>
            <a:endParaRPr lang="ru-RU"/>
          </a:p>
        </p:txBody>
      </p:sp>
      <p:sp>
        <p:nvSpPr>
          <p:cNvPr id="12307" name="Oval 19"/>
          <p:cNvSpPr>
            <a:spLocks noChangeArrowheads="1"/>
          </p:cNvSpPr>
          <p:nvPr/>
        </p:nvSpPr>
        <p:spPr bwMode="auto">
          <a:xfrm>
            <a:off x="3492500" y="6237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1</a:t>
            </a:r>
            <a:endParaRPr lang="ru-RU"/>
          </a:p>
        </p:txBody>
      </p:sp>
      <p:sp>
        <p:nvSpPr>
          <p:cNvPr id="12308" name="Oval 20"/>
          <p:cNvSpPr>
            <a:spLocks noChangeArrowheads="1"/>
          </p:cNvSpPr>
          <p:nvPr/>
        </p:nvSpPr>
        <p:spPr bwMode="auto">
          <a:xfrm>
            <a:off x="7324725" y="6237288"/>
            <a:ext cx="431800" cy="36036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3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ChangeArrowheads="1"/>
          </p:cNvSpPr>
          <p:nvPr/>
        </p:nvSpPr>
        <p:spPr bwMode="auto">
          <a:xfrm>
            <a:off x="1465263" y="765175"/>
            <a:ext cx="5903912" cy="1439863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i="1"/>
              <a:t>p</a:t>
            </a:r>
            <a:r>
              <a:rPr lang="en-US" i="1" baseline="-25000"/>
              <a:t>i</a:t>
            </a:r>
            <a:r>
              <a:rPr lang="en-US" i="1"/>
              <a:t> </a:t>
            </a:r>
            <a:r>
              <a:rPr lang="ru-RU"/>
              <a:t>=0</a:t>
            </a:r>
            <a:r>
              <a:rPr lang="uz-Cyrl-UZ"/>
              <a:t> </a:t>
            </a:r>
          </a:p>
          <a:p>
            <a:pPr algn="ctr" eaLnBrk="0" hangingPunct="0"/>
            <a:r>
              <a:rPr lang="uz-Cyrl-UZ"/>
              <a:t>де</a:t>
            </a:r>
            <a:r>
              <a:rPr lang="ru-RU"/>
              <a:t>б</a:t>
            </a:r>
            <a:r>
              <a:rPr lang="uz-Cyrl-UZ"/>
              <a:t> </a:t>
            </a:r>
            <a:r>
              <a:rPr lang="ru-RU"/>
              <a:t>олинади</a:t>
            </a:r>
            <a:r>
              <a:rPr lang="uz-Cyrl-UZ"/>
              <a:t> ва </a:t>
            </a:r>
            <a:r>
              <a:rPr lang="ru-RU"/>
              <a:t>мос</a:t>
            </a:r>
            <a:r>
              <a:rPr lang="uz-Cyrl-UZ"/>
              <a:t> </a:t>
            </a:r>
            <a:r>
              <a:rPr lang="ru-RU"/>
              <a:t>ҳолда</a:t>
            </a:r>
            <a:r>
              <a:rPr lang="uz-Cyrl-UZ"/>
              <a:t> </a:t>
            </a:r>
          </a:p>
          <a:p>
            <a:pPr algn="ctr" eaLnBrk="0" hangingPunct="0"/>
            <a:r>
              <a:rPr lang="uz-Cyrl-UZ"/>
              <a:t> </a:t>
            </a:r>
            <a:r>
              <a:rPr lang="en-US" i="1"/>
              <a:t>p</a:t>
            </a:r>
            <a:r>
              <a:rPr lang="en-US" i="1" baseline="-25000"/>
              <a:t>i</a:t>
            </a:r>
            <a:r>
              <a:rPr lang="uz-Cyrl-UZ" i="1"/>
              <a:t> </a:t>
            </a:r>
            <a:r>
              <a:rPr lang="en-US" i="1"/>
              <a:t>log</a:t>
            </a:r>
            <a:r>
              <a:rPr lang="en-US" i="1" baseline="-25000"/>
              <a:t>2</a:t>
            </a:r>
            <a:r>
              <a:rPr lang="en-US" i="1"/>
              <a:t> p</a:t>
            </a:r>
            <a:r>
              <a:rPr lang="en-US" i="1" baseline="-25000"/>
              <a:t>i</a:t>
            </a:r>
            <a:r>
              <a:rPr lang="ru-RU"/>
              <a:t> =0</a:t>
            </a:r>
            <a:r>
              <a:rPr lang="uz-Cyrl-UZ"/>
              <a:t> </a:t>
            </a:r>
          </a:p>
          <a:p>
            <a:pPr algn="ctr" eaLnBrk="0" hangingPunct="0"/>
            <a:r>
              <a:rPr lang="uz-Cyrl-UZ"/>
              <a:t>бўлиши ҳам келишилган тарзда </a:t>
            </a:r>
            <a:r>
              <a:rPr lang="ru-RU"/>
              <a:t>олинади</a:t>
            </a:r>
            <a:r>
              <a:rPr lang="uz-Cyrl-UZ"/>
              <a:t>. </a:t>
            </a:r>
            <a:endParaRPr lang="ru-RU"/>
          </a:p>
          <a:p>
            <a:pPr algn="ctr"/>
            <a:endParaRPr lang="ru-RU" sz="2000">
              <a:latin typeface="Times New Roman" pitchFamily="18" charset="0"/>
            </a:endParaRP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1465263" y="2420938"/>
            <a:ext cx="5903912" cy="1368425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sz="2000">
                <a:latin typeface="Times New Roman" pitchFamily="18" charset="0"/>
              </a:rPr>
              <a:t>мумкин бўлган очиқ матннинг к-грамма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>
                <a:latin typeface="Times New Roman" pitchFamily="18" charset="0"/>
              </a:rPr>
              <a:t>ининг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эҳтимолли</a:t>
            </a:r>
            <a:r>
              <a:rPr lang="ru-RU" sz="2000">
                <a:latin typeface="Times New Roman" pitchFamily="18" charset="0"/>
              </a:rPr>
              <a:t>клар</a:t>
            </a:r>
            <a:r>
              <a:rPr lang="uz-Cyrl-UZ" sz="2000">
                <a:latin typeface="Times New Roman" pitchFamily="18" charset="0"/>
              </a:rPr>
              <a:t>и сифатида база матндаги мос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 к-грамма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>
                <a:latin typeface="Times New Roman" pitchFamily="18" charset="0"/>
              </a:rPr>
              <a:t>нинг эҳтимолли</a:t>
            </a:r>
            <a:r>
              <a:rPr lang="ru-RU" sz="2000">
                <a:latin typeface="Times New Roman" pitchFamily="18" charset="0"/>
              </a:rPr>
              <a:t>клар</a:t>
            </a:r>
            <a:r>
              <a:rPr lang="uz-Cyrl-UZ" sz="2000">
                <a:latin typeface="Times New Roman" pitchFamily="18" charset="0"/>
              </a:rPr>
              <a:t>и  </a:t>
            </a:r>
            <a:r>
              <a:rPr lang="en-US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pi 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 i="1">
                <a:latin typeface="Times New Roman" pitchFamily="18" charset="0"/>
              </a:rPr>
              <a:t>  </a:t>
            </a:r>
            <a:r>
              <a:rPr lang="en-US" sz="2000" i="1">
                <a:latin typeface="Times New Roman" pitchFamily="18" charset="0"/>
              </a:rPr>
              <a:t>) </a:t>
            </a:r>
            <a:r>
              <a:rPr lang="uz-Cyrl-UZ" sz="2000">
                <a:latin typeface="Times New Roman" pitchFamily="18" charset="0"/>
              </a:rPr>
              <a:t>олинади.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3316" name="AutoShape 4"/>
          <p:cNvSpPr>
            <a:spLocks noChangeArrowheads="1"/>
          </p:cNvSpPr>
          <p:nvPr/>
        </p:nvSpPr>
        <p:spPr bwMode="auto">
          <a:xfrm>
            <a:off x="1465263" y="4005263"/>
            <a:ext cx="5903912" cy="1439862"/>
          </a:xfrm>
          <a:prstGeom prst="flowChartProcess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sz="2000" i="1">
                <a:latin typeface="Times New Roman" pitchFamily="18" charset="0"/>
              </a:rPr>
              <a:t>p</a:t>
            </a:r>
            <a:r>
              <a:rPr lang="en-US" sz="2000" i="1" baseline="-25000">
                <a:latin typeface="Times New Roman" pitchFamily="18" charset="0"/>
              </a:rPr>
              <a:t>i</a:t>
            </a:r>
            <a:r>
              <a:rPr lang="en-US" sz="2000" baseline="-25000">
                <a:latin typeface="Times New Roman" pitchFamily="18" charset="0"/>
              </a:rPr>
              <a:t> </a:t>
            </a:r>
            <a:r>
              <a:rPr lang="ru-RU" sz="2000">
                <a:latin typeface="Times New Roman" pitchFamily="18" charset="0"/>
              </a:rPr>
              <a:t>лар</a:t>
            </a:r>
            <a:r>
              <a:rPr lang="uz-Cyrl-UZ" sz="2000" i="1">
                <a:latin typeface="Times New Roman" pitchFamily="18" charset="0"/>
              </a:rPr>
              <a:t>  </a:t>
            </a:r>
            <a:r>
              <a:rPr lang="ru-RU" sz="2000">
                <a:latin typeface="Times New Roman" pitchFamily="18" charset="0"/>
              </a:rPr>
              <a:t>ёрдамида ҳар бир 1, 2, 3, …</a:t>
            </a:r>
            <a:r>
              <a:rPr lang="uz-Cyrl-UZ" sz="2000">
                <a:latin typeface="Times New Roman" pitchFamily="18" charset="0"/>
              </a:rPr>
              <a:t>, к-граммалар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 учун </a:t>
            </a:r>
            <a:r>
              <a:rPr lang="uz-Cyrl-UZ" sz="2000" i="1">
                <a:latin typeface="Times New Roman" pitchFamily="18" charset="0"/>
              </a:rPr>
              <a:t>Н</a:t>
            </a:r>
            <a:r>
              <a:rPr lang="uz-Cyrl-UZ" sz="2000" baseline="-25000">
                <a:latin typeface="Times New Roman" pitchFamily="18" charset="0"/>
              </a:rPr>
              <a:t>1</a:t>
            </a:r>
            <a:r>
              <a:rPr lang="uz-Cyrl-UZ" sz="2000">
                <a:latin typeface="Times New Roman" pitchFamily="18" charset="0"/>
              </a:rPr>
              <a:t>, </a:t>
            </a:r>
            <a:r>
              <a:rPr lang="uz-Cyrl-UZ" sz="2000" i="1">
                <a:latin typeface="Times New Roman" pitchFamily="18" charset="0"/>
              </a:rPr>
              <a:t>Н</a:t>
            </a:r>
            <a:r>
              <a:rPr lang="uz-Cyrl-UZ" sz="2000" baseline="-25000">
                <a:latin typeface="Times New Roman" pitchFamily="18" charset="0"/>
              </a:rPr>
              <a:t>2</a:t>
            </a:r>
            <a:r>
              <a:rPr lang="uz-Cyrl-UZ" sz="2000">
                <a:latin typeface="Times New Roman" pitchFamily="18" charset="0"/>
              </a:rPr>
              <a:t>, </a:t>
            </a:r>
            <a:r>
              <a:rPr lang="uz-Cyrl-UZ" sz="2000" i="1">
                <a:latin typeface="Times New Roman" pitchFamily="18" charset="0"/>
              </a:rPr>
              <a:t>Н</a:t>
            </a:r>
            <a:r>
              <a:rPr lang="uz-Cyrl-UZ" sz="2000" baseline="-25000">
                <a:latin typeface="Times New Roman" pitchFamily="18" charset="0"/>
              </a:rPr>
              <a:t>3</a:t>
            </a:r>
            <a:r>
              <a:rPr lang="uz-Cyrl-UZ" sz="2000">
                <a:latin typeface="Times New Roman" pitchFamily="18" charset="0"/>
              </a:rPr>
              <a:t>, ..., </a:t>
            </a:r>
            <a:r>
              <a:rPr lang="uz-Cyrl-UZ" sz="2000" i="1">
                <a:latin typeface="Times New Roman" pitchFamily="18" charset="0"/>
              </a:rPr>
              <a:t>Н</a:t>
            </a:r>
            <a:r>
              <a:rPr lang="ru-RU" sz="2000" baseline="-25000">
                <a:latin typeface="Times New Roman" pitchFamily="18" charset="0"/>
              </a:rPr>
              <a:t>к</a:t>
            </a:r>
            <a:r>
              <a:rPr lang="ru-RU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–энтропиялар ҳисобланада 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ва уларнинг ўрта қиймати олинади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1465263" y="5661025"/>
            <a:ext cx="5905500" cy="79216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sz="2000">
                <a:latin typeface="Times New Roman" pitchFamily="18" charset="0"/>
              </a:rPr>
              <a:t>Энтропиялар </a:t>
            </a:r>
            <a:r>
              <a:rPr lang="uz-Cyrl-UZ" sz="2000">
                <a:latin typeface="Times New Roman" pitchFamily="18" charset="0"/>
              </a:rPr>
              <a:t>солиштирилади ва энтропияси энг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uz-Cyrl-UZ" sz="2000">
                <a:latin typeface="Times New Roman" pitchFamily="18" charset="0"/>
              </a:rPr>
              <a:t>катта</a:t>
            </a:r>
          </a:p>
          <a:p>
            <a:pPr algn="ctr"/>
            <a:r>
              <a:rPr lang="uz-Cyrl-UZ" sz="2000">
                <a:latin typeface="Times New Roman" pitchFamily="18" charset="0"/>
              </a:rPr>
              <a:t> бўлган матн </a:t>
            </a:r>
            <a:r>
              <a:rPr lang="ru-RU" sz="2000">
                <a:latin typeface="Times New Roman" pitchFamily="18" charset="0"/>
              </a:rPr>
              <a:t>матнлар ичида маънолиси ҳисобланади.</a:t>
            </a:r>
          </a:p>
        </p:txBody>
      </p:sp>
      <p:cxnSp>
        <p:nvCxnSpPr>
          <p:cNvPr id="13318" name="AutoShape 6"/>
          <p:cNvCxnSpPr>
            <a:cxnSpLocks noChangeShapeType="1"/>
            <a:endCxn id="13315" idx="1"/>
          </p:cNvCxnSpPr>
          <p:nvPr/>
        </p:nvCxnSpPr>
        <p:spPr bwMode="auto">
          <a:xfrm rot="16200000" flipH="1">
            <a:off x="34132" y="1683543"/>
            <a:ext cx="2482850" cy="360363"/>
          </a:xfrm>
          <a:prstGeom prst="bentConnector2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19" name="AutoShape 7"/>
          <p:cNvCxnSpPr>
            <a:cxnSpLocks noChangeShapeType="1"/>
            <a:stCxn id="13316" idx="3"/>
          </p:cNvCxnSpPr>
          <p:nvPr/>
        </p:nvCxnSpPr>
        <p:spPr bwMode="auto">
          <a:xfrm flipV="1">
            <a:off x="7378700" y="404813"/>
            <a:ext cx="649288" cy="4321175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7370763" y="908050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cxnSp>
        <p:nvCxnSpPr>
          <p:cNvPr id="13321" name="AutoShape 9"/>
          <p:cNvCxnSpPr>
            <a:cxnSpLocks noChangeShapeType="1"/>
            <a:stCxn id="13315" idx="2"/>
            <a:endCxn id="13316" idx="0"/>
          </p:cNvCxnSpPr>
          <p:nvPr/>
        </p:nvCxnSpPr>
        <p:spPr bwMode="auto">
          <a:xfrm>
            <a:off x="4418013" y="3798888"/>
            <a:ext cx="0" cy="196850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2" name="AutoShape 10"/>
          <p:cNvCxnSpPr>
            <a:cxnSpLocks noChangeShapeType="1"/>
            <a:stCxn id="13316" idx="2"/>
            <a:endCxn id="13317" idx="0"/>
          </p:cNvCxnSpPr>
          <p:nvPr/>
        </p:nvCxnSpPr>
        <p:spPr bwMode="auto">
          <a:xfrm>
            <a:off x="4418013" y="5454650"/>
            <a:ext cx="0" cy="196850"/>
          </a:xfrm>
          <a:prstGeom prst="straightConnector1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3323" name="Object 11"/>
          <p:cNvGraphicFramePr>
            <a:graphicFrameLocks noGrp="1" noChangeAspect="1"/>
          </p:cNvGraphicFramePr>
          <p:nvPr>
            <p:ph/>
          </p:nvPr>
        </p:nvGraphicFramePr>
        <p:xfrm>
          <a:off x="2843213" y="4941888"/>
          <a:ext cx="28797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Формула" r:id="rId3" imgW="1688760" imgH="228600" progId="Equation.3">
                  <p:embed/>
                </p:oleObj>
              </mc:Choice>
              <mc:Fallback>
                <p:oleObj name="Формула" r:id="rId3" imgW="168876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941888"/>
                        <a:ext cx="28797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4427538" y="549275"/>
            <a:ext cx="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uz-Cyrl-UZ"/>
          </a:p>
        </p:txBody>
      </p:sp>
      <p:sp>
        <p:nvSpPr>
          <p:cNvPr id="13325" name="Oval 13"/>
          <p:cNvSpPr>
            <a:spLocks noChangeArrowheads="1"/>
          </p:cNvSpPr>
          <p:nvPr/>
        </p:nvSpPr>
        <p:spPr bwMode="auto">
          <a:xfrm>
            <a:off x="858838" y="260350"/>
            <a:ext cx="431800" cy="360363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2</a:t>
            </a:r>
            <a:endParaRPr lang="ru-RU"/>
          </a:p>
        </p:txBody>
      </p:sp>
      <p:sp>
        <p:nvSpPr>
          <p:cNvPr id="13326" name="Oval 14"/>
          <p:cNvSpPr>
            <a:spLocks noChangeArrowheads="1"/>
          </p:cNvSpPr>
          <p:nvPr/>
        </p:nvSpPr>
        <p:spPr bwMode="auto">
          <a:xfrm>
            <a:off x="4195763" y="228600"/>
            <a:ext cx="431800" cy="360363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1</a:t>
            </a:r>
            <a:endParaRPr lang="ru-RU"/>
          </a:p>
        </p:txBody>
      </p:sp>
      <p:sp>
        <p:nvSpPr>
          <p:cNvPr id="13327" name="Oval 15"/>
          <p:cNvSpPr>
            <a:spLocks noChangeArrowheads="1"/>
          </p:cNvSpPr>
          <p:nvPr/>
        </p:nvSpPr>
        <p:spPr bwMode="auto">
          <a:xfrm>
            <a:off x="7812088" y="244475"/>
            <a:ext cx="431800" cy="360363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uz-Cyrl-UZ"/>
              <a:t>3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uz-Cyrl-UZ" sz="3600"/>
              <a:t>О</a:t>
            </a:r>
            <a:r>
              <a:rPr lang="ru-RU" sz="3600"/>
              <a:t>чиқ матнларни танлашда энтропиянинг роли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68313" y="1612900"/>
            <a:ext cx="8207375" cy="498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41325" algn="just" eaLnBrk="0" hangingPunct="0">
              <a:lnSpc>
                <a:spcPct val="110000"/>
              </a:lnSpc>
            </a:pPr>
            <a:r>
              <a:rPr lang="uz-Cyrl-UZ" sz="2400">
                <a:latin typeface="Times New Roman" pitchFamily="18" charset="0"/>
              </a:rPr>
              <a:t>Цезар шифри ёрдамида “</a:t>
            </a:r>
            <a:r>
              <a:rPr lang="uz-Cyrl-UZ" sz="2400">
                <a:solidFill>
                  <a:srgbClr val="0000FF"/>
                </a:solidFill>
                <a:latin typeface="Times New Roman" pitchFamily="18" charset="0"/>
              </a:rPr>
              <a:t>молодость</a:t>
            </a:r>
            <a:r>
              <a:rPr lang="uz-Cyrl-UZ" sz="2400">
                <a:latin typeface="Times New Roman" pitchFamily="18" charset="0"/>
              </a:rPr>
              <a:t>” сўзи к=7 калит билан шифрланган бўлсин: </a:t>
            </a:r>
          </a:p>
          <a:p>
            <a:pPr indent="441325" algn="ctr">
              <a:lnSpc>
                <a:spcPct val="110000"/>
              </a:lnSpc>
              <a:spcBef>
                <a:spcPct val="20000"/>
              </a:spcBef>
            </a:pPr>
            <a:r>
              <a:rPr lang="uz-Cyrl-UZ" sz="2400">
                <a:latin typeface="Times New Roman" pitchFamily="18" charset="0"/>
              </a:rPr>
              <a:t>“</a:t>
            </a:r>
            <a:r>
              <a:rPr lang="uz-Cyrl-UZ" sz="2400">
                <a:solidFill>
                  <a:srgbClr val="FF0000"/>
                </a:solidFill>
                <a:latin typeface="Times New Roman" pitchFamily="18" charset="0"/>
              </a:rPr>
              <a:t>ухтхлхшщг</a:t>
            </a:r>
            <a:r>
              <a:rPr lang="uz-Cyrl-UZ" sz="2400">
                <a:latin typeface="Times New Roman" pitchFamily="18" charset="0"/>
              </a:rPr>
              <a:t>”- ши</a:t>
            </a:r>
            <a:r>
              <a:rPr lang="ru-RU" sz="2400">
                <a:latin typeface="Times New Roman" pitchFamily="18" charset="0"/>
              </a:rPr>
              <a:t>ф</a:t>
            </a:r>
            <a:r>
              <a:rPr lang="uz-Cyrl-UZ" sz="2400">
                <a:latin typeface="Times New Roman" pitchFamily="18" charset="0"/>
              </a:rPr>
              <a:t>р матн</a:t>
            </a:r>
          </a:p>
          <a:p>
            <a:pPr indent="441325" algn="just" eaLnBrk="0" hangingPunct="0">
              <a:lnSpc>
                <a:spcPct val="110000"/>
              </a:lnSpc>
            </a:pPr>
            <a:r>
              <a:rPr lang="uz-Cyrl-UZ" sz="2400">
                <a:latin typeface="Times New Roman" pitchFamily="18" charset="0"/>
              </a:rPr>
              <a:t>Калитларни танлаш йўли билан дешифрлаш</a:t>
            </a:r>
            <a:r>
              <a:rPr lang="en-US" sz="2400">
                <a:latin typeface="Times New Roman" pitchFamily="18" charset="0"/>
              </a:rPr>
              <a:t> </a:t>
            </a:r>
            <a:r>
              <a:rPr lang="uz-Cyrl-UZ" sz="2400">
                <a:latin typeface="Times New Roman" pitchFamily="18" charset="0"/>
              </a:rPr>
              <a:t>амалга оширилаётган бўлсин, у ҳолда </a:t>
            </a:r>
          </a:p>
          <a:p>
            <a:pPr indent="441325" algn="just" eaLnBrk="0" hangingPunct="0">
              <a:lnSpc>
                <a:spcPct val="110000"/>
              </a:lnSpc>
            </a:pPr>
            <a:r>
              <a:rPr lang="uz-Cyrl-UZ" sz="2400">
                <a:latin typeface="Times New Roman" pitchFamily="18" charset="0"/>
              </a:rPr>
              <a:t>к нинг 0 дан 32 гача қийматларида, мумкин бўлган очиқ матнлар: </a:t>
            </a:r>
          </a:p>
          <a:p>
            <a:pPr indent="441325" algn="ctr" eaLnBrk="0" hangingPunct="0">
              <a:lnSpc>
                <a:spcPct val="110000"/>
              </a:lnSpc>
            </a:pPr>
            <a:r>
              <a:rPr lang="uz-Cyrl-UZ" sz="2400">
                <a:solidFill>
                  <a:srgbClr val="0000FF"/>
                </a:solidFill>
                <a:latin typeface="Times New Roman" pitchFamily="18" charset="0"/>
              </a:rPr>
              <a:t>ухтхлхшщг,..., молодость, ..., тфсфкфчшб</a:t>
            </a:r>
            <a:r>
              <a:rPr lang="uz-Cyrl-UZ" sz="2400">
                <a:solidFill>
                  <a:srgbClr val="00FF99"/>
                </a:solidFill>
                <a:latin typeface="Times New Roman" pitchFamily="18" charset="0"/>
              </a:rPr>
              <a:t>.</a:t>
            </a:r>
          </a:p>
          <a:p>
            <a:pPr indent="441325" algn="just" eaLnBrk="0" hangingPunct="0">
              <a:lnSpc>
                <a:spcPct val="110000"/>
              </a:lnSpc>
            </a:pPr>
            <a:r>
              <a:rPr lang="uz-Cyrl-UZ" sz="2400">
                <a:latin typeface="Times New Roman" pitchFamily="18" charset="0"/>
              </a:rPr>
              <a:t>тфсфкфчшб→тфсф, фсфк, сфкф, фкфч, кфчш, фчшб.</a:t>
            </a:r>
            <a:r>
              <a:rPr lang="ru-RU" sz="2400">
                <a:latin typeface="Times New Roman" pitchFamily="18" charset="0"/>
              </a:rPr>
              <a:t> </a:t>
            </a:r>
            <a:endParaRPr lang="uz-Cyrl-UZ" sz="2400">
              <a:latin typeface="Times New Roman" pitchFamily="18" charset="0"/>
            </a:endParaRPr>
          </a:p>
          <a:p>
            <a:pPr indent="441325" algn="just" eaLnBrk="0" hangingPunct="0">
              <a:lnSpc>
                <a:spcPct val="110000"/>
              </a:lnSpc>
            </a:pPr>
            <a:r>
              <a:rPr lang="ru-RU" sz="2400">
                <a:latin typeface="Times New Roman" pitchFamily="18" charset="0"/>
              </a:rPr>
              <a:t>молодость</a:t>
            </a:r>
            <a:r>
              <a:rPr lang="uz-Cyrl-UZ" sz="2400">
                <a:latin typeface="Times New Roman" pitchFamily="18" charset="0"/>
              </a:rPr>
              <a:t> → моло, олод, лодо, одос, дост, ость.</a:t>
            </a:r>
            <a:r>
              <a:rPr lang="ru-RU" sz="2400">
                <a:latin typeface="Times New Roman" pitchFamily="18" charset="0"/>
              </a:rPr>
              <a:t> </a:t>
            </a:r>
            <a:endParaRPr lang="uz-Cyrl-UZ" sz="2400">
              <a:latin typeface="Times New Roman" pitchFamily="18" charset="0"/>
            </a:endParaRPr>
          </a:p>
          <a:p>
            <a:pPr indent="441325" algn="just" eaLnBrk="0" hangingPunct="0">
              <a:lnSpc>
                <a:spcPct val="110000"/>
              </a:lnSpc>
            </a:pPr>
            <a:r>
              <a:rPr lang="uz-Cyrl-UZ" sz="2400">
                <a:latin typeface="Times New Roman" pitchFamily="18" charset="0"/>
              </a:rPr>
              <a:t>авявчвежо → авяв, вявч, явчв, вчве, чвеж, вежо.</a:t>
            </a:r>
          </a:p>
          <a:p>
            <a:pPr indent="441325" algn="just" eaLnBrk="0" hangingPunct="0">
              <a:lnSpc>
                <a:spcPct val="110000"/>
              </a:lnSpc>
            </a:pPr>
            <a:r>
              <a:rPr lang="ru-RU" sz="2400">
                <a:solidFill>
                  <a:srgbClr val="024864"/>
                </a:solidFill>
                <a:latin typeface="Times New Roman" pitchFamily="18" charset="0"/>
              </a:rPr>
              <a:t>молод</a:t>
            </a:r>
            <a:r>
              <a:rPr lang="uz-Cyrl-UZ" sz="2400">
                <a:solidFill>
                  <a:srgbClr val="024864"/>
                </a:solidFill>
                <a:latin typeface="Times New Roman" pitchFamily="18" charset="0"/>
              </a:rPr>
              <a:t>н</a:t>
            </a:r>
            <a:r>
              <a:rPr lang="ru-RU" sz="2400">
                <a:solidFill>
                  <a:srgbClr val="024864"/>
                </a:solidFill>
                <a:latin typeface="Times New Roman" pitchFamily="18" charset="0"/>
              </a:rPr>
              <a:t>сть</a:t>
            </a:r>
            <a:r>
              <a:rPr lang="uz-Cyrl-UZ" sz="2400">
                <a:solidFill>
                  <a:srgbClr val="024864"/>
                </a:solidFill>
                <a:latin typeface="Times New Roman" pitchFamily="18" charset="0"/>
              </a:rPr>
              <a:t> → моло, олод, лодн, однс, днст, нсть.</a:t>
            </a:r>
            <a:endParaRPr lang="en-US" sz="2400">
              <a:solidFill>
                <a:srgbClr val="024864"/>
              </a:solidFill>
              <a:latin typeface="Times New Roman" pitchFamily="18" charset="0"/>
            </a:endParaRP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323850" y="549275"/>
            <a:ext cx="7232650" cy="1130300"/>
            <a:chOff x="68" y="300"/>
            <a:chExt cx="4556" cy="712"/>
          </a:xfrm>
        </p:grpSpPr>
        <p:pic>
          <p:nvPicPr>
            <p:cNvPr id="15365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" y="788"/>
              <a:ext cx="4050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6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" y="860"/>
              <a:ext cx="3324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7" name="Picture 18" descr="C:\Program Files\Microsoft Office\MEDIA\CAGCAT10\j020558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" y="300"/>
              <a:ext cx="776" cy="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850900"/>
          </a:xfrm>
        </p:spPr>
        <p:txBody>
          <a:bodyPr/>
          <a:lstStyle/>
          <a:p>
            <a:r>
              <a:rPr lang="uz-Cyrl-UZ" sz="3600"/>
              <a:t>1-усул</a:t>
            </a:r>
            <a:endParaRPr lang="ru-RU" sz="360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113337"/>
          </a:xfrm>
        </p:spPr>
        <p:txBody>
          <a:bodyPr/>
          <a:lstStyle/>
          <a:p>
            <a:pPr algn="ctr">
              <a:lnSpc>
                <a:spcPct val="110000"/>
              </a:lnSpc>
              <a:buFontTx/>
              <a:buNone/>
            </a:pPr>
            <a:r>
              <a:rPr lang="uz-Cyrl-UZ" sz="2400">
                <a:latin typeface="Times New Roman" pitchFamily="18" charset="0"/>
              </a:rPr>
              <a:t>тфсфкфчшб</a:t>
            </a:r>
            <a:endParaRPr lang="uz-Cyrl-UZ" sz="2400" i="1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</a:t>
            </a:r>
            <a:r>
              <a:rPr lang="uz-Cyrl-UZ" sz="2400">
                <a:latin typeface="Times New Roman" pitchFamily="18" charset="0"/>
              </a:rPr>
              <a:t>тфсф</a:t>
            </a:r>
            <a:r>
              <a:rPr lang="ru-RU" sz="2400">
                <a:latin typeface="Times New Roman" pitchFamily="18" charset="0"/>
              </a:rPr>
              <a:t>)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(т)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(ф/т)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(с/ф)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(ф/с)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0,046∙0∙..=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</a:t>
            </a:r>
            <a:endParaRPr lang="en-US" sz="2400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(фсфк) 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(с/ф)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(ф/с)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(к/ф)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0,002∙0∙0,002∙0,017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 0</a:t>
            </a:r>
            <a:endParaRPr lang="uz-Cyrl-UZ" sz="2400" i="1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(сфкф) 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(с)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(ф/с)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(к/ф)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(ф/к)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0,044∙0,002∙0,017∙0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</a:t>
            </a:r>
            <a:endParaRPr lang="uz-Cyrl-UZ" sz="2400" i="1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(фкфч) 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(к/ф)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(ф/к)</a:t>
            </a:r>
            <a:r>
              <a:rPr lang="uz-Cyrl-UZ" sz="2400">
                <a:latin typeface="Times New Roman" pitchFamily="18" charset="0"/>
              </a:rPr>
              <a:t>∙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ru-RU" sz="2400">
                <a:latin typeface="Times New Roman" pitchFamily="18" charset="0"/>
              </a:rPr>
              <a:t>(ч/ф)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0,002∙0,017∙0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=</a:t>
            </a:r>
            <a:r>
              <a:rPr lang="uz-Cyrl-UZ" sz="2400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</a:t>
            </a:r>
            <a:endParaRPr lang="uz-Cyrl-UZ" sz="2400" i="1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(кфчш) =</a:t>
            </a:r>
            <a:r>
              <a:rPr lang="uz-Cyrl-UZ" sz="2400" i="1">
                <a:latin typeface="Times New Roman" pitchFamily="18" charset="0"/>
              </a:rPr>
              <a:t> р</a:t>
            </a:r>
            <a:r>
              <a:rPr lang="uz-Cyrl-UZ" sz="2400">
                <a:latin typeface="Times New Roman" pitchFamily="18" charset="0"/>
              </a:rPr>
              <a:t>(к)∙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(ф/к)∙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(ч/ф)∙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(ш/ч) = 0,029∙0,017∙0∙…= 0</a:t>
            </a:r>
            <a:endParaRPr lang="uz-Cyrl-UZ" sz="2400" i="1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(фчшб) =</a:t>
            </a:r>
            <a:r>
              <a:rPr lang="uz-Cyrl-UZ" sz="2400" i="1">
                <a:latin typeface="Times New Roman" pitchFamily="18" charset="0"/>
              </a:rPr>
              <a:t> р</a:t>
            </a:r>
            <a:r>
              <a:rPr lang="uz-Cyrl-UZ" sz="2400">
                <a:latin typeface="Times New Roman" pitchFamily="18" charset="0"/>
              </a:rPr>
              <a:t>(ф)∙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(ч/ф)∙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(ш/ч)∙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(б/ш) = 0,002∙0∙…= 0</a:t>
            </a: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</a:t>
            </a:r>
            <a:r>
              <a:rPr lang="uz-Cyrl-UZ" sz="2400">
                <a:latin typeface="Times New Roman" pitchFamily="18" charset="0"/>
              </a:rPr>
              <a:t>тфсфкфчшб</a:t>
            </a:r>
            <a:r>
              <a:rPr lang="ru-RU" sz="2400">
                <a:latin typeface="Times New Roman" pitchFamily="18" charset="0"/>
              </a:rPr>
              <a:t>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uz-Cyrl-UZ" sz="2400">
                <a:latin typeface="Times New Roman" pitchFamily="18" charset="0"/>
              </a:rPr>
              <a:t>0</a:t>
            </a:r>
            <a:endParaRPr lang="en-US" sz="2400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(молодость)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56,99∙10</a:t>
            </a:r>
            <a:r>
              <a:rPr lang="en-US" sz="2400" baseline="30000">
                <a:latin typeface="Times New Roman" pitchFamily="18" charset="0"/>
              </a:rPr>
              <a:t>-4</a:t>
            </a:r>
            <a:r>
              <a:rPr lang="ru-RU" sz="2400">
                <a:latin typeface="Times New Roman" pitchFamily="18" charset="0"/>
              </a:rPr>
              <a:t> </a:t>
            </a:r>
            <a:endParaRPr lang="en-US" sz="2400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</a:t>
            </a:r>
            <a:r>
              <a:rPr lang="uz-Cyrl-UZ" sz="2400">
                <a:latin typeface="Times New Roman" pitchFamily="18" charset="0"/>
              </a:rPr>
              <a:t>авявчвежо</a:t>
            </a:r>
            <a:r>
              <a:rPr lang="ru-RU" sz="2400">
                <a:latin typeface="Times New Roman" pitchFamily="18" charset="0"/>
              </a:rPr>
              <a:t>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30,893∙10</a:t>
            </a:r>
            <a:r>
              <a:rPr lang="en-US" sz="2400" baseline="30000">
                <a:latin typeface="Times New Roman" pitchFamily="18" charset="0"/>
              </a:rPr>
              <a:t>-7</a:t>
            </a:r>
          </a:p>
          <a:p>
            <a:pPr>
              <a:lnSpc>
                <a:spcPct val="110000"/>
              </a:lnSpc>
            </a:pPr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(молод</a:t>
            </a:r>
            <a:r>
              <a:rPr lang="uz-Cyrl-UZ" sz="2400">
                <a:latin typeface="Times New Roman" pitchFamily="18" charset="0"/>
              </a:rPr>
              <a:t>н</a:t>
            </a:r>
            <a:r>
              <a:rPr lang="ru-RU" sz="2400">
                <a:latin typeface="Times New Roman" pitchFamily="18" charset="0"/>
              </a:rPr>
              <a:t>сть)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14,97∙10</a:t>
            </a:r>
            <a:r>
              <a:rPr lang="en-US" sz="2400" baseline="30000">
                <a:latin typeface="Times New Roman" pitchFamily="18" charset="0"/>
              </a:rPr>
              <a:t>-4</a:t>
            </a:r>
            <a:endParaRPr lang="ru-RU" sz="2400" baseline="30000">
              <a:latin typeface="Times New Roman" pitchFamily="18" charset="0"/>
            </a:endParaRPr>
          </a:p>
        </p:txBody>
      </p:sp>
      <p:grpSp>
        <p:nvGrpSpPr>
          <p:cNvPr id="16388" name="Группа 3"/>
          <p:cNvGrpSpPr>
            <a:grpSpLocks/>
          </p:cNvGrpSpPr>
          <p:nvPr/>
        </p:nvGrpSpPr>
        <p:grpSpPr bwMode="auto">
          <a:xfrm>
            <a:off x="268288" y="282575"/>
            <a:ext cx="7232650" cy="1130300"/>
            <a:chOff x="268288" y="369888"/>
            <a:chExt cx="7232650" cy="1130300"/>
          </a:xfrm>
        </p:grpSpPr>
        <p:pic>
          <p:nvPicPr>
            <p:cNvPr id="16389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563" y="1000125"/>
              <a:ext cx="6429375" cy="12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0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963" y="1114425"/>
              <a:ext cx="5276850" cy="1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1" name="Picture 18" descr="C:\Program Files\Microsoft Office\MEDIA\CAGCAT10\j020558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8" y="369888"/>
              <a:ext cx="1231900" cy="113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r>
              <a:rPr lang="uz-Cyrl-UZ" sz="3600"/>
              <a:t>2-усул</a:t>
            </a:r>
            <a:endParaRPr lang="ru-RU" sz="36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5113337"/>
          </a:xfrm>
        </p:spPr>
        <p:txBody>
          <a:bodyPr/>
          <a:lstStyle/>
          <a:p>
            <a:pPr>
              <a:buFontTx/>
              <a:buNone/>
            </a:pPr>
            <a:r>
              <a:rPr lang="uz-Cyrl-UZ" sz="2400">
                <a:latin typeface="Times New Roman" pitchFamily="18" charset="0"/>
              </a:rPr>
              <a:t>	тфсфкфчшб:</a:t>
            </a:r>
            <a:endParaRPr lang="ru-RU" sz="2400" i="1">
              <a:latin typeface="Times New Roman" pitchFamily="18" charset="0"/>
            </a:endParaRPr>
          </a:p>
          <a:p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т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ф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с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ф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к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ф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ч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ш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б</a:t>
            </a:r>
            <a:r>
              <a:rPr lang="uz-Cyrl-UZ" sz="2400">
                <a:latin typeface="Times New Roman" pitchFamily="18" charset="0"/>
              </a:rPr>
              <a:t>). </a:t>
            </a:r>
            <a:endParaRPr lang="ru-RU" sz="2400" i="1">
              <a:latin typeface="Times New Roman" pitchFamily="18" charset="0"/>
            </a:endParaRPr>
          </a:p>
          <a:p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(ф/</a:t>
            </a:r>
            <a:r>
              <a:rPr lang="ru-RU" sz="2400">
                <a:latin typeface="Times New Roman" pitchFamily="18" charset="0"/>
              </a:rPr>
              <a:t>т</a:t>
            </a:r>
            <a:r>
              <a:rPr lang="uz-Cyrl-UZ" sz="2400">
                <a:latin typeface="Times New Roman" pitchFamily="18" charset="0"/>
              </a:rPr>
              <a:t>)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с/ф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ф\с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к</a:t>
            </a:r>
            <a:r>
              <a:rPr lang="uz-Cyrl-UZ" sz="2400">
                <a:latin typeface="Times New Roman" pitchFamily="18" charset="0"/>
              </a:rPr>
              <a:t>\ф),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ф</a:t>
            </a:r>
            <a:r>
              <a:rPr lang="uz-Cyrl-UZ" sz="2400">
                <a:latin typeface="Times New Roman" pitchFamily="18" charset="0"/>
              </a:rPr>
              <a:t>\</a:t>
            </a:r>
            <a:r>
              <a:rPr lang="ru-RU" sz="2400">
                <a:latin typeface="Times New Roman" pitchFamily="18" charset="0"/>
              </a:rPr>
              <a:t>к</a:t>
            </a:r>
            <a:r>
              <a:rPr lang="uz-Cyrl-UZ" sz="2400">
                <a:latin typeface="Times New Roman" pitchFamily="18" charset="0"/>
              </a:rPr>
              <a:t>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ч</a:t>
            </a:r>
            <a:r>
              <a:rPr lang="uz-Cyrl-UZ" sz="2400">
                <a:latin typeface="Times New Roman" pitchFamily="18" charset="0"/>
              </a:rPr>
              <a:t>/ф),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ш</a:t>
            </a:r>
            <a:r>
              <a:rPr lang="uz-Cyrl-UZ" sz="2400">
                <a:latin typeface="Times New Roman" pitchFamily="18" charset="0"/>
              </a:rPr>
              <a:t>\ч), </a:t>
            </a:r>
            <a:r>
              <a:rPr lang="ru-RU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</a:t>
            </a:r>
            <a:r>
              <a:rPr lang="ru-RU" sz="2400">
                <a:latin typeface="Times New Roman" pitchFamily="18" charset="0"/>
              </a:rPr>
              <a:t>б</a:t>
            </a:r>
            <a:r>
              <a:rPr lang="uz-Cyrl-UZ" sz="2400">
                <a:latin typeface="Times New Roman" pitchFamily="18" charset="0"/>
              </a:rPr>
              <a:t>/ш).</a:t>
            </a:r>
            <a:endParaRPr lang="uz-Cyrl-UZ" sz="2400" i="1">
              <a:latin typeface="Times New Roman" pitchFamily="18" charset="0"/>
            </a:endParaRPr>
          </a:p>
          <a:p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(с/тф)</a:t>
            </a:r>
            <a:r>
              <a:rPr lang="uz-Cyrl-UZ" sz="2400" i="1">
                <a:latin typeface="Times New Roman" pitchFamily="18" charset="0"/>
              </a:rPr>
              <a:t> р</a:t>
            </a:r>
            <a:r>
              <a:rPr lang="uz-Cyrl-UZ" sz="2400">
                <a:latin typeface="Times New Roman" pitchFamily="18" charset="0"/>
              </a:rPr>
              <a:t>(ф/фс),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(к\сф),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(ф\фк),</a:t>
            </a:r>
            <a:r>
              <a:rPr lang="uz-Cyrl-UZ" sz="2400" i="1">
                <a:latin typeface="Times New Roman" pitchFamily="18" charset="0"/>
              </a:rPr>
              <a:t> р</a:t>
            </a:r>
            <a:r>
              <a:rPr lang="uz-Cyrl-UZ" sz="2400">
                <a:latin typeface="Times New Roman" pitchFamily="18" charset="0"/>
              </a:rPr>
              <a:t>(ч\кф),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(ш/фч),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(б\чш).</a:t>
            </a:r>
            <a:endParaRPr lang="uz-Cyrl-UZ" sz="2400" i="1">
              <a:latin typeface="Times New Roman" pitchFamily="18" charset="0"/>
            </a:endParaRPr>
          </a:p>
          <a:p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(ф/тфс),</a:t>
            </a:r>
            <a:r>
              <a:rPr lang="uz-Cyrl-UZ" sz="2400" i="1">
                <a:latin typeface="Times New Roman" pitchFamily="18" charset="0"/>
              </a:rPr>
              <a:t> р</a:t>
            </a:r>
            <a:r>
              <a:rPr lang="uz-Cyrl-UZ" sz="2400">
                <a:latin typeface="Times New Roman" pitchFamily="18" charset="0"/>
              </a:rPr>
              <a:t>(к/фсф),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(ф\сфк),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(ч\фкф),</a:t>
            </a:r>
            <a:r>
              <a:rPr lang="uz-Cyrl-UZ" sz="2400" i="1">
                <a:latin typeface="Times New Roman" pitchFamily="18" charset="0"/>
              </a:rPr>
              <a:t> р</a:t>
            </a:r>
            <a:r>
              <a:rPr lang="uz-Cyrl-UZ" sz="2400">
                <a:latin typeface="Times New Roman" pitchFamily="18" charset="0"/>
              </a:rPr>
              <a:t>(ш\кфч), </a:t>
            </a:r>
            <a:r>
              <a:rPr lang="uz-Cyrl-UZ" sz="2400" i="1">
                <a:latin typeface="Times New Roman" pitchFamily="18" charset="0"/>
              </a:rPr>
              <a:t>р</a:t>
            </a:r>
            <a:r>
              <a:rPr lang="uz-Cyrl-UZ" sz="2400">
                <a:latin typeface="Times New Roman" pitchFamily="18" charset="0"/>
              </a:rPr>
              <a:t>(б/фчш).</a:t>
            </a:r>
          </a:p>
          <a:p>
            <a:endParaRPr lang="uz-Cyrl-UZ" sz="2400">
              <a:latin typeface="Times New Roman" pitchFamily="18" charset="0"/>
            </a:endParaRPr>
          </a:p>
          <a:p>
            <a:endParaRPr lang="uz-Cyrl-UZ" sz="2400">
              <a:latin typeface="Times New Roman" pitchFamily="18" charset="0"/>
            </a:endParaRPr>
          </a:p>
          <a:p>
            <a:pPr>
              <a:lnSpc>
                <a:spcPct val="50000"/>
              </a:lnSpc>
              <a:buFontTx/>
              <a:buNone/>
            </a:pPr>
            <a:endParaRPr lang="uz-Cyrl-UZ" sz="2400" i="1">
              <a:latin typeface="Times New Roman" pitchFamily="18" charset="0"/>
            </a:endParaRPr>
          </a:p>
          <a:p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</a:t>
            </a:r>
            <a:r>
              <a:rPr lang="uz-Cyrl-UZ" sz="2400">
                <a:latin typeface="Times New Roman" pitchFamily="18" charset="0"/>
              </a:rPr>
              <a:t>тфсфкфчшб</a:t>
            </a:r>
            <a:r>
              <a:rPr lang="ru-RU" sz="2400">
                <a:latin typeface="Times New Roman" pitchFamily="18" charset="0"/>
              </a:rPr>
              <a:t>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</a:rPr>
              <a:t>0,2235 </a:t>
            </a:r>
            <a:endParaRPr lang="en-US" sz="2400">
              <a:latin typeface="Times New Roman" pitchFamily="18" charset="0"/>
            </a:endParaRPr>
          </a:p>
          <a:p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(молодость)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2.17611</a:t>
            </a:r>
            <a:r>
              <a:rPr lang="ru-RU" sz="2400">
                <a:latin typeface="Times New Roman" pitchFamily="18" charset="0"/>
              </a:rPr>
              <a:t>  </a:t>
            </a:r>
            <a:endParaRPr lang="en-US" sz="2400">
              <a:latin typeface="Times New Roman" pitchFamily="18" charset="0"/>
            </a:endParaRPr>
          </a:p>
          <a:p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</a:t>
            </a:r>
            <a:r>
              <a:rPr lang="uz-Cyrl-UZ" sz="2400">
                <a:latin typeface="Times New Roman" pitchFamily="18" charset="0"/>
              </a:rPr>
              <a:t>авявчвежо</a:t>
            </a:r>
            <a:r>
              <a:rPr lang="ru-RU" sz="2400">
                <a:latin typeface="Times New Roman" pitchFamily="18" charset="0"/>
              </a:rPr>
              <a:t>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0.59234</a:t>
            </a:r>
            <a:r>
              <a:rPr lang="ru-RU" sz="2400">
                <a:latin typeface="Times New Roman" pitchFamily="18" charset="0"/>
              </a:rPr>
              <a:t> </a:t>
            </a:r>
            <a:endParaRPr lang="en-US" sz="2400" baseline="30000">
              <a:latin typeface="Times New Roman" pitchFamily="18" charset="0"/>
            </a:endParaRPr>
          </a:p>
          <a:p>
            <a:r>
              <a:rPr lang="uz-Cyrl-UZ" sz="2400" i="1">
                <a:latin typeface="Times New Roman" pitchFamily="18" charset="0"/>
              </a:rPr>
              <a:t>H </a:t>
            </a:r>
            <a:r>
              <a:rPr lang="ru-RU" sz="2400">
                <a:latin typeface="Times New Roman" pitchFamily="18" charset="0"/>
              </a:rPr>
              <a:t>(молод</a:t>
            </a:r>
            <a:r>
              <a:rPr lang="uz-Cyrl-UZ" sz="2400">
                <a:latin typeface="Times New Roman" pitchFamily="18" charset="0"/>
              </a:rPr>
              <a:t>н</a:t>
            </a:r>
            <a:r>
              <a:rPr lang="ru-RU" sz="2400">
                <a:latin typeface="Times New Roman" pitchFamily="18" charset="0"/>
              </a:rPr>
              <a:t>сть)</a:t>
            </a:r>
            <a:r>
              <a:rPr lang="uz-Cyrl-UZ" sz="2400">
                <a:latin typeface="Times New Roman" pitchFamily="18" charset="0"/>
              </a:rPr>
              <a:t>=</a:t>
            </a:r>
            <a:r>
              <a:rPr lang="uz-Cyrl-UZ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1.74179</a:t>
            </a:r>
            <a:r>
              <a:rPr lang="ru-RU" sz="2400">
                <a:latin typeface="Times New Roman" pitchFamily="18" charset="0"/>
              </a:rPr>
              <a:t> 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1878013" y="3802063"/>
          <a:ext cx="35147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Формула" r:id="rId3" imgW="1739880" imgH="393480" progId="Equation.3">
                  <p:embed/>
                </p:oleObj>
              </mc:Choice>
              <mc:Fallback>
                <p:oleObj name="Формула" r:id="rId3" imgW="17398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3802063"/>
                        <a:ext cx="3514725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4" name="Группа 3"/>
          <p:cNvGrpSpPr>
            <a:grpSpLocks/>
          </p:cNvGrpSpPr>
          <p:nvPr/>
        </p:nvGrpSpPr>
        <p:grpSpPr bwMode="auto">
          <a:xfrm>
            <a:off x="268288" y="441325"/>
            <a:ext cx="7232650" cy="1130300"/>
            <a:chOff x="268288" y="369888"/>
            <a:chExt cx="7232650" cy="1130300"/>
          </a:xfrm>
        </p:grpSpPr>
        <p:pic>
          <p:nvPicPr>
            <p:cNvPr id="17415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563" y="1000125"/>
              <a:ext cx="6429375" cy="122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6" name="Picture 7" descr="C:\Program Files\Microsoft Office\MEDIA\OFFICE12\Lines\BD10358_.gif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963" y="1114425"/>
              <a:ext cx="5276850" cy="1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Picture 18" descr="C:\Program Files\Microsoft Office\MEDIA\CAGCAT10\j0205582.wm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8" y="369888"/>
              <a:ext cx="1231900" cy="113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8" name="AutoShape 10"/>
          <p:cNvSpPr>
            <a:spLocks noChangeArrowheads="1"/>
          </p:cNvSpPr>
          <p:nvPr/>
        </p:nvSpPr>
        <p:spPr bwMode="auto">
          <a:xfrm>
            <a:off x="539750" y="1989138"/>
            <a:ext cx="8280400" cy="360362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uz-Cyrl-UZ" sz="2000">
                <a:latin typeface="Times New Roman" pitchFamily="18" charset="0"/>
              </a:rPr>
              <a:t>монограммаларнинг эҳтимолликлари (частоталари)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7419" name="AutoShape 11"/>
          <p:cNvSpPr>
            <a:spLocks noChangeArrowheads="1"/>
          </p:cNvSpPr>
          <p:nvPr/>
        </p:nvSpPr>
        <p:spPr bwMode="auto">
          <a:xfrm>
            <a:off x="539750" y="2420938"/>
            <a:ext cx="8280400" cy="360362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uz-Cyrl-UZ" sz="2000">
                <a:latin typeface="Times New Roman" pitchFamily="18" charset="0"/>
              </a:rPr>
              <a:t>Ҳар бир ҳарфнинг ўзидан олдинги ҳарфдан кейин келиш эҳтимоллиги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7420" name="AutoShape 12"/>
          <p:cNvSpPr>
            <a:spLocks noChangeArrowheads="1"/>
          </p:cNvSpPr>
          <p:nvPr/>
        </p:nvSpPr>
        <p:spPr bwMode="auto">
          <a:xfrm>
            <a:off x="539750" y="2852738"/>
            <a:ext cx="8280400" cy="360362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uz-Cyrl-UZ" sz="2000">
                <a:latin typeface="Times New Roman" pitchFamily="18" charset="0"/>
              </a:rPr>
              <a:t>Ҳар бир ҳарфнинг ўзидан олдинги икки ҳарфдан кейин келиш эҳтимоллиги</a:t>
            </a:r>
            <a:endParaRPr lang="ru-RU" sz="2000">
              <a:latin typeface="Times New Roman" pitchFamily="18" charset="0"/>
            </a:endParaRPr>
          </a:p>
        </p:txBody>
      </p:sp>
      <p:sp>
        <p:nvSpPr>
          <p:cNvPr id="17421" name="AutoShape 13"/>
          <p:cNvSpPr>
            <a:spLocks noChangeArrowheads="1"/>
          </p:cNvSpPr>
          <p:nvPr/>
        </p:nvSpPr>
        <p:spPr bwMode="auto">
          <a:xfrm>
            <a:off x="539750" y="3284538"/>
            <a:ext cx="8280400" cy="360362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uz-Cyrl-UZ" sz="2000">
                <a:latin typeface="Times New Roman" pitchFamily="18" charset="0"/>
              </a:rPr>
              <a:t>Ҳар бир ҳарфнинг ўзидан олдинги уч ҳарфдан кейин келиш эҳтимоллиги</a:t>
            </a:r>
            <a:endParaRPr lang="ru-RU" sz="2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866</Words>
  <Application>Microsoft Office PowerPoint</Application>
  <PresentationFormat>Экран (4:3)</PresentationFormat>
  <Paragraphs>153</Paragraphs>
  <Slides>10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Оформление по умолчанию</vt:lpstr>
      <vt:lpstr>Формула</vt:lpstr>
      <vt:lpstr>Маъноли матнларнинг энтропиялари қийматларини ҳисоблаш</vt:lpstr>
      <vt:lpstr>Презентация PowerPoint</vt:lpstr>
      <vt:lpstr>Презентация PowerPoint</vt:lpstr>
      <vt:lpstr>1-усул (математик модел)</vt:lpstr>
      <vt:lpstr>Презентация PowerPoint</vt:lpstr>
      <vt:lpstr>2-усул (шартли энтропия)</vt:lpstr>
      <vt:lpstr>Презентация PowerPoint</vt:lpstr>
      <vt:lpstr>Очиқ матнларни танлашда энтропиянинг роли</vt:lpstr>
      <vt:lpstr>1-усул</vt:lpstr>
      <vt:lpstr>2-усул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Бардош</dc:creator>
  <cp:lastModifiedBy>Microsoft Office</cp:lastModifiedBy>
  <cp:revision>4</cp:revision>
  <dcterms:created xsi:type="dcterms:W3CDTF">2011-04-06T01:01:58Z</dcterms:created>
  <dcterms:modified xsi:type="dcterms:W3CDTF">2019-08-22T04:59:00Z</dcterms:modified>
</cp:coreProperties>
</file>