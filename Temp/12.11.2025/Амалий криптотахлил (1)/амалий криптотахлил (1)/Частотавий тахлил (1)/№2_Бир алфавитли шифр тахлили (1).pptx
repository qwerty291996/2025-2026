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3"/>
  </p:notesMasterIdLst>
  <p:handoutMasterIdLst>
    <p:handoutMasterId r:id="rId14"/>
  </p:handoutMasterIdLst>
  <p:sldIdLst>
    <p:sldId id="256" r:id="rId2"/>
    <p:sldId id="314" r:id="rId3"/>
    <p:sldId id="317" r:id="rId4"/>
    <p:sldId id="319" r:id="rId5"/>
    <p:sldId id="320" r:id="rId6"/>
    <p:sldId id="321" r:id="rId7"/>
    <p:sldId id="322" r:id="rId8"/>
    <p:sldId id="323" r:id="rId9"/>
    <p:sldId id="324" r:id="rId10"/>
    <p:sldId id="325" r:id="rId11"/>
    <p:sldId id="266" r:id="rId12"/>
  </p:sldIdLst>
  <p:sldSz cx="9144000" cy="6858000" type="screen4x3"/>
  <p:notesSz cx="6742113" cy="9872663"/>
  <p:defaultTextStyle>
    <a:defPPr>
      <a:defRPr lang="ru-RU"/>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800000"/>
    <a:srgbClr val="99CCFF"/>
    <a:srgbClr val="EAEAEA"/>
    <a:srgbClr val="6666FF"/>
    <a:srgbClr val="CCCCFF"/>
    <a:srgbClr val="CCFF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4C1A8A3-306A-4EB7-A6B1-4F7E0EB9C5D6}" styleName="Средний стиль 3 - акцент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7371" autoAdjust="0"/>
  </p:normalViewPr>
  <p:slideViewPr>
    <p:cSldViewPr>
      <p:cViewPr>
        <p:scale>
          <a:sx n="100" d="100"/>
          <a:sy n="100" d="100"/>
        </p:scale>
        <p:origin x="-2040" y="-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102"/>
      </p:cViewPr>
      <p:guideLst>
        <p:guide orient="horz" pos="3110"/>
        <p:guide pos="212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sz="quarter"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5C8004B8-BFCC-4873-B9BF-D00CD62BEE78}" type="datetimeFigureOut">
              <a:rPr lang="ru-RU"/>
              <a:pPr>
                <a:defRPr/>
              </a:pPr>
              <a:t>22.08.2019</a:t>
            </a:fld>
            <a:endParaRPr lang="ru-RU"/>
          </a:p>
        </p:txBody>
      </p:sp>
      <p:sp>
        <p:nvSpPr>
          <p:cNvPr id="4" name="Footer Placeholder 3"/>
          <p:cNvSpPr>
            <a:spLocks noGrp="1"/>
          </p:cNvSpPr>
          <p:nvPr>
            <p:ph type="ftr" sz="quarter" idx="2"/>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5" name="Slide Number Placeholder 4"/>
          <p:cNvSpPr>
            <a:spLocks noGrp="1"/>
          </p:cNvSpPr>
          <p:nvPr>
            <p:ph type="sldNum" sz="quarter" idx="3"/>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A3B7CD0D-DF19-4BAB-8434-31F68B091A14}" type="slidenum">
              <a:rPr lang="ru-RU"/>
              <a:pPr>
                <a:defRPr/>
              </a:pPr>
              <a:t>‹#›</a:t>
            </a:fld>
            <a:endParaRPr lang="ru-RU"/>
          </a:p>
        </p:txBody>
      </p:sp>
    </p:spTree>
    <p:extLst>
      <p:ext uri="{BB962C8B-B14F-4D97-AF65-F5344CB8AC3E}">
        <p14:creationId xmlns:p14="http://schemas.microsoft.com/office/powerpoint/2010/main" val="1191520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B5A2C722-7DF1-41E8-AA56-BF7EFF0ED5DE}" type="datetimeFigureOut">
              <a:rPr lang="ru-RU"/>
              <a:pPr>
                <a:defRPr/>
              </a:pPr>
              <a:t>22.08.2019</a:t>
            </a:fld>
            <a:endParaRPr lang="ru-RU"/>
          </a:p>
        </p:txBody>
      </p:sp>
      <p:sp>
        <p:nvSpPr>
          <p:cNvPr id="4" name="Slide Image Placeholder 3"/>
          <p:cNvSpPr>
            <a:spLocks noGrp="1" noRot="1" noChangeAspect="1"/>
          </p:cNvSpPr>
          <p:nvPr>
            <p:ph type="sldImg" idx="2"/>
          </p:nvPr>
        </p:nvSpPr>
        <p:spPr>
          <a:xfrm>
            <a:off x="901700" y="739775"/>
            <a:ext cx="4938713" cy="3703638"/>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Notes Placeholder 4"/>
          <p:cNvSpPr>
            <a:spLocks noGrp="1"/>
          </p:cNvSpPr>
          <p:nvPr>
            <p:ph type="body" sz="quarter" idx="3"/>
          </p:nvPr>
        </p:nvSpPr>
        <p:spPr>
          <a:xfrm>
            <a:off x="674688" y="4689475"/>
            <a:ext cx="5392737" cy="4443413"/>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ru-RU" noProof="0"/>
          </a:p>
        </p:txBody>
      </p:sp>
      <p:sp>
        <p:nvSpPr>
          <p:cNvPr id="6" name="Footer Placeholder 5"/>
          <p:cNvSpPr>
            <a:spLocks noGrp="1"/>
          </p:cNvSpPr>
          <p:nvPr>
            <p:ph type="ftr" sz="quarter" idx="4"/>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7" name="Slide Number Placeholder 6"/>
          <p:cNvSpPr>
            <a:spLocks noGrp="1"/>
          </p:cNvSpPr>
          <p:nvPr>
            <p:ph type="sldNum" sz="quarter" idx="5"/>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B7D02410-A587-4883-B428-3F7A2578654D}" type="slidenum">
              <a:rPr lang="ru-RU"/>
              <a:pPr>
                <a:defRPr/>
              </a:pPr>
              <a:t>‹#›</a:t>
            </a:fld>
            <a:endParaRPr lang="ru-RU"/>
          </a:p>
        </p:txBody>
      </p:sp>
    </p:spTree>
    <p:extLst>
      <p:ext uri="{BB962C8B-B14F-4D97-AF65-F5344CB8AC3E}">
        <p14:creationId xmlns:p14="http://schemas.microsoft.com/office/powerpoint/2010/main" val="12595360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eaLnBrk="1" hangingPunct="1"/>
            <a:fld id="{9BEAD786-C671-4C42-98CB-4C06D5271992}" type="slidenum">
              <a:rPr lang="ru-RU" smtClean="0"/>
              <a:pPr eaLnBrk="1" hangingPunct="1"/>
              <a:t>1</a:t>
            </a:fld>
            <a:endParaRPr lang="ru-R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ru-RU" sz="2400">
              <a:latin typeface="Times New Roman" pitchFamily="18" charset="0"/>
            </a:endParaRPr>
          </a:p>
        </p:txBody>
      </p:sp>
      <p:sp>
        <p:nvSpPr>
          <p:cNvPr id="54274" name="Rectangle 2"/>
          <p:cNvSpPr>
            <a:spLocks noGrp="1" noChangeArrowheads="1"/>
          </p:cNvSpPr>
          <p:nvPr>
            <p:ph type="ctrTitle"/>
          </p:nvPr>
        </p:nvSpPr>
        <p:spPr>
          <a:xfrm>
            <a:off x="685800" y="990600"/>
            <a:ext cx="7772400" cy="1371600"/>
          </a:xfrm>
        </p:spPr>
        <p:txBody>
          <a:bodyPr/>
          <a:lstStyle>
            <a:lvl1pPr>
              <a:defRPr sz="4000"/>
            </a:lvl1pPr>
          </a:lstStyle>
          <a:p>
            <a:r>
              <a:rPr lang="ru-RU"/>
              <a:t>Образец заголовка</a:t>
            </a:r>
          </a:p>
        </p:txBody>
      </p:sp>
      <p:sp>
        <p:nvSpPr>
          <p:cNvPr id="5427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ru-RU"/>
              <a:t>Образец подзаголовка</a:t>
            </a:r>
          </a:p>
        </p:txBody>
      </p:sp>
      <p:sp>
        <p:nvSpPr>
          <p:cNvPr id="5" name="Rectangle 9"/>
          <p:cNvSpPr>
            <a:spLocks noGrp="1" noChangeArrowheads="1"/>
          </p:cNvSpPr>
          <p:nvPr>
            <p:ph type="dt" sz="half" idx="10"/>
          </p:nvPr>
        </p:nvSpPr>
        <p:spPr>
          <a:xfrm>
            <a:off x="685800" y="6248400"/>
            <a:ext cx="1905000" cy="457200"/>
          </a:xfrm>
        </p:spPr>
        <p:txBody>
          <a:bodyPr/>
          <a:lstStyle>
            <a:lvl1pPr>
              <a:defRPr/>
            </a:lvl1pPr>
          </a:lstStyle>
          <a:p>
            <a:pPr>
              <a:defRPr/>
            </a:pPr>
            <a:endParaRPr lang="ru-RU"/>
          </a:p>
        </p:txBody>
      </p:sp>
      <p:sp>
        <p:nvSpPr>
          <p:cNvPr id="6" name="Rectangle 10"/>
          <p:cNvSpPr>
            <a:spLocks noGrp="1" noChangeArrowheads="1"/>
          </p:cNvSpPr>
          <p:nvPr>
            <p:ph type="ftr" sz="quarter" idx="11"/>
          </p:nvPr>
        </p:nvSpPr>
        <p:spPr>
          <a:xfrm>
            <a:off x="3124200" y="6248400"/>
            <a:ext cx="2895600" cy="457200"/>
          </a:xfrm>
        </p:spPr>
        <p:txBody>
          <a:bodyPr/>
          <a:lstStyle>
            <a:lvl1pPr>
              <a:defRPr/>
            </a:lvl1pPr>
          </a:lstStyle>
          <a:p>
            <a:pPr>
              <a:defRPr/>
            </a:pPr>
            <a:endParaRPr lang="ru-RU"/>
          </a:p>
        </p:txBody>
      </p:sp>
      <p:sp>
        <p:nvSpPr>
          <p:cNvPr id="7" name="Rectangle 11"/>
          <p:cNvSpPr>
            <a:spLocks noGrp="1" noChangeArrowheads="1"/>
          </p:cNvSpPr>
          <p:nvPr>
            <p:ph type="sldNum" sz="quarter" idx="12"/>
          </p:nvPr>
        </p:nvSpPr>
        <p:spPr>
          <a:xfrm>
            <a:off x="6553200" y="6248400"/>
            <a:ext cx="1905000" cy="457200"/>
          </a:xfrm>
        </p:spPr>
        <p:txBody>
          <a:bodyPr/>
          <a:lstStyle>
            <a:lvl1pPr>
              <a:defRPr/>
            </a:lvl1pPr>
          </a:lstStyle>
          <a:p>
            <a:pPr>
              <a:defRPr/>
            </a:pPr>
            <a:fld id="{828882A8-F77B-4515-A411-0AE6BD9BD78E}" type="slidenum">
              <a:rPr lang="ru-RU"/>
              <a:pPr>
                <a:defRPr/>
              </a:pPr>
              <a:t>‹#›</a:t>
            </a:fld>
            <a:endParaRPr lang="ru-RU"/>
          </a:p>
        </p:txBody>
      </p:sp>
    </p:spTree>
    <p:extLst>
      <p:ext uri="{BB962C8B-B14F-4D97-AF65-F5344CB8AC3E}">
        <p14:creationId xmlns:p14="http://schemas.microsoft.com/office/powerpoint/2010/main" val="1530566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774DF462-DCE9-4C30-B1AA-C4FBC68E1AC1}" type="slidenum">
              <a:rPr lang="ru-RU"/>
              <a:pPr>
                <a:defRPr/>
              </a:pPr>
              <a:t>‹#›</a:t>
            </a:fld>
            <a:endParaRPr lang="ru-RU"/>
          </a:p>
        </p:txBody>
      </p:sp>
    </p:spTree>
    <p:extLst>
      <p:ext uri="{BB962C8B-B14F-4D97-AF65-F5344CB8AC3E}">
        <p14:creationId xmlns:p14="http://schemas.microsoft.com/office/powerpoint/2010/main" val="1042192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0DA6EF62-8F41-4046-B048-898BCEEB3D3E}" type="slidenum">
              <a:rPr lang="ru-RU"/>
              <a:pPr>
                <a:defRPr/>
              </a:pPr>
              <a:t>‹#›</a:t>
            </a:fld>
            <a:endParaRPr lang="ru-RU"/>
          </a:p>
        </p:txBody>
      </p:sp>
    </p:spTree>
    <p:extLst>
      <p:ext uri="{BB962C8B-B14F-4D97-AF65-F5344CB8AC3E}">
        <p14:creationId xmlns:p14="http://schemas.microsoft.com/office/powerpoint/2010/main" val="228025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F971CEAD-39EE-4F3B-BBE7-C8B0D1092D36}" type="slidenum">
              <a:rPr lang="ru-RU"/>
              <a:pPr>
                <a:defRPr/>
              </a:pPr>
              <a:t>‹#›</a:t>
            </a:fld>
            <a:endParaRPr lang="ru-RU"/>
          </a:p>
        </p:txBody>
      </p:sp>
    </p:spTree>
    <p:extLst>
      <p:ext uri="{BB962C8B-B14F-4D97-AF65-F5344CB8AC3E}">
        <p14:creationId xmlns:p14="http://schemas.microsoft.com/office/powerpoint/2010/main" val="73968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Rectangle 6"/>
          <p:cNvSpPr>
            <a:spLocks noGrp="1" noChangeArrowheads="1"/>
          </p:cNvSpPr>
          <p:nvPr>
            <p:ph type="dt" sz="half" idx="10"/>
          </p:nvPr>
        </p:nvSpPr>
        <p:spPr>
          <a:ln/>
        </p:spPr>
        <p:txBody>
          <a:bodyPr/>
          <a:lstStyle>
            <a:lvl1pPr>
              <a:defRPr/>
            </a:lvl1pPr>
          </a:lstStyle>
          <a:p>
            <a:pPr>
              <a:defRPr/>
            </a:pPr>
            <a:endParaRPr lang="ru-RU"/>
          </a:p>
        </p:txBody>
      </p:sp>
      <p:sp>
        <p:nvSpPr>
          <p:cNvPr id="8" name="Rectangle 7"/>
          <p:cNvSpPr>
            <a:spLocks noGrp="1" noChangeArrowheads="1"/>
          </p:cNvSpPr>
          <p:nvPr>
            <p:ph type="ftr" sz="quarter" idx="11"/>
          </p:nvPr>
        </p:nvSpPr>
        <p:spPr>
          <a:ln/>
        </p:spPr>
        <p:txBody>
          <a:bodyPr/>
          <a:lstStyle>
            <a:lvl1pPr>
              <a:defRPr/>
            </a:lvl1pPr>
          </a:lstStyle>
          <a:p>
            <a:pPr>
              <a:defRPr/>
            </a:pPr>
            <a:endParaRPr lang="ru-RU"/>
          </a:p>
        </p:txBody>
      </p:sp>
      <p:sp>
        <p:nvSpPr>
          <p:cNvPr id="9" name="Rectangle 8"/>
          <p:cNvSpPr>
            <a:spLocks noGrp="1" noChangeArrowheads="1"/>
          </p:cNvSpPr>
          <p:nvPr>
            <p:ph type="sldNum" sz="quarter" idx="12"/>
          </p:nvPr>
        </p:nvSpPr>
        <p:spPr>
          <a:ln/>
        </p:spPr>
        <p:txBody>
          <a:bodyPr/>
          <a:lstStyle>
            <a:lvl1pPr>
              <a:defRPr/>
            </a:lvl1pPr>
          </a:lstStyle>
          <a:p>
            <a:pPr>
              <a:defRPr/>
            </a:pPr>
            <a:fld id="{FDA212FA-5FE0-42A4-A0B9-24E13D9CC0D4}" type="slidenum">
              <a:rPr lang="ru-RU"/>
              <a:pPr>
                <a:defRPr/>
              </a:pPr>
              <a:t>‹#›</a:t>
            </a:fld>
            <a:endParaRPr lang="ru-RU"/>
          </a:p>
        </p:txBody>
      </p:sp>
    </p:spTree>
    <p:extLst>
      <p:ext uri="{BB962C8B-B14F-4D97-AF65-F5344CB8AC3E}">
        <p14:creationId xmlns:p14="http://schemas.microsoft.com/office/powerpoint/2010/main" val="356051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Rectangle 6"/>
          <p:cNvSpPr>
            <a:spLocks noGrp="1" noChangeArrowheads="1"/>
          </p:cNvSpPr>
          <p:nvPr>
            <p:ph type="dt" sz="half" idx="10"/>
          </p:nvPr>
        </p:nvSpPr>
        <p:spPr>
          <a:ln/>
        </p:spPr>
        <p:txBody>
          <a:bodyPr/>
          <a:lstStyle>
            <a:lvl1pPr>
              <a:defRPr/>
            </a:lvl1pPr>
          </a:lstStyle>
          <a:p>
            <a:pPr>
              <a:defRPr/>
            </a:pPr>
            <a:endParaRPr lang="ru-RU"/>
          </a:p>
        </p:txBody>
      </p:sp>
      <p:sp>
        <p:nvSpPr>
          <p:cNvPr id="4" name="Rectangle 7"/>
          <p:cNvSpPr>
            <a:spLocks noGrp="1" noChangeArrowheads="1"/>
          </p:cNvSpPr>
          <p:nvPr>
            <p:ph type="ftr" sz="quarter" idx="11"/>
          </p:nvPr>
        </p:nvSpPr>
        <p:spPr>
          <a:ln/>
        </p:spPr>
        <p:txBody>
          <a:bodyPr/>
          <a:lstStyle>
            <a:lvl1pPr>
              <a:defRPr/>
            </a:lvl1pPr>
          </a:lstStyle>
          <a:p>
            <a:pPr>
              <a:defRPr/>
            </a:pPr>
            <a:endParaRPr lang="ru-RU"/>
          </a:p>
        </p:txBody>
      </p:sp>
      <p:sp>
        <p:nvSpPr>
          <p:cNvPr id="5" name="Rectangle 8"/>
          <p:cNvSpPr>
            <a:spLocks noGrp="1" noChangeArrowheads="1"/>
          </p:cNvSpPr>
          <p:nvPr>
            <p:ph type="sldNum" sz="quarter" idx="12"/>
          </p:nvPr>
        </p:nvSpPr>
        <p:spPr>
          <a:ln/>
        </p:spPr>
        <p:txBody>
          <a:bodyPr/>
          <a:lstStyle>
            <a:lvl1pPr>
              <a:defRPr/>
            </a:lvl1pPr>
          </a:lstStyle>
          <a:p>
            <a:pPr>
              <a:defRPr/>
            </a:pPr>
            <a:fld id="{C877409E-7DE8-4FEF-9859-EEA6FBC56460}" type="slidenum">
              <a:rPr lang="ru-RU"/>
              <a:pPr>
                <a:defRPr/>
              </a:pPr>
              <a:t>‹#›</a:t>
            </a:fld>
            <a:endParaRPr lang="ru-RU"/>
          </a:p>
        </p:txBody>
      </p:sp>
    </p:spTree>
    <p:extLst>
      <p:ext uri="{BB962C8B-B14F-4D97-AF65-F5344CB8AC3E}">
        <p14:creationId xmlns:p14="http://schemas.microsoft.com/office/powerpoint/2010/main" val="834400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ru-RU"/>
          </a:p>
        </p:txBody>
      </p:sp>
      <p:sp>
        <p:nvSpPr>
          <p:cNvPr id="3" name="Rectangle 7"/>
          <p:cNvSpPr>
            <a:spLocks noGrp="1" noChangeArrowheads="1"/>
          </p:cNvSpPr>
          <p:nvPr>
            <p:ph type="ftr" sz="quarter" idx="11"/>
          </p:nvPr>
        </p:nvSpPr>
        <p:spPr>
          <a:ln/>
        </p:spPr>
        <p:txBody>
          <a:bodyPr/>
          <a:lstStyle>
            <a:lvl1pPr>
              <a:defRPr/>
            </a:lvl1pPr>
          </a:lstStyle>
          <a:p>
            <a:pPr>
              <a:defRPr/>
            </a:pPr>
            <a:endParaRPr lang="ru-RU"/>
          </a:p>
        </p:txBody>
      </p:sp>
      <p:sp>
        <p:nvSpPr>
          <p:cNvPr id="4" name="Rectangle 8"/>
          <p:cNvSpPr>
            <a:spLocks noGrp="1" noChangeArrowheads="1"/>
          </p:cNvSpPr>
          <p:nvPr>
            <p:ph type="sldNum" sz="quarter" idx="12"/>
          </p:nvPr>
        </p:nvSpPr>
        <p:spPr>
          <a:ln/>
        </p:spPr>
        <p:txBody>
          <a:bodyPr/>
          <a:lstStyle>
            <a:lvl1pPr>
              <a:defRPr/>
            </a:lvl1pPr>
          </a:lstStyle>
          <a:p>
            <a:pPr>
              <a:defRPr/>
            </a:pPr>
            <a:fld id="{01A2B1CB-C71A-42FC-8187-0F138F6A79C6}" type="slidenum">
              <a:rPr lang="ru-RU"/>
              <a:pPr>
                <a:defRPr/>
              </a:pPr>
              <a:t>‹#›</a:t>
            </a:fld>
            <a:endParaRPr lang="ru-RU"/>
          </a:p>
        </p:txBody>
      </p:sp>
    </p:spTree>
    <p:extLst>
      <p:ext uri="{BB962C8B-B14F-4D97-AF65-F5344CB8AC3E}">
        <p14:creationId xmlns:p14="http://schemas.microsoft.com/office/powerpoint/2010/main" val="184249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0E15C171-C35C-44A6-814B-AAAF0E01222C}" type="slidenum">
              <a:rPr lang="ru-RU"/>
              <a:pPr>
                <a:defRPr/>
              </a:pPr>
              <a:t>‹#›</a:t>
            </a:fld>
            <a:endParaRPr lang="ru-RU"/>
          </a:p>
        </p:txBody>
      </p:sp>
    </p:spTree>
    <p:extLst>
      <p:ext uri="{BB962C8B-B14F-4D97-AF65-F5344CB8AC3E}">
        <p14:creationId xmlns:p14="http://schemas.microsoft.com/office/powerpoint/2010/main" val="3296843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A08660FF-4E39-4FC1-B8E4-40F084AC0876}" type="slidenum">
              <a:rPr lang="ru-RU"/>
              <a:pPr>
                <a:defRPr/>
              </a:pPr>
              <a:t>‹#›</a:t>
            </a:fld>
            <a:endParaRPr lang="ru-RU"/>
          </a:p>
        </p:txBody>
      </p:sp>
    </p:spTree>
    <p:extLst>
      <p:ext uri="{BB962C8B-B14F-4D97-AF65-F5344CB8AC3E}">
        <p14:creationId xmlns:p14="http://schemas.microsoft.com/office/powerpoint/2010/main" val="3181489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EA65D562-5564-4165-925D-EAF008AA7D0D}" type="slidenum">
              <a:rPr lang="ru-RU"/>
              <a:pPr>
                <a:defRPr/>
              </a:pPr>
              <a:t>‹#›</a:t>
            </a:fld>
            <a:endParaRPr lang="ru-RU"/>
          </a:p>
        </p:txBody>
      </p:sp>
    </p:spTree>
    <p:extLst>
      <p:ext uri="{BB962C8B-B14F-4D97-AF65-F5344CB8AC3E}">
        <p14:creationId xmlns:p14="http://schemas.microsoft.com/office/powerpoint/2010/main" val="1466430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B8289656-F5B6-4FCF-95BE-DA92734AD9A9}" type="slidenum">
              <a:rPr lang="ru-RU"/>
              <a:pPr>
                <a:defRPr/>
              </a:pPr>
              <a:t>‹#›</a:t>
            </a:fld>
            <a:endParaRPr lang="ru-RU"/>
          </a:p>
        </p:txBody>
      </p:sp>
    </p:spTree>
    <p:extLst>
      <p:ext uri="{BB962C8B-B14F-4D97-AF65-F5344CB8AC3E}">
        <p14:creationId xmlns:p14="http://schemas.microsoft.com/office/powerpoint/2010/main" val="1650423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AEAEA"/>
          </a:fgClr>
          <a:bgClr>
            <a:schemeClr val="bg1"/>
          </a:bgClr>
        </a:patt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ru-RU" smtClean="0"/>
              <a:t>Образец заголовка</a:t>
            </a:r>
          </a:p>
        </p:txBody>
      </p:sp>
      <p:sp>
        <p:nvSpPr>
          <p:cNvPr id="10243"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53252" name="AutoShape 4"/>
          <p:cNvSpPr>
            <a:spLocks noChangeArrowheads="1"/>
          </p:cNvSpPr>
          <p:nvPr/>
        </p:nvSpPr>
        <p:spPr bwMode="auto">
          <a:xfrm>
            <a:off x="609600" y="1566863"/>
            <a:ext cx="7958138"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ru-RU" sz="2400">
              <a:latin typeface="Times New Roman" pitchFamily="18" charset="0"/>
            </a:endParaRPr>
          </a:p>
        </p:txBody>
      </p:sp>
      <p:sp>
        <p:nvSpPr>
          <p:cNvPr id="53253" name="Line 5"/>
          <p:cNvSpPr>
            <a:spLocks noChangeShapeType="1"/>
          </p:cNvSpPr>
          <p:nvPr/>
        </p:nvSpPr>
        <p:spPr bwMode="auto">
          <a:xfrm flipV="1">
            <a:off x="609600" y="6172200"/>
            <a:ext cx="7924800" cy="0"/>
          </a:xfrm>
          <a:prstGeom prst="line">
            <a:avLst/>
          </a:prstGeom>
          <a:noFill/>
          <a:ln w="3175">
            <a:solidFill>
              <a:schemeClr val="accent2"/>
            </a:solidFill>
            <a:round/>
            <a:headEnd/>
            <a:tailEnd/>
          </a:ln>
          <a:effectLst/>
        </p:spPr>
        <p:txBody>
          <a:bodyPr/>
          <a:lstStyle/>
          <a:p>
            <a:pPr>
              <a:defRPr/>
            </a:pPr>
            <a:endParaRPr lang="ru-RU"/>
          </a:p>
        </p:txBody>
      </p:sp>
      <p:sp>
        <p:nvSpPr>
          <p:cNvPr id="53254"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53255"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vl1pPr>
          </a:lstStyle>
          <a:p>
            <a:pPr>
              <a:defRPr/>
            </a:pPr>
            <a:endParaRPr lang="ru-RU"/>
          </a:p>
        </p:txBody>
      </p:sp>
      <p:sp>
        <p:nvSpPr>
          <p:cNvPr id="53256"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BF0BFD4B-D1CE-45E9-B5F0-E0429312984F}"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914"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iming>
    <p:tnLst>
      <p:par>
        <p:cTn id="1" dur="indefinite" restart="never" nodeType="tmRoot"/>
      </p:par>
    </p:tnLst>
  </p:timing>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F:\САЙТ\ёрдам\Cryptography_barnsta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5193336"/>
            <a:ext cx="1037943" cy="1260000"/>
          </a:xfrm>
          <a:prstGeom prst="rect">
            <a:avLst/>
          </a:prstGeom>
          <a:noFill/>
          <a:extLst>
            <a:ext uri="{909E8E84-426E-40DD-AFC4-6F175D3DCCD1}">
              <a14:hiddenFill xmlns:a14="http://schemas.microsoft.com/office/drawing/2010/main">
                <a:solidFill>
                  <a:srgbClr val="FFFFFF"/>
                </a:solidFill>
              </a14:hiddenFill>
            </a:ext>
          </a:extLst>
        </p:spPr>
      </p:pic>
      <p:sp>
        <p:nvSpPr>
          <p:cNvPr id="10" name="Flowchart: Process 9"/>
          <p:cNvSpPr/>
          <p:nvPr/>
        </p:nvSpPr>
        <p:spPr>
          <a:xfrm>
            <a:off x="107504" y="116632"/>
            <a:ext cx="8928000" cy="6372000"/>
          </a:xfrm>
          <a:prstGeom prst="flowChartProcess">
            <a:avLst/>
          </a:prstGeom>
          <a:noFill/>
          <a:ln w="57150">
            <a:solidFill>
              <a:srgbClr val="002060"/>
            </a:solidFill>
          </a:ln>
          <a:effectLst>
            <a:glow rad="2286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ru-RU" dirty="0"/>
          </a:p>
        </p:txBody>
      </p:sp>
      <p:sp>
        <p:nvSpPr>
          <p:cNvPr id="12309" name="Text Box 21"/>
          <p:cNvSpPr txBox="1">
            <a:spLocks noChangeArrowheads="1"/>
          </p:cNvSpPr>
          <p:nvPr/>
        </p:nvSpPr>
        <p:spPr bwMode="auto">
          <a:xfrm>
            <a:off x="716545" y="332656"/>
            <a:ext cx="7736350" cy="415498"/>
          </a:xfrm>
          <a:prstGeom prst="rect">
            <a:avLst/>
          </a:prstGeom>
          <a:solidFill>
            <a:schemeClr val="bg1"/>
          </a:solidFill>
          <a:ln>
            <a:noFill/>
          </a:ln>
          <a:effectLst>
            <a:prstShdw prst="shdw17" dist="17961" dir="2700000">
              <a:schemeClr val="bg1">
                <a:gamma/>
                <a:shade val="60000"/>
                <a:invGamma/>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ru-RU" sz="2100" b="1" dirty="0" err="1" smtClean="0">
                <a:solidFill>
                  <a:srgbClr val="800000"/>
                </a:solidFill>
                <a:latin typeface="Times New Roman" pitchFamily="18" charset="0"/>
              </a:rPr>
              <a:t>Радиоэлектрон</a:t>
            </a:r>
            <a:r>
              <a:rPr lang="ru-RU" sz="2100" b="1" dirty="0" smtClean="0">
                <a:solidFill>
                  <a:srgbClr val="800000"/>
                </a:solidFill>
                <a:latin typeface="Times New Roman" pitchFamily="18" charset="0"/>
              </a:rPr>
              <a:t> </a:t>
            </a:r>
            <a:r>
              <a:rPr lang="ru-RU" sz="2100" b="1" dirty="0" err="1" smtClean="0">
                <a:solidFill>
                  <a:srgbClr val="800000"/>
                </a:solidFill>
                <a:latin typeface="Times New Roman" pitchFamily="18" charset="0"/>
              </a:rPr>
              <a:t>тизимлар</a:t>
            </a:r>
            <a:r>
              <a:rPr lang="ru-RU" sz="2100" b="1" dirty="0" smtClean="0">
                <a:solidFill>
                  <a:srgbClr val="800000"/>
                </a:solidFill>
                <a:latin typeface="Times New Roman" pitchFamily="18" charset="0"/>
              </a:rPr>
              <a:t> </a:t>
            </a:r>
            <a:r>
              <a:rPr lang="ru-RU" sz="2100" b="1" dirty="0" err="1" smtClean="0">
                <a:solidFill>
                  <a:srgbClr val="800000"/>
                </a:solidFill>
                <a:latin typeface="Times New Roman" pitchFamily="18" charset="0"/>
              </a:rPr>
              <a:t>ва</a:t>
            </a:r>
            <a:r>
              <a:rPr lang="ru-RU" sz="2100" b="1" dirty="0" smtClean="0">
                <a:solidFill>
                  <a:srgbClr val="800000"/>
                </a:solidFill>
                <a:latin typeface="Times New Roman" pitchFamily="18" charset="0"/>
              </a:rPr>
              <a:t> </a:t>
            </a:r>
            <a:r>
              <a:rPr lang="ru-RU" sz="2100" b="1" dirty="0" err="1" smtClean="0">
                <a:solidFill>
                  <a:srgbClr val="800000"/>
                </a:solidFill>
                <a:latin typeface="Times New Roman" pitchFamily="18" charset="0"/>
              </a:rPr>
              <a:t>ахборот</a:t>
            </a:r>
            <a:r>
              <a:rPr lang="ru-RU" sz="2100" b="1" dirty="0" smtClean="0">
                <a:solidFill>
                  <a:srgbClr val="800000"/>
                </a:solidFill>
                <a:latin typeface="Times New Roman" pitchFamily="18" charset="0"/>
              </a:rPr>
              <a:t> </a:t>
            </a:r>
            <a:r>
              <a:rPr lang="ru-RU" sz="2100" b="1" dirty="0" err="1" smtClean="0">
                <a:solidFill>
                  <a:srgbClr val="800000"/>
                </a:solidFill>
                <a:latin typeface="Times New Roman" pitchFamily="18" charset="0"/>
              </a:rPr>
              <a:t>технологиялари</a:t>
            </a:r>
            <a:r>
              <a:rPr lang="ru-RU" sz="2100" b="1" dirty="0" smtClean="0">
                <a:solidFill>
                  <a:srgbClr val="800000"/>
                </a:solidFill>
                <a:latin typeface="Times New Roman" pitchFamily="18" charset="0"/>
              </a:rPr>
              <a:t> </a:t>
            </a:r>
            <a:r>
              <a:rPr lang="ru-RU" sz="2100" b="1" dirty="0" err="1" smtClean="0">
                <a:solidFill>
                  <a:srgbClr val="800000"/>
                </a:solidFill>
                <a:latin typeface="Times New Roman" pitchFamily="18" charset="0"/>
              </a:rPr>
              <a:t>маркази</a:t>
            </a:r>
            <a:endParaRPr lang="ru-RU" sz="2100" b="1" dirty="0">
              <a:solidFill>
                <a:srgbClr val="800000"/>
              </a:solidFill>
              <a:latin typeface="Times New Roman" pitchFamily="18" charset="0"/>
            </a:endParaRPr>
          </a:p>
        </p:txBody>
      </p:sp>
      <p:sp>
        <p:nvSpPr>
          <p:cNvPr id="12310" name="Text Box 22"/>
          <p:cNvSpPr txBox="1">
            <a:spLocks noChangeArrowheads="1"/>
          </p:cNvSpPr>
          <p:nvPr/>
        </p:nvSpPr>
        <p:spPr bwMode="auto">
          <a:xfrm>
            <a:off x="3487738" y="6093296"/>
            <a:ext cx="1944687" cy="400110"/>
          </a:xfrm>
          <a:prstGeom prst="rect">
            <a:avLst/>
          </a:prstGeom>
          <a:noFill/>
          <a:ln>
            <a:noFill/>
          </a:ln>
          <a:effectLst>
            <a:prstShdw prst="shdw17" dist="17961" dir="2700000">
              <a:schemeClr val="bg1">
                <a:gamma/>
                <a:shade val="60000"/>
                <a:invGamma/>
                <a:alpha val="50000"/>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r>
              <a:rPr lang="uz-Cyrl-UZ" sz="2000" b="1" dirty="0" smtClean="0">
                <a:latin typeface="Times New Roman" pitchFamily="18" charset="0"/>
              </a:rPr>
              <a:t>Тошкент </a:t>
            </a:r>
            <a:r>
              <a:rPr lang="uz-Cyrl-UZ" sz="2000" b="1" dirty="0">
                <a:latin typeface="Times New Roman" pitchFamily="18" charset="0"/>
              </a:rPr>
              <a:t>- </a:t>
            </a:r>
            <a:r>
              <a:rPr lang="uz-Cyrl-UZ" sz="2000" b="1" dirty="0" smtClean="0">
                <a:latin typeface="Times New Roman" pitchFamily="18" charset="0"/>
              </a:rPr>
              <a:t>201</a:t>
            </a:r>
            <a:r>
              <a:rPr lang="en-US" sz="2000" b="1" dirty="0" smtClean="0">
                <a:latin typeface="Times New Roman" pitchFamily="18" charset="0"/>
              </a:rPr>
              <a:t>9</a:t>
            </a:r>
            <a:endParaRPr lang="ru-RU" sz="2000" b="1" dirty="0">
              <a:latin typeface="Times New Roman" pitchFamily="18" charset="0"/>
            </a:endParaRPr>
          </a:p>
        </p:txBody>
      </p:sp>
      <p:sp>
        <p:nvSpPr>
          <p:cNvPr id="12311" name="Rectangle 23"/>
          <p:cNvSpPr>
            <a:spLocks noChangeArrowheads="1"/>
          </p:cNvSpPr>
          <p:nvPr/>
        </p:nvSpPr>
        <p:spPr bwMode="auto">
          <a:xfrm>
            <a:off x="1404336" y="2075364"/>
            <a:ext cx="6624000" cy="1569660"/>
          </a:xfrm>
          <a:prstGeom prst="rect">
            <a:avLst/>
          </a:prstGeom>
          <a:ln>
            <a:noFill/>
          </a:ln>
          <a:effectLst>
            <a:glow rad="228600">
              <a:schemeClr val="accent1">
                <a:satMod val="175000"/>
                <a:alpha val="40000"/>
              </a:schemeClr>
            </a:glow>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a:schemeClr val="dk1"/>
          </a:fontRef>
        </p:style>
        <p:txBody>
          <a:bodyPr wrap="square" anchor="ctr">
            <a:spAutoFit/>
          </a:bodyPr>
          <a:lstStyle/>
          <a:p>
            <a:pPr algn="ctr"/>
            <a:r>
              <a:rPr lang="ru-RU" sz="3200" b="1" dirty="0" err="1">
                <a:latin typeface="Times New Roman" pitchFamily="18" charset="0"/>
                <a:cs typeface="Times New Roman" pitchFamily="18" charset="0"/>
              </a:rPr>
              <a:t>Тарихий</a:t>
            </a:r>
            <a:r>
              <a:rPr lang="ru-RU" sz="3200" b="1" dirty="0">
                <a:latin typeface="Times New Roman" pitchFamily="18" charset="0"/>
                <a:cs typeface="Times New Roman" pitchFamily="18" charset="0"/>
              </a:rPr>
              <a:t> </a:t>
            </a:r>
            <a:r>
              <a:rPr lang="ru-RU" sz="3200" b="1" dirty="0" err="1">
                <a:latin typeface="Times New Roman" pitchFamily="18" charset="0"/>
                <a:cs typeface="Times New Roman" pitchFamily="18" charset="0"/>
              </a:rPr>
              <a:t>шифрлар</a:t>
            </a:r>
            <a:r>
              <a:rPr lang="ru-RU" sz="3200" b="1" dirty="0">
                <a:latin typeface="Times New Roman" pitchFamily="18" charset="0"/>
                <a:cs typeface="Times New Roman" pitchFamily="18" charset="0"/>
              </a:rPr>
              <a:t> </a:t>
            </a:r>
            <a:r>
              <a:rPr lang="ru-RU" sz="3200" b="1" dirty="0" err="1">
                <a:latin typeface="Times New Roman" pitchFamily="18" charset="0"/>
                <a:cs typeface="Times New Roman" pitchFamily="18" charset="0"/>
              </a:rPr>
              <a:t>криптотаҳлили</a:t>
            </a:r>
            <a:r>
              <a:rPr lang="ru-RU" sz="3200" b="1" dirty="0">
                <a:latin typeface="Times New Roman" pitchFamily="18" charset="0"/>
                <a:cs typeface="Times New Roman" pitchFamily="18" charset="0"/>
              </a:rPr>
              <a:t>. </a:t>
            </a:r>
            <a:endParaRPr lang="en-US" sz="3200" b="1" dirty="0" smtClean="0">
              <a:latin typeface="Times New Roman" pitchFamily="18" charset="0"/>
              <a:cs typeface="Times New Roman" pitchFamily="18" charset="0"/>
            </a:endParaRPr>
          </a:p>
          <a:p>
            <a:pPr algn="ctr"/>
            <a:r>
              <a:rPr lang="ru-RU" sz="3200" b="1" dirty="0" err="1" smtClean="0">
                <a:latin typeface="Times New Roman" pitchFamily="18" charset="0"/>
                <a:cs typeface="Times New Roman" pitchFamily="18" charset="0"/>
              </a:rPr>
              <a:t>Частотавий</a:t>
            </a:r>
            <a:r>
              <a:rPr lang="ru-RU" sz="3200" b="1" dirty="0" smtClean="0">
                <a:latin typeface="Times New Roman" pitchFamily="18" charset="0"/>
                <a:cs typeface="Times New Roman" pitchFamily="18" charset="0"/>
              </a:rPr>
              <a:t> </a:t>
            </a:r>
            <a:r>
              <a:rPr lang="ru-RU" sz="3200" b="1" dirty="0" err="1">
                <a:latin typeface="Times New Roman" pitchFamily="18" charset="0"/>
                <a:cs typeface="Times New Roman" pitchFamily="18" charset="0"/>
              </a:rPr>
              <a:t>таҳлил</a:t>
            </a:r>
            <a:r>
              <a:rPr lang="ru-RU" sz="3200" b="1" dirty="0" smtClean="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
        <p:nvSpPr>
          <p:cNvPr id="12313" name="Text Box 25"/>
          <p:cNvSpPr txBox="1">
            <a:spLocks noChangeArrowheads="1"/>
          </p:cNvSpPr>
          <p:nvPr/>
        </p:nvSpPr>
        <p:spPr bwMode="auto">
          <a:xfrm>
            <a:off x="3300733" y="980728"/>
            <a:ext cx="2456826" cy="400110"/>
          </a:xfrm>
          <a:prstGeom prst="rect">
            <a:avLst/>
          </a:prstGeom>
          <a:noFill/>
          <a:ln>
            <a:noFill/>
          </a:ln>
          <a:effectLst>
            <a:prstShdw prst="shdw17" dist="17961" dir="2700000">
              <a:srgbClr val="C0C0C0">
                <a:gamma/>
                <a:shade val="60000"/>
                <a:invGamma/>
                <a:alpha val="50000"/>
              </a:srgbClr>
            </a:prstShdw>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uz-Cyrl-UZ" sz="2000" b="1" dirty="0" smtClean="0">
                <a:latin typeface="Times New Roman" pitchFamily="18" charset="0"/>
              </a:rPr>
              <a:t>1 – Ўқув кафедраси</a:t>
            </a:r>
            <a:endParaRPr lang="ru-RU" sz="2000" b="1" dirty="0">
              <a:latin typeface="Times New Roman" pitchFamily="18" charset="0"/>
            </a:endParaRPr>
          </a:p>
        </p:txBody>
      </p:sp>
      <p:sp>
        <p:nvSpPr>
          <p:cNvPr id="9"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a:t>
            </a:r>
            <a:r>
              <a:rPr lang="uz-Cyrl-UZ" sz="1400" b="1" dirty="0" smtClean="0">
                <a:solidFill>
                  <a:schemeClr val="accent1">
                    <a:lumMod val="60000"/>
                    <a:lumOff val="40000"/>
                  </a:schemeClr>
                </a:solidFill>
                <a:latin typeface="Times New Roman" pitchFamily="18" charset="0"/>
              </a:rPr>
              <a:t>1 </a:t>
            </a:r>
            <a:endParaRPr lang="ru-RU" sz="1400" b="1" dirty="0">
              <a:solidFill>
                <a:schemeClr val="accent1">
                  <a:lumMod val="60000"/>
                  <a:lumOff val="40000"/>
                </a:schemeClr>
              </a:solidFill>
              <a:latin typeface="Times New Roman"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518603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marL="342900" indent="-342900" algn="ctr">
              <a:spcBef>
                <a:spcPts val="0"/>
              </a:spcBef>
              <a:spcAft>
                <a:spcPts val="1200"/>
              </a:spcAft>
              <a:buClr>
                <a:schemeClr val="tx2"/>
              </a:buClr>
              <a:buSzPct val="75000"/>
              <a:buFont typeface="Wingdings" pitchFamily="2" charset="2"/>
              <a:buNone/>
              <a:defRPr/>
            </a:pPr>
            <a:r>
              <a:rPr lang="ru-RU" sz="2800" b="1" u="sng" dirty="0" err="1">
                <a:latin typeface="Times New Roman" pitchFamily="18" charset="0"/>
                <a:cs typeface="Times New Roman" pitchFamily="18" charset="0"/>
              </a:rPr>
              <a:t>Бир</a:t>
            </a:r>
            <a:r>
              <a:rPr lang="ru-RU" sz="2800" b="1" u="sng" dirty="0">
                <a:latin typeface="Times New Roman" pitchFamily="18" charset="0"/>
                <a:cs typeface="Times New Roman" pitchFamily="18" charset="0"/>
              </a:rPr>
              <a:t> </a:t>
            </a:r>
            <a:r>
              <a:rPr lang="ru-RU" sz="2800" b="1" u="sng" dirty="0" err="1">
                <a:latin typeface="Times New Roman" pitchFamily="18" charset="0"/>
                <a:cs typeface="Times New Roman" pitchFamily="18" charset="0"/>
              </a:rPr>
              <a:t>алфавитли</a:t>
            </a:r>
            <a:r>
              <a:rPr lang="ru-RU" sz="2800" b="1" u="sng" dirty="0">
                <a:latin typeface="Times New Roman" pitchFamily="18" charset="0"/>
                <a:cs typeface="Times New Roman" pitchFamily="18" charset="0"/>
              </a:rPr>
              <a:t> </a:t>
            </a:r>
            <a:r>
              <a:rPr lang="ru-RU" sz="2800" b="1" u="sng" dirty="0" err="1">
                <a:latin typeface="Times New Roman" pitchFamily="18" charset="0"/>
                <a:cs typeface="Times New Roman" pitchFamily="18" charset="0"/>
              </a:rPr>
              <a:t>ўрнига</a:t>
            </a:r>
            <a:r>
              <a:rPr lang="ru-RU" sz="2800" b="1" u="sng" dirty="0">
                <a:latin typeface="Times New Roman" pitchFamily="18" charset="0"/>
                <a:cs typeface="Times New Roman" pitchFamily="18" charset="0"/>
              </a:rPr>
              <a:t> </a:t>
            </a:r>
            <a:r>
              <a:rPr lang="ru-RU" sz="2800" b="1" u="sng" dirty="0" err="1">
                <a:latin typeface="Times New Roman" pitchFamily="18" charset="0"/>
                <a:cs typeface="Times New Roman" pitchFamily="18" charset="0"/>
              </a:rPr>
              <a:t>қўйиш</a:t>
            </a:r>
            <a:r>
              <a:rPr lang="ru-RU" sz="2800" b="1" u="sng" dirty="0">
                <a:latin typeface="Times New Roman" pitchFamily="18" charset="0"/>
                <a:cs typeface="Times New Roman" pitchFamily="18" charset="0"/>
              </a:rPr>
              <a:t> </a:t>
            </a:r>
            <a:r>
              <a:rPr lang="ru-RU" sz="2800" b="1" u="sng" dirty="0" err="1" smtClean="0">
                <a:latin typeface="Times New Roman" pitchFamily="18" charset="0"/>
                <a:cs typeface="Times New Roman" pitchFamily="18" charset="0"/>
              </a:rPr>
              <a:t>шифри</a:t>
            </a:r>
            <a:endParaRPr lang="en-US" sz="2800" b="1" u="sng" dirty="0" smtClean="0">
              <a:latin typeface="Times New Roman" pitchFamily="18" charset="0"/>
              <a:cs typeface="Times New Roman" pitchFamily="18" charset="0"/>
            </a:endParaRPr>
          </a:p>
          <a:p>
            <a:pPr indent="534988" algn="just">
              <a:spcAft>
                <a:spcPts val="600"/>
              </a:spcAft>
            </a:pPr>
            <a:r>
              <a:rPr lang="uz-Cyrl-UZ" sz="2400" dirty="0">
                <a:latin typeface="Times New Roman"/>
                <a:ea typeface="Times New Roman"/>
              </a:rPr>
              <a:t>Бир алфавитли ўрнига қўйиш шифри – бу энг қадимий шифр ҳисобланади. Унинг хусусий ҳолидан </a:t>
            </a:r>
            <a:r>
              <a:rPr lang="uz-Cyrl-UZ" sz="2400" dirty="0">
                <a:solidFill>
                  <a:srgbClr val="C00000"/>
                </a:solidFill>
                <a:latin typeface="Times New Roman"/>
                <a:ea typeface="Times New Roman"/>
              </a:rPr>
              <a:t>Гай Юлий Цезарь </a:t>
            </a:r>
            <a:r>
              <a:rPr lang="uz-Cyrl-UZ" sz="2400" dirty="0">
                <a:latin typeface="Times New Roman"/>
                <a:ea typeface="Times New Roman"/>
              </a:rPr>
              <a:t>махфий маълумотларни шифрлашда фойдаланган.</a:t>
            </a:r>
            <a:r>
              <a:rPr lang="uz-Cyrl-UZ" sz="2400" b="1" dirty="0">
                <a:latin typeface="Times New Roman"/>
                <a:ea typeface="Times New Roman"/>
              </a:rPr>
              <a:t> </a:t>
            </a:r>
            <a:endParaRPr lang="uz-Cyrl-UZ" sz="2400" dirty="0">
              <a:latin typeface="Times New Roman"/>
              <a:ea typeface="Times New Roman"/>
            </a:endParaRPr>
          </a:p>
          <a:p>
            <a:pPr indent="534988" algn="just">
              <a:spcAft>
                <a:spcPts val="600"/>
              </a:spcAft>
            </a:pPr>
            <a:r>
              <a:rPr lang="uz-Cyrl-UZ" sz="2400" dirty="0">
                <a:latin typeface="Times New Roman"/>
                <a:ea typeface="Times New Roman"/>
              </a:rPr>
              <a:t>Шифрлаш талаб қилинган маълумот ёзилган алфавит, яъни символлар тўплами норматив</a:t>
            </a:r>
            <a:r>
              <a:rPr lang="uz-Cyrl-UZ" sz="2400" i="1" dirty="0">
                <a:latin typeface="Times New Roman"/>
                <a:ea typeface="Times New Roman"/>
              </a:rPr>
              <a:t> </a:t>
            </a:r>
            <a:r>
              <a:rPr lang="uz-Cyrl-UZ" sz="2400" dirty="0">
                <a:latin typeface="Times New Roman"/>
                <a:ea typeface="Times New Roman"/>
              </a:rPr>
              <a:t>алфавити танланади. Агар биз кирил ҳарфларига асосланган рус алфавитини олсак, унда 32 символдан иборат бўлади (“Ё” ва “Ъ” ҳарфларини ҳисобга олинмаган). Кейин шифрлаш алфавити танланиб, норматив алфавит ва шифрлаш алфавити символлари ўртасида ўзаро бир қийматли мослик ўрнатилади. Шифрлаш алфавитининг символлари ихтиёрий белгилардан ва норматив алфавит символларидан ҳам иборат бўлиши мумкин. </a:t>
            </a:r>
            <a:endParaRPr lang="uz-Cyrl-UZ" sz="2800" dirty="0">
              <a:latin typeface="Times New Roman"/>
              <a:ea typeface="Times New Roman"/>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2</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spTree>
    <p:extLst>
      <p:ext uri="{BB962C8B-B14F-4D97-AF65-F5344CB8AC3E}">
        <p14:creationId xmlns:p14="http://schemas.microsoft.com/office/powerpoint/2010/main" val="11467186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629403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542925" algn="just">
              <a:spcBef>
                <a:spcPts val="0"/>
              </a:spcBef>
              <a:spcAft>
                <a:spcPts val="1200"/>
              </a:spcAft>
              <a:buClr>
                <a:schemeClr val="tx2"/>
              </a:buClr>
              <a:buSzPct val="75000"/>
              <a:buFont typeface="Wingdings" pitchFamily="2" charset="2"/>
              <a:buNone/>
              <a:defRPr/>
            </a:pPr>
            <a:r>
              <a:rPr lang="uz-Cyrl-UZ" sz="2000" dirty="0">
                <a:latin typeface="Times New Roman"/>
                <a:ea typeface="Times New Roman"/>
              </a:rPr>
              <a:t>Дастлабки очиқ маълумотни шифрлаш учун, очиқ матннинг ҳар бир символи унга мос шифрлаш алфавити символлари билан алмаштирилади</a:t>
            </a:r>
            <a:r>
              <a:rPr lang="uz-Cyrl-UZ" sz="2000" dirty="0" smtClean="0">
                <a:latin typeface="Times New Roman"/>
                <a:ea typeface="Times New Roman"/>
              </a:rPr>
              <a:t>.</a:t>
            </a:r>
            <a:endParaRPr lang="en-US" sz="2000" dirty="0" smtClean="0">
              <a:latin typeface="Times New Roman"/>
              <a:ea typeface="Times New Roman"/>
            </a:endParaRPr>
          </a:p>
          <a:p>
            <a:pPr indent="542925" algn="just">
              <a:spcBef>
                <a:spcPts val="0"/>
              </a:spcBef>
              <a:spcAft>
                <a:spcPts val="1200"/>
              </a:spcAft>
              <a:buClr>
                <a:schemeClr val="tx2"/>
              </a:buClr>
              <a:buSzPct val="75000"/>
              <a:buFont typeface="Wingdings" pitchFamily="2" charset="2"/>
              <a:buNone/>
              <a:defRPr/>
            </a:pPr>
            <a:endParaRPr lang="en-US" sz="2000" dirty="0">
              <a:latin typeface="Times New Roman"/>
              <a:ea typeface="Times New Roman"/>
            </a:endParaRPr>
          </a:p>
          <a:p>
            <a:pPr indent="542925" algn="just">
              <a:spcAft>
                <a:spcPts val="600"/>
              </a:spcAft>
            </a:pPr>
            <a:r>
              <a:rPr lang="ru-RU" sz="2000" dirty="0" smtClean="0">
                <a:latin typeface="Times New Roman"/>
                <a:ea typeface="Times New Roman"/>
              </a:rPr>
              <a:t>Ушбу </a:t>
            </a:r>
            <a:r>
              <a:rPr lang="uz-Cyrl-UZ" sz="2000" dirty="0" smtClean="0">
                <a:latin typeface="Times New Roman"/>
                <a:ea typeface="Times New Roman"/>
              </a:rPr>
              <a:t>жадвалда </a:t>
            </a:r>
            <a:r>
              <a:rPr lang="uz-Cyrl-UZ" sz="2000" dirty="0">
                <a:latin typeface="Times New Roman"/>
                <a:ea typeface="Times New Roman"/>
              </a:rPr>
              <a:t>келтирилган алфавитдан фойдаланиб, </a:t>
            </a:r>
            <a:r>
              <a:rPr lang="ru-RU" sz="2000" dirty="0">
                <a:latin typeface="Times New Roman"/>
                <a:ea typeface="Times New Roman"/>
              </a:rPr>
              <a:t>“звезда”</a:t>
            </a:r>
            <a:r>
              <a:rPr lang="uz-Cyrl-UZ" sz="2000" dirty="0">
                <a:latin typeface="Times New Roman"/>
                <a:ea typeface="Times New Roman"/>
              </a:rPr>
              <a:t> сўзини шифрлаш натижасида қуйидаги ҳосил бўлади</a:t>
            </a:r>
            <a:r>
              <a:rPr lang="ru-RU" sz="2000" dirty="0" smtClean="0">
                <a:latin typeface="Times New Roman"/>
                <a:ea typeface="Times New Roman"/>
              </a:rPr>
              <a:t>:</a:t>
            </a:r>
          </a:p>
          <a:p>
            <a:pPr indent="542925" algn="just">
              <a:spcAft>
                <a:spcPts val="600"/>
              </a:spcAft>
            </a:pPr>
            <a:endParaRPr lang="uz-Cyrl-UZ" sz="1400" dirty="0">
              <a:latin typeface="Times New Roman"/>
              <a:ea typeface="Times New Roman"/>
            </a:endParaRPr>
          </a:p>
          <a:p>
            <a:pPr indent="542925" algn="just">
              <a:spcBef>
                <a:spcPts val="0"/>
              </a:spcBef>
              <a:spcAft>
                <a:spcPts val="1200"/>
              </a:spcAft>
              <a:buClr>
                <a:schemeClr val="tx2"/>
              </a:buClr>
              <a:buSzPct val="75000"/>
              <a:buFont typeface="Wingdings" pitchFamily="2" charset="2"/>
              <a:buNone/>
              <a:defRPr/>
            </a:pPr>
            <a:endParaRPr lang="ru-RU" sz="2000" dirty="0" smtClean="0">
              <a:latin typeface="Times New Roman"/>
              <a:ea typeface="Times New Roman"/>
            </a:endParaRPr>
          </a:p>
          <a:p>
            <a:pPr indent="542925" algn="just">
              <a:spcAft>
                <a:spcPts val="600"/>
              </a:spcAft>
            </a:pPr>
            <a:r>
              <a:rPr lang="uz-Cyrl-UZ" sz="2000" dirty="0">
                <a:latin typeface="Times New Roman"/>
                <a:ea typeface="Times New Roman"/>
              </a:rPr>
              <a:t>Бир алфавитли ўрнига қўйиш шифрида очиқ матн символларининг мос келган рақамли алмаштириш дейиш мумкин. Бунинг учун норматив алфавит ҳар бир символига сонли эквиваленти мос қўйилади. Масалан рус тили алфавити ва пробел (</a:t>
            </a:r>
            <a:r>
              <a:rPr lang="ru-RU" sz="2000" dirty="0">
                <a:latin typeface="Times New Roman"/>
                <a:ea typeface="Times New Roman"/>
              </a:rPr>
              <a:t>“_“</a:t>
            </a:r>
            <a:r>
              <a:rPr lang="uz-Cyrl-UZ" sz="2000" dirty="0">
                <a:latin typeface="Times New Roman"/>
                <a:ea typeface="Times New Roman"/>
              </a:rPr>
              <a:t>) учун қуйидагича бўлади</a:t>
            </a:r>
            <a:r>
              <a:rPr lang="ru-RU" sz="2000" dirty="0" smtClean="0">
                <a:latin typeface="Times New Roman"/>
                <a:ea typeface="Times New Roman"/>
              </a:rPr>
              <a:t>:</a:t>
            </a:r>
          </a:p>
          <a:p>
            <a:pPr indent="542925" algn="just">
              <a:spcAft>
                <a:spcPts val="600"/>
              </a:spcAft>
            </a:pPr>
            <a:endParaRPr lang="ru-RU" sz="2000" dirty="0">
              <a:latin typeface="Times New Roman"/>
              <a:ea typeface="Times New Roman"/>
            </a:endParaRPr>
          </a:p>
          <a:p>
            <a:pPr indent="542925" algn="just">
              <a:spcAft>
                <a:spcPts val="600"/>
              </a:spcAft>
            </a:pPr>
            <a:endParaRPr lang="ru-RU" sz="2000" dirty="0" smtClean="0">
              <a:latin typeface="Times New Roman"/>
              <a:ea typeface="Times New Roman"/>
            </a:endParaRPr>
          </a:p>
          <a:p>
            <a:pPr indent="542925" algn="just">
              <a:spcAft>
                <a:spcPts val="600"/>
              </a:spcAft>
            </a:pPr>
            <a:endParaRPr lang="ru-RU" sz="2000" dirty="0" smtClean="0">
              <a:latin typeface="Times New Roman"/>
              <a:ea typeface="Times New Roman"/>
            </a:endParaRPr>
          </a:p>
          <a:p>
            <a:pPr indent="542925" algn="just">
              <a:spcAft>
                <a:spcPts val="600"/>
              </a:spcAft>
            </a:pPr>
            <a:endParaRPr lang="uz-Cyrl-UZ" sz="1400" dirty="0">
              <a:latin typeface="Times New Roman"/>
              <a:ea typeface="Times New Roman"/>
            </a:endParaRPr>
          </a:p>
          <a:p>
            <a:pPr indent="542925" algn="just">
              <a:spcBef>
                <a:spcPts val="0"/>
              </a:spcBef>
              <a:spcAft>
                <a:spcPts val="1200"/>
              </a:spcAft>
              <a:buClr>
                <a:schemeClr val="tx2"/>
              </a:buClr>
              <a:buSzPct val="75000"/>
              <a:buFont typeface="Wingdings" pitchFamily="2" charset="2"/>
              <a:buNone/>
              <a:defRPr/>
            </a:pPr>
            <a:endParaRPr lang="en-US" sz="2000" dirty="0" smtClean="0">
              <a:latin typeface="Times New Roman"/>
              <a:ea typeface="Times New Roman"/>
            </a:endParaRPr>
          </a:p>
          <a:p>
            <a:pPr indent="542925" algn="just">
              <a:spcBef>
                <a:spcPts val="0"/>
              </a:spcBef>
              <a:spcAft>
                <a:spcPts val="1200"/>
              </a:spcAft>
              <a:buClr>
                <a:schemeClr val="tx2"/>
              </a:buClr>
              <a:buSzPct val="75000"/>
              <a:buFont typeface="Wingdings" pitchFamily="2" charset="2"/>
              <a:buNone/>
              <a:defRPr/>
            </a:pPr>
            <a:endParaRPr lang="ru-RU" sz="2000" dirty="0">
              <a:latin typeface="Times New Roman" pitchFamily="18" charset="0"/>
              <a:cs typeface="Times New Roman" pitchFamily="18" charset="0"/>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3</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graphicFrame>
        <p:nvGraphicFramePr>
          <p:cNvPr id="13" name="Таблица 12"/>
          <p:cNvGraphicFramePr>
            <a:graphicFrameLocks noGrp="1"/>
          </p:cNvGraphicFramePr>
          <p:nvPr>
            <p:extLst>
              <p:ext uri="{D42A27DB-BD31-4B8C-83A1-F6EECF244321}">
                <p14:modId xmlns:p14="http://schemas.microsoft.com/office/powerpoint/2010/main" val="2462464324"/>
              </p:ext>
            </p:extLst>
          </p:nvPr>
        </p:nvGraphicFramePr>
        <p:xfrm>
          <a:off x="2078355" y="1083020"/>
          <a:ext cx="5174805" cy="426720"/>
        </p:xfrm>
        <a:graphic>
          <a:graphicData uri="http://schemas.openxmlformats.org/drawingml/2006/table">
            <a:tbl>
              <a:tblPr/>
              <a:tblGrid>
                <a:gridCol w="1672780"/>
                <a:gridCol w="271145"/>
                <a:gridCol w="262890"/>
                <a:gridCol w="271145"/>
                <a:gridCol w="264160"/>
                <a:gridCol w="264795"/>
                <a:gridCol w="254000"/>
                <a:gridCol w="297815"/>
                <a:gridCol w="271145"/>
                <a:gridCol w="271145"/>
                <a:gridCol w="271145"/>
                <a:gridCol w="262890"/>
                <a:gridCol w="264160"/>
                <a:gridCol w="275590"/>
              </a:tblGrid>
              <a:tr h="0">
                <a:tc>
                  <a:txBody>
                    <a:bodyPr/>
                    <a:lstStyle/>
                    <a:p>
                      <a:pPr indent="48895" algn="ctr">
                        <a:spcAft>
                          <a:spcPts val="600"/>
                        </a:spcAft>
                      </a:pPr>
                      <a:r>
                        <a:rPr lang="ru-RU" sz="1400" dirty="0">
                          <a:effectLst/>
                          <a:latin typeface="Times New Roman"/>
                          <a:ea typeface="Times New Roman"/>
                        </a:rPr>
                        <a:t>Норматив</a:t>
                      </a:r>
                      <a:r>
                        <a:rPr lang="uz-Cyrl-UZ" sz="1400" dirty="0">
                          <a:effectLst/>
                          <a:latin typeface="Times New Roman"/>
                          <a:ea typeface="Times New Roman"/>
                        </a:rPr>
                        <a:t> а</a:t>
                      </a:r>
                      <a:r>
                        <a:rPr lang="ru-RU" sz="1400" dirty="0" err="1">
                          <a:effectLst/>
                          <a:latin typeface="Times New Roman"/>
                          <a:ea typeface="Times New Roman"/>
                        </a:rPr>
                        <a:t>лфавит</a:t>
                      </a:r>
                      <a:endParaRPr lang="uz-Cyrl-UZ" sz="105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А</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Б</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В</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Г</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Д</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Е</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Ж</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З</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И</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Й</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К</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Л</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48895" algn="ctr">
                        <a:spcAft>
                          <a:spcPts val="600"/>
                        </a:spcAft>
                      </a:pPr>
                      <a:r>
                        <a:rPr lang="uz-Cyrl-UZ" sz="1400">
                          <a:effectLst/>
                          <a:latin typeface="Times New Roman"/>
                          <a:ea typeface="Times New Roman"/>
                        </a:rPr>
                        <a:t>Шифрлаш а</a:t>
                      </a:r>
                      <a:r>
                        <a:rPr lang="ru-RU" sz="1400">
                          <a:effectLst/>
                          <a:latin typeface="Times New Roman"/>
                          <a:ea typeface="Times New Roman"/>
                        </a:rPr>
                        <a:t>лфавит</a:t>
                      </a:r>
                      <a:r>
                        <a:rPr lang="uz-Cyrl-UZ" sz="1400">
                          <a:effectLst/>
                          <a:latin typeface="Times New Roman"/>
                          <a:ea typeface="Times New Roman"/>
                        </a:rPr>
                        <a:t>и</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Н</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К</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А</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Л</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З</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Т</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П</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И</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О</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Р</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Б</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a:effectLst/>
                          <a:latin typeface="Times New Roman"/>
                          <a:ea typeface="Times New Roman"/>
                        </a:rPr>
                        <a:t>Г</a:t>
                      </a:r>
                      <a:endParaRPr lang="uz-Cyrl-UZ" sz="105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8895" algn="ctr">
                        <a:spcAft>
                          <a:spcPts val="600"/>
                        </a:spcAft>
                      </a:pPr>
                      <a:r>
                        <a:rPr lang="ru-RU" sz="1400" dirty="0">
                          <a:effectLst/>
                          <a:latin typeface="Times New Roman"/>
                          <a:ea typeface="Times New Roman"/>
                        </a:rPr>
                        <a:t>...</a:t>
                      </a:r>
                      <a:endParaRPr lang="uz-Cyrl-UZ" sz="105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 name="Таблица 13"/>
          <p:cNvGraphicFramePr>
            <a:graphicFrameLocks noGrp="1"/>
          </p:cNvGraphicFramePr>
          <p:nvPr>
            <p:extLst>
              <p:ext uri="{D42A27DB-BD31-4B8C-83A1-F6EECF244321}">
                <p14:modId xmlns:p14="http://schemas.microsoft.com/office/powerpoint/2010/main" val="1574382241"/>
              </p:ext>
            </p:extLst>
          </p:nvPr>
        </p:nvGraphicFramePr>
        <p:xfrm>
          <a:off x="2834619" y="2276872"/>
          <a:ext cx="3213545" cy="426720"/>
        </p:xfrm>
        <a:graphic>
          <a:graphicData uri="http://schemas.openxmlformats.org/drawingml/2006/table">
            <a:tbl>
              <a:tblPr/>
              <a:tblGrid>
                <a:gridCol w="1575880"/>
                <a:gridCol w="276860"/>
                <a:gridCol w="276860"/>
                <a:gridCol w="259715"/>
                <a:gridCol w="276860"/>
                <a:gridCol w="270510"/>
                <a:gridCol w="276860"/>
              </a:tblGrid>
              <a:tr h="0">
                <a:tc>
                  <a:txBody>
                    <a:bodyPr/>
                    <a:lstStyle/>
                    <a:p>
                      <a:pPr>
                        <a:spcAft>
                          <a:spcPts val="600"/>
                        </a:spcAft>
                      </a:pPr>
                      <a:r>
                        <a:rPr lang="uz-Cyrl-UZ" sz="1400" dirty="0">
                          <a:effectLst/>
                          <a:latin typeface="Times New Roman"/>
                          <a:ea typeface="Times New Roman"/>
                        </a:rPr>
                        <a:t>Очиқ матн:</a:t>
                      </a:r>
                      <a:endParaRPr lang="uz-Cyrl-UZ" sz="1050" dirty="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З</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В</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Е</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З</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Д</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А</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600"/>
                        </a:spcAft>
                      </a:pPr>
                      <a:r>
                        <a:rPr lang="ru-RU" sz="1400" dirty="0">
                          <a:effectLst/>
                          <a:latin typeface="Times New Roman"/>
                          <a:ea typeface="Times New Roman"/>
                        </a:rPr>
                        <a:t>Шифр</a:t>
                      </a:r>
                      <a:r>
                        <a:rPr lang="uz-Cyrl-UZ" sz="1400" dirty="0">
                          <a:effectLst/>
                          <a:latin typeface="Times New Roman"/>
                          <a:ea typeface="Times New Roman"/>
                        </a:rPr>
                        <a:t>ланган матн</a:t>
                      </a:r>
                      <a:r>
                        <a:rPr lang="ru-RU" sz="1400" dirty="0">
                          <a:effectLst/>
                          <a:latin typeface="Times New Roman"/>
                          <a:ea typeface="Times New Roman"/>
                        </a:rPr>
                        <a:t>:</a:t>
                      </a:r>
                      <a:endParaRPr lang="uz-Cyrl-UZ" sz="1050" dirty="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И</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А</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Т</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И</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a:effectLst/>
                          <a:latin typeface="Times New Roman"/>
                          <a:ea typeface="Times New Roman"/>
                        </a:rPr>
                        <a:t>З</a:t>
                      </a:r>
                      <a:endParaRPr lang="uz-Cyrl-UZ" sz="105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400" dirty="0">
                          <a:effectLst/>
                          <a:latin typeface="Times New Roman"/>
                          <a:ea typeface="Times New Roman"/>
                        </a:rPr>
                        <a:t>Н</a:t>
                      </a:r>
                      <a:endParaRPr lang="uz-Cyrl-UZ" sz="1050" dirty="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5" name="Таблица 14"/>
          <p:cNvGraphicFramePr>
            <a:graphicFrameLocks noGrp="1"/>
          </p:cNvGraphicFramePr>
          <p:nvPr>
            <p:extLst>
              <p:ext uri="{D42A27DB-BD31-4B8C-83A1-F6EECF244321}">
                <p14:modId xmlns:p14="http://schemas.microsoft.com/office/powerpoint/2010/main" val="3608893178"/>
              </p:ext>
            </p:extLst>
          </p:nvPr>
        </p:nvGraphicFramePr>
        <p:xfrm>
          <a:off x="1816735" y="4505868"/>
          <a:ext cx="6064313" cy="975360"/>
        </p:xfrm>
        <a:graphic>
          <a:graphicData uri="http://schemas.openxmlformats.org/drawingml/2006/table">
            <a:tbl>
              <a:tblPr/>
              <a:tblGrid>
                <a:gridCol w="1769808"/>
                <a:gridCol w="264160"/>
                <a:gridCol w="264160"/>
                <a:gridCol w="264160"/>
                <a:gridCol w="264160"/>
                <a:gridCol w="264160"/>
                <a:gridCol w="264160"/>
                <a:gridCol w="264160"/>
                <a:gridCol w="264160"/>
                <a:gridCol w="266065"/>
                <a:gridCol w="266065"/>
                <a:gridCol w="264160"/>
                <a:gridCol w="264160"/>
                <a:gridCol w="264160"/>
                <a:gridCol w="268605"/>
                <a:gridCol w="264160"/>
                <a:gridCol w="323850"/>
              </a:tblGrid>
              <a:tr h="0">
                <a:tc>
                  <a:txBody>
                    <a:bodyPr/>
                    <a:lstStyle/>
                    <a:p>
                      <a:pPr indent="-17780" algn="ctr">
                        <a:spcAft>
                          <a:spcPts val="0"/>
                        </a:spcAft>
                      </a:pPr>
                      <a:r>
                        <a:rPr lang="ru-RU" sz="1600" dirty="0">
                          <a:effectLst/>
                          <a:latin typeface="Times New Roman"/>
                          <a:ea typeface="Times New Roman"/>
                        </a:rPr>
                        <a:t>Норматив алфавит</a:t>
                      </a:r>
                      <a:endParaRPr lang="uz-Cyrl-UZ" sz="11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А</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Б</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В</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Г</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Д</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Е</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Ж</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З</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И</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Й</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К</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Л</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М</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Н</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О</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П</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17780" algn="ctr">
                        <a:spcAft>
                          <a:spcPts val="0"/>
                        </a:spcAft>
                      </a:pPr>
                      <a:r>
                        <a:rPr lang="uz-Cyrl-UZ" sz="1600">
                          <a:effectLst/>
                          <a:latin typeface="Times New Roman"/>
                          <a:ea typeface="Times New Roman"/>
                        </a:rPr>
                        <a:t>Сонли </a:t>
                      </a:r>
                      <a:r>
                        <a:rPr lang="ru-RU" sz="1600">
                          <a:effectLst/>
                          <a:latin typeface="Times New Roman"/>
                          <a:ea typeface="Times New Roman"/>
                        </a:rPr>
                        <a:t>эквивалент</a:t>
                      </a:r>
                      <a:r>
                        <a:rPr lang="uz-Cyrl-UZ" sz="1600">
                          <a:effectLst/>
                          <a:latin typeface="Times New Roman"/>
                          <a:ea typeface="Times New Roman"/>
                        </a:rPr>
                        <a:t>и</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0</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3</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4</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5</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6</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7</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8</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9</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10</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11</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12</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13</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14</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15</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17780" algn="ctr">
                        <a:spcAft>
                          <a:spcPts val="0"/>
                        </a:spcAft>
                      </a:pPr>
                      <a:r>
                        <a:rPr lang="ru-RU" sz="1600">
                          <a:effectLst/>
                          <a:latin typeface="Times New Roman"/>
                          <a:ea typeface="Times New Roman"/>
                        </a:rPr>
                        <a:t>Норматив алфавит</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Р</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С</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Т</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У</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Ф</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Х</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Ц</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Ч</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Ш</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Щ</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Ы</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Ь</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Э</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Ю</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Я</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“_“</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indent="-17780" algn="ctr">
                        <a:spcAft>
                          <a:spcPts val="0"/>
                        </a:spcAft>
                      </a:pPr>
                      <a:r>
                        <a:rPr lang="uz-Cyrl-UZ" sz="1600" dirty="0">
                          <a:effectLst/>
                          <a:latin typeface="Times New Roman"/>
                          <a:ea typeface="Times New Roman"/>
                        </a:rPr>
                        <a:t>Сонли </a:t>
                      </a:r>
                      <a:r>
                        <a:rPr lang="ru-RU" sz="1600" dirty="0">
                          <a:effectLst/>
                          <a:latin typeface="Times New Roman"/>
                          <a:ea typeface="Times New Roman"/>
                        </a:rPr>
                        <a:t>эквивалент</a:t>
                      </a:r>
                      <a:r>
                        <a:rPr lang="uz-Cyrl-UZ" sz="1600" dirty="0">
                          <a:effectLst/>
                          <a:latin typeface="Times New Roman"/>
                          <a:ea typeface="Times New Roman"/>
                        </a:rPr>
                        <a:t>и</a:t>
                      </a:r>
                      <a:endParaRPr lang="uz-Cyrl-UZ" sz="11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16</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17</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18</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19</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20</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21</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22</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23</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24</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25</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26</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27</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28</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29</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a:effectLst/>
                          <a:latin typeface="Times New Roman"/>
                          <a:ea typeface="Times New Roman"/>
                        </a:rPr>
                        <a:t>30</a:t>
                      </a:r>
                      <a:endParaRPr lang="uz-Cyrl-UZ" sz="11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780" algn="ctr">
                        <a:spcAft>
                          <a:spcPts val="0"/>
                        </a:spcAft>
                      </a:pPr>
                      <a:r>
                        <a:rPr lang="ru-RU" sz="1600" dirty="0">
                          <a:effectLst/>
                          <a:latin typeface="Times New Roman"/>
                          <a:ea typeface="Times New Roman"/>
                        </a:rPr>
                        <a:t>31</a:t>
                      </a:r>
                      <a:endParaRPr lang="uz-Cyrl-UZ" sz="11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913758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5786199"/>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542925" algn="ctr">
              <a:spcBef>
                <a:spcPts val="600"/>
              </a:spcBef>
              <a:spcAft>
                <a:spcPts val="600"/>
              </a:spcAft>
            </a:pPr>
            <a:r>
              <a:rPr lang="ru-RU" sz="2400" b="1" dirty="0">
                <a:latin typeface="Times New Roman"/>
                <a:ea typeface="Times New Roman"/>
              </a:rPr>
              <a:t>Частот</a:t>
            </a:r>
            <a:r>
              <a:rPr lang="uz-Cyrl-UZ" sz="2400" b="1" dirty="0">
                <a:latin typeface="Times New Roman"/>
                <a:ea typeface="Times New Roman"/>
              </a:rPr>
              <a:t>авий таҳлил</a:t>
            </a:r>
            <a:endParaRPr lang="uz-Cyrl-UZ" sz="1600" dirty="0">
              <a:latin typeface="Times New Roman"/>
              <a:ea typeface="Times New Roman"/>
            </a:endParaRPr>
          </a:p>
          <a:p>
            <a:pPr indent="542925" algn="just">
              <a:spcAft>
                <a:spcPts val="600"/>
              </a:spcAft>
            </a:pPr>
            <a:r>
              <a:rPr lang="uz-Cyrl-UZ" sz="2400" dirty="0">
                <a:latin typeface="Times New Roman"/>
                <a:ea typeface="Times New Roman"/>
              </a:rPr>
              <a:t>Бир алфавитли ўрнига қўйиш шифри асосий хусусиятларидан бири, шифрматнда очиқ матн частотавий хусусиятларининг тўла сақланишидир. Мазкур хусусият криптотаҳлилчига частотавий хусусиятлардан фойдаланган ҳолда, очиқ матнни тиклаш имкониятини беради. Б</a:t>
            </a:r>
            <a:r>
              <a:rPr lang="ru-RU" sz="2400" dirty="0" err="1">
                <a:latin typeface="Times New Roman"/>
                <a:ea typeface="Times New Roman"/>
              </a:rPr>
              <a:t>унинг</a:t>
            </a:r>
            <a:r>
              <a:rPr lang="ru-RU" sz="2400" dirty="0">
                <a:latin typeface="Times New Roman"/>
                <a:ea typeface="Times New Roman"/>
              </a:rPr>
              <a:t> </a:t>
            </a:r>
            <a:r>
              <a:rPr lang="uz-Cyrl-UZ" sz="2400" dirty="0">
                <a:latin typeface="Times New Roman"/>
                <a:ea typeface="Times New Roman"/>
              </a:rPr>
              <a:t>учун шифр матн символлари частоталари билан тилнинг частотавий хусусиятлари ўзаро солиштирилади</a:t>
            </a:r>
            <a:r>
              <a:rPr lang="uz-Cyrl-UZ" sz="2400" dirty="0" smtClean="0">
                <a:latin typeface="Times New Roman"/>
                <a:ea typeface="Times New Roman"/>
              </a:rPr>
              <a:t>.</a:t>
            </a:r>
          </a:p>
          <a:p>
            <a:pPr indent="542925" algn="just">
              <a:spcAft>
                <a:spcPts val="600"/>
              </a:spcAft>
            </a:pPr>
            <a:r>
              <a:rPr lang="uz-Cyrl-UZ" sz="2400" dirty="0" smtClean="0">
                <a:latin typeface="Times New Roman"/>
                <a:ea typeface="Times New Roman"/>
              </a:rPr>
              <a:t>Шифрматнда </a:t>
            </a:r>
            <a:r>
              <a:rPr lang="uz-Cyrl-UZ" sz="2400" dirty="0">
                <a:latin typeface="Times New Roman"/>
                <a:ea typeface="Times New Roman"/>
              </a:rPr>
              <a:t>частотаси юқори бўлган символлар тилдаги частотаси юқори бўлган символлар билан алмаштирилади, қолганлари эса, тилнинг синтаксис қоидаларига асосан қўйиб чиқилади. Кўп алфавитли шифрларни шифрлаш жараёнида бир нечта алфавитлардан фойдаланилади. Бу эса бир алфавитли ўрнига қўйиш шифрига нисбатан, шифрматнда очиқ матн ҳақиқий частоталарини яшириш имкониятини </a:t>
            </a:r>
            <a:r>
              <a:rPr lang="uz-Cyrl-UZ" sz="2400" dirty="0" smtClean="0">
                <a:latin typeface="Times New Roman"/>
                <a:ea typeface="Times New Roman"/>
              </a:rPr>
              <a:t>беради. </a:t>
            </a:r>
            <a:endParaRPr lang="uz-Cyrl-UZ" sz="1600" dirty="0">
              <a:effectLst/>
              <a:latin typeface="Times New Roman"/>
              <a:ea typeface="Times New Roman"/>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dirty="0"/>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4</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spTree>
    <p:extLst>
      <p:ext uri="{BB962C8B-B14F-4D97-AF65-F5344CB8AC3E}">
        <p14:creationId xmlns:p14="http://schemas.microsoft.com/office/powerpoint/2010/main" val="29821036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624786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gn="r">
              <a:spcAft>
                <a:spcPts val="600"/>
              </a:spcAft>
            </a:pPr>
            <a:r>
              <a:rPr lang="uz-Cyrl-UZ" sz="2800" i="1" dirty="0">
                <a:latin typeface="Times New Roman"/>
                <a:ea typeface="Times New Roman"/>
              </a:rPr>
              <a:t>Рус тилида ҳарфларнинг учраш эҳтимоллиги</a:t>
            </a:r>
            <a:r>
              <a:rPr lang="ru-RU" sz="2000" i="1" dirty="0">
                <a:latin typeface="Times New Roman"/>
                <a:ea typeface="Times New Roman"/>
              </a:rPr>
              <a:t>.</a:t>
            </a:r>
            <a:endParaRPr lang="uz-Cyrl-UZ" sz="1400" dirty="0">
              <a:latin typeface="Times New Roman"/>
              <a:ea typeface="Times New Roman"/>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dirty="0"/>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5</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4229851133"/>
              </p:ext>
            </p:extLst>
          </p:nvPr>
        </p:nvGraphicFramePr>
        <p:xfrm>
          <a:off x="1187624" y="1122980"/>
          <a:ext cx="7224522" cy="3291840"/>
        </p:xfrm>
        <a:graphic>
          <a:graphicData uri="http://schemas.openxmlformats.org/drawingml/2006/table">
            <a:tbl>
              <a:tblPr/>
              <a:tblGrid>
                <a:gridCol w="961898"/>
                <a:gridCol w="1446276"/>
                <a:gridCol w="961898"/>
                <a:gridCol w="1446276"/>
                <a:gridCol w="961898"/>
                <a:gridCol w="1446276"/>
              </a:tblGrid>
              <a:tr h="245745">
                <a:tc>
                  <a:txBody>
                    <a:bodyPr/>
                    <a:lstStyle/>
                    <a:p>
                      <a:pPr algn="ctr">
                        <a:spcAft>
                          <a:spcPts val="600"/>
                        </a:spcAft>
                      </a:pPr>
                      <a:r>
                        <a:rPr lang="ru-RU" sz="1800" b="1" dirty="0">
                          <a:effectLst/>
                          <a:latin typeface="Times New Roman"/>
                          <a:ea typeface="Times New Roman"/>
                        </a:rPr>
                        <a:t>Символ</a:t>
                      </a:r>
                      <a:endParaRPr lang="uz-Cyrl-UZ" sz="1200" dirty="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uz-Cyrl-UZ" sz="1800" b="1">
                          <a:effectLst/>
                          <a:latin typeface="Times New Roman"/>
                          <a:ea typeface="Times New Roman"/>
                        </a:rPr>
                        <a:t>Эҳтимоллик</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b="1">
                          <a:effectLst/>
                          <a:latin typeface="Times New Roman"/>
                          <a:ea typeface="Times New Roman"/>
                        </a:rPr>
                        <a:t>Символ</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uz-Cyrl-UZ" sz="1800" b="1">
                          <a:effectLst/>
                          <a:latin typeface="Times New Roman"/>
                          <a:ea typeface="Times New Roman"/>
                        </a:rPr>
                        <a:t>Эҳтимоллик</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b="1">
                          <a:effectLst/>
                          <a:latin typeface="Times New Roman"/>
                          <a:ea typeface="Times New Roman"/>
                        </a:rPr>
                        <a:t>Символ</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uz-Cyrl-UZ" sz="1800" b="1">
                          <a:effectLst/>
                          <a:latin typeface="Times New Roman"/>
                          <a:ea typeface="Times New Roman"/>
                        </a:rPr>
                        <a:t>Эҳтимоллик</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пробел</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0.175</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К</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0.028</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Ч</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0.012</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О</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0.089</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М</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0.026</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Й</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0.010</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Е</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0.072</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Д</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0.025</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Х</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0.009</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А</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0.062</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П</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0.023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Ж</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0.007</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И</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0.062</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У</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0.021</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Ю</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0.006</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Н</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0.053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Я</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0.018</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Ш</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0.006</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Т</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0.053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Ы</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0.016</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Ц</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0.004</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С</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0.045</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З</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0.016</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Щ</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Р</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0.040</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Ь</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0.014</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Э</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В</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0.038</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Б</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0.014</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Ф</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0.002</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
                <a:tc>
                  <a:txBody>
                    <a:bodyPr/>
                    <a:lstStyle/>
                    <a:p>
                      <a:pPr algn="ctr">
                        <a:spcAft>
                          <a:spcPts val="600"/>
                        </a:spcAft>
                      </a:pPr>
                      <a:r>
                        <a:rPr lang="ru-RU" sz="1800">
                          <a:effectLst/>
                          <a:latin typeface="Times New Roman"/>
                          <a:ea typeface="Times New Roman"/>
                        </a:rPr>
                        <a:t>Л</a:t>
                      </a:r>
                      <a:endParaRPr lang="uz-Cyrl-UZ" sz="1200">
                        <a:effectLst/>
                        <a:latin typeface="Times New Roman"/>
                        <a:ea typeface="Times New Roman"/>
                      </a:endParaRPr>
                    </a:p>
                  </a:txBody>
                  <a:tcPr marL="45085" marR="45085"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0.035</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Г</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0.013</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 </a:t>
                      </a:r>
                      <a:endParaRPr lang="uz-Cyrl-UZ" sz="120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600"/>
                        </a:spcAft>
                      </a:pPr>
                      <a:r>
                        <a:rPr lang="ru-RU" sz="1800" dirty="0">
                          <a:effectLst/>
                          <a:latin typeface="Times New Roman"/>
                          <a:ea typeface="Times New Roman"/>
                        </a:rPr>
                        <a:t> </a:t>
                      </a:r>
                      <a:endParaRPr lang="uz-Cyrl-UZ" sz="1200" dirty="0">
                        <a:effectLst/>
                        <a:latin typeface="Times New Roman"/>
                        <a:ea typeface="Times New Roman"/>
                      </a:endParaRPr>
                    </a:p>
                  </a:txBody>
                  <a:tcPr marL="45085" marR="45085"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745995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80628"/>
            <a:ext cx="8712000" cy="660180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gn="ctr">
              <a:spcAft>
                <a:spcPts val="600"/>
              </a:spcAft>
            </a:pPr>
            <a:r>
              <a:rPr lang="uz-Cyrl-UZ" b="1" dirty="0">
                <a:latin typeface="Times New Roman" pitchFamily="18" charset="0"/>
                <a:cs typeface="Times New Roman" pitchFamily="18" charset="0"/>
              </a:rPr>
              <a:t>Бир алфавитли ўрнига қўйиш шифри билан шифрланган матнни </a:t>
            </a:r>
            <a:r>
              <a:rPr lang="uz-Cyrl-UZ" b="1" dirty="0" smtClean="0">
                <a:latin typeface="Times New Roman" pitchFamily="18" charset="0"/>
                <a:cs typeface="Times New Roman" pitchFamily="18" charset="0"/>
              </a:rPr>
              <a:t>дешифрлаш</a:t>
            </a:r>
            <a:endParaRPr lang="uz-Cyrl-UZ" sz="2000" b="1" dirty="0" smtClean="0">
              <a:latin typeface="Times New Roman" pitchFamily="18" charset="0"/>
              <a:cs typeface="Times New Roman" pitchFamily="18" charset="0"/>
            </a:endParaRPr>
          </a:p>
          <a:p>
            <a:pPr indent="542925">
              <a:spcAft>
                <a:spcPts val="600"/>
              </a:spcAft>
            </a:pPr>
            <a:r>
              <a:rPr lang="uz-Cyrl-UZ" sz="2000" dirty="0">
                <a:latin typeface="Times New Roman"/>
                <a:ea typeface="Times New Roman"/>
              </a:rPr>
              <a:t>Айтайлик бизга қуйидагича криптограмма берилган бўлсин:</a:t>
            </a:r>
          </a:p>
          <a:p>
            <a:pPr indent="542925">
              <a:spcAft>
                <a:spcPts val="600"/>
              </a:spcAft>
            </a:pPr>
            <a:r>
              <a:rPr lang="ru-RU" dirty="0">
                <a:latin typeface="Times New Roman"/>
                <a:ea typeface="Times New Roman"/>
              </a:rPr>
              <a:t>КЩРНСЙШЩХДТАРБУТЦПФЮСНЫАШЙАЬЙЛБАНСЙСТНСТОБНДЩМЩАЙШЙЖТЛЙАСБДНСЙАШЩАСЩЖ</a:t>
            </a:r>
            <a:endParaRPr lang="uz-Cyrl-UZ" dirty="0">
              <a:latin typeface="Times New Roman"/>
              <a:ea typeface="Times New Roman"/>
            </a:endParaRPr>
          </a:p>
          <a:p>
            <a:pPr indent="542925">
              <a:spcAft>
                <a:spcPts val="600"/>
              </a:spcAft>
            </a:pPr>
            <a:r>
              <a:rPr lang="ru-RU" b="1" dirty="0">
                <a:latin typeface="Times New Roman"/>
                <a:ea typeface="Times New Roman"/>
              </a:rPr>
              <a:t>---------------------------------------------------------------------</a:t>
            </a:r>
            <a:endParaRPr lang="uz-Cyrl-UZ" dirty="0">
              <a:latin typeface="Times New Roman"/>
              <a:ea typeface="Times New Roman"/>
            </a:endParaRPr>
          </a:p>
          <a:p>
            <a:pPr indent="542925">
              <a:spcAft>
                <a:spcPts val="600"/>
              </a:spcAft>
            </a:pPr>
            <a:r>
              <a:rPr lang="ru-RU" dirty="0">
                <a:latin typeface="Times New Roman"/>
                <a:ea typeface="Times New Roman"/>
              </a:rPr>
              <a:t>ЕДЩАБНЖТАЩШАРЩНСЙСЩОШЩАРЖТШШИГ</a:t>
            </a:r>
            <a:endParaRPr lang="uz-Cyrl-UZ" dirty="0">
              <a:latin typeface="Times New Roman"/>
              <a:ea typeface="Times New Roman"/>
            </a:endParaRPr>
          </a:p>
          <a:p>
            <a:pPr indent="542925">
              <a:spcAft>
                <a:spcPts val="600"/>
              </a:spcAft>
            </a:pPr>
            <a:r>
              <a:rPr lang="ru-RU" b="1" dirty="0" smtClean="0">
                <a:latin typeface="Times New Roman"/>
                <a:ea typeface="Times New Roman"/>
              </a:rPr>
              <a:t>------------------------------</a:t>
            </a:r>
          </a:p>
          <a:p>
            <a:pPr indent="542925" algn="just">
              <a:spcAft>
                <a:spcPts val="600"/>
              </a:spcAft>
            </a:pPr>
            <a:r>
              <a:rPr lang="uz-Cyrl-UZ" dirty="0">
                <a:latin typeface="Times New Roman"/>
                <a:ea typeface="Times New Roman"/>
              </a:rPr>
              <a:t>Қуйидаги жадвалда криптограмма символлари ва рус тили ҳарфларининг учраш эҳтимолликлари берилган. Бундай таҳлилни олиб боришда криптограмма қайси тилга, қайси соҳага эга эканлигини билиш </a:t>
            </a:r>
            <a:r>
              <a:rPr lang="uz-Cyrl-UZ" dirty="0" smtClean="0">
                <a:latin typeface="Times New Roman"/>
                <a:ea typeface="Times New Roman"/>
              </a:rPr>
              <a:t>криптотаҳлилчи </a:t>
            </a:r>
            <a:r>
              <a:rPr lang="uz-Cyrl-UZ" dirty="0">
                <a:latin typeface="Times New Roman"/>
                <a:ea typeface="Times New Roman"/>
              </a:rPr>
              <a:t>учун катта роль ўйнайди. Акс ҳолда юқорида таъкидланганидек, криптограммани дешифрлаш жараёни анча мураккаблашади</a:t>
            </a:r>
            <a:r>
              <a:rPr lang="uz-Cyrl-UZ" dirty="0" smtClean="0">
                <a:latin typeface="Times New Roman"/>
                <a:ea typeface="Times New Roman"/>
              </a:rPr>
              <a:t>.</a:t>
            </a:r>
          </a:p>
          <a:p>
            <a:pPr indent="542925" algn="just">
              <a:spcAft>
                <a:spcPts val="600"/>
              </a:spcAft>
            </a:pPr>
            <a:endParaRPr lang="ru-RU" sz="1400" dirty="0">
              <a:latin typeface="Times New Roman"/>
              <a:ea typeface="Times New Roman"/>
            </a:endParaRPr>
          </a:p>
          <a:p>
            <a:pPr indent="542925" algn="just">
              <a:spcAft>
                <a:spcPts val="600"/>
              </a:spcAft>
            </a:pPr>
            <a:endParaRPr lang="uz-Cyrl-UZ" sz="1400" dirty="0">
              <a:latin typeface="Times New Roman"/>
              <a:ea typeface="Times New Roman"/>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a:p>
            <a:pPr algn="just">
              <a:spcAft>
                <a:spcPts val="600"/>
              </a:spcAft>
            </a:pPr>
            <a:endParaRPr lang="ru-RU" sz="2000" dirty="0" smtClean="0">
              <a:latin typeface="Times New Roman" pitchFamily="18" charset="0"/>
              <a:cs typeface="Times New Roman" pitchFamily="18" charset="0"/>
            </a:endParaRPr>
          </a:p>
          <a:p>
            <a:pPr algn="just">
              <a:spcAft>
                <a:spcPts val="600"/>
              </a:spcAft>
            </a:pPr>
            <a:endParaRPr lang="ru-RU" sz="2000" dirty="0">
              <a:latin typeface="Times New Roman" pitchFamily="18" charset="0"/>
              <a:cs typeface="Times New Roman" pitchFamily="18" charset="0"/>
            </a:endParaRPr>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6</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2099611236"/>
              </p:ext>
            </p:extLst>
          </p:nvPr>
        </p:nvGraphicFramePr>
        <p:xfrm>
          <a:off x="2339752" y="3753036"/>
          <a:ext cx="4265486" cy="2773680"/>
        </p:xfrm>
        <a:graphic>
          <a:graphicData uri="http://schemas.openxmlformats.org/drawingml/2006/table">
            <a:tbl>
              <a:tblPr firstCol="1" bandRow="1" bandCol="1"/>
              <a:tblGrid>
                <a:gridCol w="1089025"/>
                <a:gridCol w="1071245"/>
                <a:gridCol w="989965"/>
                <a:gridCol w="1115251"/>
              </a:tblGrid>
              <a:tr h="0">
                <a:tc gridSpan="2">
                  <a:txBody>
                    <a:bodyPr/>
                    <a:lstStyle/>
                    <a:p>
                      <a:pPr algn="ctr">
                        <a:spcAft>
                          <a:spcPts val="0"/>
                        </a:spcAft>
                      </a:pPr>
                      <a:r>
                        <a:rPr lang="ru-RU" sz="1400" dirty="0">
                          <a:effectLst/>
                          <a:latin typeface="Times New Roman"/>
                          <a:ea typeface="Times New Roman"/>
                        </a:rPr>
                        <a:t>Криптограмма</a:t>
                      </a:r>
                      <a:endParaRPr lang="uz-Cyrl-UZ" sz="1050" dirty="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uz-Cyrl-UZ"/>
                    </a:p>
                  </a:txBody>
                  <a:tcPr/>
                </a:tc>
                <a:tc gridSpan="2">
                  <a:txBody>
                    <a:bodyPr/>
                    <a:lstStyle/>
                    <a:p>
                      <a:pPr algn="ctr">
                        <a:spcAft>
                          <a:spcPts val="0"/>
                        </a:spcAft>
                      </a:pPr>
                      <a:r>
                        <a:rPr lang="ru-RU" sz="1400">
                          <a:effectLst/>
                          <a:latin typeface="Times New Roman"/>
                          <a:ea typeface="Times New Roman"/>
                        </a:rPr>
                        <a:t>Рус</a:t>
                      </a:r>
                      <a:r>
                        <a:rPr lang="uz-Cyrl-UZ" sz="1400">
                          <a:effectLst/>
                          <a:latin typeface="Times New Roman"/>
                          <a:ea typeface="Times New Roman"/>
                        </a:rPr>
                        <a:t> тили</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uz-Cyrl-UZ"/>
                    </a:p>
                  </a:txBody>
                  <a:tcPr/>
                </a:tc>
              </a:tr>
              <a:tr h="0">
                <a:tc>
                  <a:txBody>
                    <a:bodyPr/>
                    <a:lstStyle/>
                    <a:p>
                      <a:pPr algn="ctr">
                        <a:spcAft>
                          <a:spcPts val="0"/>
                        </a:spcAft>
                      </a:pPr>
                      <a:r>
                        <a:rPr lang="ru-RU" sz="1400">
                          <a:effectLst/>
                          <a:latin typeface="Times New Roman"/>
                          <a:ea typeface="Times New Roman"/>
                        </a:rPr>
                        <a:t>Символ</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Частота</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Буква</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1400">
                          <a:effectLst/>
                          <a:latin typeface="Times New Roman"/>
                          <a:ea typeface="Times New Roman"/>
                        </a:rPr>
                        <a:t>Эҳтимоллик </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А</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0.121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Пробел</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0.175</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Щ</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0.111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о</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0.090</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С</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0.101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е</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0.072</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Й</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0.091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а</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0.062</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Н</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0.081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и</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0.062</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Ш</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0.081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н</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0.053</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Т</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0.071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т</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0.053</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Б</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0.051</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с</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0.045</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Р</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0.040</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р</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0.040</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Д</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0.040</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в</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0.038</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ru-RU" sz="1400">
                          <a:effectLst/>
                          <a:latin typeface="Times New Roman"/>
                          <a:ea typeface="Times New Roman"/>
                        </a:rPr>
                        <a:t>Ж</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0.040</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a:effectLst/>
                          <a:latin typeface="Times New Roman"/>
                          <a:ea typeface="Times New Roman"/>
                        </a:rPr>
                        <a:t>л</a:t>
                      </a:r>
                      <a:endParaRPr lang="uz-Cyrl-UZ" sz="105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ru-RU" sz="1400" dirty="0">
                          <a:effectLst/>
                          <a:latin typeface="Times New Roman"/>
                          <a:ea typeface="Times New Roman"/>
                        </a:rPr>
                        <a:t>0.035</a:t>
                      </a:r>
                      <a:endParaRPr lang="uz-Cyrl-UZ" sz="1050" dirty="0">
                        <a:effectLst/>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45509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16484" y="204021"/>
            <a:ext cx="8712000" cy="570925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542925" algn="just">
              <a:spcAft>
                <a:spcPts val="600"/>
              </a:spcAft>
            </a:pPr>
            <a:r>
              <a:rPr lang="uz-Cyrl-UZ" sz="2000" dirty="0">
                <a:latin typeface="Times New Roman"/>
                <a:ea typeface="Times New Roman"/>
              </a:rPr>
              <a:t>Олинган таҳлил натижаларда қуйидагича алмаштиришларни амалга оширамиз</a:t>
            </a:r>
            <a:r>
              <a:rPr lang="ru-RU" sz="2000" dirty="0">
                <a:latin typeface="Times New Roman"/>
                <a:ea typeface="Times New Roman"/>
              </a:rPr>
              <a:t>: “А”-“ ”, “Щ”-“О”. </a:t>
            </a:r>
            <a:r>
              <a:rPr lang="uz-Cyrl-UZ" sz="2000" dirty="0">
                <a:latin typeface="Times New Roman"/>
                <a:ea typeface="Times New Roman"/>
              </a:rPr>
              <a:t>Натижада қуйидагига эга бўламиз</a:t>
            </a:r>
            <a:r>
              <a:rPr lang="ru-RU" sz="2000" dirty="0">
                <a:latin typeface="Times New Roman"/>
                <a:ea typeface="Times New Roman"/>
              </a:rPr>
              <a:t>:</a:t>
            </a:r>
            <a:endParaRPr lang="uz-Cyrl-UZ" sz="1400" dirty="0">
              <a:latin typeface="Times New Roman"/>
              <a:ea typeface="Times New Roman"/>
            </a:endParaRPr>
          </a:p>
          <a:p>
            <a:pPr indent="542925">
              <a:spcAft>
                <a:spcPts val="600"/>
              </a:spcAft>
            </a:pPr>
            <a:r>
              <a:rPr lang="ru-RU" sz="2000" dirty="0">
                <a:latin typeface="Times New Roman"/>
                <a:ea typeface="Times New Roman"/>
              </a:rPr>
              <a:t>КЩРНСЙШЩХДТАРБУТЦПФЮСНЫАШЙАЬЙЛБАНСЙСТНСТОБНДЩМЩАЙШЙЖТЛЙАСБДНСЙА</a:t>
            </a:r>
            <a:endParaRPr lang="uz-Cyrl-UZ" sz="1400" dirty="0">
              <a:latin typeface="Times New Roman"/>
              <a:ea typeface="Times New Roman"/>
            </a:endParaRPr>
          </a:p>
          <a:p>
            <a:pPr indent="542925">
              <a:spcAft>
                <a:spcPts val="600"/>
              </a:spcAft>
            </a:pPr>
            <a:r>
              <a:rPr lang="ru-RU" sz="2000" b="1" dirty="0">
                <a:latin typeface="Times New Roman"/>
                <a:ea typeface="Times New Roman"/>
              </a:rPr>
              <a:t>-О-----О--- ----------- -- ---- ------------О-О ------- ------ </a:t>
            </a:r>
            <a:endParaRPr lang="uz-Cyrl-UZ" sz="1400" dirty="0">
              <a:latin typeface="Times New Roman"/>
              <a:ea typeface="Times New Roman"/>
            </a:endParaRPr>
          </a:p>
          <a:p>
            <a:pPr indent="542925">
              <a:spcAft>
                <a:spcPts val="600"/>
              </a:spcAft>
            </a:pPr>
            <a:r>
              <a:rPr lang="ru-RU"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542925">
              <a:spcAft>
                <a:spcPts val="600"/>
              </a:spcAft>
            </a:pPr>
            <a:r>
              <a:rPr lang="ru-RU" sz="2000" b="1" dirty="0">
                <a:latin typeface="Times New Roman"/>
                <a:ea typeface="Times New Roman"/>
              </a:rPr>
              <a:t>-О -О---О ---- О- -О----О--О -------</a:t>
            </a:r>
            <a:endParaRPr lang="uz-Cyrl-UZ" sz="1400" dirty="0">
              <a:latin typeface="Times New Roman"/>
              <a:ea typeface="Times New Roman"/>
            </a:endParaRPr>
          </a:p>
          <a:p>
            <a:pPr indent="542925" algn="just">
              <a:spcAft>
                <a:spcPts val="600"/>
              </a:spcAft>
            </a:pPr>
            <a:r>
              <a:rPr lang="ru-RU" sz="2000" dirty="0">
                <a:latin typeface="Times New Roman"/>
                <a:ea typeface="Times New Roman"/>
              </a:rPr>
              <a:t>8-</a:t>
            </a:r>
            <a:r>
              <a:rPr lang="uz-Cyrl-UZ" sz="2000" dirty="0">
                <a:latin typeface="Times New Roman"/>
                <a:ea typeface="Times New Roman"/>
              </a:rPr>
              <a:t> ва </a:t>
            </a:r>
            <a:r>
              <a:rPr lang="ru-RU" sz="2000" dirty="0">
                <a:latin typeface="Times New Roman"/>
                <a:ea typeface="Times New Roman"/>
              </a:rPr>
              <a:t>12-</a:t>
            </a:r>
            <a:r>
              <a:rPr lang="uz-Cyrl-UZ" sz="2000" dirty="0">
                <a:latin typeface="Times New Roman"/>
                <a:ea typeface="Times New Roman"/>
              </a:rPr>
              <a:t> сўзларда</a:t>
            </a:r>
            <a:r>
              <a:rPr lang="ru-RU" sz="2000" dirty="0">
                <a:latin typeface="Times New Roman"/>
                <a:ea typeface="Times New Roman"/>
              </a:rPr>
              <a:t> “ШЩ” и “ЩШ”</a:t>
            </a:r>
            <a:r>
              <a:rPr lang="uz-Cyrl-UZ" sz="2000" dirty="0">
                <a:latin typeface="Times New Roman"/>
                <a:ea typeface="Times New Roman"/>
              </a:rPr>
              <a:t> бирикмалари келган, бундан агар</a:t>
            </a:r>
            <a:r>
              <a:rPr lang="ru-RU" sz="2000" dirty="0">
                <a:latin typeface="Times New Roman"/>
                <a:ea typeface="Times New Roman"/>
              </a:rPr>
              <a:t> “Щ”</a:t>
            </a:r>
            <a:r>
              <a:rPr lang="uz-Cyrl-UZ" sz="2000" dirty="0">
                <a:latin typeface="Times New Roman"/>
                <a:ea typeface="Times New Roman"/>
              </a:rPr>
              <a:t> ни очиқ матнда</a:t>
            </a:r>
            <a:r>
              <a:rPr lang="ru-RU" sz="2000" dirty="0">
                <a:latin typeface="Times New Roman"/>
                <a:ea typeface="Times New Roman"/>
              </a:rPr>
              <a:t> “О”</a:t>
            </a:r>
            <a:r>
              <a:rPr lang="uz-Cyrl-UZ" sz="2000" dirty="0">
                <a:latin typeface="Times New Roman"/>
                <a:ea typeface="Times New Roman"/>
              </a:rPr>
              <a:t> ҳарфига алмаштирилса, у ҳолда</a:t>
            </a:r>
            <a:r>
              <a:rPr lang="ru-RU" sz="2000" dirty="0">
                <a:latin typeface="Times New Roman"/>
                <a:ea typeface="Times New Roman"/>
              </a:rPr>
              <a:t> “Ш”</a:t>
            </a:r>
            <a:r>
              <a:rPr lang="uz-Cyrl-UZ" sz="2000" dirty="0">
                <a:latin typeface="Times New Roman"/>
                <a:ea typeface="Times New Roman"/>
              </a:rPr>
              <a:t> символи фақатгина </a:t>
            </a:r>
            <a:r>
              <a:rPr lang="ru-RU" sz="2000" dirty="0">
                <a:latin typeface="Times New Roman"/>
                <a:ea typeface="Times New Roman"/>
              </a:rPr>
              <a:t>“Н” </a:t>
            </a:r>
            <a:r>
              <a:rPr lang="uz-Cyrl-UZ" sz="2000" dirty="0">
                <a:latin typeface="Times New Roman"/>
                <a:ea typeface="Times New Roman"/>
              </a:rPr>
              <a:t>ёки</a:t>
            </a:r>
            <a:r>
              <a:rPr lang="ru-RU" sz="2000" dirty="0">
                <a:latin typeface="Times New Roman"/>
                <a:ea typeface="Times New Roman"/>
              </a:rPr>
              <a:t> “Т”</a:t>
            </a:r>
            <a:r>
              <a:rPr lang="uz-Cyrl-UZ" sz="2000" dirty="0">
                <a:latin typeface="Times New Roman"/>
                <a:ea typeface="Times New Roman"/>
              </a:rPr>
              <a:t> ҳарфлари билан алмаштириш мумкин</a:t>
            </a:r>
            <a:r>
              <a:rPr lang="ru-RU" sz="2000" dirty="0">
                <a:latin typeface="Times New Roman"/>
                <a:ea typeface="Times New Roman"/>
              </a:rPr>
              <a:t>. “Ш”</a:t>
            </a:r>
            <a:r>
              <a:rPr lang="uz-Cyrl-UZ" sz="2000" dirty="0">
                <a:latin typeface="Times New Roman"/>
                <a:ea typeface="Times New Roman"/>
              </a:rPr>
              <a:t> ни </a:t>
            </a:r>
            <a:r>
              <a:rPr lang="ru-RU" sz="2000" dirty="0">
                <a:latin typeface="Times New Roman"/>
                <a:ea typeface="Times New Roman"/>
              </a:rPr>
              <a:t>“Н”</a:t>
            </a:r>
            <a:r>
              <a:rPr lang="uz-Cyrl-UZ" sz="2000" dirty="0">
                <a:latin typeface="Times New Roman"/>
                <a:ea typeface="Times New Roman"/>
              </a:rPr>
              <a:t> билан алмаштириш натижасида қуйидаги ҳосил бўлади:</a:t>
            </a:r>
            <a:endParaRPr lang="uz-Cyrl-UZ" sz="1400" dirty="0">
              <a:latin typeface="Times New Roman"/>
              <a:ea typeface="Times New Roman"/>
            </a:endParaRPr>
          </a:p>
          <a:p>
            <a:pPr indent="542925">
              <a:spcAft>
                <a:spcPts val="600"/>
              </a:spcAft>
            </a:pPr>
            <a:r>
              <a:rPr lang="uz-Cyrl-UZ" sz="2000" dirty="0">
                <a:latin typeface="Times New Roman"/>
                <a:ea typeface="Times New Roman"/>
              </a:rPr>
              <a:t>КЩРНСЙШЩХДТАРБУТЦПФЮСНЫАШЙАЬЙЛБАНСЙСТНСТОБНДЩМЩАЙШЙЖТЛЙАСБДНСЙА</a:t>
            </a:r>
            <a:endParaRPr lang="uz-Cyrl-UZ" sz="1400" dirty="0">
              <a:latin typeface="Times New Roman"/>
              <a:ea typeface="Times New Roman"/>
            </a:endParaRPr>
          </a:p>
          <a:p>
            <a:pPr indent="542925">
              <a:spcAft>
                <a:spcPts val="600"/>
              </a:spcAft>
            </a:pPr>
            <a:r>
              <a:rPr lang="uz-Cyrl-UZ" sz="2000" b="1" dirty="0">
                <a:latin typeface="Times New Roman"/>
                <a:ea typeface="Times New Roman"/>
              </a:rPr>
              <a:t>-О----НО--- ----------- Н- ---- ------------О-О -Н----- ------ </a:t>
            </a:r>
            <a:endParaRPr lang="uz-Cyrl-UZ" sz="1400" dirty="0">
              <a:latin typeface="Times New Roman"/>
              <a:ea typeface="Times New Roman"/>
            </a:endParaRPr>
          </a:p>
          <a:p>
            <a:pPr indent="542925">
              <a:spcAft>
                <a:spcPts val="600"/>
              </a:spcAft>
            </a:pPr>
            <a:r>
              <a:rPr lang="uz-Cyrl-UZ"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542925">
              <a:spcAft>
                <a:spcPts val="600"/>
              </a:spcAft>
            </a:pPr>
            <a:r>
              <a:rPr lang="uz-Cyrl-UZ" sz="2000" b="1" dirty="0">
                <a:latin typeface="Times New Roman"/>
                <a:ea typeface="Times New Roman"/>
              </a:rPr>
              <a:t>Н</a:t>
            </a:r>
            <a:r>
              <a:rPr lang="ru-RU" sz="2000" b="1" dirty="0">
                <a:latin typeface="Times New Roman"/>
                <a:ea typeface="Times New Roman"/>
              </a:rPr>
              <a:t>О -О---О ---- О</a:t>
            </a:r>
            <a:r>
              <a:rPr lang="uz-Cyrl-UZ" sz="2000" b="1" dirty="0">
                <a:latin typeface="Times New Roman"/>
                <a:ea typeface="Times New Roman"/>
              </a:rPr>
              <a:t>Н</a:t>
            </a:r>
            <a:r>
              <a:rPr lang="ru-RU" sz="2000" b="1" dirty="0">
                <a:latin typeface="Times New Roman"/>
                <a:ea typeface="Times New Roman"/>
              </a:rPr>
              <a:t> -О----О-</a:t>
            </a:r>
            <a:r>
              <a:rPr lang="uz-Cyrl-UZ" sz="2000" b="1" dirty="0">
                <a:latin typeface="Times New Roman"/>
                <a:ea typeface="Times New Roman"/>
              </a:rPr>
              <a:t>Н</a:t>
            </a:r>
            <a:r>
              <a:rPr lang="ru-RU" sz="2000" b="1" dirty="0">
                <a:latin typeface="Times New Roman"/>
                <a:ea typeface="Times New Roman"/>
              </a:rPr>
              <a:t>О ---</a:t>
            </a:r>
            <a:r>
              <a:rPr lang="uz-Cyrl-UZ" sz="2000" b="1" dirty="0">
                <a:latin typeface="Times New Roman"/>
                <a:ea typeface="Times New Roman"/>
              </a:rPr>
              <a:t>НН</a:t>
            </a:r>
            <a:r>
              <a:rPr lang="ru-RU" sz="2000" b="1" dirty="0">
                <a:latin typeface="Times New Roman"/>
                <a:ea typeface="Times New Roman"/>
              </a:rPr>
              <a:t>-</a:t>
            </a:r>
            <a:r>
              <a:rPr lang="ru-RU" sz="2000" b="1" dirty="0" smtClean="0">
                <a:latin typeface="Times New Roman"/>
                <a:ea typeface="Times New Roman"/>
              </a:rPr>
              <a:t>-</a:t>
            </a:r>
            <a:endParaRPr lang="ru-RU" sz="2000" dirty="0">
              <a:latin typeface="Times New Roman" pitchFamily="18" charset="0"/>
              <a:cs typeface="Times New Roman" pitchFamily="18" charset="0"/>
            </a:endParaRPr>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7</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spTree>
    <p:extLst>
      <p:ext uri="{BB962C8B-B14F-4D97-AF65-F5344CB8AC3E}">
        <p14:creationId xmlns:p14="http://schemas.microsoft.com/office/powerpoint/2010/main" val="4004288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108472" y="80628"/>
            <a:ext cx="8892000" cy="640175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361950" algn="just">
              <a:spcAft>
                <a:spcPts val="600"/>
              </a:spcAft>
            </a:pPr>
            <a:r>
              <a:rPr lang="uz-Cyrl-UZ" sz="2000" dirty="0">
                <a:latin typeface="Times New Roman"/>
                <a:ea typeface="Times New Roman"/>
              </a:rPr>
              <a:t>Бешинчи сўзни “ОГО” билан тўгайди деб фараз қилиш мумкин</a:t>
            </a:r>
            <a:r>
              <a:rPr lang="ru-RU" sz="2000" dirty="0">
                <a:latin typeface="Times New Roman"/>
                <a:ea typeface="Times New Roman"/>
              </a:rPr>
              <a:t>.</a:t>
            </a:r>
            <a:r>
              <a:rPr lang="uz-Cyrl-UZ" sz="2000" dirty="0">
                <a:latin typeface="Times New Roman"/>
                <a:ea typeface="Times New Roman"/>
              </a:rPr>
              <a:t> Бунинг учун </a:t>
            </a:r>
            <a:r>
              <a:rPr lang="ru-RU" sz="2000" dirty="0">
                <a:latin typeface="Times New Roman"/>
                <a:ea typeface="Times New Roman"/>
              </a:rPr>
              <a:t>“М”</a:t>
            </a:r>
            <a:r>
              <a:rPr lang="uz-Cyrl-UZ" sz="2000" dirty="0">
                <a:latin typeface="Times New Roman"/>
                <a:ea typeface="Times New Roman"/>
              </a:rPr>
              <a:t> ни </a:t>
            </a:r>
            <a:r>
              <a:rPr lang="ru-RU" sz="2000" dirty="0">
                <a:latin typeface="Times New Roman"/>
                <a:ea typeface="Times New Roman"/>
              </a:rPr>
              <a:t>“Г”</a:t>
            </a:r>
            <a:r>
              <a:rPr lang="uz-Cyrl-UZ" sz="2000" dirty="0">
                <a:latin typeface="Times New Roman"/>
                <a:ea typeface="Times New Roman"/>
              </a:rPr>
              <a:t> билан ҳамда “Й” ни “А” билан алмаштирилади. Натижа қуйидагича</a:t>
            </a:r>
            <a:r>
              <a:rPr lang="uz-Cyrl-UZ" sz="2000" b="1" dirty="0">
                <a:latin typeface="Times New Roman"/>
                <a:ea typeface="Times New Roman"/>
              </a:rPr>
              <a:t> </a:t>
            </a:r>
            <a:r>
              <a:rPr lang="uz-Cyrl-UZ" sz="2000" dirty="0">
                <a:latin typeface="Times New Roman"/>
                <a:ea typeface="Times New Roman"/>
              </a:rPr>
              <a:t>бўлади:</a:t>
            </a:r>
            <a:endParaRPr lang="uz-Cyrl-UZ" sz="1400" dirty="0">
              <a:latin typeface="Times New Roman"/>
              <a:ea typeface="Times New Roman"/>
            </a:endParaRPr>
          </a:p>
          <a:p>
            <a:pPr indent="361950">
              <a:spcAft>
                <a:spcPts val="600"/>
              </a:spcAft>
            </a:pPr>
            <a:r>
              <a:rPr lang="uz-Cyrl-UZ" sz="2000" dirty="0">
                <a:latin typeface="Times New Roman"/>
                <a:ea typeface="Times New Roman"/>
              </a:rPr>
              <a:t>КЩРНСЙШЩХДТАРБУТЦПФЮСНЫАШЙАЬЙЛБАНСЙСТНСТОБНДЩМЩАЙШЙЖТЛЙАСБДНСЙА</a:t>
            </a:r>
            <a:endParaRPr lang="uz-Cyrl-UZ" sz="1400" dirty="0">
              <a:latin typeface="Times New Roman"/>
              <a:ea typeface="Times New Roman"/>
            </a:endParaRPr>
          </a:p>
          <a:p>
            <a:pPr indent="361950">
              <a:spcAft>
                <a:spcPts val="600"/>
              </a:spcAft>
            </a:pPr>
            <a:r>
              <a:rPr lang="uz-Cyrl-UZ" sz="2000" b="1" dirty="0">
                <a:latin typeface="Times New Roman"/>
                <a:ea typeface="Times New Roman"/>
              </a:rPr>
              <a:t>-О---АНО--- ----------- НА -А-- --А---------ОГО АНА---А -----А </a:t>
            </a:r>
            <a:endParaRPr lang="uz-Cyrl-UZ" sz="1400" dirty="0">
              <a:latin typeface="Times New Roman"/>
              <a:ea typeface="Times New Roman"/>
            </a:endParaRPr>
          </a:p>
          <a:p>
            <a:pPr indent="361950">
              <a:spcAft>
                <a:spcPts val="600"/>
              </a:spcAft>
            </a:pPr>
            <a:r>
              <a:rPr lang="ru-RU"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361950">
              <a:spcAft>
                <a:spcPts val="600"/>
              </a:spcAft>
            </a:pPr>
            <a:r>
              <a:rPr lang="ru-RU" sz="2000" b="1" dirty="0">
                <a:latin typeface="Times New Roman"/>
                <a:ea typeface="Times New Roman"/>
              </a:rPr>
              <a:t>НО -О---О ---- ОН -О--А-О-НО ---НН--</a:t>
            </a:r>
            <a:endParaRPr lang="uz-Cyrl-UZ" sz="1400" dirty="0">
              <a:latin typeface="Times New Roman"/>
              <a:ea typeface="Times New Roman"/>
            </a:endParaRPr>
          </a:p>
          <a:p>
            <a:pPr indent="361950" algn="just">
              <a:spcAft>
                <a:spcPts val="600"/>
              </a:spcAft>
            </a:pPr>
            <a:r>
              <a:rPr lang="uz-Cyrl-UZ" sz="2000" dirty="0">
                <a:latin typeface="Times New Roman"/>
                <a:ea typeface="Times New Roman"/>
              </a:rPr>
              <a:t>Тўртинчи сўз сифатида </a:t>
            </a:r>
            <a:r>
              <a:rPr lang="ru-RU" sz="2000" dirty="0">
                <a:latin typeface="Times New Roman"/>
                <a:ea typeface="Times New Roman"/>
              </a:rPr>
              <a:t>“НА”</a:t>
            </a:r>
            <a:r>
              <a:rPr lang="uz-Cyrl-UZ" sz="2000" dirty="0">
                <a:latin typeface="Times New Roman"/>
                <a:ea typeface="Times New Roman"/>
              </a:rPr>
              <a:t> боғловчиси келган</a:t>
            </a:r>
            <a:r>
              <a:rPr lang="ru-RU" sz="2000" dirty="0">
                <a:latin typeface="Times New Roman"/>
                <a:ea typeface="Times New Roman"/>
              </a:rPr>
              <a:t>, </a:t>
            </a:r>
            <a:r>
              <a:rPr lang="uz-Cyrl-UZ" sz="2000" dirty="0">
                <a:latin typeface="Times New Roman"/>
                <a:ea typeface="Times New Roman"/>
              </a:rPr>
              <a:t>демак кейинги сўз “Е” ҳарфи билан тўгаши мумкин</a:t>
            </a:r>
            <a:r>
              <a:rPr lang="ru-RU" sz="2000" dirty="0">
                <a:latin typeface="Times New Roman"/>
                <a:ea typeface="Times New Roman"/>
              </a:rPr>
              <a:t>. “Б”</a:t>
            </a:r>
            <a:r>
              <a:rPr lang="uz-Cyrl-UZ" sz="2000" dirty="0">
                <a:latin typeface="Times New Roman"/>
                <a:ea typeface="Times New Roman"/>
              </a:rPr>
              <a:t> ни </a:t>
            </a:r>
            <a:r>
              <a:rPr lang="ru-RU" sz="2000" dirty="0">
                <a:latin typeface="Times New Roman"/>
                <a:ea typeface="Times New Roman"/>
              </a:rPr>
              <a:t>“Е”</a:t>
            </a:r>
            <a:r>
              <a:rPr lang="uz-Cyrl-UZ" sz="2000" dirty="0">
                <a:latin typeface="Times New Roman"/>
                <a:ea typeface="Times New Roman"/>
              </a:rPr>
              <a:t> билан алмаштирилади</a:t>
            </a:r>
            <a:r>
              <a:rPr lang="ru-RU" sz="2000" dirty="0">
                <a:latin typeface="Times New Roman"/>
                <a:ea typeface="Times New Roman"/>
              </a:rPr>
              <a:t>.</a:t>
            </a:r>
            <a:endParaRPr lang="uz-Cyrl-UZ" sz="1400" dirty="0">
              <a:latin typeface="Times New Roman"/>
              <a:ea typeface="Times New Roman"/>
            </a:endParaRPr>
          </a:p>
          <a:p>
            <a:pPr indent="361950" algn="just">
              <a:spcAft>
                <a:spcPts val="600"/>
              </a:spcAft>
            </a:pPr>
            <a:r>
              <a:rPr lang="uz-Cyrl-UZ" sz="2000" dirty="0">
                <a:latin typeface="Times New Roman"/>
                <a:ea typeface="Times New Roman"/>
              </a:rPr>
              <a:t>Олтинчи сўз </a:t>
            </a:r>
            <a:r>
              <a:rPr lang="ru-RU" sz="2000" dirty="0">
                <a:latin typeface="Times New Roman"/>
                <a:ea typeface="Times New Roman"/>
              </a:rPr>
              <a:t>“АНА---А”</a:t>
            </a:r>
            <a:r>
              <a:rPr lang="uz-Cyrl-UZ" sz="2000" dirty="0">
                <a:latin typeface="Times New Roman"/>
                <a:ea typeface="Times New Roman"/>
              </a:rPr>
              <a:t> кўринишида</a:t>
            </a:r>
            <a:r>
              <a:rPr lang="ru-RU" sz="2000" dirty="0">
                <a:latin typeface="Times New Roman"/>
                <a:ea typeface="Times New Roman"/>
              </a:rPr>
              <a:t>. </a:t>
            </a:r>
            <a:r>
              <a:rPr lang="uz-Cyrl-UZ" sz="2000" dirty="0">
                <a:latin typeface="Times New Roman"/>
                <a:ea typeface="Times New Roman"/>
              </a:rPr>
              <a:t>Криптограмма криптология соҳасига тегишли эканлигидан бу сўзни</a:t>
            </a:r>
            <a:r>
              <a:rPr lang="ru-RU" sz="2000" dirty="0">
                <a:latin typeface="Times New Roman"/>
                <a:ea typeface="Times New Roman"/>
              </a:rPr>
              <a:t> “АНАЛИЗА”</a:t>
            </a:r>
            <a:r>
              <a:rPr lang="uz-Cyrl-UZ" sz="2000" dirty="0">
                <a:latin typeface="Times New Roman"/>
                <a:ea typeface="Times New Roman"/>
              </a:rPr>
              <a:t> деб тахмин қилиш мумкин</a:t>
            </a:r>
            <a:r>
              <a:rPr lang="ru-RU" sz="2000" dirty="0">
                <a:latin typeface="Times New Roman"/>
                <a:ea typeface="Times New Roman"/>
              </a:rPr>
              <a:t>. </a:t>
            </a:r>
            <a:r>
              <a:rPr lang="uz-Cyrl-UZ" sz="2000" dirty="0">
                <a:latin typeface="Times New Roman"/>
                <a:ea typeface="Times New Roman"/>
              </a:rPr>
              <a:t>У ҳолда қуйидагича алмаштиришлар бажарилади:</a:t>
            </a:r>
            <a:r>
              <a:rPr lang="ru-RU" sz="2000" dirty="0">
                <a:latin typeface="Times New Roman"/>
                <a:ea typeface="Times New Roman"/>
              </a:rPr>
              <a:t> “Ж”-“Л”, “Т”-“И”, “Л”-“З”. </a:t>
            </a:r>
            <a:endParaRPr lang="uz-Cyrl-UZ" sz="1400" dirty="0">
              <a:latin typeface="Times New Roman"/>
              <a:ea typeface="Times New Roman"/>
            </a:endParaRPr>
          </a:p>
          <a:p>
            <a:pPr indent="361950">
              <a:spcAft>
                <a:spcPts val="600"/>
              </a:spcAft>
            </a:pPr>
            <a:r>
              <a:rPr lang="ru-RU" sz="2000" dirty="0">
                <a:latin typeface="Times New Roman"/>
                <a:ea typeface="Times New Roman"/>
              </a:rPr>
              <a:t>КЩРНСЙШЩХДТАРБУТЦПФЮСНЫАШЙАЬЙЛБАНСЙСТНСТОБНДЩМЩАЙШЙЖТЛЙАСБДНСЙА</a:t>
            </a:r>
            <a:endParaRPr lang="uz-Cyrl-UZ" sz="1400" dirty="0">
              <a:latin typeface="Times New Roman"/>
              <a:ea typeface="Times New Roman"/>
            </a:endParaRPr>
          </a:p>
          <a:p>
            <a:pPr indent="361950">
              <a:spcAft>
                <a:spcPts val="600"/>
              </a:spcAft>
            </a:pPr>
            <a:r>
              <a:rPr lang="ru-RU" sz="2000" b="1" dirty="0">
                <a:latin typeface="Times New Roman"/>
                <a:ea typeface="Times New Roman"/>
              </a:rPr>
              <a:t>-О---АНО--И -Е-И------- НА -АЗЕ --А-И--И-Е--ОГО АНАЛИЗА -Е---А </a:t>
            </a:r>
            <a:endParaRPr lang="uz-Cyrl-UZ" sz="1400" dirty="0">
              <a:latin typeface="Times New Roman"/>
              <a:ea typeface="Times New Roman"/>
            </a:endParaRPr>
          </a:p>
          <a:p>
            <a:pPr indent="361950">
              <a:spcAft>
                <a:spcPts val="600"/>
              </a:spcAft>
            </a:pPr>
            <a:r>
              <a:rPr lang="ru-RU"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361950">
              <a:spcAft>
                <a:spcPts val="600"/>
              </a:spcAft>
            </a:pPr>
            <a:r>
              <a:rPr lang="ru-RU" sz="2000" b="1" dirty="0">
                <a:latin typeface="Times New Roman"/>
                <a:ea typeface="Times New Roman"/>
              </a:rPr>
              <a:t>НО -ОЛ--О Е-ЛИ ОН -О--А-О-НО -ЛИНН-</a:t>
            </a:r>
            <a:r>
              <a:rPr lang="ru-RU" sz="2000" b="1" dirty="0" smtClean="0">
                <a:latin typeface="Times New Roman"/>
                <a:ea typeface="Times New Roman"/>
              </a:rPr>
              <a:t>-</a:t>
            </a:r>
            <a:endParaRPr lang="ru-RU" sz="2000" dirty="0">
              <a:latin typeface="Times New Roman" pitchFamily="18" charset="0"/>
              <a:cs typeface="Times New Roman" pitchFamily="18" charset="0"/>
            </a:endParaRPr>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8</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spTree>
    <p:extLst>
      <p:ext uri="{BB962C8B-B14F-4D97-AF65-F5344CB8AC3E}">
        <p14:creationId xmlns:p14="http://schemas.microsoft.com/office/powerpoint/2010/main" val="35931610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517064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542925" algn="just">
              <a:spcAft>
                <a:spcPts val="600"/>
              </a:spcAft>
            </a:pPr>
            <a:r>
              <a:rPr lang="ru-RU" sz="2000" dirty="0">
                <a:latin typeface="Times New Roman"/>
                <a:ea typeface="Times New Roman"/>
              </a:rPr>
              <a:t>“НА -АЗЕ”</a:t>
            </a:r>
            <a:r>
              <a:rPr lang="uz-Cyrl-UZ" sz="2000" dirty="0">
                <a:latin typeface="Times New Roman"/>
                <a:ea typeface="Times New Roman"/>
              </a:rPr>
              <a:t> сўз бирикмасидан</a:t>
            </a:r>
            <a:r>
              <a:rPr lang="ru-RU" sz="2000" dirty="0">
                <a:latin typeface="Times New Roman"/>
                <a:ea typeface="Times New Roman"/>
              </a:rPr>
              <a:t>, </a:t>
            </a:r>
            <a:r>
              <a:rPr lang="uz-Cyrl-UZ" sz="2000" dirty="0">
                <a:latin typeface="Times New Roman"/>
                <a:ea typeface="Times New Roman"/>
              </a:rPr>
              <a:t>буни </a:t>
            </a:r>
            <a:r>
              <a:rPr lang="ru-RU" sz="2000" dirty="0">
                <a:latin typeface="Times New Roman"/>
                <a:ea typeface="Times New Roman"/>
              </a:rPr>
              <a:t>“НА БАЗЕ”</a:t>
            </a:r>
            <a:r>
              <a:rPr lang="uz-Cyrl-UZ" sz="2000" dirty="0">
                <a:latin typeface="Times New Roman"/>
                <a:ea typeface="Times New Roman"/>
              </a:rPr>
              <a:t> деб тахмин қилиш мумкин</a:t>
            </a:r>
            <a:r>
              <a:rPr lang="ru-RU" sz="2000" dirty="0">
                <a:latin typeface="Times New Roman"/>
                <a:ea typeface="Times New Roman"/>
              </a:rPr>
              <a:t>, “Е-ЛИ”</a:t>
            </a:r>
            <a:r>
              <a:rPr lang="uz-Cyrl-UZ" sz="2000" dirty="0">
                <a:latin typeface="Times New Roman"/>
                <a:ea typeface="Times New Roman"/>
              </a:rPr>
              <a:t> эса </a:t>
            </a:r>
            <a:r>
              <a:rPr lang="ru-RU" sz="2000" dirty="0">
                <a:latin typeface="Times New Roman"/>
                <a:ea typeface="Times New Roman"/>
              </a:rPr>
              <a:t>“ЕСЛИ”, </a:t>
            </a:r>
            <a:r>
              <a:rPr lang="uz-Cyrl-UZ" sz="2000" dirty="0">
                <a:latin typeface="Times New Roman"/>
                <a:ea typeface="Times New Roman"/>
              </a:rPr>
              <a:t>охирги сўз </a:t>
            </a:r>
            <a:r>
              <a:rPr lang="ru-RU" sz="2000" dirty="0">
                <a:latin typeface="Times New Roman"/>
                <a:ea typeface="Times New Roman"/>
              </a:rPr>
              <a:t>“-ЛИНН--” </a:t>
            </a:r>
            <a:r>
              <a:rPr lang="uz-Cyrl-UZ" sz="2000" dirty="0">
                <a:latin typeface="Times New Roman"/>
                <a:ea typeface="Times New Roman"/>
              </a:rPr>
              <a:t>эса </a:t>
            </a:r>
            <a:r>
              <a:rPr lang="ru-RU" sz="2000" dirty="0">
                <a:latin typeface="Times New Roman"/>
                <a:ea typeface="Times New Roman"/>
              </a:rPr>
              <a:t>“ДЛИННЫЙ”</a:t>
            </a:r>
            <a:r>
              <a:rPr lang="uz-Cyrl-UZ" sz="2000" dirty="0">
                <a:latin typeface="Times New Roman"/>
                <a:ea typeface="Times New Roman"/>
              </a:rPr>
              <a:t> сўзига мос деб тахмин қилиш мумкин</a:t>
            </a:r>
            <a:r>
              <a:rPr lang="ru-RU" sz="2000" dirty="0">
                <a:latin typeface="Times New Roman"/>
                <a:ea typeface="Times New Roman"/>
              </a:rPr>
              <a:t>. </a:t>
            </a:r>
            <a:r>
              <a:rPr lang="uz-Cyrl-UZ" sz="2000" dirty="0">
                <a:latin typeface="Times New Roman"/>
                <a:ea typeface="Times New Roman"/>
              </a:rPr>
              <a:t>Мос </a:t>
            </a:r>
            <a:r>
              <a:rPr lang="ru-RU" sz="2000" dirty="0">
                <a:latin typeface="Times New Roman"/>
                <a:ea typeface="Times New Roman"/>
              </a:rPr>
              <a:t>“Ь”-“Б”, “Н”-“С”, “Р”-“Д”, “И”-“Ы”, “Г”-“Й”</a:t>
            </a:r>
            <a:r>
              <a:rPr lang="uz-Cyrl-UZ" sz="2000" dirty="0">
                <a:latin typeface="Times New Roman"/>
                <a:ea typeface="Times New Roman"/>
              </a:rPr>
              <a:t> алмаштиришлар бажариш натижасида қуйидагилар ҳосил бўлади: </a:t>
            </a:r>
            <a:endParaRPr lang="uz-Cyrl-UZ" sz="1400" dirty="0">
              <a:latin typeface="Times New Roman"/>
              <a:ea typeface="Times New Roman"/>
            </a:endParaRPr>
          </a:p>
          <a:p>
            <a:pPr indent="542925">
              <a:spcAft>
                <a:spcPts val="600"/>
              </a:spcAft>
            </a:pPr>
            <a:r>
              <a:rPr lang="ru-RU" sz="2000" dirty="0">
                <a:latin typeface="Times New Roman"/>
                <a:ea typeface="Times New Roman"/>
              </a:rPr>
              <a:t>КЩРНСЙШЩХДТАРБУТЦПФЮСНЫАШЙАЬЙЛБАНСЙСТНСТОБНДЩМЩАЙШЙЖТЛЙАСБДНСЙА</a:t>
            </a:r>
            <a:endParaRPr lang="uz-Cyrl-UZ" sz="1400" dirty="0">
              <a:latin typeface="Times New Roman"/>
              <a:ea typeface="Times New Roman"/>
            </a:endParaRPr>
          </a:p>
          <a:p>
            <a:pPr indent="542925">
              <a:spcAft>
                <a:spcPts val="600"/>
              </a:spcAft>
            </a:pPr>
            <a:r>
              <a:rPr lang="ru-RU" sz="2000" b="1" dirty="0">
                <a:latin typeface="Times New Roman"/>
                <a:ea typeface="Times New Roman"/>
              </a:rPr>
              <a:t>-ОДС-АНО--И ДЕ-И-----С- НА БАЗЕ С-А-ИС-И-ЕС-ОГО АНАЛИЗА -Е-С-А </a:t>
            </a:r>
            <a:endParaRPr lang="uz-Cyrl-UZ" sz="1400" dirty="0">
              <a:latin typeface="Times New Roman"/>
              <a:ea typeface="Times New Roman"/>
            </a:endParaRPr>
          </a:p>
          <a:p>
            <a:pPr indent="542925">
              <a:spcAft>
                <a:spcPts val="600"/>
              </a:spcAft>
            </a:pPr>
            <a:r>
              <a:rPr lang="ru-RU"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542925">
              <a:spcAft>
                <a:spcPts val="600"/>
              </a:spcAft>
            </a:pPr>
            <a:r>
              <a:rPr lang="ru-RU" sz="2000" b="1" dirty="0">
                <a:latin typeface="Times New Roman"/>
                <a:ea typeface="Times New Roman"/>
              </a:rPr>
              <a:t>НО -ОЛ--О ЕСЛИ ОН ДОС-А-О-НО ДЛИННЫЙ</a:t>
            </a:r>
            <a:endParaRPr lang="uz-Cyrl-UZ" sz="1400" dirty="0">
              <a:latin typeface="Times New Roman"/>
              <a:ea typeface="Times New Roman"/>
            </a:endParaRPr>
          </a:p>
          <a:p>
            <a:pPr indent="542925" algn="just">
              <a:spcAft>
                <a:spcPts val="600"/>
              </a:spcAft>
            </a:pPr>
            <a:r>
              <a:rPr lang="ru-RU" sz="2000" dirty="0">
                <a:latin typeface="Times New Roman"/>
                <a:ea typeface="Times New Roman"/>
              </a:rPr>
              <a:t>“С-А-ИС-И-ЕС-ОГО” (АНАЛИЗА) </a:t>
            </a:r>
            <a:r>
              <a:rPr lang="uz-Cyrl-UZ" sz="2000" dirty="0">
                <a:latin typeface="Times New Roman"/>
                <a:ea typeface="Times New Roman"/>
              </a:rPr>
              <a:t>сўзи</a:t>
            </a:r>
            <a:r>
              <a:rPr lang="ru-RU" sz="2000" dirty="0">
                <a:latin typeface="Times New Roman"/>
                <a:ea typeface="Times New Roman"/>
              </a:rPr>
              <a:t> “СТАТИСТИЧЕСКОГО”</a:t>
            </a:r>
            <a:r>
              <a:rPr lang="uz-Cyrl-UZ" sz="2000" dirty="0">
                <a:latin typeface="Times New Roman"/>
                <a:ea typeface="Times New Roman"/>
              </a:rPr>
              <a:t> сўзига ўхшайди</a:t>
            </a:r>
            <a:r>
              <a:rPr lang="ru-RU" sz="2000" dirty="0">
                <a:latin typeface="Times New Roman"/>
                <a:ea typeface="Times New Roman"/>
              </a:rPr>
              <a:t>. “С”-“Т”, “О”-“Ч”, “Д”-“К”</a:t>
            </a:r>
            <a:r>
              <a:rPr lang="uz-Cyrl-UZ" sz="2000" dirty="0">
                <a:latin typeface="Times New Roman"/>
                <a:ea typeface="Times New Roman"/>
              </a:rPr>
              <a:t> алмаштириш натижасида қуйидаги ҳосил бўлади:</a:t>
            </a:r>
            <a:endParaRPr lang="uz-Cyrl-UZ" sz="1400" dirty="0">
              <a:latin typeface="Times New Roman"/>
              <a:ea typeface="Times New Roman"/>
            </a:endParaRPr>
          </a:p>
          <a:p>
            <a:pPr indent="542925">
              <a:spcAft>
                <a:spcPts val="600"/>
              </a:spcAft>
            </a:pPr>
            <a:r>
              <a:rPr lang="ru-RU" sz="2000" dirty="0" smtClean="0">
                <a:latin typeface="Times New Roman"/>
                <a:ea typeface="Times New Roman"/>
              </a:rPr>
              <a:t>КЩРНСЙШЩХДТАРБУТЦПФЮСНЫАШЙАЬЙЛБАНСЙСТНСТОБНДЩМЩАЙШЙЖТЛЙАСБДНСЙА</a:t>
            </a:r>
            <a:endParaRPr lang="ru-RU" sz="2000" dirty="0">
              <a:latin typeface="Times New Roman" pitchFamily="18" charset="0"/>
              <a:cs typeface="Times New Roman" pitchFamily="18" charset="0"/>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9</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spTree>
    <p:extLst>
      <p:ext uri="{BB962C8B-B14F-4D97-AF65-F5344CB8AC3E}">
        <p14:creationId xmlns:p14="http://schemas.microsoft.com/office/powerpoint/2010/main" val="33616016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ChangeArrowheads="1"/>
          </p:cNvSpPr>
          <p:nvPr/>
        </p:nvSpPr>
        <p:spPr bwMode="auto">
          <a:xfrm>
            <a:off x="251520" y="285901"/>
            <a:ext cx="8712000" cy="615553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indent="542925">
              <a:spcAft>
                <a:spcPts val="600"/>
              </a:spcAft>
            </a:pPr>
            <a:r>
              <a:rPr lang="ru-RU" sz="2000" b="1" dirty="0">
                <a:latin typeface="Times New Roman"/>
                <a:ea typeface="Times New Roman"/>
              </a:rPr>
              <a:t>-ОДСТАНО-КИ ДЕ-И----ТС- НА БАЗЕ СТАТИСТИЧЕСКОГО АНАЛИЗА ТЕКСТА </a:t>
            </a:r>
            <a:endParaRPr lang="uz-Cyrl-UZ" sz="1400" dirty="0">
              <a:latin typeface="Times New Roman"/>
              <a:ea typeface="Times New Roman"/>
            </a:endParaRPr>
          </a:p>
          <a:p>
            <a:pPr indent="542925">
              <a:spcAft>
                <a:spcPts val="600"/>
              </a:spcAft>
            </a:pPr>
            <a:r>
              <a:rPr lang="ru-RU" sz="2000" dirty="0">
                <a:latin typeface="Times New Roman"/>
                <a:ea typeface="Times New Roman"/>
              </a:rPr>
              <a:t>ШЩАСЩЖЕДЩАБНЖТАЩШАРЩНСЙСЩОШЩАРЖТШШИГ</a:t>
            </a:r>
            <a:endParaRPr lang="uz-Cyrl-UZ" sz="1400" dirty="0">
              <a:latin typeface="Times New Roman"/>
              <a:ea typeface="Times New Roman"/>
            </a:endParaRPr>
          </a:p>
          <a:p>
            <a:pPr indent="542925">
              <a:spcAft>
                <a:spcPts val="600"/>
              </a:spcAft>
            </a:pPr>
            <a:r>
              <a:rPr lang="ru-RU" sz="2000" b="1" dirty="0">
                <a:latin typeface="Times New Roman"/>
                <a:ea typeface="Times New Roman"/>
              </a:rPr>
              <a:t>НО ТОЛ-КО ЕСЛИ ОН ДОСТАТОЧНО ДЛИННЫЙ</a:t>
            </a:r>
            <a:endParaRPr lang="uz-Cyrl-UZ" sz="1400" dirty="0">
              <a:latin typeface="Times New Roman"/>
              <a:ea typeface="Times New Roman"/>
            </a:endParaRPr>
          </a:p>
          <a:p>
            <a:pPr indent="542925" algn="just">
              <a:spcAft>
                <a:spcPts val="600"/>
              </a:spcAft>
            </a:pPr>
            <a:r>
              <a:rPr lang="uz-Cyrl-UZ" sz="2000" dirty="0">
                <a:latin typeface="Times New Roman"/>
                <a:ea typeface="Times New Roman"/>
              </a:rPr>
              <a:t>Кейинги алмаштиришлар ҳеч қандай мураккабликни ташкил этмайди</a:t>
            </a:r>
            <a:r>
              <a:rPr lang="ru-RU" sz="2000" dirty="0">
                <a:latin typeface="Times New Roman"/>
                <a:ea typeface="Times New Roman"/>
              </a:rPr>
              <a:t>.</a:t>
            </a:r>
            <a:r>
              <a:rPr lang="uz-Cyrl-UZ" sz="2000" dirty="0">
                <a:latin typeface="Times New Roman"/>
                <a:ea typeface="Times New Roman"/>
              </a:rPr>
              <a:t> Натижада биз қидираётган очиқ матн қуйидагича бўлади:</a:t>
            </a:r>
            <a:endParaRPr lang="uz-Cyrl-UZ" sz="1400" dirty="0">
              <a:latin typeface="Times New Roman"/>
              <a:ea typeface="Times New Roman"/>
            </a:endParaRPr>
          </a:p>
          <a:p>
            <a:pPr indent="542925" algn="just">
              <a:spcAft>
                <a:spcPts val="600"/>
              </a:spcAft>
            </a:pPr>
            <a:r>
              <a:rPr lang="ru-RU" sz="2000" b="1" dirty="0">
                <a:latin typeface="Times New Roman"/>
                <a:ea typeface="Times New Roman"/>
              </a:rPr>
              <a:t>ПОДСТАНОВКИ ДЕШИФРУЮТСЯ НА БАЗЕ СТАТИСТИЧЕСКОГО АНАЛИЗА ТЕКСТА НО ТОЛЬКО ЕСЛИ ОН ДОСТАТОЧНО ДЛИННЫЙ</a:t>
            </a:r>
            <a:endParaRPr lang="uz-Cyrl-UZ" sz="1400" dirty="0">
              <a:latin typeface="Times New Roman"/>
              <a:ea typeface="Times New Roman"/>
            </a:endParaRPr>
          </a:p>
          <a:p>
            <a:pPr indent="542925" algn="just">
              <a:spcAft>
                <a:spcPts val="600"/>
              </a:spcAft>
            </a:pPr>
            <a:r>
              <a:rPr lang="ru-RU" sz="2000" dirty="0">
                <a:latin typeface="Times New Roman"/>
                <a:ea typeface="Times New Roman"/>
              </a:rPr>
              <a:t>К</a:t>
            </a:r>
            <a:r>
              <a:rPr lang="uz-Cyrl-UZ" sz="2000" dirty="0">
                <a:latin typeface="Times New Roman"/>
                <a:ea typeface="Times New Roman"/>
              </a:rPr>
              <a:t>алит</a:t>
            </a:r>
            <a:r>
              <a:rPr lang="ru-RU" sz="2000" dirty="0">
                <a:latin typeface="Times New Roman"/>
                <a:ea typeface="Times New Roman"/>
              </a:rPr>
              <a:t> (</a:t>
            </a:r>
            <a:r>
              <a:rPr lang="uz-Cyrl-UZ" sz="2000" dirty="0">
                <a:latin typeface="Times New Roman"/>
                <a:ea typeface="Times New Roman"/>
              </a:rPr>
              <a:t>ўрнига қўйиш жадвали</a:t>
            </a:r>
            <a:r>
              <a:rPr lang="ru-RU" sz="2000" dirty="0" smtClean="0">
                <a:latin typeface="Times New Roman"/>
                <a:ea typeface="Times New Roman"/>
              </a:rPr>
              <a:t>):</a:t>
            </a:r>
          </a:p>
          <a:p>
            <a:pPr indent="542925" algn="just">
              <a:spcAft>
                <a:spcPts val="600"/>
              </a:spcAft>
            </a:pPr>
            <a:endParaRPr lang="ru-RU" sz="2000" dirty="0">
              <a:latin typeface="Times New Roman"/>
              <a:ea typeface="Times New Roman"/>
            </a:endParaRPr>
          </a:p>
          <a:p>
            <a:pPr indent="542925" algn="just">
              <a:spcAft>
                <a:spcPts val="600"/>
              </a:spcAft>
            </a:pPr>
            <a:endParaRPr lang="ru-RU" sz="2000" dirty="0" smtClean="0">
              <a:latin typeface="Times New Roman"/>
              <a:ea typeface="Times New Roman"/>
            </a:endParaRPr>
          </a:p>
          <a:p>
            <a:pPr indent="542925" algn="just">
              <a:spcAft>
                <a:spcPts val="600"/>
              </a:spcAft>
            </a:pPr>
            <a:endParaRPr lang="ru-RU" sz="2000" dirty="0">
              <a:latin typeface="Times New Roman"/>
              <a:ea typeface="Times New Roman"/>
            </a:endParaRPr>
          </a:p>
          <a:p>
            <a:pPr indent="542925" algn="just">
              <a:spcAft>
                <a:spcPts val="600"/>
              </a:spcAft>
            </a:pPr>
            <a:endParaRPr lang="ru-RU" sz="2000" dirty="0" smtClean="0">
              <a:latin typeface="Times New Roman"/>
              <a:ea typeface="Times New Roman"/>
            </a:endParaRPr>
          </a:p>
          <a:p>
            <a:pPr indent="542925" algn="just">
              <a:spcAft>
                <a:spcPts val="600"/>
              </a:spcAft>
            </a:pPr>
            <a:endParaRPr lang="ru-RU" sz="2000" dirty="0">
              <a:latin typeface="Times New Roman"/>
              <a:ea typeface="Times New Roman"/>
            </a:endParaRPr>
          </a:p>
          <a:p>
            <a:pPr indent="542925" algn="just">
              <a:spcAft>
                <a:spcPts val="600"/>
              </a:spcAft>
            </a:pPr>
            <a:endParaRPr lang="ru-RU" sz="2000" dirty="0" smtClean="0">
              <a:latin typeface="Times New Roman"/>
              <a:ea typeface="Times New Roman"/>
            </a:endParaRPr>
          </a:p>
          <a:p>
            <a:pPr indent="542925" algn="just">
              <a:spcAft>
                <a:spcPts val="600"/>
              </a:spcAft>
            </a:pPr>
            <a:endParaRPr lang="uz-Cyrl-UZ" sz="1400" dirty="0">
              <a:effectLst/>
              <a:latin typeface="Times New Roman"/>
              <a:ea typeface="Times New Roman"/>
            </a:endParaRPr>
          </a:p>
        </p:txBody>
      </p:sp>
      <p:sp>
        <p:nvSpPr>
          <p:cNvPr id="3" name="Line 16"/>
          <p:cNvSpPr>
            <a:spLocks noChangeShapeType="1"/>
          </p:cNvSpPr>
          <p:nvPr/>
        </p:nvSpPr>
        <p:spPr bwMode="auto">
          <a:xfrm>
            <a:off x="71438" y="80628"/>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4"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dirty="0" smtClean="0">
                <a:solidFill>
                  <a:schemeClr val="accent1">
                    <a:lumMod val="60000"/>
                    <a:lumOff val="40000"/>
                  </a:schemeClr>
                </a:solidFill>
                <a:latin typeface="Times New Roman" pitchFamily="18" charset="0"/>
              </a:rPr>
              <a:t>	9</a:t>
            </a:r>
            <a:r>
              <a:rPr lang="uz-Cyrl-UZ" sz="1400" b="1" dirty="0" smtClean="0">
                <a:solidFill>
                  <a:schemeClr val="accent1">
                    <a:lumMod val="60000"/>
                    <a:lumOff val="40000"/>
                  </a:schemeClr>
                </a:solidFill>
                <a:latin typeface="Times New Roman" pitchFamily="18" charset="0"/>
              </a:rPr>
              <a:t> </a:t>
            </a:r>
            <a:endParaRPr lang="ru-RU" sz="1400" b="1" dirty="0">
              <a:solidFill>
                <a:schemeClr val="accent1">
                  <a:lumMod val="60000"/>
                  <a:lumOff val="40000"/>
                </a:schemeClr>
              </a:solidFill>
              <a:latin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3377111012"/>
              </p:ext>
            </p:extLst>
          </p:nvPr>
        </p:nvGraphicFramePr>
        <p:xfrm>
          <a:off x="1447817" y="3933056"/>
          <a:ext cx="6558056" cy="609600"/>
        </p:xfrm>
        <a:graphic>
          <a:graphicData uri="http://schemas.openxmlformats.org/drawingml/2006/table">
            <a:tbl>
              <a:tblPr/>
              <a:tblGrid>
                <a:gridCol w="2690304"/>
                <a:gridCol w="257810"/>
                <a:gridCol w="228468"/>
                <a:gridCol w="228468"/>
                <a:gridCol w="247507"/>
                <a:gridCol w="228468"/>
                <a:gridCol w="228468"/>
                <a:gridCol w="248776"/>
                <a:gridCol w="228468"/>
                <a:gridCol w="228468"/>
                <a:gridCol w="228468"/>
                <a:gridCol w="228468"/>
                <a:gridCol w="248776"/>
                <a:gridCol w="247507"/>
                <a:gridCol w="265911"/>
                <a:gridCol w="265911"/>
                <a:gridCol w="257810"/>
              </a:tblGrid>
              <a:tr h="0">
                <a:tc>
                  <a:txBody>
                    <a:bodyPr/>
                    <a:lstStyle/>
                    <a:p>
                      <a:pPr algn="ctr">
                        <a:spcAft>
                          <a:spcPts val="600"/>
                        </a:spcAft>
                      </a:pPr>
                      <a:r>
                        <a:rPr lang="ru-RU" sz="2000" dirty="0">
                          <a:effectLst/>
                          <a:latin typeface="Times New Roman"/>
                          <a:ea typeface="Times New Roman"/>
                        </a:rPr>
                        <a:t>Норматив алфавит (M)</a:t>
                      </a:r>
                      <a:endParaRPr lang="uz-Cyrl-UZ" sz="14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А</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Б</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В</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Г</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Д</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Е</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Ж</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З</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И</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Й</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К</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Л</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М</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Н</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О</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П</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600"/>
                        </a:spcAft>
                      </a:pPr>
                      <a:r>
                        <a:rPr lang="uz-Cyrl-UZ" sz="2000">
                          <a:effectLst/>
                          <a:latin typeface="Times New Roman"/>
                          <a:ea typeface="Times New Roman"/>
                        </a:rPr>
                        <a:t>Шифрлаш а</a:t>
                      </a:r>
                      <a:r>
                        <a:rPr lang="ru-RU" sz="2000">
                          <a:effectLst/>
                          <a:latin typeface="Times New Roman"/>
                          <a:ea typeface="Times New Roman"/>
                        </a:rPr>
                        <a:t>лфавит</a:t>
                      </a:r>
                      <a:r>
                        <a:rPr lang="uz-Cyrl-UZ" sz="2000">
                          <a:effectLst/>
                          <a:latin typeface="Times New Roman"/>
                          <a:ea typeface="Times New Roman"/>
                        </a:rPr>
                        <a:t>и </a:t>
                      </a:r>
                      <a:r>
                        <a:rPr lang="ru-RU" sz="2000">
                          <a:effectLst/>
                          <a:latin typeface="Times New Roman"/>
                          <a:ea typeface="Times New Roman"/>
                        </a:rPr>
                        <a:t>(E)</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dirty="0">
                          <a:effectLst/>
                          <a:latin typeface="Times New Roman"/>
                          <a:ea typeface="Times New Roman"/>
                        </a:rPr>
                        <a:t>Й</a:t>
                      </a:r>
                      <a:endParaRPr lang="uz-Cyrl-UZ" sz="14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dirty="0">
                          <a:effectLst/>
                          <a:latin typeface="Times New Roman"/>
                          <a:ea typeface="Times New Roman"/>
                        </a:rPr>
                        <a:t>Ь</a:t>
                      </a:r>
                      <a:endParaRPr lang="uz-Cyrl-UZ" sz="14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Х</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М</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Р</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Б</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dirty="0">
                          <a:effectLst/>
                          <a:latin typeface="Times New Roman"/>
                          <a:ea typeface="Times New Roman"/>
                        </a:rPr>
                        <a:t>-</a:t>
                      </a:r>
                      <a:endParaRPr lang="uz-Cyrl-UZ" sz="14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Л</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Т</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Г</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Д</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Ж</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Ш</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a:effectLst/>
                          <a:latin typeface="Times New Roman"/>
                          <a:ea typeface="Times New Roman"/>
                        </a:rPr>
                        <a:t>Щ</a:t>
                      </a:r>
                      <a:endParaRPr lang="uz-Cyrl-UZ" sz="140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2000" dirty="0">
                          <a:effectLst/>
                          <a:latin typeface="Times New Roman"/>
                          <a:ea typeface="Times New Roman"/>
                        </a:rPr>
                        <a:t>К</a:t>
                      </a:r>
                      <a:endParaRPr lang="uz-Cyrl-UZ" sz="1400" dirty="0">
                        <a:effectLst/>
                        <a:latin typeface="Times New Roman"/>
                        <a:ea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068353325"/>
              </p:ext>
            </p:extLst>
          </p:nvPr>
        </p:nvGraphicFramePr>
        <p:xfrm>
          <a:off x="1511660" y="4905164"/>
          <a:ext cx="6444665" cy="548640"/>
        </p:xfrm>
        <a:graphic>
          <a:graphicData uri="http://schemas.openxmlformats.org/drawingml/2006/table">
            <a:tbl>
              <a:tblPr/>
              <a:tblGrid>
                <a:gridCol w="2422208"/>
                <a:gridCol w="257810"/>
                <a:gridCol w="228495"/>
                <a:gridCol w="228495"/>
                <a:gridCol w="232304"/>
                <a:gridCol w="232304"/>
                <a:gridCol w="228495"/>
                <a:gridCol w="228495"/>
                <a:gridCol w="228495"/>
                <a:gridCol w="265943"/>
                <a:gridCol w="265943"/>
                <a:gridCol w="244998"/>
                <a:gridCol w="228495"/>
                <a:gridCol w="228495"/>
                <a:gridCol w="268482"/>
                <a:gridCol w="244998"/>
                <a:gridCol w="410210"/>
              </a:tblGrid>
              <a:tr h="0">
                <a:tc>
                  <a:txBody>
                    <a:bodyPr/>
                    <a:lstStyle/>
                    <a:p>
                      <a:pPr algn="ctr">
                        <a:spcAft>
                          <a:spcPts val="600"/>
                        </a:spcAft>
                      </a:pPr>
                      <a:r>
                        <a:rPr lang="ru-RU" sz="1800" dirty="0">
                          <a:effectLst/>
                          <a:latin typeface="Times New Roman"/>
                          <a:ea typeface="Times New Roman"/>
                        </a:rPr>
                        <a:t>Норматив алфавит (M)</a:t>
                      </a:r>
                      <a:endParaRPr lang="uz-Cyrl-UZ" sz="120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dirty="0">
                          <a:effectLst/>
                          <a:latin typeface="Times New Roman"/>
                          <a:ea typeface="Times New Roman"/>
                        </a:rPr>
                        <a:t>Р</a:t>
                      </a:r>
                      <a:endParaRPr lang="uz-Cyrl-UZ" sz="120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С</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Т</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У</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Ф</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Х</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Ц</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Ч</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Ш</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Щ</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Ы</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Ь</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Э</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Ю</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Я</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“_“</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600"/>
                        </a:spcAft>
                      </a:pPr>
                      <a:r>
                        <a:rPr lang="uz-Cyrl-UZ" sz="1800" dirty="0">
                          <a:effectLst/>
                          <a:latin typeface="Times New Roman"/>
                          <a:ea typeface="Times New Roman"/>
                        </a:rPr>
                        <a:t>Шифрлаш а</a:t>
                      </a:r>
                      <a:r>
                        <a:rPr lang="ru-RU" sz="1800" dirty="0" err="1">
                          <a:effectLst/>
                          <a:latin typeface="Times New Roman"/>
                          <a:ea typeface="Times New Roman"/>
                        </a:rPr>
                        <a:t>лфавит</a:t>
                      </a:r>
                      <a:r>
                        <a:rPr lang="uz-Cyrl-UZ" sz="1800" dirty="0">
                          <a:effectLst/>
                          <a:latin typeface="Times New Roman"/>
                          <a:ea typeface="Times New Roman"/>
                        </a:rPr>
                        <a:t>и </a:t>
                      </a:r>
                      <a:r>
                        <a:rPr lang="ru-RU" sz="1800" dirty="0">
                          <a:effectLst/>
                          <a:latin typeface="Times New Roman"/>
                          <a:ea typeface="Times New Roman"/>
                        </a:rPr>
                        <a:t>(E)</a:t>
                      </a:r>
                      <a:endParaRPr lang="uz-Cyrl-UZ" sz="120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П</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Н</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С</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Ф</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Ц</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О</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У</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И</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Е</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Ю</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a:effectLst/>
                          <a:latin typeface="Times New Roman"/>
                          <a:ea typeface="Times New Roman"/>
                        </a:rPr>
                        <a:t>Ы</a:t>
                      </a:r>
                      <a:endParaRPr lang="uz-Cyrl-UZ" sz="120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600"/>
                        </a:spcAft>
                      </a:pPr>
                      <a:r>
                        <a:rPr lang="ru-RU" sz="1800" dirty="0">
                          <a:effectLst/>
                          <a:latin typeface="Times New Roman"/>
                          <a:ea typeface="Times New Roman"/>
                        </a:rPr>
                        <a:t>А</a:t>
                      </a:r>
                      <a:endParaRPr lang="uz-Cyrl-UZ" sz="1200" dirty="0">
                        <a:effectLst/>
                        <a:latin typeface="Times New Roman"/>
                        <a:ea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789043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2" name="Rectangle 22"/>
          <p:cNvSpPr>
            <a:spLocks noChangeArrowheads="1"/>
          </p:cNvSpPr>
          <p:nvPr/>
        </p:nvSpPr>
        <p:spPr bwMode="auto">
          <a:xfrm>
            <a:off x="0" y="548680"/>
            <a:ext cx="9144000" cy="646331"/>
          </a:xfrm>
          <a:prstGeom prst="rect">
            <a:avLst/>
          </a:prstGeom>
          <a:solidFill>
            <a:srgbClr val="C00000"/>
          </a:solidFill>
          <a:ln>
            <a:noFill/>
          </a:ln>
          <a:effectLst>
            <a:prstShdw prst="shdw17" dist="17961" dir="2700000">
              <a:schemeClr val="bg1">
                <a:gamma/>
                <a:shade val="60000"/>
                <a:invGamma/>
                <a:alpha val="50000"/>
              </a:schemeClr>
            </a:prstShdw>
          </a:effectLst>
        </p:spPr>
        <p:txBody>
          <a:bodyPr anchor="ctr">
            <a:spAutoFit/>
          </a:bodyPr>
          <a:lstStyle/>
          <a:p>
            <a:pPr eaLnBrk="0" hangingPunct="0"/>
            <a:r>
              <a:rPr lang="uz-Cyrl-U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rPr>
              <a:t>?</a:t>
            </a:r>
            <a:endParaRPr lang="uz-Cyrl-UZ"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endParaRPr>
          </a:p>
        </p:txBody>
      </p:sp>
      <p:sp>
        <p:nvSpPr>
          <p:cNvPr id="4" name="Rectangle 22"/>
          <p:cNvSpPr>
            <a:spLocks noChangeArrowheads="1"/>
          </p:cNvSpPr>
          <p:nvPr/>
        </p:nvSpPr>
        <p:spPr bwMode="auto">
          <a:xfrm>
            <a:off x="5832140" y="6125234"/>
            <a:ext cx="3312368" cy="400110"/>
          </a:xfrm>
          <a:prstGeom prst="rect">
            <a:avLst/>
          </a:prstGeom>
          <a:noFill/>
          <a:ln>
            <a:noFill/>
          </a:ln>
          <a:effectLst>
            <a:prstShdw prst="shdw17" dist="17961" dir="2700000">
              <a:schemeClr val="bg1">
                <a:gamma/>
                <a:shade val="60000"/>
                <a:invGamma/>
                <a:alpha val="50000"/>
              </a:schemeClr>
            </a:prstShdw>
          </a:effectLst>
        </p:spPr>
        <p:txBody>
          <a:bodyPr wrap="square" anchor="ctr">
            <a:spAutoFit/>
          </a:bodyPr>
          <a:lstStyle/>
          <a:p>
            <a:pPr eaLnBrk="0" hangingPunct="0"/>
            <a:r>
              <a:rPr lang="uz-Cyrl-UZ" sz="2000" dirty="0" smtClean="0">
                <a:latin typeface="Times New Roman" pitchFamily="18" charset="0"/>
              </a:rPr>
              <a:t>Эътиборингиз учун рахмат.</a:t>
            </a:r>
            <a:endParaRPr lang="uz-Cyrl-UZ" sz="2400" dirty="0">
              <a:latin typeface="Times New Roman" pitchFamily="18" charset="0"/>
            </a:endParaRPr>
          </a:p>
        </p:txBody>
      </p:sp>
      <p:sp>
        <p:nvSpPr>
          <p:cNvPr id="5" name="Text Box 58"/>
          <p:cNvSpPr txBox="1">
            <a:spLocks noChangeArrowheads="1"/>
          </p:cNvSpPr>
          <p:nvPr/>
        </p:nvSpPr>
        <p:spPr bwMode="auto">
          <a:xfrm>
            <a:off x="-8545" y="6602068"/>
            <a:ext cx="9144000" cy="251795"/>
          </a:xfrm>
          <a:prstGeom prst="rect">
            <a:avLst/>
          </a:prstGeom>
          <a:solidFill>
            <a:srgbClr val="000099"/>
          </a:solidFill>
          <a:ln>
            <a:noFill/>
          </a:ln>
          <a:scene3d>
            <a:camera prst="orthographicFront">
              <a:rot lat="0" lon="0" rev="0"/>
            </a:camera>
            <a:lightRig rig="threePt" dir="t">
              <a:rot lat="0" lon="0" rev="1200000"/>
            </a:lightRig>
          </a:scene3d>
        </p:spPr>
        <p:style>
          <a:lnRef idx="0">
            <a:schemeClr val="accent4"/>
          </a:lnRef>
          <a:fillRef idx="3">
            <a:schemeClr val="accent4"/>
          </a:fillRef>
          <a:effectRef idx="3">
            <a:schemeClr val="accent4"/>
          </a:effectRef>
          <a:fontRef idx="minor">
            <a:schemeClr val="lt1"/>
          </a:fontRef>
        </p:style>
        <p:txBody>
          <a:bodyPr wrap="square" tIns="0" bIns="36000">
            <a:spAutoFit/>
          </a:bodyPr>
          <a:lstStyle/>
          <a:p>
            <a:pPr algn="ctr"/>
            <a:r>
              <a:rPr lang="uz-Cyrl-UZ" sz="1400" dirty="0" smtClean="0">
                <a:solidFill>
                  <a:schemeClr val="accent1">
                    <a:lumMod val="60000"/>
                    <a:lumOff val="40000"/>
                  </a:schemeClr>
                </a:solidFill>
                <a:latin typeface="Times New Roman" pitchFamily="18" charset="0"/>
              </a:rPr>
              <a:t>Саттаров А.Б. 	</a:t>
            </a:r>
            <a:r>
              <a:rPr lang="en-US" sz="1400" dirty="0" smtClean="0">
                <a:solidFill>
                  <a:schemeClr val="accent1">
                    <a:lumMod val="60000"/>
                    <a:lumOff val="40000"/>
                  </a:schemeClr>
                </a:solidFill>
                <a:latin typeface="Times New Roman" pitchFamily="18" charset="0"/>
              </a:rPr>
              <a:t> 						</a:t>
            </a:r>
            <a:r>
              <a:rPr lang="ru-RU" sz="1400" smtClean="0">
                <a:solidFill>
                  <a:schemeClr val="accent1">
                    <a:lumMod val="60000"/>
                    <a:lumOff val="40000"/>
                  </a:schemeClr>
                </a:solidFill>
                <a:latin typeface="Times New Roman" pitchFamily="18" charset="0"/>
              </a:rPr>
              <a:t>	10</a:t>
            </a:r>
            <a:endParaRPr lang="ru-RU" sz="1400" b="1" dirty="0">
              <a:solidFill>
                <a:schemeClr val="accent1">
                  <a:lumMod val="60000"/>
                  <a:lumOff val="40000"/>
                </a:schemeClr>
              </a:solidFill>
              <a:latin typeface="Times New Roman" pitchFamily="18" charset="0"/>
            </a:endParaRPr>
          </a:p>
        </p:txBody>
      </p:sp>
      <p:sp>
        <p:nvSpPr>
          <p:cNvPr id="2" name="Прямоугольник 1"/>
          <p:cNvSpPr/>
          <p:nvPr/>
        </p:nvSpPr>
        <p:spPr>
          <a:xfrm>
            <a:off x="-36512" y="1187460"/>
            <a:ext cx="3445367" cy="369332"/>
          </a:xfrm>
          <a:prstGeom prst="rect">
            <a:avLst/>
          </a:prstGeom>
        </p:spPr>
        <p:txBody>
          <a:bodyPr wrap="none">
            <a:spAutoFit/>
          </a:bodyPr>
          <a:lstStyle/>
          <a:p>
            <a:r>
              <a:rPr lang="ru-RU" b="1" dirty="0" err="1">
                <a:latin typeface="Times New Roman" pitchFamily="18" charset="0"/>
              </a:rPr>
              <a:t>Саттаров</a:t>
            </a:r>
            <a:r>
              <a:rPr lang="ru-RU" b="1" dirty="0">
                <a:latin typeface="Times New Roman" pitchFamily="18" charset="0"/>
              </a:rPr>
              <a:t> </a:t>
            </a:r>
            <a:r>
              <a:rPr lang="ru-RU" b="1" dirty="0" err="1">
                <a:latin typeface="Times New Roman" pitchFamily="18" charset="0"/>
              </a:rPr>
              <a:t>Алижон</a:t>
            </a:r>
            <a:r>
              <a:rPr lang="ru-RU" b="1" dirty="0">
                <a:latin typeface="Times New Roman" pitchFamily="18" charset="0"/>
              </a:rPr>
              <a:t> </a:t>
            </a:r>
            <a:r>
              <a:rPr lang="ru-RU" b="1" dirty="0" err="1">
                <a:latin typeface="Times New Roman" pitchFamily="18" charset="0"/>
              </a:rPr>
              <a:t>Бозорбоевич</a:t>
            </a:r>
            <a:endParaRPr lang="uz-Cyrl-UZ"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Профиль">
  <a:themeElements>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Профиль">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офиль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Профиль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Профиль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Профиль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Профиль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Профиль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Профиль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Профиль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6646</TotalTime>
  <Words>1258</Words>
  <Application>Microsoft Office PowerPoint</Application>
  <PresentationFormat>Экран (4:3)</PresentationFormat>
  <Paragraphs>401</Paragraphs>
  <Slides>11</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11</vt:i4>
      </vt:variant>
    </vt:vector>
  </HeadingPairs>
  <TitlesOfParts>
    <vt:vector size="12" baseType="lpstr">
      <vt:lpstr>Профиль</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Тошкент - 2009</dc:title>
  <dc:creator>USER</dc:creator>
  <cp:lastModifiedBy>Microsoft Office</cp:lastModifiedBy>
  <cp:revision>960</cp:revision>
  <cp:lastPrinted>2014-04-25T14:19:32Z</cp:lastPrinted>
  <dcterms:created xsi:type="dcterms:W3CDTF">2010-10-01T16:11:11Z</dcterms:created>
  <dcterms:modified xsi:type="dcterms:W3CDTF">2019-08-22T04:49:57Z</dcterms:modified>
</cp:coreProperties>
</file>