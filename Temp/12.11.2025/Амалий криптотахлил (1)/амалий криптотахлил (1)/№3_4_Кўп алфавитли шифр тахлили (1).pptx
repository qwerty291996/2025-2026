
<file path=[Content_Types].xml><?xml version="1.0" encoding="utf-8"?>
<Types xmlns="http://schemas.openxmlformats.org/package/2006/content-types">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22"/>
  </p:notesMasterIdLst>
  <p:sldIdLst>
    <p:sldId id="256" r:id="rId2"/>
    <p:sldId id="284" r:id="rId3"/>
    <p:sldId id="288" r:id="rId4"/>
    <p:sldId id="293" r:id="rId5"/>
    <p:sldId id="289" r:id="rId6"/>
    <p:sldId id="290" r:id="rId7"/>
    <p:sldId id="299" r:id="rId8"/>
    <p:sldId id="295" r:id="rId9"/>
    <p:sldId id="296" r:id="rId10"/>
    <p:sldId id="297" r:id="rId11"/>
    <p:sldId id="298" r:id="rId12"/>
    <p:sldId id="300" r:id="rId13"/>
    <p:sldId id="303" r:id="rId14"/>
    <p:sldId id="304" r:id="rId15"/>
    <p:sldId id="305" r:id="rId16"/>
    <p:sldId id="306" r:id="rId17"/>
    <p:sldId id="307" r:id="rId18"/>
    <p:sldId id="308" r:id="rId19"/>
    <p:sldId id="301" r:id="rId20"/>
    <p:sldId id="302" r:id="rId21"/>
  </p:sldIdLst>
  <p:sldSz cx="9144000" cy="6858000" type="screen4x3"/>
  <p:notesSz cx="6858000" cy="9144000"/>
  <p:defaultTextStyle>
    <a:defPPr>
      <a:defRPr lang="ru-RU"/>
    </a:defPPr>
    <a:lvl1pPr algn="ctr" rtl="0" fontAlgn="base">
      <a:spcBef>
        <a:spcPct val="0"/>
      </a:spcBef>
      <a:spcAft>
        <a:spcPct val="0"/>
      </a:spcAft>
      <a:defRPr sz="2400" kern="1200">
        <a:solidFill>
          <a:srgbClr val="000000"/>
        </a:solidFill>
        <a:latin typeface="Times New Roman" pitchFamily="18" charset="0"/>
        <a:ea typeface="+mn-ea"/>
        <a:cs typeface="+mn-cs"/>
      </a:defRPr>
    </a:lvl1pPr>
    <a:lvl2pPr marL="457200" algn="ctr" rtl="0" fontAlgn="base">
      <a:spcBef>
        <a:spcPct val="0"/>
      </a:spcBef>
      <a:spcAft>
        <a:spcPct val="0"/>
      </a:spcAft>
      <a:defRPr sz="2400" kern="1200">
        <a:solidFill>
          <a:srgbClr val="000000"/>
        </a:solidFill>
        <a:latin typeface="Times New Roman" pitchFamily="18" charset="0"/>
        <a:ea typeface="+mn-ea"/>
        <a:cs typeface="+mn-cs"/>
      </a:defRPr>
    </a:lvl2pPr>
    <a:lvl3pPr marL="914400" algn="ctr" rtl="0" fontAlgn="base">
      <a:spcBef>
        <a:spcPct val="0"/>
      </a:spcBef>
      <a:spcAft>
        <a:spcPct val="0"/>
      </a:spcAft>
      <a:defRPr sz="2400" kern="1200">
        <a:solidFill>
          <a:srgbClr val="000000"/>
        </a:solidFill>
        <a:latin typeface="Times New Roman" pitchFamily="18" charset="0"/>
        <a:ea typeface="+mn-ea"/>
        <a:cs typeface="+mn-cs"/>
      </a:defRPr>
    </a:lvl3pPr>
    <a:lvl4pPr marL="1371600" algn="ctr" rtl="0" fontAlgn="base">
      <a:spcBef>
        <a:spcPct val="0"/>
      </a:spcBef>
      <a:spcAft>
        <a:spcPct val="0"/>
      </a:spcAft>
      <a:defRPr sz="2400" kern="1200">
        <a:solidFill>
          <a:srgbClr val="000000"/>
        </a:solidFill>
        <a:latin typeface="Times New Roman" pitchFamily="18" charset="0"/>
        <a:ea typeface="+mn-ea"/>
        <a:cs typeface="+mn-cs"/>
      </a:defRPr>
    </a:lvl4pPr>
    <a:lvl5pPr marL="1828800" algn="ctr" rtl="0" fontAlgn="base">
      <a:spcBef>
        <a:spcPct val="0"/>
      </a:spcBef>
      <a:spcAft>
        <a:spcPct val="0"/>
      </a:spcAft>
      <a:defRPr sz="2400" kern="1200">
        <a:solidFill>
          <a:srgbClr val="000000"/>
        </a:solidFill>
        <a:latin typeface="Times New Roman" pitchFamily="18" charset="0"/>
        <a:ea typeface="+mn-ea"/>
        <a:cs typeface="+mn-cs"/>
      </a:defRPr>
    </a:lvl5pPr>
    <a:lvl6pPr marL="2286000" algn="l" defTabSz="914400" rtl="0" eaLnBrk="1" latinLnBrk="0" hangingPunct="1">
      <a:defRPr sz="2400" kern="1200">
        <a:solidFill>
          <a:srgbClr val="000000"/>
        </a:solidFill>
        <a:latin typeface="Times New Roman" pitchFamily="18" charset="0"/>
        <a:ea typeface="+mn-ea"/>
        <a:cs typeface="+mn-cs"/>
      </a:defRPr>
    </a:lvl6pPr>
    <a:lvl7pPr marL="2743200" algn="l" defTabSz="914400" rtl="0" eaLnBrk="1" latinLnBrk="0" hangingPunct="1">
      <a:defRPr sz="2400" kern="1200">
        <a:solidFill>
          <a:srgbClr val="000000"/>
        </a:solidFill>
        <a:latin typeface="Times New Roman" pitchFamily="18" charset="0"/>
        <a:ea typeface="+mn-ea"/>
        <a:cs typeface="+mn-cs"/>
      </a:defRPr>
    </a:lvl7pPr>
    <a:lvl8pPr marL="3200400" algn="l" defTabSz="914400" rtl="0" eaLnBrk="1" latinLnBrk="0" hangingPunct="1">
      <a:defRPr sz="2400" kern="1200">
        <a:solidFill>
          <a:srgbClr val="000000"/>
        </a:solidFill>
        <a:latin typeface="Times New Roman" pitchFamily="18" charset="0"/>
        <a:ea typeface="+mn-ea"/>
        <a:cs typeface="+mn-cs"/>
      </a:defRPr>
    </a:lvl8pPr>
    <a:lvl9pPr marL="3657600" algn="l" defTabSz="914400" rtl="0" eaLnBrk="1" latinLnBrk="0" hangingPunct="1">
      <a:defRPr sz="2400" kern="1200">
        <a:solidFill>
          <a:srgbClr val="000000"/>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0021"/>
    <a:srgbClr val="3366FF"/>
    <a:srgbClr val="A1B0FD"/>
    <a:srgbClr val="3399FF"/>
    <a:srgbClr val="FFFF66"/>
    <a:srgbClr val="333300"/>
    <a:srgbClr val="FF00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12" autoAdjust="0"/>
    <p:restoredTop sz="94664" autoAdjust="0"/>
  </p:normalViewPr>
  <p:slideViewPr>
    <p:cSldViewPr>
      <p:cViewPr varScale="1">
        <p:scale>
          <a:sx n="106" d="100"/>
          <a:sy n="106" d="100"/>
        </p:scale>
        <p:origin x="179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z-Cyrl-UZ"/>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0935C4-CA67-49B9-89C2-E66677E08891}" type="datetimeFigureOut">
              <a:rPr lang="uz-Cyrl-UZ" smtClean="0"/>
              <a:t>20.03.2024</a:t>
            </a:fld>
            <a:endParaRPr lang="uz-Cyrl-UZ"/>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uz-Cyrl-UZ"/>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uz-Cyrl-UZ"/>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uz-Cyrl-UZ"/>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5FF9E8-25BA-4977-B90D-39AFB0771103}" type="slidenum">
              <a:rPr lang="uz-Cyrl-UZ" smtClean="0"/>
              <a:t>‹#›</a:t>
            </a:fld>
            <a:endParaRPr lang="uz-Cyrl-UZ"/>
          </a:p>
        </p:txBody>
      </p:sp>
    </p:spTree>
    <p:extLst>
      <p:ext uri="{BB962C8B-B14F-4D97-AF65-F5344CB8AC3E}">
        <p14:creationId xmlns:p14="http://schemas.microsoft.com/office/powerpoint/2010/main" val="4200578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1</a:t>
            </a:fld>
            <a:endParaRPr lang="uz-Cyrl-UZ"/>
          </a:p>
        </p:txBody>
      </p:sp>
    </p:spTree>
    <p:extLst>
      <p:ext uri="{BB962C8B-B14F-4D97-AF65-F5344CB8AC3E}">
        <p14:creationId xmlns:p14="http://schemas.microsoft.com/office/powerpoint/2010/main" val="2161224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2</a:t>
            </a:fld>
            <a:endParaRPr lang="uz-Cyrl-UZ"/>
          </a:p>
        </p:txBody>
      </p:sp>
    </p:spTree>
    <p:extLst>
      <p:ext uri="{BB962C8B-B14F-4D97-AF65-F5344CB8AC3E}">
        <p14:creationId xmlns:p14="http://schemas.microsoft.com/office/powerpoint/2010/main" val="3982819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3</a:t>
            </a:fld>
            <a:endParaRPr lang="uz-Cyrl-UZ"/>
          </a:p>
        </p:txBody>
      </p:sp>
    </p:spTree>
    <p:extLst>
      <p:ext uri="{BB962C8B-B14F-4D97-AF65-F5344CB8AC3E}">
        <p14:creationId xmlns:p14="http://schemas.microsoft.com/office/powerpoint/2010/main" val="1278024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4</a:t>
            </a:fld>
            <a:endParaRPr lang="uz-Cyrl-UZ"/>
          </a:p>
        </p:txBody>
      </p:sp>
    </p:spTree>
    <p:extLst>
      <p:ext uri="{BB962C8B-B14F-4D97-AF65-F5344CB8AC3E}">
        <p14:creationId xmlns:p14="http://schemas.microsoft.com/office/powerpoint/2010/main" val="2569794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5</a:t>
            </a:fld>
            <a:endParaRPr lang="uz-Cyrl-UZ"/>
          </a:p>
        </p:txBody>
      </p:sp>
    </p:spTree>
    <p:extLst>
      <p:ext uri="{BB962C8B-B14F-4D97-AF65-F5344CB8AC3E}">
        <p14:creationId xmlns:p14="http://schemas.microsoft.com/office/powerpoint/2010/main" val="2735575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6</a:t>
            </a:fld>
            <a:endParaRPr lang="uz-Cyrl-UZ"/>
          </a:p>
        </p:txBody>
      </p:sp>
    </p:spTree>
    <p:extLst>
      <p:ext uri="{BB962C8B-B14F-4D97-AF65-F5344CB8AC3E}">
        <p14:creationId xmlns:p14="http://schemas.microsoft.com/office/powerpoint/2010/main" val="725546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7</a:t>
            </a:fld>
            <a:endParaRPr lang="uz-Cyrl-UZ"/>
          </a:p>
        </p:txBody>
      </p:sp>
    </p:spTree>
    <p:extLst>
      <p:ext uri="{BB962C8B-B14F-4D97-AF65-F5344CB8AC3E}">
        <p14:creationId xmlns:p14="http://schemas.microsoft.com/office/powerpoint/2010/main" val="39278771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8</a:t>
            </a:fld>
            <a:endParaRPr lang="uz-Cyrl-UZ"/>
          </a:p>
        </p:txBody>
      </p:sp>
    </p:spTree>
    <p:extLst>
      <p:ext uri="{BB962C8B-B14F-4D97-AF65-F5344CB8AC3E}">
        <p14:creationId xmlns:p14="http://schemas.microsoft.com/office/powerpoint/2010/main" val="1600292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9</a:t>
            </a:fld>
            <a:endParaRPr lang="uz-Cyrl-UZ"/>
          </a:p>
        </p:txBody>
      </p:sp>
    </p:spTree>
    <p:extLst>
      <p:ext uri="{BB962C8B-B14F-4D97-AF65-F5344CB8AC3E}">
        <p14:creationId xmlns:p14="http://schemas.microsoft.com/office/powerpoint/2010/main" val="7055640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10</a:t>
            </a:fld>
            <a:endParaRPr lang="uz-Cyrl-UZ"/>
          </a:p>
        </p:txBody>
      </p:sp>
    </p:spTree>
    <p:extLst>
      <p:ext uri="{BB962C8B-B14F-4D97-AF65-F5344CB8AC3E}">
        <p14:creationId xmlns:p14="http://schemas.microsoft.com/office/powerpoint/2010/main" val="4126568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11</a:t>
            </a:fld>
            <a:endParaRPr lang="uz-Cyrl-UZ"/>
          </a:p>
        </p:txBody>
      </p:sp>
    </p:spTree>
    <p:extLst>
      <p:ext uri="{BB962C8B-B14F-4D97-AF65-F5344CB8AC3E}">
        <p14:creationId xmlns:p14="http://schemas.microsoft.com/office/powerpoint/2010/main" val="1660134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12</a:t>
            </a:fld>
            <a:endParaRPr lang="uz-Cyrl-UZ"/>
          </a:p>
        </p:txBody>
      </p:sp>
    </p:spTree>
    <p:extLst>
      <p:ext uri="{BB962C8B-B14F-4D97-AF65-F5344CB8AC3E}">
        <p14:creationId xmlns:p14="http://schemas.microsoft.com/office/powerpoint/2010/main" val="736556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13</a:t>
            </a:fld>
            <a:endParaRPr lang="uz-Cyrl-UZ"/>
          </a:p>
        </p:txBody>
      </p:sp>
    </p:spTree>
    <p:extLst>
      <p:ext uri="{BB962C8B-B14F-4D97-AF65-F5344CB8AC3E}">
        <p14:creationId xmlns:p14="http://schemas.microsoft.com/office/powerpoint/2010/main" val="333141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14</a:t>
            </a:fld>
            <a:endParaRPr lang="uz-Cyrl-UZ"/>
          </a:p>
        </p:txBody>
      </p:sp>
    </p:spTree>
    <p:extLst>
      <p:ext uri="{BB962C8B-B14F-4D97-AF65-F5344CB8AC3E}">
        <p14:creationId xmlns:p14="http://schemas.microsoft.com/office/powerpoint/2010/main" val="42746309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15</a:t>
            </a:fld>
            <a:endParaRPr lang="uz-Cyrl-UZ"/>
          </a:p>
        </p:txBody>
      </p:sp>
    </p:spTree>
    <p:extLst>
      <p:ext uri="{BB962C8B-B14F-4D97-AF65-F5344CB8AC3E}">
        <p14:creationId xmlns:p14="http://schemas.microsoft.com/office/powerpoint/2010/main" val="32553223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16</a:t>
            </a:fld>
            <a:endParaRPr lang="uz-Cyrl-UZ"/>
          </a:p>
        </p:txBody>
      </p:sp>
    </p:spTree>
    <p:extLst>
      <p:ext uri="{BB962C8B-B14F-4D97-AF65-F5344CB8AC3E}">
        <p14:creationId xmlns:p14="http://schemas.microsoft.com/office/powerpoint/2010/main" val="29431267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17</a:t>
            </a:fld>
            <a:endParaRPr lang="uz-Cyrl-UZ"/>
          </a:p>
        </p:txBody>
      </p:sp>
    </p:spTree>
    <p:extLst>
      <p:ext uri="{BB962C8B-B14F-4D97-AF65-F5344CB8AC3E}">
        <p14:creationId xmlns:p14="http://schemas.microsoft.com/office/powerpoint/2010/main" val="22014672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18</a:t>
            </a:fld>
            <a:endParaRPr lang="uz-Cyrl-UZ"/>
          </a:p>
        </p:txBody>
      </p:sp>
    </p:spTree>
    <p:extLst>
      <p:ext uri="{BB962C8B-B14F-4D97-AF65-F5344CB8AC3E}">
        <p14:creationId xmlns:p14="http://schemas.microsoft.com/office/powerpoint/2010/main" val="30322497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19</a:t>
            </a:fld>
            <a:endParaRPr lang="uz-Cyrl-UZ"/>
          </a:p>
        </p:txBody>
      </p:sp>
    </p:spTree>
    <p:extLst>
      <p:ext uri="{BB962C8B-B14F-4D97-AF65-F5344CB8AC3E}">
        <p14:creationId xmlns:p14="http://schemas.microsoft.com/office/powerpoint/2010/main" val="18812997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uz-Cyrl-UZ"/>
          </a:p>
        </p:txBody>
      </p:sp>
      <p:sp>
        <p:nvSpPr>
          <p:cNvPr id="4" name="Номер слайда 3"/>
          <p:cNvSpPr>
            <a:spLocks noGrp="1"/>
          </p:cNvSpPr>
          <p:nvPr>
            <p:ph type="sldNum" sz="quarter" idx="10"/>
          </p:nvPr>
        </p:nvSpPr>
        <p:spPr/>
        <p:txBody>
          <a:bodyPr/>
          <a:lstStyle/>
          <a:p>
            <a:fld id="{B75FF9E8-25BA-4977-B90D-39AFB0771103}" type="slidenum">
              <a:rPr lang="uz-Cyrl-UZ" smtClean="0"/>
              <a:t>20</a:t>
            </a:fld>
            <a:endParaRPr lang="uz-Cyrl-UZ"/>
          </a:p>
        </p:txBody>
      </p:sp>
    </p:spTree>
    <p:extLst>
      <p:ext uri="{BB962C8B-B14F-4D97-AF65-F5344CB8AC3E}">
        <p14:creationId xmlns:p14="http://schemas.microsoft.com/office/powerpoint/2010/main" val="3881286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pPr>
              <a:defRPr/>
            </a:pPr>
            <a:endParaRPr lang="ru-RU"/>
          </a:p>
        </p:txBody>
      </p:sp>
      <p:sp>
        <p:nvSpPr>
          <p:cNvPr id="5" name="Footer Placeholder 4"/>
          <p:cNvSpPr>
            <a:spLocks noGrp="1"/>
          </p:cNvSpPr>
          <p:nvPr>
            <p:ph type="ftr" sz="quarter" idx="11"/>
          </p:nvPr>
        </p:nvSpPr>
        <p:spPr/>
        <p:txBody>
          <a:bodyPr/>
          <a:lstStyle/>
          <a:p>
            <a:pPr>
              <a:defRPr/>
            </a:pPr>
            <a:endParaRPr lang="ru-RU"/>
          </a:p>
        </p:txBody>
      </p:sp>
      <p:sp>
        <p:nvSpPr>
          <p:cNvPr id="6" name="Slide Number Placeholder 5"/>
          <p:cNvSpPr>
            <a:spLocks noGrp="1"/>
          </p:cNvSpPr>
          <p:nvPr>
            <p:ph type="sldNum" sz="quarter" idx="12"/>
          </p:nvPr>
        </p:nvSpPr>
        <p:spPr/>
        <p:txBody>
          <a:bodyPr/>
          <a:lstStyle/>
          <a:p>
            <a:pPr>
              <a:defRPr/>
            </a:pPr>
            <a:fld id="{85E5B58E-B57B-4B90-83CD-1E627FCDB712}" type="slidenum">
              <a:rPr lang="ru-RU" smtClean="0"/>
              <a:pPr>
                <a:defRPr/>
              </a:pPr>
              <a:t>‹#›</a:t>
            </a:fld>
            <a:endParaRPr lang="ru-RU"/>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5915154"/>
      </p:ext>
    </p:extLst>
  </p:cSld>
  <p:clrMapOvr>
    <a:masterClrMapping/>
  </p:clrMapOvr>
  <p:transition>
    <p:cover dir="ld"/>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pPr>
              <a:defRPr/>
            </a:pPr>
            <a:endParaRPr lang="ru-RU"/>
          </a:p>
        </p:txBody>
      </p:sp>
      <p:sp>
        <p:nvSpPr>
          <p:cNvPr id="5" name="Footer Placeholder 4"/>
          <p:cNvSpPr>
            <a:spLocks noGrp="1"/>
          </p:cNvSpPr>
          <p:nvPr>
            <p:ph type="ftr" sz="quarter" idx="11"/>
          </p:nvPr>
        </p:nvSpPr>
        <p:spPr/>
        <p:txBody>
          <a:bodyPr/>
          <a:lstStyle/>
          <a:p>
            <a:pPr>
              <a:defRPr/>
            </a:pPr>
            <a:endParaRPr lang="ru-RU"/>
          </a:p>
        </p:txBody>
      </p:sp>
      <p:sp>
        <p:nvSpPr>
          <p:cNvPr id="6" name="Slide Number Placeholder 5"/>
          <p:cNvSpPr>
            <a:spLocks noGrp="1"/>
          </p:cNvSpPr>
          <p:nvPr>
            <p:ph type="sldNum" sz="quarter" idx="12"/>
          </p:nvPr>
        </p:nvSpPr>
        <p:spPr/>
        <p:txBody>
          <a:bodyPr/>
          <a:lstStyle/>
          <a:p>
            <a:pPr>
              <a:defRPr/>
            </a:pPr>
            <a:fld id="{0B89AE2D-486F-4807-AC4C-5D3EBA826305}" type="slidenum">
              <a:rPr lang="ru-RU" smtClean="0"/>
              <a:pPr>
                <a:defRPr/>
              </a:pPr>
              <a:t>‹#›</a:t>
            </a:fld>
            <a:endParaRPr lang="ru-RU"/>
          </a:p>
        </p:txBody>
      </p:sp>
    </p:spTree>
    <p:extLst>
      <p:ext uri="{BB962C8B-B14F-4D97-AF65-F5344CB8AC3E}">
        <p14:creationId xmlns:p14="http://schemas.microsoft.com/office/powerpoint/2010/main" val="3501761019"/>
      </p:ext>
    </p:extLst>
  </p:cSld>
  <p:clrMapOvr>
    <a:masterClrMapping/>
  </p:clrMapOvr>
  <p:transition>
    <p:cover dir="ld"/>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ru-RU" smtClean="0"/>
              <a:t>Образец заголовка</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pPr>
              <a:defRPr/>
            </a:pPr>
            <a:endParaRPr lang="ru-RU"/>
          </a:p>
        </p:txBody>
      </p:sp>
      <p:sp>
        <p:nvSpPr>
          <p:cNvPr id="5" name="Footer Placeholder 4"/>
          <p:cNvSpPr>
            <a:spLocks noGrp="1"/>
          </p:cNvSpPr>
          <p:nvPr>
            <p:ph type="ftr" sz="quarter" idx="11"/>
          </p:nvPr>
        </p:nvSpPr>
        <p:spPr/>
        <p:txBody>
          <a:bodyPr/>
          <a:lstStyle/>
          <a:p>
            <a:pPr>
              <a:defRPr/>
            </a:pPr>
            <a:endParaRPr lang="ru-RU"/>
          </a:p>
        </p:txBody>
      </p:sp>
      <p:sp>
        <p:nvSpPr>
          <p:cNvPr id="6" name="Slide Number Placeholder 5"/>
          <p:cNvSpPr>
            <a:spLocks noGrp="1"/>
          </p:cNvSpPr>
          <p:nvPr>
            <p:ph type="sldNum" sz="quarter" idx="12"/>
          </p:nvPr>
        </p:nvSpPr>
        <p:spPr/>
        <p:txBody>
          <a:bodyPr/>
          <a:lstStyle/>
          <a:p>
            <a:pPr>
              <a:defRPr/>
            </a:pPr>
            <a:fld id="{A4B2B191-7279-42AB-A18D-F3AE9990F02C}" type="slidenum">
              <a:rPr lang="ru-RU" smtClean="0"/>
              <a:pPr>
                <a:defRPr/>
              </a:pPr>
              <a:t>‹#›</a:t>
            </a:fld>
            <a:endParaRPr lang="ru-RU"/>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5933388"/>
      </p:ext>
    </p:extLst>
  </p:cSld>
  <p:clrMapOvr>
    <a:masterClrMapping/>
  </p:clrMapOvr>
  <p:transition>
    <p:cover dir="ld"/>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pPr>
              <a:defRPr/>
            </a:pPr>
            <a:endParaRPr lang="ru-RU"/>
          </a:p>
        </p:txBody>
      </p:sp>
      <p:sp>
        <p:nvSpPr>
          <p:cNvPr id="6" name="Footer Placeholder 5"/>
          <p:cNvSpPr>
            <a:spLocks noGrp="1"/>
          </p:cNvSpPr>
          <p:nvPr>
            <p:ph type="ftr" sz="quarter" idx="11"/>
          </p:nvPr>
        </p:nvSpPr>
        <p:spPr/>
        <p:txBody>
          <a:bodyPr/>
          <a:lstStyle/>
          <a:p>
            <a:pPr>
              <a:defRPr/>
            </a:pPr>
            <a:endParaRPr lang="ru-RU"/>
          </a:p>
        </p:txBody>
      </p:sp>
      <p:sp>
        <p:nvSpPr>
          <p:cNvPr id="7" name="Slide Number Placeholder 6"/>
          <p:cNvSpPr>
            <a:spLocks noGrp="1"/>
          </p:cNvSpPr>
          <p:nvPr>
            <p:ph type="sldNum" sz="quarter" idx="12"/>
          </p:nvPr>
        </p:nvSpPr>
        <p:spPr/>
        <p:txBody>
          <a:bodyPr/>
          <a:lstStyle/>
          <a:p>
            <a:pPr>
              <a:defRPr/>
            </a:pPr>
            <a:fld id="{F446EC09-760D-4316-A6D1-4E88090B2F32}" type="slidenum">
              <a:rPr lang="ru-RU" smtClean="0"/>
              <a:pPr>
                <a:defRPr/>
              </a:pPr>
              <a:t>‹#›</a:t>
            </a:fld>
            <a:endParaRPr lang="ru-RU"/>
          </a:p>
        </p:txBody>
      </p:sp>
    </p:spTree>
    <p:extLst>
      <p:ext uri="{BB962C8B-B14F-4D97-AF65-F5344CB8AC3E}">
        <p14:creationId xmlns:p14="http://schemas.microsoft.com/office/powerpoint/2010/main" val="4281172896"/>
      </p:ext>
    </p:extLst>
  </p:cSld>
  <p:clrMapOvr>
    <a:masterClrMapping/>
  </p:clrMapOvr>
  <p:transition>
    <p:cover dir="ld"/>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822960" y="2582334"/>
            <a:ext cx="3703320" cy="328676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63440" y="2582334"/>
            <a:ext cx="3703320" cy="328676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pPr>
              <a:defRPr/>
            </a:pPr>
            <a:endParaRPr lang="ru-RU"/>
          </a:p>
        </p:txBody>
      </p:sp>
      <p:sp>
        <p:nvSpPr>
          <p:cNvPr id="8" name="Footer Placeholder 7"/>
          <p:cNvSpPr>
            <a:spLocks noGrp="1"/>
          </p:cNvSpPr>
          <p:nvPr>
            <p:ph type="ftr" sz="quarter" idx="11"/>
          </p:nvPr>
        </p:nvSpPr>
        <p:spPr/>
        <p:txBody>
          <a:bodyPr/>
          <a:lstStyle/>
          <a:p>
            <a:pPr>
              <a:defRPr/>
            </a:pPr>
            <a:endParaRPr lang="ru-RU"/>
          </a:p>
        </p:txBody>
      </p:sp>
      <p:sp>
        <p:nvSpPr>
          <p:cNvPr id="9" name="Slide Number Placeholder 8"/>
          <p:cNvSpPr>
            <a:spLocks noGrp="1"/>
          </p:cNvSpPr>
          <p:nvPr>
            <p:ph type="sldNum" sz="quarter" idx="12"/>
          </p:nvPr>
        </p:nvSpPr>
        <p:spPr/>
        <p:txBody>
          <a:bodyPr/>
          <a:lstStyle/>
          <a:p>
            <a:pPr>
              <a:defRPr/>
            </a:pPr>
            <a:fld id="{DCA152BC-542C-4C87-BF51-A51515D710E7}" type="slidenum">
              <a:rPr lang="ru-RU" smtClean="0"/>
              <a:pPr>
                <a:defRPr/>
              </a:pPr>
              <a:t>‹#›</a:t>
            </a:fld>
            <a:endParaRPr lang="ru-RU"/>
          </a:p>
        </p:txBody>
      </p:sp>
    </p:spTree>
    <p:extLst>
      <p:ext uri="{BB962C8B-B14F-4D97-AF65-F5344CB8AC3E}">
        <p14:creationId xmlns:p14="http://schemas.microsoft.com/office/powerpoint/2010/main" val="1078848472"/>
      </p:ext>
    </p:extLst>
  </p:cSld>
  <p:clrMapOvr>
    <a:masterClrMapping/>
  </p:clrMapOvr>
  <p:transition>
    <p:cover dir="ld"/>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pPr>
              <a:defRPr/>
            </a:pPr>
            <a:endParaRPr lang="ru-RU"/>
          </a:p>
        </p:txBody>
      </p:sp>
      <p:sp>
        <p:nvSpPr>
          <p:cNvPr id="4" name="Footer Placeholder 3"/>
          <p:cNvSpPr>
            <a:spLocks noGrp="1"/>
          </p:cNvSpPr>
          <p:nvPr>
            <p:ph type="ftr" sz="quarter" idx="11"/>
          </p:nvPr>
        </p:nvSpPr>
        <p:spPr/>
        <p:txBody>
          <a:bodyPr/>
          <a:lstStyle/>
          <a:p>
            <a:pPr>
              <a:defRPr/>
            </a:pPr>
            <a:endParaRPr lang="ru-RU"/>
          </a:p>
        </p:txBody>
      </p:sp>
      <p:sp>
        <p:nvSpPr>
          <p:cNvPr id="5" name="Slide Number Placeholder 4"/>
          <p:cNvSpPr>
            <a:spLocks noGrp="1"/>
          </p:cNvSpPr>
          <p:nvPr>
            <p:ph type="sldNum" sz="quarter" idx="12"/>
          </p:nvPr>
        </p:nvSpPr>
        <p:spPr/>
        <p:txBody>
          <a:bodyPr/>
          <a:lstStyle/>
          <a:p>
            <a:pPr>
              <a:defRPr/>
            </a:pPr>
            <a:fld id="{F6042760-3215-45A0-9612-F4ED905D8028}" type="slidenum">
              <a:rPr lang="ru-RU" smtClean="0"/>
              <a:pPr>
                <a:defRPr/>
              </a:pPr>
              <a:t>‹#›</a:t>
            </a:fld>
            <a:endParaRPr lang="ru-RU"/>
          </a:p>
        </p:txBody>
      </p:sp>
    </p:spTree>
    <p:extLst>
      <p:ext uri="{BB962C8B-B14F-4D97-AF65-F5344CB8AC3E}">
        <p14:creationId xmlns:p14="http://schemas.microsoft.com/office/powerpoint/2010/main" val="2042913239"/>
      </p:ext>
    </p:extLst>
  </p:cSld>
  <p:clrMapOvr>
    <a:masterClrMapping/>
  </p:clrMapOvr>
  <p:transition>
    <p:cover dir="ld"/>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endParaRPr lang="ru-RU"/>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ru-RU"/>
          </a:p>
        </p:txBody>
      </p:sp>
      <p:sp>
        <p:nvSpPr>
          <p:cNvPr id="9" name="Slide Number Placeholder 8"/>
          <p:cNvSpPr>
            <a:spLocks noGrp="1"/>
          </p:cNvSpPr>
          <p:nvPr>
            <p:ph type="sldNum" sz="quarter" idx="12"/>
          </p:nvPr>
        </p:nvSpPr>
        <p:spPr/>
        <p:txBody>
          <a:bodyPr/>
          <a:lstStyle/>
          <a:p>
            <a:pPr>
              <a:defRPr/>
            </a:pPr>
            <a:fld id="{347592C9-A538-49A3-B883-6B0C301675FC}" type="slidenum">
              <a:rPr lang="ru-RU" smtClean="0"/>
              <a:pPr>
                <a:defRPr/>
              </a:pPr>
              <a:t>‹#›</a:t>
            </a:fld>
            <a:endParaRPr lang="ru-RU"/>
          </a:p>
        </p:txBody>
      </p:sp>
    </p:spTree>
    <p:extLst>
      <p:ext uri="{BB962C8B-B14F-4D97-AF65-F5344CB8AC3E}">
        <p14:creationId xmlns:p14="http://schemas.microsoft.com/office/powerpoint/2010/main" val="2793340957"/>
      </p:ext>
    </p:extLst>
  </p:cSld>
  <p:clrMapOvr>
    <a:masterClrMapping/>
  </p:clrMapOvr>
  <p:transition>
    <p:cover dir="ld"/>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pPr>
              <a:defRPr/>
            </a:pPr>
            <a:endParaRPr lang="ru-RU"/>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pPr>
              <a:defRPr/>
            </a:pPr>
            <a:endParaRPr lang="ru-RU"/>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2650117A-5957-4652-9631-6CEA71B4CF1C}" type="slidenum">
              <a:rPr lang="ru-RU" smtClean="0"/>
              <a:pPr>
                <a:defRPr/>
              </a:pPr>
              <a:t>‹#›</a:t>
            </a:fld>
            <a:endParaRPr lang="ru-RU"/>
          </a:p>
        </p:txBody>
      </p:sp>
    </p:spTree>
    <p:extLst>
      <p:ext uri="{BB962C8B-B14F-4D97-AF65-F5344CB8AC3E}">
        <p14:creationId xmlns:p14="http://schemas.microsoft.com/office/powerpoint/2010/main" val="1255242938"/>
      </p:ext>
    </p:extLst>
  </p:cSld>
  <p:clrMapOvr>
    <a:masterClrMapping/>
  </p:clrMapOvr>
  <p:transition>
    <p:cover dir="ld"/>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pPr>
              <a:defRPr/>
            </a:pPr>
            <a:endParaRPr lang="ru-RU"/>
          </a:p>
        </p:txBody>
      </p:sp>
      <p:sp>
        <p:nvSpPr>
          <p:cNvPr id="6" name="Footer Placeholder 5"/>
          <p:cNvSpPr>
            <a:spLocks noGrp="1"/>
          </p:cNvSpPr>
          <p:nvPr>
            <p:ph type="ftr" sz="quarter" idx="11"/>
          </p:nvPr>
        </p:nvSpPr>
        <p:spPr/>
        <p:txBody>
          <a:bodyPr/>
          <a:lstStyle/>
          <a:p>
            <a:pPr>
              <a:defRPr/>
            </a:pPr>
            <a:endParaRPr lang="ru-RU"/>
          </a:p>
        </p:txBody>
      </p:sp>
      <p:sp>
        <p:nvSpPr>
          <p:cNvPr id="7" name="Slide Number Placeholder 6"/>
          <p:cNvSpPr>
            <a:spLocks noGrp="1"/>
          </p:cNvSpPr>
          <p:nvPr>
            <p:ph type="sldNum" sz="quarter" idx="12"/>
          </p:nvPr>
        </p:nvSpPr>
        <p:spPr/>
        <p:txBody>
          <a:bodyPr/>
          <a:lstStyle/>
          <a:p>
            <a:pPr>
              <a:defRPr/>
            </a:pPr>
            <a:fld id="{CC907E7D-5F17-4B3B-BD74-E4C6F2CF665D}" type="slidenum">
              <a:rPr lang="ru-RU" smtClean="0"/>
              <a:pPr>
                <a:defRPr/>
              </a:pPr>
              <a:t>‹#›</a:t>
            </a:fld>
            <a:endParaRPr lang="ru-RU"/>
          </a:p>
        </p:txBody>
      </p:sp>
    </p:spTree>
    <p:extLst>
      <p:ext uri="{BB962C8B-B14F-4D97-AF65-F5344CB8AC3E}">
        <p14:creationId xmlns:p14="http://schemas.microsoft.com/office/powerpoint/2010/main" val="117480886"/>
      </p:ext>
    </p:extLst>
  </p:cSld>
  <p:clrMapOvr>
    <a:masterClrMapping/>
  </p:clrMapOvr>
  <p:transition>
    <p:cover dir="ld"/>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pPr>
              <a:defRPr/>
            </a:pPr>
            <a:endParaRPr lang="ru-RU"/>
          </a:p>
        </p:txBody>
      </p:sp>
      <p:sp>
        <p:nvSpPr>
          <p:cNvPr id="5" name="Footer Placeholder 4"/>
          <p:cNvSpPr>
            <a:spLocks noGrp="1"/>
          </p:cNvSpPr>
          <p:nvPr>
            <p:ph type="ftr" sz="quarter" idx="11"/>
          </p:nvPr>
        </p:nvSpPr>
        <p:spPr/>
        <p:txBody>
          <a:bodyPr/>
          <a:lstStyle/>
          <a:p>
            <a:pPr>
              <a:defRPr/>
            </a:pPr>
            <a:endParaRPr lang="ru-RU"/>
          </a:p>
        </p:txBody>
      </p:sp>
      <p:sp>
        <p:nvSpPr>
          <p:cNvPr id="6" name="Slide Number Placeholder 5"/>
          <p:cNvSpPr>
            <a:spLocks noGrp="1"/>
          </p:cNvSpPr>
          <p:nvPr>
            <p:ph type="sldNum" sz="quarter" idx="12"/>
          </p:nvPr>
        </p:nvSpPr>
        <p:spPr/>
        <p:txBody>
          <a:bodyPr/>
          <a:lstStyle/>
          <a:p>
            <a:pPr>
              <a:defRPr/>
            </a:pPr>
            <a:fld id="{1CDEE42E-16EB-4282-A70C-CE85B87272BB}" type="slidenum">
              <a:rPr lang="ru-RU" smtClean="0"/>
              <a:pPr>
                <a:defRPr/>
              </a:pPr>
              <a:t>‹#›</a:t>
            </a:fld>
            <a:endParaRPr lang="ru-RU"/>
          </a:p>
        </p:txBody>
      </p:sp>
    </p:spTree>
    <p:extLst>
      <p:ext uri="{BB962C8B-B14F-4D97-AF65-F5344CB8AC3E}">
        <p14:creationId xmlns:p14="http://schemas.microsoft.com/office/powerpoint/2010/main" val="2655901776"/>
      </p:ext>
    </p:extLst>
  </p:cSld>
  <p:clrMapOvr>
    <a:masterClrMapping/>
  </p:clrMapOvr>
  <p:transition>
    <p:cover dir="ld"/>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pPr>
              <a:defRPr/>
            </a:pPr>
            <a:endParaRPr lang="ru-RU"/>
          </a:p>
        </p:txBody>
      </p:sp>
      <p:sp>
        <p:nvSpPr>
          <p:cNvPr id="5" name="Footer Placeholder 4"/>
          <p:cNvSpPr>
            <a:spLocks noGrp="1"/>
          </p:cNvSpPr>
          <p:nvPr>
            <p:ph type="ftr" sz="quarter" idx="11"/>
          </p:nvPr>
        </p:nvSpPr>
        <p:spPr/>
        <p:txBody>
          <a:bodyPr/>
          <a:lstStyle/>
          <a:p>
            <a:pPr>
              <a:defRPr/>
            </a:pPr>
            <a:endParaRPr lang="ru-RU"/>
          </a:p>
        </p:txBody>
      </p:sp>
      <p:sp>
        <p:nvSpPr>
          <p:cNvPr id="6" name="Slide Number Placeholder 5"/>
          <p:cNvSpPr>
            <a:spLocks noGrp="1"/>
          </p:cNvSpPr>
          <p:nvPr>
            <p:ph type="sldNum" sz="quarter" idx="12"/>
          </p:nvPr>
        </p:nvSpPr>
        <p:spPr/>
        <p:txBody>
          <a:bodyPr/>
          <a:lstStyle/>
          <a:p>
            <a:pPr>
              <a:defRPr/>
            </a:pPr>
            <a:fld id="{C68EB14D-7A6A-48BA-8FDB-5420454F8025}" type="slidenum">
              <a:rPr lang="ru-RU" smtClean="0"/>
              <a:pPr>
                <a:defRPr/>
              </a:pPr>
              <a:t>‹#›</a:t>
            </a:fld>
            <a:endParaRPr lang="ru-RU"/>
          </a:p>
        </p:txBody>
      </p:sp>
    </p:spTree>
    <p:extLst>
      <p:ext uri="{BB962C8B-B14F-4D97-AF65-F5344CB8AC3E}">
        <p14:creationId xmlns:p14="http://schemas.microsoft.com/office/powerpoint/2010/main" val="148932484"/>
      </p:ext>
    </p:extLst>
  </p:cSld>
  <p:clrMapOvr>
    <a:masterClrMapping/>
  </p:clrMapOvr>
  <p:transition>
    <p:cover dir="ld"/>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Only">
  <p:cSld name="Объект">
    <p:spTree>
      <p:nvGrpSpPr>
        <p:cNvPr id="1" name=""/>
        <p:cNvGrpSpPr/>
        <p:nvPr/>
      </p:nvGrpSpPr>
      <p:grpSpPr>
        <a:xfrm>
          <a:off x="0" y="0"/>
          <a:ext cx="0" cy="0"/>
          <a:chOff x="0" y="0"/>
          <a:chExt cx="0" cy="0"/>
        </a:xfrm>
      </p:grpSpPr>
      <p:sp>
        <p:nvSpPr>
          <p:cNvPr id="2" name="Объект 1"/>
          <p:cNvSpPr>
            <a:spLocks noGrp="1"/>
          </p:cNvSpPr>
          <p:nvPr>
            <p:ph/>
          </p:nvPr>
        </p:nvSpPr>
        <p:spPr>
          <a:xfrm>
            <a:off x="457200" y="274638"/>
            <a:ext cx="8229600" cy="5851525"/>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3" name="Rectangle 4"/>
          <p:cNvSpPr>
            <a:spLocks noGrp="1" noChangeArrowheads="1"/>
          </p:cNvSpPr>
          <p:nvPr>
            <p:ph type="dt" sz="half" idx="10"/>
          </p:nvPr>
        </p:nvSpPr>
        <p:spPr>
          <a:ln/>
        </p:spPr>
        <p:txBody>
          <a:bodyPr/>
          <a:lstStyle>
            <a:lvl1pPr>
              <a:defRPr/>
            </a:lvl1pPr>
          </a:lstStyle>
          <a:p>
            <a:pPr>
              <a:defRPr/>
            </a:pPr>
            <a:endParaRPr lang="ru-RU"/>
          </a:p>
        </p:txBody>
      </p:sp>
      <p:sp>
        <p:nvSpPr>
          <p:cNvPr id="4" name="Rectangle 5"/>
          <p:cNvSpPr>
            <a:spLocks noGrp="1" noChangeArrowheads="1"/>
          </p:cNvSpPr>
          <p:nvPr>
            <p:ph type="ftr" sz="quarter" idx="11"/>
          </p:nvPr>
        </p:nvSpPr>
        <p:spPr>
          <a:ln/>
        </p:spPr>
        <p:txBody>
          <a:bodyPr/>
          <a:lstStyle>
            <a:lvl1pPr>
              <a:defRPr/>
            </a:lvl1pPr>
          </a:lstStyle>
          <a:p>
            <a:pPr>
              <a:defRPr/>
            </a:pPr>
            <a:endParaRPr lang="ru-RU"/>
          </a:p>
        </p:txBody>
      </p:sp>
      <p:sp>
        <p:nvSpPr>
          <p:cNvPr id="5" name="Rectangle 6"/>
          <p:cNvSpPr>
            <a:spLocks noGrp="1" noChangeArrowheads="1"/>
          </p:cNvSpPr>
          <p:nvPr>
            <p:ph type="sldNum" sz="quarter" idx="12"/>
          </p:nvPr>
        </p:nvSpPr>
        <p:spPr>
          <a:ln/>
        </p:spPr>
        <p:txBody>
          <a:bodyPr/>
          <a:lstStyle>
            <a:lvl1pPr>
              <a:defRPr/>
            </a:lvl1pPr>
          </a:lstStyle>
          <a:p>
            <a:pPr>
              <a:defRPr/>
            </a:pPr>
            <a:fld id="{9ECF9549-6956-47CB-84CB-7F9DEA9D02B9}" type="slidenum">
              <a:rPr lang="ru-RU"/>
              <a:pPr>
                <a:defRPr/>
              </a:pPr>
              <a:t>‹#›</a:t>
            </a:fld>
            <a:endParaRPr lang="ru-RU"/>
          </a:p>
        </p:txBody>
      </p:sp>
    </p:spTree>
    <p:extLst>
      <p:ext uri="{BB962C8B-B14F-4D97-AF65-F5344CB8AC3E}">
        <p14:creationId xmlns:p14="http://schemas.microsoft.com/office/powerpoint/2010/main" val="958266772"/>
      </p:ext>
    </p:extLst>
  </p:cSld>
  <p:clrMapOvr>
    <a:masterClrMapping/>
  </p:clrMapOvr>
  <p:transition advClick="0">
    <p:cover dir="l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cSld name="Заголовок, текст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p>
            <a:r>
              <a:rPr lang="ru-RU" smtClean="0"/>
              <a:t>Образец заголовка</a:t>
            </a:r>
            <a:endParaRPr lang="ru-RU"/>
          </a:p>
        </p:txBody>
      </p:sp>
      <p:sp>
        <p:nvSpPr>
          <p:cNvPr id="3" name="Текст 2"/>
          <p:cNvSpPr>
            <a:spLocks noGrp="1"/>
          </p:cNvSpPr>
          <p:nvPr>
            <p:ph type="body" sz="half" idx="1"/>
          </p:nvPr>
        </p:nvSpPr>
        <p:spPr>
          <a:xfrm>
            <a:off x="457200" y="1600200"/>
            <a:ext cx="4038600" cy="4525963"/>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pPr>
              <a:defRPr/>
            </a:pPr>
            <a:fld id="{DEAF6F61-9C75-4B65-9B7B-44D6C1F7B2C2}" type="slidenum">
              <a:rPr lang="ru-RU"/>
              <a:pPr>
                <a:defRPr/>
              </a:pPr>
              <a:t>‹#›</a:t>
            </a:fld>
            <a:endParaRPr lang="ru-RU"/>
          </a:p>
        </p:txBody>
      </p:sp>
    </p:spTree>
    <p:extLst>
      <p:ext uri="{BB962C8B-B14F-4D97-AF65-F5344CB8AC3E}">
        <p14:creationId xmlns:p14="http://schemas.microsoft.com/office/powerpoint/2010/main" val="4031019825"/>
      </p:ext>
    </p:extLst>
  </p:cSld>
  <p:clrMapOvr>
    <a:masterClrMapping/>
  </p:clrMapOvr>
  <p:transition advClick="0">
    <p:cover dir="l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bl">
  <p:cSld name="Заголовок и таблиц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p>
            <a:r>
              <a:rPr lang="ru-RU" smtClean="0"/>
              <a:t>Образец заголовка</a:t>
            </a:r>
            <a:endParaRPr lang="ru-RU"/>
          </a:p>
        </p:txBody>
      </p:sp>
      <p:sp>
        <p:nvSpPr>
          <p:cNvPr id="3" name="Таблица 2"/>
          <p:cNvSpPr>
            <a:spLocks noGrp="1"/>
          </p:cNvSpPr>
          <p:nvPr>
            <p:ph type="tbl" idx="1"/>
          </p:nvPr>
        </p:nvSpPr>
        <p:spPr>
          <a:xfrm>
            <a:off x="457200" y="1600200"/>
            <a:ext cx="8229600" cy="4525963"/>
          </a:xfrm>
        </p:spPr>
        <p:txBody>
          <a:bodyPr/>
          <a:lstStyle/>
          <a:p>
            <a:pPr lvl="0"/>
            <a:endParaRPr lang="ru-RU"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pPr>
              <a:defRPr/>
            </a:pPr>
            <a:fld id="{9F30FF0C-DB58-483D-B245-33B1A3F9F109}" type="slidenum">
              <a:rPr lang="ru-RU"/>
              <a:pPr>
                <a:defRPr/>
              </a:pPr>
              <a:t>‹#›</a:t>
            </a:fld>
            <a:endParaRPr lang="ru-RU"/>
          </a:p>
        </p:txBody>
      </p:sp>
    </p:spTree>
    <p:extLst>
      <p:ext uri="{BB962C8B-B14F-4D97-AF65-F5344CB8AC3E}">
        <p14:creationId xmlns:p14="http://schemas.microsoft.com/office/powerpoint/2010/main" val="4257505617"/>
      </p:ext>
    </p:extLst>
  </p:cSld>
  <p:clrMapOvr>
    <a:masterClrMapping/>
  </p:clrMapOvr>
  <p:transition advClick="0">
    <p:cover dir="l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ru-RU"/>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ru-RU"/>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a:defRPr/>
            </a:pPr>
            <a:fld id="{F97CEF4F-9BF0-4EEE-BE7F-29246D036C32}" type="slidenum">
              <a:rPr lang="ru-RU" smtClean="0"/>
              <a:pPr>
                <a:defRPr/>
              </a:pPr>
              <a:t>‹#›</a:t>
            </a:fld>
            <a:endParaRPr lang="ru-RU"/>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8111759"/>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Lst>
  <p:transition>
    <p:cover dir="ld"/>
  </p:transition>
  <p:timing>
    <p:tnLst>
      <p:par>
        <p:cTn id="1" dur="indefinite" restart="never" nodeType="tmRoot"/>
      </p:par>
    </p:tnLst>
  </p:timing>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3.wmf"/><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image" Target="../media/image4.w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notesSlide" Target="../notesSlides/notesSlide8.xml"/><Relationship Id="rId7"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5.wmf"/><Relationship Id="rId4"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vmlDrawing" Target="../drawings/vmlDrawing4.vml"/><Relationship Id="rId5" Type="http://schemas.openxmlformats.org/officeDocument/2006/relationships/image" Target="../media/image6.wmf"/><Relationship Id="rId4"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3" Type="http://schemas.openxmlformats.org/officeDocument/2006/relationships/hyperlink" Target="&#1084;&#1085;&#1086;&#1075;&#1086;&#1087;&#1077;&#1090;&#1083;&#1103;.doc"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2" name="Rectangle 4"/>
          <p:cNvSpPr>
            <a:spLocks noChangeArrowheads="1"/>
          </p:cNvSpPr>
          <p:nvPr/>
        </p:nvSpPr>
        <p:spPr bwMode="auto">
          <a:xfrm>
            <a:off x="684213" y="2205038"/>
            <a:ext cx="7850187" cy="2062103"/>
          </a:xfrm>
          <a:prstGeom prst="rect">
            <a:avLst/>
          </a:prstGeom>
          <a:noFill/>
          <a:ln>
            <a:noFill/>
          </a:ln>
          <a:effectLst>
            <a:outerShdw dist="35921" dir="2700000" algn="ctr" rotWithShape="0">
              <a:schemeClr val="bg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defRPr/>
            </a:pPr>
            <a:r>
              <a:rPr lang="uz-Cyrl-UZ" sz="3200" b="1" dirty="0" smtClean="0">
                <a:solidFill>
                  <a:srgbClr val="1F4DE1"/>
                </a:solidFill>
              </a:rPr>
              <a:t>КЎП </a:t>
            </a:r>
            <a:r>
              <a:rPr lang="uz-Cyrl-UZ" sz="3200" b="1" dirty="0">
                <a:solidFill>
                  <a:srgbClr val="1F4DE1"/>
                </a:solidFill>
              </a:rPr>
              <a:t>АЛФАВИТЛИ ЎРНИГА ҚЎЙИШ ШИФРЛАШ АЛГОРИТМЛАРИ КРИПТОГРАММАЛАРИНИ ДЕШИФРЛАШ </a:t>
            </a:r>
            <a:endParaRPr lang="en-US" sz="3200" b="1" dirty="0">
              <a:solidFill>
                <a:srgbClr val="1F4DE1"/>
              </a:solidFill>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052">
                                            <p:txEl>
                                              <p:pRg st="0" end="0"/>
                                            </p:txEl>
                                          </p:spTgt>
                                        </p:tgtEl>
                                        <p:attrNameLst>
                                          <p:attrName>style.visibility</p:attrName>
                                        </p:attrNameLst>
                                      </p:cBhvr>
                                      <p:to>
                                        <p:strVal val="visible"/>
                                      </p:to>
                                    </p:set>
                                    <p:animEffect transition="in" filter="fade">
                                      <p:cBhvr>
                                        <p:cTn id="7" dur="2000"/>
                                        <p:tgtEl>
                                          <p:spTgt spid="205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557212" y="260648"/>
            <a:ext cx="8101013" cy="1096962"/>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uz-Cyrl-UZ" sz="2200" b="1"/>
              <a:t>Бир акслантиришли кўп алфавитли ўрнига қўйиш шифрлаш алгоритми ёрдамида шифрланган шифрматнларни криптотаҳлил қилиш масаласи</a:t>
            </a:r>
            <a:endParaRPr lang="ru-RU" sz="2200"/>
          </a:p>
        </p:txBody>
      </p:sp>
      <p:sp>
        <p:nvSpPr>
          <p:cNvPr id="3075" name="Text Box 3"/>
          <p:cNvSpPr txBox="1">
            <a:spLocks noChangeArrowheads="1"/>
          </p:cNvSpPr>
          <p:nvPr/>
        </p:nvSpPr>
        <p:spPr bwMode="auto">
          <a:xfrm>
            <a:off x="395288" y="1497013"/>
            <a:ext cx="8424862" cy="2466975"/>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r>
              <a:rPr lang="en-US" sz="2200" dirty="0"/>
              <a:t>     </a:t>
            </a:r>
            <a:r>
              <a:rPr lang="uz-Cyrl-UZ" sz="2200" dirty="0"/>
              <a:t>Бир акслантиришли кўп алфавитли шифр ўрнига қўйишлар шифрлаш алфавитини кетма-кет бир неча марта ўзгартиради. Кетма-кет фойдаланилаётган алфавитлар сони </a:t>
            </a:r>
            <a:r>
              <a:rPr lang="uz-Cyrl-UZ" sz="2200" b="1" u="sng" dirty="0"/>
              <a:t>шифрлаш даври</a:t>
            </a:r>
            <a:r>
              <a:rPr lang="uz-Cyrl-UZ" sz="2200" dirty="0"/>
              <a:t> дейилади. Шифрлаш учун фойдаланилаётган </a:t>
            </a:r>
            <a:r>
              <a:rPr lang="uz-Cyrl-UZ" sz="2200" b="1" u="sng" dirty="0"/>
              <a:t>калит</a:t>
            </a:r>
            <a:r>
              <a:rPr lang="uz-Cyrl-UZ" sz="2200" dirty="0"/>
              <a:t> – маъноли сўзлар кетма-кетлигидан ёки шу алфавитга тегишли бўлган маъносиз алфавит белгилари кетма-кетлигидан иборат бўлиши мумкин. </a:t>
            </a:r>
          </a:p>
          <a:p>
            <a:pPr algn="just" eaLnBrk="1" hangingPunct="1"/>
            <a:r>
              <a:rPr lang="en-US" sz="2200" dirty="0"/>
              <a:t>     </a:t>
            </a:r>
            <a:r>
              <a:rPr lang="uz-Cyrl-UZ" sz="2200" dirty="0"/>
              <a:t>Маълумки шифрлаш даври калит узунлигига</a:t>
            </a:r>
            <a:r>
              <a:rPr lang="uz-Cyrl-UZ" dirty="0"/>
              <a:t> </a:t>
            </a:r>
            <a:r>
              <a:rPr lang="uz-Cyrl-UZ" sz="2200" dirty="0"/>
              <a:t>тенг бўлади.</a:t>
            </a:r>
            <a:endParaRPr lang="ru-RU" sz="2200" dirty="0"/>
          </a:p>
        </p:txBody>
      </p:sp>
      <p:sp>
        <p:nvSpPr>
          <p:cNvPr id="3076" name="Text Box 4"/>
          <p:cNvSpPr txBox="1">
            <a:spLocks noChangeArrowheads="1"/>
          </p:cNvSpPr>
          <p:nvPr/>
        </p:nvSpPr>
        <p:spPr bwMode="auto">
          <a:xfrm>
            <a:off x="2987675" y="3938588"/>
            <a:ext cx="5040313" cy="427037"/>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spcBef>
                <a:spcPct val="50000"/>
              </a:spcBef>
            </a:pPr>
            <a:r>
              <a:rPr lang="en-US" sz="2200" b="1"/>
              <a:t>E</a:t>
            </a:r>
            <a:r>
              <a:rPr lang="en-US" sz="2200" b="1" baseline="-25000"/>
              <a:t>i</a:t>
            </a:r>
            <a:r>
              <a:rPr lang="ru-RU" sz="2200" b="1"/>
              <a:t> = ( </a:t>
            </a:r>
            <a:r>
              <a:rPr lang="en-US" sz="2200" b="1"/>
              <a:t>M</a:t>
            </a:r>
            <a:r>
              <a:rPr lang="en-US" sz="2200" b="1" baseline="-25000"/>
              <a:t>i</a:t>
            </a:r>
            <a:r>
              <a:rPr lang="ru-RU" sz="2200" b="1"/>
              <a:t> + </a:t>
            </a:r>
            <a:r>
              <a:rPr lang="en-US" sz="2200" b="1"/>
              <a:t>K</a:t>
            </a:r>
            <a:r>
              <a:rPr lang="en-US" sz="2200" b="1" baseline="-25000"/>
              <a:t>i mod U</a:t>
            </a:r>
            <a:r>
              <a:rPr lang="ru-RU" sz="2200" b="1"/>
              <a:t> ) </a:t>
            </a:r>
            <a:r>
              <a:rPr lang="en-US" sz="2200" b="1"/>
              <a:t>mod L</a:t>
            </a:r>
            <a:r>
              <a:rPr lang="ru-RU" sz="2200"/>
              <a:t> </a:t>
            </a:r>
            <a:r>
              <a:rPr lang="uz-Cyrl-UZ" sz="2200"/>
              <a:t>     </a:t>
            </a:r>
            <a:r>
              <a:rPr lang="uz-Cyrl-UZ" sz="1800"/>
              <a:t>(Вижинер)</a:t>
            </a:r>
            <a:endParaRPr lang="ru-RU" sz="1800"/>
          </a:p>
        </p:txBody>
      </p:sp>
      <p:graphicFrame>
        <p:nvGraphicFramePr>
          <p:cNvPr id="52229" name="Group 5"/>
          <p:cNvGraphicFramePr>
            <a:graphicFrameLocks noGrp="1"/>
          </p:cNvGraphicFramePr>
          <p:nvPr/>
        </p:nvGraphicFramePr>
        <p:xfrm>
          <a:off x="539750" y="4508500"/>
          <a:ext cx="8208963" cy="1584704"/>
        </p:xfrm>
        <a:graphic>
          <a:graphicData uri="http://schemas.openxmlformats.org/drawingml/2006/table">
            <a:tbl>
              <a:tblPr/>
              <a:tblGrid>
                <a:gridCol w="1079500"/>
                <a:gridCol w="7129463"/>
              </a:tblGrid>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00"/>
                          </a:solidFill>
                          <a:effectLst/>
                          <a:latin typeface="Times New Roman" pitchFamily="18" charset="0"/>
                        </a:rPr>
                        <a:t>E</a:t>
                      </a:r>
                      <a:r>
                        <a:rPr kumimoji="0" lang="en-US" sz="2000" b="1" i="0" u="none" strike="noStrike" cap="none" normalizeH="0" baseline="-25000" smtClean="0">
                          <a:ln>
                            <a:noFill/>
                          </a:ln>
                          <a:solidFill>
                            <a:srgbClr val="000000"/>
                          </a:solidFill>
                          <a:effectLst/>
                          <a:latin typeface="Times New Roman" pitchFamily="18" charset="0"/>
                        </a:rPr>
                        <a:t>i </a:t>
                      </a:r>
                      <a:r>
                        <a:rPr kumimoji="0" lang="en-US" sz="2000" b="1" i="0" u="none" strike="noStrike" cap="none" normalizeH="0" baseline="0" smtClean="0">
                          <a:ln>
                            <a:noFill/>
                          </a:ln>
                          <a:solidFill>
                            <a:srgbClr val="000000"/>
                          </a:solidFill>
                          <a:effectLst/>
                          <a:latin typeface="Times New Roman" pitchFamily="18" charset="0"/>
                        </a:rPr>
                        <a:t>,</a:t>
                      </a:r>
                      <a:r>
                        <a:rPr kumimoji="0" lang="ru-RU" sz="2000" b="1" i="0" u="none" strike="noStrike" cap="none" normalizeH="0" baseline="0" smtClean="0">
                          <a:ln>
                            <a:noFill/>
                          </a:ln>
                          <a:solidFill>
                            <a:srgbClr val="000000"/>
                          </a:solidFill>
                          <a:effectLst/>
                          <a:latin typeface="Times New Roman" pitchFamily="18" charset="0"/>
                        </a:rPr>
                        <a:t> </a:t>
                      </a:r>
                      <a:r>
                        <a:rPr kumimoji="0" lang="en-US" sz="2000" b="1" i="0" u="none" strike="noStrike" cap="none" normalizeH="0" baseline="0" smtClean="0">
                          <a:ln>
                            <a:noFill/>
                          </a:ln>
                          <a:solidFill>
                            <a:srgbClr val="000000"/>
                          </a:solidFill>
                          <a:effectLst/>
                          <a:latin typeface="Times New Roman" pitchFamily="18" charset="0"/>
                        </a:rPr>
                        <a:t>M</a:t>
                      </a:r>
                      <a:r>
                        <a:rPr kumimoji="0" lang="en-US" sz="2000" b="1" i="0" u="none" strike="noStrike" cap="none" normalizeH="0" baseline="-25000" smtClean="0">
                          <a:ln>
                            <a:noFill/>
                          </a:ln>
                          <a:solidFill>
                            <a:srgbClr val="000000"/>
                          </a:solidFill>
                          <a:effectLst/>
                          <a:latin typeface="Times New Roman" pitchFamily="18" charset="0"/>
                        </a:rPr>
                        <a:t>i</a:t>
                      </a:r>
                      <a:endParaRPr kumimoji="0" lang="ru-RU" sz="2000" b="1" i="0" u="none" strike="noStrike" cap="none" normalizeH="0" baseline="0" smtClean="0">
                        <a:ln>
                          <a:noFill/>
                        </a:ln>
                        <a:solidFill>
                          <a:srgbClr val="000000"/>
                        </a:solidFill>
                        <a:effectLst/>
                        <a:latin typeface="Times New Roman" pitchFamily="18" charset="0"/>
                      </a:endParaRP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smtClean="0">
                          <a:ln>
                            <a:noFill/>
                          </a:ln>
                          <a:solidFill>
                            <a:schemeClr val="tx1"/>
                          </a:solidFill>
                          <a:effectLst/>
                          <a:latin typeface="Times New Roman" pitchFamily="18" charset="0"/>
                        </a:rPr>
                        <a:t>Мос шифр матн ва очиқ матн элементларининг сонли қиймати</a:t>
                      </a:r>
                      <a:endParaRPr kumimoji="0" lang="ru-RU" sz="2000" b="0" i="0" u="none" strike="noStrike" cap="none" normalizeH="0" baseline="0" smtClean="0">
                        <a:ln>
                          <a:noFill/>
                        </a:ln>
                        <a:solidFill>
                          <a:schemeClr val="tx1"/>
                        </a:solidFill>
                        <a:effectLst/>
                        <a:latin typeface="Times New Roman" pitchFamily="18" charset="0"/>
                      </a:endParaRP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00"/>
                          </a:solidFill>
                          <a:effectLst/>
                          <a:latin typeface="Times New Roman" pitchFamily="18" charset="0"/>
                        </a:rPr>
                        <a:t>K</a:t>
                      </a:r>
                      <a:r>
                        <a:rPr kumimoji="0" lang="en-US" sz="2000" b="1" i="0" u="none" strike="noStrike" cap="none" normalizeH="0" baseline="-25000" smtClean="0">
                          <a:ln>
                            <a:noFill/>
                          </a:ln>
                          <a:solidFill>
                            <a:srgbClr val="000000"/>
                          </a:solidFill>
                          <a:effectLst/>
                          <a:latin typeface="Times New Roman" pitchFamily="18" charset="0"/>
                        </a:rPr>
                        <a:t>i mod U</a:t>
                      </a:r>
                      <a:endParaRPr kumimoji="0" lang="ru-RU" sz="2000" b="1" i="0" u="none" strike="noStrike" cap="none" normalizeH="0" baseline="0" smtClean="0">
                        <a:ln>
                          <a:noFill/>
                        </a:ln>
                        <a:solidFill>
                          <a:srgbClr val="000000"/>
                        </a:solidFill>
                        <a:effectLst/>
                        <a:latin typeface="Times New Roman" pitchFamily="18" charset="0"/>
                      </a:endParaRP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smtClean="0">
                          <a:ln>
                            <a:noFill/>
                          </a:ln>
                          <a:solidFill>
                            <a:schemeClr val="tx1"/>
                          </a:solidFill>
                          <a:effectLst/>
                          <a:latin typeface="Times New Roman" pitchFamily="18" charset="0"/>
                        </a:rPr>
                        <a:t>Калит элементининг сонли қиймати</a:t>
                      </a:r>
                      <a:endParaRPr kumimoji="0" lang="ru-RU" sz="2000" b="0" i="0" u="none" strike="noStrike" cap="none" normalizeH="0" baseline="0" smtClean="0">
                        <a:ln>
                          <a:noFill/>
                        </a:ln>
                        <a:solidFill>
                          <a:schemeClr val="tx1"/>
                        </a:solidFill>
                        <a:effectLst/>
                        <a:latin typeface="Times New Roman" pitchFamily="18" charset="0"/>
                      </a:endParaRP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rPr>
                        <a:t>L</a:t>
                      </a:r>
                      <a:endParaRPr kumimoji="0" lang="ru-RU" sz="2000" b="1" i="0" u="none" strike="noStrike" cap="none" normalizeH="0" baseline="0" smtClean="0">
                        <a:ln>
                          <a:noFill/>
                        </a:ln>
                        <a:solidFill>
                          <a:schemeClr val="tx1"/>
                        </a:solidFill>
                        <a:effectLst/>
                        <a:latin typeface="Times New Roman" pitchFamily="18" charset="0"/>
                      </a:endParaRP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smtClean="0">
                          <a:ln>
                            <a:noFill/>
                          </a:ln>
                          <a:solidFill>
                            <a:schemeClr val="tx1"/>
                          </a:solidFill>
                          <a:effectLst/>
                          <a:latin typeface="Times New Roman" pitchFamily="18" charset="0"/>
                        </a:rPr>
                        <a:t>Алфавит қуввати</a:t>
                      </a:r>
                      <a:endParaRPr kumimoji="0" lang="ru-RU" sz="2000" b="0" i="0" u="none" strike="noStrike" cap="none" normalizeH="0" baseline="0" smtClean="0">
                        <a:ln>
                          <a:noFill/>
                        </a:ln>
                        <a:solidFill>
                          <a:schemeClr val="tx1"/>
                        </a:solidFill>
                        <a:effectLst/>
                        <a:latin typeface="Times New Roman" pitchFamily="18" charset="0"/>
                      </a:endParaRP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rPr>
                        <a:t>U</a:t>
                      </a:r>
                      <a:endParaRPr kumimoji="0" lang="ru-RU" sz="2000" b="1" i="0" u="none" strike="noStrike" cap="none" normalizeH="0" baseline="0" smtClean="0">
                        <a:ln>
                          <a:noFill/>
                        </a:ln>
                        <a:solidFill>
                          <a:schemeClr val="tx1"/>
                        </a:solidFill>
                        <a:effectLst/>
                        <a:latin typeface="Times New Roman" pitchFamily="18" charset="0"/>
                      </a:endParaRP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smtClean="0">
                          <a:ln>
                            <a:noFill/>
                          </a:ln>
                          <a:solidFill>
                            <a:schemeClr val="tx1"/>
                          </a:solidFill>
                          <a:effectLst/>
                          <a:latin typeface="Times New Roman" pitchFamily="18" charset="0"/>
                        </a:rPr>
                        <a:t>Калит узунлиги ёки шифрлаш даври</a:t>
                      </a:r>
                      <a:endParaRPr kumimoji="0" lang="ru-RU" sz="2000" b="0" i="0" u="none" strike="noStrike" cap="none" normalizeH="0" baseline="0" smtClean="0">
                        <a:ln>
                          <a:noFill/>
                        </a:ln>
                        <a:solidFill>
                          <a:schemeClr val="tx1"/>
                        </a:solidFill>
                        <a:effectLst/>
                        <a:latin typeface="Times New Roman" pitchFamily="18" charset="0"/>
                      </a:endParaRP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pull dir="l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4734" name="Group 1246"/>
          <p:cNvGraphicFramePr>
            <a:graphicFrameLocks noGrp="1"/>
          </p:cNvGraphicFramePr>
          <p:nvPr>
            <p:ph/>
          </p:nvPr>
        </p:nvGraphicFramePr>
        <p:xfrm>
          <a:off x="4402138" y="1773238"/>
          <a:ext cx="4475162" cy="4267200"/>
        </p:xfrm>
        <a:graphic>
          <a:graphicData uri="http://schemas.openxmlformats.org/drawingml/2006/table">
            <a:tbl>
              <a:tblPr/>
              <a:tblGrid>
                <a:gridCol w="369887"/>
                <a:gridCol w="431800"/>
                <a:gridCol w="360363"/>
                <a:gridCol w="422275"/>
                <a:gridCol w="1800225"/>
                <a:gridCol w="576262"/>
                <a:gridCol w="514350"/>
              </a:tblGrid>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П</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15</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К</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( 15 + 10 )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25</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Щ</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О</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14</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Р</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16</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( 14 + 16 )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30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Я</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38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Л</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11</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А</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( 11 +  0 )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11</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Л</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И</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8</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Б</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8 + 1 )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9</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Й</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А</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К</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0 + 10 )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К</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Л</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11</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Р</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16</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( 11 + 16 )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27</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Ь</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38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Ф</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20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А</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( 20 +  0 )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20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Ф</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А</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Б</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0 +  1 )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Б</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В</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К</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2 + 10 )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М</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И</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8</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Р</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16</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8 + 16 )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24</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Ш</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38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Т</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18</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А</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( 18 +  0 )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18</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Т</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Н</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13</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Б</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( 13 +  1 )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14</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О</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А</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К</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0 +  10 )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К</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Я</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30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Р</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16</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( 30 + 16 )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14</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О</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220" name="Text Box 1243"/>
          <p:cNvSpPr txBox="1">
            <a:spLocks noChangeArrowheads="1"/>
          </p:cNvSpPr>
          <p:nvPr/>
        </p:nvSpPr>
        <p:spPr bwMode="auto">
          <a:xfrm>
            <a:off x="250825" y="535260"/>
            <a:ext cx="3816350" cy="61341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r>
              <a:rPr lang="en-US" sz="1800" dirty="0"/>
              <a:t>    </a:t>
            </a:r>
            <a:r>
              <a:rPr lang="uz-Cyrl-UZ" sz="1800" dirty="0"/>
              <a:t>Бундай усул билан шифрлашда калитнинг ҳар хил элементлари шифр матн мос элементлари билан  қўшилади.</a:t>
            </a:r>
          </a:p>
          <a:p>
            <a:pPr algn="just" eaLnBrk="1" hangingPunct="1"/>
            <a:r>
              <a:rPr lang="en-US" sz="1800" dirty="0"/>
              <a:t>    </a:t>
            </a:r>
            <a:r>
              <a:rPr lang="uz-Cyrl-UZ" sz="1800" dirty="0"/>
              <a:t>Мисол учун қуйидаги таблицада “полиалфавитная” сўзини калит - “краб” билан шифрлаш кўрсатилган:</a:t>
            </a:r>
            <a:r>
              <a:rPr lang="en-US" sz="1800" dirty="0"/>
              <a:t> </a:t>
            </a:r>
            <a:r>
              <a:rPr lang="uz-Cyrl-UZ" sz="1800" dirty="0"/>
              <a:t>Бундай шифрлаш натижасида ҳосил бўлган шифрматн қуйидагича: “</a:t>
            </a:r>
            <a:r>
              <a:rPr lang="ru-RU" sz="1800" dirty="0"/>
              <a:t>ЩЯЛЙКЬФБМШТОКО</a:t>
            </a:r>
            <a:r>
              <a:rPr lang="uz-Cyrl-UZ" sz="1800" dirty="0"/>
              <a:t>”</a:t>
            </a:r>
          </a:p>
          <a:p>
            <a:pPr algn="just" eaLnBrk="1" hangingPunct="1"/>
            <a:r>
              <a:rPr lang="en-US" sz="1800" dirty="0"/>
              <a:t>    </a:t>
            </a:r>
            <a:r>
              <a:rPr lang="uz-Cyrl-UZ" sz="1800" dirty="0"/>
              <a:t>Кўриниб турибдики бу ерда Н ва Я ҳарфларига бир хил шифрбелги яъни О ҳарфи мос қўйиляпти, агар очиқ матн етарлича катта бўлиб калит ҳам етарлича узунликка эга бўлса шифрматнни таҳлил қилишда частотавий таҳлил усулидан фойдаланиб бўлмайди.</a:t>
            </a:r>
          </a:p>
          <a:p>
            <a:pPr algn="just" eaLnBrk="1" hangingPunct="1"/>
            <a:r>
              <a:rPr lang="en-US" sz="1800" dirty="0"/>
              <a:t>    </a:t>
            </a:r>
            <a:r>
              <a:rPr lang="uz-Cyrl-UZ" sz="1800" dirty="0"/>
              <a:t>Бундай шифрматнларни криптотаҳлил қилиш учун қуйида келтириладиган усулларни кўриб чиқамиз.</a:t>
            </a:r>
            <a:endParaRPr lang="ru-RU" sz="1800" dirty="0"/>
          </a:p>
        </p:txBody>
      </p:sp>
      <p:sp>
        <p:nvSpPr>
          <p:cNvPr id="4221" name="Text Box 1244"/>
          <p:cNvSpPr txBox="1">
            <a:spLocks noChangeArrowheads="1"/>
          </p:cNvSpPr>
          <p:nvPr/>
        </p:nvSpPr>
        <p:spPr bwMode="auto">
          <a:xfrm>
            <a:off x="3275013" y="87015"/>
            <a:ext cx="3025775" cy="461665"/>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uz-Cyrl-UZ" b="1" dirty="0"/>
              <a:t>Мисол:</a:t>
            </a:r>
            <a:r>
              <a:rPr lang="en-US" b="1" dirty="0"/>
              <a:t> (</a:t>
            </a:r>
            <a:r>
              <a:rPr lang="uz-Cyrl-UZ" b="1" dirty="0"/>
              <a:t>Вижинер</a:t>
            </a:r>
            <a:r>
              <a:rPr lang="en-US" b="1" dirty="0"/>
              <a:t>)</a:t>
            </a:r>
            <a:endParaRPr lang="ru-RU" b="1" dirty="0"/>
          </a:p>
        </p:txBody>
      </p:sp>
    </p:spTree>
  </p:cSld>
  <p:clrMapOvr>
    <a:masterClrMapping/>
  </p:clrMapOvr>
  <p:transition>
    <p:pull dir="l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Text Box 2">
            <a:hlinkClick r:id="rId3" action="ppaction://hlinksldjump"/>
          </p:cNvPr>
          <p:cNvSpPr txBox="1">
            <a:spLocks noChangeArrowheads="1"/>
          </p:cNvSpPr>
          <p:nvPr/>
        </p:nvSpPr>
        <p:spPr bwMode="auto">
          <a:xfrm>
            <a:off x="1619672" y="2457566"/>
            <a:ext cx="5976938" cy="466725"/>
          </a:xfrm>
          <a:prstGeom prst="rect">
            <a:avLst/>
          </a:prstGeom>
          <a:solidFill>
            <a:srgbClr val="7DE799">
              <a:alpha val="70195"/>
            </a:srgbClr>
          </a:solidFill>
          <a:ln w="9525" algn="ctr">
            <a:solidFill>
              <a:srgbClr val="33CCCC"/>
            </a:solidFill>
            <a:miter lim="800000"/>
            <a:headEnd/>
            <a:tailEnd/>
          </a:ln>
          <a:effectLst>
            <a:outerShdw dist="107763" dir="2700000" algn="ctr" rotWithShape="0">
              <a:schemeClr val="bg2">
                <a:alpha val="50000"/>
              </a:schemeClr>
            </a:outerShdw>
          </a:effec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uz-Cyrl-UZ">
                <a:latin typeface="Courier New" panose="02070309020205020404" pitchFamily="49" charset="0"/>
                <a:cs typeface="Courier New" panose="02070309020205020404" pitchFamily="49" charset="0"/>
              </a:rPr>
              <a:t>1) Мослик индекси (ИС) усули</a:t>
            </a:r>
            <a:endParaRPr lang="ru-RU">
              <a:latin typeface="Courier New" panose="02070309020205020404" pitchFamily="49" charset="0"/>
              <a:cs typeface="Courier New" panose="02070309020205020404" pitchFamily="49" charset="0"/>
            </a:endParaRPr>
          </a:p>
        </p:txBody>
      </p:sp>
      <p:sp>
        <p:nvSpPr>
          <p:cNvPr id="71683" name="Text Box 3">
            <a:hlinkClick r:id="rId4" action="ppaction://hlinksldjump"/>
          </p:cNvPr>
          <p:cNvSpPr txBox="1">
            <a:spLocks noChangeArrowheads="1"/>
          </p:cNvSpPr>
          <p:nvPr/>
        </p:nvSpPr>
        <p:spPr bwMode="auto">
          <a:xfrm>
            <a:off x="1619672" y="3466331"/>
            <a:ext cx="5976938" cy="466725"/>
          </a:xfrm>
          <a:prstGeom prst="rect">
            <a:avLst/>
          </a:prstGeom>
          <a:solidFill>
            <a:srgbClr val="7DE799">
              <a:alpha val="70195"/>
            </a:srgbClr>
          </a:solidFill>
          <a:ln w="9525" algn="ctr">
            <a:solidFill>
              <a:srgbClr val="33CCCC"/>
            </a:solidFill>
            <a:miter lim="800000"/>
            <a:headEnd/>
            <a:tailEnd/>
          </a:ln>
          <a:effectLst>
            <a:outerShdw dist="107763" dir="2700000" algn="ctr" rotWithShape="0">
              <a:schemeClr val="bg2">
                <a:alpha val="50000"/>
              </a:schemeClr>
            </a:outerShdw>
          </a:effec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l" eaLnBrk="1" hangingPunct="1">
              <a:spcBef>
                <a:spcPct val="50000"/>
              </a:spcBef>
            </a:pPr>
            <a:r>
              <a:rPr lang="uz-Cyrl-UZ" dirty="0">
                <a:latin typeface="Courier New" panose="02070309020205020404" pitchFamily="49" charset="0"/>
                <a:cs typeface="Courier New" panose="02070309020205020404" pitchFamily="49" charset="0"/>
              </a:rPr>
              <a:t>  </a:t>
            </a:r>
            <a:r>
              <a:rPr lang="uz-Cyrl-UZ" dirty="0" smtClean="0">
                <a:latin typeface="Courier New" panose="02070309020205020404" pitchFamily="49" charset="0"/>
                <a:cs typeface="Courier New" panose="02070309020205020404" pitchFamily="49" charset="0"/>
              </a:rPr>
              <a:t>2</a:t>
            </a:r>
            <a:r>
              <a:rPr lang="uz-Cyrl-UZ" dirty="0">
                <a:latin typeface="Courier New" panose="02070309020205020404" pitchFamily="49" charset="0"/>
                <a:cs typeface="Courier New" panose="02070309020205020404" pitchFamily="49" charset="0"/>
              </a:rPr>
              <a:t>) Казиски усули</a:t>
            </a:r>
            <a:endParaRPr lang="ru-RU" dirty="0">
              <a:latin typeface="Courier New" panose="02070309020205020404" pitchFamily="49" charset="0"/>
              <a:cs typeface="Courier New" panose="02070309020205020404" pitchFamily="49" charset="0"/>
            </a:endParaRPr>
          </a:p>
        </p:txBody>
      </p:sp>
      <p:sp>
        <p:nvSpPr>
          <p:cNvPr id="71685" name="Text Box 5"/>
          <p:cNvSpPr txBox="1">
            <a:spLocks noChangeArrowheads="1"/>
          </p:cNvSpPr>
          <p:nvPr/>
        </p:nvSpPr>
        <p:spPr bwMode="auto">
          <a:xfrm>
            <a:off x="539552" y="826195"/>
            <a:ext cx="8280920" cy="1200329"/>
          </a:xfrm>
          <a:prstGeom prst="rect">
            <a:avLst/>
          </a:prstGeom>
          <a:ln/>
          <a:extLst/>
        </p:spPr>
        <p:style>
          <a:lnRef idx="2">
            <a:schemeClr val="dk1"/>
          </a:lnRef>
          <a:fillRef idx="1">
            <a:schemeClr val="lt1"/>
          </a:fillRef>
          <a:effectRef idx="0">
            <a:schemeClr val="dk1"/>
          </a:effectRef>
          <a:fontRef idx="minor">
            <a:schemeClr val="dk1"/>
          </a:fontRef>
        </p:style>
        <p:txBody>
          <a:bodyPr wrap="square">
            <a:spAutoFit/>
          </a:bodyPr>
          <a:lstStyle/>
          <a:p>
            <a:pPr>
              <a:spcBef>
                <a:spcPct val="50000"/>
              </a:spcBef>
              <a:defRPr/>
            </a:pPr>
            <a:r>
              <a:rPr lang="uz-Cyrl-UZ" dirty="0">
                <a:latin typeface="Courier New" panose="02070309020205020404" pitchFamily="49" charset="0"/>
                <a:cs typeface="Courier New" panose="02070309020205020404" pitchFamily="49" charset="0"/>
              </a:rPr>
              <a:t>Кўп алфавитли ўрнига қўйиш шифркриптограммаларини дешифрлаш </a:t>
            </a:r>
            <a:r>
              <a:rPr lang="uz-Cyrl-UZ" dirty="0" smtClean="0">
                <a:latin typeface="Courier New" panose="02070309020205020404" pitchFamily="49" charset="0"/>
                <a:cs typeface="Courier New" panose="02070309020205020404" pitchFamily="49" charset="0"/>
              </a:rPr>
              <a:t>усуллари</a:t>
            </a:r>
            <a:r>
              <a:rPr lang="en-US" dirty="0" smtClean="0">
                <a:latin typeface="Courier New" panose="02070309020205020404" pitchFamily="49" charset="0"/>
                <a:cs typeface="Courier New" panose="02070309020205020404" pitchFamily="49" charset="0"/>
              </a:rPr>
              <a:t>: </a:t>
            </a:r>
            <a:r>
              <a:rPr lang="ru-RU" b="1" dirty="0" smtClean="0">
                <a:latin typeface="Courier New" panose="02070309020205020404" pitchFamily="49" charset="0"/>
                <a:cs typeface="Courier New" panose="02070309020205020404" pitchFamily="49" charset="0"/>
              </a:rPr>
              <a:t>калит </a:t>
            </a:r>
            <a:r>
              <a:rPr lang="ru-RU" b="1" dirty="0" err="1" smtClean="0">
                <a:latin typeface="Courier New" panose="02070309020205020404" pitchFamily="49" charset="0"/>
                <a:cs typeface="Courier New" panose="02070309020205020404" pitchFamily="49" charset="0"/>
              </a:rPr>
              <a:t>узунлигини</a:t>
            </a:r>
            <a:r>
              <a:rPr lang="ru-RU" b="1" dirty="0" smtClean="0">
                <a:latin typeface="Courier New" panose="02070309020205020404" pitchFamily="49" charset="0"/>
                <a:cs typeface="Courier New" panose="02070309020205020404" pitchFamily="49" charset="0"/>
              </a:rPr>
              <a:t> </a:t>
            </a:r>
            <a:r>
              <a:rPr lang="ru-RU" b="1" dirty="0" err="1" smtClean="0">
                <a:latin typeface="Courier New" panose="02070309020205020404" pitchFamily="49" charset="0"/>
                <a:cs typeface="Courier New" panose="02070309020205020404" pitchFamily="49" charset="0"/>
              </a:rPr>
              <a:t>топиш</a:t>
            </a:r>
            <a:endParaRPr lang="ru-RU" b="1" dirty="0">
              <a:latin typeface="Courier New" panose="02070309020205020404" pitchFamily="49" charset="0"/>
              <a:cs typeface="Courier New" panose="02070309020205020404" pitchFamily="49" charset="0"/>
            </a:endParaRPr>
          </a:p>
        </p:txBody>
      </p:sp>
    </p:spTree>
  </p:cSld>
  <p:clrMapOvr>
    <a:masterClrMapping/>
  </p:clrMapOvr>
  <p:transition advClick="0">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2" fill="hold" grpId="0" nodeType="afterEffect">
                                  <p:stCondLst>
                                    <p:cond delay="0"/>
                                  </p:stCondLst>
                                  <p:childTnLst>
                                    <p:set>
                                      <p:cBhvr>
                                        <p:cTn id="6" dur="1" fill="hold">
                                          <p:stCondLst>
                                            <p:cond delay="0"/>
                                          </p:stCondLst>
                                        </p:cTn>
                                        <p:tgtEl>
                                          <p:spTgt spid="71685"/>
                                        </p:tgtEl>
                                        <p:attrNameLst>
                                          <p:attrName>style.visibility</p:attrName>
                                        </p:attrNameLst>
                                      </p:cBhvr>
                                      <p:to>
                                        <p:strVal val="visible"/>
                                      </p:to>
                                    </p:set>
                                    <p:anim calcmode="lin" valueType="num">
                                      <p:cBhvr additive="base">
                                        <p:cTn id="7" dur="500" fill="hold"/>
                                        <p:tgtEl>
                                          <p:spTgt spid="71685"/>
                                        </p:tgtEl>
                                        <p:attrNameLst>
                                          <p:attrName>ppt_x</p:attrName>
                                        </p:attrNameLst>
                                      </p:cBhvr>
                                      <p:tavLst>
                                        <p:tav tm="0">
                                          <p:val>
                                            <p:strVal val="0-#ppt_w/2"/>
                                          </p:val>
                                        </p:tav>
                                        <p:tav tm="100000">
                                          <p:val>
                                            <p:strVal val="#ppt_x"/>
                                          </p:val>
                                        </p:tav>
                                      </p:tavLst>
                                    </p:anim>
                                    <p:anim calcmode="lin" valueType="num">
                                      <p:cBhvr additive="base">
                                        <p:cTn id="8" dur="500" fill="hold"/>
                                        <p:tgtEl>
                                          <p:spTgt spid="71685"/>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1682"/>
                                        </p:tgtEl>
                                        <p:attrNameLst>
                                          <p:attrName>style.visibility</p:attrName>
                                        </p:attrNameLst>
                                      </p:cBhvr>
                                      <p:to>
                                        <p:strVal val="visible"/>
                                      </p:to>
                                    </p:set>
                                    <p:animEffect transition="in" filter="fade">
                                      <p:cBhvr>
                                        <p:cTn id="12" dur="1000"/>
                                        <p:tgtEl>
                                          <p:spTgt spid="71682"/>
                                        </p:tgtEl>
                                      </p:cBhvr>
                                    </p:animEffect>
                                  </p:childTnLst>
                                </p:cTn>
                              </p:par>
                            </p:childTnLst>
                          </p:cTn>
                        </p:par>
                        <p:par>
                          <p:cTn id="13" fill="hold" nodeType="afterGroup">
                            <p:stCondLst>
                              <p:cond delay="1500"/>
                            </p:stCondLst>
                            <p:childTnLst>
                              <p:par>
                                <p:cTn id="14" presetID="10" presetClass="entr" presetSubtype="0" fill="hold" grpId="0" nodeType="afterEffect">
                                  <p:stCondLst>
                                    <p:cond delay="0"/>
                                  </p:stCondLst>
                                  <p:childTnLst>
                                    <p:set>
                                      <p:cBhvr>
                                        <p:cTn id="15" dur="1" fill="hold">
                                          <p:stCondLst>
                                            <p:cond delay="0"/>
                                          </p:stCondLst>
                                        </p:cTn>
                                        <p:tgtEl>
                                          <p:spTgt spid="71683"/>
                                        </p:tgtEl>
                                        <p:attrNameLst>
                                          <p:attrName>style.visibility</p:attrName>
                                        </p:attrNameLst>
                                      </p:cBhvr>
                                      <p:to>
                                        <p:strVal val="visible"/>
                                      </p:to>
                                    </p:set>
                                    <p:animEffect transition="in" filter="fade">
                                      <p:cBhvr>
                                        <p:cTn id="16" dur="1000"/>
                                        <p:tgtEl>
                                          <p:spTgt spid="71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animBg="1"/>
      <p:bldP spid="71683" grpId="0" animBg="1"/>
      <p:bldP spid="71685"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Text Box 4"/>
          <p:cNvSpPr txBox="1">
            <a:spLocks noChangeArrowheads="1"/>
          </p:cNvSpPr>
          <p:nvPr/>
        </p:nvSpPr>
        <p:spPr bwMode="auto">
          <a:xfrm>
            <a:off x="684213" y="511175"/>
            <a:ext cx="7848600" cy="2000548"/>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indent="538163" algn="just" eaLnBrk="1" hangingPunct="1"/>
            <a:r>
              <a:rPr lang="uz-Cyrl-UZ" sz="2000" dirty="0" smtClean="0"/>
              <a:t>Частотавий </a:t>
            </a:r>
            <a:r>
              <a:rPr lang="uz-Cyrl-UZ" sz="2000" dirty="0"/>
              <a:t>таҳлил усулини блокларга қўллаш учун криптотаҳлилчи шифр матннинг такрорланиш даврини билиши керак бўлади. Шу мақсадда криптотаҳлилчи “Мослик индекси” (ИС) усулини қўллайди.</a:t>
            </a:r>
          </a:p>
          <a:p>
            <a:pPr indent="538163" algn="just" eaLnBrk="1" hangingPunct="1"/>
            <a:r>
              <a:rPr lang="uz-Cyrl-UZ" sz="2000" b="1" dirty="0" smtClean="0"/>
              <a:t>“</a:t>
            </a:r>
            <a:r>
              <a:rPr lang="uz-Cyrl-UZ" sz="2000" b="1" dirty="0"/>
              <a:t>Мослик индекси”</a:t>
            </a:r>
            <a:r>
              <a:rPr lang="uz-Cyrl-UZ" b="1" dirty="0"/>
              <a:t> </a:t>
            </a:r>
            <a:r>
              <a:rPr lang="uz-Cyrl-UZ" sz="2000" b="1" dirty="0"/>
              <a:t>учун </a:t>
            </a:r>
            <a:r>
              <a:rPr lang="uz-Cyrl-UZ" sz="2000" b="1" dirty="0">
                <a:solidFill>
                  <a:srgbClr val="3366FF"/>
                </a:solidFill>
              </a:rPr>
              <a:t>назарий</a:t>
            </a:r>
            <a:r>
              <a:rPr lang="uz-Cyrl-UZ" sz="2000" b="1" dirty="0"/>
              <a:t> </a:t>
            </a:r>
            <a:r>
              <a:rPr lang="uz-Cyrl-UZ" sz="2000" dirty="0"/>
              <a:t>хисоблаш формуласи қуйидагича:</a:t>
            </a:r>
            <a:endParaRPr lang="ru-RU" sz="2000" dirty="0"/>
          </a:p>
        </p:txBody>
      </p:sp>
      <p:sp>
        <p:nvSpPr>
          <p:cNvPr id="6147" name="Rectangle 6"/>
          <p:cNvSpPr>
            <a:spLocks noChangeArrowheads="1"/>
          </p:cNvSpPr>
          <p:nvPr/>
        </p:nvSpPr>
        <p:spPr bwMode="auto">
          <a:xfrm>
            <a:off x="0" y="3176588"/>
            <a:ext cx="9144000" cy="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uz-Cyrl-UZ"/>
          </a:p>
        </p:txBody>
      </p:sp>
      <p:graphicFrame>
        <p:nvGraphicFramePr>
          <p:cNvPr id="6148" name="Object 5"/>
          <p:cNvGraphicFramePr>
            <a:graphicFrameLocks noChangeAspect="1"/>
          </p:cNvGraphicFramePr>
          <p:nvPr/>
        </p:nvGraphicFramePr>
        <p:xfrm>
          <a:off x="1081088" y="2708275"/>
          <a:ext cx="3887787" cy="792163"/>
        </p:xfrm>
        <a:graphic>
          <a:graphicData uri="http://schemas.openxmlformats.org/presentationml/2006/ole">
            <mc:AlternateContent xmlns:mc="http://schemas.openxmlformats.org/markup-compatibility/2006">
              <mc:Choice xmlns:v="urn:schemas-microsoft-com:vml" Requires="v">
                <p:oleObj spid="_x0000_s6208" name="Формула" r:id="rId4" imgW="2082800" imgH="419100" progId="Equation.3">
                  <p:embed/>
                </p:oleObj>
              </mc:Choice>
              <mc:Fallback>
                <p:oleObj name="Формула" r:id="rId4" imgW="2082800" imgH="4191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1088" y="2708275"/>
                        <a:ext cx="3887787"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9" name="Text Box 7"/>
          <p:cNvSpPr txBox="1">
            <a:spLocks noChangeArrowheads="1"/>
          </p:cNvSpPr>
          <p:nvPr/>
        </p:nvSpPr>
        <p:spPr bwMode="auto">
          <a:xfrm>
            <a:off x="4859338" y="2886075"/>
            <a:ext cx="1441450" cy="396875"/>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uz-Cyrl-UZ" sz="2000" dirty="0" smtClean="0"/>
              <a:t>;   </a:t>
            </a:r>
            <a:r>
              <a:rPr lang="uz-Cyrl-UZ" sz="2000" dirty="0"/>
              <a:t>бу ерда</a:t>
            </a:r>
            <a:endParaRPr lang="ru-RU" sz="2000" dirty="0"/>
          </a:p>
        </p:txBody>
      </p:sp>
      <p:graphicFrame>
        <p:nvGraphicFramePr>
          <p:cNvPr id="6150" name="Object 8"/>
          <p:cNvGraphicFramePr>
            <a:graphicFrameLocks noChangeAspect="1"/>
          </p:cNvGraphicFramePr>
          <p:nvPr/>
        </p:nvGraphicFramePr>
        <p:xfrm>
          <a:off x="6370638" y="2636838"/>
          <a:ext cx="1873250" cy="890587"/>
        </p:xfrm>
        <a:graphic>
          <a:graphicData uri="http://schemas.openxmlformats.org/presentationml/2006/ole">
            <mc:AlternateContent xmlns:mc="http://schemas.openxmlformats.org/markup-compatibility/2006">
              <mc:Choice xmlns:v="urn:schemas-microsoft-com:vml" Requires="v">
                <p:oleObj spid="_x0000_s6209" name="Формула" r:id="rId6" imgW="901309" imgH="431613" progId="Equation.3">
                  <p:embed/>
                </p:oleObj>
              </mc:Choice>
              <mc:Fallback>
                <p:oleObj name="Формула" r:id="rId6" imgW="901309" imgH="431613"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70638" y="2636838"/>
                        <a:ext cx="1873250"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642" name="Group 82"/>
          <p:cNvGraphicFramePr>
            <a:graphicFrameLocks noGrp="1"/>
          </p:cNvGraphicFramePr>
          <p:nvPr>
            <p:ph/>
            <p:extLst>
              <p:ext uri="{D42A27DB-BD31-4B8C-83A1-F6EECF244321}">
                <p14:modId xmlns:p14="http://schemas.microsoft.com/office/powerpoint/2010/main" val="4111604903"/>
              </p:ext>
            </p:extLst>
          </p:nvPr>
        </p:nvGraphicFramePr>
        <p:xfrm>
          <a:off x="1619250" y="4149725"/>
          <a:ext cx="6048375" cy="1584704"/>
        </p:xfrm>
        <a:graphic>
          <a:graphicData uri="http://schemas.openxmlformats.org/drawingml/2006/table">
            <a:tbl>
              <a:tblPr/>
              <a:tblGrid>
                <a:gridCol w="955675"/>
                <a:gridCol w="5092700"/>
              </a:tblGrid>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dirty="0" smtClean="0">
                          <a:ln>
                            <a:noFill/>
                          </a:ln>
                          <a:solidFill>
                            <a:srgbClr val="000000"/>
                          </a:solidFill>
                          <a:effectLst/>
                          <a:latin typeface="Times New Roman" pitchFamily="18" charset="0"/>
                        </a:rPr>
                        <a:t>N</a:t>
                      </a:r>
                      <a:endParaRPr kumimoji="0" lang="ru-RU" sz="2000" b="1" i="1" u="none" strike="noStrike" cap="none" normalizeH="0" baseline="0" dirty="0" smtClean="0">
                        <a:ln>
                          <a:noFill/>
                        </a:ln>
                        <a:solidFill>
                          <a:srgbClr val="000000"/>
                        </a:solidFill>
                        <a:effectLst/>
                        <a:latin typeface="Times New Roman" pitchFamily="18" charset="0"/>
                      </a:endParaRP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dirty="0" smtClean="0">
                          <a:ln>
                            <a:noFill/>
                          </a:ln>
                          <a:solidFill>
                            <a:schemeClr val="tx1"/>
                          </a:solidFill>
                          <a:effectLst/>
                          <a:latin typeface="Times New Roman" pitchFamily="18" charset="0"/>
                        </a:rPr>
                        <a:t>шифрматн белгилари сони</a:t>
                      </a:r>
                      <a:endParaRPr kumimoji="0" lang="ru-RU" sz="2000" b="0" i="0" u="none" strike="noStrike" cap="none" normalizeH="0" baseline="0" dirty="0" smtClean="0">
                        <a:ln>
                          <a:noFill/>
                        </a:ln>
                        <a:solidFill>
                          <a:schemeClr val="tx1"/>
                        </a:solidFill>
                        <a:effectLst/>
                        <a:latin typeface="Times New Roman" pitchFamily="18" charset="0"/>
                      </a:endParaRP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dirty="0" smtClean="0">
                          <a:ln>
                            <a:noFill/>
                          </a:ln>
                          <a:solidFill>
                            <a:srgbClr val="000000"/>
                          </a:solidFill>
                          <a:effectLst/>
                          <a:latin typeface="Times New Roman" pitchFamily="18" charset="0"/>
                        </a:rPr>
                        <a:t>m</a:t>
                      </a:r>
                      <a:endParaRPr kumimoji="0" lang="ru-RU" sz="2000" b="1" i="1" u="none" strike="noStrike" cap="none" normalizeH="0" baseline="0" dirty="0" smtClean="0">
                        <a:ln>
                          <a:noFill/>
                        </a:ln>
                        <a:solidFill>
                          <a:srgbClr val="000000"/>
                        </a:solidFill>
                        <a:effectLst/>
                        <a:latin typeface="Times New Roman" pitchFamily="18" charset="0"/>
                      </a:endParaRP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dirty="0" smtClean="0">
                          <a:ln>
                            <a:noFill/>
                          </a:ln>
                          <a:solidFill>
                            <a:schemeClr val="tx1"/>
                          </a:solidFill>
                          <a:effectLst/>
                          <a:latin typeface="Times New Roman" pitchFamily="18" charset="0"/>
                        </a:rPr>
                        <a:t>калит узунлиги</a:t>
                      </a:r>
                      <a:endParaRPr kumimoji="0" lang="ru-RU" sz="2000" b="0" i="0" u="none" strike="noStrike" cap="none" normalizeH="0" baseline="0" dirty="0" smtClean="0">
                        <a:ln>
                          <a:noFill/>
                        </a:ln>
                        <a:solidFill>
                          <a:schemeClr val="tx1"/>
                        </a:solidFill>
                        <a:effectLst/>
                        <a:latin typeface="Times New Roman" pitchFamily="18" charset="0"/>
                      </a:endParaRP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dirty="0" smtClean="0">
                          <a:ln>
                            <a:noFill/>
                          </a:ln>
                          <a:solidFill>
                            <a:schemeClr val="tx1"/>
                          </a:solidFill>
                          <a:effectLst/>
                          <a:latin typeface="Times New Roman" pitchFamily="18" charset="0"/>
                        </a:rPr>
                        <a:t>p(</a:t>
                      </a:r>
                      <a:r>
                        <a:rPr kumimoji="0" lang="en-US" sz="2000" b="1" i="1" u="none" strike="noStrike" cap="none" normalizeH="0" baseline="0" dirty="0" err="1" smtClean="0">
                          <a:ln>
                            <a:noFill/>
                          </a:ln>
                          <a:solidFill>
                            <a:schemeClr val="tx1"/>
                          </a:solidFill>
                          <a:effectLst/>
                          <a:latin typeface="Times New Roman" pitchFamily="18" charset="0"/>
                        </a:rPr>
                        <a:t>i</a:t>
                      </a:r>
                      <a:r>
                        <a:rPr kumimoji="0" lang="en-US" sz="2000" b="1" i="1" u="none" strike="noStrike" cap="none" normalizeH="0" baseline="0" dirty="0" smtClean="0">
                          <a:ln>
                            <a:noFill/>
                          </a:ln>
                          <a:solidFill>
                            <a:schemeClr val="tx1"/>
                          </a:solidFill>
                          <a:effectLst/>
                          <a:latin typeface="Times New Roman" pitchFamily="18" charset="0"/>
                        </a:rPr>
                        <a:t>)</a:t>
                      </a:r>
                      <a:endParaRPr kumimoji="0" lang="ru-RU" sz="2000" b="1" i="1" u="none" strike="noStrike" cap="none" normalizeH="0" baseline="0" dirty="0" smtClean="0">
                        <a:ln>
                          <a:noFill/>
                        </a:ln>
                        <a:solidFill>
                          <a:schemeClr val="tx1"/>
                        </a:solidFill>
                        <a:effectLst/>
                        <a:latin typeface="Times New Roman" pitchFamily="18" charset="0"/>
                      </a:endParaRP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dirty="0" smtClean="0">
                          <a:ln>
                            <a:noFill/>
                          </a:ln>
                          <a:solidFill>
                            <a:schemeClr val="tx1"/>
                          </a:solidFill>
                          <a:effectLst/>
                          <a:latin typeface="Times New Roman" pitchFamily="18" charset="0"/>
                        </a:rPr>
                        <a:t>алфавит </a:t>
                      </a:r>
                      <a:r>
                        <a:rPr kumimoji="0" lang="en-US" sz="2000" b="0" i="1" u="none" strike="noStrike" cap="none" normalizeH="0" baseline="0" dirty="0" err="1" smtClean="0">
                          <a:ln>
                            <a:noFill/>
                          </a:ln>
                          <a:solidFill>
                            <a:schemeClr val="tx1"/>
                          </a:solidFill>
                          <a:effectLst/>
                          <a:latin typeface="Times New Roman" pitchFamily="18" charset="0"/>
                        </a:rPr>
                        <a:t>i</a:t>
                      </a:r>
                      <a:r>
                        <a:rPr kumimoji="0" lang="en-US" sz="2000" b="0" i="0" u="none" strike="noStrike" cap="none" normalizeH="0" baseline="0" dirty="0" smtClean="0">
                          <a:ln>
                            <a:noFill/>
                          </a:ln>
                          <a:solidFill>
                            <a:schemeClr val="tx1"/>
                          </a:solidFill>
                          <a:effectLst/>
                          <a:latin typeface="Times New Roman" pitchFamily="18" charset="0"/>
                        </a:rPr>
                        <a:t>-</a:t>
                      </a:r>
                      <a:r>
                        <a:rPr kumimoji="0" lang="uz-Cyrl-UZ" sz="2000" b="0" i="0" u="none" strike="noStrike" cap="none" normalizeH="0" baseline="0" dirty="0" smtClean="0">
                          <a:ln>
                            <a:noFill/>
                          </a:ln>
                          <a:solidFill>
                            <a:schemeClr val="tx1"/>
                          </a:solidFill>
                          <a:effectLst/>
                          <a:latin typeface="Times New Roman" pitchFamily="18" charset="0"/>
                        </a:rPr>
                        <a:t>чи ҳарфининг учраш эхтимоллиги</a:t>
                      </a:r>
                      <a:r>
                        <a:rPr kumimoji="0" lang="ru-RU" sz="2000" b="0" i="0" u="none" strike="noStrike" cap="none" normalizeH="0" baseline="0" dirty="0" smtClean="0">
                          <a:ln>
                            <a:noFill/>
                          </a:ln>
                          <a:solidFill>
                            <a:schemeClr val="tx1"/>
                          </a:solidFill>
                          <a:effectLst/>
                          <a:latin typeface="Times New Roman" pitchFamily="18" charset="0"/>
                        </a:rPr>
                        <a:t> </a:t>
                      </a: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dirty="0" smtClean="0">
                          <a:ln>
                            <a:noFill/>
                          </a:ln>
                          <a:solidFill>
                            <a:schemeClr val="tx1"/>
                          </a:solidFill>
                          <a:effectLst/>
                          <a:latin typeface="Times New Roman" pitchFamily="18" charset="0"/>
                        </a:rPr>
                        <a:t>L</a:t>
                      </a:r>
                      <a:endParaRPr kumimoji="0" lang="ru-RU" sz="2000" b="1" i="1" u="none" strike="noStrike" cap="none" normalizeH="0" baseline="0" dirty="0" smtClean="0">
                        <a:ln>
                          <a:noFill/>
                        </a:ln>
                        <a:solidFill>
                          <a:schemeClr val="tx1"/>
                        </a:solidFill>
                        <a:effectLst/>
                        <a:latin typeface="Times New Roman" pitchFamily="18" charset="0"/>
                      </a:endParaRP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dirty="0" smtClean="0">
                          <a:ln>
                            <a:noFill/>
                          </a:ln>
                          <a:solidFill>
                            <a:schemeClr val="tx1"/>
                          </a:solidFill>
                          <a:effectLst/>
                          <a:latin typeface="Times New Roman" pitchFamily="18" charset="0"/>
                        </a:rPr>
                        <a:t>алфавит белгилари сони</a:t>
                      </a:r>
                      <a:r>
                        <a:rPr kumimoji="0" lang="ru-RU" sz="2000" b="0" i="0" u="none" strike="noStrike" cap="none" normalizeH="0" baseline="0" dirty="0" smtClean="0">
                          <a:ln>
                            <a:noFill/>
                          </a:ln>
                          <a:solidFill>
                            <a:schemeClr val="tx1"/>
                          </a:solidFill>
                          <a:effectLst/>
                          <a:latin typeface="Times New Roman" pitchFamily="18" charset="0"/>
                        </a:rPr>
                        <a:t> </a:t>
                      </a: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pull dir="l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Text Box 4"/>
          <p:cNvSpPr txBox="1">
            <a:spLocks noChangeArrowheads="1"/>
          </p:cNvSpPr>
          <p:nvPr/>
        </p:nvSpPr>
        <p:spPr bwMode="auto">
          <a:xfrm>
            <a:off x="468313" y="333375"/>
            <a:ext cx="8280400" cy="701675"/>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spcBef>
                <a:spcPct val="50000"/>
              </a:spcBef>
            </a:pPr>
            <a:r>
              <a:rPr lang="en-US" sz="2000" dirty="0"/>
              <a:t>    </a:t>
            </a:r>
            <a:r>
              <a:rPr lang="uz-Cyrl-UZ" sz="2000" b="1" dirty="0">
                <a:solidFill>
                  <a:srgbClr val="3366FF"/>
                </a:solidFill>
              </a:rPr>
              <a:t>Амалиётда</a:t>
            </a:r>
            <a:r>
              <a:rPr lang="uz-Cyrl-UZ" sz="2000" b="1" dirty="0"/>
              <a:t> аниқ шифр матн учун “Мослик индекси”</a:t>
            </a:r>
            <a:r>
              <a:rPr lang="uz-Cyrl-UZ" sz="2000" dirty="0"/>
              <a:t> қўллашда қуйида келтирилган формуладан фойдаланилади:</a:t>
            </a:r>
            <a:endParaRPr lang="ru-RU" sz="2000" dirty="0"/>
          </a:p>
        </p:txBody>
      </p:sp>
      <p:sp>
        <p:nvSpPr>
          <p:cNvPr id="7171" name="Rectangle 6"/>
          <p:cNvSpPr>
            <a:spLocks noChangeArrowheads="1"/>
          </p:cNvSpPr>
          <p:nvPr/>
        </p:nvSpPr>
        <p:spPr bwMode="auto">
          <a:xfrm>
            <a:off x="0" y="3019425"/>
            <a:ext cx="9144000" cy="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uz-Cyrl-UZ"/>
          </a:p>
        </p:txBody>
      </p:sp>
      <p:graphicFrame>
        <p:nvGraphicFramePr>
          <p:cNvPr id="7172" name="Object 5"/>
          <p:cNvGraphicFramePr>
            <a:graphicFrameLocks noChangeAspect="1"/>
          </p:cNvGraphicFramePr>
          <p:nvPr/>
        </p:nvGraphicFramePr>
        <p:xfrm>
          <a:off x="2987675" y="981075"/>
          <a:ext cx="2952750" cy="1154113"/>
        </p:xfrm>
        <a:graphic>
          <a:graphicData uri="http://schemas.openxmlformats.org/presentationml/2006/ole">
            <mc:AlternateContent xmlns:mc="http://schemas.openxmlformats.org/markup-compatibility/2006">
              <mc:Choice xmlns:v="urn:schemas-microsoft-com:vml" Requires="v">
                <p:oleObj spid="_x0000_s7247" name="Формула" r:id="rId4" imgW="1624895" imgH="634725" progId="Equation.3">
                  <p:embed/>
                </p:oleObj>
              </mc:Choice>
              <mc:Fallback>
                <p:oleObj name="Формула" r:id="rId4" imgW="1624895" imgH="634725"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675" y="981075"/>
                        <a:ext cx="2952750" cy="115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13" name="Group 29"/>
          <p:cNvGraphicFramePr>
            <a:graphicFrameLocks noGrp="1"/>
          </p:cNvGraphicFramePr>
          <p:nvPr>
            <p:ph/>
            <p:extLst>
              <p:ext uri="{D42A27DB-BD31-4B8C-83A1-F6EECF244321}">
                <p14:modId xmlns:p14="http://schemas.microsoft.com/office/powerpoint/2010/main" val="1673157660"/>
              </p:ext>
            </p:extLst>
          </p:nvPr>
        </p:nvGraphicFramePr>
        <p:xfrm>
          <a:off x="1403350" y="2205038"/>
          <a:ext cx="6553200" cy="1011350"/>
        </p:xfrm>
        <a:graphic>
          <a:graphicData uri="http://schemas.openxmlformats.org/drawingml/2006/table">
            <a:tbl>
              <a:tblPr/>
              <a:tblGrid>
                <a:gridCol w="1035050"/>
                <a:gridCol w="5518150"/>
              </a:tblGrid>
              <a:tr h="49327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dirty="0" smtClean="0">
                          <a:ln>
                            <a:noFill/>
                          </a:ln>
                          <a:solidFill>
                            <a:srgbClr val="000000"/>
                          </a:solidFill>
                          <a:effectLst/>
                          <a:latin typeface="Times New Roman" pitchFamily="18" charset="0"/>
                        </a:rPr>
                        <a:t>N</a:t>
                      </a:r>
                      <a:endParaRPr kumimoji="0" lang="ru-RU" sz="2000" b="1" i="1" u="none" strike="noStrike" cap="none" normalizeH="0" baseline="0" dirty="0" smtClean="0">
                        <a:ln>
                          <a:noFill/>
                        </a:ln>
                        <a:solidFill>
                          <a:srgbClr val="000000"/>
                        </a:solidFill>
                        <a:effectLst/>
                        <a:latin typeface="Times New Roman" pitchFamily="18" charset="0"/>
                      </a:endParaRPr>
                    </a:p>
                  </a:txBody>
                  <a:tcPr marT="45679" marB="4567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smtClean="0">
                          <a:ln>
                            <a:noFill/>
                          </a:ln>
                          <a:solidFill>
                            <a:schemeClr val="tx1"/>
                          </a:solidFill>
                          <a:effectLst/>
                          <a:latin typeface="Times New Roman" pitchFamily="18" charset="0"/>
                        </a:rPr>
                        <a:t>шифр матн белгилари сони</a:t>
                      </a:r>
                      <a:endParaRPr kumimoji="0" lang="ru-RU" sz="2000" b="0" i="0" u="none" strike="noStrike" cap="none" normalizeH="0" baseline="0" smtClean="0">
                        <a:ln>
                          <a:noFill/>
                        </a:ln>
                        <a:solidFill>
                          <a:schemeClr val="tx1"/>
                        </a:solidFill>
                        <a:effectLst/>
                        <a:latin typeface="Times New Roman" pitchFamily="18" charset="0"/>
                      </a:endParaRPr>
                    </a:p>
                  </a:txBody>
                  <a:tcPr marT="45679" marB="4567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796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dirty="0" smtClean="0">
                          <a:ln>
                            <a:noFill/>
                          </a:ln>
                          <a:solidFill>
                            <a:srgbClr val="000000"/>
                          </a:solidFill>
                          <a:effectLst/>
                          <a:latin typeface="Times New Roman" pitchFamily="18" charset="0"/>
                        </a:rPr>
                        <a:t>f</a:t>
                      </a:r>
                      <a:r>
                        <a:rPr kumimoji="0" lang="en-US" sz="2000" b="1" i="0" u="none" strike="noStrike" cap="none" normalizeH="0" baseline="0" dirty="0" smtClean="0">
                          <a:ln>
                            <a:noFill/>
                          </a:ln>
                          <a:solidFill>
                            <a:srgbClr val="000000"/>
                          </a:solidFill>
                          <a:effectLst/>
                          <a:latin typeface="Times New Roman" pitchFamily="18" charset="0"/>
                        </a:rPr>
                        <a:t>(</a:t>
                      </a:r>
                      <a:r>
                        <a:rPr kumimoji="0" lang="en-US" sz="2000" b="1" i="1" u="none" strike="noStrike" cap="none" normalizeH="0" baseline="0" dirty="0" err="1" smtClean="0">
                          <a:ln>
                            <a:noFill/>
                          </a:ln>
                          <a:solidFill>
                            <a:srgbClr val="000000"/>
                          </a:solidFill>
                          <a:effectLst/>
                          <a:latin typeface="Times New Roman" pitchFamily="18" charset="0"/>
                        </a:rPr>
                        <a:t>i</a:t>
                      </a:r>
                      <a:r>
                        <a:rPr kumimoji="0" lang="en-US" sz="2000" b="1" i="0" u="none" strike="noStrike" cap="none" normalizeH="0" baseline="0" dirty="0" smtClean="0">
                          <a:ln>
                            <a:noFill/>
                          </a:ln>
                          <a:solidFill>
                            <a:srgbClr val="000000"/>
                          </a:solidFill>
                          <a:effectLst/>
                          <a:latin typeface="Times New Roman" pitchFamily="18" charset="0"/>
                        </a:rPr>
                        <a:t>)</a:t>
                      </a:r>
                      <a:endParaRPr kumimoji="0" lang="ru-RU" sz="2000" b="1" i="0" u="none" strike="noStrike" cap="none" normalizeH="0" baseline="0" dirty="0" smtClean="0">
                        <a:ln>
                          <a:noFill/>
                        </a:ln>
                        <a:solidFill>
                          <a:srgbClr val="000000"/>
                        </a:solidFill>
                        <a:effectLst/>
                        <a:latin typeface="Times New Roman" pitchFamily="18" charset="0"/>
                      </a:endParaRPr>
                    </a:p>
                  </a:txBody>
                  <a:tcPr marT="45679" marB="4567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1" u="none" strike="noStrike" cap="none" normalizeH="0" baseline="0" dirty="0" err="1" smtClean="0">
                          <a:ln>
                            <a:noFill/>
                          </a:ln>
                          <a:solidFill>
                            <a:srgbClr val="000000"/>
                          </a:solidFill>
                          <a:effectLst/>
                          <a:latin typeface="Arial" charset="0"/>
                          <a:cs typeface="Times New Roman" pitchFamily="18" charset="0"/>
                        </a:rPr>
                        <a:t>i</a:t>
                      </a:r>
                      <a:r>
                        <a:rPr kumimoji="0" lang="uz-Cyrl-UZ" sz="2000" b="0" i="0" u="none" strike="noStrike" cap="none" normalizeH="0" baseline="0" dirty="0" smtClean="0">
                          <a:ln>
                            <a:noFill/>
                          </a:ln>
                          <a:solidFill>
                            <a:srgbClr val="000000"/>
                          </a:solidFill>
                          <a:effectLst/>
                          <a:latin typeface="Times New Roman" pitchFamily="18" charset="0"/>
                          <a:cs typeface="Times New Roman" pitchFamily="18" charset="0"/>
                        </a:rPr>
                        <a:t>-чи белгини шифр матнда неча марта учраши</a:t>
                      </a:r>
                      <a:r>
                        <a:rPr kumimoji="0" lang="ru-RU" sz="2800" b="0" i="0" u="none" strike="noStrike" cap="none" normalizeH="0" baseline="0" dirty="0" smtClean="0">
                          <a:ln>
                            <a:noFill/>
                          </a:ln>
                          <a:solidFill>
                            <a:srgbClr val="000000"/>
                          </a:solidFill>
                          <a:effectLst/>
                          <a:latin typeface="Arial" charset="0"/>
                        </a:rPr>
                        <a:t> </a:t>
                      </a:r>
                    </a:p>
                  </a:txBody>
                  <a:tcPr marT="45679" marB="4567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184" name="Text Box 30"/>
          <p:cNvSpPr txBox="1">
            <a:spLocks noChangeArrowheads="1"/>
          </p:cNvSpPr>
          <p:nvPr/>
        </p:nvSpPr>
        <p:spPr bwMode="auto">
          <a:xfrm>
            <a:off x="2484438" y="3357563"/>
            <a:ext cx="4679950" cy="396875"/>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en-US" sz="2000" b="1" dirty="0"/>
              <a:t>ИС</a:t>
            </a:r>
            <a:r>
              <a:rPr lang="uz-Cyrl-UZ" sz="2000" b="1" dirty="0"/>
              <a:t> нинг назарий кутилмаси</a:t>
            </a:r>
            <a:r>
              <a:rPr lang="ru-RU" sz="2000" b="1" dirty="0"/>
              <a:t> </a:t>
            </a:r>
            <a:r>
              <a:rPr lang="uz-Cyrl-UZ" sz="2000" b="1" dirty="0"/>
              <a:t>жадвали</a:t>
            </a:r>
            <a:endParaRPr lang="ru-RU" sz="2000" b="1" dirty="0"/>
          </a:p>
        </p:txBody>
      </p:sp>
      <p:graphicFrame>
        <p:nvGraphicFramePr>
          <p:cNvPr id="67713" name="Group 129"/>
          <p:cNvGraphicFramePr>
            <a:graphicFrameLocks noGrp="1"/>
          </p:cNvGraphicFramePr>
          <p:nvPr/>
        </p:nvGraphicFramePr>
        <p:xfrm>
          <a:off x="1692275" y="3933825"/>
          <a:ext cx="6094413" cy="2590800"/>
        </p:xfrm>
        <a:graphic>
          <a:graphicData uri="http://schemas.openxmlformats.org/drawingml/2006/table">
            <a:tbl>
              <a:tblPr/>
              <a:tblGrid>
                <a:gridCol w="1031875"/>
                <a:gridCol w="1687513"/>
                <a:gridCol w="1687512"/>
                <a:gridCol w="1687513"/>
              </a:tblGrid>
              <a:tr h="249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Шифр даври</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ИС </a:t>
                      </a:r>
                      <a:r>
                        <a:rPr kumimoji="0" lang="en-US" sz="1600" b="0" i="0" u="none" strike="noStrike" cap="none" normalizeH="0" baseline="0" smtClean="0">
                          <a:ln>
                            <a:noFill/>
                          </a:ln>
                          <a:solidFill>
                            <a:schemeClr val="tx1"/>
                          </a:solidFill>
                          <a:effectLst/>
                          <a:latin typeface="Times New Roman" pitchFamily="18" charset="0"/>
                        </a:rPr>
                        <a:t>min </a:t>
                      </a:r>
                      <a:r>
                        <a:rPr kumimoji="0" lang="uz-Cyrl-UZ" sz="1600" b="0" i="0" u="none" strike="noStrike" cap="none" normalizeH="0" baseline="0" smtClean="0">
                          <a:ln>
                            <a:noFill/>
                          </a:ln>
                          <a:solidFill>
                            <a:schemeClr val="tx1"/>
                          </a:solidFill>
                          <a:effectLst/>
                          <a:latin typeface="Times New Roman" pitchFamily="18" charset="0"/>
                        </a:rPr>
                        <a:t>қиймат</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ИС </a:t>
                      </a:r>
                      <a:r>
                        <a:rPr kumimoji="0" lang="en-US" sz="1600" b="0" i="0" u="none" strike="noStrike" cap="none" normalizeH="0" baseline="0" smtClean="0">
                          <a:ln>
                            <a:noFill/>
                          </a:ln>
                          <a:solidFill>
                            <a:schemeClr val="tx1"/>
                          </a:solidFill>
                          <a:effectLst/>
                          <a:latin typeface="Times New Roman" pitchFamily="18" charset="0"/>
                        </a:rPr>
                        <a:t>max </a:t>
                      </a:r>
                      <a:r>
                        <a:rPr kumimoji="0" lang="uz-Cyrl-UZ" sz="1600" b="0" i="0" u="none" strike="noStrike" cap="none" normalizeH="0" baseline="0" smtClean="0">
                          <a:ln>
                            <a:noFill/>
                          </a:ln>
                          <a:solidFill>
                            <a:schemeClr val="tx1"/>
                          </a:solidFill>
                          <a:effectLst/>
                          <a:latin typeface="Times New Roman" pitchFamily="18" charset="0"/>
                        </a:rPr>
                        <a:t>қиймат</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ИС ўрт</a:t>
                      </a:r>
                      <a:r>
                        <a:rPr kumimoji="0" lang="en-US" sz="1600" b="0" i="0" u="none" strike="noStrike" cap="none" normalizeH="0" baseline="0" smtClean="0">
                          <a:ln>
                            <a:noFill/>
                          </a:ln>
                          <a:solidFill>
                            <a:schemeClr val="tx1"/>
                          </a:solidFill>
                          <a:effectLst/>
                          <a:latin typeface="Times New Roman" pitchFamily="18" charset="0"/>
                        </a:rPr>
                        <a:t> </a:t>
                      </a:r>
                      <a:r>
                        <a:rPr kumimoji="0" lang="uz-Cyrl-UZ" sz="1600" b="0" i="0" u="none" strike="noStrike" cap="none" normalizeH="0" baseline="0" smtClean="0">
                          <a:ln>
                            <a:noFill/>
                          </a:ln>
                          <a:solidFill>
                            <a:schemeClr val="tx1"/>
                          </a:solidFill>
                          <a:effectLst/>
                          <a:latin typeface="Times New Roman" pitchFamily="18" charset="0"/>
                        </a:rPr>
                        <a:t>қиймат</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9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1</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0.0684</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0.0684</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9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2</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0.0409</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0.0498</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0.0453</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9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3</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0.0364</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0.0436</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0.0400</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9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4</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0.0335</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0.0405</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0.0370</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9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5</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0.0327</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0.0386</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0.0356</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9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10</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0.0319</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0.0350</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0.0337</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advClick="0">
    <p:pull dir="l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195736" y="44624"/>
            <a:ext cx="4380547" cy="563231"/>
          </a:xfrm>
        </p:spPr>
        <p:txBody>
          <a:bodyPr wrap="square">
            <a:spAutoFit/>
          </a:bodyPr>
          <a:lstStyle/>
          <a:p>
            <a:pPr algn="ctr" eaLnBrk="1" hangingPunct="1"/>
            <a:r>
              <a:rPr lang="ru-RU" sz="3600" dirty="0" err="1" smtClean="0">
                <a:latin typeface="Times New Roman" panose="02020603050405020304" pitchFamily="18" charset="0"/>
                <a:cs typeface="Times New Roman" panose="02020603050405020304" pitchFamily="18" charset="0"/>
              </a:rPr>
              <a:t>Казиски</a:t>
            </a:r>
            <a:r>
              <a:rPr lang="ru-RU" sz="3600" dirty="0" smtClean="0">
                <a:latin typeface="Times New Roman" panose="02020603050405020304" pitchFamily="18" charset="0"/>
                <a:cs typeface="Times New Roman" panose="02020603050405020304" pitchFamily="18" charset="0"/>
              </a:rPr>
              <a:t> </a:t>
            </a:r>
            <a:r>
              <a:rPr lang="ru-RU" sz="3600" dirty="0" err="1" smtClean="0">
                <a:latin typeface="Times New Roman" panose="02020603050405020304" pitchFamily="18" charset="0"/>
                <a:cs typeface="Times New Roman" panose="02020603050405020304" pitchFamily="18" charset="0"/>
              </a:rPr>
              <a:t>усули</a:t>
            </a:r>
            <a:endParaRPr lang="ru-RU" sz="3600" dirty="0" smtClean="0">
              <a:latin typeface="Times New Roman" panose="02020603050405020304" pitchFamily="18" charset="0"/>
              <a:cs typeface="Times New Roman" panose="02020603050405020304" pitchFamily="18" charset="0"/>
            </a:endParaRPr>
          </a:p>
        </p:txBody>
      </p:sp>
      <p:sp>
        <p:nvSpPr>
          <p:cNvPr id="8195" name="Rectangle 3"/>
          <p:cNvSpPr>
            <a:spLocks noGrp="1" noChangeArrowheads="1"/>
          </p:cNvSpPr>
          <p:nvPr>
            <p:ph idx="1"/>
          </p:nvPr>
        </p:nvSpPr>
        <p:spPr>
          <a:xfrm>
            <a:off x="179512" y="548680"/>
            <a:ext cx="8784976" cy="6186309"/>
          </a:xfrm>
        </p:spPr>
        <p:txBody>
          <a:bodyPr wrap="square">
            <a:spAutoFit/>
          </a:bodyPr>
          <a:lstStyle/>
          <a:p>
            <a:pPr marL="0" indent="538163" algn="just" eaLnBrk="1" hangingPunct="1">
              <a:lnSpc>
                <a:spcPct val="100000"/>
              </a:lnSpc>
              <a:spcBef>
                <a:spcPts val="0"/>
              </a:spcBef>
              <a:spcAft>
                <a:spcPts val="0"/>
              </a:spcAft>
              <a:buNone/>
            </a:pPr>
            <a:r>
              <a:rPr lang="uz-Cyrl-UZ" sz="2200" dirty="0" smtClean="0">
                <a:latin typeface="Times New Roman" panose="02020603050405020304" pitchFamily="18" charset="0"/>
                <a:cs typeface="Times New Roman" panose="02020603050405020304" pitchFamily="18" charset="0"/>
              </a:rPr>
              <a:t>Казиски усулининг асосий моҳияти қуйидагидан иборат: Очиқ матнда бир хил символлар кетма-кетлигининг биргаликда келиш ҳолатлари мавжуд. Криптограмманинг акслантириши шундай бўлиши мумкинки, кетма-кет бир хил келган символлар гуруҳи калитнинг бир хил қисми билан шифрланиши мумкин. </a:t>
            </a:r>
            <a:endParaRPr lang="uz-Cyrl-UZ" sz="2200" dirty="0" smtClean="0">
              <a:latin typeface="Times New Roman" panose="02020603050405020304" pitchFamily="18" charset="0"/>
              <a:cs typeface="Times New Roman" panose="02020603050405020304" pitchFamily="18" charset="0"/>
            </a:endParaRPr>
          </a:p>
          <a:p>
            <a:pPr marL="0" indent="538163" algn="just" eaLnBrk="1" hangingPunct="1">
              <a:lnSpc>
                <a:spcPct val="100000"/>
              </a:lnSpc>
              <a:spcBef>
                <a:spcPts val="0"/>
              </a:spcBef>
              <a:spcAft>
                <a:spcPts val="0"/>
              </a:spcAft>
              <a:buNone/>
            </a:pPr>
            <a:r>
              <a:rPr lang="uz-Cyrl-UZ" sz="2200" dirty="0" smtClean="0">
                <a:latin typeface="Times New Roman" panose="02020603050405020304" pitchFamily="18" charset="0"/>
                <a:cs typeface="Times New Roman" panose="02020603050405020304" pitchFamily="18" charset="0"/>
              </a:rPr>
              <a:t>Натижада </a:t>
            </a:r>
            <a:r>
              <a:rPr lang="uz-Cyrl-UZ" sz="2200" dirty="0" smtClean="0">
                <a:latin typeface="Times New Roman" panose="02020603050405020304" pitchFamily="18" charset="0"/>
                <a:cs typeface="Times New Roman" panose="02020603050405020304" pitchFamily="18" charset="0"/>
              </a:rPr>
              <a:t>криптограммада бир хил келган символлар гуруҳи пайдо бўлади. Криптотаҳлилчи уларнинг орсидаги масофаларни ҳисоблаб, уни туб кўпайтувчиларга ажратиб чиқади. </a:t>
            </a:r>
            <a:r>
              <a:rPr lang="uz-Cyrl-UZ" sz="2200" dirty="0" smtClean="0">
                <a:solidFill>
                  <a:srgbClr val="0070C0"/>
                </a:solidFill>
                <a:latin typeface="Times New Roman" panose="02020603050405020304" pitchFamily="18" charset="0"/>
                <a:cs typeface="Times New Roman" panose="02020603050405020304" pitchFamily="18" charset="0"/>
              </a:rPr>
              <a:t>Бу кўпайтувчилардан бири шифрнинг даврига тенг бўлади. </a:t>
            </a:r>
            <a:r>
              <a:rPr lang="uz-Cyrl-UZ" sz="2200" dirty="0" smtClean="0">
                <a:latin typeface="Times New Roman" panose="02020603050405020304" pitchFamily="18" charset="0"/>
                <a:cs typeface="Times New Roman" panose="02020603050405020304" pitchFamily="18" charset="0"/>
              </a:rPr>
              <a:t>Агар криптограммада бир нечта мос келувчи символлар жуфтликлари мавжуд бўлса, у ҳолда ҳар бир жуфтликлар орасидаги масофа ҳисобланиб, улар туб кўпайтувчиларга ажратилади. Кўпайтувчилардан қайси бири кўпроқ бўлса уша сон калитнинг узунлигини ифодалаши мумкин. </a:t>
            </a:r>
            <a:r>
              <a:rPr lang="uz-Cyrl-UZ" sz="2200" dirty="0" smtClean="0">
                <a:solidFill>
                  <a:srgbClr val="A50021"/>
                </a:solidFill>
                <a:latin typeface="Times New Roman" panose="02020603050405020304" pitchFamily="18" charset="0"/>
                <a:cs typeface="Times New Roman" panose="02020603050405020304" pitchFamily="18" charset="0"/>
              </a:rPr>
              <a:t>Казиски  усулини қўллашда </a:t>
            </a:r>
            <a:r>
              <a:rPr lang="uz-Cyrl-UZ" sz="2200" dirty="0" smtClean="0">
                <a:solidFill>
                  <a:srgbClr val="A50021"/>
                </a:solidFill>
                <a:latin typeface="Times New Roman" panose="02020603050405020304" pitchFamily="18" charset="0"/>
                <a:cs typeface="Times New Roman" panose="02020603050405020304" pitchFamily="18" charset="0"/>
              </a:rPr>
              <a:t>диаграммалардан фойдаланиш </a:t>
            </a:r>
            <a:r>
              <a:rPr lang="uz-Cyrl-UZ" sz="2200" dirty="0" smtClean="0">
                <a:solidFill>
                  <a:srgbClr val="A50021"/>
                </a:solidFill>
                <a:latin typeface="Times New Roman" panose="02020603050405020304" pitchFamily="18" charset="0"/>
                <a:cs typeface="Times New Roman" panose="02020603050405020304" pitchFamily="18" charset="0"/>
              </a:rPr>
              <a:t>нотўғри хулоса бериши </a:t>
            </a:r>
            <a:r>
              <a:rPr lang="uz-Cyrl-UZ" sz="2200" dirty="0" smtClean="0">
                <a:solidFill>
                  <a:srgbClr val="A50021"/>
                </a:solidFill>
                <a:latin typeface="Times New Roman" panose="02020603050405020304" pitchFamily="18" charset="0"/>
                <a:cs typeface="Times New Roman" panose="02020603050405020304" pitchFamily="18" charset="0"/>
              </a:rPr>
              <a:t>мумкин. </a:t>
            </a:r>
            <a:r>
              <a:rPr lang="uz-Cyrl-UZ" sz="2200" dirty="0" smtClean="0">
                <a:latin typeface="Times New Roman" panose="02020603050405020304" pitchFamily="18" charset="0"/>
                <a:cs typeface="Times New Roman" panose="02020603050405020304" pitchFamily="18" charset="0"/>
              </a:rPr>
              <a:t>Триграммалардан фойдаланиш Казиски усулида тавсия </a:t>
            </a:r>
            <a:r>
              <a:rPr lang="uz-Cyrl-UZ" sz="2200" dirty="0" smtClean="0">
                <a:latin typeface="Times New Roman" panose="02020603050405020304" pitchFamily="18" charset="0"/>
                <a:cs typeface="Times New Roman" panose="02020603050405020304" pitchFamily="18" charset="0"/>
              </a:rPr>
              <a:t>қилинади, ундан ортиқ жуфтликларнинг келиш эҳтимоллиги жуда кичик. Лекин бу усулнинг ҳам ўзига яраша камчиликлари мавжуд, яъни кетма-кет келган бир хил символлар гуруҳининг мавжуд бўлмаслигидир.</a:t>
            </a:r>
            <a:endParaRPr lang="ru-RU" sz="2200" dirty="0" smtClean="0">
              <a:latin typeface="Times New Roman" panose="02020603050405020304" pitchFamily="18" charset="0"/>
              <a:cs typeface="Times New Roman" panose="02020603050405020304" pitchFamily="18" charset="0"/>
            </a:endParaRPr>
          </a:p>
        </p:txBody>
      </p:sp>
    </p:spTree>
  </p:cSld>
  <p:clrMapOvr>
    <a:masterClrMapping/>
  </p:clrMapOvr>
  <p:transition>
    <p:cover dir="l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9218" name="Object 12"/>
          <p:cNvGraphicFramePr>
            <a:graphicFrameLocks noGrp="1" noChangeAspect="1"/>
          </p:cNvGraphicFramePr>
          <p:nvPr>
            <p:ph/>
            <p:extLst>
              <p:ext uri="{D42A27DB-BD31-4B8C-83A1-F6EECF244321}">
                <p14:modId xmlns:p14="http://schemas.microsoft.com/office/powerpoint/2010/main" val="2013513502"/>
              </p:ext>
            </p:extLst>
          </p:nvPr>
        </p:nvGraphicFramePr>
        <p:xfrm>
          <a:off x="3203848" y="549275"/>
          <a:ext cx="2664296" cy="1309688"/>
        </p:xfrm>
        <a:graphic>
          <a:graphicData uri="http://schemas.openxmlformats.org/presentationml/2006/ole">
            <mc:AlternateContent xmlns:mc="http://schemas.openxmlformats.org/markup-compatibility/2006">
              <mc:Choice xmlns:v="urn:schemas-microsoft-com:vml" Requires="v">
                <p:oleObj spid="_x0000_s9312" name="Формула" r:id="rId4" imgW="114250" imgH="380835" progId="Equation.3">
                  <p:embed/>
                </p:oleObj>
              </mc:Choice>
              <mc:Fallback>
                <p:oleObj name="Формула" r:id="rId4" imgW="114250" imgH="380835" progId="Equation.3">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848" y="549275"/>
                        <a:ext cx="2664296" cy="1309688"/>
                      </a:xfrm>
                      <a:prstGeom prst="rect">
                        <a:avLst/>
                      </a:prstGeom>
                      <a:noFill/>
                      <a:ln>
                        <a:noFill/>
                      </a:ln>
                      <a:effectLst/>
                      <a:extLst/>
                    </p:spPr>
                  </p:pic>
                </p:oleObj>
              </mc:Fallback>
            </mc:AlternateContent>
          </a:graphicData>
        </a:graphic>
      </p:graphicFrame>
      <p:sp>
        <p:nvSpPr>
          <p:cNvPr id="9219" name="Text Box 11"/>
          <p:cNvSpPr txBox="1">
            <a:spLocks noChangeArrowheads="1"/>
          </p:cNvSpPr>
          <p:nvPr/>
        </p:nvSpPr>
        <p:spPr bwMode="auto">
          <a:xfrm>
            <a:off x="1979613" y="706438"/>
            <a:ext cx="5040312" cy="4572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spcBef>
                <a:spcPct val="50000"/>
              </a:spcBef>
            </a:pPr>
            <a:r>
              <a:rPr lang="uz-Cyrl-UZ" dirty="0"/>
              <a:t>вшкад.........................................вшкад</a:t>
            </a:r>
            <a:endParaRPr lang="ru-RU" dirty="0"/>
          </a:p>
        </p:txBody>
      </p:sp>
      <p:sp>
        <p:nvSpPr>
          <p:cNvPr id="9220" name="Text Box 14"/>
          <p:cNvSpPr txBox="1">
            <a:spLocks noChangeArrowheads="1"/>
          </p:cNvSpPr>
          <p:nvPr/>
        </p:nvSpPr>
        <p:spPr bwMode="auto">
          <a:xfrm>
            <a:off x="4354513" y="1401763"/>
            <a:ext cx="360362" cy="4572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en-US" i="1"/>
              <a:t>L</a:t>
            </a:r>
            <a:endParaRPr lang="ru-RU" i="1"/>
          </a:p>
        </p:txBody>
      </p:sp>
      <p:sp>
        <p:nvSpPr>
          <p:cNvPr id="9221" name="Text Box 15"/>
          <p:cNvSpPr txBox="1">
            <a:spLocks noChangeArrowheads="1"/>
          </p:cNvSpPr>
          <p:nvPr/>
        </p:nvSpPr>
        <p:spPr bwMode="auto">
          <a:xfrm>
            <a:off x="0" y="1773238"/>
            <a:ext cx="8892480" cy="1015663"/>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spcBef>
                <a:spcPct val="50000"/>
              </a:spcBef>
            </a:pPr>
            <a:r>
              <a:rPr lang="uz-Cyrl-UZ" dirty="0"/>
              <a:t>     </a:t>
            </a:r>
            <a:r>
              <a:rPr lang="en-US" b="1" i="1" dirty="0"/>
              <a:t>L</a:t>
            </a:r>
            <a:r>
              <a:rPr lang="en-US" dirty="0"/>
              <a:t> – </a:t>
            </a:r>
            <a:r>
              <a:rPr lang="uz-Cyrl-UZ" i="1" dirty="0"/>
              <a:t>икки такрорланиш орасидаги масофа</a:t>
            </a:r>
          </a:p>
          <a:p>
            <a:pPr algn="just" eaLnBrk="1" hangingPunct="1">
              <a:spcBef>
                <a:spcPct val="50000"/>
              </a:spcBef>
            </a:pPr>
            <a:r>
              <a:rPr lang="uz-Cyrl-UZ" dirty="0"/>
              <a:t>     </a:t>
            </a:r>
            <a:r>
              <a:rPr lang="en-US" b="1" i="1" dirty="0"/>
              <a:t>L=n</a:t>
            </a:r>
            <a:r>
              <a:rPr lang="uz-Cyrl-UZ" b="1" i="1" dirty="0"/>
              <a:t>*</a:t>
            </a:r>
            <a:r>
              <a:rPr lang="en-US" b="1" i="1" dirty="0"/>
              <a:t>m</a:t>
            </a:r>
            <a:r>
              <a:rPr lang="uz-Cyrl-UZ" b="1" i="1" dirty="0"/>
              <a:t>*</a:t>
            </a:r>
            <a:r>
              <a:rPr lang="en-US" b="1" i="1" dirty="0"/>
              <a:t>k</a:t>
            </a:r>
            <a:r>
              <a:rPr lang="en-US" dirty="0"/>
              <a:t> </a:t>
            </a:r>
            <a:r>
              <a:rPr lang="uz-Cyrl-UZ" i="1" dirty="0"/>
              <a:t>шу кўпайтувчилардан бири калит узунлигини беради.</a:t>
            </a:r>
            <a:endParaRPr lang="ru-RU" i="1" dirty="0"/>
          </a:p>
        </p:txBody>
      </p:sp>
      <p:sp>
        <p:nvSpPr>
          <p:cNvPr id="9222" name="Text Box 16"/>
          <p:cNvSpPr txBox="1">
            <a:spLocks noChangeArrowheads="1"/>
          </p:cNvSpPr>
          <p:nvPr/>
        </p:nvSpPr>
        <p:spPr bwMode="auto">
          <a:xfrm>
            <a:off x="2411413" y="260350"/>
            <a:ext cx="3960812" cy="4572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uz-Cyrl-UZ">
                <a:solidFill>
                  <a:srgbClr val="1F4DE1"/>
                </a:solidFill>
              </a:rPr>
              <a:t>1 – чи ҳолат</a:t>
            </a:r>
            <a:endParaRPr lang="ru-RU">
              <a:solidFill>
                <a:srgbClr val="1F4DE1"/>
              </a:solidFill>
            </a:endParaRPr>
          </a:p>
        </p:txBody>
      </p:sp>
      <p:sp>
        <p:nvSpPr>
          <p:cNvPr id="9223" name="Text Box 17"/>
          <p:cNvSpPr txBox="1">
            <a:spLocks noChangeArrowheads="1"/>
          </p:cNvSpPr>
          <p:nvPr/>
        </p:nvSpPr>
        <p:spPr bwMode="auto">
          <a:xfrm>
            <a:off x="2555875" y="3141663"/>
            <a:ext cx="3960813" cy="4572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uz-Cyrl-UZ">
                <a:solidFill>
                  <a:srgbClr val="1F4DE1"/>
                </a:solidFill>
              </a:rPr>
              <a:t>2 – чи ҳолат</a:t>
            </a:r>
            <a:endParaRPr lang="ru-RU">
              <a:solidFill>
                <a:srgbClr val="1F4DE1"/>
              </a:solidFill>
            </a:endParaRPr>
          </a:p>
        </p:txBody>
      </p:sp>
      <p:sp>
        <p:nvSpPr>
          <p:cNvPr id="9224" name="Text Box 18"/>
          <p:cNvSpPr txBox="1">
            <a:spLocks noChangeArrowheads="1"/>
          </p:cNvSpPr>
          <p:nvPr/>
        </p:nvSpPr>
        <p:spPr bwMode="auto">
          <a:xfrm>
            <a:off x="1042988" y="3860800"/>
            <a:ext cx="7273925" cy="4572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spcBef>
                <a:spcPct val="50000"/>
              </a:spcBef>
            </a:pPr>
            <a:r>
              <a:rPr lang="uz-Cyrl-UZ"/>
              <a:t>зрвс...............зрвс.....зрвс.........................................зрвс</a:t>
            </a:r>
            <a:endParaRPr lang="ru-RU"/>
          </a:p>
        </p:txBody>
      </p:sp>
      <p:graphicFrame>
        <p:nvGraphicFramePr>
          <p:cNvPr id="9225" name="Object 22"/>
          <p:cNvGraphicFramePr>
            <a:graphicFrameLocks noChangeAspect="1"/>
          </p:cNvGraphicFramePr>
          <p:nvPr/>
        </p:nvGraphicFramePr>
        <p:xfrm>
          <a:off x="1128713" y="3614738"/>
          <a:ext cx="2376487" cy="1309687"/>
        </p:xfrm>
        <a:graphic>
          <a:graphicData uri="http://schemas.openxmlformats.org/presentationml/2006/ole">
            <mc:AlternateContent xmlns:mc="http://schemas.openxmlformats.org/markup-compatibility/2006">
              <mc:Choice xmlns:v="urn:schemas-microsoft-com:vml" Requires="v">
                <p:oleObj spid="_x0000_s9313" name="Формула" r:id="rId6" imgW="114250" imgH="380835" progId="Equation.3">
                  <p:embed/>
                </p:oleObj>
              </mc:Choice>
              <mc:Fallback>
                <p:oleObj name="Формула" r:id="rId6" imgW="114250" imgH="380835" progId="Equation.3">
                  <p:embed/>
                  <p:pic>
                    <p:nvPicPr>
                      <p:cNvPr id="0"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8713" y="3614738"/>
                        <a:ext cx="2376487" cy="1309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6" name="Object 23"/>
          <p:cNvGraphicFramePr>
            <a:graphicFrameLocks noChangeAspect="1"/>
          </p:cNvGraphicFramePr>
          <p:nvPr/>
        </p:nvGraphicFramePr>
        <p:xfrm>
          <a:off x="3163888" y="3636963"/>
          <a:ext cx="865187" cy="1309687"/>
        </p:xfrm>
        <a:graphic>
          <a:graphicData uri="http://schemas.openxmlformats.org/presentationml/2006/ole">
            <mc:AlternateContent xmlns:mc="http://schemas.openxmlformats.org/markup-compatibility/2006">
              <mc:Choice xmlns:v="urn:schemas-microsoft-com:vml" Requires="v">
                <p:oleObj spid="_x0000_s9314" name="Формула" r:id="rId7" imgW="114250" imgH="380835" progId="Equation.3">
                  <p:embed/>
                </p:oleObj>
              </mc:Choice>
              <mc:Fallback>
                <p:oleObj name="Формула" r:id="rId7" imgW="114250" imgH="380835" progId="Equation.3">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3888" y="3636963"/>
                        <a:ext cx="865187" cy="1309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7" name="Object 26"/>
          <p:cNvGraphicFramePr>
            <a:graphicFrameLocks noChangeAspect="1"/>
          </p:cNvGraphicFramePr>
          <p:nvPr/>
        </p:nvGraphicFramePr>
        <p:xfrm>
          <a:off x="2843213" y="3644900"/>
          <a:ext cx="6264275" cy="1309688"/>
        </p:xfrm>
        <a:graphic>
          <a:graphicData uri="http://schemas.openxmlformats.org/presentationml/2006/ole">
            <mc:AlternateContent xmlns:mc="http://schemas.openxmlformats.org/markup-compatibility/2006">
              <mc:Choice xmlns:v="urn:schemas-microsoft-com:vml" Requires="v">
                <p:oleObj spid="_x0000_s9315" name="Формула" r:id="rId8" imgW="114250" imgH="380835" progId="Equation.3">
                  <p:embed/>
                </p:oleObj>
              </mc:Choice>
              <mc:Fallback>
                <p:oleObj name="Формула" r:id="rId8" imgW="114250" imgH="380835" progId="Equation.3">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213" y="3644900"/>
                        <a:ext cx="6264275" cy="1309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8" name="Text Box 27"/>
          <p:cNvSpPr txBox="1">
            <a:spLocks noChangeArrowheads="1"/>
          </p:cNvSpPr>
          <p:nvPr/>
        </p:nvSpPr>
        <p:spPr bwMode="auto">
          <a:xfrm>
            <a:off x="2051050" y="4437063"/>
            <a:ext cx="431800" cy="4572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en-US" i="1"/>
              <a:t>M</a:t>
            </a:r>
            <a:endParaRPr lang="ru-RU" i="1"/>
          </a:p>
        </p:txBody>
      </p:sp>
      <p:sp>
        <p:nvSpPr>
          <p:cNvPr id="9229" name="Text Box 28"/>
          <p:cNvSpPr txBox="1">
            <a:spLocks noChangeArrowheads="1"/>
          </p:cNvSpPr>
          <p:nvPr/>
        </p:nvSpPr>
        <p:spPr bwMode="auto">
          <a:xfrm>
            <a:off x="3419475" y="4411663"/>
            <a:ext cx="360363" cy="4572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en-US" i="1"/>
              <a:t>J</a:t>
            </a:r>
            <a:endParaRPr lang="ru-RU" i="1"/>
          </a:p>
        </p:txBody>
      </p:sp>
      <p:sp>
        <p:nvSpPr>
          <p:cNvPr id="9230" name="Text Box 29"/>
          <p:cNvSpPr txBox="1">
            <a:spLocks noChangeArrowheads="1"/>
          </p:cNvSpPr>
          <p:nvPr/>
        </p:nvSpPr>
        <p:spPr bwMode="auto">
          <a:xfrm>
            <a:off x="5724525" y="4437063"/>
            <a:ext cx="360363" cy="4572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en-US" i="1"/>
              <a:t>P</a:t>
            </a:r>
            <a:endParaRPr lang="ru-RU" i="1"/>
          </a:p>
        </p:txBody>
      </p:sp>
      <p:sp>
        <p:nvSpPr>
          <p:cNvPr id="9231" name="Text Box 30"/>
          <p:cNvSpPr txBox="1">
            <a:spLocks noChangeArrowheads="1"/>
          </p:cNvSpPr>
          <p:nvPr/>
        </p:nvSpPr>
        <p:spPr bwMode="auto">
          <a:xfrm>
            <a:off x="900113" y="4868863"/>
            <a:ext cx="7416800" cy="1384995"/>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spcBef>
                <a:spcPct val="50000"/>
              </a:spcBef>
            </a:pPr>
            <a:r>
              <a:rPr lang="uz-Cyrl-UZ" dirty="0"/>
              <a:t>     </a:t>
            </a:r>
            <a:r>
              <a:rPr lang="en-US" i="1" dirty="0"/>
              <a:t>M</a:t>
            </a:r>
            <a:r>
              <a:rPr lang="en-US" i="1" dirty="0" smtClean="0"/>
              <a:t>,</a:t>
            </a:r>
            <a:r>
              <a:rPr lang="ru-RU" i="1" dirty="0" smtClean="0"/>
              <a:t> </a:t>
            </a:r>
            <a:r>
              <a:rPr lang="en-US" i="1" dirty="0" smtClean="0"/>
              <a:t>J,</a:t>
            </a:r>
            <a:r>
              <a:rPr lang="ru-RU" i="1" dirty="0" smtClean="0"/>
              <a:t> </a:t>
            </a:r>
            <a:r>
              <a:rPr lang="en-US" i="1" dirty="0" smtClean="0"/>
              <a:t>P</a:t>
            </a:r>
            <a:r>
              <a:rPr lang="en-US" dirty="0" smtClean="0"/>
              <a:t> </a:t>
            </a:r>
            <a:r>
              <a:rPr lang="en-US" dirty="0"/>
              <a:t>– </a:t>
            </a:r>
            <a:r>
              <a:rPr lang="uz-Cyrl-UZ" i="1" dirty="0"/>
              <a:t>такрорланувчи блоклар орасидаги масофа</a:t>
            </a:r>
          </a:p>
          <a:p>
            <a:pPr algn="just" eaLnBrk="1" hangingPunct="1">
              <a:spcBef>
                <a:spcPct val="50000"/>
              </a:spcBef>
            </a:pPr>
            <a:r>
              <a:rPr lang="en-US" i="1" dirty="0"/>
              <a:t>M=c</a:t>
            </a:r>
            <a:r>
              <a:rPr lang="uz-Cyrl-UZ" i="1" dirty="0"/>
              <a:t>*</a:t>
            </a:r>
            <a:r>
              <a:rPr lang="en-US" i="1" dirty="0"/>
              <a:t>l</a:t>
            </a:r>
            <a:r>
              <a:rPr lang="uz-Cyrl-UZ" i="1" dirty="0"/>
              <a:t>*</a:t>
            </a:r>
            <a:r>
              <a:rPr lang="en-US" i="1" dirty="0"/>
              <a:t>s,</a:t>
            </a:r>
            <a:r>
              <a:rPr lang="en-US" dirty="0"/>
              <a:t> </a:t>
            </a:r>
            <a:r>
              <a:rPr lang="en-US" i="1" dirty="0"/>
              <a:t>J=h</a:t>
            </a:r>
            <a:r>
              <a:rPr lang="uz-Cyrl-UZ" i="1" dirty="0"/>
              <a:t>*</a:t>
            </a:r>
            <a:r>
              <a:rPr lang="en-US" i="1" dirty="0"/>
              <a:t>t</a:t>
            </a:r>
            <a:r>
              <a:rPr lang="uz-Cyrl-UZ" i="1" dirty="0"/>
              <a:t>*</a:t>
            </a:r>
            <a:r>
              <a:rPr lang="en-US" i="1" dirty="0"/>
              <a:t>l,</a:t>
            </a:r>
            <a:r>
              <a:rPr lang="en-US" dirty="0"/>
              <a:t> </a:t>
            </a:r>
            <a:r>
              <a:rPr lang="en-US" i="1" dirty="0"/>
              <a:t>P=u</a:t>
            </a:r>
            <a:r>
              <a:rPr lang="uz-Cyrl-UZ" i="1" dirty="0"/>
              <a:t>*</a:t>
            </a:r>
            <a:r>
              <a:rPr lang="en-US" i="1" dirty="0"/>
              <a:t>v</a:t>
            </a:r>
            <a:r>
              <a:rPr lang="uz-Cyrl-UZ" i="1" dirty="0"/>
              <a:t>*</a:t>
            </a:r>
            <a:r>
              <a:rPr lang="en-US" i="1" dirty="0"/>
              <a:t>l</a:t>
            </a:r>
            <a:r>
              <a:rPr lang="en-US" dirty="0"/>
              <a:t> </a:t>
            </a:r>
            <a:r>
              <a:rPr lang="uz-Cyrl-UZ" i="1" dirty="0"/>
              <a:t>барча кўпайтувчилар</a:t>
            </a:r>
            <a:r>
              <a:rPr lang="en-US" i="1" dirty="0"/>
              <a:t> </a:t>
            </a:r>
            <a:r>
              <a:rPr lang="uz-Cyrl-UZ" i="1" dirty="0"/>
              <a:t>ичида қатнашган </a:t>
            </a:r>
            <a:r>
              <a:rPr lang="en-US" i="1" dirty="0"/>
              <a:t>l</a:t>
            </a:r>
            <a:r>
              <a:rPr lang="uz-Cyrl-UZ" i="1" dirty="0"/>
              <a:t> </a:t>
            </a:r>
            <a:r>
              <a:rPr lang="en-US" i="1" dirty="0"/>
              <a:t>- </a:t>
            </a:r>
            <a:r>
              <a:rPr lang="uz-Cyrl-UZ" i="1" dirty="0"/>
              <a:t>калит узунлигини беради.</a:t>
            </a:r>
            <a:endParaRPr lang="ru-RU" i="1" dirty="0"/>
          </a:p>
        </p:txBody>
      </p:sp>
    </p:spTree>
  </p:cSld>
  <p:clrMapOvr>
    <a:masterClrMapping/>
  </p:clrMapOvr>
  <p:transition>
    <p:pull dir="l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rmAutofit/>
          </a:bodyPr>
          <a:lstStyle/>
          <a:p>
            <a:pPr eaLnBrk="1" hangingPunct="1"/>
            <a:r>
              <a:rPr lang="uz-Cyrl-UZ" sz="4000" smtClean="0"/>
              <a:t>Кўп ҳалқали кўп алфавитли ўрнига қўйиш </a:t>
            </a:r>
            <a:endParaRPr lang="ru-RU" sz="4000" smtClean="0"/>
          </a:p>
        </p:txBody>
      </p:sp>
      <p:sp>
        <p:nvSpPr>
          <p:cNvPr id="10243" name="Rectangle 3"/>
          <p:cNvSpPr>
            <a:spLocks noGrp="1" noChangeArrowheads="1"/>
          </p:cNvSpPr>
          <p:nvPr>
            <p:ph type="body" sz="half" idx="1"/>
          </p:nvPr>
        </p:nvSpPr>
        <p:spPr>
          <a:xfrm>
            <a:off x="457200" y="1600200"/>
            <a:ext cx="8686800" cy="4997450"/>
          </a:xfrm>
        </p:spPr>
        <p:txBody>
          <a:bodyPr>
            <a:normAutofit fontScale="85000" lnSpcReduction="20000"/>
          </a:bodyPr>
          <a:lstStyle/>
          <a:p>
            <a:pPr eaLnBrk="1" hangingPunct="1">
              <a:lnSpc>
                <a:spcPct val="80000"/>
              </a:lnSpc>
              <a:buFontTx/>
              <a:buNone/>
            </a:pPr>
            <a:r>
              <a:rPr lang="uz-Cyrl-UZ" sz="2000" smtClean="0"/>
              <a:t>Ушбу шифрлаш усули Виженер шифридан фарқли улароқ </a:t>
            </a:r>
          </a:p>
          <a:p>
            <a:pPr eaLnBrk="1" hangingPunct="1">
              <a:lnSpc>
                <a:spcPct val="80000"/>
              </a:lnSpc>
              <a:buFontTx/>
              <a:buNone/>
            </a:pPr>
            <a:r>
              <a:rPr lang="uz-Cyrl-UZ" sz="2000" smtClean="0"/>
              <a:t>бир нечта калитлар ёрдамида шифрланади. Бу калитлар ҳалқали ёки</a:t>
            </a:r>
          </a:p>
          <a:p>
            <a:pPr eaLnBrk="1" hangingPunct="1">
              <a:lnSpc>
                <a:spcPct val="80000"/>
              </a:lnSpc>
              <a:buFontTx/>
              <a:buNone/>
            </a:pPr>
            <a:r>
              <a:rPr lang="uz-Cyrl-UZ" sz="2000" smtClean="0"/>
              <a:t>дастлабки калитлар деб аталади. </a:t>
            </a:r>
            <a:endParaRPr lang="ru-RU" sz="2000" smtClean="0"/>
          </a:p>
          <a:p>
            <a:pPr eaLnBrk="1" hangingPunct="1">
              <a:lnSpc>
                <a:spcPct val="80000"/>
              </a:lnSpc>
              <a:buFontTx/>
              <a:buNone/>
            </a:pPr>
            <a:r>
              <a:rPr lang="uz-Cyrl-UZ" sz="2000" smtClean="0"/>
              <a:t>Кўп ҳалқали ўрнига қўйиш қуйидаги формула орқали ифодаланади:</a:t>
            </a:r>
            <a:r>
              <a:rPr lang="ru-RU" sz="2000" smtClean="0"/>
              <a:t> </a:t>
            </a:r>
            <a:endParaRPr lang="en-US" sz="2000" b="1" smtClean="0"/>
          </a:p>
          <a:p>
            <a:pPr eaLnBrk="1" hangingPunct="1">
              <a:lnSpc>
                <a:spcPct val="80000"/>
              </a:lnSpc>
            </a:pPr>
            <a:endParaRPr lang="uz-Cyrl-UZ" sz="2000" b="1" smtClean="0"/>
          </a:p>
          <a:p>
            <a:pPr eaLnBrk="1" hangingPunct="1">
              <a:lnSpc>
                <a:spcPct val="80000"/>
              </a:lnSpc>
            </a:pPr>
            <a:endParaRPr lang="uz-Cyrl-UZ" sz="2000" b="1" smtClean="0"/>
          </a:p>
          <a:p>
            <a:pPr eaLnBrk="1" hangingPunct="1">
              <a:lnSpc>
                <a:spcPct val="80000"/>
              </a:lnSpc>
            </a:pPr>
            <a:endParaRPr lang="uz-Cyrl-UZ" sz="2000" b="1" smtClean="0"/>
          </a:p>
          <a:p>
            <a:pPr eaLnBrk="1" hangingPunct="1">
              <a:lnSpc>
                <a:spcPct val="80000"/>
              </a:lnSpc>
            </a:pPr>
            <a:endParaRPr lang="uz-Cyrl-UZ" sz="2000" b="1" smtClean="0"/>
          </a:p>
          <a:p>
            <a:pPr eaLnBrk="1" hangingPunct="1">
              <a:lnSpc>
                <a:spcPct val="80000"/>
              </a:lnSpc>
            </a:pPr>
            <a:endParaRPr lang="uz-Cyrl-UZ" sz="2000" b="1" smtClean="0"/>
          </a:p>
          <a:p>
            <a:pPr eaLnBrk="1" hangingPunct="1">
              <a:lnSpc>
                <a:spcPct val="80000"/>
              </a:lnSpc>
            </a:pPr>
            <a:r>
              <a:rPr lang="en-US" sz="2000" b="1" smtClean="0"/>
              <a:t>Ei- </a:t>
            </a:r>
            <a:r>
              <a:rPr lang="en-US" sz="2000" smtClean="0"/>
              <a:t>криптограмм</a:t>
            </a:r>
            <a:r>
              <a:rPr lang="uz-Cyrl-UZ" sz="2000" smtClean="0"/>
              <a:t>анинг </a:t>
            </a:r>
            <a:r>
              <a:rPr lang="en-US" sz="2000" smtClean="0"/>
              <a:t>i-</a:t>
            </a:r>
            <a:r>
              <a:rPr lang="uz-Cyrl-UZ" sz="2000" smtClean="0"/>
              <a:t>символи</a:t>
            </a:r>
          </a:p>
          <a:p>
            <a:pPr eaLnBrk="1" hangingPunct="1">
              <a:lnSpc>
                <a:spcPct val="80000"/>
              </a:lnSpc>
            </a:pPr>
            <a:r>
              <a:rPr lang="en-US" sz="2000" b="1" smtClean="0"/>
              <a:t>Mi</a:t>
            </a:r>
            <a:r>
              <a:rPr lang="ru-RU" sz="2000" b="1" smtClean="0"/>
              <a:t>- </a:t>
            </a:r>
            <a:r>
              <a:rPr lang="uz-Cyrl-UZ" sz="2000" smtClean="0"/>
              <a:t>очиқ матннинг</a:t>
            </a:r>
            <a:r>
              <a:rPr lang="uz-Cyrl-UZ" sz="2000" b="1" smtClean="0"/>
              <a:t> </a:t>
            </a:r>
            <a:r>
              <a:rPr lang="en-US" sz="2000" smtClean="0"/>
              <a:t>i-</a:t>
            </a:r>
            <a:r>
              <a:rPr lang="uz-Cyrl-UZ" sz="2000" smtClean="0"/>
              <a:t>символи</a:t>
            </a:r>
            <a:r>
              <a:rPr lang="uz-Cyrl-UZ" sz="2000" b="1" smtClean="0"/>
              <a:t> </a:t>
            </a:r>
            <a:endParaRPr lang="uz-Cyrl-UZ" sz="2000" smtClean="0"/>
          </a:p>
          <a:p>
            <a:pPr eaLnBrk="1" hangingPunct="1">
              <a:lnSpc>
                <a:spcPct val="80000"/>
              </a:lnSpc>
            </a:pPr>
            <a:r>
              <a:rPr lang="en-US" sz="2000" b="1" smtClean="0"/>
              <a:t>L</a:t>
            </a:r>
            <a:r>
              <a:rPr lang="en-US" sz="2000" smtClean="0"/>
              <a:t>- </a:t>
            </a:r>
            <a:r>
              <a:rPr lang="uz-Cyrl-UZ" sz="2000" smtClean="0"/>
              <a:t> бошланғич</a:t>
            </a:r>
            <a:r>
              <a:rPr lang="en-US" sz="2000" smtClean="0"/>
              <a:t> алфавит</a:t>
            </a:r>
            <a:r>
              <a:rPr lang="uz-Cyrl-UZ" sz="2000" smtClean="0"/>
              <a:t>нинг қуввати</a:t>
            </a:r>
          </a:p>
          <a:p>
            <a:pPr eaLnBrk="1" hangingPunct="1">
              <a:lnSpc>
                <a:spcPct val="80000"/>
              </a:lnSpc>
            </a:pPr>
            <a:r>
              <a:rPr lang="en-US" sz="2000" b="1" smtClean="0"/>
              <a:t>G</a:t>
            </a:r>
            <a:r>
              <a:rPr lang="en-US" sz="2000" smtClean="0"/>
              <a:t>- </a:t>
            </a:r>
            <a:r>
              <a:rPr lang="uz-Cyrl-UZ" sz="2000" smtClean="0"/>
              <a:t>шифрдаги ҳалқалар сони</a:t>
            </a:r>
          </a:p>
          <a:p>
            <a:pPr eaLnBrk="1" hangingPunct="1">
              <a:lnSpc>
                <a:spcPct val="80000"/>
              </a:lnSpc>
            </a:pPr>
            <a:r>
              <a:rPr lang="en-US" sz="2000" b="1" smtClean="0"/>
              <a:t>Uj</a:t>
            </a:r>
            <a:r>
              <a:rPr lang="ru-RU" sz="2000" smtClean="0"/>
              <a:t>- </a:t>
            </a:r>
            <a:r>
              <a:rPr lang="en-US" sz="2000" smtClean="0"/>
              <a:t>j</a:t>
            </a:r>
            <a:r>
              <a:rPr lang="ru-RU" sz="2000" smtClean="0"/>
              <a:t>- </a:t>
            </a:r>
            <a:r>
              <a:rPr lang="uz-Cyrl-UZ" sz="2000" smtClean="0"/>
              <a:t>бошланғич калитнинг символи</a:t>
            </a:r>
          </a:p>
          <a:p>
            <a:pPr eaLnBrk="1" hangingPunct="1">
              <a:lnSpc>
                <a:spcPct val="80000"/>
              </a:lnSpc>
            </a:pPr>
            <a:r>
              <a:rPr lang="en-US" sz="2000" b="1" smtClean="0"/>
              <a:t>N</a:t>
            </a:r>
            <a:r>
              <a:rPr lang="en-US" sz="2000" smtClean="0"/>
              <a:t>- криптограмм</a:t>
            </a:r>
            <a:r>
              <a:rPr lang="uz-Cyrl-UZ" sz="2000" smtClean="0"/>
              <a:t>адаги символлар сони   </a:t>
            </a:r>
            <a:r>
              <a:rPr lang="en-US" sz="2000" smtClean="0"/>
              <a:t>1 </a:t>
            </a:r>
            <a:r>
              <a:rPr lang="en-US" sz="2000" b="1" smtClean="0">
                <a:sym typeface="Symbol" pitchFamily="18" charset="2"/>
              </a:rPr>
              <a:t></a:t>
            </a:r>
            <a:r>
              <a:rPr lang="en-US" sz="2000" smtClean="0"/>
              <a:t> i </a:t>
            </a:r>
            <a:r>
              <a:rPr lang="en-US" sz="2000" b="1" smtClean="0">
                <a:sym typeface="Symbol" pitchFamily="18" charset="2"/>
              </a:rPr>
              <a:t></a:t>
            </a:r>
            <a:r>
              <a:rPr lang="en-US" sz="2000" b="1" smtClean="0"/>
              <a:t> </a:t>
            </a:r>
            <a:r>
              <a:rPr lang="en-US" sz="2000" smtClean="0"/>
              <a:t>N;    1 </a:t>
            </a:r>
            <a:r>
              <a:rPr lang="en-US" sz="2000" b="1" smtClean="0">
                <a:sym typeface="Symbol" pitchFamily="18" charset="2"/>
              </a:rPr>
              <a:t></a:t>
            </a:r>
            <a:r>
              <a:rPr lang="en-US" sz="2000" b="1" smtClean="0"/>
              <a:t> </a:t>
            </a:r>
            <a:r>
              <a:rPr lang="en-US" sz="2000" smtClean="0"/>
              <a:t>j </a:t>
            </a:r>
            <a:r>
              <a:rPr lang="en-US" sz="2000" b="1" smtClean="0">
                <a:sym typeface="Symbol" pitchFamily="18" charset="2"/>
              </a:rPr>
              <a:t></a:t>
            </a:r>
            <a:r>
              <a:rPr lang="en-US" sz="2000" b="1" smtClean="0"/>
              <a:t> </a:t>
            </a:r>
            <a:r>
              <a:rPr lang="en-US" sz="2000" smtClean="0"/>
              <a:t>G. </a:t>
            </a:r>
            <a:endParaRPr lang="ru-RU" sz="2000" smtClean="0"/>
          </a:p>
        </p:txBody>
      </p:sp>
      <p:graphicFrame>
        <p:nvGraphicFramePr>
          <p:cNvPr id="10244" name="Object 4"/>
          <p:cNvGraphicFramePr>
            <a:graphicFrameLocks noGrp="1" noChangeAspect="1"/>
          </p:cNvGraphicFramePr>
          <p:nvPr>
            <p:ph sz="half" idx="2"/>
          </p:nvPr>
        </p:nvGraphicFramePr>
        <p:xfrm>
          <a:off x="1117600" y="2924175"/>
          <a:ext cx="6908800" cy="1327150"/>
        </p:xfrm>
        <a:graphic>
          <a:graphicData uri="http://schemas.openxmlformats.org/presentationml/2006/ole">
            <mc:AlternateContent xmlns:mc="http://schemas.openxmlformats.org/markup-compatibility/2006">
              <mc:Choice xmlns:v="urn:schemas-microsoft-com:vml" Requires="v">
                <p:oleObj spid="_x0000_s10265" name="Формула" r:id="rId4" imgW="2247900" imgH="431800" progId="Equation.3">
                  <p:embed/>
                </p:oleObj>
              </mc:Choice>
              <mc:Fallback>
                <p:oleObj name="Формула" r:id="rId4" imgW="2247900" imgH="4318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7600" y="2924175"/>
                        <a:ext cx="6908800" cy="1327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dir="l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457200" y="1125538"/>
            <a:ext cx="8229600" cy="5000625"/>
          </a:xfrm>
        </p:spPr>
        <p:txBody>
          <a:bodyPr>
            <a:normAutofit/>
          </a:bodyPr>
          <a:lstStyle/>
          <a:p>
            <a:pPr eaLnBrk="1" hangingPunct="1">
              <a:buFontTx/>
              <a:buNone/>
            </a:pPr>
            <a:r>
              <a:rPr lang="ru-RU" sz="2800" smtClean="0"/>
              <a:t> «ЭТО СТРОКА ОТКРЫТОГО</a:t>
            </a:r>
          </a:p>
          <a:p>
            <a:pPr eaLnBrk="1" hangingPunct="1">
              <a:buFontTx/>
              <a:buNone/>
            </a:pPr>
            <a:r>
              <a:rPr lang="ru-RU" sz="2800" smtClean="0"/>
              <a:t> ИСХОДНОГО ТЕКСТА» </a:t>
            </a:r>
            <a:r>
              <a:rPr lang="uz-Cyrl-UZ" sz="2800" smtClean="0"/>
              <a:t>бу очиқ матн</a:t>
            </a:r>
            <a:endParaRPr lang="ru-RU" sz="2800" smtClean="0"/>
          </a:p>
          <a:p>
            <a:pPr eaLnBrk="1" hangingPunct="1">
              <a:buFontTx/>
              <a:buNone/>
            </a:pPr>
            <a:r>
              <a:rPr lang="uz-Cyrl-UZ" sz="2800" smtClean="0"/>
              <a:t> бўлсин.</a:t>
            </a:r>
          </a:p>
          <a:p>
            <a:pPr eaLnBrk="1" hangingPunct="1">
              <a:buFontTx/>
              <a:buNone/>
            </a:pPr>
            <a:r>
              <a:rPr lang="ru-RU" sz="2800" smtClean="0"/>
              <a:t> </a:t>
            </a:r>
            <a:r>
              <a:rPr lang="uz-Cyrl-UZ" sz="2800" smtClean="0"/>
              <a:t>Қуйидаги </a:t>
            </a:r>
            <a:r>
              <a:rPr lang="ru-RU" sz="2800" smtClean="0"/>
              <a:t>“ПЕРВЫЙ” </a:t>
            </a:r>
            <a:r>
              <a:rPr lang="uz-Cyrl-UZ" sz="2800" smtClean="0"/>
              <a:t>ва</a:t>
            </a:r>
            <a:r>
              <a:rPr lang="ru-RU" sz="2800" smtClean="0"/>
              <a:t> “БУКВА” </a:t>
            </a:r>
          </a:p>
          <a:p>
            <a:pPr eaLnBrk="1" hangingPunct="1">
              <a:buFontTx/>
              <a:buNone/>
            </a:pPr>
            <a:r>
              <a:rPr lang="ru-RU" sz="2800" smtClean="0"/>
              <a:t> </a:t>
            </a:r>
            <a:r>
              <a:rPr lang="uz-Cyrl-UZ" sz="2800" smtClean="0"/>
              <a:t>калитлари билан шифрлансин.</a:t>
            </a:r>
            <a:endParaRPr lang="ru-RU" sz="2800" smtClean="0"/>
          </a:p>
          <a:p>
            <a:pPr eaLnBrk="1" hangingPunct="1">
              <a:buFontTx/>
              <a:buNone/>
            </a:pPr>
            <a:r>
              <a:rPr lang="ru-RU" sz="2400" smtClean="0"/>
              <a:t>МКИГ</a:t>
            </a:r>
            <a:r>
              <a:rPr lang="ru-RU" sz="2400" smtClean="0">
                <a:solidFill>
                  <a:srgbClr val="FF0000"/>
                </a:solidFill>
              </a:rPr>
              <a:t>ЛЭ</a:t>
            </a:r>
            <a:r>
              <a:rPr lang="ru-RU" sz="2400" smtClean="0"/>
              <a:t>ТЮ</a:t>
            </a:r>
            <a:r>
              <a:rPr lang="ru-RU" sz="2400" smtClean="0">
                <a:solidFill>
                  <a:srgbClr val="1F4DE1"/>
                </a:solidFill>
              </a:rPr>
              <a:t>ЭВ</a:t>
            </a:r>
            <a:r>
              <a:rPr lang="ru-RU" sz="2400" smtClean="0"/>
              <a:t>ЫКЛС</a:t>
            </a:r>
            <a:r>
              <a:rPr lang="ru-RU" sz="2400" smtClean="0">
                <a:solidFill>
                  <a:srgbClr val="00FF00"/>
                </a:solidFill>
              </a:rPr>
              <a:t>АЮ</a:t>
            </a:r>
            <a:r>
              <a:rPr lang="ru-RU" sz="2400" smtClean="0"/>
              <a:t> БФУРЮХ</a:t>
            </a:r>
            <a:r>
              <a:rPr lang="ru-RU" sz="2400" smtClean="0">
                <a:solidFill>
                  <a:srgbClr val="00FF00"/>
                </a:solidFill>
              </a:rPr>
              <a:t>АЮ</a:t>
            </a:r>
            <a:r>
              <a:rPr lang="ru-RU" sz="2400" smtClean="0"/>
              <a:t>КРЫ ЧПК О</a:t>
            </a:r>
            <a:r>
              <a:rPr lang="ru-RU" sz="2400" smtClean="0">
                <a:solidFill>
                  <a:srgbClr val="FF0000"/>
                </a:solidFill>
              </a:rPr>
              <a:t>ЛЭ</a:t>
            </a:r>
            <a:r>
              <a:rPr lang="ru-RU" sz="2400" smtClean="0">
                <a:solidFill>
                  <a:srgbClr val="1F4DE1"/>
                </a:solidFill>
              </a:rPr>
              <a:t>В</a:t>
            </a:r>
          </a:p>
          <a:p>
            <a:pPr eaLnBrk="1" hangingPunct="1">
              <a:buFontTx/>
              <a:buNone/>
            </a:pPr>
            <a:r>
              <a:rPr lang="ru-RU" sz="2800" smtClean="0"/>
              <a:t>шифрматн хосил булади. </a:t>
            </a:r>
            <a:r>
              <a:rPr lang="ru-RU" sz="2800" smtClean="0">
                <a:solidFill>
                  <a:srgbClr val="FF0000"/>
                </a:solidFill>
              </a:rPr>
              <a:t>ЛЭ-30</a:t>
            </a:r>
            <a:r>
              <a:rPr lang="ru-RU" sz="2800" smtClean="0"/>
              <a:t>; </a:t>
            </a:r>
            <a:r>
              <a:rPr lang="ru-RU" sz="2800" smtClean="0">
                <a:solidFill>
                  <a:srgbClr val="3366FF"/>
                </a:solidFill>
              </a:rPr>
              <a:t>ЭВ-27</a:t>
            </a:r>
            <a:r>
              <a:rPr lang="ru-RU" sz="2800" smtClean="0"/>
              <a:t>; </a:t>
            </a:r>
            <a:r>
              <a:rPr lang="ru-RU" sz="2800" smtClean="0">
                <a:solidFill>
                  <a:srgbClr val="00FF00"/>
                </a:solidFill>
              </a:rPr>
              <a:t>АЮ-9</a:t>
            </a:r>
            <a:r>
              <a:rPr lang="ru-RU" sz="2800" smtClean="0"/>
              <a:t>.</a:t>
            </a:r>
          </a:p>
          <a:p>
            <a:pPr eaLnBrk="1" hangingPunct="1">
              <a:buFontTx/>
              <a:buNone/>
            </a:pPr>
            <a:r>
              <a:rPr lang="ru-RU" sz="2800" smtClean="0"/>
              <a:t>Бу мисолда: </a:t>
            </a:r>
            <a:r>
              <a:rPr lang="en-US" sz="2800" smtClean="0"/>
              <a:t>L</a:t>
            </a:r>
            <a:r>
              <a:rPr lang="ru-RU" sz="2800" smtClean="0"/>
              <a:t>=32, </a:t>
            </a:r>
            <a:r>
              <a:rPr lang="en-US" sz="2800" smtClean="0"/>
              <a:t>N</a:t>
            </a:r>
            <a:r>
              <a:rPr lang="ru-RU" sz="2800" smtClean="0"/>
              <a:t> = 37, </a:t>
            </a:r>
            <a:r>
              <a:rPr lang="en-US" sz="2800" smtClean="0"/>
              <a:t>G</a:t>
            </a:r>
            <a:r>
              <a:rPr lang="ru-RU" sz="2800" smtClean="0"/>
              <a:t>=2, </a:t>
            </a:r>
            <a:r>
              <a:rPr lang="en-US" sz="2800" smtClean="0"/>
              <a:t>U</a:t>
            </a:r>
            <a:r>
              <a:rPr lang="ru-RU" sz="2800" smtClean="0"/>
              <a:t>1 = 6, </a:t>
            </a:r>
            <a:r>
              <a:rPr lang="en-US" sz="2800" smtClean="0"/>
              <a:t>U</a:t>
            </a:r>
            <a:r>
              <a:rPr lang="ru-RU" sz="2800" smtClean="0"/>
              <a:t>2 = 5.</a:t>
            </a:r>
          </a:p>
          <a:p>
            <a:pPr eaLnBrk="1" hangingPunct="1">
              <a:buFontTx/>
              <a:buNone/>
            </a:pPr>
            <a:r>
              <a:rPr lang="ru-RU" sz="2800" smtClean="0"/>
              <a:t>Ташкил этувчи калит узунлиги 30 га тенг</a:t>
            </a:r>
          </a:p>
        </p:txBody>
      </p:sp>
      <p:sp>
        <p:nvSpPr>
          <p:cNvPr id="11268" name="AutoShape 4">
            <a:hlinkClick r:id="rId3" action="ppaction://hlinkfile" highlightClick="1"/>
          </p:cNvPr>
          <p:cNvSpPr>
            <a:spLocks noChangeArrowheads="1"/>
          </p:cNvSpPr>
          <p:nvPr/>
        </p:nvSpPr>
        <p:spPr bwMode="auto">
          <a:xfrm>
            <a:off x="7885113" y="6192838"/>
            <a:ext cx="1042987" cy="476250"/>
          </a:xfrm>
          <a:prstGeom prst="actionButtonForwardNext">
            <a:avLst/>
          </a:prstGeom>
          <a:solidFill>
            <a:srgbClr val="92ACF6">
              <a:alpha val="7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uz-Cyrl-UZ"/>
          </a:p>
        </p:txBody>
      </p:sp>
    </p:spTree>
  </p:cSld>
  <p:clrMapOvr>
    <a:masterClrMapping/>
  </p:clrMapOvr>
  <p:transition>
    <p:cover dir="l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uz-Cyrl-UZ" sz="2400" smtClean="0"/>
              <a:t>Бир нечта калитли кўп алфавитли ўрнига қўйиш шифри билан шифрланган криптограммаларни дешифрлаш.</a:t>
            </a:r>
            <a:endParaRPr lang="ru-RU" sz="2400" smtClean="0"/>
          </a:p>
        </p:txBody>
      </p:sp>
      <p:sp>
        <p:nvSpPr>
          <p:cNvPr id="12291" name="Rectangle 3"/>
          <p:cNvSpPr>
            <a:spLocks noGrp="1" noChangeArrowheads="1"/>
          </p:cNvSpPr>
          <p:nvPr>
            <p:ph idx="1"/>
          </p:nvPr>
        </p:nvSpPr>
        <p:spPr>
          <a:xfrm>
            <a:off x="457200" y="1600200"/>
            <a:ext cx="8362950" cy="4525963"/>
          </a:xfrm>
          <a:solidFill>
            <a:schemeClr val="bg1"/>
          </a:solidFill>
        </p:spPr>
        <p:txBody>
          <a:bodyPr>
            <a:normAutofit fontScale="92500" lnSpcReduction="10000"/>
          </a:bodyPr>
          <a:lstStyle/>
          <a:p>
            <a:pPr eaLnBrk="1" hangingPunct="1">
              <a:lnSpc>
                <a:spcPct val="90000"/>
              </a:lnSpc>
              <a:buFontTx/>
              <a:buNone/>
            </a:pPr>
            <a:r>
              <a:rPr lang="uz-Cyrl-UZ" sz="2400" smtClean="0"/>
              <a:t>Қ</a:t>
            </a:r>
            <a:r>
              <a:rPr lang="ru-RU" sz="2400" smtClean="0"/>
              <a:t>уйидаги</a:t>
            </a:r>
            <a:r>
              <a:rPr lang="uz-Cyrl-UZ" sz="2400" smtClean="0"/>
              <a:t> криптограмма берилган:</a:t>
            </a:r>
          </a:p>
          <a:p>
            <a:pPr eaLnBrk="1" hangingPunct="1">
              <a:lnSpc>
                <a:spcPct val="90000"/>
              </a:lnSpc>
              <a:buFontTx/>
              <a:buNone/>
            </a:pPr>
            <a:r>
              <a:rPr lang="uz-Cyrl-UZ" sz="2400" smtClean="0"/>
              <a:t>ИЙАЦЩМЙШЛ_БО_ТТВЯЛОАЧДККЙЙРРЧ</a:t>
            </a:r>
            <a:r>
              <a:rPr lang="uz-Cyrl-UZ" sz="2400" smtClean="0">
                <a:solidFill>
                  <a:srgbClr val="1F4DE1"/>
                </a:solidFill>
              </a:rPr>
              <a:t>МЖ</a:t>
            </a:r>
            <a:r>
              <a:rPr lang="uz-Cyrl-UZ" sz="2400" smtClean="0"/>
              <a:t>ЗБЙССЭ</a:t>
            </a:r>
          </a:p>
          <a:p>
            <a:pPr eaLnBrk="1" hangingPunct="1">
              <a:lnSpc>
                <a:spcPct val="90000"/>
              </a:lnSpc>
              <a:buFontTx/>
              <a:buNone/>
            </a:pPr>
            <a:r>
              <a:rPr lang="uz-Cyrl-UZ" sz="2400" smtClean="0"/>
              <a:t>АУ</a:t>
            </a:r>
            <a:r>
              <a:rPr lang="uz-Cyrl-UZ" sz="2400" smtClean="0">
                <a:solidFill>
                  <a:srgbClr val="3399FF"/>
                </a:solidFill>
              </a:rPr>
              <a:t>ЭЕ</a:t>
            </a:r>
            <a:r>
              <a:rPr lang="uz-Cyrl-UZ" sz="2400" smtClean="0"/>
              <a:t>АРРЫЧКФЬШМ</a:t>
            </a:r>
            <a:r>
              <a:rPr lang="uz-Cyrl-UZ" sz="2400" smtClean="0">
                <a:solidFill>
                  <a:srgbClr val="00FF00"/>
                </a:solidFill>
              </a:rPr>
              <a:t>МЭ</a:t>
            </a:r>
            <a:r>
              <a:rPr lang="uz-Cyrl-UZ" sz="2400" smtClean="0"/>
              <a:t>ЖЮЬ_КЛБАИКЫКДЙДРХЩЬИ</a:t>
            </a:r>
          </a:p>
          <a:p>
            <a:pPr eaLnBrk="1" hangingPunct="1">
              <a:lnSpc>
                <a:spcPct val="90000"/>
              </a:lnSpc>
              <a:buFontTx/>
              <a:buNone/>
            </a:pPr>
            <a:r>
              <a:rPr lang="uz-Cyrl-UZ" sz="2400" smtClean="0"/>
              <a:t>Х_</a:t>
            </a:r>
            <a:r>
              <a:rPr lang="uz-Cyrl-UZ" sz="2400" smtClean="0">
                <a:solidFill>
                  <a:srgbClr val="00FF00"/>
                </a:solidFill>
              </a:rPr>
              <a:t>М</a:t>
            </a:r>
            <a:r>
              <a:rPr lang="uz-Cyrl-UZ" sz="2400" smtClean="0">
                <a:solidFill>
                  <a:srgbClr val="3399FF"/>
                </a:solidFill>
              </a:rPr>
              <a:t>ЭЕ</a:t>
            </a:r>
            <a:r>
              <a:rPr lang="uz-Cyrl-UZ" sz="2400" smtClean="0"/>
              <a:t>РДДВАУ</a:t>
            </a:r>
            <a:r>
              <a:rPr lang="uz-Cyrl-UZ" sz="2400" smtClean="0">
                <a:solidFill>
                  <a:srgbClr val="A50021"/>
                </a:solidFill>
              </a:rPr>
              <a:t>НО</a:t>
            </a:r>
            <a:r>
              <a:rPr lang="uz-Cyrl-UZ" sz="2400" smtClean="0"/>
              <a:t>СШЯИЮЙЗЩГ_ГЙЩЧИЭНВПЭЭОЮ</a:t>
            </a:r>
          </a:p>
          <a:p>
            <a:pPr eaLnBrk="1" hangingPunct="1">
              <a:lnSpc>
                <a:spcPct val="90000"/>
              </a:lnSpc>
              <a:buFontTx/>
              <a:buNone/>
            </a:pPr>
            <a:r>
              <a:rPr lang="uz-Cyrl-UZ" sz="2400" smtClean="0"/>
              <a:t>ДПЖЙЙ</a:t>
            </a:r>
            <a:r>
              <a:rPr lang="uz-Cyrl-UZ" sz="2400" smtClean="0">
                <a:solidFill>
                  <a:srgbClr val="1F4DE1"/>
                </a:solidFill>
              </a:rPr>
              <a:t>МЖ</a:t>
            </a:r>
            <a:r>
              <a:rPr lang="uz-Cyrl-UZ" sz="2400" smtClean="0"/>
              <a:t>ЙРАЛ_ШЖВЫВГЖ_ЙЭВАЫБЧЧЛФЫСЦФ</a:t>
            </a:r>
            <a:r>
              <a:rPr lang="uz-Cyrl-UZ" sz="2400" smtClean="0">
                <a:solidFill>
                  <a:srgbClr val="00FF00"/>
                </a:solidFill>
              </a:rPr>
              <a:t>ОР</a:t>
            </a:r>
          </a:p>
          <a:p>
            <a:pPr eaLnBrk="1" hangingPunct="1">
              <a:lnSpc>
                <a:spcPct val="90000"/>
              </a:lnSpc>
              <a:buFontTx/>
              <a:buNone/>
            </a:pPr>
            <a:r>
              <a:rPr lang="uz-Cyrl-UZ" sz="2400" smtClean="0"/>
              <a:t>Ю</a:t>
            </a:r>
            <a:r>
              <a:rPr lang="uz-Cyrl-UZ" sz="2400" smtClean="0">
                <a:solidFill>
                  <a:srgbClr val="00FF00"/>
                </a:solidFill>
              </a:rPr>
              <a:t>ОР</a:t>
            </a:r>
            <a:r>
              <a:rPr lang="uz-Cyrl-UZ" sz="2400" smtClean="0"/>
              <a:t>Й_АЭШ_ОЬЗЗНЭФОЯЦЙП</a:t>
            </a:r>
            <a:r>
              <a:rPr lang="uz-Cyrl-UZ" sz="2400" smtClean="0">
                <a:solidFill>
                  <a:srgbClr val="3399FF"/>
                </a:solidFill>
              </a:rPr>
              <a:t>ЭЕ</a:t>
            </a:r>
            <a:r>
              <a:rPr lang="uz-Cyrl-UZ" sz="2400" smtClean="0"/>
              <a:t>ПЫЗСЦПЯНВ</a:t>
            </a:r>
            <a:r>
              <a:rPr lang="uz-Cyrl-UZ" sz="2400" smtClean="0">
                <a:solidFill>
                  <a:srgbClr val="00FF00"/>
                </a:solidFill>
              </a:rPr>
              <a:t>МЭ</a:t>
            </a:r>
            <a:r>
              <a:rPr lang="uz-Cyrl-UZ" sz="2400" smtClean="0">
                <a:solidFill>
                  <a:srgbClr val="FF0000"/>
                </a:solidFill>
              </a:rPr>
              <a:t>ЯОК</a:t>
            </a:r>
          </a:p>
          <a:p>
            <a:pPr eaLnBrk="1" hangingPunct="1">
              <a:lnSpc>
                <a:spcPct val="90000"/>
              </a:lnSpc>
              <a:buFontTx/>
              <a:buNone/>
            </a:pPr>
            <a:r>
              <a:rPr lang="uz-Cyrl-UZ" sz="2400" smtClean="0"/>
              <a:t>ИУОЗИХМВ</a:t>
            </a:r>
            <a:r>
              <a:rPr lang="uz-Cyrl-UZ" sz="2400" smtClean="0">
                <a:solidFill>
                  <a:srgbClr val="A50021"/>
                </a:solidFill>
              </a:rPr>
              <a:t>НО</a:t>
            </a:r>
            <a:r>
              <a:rPr lang="uz-Cyrl-UZ" sz="2400" smtClean="0"/>
              <a:t>ЯЭМГМ</a:t>
            </a:r>
            <a:r>
              <a:rPr lang="uz-Cyrl-UZ" sz="2400" smtClean="0">
                <a:solidFill>
                  <a:srgbClr val="00FF00"/>
                </a:solidFill>
              </a:rPr>
              <a:t>ОР</a:t>
            </a:r>
            <a:r>
              <a:rPr lang="uz-Cyrl-UZ" sz="2400" smtClean="0"/>
              <a:t>ЫЦЧБ_ЦФСЯ</a:t>
            </a:r>
            <a:r>
              <a:rPr lang="uz-Cyrl-UZ" sz="2400" smtClean="0">
                <a:solidFill>
                  <a:srgbClr val="1F4DE1"/>
                </a:solidFill>
              </a:rPr>
              <a:t>МЖ</a:t>
            </a:r>
            <a:r>
              <a:rPr lang="uz-Cyrl-UZ" sz="2400" smtClean="0"/>
              <a:t>ЬК</a:t>
            </a:r>
            <a:r>
              <a:rPr lang="uz-Cyrl-UZ" sz="2400" smtClean="0">
                <a:solidFill>
                  <a:srgbClr val="FF0000"/>
                </a:solidFill>
              </a:rPr>
              <a:t>ЯОК</a:t>
            </a:r>
            <a:r>
              <a:rPr lang="uz-Cyrl-UZ" sz="2400" smtClean="0"/>
              <a:t>_ФЗ</a:t>
            </a:r>
          </a:p>
          <a:p>
            <a:pPr eaLnBrk="1" hangingPunct="1">
              <a:lnSpc>
                <a:spcPct val="90000"/>
              </a:lnSpc>
              <a:buFontTx/>
              <a:buNone/>
            </a:pPr>
            <a:r>
              <a:rPr lang="uz-Cyrl-UZ" sz="2400" smtClean="0"/>
              <a:t>ЦЩДЭЫ_ЫХМБСЬТТУЙЬРЕЛВСИКЕРОЮЩХФДЛКЗ</a:t>
            </a:r>
            <a:r>
              <a:rPr lang="uz-Cyrl-UZ" sz="2400" smtClean="0">
                <a:solidFill>
                  <a:srgbClr val="A50021"/>
                </a:solidFill>
              </a:rPr>
              <a:t>НО</a:t>
            </a:r>
          </a:p>
          <a:p>
            <a:pPr eaLnBrk="1" hangingPunct="1">
              <a:lnSpc>
                <a:spcPct val="90000"/>
              </a:lnSpc>
              <a:buFontTx/>
              <a:buNone/>
            </a:pPr>
            <a:r>
              <a:rPr lang="uz-Cyrl-UZ" sz="2400" smtClean="0"/>
              <a:t>Б_ЧАЧЫПЩАЙИЮЬДСАЙДЫЙМЯЗУЭИЩТЫПЮКПЮЖ</a:t>
            </a:r>
          </a:p>
          <a:p>
            <a:pPr eaLnBrk="1" hangingPunct="1">
              <a:lnSpc>
                <a:spcPct val="90000"/>
              </a:lnSpc>
              <a:buFontTx/>
              <a:buNone/>
            </a:pPr>
            <a:r>
              <a:rPr lang="uz-Cyrl-UZ" sz="2400" smtClean="0"/>
              <a:t>ЫМАЛШГЦ</a:t>
            </a:r>
            <a:r>
              <a:rPr lang="ru-RU" sz="2400" smtClean="0"/>
              <a:t> </a:t>
            </a:r>
          </a:p>
        </p:txBody>
      </p:sp>
    </p:spTree>
  </p:cSld>
  <p:clrMapOvr>
    <a:masterClrMapping/>
  </p:clrMapOvr>
  <p:transition>
    <p:cover dir="l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274638"/>
            <a:ext cx="8229600" cy="3009900"/>
          </a:xfrm>
        </p:spPr>
        <p:txBody>
          <a:bodyPr>
            <a:normAutofit/>
          </a:bodyPr>
          <a:lstStyle/>
          <a:p>
            <a:pPr eaLnBrk="1" hangingPunct="1"/>
            <a:r>
              <a:rPr lang="ru-RU" sz="2000" smtClean="0"/>
              <a:t>Бунинг </a:t>
            </a:r>
            <a:r>
              <a:rPr lang="uz-Cyrl-UZ" sz="2000" smtClean="0"/>
              <a:t>учун Казиски ва мослик индекси усуллар</a:t>
            </a:r>
            <a:r>
              <a:rPr lang="ru-RU" sz="2000" smtClean="0"/>
              <a:t>и</a:t>
            </a:r>
            <a:r>
              <a:rPr lang="uz-Cyrl-UZ" sz="2000" smtClean="0"/>
              <a:t>д</a:t>
            </a:r>
            <a:r>
              <a:rPr lang="ru-RU" sz="2000" smtClean="0"/>
              <a:t>ан фойдаланиш яхши самара </a:t>
            </a:r>
            <a:r>
              <a:rPr lang="uz-Cyrl-UZ" sz="2000" smtClean="0"/>
              <a:t>беради</a:t>
            </a:r>
            <a:r>
              <a:rPr lang="ru-RU" sz="2000" smtClean="0"/>
              <a:t>. Мослик </a:t>
            </a:r>
            <a:r>
              <a:rPr lang="uz-Cyrl-UZ" sz="2000" smtClean="0"/>
              <a:t>индекси </a:t>
            </a:r>
            <a:r>
              <a:rPr lang="ru-RU" sz="2000" smtClean="0"/>
              <a:t>уш</a:t>
            </a:r>
            <a:r>
              <a:rPr lang="uz-Cyrl-UZ" sz="2000" smtClean="0"/>
              <a:t>бу криптограммада 0.0321 га тенг. Жадвал бўйича, шифр калитининг узунлиги ўндан катта. Казиски усули ёрдамида бир хил бўлган кетма-кет  символлар орасидаги масофалар ва уларнинг неча марта учрашишлари ҳисобланиб,  жадвал тузилади. Бир  хил бўлган кетма-кет  символлар вазни (криптограммадаги учрашлар сони)нинг қайси бири  катта бўлса, ўша бир  хил бўлган кетма-кет  символлар орасидаги масофа криптограмманинг даврига тенг бўлиши мумкин. </a:t>
            </a:r>
            <a:r>
              <a:rPr lang="ru-RU" sz="2000" smtClean="0"/>
              <a:t/>
            </a:r>
            <a:br>
              <a:rPr lang="ru-RU" sz="2000" smtClean="0"/>
            </a:br>
            <a:endParaRPr lang="ru-RU" sz="2000" smtClean="0"/>
          </a:p>
        </p:txBody>
      </p:sp>
      <p:graphicFrame>
        <p:nvGraphicFramePr>
          <p:cNvPr id="88165" name="Group 101"/>
          <p:cNvGraphicFramePr>
            <a:graphicFrameLocks noGrp="1"/>
          </p:cNvGraphicFramePr>
          <p:nvPr>
            <p:ph type="tbl" idx="1"/>
          </p:nvPr>
        </p:nvGraphicFramePr>
        <p:xfrm>
          <a:off x="468313" y="3500438"/>
          <a:ext cx="8229600" cy="2492375"/>
        </p:xfrm>
        <a:graphic>
          <a:graphicData uri="http://schemas.openxmlformats.org/drawingml/2006/table">
            <a:tbl>
              <a:tblPr/>
              <a:tblGrid>
                <a:gridCol w="2938462"/>
                <a:gridCol w="2903538"/>
                <a:gridCol w="2387600"/>
              </a:tblGrid>
              <a:tr h="6635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Тартиб </a:t>
                      </a:r>
                      <a:r>
                        <a:rPr kumimoji="0" lang="uz-Cyrl-UZ" sz="2400" b="0" i="0" u="none" strike="noStrike" cap="none" normalizeH="0" baseline="0" smtClean="0">
                          <a:ln>
                            <a:noFill/>
                          </a:ln>
                          <a:solidFill>
                            <a:schemeClr val="tx1"/>
                          </a:solidFill>
                          <a:effectLst/>
                          <a:latin typeface="Arial" charset="0"/>
                          <a:cs typeface="Times New Roman" pitchFamily="18" charset="0"/>
                        </a:rPr>
                        <a:t>рақами</a:t>
                      </a:r>
                      <a:endParaRPr kumimoji="0" lang="uz-Cyrl-UZ" sz="2400" b="0" i="0" u="none" strike="noStrike" cap="none" normalizeH="0" baseline="0" smtClean="0">
                        <a:ln>
                          <a:noFill/>
                        </a:ln>
                        <a:solidFill>
                          <a:schemeClr val="tx1"/>
                        </a:solidFill>
                        <a:effectLst/>
                        <a:latin typeface="Arial"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Даври </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Вазни </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16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1</a:t>
                      </a:r>
                      <a:endParaRPr kumimoji="0" lang="ru-RU" sz="2400" b="0" i="0" u="none" strike="noStrike" cap="none" normalizeH="0" baseline="0" smtClean="0">
                        <a:ln>
                          <a:noFill/>
                        </a:ln>
                        <a:solidFill>
                          <a:schemeClr val="tx1"/>
                        </a:solidFill>
                        <a:effectLst/>
                        <a:latin typeface="Arial"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30</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5</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00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2</a:t>
                      </a:r>
                      <a:endParaRPr kumimoji="0" lang="ru-RU" sz="2400" b="0" i="0" u="none" strike="noStrike" cap="none" normalizeH="0" baseline="0" smtClean="0">
                        <a:ln>
                          <a:noFill/>
                        </a:ln>
                        <a:solidFill>
                          <a:schemeClr val="tx1"/>
                        </a:solidFill>
                        <a:effectLst/>
                        <a:latin typeface="Arial"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6</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4</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00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3</a:t>
                      </a:r>
                      <a:endParaRPr kumimoji="0" lang="ru-RU" sz="2400" b="0" i="0" u="none" strike="noStrike" cap="none" normalizeH="0" baseline="0" smtClean="0">
                        <a:ln>
                          <a:noFill/>
                        </a:ln>
                        <a:solidFill>
                          <a:schemeClr val="tx1"/>
                        </a:solidFill>
                        <a:effectLst/>
                        <a:latin typeface="Arial"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5</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3</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00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4</a:t>
                      </a:r>
                      <a:endParaRPr kumimoji="0" lang="ru-RU" sz="2400" b="0" i="0" u="none" strike="noStrike" cap="none" normalizeH="0" baseline="0" smtClean="0">
                        <a:ln>
                          <a:noFill/>
                        </a:ln>
                        <a:solidFill>
                          <a:schemeClr val="tx1"/>
                        </a:solidFill>
                        <a:effectLst/>
                        <a:latin typeface="Arial"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10</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3</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cover dir="l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Rectangle 3"/>
          <p:cNvSpPr>
            <a:spLocks noGrp="1" noChangeArrowheads="1"/>
          </p:cNvSpPr>
          <p:nvPr>
            <p:ph type="body" sz="half" idx="1"/>
          </p:nvPr>
        </p:nvSpPr>
        <p:spPr>
          <a:xfrm>
            <a:off x="323850" y="908050"/>
            <a:ext cx="4038600" cy="5329238"/>
          </a:xfrm>
        </p:spPr>
        <p:txBody>
          <a:bodyPr/>
          <a:lstStyle/>
          <a:p>
            <a:pPr eaLnBrk="1" hangingPunct="1"/>
            <a:r>
              <a:rPr lang="ru-RU" sz="2400" smtClean="0"/>
              <a:t>Бу </a:t>
            </a:r>
            <a:r>
              <a:rPr lang="uz-Cyrl-UZ" sz="2400" smtClean="0"/>
              <a:t>жадвалдан </a:t>
            </a:r>
            <a:r>
              <a:rPr lang="ru-RU" sz="2400" smtClean="0"/>
              <a:t>калитнинг узунлиги 30 га тенг</a:t>
            </a:r>
            <a:r>
              <a:rPr lang="uz-Cyrl-UZ" sz="2400" smtClean="0"/>
              <a:t> деб тахмин қилиб,криптограмма 30 тадан гуруҳларга бўлиниб, ҳар бир гуруҳ символ</a:t>
            </a:r>
            <a:r>
              <a:rPr lang="ru-RU" sz="2400" smtClean="0"/>
              <a:t>лари частоталари ҳисобланиб, рус тилидаги мос келувчи символлар билан </a:t>
            </a:r>
            <a:r>
              <a:rPr lang="uz-Cyrl-UZ" sz="2400" smtClean="0"/>
              <a:t>алмаштириб чиқилади. </a:t>
            </a:r>
            <a:endParaRPr lang="ru-RU" sz="2400" smtClean="0"/>
          </a:p>
        </p:txBody>
      </p:sp>
      <p:graphicFrame>
        <p:nvGraphicFramePr>
          <p:cNvPr id="92367" name="Group 207"/>
          <p:cNvGraphicFramePr>
            <a:graphicFrameLocks noGrp="1"/>
          </p:cNvGraphicFramePr>
          <p:nvPr>
            <p:ph sz="half" idx="2"/>
          </p:nvPr>
        </p:nvGraphicFramePr>
        <p:xfrm>
          <a:off x="4500563" y="404813"/>
          <a:ext cx="4392612" cy="5732464"/>
        </p:xfrm>
        <a:graphic>
          <a:graphicData uri="http://schemas.openxmlformats.org/drawingml/2006/table">
            <a:tbl>
              <a:tblPr/>
              <a:tblGrid>
                <a:gridCol w="1155700"/>
                <a:gridCol w="1135062"/>
                <a:gridCol w="1050925"/>
                <a:gridCol w="1050925"/>
              </a:tblGrid>
              <a:tr h="657298">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Криптограмма</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ru-RU"/>
                    </a:p>
                  </a:txBody>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Рус</a:t>
                      </a:r>
                      <a:r>
                        <a:rPr kumimoji="0" lang="uz-Cyrl-UZ" sz="2000" b="0" i="0" u="none" strike="noStrike" cap="none" normalizeH="0" baseline="0" smtClean="0">
                          <a:ln>
                            <a:noFill/>
                          </a:ln>
                          <a:solidFill>
                            <a:schemeClr val="tx1"/>
                          </a:solidFill>
                          <a:effectLst/>
                          <a:latin typeface="Arial" charset="0"/>
                          <a:cs typeface="Times New Roman" pitchFamily="18" charset="0"/>
                        </a:rPr>
                        <a:t> тили</a:t>
                      </a:r>
                      <a:endParaRPr kumimoji="0" lang="uz-Cyrl-UZ"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ru-RU"/>
                    </a:p>
                  </a:txBody>
                  <a:tcPr/>
                </a:tc>
              </a:tr>
              <a:tr h="108914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Символ</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Частота</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uz-Cyrl-UZ" sz="2000" b="0" i="0" u="none" strike="noStrike" cap="none" normalizeH="0" baseline="0" smtClean="0">
                          <a:ln>
                            <a:noFill/>
                          </a:ln>
                          <a:solidFill>
                            <a:schemeClr val="tx1"/>
                          </a:solidFill>
                          <a:effectLst/>
                          <a:latin typeface="Arial" charset="0"/>
                          <a:cs typeface="Times New Roman" pitchFamily="18" charset="0"/>
                        </a:rPr>
                        <a:t>Ҳарф</a:t>
                      </a:r>
                      <a:endParaRPr kumimoji="0" lang="uz-Cyrl-UZ"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Эҳтимоллик</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11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Ч</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0.116</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Пробел</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0.175</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729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Ж</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0.110</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о</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0.090</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729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А</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0.090</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е</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0.072</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571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Ы</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0.084</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а</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0.062</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729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Ю</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0.058</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и</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0.062</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729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И</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0.058</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н</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0.053</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cover dir="l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3"/>
          <p:cNvSpPr>
            <a:spLocks noGrp="1" noChangeArrowheads="1"/>
          </p:cNvSpPr>
          <p:nvPr>
            <p:ph type="body" sz="half" idx="1"/>
          </p:nvPr>
        </p:nvSpPr>
        <p:spPr>
          <a:xfrm>
            <a:off x="457200" y="333375"/>
            <a:ext cx="8291513" cy="4679950"/>
          </a:xfrm>
        </p:spPr>
        <p:txBody>
          <a:bodyPr/>
          <a:lstStyle/>
          <a:p>
            <a:pPr eaLnBrk="1" hangingPunct="1">
              <a:lnSpc>
                <a:spcPct val="90000"/>
              </a:lnSpc>
            </a:pPr>
            <a:r>
              <a:rPr lang="ru-RU" sz="2200" smtClean="0"/>
              <a:t>РУСЬ ИЗДАВЯА ВЕЕА ТОРГОЭЛЮ С ВОСТОЧНЫМИ ВТРАНЫМИ ЖЕЛАШ ПОЛУЧИТЬ РАЗРЕШЦНИЕ ЗДИТЬ Ч РЕЗ РУССКИЕ ЗЕМЛЩ В П РСИЮ ИНЯИЮ БУХАРУ И ДЛЯ  ТЫСКЫНИЯ ПУТВ В К ИТАЙ АНГЛИЙСЬИЙ ПИСОЛ ПОВ ДАЛ ЦАРЮ МОСКОВСЬОМУ СТО ДРАГИЦЕННОСТИ ПЕРЕВОЗЩМ ЫЕ ДУПЦАМИ ВЗ СТРАНЫ В СТРАНД ОСТЫВЛЯЮТ НЫ ПУТИ ЗОЛОТЫЕ СЛЦДЫ РНССКИЕ ПКЕК </a:t>
            </a:r>
            <a:endParaRPr lang="uz-Cyrl-UZ" sz="2200" smtClean="0"/>
          </a:p>
          <a:p>
            <a:pPr eaLnBrk="1" hangingPunct="1">
              <a:lnSpc>
                <a:spcPct val="90000"/>
              </a:lnSpc>
            </a:pPr>
            <a:endParaRPr lang="uz-Cyrl-UZ" sz="2200" smtClean="0"/>
          </a:p>
          <a:p>
            <a:pPr eaLnBrk="1" hangingPunct="1">
              <a:lnSpc>
                <a:spcPct val="90000"/>
              </a:lnSpc>
            </a:pPr>
            <a:r>
              <a:rPr lang="ru-RU" sz="2200" smtClean="0"/>
              <a:t>Кўриниб </a:t>
            </a:r>
            <a:r>
              <a:rPr lang="uz-Cyrl-UZ" sz="2200" smtClean="0"/>
              <a:t>турибдики айрим гуруҳларда алмаштириш нот</a:t>
            </a:r>
            <a:r>
              <a:rPr lang="ru-RU" sz="2200" smtClean="0"/>
              <a:t>ў</a:t>
            </a:r>
            <a:r>
              <a:rPr lang="uz-Cyrl-UZ" sz="2200" smtClean="0"/>
              <a:t>ғри бўлган. </a:t>
            </a:r>
            <a:r>
              <a:rPr lang="ru-RU" sz="2200" smtClean="0"/>
              <a:t>Биринчи </a:t>
            </a:r>
            <a:r>
              <a:rPr lang="uz-Cyrl-UZ" sz="2200" smtClean="0"/>
              <a:t>гуруҳдаги </a:t>
            </a:r>
            <a:r>
              <a:rPr lang="ru-RU" sz="2200" smtClean="0"/>
              <a:t>“РУСЬ ИЗДАВЯА ВЕЕА ТОРГОЭЛЮ”</a:t>
            </a:r>
            <a:r>
              <a:rPr lang="uz-Cyrl-UZ" sz="2200" b="1" smtClean="0"/>
              <a:t> </a:t>
            </a:r>
            <a:r>
              <a:rPr lang="uz-Cyrl-UZ" sz="2200" smtClean="0"/>
              <a:t>жумласи</a:t>
            </a:r>
            <a:r>
              <a:rPr lang="ru-RU" sz="2200" smtClean="0"/>
              <a:t>ни </a:t>
            </a:r>
            <a:r>
              <a:rPr lang="ru-RU" sz="2200" b="1" smtClean="0"/>
              <a:t> </a:t>
            </a:r>
            <a:r>
              <a:rPr lang="ru-RU" sz="2200" smtClean="0"/>
              <a:t>“РУСЬ ИЗДАВНА ВЕЛА ТОРГОВЛЮ”</a:t>
            </a:r>
            <a:r>
              <a:rPr lang="uz-Cyrl-UZ" sz="2200" smtClean="0"/>
              <a:t> жумласининг хатолик билан кўриниши деб олиб, Қуйидаги алмаштиришлар амалга оширилса</a:t>
            </a:r>
            <a:r>
              <a:rPr lang="ru-RU" sz="2200" b="1" smtClean="0"/>
              <a:t>:</a:t>
            </a:r>
          </a:p>
        </p:txBody>
      </p:sp>
      <p:graphicFrame>
        <p:nvGraphicFramePr>
          <p:cNvPr id="94233" name="Group 25"/>
          <p:cNvGraphicFramePr>
            <a:graphicFrameLocks noGrp="1"/>
          </p:cNvGraphicFramePr>
          <p:nvPr>
            <p:ph sz="half" idx="2"/>
          </p:nvPr>
        </p:nvGraphicFramePr>
        <p:xfrm>
          <a:off x="2124075" y="4941888"/>
          <a:ext cx="4038600" cy="1616076"/>
        </p:xfrm>
        <a:graphic>
          <a:graphicData uri="http://schemas.openxmlformats.org/drawingml/2006/table">
            <a:tbl>
              <a:tblPr/>
              <a:tblGrid>
                <a:gridCol w="2006600"/>
                <a:gridCol w="2032000"/>
              </a:tblGrid>
              <a:tr h="58578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ru-RU" sz="2400" b="1" i="0" u="none" strike="noStrike" cap="none" normalizeH="0" baseline="0" smtClean="0">
                          <a:ln>
                            <a:noFill/>
                          </a:ln>
                          <a:solidFill>
                            <a:schemeClr val="tx1"/>
                          </a:solidFill>
                          <a:effectLst/>
                          <a:latin typeface="Arial" charset="0"/>
                          <a:cs typeface="Times New Roman" pitchFamily="18" charset="0"/>
                        </a:rPr>
                        <a:t> </a:t>
                      </a:r>
                      <a:r>
                        <a:rPr kumimoji="0" lang="ru-RU" sz="2400" b="0" i="0" u="none" strike="noStrike" cap="none" normalizeH="0" baseline="0" smtClean="0">
                          <a:ln>
                            <a:noFill/>
                          </a:ln>
                          <a:solidFill>
                            <a:schemeClr val="tx1"/>
                          </a:solidFill>
                          <a:effectLst/>
                          <a:latin typeface="Arial" charset="0"/>
                          <a:cs typeface="Times New Roman" pitchFamily="18" charset="0"/>
                        </a:rPr>
                        <a:t>11 гуруҳда</a:t>
                      </a:r>
                      <a:endParaRPr kumimoji="0" lang="ru-RU" sz="2400" b="0" i="0" u="none" strike="noStrike" cap="none" normalizeH="0" baseline="0" smtClean="0">
                        <a:ln>
                          <a:noFill/>
                        </a:ln>
                        <a:solidFill>
                          <a:schemeClr val="tx1"/>
                        </a:solidFill>
                        <a:effectLst/>
                        <a:latin typeface="Arial" charset="0"/>
                      </a:endParaRPr>
                    </a:p>
                  </a:txBody>
                  <a:tcPr horzOverflow="overflow">
                    <a:lnL cap="flat">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“Б”-“Н”</a:t>
                      </a:r>
                      <a:endParaRPr kumimoji="0" lang="ru-RU" sz="2400" b="0" i="0" u="none" strike="noStrike" cap="none" normalizeH="0" baseline="0" smtClean="0">
                        <a:ln>
                          <a:noFill/>
                        </a:ln>
                        <a:solidFill>
                          <a:schemeClr val="tx1"/>
                        </a:solidFill>
                        <a:effectLst/>
                        <a:latin typeface="Arial" charset="0"/>
                      </a:endParaRPr>
                    </a:p>
                  </a:txBody>
                  <a:tcPr horzOverflow="overflow">
                    <a:lnL>
                      <a:noFill/>
                    </a:lnL>
                    <a:lnR cap="flat">
                      <a:noFill/>
                    </a:lnR>
                    <a:lnT cap="flat">
                      <a:noFill/>
                    </a:lnT>
                    <a:lnB>
                      <a:noFill/>
                    </a:lnB>
                    <a:lnTlToBr>
                      <a:noFill/>
                    </a:lnTlToBr>
                    <a:lnBlToTr>
                      <a:noFill/>
                    </a:lnBlToTr>
                    <a:noFill/>
                  </a:tcPr>
                </a:tc>
              </a:tr>
              <a:tr h="5159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uz-Cyrl-UZ" sz="2400" b="0" i="0" u="none" strike="noStrike" cap="none" normalizeH="0" baseline="0" smtClean="0">
                          <a:ln>
                            <a:noFill/>
                          </a:ln>
                          <a:solidFill>
                            <a:schemeClr val="tx1"/>
                          </a:solidFill>
                          <a:effectLst/>
                          <a:latin typeface="Arial" charset="0"/>
                          <a:cs typeface="Times New Roman" pitchFamily="18" charset="0"/>
                        </a:rPr>
                        <a:t> </a:t>
                      </a:r>
                      <a:r>
                        <a:rPr kumimoji="0" lang="ru-RU" sz="2400" b="0" i="0" u="none" strike="noStrike" cap="none" normalizeH="0" baseline="0" smtClean="0">
                          <a:ln>
                            <a:noFill/>
                          </a:ln>
                          <a:solidFill>
                            <a:schemeClr val="tx1"/>
                          </a:solidFill>
                          <a:effectLst/>
                          <a:latin typeface="Arial" charset="0"/>
                          <a:cs typeface="Times New Roman" pitchFamily="18" charset="0"/>
                        </a:rPr>
                        <a:t>1</a:t>
                      </a:r>
                      <a:r>
                        <a:rPr kumimoji="0" lang="uz-Cyrl-UZ" sz="2400" b="0" i="0" u="none" strike="noStrike" cap="none" normalizeH="0" baseline="0" smtClean="0">
                          <a:ln>
                            <a:noFill/>
                          </a:ln>
                          <a:solidFill>
                            <a:schemeClr val="tx1"/>
                          </a:solidFill>
                          <a:effectLst/>
                          <a:latin typeface="Arial" charset="0"/>
                          <a:cs typeface="Times New Roman" pitchFamily="18" charset="0"/>
                        </a:rPr>
                        <a:t>6</a:t>
                      </a:r>
                      <a:r>
                        <a:rPr kumimoji="0" lang="ru-RU" sz="2400" b="0" i="0" u="none" strike="noStrike" cap="none" normalizeH="0" baseline="0" smtClean="0">
                          <a:ln>
                            <a:noFill/>
                          </a:ln>
                          <a:solidFill>
                            <a:schemeClr val="tx1"/>
                          </a:solidFill>
                          <a:effectLst/>
                          <a:latin typeface="Arial" charset="0"/>
                          <a:cs typeface="Times New Roman" pitchFamily="18" charset="0"/>
                        </a:rPr>
                        <a:t> гуруҳда</a:t>
                      </a:r>
                      <a:endParaRPr kumimoji="0" lang="ru-RU" sz="2400" b="0" i="0" u="none" strike="noStrike" cap="none" normalizeH="0" baseline="0" smtClean="0">
                        <a:ln>
                          <a:noFill/>
                        </a:ln>
                        <a:solidFill>
                          <a:schemeClr val="tx1"/>
                        </a:solidFill>
                        <a:effectLst/>
                        <a:latin typeface="Arial" charset="0"/>
                      </a:endParaRPr>
                    </a:p>
                  </a:txBody>
                  <a:tcPr horzOverflow="overflow">
                    <a:lnL cap="flat">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“В”-“Л”</a:t>
                      </a:r>
                      <a:endParaRPr kumimoji="0" lang="ru-RU" sz="2400" b="0" i="0" u="none" strike="noStrike" cap="none" normalizeH="0" baseline="0" smtClean="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tr>
              <a:tr h="51435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uz-Cyrl-UZ" sz="2400" b="0" i="0" u="none" strike="noStrike" cap="none" normalizeH="0" baseline="0" smtClean="0">
                          <a:ln>
                            <a:noFill/>
                          </a:ln>
                          <a:solidFill>
                            <a:schemeClr val="tx1"/>
                          </a:solidFill>
                          <a:effectLst/>
                          <a:latin typeface="Arial" charset="0"/>
                          <a:cs typeface="Times New Roman" pitchFamily="18" charset="0"/>
                        </a:rPr>
                        <a:t> 24</a:t>
                      </a:r>
                      <a:r>
                        <a:rPr kumimoji="0" lang="ru-RU" sz="2400" b="0" i="0" u="none" strike="noStrike" cap="none" normalizeH="0" baseline="0" smtClean="0">
                          <a:ln>
                            <a:noFill/>
                          </a:ln>
                          <a:solidFill>
                            <a:schemeClr val="tx1"/>
                          </a:solidFill>
                          <a:effectLst/>
                          <a:latin typeface="Arial" charset="0"/>
                          <a:cs typeface="Times New Roman" pitchFamily="18" charset="0"/>
                        </a:rPr>
                        <a:t> гуруҳда</a:t>
                      </a:r>
                      <a:endParaRPr kumimoji="0" lang="ru-RU" sz="2400" b="0" i="0" u="none" strike="noStrike" cap="none" normalizeH="0" baseline="0" smtClean="0">
                        <a:ln>
                          <a:noFill/>
                        </a:ln>
                        <a:solidFill>
                          <a:schemeClr val="tx1"/>
                        </a:solidFill>
                        <a:effectLst/>
                        <a:latin typeface="Arial" charset="0"/>
                      </a:endParaRPr>
                    </a:p>
                  </a:txBody>
                  <a:tcPr horzOverflow="overflow">
                    <a:lnL cap="flat">
                      <a:noFill/>
                    </a:lnL>
                    <a:lnR>
                      <a:noFill/>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“К”-“В”</a:t>
                      </a:r>
                      <a:endParaRPr kumimoji="0" lang="ru-RU" sz="2400" b="0" i="0" u="none" strike="noStrike" cap="none" normalizeH="0" baseline="0" smtClean="0">
                        <a:ln>
                          <a:noFill/>
                        </a:ln>
                        <a:solidFill>
                          <a:schemeClr val="tx1"/>
                        </a:solidFill>
                        <a:effectLst/>
                        <a:latin typeface="Arial" charset="0"/>
                      </a:endParaRPr>
                    </a:p>
                  </a:txBody>
                  <a:tcPr horzOverflow="overflow">
                    <a:lnL>
                      <a:noFill/>
                    </a:lnL>
                    <a:lnR cap="flat">
                      <a:noFill/>
                    </a:lnR>
                    <a:lnT>
                      <a:noFill/>
                    </a:lnT>
                    <a:lnB cap="flat">
                      <a:noFill/>
                    </a:lnB>
                    <a:lnTlToBr>
                      <a:noFill/>
                    </a:lnTlToBr>
                    <a:lnBlToTr>
                      <a:noFill/>
                    </a:lnBlToTr>
                    <a:noFill/>
                  </a:tcPr>
                </a:tc>
              </a:tr>
            </a:tbl>
          </a:graphicData>
        </a:graphic>
      </p:graphicFrame>
    </p:spTree>
  </p:cSld>
  <p:clrMapOvr>
    <a:masterClrMapping/>
  </p:clrMapOvr>
  <p:transition>
    <p:cover dir="l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457200" y="1268413"/>
            <a:ext cx="8229600" cy="4857750"/>
          </a:xfrm>
        </p:spPr>
        <p:txBody>
          <a:bodyPr/>
          <a:lstStyle/>
          <a:p>
            <a:pPr eaLnBrk="1" hangingPunct="1"/>
            <a:r>
              <a:rPr lang="ru-RU" sz="2800" smtClean="0"/>
              <a:t>РУСЬ ИЗДАВНА ВЕЛА ТОРГОВЛЮ С ВОСТОЧНЫМИ СТРАНАМИ ЖЕЛАЯ ПОЛУЧИТЬ РАЗРЕШЕНИЕ ЕЗДИТЬ ЧЕРЕЗ РУССКИЕ ЗЕМЛИ В ПЕРСИЮ ИНДИЮ БУХАРУ И ДЛЯ ОТЫСКАНИЯ ПУТИ В К ИТАЙ АНГЛИЙСКИЙ ПОСОЛ ПОВЕДАЛ ЦАРЮ МОСКОВСКОМУ ЧТО ДРАГОЦЕННОСТИ ПЕРЕВОЗИМ ЫЕ КУПЦАМИ ИЗ СТРАНЫ В СТРАНУ ОСТАВЛЯЮТ НА ПУТИ ЗОЛОТЫЕ СЛЕДЫ РУССКИЕ ПРЕК </a:t>
            </a:r>
          </a:p>
        </p:txBody>
      </p:sp>
    </p:spTree>
  </p:cSld>
  <p:clrMapOvr>
    <a:masterClrMapping/>
  </p:clrMapOvr>
  <p:transition>
    <p:cover dir="l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3"/>
          <p:cNvSpPr>
            <a:spLocks noGrp="1" noChangeArrowheads="1"/>
          </p:cNvSpPr>
          <p:nvPr>
            <p:ph idx="1"/>
          </p:nvPr>
        </p:nvSpPr>
        <p:spPr>
          <a:xfrm>
            <a:off x="457200" y="692150"/>
            <a:ext cx="8229600" cy="5434013"/>
          </a:xfrm>
        </p:spPr>
        <p:txBody>
          <a:bodyPr>
            <a:normAutofit/>
          </a:bodyPr>
          <a:lstStyle/>
          <a:p>
            <a:pPr eaLnBrk="1" hangingPunct="1">
              <a:lnSpc>
                <a:spcPct val="90000"/>
              </a:lnSpc>
            </a:pPr>
            <a:r>
              <a:rPr lang="uz-Cyrl-UZ" sz="2400" smtClean="0"/>
              <a:t>Ҳосил бўлган матн билан криптограмма ўртасидаги фарқ орқали  “ШЦПЬЫДВФЛЮФОАРНЧЯМЭТЗБЭИЯМС ШК” калит сўз ҳосил бўлади</a:t>
            </a:r>
            <a:r>
              <a:rPr lang="uz-Cyrl-UZ" sz="2400" b="1" smtClean="0"/>
              <a:t>. </a:t>
            </a:r>
            <a:r>
              <a:rPr lang="uz-Cyrl-UZ" sz="2400" smtClean="0"/>
              <a:t>Бу калит сўзни бошланғич калит сўзлар ёйилмаси кўринишида тасвирлаш мумкин. Бунинг учун 2.2.3 формулани эсга олиш кифоя. Ташкил этувчи калит  циклик такрорланувчи бошланғич калитлар йиғиндисидан иборат. Унинг узунлиги бошланғич калитларнинг энг кичик умумий карралисига тенг. Бошланғич калитларнинг узунликлари ўзаро туб бўлса, у ҳолда ташкил этувчи калитнинг узунлиги уларнинг кўпайтмасига тенг.</a:t>
            </a:r>
          </a:p>
          <a:p>
            <a:pPr eaLnBrk="1" hangingPunct="1">
              <a:lnSpc>
                <a:spcPct val="90000"/>
              </a:lnSpc>
              <a:buFontTx/>
              <a:buNone/>
            </a:pPr>
            <a:r>
              <a:rPr lang="uz-Cyrl-UZ" sz="2400" smtClean="0"/>
              <a:t>Ташкил этувчи калит қуйидагича бўлсин:K = K1K2...K30</a:t>
            </a:r>
          </a:p>
          <a:p>
            <a:pPr eaLnBrk="1" hangingPunct="1">
              <a:lnSpc>
                <a:spcPct val="90000"/>
              </a:lnSpc>
              <a:buFontTx/>
              <a:buNone/>
            </a:pPr>
            <a:r>
              <a:rPr lang="uz-Cyrl-UZ" sz="2400" smtClean="0"/>
              <a:t>Биринчи бошланғич калит:  K1 = K1,1K1,2...K1,5 ,</a:t>
            </a:r>
          </a:p>
          <a:p>
            <a:pPr eaLnBrk="1" hangingPunct="1">
              <a:lnSpc>
                <a:spcPct val="90000"/>
              </a:lnSpc>
              <a:buFontTx/>
              <a:buNone/>
            </a:pPr>
            <a:r>
              <a:rPr lang="uz-Cyrl-UZ" sz="2400" smtClean="0"/>
              <a:t>Иккинчи бошланғич калит: K2 = K2,1K2,2...K2,6 . бўлсин.</a:t>
            </a:r>
            <a:endParaRPr lang="ru-RU" sz="2400" smtClean="0"/>
          </a:p>
        </p:txBody>
      </p:sp>
    </p:spTree>
  </p:cSld>
  <p:clrMapOvr>
    <a:masterClrMapping/>
  </p:clrMapOvr>
  <p:transition>
    <p:cover dir="l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a:bodyPr>
          <a:lstStyle/>
          <a:p>
            <a:pPr eaLnBrk="1" hangingPunct="1"/>
            <a:r>
              <a:rPr lang="uz-Cyrl-UZ" sz="2400" smtClean="0"/>
              <a:t>Бошланғич калитларнинг қийматини ҳисоблаб топиш учун қуйидаги тенгликларни ечиб чиқиш керак бўлади</a:t>
            </a:r>
            <a:r>
              <a:rPr lang="uz-Cyrl-UZ" sz="4000" smtClean="0"/>
              <a:t>:</a:t>
            </a:r>
            <a:endParaRPr lang="ru-RU" sz="4000" smtClean="0"/>
          </a:p>
        </p:txBody>
      </p:sp>
      <p:sp>
        <p:nvSpPr>
          <p:cNvPr id="18435" name="Rectangle 3"/>
          <p:cNvSpPr>
            <a:spLocks noGrp="1" noChangeArrowheads="1"/>
          </p:cNvSpPr>
          <p:nvPr>
            <p:ph idx="1"/>
          </p:nvPr>
        </p:nvSpPr>
        <p:spPr/>
        <p:txBody>
          <a:bodyPr>
            <a:normAutofit fontScale="85000" lnSpcReduction="20000"/>
          </a:bodyPr>
          <a:lstStyle/>
          <a:p>
            <a:pPr eaLnBrk="1" hangingPunct="1">
              <a:lnSpc>
                <a:spcPct val="90000"/>
              </a:lnSpc>
            </a:pPr>
            <a:r>
              <a:rPr lang="uz-Cyrl-UZ" sz="2800" smtClean="0"/>
              <a:t>ШЦПЬЫДВФЛЮФОАРНЧЯМЭТЗБЭИЯМС ШК</a:t>
            </a:r>
          </a:p>
          <a:p>
            <a:pPr eaLnBrk="1" hangingPunct="1">
              <a:lnSpc>
                <a:spcPct val="90000"/>
              </a:lnSpc>
            </a:pPr>
            <a:r>
              <a:rPr lang="uz-Cyrl-UZ" sz="2800" smtClean="0"/>
              <a:t>K1,1 + K2,1 = 24 (“Ш”)</a:t>
            </a:r>
          </a:p>
          <a:p>
            <a:pPr eaLnBrk="1" hangingPunct="1">
              <a:lnSpc>
                <a:spcPct val="90000"/>
              </a:lnSpc>
            </a:pPr>
            <a:r>
              <a:rPr lang="uz-Cyrl-UZ" sz="2800" smtClean="0"/>
              <a:t>K1,2 + K2,2 = 22 (“Ц”)</a:t>
            </a:r>
          </a:p>
          <a:p>
            <a:pPr eaLnBrk="1" hangingPunct="1">
              <a:lnSpc>
                <a:spcPct val="90000"/>
              </a:lnSpc>
            </a:pPr>
            <a:r>
              <a:rPr lang="uz-Cyrl-UZ" sz="2800" smtClean="0"/>
              <a:t>K1,3 + K2,3 = 15 (“П”)</a:t>
            </a:r>
          </a:p>
          <a:p>
            <a:pPr eaLnBrk="1" hangingPunct="1">
              <a:lnSpc>
                <a:spcPct val="90000"/>
              </a:lnSpc>
            </a:pPr>
            <a:r>
              <a:rPr lang="uz-Cyrl-UZ" sz="2800" smtClean="0"/>
              <a:t>K1,4 + K2,4 = 27 (“Ь”)</a:t>
            </a:r>
          </a:p>
          <a:p>
            <a:pPr eaLnBrk="1" hangingPunct="1">
              <a:lnSpc>
                <a:spcPct val="90000"/>
              </a:lnSpc>
            </a:pPr>
            <a:r>
              <a:rPr lang="en-US" sz="2800" smtClean="0"/>
              <a:t>K</a:t>
            </a:r>
            <a:r>
              <a:rPr lang="ru-RU" sz="2800" smtClean="0"/>
              <a:t>1,5 + </a:t>
            </a:r>
            <a:r>
              <a:rPr lang="en-US" sz="2800" smtClean="0"/>
              <a:t>K</a:t>
            </a:r>
            <a:r>
              <a:rPr lang="ru-RU" sz="2800" smtClean="0"/>
              <a:t>2,5 = 26 (“Ы”)</a:t>
            </a:r>
            <a:endParaRPr lang="en-US" sz="2800" smtClean="0"/>
          </a:p>
          <a:p>
            <a:pPr eaLnBrk="1" hangingPunct="1">
              <a:lnSpc>
                <a:spcPct val="90000"/>
              </a:lnSpc>
            </a:pPr>
            <a:r>
              <a:rPr lang="en-US" sz="2800" smtClean="0"/>
              <a:t>K</a:t>
            </a:r>
            <a:r>
              <a:rPr lang="ru-RU" sz="2800" smtClean="0"/>
              <a:t>1,1 + </a:t>
            </a:r>
            <a:r>
              <a:rPr lang="en-US" sz="2800" smtClean="0"/>
              <a:t>K</a:t>
            </a:r>
            <a:r>
              <a:rPr lang="ru-RU" sz="2800" smtClean="0"/>
              <a:t>2,6 =  4 (“Д”)</a:t>
            </a:r>
            <a:endParaRPr lang="uz-Cyrl-UZ" sz="2800" smtClean="0"/>
          </a:p>
          <a:p>
            <a:pPr eaLnBrk="1" hangingPunct="1">
              <a:lnSpc>
                <a:spcPct val="90000"/>
              </a:lnSpc>
            </a:pPr>
            <a:r>
              <a:rPr lang="uz-Cyrl-UZ" sz="2800" smtClean="0"/>
              <a:t>..................................</a:t>
            </a:r>
          </a:p>
          <a:p>
            <a:pPr eaLnBrk="1" hangingPunct="1">
              <a:lnSpc>
                <a:spcPct val="90000"/>
              </a:lnSpc>
            </a:pPr>
            <a:r>
              <a:rPr lang="uz-Cyrl-UZ" sz="2800" smtClean="0"/>
              <a:t>K1,5 + K2,6 = 10 (“К”)</a:t>
            </a:r>
            <a:endParaRPr lang="ru-RU" sz="2800" smtClean="0"/>
          </a:p>
        </p:txBody>
      </p:sp>
    </p:spTree>
  </p:cSld>
  <p:clrMapOvr>
    <a:masterClrMapping/>
  </p:clrMapOvr>
  <p:transition>
    <p:cover dir="l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3"/>
          <p:cNvSpPr>
            <a:spLocks noGrp="1" noChangeArrowheads="1"/>
          </p:cNvSpPr>
          <p:nvPr>
            <p:ph idx="1"/>
          </p:nvPr>
        </p:nvSpPr>
        <p:spPr>
          <a:xfrm>
            <a:off x="468313" y="692150"/>
            <a:ext cx="8229600" cy="4525963"/>
          </a:xfrm>
        </p:spPr>
        <p:txBody>
          <a:bodyPr/>
          <a:lstStyle/>
          <a:p>
            <a:pPr eaLnBrk="1" hangingPunct="1">
              <a:lnSpc>
                <a:spcPct val="90000"/>
              </a:lnSpc>
            </a:pPr>
            <a:r>
              <a:rPr lang="ru-RU" smtClean="0"/>
              <a:t>Бу </a:t>
            </a:r>
            <a:r>
              <a:rPr lang="uz-Cyrl-UZ" smtClean="0"/>
              <a:t>тенгламалар системасида 11 та ноъмалум ва 10 та бир-бирига боғлиқ бўлмаган тенгламалар бор. Ҳамма ўзгарувчиларни битта ўзгарувчи орқали ифодалаб, бу ўзгарувчи 0 дан 31 гача бўлган сонларни қабул қилади, бошланғич калитлар тикланади. Юқоридаги мисолдаги бошланғич калитлар қуйидагилардан иборат эди:  “ДОМИК”</a:t>
            </a:r>
            <a:r>
              <a:rPr lang="uz-Cyrl-UZ" b="1" smtClean="0"/>
              <a:t> </a:t>
            </a:r>
            <a:r>
              <a:rPr lang="uz-Cyrl-UZ" smtClean="0"/>
              <a:t>ва</a:t>
            </a:r>
            <a:r>
              <a:rPr lang="uz-Cyrl-UZ" b="1" smtClean="0"/>
              <a:t> </a:t>
            </a:r>
            <a:r>
              <a:rPr lang="uz-Cyrl-UZ" smtClean="0"/>
              <a:t>“ФИГУРА”</a:t>
            </a:r>
            <a:r>
              <a:rPr lang="uz-Cyrl-UZ" b="1" smtClean="0"/>
              <a:t>.</a:t>
            </a:r>
            <a:endParaRPr lang="ru-RU" b="1" smtClean="0"/>
          </a:p>
        </p:txBody>
      </p:sp>
    </p:spTree>
  </p:cSld>
  <p:clrMapOvr>
    <a:masterClrMapping/>
  </p:clrMapOvr>
  <p:transition>
    <p:cover dir="l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uz-Cyrl-UZ" smtClean="0"/>
              <a:t>Эҳтимоллик сўз усули</a:t>
            </a:r>
            <a:endParaRPr lang="ru-RU" smtClean="0"/>
          </a:p>
        </p:txBody>
      </p:sp>
      <p:sp>
        <p:nvSpPr>
          <p:cNvPr id="20483" name="Rectangle 3"/>
          <p:cNvSpPr>
            <a:spLocks noGrp="1" noChangeArrowheads="1"/>
          </p:cNvSpPr>
          <p:nvPr>
            <p:ph idx="1"/>
          </p:nvPr>
        </p:nvSpPr>
        <p:spPr/>
        <p:txBody>
          <a:bodyPr>
            <a:normAutofit lnSpcReduction="10000"/>
          </a:bodyPr>
          <a:lstStyle/>
          <a:p>
            <a:pPr eaLnBrk="1" hangingPunct="1"/>
            <a:r>
              <a:rPr lang="uz-Cyrl-UZ" sz="2800" smtClean="0"/>
              <a:t>Мисол сифатида қуйидаги криптограмма келтирилган бўлсин: «ВАС_ЦГПОРГ_ СРРЦФРЯГЯСВЬЯЧНГЫШХФЭУФ_ЬКАСТАХАНЯХЦЕРЩЦЫНТСОВВТРК». </a:t>
            </a:r>
          </a:p>
          <a:p>
            <a:pPr eaLnBrk="1" hangingPunct="1"/>
            <a:r>
              <a:rPr lang="uz-Cyrl-UZ" sz="2800" smtClean="0"/>
              <a:t> Бу криптограмманинг криптология фанига тегишли эканлиги маълум деб қаралса, у холда очиқ матнда  “сообшения”, “перебор”, “ключ”, “шифр”, “атака”, “основа”, “текст” каби сўзлардан албатта биронтаси учраши мумкин деган хулосага келиш мумкин.</a:t>
            </a:r>
            <a:endParaRPr lang="ru-RU" sz="2800" smtClean="0"/>
          </a:p>
        </p:txBody>
      </p:sp>
    </p:spTree>
  </p:cSld>
  <p:clrMapOvr>
    <a:masterClrMapping/>
  </p:clrMapOvr>
  <p:transition>
    <p:cover dir="l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3"/>
          <p:cNvSpPr>
            <a:spLocks noGrp="1" noChangeArrowheads="1"/>
          </p:cNvSpPr>
          <p:nvPr>
            <p:ph idx="1"/>
          </p:nvPr>
        </p:nvSpPr>
        <p:spPr>
          <a:xfrm>
            <a:off x="457200" y="836613"/>
            <a:ext cx="8507413" cy="5289550"/>
          </a:xfrm>
        </p:spPr>
        <p:txBody>
          <a:bodyPr>
            <a:normAutofit fontScale="92500" lnSpcReduction="20000"/>
          </a:bodyPr>
          <a:lstStyle/>
          <a:p>
            <a:pPr eaLnBrk="1" hangingPunct="1">
              <a:lnSpc>
                <a:spcPct val="80000"/>
              </a:lnSpc>
            </a:pPr>
            <a:r>
              <a:rPr lang="uz-Cyrl-UZ" sz="2000" smtClean="0"/>
              <a:t>ВАС_ЦГПОРГ_СРРЦФРЯГЯСВЬЯЧНГЫШХФЭУФ_ЬКАСТАХАНЯХ</a:t>
            </a:r>
          </a:p>
          <a:p>
            <a:pPr eaLnBrk="1" hangingPunct="1">
              <a:lnSpc>
                <a:spcPct val="80000"/>
              </a:lnSpc>
            </a:pPr>
            <a:r>
              <a:rPr lang="uz-Cyrl-UZ" sz="2000" smtClean="0"/>
              <a:t>--------------ПЕРЕБОР------------------------------------------------------------------</a:t>
            </a:r>
          </a:p>
          <a:p>
            <a:pPr eaLnBrk="1" hangingPunct="1">
              <a:lnSpc>
                <a:spcPct val="80000"/>
              </a:lnSpc>
            </a:pPr>
            <a:r>
              <a:rPr lang="uz-Cyrl-UZ" sz="2000" smtClean="0"/>
              <a:t>--------------ЗЕАЩВРБ------------------------------------------------------------------</a:t>
            </a:r>
          </a:p>
          <a:p>
            <a:pPr eaLnBrk="1" hangingPunct="1">
              <a:lnSpc>
                <a:spcPct val="80000"/>
              </a:lnSpc>
            </a:pPr>
            <a:endParaRPr lang="uz-Cyrl-UZ" sz="2000" smtClean="0"/>
          </a:p>
          <a:p>
            <a:pPr eaLnBrk="1" hangingPunct="1">
              <a:lnSpc>
                <a:spcPct val="80000"/>
              </a:lnSpc>
            </a:pPr>
            <a:r>
              <a:rPr lang="uz-Cyrl-UZ" sz="2000" smtClean="0"/>
              <a:t>Бажарилган амал натижасида маъноли сўзга эришилмади, демак жараённи яна давом эттириш керак.</a:t>
            </a:r>
          </a:p>
          <a:p>
            <a:pPr eaLnBrk="1" hangingPunct="1">
              <a:lnSpc>
                <a:spcPct val="80000"/>
              </a:lnSpc>
            </a:pPr>
            <a:r>
              <a:rPr lang="uz-Cyrl-UZ" sz="2000" smtClean="0"/>
              <a:t>ВАС_ЦГПОРГ_СРРЦФРЯГЯСВЬЯЧНГЫШХФЭУФ_ЬКАСТАХАНЯХ</a:t>
            </a:r>
          </a:p>
          <a:p>
            <a:pPr eaLnBrk="1" hangingPunct="1">
              <a:lnSpc>
                <a:spcPct val="80000"/>
              </a:lnSpc>
            </a:pPr>
            <a:r>
              <a:rPr lang="uz-Cyrl-UZ" sz="2000" smtClean="0"/>
              <a:t>АТАКА-------------------------------------------------------------------------------------</a:t>
            </a:r>
          </a:p>
          <a:p>
            <a:pPr eaLnBrk="1" hangingPunct="1">
              <a:lnSpc>
                <a:spcPct val="80000"/>
              </a:lnSpc>
            </a:pPr>
            <a:r>
              <a:rPr lang="uz-Cyrl-UZ" sz="2000" smtClean="0"/>
              <a:t>ВОСХ--------------------------------------------------------------------------------------</a:t>
            </a:r>
          </a:p>
          <a:p>
            <a:pPr eaLnBrk="1" hangingPunct="1">
              <a:lnSpc>
                <a:spcPct val="80000"/>
              </a:lnSpc>
            </a:pPr>
            <a:endParaRPr lang="uz-Cyrl-UZ" sz="2000" smtClean="0"/>
          </a:p>
          <a:p>
            <a:pPr eaLnBrk="1" hangingPunct="1">
              <a:lnSpc>
                <a:spcPct val="80000"/>
              </a:lnSpc>
            </a:pPr>
            <a:r>
              <a:rPr lang="uz-Cyrl-UZ" sz="2000" smtClean="0"/>
              <a:t>ВАС_ЦГПОРГ_СРРЦФРЯГЯСВЬЯЧНГЫШХФЭУФ_ЬКАСТАХАНЯХ</a:t>
            </a:r>
          </a:p>
          <a:p>
            <a:pPr eaLnBrk="1" hangingPunct="1">
              <a:lnSpc>
                <a:spcPct val="80000"/>
              </a:lnSpc>
            </a:pPr>
            <a:r>
              <a:rPr lang="uz-Cyrl-UZ" sz="2000" smtClean="0"/>
              <a:t>-----------------ОСНОВА---------------------------------------------------------------------------------ХОДВОС---------------------------------------------------------------</a:t>
            </a:r>
          </a:p>
          <a:p>
            <a:pPr eaLnBrk="1" hangingPunct="1">
              <a:lnSpc>
                <a:spcPct val="80000"/>
              </a:lnSpc>
            </a:pPr>
            <a:r>
              <a:rPr lang="uz-Cyrl-UZ" sz="2000" smtClean="0"/>
              <a:t> Шу тариқа тахлилни  давом эттириб калит сўз “ВОСХОД”  эканлигини аниқлаш мумкин, Тикланган калит ёрдамида шифрограммани дешифрлаб, «Атаки на основе выбранных текстов считаются наиболее опасными» кўринишдаги очиқ матн ҳосил қилинади. 		</a:t>
            </a:r>
            <a:endParaRPr lang="ru-RU" sz="2000" smtClean="0"/>
          </a:p>
        </p:txBody>
      </p:sp>
    </p:spTree>
  </p:cSld>
  <p:clrMapOvr>
    <a:masterClrMapping/>
  </p:clrMapOvr>
  <p:transition>
    <p:cover dir="ld"/>
  </p:transition>
  <p:timing>
    <p:tnLst>
      <p:par>
        <p:cTn id="1" dur="indefinite" restart="never" nodeType="tmRoot"/>
      </p:par>
    </p:tnLst>
  </p:timing>
</p:sld>
</file>

<file path=ppt/theme/theme1.xml><?xml version="1.0" encoding="utf-8"?>
<a:theme xmlns:a="http://schemas.openxmlformats.org/drawingml/2006/main" name="Ретро">
  <a:themeElements>
    <a:clrScheme name="Ретр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Ретр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Ретр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4381</TotalTime>
  <Words>1669</Words>
  <Application>Microsoft Office PowerPoint</Application>
  <PresentationFormat>Экран (4:3)</PresentationFormat>
  <Paragraphs>321</Paragraphs>
  <Slides>20</Slides>
  <Notes>20</Notes>
  <HiddenSlides>0</HiddenSlides>
  <MMClips>0</MMClips>
  <ScaleCrop>false</ScaleCrop>
  <HeadingPairs>
    <vt:vector size="8" baseType="variant">
      <vt:variant>
        <vt:lpstr>Использованные шрифты</vt:lpstr>
      </vt:variant>
      <vt:variant>
        <vt:i4>6</vt:i4>
      </vt:variant>
      <vt:variant>
        <vt:lpstr>Тема</vt:lpstr>
      </vt:variant>
      <vt:variant>
        <vt:i4>1</vt:i4>
      </vt:variant>
      <vt:variant>
        <vt:lpstr>Внедренные серверы OLE</vt:lpstr>
      </vt:variant>
      <vt:variant>
        <vt:i4>1</vt:i4>
      </vt:variant>
      <vt:variant>
        <vt:lpstr>Заголовки слайдов</vt:lpstr>
      </vt:variant>
      <vt:variant>
        <vt:i4>20</vt:i4>
      </vt:variant>
    </vt:vector>
  </HeadingPairs>
  <TitlesOfParts>
    <vt:vector size="28" baseType="lpstr">
      <vt:lpstr>Arial</vt:lpstr>
      <vt:lpstr>Calibri</vt:lpstr>
      <vt:lpstr>Calibri Light</vt:lpstr>
      <vt:lpstr>Courier New</vt:lpstr>
      <vt:lpstr>Symbol</vt:lpstr>
      <vt:lpstr>Times New Roman</vt:lpstr>
      <vt:lpstr>Ретро</vt:lpstr>
      <vt:lpstr>Формула</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Казиски усули</vt:lpstr>
      <vt:lpstr>Презентация PowerPoint</vt:lpstr>
      <vt:lpstr>Кўп ҳалқали кўп алфавитли ўрнига қўйиш </vt:lpstr>
      <vt:lpstr>Презентация PowerPoint</vt:lpstr>
      <vt:lpstr>Бир нечта калитли кўп алфавитли ўрнига қўйиш шифри билан шифрланган криптограммаларни дешифрлаш.</vt:lpstr>
      <vt:lpstr>Бунинг учун Казиски ва мослик индекси усулларидан фойдаланиш яхши самара беради. Мослик индекси ушбу криптограммада 0.0321 га тенг. Жадвал бўйича, шифр калитининг узунлиги ўндан катта. Казиски усули ёрдамида бир хил бўлган кетма-кет  символлар орасидаги масофалар ва уларнинг неча марта учрашишлари ҳисобланиб,  жадвал тузилади. Бир  хил бўлган кетма-кет  символлар вазни (криптограммадаги учрашлар сони)нинг қайси бири  катта бўлса, ўша бир  хил бўлган кетма-кет  символлар орасидаги масофа криптограмманинг даврига тенг бўлиши мумкин.  </vt:lpstr>
      <vt:lpstr>Презентация PowerPoint</vt:lpstr>
      <vt:lpstr>Презентация PowerPoint</vt:lpstr>
      <vt:lpstr>Презентация PowerPoint</vt:lpstr>
      <vt:lpstr>Презентация PowerPoint</vt:lpstr>
      <vt:lpstr>Бошланғич калитларнинг қийматини ҳисоблаб топиш учун қуйидаги тенгликларни ечиб чиқиш керак бўлади:</vt:lpstr>
      <vt:lpstr>Презентация PowerPoint</vt:lpstr>
      <vt:lpstr>Эҳтимоллик сўз усули</vt:lpstr>
      <vt:lpstr>Презентация PowerPoint</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РАДИОЭЛЕКТРОН ТИЗИМЛАР ВА АХБОРОТ ТЕХНОЛОГИЯЛАРИ МАРКАЗИ</dc:title>
  <dc:creator>Bahodir</dc:creator>
  <cp:lastModifiedBy>Microsoft Office</cp:lastModifiedBy>
  <cp:revision>322</cp:revision>
  <dcterms:created xsi:type="dcterms:W3CDTF">2006-10-31T10:26:55Z</dcterms:created>
  <dcterms:modified xsi:type="dcterms:W3CDTF">2024-03-20T03:59:21Z</dcterms:modified>
</cp:coreProperties>
</file>