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313" r:id="rId7"/>
    <p:sldId id="354" r:id="rId8"/>
    <p:sldId id="332" r:id="rId9"/>
    <p:sldId id="333" r:id="rId10"/>
    <p:sldId id="284" r:id="rId11"/>
    <p:sldId id="363" r:id="rId12"/>
    <p:sldId id="335" r:id="rId13"/>
    <p:sldId id="336" r:id="rId14"/>
    <p:sldId id="337" r:id="rId15"/>
    <p:sldId id="338" r:id="rId16"/>
    <p:sldId id="339" r:id="rId17"/>
    <p:sldId id="340" r:id="rId18"/>
    <p:sldId id="343" r:id="rId19"/>
    <p:sldId id="358" r:id="rId20"/>
    <p:sldId id="345" r:id="rId21"/>
    <p:sldId id="364" r:id="rId22"/>
    <p:sldId id="365" r:id="rId23"/>
    <p:sldId id="366" r:id="rId24"/>
    <p:sldId id="367" r:id="rId25"/>
    <p:sldId id="352" r:id="rId26"/>
    <p:sldId id="314" r:id="rId27"/>
    <p:sldId id="290" r:id="rId28"/>
    <p:sldId id="315" r:id="rId29"/>
    <p:sldId id="321" r:id="rId30"/>
    <p:sldId id="322" r:id="rId31"/>
    <p:sldId id="328" r:id="rId32"/>
    <p:sldId id="362" r:id="rId33"/>
    <p:sldId id="329" r:id="rId34"/>
    <p:sldId id="361" r:id="rId35"/>
    <p:sldId id="304" r:id="rId36"/>
    <p:sldId id="355" r:id="rId37"/>
    <p:sldId id="357" r:id="rId38"/>
    <p:sldId id="341" r:id="rId39"/>
    <p:sldId id="342" r:id="rId40"/>
    <p:sldId id="356" r:id="rId41"/>
    <p:sldId id="360" r:id="rId42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71BCF"/>
    <a:srgbClr val="FF6699"/>
    <a:srgbClr val="FF3399"/>
    <a:srgbClr val="1C940C"/>
    <a:srgbClr val="007043"/>
    <a:srgbClr val="00FF00"/>
    <a:srgbClr val="0AA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4B1156A-380E-4F78-BDF5-A606A8083BF9}" styleName="Средний стиль 4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Стиль из темы 2 - акцент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14" autoAdjust="0"/>
  </p:normalViewPr>
  <p:slideViewPr>
    <p:cSldViewPr>
      <p:cViewPr>
        <p:scale>
          <a:sx n="75" d="100"/>
          <a:sy n="75" d="100"/>
        </p:scale>
        <p:origin x="-780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E4223-20C2-4FDD-A790-7723ACDF567E}" type="datetimeFigureOut">
              <a:rPr lang="ru-RU" smtClean="0"/>
              <a:pPr/>
              <a:t>30.05.2012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177C9-29DD-47B9-8F18-576141E33D9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4758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A177C9-29DD-47B9-8F18-576141E33D90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A177C9-29DD-47B9-8F18-576141E33D90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5/30/2012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6.bin"/><Relationship Id="rId7" Type="http://schemas.openxmlformats.org/officeDocument/2006/relationships/slide" Target="slide7.xml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slide" Target="slide12.xml"/><Relationship Id="rId11" Type="http://schemas.openxmlformats.org/officeDocument/2006/relationships/oleObject" Target="../embeddings/oleObject10.bin"/><Relationship Id="rId5" Type="http://schemas.openxmlformats.org/officeDocument/2006/relationships/slide" Target="slide14.xml"/><Relationship Id="rId10" Type="http://schemas.openxmlformats.org/officeDocument/2006/relationships/oleObject" Target="../embeddings/oleObject9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3.bin"/><Relationship Id="rId18" Type="http://schemas.openxmlformats.org/officeDocument/2006/relationships/oleObject" Target="../embeddings/oleObject28.bin"/><Relationship Id="rId26" Type="http://schemas.openxmlformats.org/officeDocument/2006/relationships/oleObject" Target="../embeddings/oleObject36.bin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2.bin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6.bin"/><Relationship Id="rId11" Type="http://schemas.openxmlformats.org/officeDocument/2006/relationships/oleObject" Target="../embeddings/oleObject21.bin"/><Relationship Id="rId24" Type="http://schemas.openxmlformats.org/officeDocument/2006/relationships/oleObject" Target="../embeddings/oleObject34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33.bin"/><Relationship Id="rId10" Type="http://schemas.openxmlformats.org/officeDocument/2006/relationships/oleObject" Target="../embeddings/oleObject20.bin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9.bin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32.bin"/><Relationship Id="rId27" Type="http://schemas.openxmlformats.org/officeDocument/2006/relationships/oleObject" Target="../embeddings/oleObject3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39.bin"/><Relationship Id="rId10" Type="http://schemas.openxmlformats.org/officeDocument/2006/relationships/oleObject" Target="../embeddings/oleObject43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oleObject" Target="../embeddings/oleObject51.bin"/><Relationship Id="rId18" Type="http://schemas.openxmlformats.org/officeDocument/2006/relationships/oleObject" Target="../embeddings/oleObject56.bin"/><Relationship Id="rId26" Type="http://schemas.openxmlformats.org/officeDocument/2006/relationships/oleObject" Target="../embeddings/oleObject64.bin"/><Relationship Id="rId3" Type="http://schemas.openxmlformats.org/officeDocument/2006/relationships/slide" Target="slide36.xml"/><Relationship Id="rId21" Type="http://schemas.openxmlformats.org/officeDocument/2006/relationships/oleObject" Target="../embeddings/oleObject59.bin"/><Relationship Id="rId34" Type="http://schemas.openxmlformats.org/officeDocument/2006/relationships/oleObject" Target="../embeddings/oleObject72.bin"/><Relationship Id="rId7" Type="http://schemas.openxmlformats.org/officeDocument/2006/relationships/oleObject" Target="../embeddings/oleObject45.bin"/><Relationship Id="rId12" Type="http://schemas.openxmlformats.org/officeDocument/2006/relationships/oleObject" Target="../embeddings/oleObject50.bin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63.bin"/><Relationship Id="rId33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8.bin"/><Relationship Id="rId29" Type="http://schemas.openxmlformats.org/officeDocument/2006/relationships/oleObject" Target="../embeddings/oleObject6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49.bin"/><Relationship Id="rId24" Type="http://schemas.openxmlformats.org/officeDocument/2006/relationships/oleObject" Target="../embeddings/oleObject62.bin"/><Relationship Id="rId32" Type="http://schemas.openxmlformats.org/officeDocument/2006/relationships/oleObject" Target="../embeddings/oleObject70.bin"/><Relationship Id="rId37" Type="http://schemas.openxmlformats.org/officeDocument/2006/relationships/oleObject" Target="../embeddings/oleObject75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61.bin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74.bin"/><Relationship Id="rId10" Type="http://schemas.openxmlformats.org/officeDocument/2006/relationships/oleObject" Target="../embeddings/oleObject48.bin"/><Relationship Id="rId19" Type="http://schemas.openxmlformats.org/officeDocument/2006/relationships/oleObject" Target="../embeddings/oleObject57.bin"/><Relationship Id="rId31" Type="http://schemas.openxmlformats.org/officeDocument/2006/relationships/oleObject" Target="../embeddings/oleObject69.bin"/><Relationship Id="rId4" Type="http://schemas.openxmlformats.org/officeDocument/2006/relationships/slide" Target="slide37.xml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52.bin"/><Relationship Id="rId22" Type="http://schemas.openxmlformats.org/officeDocument/2006/relationships/oleObject" Target="../embeddings/oleObject60.bin"/><Relationship Id="rId27" Type="http://schemas.openxmlformats.org/officeDocument/2006/relationships/oleObject" Target="../embeddings/oleObject65.bin"/><Relationship Id="rId30" Type="http://schemas.openxmlformats.org/officeDocument/2006/relationships/oleObject" Target="../embeddings/oleObject68.bin"/><Relationship Id="rId35" Type="http://schemas.openxmlformats.org/officeDocument/2006/relationships/oleObject" Target="../embeddings/oleObject73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8.bin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77.bin"/><Relationship Id="rId10" Type="http://schemas.openxmlformats.org/officeDocument/2006/relationships/oleObject" Target="../embeddings/oleObject82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8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.bin"/><Relationship Id="rId3" Type="http://schemas.openxmlformats.org/officeDocument/2006/relationships/image" Target="../media/image13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7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6.bin"/><Relationship Id="rId9" Type="http://schemas.openxmlformats.org/officeDocument/2006/relationships/oleObject" Target="../embeddings/oleObject8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0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1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10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6.bin"/><Relationship Id="rId5" Type="http://schemas.openxmlformats.org/officeDocument/2006/relationships/oleObject" Target="../embeddings/oleObject95.bin"/><Relationship Id="rId4" Type="http://schemas.openxmlformats.org/officeDocument/2006/relationships/image" Target="../media/image10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41.xml"/><Relationship Id="rId3" Type="http://schemas.openxmlformats.org/officeDocument/2006/relationships/slide" Target="slide35.xm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slide" Target="slide40.xml"/><Relationship Id="rId9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9.bin"/><Relationship Id="rId5" Type="http://schemas.openxmlformats.org/officeDocument/2006/relationships/slide" Target="slide18.xml"/><Relationship Id="rId4" Type="http://schemas.openxmlformats.org/officeDocument/2006/relationships/image" Target="../media/image1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slide" Target="slide10.xml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26.png"/><Relationship Id="rId9" Type="http://schemas.openxmlformats.org/officeDocument/2006/relationships/slide" Target="slide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7" Type="http://schemas.openxmlformats.org/officeDocument/2006/relationships/image" Target="../media/image27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_____Microsoft_Excel_97-20031.xls"/><Relationship Id="rId5" Type="http://schemas.openxmlformats.org/officeDocument/2006/relationships/oleObject" Target="../embeddings/oleObject102.bin"/><Relationship Id="rId4" Type="http://schemas.openxmlformats.org/officeDocument/2006/relationships/slide" Target="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201488" y="156592"/>
            <a:ext cx="8763000" cy="65127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219200" y="457200"/>
            <a:ext cx="69342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rgbClr val="000000"/>
                </a:solidFill>
                <a:latin typeface="Times New Roman" pitchFamily="18" charset="0"/>
              </a:rPr>
              <a:t>Радиоэлектрон тизимлар ва ахборот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</a:rPr>
              <a:t>т</a:t>
            </a:r>
            <a:r>
              <a:rPr lang="uz-Cyrl-UZ" b="1" dirty="0" smtClean="0">
                <a:solidFill>
                  <a:srgbClr val="000000"/>
                </a:solidFill>
                <a:latin typeface="Times New Roman" pitchFamily="18" charset="0"/>
              </a:rPr>
              <a:t>ехнологиялари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</a:rPr>
              <a:t>м</a:t>
            </a:r>
            <a:r>
              <a:rPr lang="uz-Cyrl-UZ" b="1" dirty="0" smtClean="0">
                <a:solidFill>
                  <a:srgbClr val="000000"/>
                </a:solidFill>
                <a:latin typeface="Times New Roman" pitchFamily="18" charset="0"/>
              </a:rPr>
              <a:t>аркази </a:t>
            </a: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39750" y="1198563"/>
            <a:ext cx="8137525" cy="790575"/>
          </a:xfrm>
          <a:prstGeom prst="rect">
            <a:avLst/>
          </a:prstGeom>
          <a:noFill/>
          <a:ln w="9525">
            <a:noFill/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ru-RU" sz="2000" b="1" dirty="0" err="1">
                <a:solidFill>
                  <a:srgbClr val="3B0076"/>
                </a:solidFill>
                <a:effectLst/>
                <a:latin typeface="Times New Roman" pitchFamily="18" charset="0"/>
              </a:rPr>
              <a:t>Ахборот</a:t>
            </a:r>
            <a:r>
              <a:rPr lang="ru-RU" sz="2000" b="1" dirty="0">
                <a:solidFill>
                  <a:srgbClr val="3B0076"/>
                </a:solidFill>
                <a:effectLst/>
                <a:latin typeface="Times New Roman" pitchFamily="18" charset="0"/>
              </a:rPr>
              <a:t> </a:t>
            </a:r>
            <a:r>
              <a:rPr lang="ru-RU" sz="2000" b="1" dirty="0" err="1">
                <a:solidFill>
                  <a:srgbClr val="3B0076"/>
                </a:solidFill>
                <a:effectLst/>
                <a:latin typeface="Times New Roman" pitchFamily="18" charset="0"/>
              </a:rPr>
              <a:t>хавфсизлиги</a:t>
            </a:r>
            <a:r>
              <a:rPr lang="ru-RU" sz="2000" b="1" dirty="0">
                <a:solidFill>
                  <a:srgbClr val="3B0076"/>
                </a:solidFill>
                <a:effectLst/>
                <a:latin typeface="Times New Roman" pitchFamily="18" charset="0"/>
              </a:rPr>
              <a:t> </a:t>
            </a:r>
            <a:r>
              <a:rPr lang="ru-RU" sz="2000" b="1" dirty="0" err="1">
                <a:solidFill>
                  <a:srgbClr val="3B0076"/>
                </a:solidFill>
                <a:effectLst/>
                <a:latin typeface="Times New Roman" pitchFamily="18" charset="0"/>
              </a:rPr>
              <a:t>й</a:t>
            </a:r>
            <a:r>
              <a:rPr lang="uz-Cyrl-UZ" sz="2000" b="1" dirty="0">
                <a:solidFill>
                  <a:srgbClr val="3B0076"/>
                </a:solidFill>
                <a:effectLst/>
                <a:latin typeface="Times New Roman" pitchFamily="18" charset="0"/>
              </a:rPr>
              <a:t>ў</a:t>
            </a:r>
            <a:r>
              <a:rPr lang="ru-RU" sz="2000" b="1" dirty="0" err="1">
                <a:solidFill>
                  <a:srgbClr val="3B0076"/>
                </a:solidFill>
                <a:effectLst/>
                <a:latin typeface="Times New Roman" pitchFamily="18" charset="0"/>
              </a:rPr>
              <a:t>налиши</a:t>
            </a:r>
            <a:r>
              <a:rPr lang="uz-Cyrl-UZ" sz="2000" b="1" dirty="0">
                <a:solidFill>
                  <a:srgbClr val="3B0076"/>
                </a:solidFill>
                <a:effectLst/>
                <a:latin typeface="Times New Roman" pitchFamily="18" charset="0"/>
              </a:rPr>
              <a:t> бўйича магистрлик даражасидаги</a:t>
            </a:r>
            <a:endParaRPr lang="ru-RU" sz="2000" b="1" dirty="0">
              <a:solidFill>
                <a:srgbClr val="3B0076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447800" y="2133600"/>
            <a:ext cx="61198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uz-Cyrl-UZ" sz="5400" b="1" dirty="0">
                <a:solidFill>
                  <a:srgbClr val="000000"/>
                </a:solidFill>
                <a:effectLst/>
                <a:latin typeface="Times New Roman" pitchFamily="18" charset="0"/>
              </a:rPr>
              <a:t>Диссертация</a:t>
            </a:r>
            <a:endParaRPr lang="ru-RU" sz="5400" b="1" dirty="0">
              <a:solidFill>
                <a:srgbClr val="00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043608" y="3200400"/>
            <a:ext cx="73152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  <a:prstDash val="dashDot"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err="1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Мавзу</a:t>
            </a:r>
            <a:r>
              <a:rPr lang="en-US" sz="2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:</a:t>
            </a:r>
            <a:r>
              <a:rPr lang="en-US" sz="20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алгоритмини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дифференциал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криптотахлил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усулига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бардошлигини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бахолаш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унинг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дастурий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таъминотини</a:t>
            </a:r>
            <a:r>
              <a:rPr lang="ru-RU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яратиш</a:t>
            </a:r>
            <a:endParaRPr lang="ru-RU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Box 154"/>
          <p:cNvSpPr txBox="1">
            <a:spLocks noChangeArrowheads="1"/>
          </p:cNvSpPr>
          <p:nvPr/>
        </p:nvSpPr>
        <p:spPr bwMode="auto">
          <a:xfrm>
            <a:off x="4953000" y="4572000"/>
            <a:ext cx="4981575" cy="9541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uz-Cyrl-UZ" sz="2000" b="1" u="sng" dirty="0">
              <a:effectLst/>
              <a:latin typeface="Arial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uz-Cyrl-UZ" sz="1800" b="1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Илмий раҳбар: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 b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800" b="1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 b="1" dirty="0">
                <a:solidFill>
                  <a:schemeClr val="accent4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Курьязов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 b="1" dirty="0">
                <a:solidFill>
                  <a:schemeClr val="accent4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Д.М.      </a:t>
            </a:r>
            <a:r>
              <a:rPr lang="ru-RU" sz="1800" b="1" dirty="0">
                <a:solidFill>
                  <a:schemeClr val="accent4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uz-Cyrl-UZ" sz="1800" b="1" dirty="0">
                <a:effectLst/>
                <a:latin typeface="Times New Roman" pitchFamily="18" charset="0"/>
                <a:cs typeface="Times New Roman" pitchFamily="18" charset="0"/>
              </a:rPr>
              <a:t>Диссертант:    </a:t>
            </a:r>
            <a:r>
              <a:rPr lang="ru-RU" sz="1800" b="1" dirty="0">
                <a:effectLst/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1800" b="1" dirty="0" smtClean="0">
                <a:solidFill>
                  <a:schemeClr val="accent4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Халилов  Ж</a:t>
            </a: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uz-Cyrl-UZ" b="1" dirty="0" smtClean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sz="1800" b="1" dirty="0" smtClean="0">
                <a:solidFill>
                  <a:schemeClr val="accent4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b="1" dirty="0">
              <a:solidFill>
                <a:schemeClr val="accent4">
                  <a:lumMod val="5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 Box 154"/>
          <p:cNvSpPr txBox="1">
            <a:spLocks noChangeArrowheads="1"/>
          </p:cNvSpPr>
          <p:nvPr/>
        </p:nvSpPr>
        <p:spPr bwMode="auto">
          <a:xfrm>
            <a:off x="3810000" y="5867400"/>
            <a:ext cx="2133600" cy="6771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uz-Cyrl-UZ" sz="2000" b="1" u="sng" dirty="0">
              <a:effectLst/>
              <a:latin typeface="Arial" charset="0"/>
              <a:cs typeface="Times New Roman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u-RU" sz="1800" b="1" dirty="0" err="1" smtClean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Тошкент</a:t>
            </a:r>
            <a:r>
              <a:rPr lang="ru-RU" sz="1800" b="1" dirty="0" smtClean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- 20</a:t>
            </a:r>
            <a:r>
              <a:rPr lang="en-US" sz="1800" b="1" dirty="0" smtClean="0"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sz="1800" b="1" dirty="0">
              <a:solidFill>
                <a:srgbClr val="3B0076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38200" y="152400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51520" y="228600"/>
            <a:ext cx="8712968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Мавзунинг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долзарблиги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51520" y="1295400"/>
            <a:ext cx="8712968" cy="5301952"/>
          </a:xfrm>
          <a:prstGeom prst="rect">
            <a:avLst/>
          </a:prstGeom>
          <a:solidFill>
            <a:schemeClr val="bg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28596" y="1524000"/>
            <a:ext cx="8358246" cy="39212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numCol="1" rtlCol="0" anchor="ctr"/>
          <a:lstStyle/>
          <a:p>
            <a:pPr algn="just">
              <a:lnSpc>
                <a:spcPct val="150000"/>
              </a:lnSpc>
            </a:pPr>
            <a:r>
              <a:rPr lang="uz-Cyrl-UZ" dirty="0" smtClean="0"/>
              <a:t> </a:t>
            </a:r>
            <a:r>
              <a:rPr lang="uz-Cyrl-UZ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Ахборотни криптографик ва техник ҳимоя қилиш воситаларини яратиш бўйича 2011– 2015 йилларга мўлжалланган илмий тадқиқот ва тажриба конструкторлик ишлари режасига асосан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uz-Cyrl-UZ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Криптографик алгоритмлар бардошлигини баҳолаш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uz-Cyrl-UZ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йўналиши бўйича илмий тадқиқот ишларини олиб бориш назарда тутилган.  Шундан келиб чиқиб симметрик шифрлаш алгоритмларини замонавий ҳисобланган дифференциал криптотаҳлил усулига бардошлигини баҳолаш мавзусида илмий тадқиқот ишларини олиб бориш долзарб ҳисобланади. 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116632"/>
            <a:ext cx="8712968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Мавзунинг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ўрганилганлик даражаси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1124744"/>
            <a:ext cx="8856984" cy="5580856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23528" y="1268760"/>
            <a:ext cx="8568952" cy="12961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52425" indent="-352425" algn="just">
              <a:lnSpc>
                <a:spcPct val="150000"/>
              </a:lnSpc>
              <a:tabLst>
                <a:tab pos="361950" algn="l"/>
              </a:tabLst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solidFill>
                  <a:srgbClr val="FF0000"/>
                </a:solidFill>
              </a:rPr>
              <a:t>.</a:t>
            </a:r>
            <a:r>
              <a:rPr lang="en-US" dirty="0" smtClean="0">
                <a:solidFill>
                  <a:srgbClr val="FF0000"/>
                </a:solidFill>
              </a:rPr>
              <a:t>	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Дифференциал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криптота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ҳлил тушунчаси биринчи марта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1991йилда Эли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Бихам ва Ади Шамирлар томонидан киритилган бўлиб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танланган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очиқ матн ва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уларга мос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шифрматнларга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нисбатан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DES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алгоритмига қўлланилган.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3528" y="5445224"/>
            <a:ext cx="8568952" cy="10584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52425" indent="-352425" algn="just">
              <a:lnSpc>
                <a:spcPct val="150000"/>
              </a:lnSpc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 йил Боймирзаев 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.Э.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 томонидан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“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Айирма матрица ва уларнинг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симметрик  шифрлаш алгоритмлари криптобардошлигини   баҳолашдаги         қўлланишлари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’’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 мавзусида  магистрлик иши бажарилган.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23528" y="4005064"/>
            <a:ext cx="8568952" cy="11776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52425" indent="-352425" algn="just">
              <a:lnSpc>
                <a:spcPct val="150000"/>
              </a:lnSpc>
              <a:tabLst>
                <a:tab pos="0" algn="l"/>
              </a:tabLst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2009 йил Хожиахмедов С.В. томонидан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S-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блокига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кириш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чи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қишга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нисбатан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дифференциал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ўтказиш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бўйича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диссертация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иши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бажарилган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тегишли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натижалар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олинган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51520" y="2564904"/>
            <a:ext cx="8640960" cy="12961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34988" indent="-534988" algn="just">
              <a:lnSpc>
                <a:spcPct val="150000"/>
              </a:lnSpc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Ищукова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Е.А.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исследование алгоритмов анализа стойкости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блочных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шифров методом дифференциального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криптоанализа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Таганрог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2007г. Диссертация на соискание ученной степени кандидата технических наук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1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51520" y="228600"/>
            <a:ext cx="8678198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uz-Cyrl-UZ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Тадқиқотнинг мақсади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1295400"/>
            <a:ext cx="866388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67544" y="1524000"/>
            <a:ext cx="8229600" cy="3048000"/>
          </a:xfrm>
          <a:prstGeom prst="rect">
            <a:avLst/>
          </a:prstGeom>
          <a:solidFill>
            <a:schemeClr val="bg2"/>
          </a:solidFill>
          <a:ln>
            <a:solidFill>
              <a:schemeClr val="accent4">
                <a:lumMod val="50000"/>
              </a:schemeClr>
            </a:solidFill>
            <a:prstDash val="sys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001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en-US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алгоритмини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дифференциал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криптотахлил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усулига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бардошлигини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баҳолаш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унинг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дастурий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таъминотини</a:t>
            </a:r>
            <a:r>
              <a:rPr lang="ru-RU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Times New Roman" pitchFamily="18" charset="0"/>
                <a:cs typeface="Times New Roman" pitchFamily="18" charset="0"/>
              </a:rPr>
              <a:t>яратиш</a:t>
            </a:r>
            <a:endParaRPr lang="ru-RU" sz="2400" dirty="0" smtClean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sz="2400" dirty="0" smtClean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endParaRPr lang="ru-RU" sz="2400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228600"/>
            <a:ext cx="8784976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Мақсаддан келиб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чиқувчи вазифалар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1295400"/>
            <a:ext cx="8784976" cy="54102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Горизонтальный свиток 10"/>
          <p:cNvSpPr/>
          <p:nvPr/>
        </p:nvSpPr>
        <p:spPr>
          <a:xfrm>
            <a:off x="1371600" y="1447800"/>
            <a:ext cx="7239000" cy="990600"/>
          </a:xfrm>
          <a:prstGeom prst="horizontalScroll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алгоритмлари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 дифференциал </a:t>
            </a:r>
            <a:r>
              <a:rPr lang="ru-RU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криптотаҳлил  усулини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тадби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 қилиш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Лента лицом вниз 11"/>
          <p:cNvSpPr/>
          <p:nvPr/>
        </p:nvSpPr>
        <p:spPr>
          <a:xfrm>
            <a:off x="457200" y="1676400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Горизонтальный свиток 12"/>
          <p:cNvSpPr/>
          <p:nvPr/>
        </p:nvSpPr>
        <p:spPr>
          <a:xfrm>
            <a:off x="1371600" y="2743200"/>
            <a:ext cx="7239000" cy="990600"/>
          </a:xfrm>
          <a:prstGeom prst="horizontalScroll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учун дифференциал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криптотаҳлил  усулини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қўллаш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Горизонтальный свиток 13"/>
          <p:cNvSpPr/>
          <p:nvPr/>
        </p:nvSpPr>
        <p:spPr>
          <a:xfrm>
            <a:off x="1371600" y="3962400"/>
            <a:ext cx="7239000" cy="1066800"/>
          </a:xfrm>
          <a:prstGeom prst="horizontalScroll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учун дифференциал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криптотаҳлил  усулига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дастурий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таъминот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яратиш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Горизонтальный свиток 14"/>
          <p:cNvSpPr/>
          <p:nvPr/>
        </p:nvSpPr>
        <p:spPr>
          <a:xfrm>
            <a:off x="1371600" y="5334000"/>
            <a:ext cx="7239000" cy="1143000"/>
          </a:xfrm>
          <a:prstGeom prst="horizontalScroll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учун дифференциал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криптотаҳлил  усули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дастурий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таъминотидан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олинган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натижалар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таҳлили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Лента лицом вниз 15"/>
          <p:cNvSpPr/>
          <p:nvPr/>
        </p:nvSpPr>
        <p:spPr>
          <a:xfrm>
            <a:off x="457200" y="2968752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Лента лицом вниз 16"/>
          <p:cNvSpPr/>
          <p:nvPr/>
        </p:nvSpPr>
        <p:spPr>
          <a:xfrm>
            <a:off x="457200" y="4264152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Лента лицом вниз 17"/>
          <p:cNvSpPr/>
          <p:nvPr/>
        </p:nvSpPr>
        <p:spPr>
          <a:xfrm>
            <a:off x="457200" y="5638800"/>
            <a:ext cx="762000" cy="612648"/>
          </a:xfrm>
          <a:prstGeom prst="ribbon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228600"/>
            <a:ext cx="8784976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Боб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алгоритмлари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учун дифференциал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криптотаҳлил  усули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512" y="1295400"/>
            <a:ext cx="8784976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3" name="Прямоугольник 42"/>
          <p:cNvSpPr/>
          <p:nvPr/>
        </p:nvSpPr>
        <p:spPr>
          <a:xfrm>
            <a:off x="838200" y="2276872"/>
            <a:ext cx="7620000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1.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1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Фейстел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тармоғига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асосланган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шифрлаш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алгоритмлари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учун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дифференциал</a:t>
            </a:r>
            <a:r>
              <a:rPr lang="en-US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криптотаҳлил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усули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endParaRPr lang="ru-RU" sz="2000" dirty="0">
              <a:latin typeface="Times New Roman" pitchFamily="18" charset="0"/>
              <a:cs typeface="Angsana New" pitchFamily="18" charset="-34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838200" y="4365104"/>
            <a:ext cx="7620000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1.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2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SP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тармоғига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асосланган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9 бит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кириш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ва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9 бит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чиқишга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эга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алгоритм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учун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дифференциал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криптографик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Angsana New" pitchFamily="18" charset="-34"/>
              </a:rPr>
              <a:t>усули</a:t>
            </a:r>
            <a:r>
              <a:rPr lang="ru-RU" sz="2000" dirty="0" smtClean="0">
                <a:latin typeface="Times New Roman" pitchFamily="18" charset="0"/>
                <a:cs typeface="Angsana New" pitchFamily="18" charset="-34"/>
              </a:rPr>
              <a:t>  </a:t>
            </a:r>
            <a:endParaRPr lang="ru-RU" sz="2000" dirty="0">
              <a:latin typeface="Times New Roman" pitchFamily="18" charset="0"/>
              <a:cs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6208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43" grpId="0" animBg="1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/>
          <p:cNvSpPr/>
          <p:nvPr/>
        </p:nvSpPr>
        <p:spPr>
          <a:xfrm>
            <a:off x="141223" y="980728"/>
            <a:ext cx="8850377" cy="576064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4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673856"/>
              </p:ext>
            </p:extLst>
          </p:nvPr>
        </p:nvGraphicFramePr>
        <p:xfrm>
          <a:off x="323528" y="1523978"/>
          <a:ext cx="2656840" cy="731520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40360"/>
                <a:gridCol w="289560"/>
                <a:gridCol w="289560"/>
                <a:gridCol w="289560"/>
                <a:gridCol w="289560"/>
                <a:gridCol w="289560"/>
                <a:gridCol w="289560"/>
                <a:gridCol w="289560"/>
                <a:gridCol w="289560"/>
              </a:tblGrid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1" dirty="0" smtClean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К </a:t>
                      </a:r>
                      <a:endParaRPr lang="ru-RU" sz="1600" b="1" i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/>
                          <a:ea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1" dirty="0" smtClean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Ч</a:t>
                      </a:r>
                      <a:endParaRPr lang="ru-RU" sz="1600" b="1" i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6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6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5" name="Group 19"/>
          <p:cNvGrpSpPr>
            <a:grpSpLocks/>
          </p:cNvGrpSpPr>
          <p:nvPr/>
        </p:nvGrpSpPr>
        <p:grpSpPr bwMode="auto">
          <a:xfrm>
            <a:off x="3429000" y="1217613"/>
            <a:ext cx="5072063" cy="1477962"/>
            <a:chOff x="3428992" y="1231268"/>
            <a:chExt cx="5072098" cy="1477328"/>
          </a:xfrm>
          <a:solidFill>
            <a:schemeClr val="bg1">
              <a:lumMod val="85000"/>
            </a:schemeClr>
          </a:solidFill>
        </p:grpSpPr>
        <p:sp>
          <p:nvSpPr>
            <p:cNvPr id="36" name="TextBox 35"/>
            <p:cNvSpPr txBox="1"/>
            <p:nvPr/>
          </p:nvSpPr>
          <p:spPr>
            <a:xfrm>
              <a:off x="3428992" y="1231268"/>
              <a:ext cx="5072098" cy="1477328"/>
            </a:xfrm>
            <a:prstGeom prst="rect">
              <a:avLst/>
            </a:prstGeom>
            <a:grpFill/>
            <a:ln>
              <a:solidFill>
                <a:srgbClr val="000099"/>
              </a:solidFill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uz-Cyrl-UZ" b="1" i="1" spc="300" dirty="0" smtClean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Очиқ</a:t>
              </a:r>
              <a:r>
                <a:rPr lang="en-US" b="1" i="1" spc="300" dirty="0" smtClean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b="1" i="1" spc="300" dirty="0" smtClean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матн:</a:t>
              </a:r>
              <a:r>
                <a:rPr lang="uz-Cyrl-UZ" spc="300" dirty="0" smtClean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uz-Cyrl-UZ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M = (3,0,1,4,6,5)</a:t>
              </a:r>
              <a:endParaRPr lang="ru-RU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r>
                <a:rPr lang="uz-Cyrl-UZ" b="1" i="1" spc="300" dirty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Шифр</a:t>
              </a:r>
              <a:r>
                <a:rPr lang="en-US" b="1" i="1" spc="300" dirty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b="1" i="1" spc="300" dirty="0">
                  <a:solidFill>
                    <a:prstClr val="black"/>
                  </a:solidFill>
                  <a:effectLst>
                    <a:glow rad="63500">
                      <a:srgbClr val="8064A2">
                        <a:satMod val="175000"/>
                        <a:alpha val="40000"/>
                      </a:srgbClr>
                    </a:glow>
                  </a:effectLst>
                  <a:latin typeface="Times New Roman" pitchFamily="18" charset="0"/>
                  <a:cs typeface="Times New Roman" pitchFamily="18" charset="0"/>
                </a:rPr>
                <a:t> матн:</a:t>
              </a:r>
              <a:r>
                <a:rPr lang="uz-Cyrl-UZ" spc="3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uz-Cyrl-UZ" b="1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C = (1,3,7,0,6,4)</a:t>
              </a:r>
            </a:p>
            <a:p>
              <a:pPr algn="ctr">
                <a:defRPr/>
              </a:pPr>
              <a:endPara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defRPr/>
              </a:pPr>
              <a:endParaRPr lang="ru-RU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aphicFrame>
          <p:nvGraphicFramePr>
            <p:cNvPr id="37" name="Object 2"/>
            <p:cNvGraphicFramePr>
              <a:graphicFrameLocks noChangeAspect="1"/>
            </p:cNvGraphicFramePr>
            <p:nvPr/>
          </p:nvGraphicFramePr>
          <p:xfrm>
            <a:off x="3857619" y="1901506"/>
            <a:ext cx="4500595" cy="329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44" name="Equation" r:id="rId3" imgW="3467100" imgH="254000" progId="Equation.3">
                    <p:embed/>
                  </p:oleObj>
                </mc:Choice>
                <mc:Fallback>
                  <p:oleObj name="Equation" r:id="rId3" imgW="3467100" imgH="254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7619" y="1901506"/>
                          <a:ext cx="4500595" cy="3297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3"/>
            <p:cNvGraphicFramePr>
              <a:graphicFrameLocks noChangeAspect="1"/>
            </p:cNvGraphicFramePr>
            <p:nvPr/>
          </p:nvGraphicFramePr>
          <p:xfrm>
            <a:off x="4037038" y="2258696"/>
            <a:ext cx="4106862" cy="357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45" name="Equation" r:id="rId5" imgW="2921000" imgH="254000" progId="Equation.3">
                    <p:embed/>
                  </p:oleObj>
                </mc:Choice>
                <mc:Fallback>
                  <p:oleObj name="Equation" r:id="rId5" imgW="2921000" imgH="254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7038" y="2258696"/>
                          <a:ext cx="4106862" cy="357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923062"/>
              </p:ext>
            </p:extLst>
          </p:nvPr>
        </p:nvGraphicFramePr>
        <p:xfrm>
          <a:off x="409218" y="3122188"/>
          <a:ext cx="2434590" cy="3403160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70510"/>
                <a:gridCol w="270510"/>
                <a:gridCol w="270510"/>
                <a:gridCol w="270510"/>
                <a:gridCol w="270510"/>
                <a:gridCol w="270510"/>
                <a:gridCol w="270510"/>
                <a:gridCol w="270510"/>
                <a:gridCol w="270510"/>
              </a:tblGrid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j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1" i="1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 err="1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</a:rPr>
                        <a:t>i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00206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1" i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8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1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b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8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400" b="1" i="1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3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n>
                            <a:solidFill>
                              <a:srgbClr val="002060"/>
                            </a:solidFill>
                          </a:ln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400" b="1" i="1" dirty="0">
                        <a:ln>
                          <a:solidFill>
                            <a:srgbClr val="002060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4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0" name="Group 28"/>
          <p:cNvGrpSpPr>
            <a:grpSpLocks/>
          </p:cNvGrpSpPr>
          <p:nvPr/>
        </p:nvGrpSpPr>
        <p:grpSpPr bwMode="auto">
          <a:xfrm>
            <a:off x="3143250" y="2906266"/>
            <a:ext cx="5400675" cy="3619078"/>
            <a:chOff x="3143240" y="2761960"/>
            <a:chExt cx="5400000" cy="3477537"/>
          </a:xfrm>
        </p:grpSpPr>
        <p:grpSp>
          <p:nvGrpSpPr>
            <p:cNvPr id="41" name="Group 20"/>
            <p:cNvGrpSpPr>
              <a:grpSpLocks/>
            </p:cNvGrpSpPr>
            <p:nvPr/>
          </p:nvGrpSpPr>
          <p:grpSpPr bwMode="auto">
            <a:xfrm>
              <a:off x="3143240" y="2761960"/>
              <a:ext cx="5400000" cy="3477537"/>
              <a:chOff x="3143240" y="2951521"/>
              <a:chExt cx="5400000" cy="3477537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3143240" y="2951521"/>
                <a:ext cx="5400000" cy="3477537"/>
              </a:xfrm>
              <a:prstGeom prst="rect">
                <a:avLst/>
              </a:prstGeom>
              <a:solidFill>
                <a:schemeClr val="bg1"/>
              </a:solidFill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342900" indent="-342900">
                  <a:defRPr/>
                </a:pPr>
                <a:r>
                  <a:rPr lang="en-US" b="1" i="1" dirty="0">
                    <a:ln>
                      <a:solidFill>
                        <a:srgbClr val="C0000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1.  </a:t>
                </a:r>
                <a:r>
                  <a:rPr lang="uz-Cyrl-UZ" b="1" i="1" dirty="0">
                    <a:ln>
                      <a:solidFill>
                        <a:srgbClr val="00206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b="1" i="1" dirty="0" err="1">
                    <a:ln>
                      <a:solidFill>
                        <a:srgbClr val="00206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a,b</a:t>
                </a:r>
                <a:r>
                  <a:rPr lang="uz-Cyrl-UZ" b="1" i="1" dirty="0">
                    <a:ln>
                      <a:solidFill>
                        <a:srgbClr val="00206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b="1" i="1" dirty="0">
                    <a:ln>
                      <a:solidFill>
                        <a:srgbClr val="00206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=(3,2)</a:t>
                </a:r>
              </a:p>
              <a:p>
                <a:pPr marL="342900" indent="-342900">
                  <a:buFontTx/>
                  <a:buAutoNum type="arabicPeriod"/>
                  <a:defRPr/>
                </a:pPr>
                <a:endParaRPr lang="en-US" b="1" i="1" dirty="0">
                  <a:ln>
                    <a:solidFill>
                      <a:srgbClr val="002060"/>
                    </a:solidFill>
                  </a:ln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342900" indent="-342900">
                  <a:defRPr/>
                </a:pPr>
                <a:endParaRPr lang="en-US" sz="2200" b="1" i="1" dirty="0">
                  <a:ln>
                    <a:solidFill>
                      <a:srgbClr val="002060"/>
                    </a:solidFill>
                  </a:ln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lvl="1" algn="just">
                  <a:defRPr/>
                </a:pP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IN</a:t>
                </a:r>
                <a:r>
                  <a:rPr lang="uz-Cyrl-UZ" i="1" baseline="-25000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(3,2)={1,2,4,7 }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;  Test</a:t>
                </a:r>
                <a:r>
                  <a:rPr lang="en-US" i="1" baseline="-25000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 ={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1,7,4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}</a:t>
                </a:r>
                <a:endParaRPr lang="en-US" b="1" i="1" dirty="0">
                  <a:ln>
                    <a:solidFill>
                      <a:srgbClr val="003399"/>
                    </a:solidFill>
                  </a:ln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1588" indent="12700" algn="just">
                  <a:defRPr/>
                </a:pPr>
                <a:r>
                  <a:rPr lang="en-US" b="1" i="1" dirty="0">
                    <a:ln>
                      <a:solidFill>
                        <a:srgbClr val="C0000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2. </a:t>
                </a:r>
                <a:r>
                  <a:rPr lang="uz-Cyrl-UZ" dirty="0" smtClean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Қолган </a:t>
                </a:r>
                <a:r>
                  <a:rPr lang="uz-Cyrl-UZ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айирмалар учун ҳам мумкин бўлган барча тўпламлар қуйидагича ҳосил қилинди:</a:t>
                </a:r>
              </a:p>
              <a:p>
                <a:pPr marL="1588" lvl="1" indent="12700" algn="ctr">
                  <a:defRPr/>
                </a:pP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Test</a:t>
                </a:r>
                <a:r>
                  <a:rPr lang="uz-Cyrl-UZ" i="1" baseline="-25000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6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)={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0,7,1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}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 ...,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Test</a:t>
                </a:r>
                <a:r>
                  <a:rPr lang="uz-Cyrl-UZ" i="1" baseline="-25000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15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)={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uz-Cyrl-UZ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1,7,5</a:t>
                </a:r>
                <a:r>
                  <a:rPr lang="en-US" i="1" dirty="0">
                    <a:ln>
                      <a:solidFill>
                        <a:srgbClr val="003399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}</a:t>
                </a:r>
                <a:endParaRPr lang="en-US" i="1" dirty="0">
                  <a:ln>
                    <a:solidFill>
                      <a:srgbClr val="C00000"/>
                    </a:solidFill>
                  </a:ln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1588" indent="12700" algn="just">
                  <a:defRPr/>
                </a:pPr>
                <a:r>
                  <a:rPr lang="uz-Cyrl-UZ" i="1" dirty="0">
                    <a:ln>
                      <a:solidFill>
                        <a:srgbClr val="C0000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3. </a:t>
                </a:r>
                <a:r>
                  <a:rPr lang="uz-Cyrl-UZ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Тузилган </a:t>
                </a:r>
                <a:r>
                  <a:rPr lang="en-US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Test </a:t>
                </a:r>
                <a:r>
                  <a:rPr lang="uz-Cyrl-UZ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тўпламлар кесишмасида қуйида</a:t>
                </a:r>
                <a:r>
                  <a:rPr lang="ru-RU" dirty="0" err="1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ги</a:t>
                </a:r>
                <a:r>
                  <a:rPr lang="uz-Cyrl-UZ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таҳмин калитлар ётади: </a:t>
                </a:r>
                <a:r>
                  <a:rPr lang="en-US" i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K={(2), (7)}</a:t>
                </a:r>
              </a:p>
              <a:p>
                <a:pPr marL="1588" indent="12700" algn="just">
                  <a:defRPr/>
                </a:pPr>
                <a:r>
                  <a:rPr lang="en-US" i="1" dirty="0">
                    <a:ln>
                      <a:solidFill>
                        <a:srgbClr val="C00000"/>
                      </a:solidFill>
                    </a:ln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4. </a:t>
                </a:r>
                <a:r>
                  <a:rPr lang="uz-Cyrl-UZ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Топилган тахмин калитларни текшириш орқали қуйидагича хақиқий калитга эга бўлинди: </a:t>
                </a:r>
                <a:r>
                  <a:rPr lang="en-US" b="1" dirty="0">
                    <a:ln>
                      <a:solidFill>
                        <a:srgbClr val="F79646">
                          <a:lumMod val="75000"/>
                        </a:srgbClr>
                      </a:solidFill>
                    </a:ln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K=7</a:t>
                </a:r>
                <a:endParaRPr lang="uz-Cyrl-UZ" b="1" dirty="0">
                  <a:ln>
                    <a:solidFill>
                      <a:srgbClr val="F79646">
                        <a:lumMod val="75000"/>
                      </a:srgbClr>
                    </a:solidFill>
                  </a:ln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1588" indent="12700" algn="ctr">
                  <a:defRPr/>
                </a:pPr>
                <a:r>
                  <a:rPr lang="uz-Cyrl-UZ" b="1" i="1" dirty="0">
                    <a:ln>
                      <a:solidFill>
                        <a:srgbClr val="000099"/>
                      </a:solidFill>
                    </a:ln>
                    <a:solidFill>
                      <a:srgbClr val="003399"/>
                    </a:solidFill>
                    <a:latin typeface="Times New Roman" pitchFamily="18" charset="0"/>
                    <a:cs typeface="Times New Roman" pitchFamily="18" charset="0"/>
                  </a:rPr>
                  <a:t>С</a:t>
                </a:r>
                <a:r>
                  <a:rPr lang="uz-Cyrl-UZ" b="1" i="1" baseline="-25000" dirty="0">
                    <a:ln>
                      <a:solidFill>
                        <a:srgbClr val="000099"/>
                      </a:solidFill>
                    </a:ln>
                    <a:solidFill>
                      <a:srgbClr val="003399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b="1" i="1" baseline="-25000" dirty="0">
                    <a:ln>
                      <a:solidFill>
                        <a:srgbClr val="000099"/>
                      </a:solidFill>
                    </a:ln>
                    <a:solidFill>
                      <a:srgbClr val="003399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b="1" i="1" dirty="0">
                    <a:ln>
                      <a:solidFill>
                        <a:srgbClr val="000099"/>
                      </a:solidFill>
                    </a:ln>
                    <a:solidFill>
                      <a:srgbClr val="003399"/>
                    </a:solidFill>
                    <a:latin typeface="Times New Roman" pitchFamily="18" charset="0"/>
                    <a:cs typeface="Times New Roman" pitchFamily="18" charset="0"/>
                  </a:rPr>
                  <a:t>= S(M</a:t>
                </a:r>
                <a:r>
                  <a:rPr lang="en-US" b="1" i="1" baseline="-25000" dirty="0">
                    <a:ln>
                      <a:solidFill>
                        <a:srgbClr val="000099"/>
                      </a:solidFill>
                    </a:ln>
                    <a:solidFill>
                      <a:srgbClr val="003399"/>
                    </a:solidFill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b="1" i="1" dirty="0">
                    <a:ln>
                      <a:solidFill>
                        <a:srgbClr val="000099"/>
                      </a:solidFill>
                    </a:ln>
                    <a:solidFill>
                      <a:srgbClr val="003399"/>
                    </a:solidFill>
                    <a:latin typeface="Times New Roman" pitchFamily="18" charset="0"/>
                    <a:cs typeface="Times New Roman" pitchFamily="18" charset="0"/>
                  </a:rPr>
                  <a:t>   K) = S(3    7)=1</a:t>
                </a:r>
                <a:endParaRPr lang="ru-RU" dirty="0">
                  <a:ln>
                    <a:solidFill>
                      <a:srgbClr val="000099"/>
                    </a:solidFill>
                  </a:ln>
                  <a:solidFill>
                    <a:srgbClr val="003399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graphicFrame>
            <p:nvGraphicFramePr>
              <p:cNvPr id="45" name="Object 1"/>
              <p:cNvGraphicFramePr>
                <a:graphicFrameLocks noChangeAspect="1"/>
              </p:cNvGraphicFramePr>
              <p:nvPr/>
            </p:nvGraphicFramePr>
            <p:xfrm>
              <a:off x="5008563" y="3000375"/>
              <a:ext cx="3198812" cy="857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046" name="Equation" r:id="rId7" imgW="2654300" imgH="711200" progId="Equation.3">
                      <p:embed/>
                    </p:oleObj>
                  </mc:Choice>
                  <mc:Fallback>
                    <p:oleObj name="Equation" r:id="rId7" imgW="2654300" imgH="71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8563" y="3000375"/>
                            <a:ext cx="3198812" cy="857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2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1573409"/>
                </p:ext>
              </p:extLst>
            </p:nvPr>
          </p:nvGraphicFramePr>
          <p:xfrm>
            <a:off x="5486696" y="5854121"/>
            <a:ext cx="1651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47" name="Equation" r:id="rId9" imgW="164814" imgH="177492" progId="Equation.3">
                    <p:embed/>
                  </p:oleObj>
                </mc:Choice>
                <mc:Fallback>
                  <p:oleObj name="Equation" r:id="rId9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6696" y="5854121"/>
                          <a:ext cx="165100" cy="177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4998590"/>
                </p:ext>
              </p:extLst>
            </p:nvPr>
          </p:nvGraphicFramePr>
          <p:xfrm>
            <a:off x="6492250" y="5824346"/>
            <a:ext cx="1651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048" name="Equation" r:id="rId11" imgW="164814" imgH="177492" progId="Equation.3">
                    <p:embed/>
                  </p:oleObj>
                </mc:Choice>
                <mc:Fallback>
                  <p:oleObj name="Equation" r:id="rId11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92250" y="5824346"/>
                          <a:ext cx="165100" cy="177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" name="TextBox 13"/>
          <p:cNvSpPr txBox="1">
            <a:spLocks noChangeArrowheads="1"/>
          </p:cNvSpPr>
          <p:nvPr/>
        </p:nvSpPr>
        <p:spPr bwMode="auto">
          <a:xfrm>
            <a:off x="323528" y="1143000"/>
            <a:ext cx="2714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 – </a:t>
            </a:r>
            <a:r>
              <a:rPr lang="uz-Cyrl-UZ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акслантириш блоки</a:t>
            </a:r>
            <a:endParaRPr lang="ru-RU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24" y="2372618"/>
            <a:ext cx="2768600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8" name="Прямая со стрелкой 47"/>
          <p:cNvCxnSpPr/>
          <p:nvPr/>
        </p:nvCxnSpPr>
        <p:spPr>
          <a:xfrm>
            <a:off x="683568" y="5013176"/>
            <a:ext cx="504056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/>
          <p:nvPr/>
        </p:nvCxnSpPr>
        <p:spPr>
          <a:xfrm>
            <a:off x="1331640" y="3861048"/>
            <a:ext cx="0" cy="936104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Прямоугольник 53"/>
          <p:cNvSpPr/>
          <p:nvPr/>
        </p:nvSpPr>
        <p:spPr>
          <a:xfrm>
            <a:off x="1187624" y="4797152"/>
            <a:ext cx="288032" cy="360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142844" y="116632"/>
            <a:ext cx="8858312" cy="66913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Фейстел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тармоғига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асосланган</a:t>
            </a:r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c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имметрик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шифрлаш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 </a:t>
            </a:r>
            <a:r>
              <a:rPr lang="uz-Cyrl-UZ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ўқув алгоритмига дифференциал криптотаҳлил усулининг қўлланилиши</a:t>
            </a:r>
            <a:endParaRPr lang="ru-RU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15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46" grpId="0"/>
      <p:bldP spid="54" grpId="0" animBg="1"/>
      <p:bldP spid="54" grpId="1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52400" y="836712"/>
            <a:ext cx="8839200" cy="5904656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81000" y="930623"/>
            <a:ext cx="21478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z-Cyrl-UZ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 –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блок </a:t>
            </a:r>
            <a:r>
              <a:rPr lang="uz-Cyrl-UZ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жадвали</a:t>
            </a:r>
            <a:endParaRPr lang="ru-RU" sz="1600" dirty="0">
              <a:solidFill>
                <a:prstClr val="black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640900"/>
              </p:ext>
            </p:extLst>
          </p:nvPr>
        </p:nvGraphicFramePr>
        <p:xfrm>
          <a:off x="304800" y="1296184"/>
          <a:ext cx="2624126" cy="5486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75341"/>
                <a:gridCol w="250080"/>
                <a:gridCol w="250080"/>
                <a:gridCol w="250080"/>
                <a:gridCol w="250080"/>
                <a:gridCol w="282146"/>
                <a:gridCol w="300548"/>
                <a:gridCol w="375684"/>
                <a:gridCol w="390087"/>
              </a:tblGrid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ln>
                            <a:solidFill>
                              <a:srgbClr val="000099"/>
                            </a:solidFill>
                          </a:ln>
                        </a:rPr>
                        <a:t>К</a:t>
                      </a:r>
                      <a:endParaRPr lang="ru-RU" sz="1200" b="1" i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/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/>
                        <a:t>1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/>
                        <a:t>2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/>
                        <a:t>3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/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/>
                        <a:t>5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/>
                        <a:t>6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/>
                        <a:t>7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ln>
                            <a:solidFill>
                              <a:srgbClr val="000099"/>
                            </a:solidFill>
                          </a:ln>
                        </a:rPr>
                        <a:t>Ч</a:t>
                      </a:r>
                      <a:endParaRPr lang="ru-RU" sz="1200" b="1" i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7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6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5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2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1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3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 smtClean="0"/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16158"/>
              </p:ext>
            </p:extLst>
          </p:nvPr>
        </p:nvGraphicFramePr>
        <p:xfrm>
          <a:off x="304800" y="2232288"/>
          <a:ext cx="2624126" cy="5486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97662"/>
                <a:gridCol w="258496"/>
                <a:gridCol w="258496"/>
                <a:gridCol w="258496"/>
                <a:gridCol w="258496"/>
                <a:gridCol w="258496"/>
                <a:gridCol w="258496"/>
                <a:gridCol w="258496"/>
                <a:gridCol w="258496"/>
                <a:gridCol w="258496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ln>
                            <a:solidFill>
                              <a:srgbClr val="000099"/>
                            </a:solidFill>
                          </a:ln>
                        </a:rPr>
                        <a:t>К</a:t>
                      </a:r>
                      <a:endParaRPr lang="ru-RU" sz="1200" b="1" i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/>
                        <a:t>1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2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3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4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5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6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7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8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/>
                        <a:t>9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ln>
                            <a:solidFill>
                              <a:srgbClr val="000099"/>
                            </a:solidFill>
                          </a:ln>
                        </a:rPr>
                        <a:t>Ч</a:t>
                      </a:r>
                      <a:endParaRPr lang="ru-RU" sz="1200" b="1" i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1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4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7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2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5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8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/>
                        <a:t>3</a:t>
                      </a:r>
                      <a:endParaRPr lang="ru-RU" sz="1200" i="1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/>
                        <a:t>6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dirty="0"/>
                        <a:t>9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81000" y="1938734"/>
            <a:ext cx="21891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uz-Cyrl-UZ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Ўриналмаштириш</a:t>
            </a:r>
            <a:endParaRPr lang="ru-RU" sz="1600" dirty="0">
              <a:solidFill>
                <a:prstClr val="black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248035"/>
              </p:ext>
            </p:extLst>
          </p:nvPr>
        </p:nvGraphicFramePr>
        <p:xfrm>
          <a:off x="3000364" y="1192138"/>
          <a:ext cx="1986278" cy="3028950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51491"/>
                <a:gridCol w="233541"/>
                <a:gridCol w="233541"/>
                <a:gridCol w="233541"/>
                <a:gridCol w="233541"/>
                <a:gridCol w="233541"/>
                <a:gridCol w="233541"/>
                <a:gridCol w="233541"/>
              </a:tblGrid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∆</a:t>
                      </a:r>
                      <a:r>
                        <a:rPr lang="uz-Cyrl-UZ" sz="1200" b="1" dirty="0" smtClean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С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200" b="1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200" b="1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∆</a:t>
                      </a:r>
                      <a:r>
                        <a:rPr lang="uz-Cyrl-UZ" sz="1200" b="1" dirty="0" smtClean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А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1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2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3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b="1" i="1" dirty="0">
                        <a:noFill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5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b="1" i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6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b="1" i="1" dirty="0">
                        <a:solidFill>
                          <a:schemeClr val="bg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8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b="1" dirty="0">
                          <a:ln>
                            <a:solidFill>
                              <a:srgbClr val="000099"/>
                            </a:solidFill>
                          </a:ln>
                          <a:latin typeface="Times New Roman"/>
                          <a:ea typeface="Times New Roman"/>
                        </a:rPr>
                        <a:t>7</a:t>
                      </a:r>
                      <a:endParaRPr lang="ru-RU" sz="1200" b="1" dirty="0">
                        <a:ln>
                          <a:solidFill>
                            <a:srgbClr val="000099"/>
                          </a:solidFill>
                        </a:ln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0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200" i="1" dirty="0" smtClean="0">
                          <a:latin typeface="Times New Roman"/>
                          <a:ea typeface="Times New Roman"/>
                        </a:rPr>
                        <a:t>4</a:t>
                      </a:r>
                      <a:endParaRPr lang="ru-RU" sz="1200" i="1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000364" y="836712"/>
            <a:ext cx="20716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uz-Cyrl-UZ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Тақсимот </a:t>
            </a:r>
            <a:r>
              <a:rPr lang="uz-Cyrl-UZ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жадвали</a:t>
            </a:r>
            <a:endParaRPr lang="ru-RU" sz="1600" b="1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" y="2897649"/>
            <a:ext cx="270671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uz-Cyrl-UZ" sz="16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К-орт:    </a:t>
            </a:r>
            <a:r>
              <a:rPr lang="uz-Cyrl-UZ" sz="1600" b="1" i="1" dirty="0">
                <a:ln>
                  <a:solidFill>
                    <a:srgbClr val="F79646">
                      <a:lumMod val="50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∆А = 001001000</a:t>
            </a:r>
            <a:r>
              <a:rPr lang="uz-Cyrl-UZ" sz="1600" b="1" i="1" baseline="-25000" dirty="0">
                <a:ln>
                  <a:solidFill>
                    <a:srgbClr val="F79646">
                      <a:lumMod val="50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600" b="1" i="1" dirty="0">
                <a:ln>
                  <a:solidFill>
                    <a:srgbClr val="F79646">
                      <a:lumMod val="50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defRPr/>
            </a:pPr>
            <a:r>
              <a:rPr lang="uz-Cyrl-UZ" sz="1600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Ч-орт:    </a:t>
            </a:r>
            <a:r>
              <a:rPr lang="uz-Cyrl-UZ" sz="1600" b="1" i="1" dirty="0">
                <a:ln>
                  <a:solidFill>
                    <a:srgbClr val="F79646">
                      <a:lumMod val="50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∆С = 011000000</a:t>
            </a:r>
            <a:r>
              <a:rPr lang="uz-Cyrl-UZ" sz="1600" b="1" i="1" baseline="-25000" dirty="0">
                <a:ln>
                  <a:solidFill>
                    <a:srgbClr val="F79646">
                      <a:lumMod val="50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600" b="1" i="1" dirty="0">
                <a:ln>
                  <a:solidFill>
                    <a:srgbClr val="F79646">
                      <a:lumMod val="50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defRPr/>
            </a:pPr>
            <a:r>
              <a:rPr lang="uz-Cyrl-UZ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Очиқ ва ёпиқ матнлар:</a:t>
            </a:r>
          </a:p>
          <a:p>
            <a:pPr algn="ctr">
              <a:defRPr/>
            </a:pPr>
            <a:r>
              <a:rPr lang="en-US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X=</a:t>
            </a:r>
            <a:r>
              <a:rPr lang="uz-Cyrl-UZ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111010111</a:t>
            </a:r>
            <a:r>
              <a:rPr lang="en-US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Y=</a:t>
            </a:r>
            <a:r>
              <a:rPr lang="uz-Cyrl-UZ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011111111</a:t>
            </a:r>
            <a:endParaRPr lang="ru-RU" sz="1600" i="1" dirty="0">
              <a:ln>
                <a:solidFill>
                  <a:srgbClr val="002060"/>
                </a:solidFill>
              </a:ln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X`=</a:t>
            </a:r>
            <a:r>
              <a:rPr lang="uz-Cyrl-UZ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110011111</a:t>
            </a:r>
            <a:r>
              <a:rPr lang="en-US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Y`=</a:t>
            </a:r>
            <a:r>
              <a:rPr lang="uz-Cyrl-UZ" sz="1600" i="1" dirty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000111111</a:t>
            </a:r>
            <a:endParaRPr lang="ru-RU" sz="1600" i="1" dirty="0">
              <a:ln>
                <a:solidFill>
                  <a:srgbClr val="002060"/>
                </a:solidFill>
              </a:ln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357188" y="4361135"/>
            <a:ext cx="4597386" cy="23082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indent="200025" algn="just">
              <a:buClr>
                <a:srgbClr val="FFFF00"/>
              </a:buClr>
              <a:buSzPct val="105000"/>
              <a:defRPr/>
            </a:pPr>
            <a:r>
              <a:rPr lang="en-US" b="1" i="1" dirty="0">
                <a:ln>
                  <a:solidFill>
                    <a:srgbClr val="C0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uz-Cyrl-UZ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блокдан </a:t>
            </a:r>
            <a:r>
              <a:rPr lang="uz-Cyrl-UZ" b="1" i="1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b="1" i="1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="1" i="1" baseline="-25000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i="1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=011</a:t>
            </a:r>
            <a:r>
              <a:rPr lang="uz-Cyrl-UZ" b="1" i="1" baseline="-25000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орттирма чиқиши учун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i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31 </a:t>
            </a:r>
            <a:r>
              <a: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блокка кириши лозим бўлган </a:t>
            </a:r>
            <a:r>
              <a:rPr lang="uz-Cyrl-UZ" b="1" i="1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uz-Cyrl-UZ" b="1" i="1" baseline="-25000" dirty="0">
                <a:ln>
                  <a:solidFill>
                    <a:prstClr val="black">
                      <a:lumMod val="95000"/>
                      <a:lumOff val="5000"/>
                    </a:prst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орттирма</a:t>
            </a:r>
            <a:r>
              <a:rPr lang="ru-RU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uz-Cyrl-UZ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берувчи ифода қийматлари қуйидагилар: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ru-RU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001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110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266700" algn="just">
              <a:defRPr/>
            </a:pP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266700" algn="just">
              <a:defRPr/>
            </a:pP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indent="266700" algn="just">
              <a:defRPr/>
            </a:pPr>
            <a:r>
              <a:rPr lang="uz-Cyrl-UZ" b="1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en-US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endParaRPr lang="en-US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96879"/>
              </p:ext>
            </p:extLst>
          </p:nvPr>
        </p:nvGraphicFramePr>
        <p:xfrm>
          <a:off x="1285852" y="6354482"/>
          <a:ext cx="225530" cy="242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4" name="Equation" r:id="rId3" imgW="164814" imgH="177492" progId="Equation.3">
                  <p:embed/>
                </p:oleObj>
              </mc:Choice>
              <mc:Fallback>
                <p:oleObj name="Equation" r:id="rId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6354482"/>
                        <a:ext cx="225530" cy="2428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209"/>
          <p:cNvGrpSpPr>
            <a:grpSpLocks/>
          </p:cNvGrpSpPr>
          <p:nvPr/>
        </p:nvGrpSpPr>
        <p:grpSpPr bwMode="auto">
          <a:xfrm>
            <a:off x="5029200" y="865793"/>
            <a:ext cx="4367198" cy="6307623"/>
            <a:chOff x="5062909" y="928670"/>
            <a:chExt cx="4366874" cy="6143668"/>
          </a:xfrm>
        </p:grpSpPr>
        <p:sp>
          <p:nvSpPr>
            <p:cNvPr id="28" name="Line 771"/>
            <p:cNvSpPr>
              <a:spLocks noChangeShapeType="1"/>
            </p:cNvSpPr>
            <p:nvPr/>
          </p:nvSpPr>
          <p:spPr bwMode="auto">
            <a:xfrm>
              <a:off x="5842644" y="1244584"/>
              <a:ext cx="0" cy="180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prstClr val="black"/>
                </a:solidFill>
              </a:endParaRPr>
            </a:p>
          </p:txBody>
        </p:sp>
        <p:sp>
          <p:nvSpPr>
            <p:cNvPr id="29" name="Line 771"/>
            <p:cNvSpPr>
              <a:spLocks noChangeShapeType="1"/>
            </p:cNvSpPr>
            <p:nvPr/>
          </p:nvSpPr>
          <p:spPr bwMode="auto">
            <a:xfrm>
              <a:off x="5857884" y="1711312"/>
              <a:ext cx="0" cy="2160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>
                <a:solidFill>
                  <a:prstClr val="black"/>
                </a:solidFill>
              </a:endParaRPr>
            </a:p>
          </p:txBody>
        </p:sp>
        <p:grpSp>
          <p:nvGrpSpPr>
            <p:cNvPr id="30" name="Group 201"/>
            <p:cNvGrpSpPr>
              <a:grpSpLocks/>
            </p:cNvGrpSpPr>
            <p:nvPr/>
          </p:nvGrpSpPr>
          <p:grpSpPr bwMode="auto">
            <a:xfrm>
              <a:off x="5062909" y="928670"/>
              <a:ext cx="4366874" cy="6143668"/>
              <a:chOff x="4777157" y="826752"/>
              <a:chExt cx="4366874" cy="6143668"/>
            </a:xfrm>
          </p:grpSpPr>
          <p:grpSp>
            <p:nvGrpSpPr>
              <p:cNvPr id="31" name="Group 637"/>
              <p:cNvGrpSpPr>
                <a:grpSpLocks/>
              </p:cNvGrpSpPr>
              <p:nvPr/>
            </p:nvGrpSpPr>
            <p:grpSpPr bwMode="auto">
              <a:xfrm>
                <a:off x="4777157" y="826752"/>
                <a:ext cx="4366874" cy="6143668"/>
                <a:chOff x="2272" y="164"/>
                <a:chExt cx="3085" cy="4015"/>
              </a:xfrm>
              <a:noFill/>
            </p:grpSpPr>
            <p:sp>
              <p:nvSpPr>
                <p:cNvPr id="35" name="Rectangle 638"/>
                <p:cNvSpPr>
                  <a:spLocks noChangeArrowheads="1"/>
                </p:cNvSpPr>
                <p:nvPr/>
              </p:nvSpPr>
              <p:spPr bwMode="auto">
                <a:xfrm>
                  <a:off x="2272" y="164"/>
                  <a:ext cx="3085" cy="4015"/>
                </a:xfrm>
                <a:prstGeom prst="rect">
                  <a:avLst/>
                </a:prstGeom>
                <a:grpFill/>
                <a:ln w="9525" algn="ctr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u-RU" sz="130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grpSp>
              <p:nvGrpSpPr>
                <p:cNvPr id="36" name="Group 639"/>
                <p:cNvGrpSpPr>
                  <a:grpSpLocks/>
                </p:cNvGrpSpPr>
                <p:nvPr/>
              </p:nvGrpSpPr>
              <p:grpSpPr bwMode="auto">
                <a:xfrm>
                  <a:off x="2373" y="198"/>
                  <a:ext cx="2681" cy="3492"/>
                  <a:chOff x="2373" y="198"/>
                  <a:chExt cx="2681" cy="3492"/>
                </a:xfrm>
                <a:grpFill/>
              </p:grpSpPr>
              <p:sp>
                <p:nvSpPr>
                  <p:cNvPr id="37" name="Line 640"/>
                  <p:cNvSpPr>
                    <a:spLocks noChangeShapeType="1"/>
                  </p:cNvSpPr>
                  <p:nvPr/>
                </p:nvSpPr>
                <p:spPr bwMode="auto">
                  <a:xfrm>
                    <a:off x="2519" y="369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8" name="Line 641"/>
                  <p:cNvSpPr>
                    <a:spLocks noChangeShapeType="1"/>
                  </p:cNvSpPr>
                  <p:nvPr/>
                </p:nvSpPr>
                <p:spPr bwMode="auto">
                  <a:xfrm>
                    <a:off x="2671" y="369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9" name="Line 642"/>
                  <p:cNvSpPr>
                    <a:spLocks noChangeShapeType="1"/>
                  </p:cNvSpPr>
                  <p:nvPr/>
                </p:nvSpPr>
                <p:spPr bwMode="auto">
                  <a:xfrm>
                    <a:off x="2823" y="369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0" name="Line 643"/>
                  <p:cNvSpPr>
                    <a:spLocks noChangeShapeType="1"/>
                  </p:cNvSpPr>
                  <p:nvPr/>
                </p:nvSpPr>
                <p:spPr bwMode="auto">
                  <a:xfrm>
                    <a:off x="3239" y="374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1" name="Line 644"/>
                  <p:cNvSpPr>
                    <a:spLocks noChangeShapeType="1"/>
                  </p:cNvSpPr>
                  <p:nvPr/>
                </p:nvSpPr>
                <p:spPr bwMode="auto">
                  <a:xfrm>
                    <a:off x="3396" y="374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2" name="Line 645"/>
                  <p:cNvSpPr>
                    <a:spLocks noChangeShapeType="1"/>
                  </p:cNvSpPr>
                  <p:nvPr/>
                </p:nvSpPr>
                <p:spPr bwMode="auto">
                  <a:xfrm>
                    <a:off x="3554" y="374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3" name="Line 646"/>
                  <p:cNvSpPr>
                    <a:spLocks noChangeShapeType="1"/>
                  </p:cNvSpPr>
                  <p:nvPr/>
                </p:nvSpPr>
                <p:spPr bwMode="auto">
                  <a:xfrm>
                    <a:off x="4018" y="374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4" name="Line 647"/>
                  <p:cNvSpPr>
                    <a:spLocks noChangeShapeType="1"/>
                  </p:cNvSpPr>
                  <p:nvPr/>
                </p:nvSpPr>
                <p:spPr bwMode="auto">
                  <a:xfrm>
                    <a:off x="4175" y="374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5" name="Line 648"/>
                  <p:cNvSpPr>
                    <a:spLocks noChangeShapeType="1"/>
                  </p:cNvSpPr>
                  <p:nvPr/>
                </p:nvSpPr>
                <p:spPr bwMode="auto">
                  <a:xfrm>
                    <a:off x="4338" y="374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6" name="Line 650"/>
                  <p:cNvSpPr>
                    <a:spLocks noChangeShapeType="1"/>
                  </p:cNvSpPr>
                  <p:nvPr/>
                </p:nvSpPr>
                <p:spPr bwMode="auto">
                  <a:xfrm>
                    <a:off x="2495" y="2251"/>
                    <a:ext cx="0" cy="264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7" name="Line 651"/>
                  <p:cNvSpPr>
                    <a:spLocks noChangeShapeType="1"/>
                  </p:cNvSpPr>
                  <p:nvPr/>
                </p:nvSpPr>
                <p:spPr bwMode="auto">
                  <a:xfrm>
                    <a:off x="2654" y="2245"/>
                    <a:ext cx="565" cy="275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8" name="Line 652"/>
                  <p:cNvSpPr>
                    <a:spLocks noChangeShapeType="1"/>
                  </p:cNvSpPr>
                  <p:nvPr/>
                </p:nvSpPr>
                <p:spPr bwMode="auto">
                  <a:xfrm>
                    <a:off x="2808" y="2252"/>
                    <a:ext cx="1176" cy="264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9" name="Line 65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90" y="2245"/>
                    <a:ext cx="1249" cy="270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0" name="Line 655"/>
                  <p:cNvSpPr>
                    <a:spLocks noChangeShapeType="1"/>
                  </p:cNvSpPr>
                  <p:nvPr/>
                </p:nvSpPr>
                <p:spPr bwMode="auto">
                  <a:xfrm>
                    <a:off x="3525" y="2257"/>
                    <a:ext cx="630" cy="26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1" name="Line 65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25" y="2251"/>
                    <a:ext cx="661" cy="26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2" name="Line 657"/>
                  <p:cNvSpPr>
                    <a:spLocks noChangeShapeType="1"/>
                  </p:cNvSpPr>
                  <p:nvPr/>
                </p:nvSpPr>
                <p:spPr bwMode="auto">
                  <a:xfrm>
                    <a:off x="4328" y="2242"/>
                    <a:ext cx="0" cy="26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3" name="Rectangle 658">
                    <a:hlinkClick r:id="rId5" action="ppaction://hlinksldjump"/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32" y="1907"/>
                    <a:ext cx="442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lnSpc>
                        <a:spcPct val="90000"/>
                      </a:lnSpc>
                      <a:defRPr/>
                    </a:pPr>
                    <a:r>
                      <a:rPr lang="en-US" sz="1300" b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21</a:t>
                    </a:r>
                    <a:endParaRPr lang="ru-RU" sz="1300" b="1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4" name="Rectangle 659"/>
                  <p:cNvSpPr>
                    <a:spLocks noChangeArrowheads="1"/>
                  </p:cNvSpPr>
                  <p:nvPr/>
                </p:nvSpPr>
                <p:spPr bwMode="auto">
                  <a:xfrm>
                    <a:off x="3169" y="1912"/>
                    <a:ext cx="442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lnSpc>
                        <a:spcPct val="90000"/>
                      </a:lnSpc>
                      <a:defRPr/>
                    </a:pPr>
                    <a:r>
                      <a:rPr lang="en-US" sz="1300" b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22</a:t>
                    </a:r>
                    <a:endParaRPr lang="ru-RU" sz="1300" b="1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5" name="Rectangle 660"/>
                  <p:cNvSpPr>
                    <a:spLocks noChangeArrowheads="1"/>
                  </p:cNvSpPr>
                  <p:nvPr/>
                </p:nvSpPr>
                <p:spPr bwMode="auto">
                  <a:xfrm>
                    <a:off x="3948" y="1912"/>
                    <a:ext cx="442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lnSpc>
                        <a:spcPct val="90000"/>
                      </a:lnSpc>
                      <a:defRPr/>
                    </a:pPr>
                    <a:r>
                      <a:rPr lang="en-US" sz="1300" b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23</a:t>
                    </a:r>
                    <a:endParaRPr lang="ru-RU" sz="1300" b="1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6" name="Line 661"/>
                  <p:cNvSpPr>
                    <a:spLocks noChangeShapeType="1"/>
                  </p:cNvSpPr>
                  <p:nvPr/>
                </p:nvSpPr>
                <p:spPr bwMode="auto">
                  <a:xfrm>
                    <a:off x="2664" y="2103"/>
                    <a:ext cx="0" cy="141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7" name="Line 662"/>
                  <p:cNvSpPr>
                    <a:spLocks noChangeShapeType="1"/>
                  </p:cNvSpPr>
                  <p:nvPr/>
                </p:nvSpPr>
                <p:spPr bwMode="auto">
                  <a:xfrm>
                    <a:off x="2806" y="2103"/>
                    <a:ext cx="0" cy="141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8" name="Line 664"/>
                  <p:cNvSpPr>
                    <a:spLocks noChangeShapeType="1"/>
                  </p:cNvSpPr>
                  <p:nvPr/>
                </p:nvSpPr>
                <p:spPr bwMode="auto">
                  <a:xfrm>
                    <a:off x="3371" y="2098"/>
                    <a:ext cx="0" cy="719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9" name="Line 665"/>
                  <p:cNvSpPr>
                    <a:spLocks noChangeShapeType="1"/>
                  </p:cNvSpPr>
                  <p:nvPr/>
                </p:nvSpPr>
                <p:spPr bwMode="auto">
                  <a:xfrm>
                    <a:off x="3530" y="2107"/>
                    <a:ext cx="0" cy="141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0" name="Line 666"/>
                  <p:cNvSpPr>
                    <a:spLocks noChangeShapeType="1"/>
                  </p:cNvSpPr>
                  <p:nvPr/>
                </p:nvSpPr>
                <p:spPr bwMode="auto">
                  <a:xfrm>
                    <a:off x="4033" y="2093"/>
                    <a:ext cx="0" cy="14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1" name="Line 667"/>
                  <p:cNvSpPr>
                    <a:spLocks noChangeShapeType="1"/>
                  </p:cNvSpPr>
                  <p:nvPr/>
                </p:nvSpPr>
                <p:spPr bwMode="auto">
                  <a:xfrm>
                    <a:off x="4185" y="2093"/>
                    <a:ext cx="0" cy="148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2" name="Line 668"/>
                  <p:cNvSpPr>
                    <a:spLocks noChangeShapeType="1"/>
                  </p:cNvSpPr>
                  <p:nvPr/>
                </p:nvSpPr>
                <p:spPr bwMode="auto">
                  <a:xfrm>
                    <a:off x="4327" y="2093"/>
                    <a:ext cx="0" cy="148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3" name="Line 669"/>
                  <p:cNvSpPr>
                    <a:spLocks noChangeShapeType="1"/>
                  </p:cNvSpPr>
                  <p:nvPr/>
                </p:nvSpPr>
                <p:spPr bwMode="auto">
                  <a:xfrm>
                    <a:off x="2495" y="2100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4" name="Line 670"/>
                  <p:cNvSpPr>
                    <a:spLocks noChangeShapeType="1"/>
                  </p:cNvSpPr>
                  <p:nvPr/>
                </p:nvSpPr>
                <p:spPr bwMode="auto">
                  <a:xfrm>
                    <a:off x="2507" y="1728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5" name="Line 671"/>
                  <p:cNvSpPr>
                    <a:spLocks noChangeShapeType="1"/>
                  </p:cNvSpPr>
                  <p:nvPr/>
                </p:nvSpPr>
                <p:spPr bwMode="auto">
                  <a:xfrm>
                    <a:off x="2653" y="1728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6" name="Line 672"/>
                  <p:cNvSpPr>
                    <a:spLocks noChangeShapeType="1"/>
                  </p:cNvSpPr>
                  <p:nvPr/>
                </p:nvSpPr>
                <p:spPr bwMode="auto">
                  <a:xfrm>
                    <a:off x="2810" y="1728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7" name="Line 673"/>
                  <p:cNvSpPr>
                    <a:spLocks noChangeShapeType="1"/>
                  </p:cNvSpPr>
                  <p:nvPr/>
                </p:nvSpPr>
                <p:spPr bwMode="auto">
                  <a:xfrm>
                    <a:off x="4327" y="1733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8" name="Line 674"/>
                  <p:cNvSpPr>
                    <a:spLocks noChangeShapeType="1"/>
                  </p:cNvSpPr>
                  <p:nvPr/>
                </p:nvSpPr>
                <p:spPr bwMode="auto">
                  <a:xfrm>
                    <a:off x="3385" y="1733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9" name="Line 675"/>
                  <p:cNvSpPr>
                    <a:spLocks noChangeShapeType="1"/>
                  </p:cNvSpPr>
                  <p:nvPr/>
                </p:nvSpPr>
                <p:spPr bwMode="auto">
                  <a:xfrm>
                    <a:off x="3537" y="1733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0" name="Line 676"/>
                  <p:cNvSpPr>
                    <a:spLocks noChangeShapeType="1"/>
                  </p:cNvSpPr>
                  <p:nvPr/>
                </p:nvSpPr>
                <p:spPr bwMode="auto">
                  <a:xfrm>
                    <a:off x="4011" y="1733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1" name="Line 677"/>
                  <p:cNvSpPr>
                    <a:spLocks noChangeShapeType="1"/>
                  </p:cNvSpPr>
                  <p:nvPr/>
                </p:nvSpPr>
                <p:spPr bwMode="auto">
                  <a:xfrm>
                    <a:off x="4169" y="1733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2" name="Line 679"/>
                  <p:cNvSpPr>
                    <a:spLocks noChangeShapeType="1"/>
                  </p:cNvSpPr>
                  <p:nvPr/>
                </p:nvSpPr>
                <p:spPr bwMode="auto">
                  <a:xfrm>
                    <a:off x="2511" y="1425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3" name="Line 680"/>
                  <p:cNvSpPr>
                    <a:spLocks noChangeShapeType="1"/>
                  </p:cNvSpPr>
                  <p:nvPr/>
                </p:nvSpPr>
                <p:spPr bwMode="auto">
                  <a:xfrm>
                    <a:off x="2653" y="1413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4" name="Line 681"/>
                  <p:cNvSpPr>
                    <a:spLocks noChangeShapeType="1"/>
                  </p:cNvSpPr>
                  <p:nvPr/>
                </p:nvSpPr>
                <p:spPr bwMode="auto">
                  <a:xfrm>
                    <a:off x="2800" y="1425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5" name="Line 682"/>
                  <p:cNvSpPr>
                    <a:spLocks noChangeShapeType="1"/>
                  </p:cNvSpPr>
                  <p:nvPr/>
                </p:nvSpPr>
                <p:spPr bwMode="auto">
                  <a:xfrm>
                    <a:off x="3227" y="1524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6" name="Line 683"/>
                  <p:cNvSpPr>
                    <a:spLocks noChangeShapeType="1"/>
                  </p:cNvSpPr>
                  <p:nvPr/>
                </p:nvSpPr>
                <p:spPr bwMode="auto">
                  <a:xfrm>
                    <a:off x="3391" y="1408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7" name="Line 684"/>
                  <p:cNvSpPr>
                    <a:spLocks noChangeShapeType="1"/>
                  </p:cNvSpPr>
                  <p:nvPr/>
                </p:nvSpPr>
                <p:spPr bwMode="auto">
                  <a:xfrm>
                    <a:off x="3537" y="1425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8" name="Line 685"/>
                  <p:cNvSpPr>
                    <a:spLocks noChangeShapeType="1"/>
                  </p:cNvSpPr>
                  <p:nvPr/>
                </p:nvSpPr>
                <p:spPr bwMode="auto">
                  <a:xfrm>
                    <a:off x="4006" y="1431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ln w="38100">
                        <a:solidFill>
                          <a:prstClr val="black"/>
                        </a:solidFill>
                      </a:ln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9" name="Line 686"/>
                  <p:cNvSpPr>
                    <a:spLocks noChangeShapeType="1"/>
                  </p:cNvSpPr>
                  <p:nvPr/>
                </p:nvSpPr>
                <p:spPr bwMode="auto">
                  <a:xfrm>
                    <a:off x="4170" y="1425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0" name="Line 687"/>
                  <p:cNvSpPr>
                    <a:spLocks noChangeShapeType="1"/>
                  </p:cNvSpPr>
                  <p:nvPr/>
                </p:nvSpPr>
                <p:spPr bwMode="auto">
                  <a:xfrm>
                    <a:off x="2509" y="1160"/>
                    <a:ext cx="0" cy="264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1" name="Line 688"/>
                  <p:cNvSpPr>
                    <a:spLocks noChangeShapeType="1"/>
                  </p:cNvSpPr>
                  <p:nvPr/>
                </p:nvSpPr>
                <p:spPr bwMode="auto">
                  <a:xfrm>
                    <a:off x="3390" y="1148"/>
                    <a:ext cx="0" cy="26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2" name="Line 690"/>
                  <p:cNvSpPr>
                    <a:spLocks noChangeShapeType="1"/>
                  </p:cNvSpPr>
                  <p:nvPr/>
                </p:nvSpPr>
                <p:spPr bwMode="auto">
                  <a:xfrm>
                    <a:off x="2816" y="1157"/>
                    <a:ext cx="1176" cy="26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3" name="Line 69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55" y="1150"/>
                    <a:ext cx="588" cy="26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4" name="Line 6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96" y="1160"/>
                    <a:ext cx="1250" cy="269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5" name="Line 693"/>
                  <p:cNvSpPr>
                    <a:spLocks noChangeShapeType="1"/>
                  </p:cNvSpPr>
                  <p:nvPr/>
                </p:nvSpPr>
                <p:spPr bwMode="auto">
                  <a:xfrm>
                    <a:off x="3544" y="1160"/>
                    <a:ext cx="631" cy="26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6" name="Line 69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38" y="1160"/>
                    <a:ext cx="661" cy="26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7" name="Line 696"/>
                  <p:cNvSpPr>
                    <a:spLocks noChangeShapeType="1"/>
                  </p:cNvSpPr>
                  <p:nvPr/>
                </p:nvSpPr>
                <p:spPr bwMode="auto">
                  <a:xfrm>
                    <a:off x="2818" y="978"/>
                    <a:ext cx="0" cy="17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8" name="Line 697"/>
                  <p:cNvSpPr>
                    <a:spLocks noChangeShapeType="1"/>
                  </p:cNvSpPr>
                  <p:nvPr/>
                </p:nvSpPr>
                <p:spPr bwMode="auto">
                  <a:xfrm>
                    <a:off x="3238" y="978"/>
                    <a:ext cx="0" cy="174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89" name="Line 698"/>
                  <p:cNvSpPr>
                    <a:spLocks noChangeShapeType="1"/>
                  </p:cNvSpPr>
                  <p:nvPr/>
                </p:nvSpPr>
                <p:spPr bwMode="auto">
                  <a:xfrm>
                    <a:off x="3390" y="978"/>
                    <a:ext cx="0" cy="17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0" name="Line 699"/>
                  <p:cNvSpPr>
                    <a:spLocks noChangeShapeType="1"/>
                  </p:cNvSpPr>
                  <p:nvPr/>
                </p:nvSpPr>
                <p:spPr bwMode="auto">
                  <a:xfrm>
                    <a:off x="3549" y="978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1" name="Line 700"/>
                  <p:cNvSpPr>
                    <a:spLocks noChangeShapeType="1"/>
                  </p:cNvSpPr>
                  <p:nvPr/>
                </p:nvSpPr>
                <p:spPr bwMode="auto">
                  <a:xfrm>
                    <a:off x="4040" y="978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2" name="Line 701"/>
                  <p:cNvSpPr>
                    <a:spLocks noChangeShapeType="1"/>
                  </p:cNvSpPr>
                  <p:nvPr/>
                </p:nvSpPr>
                <p:spPr bwMode="auto">
                  <a:xfrm>
                    <a:off x="4192" y="978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3" name="Line 702"/>
                  <p:cNvSpPr>
                    <a:spLocks noChangeShapeType="1"/>
                  </p:cNvSpPr>
                  <p:nvPr/>
                </p:nvSpPr>
                <p:spPr bwMode="auto">
                  <a:xfrm>
                    <a:off x="4327" y="978"/>
                    <a:ext cx="0" cy="741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4" name="Line 703"/>
                  <p:cNvSpPr>
                    <a:spLocks noChangeShapeType="1"/>
                  </p:cNvSpPr>
                  <p:nvPr/>
                </p:nvSpPr>
                <p:spPr bwMode="auto">
                  <a:xfrm>
                    <a:off x="2509" y="978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5" name="Line 704"/>
                  <p:cNvSpPr>
                    <a:spLocks noChangeShapeType="1"/>
                  </p:cNvSpPr>
                  <p:nvPr/>
                </p:nvSpPr>
                <p:spPr bwMode="auto">
                  <a:xfrm>
                    <a:off x="2519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6" name="Line 705"/>
                  <p:cNvSpPr>
                    <a:spLocks noChangeShapeType="1"/>
                  </p:cNvSpPr>
                  <p:nvPr/>
                </p:nvSpPr>
                <p:spPr bwMode="auto">
                  <a:xfrm>
                    <a:off x="2667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7" name="Line 706"/>
                  <p:cNvSpPr>
                    <a:spLocks noChangeShapeType="1"/>
                  </p:cNvSpPr>
                  <p:nvPr/>
                </p:nvSpPr>
                <p:spPr bwMode="auto">
                  <a:xfrm>
                    <a:off x="2823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8" name="Line 707"/>
                  <p:cNvSpPr>
                    <a:spLocks noChangeShapeType="1"/>
                  </p:cNvSpPr>
                  <p:nvPr/>
                </p:nvSpPr>
                <p:spPr bwMode="auto">
                  <a:xfrm>
                    <a:off x="4339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99" name="Line 708"/>
                  <p:cNvSpPr>
                    <a:spLocks noChangeShapeType="1"/>
                  </p:cNvSpPr>
                  <p:nvPr/>
                </p:nvSpPr>
                <p:spPr bwMode="auto">
                  <a:xfrm>
                    <a:off x="3397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0" name="Line 709"/>
                  <p:cNvSpPr>
                    <a:spLocks noChangeShapeType="1"/>
                  </p:cNvSpPr>
                  <p:nvPr/>
                </p:nvSpPr>
                <p:spPr bwMode="auto">
                  <a:xfrm>
                    <a:off x="3550" y="662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1" name="Line 710"/>
                  <p:cNvSpPr>
                    <a:spLocks noChangeShapeType="1"/>
                  </p:cNvSpPr>
                  <p:nvPr/>
                </p:nvSpPr>
                <p:spPr bwMode="auto">
                  <a:xfrm>
                    <a:off x="4024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2" name="Line 711"/>
                  <p:cNvSpPr>
                    <a:spLocks noChangeShapeType="1"/>
                  </p:cNvSpPr>
                  <p:nvPr/>
                </p:nvSpPr>
                <p:spPr bwMode="auto">
                  <a:xfrm>
                    <a:off x="4181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3" name="Line 712"/>
                  <p:cNvSpPr>
                    <a:spLocks noChangeShapeType="1"/>
                  </p:cNvSpPr>
                  <p:nvPr/>
                </p:nvSpPr>
                <p:spPr bwMode="auto">
                  <a:xfrm>
                    <a:off x="3239" y="662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4" name="Rectangle 713"/>
                  <p:cNvSpPr>
                    <a:spLocks noChangeArrowheads="1"/>
                  </p:cNvSpPr>
                  <p:nvPr/>
                </p:nvSpPr>
                <p:spPr bwMode="auto">
                  <a:xfrm>
                    <a:off x="2445" y="816"/>
                    <a:ext cx="443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11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5" name="Rectangle 714"/>
                  <p:cNvSpPr>
                    <a:spLocks noChangeArrowheads="1"/>
                  </p:cNvSpPr>
                  <p:nvPr/>
                </p:nvSpPr>
                <p:spPr bwMode="auto">
                  <a:xfrm>
                    <a:off x="3182" y="816"/>
                    <a:ext cx="441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12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6" name="Rectangle 715">
                    <a:hlinkClick r:id="rId5" action="ppaction://hlinksldjump"/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60" y="816"/>
                    <a:ext cx="442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13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7" name="Line 716"/>
                  <p:cNvSpPr>
                    <a:spLocks noChangeShapeType="1"/>
                  </p:cNvSpPr>
                  <p:nvPr/>
                </p:nvSpPr>
                <p:spPr bwMode="auto">
                  <a:xfrm>
                    <a:off x="2494" y="2513"/>
                    <a:ext cx="0" cy="174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8" name="Line 718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2515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9" name="Line 719"/>
                  <p:cNvSpPr>
                    <a:spLocks noChangeShapeType="1"/>
                  </p:cNvSpPr>
                  <p:nvPr/>
                </p:nvSpPr>
                <p:spPr bwMode="auto">
                  <a:xfrm>
                    <a:off x="3215" y="2519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0" name="Line 720"/>
                  <p:cNvSpPr>
                    <a:spLocks noChangeShapeType="1"/>
                  </p:cNvSpPr>
                  <p:nvPr/>
                </p:nvSpPr>
                <p:spPr bwMode="auto">
                  <a:xfrm>
                    <a:off x="3530" y="2519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1" name="Line 721"/>
                  <p:cNvSpPr>
                    <a:spLocks noChangeShapeType="1"/>
                  </p:cNvSpPr>
                  <p:nvPr/>
                </p:nvSpPr>
                <p:spPr bwMode="auto">
                  <a:xfrm>
                    <a:off x="3993" y="2519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2" name="Line 722"/>
                  <p:cNvSpPr>
                    <a:spLocks noChangeShapeType="1"/>
                  </p:cNvSpPr>
                  <p:nvPr/>
                </p:nvSpPr>
                <p:spPr bwMode="auto">
                  <a:xfrm>
                    <a:off x="4150" y="2519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3" name="Line 723"/>
                  <p:cNvSpPr>
                    <a:spLocks noChangeShapeType="1"/>
                  </p:cNvSpPr>
                  <p:nvPr/>
                </p:nvSpPr>
                <p:spPr bwMode="auto">
                  <a:xfrm>
                    <a:off x="4331" y="2513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4" name="Line 724"/>
                  <p:cNvSpPr>
                    <a:spLocks noChangeShapeType="1"/>
                  </p:cNvSpPr>
                  <p:nvPr/>
                </p:nvSpPr>
                <p:spPr bwMode="auto">
                  <a:xfrm>
                    <a:off x="2821" y="3168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5" name="Line 725"/>
                  <p:cNvSpPr>
                    <a:spLocks noChangeShapeType="1"/>
                  </p:cNvSpPr>
                  <p:nvPr/>
                </p:nvSpPr>
                <p:spPr bwMode="auto">
                  <a:xfrm>
                    <a:off x="3220" y="3168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6" name="Line 726"/>
                  <p:cNvSpPr>
                    <a:spLocks noChangeShapeType="1"/>
                  </p:cNvSpPr>
                  <p:nvPr/>
                </p:nvSpPr>
                <p:spPr bwMode="auto">
                  <a:xfrm>
                    <a:off x="3383" y="3168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7" name="Line 727"/>
                  <p:cNvSpPr>
                    <a:spLocks noChangeShapeType="1"/>
                  </p:cNvSpPr>
                  <p:nvPr/>
                </p:nvSpPr>
                <p:spPr bwMode="auto">
                  <a:xfrm>
                    <a:off x="3530" y="3168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8" name="Line 728"/>
                  <p:cNvSpPr>
                    <a:spLocks noChangeShapeType="1"/>
                  </p:cNvSpPr>
                  <p:nvPr/>
                </p:nvSpPr>
                <p:spPr bwMode="auto">
                  <a:xfrm>
                    <a:off x="4009" y="3168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9" name="Line 729"/>
                  <p:cNvSpPr>
                    <a:spLocks noChangeShapeType="1"/>
                  </p:cNvSpPr>
                  <p:nvPr/>
                </p:nvSpPr>
                <p:spPr bwMode="auto">
                  <a:xfrm>
                    <a:off x="4167" y="3168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0" name="Line 730"/>
                  <p:cNvSpPr>
                    <a:spLocks noChangeShapeType="1"/>
                  </p:cNvSpPr>
                  <p:nvPr/>
                </p:nvSpPr>
                <p:spPr bwMode="auto">
                  <a:xfrm>
                    <a:off x="4313" y="3168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1" name="Line 731"/>
                  <p:cNvSpPr>
                    <a:spLocks noChangeShapeType="1"/>
                  </p:cNvSpPr>
                  <p:nvPr/>
                </p:nvSpPr>
                <p:spPr bwMode="auto">
                  <a:xfrm>
                    <a:off x="2632" y="3157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2" name="Line 733"/>
                  <p:cNvSpPr>
                    <a:spLocks noChangeShapeType="1"/>
                  </p:cNvSpPr>
                  <p:nvPr/>
                </p:nvSpPr>
                <p:spPr bwMode="auto">
                  <a:xfrm>
                    <a:off x="2649" y="3501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3" name="Text Box 7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79" y="210"/>
                    <a:ext cx="254" cy="141"/>
                  </a:xfrm>
                  <a:prstGeom prst="rect">
                    <a:avLst/>
                  </a:prstGeom>
                  <a:ln>
                    <a:headEnd/>
                    <a:tailEnd/>
                  </a:ln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lnSpc>
                        <a:spcPct val="80000"/>
                      </a:lnSpc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4" name="Text Box 73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71" y="198"/>
                    <a:ext cx="1501" cy="165"/>
                  </a:xfrm>
                  <a:prstGeom prst="rect">
                    <a:avLst/>
                  </a:prstGeom>
                  <a:solidFill>
                    <a:srgbClr val="CCECFF"/>
                  </a:solidFill>
                  <a:ln w="19050">
                    <a:solidFill>
                      <a:srgbClr val="002060"/>
                    </a:solidFill>
                    <a:headEnd/>
                    <a:tailEnd/>
                  </a:ln>
                  <a:effectLst>
                    <a:glow rad="63500">
                      <a:schemeClr val="accent1">
                        <a:satMod val="175000"/>
                        <a:alpha val="40000"/>
                      </a:schemeClr>
                    </a:glow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ru-RU" sz="1300" b="1" dirty="0" err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Очиқ матн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5" name="Line 737"/>
                  <p:cNvSpPr>
                    <a:spLocks noChangeShapeType="1"/>
                  </p:cNvSpPr>
                  <p:nvPr/>
                </p:nvSpPr>
                <p:spPr bwMode="auto">
                  <a:xfrm>
                    <a:off x="2790" y="3499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6" name="Line 738"/>
                  <p:cNvSpPr>
                    <a:spLocks noChangeShapeType="1"/>
                  </p:cNvSpPr>
                  <p:nvPr/>
                </p:nvSpPr>
                <p:spPr bwMode="auto">
                  <a:xfrm>
                    <a:off x="3219" y="3501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7" name="Line 739"/>
                  <p:cNvSpPr>
                    <a:spLocks noChangeShapeType="1"/>
                  </p:cNvSpPr>
                  <p:nvPr/>
                </p:nvSpPr>
                <p:spPr bwMode="auto">
                  <a:xfrm>
                    <a:off x="3384" y="3499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8" name="Line 740"/>
                  <p:cNvSpPr>
                    <a:spLocks noChangeShapeType="1"/>
                  </p:cNvSpPr>
                  <p:nvPr/>
                </p:nvSpPr>
                <p:spPr bwMode="auto">
                  <a:xfrm>
                    <a:off x="3537" y="3499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9" name="Line 741"/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99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0" name="Line 742"/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99"/>
                    <a:ext cx="0" cy="173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1" name="Line 743"/>
                  <p:cNvSpPr>
                    <a:spLocks noChangeShapeType="1"/>
                  </p:cNvSpPr>
                  <p:nvPr/>
                </p:nvSpPr>
                <p:spPr bwMode="auto">
                  <a:xfrm>
                    <a:off x="4328" y="3499"/>
                    <a:ext cx="0" cy="173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3" name="Line 746"/>
                  <p:cNvSpPr>
                    <a:spLocks noChangeShapeType="1"/>
                  </p:cNvSpPr>
                  <p:nvPr/>
                </p:nvSpPr>
                <p:spPr bwMode="auto">
                  <a:xfrm>
                    <a:off x="2799" y="2840"/>
                    <a:ext cx="0" cy="17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4" name="Line 747"/>
                  <p:cNvSpPr>
                    <a:spLocks noChangeShapeType="1"/>
                  </p:cNvSpPr>
                  <p:nvPr/>
                </p:nvSpPr>
                <p:spPr bwMode="auto">
                  <a:xfrm>
                    <a:off x="4314" y="2840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5" name="Line 748"/>
                  <p:cNvSpPr>
                    <a:spLocks noChangeShapeType="1"/>
                  </p:cNvSpPr>
                  <p:nvPr/>
                </p:nvSpPr>
                <p:spPr bwMode="auto">
                  <a:xfrm>
                    <a:off x="3373" y="2840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6" name="Line 749"/>
                  <p:cNvSpPr>
                    <a:spLocks noChangeShapeType="1"/>
                  </p:cNvSpPr>
                  <p:nvPr/>
                </p:nvSpPr>
                <p:spPr bwMode="auto">
                  <a:xfrm>
                    <a:off x="3525" y="2840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7" name="Line 750"/>
                  <p:cNvSpPr>
                    <a:spLocks noChangeShapeType="1"/>
                  </p:cNvSpPr>
                  <p:nvPr/>
                </p:nvSpPr>
                <p:spPr bwMode="auto">
                  <a:xfrm>
                    <a:off x="3999" y="2840"/>
                    <a:ext cx="0" cy="174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8" name="Line 751"/>
                  <p:cNvSpPr>
                    <a:spLocks noChangeShapeType="1"/>
                  </p:cNvSpPr>
                  <p:nvPr/>
                </p:nvSpPr>
                <p:spPr bwMode="auto">
                  <a:xfrm>
                    <a:off x="4156" y="2840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9" name="Line 752"/>
                  <p:cNvSpPr>
                    <a:spLocks noChangeShapeType="1"/>
                  </p:cNvSpPr>
                  <p:nvPr/>
                </p:nvSpPr>
                <p:spPr bwMode="auto">
                  <a:xfrm>
                    <a:off x="3215" y="2840"/>
                    <a:ext cx="0" cy="174"/>
                  </a:xfrm>
                  <a:prstGeom prst="line">
                    <a:avLst/>
                  </a:prstGeom>
                  <a:grp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0" name="Rectangle 753">
                    <a:hlinkClick r:id="rId6" action="ppaction://hlinksldjump"/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20" y="2985"/>
                    <a:ext cx="442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31</a:t>
                    </a:r>
                    <a:endParaRPr lang="ru-RU" sz="1300" b="1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1" name="Rectangle 754"/>
                  <p:cNvSpPr>
                    <a:spLocks noChangeArrowheads="1"/>
                  </p:cNvSpPr>
                  <p:nvPr/>
                </p:nvSpPr>
                <p:spPr bwMode="auto">
                  <a:xfrm>
                    <a:off x="3157" y="2991"/>
                    <a:ext cx="442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32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2" name="Rectangle 755"/>
                  <p:cNvSpPr>
                    <a:spLocks noChangeArrowheads="1"/>
                  </p:cNvSpPr>
                  <p:nvPr/>
                </p:nvSpPr>
                <p:spPr bwMode="auto">
                  <a:xfrm>
                    <a:off x="3935" y="2991"/>
                    <a:ext cx="443" cy="188"/>
                  </a:xfrm>
                  <a:prstGeom prst="rect">
                    <a:avLst/>
                  </a:prstGeom>
                  <a:ln w="12700">
                    <a:solidFill>
                      <a:srgbClr val="C00000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S</a:t>
                    </a:r>
                    <a:r>
                      <a:rPr lang="en-US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33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3" name="Line 756"/>
                  <p:cNvSpPr>
                    <a:spLocks noChangeShapeType="1"/>
                  </p:cNvSpPr>
                  <p:nvPr/>
                </p:nvSpPr>
                <p:spPr bwMode="auto">
                  <a:xfrm>
                    <a:off x="4410" y="1454"/>
                    <a:ext cx="181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4" name="Line 757"/>
                  <p:cNvSpPr>
                    <a:spLocks noChangeShapeType="1"/>
                  </p:cNvSpPr>
                  <p:nvPr/>
                </p:nvSpPr>
                <p:spPr bwMode="auto">
                  <a:xfrm>
                    <a:off x="4407" y="2550"/>
                    <a:ext cx="181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5" name="Line 758"/>
                  <p:cNvSpPr>
                    <a:spLocks noChangeShapeType="1"/>
                  </p:cNvSpPr>
                  <p:nvPr/>
                </p:nvSpPr>
                <p:spPr bwMode="auto">
                  <a:xfrm>
                    <a:off x="4418" y="3230"/>
                    <a:ext cx="153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6" name="Line 759"/>
                  <p:cNvSpPr>
                    <a:spLocks noChangeShapeType="1"/>
                  </p:cNvSpPr>
                  <p:nvPr/>
                </p:nvSpPr>
                <p:spPr bwMode="auto">
                  <a:xfrm>
                    <a:off x="4410" y="1491"/>
                    <a:ext cx="181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7" name="Line 760"/>
                  <p:cNvSpPr>
                    <a:spLocks noChangeShapeType="1"/>
                  </p:cNvSpPr>
                  <p:nvPr/>
                </p:nvSpPr>
                <p:spPr bwMode="auto">
                  <a:xfrm>
                    <a:off x="4586" y="1491"/>
                    <a:ext cx="0" cy="1059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8" name="Line 761"/>
                  <p:cNvSpPr>
                    <a:spLocks noChangeShapeType="1"/>
                  </p:cNvSpPr>
                  <p:nvPr/>
                </p:nvSpPr>
                <p:spPr bwMode="auto">
                  <a:xfrm>
                    <a:off x="4588" y="2145"/>
                    <a:ext cx="147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9" name="Line 762"/>
                  <p:cNvSpPr>
                    <a:spLocks noChangeShapeType="1"/>
                  </p:cNvSpPr>
                  <p:nvPr/>
                </p:nvSpPr>
                <p:spPr bwMode="auto">
                  <a:xfrm>
                    <a:off x="4398" y="393"/>
                    <a:ext cx="181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0" name="Line 763"/>
                  <p:cNvSpPr>
                    <a:spLocks noChangeShapeType="1"/>
                  </p:cNvSpPr>
                  <p:nvPr/>
                </p:nvSpPr>
                <p:spPr bwMode="auto">
                  <a:xfrm>
                    <a:off x="4586" y="384"/>
                    <a:ext cx="0" cy="1082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1" name="Line 764"/>
                  <p:cNvSpPr>
                    <a:spLocks noChangeShapeType="1"/>
                  </p:cNvSpPr>
                  <p:nvPr/>
                </p:nvSpPr>
                <p:spPr bwMode="auto">
                  <a:xfrm>
                    <a:off x="4593" y="958"/>
                    <a:ext cx="148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2" name="Text Box 7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71" y="864"/>
                    <a:ext cx="356" cy="198"/>
                  </a:xfrm>
                  <a:prstGeom prst="rect">
                    <a:avLst/>
                  </a:prstGeom>
                  <a:ln w="19050">
                    <a:solidFill>
                      <a:srgbClr val="7030A0"/>
                    </a:solidFill>
                    <a:headEnd/>
                    <a:tailEnd/>
                  </a:ln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r>
                      <a:rPr lang="uz-Cyrl-UZ" sz="1300" b="1" dirty="0" smtClean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1-рд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3" name="Text Box 76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0" y="2051"/>
                    <a:ext cx="356" cy="198"/>
                  </a:xfrm>
                  <a:prstGeom prst="rect">
                    <a:avLst/>
                  </a:prstGeom>
                  <a:ln w="19050">
                    <a:solidFill>
                      <a:srgbClr val="7030A0"/>
                    </a:solidFill>
                    <a:headEnd/>
                    <a:tailEnd/>
                  </a:ln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r>
                      <a:rPr lang="uz-Cyrl-UZ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2-рд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4" name="Line 767"/>
                  <p:cNvSpPr>
                    <a:spLocks noChangeShapeType="1"/>
                  </p:cNvSpPr>
                  <p:nvPr/>
                </p:nvSpPr>
                <p:spPr bwMode="auto">
                  <a:xfrm>
                    <a:off x="4418" y="2612"/>
                    <a:ext cx="153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5" name="Line 768"/>
                  <p:cNvSpPr>
                    <a:spLocks noChangeShapeType="1"/>
                  </p:cNvSpPr>
                  <p:nvPr/>
                </p:nvSpPr>
                <p:spPr bwMode="auto">
                  <a:xfrm>
                    <a:off x="4577" y="2612"/>
                    <a:ext cx="0" cy="612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6" name="Line 769"/>
                  <p:cNvSpPr>
                    <a:spLocks noChangeShapeType="1"/>
                  </p:cNvSpPr>
                  <p:nvPr/>
                </p:nvSpPr>
                <p:spPr bwMode="auto">
                  <a:xfrm>
                    <a:off x="4588" y="2985"/>
                    <a:ext cx="147" cy="0"/>
                  </a:xfrm>
                  <a:prstGeom prst="line">
                    <a:avLst/>
                  </a:prstGeom>
                  <a:grpFill/>
                  <a:ln w="254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7" name="Text Box 770">
                    <a:hlinkClick r:id="rId7" action="ppaction://hlinksldjump"/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98" y="2892"/>
                    <a:ext cx="356" cy="198"/>
                  </a:xfrm>
                  <a:prstGeom prst="rect">
                    <a:avLst/>
                  </a:prstGeom>
                  <a:ln w="19050">
                    <a:solidFill>
                      <a:srgbClr val="7030A0"/>
                    </a:solidFill>
                    <a:headEnd/>
                    <a:tailEnd/>
                  </a:ln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>
                      <a:defRPr/>
                    </a:pPr>
                    <a:r>
                      <a:rPr lang="uz-Cyrl-UZ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3-рд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8" name="Line 773"/>
                  <p:cNvSpPr>
                    <a:spLocks noChangeShapeType="1"/>
                  </p:cNvSpPr>
                  <p:nvPr/>
                </p:nvSpPr>
                <p:spPr bwMode="auto">
                  <a:xfrm>
                    <a:off x="2682" y="1009"/>
                    <a:ext cx="0" cy="165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59" name="Line 775"/>
                  <p:cNvSpPr>
                    <a:spLocks noChangeShapeType="1"/>
                  </p:cNvSpPr>
                  <p:nvPr/>
                </p:nvSpPr>
                <p:spPr bwMode="auto">
                  <a:xfrm>
                    <a:off x="3237" y="1440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0" name="Line 776"/>
                  <p:cNvSpPr>
                    <a:spLocks noChangeShapeType="1"/>
                  </p:cNvSpPr>
                  <p:nvPr/>
                </p:nvSpPr>
                <p:spPr bwMode="auto">
                  <a:xfrm>
                    <a:off x="3237" y="1735"/>
                    <a:ext cx="0" cy="173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1" name="Line 777"/>
                  <p:cNvSpPr>
                    <a:spLocks noChangeShapeType="1"/>
                  </p:cNvSpPr>
                  <p:nvPr/>
                </p:nvSpPr>
                <p:spPr bwMode="auto">
                  <a:xfrm>
                    <a:off x="3237" y="2104"/>
                    <a:ext cx="0" cy="141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2" name="Line 77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43" y="2252"/>
                    <a:ext cx="592" cy="269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3" name="Line 779"/>
                  <p:cNvSpPr>
                    <a:spLocks noChangeShapeType="1"/>
                  </p:cNvSpPr>
                  <p:nvPr/>
                </p:nvSpPr>
                <p:spPr bwMode="auto">
                  <a:xfrm>
                    <a:off x="2645" y="2798"/>
                    <a:ext cx="0" cy="174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4" name="Line 786"/>
                  <p:cNvSpPr>
                    <a:spLocks noChangeShapeType="1"/>
                  </p:cNvSpPr>
                  <p:nvPr/>
                </p:nvSpPr>
                <p:spPr bwMode="auto">
                  <a:xfrm>
                    <a:off x="2480" y="3175"/>
                    <a:ext cx="0" cy="181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5" name="AutoShape 790"/>
                  <p:cNvSpPr>
                    <a:spLocks noChangeArrowheads="1"/>
                  </p:cNvSpPr>
                  <p:nvPr/>
                </p:nvSpPr>
                <p:spPr bwMode="auto">
                  <a:xfrm>
                    <a:off x="2385" y="1578"/>
                    <a:ext cx="2083" cy="188"/>
                  </a:xfrm>
                  <a:prstGeom prst="flowChartProcess">
                    <a:avLst/>
                  </a:prstGeom>
                  <a:ln w="19050">
                    <a:solidFill>
                      <a:srgbClr val="003399"/>
                    </a:solidFill>
                    <a:headEnd/>
                    <a:tailEnd/>
                  </a:ln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indent="808038" algn="just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[</a:t>
                    </a:r>
                    <a:r>
                      <a:rPr lang="uz-Cyrl-UZ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Қисм </a:t>
                    </a:r>
                    <a:r>
                      <a:rPr lang="ru-RU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калит </a:t>
                    </a:r>
                    <a:r>
                      <a:rPr lang="ru-RU" sz="1300" b="1" dirty="0" err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қўшиш</a:t>
                    </a: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]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6" name="AutoShape 794"/>
                  <p:cNvSpPr>
                    <a:spLocks noChangeArrowheads="1"/>
                  </p:cNvSpPr>
                  <p:nvPr/>
                </p:nvSpPr>
                <p:spPr bwMode="auto">
                  <a:xfrm>
                    <a:off x="2397" y="490"/>
                    <a:ext cx="2084" cy="188"/>
                  </a:xfrm>
                  <a:prstGeom prst="flowChartProcess">
                    <a:avLst/>
                  </a:prstGeom>
                  <a:ln w="19050">
                    <a:solidFill>
                      <a:srgbClr val="003399"/>
                    </a:solidFill>
                    <a:headEnd/>
                    <a:tailEnd/>
                  </a:ln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[ </a:t>
                    </a:r>
                    <a:r>
                      <a:rPr lang="uz-Cyrl-UZ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Қисм </a:t>
                    </a:r>
                    <a:r>
                      <a:rPr lang="ru-RU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калит </a:t>
                    </a:r>
                    <a:r>
                      <a:rPr lang="ru-RU" sz="1300" b="1" dirty="0" err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қўшиш</a:t>
                    </a:r>
                    <a:r>
                      <a:rPr lang="ru-RU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</a:t>
                    </a: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]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7" name="AutoShape 799"/>
                  <p:cNvSpPr>
                    <a:spLocks noChangeArrowheads="1"/>
                  </p:cNvSpPr>
                  <p:nvPr/>
                </p:nvSpPr>
                <p:spPr bwMode="auto">
                  <a:xfrm>
                    <a:off x="2373" y="2658"/>
                    <a:ext cx="2083" cy="188"/>
                  </a:xfrm>
                  <a:prstGeom prst="flowChartProcess">
                    <a:avLst/>
                  </a:prstGeom>
                  <a:ln w="19050">
                    <a:solidFill>
                      <a:srgbClr val="000099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[ </a:t>
                    </a:r>
                    <a:r>
                      <a:rPr lang="uz-Cyrl-UZ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Қисм </a:t>
                    </a:r>
                    <a:r>
                      <a:rPr lang="ru-RU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калит </a:t>
                    </a:r>
                    <a:r>
                      <a:rPr lang="ru-RU" sz="1300" b="1" dirty="0" err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қўшиш</a:t>
                    </a: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]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8" name="AutoShape 803"/>
                  <p:cNvSpPr>
                    <a:spLocks noChangeArrowheads="1"/>
                  </p:cNvSpPr>
                  <p:nvPr/>
                </p:nvSpPr>
                <p:spPr bwMode="auto">
                  <a:xfrm>
                    <a:off x="2391" y="3312"/>
                    <a:ext cx="2083" cy="188"/>
                  </a:xfrm>
                  <a:prstGeom prst="flowChartProcess">
                    <a:avLst/>
                  </a:prstGeom>
                  <a:ln w="19050">
                    <a:solidFill>
                      <a:srgbClr val="003399"/>
                    </a:solidFill>
                    <a:headEnd/>
                    <a:tailEnd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[ </a:t>
                    </a:r>
                    <a:r>
                      <a:rPr lang="uz-Cyrl-UZ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Қисм </a:t>
                    </a:r>
                    <a:r>
                      <a:rPr lang="ru-RU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калит </a:t>
                    </a:r>
                    <a:r>
                      <a:rPr lang="ru-RU" sz="1300" b="1" dirty="0" err="1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қўшиш</a:t>
                    </a: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 ]</a:t>
                    </a: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  <a:p>
                    <a:pPr>
                      <a:defRPr/>
                    </a:pPr>
                    <a:endParaRPr lang="ru-RU" sz="1300" b="1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9" name="Text Box 7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29" y="211"/>
                    <a:ext cx="254" cy="141"/>
                  </a:xfrm>
                  <a:prstGeom prst="rect">
                    <a:avLst/>
                  </a:prstGeom>
                  <a:ln>
                    <a:headEnd/>
                    <a:tailEnd/>
                  </a:ln>
                </p:spPr>
                <p:style>
                  <a:lnRef idx="1">
                    <a:schemeClr val="accent6"/>
                  </a:lnRef>
                  <a:fillRef idx="2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/>
                  <a:lstStyle/>
                  <a:p>
                    <a:pPr algn="ctr">
                      <a:lnSpc>
                        <a:spcPct val="80000"/>
                      </a:lnSpc>
                      <a:defRPr/>
                    </a:pPr>
                    <a:r>
                      <a:rPr lang="en-US" sz="1300" b="1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uz-Cyrl-UZ" sz="1300" b="1" baseline="-25000" dirty="0">
                        <a:solidFill>
                          <a:prstClr val="black"/>
                        </a:solidFill>
                        <a:latin typeface="Times New Roman" pitchFamily="18" charset="0"/>
                        <a:cs typeface="Times New Roman" pitchFamily="18" charset="0"/>
                      </a:rPr>
                      <a:t>9</a:t>
                    </a:r>
                    <a:endParaRPr lang="ru-RU" sz="1300" b="1" baseline="-25000" dirty="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70" name="Line 773"/>
                  <p:cNvSpPr>
                    <a:spLocks noChangeShapeType="1"/>
                  </p:cNvSpPr>
                  <p:nvPr/>
                </p:nvSpPr>
                <p:spPr bwMode="auto">
                  <a:xfrm>
                    <a:off x="2677" y="1165"/>
                    <a:ext cx="560" cy="282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71" name="Line 779"/>
                  <p:cNvSpPr>
                    <a:spLocks noChangeShapeType="1"/>
                  </p:cNvSpPr>
                  <p:nvPr/>
                </p:nvSpPr>
                <p:spPr bwMode="auto">
                  <a:xfrm>
                    <a:off x="2648" y="2517"/>
                    <a:ext cx="0" cy="141"/>
                  </a:xfrm>
                  <a:prstGeom prst="line">
                    <a:avLst/>
                  </a:prstGeom>
                  <a:grp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72" name="Line 786"/>
                  <p:cNvSpPr>
                    <a:spLocks noChangeShapeType="1"/>
                  </p:cNvSpPr>
                  <p:nvPr/>
                </p:nvSpPr>
                <p:spPr bwMode="auto">
                  <a:xfrm>
                    <a:off x="2480" y="3509"/>
                    <a:ext cx="0" cy="181"/>
                  </a:xfrm>
                  <a:prstGeom prst="line">
                    <a:avLst/>
                  </a:prstGeom>
                  <a:grpFill/>
                  <a:ln w="2857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ru-RU" sz="1300">
                      <a:solidFill>
                        <a:prstClr val="black"/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</p:grpSp>
          <p:sp>
            <p:nvSpPr>
              <p:cNvPr id="32" name="Text Box 735"/>
              <p:cNvSpPr txBox="1">
                <a:spLocks noChangeArrowheads="1"/>
              </p:cNvSpPr>
              <p:nvPr/>
            </p:nvSpPr>
            <p:spPr bwMode="auto">
              <a:xfrm>
                <a:off x="4888260" y="6195715"/>
                <a:ext cx="358748" cy="21590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en-US" sz="13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1300" b="1" baseline="-25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13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Text Box 736"/>
              <p:cNvSpPr txBox="1">
                <a:spLocks noChangeArrowheads="1"/>
              </p:cNvSpPr>
              <p:nvPr/>
            </p:nvSpPr>
            <p:spPr bwMode="auto">
              <a:xfrm>
                <a:off x="5300849" y="6176916"/>
                <a:ext cx="2124692" cy="252480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rgbClr val="002060"/>
                </a:solidFill>
                <a:headEnd/>
                <a:tailEnd/>
              </a:ln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defRPr/>
                </a:pPr>
                <a:r>
                  <a:rPr lang="ru-RU" sz="13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Шифр </a:t>
                </a:r>
                <a:r>
                  <a:rPr lang="ru-RU" sz="1300" b="1" dirty="0" err="1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матн</a:t>
                </a:r>
                <a:endParaRPr lang="ru-RU" sz="1300" b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Text Box 735"/>
              <p:cNvSpPr txBox="1">
                <a:spLocks noChangeArrowheads="1"/>
              </p:cNvSpPr>
              <p:nvPr/>
            </p:nvSpPr>
            <p:spPr bwMode="auto">
              <a:xfrm>
                <a:off x="7505853" y="6197303"/>
                <a:ext cx="360336" cy="215902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en-US" sz="1300" b="1" baseline="-25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uz-Cyrl-UZ" sz="1300" b="1" baseline="-25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9</a:t>
                </a:r>
                <a:endParaRPr lang="ru-RU" sz="1300" b="1" baseline="-250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aphicFrame>
        <p:nvGraphicFramePr>
          <p:cNvPr id="60507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405364"/>
              </p:ext>
            </p:extLst>
          </p:nvPr>
        </p:nvGraphicFramePr>
        <p:xfrm>
          <a:off x="1285852" y="6068712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5" name="Equation" r:id="rId8" imgW="164814" imgH="177492" progId="Equation.3">
                  <p:embed/>
                </p:oleObj>
              </mc:Choice>
              <mc:Fallback>
                <p:oleObj name="Equation" r:id="rId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6068712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08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2181780"/>
              </p:ext>
            </p:extLst>
          </p:nvPr>
        </p:nvGraphicFramePr>
        <p:xfrm>
          <a:off x="1285852" y="5782960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6" name="Equation" r:id="rId9" imgW="164814" imgH="177492" progId="Equation.3">
                  <p:embed/>
                </p:oleObj>
              </mc:Choice>
              <mc:Fallback>
                <p:oleObj name="Equation" r:id="rId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5782960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09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124107"/>
              </p:ext>
            </p:extLst>
          </p:nvPr>
        </p:nvGraphicFramePr>
        <p:xfrm>
          <a:off x="1285852" y="5525782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7" name="Equation" r:id="rId10" imgW="164814" imgH="177492" progId="Equation.3">
                  <p:embed/>
                </p:oleObj>
              </mc:Choice>
              <mc:Fallback>
                <p:oleObj name="Equation" r:id="rId1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5525782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0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214141"/>
              </p:ext>
            </p:extLst>
          </p:nvPr>
        </p:nvGraphicFramePr>
        <p:xfrm>
          <a:off x="3417881" y="5568646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8" name="Equation" r:id="rId11" imgW="164814" imgH="177492" progId="Equation.3">
                  <p:embed/>
                </p:oleObj>
              </mc:Choice>
              <mc:Fallback>
                <p:oleObj name="Equation" r:id="rId1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1" y="5568646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1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737585"/>
              </p:ext>
            </p:extLst>
          </p:nvPr>
        </p:nvGraphicFramePr>
        <p:xfrm>
          <a:off x="3417881" y="5825824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999" name="Equation" r:id="rId12" imgW="164814" imgH="177492" progId="Equation.3">
                  <p:embed/>
                </p:oleObj>
              </mc:Choice>
              <mc:Fallback>
                <p:oleObj name="Equation" r:id="rId12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1" y="5825824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2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767876"/>
              </p:ext>
            </p:extLst>
          </p:nvPr>
        </p:nvGraphicFramePr>
        <p:xfrm>
          <a:off x="3417881" y="6068712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00" name="Equation" r:id="rId13" imgW="164814" imgH="177492" progId="Equation.3">
                  <p:embed/>
                </p:oleObj>
              </mc:Choice>
              <mc:Fallback>
                <p:oleObj name="Equation" r:id="rId1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1" y="6068712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513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26870"/>
              </p:ext>
            </p:extLst>
          </p:nvPr>
        </p:nvGraphicFramePr>
        <p:xfrm>
          <a:off x="3417881" y="6354464"/>
          <a:ext cx="225425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001" name="Equation" r:id="rId14" imgW="164814" imgH="177492" progId="Equation.3">
                  <p:embed/>
                </p:oleObj>
              </mc:Choice>
              <mc:Fallback>
                <p:oleObj name="Equation" r:id="rId14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1" y="6354464"/>
                        <a:ext cx="225425" cy="24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" name="Скругленный прямоугольник 173"/>
          <p:cNvSpPr/>
          <p:nvPr/>
        </p:nvSpPr>
        <p:spPr>
          <a:xfrm>
            <a:off x="142844" y="116632"/>
            <a:ext cx="8858312" cy="66913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000" b="1" dirty="0" smtClean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SP </a:t>
            </a:r>
            <a:r>
              <a:rPr lang="ru-RU" sz="2000" b="1" dirty="0" err="1" smtClean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тармоғига</a:t>
            </a:r>
            <a:r>
              <a:rPr lang="ru-RU" sz="2000" b="1" dirty="0" smtClean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асосланган</a:t>
            </a:r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c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имметрик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err="1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шифрлаш</a:t>
            </a:r>
            <a:r>
              <a:rPr lang="ru-RU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  </a:t>
            </a:r>
            <a:r>
              <a:rPr lang="uz-Cyrl-UZ" sz="2000" b="1" dirty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ўқув алгоритмига дифференциал криптотаҳлил усулининг қўлланилиши</a:t>
            </a:r>
            <a:endParaRPr lang="ru-RU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5" name="Line 786"/>
          <p:cNvSpPr>
            <a:spLocks noChangeShapeType="1"/>
          </p:cNvSpPr>
          <p:nvPr/>
        </p:nvSpPr>
        <p:spPr bwMode="auto">
          <a:xfrm flipH="1">
            <a:off x="5357818" y="5079252"/>
            <a:ext cx="9716" cy="22195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 sz="130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66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  <p:bldP spid="12" grpId="0"/>
      <p:bldP spid="13" grpId="0" animBg="1"/>
      <p:bldP spid="14" grpId="0" animBg="1"/>
      <p:bldP spid="174" grpId="0" animBg="1"/>
      <p:bldP spid="17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7158" y="285728"/>
            <a:ext cx="8534400" cy="640080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indent="200025" algn="just">
              <a:buClr>
                <a:srgbClr val="FFFF00"/>
              </a:buClr>
              <a:buSzPct val="105000"/>
              <a:defRPr/>
            </a:pPr>
            <a:r>
              <a:rPr lang="en-US" b="1" i="1" dirty="0" smtClean="0">
                <a:ln>
                  <a:solidFill>
                    <a:srgbClr val="C0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Юқорида аниқланган кирувчи қийматларга мос 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i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блокдан чиқувчи қийматлари қуйидагилар:</a:t>
            </a:r>
            <a:endParaRPr lang="en-US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uz-Cyrl-UZ" b="1" dirty="0" smtClean="0">
                <a:ln>
                  <a:solidFill>
                    <a:srgbClr val="FF0000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ln>
                  <a:solidFill>
                    <a:srgbClr val="000099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ln>
                  <a:solidFill>
                    <a:srgbClr val="000099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b="1" dirty="0" smtClean="0">
                <a:ln>
                  <a:solidFill>
                    <a:srgbClr val="000099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b="1" dirty="0" smtClean="0">
              <a:ln>
                <a:solidFill>
                  <a:srgbClr val="000099"/>
                </a:solidFill>
              </a:ln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)=110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)=101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266700" algn="just">
              <a:defRPr/>
            </a:pP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)=010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   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)=001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indent="266700" algn="just">
              <a:defRPr/>
            </a:pP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uz-Cyrl-UZ" b="1" dirty="0" smtClean="0">
                <a:ln>
                  <a:solidFill>
                    <a:srgbClr val="FF0000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ln>
                  <a:solidFill>
                    <a:srgbClr val="FF0000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ln>
                  <a:solidFill>
                    <a:srgbClr val="000099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 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S(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ln>
                  <a:solidFill>
                    <a:srgbClr val="000099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endParaRPr lang="en-US" b="1" dirty="0" smtClean="0">
              <a:ln>
                <a:solidFill>
                  <a:srgbClr val="000099"/>
                </a:solidFill>
              </a:ln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endParaRPr lang="uz-Cyrl-UZ" sz="1000" b="1" i="1" dirty="0" smtClean="0">
              <a:ln>
                <a:solidFill>
                  <a:srgbClr val="C00000"/>
                </a:solidFill>
              </a:ln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266700" algn="just">
              <a:defRPr/>
            </a:pPr>
            <a:r>
              <a:rPr lang="en-US" b="1" i="1" dirty="0" smtClean="0">
                <a:ln>
                  <a:solidFill>
                    <a:srgbClr val="C0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i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блокдан чиқувчи </a:t>
            </a:r>
            <a:r>
              <a:rPr lang="uz-Cyrl-UZ" i="1" dirty="0" smtClean="0">
                <a:ln>
                  <a:solidFill>
                    <a:srgbClr val="000099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uz-Cyrl-UZ" i="1" baseline="-25000" dirty="0" smtClean="0">
                <a:ln>
                  <a:solidFill>
                    <a:srgbClr val="000099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орттирмани қабул қилиши мумкин бўлган қийматлар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1, 2, 7, 8 </a:t>
            </a:r>
            <a:r>
              <a:rPr lang="uz-Cyrl-UZ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ифодаларда кузатилди.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i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31</a:t>
            </a:r>
            <a:r>
              <a:rPr lang="uz-Cyrl-UZ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блокдан чиқувчи қийматларга мос равишда </a:t>
            </a:r>
            <a:r>
              <a:rPr lang="uz-Cyrl-UZ" b="1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i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қисм калит қўшилса, бизга маълум бўлган </a:t>
            </a:r>
            <a:r>
              <a:rPr lang="en-US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i="1" baseline="-25000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en-US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Y`</a:t>
            </a:r>
            <a:r>
              <a:rPr lang="en-US" i="1" baseline="-25000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i="1" dirty="0" smtClean="0">
                <a:ln>
                  <a:solidFill>
                    <a:srgbClr val="00206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000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шифр матнлар ҳосил қилинади. Натижада қуйидаги тенгламалар системаси хосил  бўлади:</a:t>
            </a:r>
            <a:endParaRPr lang="ru-RU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1) 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111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Y`</a:t>
            </a:r>
            <a:r>
              <a:rPr lang="en-US" baseline="-25000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en-US" b="1" dirty="0" smtClean="0">
                <a:ln>
                  <a:solidFill>
                    <a:srgbClr val="FF0000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defRPr/>
            </a:pP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=011 	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Y`</a:t>
            </a:r>
            <a:r>
              <a:rPr lang="en-US" baseline="-25000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</a:t>
            </a:r>
          </a:p>
          <a:p>
            <a:pPr algn="ctr">
              <a:defRPr/>
            </a:pP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5) 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11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6)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Y`</a:t>
            </a:r>
            <a:r>
              <a:rPr lang="en-US" baseline="-25000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en-US" b="1" dirty="0" smtClean="0">
                <a:ln>
                  <a:solidFill>
                    <a:srgbClr val="FF0000"/>
                  </a:solidFill>
                </a:ln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>
              <a:defRPr/>
            </a:pP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7)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 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 smtClean="0">
                <a:ln>
                  <a:solidFill>
                    <a:srgbClr val="FF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=011 	</a:t>
            </a:r>
            <a:r>
              <a:rPr lang="en-US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8)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uz-Cyrl-UZ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b="1" baseline="-25000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Y`</a:t>
            </a:r>
            <a:r>
              <a:rPr lang="en-US" baseline="-25000" dirty="0" smtClean="0">
                <a:ln>
                  <a:solidFill>
                    <a:srgbClr val="F79646">
                      <a:lumMod val="75000"/>
                    </a:srgbClr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=000</a:t>
            </a:r>
          </a:p>
          <a:p>
            <a:pPr marL="342900" indent="-342900" algn="just">
              <a:buFontTx/>
              <a:buAutoNum type="arabicParenR"/>
              <a:defRPr/>
            </a:pPr>
            <a:endParaRPr lang="ru-RU" sz="5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360363" algn="just">
              <a:defRPr/>
            </a:pPr>
            <a:r>
              <a:rPr lang="en-US" b="1" i="1" dirty="0" smtClean="0">
                <a:ln>
                  <a:solidFill>
                    <a:srgbClr val="C00000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uz-Cyrl-UZ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Тенгламалар системасини ечиш орқали қисм калитнинг қуйидаги қийматлари ҳосил қилинди: 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={ (</a:t>
            </a:r>
            <a:r>
              <a:rPr lang="uz-Cyrl-UZ" b="1" dirty="0" smtClean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(</a:t>
            </a:r>
            <a:r>
              <a:rPr lang="uz-Cyrl-UZ" b="1" dirty="0" smtClean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(</a:t>
            </a:r>
            <a:r>
              <a:rPr lang="uz-Cyrl-UZ" b="1" dirty="0" smtClean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(</a:t>
            </a:r>
            <a:r>
              <a:rPr lang="uz-Cyrl-UZ" b="1" dirty="0" smtClean="0">
                <a:ln>
                  <a:solidFill>
                    <a:prstClr val="black"/>
                  </a:solidFill>
                </a:ln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baseline="-25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}</a:t>
            </a:r>
          </a:p>
          <a:p>
            <a:pPr indent="360363" algn="just">
              <a:defRPr/>
            </a:pPr>
            <a:endParaRPr lang="uz-Cyrl-UZ" sz="5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360363" algn="just">
              <a:defRPr/>
            </a:pPr>
            <a:r>
              <a:rPr lang="uz-Cyrl-UZ" dirty="0" smtClean="0">
                <a:ln>
                  <a:solidFill>
                    <a:srgbClr val="8064A2">
                      <a:lumMod val="75000"/>
                      <a:lumOff val="25000"/>
                    </a:srgbClr>
                  </a:solidFill>
                </a:ln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Юқоридаги қадамлар кетма – кетлигини бир нечта кирувчи </a:t>
            </a:r>
            <a:r>
              <a:rPr lang="uz-Cyrl-UZ" b="1" i="1" dirty="0" smtClean="0">
                <a:ln>
                  <a:solidFill>
                    <a:srgbClr val="8064A2">
                      <a:lumMod val="75000"/>
                      <a:lumOff val="25000"/>
                    </a:srgbClr>
                  </a:solidFill>
                </a:ln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∆А</a:t>
            </a:r>
            <a:r>
              <a:rPr lang="uz-Cyrl-UZ" dirty="0" smtClean="0">
                <a:ln>
                  <a:solidFill>
                    <a:srgbClr val="8064A2">
                      <a:lumMod val="75000"/>
                      <a:lumOff val="25000"/>
                    </a:srgbClr>
                  </a:solidFill>
                </a:ln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орттирмалар учун бажариб, маҳфий калитни бир қийматли аниқлаш мумкин. </a:t>
            </a:r>
            <a:endParaRPr lang="en-US" b="1" dirty="0">
              <a:ln>
                <a:solidFill>
                  <a:srgbClr val="8064A2">
                    <a:lumMod val="75000"/>
                    <a:lumOff val="25000"/>
                  </a:srgbClr>
                </a:solidFill>
              </a:ln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620821" y="1462871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4" name="Equation" r:id="rId3" imgW="164814" imgH="177492" progId="Equation.3">
                  <p:embed/>
                </p:oleObj>
              </mc:Choice>
              <mc:Fallback>
                <p:oleObj name="Equation" r:id="rId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21" y="1462871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906705" y="1462871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5" name="Equation" r:id="rId5" imgW="164814" imgH="177492" progId="Equation.3">
                  <p:embed/>
                </p:oleObj>
              </mc:Choice>
              <mc:Fallback>
                <p:oleObj name="Equation" r:id="rId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05" y="1462871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620821" y="1748623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6" name="Equation" r:id="rId6" imgW="164814" imgH="177492" progId="Equation.3">
                  <p:embed/>
                </p:oleObj>
              </mc:Choice>
              <mc:Fallback>
                <p:oleObj name="Equation" r:id="rId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21" y="1748623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906705" y="1748623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7" name="Equation" r:id="rId7" imgW="164814" imgH="177492" progId="Equation.3">
                  <p:embed/>
                </p:oleObj>
              </mc:Choice>
              <mc:Fallback>
                <p:oleObj name="Equation" r:id="rId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05" y="1748623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1620821" y="2034375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8" name="Equation" r:id="rId8" imgW="164814" imgH="177492" progId="Equation.3">
                  <p:embed/>
                </p:oleObj>
              </mc:Choice>
              <mc:Fallback>
                <p:oleObj name="Equation" r:id="rId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21" y="2034375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2906705" y="2034375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59" name="Equation" r:id="rId9" imgW="164814" imgH="177492" progId="Equation.3">
                  <p:embed/>
                </p:oleObj>
              </mc:Choice>
              <mc:Fallback>
                <p:oleObj name="Equation" r:id="rId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05" y="2034375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2906705" y="2285992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0" name="Equation" r:id="rId10" imgW="164814" imgH="177492" progId="Equation.3">
                  <p:embed/>
                </p:oleObj>
              </mc:Choice>
              <mc:Fallback>
                <p:oleObj name="Equation" r:id="rId1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05" y="2285992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1620821" y="2320127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1" name="Equation" r:id="rId11" imgW="164814" imgH="177492" progId="Equation.3">
                  <p:embed/>
                </p:oleObj>
              </mc:Choice>
              <mc:Fallback>
                <p:oleObj name="Equation" r:id="rId1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21" y="2320127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5264159" y="1462871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2" name="Equation" r:id="rId12" imgW="164814" imgH="177492" progId="Equation.3">
                  <p:embed/>
                </p:oleObj>
              </mc:Choice>
              <mc:Fallback>
                <p:oleObj name="Equation" r:id="rId12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9" y="1462871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6550043" y="1462871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3" name="Equation" r:id="rId13" imgW="164814" imgH="177492" progId="Equation.3">
                  <p:embed/>
                </p:oleObj>
              </mc:Choice>
              <mc:Fallback>
                <p:oleObj name="Equation" r:id="rId1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043" y="1462871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/>
        </p:nvGraphicFramePr>
        <p:xfrm>
          <a:off x="5264159" y="1748623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4" name="Equation" r:id="rId14" imgW="164814" imgH="177492" progId="Equation.3">
                  <p:embed/>
                </p:oleObj>
              </mc:Choice>
              <mc:Fallback>
                <p:oleObj name="Equation" r:id="rId14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9" y="1748623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/>
        </p:nvGraphicFramePr>
        <p:xfrm>
          <a:off x="6550043" y="1748623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5" name="Equation" r:id="rId15" imgW="164814" imgH="177492" progId="Equation.3">
                  <p:embed/>
                </p:oleObj>
              </mc:Choice>
              <mc:Fallback>
                <p:oleObj name="Equation" r:id="rId1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043" y="1748623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/>
        </p:nvGraphicFramePr>
        <p:xfrm>
          <a:off x="5264159" y="2034375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6" name="Equation" r:id="rId16" imgW="164814" imgH="177492" progId="Equation.3">
                  <p:embed/>
                </p:oleObj>
              </mc:Choice>
              <mc:Fallback>
                <p:oleObj name="Equation" r:id="rId1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9" y="2034375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/>
        </p:nvGraphicFramePr>
        <p:xfrm>
          <a:off x="6550043" y="2034375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7" name="Equation" r:id="rId17" imgW="164814" imgH="177492" progId="Equation.3">
                  <p:embed/>
                </p:oleObj>
              </mc:Choice>
              <mc:Fallback>
                <p:oleObj name="Equation" r:id="rId1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043" y="2034375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/>
        </p:nvGraphicFramePr>
        <p:xfrm>
          <a:off x="5264159" y="2285992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8" name="Equation" r:id="rId18" imgW="164814" imgH="177492" progId="Equation.3">
                  <p:embed/>
                </p:oleObj>
              </mc:Choice>
              <mc:Fallback>
                <p:oleObj name="Equation" r:id="rId1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4159" y="2285992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/>
        </p:nvGraphicFramePr>
        <p:xfrm>
          <a:off x="6550043" y="2285992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69" name="Equation" r:id="rId19" imgW="164814" imgH="177492" progId="Equation.3">
                  <p:embed/>
                </p:oleObj>
              </mc:Choice>
              <mc:Fallback>
                <p:oleObj name="Equation" r:id="rId1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0043" y="2285992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/>
        </p:nvGraphicFramePr>
        <p:xfrm>
          <a:off x="2906705" y="3820325"/>
          <a:ext cx="165097" cy="180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0" name="Equation" r:id="rId20" imgW="164814" imgH="177492" progId="Equation.3">
                  <p:embed/>
                </p:oleObj>
              </mc:Choice>
              <mc:Fallback>
                <p:oleObj name="Equation" r:id="rId2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05" y="3820325"/>
                        <a:ext cx="165097" cy="180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7" name="Object 2"/>
          <p:cNvGraphicFramePr>
            <a:graphicFrameLocks noChangeAspect="1"/>
          </p:cNvGraphicFramePr>
          <p:nvPr/>
        </p:nvGraphicFramePr>
        <p:xfrm>
          <a:off x="2928926" y="407194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1" name="Equation" r:id="rId21" imgW="164814" imgH="177492" progId="Equation.3">
                  <p:embed/>
                </p:oleObj>
              </mc:Choice>
              <mc:Fallback>
                <p:oleObj name="Equation" r:id="rId2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407194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8" name="Object 2"/>
          <p:cNvGraphicFramePr>
            <a:graphicFrameLocks noChangeAspect="1"/>
          </p:cNvGraphicFramePr>
          <p:nvPr/>
        </p:nvGraphicFramePr>
        <p:xfrm>
          <a:off x="2906702" y="4357694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2" name="Equation" r:id="rId22" imgW="164814" imgH="177492" progId="Equation.3">
                  <p:embed/>
                </p:oleObj>
              </mc:Choice>
              <mc:Fallback>
                <p:oleObj name="Equation" r:id="rId22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02" y="4357694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9" name="Object 2"/>
          <p:cNvGraphicFramePr>
            <a:graphicFrameLocks noChangeAspect="1"/>
          </p:cNvGraphicFramePr>
          <p:nvPr/>
        </p:nvGraphicFramePr>
        <p:xfrm>
          <a:off x="2928926" y="4643446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3" name="Equation" r:id="rId23" imgW="164814" imgH="177492" progId="Equation.3">
                  <p:embed/>
                </p:oleObj>
              </mc:Choice>
              <mc:Fallback>
                <p:oleObj name="Equation" r:id="rId2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6" y="4643446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0" name="Object 2"/>
          <p:cNvGraphicFramePr>
            <a:graphicFrameLocks noChangeAspect="1"/>
          </p:cNvGraphicFramePr>
          <p:nvPr/>
        </p:nvGraphicFramePr>
        <p:xfrm>
          <a:off x="5643570" y="3857628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4" name="Equation" r:id="rId24" imgW="164814" imgH="177492" progId="Equation.3">
                  <p:embed/>
                </p:oleObj>
              </mc:Choice>
              <mc:Fallback>
                <p:oleObj name="Equation" r:id="rId24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3857628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1" name="Object 2"/>
          <p:cNvGraphicFramePr>
            <a:graphicFrameLocks noChangeAspect="1"/>
          </p:cNvGraphicFramePr>
          <p:nvPr/>
        </p:nvGraphicFramePr>
        <p:xfrm>
          <a:off x="5621346" y="4105281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5" name="Equation" r:id="rId25" imgW="164814" imgH="177492" progId="Equation.3">
                  <p:embed/>
                </p:oleObj>
              </mc:Choice>
              <mc:Fallback>
                <p:oleObj name="Equation" r:id="rId2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1346" y="4105281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2" name="Object 2"/>
          <p:cNvGraphicFramePr>
            <a:graphicFrameLocks noChangeAspect="1"/>
          </p:cNvGraphicFramePr>
          <p:nvPr/>
        </p:nvGraphicFramePr>
        <p:xfrm>
          <a:off x="5643570" y="4357694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6" name="Equation" r:id="rId26" imgW="164814" imgH="177492" progId="Equation.3">
                  <p:embed/>
                </p:oleObj>
              </mc:Choice>
              <mc:Fallback>
                <p:oleObj name="Equation" r:id="rId2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4357694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3" name="Object 2"/>
          <p:cNvGraphicFramePr>
            <a:graphicFrameLocks noChangeAspect="1"/>
          </p:cNvGraphicFramePr>
          <p:nvPr/>
        </p:nvGraphicFramePr>
        <p:xfrm>
          <a:off x="5643570" y="4643446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7" name="Equation" r:id="rId27" imgW="164814" imgH="177492" progId="Equation.3">
                  <p:embed/>
                </p:oleObj>
              </mc:Choice>
              <mc:Fallback>
                <p:oleObj name="Equation" r:id="rId2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70" y="4643446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912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3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150" y="228600"/>
            <a:ext cx="8607330" cy="9144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II.</a:t>
            </a:r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Боб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симметрик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учун дифференциал </a:t>
            </a:r>
            <a:r>
              <a:rPr lang="ru-RU" sz="28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криптотаҳлил  усули</a:t>
            </a:r>
            <a:r>
              <a:rPr lang="ru-RU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285860"/>
            <a:ext cx="8640960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611560" y="2071678"/>
            <a:ext cx="7818092" cy="9286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2.1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_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алгоритмига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дифференциал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усули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11560" y="3810008"/>
            <a:ext cx="7920880" cy="904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§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2.2</a:t>
            </a:r>
            <a:r>
              <a:rPr lang="ru-RU" sz="2000" dirty="0" smtClean="0"/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дифференциал  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усули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790924"/>
            <a:ext cx="8858312" cy="5950444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9" name="Скругленный прямоугольник 158"/>
          <p:cNvSpPr/>
          <p:nvPr/>
        </p:nvSpPr>
        <p:spPr>
          <a:xfrm>
            <a:off x="142844" y="95566"/>
            <a:ext cx="8858312" cy="59713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AES</a:t>
            </a:r>
            <a:r>
              <a:rPr lang="uz-Cyrl-UZ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шифрлаш алгоритмининг шифрлаш жараёнининг блок схемаси</a:t>
            </a:r>
            <a:endParaRPr lang="ru-RU" sz="20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Rectangle 60"/>
          <p:cNvSpPr>
            <a:spLocks noChangeArrowheads="1"/>
          </p:cNvSpPr>
          <p:nvPr/>
        </p:nvSpPr>
        <p:spPr bwMode="auto">
          <a:xfrm>
            <a:off x="2771154" y="1773238"/>
            <a:ext cx="5329238" cy="6492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Дастлабки кириш калитини қўшиш</a:t>
            </a:r>
          </a:p>
          <a:p>
            <a:pPr algn="ctr"/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(AddRoundKey)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4426917" y="1050925"/>
            <a:ext cx="2016125" cy="360363"/>
          </a:xfrm>
          <a:prstGeom prst="rect">
            <a:avLst/>
          </a:prstGeom>
          <a:solidFill>
            <a:srgbClr val="CCFFCC"/>
          </a:solidFill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Кириш блоки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Rectangle 5"/>
          <p:cNvSpPr>
            <a:spLocks noChangeArrowheads="1"/>
          </p:cNvSpPr>
          <p:nvPr/>
        </p:nvSpPr>
        <p:spPr bwMode="auto">
          <a:xfrm>
            <a:off x="4571379" y="2781300"/>
            <a:ext cx="1727200" cy="1008063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1-раунд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US" sz="1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Sub Bytes</a:t>
            </a:r>
          </a:p>
          <a:p>
            <a:pPr algn="ctr"/>
            <a:r>
              <a:rPr lang="en-US" sz="12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ShiftRows</a:t>
            </a:r>
            <a:endParaRPr lang="en-US" sz="12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2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endParaRPr lang="en-US" sz="12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2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AddRoundKey</a:t>
            </a:r>
            <a:endParaRPr lang="ru-RU" sz="1200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AutoShape 6"/>
          <p:cNvSpPr>
            <a:spLocks noChangeArrowheads="1"/>
          </p:cNvSpPr>
          <p:nvPr/>
        </p:nvSpPr>
        <p:spPr bwMode="auto">
          <a:xfrm>
            <a:off x="5290517" y="1411288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rgbClr val="008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3" name="Rectangle 61"/>
          <p:cNvSpPr>
            <a:spLocks noChangeArrowheads="1"/>
          </p:cNvSpPr>
          <p:nvPr/>
        </p:nvSpPr>
        <p:spPr bwMode="auto">
          <a:xfrm>
            <a:off x="4571379" y="3860800"/>
            <a:ext cx="1727200" cy="504825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latin typeface="Times New Roman" pitchFamily="18" charset="0"/>
                <a:cs typeface="Times New Roman" pitchFamily="18" charset="0"/>
              </a:rPr>
              <a:t>2-раунд</a:t>
            </a:r>
            <a:endParaRPr lang="ru-RU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4571379" y="5084763"/>
            <a:ext cx="1727200" cy="504825"/>
          </a:xfrm>
          <a:prstGeom prst="rect">
            <a:avLst/>
          </a:prstGeom>
          <a:solidFill>
            <a:srgbClr val="FFFF00"/>
          </a:solidFill>
          <a:ln w="25400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latin typeface="Times New Roman" pitchFamily="18" charset="0"/>
                <a:cs typeface="Times New Roman" pitchFamily="18" charset="0"/>
              </a:rPr>
              <a:t>10-раунд</a:t>
            </a:r>
            <a:endParaRPr lang="ru-RU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" name="AutoShape 64"/>
          <p:cNvSpPr>
            <a:spLocks noChangeArrowheads="1"/>
          </p:cNvSpPr>
          <p:nvPr/>
        </p:nvSpPr>
        <p:spPr bwMode="auto">
          <a:xfrm>
            <a:off x="5290517" y="2420938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rgbClr val="008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6" name="AutoShape 65"/>
          <p:cNvSpPr>
            <a:spLocks noChangeArrowheads="1"/>
          </p:cNvSpPr>
          <p:nvPr/>
        </p:nvSpPr>
        <p:spPr bwMode="auto">
          <a:xfrm>
            <a:off x="5290517" y="5589588"/>
            <a:ext cx="287337" cy="360362"/>
          </a:xfrm>
          <a:prstGeom prst="downArrow">
            <a:avLst>
              <a:gd name="adj1" fmla="val 50000"/>
              <a:gd name="adj2" fmla="val 31354"/>
            </a:avLst>
          </a:prstGeom>
          <a:solidFill>
            <a:srgbClr val="008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7" name="Oval 67"/>
          <p:cNvSpPr>
            <a:spLocks noChangeArrowheads="1"/>
          </p:cNvSpPr>
          <p:nvPr/>
        </p:nvSpPr>
        <p:spPr bwMode="auto">
          <a:xfrm>
            <a:off x="5363542" y="4437063"/>
            <a:ext cx="144462" cy="144462"/>
          </a:xfrm>
          <a:prstGeom prst="ellipse">
            <a:avLst/>
          </a:prstGeom>
          <a:solidFill>
            <a:srgbClr val="339966"/>
          </a:solidFill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8" name="Oval 68"/>
          <p:cNvSpPr>
            <a:spLocks noChangeArrowheads="1"/>
          </p:cNvSpPr>
          <p:nvPr/>
        </p:nvSpPr>
        <p:spPr bwMode="auto">
          <a:xfrm>
            <a:off x="5363542" y="4652963"/>
            <a:ext cx="144462" cy="144462"/>
          </a:xfrm>
          <a:prstGeom prst="ellipse">
            <a:avLst/>
          </a:prstGeom>
          <a:solidFill>
            <a:srgbClr val="339966"/>
          </a:solidFill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9" name="Oval 69"/>
          <p:cNvSpPr>
            <a:spLocks noChangeArrowheads="1"/>
          </p:cNvSpPr>
          <p:nvPr/>
        </p:nvSpPr>
        <p:spPr bwMode="auto">
          <a:xfrm>
            <a:off x="5363542" y="4868863"/>
            <a:ext cx="144462" cy="144462"/>
          </a:xfrm>
          <a:prstGeom prst="ellipse">
            <a:avLst/>
          </a:prstGeom>
          <a:solidFill>
            <a:srgbClr val="339966"/>
          </a:solidFill>
          <a:ln w="158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0" name="Rectangle 70"/>
          <p:cNvSpPr>
            <a:spLocks noChangeArrowheads="1"/>
          </p:cNvSpPr>
          <p:nvPr/>
        </p:nvSpPr>
        <p:spPr bwMode="auto">
          <a:xfrm>
            <a:off x="4426917" y="6021388"/>
            <a:ext cx="2016125" cy="360362"/>
          </a:xfrm>
          <a:prstGeom prst="rect">
            <a:avLst/>
          </a:prstGeom>
          <a:solidFill>
            <a:srgbClr val="CCFFCC"/>
          </a:solidFill>
          <a:ln w="28575">
            <a:solidFill>
              <a:srgbClr val="00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Шифр матн</a:t>
            </a:r>
            <a:endParaRPr lang="ru-RU" b="1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755576" y="1052513"/>
            <a:ext cx="3168650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 маълумот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Rectangle 21"/>
          <p:cNvSpPr>
            <a:spLocks noChangeArrowheads="1"/>
          </p:cNvSpPr>
          <p:nvPr/>
        </p:nvSpPr>
        <p:spPr bwMode="auto">
          <a:xfrm>
            <a:off x="2987601" y="1052513"/>
            <a:ext cx="576262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Rectangle 22"/>
          <p:cNvSpPr>
            <a:spLocks noChangeArrowheads="1"/>
          </p:cNvSpPr>
          <p:nvPr/>
        </p:nvSpPr>
        <p:spPr bwMode="auto">
          <a:xfrm>
            <a:off x="1692201" y="1052736"/>
            <a:ext cx="93662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Rectangle 23"/>
          <p:cNvSpPr>
            <a:spLocks noChangeArrowheads="1"/>
          </p:cNvSpPr>
          <p:nvPr/>
        </p:nvSpPr>
        <p:spPr bwMode="auto">
          <a:xfrm>
            <a:off x="755576" y="1052414"/>
            <a:ext cx="93662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" name="Rectangle 24"/>
          <p:cNvSpPr>
            <a:spLocks noChangeArrowheads="1"/>
          </p:cNvSpPr>
          <p:nvPr/>
        </p:nvSpPr>
        <p:spPr bwMode="auto">
          <a:xfrm>
            <a:off x="2627238" y="1052736"/>
            <a:ext cx="35877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.....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Rectangle 20"/>
          <p:cNvSpPr>
            <a:spLocks noChangeArrowheads="1"/>
          </p:cNvSpPr>
          <p:nvPr/>
        </p:nvSpPr>
        <p:spPr bwMode="auto">
          <a:xfrm>
            <a:off x="3563888" y="1052513"/>
            <a:ext cx="35877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28 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3" name="Rectangle 25"/>
          <p:cNvSpPr>
            <a:spLocks noChangeArrowheads="1"/>
          </p:cNvSpPr>
          <p:nvPr/>
        </p:nvSpPr>
        <p:spPr bwMode="auto">
          <a:xfrm>
            <a:off x="2987824" y="1052414"/>
            <a:ext cx="93662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84" name="Group 26"/>
          <p:cNvGrpSpPr>
            <a:grpSpLocks/>
          </p:cNvGrpSpPr>
          <p:nvPr/>
        </p:nvGrpSpPr>
        <p:grpSpPr bwMode="auto">
          <a:xfrm>
            <a:off x="2197149" y="2636838"/>
            <a:ext cx="2017713" cy="1728787"/>
            <a:chOff x="158" y="1661"/>
            <a:chExt cx="1271" cy="1089"/>
          </a:xfrm>
        </p:grpSpPr>
        <p:sp>
          <p:nvSpPr>
            <p:cNvPr id="85" name="Rectangle 27"/>
            <p:cNvSpPr>
              <a:spLocks noChangeArrowheads="1"/>
            </p:cNvSpPr>
            <p:nvPr/>
          </p:nvSpPr>
          <p:spPr bwMode="auto">
            <a:xfrm>
              <a:off x="158" y="1661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86" name="Rectangle 28"/>
            <p:cNvSpPr>
              <a:spLocks noChangeArrowheads="1"/>
            </p:cNvSpPr>
            <p:nvPr/>
          </p:nvSpPr>
          <p:spPr bwMode="auto">
            <a:xfrm>
              <a:off x="476" y="1661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87" name="Rectangle 29"/>
            <p:cNvSpPr>
              <a:spLocks noChangeArrowheads="1"/>
            </p:cNvSpPr>
            <p:nvPr/>
          </p:nvSpPr>
          <p:spPr bwMode="auto">
            <a:xfrm>
              <a:off x="793" y="1661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88" name="Rectangle 30"/>
            <p:cNvSpPr>
              <a:spLocks noChangeArrowheads="1"/>
            </p:cNvSpPr>
            <p:nvPr/>
          </p:nvSpPr>
          <p:spPr bwMode="auto">
            <a:xfrm>
              <a:off x="1111" y="1661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89" name="Rectangle 31"/>
            <p:cNvSpPr>
              <a:spLocks noChangeArrowheads="1"/>
            </p:cNvSpPr>
            <p:nvPr/>
          </p:nvSpPr>
          <p:spPr bwMode="auto">
            <a:xfrm>
              <a:off x="158" y="1933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0" name="Rectangle 32"/>
            <p:cNvSpPr>
              <a:spLocks noChangeArrowheads="1"/>
            </p:cNvSpPr>
            <p:nvPr/>
          </p:nvSpPr>
          <p:spPr bwMode="auto">
            <a:xfrm>
              <a:off x="476" y="1933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1" name="Rectangle 33"/>
            <p:cNvSpPr>
              <a:spLocks noChangeArrowheads="1"/>
            </p:cNvSpPr>
            <p:nvPr/>
          </p:nvSpPr>
          <p:spPr bwMode="auto">
            <a:xfrm>
              <a:off x="793" y="1933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2" name="Rectangle 34"/>
            <p:cNvSpPr>
              <a:spLocks noChangeArrowheads="1"/>
            </p:cNvSpPr>
            <p:nvPr/>
          </p:nvSpPr>
          <p:spPr bwMode="auto">
            <a:xfrm>
              <a:off x="1111" y="1933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3" name="Rectangle 35"/>
            <p:cNvSpPr>
              <a:spLocks noChangeArrowheads="1"/>
            </p:cNvSpPr>
            <p:nvPr/>
          </p:nvSpPr>
          <p:spPr bwMode="auto">
            <a:xfrm>
              <a:off x="158" y="2205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4" name="Rectangle 36"/>
            <p:cNvSpPr>
              <a:spLocks noChangeArrowheads="1"/>
            </p:cNvSpPr>
            <p:nvPr/>
          </p:nvSpPr>
          <p:spPr bwMode="auto">
            <a:xfrm>
              <a:off x="476" y="2205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5" name="Rectangle 37"/>
            <p:cNvSpPr>
              <a:spLocks noChangeArrowheads="1"/>
            </p:cNvSpPr>
            <p:nvPr/>
          </p:nvSpPr>
          <p:spPr bwMode="auto">
            <a:xfrm>
              <a:off x="793" y="2205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6" name="Rectangle 38"/>
            <p:cNvSpPr>
              <a:spLocks noChangeArrowheads="1"/>
            </p:cNvSpPr>
            <p:nvPr/>
          </p:nvSpPr>
          <p:spPr bwMode="auto">
            <a:xfrm>
              <a:off x="1111" y="2205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7" name="Rectangle 39"/>
            <p:cNvSpPr>
              <a:spLocks noChangeArrowheads="1"/>
            </p:cNvSpPr>
            <p:nvPr/>
          </p:nvSpPr>
          <p:spPr bwMode="auto">
            <a:xfrm>
              <a:off x="158" y="2478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8" name="Rectangle 40"/>
            <p:cNvSpPr>
              <a:spLocks noChangeArrowheads="1"/>
            </p:cNvSpPr>
            <p:nvPr/>
          </p:nvSpPr>
          <p:spPr bwMode="auto">
            <a:xfrm>
              <a:off x="476" y="2478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99" name="Rectangle 41"/>
            <p:cNvSpPr>
              <a:spLocks noChangeArrowheads="1"/>
            </p:cNvSpPr>
            <p:nvPr/>
          </p:nvSpPr>
          <p:spPr bwMode="auto">
            <a:xfrm>
              <a:off x="793" y="2478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  <p:sp>
          <p:nvSpPr>
            <p:cNvPr id="100" name="Rectangle 42"/>
            <p:cNvSpPr>
              <a:spLocks noChangeArrowheads="1"/>
            </p:cNvSpPr>
            <p:nvPr/>
          </p:nvSpPr>
          <p:spPr bwMode="auto">
            <a:xfrm>
              <a:off x="1111" y="2478"/>
              <a:ext cx="318" cy="272"/>
            </a:xfrm>
            <a:prstGeom prst="rect">
              <a:avLst/>
            </a:prstGeom>
            <a:ln w="19050"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101" name="Rectangle 43"/>
          <p:cNvSpPr>
            <a:spLocks noChangeArrowheads="1"/>
          </p:cNvSpPr>
          <p:nvPr/>
        </p:nvSpPr>
        <p:spPr bwMode="auto">
          <a:xfrm>
            <a:off x="971599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00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2" name="Rectangle 44"/>
          <p:cNvSpPr>
            <a:spLocks noChangeArrowheads="1"/>
          </p:cNvSpPr>
          <p:nvPr/>
        </p:nvSpPr>
        <p:spPr bwMode="auto">
          <a:xfrm>
            <a:off x="1260524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10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3" name="Rectangle 45"/>
          <p:cNvSpPr>
            <a:spLocks noChangeArrowheads="1"/>
          </p:cNvSpPr>
          <p:nvPr/>
        </p:nvSpPr>
        <p:spPr bwMode="auto">
          <a:xfrm>
            <a:off x="1547862" y="1916113"/>
            <a:ext cx="287337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20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4" name="Rectangle 46"/>
          <p:cNvSpPr>
            <a:spLocks noChangeArrowheads="1"/>
          </p:cNvSpPr>
          <p:nvPr/>
        </p:nvSpPr>
        <p:spPr bwMode="auto">
          <a:xfrm>
            <a:off x="1836787" y="1916113"/>
            <a:ext cx="287337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30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5" name="Rectangle 47"/>
          <p:cNvSpPr>
            <a:spLocks noChangeArrowheads="1"/>
          </p:cNvSpPr>
          <p:nvPr/>
        </p:nvSpPr>
        <p:spPr bwMode="auto">
          <a:xfrm>
            <a:off x="2124124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01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6" name="Rectangle 48"/>
          <p:cNvSpPr>
            <a:spLocks noChangeArrowheads="1"/>
          </p:cNvSpPr>
          <p:nvPr/>
        </p:nvSpPr>
        <p:spPr bwMode="auto">
          <a:xfrm>
            <a:off x="2413049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11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7" name="Rectangle 49"/>
          <p:cNvSpPr>
            <a:spLocks noChangeArrowheads="1"/>
          </p:cNvSpPr>
          <p:nvPr/>
        </p:nvSpPr>
        <p:spPr bwMode="auto">
          <a:xfrm>
            <a:off x="2698799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21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8" name="Rectangle 50"/>
          <p:cNvSpPr>
            <a:spLocks noChangeArrowheads="1"/>
          </p:cNvSpPr>
          <p:nvPr/>
        </p:nvSpPr>
        <p:spPr bwMode="auto">
          <a:xfrm>
            <a:off x="2987724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31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09" name="Rectangle 51"/>
          <p:cNvSpPr>
            <a:spLocks noChangeArrowheads="1"/>
          </p:cNvSpPr>
          <p:nvPr/>
        </p:nvSpPr>
        <p:spPr bwMode="auto">
          <a:xfrm>
            <a:off x="3276649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02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0" name="Rectangle 52"/>
          <p:cNvSpPr>
            <a:spLocks noChangeArrowheads="1"/>
          </p:cNvSpPr>
          <p:nvPr/>
        </p:nvSpPr>
        <p:spPr bwMode="auto">
          <a:xfrm>
            <a:off x="3565574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12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1" name="Rectangle 53"/>
          <p:cNvSpPr>
            <a:spLocks noChangeArrowheads="1"/>
          </p:cNvSpPr>
          <p:nvPr/>
        </p:nvSpPr>
        <p:spPr bwMode="auto">
          <a:xfrm>
            <a:off x="3852912" y="1916113"/>
            <a:ext cx="287337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22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2" name="Rectangle 54"/>
          <p:cNvSpPr>
            <a:spLocks noChangeArrowheads="1"/>
          </p:cNvSpPr>
          <p:nvPr/>
        </p:nvSpPr>
        <p:spPr bwMode="auto">
          <a:xfrm>
            <a:off x="4141837" y="1916113"/>
            <a:ext cx="287337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32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3" name="Rectangle 55"/>
          <p:cNvSpPr>
            <a:spLocks noChangeArrowheads="1"/>
          </p:cNvSpPr>
          <p:nvPr/>
        </p:nvSpPr>
        <p:spPr bwMode="auto">
          <a:xfrm>
            <a:off x="4427587" y="1916113"/>
            <a:ext cx="287337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03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4" name="Rectangle 56"/>
          <p:cNvSpPr>
            <a:spLocks noChangeArrowheads="1"/>
          </p:cNvSpPr>
          <p:nvPr/>
        </p:nvSpPr>
        <p:spPr bwMode="auto">
          <a:xfrm>
            <a:off x="4716512" y="1916113"/>
            <a:ext cx="287337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13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5" name="Rectangle 57"/>
          <p:cNvSpPr>
            <a:spLocks noChangeArrowheads="1"/>
          </p:cNvSpPr>
          <p:nvPr/>
        </p:nvSpPr>
        <p:spPr bwMode="auto">
          <a:xfrm>
            <a:off x="5003849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23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6" name="Rectangle 58"/>
          <p:cNvSpPr>
            <a:spLocks noChangeArrowheads="1"/>
          </p:cNvSpPr>
          <p:nvPr/>
        </p:nvSpPr>
        <p:spPr bwMode="auto">
          <a:xfrm>
            <a:off x="5292774" y="1916113"/>
            <a:ext cx="287338" cy="288925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Tahoma" pitchFamily="34" charset="0"/>
                <a:cs typeface="Arial" charset="0"/>
              </a:rPr>
              <a:t>S</a:t>
            </a:r>
            <a:r>
              <a:rPr lang="en-US" sz="1400" b="1" baseline="-25000">
                <a:solidFill>
                  <a:schemeClr val="bg1"/>
                </a:solidFill>
                <a:latin typeface="Tahoma" pitchFamily="34" charset="0"/>
                <a:cs typeface="Arial" charset="0"/>
              </a:rPr>
              <a:t>33</a:t>
            </a:r>
            <a:endParaRPr lang="ru-RU" sz="1400" b="1">
              <a:solidFill>
                <a:schemeClr val="bg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117" name="Rectangle 59"/>
          <p:cNvSpPr>
            <a:spLocks noChangeArrowheads="1"/>
          </p:cNvSpPr>
          <p:nvPr/>
        </p:nvSpPr>
        <p:spPr bwMode="auto">
          <a:xfrm>
            <a:off x="2628949" y="3284538"/>
            <a:ext cx="93662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Rectangle 18"/>
          <p:cNvSpPr>
            <a:spLocks noChangeArrowheads="1"/>
          </p:cNvSpPr>
          <p:nvPr/>
        </p:nvSpPr>
        <p:spPr bwMode="auto">
          <a:xfrm>
            <a:off x="5004048" y="1052513"/>
            <a:ext cx="936625" cy="3603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uz-Cyrl-UZ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128 бит</a:t>
            </a:r>
            <a:endParaRPr lang="ru-RU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Скругленный прямоугольник 118"/>
          <p:cNvSpPr/>
          <p:nvPr/>
        </p:nvSpPr>
        <p:spPr>
          <a:xfrm>
            <a:off x="324471" y="2686026"/>
            <a:ext cx="3887489" cy="88699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Sub </a:t>
            </a:r>
            <a:r>
              <a:rPr lang="uz-Cyrl-UZ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Bytes</a:t>
            </a:r>
            <a:r>
              <a:rPr lang="ru-RU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 байтларни алмаштириш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Скругленный прямоугольник 119"/>
          <p:cNvSpPr/>
          <p:nvPr/>
        </p:nvSpPr>
        <p:spPr>
          <a:xfrm>
            <a:off x="341833" y="3717032"/>
            <a:ext cx="3887489" cy="91440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ShiftRows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 ҳолат байтларини циклик суриш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121" name="Скругленный прямоугольник 120"/>
          <p:cNvSpPr/>
          <p:nvPr/>
        </p:nvSpPr>
        <p:spPr>
          <a:xfrm>
            <a:off x="324471" y="4746848"/>
            <a:ext cx="3887489" cy="91440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устун элеменларини аралаштириш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Скругленный прямоугольник 121"/>
          <p:cNvSpPr/>
          <p:nvPr/>
        </p:nvSpPr>
        <p:spPr>
          <a:xfrm>
            <a:off x="323528" y="5754960"/>
            <a:ext cx="3887489" cy="91440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AddRoundKey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 раунд калитларини қўшиш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017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8195 0.11111 " pathEditMode="relative" ptsTypes="AA">
                                      <p:cBhvr>
                                        <p:cTn id="11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15 0.11667 " pathEditMode="relative" ptsTypes="AA">
                                      <p:cBhvr>
                                        <p:cTn id="18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12083 0.18518 " pathEditMode="relative" ptsTypes="AA">
                                      <p:cBhvr>
                                        <p:cTn id="18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9028 0.24629 " pathEditMode="relative" ptsTypes="AA">
                                      <p:cBhvr>
                                        <p:cTn id="18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C 0.01805 0.10186 0.05416 0.30556 0.05416 0.30556 " pathEditMode="relative" ptsTypes="fA">
                                      <p:cBhvr>
                                        <p:cTn id="18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7917 0.12037 " pathEditMode="relative" ptsTypes="AA">
                                      <p:cBhvr>
                                        <p:cTn id="19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4722 0.18149 " pathEditMode="relative" ptsTypes="AA">
                                      <p:cBhvr>
                                        <p:cTn id="19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1389 0.2426 " pathEditMode="relative" ptsTypes="AA">
                                      <p:cBhvr>
                                        <p:cTn id="19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1945 0.3 " pathEditMode="relative" ptsTypes="AA">
                                      <p:cBhvr>
                                        <p:cTn id="19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00695 0.11852 " pathEditMode="relative" ptsTypes="AA">
                                      <p:cBhvr>
                                        <p:cTn id="19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2361 0.18334 " pathEditMode="relative" ptsTypes="AA">
                                      <p:cBhvr>
                                        <p:cTn id="20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5833 0.24074 " pathEditMode="relative" ptsTypes="AA">
                                      <p:cBhvr>
                                        <p:cTn id="2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8611 0.30555 " pathEditMode="relative" ptsTypes="AA">
                                      <p:cBhvr>
                                        <p:cTn id="20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06389 0.11852 " pathEditMode="relative" ptsTypes="AA">
                                      <p:cBhvr>
                                        <p:cTn id="20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0139 0.17963 " pathEditMode="relative" ptsTypes="AA">
                                      <p:cBhvr>
                                        <p:cTn id="20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2777 0.24445 " pathEditMode="relative" ptsTypes="AA">
                                      <p:cBhvr>
                                        <p:cTn id="21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-0.15972 0.3037 " pathEditMode="relative" ptsTypes="AA">
                                      <p:cBhvr>
                                        <p:cTn id="2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500"/>
                            </p:stCondLst>
                            <p:childTnLst>
                              <p:par>
                                <p:cTn id="21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2500"/>
                            </p:stCondLst>
                            <p:childTnLst>
                              <p:par>
                                <p:cTn id="26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 0.0 L 0.24445 -0.32963 " pathEditMode="relative" ptsTypes="AA">
                                      <p:cBhvr>
                                        <p:cTn id="27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3500"/>
                            </p:stCondLst>
                            <p:childTnLst>
                              <p:par>
                                <p:cTn id="272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000"/>
                            </p:stCondLst>
                            <p:childTnLst>
                              <p:par>
                                <p:cTn id="2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500"/>
                            </p:stCondLst>
                            <p:childTnLst>
                              <p:par>
                                <p:cTn id="28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4 -0.0044 L -0.00365 0.74566 " pathEditMode="relative" rAng="0" ptsTypes="AA">
                                      <p:cBhvr>
                                        <p:cTn id="281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375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00"/>
                            </p:stCondLst>
                            <p:childTnLst>
                              <p:par>
                                <p:cTn id="2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1000"/>
                            </p:stCondLst>
                            <p:childTnLst>
                              <p:par>
                                <p:cTn id="29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1500"/>
                            </p:stCondLst>
                            <p:childTnLst>
                              <p:par>
                                <p:cTn id="30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9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1" grpId="1" animBg="1"/>
      <p:bldP spid="78" grpId="0" animBg="1"/>
      <p:bldP spid="78" grpId="1" animBg="1"/>
      <p:bldP spid="79" grpId="0" animBg="1"/>
      <p:bldP spid="80" grpId="0" animBg="1"/>
      <p:bldP spid="80" grpId="1" animBg="1"/>
      <p:bldP spid="80" grpId="2" animBg="1"/>
      <p:bldP spid="81" grpId="0" animBg="1"/>
      <p:bldP spid="82" grpId="0" animBg="1"/>
      <p:bldP spid="82" grpId="1" animBg="1"/>
      <p:bldP spid="83" grpId="0" animBg="1"/>
      <p:bldP spid="101" grpId="0" animBg="1"/>
      <p:bldP spid="101" grpId="1" animBg="1"/>
      <p:bldP spid="101" grpId="2" animBg="1"/>
      <p:bldP spid="102" grpId="0" animBg="1"/>
      <p:bldP spid="102" grpId="1" animBg="1"/>
      <p:bldP spid="102" grpId="2" animBg="1"/>
      <p:bldP spid="103" grpId="0" animBg="1"/>
      <p:bldP spid="103" grpId="1" animBg="1"/>
      <p:bldP spid="103" grpId="2" animBg="1"/>
      <p:bldP spid="104" grpId="0" animBg="1"/>
      <p:bldP spid="104" grpId="1" animBg="1"/>
      <p:bldP spid="104" grpId="2" animBg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07" grpId="1" animBg="1"/>
      <p:bldP spid="107" grpId="2" animBg="1"/>
      <p:bldP spid="108" grpId="0" animBg="1"/>
      <p:bldP spid="108" grpId="1" animBg="1"/>
      <p:bldP spid="108" grpId="2" animBg="1"/>
      <p:bldP spid="109" grpId="0" animBg="1"/>
      <p:bldP spid="109" grpId="1" animBg="1"/>
      <p:bldP spid="109" grpId="2" animBg="1"/>
      <p:bldP spid="110" grpId="0" animBg="1"/>
      <p:bldP spid="110" grpId="1" animBg="1"/>
      <p:bldP spid="110" grpId="2" animBg="1"/>
      <p:bldP spid="111" grpId="0" animBg="1"/>
      <p:bldP spid="111" grpId="1" animBg="1"/>
      <p:bldP spid="111" grpId="2" animBg="1"/>
      <p:bldP spid="112" grpId="0" animBg="1"/>
      <p:bldP spid="112" grpId="1" animBg="1"/>
      <p:bldP spid="112" grpId="2" animBg="1"/>
      <p:bldP spid="113" grpId="0" animBg="1"/>
      <p:bldP spid="113" grpId="1" animBg="1"/>
      <p:bldP spid="113" grpId="2" animBg="1"/>
      <p:bldP spid="114" grpId="0" animBg="1"/>
      <p:bldP spid="114" grpId="1" animBg="1"/>
      <p:bldP spid="114" grpId="2" animBg="1"/>
      <p:bldP spid="115" grpId="0" animBg="1"/>
      <p:bldP spid="115" grpId="1" animBg="1"/>
      <p:bldP spid="115" grpId="2" animBg="1"/>
      <p:bldP spid="116" grpId="0" animBg="1"/>
      <p:bldP spid="116" grpId="1" animBg="1"/>
      <p:bldP spid="116" grpId="2" animBg="1"/>
      <p:bldP spid="117" grpId="0" animBg="1"/>
      <p:bldP spid="117" grpId="1" animBg="1"/>
      <p:bldP spid="117" grpId="2" animBg="1"/>
      <p:bldP spid="118" grpId="0" animBg="1"/>
      <p:bldP spid="119" grpId="0" animBg="1"/>
      <p:bldP spid="120" grpId="0" animBg="1"/>
      <p:bldP spid="121" grpId="0" animBg="1"/>
      <p:bldP spid="1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4896544" cy="58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35496" y="260648"/>
            <a:ext cx="4536504" cy="360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0 0 0 0        0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      0  0 0 0        0 0 0 0</a:t>
            </a:r>
            <a:endParaRPr lang="ru-RU" sz="1600" b="1" dirty="0">
              <a:solidFill>
                <a:srgbClr val="3333FF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5496" y="1988840"/>
            <a:ext cx="3816424" cy="1800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 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 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</a:t>
            </a:r>
            <a:endParaRPr lang="ru-RU" sz="1600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07504" y="3176972"/>
            <a:ext cx="4608512" cy="1800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0 0 0 0       0 0 0 0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  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ru-RU" sz="16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5496" y="3897052"/>
            <a:ext cx="4608512" cy="1800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0 0 0 0        0 0 0 0       0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0 0         0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</a:t>
            </a:r>
            <a:endParaRPr lang="ru-RU" sz="1600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35496" y="4617132"/>
            <a:ext cx="3960440" cy="1800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0 0 0 0       0 0 0 0         0 0 0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</a:t>
            </a:r>
            <a:endParaRPr lang="ru-RU" sz="160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-180528" y="1322766"/>
            <a:ext cx="4824536" cy="900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0 0 0 0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0 0 0 0</a:t>
            </a:r>
            <a:endParaRPr lang="ru-RU" sz="1600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33786" y="5625244"/>
            <a:ext cx="4752528" cy="1800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0 0 0 0         0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0 0      0 0 0 </a:t>
            </a:r>
            <a:r>
              <a:rPr lang="uz-Cyrl-UZ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0 0 0 0</a:t>
            </a:r>
            <a:endParaRPr lang="ru-RU" sz="16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33786" y="6417332"/>
            <a:ext cx="4752528" cy="1800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0 0 0 0      0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0 0     0 0 0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      0 0 0 0</a:t>
            </a:r>
            <a:endParaRPr lang="ru-RU" dirty="0">
              <a:solidFill>
                <a:srgbClr val="3333FF"/>
              </a:solidFill>
            </a:endParaRPr>
          </a:p>
        </p:txBody>
      </p:sp>
      <p:graphicFrame>
        <p:nvGraphicFramePr>
          <p:cNvPr id="22" name="Таблица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459857"/>
              </p:ext>
            </p:extLst>
          </p:nvPr>
        </p:nvGraphicFramePr>
        <p:xfrm>
          <a:off x="4932039" y="764704"/>
          <a:ext cx="4104458" cy="5664688"/>
        </p:xfrm>
        <a:graphic>
          <a:graphicData uri="http://schemas.openxmlformats.org/drawingml/2006/table">
            <a:tbl>
              <a:tblPr/>
              <a:tblGrid>
                <a:gridCol w="280040"/>
                <a:gridCol w="238242"/>
                <a:gridCol w="238242"/>
                <a:gridCol w="238242"/>
                <a:gridCol w="238242"/>
                <a:gridCol w="238242"/>
                <a:gridCol w="238242"/>
                <a:gridCol w="238242"/>
                <a:gridCol w="238242"/>
                <a:gridCol w="238242"/>
                <a:gridCol w="280040"/>
                <a:gridCol w="280040"/>
                <a:gridCol w="280040"/>
                <a:gridCol w="280040"/>
                <a:gridCol w="280040"/>
                <a:gridCol w="280040"/>
              </a:tblGrid>
              <a:tr h="97849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j</a:t>
                      </a:r>
                      <a:endParaRPr lang="ru-RU" sz="1400" b="1" dirty="0" smtClean="0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400" dirty="0" smtClean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13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14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ru-RU" sz="5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9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10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11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12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13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4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15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000" b="1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900" dirty="0">
                          <a:solidFill>
                            <a:srgbClr val="000000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8465" marR="584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932040" y="260648"/>
            <a:ext cx="4104456" cy="360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Айирма</a:t>
            </a:r>
            <a:r>
              <a:rPr lang="ru-RU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матрица </a:t>
            </a:r>
            <a:r>
              <a:rPr lang="ru-RU" sz="20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жадвали</a:t>
            </a:r>
            <a:endParaRPr lang="ru-RU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Стрелка вправо 10">
            <a:hlinkClick r:id="rId3" action="ppaction://hlinksldjump"/>
          </p:cNvPr>
          <p:cNvSpPr/>
          <p:nvPr/>
        </p:nvSpPr>
        <p:spPr>
          <a:xfrm>
            <a:off x="8532440" y="6500834"/>
            <a:ext cx="462148" cy="32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88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500"/>
                            </p:stCondLst>
                            <p:childTnLst>
                              <p:par>
                                <p:cTn id="7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000"/>
                            </p:stCondLst>
                            <p:childTnLst>
                              <p:par>
                                <p:cTn id="87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500"/>
                            </p:stCondLst>
                            <p:childTnLst>
                              <p:par>
                                <p:cTn id="97" presetID="32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2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575556" y="2852936"/>
            <a:ext cx="7596844" cy="12241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=0110000000000000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=0101000000001111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га мос очиқ ва шифр матнлар  жуфтликлардан баъзиларини келтирамиз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 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46635"/>
              </p:ext>
            </p:extLst>
          </p:nvPr>
        </p:nvGraphicFramePr>
        <p:xfrm>
          <a:off x="942133" y="3714752"/>
          <a:ext cx="7230268" cy="1872210"/>
        </p:xfrm>
        <a:graphic>
          <a:graphicData uri="http://schemas.openxmlformats.org/drawingml/2006/table">
            <a:tbl>
              <a:tblPr firstRow="1" firstCol="1" bandRow="1">
                <a:tableStyleId>{C4B1156A-380E-4F78-BDF5-A606A8083BF9}</a:tableStyleId>
              </a:tblPr>
              <a:tblGrid>
                <a:gridCol w="1807000"/>
                <a:gridCol w="1807756"/>
                <a:gridCol w="1807756"/>
                <a:gridCol w="1807756"/>
              </a:tblGrid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X`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Y`</a:t>
                      </a:r>
                      <a:endParaRPr lang="ru-RU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1100000111010000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1010000111010000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1101001011000111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1000001011001000</a:t>
                      </a:r>
                      <a:endParaRPr lang="ru-RU" sz="14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1001000000000100  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1111000000000100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0011010000100001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0110010000101110 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1010110111000000 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1010110111000000</a:t>
                      </a:r>
                      <a:endParaRPr lang="ru-RU" sz="14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1000001111001000  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1101001111000111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1111111111110100 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1001111111110100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1001111111110100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0011101111010001 </a:t>
                      </a:r>
                      <a:endParaRPr lang="ru-RU" sz="14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857225" y="500042"/>
          <a:ext cx="7643866" cy="236489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821533"/>
                <a:gridCol w="3822333"/>
              </a:tblGrid>
              <a:tr h="307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endParaRPr lang="uz-Cyrl-UZ" sz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endParaRPr lang="uz-Cyrl-UZ" sz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0110000000000000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0101000000001111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0000000000001110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0111000000001111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>
                          <a:latin typeface="Times New Roman" pitchFamily="18" charset="0"/>
                          <a:cs typeface="Times New Roman" pitchFamily="18" charset="0"/>
                        </a:rPr>
                        <a:t>0000000000000101</a:t>
                      </a:r>
                      <a:endParaRPr lang="ru-RU" sz="1200" b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0001000000000100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>
                          <a:latin typeface="Times New Roman" pitchFamily="18" charset="0"/>
                          <a:cs typeface="Times New Roman" pitchFamily="18" charset="0"/>
                        </a:rPr>
                        <a:t>0000011000000000</a:t>
                      </a:r>
                      <a:endParaRPr lang="ru-RU" sz="1200" b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0000010111110000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>
                          <a:latin typeface="Times New Roman" pitchFamily="18" charset="0"/>
                          <a:cs typeface="Times New Roman" pitchFamily="18" charset="0"/>
                        </a:rPr>
                        <a:t>1000000000000100</a:t>
                      </a:r>
                      <a:endParaRPr lang="ru-RU" sz="1200" b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1800" dirty="0">
                          <a:latin typeface="Times New Roman" pitchFamily="18" charset="0"/>
                          <a:cs typeface="Times New Roman" pitchFamily="18" charset="0"/>
                        </a:rPr>
                        <a:t>0000000000001001</a:t>
                      </a:r>
                      <a:endParaRPr lang="ru-RU" sz="1200" b="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2643174" y="549256"/>
          <a:ext cx="35877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70" name="Формула" r:id="rId3" imgW="228501" imgH="165028" progId="Equation.3">
                  <p:embed/>
                </p:oleObj>
              </mc:Choice>
              <mc:Fallback>
                <p:oleObj name="Формула" r:id="rId3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74" y="549256"/>
                        <a:ext cx="35877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7" name="Object 1"/>
          <p:cNvGraphicFramePr>
            <a:graphicFrameLocks noChangeAspect="1"/>
          </p:cNvGraphicFramePr>
          <p:nvPr/>
        </p:nvGraphicFramePr>
        <p:xfrm>
          <a:off x="6446853" y="549256"/>
          <a:ext cx="41116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71" name="Формула" r:id="rId5" imgW="253670" imgH="177569" progId="Equation.3">
                  <p:embed/>
                </p:oleObj>
              </mc:Choice>
              <mc:Fallback>
                <p:oleObj name="Формула" r:id="rId5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6853" y="549256"/>
                        <a:ext cx="411163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3160706" y="3071810"/>
          <a:ext cx="411162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72" name="Формула" r:id="rId7" imgW="253670" imgH="177569" progId="Equation.3">
                  <p:embed/>
                </p:oleObj>
              </mc:Choice>
              <mc:Fallback>
                <p:oleObj name="Формула" r:id="rId7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06" y="3071810"/>
                        <a:ext cx="411162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4"/>
          <p:cNvGraphicFramePr>
            <a:graphicFrameLocks noChangeAspect="1"/>
          </p:cNvGraphicFramePr>
          <p:nvPr/>
        </p:nvGraphicFramePr>
        <p:xfrm>
          <a:off x="784201" y="3049586"/>
          <a:ext cx="358775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73" name="Формула" r:id="rId8" imgW="228501" imgH="165028" progId="Equation.3">
                  <p:embed/>
                </p:oleObj>
              </mc:Choice>
              <mc:Fallback>
                <p:oleObj name="Формула" r:id="rId8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01" y="3049586"/>
                        <a:ext cx="358775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428596" y="5643578"/>
            <a:ext cx="8429684" cy="5715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ОТ ва ШТ жуфтликлар орасида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X`+X=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Y+Y`=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шартлар бажарилаётганлигини кузатиш мумкин.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5315" name="Object 19"/>
          <p:cNvGraphicFramePr>
            <a:graphicFrameLocks noChangeAspect="1"/>
          </p:cNvGraphicFramePr>
          <p:nvPr/>
        </p:nvGraphicFramePr>
        <p:xfrm>
          <a:off x="5842009" y="5643578"/>
          <a:ext cx="444503" cy="28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74" name="Формула" r:id="rId9" imgW="228501" imgH="165028" progId="Equation.3">
                  <p:embed/>
                </p:oleObj>
              </mc:Choice>
              <mc:Fallback>
                <p:oleObj name="Формула" r:id="rId9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9" y="5643578"/>
                        <a:ext cx="444503" cy="285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6" name="Object 20"/>
          <p:cNvGraphicFramePr>
            <a:graphicFrameLocks noChangeAspect="1"/>
          </p:cNvGraphicFramePr>
          <p:nvPr/>
        </p:nvGraphicFramePr>
        <p:xfrm>
          <a:off x="7500958" y="5629292"/>
          <a:ext cx="533401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875" name="Формула" r:id="rId10" imgW="253670" imgH="177569" progId="Equation.3">
                  <p:embed/>
                </p:oleObj>
              </mc:Choice>
              <mc:Fallback>
                <p:oleObj name="Формула" r:id="rId10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58" y="5629292"/>
                        <a:ext cx="533401" cy="300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827584" y="764704"/>
            <a:ext cx="7704856" cy="504056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24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11" grpId="0" animBg="1"/>
      <p:bldP spid="3" grpId="0" animBg="1"/>
      <p:bldP spid="3" grpId="1" animBg="1"/>
      <p:bldP spid="3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40881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38125" y="393836"/>
            <a:ext cx="8310339" cy="17281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438125" y="404664"/>
            <a:ext cx="8310339" cy="6840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sz="16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блокка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hlinkClick r:id="rId3" action="ppaction://hlinksldjump"/>
              </a:rPr>
              <a:t>1100</a:t>
            </a:r>
            <a:r>
              <a:rPr lang="uz-Cyrl-UZ" sz="1600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ортирма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киряпти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Демак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4" action="ppaction://hlinksldjump"/>
              </a:rPr>
              <a:t>1100</a:t>
            </a:r>
            <a:r>
              <a:rPr lang="uz-Cyrl-UZ" sz="1600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ни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берувчи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ортирмалар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қуйидагича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бўлади</a:t>
            </a:r>
            <a:r>
              <a:rPr lang="ru-RU" dirty="0"/>
              <a:t>: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143108" y="1267620"/>
            <a:ext cx="5574035" cy="1944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                              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9.1100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2. 00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101                              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10.1101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                               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11.1110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4. 0011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12.1111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5. 0100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                               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13.1000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14.1001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101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7. 0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010                                    15.1010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0111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16.1011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044442"/>
              </p:ext>
            </p:extLst>
          </p:nvPr>
        </p:nvGraphicFramePr>
        <p:xfrm>
          <a:off x="2879912" y="191683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18" name="Формула" r:id="rId5" imgW="164814" imgH="177492" progId="Equation.3">
                  <p:embed/>
                </p:oleObj>
              </mc:Choice>
              <mc:Fallback>
                <p:oleObj name="Формула" r:id="rId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912" y="191683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272230"/>
              </p:ext>
            </p:extLst>
          </p:nvPr>
        </p:nvGraphicFramePr>
        <p:xfrm>
          <a:off x="2894732" y="243841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19" name="Формула" r:id="rId7" imgW="164814" imgH="177492" progId="Equation.3">
                  <p:embed/>
                </p:oleObj>
              </mc:Choice>
              <mc:Fallback>
                <p:oleObj name="Формула" r:id="rId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732" y="243841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Объект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830931"/>
              </p:ext>
            </p:extLst>
          </p:nvPr>
        </p:nvGraphicFramePr>
        <p:xfrm>
          <a:off x="2894732" y="216790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0" name="Формула" r:id="rId8" imgW="164814" imgH="177492" progId="Equation.3">
                  <p:embed/>
                </p:oleObj>
              </mc:Choice>
              <mc:Fallback>
                <p:oleObj name="Формула" r:id="rId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732" y="216790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Объект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812599"/>
              </p:ext>
            </p:extLst>
          </p:nvPr>
        </p:nvGraphicFramePr>
        <p:xfrm>
          <a:off x="2894732" y="1303809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1" name="Формула" r:id="rId9" imgW="164814" imgH="177492" progId="Equation.3">
                  <p:embed/>
                </p:oleObj>
              </mc:Choice>
              <mc:Fallback>
                <p:oleObj name="Формула" r:id="rId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732" y="1303809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357356"/>
              </p:ext>
            </p:extLst>
          </p:nvPr>
        </p:nvGraphicFramePr>
        <p:xfrm>
          <a:off x="2894732" y="162880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2" name="Формула" r:id="rId10" imgW="164814" imgH="177492" progId="Equation.3">
                  <p:embed/>
                </p:oleObj>
              </mc:Choice>
              <mc:Fallback>
                <p:oleObj name="Формула" r:id="rId1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732" y="162880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Объект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541144"/>
              </p:ext>
            </p:extLst>
          </p:nvPr>
        </p:nvGraphicFramePr>
        <p:xfrm>
          <a:off x="2879912" y="299695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3" name="Формула" r:id="rId11" imgW="164814" imgH="177492" progId="Equation.3">
                  <p:embed/>
                </p:oleObj>
              </mc:Choice>
              <mc:Fallback>
                <p:oleObj name="Формула" r:id="rId1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912" y="299695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Объект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951694"/>
              </p:ext>
            </p:extLst>
          </p:nvPr>
        </p:nvGraphicFramePr>
        <p:xfrm>
          <a:off x="2894732" y="270892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4" name="Формула" r:id="rId12" imgW="164814" imgH="177492" progId="Equation.3">
                  <p:embed/>
                </p:oleObj>
              </mc:Choice>
              <mc:Fallback>
                <p:oleObj name="Формула" r:id="rId12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732" y="270892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Объект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782236"/>
              </p:ext>
            </p:extLst>
          </p:nvPr>
        </p:nvGraphicFramePr>
        <p:xfrm>
          <a:off x="2915816" y="1052736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5" name="Формула" r:id="rId13" imgW="164814" imgH="177492" progId="Equation.3">
                  <p:embed/>
                </p:oleObj>
              </mc:Choice>
              <mc:Fallback>
                <p:oleObj name="Формула" r:id="rId1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052736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Объект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986045"/>
              </p:ext>
            </p:extLst>
          </p:nvPr>
        </p:nvGraphicFramePr>
        <p:xfrm>
          <a:off x="6300192" y="1340768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6" name="Формула" r:id="rId14" imgW="164814" imgH="177492" progId="Equation.3">
                  <p:embed/>
                </p:oleObj>
              </mc:Choice>
              <mc:Fallback>
                <p:oleObj name="Формула" r:id="rId14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1340768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Объект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928737"/>
              </p:ext>
            </p:extLst>
          </p:nvPr>
        </p:nvGraphicFramePr>
        <p:xfrm>
          <a:off x="6279108" y="162880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7" name="Формула" r:id="rId15" imgW="164814" imgH="177492" progId="Equation.3">
                  <p:embed/>
                </p:oleObj>
              </mc:Choice>
              <mc:Fallback>
                <p:oleObj name="Формула" r:id="rId1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108" y="162880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Объект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878242"/>
              </p:ext>
            </p:extLst>
          </p:nvPr>
        </p:nvGraphicFramePr>
        <p:xfrm>
          <a:off x="6264288" y="1879873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8" name="Формула" r:id="rId16" imgW="164814" imgH="177492" progId="Equation.3">
                  <p:embed/>
                </p:oleObj>
              </mc:Choice>
              <mc:Fallback>
                <p:oleObj name="Формула" r:id="rId1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4288" y="1879873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Объект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792381"/>
              </p:ext>
            </p:extLst>
          </p:nvPr>
        </p:nvGraphicFramePr>
        <p:xfrm>
          <a:off x="6279108" y="216790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29" name="Формула" r:id="rId17" imgW="164814" imgH="177492" progId="Equation.3">
                  <p:embed/>
                </p:oleObj>
              </mc:Choice>
              <mc:Fallback>
                <p:oleObj name="Формула" r:id="rId1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108" y="216790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Объект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321341"/>
              </p:ext>
            </p:extLst>
          </p:nvPr>
        </p:nvGraphicFramePr>
        <p:xfrm>
          <a:off x="6279108" y="2455937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0" name="Формула" r:id="rId18" imgW="164814" imgH="177492" progId="Equation.3">
                  <p:embed/>
                </p:oleObj>
              </mc:Choice>
              <mc:Fallback>
                <p:oleObj name="Формула" r:id="rId1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108" y="2455937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Объект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528213"/>
              </p:ext>
            </p:extLst>
          </p:nvPr>
        </p:nvGraphicFramePr>
        <p:xfrm>
          <a:off x="6279108" y="270892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1" name="Формула" r:id="rId19" imgW="164814" imgH="177492" progId="Equation.3">
                  <p:embed/>
                </p:oleObj>
              </mc:Choice>
              <mc:Fallback>
                <p:oleObj name="Формула" r:id="rId1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108" y="270892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Объект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5188122"/>
              </p:ext>
            </p:extLst>
          </p:nvPr>
        </p:nvGraphicFramePr>
        <p:xfrm>
          <a:off x="6243204" y="299695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2" name="Формула" r:id="rId20" imgW="164814" imgH="177492" progId="Equation.3">
                  <p:embed/>
                </p:oleObj>
              </mc:Choice>
              <mc:Fallback>
                <p:oleObj name="Формула" r:id="rId2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204" y="299695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4" name="Объект 522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807996"/>
              </p:ext>
            </p:extLst>
          </p:nvPr>
        </p:nvGraphicFramePr>
        <p:xfrm>
          <a:off x="6207100" y="1052736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3" name="Формула" r:id="rId21" imgW="164814" imgH="177492" progId="Equation.3">
                  <p:embed/>
                </p:oleObj>
              </mc:Choice>
              <mc:Fallback>
                <p:oleObj name="Формула" r:id="rId2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100" y="1052736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5" name="Прямоугольник 52224"/>
          <p:cNvSpPr/>
          <p:nvPr/>
        </p:nvSpPr>
        <p:spPr>
          <a:xfrm>
            <a:off x="611560" y="3356992"/>
            <a:ext cx="8136904" cy="9361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Ушбу кирувчи ҳар бир жуфтлик  битларга мос келувчи, чиқувчи жуфтликлар мавжуд бўлиб, қаралаётган S-блокларга асосан бу жуфтликларнинг кўриниши қуйидагича: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643042" y="4124000"/>
            <a:ext cx="6285731" cy="2448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1. 1001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1100=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0101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9.1100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1001=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0101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2. 1110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0100=1010                          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10.0100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1110=1010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3. 0101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0000=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0101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11.0000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0101=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0101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4. 0001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0010=0011                                   12.0010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0001=0011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5. 1000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0110=1110                           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13.0110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1000=1110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6. 1011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0111=1100                           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14.0111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1011=1100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7. 1101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1111=0010                           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15.1111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1101=0010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8. 1010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0011=1001                                  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16.0011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1010=1001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graphicFrame>
        <p:nvGraphicFramePr>
          <p:cNvPr id="52227" name="Объект 522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437849"/>
              </p:ext>
            </p:extLst>
          </p:nvPr>
        </p:nvGraphicFramePr>
        <p:xfrm>
          <a:off x="2428860" y="4198288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4" name="Формула" r:id="rId22" imgW="164814" imgH="177492" progId="Equation.3">
                  <p:embed/>
                </p:oleObj>
              </mc:Choice>
              <mc:Fallback>
                <p:oleObj name="Формула" r:id="rId22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4198288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Объект 522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844921"/>
              </p:ext>
            </p:extLst>
          </p:nvPr>
        </p:nvGraphicFramePr>
        <p:xfrm>
          <a:off x="2406636" y="442913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5" name="Формула" r:id="rId23" imgW="164814" imgH="177492" progId="Equation.3">
                  <p:embed/>
                </p:oleObj>
              </mc:Choice>
              <mc:Fallback>
                <p:oleObj name="Формула" r:id="rId2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36" y="442913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Объект 522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730281"/>
              </p:ext>
            </p:extLst>
          </p:nvPr>
        </p:nvGraphicFramePr>
        <p:xfrm>
          <a:off x="2427150" y="473712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6" name="Формула" r:id="rId24" imgW="164814" imgH="177492" progId="Equation.3">
                  <p:embed/>
                </p:oleObj>
              </mc:Choice>
              <mc:Fallback>
                <p:oleObj name="Формула" r:id="rId24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150" y="473712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Объект 522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317110"/>
              </p:ext>
            </p:extLst>
          </p:nvPr>
        </p:nvGraphicFramePr>
        <p:xfrm>
          <a:off x="2427150" y="4990376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7" name="Формула" r:id="rId25" imgW="164814" imgH="177492" progId="Equation.3">
                  <p:embed/>
                </p:oleObj>
              </mc:Choice>
              <mc:Fallback>
                <p:oleObj name="Формула" r:id="rId2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150" y="4990376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Объект 522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016190"/>
              </p:ext>
            </p:extLst>
          </p:nvPr>
        </p:nvGraphicFramePr>
        <p:xfrm>
          <a:off x="2428860" y="527528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8" name="Формула" r:id="rId26" imgW="164814" imgH="177492" progId="Equation.3">
                  <p:embed/>
                </p:oleObj>
              </mc:Choice>
              <mc:Fallback>
                <p:oleObj name="Формула" r:id="rId2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527528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Объект 522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547740"/>
              </p:ext>
            </p:extLst>
          </p:nvPr>
        </p:nvGraphicFramePr>
        <p:xfrm>
          <a:off x="2406636" y="5529481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39" name="Формула" r:id="rId27" imgW="164814" imgH="177492" progId="Equation.3">
                  <p:embed/>
                </p:oleObj>
              </mc:Choice>
              <mc:Fallback>
                <p:oleObj name="Формула" r:id="rId2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36" y="5529481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Объект 522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306508"/>
              </p:ext>
            </p:extLst>
          </p:nvPr>
        </p:nvGraphicFramePr>
        <p:xfrm>
          <a:off x="2428860" y="581662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0" name="Формула" r:id="rId28" imgW="164814" imgH="177492" progId="Equation.3">
                  <p:embed/>
                </p:oleObj>
              </mc:Choice>
              <mc:Fallback>
                <p:oleObj name="Формула" r:id="rId2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581662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Объект 522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366229"/>
              </p:ext>
            </p:extLst>
          </p:nvPr>
        </p:nvGraphicFramePr>
        <p:xfrm>
          <a:off x="2428860" y="610554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1" name="Формула" r:id="rId29" imgW="164814" imgH="177492" progId="Equation.3">
                  <p:embed/>
                </p:oleObj>
              </mc:Choice>
              <mc:Fallback>
                <p:oleObj name="Формула" r:id="rId2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610554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Объект 522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354813"/>
              </p:ext>
            </p:extLst>
          </p:nvPr>
        </p:nvGraphicFramePr>
        <p:xfrm>
          <a:off x="6279108" y="4161329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2" name="Формула" r:id="rId30" imgW="164814" imgH="177492" progId="Equation.3">
                  <p:embed/>
                </p:oleObj>
              </mc:Choice>
              <mc:Fallback>
                <p:oleObj name="Формула" r:id="rId3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108" y="4161329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6" name="Объект 522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025833"/>
              </p:ext>
            </p:extLst>
          </p:nvPr>
        </p:nvGraphicFramePr>
        <p:xfrm>
          <a:off x="6376878" y="443711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3" name="Формула" r:id="rId31" imgW="164814" imgH="177492" progId="Equation.3">
                  <p:embed/>
                </p:oleObj>
              </mc:Choice>
              <mc:Fallback>
                <p:oleObj name="Формула" r:id="rId3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878" y="443711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Объект 522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645224"/>
              </p:ext>
            </p:extLst>
          </p:nvPr>
        </p:nvGraphicFramePr>
        <p:xfrm>
          <a:off x="6372200" y="473712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4" name="Формула" r:id="rId32" imgW="164814" imgH="177492" progId="Equation.3">
                  <p:embed/>
                </p:oleObj>
              </mc:Choice>
              <mc:Fallback>
                <p:oleObj name="Формула" r:id="rId32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473712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Объект 522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62741"/>
              </p:ext>
            </p:extLst>
          </p:nvPr>
        </p:nvGraphicFramePr>
        <p:xfrm>
          <a:off x="6372200" y="5013176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5" name="Формула" r:id="rId33" imgW="164814" imgH="177492" progId="Equation.3">
                  <p:embed/>
                </p:oleObj>
              </mc:Choice>
              <mc:Fallback>
                <p:oleObj name="Формула" r:id="rId3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5013176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Объект 522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279593"/>
              </p:ext>
            </p:extLst>
          </p:nvPr>
        </p:nvGraphicFramePr>
        <p:xfrm>
          <a:off x="6423124" y="527528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6" name="Формула" r:id="rId34" imgW="164814" imgH="177492" progId="Equation.3">
                  <p:embed/>
                </p:oleObj>
              </mc:Choice>
              <mc:Fallback>
                <p:oleObj name="Формула" r:id="rId34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3124" y="527528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Объект 522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235606"/>
              </p:ext>
            </p:extLst>
          </p:nvPr>
        </p:nvGraphicFramePr>
        <p:xfrm>
          <a:off x="6376878" y="554674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7" name="Формула" r:id="rId35" imgW="164814" imgH="177492" progId="Equation.3">
                  <p:embed/>
                </p:oleObj>
              </mc:Choice>
              <mc:Fallback>
                <p:oleObj name="Формула" r:id="rId3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6878" y="554674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Объект 522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610935"/>
              </p:ext>
            </p:extLst>
          </p:nvPr>
        </p:nvGraphicFramePr>
        <p:xfrm>
          <a:off x="6356240" y="581662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8" name="Формула" r:id="rId36" imgW="164814" imgH="177492" progId="Equation.3">
                  <p:embed/>
                </p:oleObj>
              </mc:Choice>
              <mc:Fallback>
                <p:oleObj name="Формула" r:id="rId3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6240" y="581662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2" name="Объект 522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7314900"/>
              </p:ext>
            </p:extLst>
          </p:nvPr>
        </p:nvGraphicFramePr>
        <p:xfrm>
          <a:off x="6444208" y="610554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49" name="Формула" r:id="rId37" imgW="164814" imgH="177492" progId="Equation.3">
                  <p:embed/>
                </p:oleObj>
              </mc:Choice>
              <mc:Fallback>
                <p:oleObj name="Формула" r:id="rId3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4208" y="610554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49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2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2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42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52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52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2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2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2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2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2225" grpId="0" animBg="1"/>
      <p:bldP spid="52225" grpId="1" animBg="1"/>
      <p:bldP spid="3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368660"/>
            <a:ext cx="7992888" cy="5400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1101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001011000111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Y`=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1000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001011001000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учун   қуйидаги тенгламага келамиз :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500166" y="980728"/>
            <a:ext cx="6143668" cy="13052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1. 1001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1101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.1100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0101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=10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1100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1001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=1000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000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1101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0101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graphicFrame>
        <p:nvGraphicFramePr>
          <p:cNvPr id="9" name="Объект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848295"/>
              </p:ext>
            </p:extLst>
          </p:nvPr>
        </p:nvGraphicFramePr>
        <p:xfrm>
          <a:off x="2620950" y="1000108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0" name="Формула" r:id="rId3" imgW="164814" imgH="177492" progId="Equation.3">
                  <p:embed/>
                </p:oleObj>
              </mc:Choice>
              <mc:Fallback>
                <p:oleObj name="Формула" r:id="rId3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50" y="1000108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276831"/>
              </p:ext>
            </p:extLst>
          </p:nvPr>
        </p:nvGraphicFramePr>
        <p:xfrm>
          <a:off x="2606700" y="128586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1" name="Формула" r:id="rId5" imgW="164814" imgH="177492" progId="Equation.3">
                  <p:embed/>
                </p:oleObj>
              </mc:Choice>
              <mc:Fallback>
                <p:oleObj name="Формула" r:id="rId5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700" y="128586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7743577"/>
              </p:ext>
            </p:extLst>
          </p:nvPr>
        </p:nvGraphicFramePr>
        <p:xfrm>
          <a:off x="2571736" y="1571612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2" name="Формула" r:id="rId6" imgW="164814" imgH="177492" progId="Equation.3">
                  <p:embed/>
                </p:oleObj>
              </mc:Choice>
              <mc:Fallback>
                <p:oleObj name="Формула" r:id="rId6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36" y="1571612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160965"/>
              </p:ext>
            </p:extLst>
          </p:nvPr>
        </p:nvGraphicFramePr>
        <p:xfrm>
          <a:off x="2643174" y="181926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3" name="Формула" r:id="rId7" imgW="164814" imgH="177492" progId="Equation.3">
                  <p:embed/>
                </p:oleObj>
              </mc:Choice>
              <mc:Fallback>
                <p:oleObj name="Формула" r:id="rId7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74" y="181926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621599"/>
              </p:ext>
            </p:extLst>
          </p:nvPr>
        </p:nvGraphicFramePr>
        <p:xfrm>
          <a:off x="6228184" y="1000108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4" name="Формула" r:id="rId8" imgW="164814" imgH="177492" progId="Equation.3">
                  <p:embed/>
                </p:oleObj>
              </mc:Choice>
              <mc:Fallback>
                <p:oleObj name="Формула" r:id="rId8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1000108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465616"/>
              </p:ext>
            </p:extLst>
          </p:nvPr>
        </p:nvGraphicFramePr>
        <p:xfrm>
          <a:off x="6215074" y="1285860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5" name="Формула" r:id="rId9" imgW="164814" imgH="177492" progId="Equation.3">
                  <p:embed/>
                </p:oleObj>
              </mc:Choice>
              <mc:Fallback>
                <p:oleObj name="Формула" r:id="rId9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1285860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505060"/>
              </p:ext>
            </p:extLst>
          </p:nvPr>
        </p:nvGraphicFramePr>
        <p:xfrm>
          <a:off x="6215074" y="1556991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6" name="Формула" r:id="rId10" imgW="164814" imgH="177492" progId="Equation.3">
                  <p:embed/>
                </p:oleObj>
              </mc:Choice>
              <mc:Fallback>
                <p:oleObj name="Формула" r:id="rId10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074" y="1556991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257038"/>
              </p:ext>
            </p:extLst>
          </p:nvPr>
        </p:nvGraphicFramePr>
        <p:xfrm>
          <a:off x="6335726" y="1819265"/>
          <a:ext cx="1651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7" name="Формула" r:id="rId11" imgW="164814" imgH="177492" progId="Equation.3">
                  <p:embed/>
                </p:oleObj>
              </mc:Choice>
              <mc:Fallback>
                <p:oleObj name="Формула" r:id="rId11" imgW="164814" imgH="17749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26" y="1819265"/>
                        <a:ext cx="1651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Прямоугольник 16"/>
          <p:cNvSpPr/>
          <p:nvPr/>
        </p:nvSpPr>
        <p:spPr>
          <a:xfrm>
            <a:off x="395536" y="2206004"/>
            <a:ext cx="8424936" cy="7229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Ушбу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тенгламалардан қисм калит ҳисобланган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={0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,1101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ўплам қийматларидан би</a:t>
            </a:r>
            <a:r>
              <a:rPr lang="ru-RU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ини қабул қилиши мумкин.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5004048" y="2428868"/>
            <a:ext cx="3786214" cy="3571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={1111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0001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1110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642910" y="2857496"/>
            <a:ext cx="2928958" cy="5715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0011010000100001</a:t>
            </a:r>
            <a:r>
              <a:rPr lang="uz-Cyrl-UZ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Y`=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0110010000101110</a:t>
            </a:r>
            <a:r>
              <a:rPr lang="uz-Cyrl-UZ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endParaRPr lang="ru-RU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71472" y="3500438"/>
            <a:ext cx="3286148" cy="3571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{1010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0110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1111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0011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572132" y="2928934"/>
            <a:ext cx="2714644" cy="500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Y=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1000001111001000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Y`=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1101001111000111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5214942" y="3500438"/>
            <a:ext cx="3286148" cy="3571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{0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1101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571472" y="4000504"/>
            <a:ext cx="3286148" cy="2857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1010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0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0101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5214942" y="3929066"/>
            <a:ext cx="3286148" cy="3571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0011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1110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1100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 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500034" y="4643446"/>
            <a:ext cx="8286808" cy="4286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Калитлар ҳақидаги умумий хулоса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2357422" y="5072074"/>
            <a:ext cx="4500594" cy="1143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{0100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1101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0001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1000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0001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1111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0010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0000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ru-RU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К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{1111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0001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1110</a:t>
            </a:r>
            <a:r>
              <a:rPr lang="ru-RU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011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ctr"/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500034" y="5214950"/>
            <a:ext cx="8286808" cy="1285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Ушбу калит тўпламларини комбинациясидан келиб чиқиб қўлимизда бор бўлган очиқ матнимизни шифрлаб шифр матнга эга бўлсак бу ҳақиқий калитни топганимиздан далолат беради. Ушбу ишларни амалга оширилиб калит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K=(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1101000100000011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эканлиги аниқланди.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144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000"/>
                            </p:stCondLst>
                            <p:childTnLst>
                              <p:par>
                                <p:cTn id="8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4282" y="857232"/>
            <a:ext cx="8786874" cy="5857916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57158" y="1214422"/>
            <a:ext cx="8501122" cy="64294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AES шифрлаш алгоритми  SubBytes() акслантиришига нисбатан  дифференциал криптотаҳлил усулини ўтказишда яратилган қуйидаги дастурий таъминотдан фойдаланиб ушбу акслантиришга мос айирма матрица қуриб олинди.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57158" y="6643710"/>
            <a:ext cx="8501122" cy="714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Ушбу айирма матрицага асосланган ҳолда кирувчи ва чиқувчи ортирмаларни қуриш ва уларга мос очиқ ва шифрматнларни танлаш масаласини ечиш талаб қилинади.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rcRect t="2395" r="30277" b="39395"/>
          <a:stretch>
            <a:fillRect/>
          </a:stretch>
        </p:blipFill>
        <p:spPr bwMode="auto">
          <a:xfrm>
            <a:off x="357158" y="1916832"/>
            <a:ext cx="8501122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Скругленный прямоугольник 12"/>
          <p:cNvSpPr/>
          <p:nvPr/>
        </p:nvSpPr>
        <p:spPr>
          <a:xfrm>
            <a:off x="142844" y="116632"/>
            <a:ext cx="8858312" cy="66913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2.2</a:t>
            </a:r>
            <a:r>
              <a:rPr lang="uz-Cyrl-UZ" sz="2000" b="1" dirty="0" smtClean="0"/>
              <a:t> </a:t>
            </a:r>
            <a:r>
              <a:rPr lang="uz-Cyrl-UZ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AES шифрлаш алгоритми учун дифференциал криптотаҳлил усули</a:t>
            </a:r>
            <a:endParaRPr lang="ru-RU" sz="2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8028384" y="2852936"/>
            <a:ext cx="216024" cy="1691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5148064" y="3201948"/>
            <a:ext cx="216024" cy="1691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7524328" y="4941168"/>
            <a:ext cx="216024" cy="1691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7330732" y="2683768"/>
            <a:ext cx="216024" cy="1691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5868144" y="3356992"/>
            <a:ext cx="288032" cy="21602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4499707" y="4077072"/>
            <a:ext cx="216024" cy="16916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500"/>
                            </p:stCondLst>
                            <p:childTnLst>
                              <p:par>
                                <p:cTn id="4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5" dur="2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10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8" dur="2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10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1" dur="20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10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4" dur="2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10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7" dur="20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100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0" dur="2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10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3" grpId="0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4282" y="214290"/>
            <a:ext cx="8786874" cy="642942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428596" y="548680"/>
            <a:ext cx="8358246" cy="21431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                           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800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800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   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SHIFTROWS(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 action="ppaction://hlinksldjump"/>
              </a:rPr>
              <a:t>W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	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  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7 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8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	</a:t>
            </a:r>
            <a:r>
              <a:rPr lang="ru-RU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12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14   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13" name="Двойные круглые скобки 12"/>
          <p:cNvSpPr/>
          <p:nvPr/>
        </p:nvSpPr>
        <p:spPr>
          <a:xfrm>
            <a:off x="1357290" y="836712"/>
            <a:ext cx="1643074" cy="142876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Двойные круглые скобки 13"/>
          <p:cNvSpPr/>
          <p:nvPr/>
        </p:nvSpPr>
        <p:spPr>
          <a:xfrm>
            <a:off x="5929322" y="836712"/>
            <a:ext cx="1714512" cy="1428760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6324" name="AutoShape 4"/>
          <p:cNvCxnSpPr>
            <a:cxnSpLocks noChangeShapeType="1"/>
          </p:cNvCxnSpPr>
          <p:nvPr/>
        </p:nvCxnSpPr>
        <p:spPr bwMode="auto">
          <a:xfrm>
            <a:off x="3000364" y="1484784"/>
            <a:ext cx="2928958" cy="1588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357158" y="3284984"/>
            <a:ext cx="8429684" cy="4286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Mix Columns жараёни математик асоси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g(x)={03}x</a:t>
            </a:r>
            <a:r>
              <a:rPr lang="uz-Cyrl-UZ" b="1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+{01}x</a:t>
            </a:r>
            <a:r>
              <a:rPr lang="uz-Cyrl-UZ" b="1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+{01}x+{02}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кўпҳадга боғлиқ. Шундан стандарт матрица жадвали қурилади.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285720" y="4357694"/>
            <a:ext cx="6572296" cy="15716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S'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	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02   03   01   01	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	 </a:t>
            </a:r>
            <a:r>
              <a:rPr lang="en-US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01   02   03   01	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S'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	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01   01   02   03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*   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uz-Cyrl-UZ" b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13	      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03   01   01   02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uz-Cyrl-UZ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Двойные круглые скобки 20"/>
          <p:cNvSpPr/>
          <p:nvPr/>
        </p:nvSpPr>
        <p:spPr>
          <a:xfrm>
            <a:off x="4224334" y="4357694"/>
            <a:ext cx="1571636" cy="1285884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Двойные круглые скобки 21"/>
          <p:cNvSpPr/>
          <p:nvPr/>
        </p:nvSpPr>
        <p:spPr>
          <a:xfrm>
            <a:off x="6153160" y="4429132"/>
            <a:ext cx="561980" cy="1285884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71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71438"/>
            <a:ext cx="8858312" cy="6715148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9825" name="Group 1457"/>
          <p:cNvGrpSpPr>
            <a:grpSpLocks/>
          </p:cNvGrpSpPr>
          <p:nvPr/>
        </p:nvGrpSpPr>
        <p:grpSpPr bwMode="auto">
          <a:xfrm>
            <a:off x="358775" y="571480"/>
            <a:ext cx="8499505" cy="3429024"/>
            <a:chOff x="565" y="3149"/>
            <a:chExt cx="10934" cy="4536"/>
          </a:xfrm>
        </p:grpSpPr>
        <p:sp>
          <p:nvSpPr>
            <p:cNvPr id="59826" name="Rectangle 1458"/>
            <p:cNvSpPr>
              <a:spLocks noChangeArrowheads="1"/>
            </p:cNvSpPr>
            <p:nvPr/>
          </p:nvSpPr>
          <p:spPr bwMode="auto">
            <a:xfrm>
              <a:off x="595" y="6481"/>
              <a:ext cx="10904" cy="7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uz-Cyrl-UZ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ФУНКЦИЯ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(</a:t>
              </a:r>
              <a:r>
                <a:rPr kumimoji="0" lang="en-US" sz="1600" b="1" i="1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Shift,MixCol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r>
                <a:rPr kumimoji="0" lang="uz-Cyrl-UZ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827" name="Rectangle 1459"/>
            <p:cNvSpPr>
              <a:spLocks noChangeArrowheads="1"/>
            </p:cNvSpPr>
            <p:nvPr/>
          </p:nvSpPr>
          <p:spPr bwMode="auto">
            <a:xfrm>
              <a:off x="646" y="5428"/>
              <a:ext cx="614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828" name="Line 1460"/>
            <p:cNvSpPr>
              <a:spLocks noChangeShapeType="1"/>
            </p:cNvSpPr>
            <p:nvPr/>
          </p:nvSpPr>
          <p:spPr bwMode="auto">
            <a:xfrm>
              <a:off x="686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29" name="Line 1461"/>
            <p:cNvSpPr>
              <a:spLocks noChangeShapeType="1"/>
            </p:cNvSpPr>
            <p:nvPr/>
          </p:nvSpPr>
          <p:spPr bwMode="auto">
            <a:xfrm>
              <a:off x="763" y="5000"/>
              <a:ext cx="0" cy="4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0" name="Line 1462"/>
            <p:cNvSpPr>
              <a:spLocks noChangeShapeType="1"/>
            </p:cNvSpPr>
            <p:nvPr/>
          </p:nvSpPr>
          <p:spPr bwMode="auto">
            <a:xfrm>
              <a:off x="849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1" name="Line 1463"/>
            <p:cNvSpPr>
              <a:spLocks noChangeShapeType="1"/>
            </p:cNvSpPr>
            <p:nvPr/>
          </p:nvSpPr>
          <p:spPr bwMode="auto">
            <a:xfrm>
              <a:off x="926" y="500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2" name="Line 1464"/>
            <p:cNvSpPr>
              <a:spLocks noChangeShapeType="1"/>
            </p:cNvSpPr>
            <p:nvPr/>
          </p:nvSpPr>
          <p:spPr bwMode="auto">
            <a:xfrm>
              <a:off x="1079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3" name="Line 1465"/>
            <p:cNvSpPr>
              <a:spLocks noChangeShapeType="1"/>
            </p:cNvSpPr>
            <p:nvPr/>
          </p:nvSpPr>
          <p:spPr bwMode="auto">
            <a:xfrm>
              <a:off x="1223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4" name="Line 1466"/>
            <p:cNvSpPr>
              <a:spLocks noChangeShapeType="1"/>
            </p:cNvSpPr>
            <p:nvPr/>
          </p:nvSpPr>
          <p:spPr bwMode="auto">
            <a:xfrm>
              <a:off x="1004" y="5009"/>
              <a:ext cx="0" cy="41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5" name="Line 1467"/>
            <p:cNvSpPr>
              <a:spLocks noChangeShapeType="1"/>
            </p:cNvSpPr>
            <p:nvPr/>
          </p:nvSpPr>
          <p:spPr bwMode="auto">
            <a:xfrm>
              <a:off x="1153" y="5006"/>
              <a:ext cx="0" cy="41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6" name="Line 1468"/>
            <p:cNvSpPr>
              <a:spLocks noChangeShapeType="1"/>
            </p:cNvSpPr>
            <p:nvPr/>
          </p:nvSpPr>
          <p:spPr bwMode="auto">
            <a:xfrm>
              <a:off x="715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7" name="Line 1469"/>
            <p:cNvSpPr>
              <a:spLocks noChangeShapeType="1"/>
            </p:cNvSpPr>
            <p:nvPr/>
          </p:nvSpPr>
          <p:spPr bwMode="auto">
            <a:xfrm>
              <a:off x="774" y="605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8" name="Line 1470"/>
            <p:cNvSpPr>
              <a:spLocks noChangeShapeType="1"/>
            </p:cNvSpPr>
            <p:nvPr/>
          </p:nvSpPr>
          <p:spPr bwMode="auto">
            <a:xfrm>
              <a:off x="844" y="6062"/>
              <a:ext cx="0" cy="41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39" name="Line 1471"/>
            <p:cNvSpPr>
              <a:spLocks noChangeShapeType="1"/>
            </p:cNvSpPr>
            <p:nvPr/>
          </p:nvSpPr>
          <p:spPr bwMode="auto">
            <a:xfrm>
              <a:off x="928" y="6057"/>
              <a:ext cx="0" cy="4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0" name="Line 1472"/>
            <p:cNvSpPr>
              <a:spLocks noChangeShapeType="1"/>
            </p:cNvSpPr>
            <p:nvPr/>
          </p:nvSpPr>
          <p:spPr bwMode="auto">
            <a:xfrm>
              <a:off x="1048" y="6062"/>
              <a:ext cx="0" cy="41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1" name="Line 1473"/>
            <p:cNvSpPr>
              <a:spLocks noChangeShapeType="1"/>
            </p:cNvSpPr>
            <p:nvPr/>
          </p:nvSpPr>
          <p:spPr bwMode="auto">
            <a:xfrm>
              <a:off x="1183" y="6062"/>
              <a:ext cx="0" cy="41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2" name="Line 1474"/>
            <p:cNvSpPr>
              <a:spLocks noChangeShapeType="1"/>
            </p:cNvSpPr>
            <p:nvPr/>
          </p:nvSpPr>
          <p:spPr bwMode="auto">
            <a:xfrm>
              <a:off x="997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3" name="Line 1475"/>
            <p:cNvSpPr>
              <a:spLocks noChangeShapeType="1"/>
            </p:cNvSpPr>
            <p:nvPr/>
          </p:nvSpPr>
          <p:spPr bwMode="auto">
            <a:xfrm>
              <a:off x="1111" y="605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4" name="Rectangle 1476"/>
            <p:cNvSpPr>
              <a:spLocks noChangeArrowheads="1"/>
            </p:cNvSpPr>
            <p:nvPr/>
          </p:nvSpPr>
          <p:spPr bwMode="auto">
            <a:xfrm>
              <a:off x="1320" y="5438"/>
              <a:ext cx="614" cy="6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sz="2000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845" name="Line 1477"/>
            <p:cNvSpPr>
              <a:spLocks noChangeShapeType="1"/>
            </p:cNvSpPr>
            <p:nvPr/>
          </p:nvSpPr>
          <p:spPr bwMode="auto">
            <a:xfrm>
              <a:off x="1359" y="501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6" name="Line 1478"/>
            <p:cNvSpPr>
              <a:spLocks noChangeShapeType="1"/>
            </p:cNvSpPr>
            <p:nvPr/>
          </p:nvSpPr>
          <p:spPr bwMode="auto">
            <a:xfrm>
              <a:off x="1437" y="5010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7" name="Line 1479"/>
            <p:cNvSpPr>
              <a:spLocks noChangeShapeType="1"/>
            </p:cNvSpPr>
            <p:nvPr/>
          </p:nvSpPr>
          <p:spPr bwMode="auto">
            <a:xfrm>
              <a:off x="1523" y="501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8" name="Line 1480"/>
            <p:cNvSpPr>
              <a:spLocks noChangeShapeType="1"/>
            </p:cNvSpPr>
            <p:nvPr/>
          </p:nvSpPr>
          <p:spPr bwMode="auto">
            <a:xfrm>
              <a:off x="1602" y="5014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49" name="Line 1481"/>
            <p:cNvSpPr>
              <a:spLocks noChangeShapeType="1"/>
            </p:cNvSpPr>
            <p:nvPr/>
          </p:nvSpPr>
          <p:spPr bwMode="auto">
            <a:xfrm>
              <a:off x="1752" y="501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0" name="Line 1482"/>
            <p:cNvSpPr>
              <a:spLocks noChangeShapeType="1"/>
            </p:cNvSpPr>
            <p:nvPr/>
          </p:nvSpPr>
          <p:spPr bwMode="auto">
            <a:xfrm>
              <a:off x="1898" y="501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1" name="Line 1483"/>
            <p:cNvSpPr>
              <a:spLocks noChangeShapeType="1"/>
            </p:cNvSpPr>
            <p:nvPr/>
          </p:nvSpPr>
          <p:spPr bwMode="auto">
            <a:xfrm>
              <a:off x="1678" y="501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2" name="Line 1484"/>
            <p:cNvSpPr>
              <a:spLocks noChangeShapeType="1"/>
            </p:cNvSpPr>
            <p:nvPr/>
          </p:nvSpPr>
          <p:spPr bwMode="auto">
            <a:xfrm>
              <a:off x="1828" y="501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3" name="Line 1485"/>
            <p:cNvSpPr>
              <a:spLocks noChangeShapeType="1"/>
            </p:cNvSpPr>
            <p:nvPr/>
          </p:nvSpPr>
          <p:spPr bwMode="auto">
            <a:xfrm>
              <a:off x="1369" y="607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4" name="Line 1486"/>
            <p:cNvSpPr>
              <a:spLocks noChangeShapeType="1"/>
            </p:cNvSpPr>
            <p:nvPr/>
          </p:nvSpPr>
          <p:spPr bwMode="auto">
            <a:xfrm>
              <a:off x="1427" y="6063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5" name="Line 1487"/>
            <p:cNvSpPr>
              <a:spLocks noChangeShapeType="1"/>
            </p:cNvSpPr>
            <p:nvPr/>
          </p:nvSpPr>
          <p:spPr bwMode="auto">
            <a:xfrm>
              <a:off x="1513" y="607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6" name="Line 1488"/>
            <p:cNvSpPr>
              <a:spLocks noChangeShapeType="1"/>
            </p:cNvSpPr>
            <p:nvPr/>
          </p:nvSpPr>
          <p:spPr bwMode="auto">
            <a:xfrm>
              <a:off x="1592" y="6066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7" name="Line 1489"/>
            <p:cNvSpPr>
              <a:spLocks noChangeShapeType="1"/>
            </p:cNvSpPr>
            <p:nvPr/>
          </p:nvSpPr>
          <p:spPr bwMode="auto">
            <a:xfrm>
              <a:off x="1743" y="605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8" name="Line 1490"/>
            <p:cNvSpPr>
              <a:spLocks noChangeShapeType="1"/>
            </p:cNvSpPr>
            <p:nvPr/>
          </p:nvSpPr>
          <p:spPr bwMode="auto">
            <a:xfrm>
              <a:off x="1888" y="605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59" name="Line 1491"/>
            <p:cNvSpPr>
              <a:spLocks noChangeShapeType="1"/>
            </p:cNvSpPr>
            <p:nvPr/>
          </p:nvSpPr>
          <p:spPr bwMode="auto">
            <a:xfrm>
              <a:off x="1668" y="607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0" name="Line 1492"/>
            <p:cNvSpPr>
              <a:spLocks noChangeShapeType="1"/>
            </p:cNvSpPr>
            <p:nvPr/>
          </p:nvSpPr>
          <p:spPr bwMode="auto">
            <a:xfrm>
              <a:off x="1817" y="606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1" name="Rectangle 1493"/>
            <p:cNvSpPr>
              <a:spLocks noChangeArrowheads="1"/>
            </p:cNvSpPr>
            <p:nvPr/>
          </p:nvSpPr>
          <p:spPr bwMode="auto">
            <a:xfrm>
              <a:off x="2008" y="5446"/>
              <a:ext cx="612" cy="62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862" name="Line 1494"/>
            <p:cNvSpPr>
              <a:spLocks noChangeShapeType="1"/>
            </p:cNvSpPr>
            <p:nvPr/>
          </p:nvSpPr>
          <p:spPr bwMode="auto">
            <a:xfrm>
              <a:off x="2045" y="5010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3" name="Line 1495"/>
            <p:cNvSpPr>
              <a:spLocks noChangeShapeType="1"/>
            </p:cNvSpPr>
            <p:nvPr/>
          </p:nvSpPr>
          <p:spPr bwMode="auto">
            <a:xfrm>
              <a:off x="2125" y="501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4" name="Line 1496"/>
            <p:cNvSpPr>
              <a:spLocks noChangeShapeType="1"/>
            </p:cNvSpPr>
            <p:nvPr/>
          </p:nvSpPr>
          <p:spPr bwMode="auto">
            <a:xfrm>
              <a:off x="2209" y="5010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5" name="Line 1497"/>
            <p:cNvSpPr>
              <a:spLocks noChangeShapeType="1"/>
            </p:cNvSpPr>
            <p:nvPr/>
          </p:nvSpPr>
          <p:spPr bwMode="auto">
            <a:xfrm>
              <a:off x="2289" y="4975"/>
              <a:ext cx="0" cy="4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6" name="Line 1498"/>
            <p:cNvSpPr>
              <a:spLocks noChangeShapeType="1"/>
            </p:cNvSpPr>
            <p:nvPr/>
          </p:nvSpPr>
          <p:spPr bwMode="auto">
            <a:xfrm>
              <a:off x="2439" y="5010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7" name="Line 1499"/>
            <p:cNvSpPr>
              <a:spLocks noChangeShapeType="1"/>
            </p:cNvSpPr>
            <p:nvPr/>
          </p:nvSpPr>
          <p:spPr bwMode="auto">
            <a:xfrm>
              <a:off x="2586" y="5010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8" name="Line 1500"/>
            <p:cNvSpPr>
              <a:spLocks noChangeShapeType="1"/>
            </p:cNvSpPr>
            <p:nvPr/>
          </p:nvSpPr>
          <p:spPr bwMode="auto">
            <a:xfrm>
              <a:off x="2364" y="5010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69" name="Line 1501"/>
            <p:cNvSpPr>
              <a:spLocks noChangeShapeType="1"/>
            </p:cNvSpPr>
            <p:nvPr/>
          </p:nvSpPr>
          <p:spPr bwMode="auto">
            <a:xfrm>
              <a:off x="2515" y="4975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0" name="Line 1502"/>
            <p:cNvSpPr>
              <a:spLocks noChangeShapeType="1"/>
            </p:cNvSpPr>
            <p:nvPr/>
          </p:nvSpPr>
          <p:spPr bwMode="auto">
            <a:xfrm>
              <a:off x="2036" y="606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1" name="Line 1503"/>
            <p:cNvSpPr>
              <a:spLocks noChangeShapeType="1"/>
            </p:cNvSpPr>
            <p:nvPr/>
          </p:nvSpPr>
          <p:spPr bwMode="auto">
            <a:xfrm>
              <a:off x="2115" y="607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2" name="Line 1504"/>
            <p:cNvSpPr>
              <a:spLocks noChangeShapeType="1"/>
            </p:cNvSpPr>
            <p:nvPr/>
          </p:nvSpPr>
          <p:spPr bwMode="auto">
            <a:xfrm>
              <a:off x="2200" y="606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3" name="Line 1505"/>
            <p:cNvSpPr>
              <a:spLocks noChangeShapeType="1"/>
            </p:cNvSpPr>
            <p:nvPr/>
          </p:nvSpPr>
          <p:spPr bwMode="auto">
            <a:xfrm>
              <a:off x="2279" y="606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4" name="Line 1506"/>
            <p:cNvSpPr>
              <a:spLocks noChangeShapeType="1"/>
            </p:cNvSpPr>
            <p:nvPr/>
          </p:nvSpPr>
          <p:spPr bwMode="auto">
            <a:xfrm>
              <a:off x="2429" y="606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5" name="Line 1507"/>
            <p:cNvSpPr>
              <a:spLocks noChangeShapeType="1"/>
            </p:cNvSpPr>
            <p:nvPr/>
          </p:nvSpPr>
          <p:spPr bwMode="auto">
            <a:xfrm>
              <a:off x="2576" y="606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6" name="Line 1508"/>
            <p:cNvSpPr>
              <a:spLocks noChangeShapeType="1"/>
            </p:cNvSpPr>
            <p:nvPr/>
          </p:nvSpPr>
          <p:spPr bwMode="auto">
            <a:xfrm>
              <a:off x="2354" y="606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7" name="Line 1509"/>
            <p:cNvSpPr>
              <a:spLocks noChangeShapeType="1"/>
            </p:cNvSpPr>
            <p:nvPr/>
          </p:nvSpPr>
          <p:spPr bwMode="auto">
            <a:xfrm>
              <a:off x="2504" y="606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78" name="Rectangle 1510"/>
            <p:cNvSpPr>
              <a:spLocks noChangeArrowheads="1"/>
            </p:cNvSpPr>
            <p:nvPr/>
          </p:nvSpPr>
          <p:spPr bwMode="auto">
            <a:xfrm>
              <a:off x="2676" y="5428"/>
              <a:ext cx="611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879" name="Line 1511"/>
            <p:cNvSpPr>
              <a:spLocks noChangeShapeType="1"/>
            </p:cNvSpPr>
            <p:nvPr/>
          </p:nvSpPr>
          <p:spPr bwMode="auto">
            <a:xfrm>
              <a:off x="2714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0" name="Line 1512"/>
            <p:cNvSpPr>
              <a:spLocks noChangeShapeType="1"/>
            </p:cNvSpPr>
            <p:nvPr/>
          </p:nvSpPr>
          <p:spPr bwMode="auto">
            <a:xfrm>
              <a:off x="2792" y="500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1" name="Line 1513"/>
            <p:cNvSpPr>
              <a:spLocks noChangeShapeType="1"/>
            </p:cNvSpPr>
            <p:nvPr/>
          </p:nvSpPr>
          <p:spPr bwMode="auto">
            <a:xfrm>
              <a:off x="2877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2" name="Line 1514"/>
            <p:cNvSpPr>
              <a:spLocks noChangeShapeType="1"/>
            </p:cNvSpPr>
            <p:nvPr/>
          </p:nvSpPr>
          <p:spPr bwMode="auto">
            <a:xfrm>
              <a:off x="2955" y="500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3" name="Line 1515"/>
            <p:cNvSpPr>
              <a:spLocks noChangeShapeType="1"/>
            </p:cNvSpPr>
            <p:nvPr/>
          </p:nvSpPr>
          <p:spPr bwMode="auto">
            <a:xfrm>
              <a:off x="3108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4" name="Line 1516"/>
            <p:cNvSpPr>
              <a:spLocks noChangeShapeType="1"/>
            </p:cNvSpPr>
            <p:nvPr/>
          </p:nvSpPr>
          <p:spPr bwMode="auto">
            <a:xfrm>
              <a:off x="3253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5" name="Line 1517"/>
            <p:cNvSpPr>
              <a:spLocks noChangeShapeType="1"/>
            </p:cNvSpPr>
            <p:nvPr/>
          </p:nvSpPr>
          <p:spPr bwMode="auto">
            <a:xfrm>
              <a:off x="3031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6" name="Line 1518"/>
            <p:cNvSpPr>
              <a:spLocks noChangeShapeType="1"/>
            </p:cNvSpPr>
            <p:nvPr/>
          </p:nvSpPr>
          <p:spPr bwMode="auto">
            <a:xfrm>
              <a:off x="3182" y="5006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7" name="Line 1519"/>
            <p:cNvSpPr>
              <a:spLocks noChangeShapeType="1"/>
            </p:cNvSpPr>
            <p:nvPr/>
          </p:nvSpPr>
          <p:spPr bwMode="auto">
            <a:xfrm>
              <a:off x="2704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8" name="Line 1520"/>
            <p:cNvSpPr>
              <a:spLocks noChangeShapeType="1"/>
            </p:cNvSpPr>
            <p:nvPr/>
          </p:nvSpPr>
          <p:spPr bwMode="auto">
            <a:xfrm>
              <a:off x="2782" y="605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89" name="Line 1521"/>
            <p:cNvSpPr>
              <a:spLocks noChangeShapeType="1"/>
            </p:cNvSpPr>
            <p:nvPr/>
          </p:nvSpPr>
          <p:spPr bwMode="auto">
            <a:xfrm>
              <a:off x="2868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0" name="Line 1522"/>
            <p:cNvSpPr>
              <a:spLocks noChangeShapeType="1"/>
            </p:cNvSpPr>
            <p:nvPr/>
          </p:nvSpPr>
          <p:spPr bwMode="auto">
            <a:xfrm>
              <a:off x="2946" y="605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1" name="Line 1523"/>
            <p:cNvSpPr>
              <a:spLocks noChangeShapeType="1"/>
            </p:cNvSpPr>
            <p:nvPr/>
          </p:nvSpPr>
          <p:spPr bwMode="auto">
            <a:xfrm>
              <a:off x="3096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2" name="Line 1524"/>
            <p:cNvSpPr>
              <a:spLocks noChangeShapeType="1"/>
            </p:cNvSpPr>
            <p:nvPr/>
          </p:nvSpPr>
          <p:spPr bwMode="auto">
            <a:xfrm>
              <a:off x="3243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3" name="Line 1525"/>
            <p:cNvSpPr>
              <a:spLocks noChangeShapeType="1"/>
            </p:cNvSpPr>
            <p:nvPr/>
          </p:nvSpPr>
          <p:spPr bwMode="auto">
            <a:xfrm>
              <a:off x="3023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4" name="Line 1526"/>
            <p:cNvSpPr>
              <a:spLocks noChangeShapeType="1"/>
            </p:cNvSpPr>
            <p:nvPr/>
          </p:nvSpPr>
          <p:spPr bwMode="auto">
            <a:xfrm>
              <a:off x="3172" y="605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5" name="Rectangle 1527"/>
            <p:cNvSpPr>
              <a:spLocks noChangeArrowheads="1"/>
            </p:cNvSpPr>
            <p:nvPr/>
          </p:nvSpPr>
          <p:spPr bwMode="auto">
            <a:xfrm>
              <a:off x="3360" y="5436"/>
              <a:ext cx="613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sz="2000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896" name="Line 1528"/>
            <p:cNvSpPr>
              <a:spLocks noChangeShapeType="1"/>
            </p:cNvSpPr>
            <p:nvPr/>
          </p:nvSpPr>
          <p:spPr bwMode="auto">
            <a:xfrm>
              <a:off x="3398" y="501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7" name="Line 1529"/>
            <p:cNvSpPr>
              <a:spLocks noChangeShapeType="1"/>
            </p:cNvSpPr>
            <p:nvPr/>
          </p:nvSpPr>
          <p:spPr bwMode="auto">
            <a:xfrm>
              <a:off x="3477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8" name="Line 1530"/>
            <p:cNvSpPr>
              <a:spLocks noChangeShapeType="1"/>
            </p:cNvSpPr>
            <p:nvPr/>
          </p:nvSpPr>
          <p:spPr bwMode="auto">
            <a:xfrm>
              <a:off x="3561" y="501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899" name="Line 1531"/>
            <p:cNvSpPr>
              <a:spLocks noChangeShapeType="1"/>
            </p:cNvSpPr>
            <p:nvPr/>
          </p:nvSpPr>
          <p:spPr bwMode="auto">
            <a:xfrm>
              <a:off x="3642" y="5013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0" name="Line 1532"/>
            <p:cNvSpPr>
              <a:spLocks noChangeShapeType="1"/>
            </p:cNvSpPr>
            <p:nvPr/>
          </p:nvSpPr>
          <p:spPr bwMode="auto">
            <a:xfrm>
              <a:off x="3792" y="501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1" name="Line 1533"/>
            <p:cNvSpPr>
              <a:spLocks noChangeShapeType="1"/>
            </p:cNvSpPr>
            <p:nvPr/>
          </p:nvSpPr>
          <p:spPr bwMode="auto">
            <a:xfrm>
              <a:off x="3938" y="501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2" name="Line 1534"/>
            <p:cNvSpPr>
              <a:spLocks noChangeShapeType="1"/>
            </p:cNvSpPr>
            <p:nvPr/>
          </p:nvSpPr>
          <p:spPr bwMode="auto">
            <a:xfrm>
              <a:off x="3717" y="501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3" name="Line 1535"/>
            <p:cNvSpPr>
              <a:spLocks noChangeShapeType="1"/>
            </p:cNvSpPr>
            <p:nvPr/>
          </p:nvSpPr>
          <p:spPr bwMode="auto">
            <a:xfrm>
              <a:off x="3867" y="5014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4" name="Line 1536"/>
            <p:cNvSpPr>
              <a:spLocks noChangeShapeType="1"/>
            </p:cNvSpPr>
            <p:nvPr/>
          </p:nvSpPr>
          <p:spPr bwMode="auto">
            <a:xfrm>
              <a:off x="3389" y="607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5" name="Line 1537"/>
            <p:cNvSpPr>
              <a:spLocks noChangeShapeType="1"/>
            </p:cNvSpPr>
            <p:nvPr/>
          </p:nvSpPr>
          <p:spPr bwMode="auto">
            <a:xfrm>
              <a:off x="3467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6" name="Line 1538"/>
            <p:cNvSpPr>
              <a:spLocks noChangeShapeType="1"/>
            </p:cNvSpPr>
            <p:nvPr/>
          </p:nvSpPr>
          <p:spPr bwMode="auto">
            <a:xfrm>
              <a:off x="3551" y="607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7" name="Line 1539"/>
            <p:cNvSpPr>
              <a:spLocks noChangeShapeType="1"/>
            </p:cNvSpPr>
            <p:nvPr/>
          </p:nvSpPr>
          <p:spPr bwMode="auto">
            <a:xfrm>
              <a:off x="3632" y="6064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8" name="Line 1540"/>
            <p:cNvSpPr>
              <a:spLocks noChangeShapeType="1"/>
            </p:cNvSpPr>
            <p:nvPr/>
          </p:nvSpPr>
          <p:spPr bwMode="auto">
            <a:xfrm>
              <a:off x="3781" y="607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09" name="Line 1541"/>
            <p:cNvSpPr>
              <a:spLocks noChangeShapeType="1"/>
            </p:cNvSpPr>
            <p:nvPr/>
          </p:nvSpPr>
          <p:spPr bwMode="auto">
            <a:xfrm>
              <a:off x="3928" y="607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0" name="Line 1542"/>
            <p:cNvSpPr>
              <a:spLocks noChangeShapeType="1"/>
            </p:cNvSpPr>
            <p:nvPr/>
          </p:nvSpPr>
          <p:spPr bwMode="auto">
            <a:xfrm>
              <a:off x="3707" y="607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1" name="Line 1543"/>
            <p:cNvSpPr>
              <a:spLocks noChangeShapeType="1"/>
            </p:cNvSpPr>
            <p:nvPr/>
          </p:nvSpPr>
          <p:spPr bwMode="auto">
            <a:xfrm>
              <a:off x="3856" y="606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2" name="Rectangle 1544"/>
            <p:cNvSpPr>
              <a:spLocks noChangeArrowheads="1"/>
            </p:cNvSpPr>
            <p:nvPr/>
          </p:nvSpPr>
          <p:spPr bwMode="auto">
            <a:xfrm>
              <a:off x="4027" y="5436"/>
              <a:ext cx="612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913" name="Line 1545"/>
            <p:cNvSpPr>
              <a:spLocks noChangeShapeType="1"/>
            </p:cNvSpPr>
            <p:nvPr/>
          </p:nvSpPr>
          <p:spPr bwMode="auto">
            <a:xfrm>
              <a:off x="4064" y="502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4" name="Line 1546"/>
            <p:cNvSpPr>
              <a:spLocks noChangeShapeType="1"/>
            </p:cNvSpPr>
            <p:nvPr/>
          </p:nvSpPr>
          <p:spPr bwMode="auto">
            <a:xfrm>
              <a:off x="4143" y="5013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5" name="Line 1547"/>
            <p:cNvSpPr>
              <a:spLocks noChangeShapeType="1"/>
            </p:cNvSpPr>
            <p:nvPr/>
          </p:nvSpPr>
          <p:spPr bwMode="auto">
            <a:xfrm>
              <a:off x="4228" y="502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6" name="Line 1548"/>
            <p:cNvSpPr>
              <a:spLocks noChangeShapeType="1"/>
            </p:cNvSpPr>
            <p:nvPr/>
          </p:nvSpPr>
          <p:spPr bwMode="auto">
            <a:xfrm>
              <a:off x="4307" y="501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7" name="Line 1549"/>
            <p:cNvSpPr>
              <a:spLocks noChangeShapeType="1"/>
            </p:cNvSpPr>
            <p:nvPr/>
          </p:nvSpPr>
          <p:spPr bwMode="auto">
            <a:xfrm>
              <a:off x="4458" y="502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8" name="Line 1550"/>
            <p:cNvSpPr>
              <a:spLocks noChangeShapeType="1"/>
            </p:cNvSpPr>
            <p:nvPr/>
          </p:nvSpPr>
          <p:spPr bwMode="auto">
            <a:xfrm>
              <a:off x="4603" y="502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19" name="Line 1551"/>
            <p:cNvSpPr>
              <a:spLocks noChangeShapeType="1"/>
            </p:cNvSpPr>
            <p:nvPr/>
          </p:nvSpPr>
          <p:spPr bwMode="auto">
            <a:xfrm>
              <a:off x="4383" y="502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0" name="Line 1552"/>
            <p:cNvSpPr>
              <a:spLocks noChangeShapeType="1"/>
            </p:cNvSpPr>
            <p:nvPr/>
          </p:nvSpPr>
          <p:spPr bwMode="auto">
            <a:xfrm>
              <a:off x="4533" y="5018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1" name="Line 1553"/>
            <p:cNvSpPr>
              <a:spLocks noChangeShapeType="1"/>
            </p:cNvSpPr>
            <p:nvPr/>
          </p:nvSpPr>
          <p:spPr bwMode="auto">
            <a:xfrm>
              <a:off x="4054" y="6078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2" name="Line 1554"/>
            <p:cNvSpPr>
              <a:spLocks noChangeShapeType="1"/>
            </p:cNvSpPr>
            <p:nvPr/>
          </p:nvSpPr>
          <p:spPr bwMode="auto">
            <a:xfrm>
              <a:off x="4133" y="6057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3" name="Line 1555"/>
            <p:cNvSpPr>
              <a:spLocks noChangeShapeType="1"/>
            </p:cNvSpPr>
            <p:nvPr/>
          </p:nvSpPr>
          <p:spPr bwMode="auto">
            <a:xfrm>
              <a:off x="4218" y="60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4" name="Line 1556"/>
            <p:cNvSpPr>
              <a:spLocks noChangeShapeType="1"/>
            </p:cNvSpPr>
            <p:nvPr/>
          </p:nvSpPr>
          <p:spPr bwMode="auto">
            <a:xfrm>
              <a:off x="4298" y="6060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5" name="Line 1557"/>
            <p:cNvSpPr>
              <a:spLocks noChangeShapeType="1"/>
            </p:cNvSpPr>
            <p:nvPr/>
          </p:nvSpPr>
          <p:spPr bwMode="auto">
            <a:xfrm>
              <a:off x="4448" y="60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6" name="Line 1558"/>
            <p:cNvSpPr>
              <a:spLocks noChangeShapeType="1"/>
            </p:cNvSpPr>
            <p:nvPr/>
          </p:nvSpPr>
          <p:spPr bwMode="auto">
            <a:xfrm>
              <a:off x="4594" y="605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7" name="Line 1559"/>
            <p:cNvSpPr>
              <a:spLocks noChangeShapeType="1"/>
            </p:cNvSpPr>
            <p:nvPr/>
          </p:nvSpPr>
          <p:spPr bwMode="auto">
            <a:xfrm>
              <a:off x="4374" y="605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8" name="Line 1560"/>
            <p:cNvSpPr>
              <a:spLocks noChangeShapeType="1"/>
            </p:cNvSpPr>
            <p:nvPr/>
          </p:nvSpPr>
          <p:spPr bwMode="auto">
            <a:xfrm>
              <a:off x="4523" y="6063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29" name="Rectangle 1561"/>
            <p:cNvSpPr>
              <a:spLocks noChangeArrowheads="1"/>
            </p:cNvSpPr>
            <p:nvPr/>
          </p:nvSpPr>
          <p:spPr bwMode="auto">
            <a:xfrm>
              <a:off x="5394" y="5403"/>
              <a:ext cx="613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sz="2000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8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930" name="Line 1562"/>
            <p:cNvSpPr>
              <a:spLocks noChangeShapeType="1"/>
            </p:cNvSpPr>
            <p:nvPr/>
          </p:nvSpPr>
          <p:spPr bwMode="auto">
            <a:xfrm>
              <a:off x="5432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1" name="Line 1563"/>
            <p:cNvSpPr>
              <a:spLocks noChangeShapeType="1"/>
            </p:cNvSpPr>
            <p:nvPr/>
          </p:nvSpPr>
          <p:spPr bwMode="auto">
            <a:xfrm>
              <a:off x="5511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2" name="Line 1564"/>
            <p:cNvSpPr>
              <a:spLocks noChangeShapeType="1"/>
            </p:cNvSpPr>
            <p:nvPr/>
          </p:nvSpPr>
          <p:spPr bwMode="auto">
            <a:xfrm>
              <a:off x="5595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3" name="Line 1565"/>
            <p:cNvSpPr>
              <a:spLocks noChangeShapeType="1"/>
            </p:cNvSpPr>
            <p:nvPr/>
          </p:nvSpPr>
          <p:spPr bwMode="auto">
            <a:xfrm>
              <a:off x="5675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4" name="Line 1566"/>
            <p:cNvSpPr>
              <a:spLocks noChangeShapeType="1"/>
            </p:cNvSpPr>
            <p:nvPr/>
          </p:nvSpPr>
          <p:spPr bwMode="auto">
            <a:xfrm>
              <a:off x="5825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5" name="Line 1567"/>
            <p:cNvSpPr>
              <a:spLocks noChangeShapeType="1"/>
            </p:cNvSpPr>
            <p:nvPr/>
          </p:nvSpPr>
          <p:spPr bwMode="auto">
            <a:xfrm>
              <a:off x="5972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6" name="Line 1568"/>
            <p:cNvSpPr>
              <a:spLocks noChangeShapeType="1"/>
            </p:cNvSpPr>
            <p:nvPr/>
          </p:nvSpPr>
          <p:spPr bwMode="auto">
            <a:xfrm>
              <a:off x="5751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7" name="Line 1569"/>
            <p:cNvSpPr>
              <a:spLocks noChangeShapeType="1"/>
            </p:cNvSpPr>
            <p:nvPr/>
          </p:nvSpPr>
          <p:spPr bwMode="auto">
            <a:xfrm>
              <a:off x="5901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8" name="Line 1570"/>
            <p:cNvSpPr>
              <a:spLocks noChangeShapeType="1"/>
            </p:cNvSpPr>
            <p:nvPr/>
          </p:nvSpPr>
          <p:spPr bwMode="auto">
            <a:xfrm>
              <a:off x="542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39" name="Line 1571"/>
            <p:cNvSpPr>
              <a:spLocks noChangeShapeType="1"/>
            </p:cNvSpPr>
            <p:nvPr/>
          </p:nvSpPr>
          <p:spPr bwMode="auto">
            <a:xfrm>
              <a:off x="5501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0" name="Line 1572"/>
            <p:cNvSpPr>
              <a:spLocks noChangeShapeType="1"/>
            </p:cNvSpPr>
            <p:nvPr/>
          </p:nvSpPr>
          <p:spPr bwMode="auto">
            <a:xfrm>
              <a:off x="5586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1" name="Line 1573"/>
            <p:cNvSpPr>
              <a:spLocks noChangeShapeType="1"/>
            </p:cNvSpPr>
            <p:nvPr/>
          </p:nvSpPr>
          <p:spPr bwMode="auto">
            <a:xfrm>
              <a:off x="5665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2" name="Line 1574"/>
            <p:cNvSpPr>
              <a:spLocks noChangeShapeType="1"/>
            </p:cNvSpPr>
            <p:nvPr/>
          </p:nvSpPr>
          <p:spPr bwMode="auto">
            <a:xfrm>
              <a:off x="5815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3" name="Line 1575"/>
            <p:cNvSpPr>
              <a:spLocks noChangeShapeType="1"/>
            </p:cNvSpPr>
            <p:nvPr/>
          </p:nvSpPr>
          <p:spPr bwMode="auto">
            <a:xfrm>
              <a:off x="596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4" name="Line 1576"/>
            <p:cNvSpPr>
              <a:spLocks noChangeShapeType="1"/>
            </p:cNvSpPr>
            <p:nvPr/>
          </p:nvSpPr>
          <p:spPr bwMode="auto">
            <a:xfrm>
              <a:off x="574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5" name="Line 1577"/>
            <p:cNvSpPr>
              <a:spLocks noChangeShapeType="1"/>
            </p:cNvSpPr>
            <p:nvPr/>
          </p:nvSpPr>
          <p:spPr bwMode="auto">
            <a:xfrm>
              <a:off x="5890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6" name="Rectangle 1578"/>
            <p:cNvSpPr>
              <a:spLocks noChangeArrowheads="1"/>
            </p:cNvSpPr>
            <p:nvPr/>
          </p:nvSpPr>
          <p:spPr bwMode="auto">
            <a:xfrm>
              <a:off x="10832" y="5403"/>
              <a:ext cx="612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16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947" name="Line 1579"/>
            <p:cNvSpPr>
              <a:spLocks noChangeShapeType="1"/>
            </p:cNvSpPr>
            <p:nvPr/>
          </p:nvSpPr>
          <p:spPr bwMode="auto">
            <a:xfrm>
              <a:off x="10870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8" name="Line 1580"/>
            <p:cNvSpPr>
              <a:spLocks noChangeShapeType="1"/>
            </p:cNvSpPr>
            <p:nvPr/>
          </p:nvSpPr>
          <p:spPr bwMode="auto">
            <a:xfrm>
              <a:off x="10949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49" name="Line 1581"/>
            <p:cNvSpPr>
              <a:spLocks noChangeShapeType="1"/>
            </p:cNvSpPr>
            <p:nvPr/>
          </p:nvSpPr>
          <p:spPr bwMode="auto">
            <a:xfrm>
              <a:off x="1103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0" name="Line 1582"/>
            <p:cNvSpPr>
              <a:spLocks noChangeShapeType="1"/>
            </p:cNvSpPr>
            <p:nvPr/>
          </p:nvSpPr>
          <p:spPr bwMode="auto">
            <a:xfrm>
              <a:off x="11112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1" name="Line 1583"/>
            <p:cNvSpPr>
              <a:spLocks noChangeShapeType="1"/>
            </p:cNvSpPr>
            <p:nvPr/>
          </p:nvSpPr>
          <p:spPr bwMode="auto">
            <a:xfrm>
              <a:off x="1126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2" name="Line 1584"/>
            <p:cNvSpPr>
              <a:spLocks noChangeShapeType="1"/>
            </p:cNvSpPr>
            <p:nvPr/>
          </p:nvSpPr>
          <p:spPr bwMode="auto">
            <a:xfrm>
              <a:off x="11410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3" name="Line 1585"/>
            <p:cNvSpPr>
              <a:spLocks noChangeShapeType="1"/>
            </p:cNvSpPr>
            <p:nvPr/>
          </p:nvSpPr>
          <p:spPr bwMode="auto">
            <a:xfrm>
              <a:off x="11189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4" name="Line 1586"/>
            <p:cNvSpPr>
              <a:spLocks noChangeShapeType="1"/>
            </p:cNvSpPr>
            <p:nvPr/>
          </p:nvSpPr>
          <p:spPr bwMode="auto">
            <a:xfrm>
              <a:off x="11339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5" name="Line 1587"/>
            <p:cNvSpPr>
              <a:spLocks noChangeShapeType="1"/>
            </p:cNvSpPr>
            <p:nvPr/>
          </p:nvSpPr>
          <p:spPr bwMode="auto">
            <a:xfrm>
              <a:off x="10859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6" name="Line 1588"/>
            <p:cNvSpPr>
              <a:spLocks noChangeShapeType="1"/>
            </p:cNvSpPr>
            <p:nvPr/>
          </p:nvSpPr>
          <p:spPr bwMode="auto">
            <a:xfrm>
              <a:off x="10939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7" name="Line 1589"/>
            <p:cNvSpPr>
              <a:spLocks noChangeShapeType="1"/>
            </p:cNvSpPr>
            <p:nvPr/>
          </p:nvSpPr>
          <p:spPr bwMode="auto">
            <a:xfrm>
              <a:off x="11024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8" name="Line 1590"/>
            <p:cNvSpPr>
              <a:spLocks noChangeShapeType="1"/>
            </p:cNvSpPr>
            <p:nvPr/>
          </p:nvSpPr>
          <p:spPr bwMode="auto">
            <a:xfrm>
              <a:off x="11103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59" name="Line 1591"/>
            <p:cNvSpPr>
              <a:spLocks noChangeShapeType="1"/>
            </p:cNvSpPr>
            <p:nvPr/>
          </p:nvSpPr>
          <p:spPr bwMode="auto">
            <a:xfrm>
              <a:off x="11254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0" name="Line 1592"/>
            <p:cNvSpPr>
              <a:spLocks noChangeShapeType="1"/>
            </p:cNvSpPr>
            <p:nvPr/>
          </p:nvSpPr>
          <p:spPr bwMode="auto">
            <a:xfrm>
              <a:off x="11399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1" name="Line 1593"/>
            <p:cNvSpPr>
              <a:spLocks noChangeShapeType="1"/>
            </p:cNvSpPr>
            <p:nvPr/>
          </p:nvSpPr>
          <p:spPr bwMode="auto">
            <a:xfrm>
              <a:off x="11178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2" name="Line 1594"/>
            <p:cNvSpPr>
              <a:spLocks noChangeShapeType="1"/>
            </p:cNvSpPr>
            <p:nvPr/>
          </p:nvSpPr>
          <p:spPr bwMode="auto">
            <a:xfrm>
              <a:off x="11327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3" name="Rectangle 1595"/>
            <p:cNvSpPr>
              <a:spLocks noChangeArrowheads="1"/>
            </p:cNvSpPr>
            <p:nvPr/>
          </p:nvSpPr>
          <p:spPr bwMode="auto">
            <a:xfrm>
              <a:off x="4714" y="5428"/>
              <a:ext cx="612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964" name="Line 1596"/>
            <p:cNvSpPr>
              <a:spLocks noChangeShapeType="1"/>
            </p:cNvSpPr>
            <p:nvPr/>
          </p:nvSpPr>
          <p:spPr bwMode="auto">
            <a:xfrm>
              <a:off x="4752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5" name="Line 1597"/>
            <p:cNvSpPr>
              <a:spLocks noChangeShapeType="1"/>
            </p:cNvSpPr>
            <p:nvPr/>
          </p:nvSpPr>
          <p:spPr bwMode="auto">
            <a:xfrm>
              <a:off x="4831" y="500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6" name="Line 1598"/>
            <p:cNvSpPr>
              <a:spLocks noChangeShapeType="1"/>
            </p:cNvSpPr>
            <p:nvPr/>
          </p:nvSpPr>
          <p:spPr bwMode="auto">
            <a:xfrm>
              <a:off x="4915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7" name="Line 1599"/>
            <p:cNvSpPr>
              <a:spLocks noChangeShapeType="1"/>
            </p:cNvSpPr>
            <p:nvPr/>
          </p:nvSpPr>
          <p:spPr bwMode="auto">
            <a:xfrm>
              <a:off x="4994" y="500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8" name="Line 1600"/>
            <p:cNvSpPr>
              <a:spLocks noChangeShapeType="1"/>
            </p:cNvSpPr>
            <p:nvPr/>
          </p:nvSpPr>
          <p:spPr bwMode="auto">
            <a:xfrm>
              <a:off x="5146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69" name="Line 1601"/>
            <p:cNvSpPr>
              <a:spLocks noChangeShapeType="1"/>
            </p:cNvSpPr>
            <p:nvPr/>
          </p:nvSpPr>
          <p:spPr bwMode="auto">
            <a:xfrm>
              <a:off x="5291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0" name="Line 1602"/>
            <p:cNvSpPr>
              <a:spLocks noChangeShapeType="1"/>
            </p:cNvSpPr>
            <p:nvPr/>
          </p:nvSpPr>
          <p:spPr bwMode="auto">
            <a:xfrm>
              <a:off x="5069" y="500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1" name="Line 1603"/>
            <p:cNvSpPr>
              <a:spLocks noChangeShapeType="1"/>
            </p:cNvSpPr>
            <p:nvPr/>
          </p:nvSpPr>
          <p:spPr bwMode="auto">
            <a:xfrm>
              <a:off x="5220" y="5006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2" name="Line 1604"/>
            <p:cNvSpPr>
              <a:spLocks noChangeShapeType="1"/>
            </p:cNvSpPr>
            <p:nvPr/>
          </p:nvSpPr>
          <p:spPr bwMode="auto">
            <a:xfrm>
              <a:off x="4740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3" name="Line 1605"/>
            <p:cNvSpPr>
              <a:spLocks noChangeShapeType="1"/>
            </p:cNvSpPr>
            <p:nvPr/>
          </p:nvSpPr>
          <p:spPr bwMode="auto">
            <a:xfrm>
              <a:off x="4821" y="605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4" name="Line 1606"/>
            <p:cNvSpPr>
              <a:spLocks noChangeShapeType="1"/>
            </p:cNvSpPr>
            <p:nvPr/>
          </p:nvSpPr>
          <p:spPr bwMode="auto">
            <a:xfrm>
              <a:off x="4905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5" name="Line 1607"/>
            <p:cNvSpPr>
              <a:spLocks noChangeShapeType="1"/>
            </p:cNvSpPr>
            <p:nvPr/>
          </p:nvSpPr>
          <p:spPr bwMode="auto">
            <a:xfrm>
              <a:off x="4985" y="605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6" name="Line 1608"/>
            <p:cNvSpPr>
              <a:spLocks noChangeShapeType="1"/>
            </p:cNvSpPr>
            <p:nvPr/>
          </p:nvSpPr>
          <p:spPr bwMode="auto">
            <a:xfrm>
              <a:off x="5134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7" name="Line 1609"/>
            <p:cNvSpPr>
              <a:spLocks noChangeShapeType="1"/>
            </p:cNvSpPr>
            <p:nvPr/>
          </p:nvSpPr>
          <p:spPr bwMode="auto">
            <a:xfrm>
              <a:off x="5282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8" name="Line 1610"/>
            <p:cNvSpPr>
              <a:spLocks noChangeShapeType="1"/>
            </p:cNvSpPr>
            <p:nvPr/>
          </p:nvSpPr>
          <p:spPr bwMode="auto">
            <a:xfrm>
              <a:off x="5060" y="606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79" name="Line 1611"/>
            <p:cNvSpPr>
              <a:spLocks noChangeShapeType="1"/>
            </p:cNvSpPr>
            <p:nvPr/>
          </p:nvSpPr>
          <p:spPr bwMode="auto">
            <a:xfrm>
              <a:off x="5210" y="605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0" name="Rectangle 1612"/>
            <p:cNvSpPr>
              <a:spLocks noChangeArrowheads="1"/>
            </p:cNvSpPr>
            <p:nvPr/>
          </p:nvSpPr>
          <p:spPr bwMode="auto">
            <a:xfrm>
              <a:off x="10165" y="5403"/>
              <a:ext cx="613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981" name="Line 1613"/>
            <p:cNvSpPr>
              <a:spLocks noChangeShapeType="1"/>
            </p:cNvSpPr>
            <p:nvPr/>
          </p:nvSpPr>
          <p:spPr bwMode="auto">
            <a:xfrm>
              <a:off x="1020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2" name="Line 1614"/>
            <p:cNvSpPr>
              <a:spLocks noChangeShapeType="1"/>
            </p:cNvSpPr>
            <p:nvPr/>
          </p:nvSpPr>
          <p:spPr bwMode="auto">
            <a:xfrm>
              <a:off x="10281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3" name="Line 1615"/>
            <p:cNvSpPr>
              <a:spLocks noChangeShapeType="1"/>
            </p:cNvSpPr>
            <p:nvPr/>
          </p:nvSpPr>
          <p:spPr bwMode="auto">
            <a:xfrm>
              <a:off x="10367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4" name="Line 1616"/>
            <p:cNvSpPr>
              <a:spLocks noChangeShapeType="1"/>
            </p:cNvSpPr>
            <p:nvPr/>
          </p:nvSpPr>
          <p:spPr bwMode="auto">
            <a:xfrm>
              <a:off x="10445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5" name="Line 1617"/>
            <p:cNvSpPr>
              <a:spLocks noChangeShapeType="1"/>
            </p:cNvSpPr>
            <p:nvPr/>
          </p:nvSpPr>
          <p:spPr bwMode="auto">
            <a:xfrm>
              <a:off x="10595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6" name="Line 1618"/>
            <p:cNvSpPr>
              <a:spLocks noChangeShapeType="1"/>
            </p:cNvSpPr>
            <p:nvPr/>
          </p:nvSpPr>
          <p:spPr bwMode="auto">
            <a:xfrm>
              <a:off x="1074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7" name="Line 1619"/>
            <p:cNvSpPr>
              <a:spLocks noChangeShapeType="1"/>
            </p:cNvSpPr>
            <p:nvPr/>
          </p:nvSpPr>
          <p:spPr bwMode="auto">
            <a:xfrm>
              <a:off x="10522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8" name="Line 1620"/>
            <p:cNvSpPr>
              <a:spLocks noChangeShapeType="1"/>
            </p:cNvSpPr>
            <p:nvPr/>
          </p:nvSpPr>
          <p:spPr bwMode="auto">
            <a:xfrm>
              <a:off x="10671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89" name="Line 1621"/>
            <p:cNvSpPr>
              <a:spLocks noChangeShapeType="1"/>
            </p:cNvSpPr>
            <p:nvPr/>
          </p:nvSpPr>
          <p:spPr bwMode="auto">
            <a:xfrm>
              <a:off x="1019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0" name="Line 1622"/>
            <p:cNvSpPr>
              <a:spLocks noChangeShapeType="1"/>
            </p:cNvSpPr>
            <p:nvPr/>
          </p:nvSpPr>
          <p:spPr bwMode="auto">
            <a:xfrm>
              <a:off x="10272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1" name="Line 1623"/>
            <p:cNvSpPr>
              <a:spLocks noChangeShapeType="1"/>
            </p:cNvSpPr>
            <p:nvPr/>
          </p:nvSpPr>
          <p:spPr bwMode="auto">
            <a:xfrm>
              <a:off x="10357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2" name="Line 1624"/>
            <p:cNvSpPr>
              <a:spLocks noChangeShapeType="1"/>
            </p:cNvSpPr>
            <p:nvPr/>
          </p:nvSpPr>
          <p:spPr bwMode="auto">
            <a:xfrm>
              <a:off x="10436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3" name="Line 1625"/>
            <p:cNvSpPr>
              <a:spLocks noChangeShapeType="1"/>
            </p:cNvSpPr>
            <p:nvPr/>
          </p:nvSpPr>
          <p:spPr bwMode="auto">
            <a:xfrm>
              <a:off x="10587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4" name="Line 1626"/>
            <p:cNvSpPr>
              <a:spLocks noChangeShapeType="1"/>
            </p:cNvSpPr>
            <p:nvPr/>
          </p:nvSpPr>
          <p:spPr bwMode="auto">
            <a:xfrm>
              <a:off x="10733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5" name="Line 1627"/>
            <p:cNvSpPr>
              <a:spLocks noChangeShapeType="1"/>
            </p:cNvSpPr>
            <p:nvPr/>
          </p:nvSpPr>
          <p:spPr bwMode="auto">
            <a:xfrm>
              <a:off x="1051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6" name="Line 1628"/>
            <p:cNvSpPr>
              <a:spLocks noChangeShapeType="1"/>
            </p:cNvSpPr>
            <p:nvPr/>
          </p:nvSpPr>
          <p:spPr bwMode="auto">
            <a:xfrm>
              <a:off x="10661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7" name="Rectangle 1629"/>
            <p:cNvSpPr>
              <a:spLocks noChangeArrowheads="1"/>
            </p:cNvSpPr>
            <p:nvPr/>
          </p:nvSpPr>
          <p:spPr bwMode="auto">
            <a:xfrm>
              <a:off x="9492" y="5403"/>
              <a:ext cx="612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14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998" name="Line 1630"/>
            <p:cNvSpPr>
              <a:spLocks noChangeShapeType="1"/>
            </p:cNvSpPr>
            <p:nvPr/>
          </p:nvSpPr>
          <p:spPr bwMode="auto">
            <a:xfrm>
              <a:off x="9529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999" name="Line 1631"/>
            <p:cNvSpPr>
              <a:spLocks noChangeShapeType="1"/>
            </p:cNvSpPr>
            <p:nvPr/>
          </p:nvSpPr>
          <p:spPr bwMode="auto">
            <a:xfrm>
              <a:off x="9608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0" name="Line 1632"/>
            <p:cNvSpPr>
              <a:spLocks noChangeShapeType="1"/>
            </p:cNvSpPr>
            <p:nvPr/>
          </p:nvSpPr>
          <p:spPr bwMode="auto">
            <a:xfrm>
              <a:off x="969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1" name="Line 1633"/>
            <p:cNvSpPr>
              <a:spLocks noChangeShapeType="1"/>
            </p:cNvSpPr>
            <p:nvPr/>
          </p:nvSpPr>
          <p:spPr bwMode="auto">
            <a:xfrm>
              <a:off x="9772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2" name="Line 1634"/>
            <p:cNvSpPr>
              <a:spLocks noChangeShapeType="1"/>
            </p:cNvSpPr>
            <p:nvPr/>
          </p:nvSpPr>
          <p:spPr bwMode="auto">
            <a:xfrm>
              <a:off x="9922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3" name="Line 1635"/>
            <p:cNvSpPr>
              <a:spLocks noChangeShapeType="1"/>
            </p:cNvSpPr>
            <p:nvPr/>
          </p:nvSpPr>
          <p:spPr bwMode="auto">
            <a:xfrm>
              <a:off x="10069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4" name="Line 1636"/>
            <p:cNvSpPr>
              <a:spLocks noChangeShapeType="1"/>
            </p:cNvSpPr>
            <p:nvPr/>
          </p:nvSpPr>
          <p:spPr bwMode="auto">
            <a:xfrm>
              <a:off x="9848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5" name="Line 1637"/>
            <p:cNvSpPr>
              <a:spLocks noChangeShapeType="1"/>
            </p:cNvSpPr>
            <p:nvPr/>
          </p:nvSpPr>
          <p:spPr bwMode="auto">
            <a:xfrm>
              <a:off x="9998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6" name="Line 1638"/>
            <p:cNvSpPr>
              <a:spLocks noChangeShapeType="1"/>
            </p:cNvSpPr>
            <p:nvPr/>
          </p:nvSpPr>
          <p:spPr bwMode="auto">
            <a:xfrm>
              <a:off x="9519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7" name="Line 1639"/>
            <p:cNvSpPr>
              <a:spLocks noChangeShapeType="1"/>
            </p:cNvSpPr>
            <p:nvPr/>
          </p:nvSpPr>
          <p:spPr bwMode="auto">
            <a:xfrm>
              <a:off x="9598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8" name="Line 1640"/>
            <p:cNvSpPr>
              <a:spLocks noChangeShapeType="1"/>
            </p:cNvSpPr>
            <p:nvPr/>
          </p:nvSpPr>
          <p:spPr bwMode="auto">
            <a:xfrm>
              <a:off x="968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09" name="Line 1641"/>
            <p:cNvSpPr>
              <a:spLocks noChangeShapeType="1"/>
            </p:cNvSpPr>
            <p:nvPr/>
          </p:nvSpPr>
          <p:spPr bwMode="auto">
            <a:xfrm>
              <a:off x="9763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0" name="Line 1642"/>
            <p:cNvSpPr>
              <a:spLocks noChangeShapeType="1"/>
            </p:cNvSpPr>
            <p:nvPr/>
          </p:nvSpPr>
          <p:spPr bwMode="auto">
            <a:xfrm>
              <a:off x="9913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1" name="Line 1643"/>
            <p:cNvSpPr>
              <a:spLocks noChangeShapeType="1"/>
            </p:cNvSpPr>
            <p:nvPr/>
          </p:nvSpPr>
          <p:spPr bwMode="auto">
            <a:xfrm>
              <a:off x="10059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2" name="Line 1644"/>
            <p:cNvSpPr>
              <a:spLocks noChangeShapeType="1"/>
            </p:cNvSpPr>
            <p:nvPr/>
          </p:nvSpPr>
          <p:spPr bwMode="auto">
            <a:xfrm>
              <a:off x="9838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3" name="Line 1645"/>
            <p:cNvSpPr>
              <a:spLocks noChangeShapeType="1"/>
            </p:cNvSpPr>
            <p:nvPr/>
          </p:nvSpPr>
          <p:spPr bwMode="auto">
            <a:xfrm>
              <a:off x="9987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4" name="Rectangle 1646"/>
            <p:cNvSpPr>
              <a:spLocks noChangeArrowheads="1"/>
            </p:cNvSpPr>
            <p:nvPr/>
          </p:nvSpPr>
          <p:spPr bwMode="auto">
            <a:xfrm>
              <a:off x="8814" y="5403"/>
              <a:ext cx="613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015" name="Line 1647"/>
            <p:cNvSpPr>
              <a:spLocks noChangeShapeType="1"/>
            </p:cNvSpPr>
            <p:nvPr/>
          </p:nvSpPr>
          <p:spPr bwMode="auto">
            <a:xfrm>
              <a:off x="885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6" name="Line 1648"/>
            <p:cNvSpPr>
              <a:spLocks noChangeShapeType="1"/>
            </p:cNvSpPr>
            <p:nvPr/>
          </p:nvSpPr>
          <p:spPr bwMode="auto">
            <a:xfrm>
              <a:off x="8931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7" name="Line 1649"/>
            <p:cNvSpPr>
              <a:spLocks noChangeShapeType="1"/>
            </p:cNvSpPr>
            <p:nvPr/>
          </p:nvSpPr>
          <p:spPr bwMode="auto">
            <a:xfrm>
              <a:off x="9016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8" name="Line 1650"/>
            <p:cNvSpPr>
              <a:spLocks noChangeShapeType="1"/>
            </p:cNvSpPr>
            <p:nvPr/>
          </p:nvSpPr>
          <p:spPr bwMode="auto">
            <a:xfrm>
              <a:off x="9093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19" name="Line 1651"/>
            <p:cNvSpPr>
              <a:spLocks noChangeShapeType="1"/>
            </p:cNvSpPr>
            <p:nvPr/>
          </p:nvSpPr>
          <p:spPr bwMode="auto">
            <a:xfrm>
              <a:off x="9246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0" name="Line 1652"/>
            <p:cNvSpPr>
              <a:spLocks noChangeShapeType="1"/>
            </p:cNvSpPr>
            <p:nvPr/>
          </p:nvSpPr>
          <p:spPr bwMode="auto">
            <a:xfrm>
              <a:off x="9391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1" name="Line 1653"/>
            <p:cNvSpPr>
              <a:spLocks noChangeShapeType="1"/>
            </p:cNvSpPr>
            <p:nvPr/>
          </p:nvSpPr>
          <p:spPr bwMode="auto">
            <a:xfrm>
              <a:off x="9171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2" name="Line 1654"/>
            <p:cNvSpPr>
              <a:spLocks noChangeShapeType="1"/>
            </p:cNvSpPr>
            <p:nvPr/>
          </p:nvSpPr>
          <p:spPr bwMode="auto">
            <a:xfrm>
              <a:off x="9320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3" name="Line 1655"/>
            <p:cNvSpPr>
              <a:spLocks noChangeShapeType="1"/>
            </p:cNvSpPr>
            <p:nvPr/>
          </p:nvSpPr>
          <p:spPr bwMode="auto">
            <a:xfrm>
              <a:off x="884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4" name="Line 1656"/>
            <p:cNvSpPr>
              <a:spLocks noChangeShapeType="1"/>
            </p:cNvSpPr>
            <p:nvPr/>
          </p:nvSpPr>
          <p:spPr bwMode="auto">
            <a:xfrm>
              <a:off x="8922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5" name="Line 1657"/>
            <p:cNvSpPr>
              <a:spLocks noChangeShapeType="1"/>
            </p:cNvSpPr>
            <p:nvPr/>
          </p:nvSpPr>
          <p:spPr bwMode="auto">
            <a:xfrm>
              <a:off x="9006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6" name="Line 1658"/>
            <p:cNvSpPr>
              <a:spLocks noChangeShapeType="1"/>
            </p:cNvSpPr>
            <p:nvPr/>
          </p:nvSpPr>
          <p:spPr bwMode="auto">
            <a:xfrm>
              <a:off x="9085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7" name="Line 1659"/>
            <p:cNvSpPr>
              <a:spLocks noChangeShapeType="1"/>
            </p:cNvSpPr>
            <p:nvPr/>
          </p:nvSpPr>
          <p:spPr bwMode="auto">
            <a:xfrm>
              <a:off x="9236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8" name="Line 1660"/>
            <p:cNvSpPr>
              <a:spLocks noChangeShapeType="1"/>
            </p:cNvSpPr>
            <p:nvPr/>
          </p:nvSpPr>
          <p:spPr bwMode="auto">
            <a:xfrm>
              <a:off x="938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29" name="Line 1661"/>
            <p:cNvSpPr>
              <a:spLocks noChangeShapeType="1"/>
            </p:cNvSpPr>
            <p:nvPr/>
          </p:nvSpPr>
          <p:spPr bwMode="auto">
            <a:xfrm>
              <a:off x="916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0" name="Line 1662"/>
            <p:cNvSpPr>
              <a:spLocks noChangeShapeType="1"/>
            </p:cNvSpPr>
            <p:nvPr/>
          </p:nvSpPr>
          <p:spPr bwMode="auto">
            <a:xfrm>
              <a:off x="9310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1" name="Rectangle 1663"/>
            <p:cNvSpPr>
              <a:spLocks noChangeArrowheads="1"/>
            </p:cNvSpPr>
            <p:nvPr/>
          </p:nvSpPr>
          <p:spPr bwMode="auto">
            <a:xfrm>
              <a:off x="8130" y="5403"/>
              <a:ext cx="613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12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032" name="Line 1664"/>
            <p:cNvSpPr>
              <a:spLocks noChangeShapeType="1"/>
            </p:cNvSpPr>
            <p:nvPr/>
          </p:nvSpPr>
          <p:spPr bwMode="auto">
            <a:xfrm>
              <a:off x="8168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3" name="Line 1665"/>
            <p:cNvSpPr>
              <a:spLocks noChangeShapeType="1"/>
            </p:cNvSpPr>
            <p:nvPr/>
          </p:nvSpPr>
          <p:spPr bwMode="auto">
            <a:xfrm>
              <a:off x="8247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4" name="Line 1666"/>
            <p:cNvSpPr>
              <a:spLocks noChangeShapeType="1"/>
            </p:cNvSpPr>
            <p:nvPr/>
          </p:nvSpPr>
          <p:spPr bwMode="auto">
            <a:xfrm>
              <a:off x="8331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5" name="Line 1667"/>
            <p:cNvSpPr>
              <a:spLocks noChangeShapeType="1"/>
            </p:cNvSpPr>
            <p:nvPr/>
          </p:nvSpPr>
          <p:spPr bwMode="auto">
            <a:xfrm>
              <a:off x="8411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6" name="Line 1668"/>
            <p:cNvSpPr>
              <a:spLocks noChangeShapeType="1"/>
            </p:cNvSpPr>
            <p:nvPr/>
          </p:nvSpPr>
          <p:spPr bwMode="auto">
            <a:xfrm>
              <a:off x="8561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7" name="Line 1669"/>
            <p:cNvSpPr>
              <a:spLocks noChangeShapeType="1"/>
            </p:cNvSpPr>
            <p:nvPr/>
          </p:nvSpPr>
          <p:spPr bwMode="auto">
            <a:xfrm>
              <a:off x="8708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8" name="Line 1670"/>
            <p:cNvSpPr>
              <a:spLocks noChangeShapeType="1"/>
            </p:cNvSpPr>
            <p:nvPr/>
          </p:nvSpPr>
          <p:spPr bwMode="auto">
            <a:xfrm>
              <a:off x="8487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39" name="Line 1671"/>
            <p:cNvSpPr>
              <a:spLocks noChangeShapeType="1"/>
            </p:cNvSpPr>
            <p:nvPr/>
          </p:nvSpPr>
          <p:spPr bwMode="auto">
            <a:xfrm>
              <a:off x="8636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0" name="Line 1672"/>
            <p:cNvSpPr>
              <a:spLocks noChangeShapeType="1"/>
            </p:cNvSpPr>
            <p:nvPr/>
          </p:nvSpPr>
          <p:spPr bwMode="auto">
            <a:xfrm>
              <a:off x="8157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1" name="Line 1673"/>
            <p:cNvSpPr>
              <a:spLocks noChangeShapeType="1"/>
            </p:cNvSpPr>
            <p:nvPr/>
          </p:nvSpPr>
          <p:spPr bwMode="auto">
            <a:xfrm>
              <a:off x="8237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2" name="Line 1674"/>
            <p:cNvSpPr>
              <a:spLocks noChangeShapeType="1"/>
            </p:cNvSpPr>
            <p:nvPr/>
          </p:nvSpPr>
          <p:spPr bwMode="auto">
            <a:xfrm>
              <a:off x="832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3" name="Line 1675"/>
            <p:cNvSpPr>
              <a:spLocks noChangeShapeType="1"/>
            </p:cNvSpPr>
            <p:nvPr/>
          </p:nvSpPr>
          <p:spPr bwMode="auto">
            <a:xfrm>
              <a:off x="8401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4" name="Line 1676"/>
            <p:cNvSpPr>
              <a:spLocks noChangeShapeType="1"/>
            </p:cNvSpPr>
            <p:nvPr/>
          </p:nvSpPr>
          <p:spPr bwMode="auto">
            <a:xfrm>
              <a:off x="855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5" name="Line 1677"/>
            <p:cNvSpPr>
              <a:spLocks noChangeShapeType="1"/>
            </p:cNvSpPr>
            <p:nvPr/>
          </p:nvSpPr>
          <p:spPr bwMode="auto">
            <a:xfrm>
              <a:off x="8697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6" name="Line 1678"/>
            <p:cNvSpPr>
              <a:spLocks noChangeShapeType="1"/>
            </p:cNvSpPr>
            <p:nvPr/>
          </p:nvSpPr>
          <p:spPr bwMode="auto">
            <a:xfrm>
              <a:off x="8476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7" name="Line 1679"/>
            <p:cNvSpPr>
              <a:spLocks noChangeShapeType="1"/>
            </p:cNvSpPr>
            <p:nvPr/>
          </p:nvSpPr>
          <p:spPr bwMode="auto">
            <a:xfrm>
              <a:off x="8626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48" name="Rectangle 1680"/>
            <p:cNvSpPr>
              <a:spLocks noChangeArrowheads="1"/>
            </p:cNvSpPr>
            <p:nvPr/>
          </p:nvSpPr>
          <p:spPr bwMode="auto">
            <a:xfrm>
              <a:off x="7429" y="5403"/>
              <a:ext cx="613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049" name="Line 1681"/>
            <p:cNvSpPr>
              <a:spLocks noChangeShapeType="1"/>
            </p:cNvSpPr>
            <p:nvPr/>
          </p:nvSpPr>
          <p:spPr bwMode="auto">
            <a:xfrm>
              <a:off x="7467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0" name="Line 1682"/>
            <p:cNvSpPr>
              <a:spLocks noChangeShapeType="1"/>
            </p:cNvSpPr>
            <p:nvPr/>
          </p:nvSpPr>
          <p:spPr bwMode="auto">
            <a:xfrm>
              <a:off x="7545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1" name="Line 1683"/>
            <p:cNvSpPr>
              <a:spLocks noChangeShapeType="1"/>
            </p:cNvSpPr>
            <p:nvPr/>
          </p:nvSpPr>
          <p:spPr bwMode="auto">
            <a:xfrm>
              <a:off x="7630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2" name="Line 1684"/>
            <p:cNvSpPr>
              <a:spLocks noChangeShapeType="1"/>
            </p:cNvSpPr>
            <p:nvPr/>
          </p:nvSpPr>
          <p:spPr bwMode="auto">
            <a:xfrm>
              <a:off x="7709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3" name="Line 1685"/>
            <p:cNvSpPr>
              <a:spLocks noChangeShapeType="1"/>
            </p:cNvSpPr>
            <p:nvPr/>
          </p:nvSpPr>
          <p:spPr bwMode="auto">
            <a:xfrm>
              <a:off x="7860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4" name="Line 1686"/>
            <p:cNvSpPr>
              <a:spLocks noChangeShapeType="1"/>
            </p:cNvSpPr>
            <p:nvPr/>
          </p:nvSpPr>
          <p:spPr bwMode="auto">
            <a:xfrm>
              <a:off x="8006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5" name="Line 1687"/>
            <p:cNvSpPr>
              <a:spLocks noChangeShapeType="1"/>
            </p:cNvSpPr>
            <p:nvPr/>
          </p:nvSpPr>
          <p:spPr bwMode="auto">
            <a:xfrm>
              <a:off x="7786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6" name="Line 1688"/>
            <p:cNvSpPr>
              <a:spLocks noChangeShapeType="1"/>
            </p:cNvSpPr>
            <p:nvPr/>
          </p:nvSpPr>
          <p:spPr bwMode="auto">
            <a:xfrm>
              <a:off x="7936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7" name="Line 1689"/>
            <p:cNvSpPr>
              <a:spLocks noChangeShapeType="1"/>
            </p:cNvSpPr>
            <p:nvPr/>
          </p:nvSpPr>
          <p:spPr bwMode="auto">
            <a:xfrm>
              <a:off x="7458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8" name="Line 1690"/>
            <p:cNvSpPr>
              <a:spLocks noChangeShapeType="1"/>
            </p:cNvSpPr>
            <p:nvPr/>
          </p:nvSpPr>
          <p:spPr bwMode="auto">
            <a:xfrm>
              <a:off x="7535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59" name="Line 1691"/>
            <p:cNvSpPr>
              <a:spLocks noChangeShapeType="1"/>
            </p:cNvSpPr>
            <p:nvPr/>
          </p:nvSpPr>
          <p:spPr bwMode="auto">
            <a:xfrm>
              <a:off x="762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0" name="Line 1692"/>
            <p:cNvSpPr>
              <a:spLocks noChangeShapeType="1"/>
            </p:cNvSpPr>
            <p:nvPr/>
          </p:nvSpPr>
          <p:spPr bwMode="auto">
            <a:xfrm>
              <a:off x="7699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1" name="Line 1693"/>
            <p:cNvSpPr>
              <a:spLocks noChangeShapeType="1"/>
            </p:cNvSpPr>
            <p:nvPr/>
          </p:nvSpPr>
          <p:spPr bwMode="auto">
            <a:xfrm>
              <a:off x="785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2" name="Line 1694"/>
            <p:cNvSpPr>
              <a:spLocks noChangeShapeType="1"/>
            </p:cNvSpPr>
            <p:nvPr/>
          </p:nvSpPr>
          <p:spPr bwMode="auto">
            <a:xfrm>
              <a:off x="7997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3" name="Line 1695"/>
            <p:cNvSpPr>
              <a:spLocks noChangeShapeType="1"/>
            </p:cNvSpPr>
            <p:nvPr/>
          </p:nvSpPr>
          <p:spPr bwMode="auto">
            <a:xfrm>
              <a:off x="7775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4" name="Line 1696"/>
            <p:cNvSpPr>
              <a:spLocks noChangeShapeType="1"/>
            </p:cNvSpPr>
            <p:nvPr/>
          </p:nvSpPr>
          <p:spPr bwMode="auto">
            <a:xfrm>
              <a:off x="7925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5" name="Rectangle 1697"/>
            <p:cNvSpPr>
              <a:spLocks noChangeArrowheads="1"/>
            </p:cNvSpPr>
            <p:nvPr/>
          </p:nvSpPr>
          <p:spPr bwMode="auto">
            <a:xfrm>
              <a:off x="6746" y="5403"/>
              <a:ext cx="611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r>
                <a:rPr kumimoji="0" lang="uz-Cyrl-UZ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066" name="Line 1698"/>
            <p:cNvSpPr>
              <a:spLocks noChangeShapeType="1"/>
            </p:cNvSpPr>
            <p:nvPr/>
          </p:nvSpPr>
          <p:spPr bwMode="auto">
            <a:xfrm>
              <a:off x="6782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7" name="Line 1699"/>
            <p:cNvSpPr>
              <a:spLocks noChangeShapeType="1"/>
            </p:cNvSpPr>
            <p:nvPr/>
          </p:nvSpPr>
          <p:spPr bwMode="auto">
            <a:xfrm>
              <a:off x="6861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8" name="Line 1700"/>
            <p:cNvSpPr>
              <a:spLocks noChangeShapeType="1"/>
            </p:cNvSpPr>
            <p:nvPr/>
          </p:nvSpPr>
          <p:spPr bwMode="auto">
            <a:xfrm>
              <a:off x="6947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69" name="Line 1701"/>
            <p:cNvSpPr>
              <a:spLocks noChangeShapeType="1"/>
            </p:cNvSpPr>
            <p:nvPr/>
          </p:nvSpPr>
          <p:spPr bwMode="auto">
            <a:xfrm>
              <a:off x="7025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0" name="Line 1702"/>
            <p:cNvSpPr>
              <a:spLocks noChangeShapeType="1"/>
            </p:cNvSpPr>
            <p:nvPr/>
          </p:nvSpPr>
          <p:spPr bwMode="auto">
            <a:xfrm>
              <a:off x="7176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1" name="Line 1703"/>
            <p:cNvSpPr>
              <a:spLocks noChangeShapeType="1"/>
            </p:cNvSpPr>
            <p:nvPr/>
          </p:nvSpPr>
          <p:spPr bwMode="auto">
            <a:xfrm>
              <a:off x="7323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2" name="Line 1704"/>
            <p:cNvSpPr>
              <a:spLocks noChangeShapeType="1"/>
            </p:cNvSpPr>
            <p:nvPr/>
          </p:nvSpPr>
          <p:spPr bwMode="auto">
            <a:xfrm>
              <a:off x="7101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3" name="Line 1705"/>
            <p:cNvSpPr>
              <a:spLocks noChangeShapeType="1"/>
            </p:cNvSpPr>
            <p:nvPr/>
          </p:nvSpPr>
          <p:spPr bwMode="auto">
            <a:xfrm>
              <a:off x="7252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4" name="Line 1706"/>
            <p:cNvSpPr>
              <a:spLocks noChangeShapeType="1"/>
            </p:cNvSpPr>
            <p:nvPr/>
          </p:nvSpPr>
          <p:spPr bwMode="auto">
            <a:xfrm>
              <a:off x="6773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5" name="Line 1707"/>
            <p:cNvSpPr>
              <a:spLocks noChangeShapeType="1"/>
            </p:cNvSpPr>
            <p:nvPr/>
          </p:nvSpPr>
          <p:spPr bwMode="auto">
            <a:xfrm>
              <a:off x="6852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6" name="Line 1708"/>
            <p:cNvSpPr>
              <a:spLocks noChangeShapeType="1"/>
            </p:cNvSpPr>
            <p:nvPr/>
          </p:nvSpPr>
          <p:spPr bwMode="auto">
            <a:xfrm>
              <a:off x="6937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7" name="Line 1709"/>
            <p:cNvSpPr>
              <a:spLocks noChangeShapeType="1"/>
            </p:cNvSpPr>
            <p:nvPr/>
          </p:nvSpPr>
          <p:spPr bwMode="auto">
            <a:xfrm>
              <a:off x="7016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8" name="Line 1710"/>
            <p:cNvSpPr>
              <a:spLocks noChangeShapeType="1"/>
            </p:cNvSpPr>
            <p:nvPr/>
          </p:nvSpPr>
          <p:spPr bwMode="auto">
            <a:xfrm>
              <a:off x="7166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79" name="Line 1711"/>
            <p:cNvSpPr>
              <a:spLocks noChangeShapeType="1"/>
            </p:cNvSpPr>
            <p:nvPr/>
          </p:nvSpPr>
          <p:spPr bwMode="auto">
            <a:xfrm>
              <a:off x="731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0" name="Line 1712"/>
            <p:cNvSpPr>
              <a:spLocks noChangeShapeType="1"/>
            </p:cNvSpPr>
            <p:nvPr/>
          </p:nvSpPr>
          <p:spPr bwMode="auto">
            <a:xfrm>
              <a:off x="7092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1" name="Line 1713"/>
            <p:cNvSpPr>
              <a:spLocks noChangeShapeType="1"/>
            </p:cNvSpPr>
            <p:nvPr/>
          </p:nvSpPr>
          <p:spPr bwMode="auto">
            <a:xfrm>
              <a:off x="7240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2" name="Rectangle 1714"/>
            <p:cNvSpPr>
              <a:spLocks noChangeArrowheads="1"/>
            </p:cNvSpPr>
            <p:nvPr/>
          </p:nvSpPr>
          <p:spPr bwMode="auto">
            <a:xfrm>
              <a:off x="6079" y="5403"/>
              <a:ext cx="611" cy="63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9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083" name="Line 1715"/>
            <p:cNvSpPr>
              <a:spLocks noChangeShapeType="1"/>
            </p:cNvSpPr>
            <p:nvPr/>
          </p:nvSpPr>
          <p:spPr bwMode="auto">
            <a:xfrm>
              <a:off x="6116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4" name="Line 1716"/>
            <p:cNvSpPr>
              <a:spLocks noChangeShapeType="1"/>
            </p:cNvSpPr>
            <p:nvPr/>
          </p:nvSpPr>
          <p:spPr bwMode="auto">
            <a:xfrm>
              <a:off x="6194" y="49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5" name="Line 1717"/>
            <p:cNvSpPr>
              <a:spLocks noChangeShapeType="1"/>
            </p:cNvSpPr>
            <p:nvPr/>
          </p:nvSpPr>
          <p:spPr bwMode="auto">
            <a:xfrm>
              <a:off x="6280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6" name="Line 1718"/>
            <p:cNvSpPr>
              <a:spLocks noChangeShapeType="1"/>
            </p:cNvSpPr>
            <p:nvPr/>
          </p:nvSpPr>
          <p:spPr bwMode="auto">
            <a:xfrm>
              <a:off x="6358" y="497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7" name="Line 1719"/>
            <p:cNvSpPr>
              <a:spLocks noChangeShapeType="1"/>
            </p:cNvSpPr>
            <p:nvPr/>
          </p:nvSpPr>
          <p:spPr bwMode="auto">
            <a:xfrm>
              <a:off x="6509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8" name="Line 1720"/>
            <p:cNvSpPr>
              <a:spLocks noChangeShapeType="1"/>
            </p:cNvSpPr>
            <p:nvPr/>
          </p:nvSpPr>
          <p:spPr bwMode="auto">
            <a:xfrm>
              <a:off x="6654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89" name="Line 1721"/>
            <p:cNvSpPr>
              <a:spLocks noChangeShapeType="1"/>
            </p:cNvSpPr>
            <p:nvPr/>
          </p:nvSpPr>
          <p:spPr bwMode="auto">
            <a:xfrm>
              <a:off x="6434" y="498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0" name="Line 1722"/>
            <p:cNvSpPr>
              <a:spLocks noChangeShapeType="1"/>
            </p:cNvSpPr>
            <p:nvPr/>
          </p:nvSpPr>
          <p:spPr bwMode="auto">
            <a:xfrm>
              <a:off x="6584" y="49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1" name="Line 1723"/>
            <p:cNvSpPr>
              <a:spLocks noChangeShapeType="1"/>
            </p:cNvSpPr>
            <p:nvPr/>
          </p:nvSpPr>
          <p:spPr bwMode="auto">
            <a:xfrm>
              <a:off x="6106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2" name="Line 1724"/>
            <p:cNvSpPr>
              <a:spLocks noChangeShapeType="1"/>
            </p:cNvSpPr>
            <p:nvPr/>
          </p:nvSpPr>
          <p:spPr bwMode="auto">
            <a:xfrm>
              <a:off x="6185" y="602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3" name="Line 1725"/>
            <p:cNvSpPr>
              <a:spLocks noChangeShapeType="1"/>
            </p:cNvSpPr>
            <p:nvPr/>
          </p:nvSpPr>
          <p:spPr bwMode="auto">
            <a:xfrm>
              <a:off x="6271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4" name="Line 1726"/>
            <p:cNvSpPr>
              <a:spLocks noChangeShapeType="1"/>
            </p:cNvSpPr>
            <p:nvPr/>
          </p:nvSpPr>
          <p:spPr bwMode="auto">
            <a:xfrm>
              <a:off x="6348" y="60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5" name="Line 1727"/>
            <p:cNvSpPr>
              <a:spLocks noChangeShapeType="1"/>
            </p:cNvSpPr>
            <p:nvPr/>
          </p:nvSpPr>
          <p:spPr bwMode="auto">
            <a:xfrm>
              <a:off x="6499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6" name="Line 1728"/>
            <p:cNvSpPr>
              <a:spLocks noChangeShapeType="1"/>
            </p:cNvSpPr>
            <p:nvPr/>
          </p:nvSpPr>
          <p:spPr bwMode="auto">
            <a:xfrm>
              <a:off x="6645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7" name="Line 1729"/>
            <p:cNvSpPr>
              <a:spLocks noChangeShapeType="1"/>
            </p:cNvSpPr>
            <p:nvPr/>
          </p:nvSpPr>
          <p:spPr bwMode="auto">
            <a:xfrm>
              <a:off x="6425" y="603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8" name="Line 1730"/>
            <p:cNvSpPr>
              <a:spLocks noChangeShapeType="1"/>
            </p:cNvSpPr>
            <p:nvPr/>
          </p:nvSpPr>
          <p:spPr bwMode="auto">
            <a:xfrm>
              <a:off x="6574" y="60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099" name="Rectangle 1731"/>
            <p:cNvSpPr>
              <a:spLocks noChangeArrowheads="1"/>
            </p:cNvSpPr>
            <p:nvPr/>
          </p:nvSpPr>
          <p:spPr bwMode="auto">
            <a:xfrm>
              <a:off x="589" y="4307"/>
              <a:ext cx="10903" cy="69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бошланғич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калит </a:t>
              </a:r>
              <a:r>
                <a:rPr kumimoji="0" lang="ru-RU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битини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қўшиш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100" name="Rectangle 1732"/>
            <p:cNvSpPr>
              <a:spLocks noChangeArrowheads="1"/>
            </p:cNvSpPr>
            <p:nvPr/>
          </p:nvSpPr>
          <p:spPr bwMode="auto">
            <a:xfrm>
              <a:off x="565" y="3149"/>
              <a:ext cx="10904" cy="6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Очи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қ матн(128 бит)</a:t>
              </a:r>
              <a:endPara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101" name="Line 1733"/>
            <p:cNvSpPr>
              <a:spLocks noChangeShapeType="1"/>
            </p:cNvSpPr>
            <p:nvPr/>
          </p:nvSpPr>
          <p:spPr bwMode="auto">
            <a:xfrm>
              <a:off x="701" y="3834"/>
              <a:ext cx="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2" name="Line 1734"/>
            <p:cNvSpPr>
              <a:spLocks noChangeShapeType="1"/>
            </p:cNvSpPr>
            <p:nvPr/>
          </p:nvSpPr>
          <p:spPr bwMode="auto">
            <a:xfrm>
              <a:off x="782" y="3833"/>
              <a:ext cx="0" cy="47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3" name="Line 1735"/>
            <p:cNvSpPr>
              <a:spLocks noChangeShapeType="1"/>
            </p:cNvSpPr>
            <p:nvPr/>
          </p:nvSpPr>
          <p:spPr bwMode="auto">
            <a:xfrm>
              <a:off x="867" y="3838"/>
              <a:ext cx="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4" name="Line 1736"/>
            <p:cNvSpPr>
              <a:spLocks noChangeShapeType="1"/>
            </p:cNvSpPr>
            <p:nvPr/>
          </p:nvSpPr>
          <p:spPr bwMode="auto">
            <a:xfrm>
              <a:off x="946" y="3839"/>
              <a:ext cx="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5" name="Line 1737"/>
            <p:cNvSpPr>
              <a:spLocks noChangeShapeType="1"/>
            </p:cNvSpPr>
            <p:nvPr/>
          </p:nvSpPr>
          <p:spPr bwMode="auto">
            <a:xfrm>
              <a:off x="1107" y="3834"/>
              <a:ext cx="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6" name="Line 1738"/>
            <p:cNvSpPr>
              <a:spLocks noChangeShapeType="1"/>
            </p:cNvSpPr>
            <p:nvPr/>
          </p:nvSpPr>
          <p:spPr bwMode="auto">
            <a:xfrm>
              <a:off x="1264" y="3842"/>
              <a:ext cx="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7" name="Line 1739"/>
            <p:cNvSpPr>
              <a:spLocks noChangeShapeType="1"/>
            </p:cNvSpPr>
            <p:nvPr/>
          </p:nvSpPr>
          <p:spPr bwMode="auto">
            <a:xfrm>
              <a:off x="1030" y="3834"/>
              <a:ext cx="0" cy="47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8" name="Line 1740"/>
            <p:cNvSpPr>
              <a:spLocks noChangeShapeType="1"/>
            </p:cNvSpPr>
            <p:nvPr/>
          </p:nvSpPr>
          <p:spPr bwMode="auto">
            <a:xfrm>
              <a:off x="1188" y="3841"/>
              <a:ext cx="0" cy="48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09" name="Line 1741"/>
            <p:cNvSpPr>
              <a:spLocks noChangeShapeType="1"/>
            </p:cNvSpPr>
            <p:nvPr/>
          </p:nvSpPr>
          <p:spPr bwMode="auto">
            <a:xfrm>
              <a:off x="1354" y="3837"/>
              <a:ext cx="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0" name="Line 1742"/>
            <p:cNvSpPr>
              <a:spLocks noChangeShapeType="1"/>
            </p:cNvSpPr>
            <p:nvPr/>
          </p:nvSpPr>
          <p:spPr bwMode="auto">
            <a:xfrm>
              <a:off x="1431" y="3836"/>
              <a:ext cx="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1" name="Line 1743"/>
            <p:cNvSpPr>
              <a:spLocks noChangeShapeType="1"/>
            </p:cNvSpPr>
            <p:nvPr/>
          </p:nvSpPr>
          <p:spPr bwMode="auto">
            <a:xfrm>
              <a:off x="1516" y="3834"/>
              <a:ext cx="0" cy="4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2" name="Line 1744"/>
            <p:cNvSpPr>
              <a:spLocks noChangeShapeType="1"/>
            </p:cNvSpPr>
            <p:nvPr/>
          </p:nvSpPr>
          <p:spPr bwMode="auto">
            <a:xfrm>
              <a:off x="1604" y="3877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3" name="Line 1745"/>
            <p:cNvSpPr>
              <a:spLocks noChangeShapeType="1"/>
            </p:cNvSpPr>
            <p:nvPr/>
          </p:nvSpPr>
          <p:spPr bwMode="auto">
            <a:xfrm>
              <a:off x="1771" y="388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4" name="Line 1746"/>
            <p:cNvSpPr>
              <a:spLocks noChangeShapeType="1"/>
            </p:cNvSpPr>
            <p:nvPr/>
          </p:nvSpPr>
          <p:spPr bwMode="auto">
            <a:xfrm>
              <a:off x="1941" y="38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5" name="Line 1747"/>
            <p:cNvSpPr>
              <a:spLocks noChangeShapeType="1"/>
            </p:cNvSpPr>
            <p:nvPr/>
          </p:nvSpPr>
          <p:spPr bwMode="auto">
            <a:xfrm>
              <a:off x="1688" y="38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6" name="Line 1748"/>
            <p:cNvSpPr>
              <a:spLocks noChangeShapeType="1"/>
            </p:cNvSpPr>
            <p:nvPr/>
          </p:nvSpPr>
          <p:spPr bwMode="auto">
            <a:xfrm>
              <a:off x="1855" y="3864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7" name="Line 1749"/>
            <p:cNvSpPr>
              <a:spLocks noChangeShapeType="1"/>
            </p:cNvSpPr>
            <p:nvPr/>
          </p:nvSpPr>
          <p:spPr bwMode="auto">
            <a:xfrm>
              <a:off x="2030" y="387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8" name="Line 1750"/>
            <p:cNvSpPr>
              <a:spLocks noChangeShapeType="1"/>
            </p:cNvSpPr>
            <p:nvPr/>
          </p:nvSpPr>
          <p:spPr bwMode="auto">
            <a:xfrm>
              <a:off x="2116" y="38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19" name="Line 1751"/>
            <p:cNvSpPr>
              <a:spLocks noChangeShapeType="1"/>
            </p:cNvSpPr>
            <p:nvPr/>
          </p:nvSpPr>
          <p:spPr bwMode="auto">
            <a:xfrm>
              <a:off x="2201" y="387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0" name="Line 1752"/>
            <p:cNvSpPr>
              <a:spLocks noChangeShapeType="1"/>
            </p:cNvSpPr>
            <p:nvPr/>
          </p:nvSpPr>
          <p:spPr bwMode="auto">
            <a:xfrm>
              <a:off x="2293" y="386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1" name="Line 1753"/>
            <p:cNvSpPr>
              <a:spLocks noChangeShapeType="1"/>
            </p:cNvSpPr>
            <p:nvPr/>
          </p:nvSpPr>
          <p:spPr bwMode="auto">
            <a:xfrm>
              <a:off x="2457" y="387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2" name="Line 1754"/>
            <p:cNvSpPr>
              <a:spLocks noChangeShapeType="1"/>
            </p:cNvSpPr>
            <p:nvPr/>
          </p:nvSpPr>
          <p:spPr bwMode="auto">
            <a:xfrm>
              <a:off x="2630" y="387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3" name="Line 1755"/>
            <p:cNvSpPr>
              <a:spLocks noChangeShapeType="1"/>
            </p:cNvSpPr>
            <p:nvPr/>
          </p:nvSpPr>
          <p:spPr bwMode="auto">
            <a:xfrm>
              <a:off x="2369" y="387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4" name="Line 1756"/>
            <p:cNvSpPr>
              <a:spLocks noChangeShapeType="1"/>
            </p:cNvSpPr>
            <p:nvPr/>
          </p:nvSpPr>
          <p:spPr bwMode="auto">
            <a:xfrm>
              <a:off x="2546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5" name="Line 1757"/>
            <p:cNvSpPr>
              <a:spLocks noChangeShapeType="1"/>
            </p:cNvSpPr>
            <p:nvPr/>
          </p:nvSpPr>
          <p:spPr bwMode="auto">
            <a:xfrm>
              <a:off x="2712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6" name="Line 1758"/>
            <p:cNvSpPr>
              <a:spLocks noChangeShapeType="1"/>
            </p:cNvSpPr>
            <p:nvPr/>
          </p:nvSpPr>
          <p:spPr bwMode="auto">
            <a:xfrm>
              <a:off x="2804" y="3877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7" name="Line 1759"/>
            <p:cNvSpPr>
              <a:spLocks noChangeShapeType="1"/>
            </p:cNvSpPr>
            <p:nvPr/>
          </p:nvSpPr>
          <p:spPr bwMode="auto">
            <a:xfrm>
              <a:off x="2888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8" name="Line 1760"/>
            <p:cNvSpPr>
              <a:spLocks noChangeShapeType="1"/>
            </p:cNvSpPr>
            <p:nvPr/>
          </p:nvSpPr>
          <p:spPr bwMode="auto">
            <a:xfrm>
              <a:off x="2967" y="3868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29" name="Line 1761"/>
            <p:cNvSpPr>
              <a:spLocks noChangeShapeType="1"/>
            </p:cNvSpPr>
            <p:nvPr/>
          </p:nvSpPr>
          <p:spPr bwMode="auto">
            <a:xfrm>
              <a:off x="3132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0" name="Line 1762"/>
            <p:cNvSpPr>
              <a:spLocks noChangeShapeType="1"/>
            </p:cNvSpPr>
            <p:nvPr/>
          </p:nvSpPr>
          <p:spPr bwMode="auto">
            <a:xfrm>
              <a:off x="3305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1" name="Line 1763"/>
            <p:cNvSpPr>
              <a:spLocks noChangeShapeType="1"/>
            </p:cNvSpPr>
            <p:nvPr/>
          </p:nvSpPr>
          <p:spPr bwMode="auto">
            <a:xfrm>
              <a:off x="3050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2" name="Line 1764"/>
            <p:cNvSpPr>
              <a:spLocks noChangeShapeType="1"/>
            </p:cNvSpPr>
            <p:nvPr/>
          </p:nvSpPr>
          <p:spPr bwMode="auto">
            <a:xfrm>
              <a:off x="3221" y="386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3" name="Line 1765"/>
            <p:cNvSpPr>
              <a:spLocks noChangeShapeType="1"/>
            </p:cNvSpPr>
            <p:nvPr/>
          </p:nvSpPr>
          <p:spPr bwMode="auto">
            <a:xfrm>
              <a:off x="3390" y="388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4" name="Line 1766"/>
            <p:cNvSpPr>
              <a:spLocks noChangeShapeType="1"/>
            </p:cNvSpPr>
            <p:nvPr/>
          </p:nvSpPr>
          <p:spPr bwMode="auto">
            <a:xfrm>
              <a:off x="3468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5" name="Line 1767"/>
            <p:cNvSpPr>
              <a:spLocks noChangeShapeType="1"/>
            </p:cNvSpPr>
            <p:nvPr/>
          </p:nvSpPr>
          <p:spPr bwMode="auto">
            <a:xfrm>
              <a:off x="3552" y="388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6" name="Line 1768"/>
            <p:cNvSpPr>
              <a:spLocks noChangeShapeType="1"/>
            </p:cNvSpPr>
            <p:nvPr/>
          </p:nvSpPr>
          <p:spPr bwMode="auto">
            <a:xfrm>
              <a:off x="3640" y="387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7" name="Line 1769"/>
            <p:cNvSpPr>
              <a:spLocks noChangeShapeType="1"/>
            </p:cNvSpPr>
            <p:nvPr/>
          </p:nvSpPr>
          <p:spPr bwMode="auto">
            <a:xfrm>
              <a:off x="3809" y="388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8" name="Line 1770"/>
            <p:cNvSpPr>
              <a:spLocks noChangeShapeType="1"/>
            </p:cNvSpPr>
            <p:nvPr/>
          </p:nvSpPr>
          <p:spPr bwMode="auto">
            <a:xfrm>
              <a:off x="3984" y="388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39" name="Line 1771"/>
            <p:cNvSpPr>
              <a:spLocks noChangeShapeType="1"/>
            </p:cNvSpPr>
            <p:nvPr/>
          </p:nvSpPr>
          <p:spPr bwMode="auto">
            <a:xfrm>
              <a:off x="3729" y="388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0" name="Line 1772"/>
            <p:cNvSpPr>
              <a:spLocks noChangeShapeType="1"/>
            </p:cNvSpPr>
            <p:nvPr/>
          </p:nvSpPr>
          <p:spPr bwMode="auto">
            <a:xfrm>
              <a:off x="3899" y="3877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1" name="Line 1773"/>
            <p:cNvSpPr>
              <a:spLocks noChangeShapeType="1"/>
            </p:cNvSpPr>
            <p:nvPr/>
          </p:nvSpPr>
          <p:spPr bwMode="auto">
            <a:xfrm>
              <a:off x="4069" y="388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2" name="Line 1774"/>
            <p:cNvSpPr>
              <a:spLocks noChangeShapeType="1"/>
            </p:cNvSpPr>
            <p:nvPr/>
          </p:nvSpPr>
          <p:spPr bwMode="auto">
            <a:xfrm>
              <a:off x="4147" y="389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3" name="Line 1775"/>
            <p:cNvSpPr>
              <a:spLocks noChangeShapeType="1"/>
            </p:cNvSpPr>
            <p:nvPr/>
          </p:nvSpPr>
          <p:spPr bwMode="auto">
            <a:xfrm>
              <a:off x="4239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4" name="Line 1776"/>
            <p:cNvSpPr>
              <a:spLocks noChangeShapeType="1"/>
            </p:cNvSpPr>
            <p:nvPr/>
          </p:nvSpPr>
          <p:spPr bwMode="auto">
            <a:xfrm>
              <a:off x="4319" y="387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5" name="Line 1777"/>
            <p:cNvSpPr>
              <a:spLocks noChangeShapeType="1"/>
            </p:cNvSpPr>
            <p:nvPr/>
          </p:nvSpPr>
          <p:spPr bwMode="auto">
            <a:xfrm>
              <a:off x="4483" y="388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6" name="Line 1778"/>
            <p:cNvSpPr>
              <a:spLocks noChangeShapeType="1"/>
            </p:cNvSpPr>
            <p:nvPr/>
          </p:nvSpPr>
          <p:spPr bwMode="auto">
            <a:xfrm>
              <a:off x="4643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7" name="Line 1779"/>
            <p:cNvSpPr>
              <a:spLocks noChangeShapeType="1"/>
            </p:cNvSpPr>
            <p:nvPr/>
          </p:nvSpPr>
          <p:spPr bwMode="auto">
            <a:xfrm>
              <a:off x="4401" y="3891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8" name="Line 1780"/>
            <p:cNvSpPr>
              <a:spLocks noChangeShapeType="1"/>
            </p:cNvSpPr>
            <p:nvPr/>
          </p:nvSpPr>
          <p:spPr bwMode="auto">
            <a:xfrm>
              <a:off x="4565" y="387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49" name="Line 1781"/>
            <p:cNvSpPr>
              <a:spLocks noChangeShapeType="1"/>
            </p:cNvSpPr>
            <p:nvPr/>
          </p:nvSpPr>
          <p:spPr bwMode="auto">
            <a:xfrm>
              <a:off x="5424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0" name="Line 1782"/>
            <p:cNvSpPr>
              <a:spLocks noChangeShapeType="1"/>
            </p:cNvSpPr>
            <p:nvPr/>
          </p:nvSpPr>
          <p:spPr bwMode="auto">
            <a:xfrm>
              <a:off x="5509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1" name="Line 1783"/>
            <p:cNvSpPr>
              <a:spLocks noChangeShapeType="1"/>
            </p:cNvSpPr>
            <p:nvPr/>
          </p:nvSpPr>
          <p:spPr bwMode="auto">
            <a:xfrm>
              <a:off x="5600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2" name="Line 1784"/>
            <p:cNvSpPr>
              <a:spLocks noChangeShapeType="1"/>
            </p:cNvSpPr>
            <p:nvPr/>
          </p:nvSpPr>
          <p:spPr bwMode="auto">
            <a:xfrm>
              <a:off x="5686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3" name="Line 1785"/>
            <p:cNvSpPr>
              <a:spLocks noChangeShapeType="1"/>
            </p:cNvSpPr>
            <p:nvPr/>
          </p:nvSpPr>
          <p:spPr bwMode="auto">
            <a:xfrm>
              <a:off x="5858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4" name="Line 1786"/>
            <p:cNvSpPr>
              <a:spLocks noChangeShapeType="1"/>
            </p:cNvSpPr>
            <p:nvPr/>
          </p:nvSpPr>
          <p:spPr bwMode="auto">
            <a:xfrm>
              <a:off x="6024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5" name="Line 1787"/>
            <p:cNvSpPr>
              <a:spLocks noChangeShapeType="1"/>
            </p:cNvSpPr>
            <p:nvPr/>
          </p:nvSpPr>
          <p:spPr bwMode="auto">
            <a:xfrm>
              <a:off x="5769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6" name="Line 1788"/>
            <p:cNvSpPr>
              <a:spLocks noChangeShapeType="1"/>
            </p:cNvSpPr>
            <p:nvPr/>
          </p:nvSpPr>
          <p:spPr bwMode="auto">
            <a:xfrm>
              <a:off x="5939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7" name="Line 1789"/>
            <p:cNvSpPr>
              <a:spLocks noChangeShapeType="1"/>
            </p:cNvSpPr>
            <p:nvPr/>
          </p:nvSpPr>
          <p:spPr bwMode="auto">
            <a:xfrm>
              <a:off x="10882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8" name="Line 1790"/>
            <p:cNvSpPr>
              <a:spLocks noChangeShapeType="1"/>
            </p:cNvSpPr>
            <p:nvPr/>
          </p:nvSpPr>
          <p:spPr bwMode="auto">
            <a:xfrm>
              <a:off x="10960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59" name="Line 1791"/>
            <p:cNvSpPr>
              <a:spLocks noChangeShapeType="1"/>
            </p:cNvSpPr>
            <p:nvPr/>
          </p:nvSpPr>
          <p:spPr bwMode="auto">
            <a:xfrm>
              <a:off x="11038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0" name="Line 1792"/>
            <p:cNvSpPr>
              <a:spLocks noChangeShapeType="1"/>
            </p:cNvSpPr>
            <p:nvPr/>
          </p:nvSpPr>
          <p:spPr bwMode="auto">
            <a:xfrm>
              <a:off x="11110" y="388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1" name="Line 1793"/>
            <p:cNvSpPr>
              <a:spLocks noChangeShapeType="1"/>
            </p:cNvSpPr>
            <p:nvPr/>
          </p:nvSpPr>
          <p:spPr bwMode="auto">
            <a:xfrm>
              <a:off x="11267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2" name="Line 1794"/>
            <p:cNvSpPr>
              <a:spLocks noChangeShapeType="1"/>
            </p:cNvSpPr>
            <p:nvPr/>
          </p:nvSpPr>
          <p:spPr bwMode="auto">
            <a:xfrm>
              <a:off x="11427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3" name="Line 1795"/>
            <p:cNvSpPr>
              <a:spLocks noChangeShapeType="1"/>
            </p:cNvSpPr>
            <p:nvPr/>
          </p:nvSpPr>
          <p:spPr bwMode="auto">
            <a:xfrm>
              <a:off x="11187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4" name="Line 1796"/>
            <p:cNvSpPr>
              <a:spLocks noChangeShapeType="1"/>
            </p:cNvSpPr>
            <p:nvPr/>
          </p:nvSpPr>
          <p:spPr bwMode="auto">
            <a:xfrm>
              <a:off x="11344" y="3856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5" name="Line 1797"/>
            <p:cNvSpPr>
              <a:spLocks noChangeShapeType="1"/>
            </p:cNvSpPr>
            <p:nvPr/>
          </p:nvSpPr>
          <p:spPr bwMode="auto">
            <a:xfrm>
              <a:off x="4736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6" name="Line 1798"/>
            <p:cNvSpPr>
              <a:spLocks noChangeShapeType="1"/>
            </p:cNvSpPr>
            <p:nvPr/>
          </p:nvSpPr>
          <p:spPr bwMode="auto">
            <a:xfrm>
              <a:off x="4829" y="3877"/>
              <a:ext cx="0" cy="4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7" name="Line 1799"/>
            <p:cNvSpPr>
              <a:spLocks noChangeShapeType="1"/>
            </p:cNvSpPr>
            <p:nvPr/>
          </p:nvSpPr>
          <p:spPr bwMode="auto">
            <a:xfrm>
              <a:off x="4920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8" name="Line 1800"/>
            <p:cNvSpPr>
              <a:spLocks noChangeShapeType="1"/>
            </p:cNvSpPr>
            <p:nvPr/>
          </p:nvSpPr>
          <p:spPr bwMode="auto">
            <a:xfrm>
              <a:off x="5005" y="3868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69" name="Line 1801"/>
            <p:cNvSpPr>
              <a:spLocks noChangeShapeType="1"/>
            </p:cNvSpPr>
            <p:nvPr/>
          </p:nvSpPr>
          <p:spPr bwMode="auto">
            <a:xfrm>
              <a:off x="5176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0" name="Line 1802"/>
            <p:cNvSpPr>
              <a:spLocks noChangeShapeType="1"/>
            </p:cNvSpPr>
            <p:nvPr/>
          </p:nvSpPr>
          <p:spPr bwMode="auto">
            <a:xfrm>
              <a:off x="5335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1" name="Line 1803"/>
            <p:cNvSpPr>
              <a:spLocks noChangeShapeType="1"/>
            </p:cNvSpPr>
            <p:nvPr/>
          </p:nvSpPr>
          <p:spPr bwMode="auto">
            <a:xfrm>
              <a:off x="5089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2" name="Line 1804"/>
            <p:cNvSpPr>
              <a:spLocks noChangeShapeType="1"/>
            </p:cNvSpPr>
            <p:nvPr/>
          </p:nvSpPr>
          <p:spPr bwMode="auto">
            <a:xfrm>
              <a:off x="5252" y="3869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3" name="Line 1805"/>
            <p:cNvSpPr>
              <a:spLocks noChangeShapeType="1"/>
            </p:cNvSpPr>
            <p:nvPr/>
          </p:nvSpPr>
          <p:spPr bwMode="auto">
            <a:xfrm>
              <a:off x="10201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4" name="Line 1806"/>
            <p:cNvSpPr>
              <a:spLocks noChangeShapeType="1"/>
            </p:cNvSpPr>
            <p:nvPr/>
          </p:nvSpPr>
          <p:spPr bwMode="auto">
            <a:xfrm>
              <a:off x="10293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5" name="Line 1807"/>
            <p:cNvSpPr>
              <a:spLocks noChangeShapeType="1"/>
            </p:cNvSpPr>
            <p:nvPr/>
          </p:nvSpPr>
          <p:spPr bwMode="auto">
            <a:xfrm>
              <a:off x="10378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6" name="Line 1808"/>
            <p:cNvSpPr>
              <a:spLocks noChangeShapeType="1"/>
            </p:cNvSpPr>
            <p:nvPr/>
          </p:nvSpPr>
          <p:spPr bwMode="auto">
            <a:xfrm>
              <a:off x="10463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7" name="Line 1809"/>
            <p:cNvSpPr>
              <a:spLocks noChangeShapeType="1"/>
            </p:cNvSpPr>
            <p:nvPr/>
          </p:nvSpPr>
          <p:spPr bwMode="auto">
            <a:xfrm>
              <a:off x="10629" y="3879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8" name="Line 1810"/>
            <p:cNvSpPr>
              <a:spLocks noChangeShapeType="1"/>
            </p:cNvSpPr>
            <p:nvPr/>
          </p:nvSpPr>
          <p:spPr bwMode="auto">
            <a:xfrm>
              <a:off x="10801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79" name="Line 1811"/>
            <p:cNvSpPr>
              <a:spLocks noChangeShapeType="1"/>
            </p:cNvSpPr>
            <p:nvPr/>
          </p:nvSpPr>
          <p:spPr bwMode="auto">
            <a:xfrm>
              <a:off x="10547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0" name="Line 1812"/>
            <p:cNvSpPr>
              <a:spLocks noChangeShapeType="1"/>
            </p:cNvSpPr>
            <p:nvPr/>
          </p:nvSpPr>
          <p:spPr bwMode="auto">
            <a:xfrm>
              <a:off x="10717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1" name="Line 1813"/>
            <p:cNvSpPr>
              <a:spLocks noChangeShapeType="1"/>
            </p:cNvSpPr>
            <p:nvPr/>
          </p:nvSpPr>
          <p:spPr bwMode="auto">
            <a:xfrm>
              <a:off x="9541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2" name="Line 1814"/>
            <p:cNvSpPr>
              <a:spLocks noChangeShapeType="1"/>
            </p:cNvSpPr>
            <p:nvPr/>
          </p:nvSpPr>
          <p:spPr bwMode="auto">
            <a:xfrm>
              <a:off x="9626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3" name="Line 1815"/>
            <p:cNvSpPr>
              <a:spLocks noChangeShapeType="1"/>
            </p:cNvSpPr>
            <p:nvPr/>
          </p:nvSpPr>
          <p:spPr bwMode="auto">
            <a:xfrm>
              <a:off x="9711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4" name="Line 1816"/>
            <p:cNvSpPr>
              <a:spLocks noChangeShapeType="1"/>
            </p:cNvSpPr>
            <p:nvPr/>
          </p:nvSpPr>
          <p:spPr bwMode="auto">
            <a:xfrm>
              <a:off x="9790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5" name="Line 1817"/>
            <p:cNvSpPr>
              <a:spLocks noChangeShapeType="1"/>
            </p:cNvSpPr>
            <p:nvPr/>
          </p:nvSpPr>
          <p:spPr bwMode="auto">
            <a:xfrm>
              <a:off x="9955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6" name="Line 1818"/>
            <p:cNvSpPr>
              <a:spLocks noChangeShapeType="1"/>
            </p:cNvSpPr>
            <p:nvPr/>
          </p:nvSpPr>
          <p:spPr bwMode="auto">
            <a:xfrm>
              <a:off x="10121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7" name="Line 1819"/>
            <p:cNvSpPr>
              <a:spLocks noChangeShapeType="1"/>
            </p:cNvSpPr>
            <p:nvPr/>
          </p:nvSpPr>
          <p:spPr bwMode="auto">
            <a:xfrm>
              <a:off x="9872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8" name="Line 1820"/>
            <p:cNvSpPr>
              <a:spLocks noChangeShapeType="1"/>
            </p:cNvSpPr>
            <p:nvPr/>
          </p:nvSpPr>
          <p:spPr bwMode="auto">
            <a:xfrm>
              <a:off x="10036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89" name="Line 1821"/>
            <p:cNvSpPr>
              <a:spLocks noChangeShapeType="1"/>
            </p:cNvSpPr>
            <p:nvPr/>
          </p:nvSpPr>
          <p:spPr bwMode="auto">
            <a:xfrm>
              <a:off x="8857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0" name="Line 1822"/>
            <p:cNvSpPr>
              <a:spLocks noChangeShapeType="1"/>
            </p:cNvSpPr>
            <p:nvPr/>
          </p:nvSpPr>
          <p:spPr bwMode="auto">
            <a:xfrm>
              <a:off x="8948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1" name="Line 1823"/>
            <p:cNvSpPr>
              <a:spLocks noChangeShapeType="1"/>
            </p:cNvSpPr>
            <p:nvPr/>
          </p:nvSpPr>
          <p:spPr bwMode="auto">
            <a:xfrm>
              <a:off x="9035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2" name="Line 1824"/>
            <p:cNvSpPr>
              <a:spLocks noChangeShapeType="1"/>
            </p:cNvSpPr>
            <p:nvPr/>
          </p:nvSpPr>
          <p:spPr bwMode="auto">
            <a:xfrm>
              <a:off x="9113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3" name="Line 1825"/>
            <p:cNvSpPr>
              <a:spLocks noChangeShapeType="1"/>
            </p:cNvSpPr>
            <p:nvPr/>
          </p:nvSpPr>
          <p:spPr bwMode="auto">
            <a:xfrm>
              <a:off x="9270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4" name="Line 1826"/>
            <p:cNvSpPr>
              <a:spLocks noChangeShapeType="1"/>
            </p:cNvSpPr>
            <p:nvPr/>
          </p:nvSpPr>
          <p:spPr bwMode="auto">
            <a:xfrm>
              <a:off x="9444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5" name="Line 1827"/>
            <p:cNvSpPr>
              <a:spLocks noChangeShapeType="1"/>
            </p:cNvSpPr>
            <p:nvPr/>
          </p:nvSpPr>
          <p:spPr bwMode="auto">
            <a:xfrm>
              <a:off x="9190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6" name="Line 1828"/>
            <p:cNvSpPr>
              <a:spLocks noChangeShapeType="1"/>
            </p:cNvSpPr>
            <p:nvPr/>
          </p:nvSpPr>
          <p:spPr bwMode="auto">
            <a:xfrm>
              <a:off x="9352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7" name="Line 1829"/>
            <p:cNvSpPr>
              <a:spLocks noChangeShapeType="1"/>
            </p:cNvSpPr>
            <p:nvPr/>
          </p:nvSpPr>
          <p:spPr bwMode="auto">
            <a:xfrm>
              <a:off x="8173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8" name="Line 1830"/>
            <p:cNvSpPr>
              <a:spLocks noChangeShapeType="1"/>
            </p:cNvSpPr>
            <p:nvPr/>
          </p:nvSpPr>
          <p:spPr bwMode="auto">
            <a:xfrm>
              <a:off x="8259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199" name="Line 1831"/>
            <p:cNvSpPr>
              <a:spLocks noChangeShapeType="1"/>
            </p:cNvSpPr>
            <p:nvPr/>
          </p:nvSpPr>
          <p:spPr bwMode="auto">
            <a:xfrm>
              <a:off x="8350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0" name="Line 1832"/>
            <p:cNvSpPr>
              <a:spLocks noChangeShapeType="1"/>
            </p:cNvSpPr>
            <p:nvPr/>
          </p:nvSpPr>
          <p:spPr bwMode="auto">
            <a:xfrm>
              <a:off x="8428" y="385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1" name="Line 1833"/>
            <p:cNvSpPr>
              <a:spLocks noChangeShapeType="1"/>
            </p:cNvSpPr>
            <p:nvPr/>
          </p:nvSpPr>
          <p:spPr bwMode="auto">
            <a:xfrm>
              <a:off x="8593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2" name="Line 1834"/>
            <p:cNvSpPr>
              <a:spLocks noChangeShapeType="1"/>
            </p:cNvSpPr>
            <p:nvPr/>
          </p:nvSpPr>
          <p:spPr bwMode="auto">
            <a:xfrm>
              <a:off x="8767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3" name="Line 1835"/>
            <p:cNvSpPr>
              <a:spLocks noChangeShapeType="1"/>
            </p:cNvSpPr>
            <p:nvPr/>
          </p:nvSpPr>
          <p:spPr bwMode="auto">
            <a:xfrm>
              <a:off x="8513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4" name="Line 1836"/>
            <p:cNvSpPr>
              <a:spLocks noChangeShapeType="1"/>
            </p:cNvSpPr>
            <p:nvPr/>
          </p:nvSpPr>
          <p:spPr bwMode="auto">
            <a:xfrm>
              <a:off x="8681" y="3868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5" name="Line 1837"/>
            <p:cNvSpPr>
              <a:spLocks noChangeShapeType="1"/>
            </p:cNvSpPr>
            <p:nvPr/>
          </p:nvSpPr>
          <p:spPr bwMode="auto">
            <a:xfrm>
              <a:off x="7472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6" name="Line 1838"/>
            <p:cNvSpPr>
              <a:spLocks noChangeShapeType="1"/>
            </p:cNvSpPr>
            <p:nvPr/>
          </p:nvSpPr>
          <p:spPr bwMode="auto">
            <a:xfrm>
              <a:off x="7556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7" name="Line 1839"/>
            <p:cNvSpPr>
              <a:spLocks noChangeShapeType="1"/>
            </p:cNvSpPr>
            <p:nvPr/>
          </p:nvSpPr>
          <p:spPr bwMode="auto">
            <a:xfrm>
              <a:off x="7649" y="38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8" name="Line 1840"/>
            <p:cNvSpPr>
              <a:spLocks noChangeShapeType="1"/>
            </p:cNvSpPr>
            <p:nvPr/>
          </p:nvSpPr>
          <p:spPr bwMode="auto">
            <a:xfrm>
              <a:off x="7728" y="3871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09" name="Line 1841"/>
            <p:cNvSpPr>
              <a:spLocks noChangeShapeType="1"/>
            </p:cNvSpPr>
            <p:nvPr/>
          </p:nvSpPr>
          <p:spPr bwMode="auto">
            <a:xfrm>
              <a:off x="7913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0" name="Line 1842"/>
            <p:cNvSpPr>
              <a:spLocks noChangeShapeType="1"/>
            </p:cNvSpPr>
            <p:nvPr/>
          </p:nvSpPr>
          <p:spPr bwMode="auto">
            <a:xfrm>
              <a:off x="8079" y="386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1" name="Line 1843"/>
            <p:cNvSpPr>
              <a:spLocks noChangeShapeType="1"/>
            </p:cNvSpPr>
            <p:nvPr/>
          </p:nvSpPr>
          <p:spPr bwMode="auto">
            <a:xfrm>
              <a:off x="7817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2" name="Line 1844"/>
            <p:cNvSpPr>
              <a:spLocks noChangeShapeType="1"/>
            </p:cNvSpPr>
            <p:nvPr/>
          </p:nvSpPr>
          <p:spPr bwMode="auto">
            <a:xfrm>
              <a:off x="7995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3" name="Line 1845"/>
            <p:cNvSpPr>
              <a:spLocks noChangeShapeType="1"/>
            </p:cNvSpPr>
            <p:nvPr/>
          </p:nvSpPr>
          <p:spPr bwMode="auto">
            <a:xfrm>
              <a:off x="6796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4" name="Line 1846"/>
            <p:cNvSpPr>
              <a:spLocks noChangeShapeType="1"/>
            </p:cNvSpPr>
            <p:nvPr/>
          </p:nvSpPr>
          <p:spPr bwMode="auto">
            <a:xfrm>
              <a:off x="6880" y="386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5" name="Line 1847"/>
            <p:cNvSpPr>
              <a:spLocks noChangeShapeType="1"/>
            </p:cNvSpPr>
            <p:nvPr/>
          </p:nvSpPr>
          <p:spPr bwMode="auto">
            <a:xfrm>
              <a:off x="6958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6" name="Line 1848"/>
            <p:cNvSpPr>
              <a:spLocks noChangeShapeType="1"/>
            </p:cNvSpPr>
            <p:nvPr/>
          </p:nvSpPr>
          <p:spPr bwMode="auto">
            <a:xfrm>
              <a:off x="7044" y="385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7" name="Line 1849"/>
            <p:cNvSpPr>
              <a:spLocks noChangeShapeType="1"/>
            </p:cNvSpPr>
            <p:nvPr/>
          </p:nvSpPr>
          <p:spPr bwMode="auto">
            <a:xfrm>
              <a:off x="7202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8" name="Line 1850"/>
            <p:cNvSpPr>
              <a:spLocks noChangeShapeType="1"/>
            </p:cNvSpPr>
            <p:nvPr/>
          </p:nvSpPr>
          <p:spPr bwMode="auto">
            <a:xfrm>
              <a:off x="7380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19" name="Line 1851"/>
            <p:cNvSpPr>
              <a:spLocks noChangeShapeType="1"/>
            </p:cNvSpPr>
            <p:nvPr/>
          </p:nvSpPr>
          <p:spPr bwMode="auto">
            <a:xfrm>
              <a:off x="7120" y="386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0" name="Line 1852"/>
            <p:cNvSpPr>
              <a:spLocks noChangeShapeType="1"/>
            </p:cNvSpPr>
            <p:nvPr/>
          </p:nvSpPr>
          <p:spPr bwMode="auto">
            <a:xfrm>
              <a:off x="7290" y="3858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1" name="Line 1853"/>
            <p:cNvSpPr>
              <a:spLocks noChangeShapeType="1"/>
            </p:cNvSpPr>
            <p:nvPr/>
          </p:nvSpPr>
          <p:spPr bwMode="auto">
            <a:xfrm>
              <a:off x="6107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2" name="Line 1854"/>
            <p:cNvSpPr>
              <a:spLocks noChangeShapeType="1"/>
            </p:cNvSpPr>
            <p:nvPr/>
          </p:nvSpPr>
          <p:spPr bwMode="auto">
            <a:xfrm>
              <a:off x="6206" y="3867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3" name="Line 1855"/>
            <p:cNvSpPr>
              <a:spLocks noChangeShapeType="1"/>
            </p:cNvSpPr>
            <p:nvPr/>
          </p:nvSpPr>
          <p:spPr bwMode="auto">
            <a:xfrm>
              <a:off x="6291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4" name="Line 1856"/>
            <p:cNvSpPr>
              <a:spLocks noChangeShapeType="1"/>
            </p:cNvSpPr>
            <p:nvPr/>
          </p:nvSpPr>
          <p:spPr bwMode="auto">
            <a:xfrm>
              <a:off x="6384" y="388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5" name="Line 1857"/>
            <p:cNvSpPr>
              <a:spLocks noChangeShapeType="1"/>
            </p:cNvSpPr>
            <p:nvPr/>
          </p:nvSpPr>
          <p:spPr bwMode="auto">
            <a:xfrm>
              <a:off x="6542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6" name="Line 1858"/>
            <p:cNvSpPr>
              <a:spLocks noChangeShapeType="1"/>
            </p:cNvSpPr>
            <p:nvPr/>
          </p:nvSpPr>
          <p:spPr bwMode="auto">
            <a:xfrm>
              <a:off x="6707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7" name="Line 1859"/>
            <p:cNvSpPr>
              <a:spLocks noChangeShapeType="1"/>
            </p:cNvSpPr>
            <p:nvPr/>
          </p:nvSpPr>
          <p:spPr bwMode="auto">
            <a:xfrm>
              <a:off x="6459" y="387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8" name="Line 1860"/>
            <p:cNvSpPr>
              <a:spLocks noChangeShapeType="1"/>
            </p:cNvSpPr>
            <p:nvPr/>
          </p:nvSpPr>
          <p:spPr bwMode="auto">
            <a:xfrm>
              <a:off x="6623" y="387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29" name="Line 1861"/>
            <p:cNvSpPr>
              <a:spLocks noChangeShapeType="1"/>
            </p:cNvSpPr>
            <p:nvPr/>
          </p:nvSpPr>
          <p:spPr bwMode="auto">
            <a:xfrm>
              <a:off x="731" y="7224"/>
              <a:ext cx="0" cy="44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0" name="Line 1862"/>
            <p:cNvSpPr>
              <a:spLocks noChangeShapeType="1"/>
            </p:cNvSpPr>
            <p:nvPr/>
          </p:nvSpPr>
          <p:spPr bwMode="auto">
            <a:xfrm>
              <a:off x="816" y="7230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1" name="Line 1863"/>
            <p:cNvSpPr>
              <a:spLocks noChangeShapeType="1"/>
            </p:cNvSpPr>
            <p:nvPr/>
          </p:nvSpPr>
          <p:spPr bwMode="auto">
            <a:xfrm>
              <a:off x="877" y="7224"/>
              <a:ext cx="13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2" name="Line 1864"/>
            <p:cNvSpPr>
              <a:spLocks noChangeShapeType="1"/>
            </p:cNvSpPr>
            <p:nvPr/>
          </p:nvSpPr>
          <p:spPr bwMode="auto">
            <a:xfrm>
              <a:off x="946" y="7220"/>
              <a:ext cx="0" cy="4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3" name="Line 1865"/>
            <p:cNvSpPr>
              <a:spLocks noChangeShapeType="1"/>
            </p:cNvSpPr>
            <p:nvPr/>
          </p:nvSpPr>
          <p:spPr bwMode="auto">
            <a:xfrm flipH="1">
              <a:off x="1099" y="7224"/>
              <a:ext cx="7" cy="4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4" name="Line 1866"/>
            <p:cNvSpPr>
              <a:spLocks noChangeShapeType="1"/>
            </p:cNvSpPr>
            <p:nvPr/>
          </p:nvSpPr>
          <p:spPr bwMode="auto">
            <a:xfrm>
              <a:off x="1217" y="7224"/>
              <a:ext cx="0" cy="46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5" name="Line 1867"/>
            <p:cNvSpPr>
              <a:spLocks noChangeShapeType="1"/>
            </p:cNvSpPr>
            <p:nvPr/>
          </p:nvSpPr>
          <p:spPr bwMode="auto">
            <a:xfrm>
              <a:off x="1025" y="7224"/>
              <a:ext cx="0" cy="4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6" name="Line 1868"/>
            <p:cNvSpPr>
              <a:spLocks noChangeShapeType="1"/>
            </p:cNvSpPr>
            <p:nvPr/>
          </p:nvSpPr>
          <p:spPr bwMode="auto">
            <a:xfrm>
              <a:off x="1162" y="7222"/>
              <a:ext cx="0" cy="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7" name="Line 1869"/>
            <p:cNvSpPr>
              <a:spLocks noChangeShapeType="1"/>
            </p:cNvSpPr>
            <p:nvPr/>
          </p:nvSpPr>
          <p:spPr bwMode="auto">
            <a:xfrm>
              <a:off x="1408" y="7226"/>
              <a:ext cx="0" cy="4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8" name="Line 1870"/>
            <p:cNvSpPr>
              <a:spLocks noChangeShapeType="1"/>
            </p:cNvSpPr>
            <p:nvPr/>
          </p:nvSpPr>
          <p:spPr bwMode="auto">
            <a:xfrm flipH="1">
              <a:off x="1470" y="7218"/>
              <a:ext cx="17" cy="467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39" name="Line 1871"/>
            <p:cNvSpPr>
              <a:spLocks noChangeShapeType="1"/>
            </p:cNvSpPr>
            <p:nvPr/>
          </p:nvSpPr>
          <p:spPr bwMode="auto">
            <a:xfrm>
              <a:off x="1558" y="7214"/>
              <a:ext cx="0" cy="4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0" name="Line 1872"/>
            <p:cNvSpPr>
              <a:spLocks noChangeShapeType="1"/>
            </p:cNvSpPr>
            <p:nvPr/>
          </p:nvSpPr>
          <p:spPr bwMode="auto">
            <a:xfrm>
              <a:off x="1684" y="7230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1" name="Line 1873"/>
            <p:cNvSpPr>
              <a:spLocks noChangeShapeType="1"/>
            </p:cNvSpPr>
            <p:nvPr/>
          </p:nvSpPr>
          <p:spPr bwMode="auto">
            <a:xfrm>
              <a:off x="1830" y="7230"/>
              <a:ext cx="0" cy="45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2" name="Line 1874"/>
            <p:cNvSpPr>
              <a:spLocks noChangeShapeType="1"/>
            </p:cNvSpPr>
            <p:nvPr/>
          </p:nvSpPr>
          <p:spPr bwMode="auto">
            <a:xfrm>
              <a:off x="1622" y="723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3" name="Line 1875"/>
            <p:cNvSpPr>
              <a:spLocks noChangeShapeType="1"/>
            </p:cNvSpPr>
            <p:nvPr/>
          </p:nvSpPr>
          <p:spPr bwMode="auto">
            <a:xfrm>
              <a:off x="1752" y="7219"/>
              <a:ext cx="0" cy="4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4" name="Line 1876"/>
            <p:cNvSpPr>
              <a:spLocks noChangeShapeType="1"/>
            </p:cNvSpPr>
            <p:nvPr/>
          </p:nvSpPr>
          <p:spPr bwMode="auto">
            <a:xfrm flipH="1">
              <a:off x="1888" y="7226"/>
              <a:ext cx="6" cy="4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5" name="Line 1877"/>
            <p:cNvSpPr>
              <a:spLocks noChangeShapeType="1"/>
            </p:cNvSpPr>
            <p:nvPr/>
          </p:nvSpPr>
          <p:spPr bwMode="auto">
            <a:xfrm>
              <a:off x="2085" y="7226"/>
              <a:ext cx="0" cy="4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6" name="Line 1878"/>
            <p:cNvSpPr>
              <a:spLocks noChangeShapeType="1"/>
            </p:cNvSpPr>
            <p:nvPr/>
          </p:nvSpPr>
          <p:spPr bwMode="auto">
            <a:xfrm>
              <a:off x="2160" y="7222"/>
              <a:ext cx="0" cy="46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7" name="Line 1879"/>
            <p:cNvSpPr>
              <a:spLocks noChangeShapeType="1"/>
            </p:cNvSpPr>
            <p:nvPr/>
          </p:nvSpPr>
          <p:spPr bwMode="auto">
            <a:xfrm>
              <a:off x="2281" y="7226"/>
              <a:ext cx="8" cy="4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8" name="Line 1880"/>
            <p:cNvSpPr>
              <a:spLocks noChangeShapeType="1"/>
            </p:cNvSpPr>
            <p:nvPr/>
          </p:nvSpPr>
          <p:spPr bwMode="auto">
            <a:xfrm>
              <a:off x="2423" y="7211"/>
              <a:ext cx="0" cy="4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49" name="Line 1881"/>
            <p:cNvSpPr>
              <a:spLocks noChangeShapeType="1"/>
            </p:cNvSpPr>
            <p:nvPr/>
          </p:nvSpPr>
          <p:spPr bwMode="auto">
            <a:xfrm flipH="1">
              <a:off x="2226" y="7226"/>
              <a:ext cx="1" cy="459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0" name="Line 1882"/>
            <p:cNvSpPr>
              <a:spLocks noChangeShapeType="1"/>
            </p:cNvSpPr>
            <p:nvPr/>
          </p:nvSpPr>
          <p:spPr bwMode="auto">
            <a:xfrm>
              <a:off x="2349" y="7221"/>
              <a:ext cx="0" cy="4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1" name="Line 1883"/>
            <p:cNvSpPr>
              <a:spLocks noChangeShapeType="1"/>
            </p:cNvSpPr>
            <p:nvPr/>
          </p:nvSpPr>
          <p:spPr bwMode="auto">
            <a:xfrm>
              <a:off x="2494" y="7224"/>
              <a:ext cx="0" cy="4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2" name="Line 1884"/>
            <p:cNvSpPr>
              <a:spLocks noChangeShapeType="1"/>
            </p:cNvSpPr>
            <p:nvPr/>
          </p:nvSpPr>
          <p:spPr bwMode="auto">
            <a:xfrm>
              <a:off x="2565" y="7230"/>
              <a:ext cx="0" cy="45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3" name="Line 1885"/>
            <p:cNvSpPr>
              <a:spLocks noChangeShapeType="1"/>
            </p:cNvSpPr>
            <p:nvPr/>
          </p:nvSpPr>
          <p:spPr bwMode="auto">
            <a:xfrm flipH="1">
              <a:off x="2772" y="7224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4" name="Line 1886"/>
            <p:cNvSpPr>
              <a:spLocks noChangeShapeType="1"/>
            </p:cNvSpPr>
            <p:nvPr/>
          </p:nvSpPr>
          <p:spPr bwMode="auto">
            <a:xfrm>
              <a:off x="2842" y="7221"/>
              <a:ext cx="0" cy="4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5" name="Line 1887"/>
            <p:cNvSpPr>
              <a:spLocks noChangeShapeType="1"/>
            </p:cNvSpPr>
            <p:nvPr/>
          </p:nvSpPr>
          <p:spPr bwMode="auto">
            <a:xfrm>
              <a:off x="3001" y="7224"/>
              <a:ext cx="0" cy="4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6" name="Line 1888"/>
            <p:cNvSpPr>
              <a:spLocks noChangeShapeType="1"/>
            </p:cNvSpPr>
            <p:nvPr/>
          </p:nvSpPr>
          <p:spPr bwMode="auto">
            <a:xfrm>
              <a:off x="3142" y="7224"/>
              <a:ext cx="0" cy="461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7" name="Line 1889"/>
            <p:cNvSpPr>
              <a:spLocks noChangeShapeType="1"/>
            </p:cNvSpPr>
            <p:nvPr/>
          </p:nvSpPr>
          <p:spPr bwMode="auto">
            <a:xfrm>
              <a:off x="2925" y="7224"/>
              <a:ext cx="0" cy="46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8" name="Line 1890"/>
            <p:cNvSpPr>
              <a:spLocks noChangeShapeType="1"/>
            </p:cNvSpPr>
            <p:nvPr/>
          </p:nvSpPr>
          <p:spPr bwMode="auto">
            <a:xfrm>
              <a:off x="3072" y="72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59" name="Line 1891"/>
            <p:cNvSpPr>
              <a:spLocks noChangeShapeType="1"/>
            </p:cNvSpPr>
            <p:nvPr/>
          </p:nvSpPr>
          <p:spPr bwMode="auto">
            <a:xfrm flipH="1">
              <a:off x="3209" y="7208"/>
              <a:ext cx="12" cy="4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0" name="Line 1892"/>
            <p:cNvSpPr>
              <a:spLocks noChangeShapeType="1"/>
            </p:cNvSpPr>
            <p:nvPr/>
          </p:nvSpPr>
          <p:spPr bwMode="auto">
            <a:xfrm>
              <a:off x="3278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1" name="Line 1893"/>
            <p:cNvSpPr>
              <a:spLocks noChangeShapeType="1"/>
            </p:cNvSpPr>
            <p:nvPr/>
          </p:nvSpPr>
          <p:spPr bwMode="auto">
            <a:xfrm>
              <a:off x="3468" y="724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2" name="Line 1894"/>
            <p:cNvSpPr>
              <a:spLocks noChangeShapeType="1"/>
            </p:cNvSpPr>
            <p:nvPr/>
          </p:nvSpPr>
          <p:spPr bwMode="auto">
            <a:xfrm>
              <a:off x="3523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3" name="Line 1895"/>
            <p:cNvSpPr>
              <a:spLocks noChangeShapeType="1"/>
            </p:cNvSpPr>
            <p:nvPr/>
          </p:nvSpPr>
          <p:spPr bwMode="auto">
            <a:xfrm>
              <a:off x="3634" y="724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4" name="Line 1896"/>
            <p:cNvSpPr>
              <a:spLocks noChangeShapeType="1"/>
            </p:cNvSpPr>
            <p:nvPr/>
          </p:nvSpPr>
          <p:spPr bwMode="auto">
            <a:xfrm>
              <a:off x="3755" y="724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5" name="Line 1897"/>
            <p:cNvSpPr>
              <a:spLocks noChangeShapeType="1"/>
            </p:cNvSpPr>
            <p:nvPr/>
          </p:nvSpPr>
          <p:spPr bwMode="auto">
            <a:xfrm>
              <a:off x="3573" y="724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6" name="Line 1898"/>
            <p:cNvSpPr>
              <a:spLocks noChangeShapeType="1"/>
            </p:cNvSpPr>
            <p:nvPr/>
          </p:nvSpPr>
          <p:spPr bwMode="auto">
            <a:xfrm>
              <a:off x="3701" y="724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7" name="Line 1899"/>
            <p:cNvSpPr>
              <a:spLocks noChangeShapeType="1"/>
            </p:cNvSpPr>
            <p:nvPr/>
          </p:nvSpPr>
          <p:spPr bwMode="auto">
            <a:xfrm>
              <a:off x="3821" y="72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8" name="Line 1900"/>
            <p:cNvSpPr>
              <a:spLocks noChangeShapeType="1"/>
            </p:cNvSpPr>
            <p:nvPr/>
          </p:nvSpPr>
          <p:spPr bwMode="auto">
            <a:xfrm>
              <a:off x="3889" y="7242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69" name="Line 1901"/>
            <p:cNvSpPr>
              <a:spLocks noChangeShapeType="1"/>
            </p:cNvSpPr>
            <p:nvPr/>
          </p:nvSpPr>
          <p:spPr bwMode="auto">
            <a:xfrm>
              <a:off x="4123" y="722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0" name="Line 1902"/>
            <p:cNvSpPr>
              <a:spLocks noChangeShapeType="1"/>
            </p:cNvSpPr>
            <p:nvPr/>
          </p:nvSpPr>
          <p:spPr bwMode="auto">
            <a:xfrm>
              <a:off x="4192" y="723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1" name="Line 1903"/>
            <p:cNvSpPr>
              <a:spLocks noChangeShapeType="1"/>
            </p:cNvSpPr>
            <p:nvPr/>
          </p:nvSpPr>
          <p:spPr bwMode="auto">
            <a:xfrm>
              <a:off x="4297" y="722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2" name="Line 1904"/>
            <p:cNvSpPr>
              <a:spLocks noChangeShapeType="1"/>
            </p:cNvSpPr>
            <p:nvPr/>
          </p:nvSpPr>
          <p:spPr bwMode="auto">
            <a:xfrm>
              <a:off x="4445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3" name="Line 1905"/>
            <p:cNvSpPr>
              <a:spLocks noChangeShapeType="1"/>
            </p:cNvSpPr>
            <p:nvPr/>
          </p:nvSpPr>
          <p:spPr bwMode="auto">
            <a:xfrm>
              <a:off x="4245" y="722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4" name="Line 1906"/>
            <p:cNvSpPr>
              <a:spLocks noChangeShapeType="1"/>
            </p:cNvSpPr>
            <p:nvPr/>
          </p:nvSpPr>
          <p:spPr bwMode="auto">
            <a:xfrm>
              <a:off x="4368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5" name="Line 1907"/>
            <p:cNvSpPr>
              <a:spLocks noChangeShapeType="1"/>
            </p:cNvSpPr>
            <p:nvPr/>
          </p:nvSpPr>
          <p:spPr bwMode="auto">
            <a:xfrm>
              <a:off x="5277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6" name="Line 1908"/>
            <p:cNvSpPr>
              <a:spLocks noChangeShapeType="1"/>
            </p:cNvSpPr>
            <p:nvPr/>
          </p:nvSpPr>
          <p:spPr bwMode="auto">
            <a:xfrm>
              <a:off x="5474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7" name="Line 1909"/>
            <p:cNvSpPr>
              <a:spLocks noChangeShapeType="1"/>
            </p:cNvSpPr>
            <p:nvPr/>
          </p:nvSpPr>
          <p:spPr bwMode="auto">
            <a:xfrm>
              <a:off x="5546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8" name="Line 1910"/>
            <p:cNvSpPr>
              <a:spLocks noChangeShapeType="1"/>
            </p:cNvSpPr>
            <p:nvPr/>
          </p:nvSpPr>
          <p:spPr bwMode="auto">
            <a:xfrm>
              <a:off x="5621" y="723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79" name="Line 1911"/>
            <p:cNvSpPr>
              <a:spLocks noChangeShapeType="1"/>
            </p:cNvSpPr>
            <p:nvPr/>
          </p:nvSpPr>
          <p:spPr bwMode="auto">
            <a:xfrm>
              <a:off x="5772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0" name="Line 1912"/>
            <p:cNvSpPr>
              <a:spLocks noChangeShapeType="1"/>
            </p:cNvSpPr>
            <p:nvPr/>
          </p:nvSpPr>
          <p:spPr bwMode="auto">
            <a:xfrm>
              <a:off x="5918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1" name="Line 1913"/>
            <p:cNvSpPr>
              <a:spLocks noChangeShapeType="1"/>
            </p:cNvSpPr>
            <p:nvPr/>
          </p:nvSpPr>
          <p:spPr bwMode="auto">
            <a:xfrm>
              <a:off x="5694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2" name="Line 1914"/>
            <p:cNvSpPr>
              <a:spLocks noChangeShapeType="1"/>
            </p:cNvSpPr>
            <p:nvPr/>
          </p:nvSpPr>
          <p:spPr bwMode="auto">
            <a:xfrm>
              <a:off x="5843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3" name="Line 1915"/>
            <p:cNvSpPr>
              <a:spLocks noChangeShapeType="1"/>
            </p:cNvSpPr>
            <p:nvPr/>
          </p:nvSpPr>
          <p:spPr bwMode="auto">
            <a:xfrm>
              <a:off x="10735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4" name="Line 1916"/>
            <p:cNvSpPr>
              <a:spLocks noChangeShapeType="1"/>
            </p:cNvSpPr>
            <p:nvPr/>
          </p:nvSpPr>
          <p:spPr bwMode="auto">
            <a:xfrm>
              <a:off x="10966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5" name="Line 1917"/>
            <p:cNvSpPr>
              <a:spLocks noChangeShapeType="1"/>
            </p:cNvSpPr>
            <p:nvPr/>
          </p:nvSpPr>
          <p:spPr bwMode="auto">
            <a:xfrm>
              <a:off x="11045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6" name="Line 1918"/>
            <p:cNvSpPr>
              <a:spLocks noChangeShapeType="1"/>
            </p:cNvSpPr>
            <p:nvPr/>
          </p:nvSpPr>
          <p:spPr bwMode="auto">
            <a:xfrm>
              <a:off x="11117" y="723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7" name="Line 1919"/>
            <p:cNvSpPr>
              <a:spLocks noChangeShapeType="1"/>
            </p:cNvSpPr>
            <p:nvPr/>
          </p:nvSpPr>
          <p:spPr bwMode="auto">
            <a:xfrm>
              <a:off x="11275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8" name="Line 1920"/>
            <p:cNvSpPr>
              <a:spLocks noChangeShapeType="1"/>
            </p:cNvSpPr>
            <p:nvPr/>
          </p:nvSpPr>
          <p:spPr bwMode="auto">
            <a:xfrm>
              <a:off x="11415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89" name="Line 1921"/>
            <p:cNvSpPr>
              <a:spLocks noChangeShapeType="1"/>
            </p:cNvSpPr>
            <p:nvPr/>
          </p:nvSpPr>
          <p:spPr bwMode="auto">
            <a:xfrm>
              <a:off x="11193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0" name="Line 1922"/>
            <p:cNvSpPr>
              <a:spLocks noChangeShapeType="1"/>
            </p:cNvSpPr>
            <p:nvPr/>
          </p:nvSpPr>
          <p:spPr bwMode="auto">
            <a:xfrm>
              <a:off x="11340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1" name="Line 1923"/>
            <p:cNvSpPr>
              <a:spLocks noChangeShapeType="1"/>
            </p:cNvSpPr>
            <p:nvPr/>
          </p:nvSpPr>
          <p:spPr bwMode="auto">
            <a:xfrm>
              <a:off x="4518" y="722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2" name="Line 1924"/>
            <p:cNvSpPr>
              <a:spLocks noChangeShapeType="1"/>
            </p:cNvSpPr>
            <p:nvPr/>
          </p:nvSpPr>
          <p:spPr bwMode="auto">
            <a:xfrm>
              <a:off x="4784" y="7230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3" name="Line 1925"/>
            <p:cNvSpPr>
              <a:spLocks noChangeShapeType="1"/>
            </p:cNvSpPr>
            <p:nvPr/>
          </p:nvSpPr>
          <p:spPr bwMode="auto">
            <a:xfrm>
              <a:off x="4844" y="722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4" name="Line 1926"/>
            <p:cNvSpPr>
              <a:spLocks noChangeShapeType="1"/>
            </p:cNvSpPr>
            <p:nvPr/>
          </p:nvSpPr>
          <p:spPr bwMode="auto">
            <a:xfrm>
              <a:off x="4921" y="723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5" name="Line 1927"/>
            <p:cNvSpPr>
              <a:spLocks noChangeShapeType="1"/>
            </p:cNvSpPr>
            <p:nvPr/>
          </p:nvSpPr>
          <p:spPr bwMode="auto">
            <a:xfrm>
              <a:off x="5071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6" name="Line 1928"/>
            <p:cNvSpPr>
              <a:spLocks noChangeShapeType="1"/>
            </p:cNvSpPr>
            <p:nvPr/>
          </p:nvSpPr>
          <p:spPr bwMode="auto">
            <a:xfrm>
              <a:off x="5210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7" name="Line 1929"/>
            <p:cNvSpPr>
              <a:spLocks noChangeShapeType="1"/>
            </p:cNvSpPr>
            <p:nvPr/>
          </p:nvSpPr>
          <p:spPr bwMode="auto">
            <a:xfrm>
              <a:off x="5014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8" name="Line 1930"/>
            <p:cNvSpPr>
              <a:spLocks noChangeShapeType="1"/>
            </p:cNvSpPr>
            <p:nvPr/>
          </p:nvSpPr>
          <p:spPr bwMode="auto">
            <a:xfrm>
              <a:off x="5147" y="7235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299" name="Line 1931"/>
            <p:cNvSpPr>
              <a:spLocks noChangeShapeType="1"/>
            </p:cNvSpPr>
            <p:nvPr/>
          </p:nvSpPr>
          <p:spPr bwMode="auto">
            <a:xfrm>
              <a:off x="10219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0" name="Line 1932"/>
            <p:cNvSpPr>
              <a:spLocks noChangeShapeType="1"/>
            </p:cNvSpPr>
            <p:nvPr/>
          </p:nvSpPr>
          <p:spPr bwMode="auto">
            <a:xfrm>
              <a:off x="10293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1" name="Line 1933"/>
            <p:cNvSpPr>
              <a:spLocks noChangeShapeType="1"/>
            </p:cNvSpPr>
            <p:nvPr/>
          </p:nvSpPr>
          <p:spPr bwMode="auto">
            <a:xfrm>
              <a:off x="10359" y="723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2" name="Line 1934"/>
            <p:cNvSpPr>
              <a:spLocks noChangeShapeType="1"/>
            </p:cNvSpPr>
            <p:nvPr/>
          </p:nvSpPr>
          <p:spPr bwMode="auto">
            <a:xfrm>
              <a:off x="10503" y="7238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3" name="Line 1935"/>
            <p:cNvSpPr>
              <a:spLocks noChangeShapeType="1"/>
            </p:cNvSpPr>
            <p:nvPr/>
          </p:nvSpPr>
          <p:spPr bwMode="auto">
            <a:xfrm>
              <a:off x="10655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4" name="Line 1936"/>
            <p:cNvSpPr>
              <a:spLocks noChangeShapeType="1"/>
            </p:cNvSpPr>
            <p:nvPr/>
          </p:nvSpPr>
          <p:spPr bwMode="auto">
            <a:xfrm>
              <a:off x="10421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5" name="Line 1937"/>
            <p:cNvSpPr>
              <a:spLocks noChangeShapeType="1"/>
            </p:cNvSpPr>
            <p:nvPr/>
          </p:nvSpPr>
          <p:spPr bwMode="auto">
            <a:xfrm>
              <a:off x="10581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6" name="Line 1938"/>
            <p:cNvSpPr>
              <a:spLocks noChangeShapeType="1"/>
            </p:cNvSpPr>
            <p:nvPr/>
          </p:nvSpPr>
          <p:spPr bwMode="auto">
            <a:xfrm>
              <a:off x="9343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7" name="Line 1939"/>
            <p:cNvSpPr>
              <a:spLocks noChangeShapeType="1"/>
            </p:cNvSpPr>
            <p:nvPr/>
          </p:nvSpPr>
          <p:spPr bwMode="auto">
            <a:xfrm>
              <a:off x="9551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8" name="Line 1940"/>
            <p:cNvSpPr>
              <a:spLocks noChangeShapeType="1"/>
            </p:cNvSpPr>
            <p:nvPr/>
          </p:nvSpPr>
          <p:spPr bwMode="auto">
            <a:xfrm>
              <a:off x="9626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09" name="Line 1941"/>
            <p:cNvSpPr>
              <a:spLocks noChangeShapeType="1"/>
            </p:cNvSpPr>
            <p:nvPr/>
          </p:nvSpPr>
          <p:spPr bwMode="auto">
            <a:xfrm>
              <a:off x="9705" y="723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0" name="Line 1942"/>
            <p:cNvSpPr>
              <a:spLocks noChangeShapeType="1"/>
            </p:cNvSpPr>
            <p:nvPr/>
          </p:nvSpPr>
          <p:spPr bwMode="auto">
            <a:xfrm>
              <a:off x="9860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1" name="Line 1943"/>
            <p:cNvSpPr>
              <a:spLocks noChangeShapeType="1"/>
            </p:cNvSpPr>
            <p:nvPr/>
          </p:nvSpPr>
          <p:spPr bwMode="auto">
            <a:xfrm>
              <a:off x="10025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2" name="Line 1944"/>
            <p:cNvSpPr>
              <a:spLocks noChangeShapeType="1"/>
            </p:cNvSpPr>
            <p:nvPr/>
          </p:nvSpPr>
          <p:spPr bwMode="auto">
            <a:xfrm>
              <a:off x="9777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3" name="Line 1945"/>
            <p:cNvSpPr>
              <a:spLocks noChangeShapeType="1"/>
            </p:cNvSpPr>
            <p:nvPr/>
          </p:nvSpPr>
          <p:spPr bwMode="auto">
            <a:xfrm>
              <a:off x="9941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4" name="Line 1946"/>
            <p:cNvSpPr>
              <a:spLocks noChangeShapeType="1"/>
            </p:cNvSpPr>
            <p:nvPr/>
          </p:nvSpPr>
          <p:spPr bwMode="auto">
            <a:xfrm>
              <a:off x="8904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5" name="Line 1947"/>
            <p:cNvSpPr>
              <a:spLocks noChangeShapeType="1"/>
            </p:cNvSpPr>
            <p:nvPr/>
          </p:nvSpPr>
          <p:spPr bwMode="auto">
            <a:xfrm>
              <a:off x="8970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6" name="Line 1948"/>
            <p:cNvSpPr>
              <a:spLocks noChangeShapeType="1"/>
            </p:cNvSpPr>
            <p:nvPr/>
          </p:nvSpPr>
          <p:spPr bwMode="auto">
            <a:xfrm>
              <a:off x="9027" y="723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7" name="Line 1949"/>
            <p:cNvSpPr>
              <a:spLocks noChangeShapeType="1"/>
            </p:cNvSpPr>
            <p:nvPr/>
          </p:nvSpPr>
          <p:spPr bwMode="auto">
            <a:xfrm>
              <a:off x="9144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8" name="Line 1950"/>
            <p:cNvSpPr>
              <a:spLocks noChangeShapeType="1"/>
            </p:cNvSpPr>
            <p:nvPr/>
          </p:nvSpPr>
          <p:spPr bwMode="auto">
            <a:xfrm>
              <a:off x="9287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19" name="Line 1951"/>
            <p:cNvSpPr>
              <a:spLocks noChangeShapeType="1"/>
            </p:cNvSpPr>
            <p:nvPr/>
          </p:nvSpPr>
          <p:spPr bwMode="auto">
            <a:xfrm>
              <a:off x="9084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0" name="Line 1952"/>
            <p:cNvSpPr>
              <a:spLocks noChangeShapeType="1"/>
            </p:cNvSpPr>
            <p:nvPr/>
          </p:nvSpPr>
          <p:spPr bwMode="auto">
            <a:xfrm>
              <a:off x="9216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1" name="Line 1953"/>
            <p:cNvSpPr>
              <a:spLocks noChangeShapeType="1"/>
            </p:cNvSpPr>
            <p:nvPr/>
          </p:nvSpPr>
          <p:spPr bwMode="auto">
            <a:xfrm>
              <a:off x="8016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2" name="Line 1954"/>
            <p:cNvSpPr>
              <a:spLocks noChangeShapeType="1"/>
            </p:cNvSpPr>
            <p:nvPr/>
          </p:nvSpPr>
          <p:spPr bwMode="auto">
            <a:xfrm>
              <a:off x="8245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3" name="Line 1955"/>
            <p:cNvSpPr>
              <a:spLocks noChangeShapeType="1"/>
            </p:cNvSpPr>
            <p:nvPr/>
          </p:nvSpPr>
          <p:spPr bwMode="auto">
            <a:xfrm>
              <a:off x="8326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4" name="Line 1956"/>
            <p:cNvSpPr>
              <a:spLocks noChangeShapeType="1"/>
            </p:cNvSpPr>
            <p:nvPr/>
          </p:nvSpPr>
          <p:spPr bwMode="auto">
            <a:xfrm>
              <a:off x="8385" y="7235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5" name="Line 1957"/>
            <p:cNvSpPr>
              <a:spLocks noChangeShapeType="1"/>
            </p:cNvSpPr>
            <p:nvPr/>
          </p:nvSpPr>
          <p:spPr bwMode="auto">
            <a:xfrm>
              <a:off x="8538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6" name="Line 1958"/>
            <p:cNvSpPr>
              <a:spLocks noChangeShapeType="1"/>
            </p:cNvSpPr>
            <p:nvPr/>
          </p:nvSpPr>
          <p:spPr bwMode="auto">
            <a:xfrm>
              <a:off x="8680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7" name="Line 1959"/>
            <p:cNvSpPr>
              <a:spLocks noChangeShapeType="1"/>
            </p:cNvSpPr>
            <p:nvPr/>
          </p:nvSpPr>
          <p:spPr bwMode="auto">
            <a:xfrm>
              <a:off x="8468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8" name="Line 1960"/>
            <p:cNvSpPr>
              <a:spLocks noChangeShapeType="1"/>
            </p:cNvSpPr>
            <p:nvPr/>
          </p:nvSpPr>
          <p:spPr bwMode="auto">
            <a:xfrm>
              <a:off x="8607" y="7223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29" name="Line 1961"/>
            <p:cNvSpPr>
              <a:spLocks noChangeShapeType="1"/>
            </p:cNvSpPr>
            <p:nvPr/>
          </p:nvSpPr>
          <p:spPr bwMode="auto">
            <a:xfrm>
              <a:off x="7336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0" name="Line 1962"/>
            <p:cNvSpPr>
              <a:spLocks noChangeShapeType="1"/>
            </p:cNvSpPr>
            <p:nvPr/>
          </p:nvSpPr>
          <p:spPr bwMode="auto">
            <a:xfrm>
              <a:off x="7524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1" name="Line 1963"/>
            <p:cNvSpPr>
              <a:spLocks noChangeShapeType="1"/>
            </p:cNvSpPr>
            <p:nvPr/>
          </p:nvSpPr>
          <p:spPr bwMode="auto">
            <a:xfrm>
              <a:off x="7595" y="722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2" name="Line 1964"/>
            <p:cNvSpPr>
              <a:spLocks noChangeShapeType="1"/>
            </p:cNvSpPr>
            <p:nvPr/>
          </p:nvSpPr>
          <p:spPr bwMode="auto">
            <a:xfrm>
              <a:off x="7684" y="722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3" name="Line 1965"/>
            <p:cNvSpPr>
              <a:spLocks noChangeShapeType="1"/>
            </p:cNvSpPr>
            <p:nvPr/>
          </p:nvSpPr>
          <p:spPr bwMode="auto">
            <a:xfrm>
              <a:off x="7817" y="722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4" name="Line 1966"/>
            <p:cNvSpPr>
              <a:spLocks noChangeShapeType="1"/>
            </p:cNvSpPr>
            <p:nvPr/>
          </p:nvSpPr>
          <p:spPr bwMode="auto">
            <a:xfrm>
              <a:off x="7952" y="722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5" name="Line 1967"/>
            <p:cNvSpPr>
              <a:spLocks noChangeShapeType="1"/>
            </p:cNvSpPr>
            <p:nvPr/>
          </p:nvSpPr>
          <p:spPr bwMode="auto">
            <a:xfrm>
              <a:off x="7762" y="722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6" name="Line 1968"/>
            <p:cNvSpPr>
              <a:spLocks noChangeShapeType="1"/>
            </p:cNvSpPr>
            <p:nvPr/>
          </p:nvSpPr>
          <p:spPr bwMode="auto">
            <a:xfrm>
              <a:off x="7889" y="7224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7" name="Line 1969"/>
            <p:cNvSpPr>
              <a:spLocks noChangeShapeType="1"/>
            </p:cNvSpPr>
            <p:nvPr/>
          </p:nvSpPr>
          <p:spPr bwMode="auto">
            <a:xfrm>
              <a:off x="6689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8" name="Line 1970"/>
            <p:cNvSpPr>
              <a:spLocks noChangeShapeType="1"/>
            </p:cNvSpPr>
            <p:nvPr/>
          </p:nvSpPr>
          <p:spPr bwMode="auto">
            <a:xfrm>
              <a:off x="6835" y="7217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39" name="Line 1971"/>
            <p:cNvSpPr>
              <a:spLocks noChangeShapeType="1"/>
            </p:cNvSpPr>
            <p:nvPr/>
          </p:nvSpPr>
          <p:spPr bwMode="auto">
            <a:xfrm>
              <a:off x="6893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0" name="Line 1972"/>
            <p:cNvSpPr>
              <a:spLocks noChangeShapeType="1"/>
            </p:cNvSpPr>
            <p:nvPr/>
          </p:nvSpPr>
          <p:spPr bwMode="auto">
            <a:xfrm>
              <a:off x="6968" y="7222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1" name="Line 1973"/>
            <p:cNvSpPr>
              <a:spLocks noChangeShapeType="1"/>
            </p:cNvSpPr>
            <p:nvPr/>
          </p:nvSpPr>
          <p:spPr bwMode="auto">
            <a:xfrm>
              <a:off x="7117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2" name="Line 1974"/>
            <p:cNvSpPr>
              <a:spLocks noChangeShapeType="1"/>
            </p:cNvSpPr>
            <p:nvPr/>
          </p:nvSpPr>
          <p:spPr bwMode="auto">
            <a:xfrm>
              <a:off x="7276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3" name="Line 1975"/>
            <p:cNvSpPr>
              <a:spLocks noChangeShapeType="1"/>
            </p:cNvSpPr>
            <p:nvPr/>
          </p:nvSpPr>
          <p:spPr bwMode="auto">
            <a:xfrm>
              <a:off x="7045" y="722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4" name="Line 1976"/>
            <p:cNvSpPr>
              <a:spLocks noChangeShapeType="1"/>
            </p:cNvSpPr>
            <p:nvPr/>
          </p:nvSpPr>
          <p:spPr bwMode="auto">
            <a:xfrm>
              <a:off x="7195" y="7223"/>
              <a:ext cx="0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5" name="Line 1977"/>
            <p:cNvSpPr>
              <a:spLocks noChangeShapeType="1"/>
            </p:cNvSpPr>
            <p:nvPr/>
          </p:nvSpPr>
          <p:spPr bwMode="auto">
            <a:xfrm>
              <a:off x="5980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6" name="Line 1978"/>
            <p:cNvSpPr>
              <a:spLocks noChangeShapeType="1"/>
            </p:cNvSpPr>
            <p:nvPr/>
          </p:nvSpPr>
          <p:spPr bwMode="auto">
            <a:xfrm>
              <a:off x="6152" y="7231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7" name="Line 1979"/>
            <p:cNvSpPr>
              <a:spLocks noChangeShapeType="1"/>
            </p:cNvSpPr>
            <p:nvPr/>
          </p:nvSpPr>
          <p:spPr bwMode="auto">
            <a:xfrm>
              <a:off x="6237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8" name="Line 1980"/>
            <p:cNvSpPr>
              <a:spLocks noChangeShapeType="1"/>
            </p:cNvSpPr>
            <p:nvPr/>
          </p:nvSpPr>
          <p:spPr bwMode="auto">
            <a:xfrm>
              <a:off x="6308" y="7233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49" name="Line 1981"/>
            <p:cNvSpPr>
              <a:spLocks noChangeShapeType="1"/>
            </p:cNvSpPr>
            <p:nvPr/>
          </p:nvSpPr>
          <p:spPr bwMode="auto">
            <a:xfrm>
              <a:off x="6467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50" name="Line 1982"/>
            <p:cNvSpPr>
              <a:spLocks noChangeShapeType="1"/>
            </p:cNvSpPr>
            <p:nvPr/>
          </p:nvSpPr>
          <p:spPr bwMode="auto">
            <a:xfrm>
              <a:off x="6612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51" name="Line 1983"/>
            <p:cNvSpPr>
              <a:spLocks noChangeShapeType="1"/>
            </p:cNvSpPr>
            <p:nvPr/>
          </p:nvSpPr>
          <p:spPr bwMode="auto">
            <a:xfrm>
              <a:off x="6395" y="724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52" name="Line 1984"/>
            <p:cNvSpPr>
              <a:spLocks noChangeShapeType="1"/>
            </p:cNvSpPr>
            <p:nvPr/>
          </p:nvSpPr>
          <p:spPr bwMode="auto">
            <a:xfrm>
              <a:off x="6539" y="7236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0353" name="Group 1985"/>
          <p:cNvGrpSpPr>
            <a:grpSpLocks/>
          </p:cNvGrpSpPr>
          <p:nvPr/>
        </p:nvGrpSpPr>
        <p:grpSpPr bwMode="auto">
          <a:xfrm>
            <a:off x="344488" y="3929066"/>
            <a:ext cx="8585230" cy="2143140"/>
            <a:chOff x="543" y="7685"/>
            <a:chExt cx="10956" cy="3370"/>
          </a:xfrm>
        </p:grpSpPr>
        <p:sp>
          <p:nvSpPr>
            <p:cNvPr id="60354" name="Rectangle 1986"/>
            <p:cNvSpPr>
              <a:spLocks noChangeArrowheads="1"/>
            </p:cNvSpPr>
            <p:nvPr/>
          </p:nvSpPr>
          <p:spPr bwMode="auto">
            <a:xfrm>
              <a:off x="549" y="9864"/>
              <a:ext cx="10950" cy="74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uz-Cyrl-UZ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ФУНКЦИЯ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(</a:t>
              </a:r>
              <a:r>
                <a:rPr kumimoji="0" lang="en-US" sz="1600" b="1" i="1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Shift,MixCol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r>
                <a:rPr kumimoji="0" lang="uz-Cyrl-UZ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355" name="Rectangle 1987"/>
            <p:cNvSpPr>
              <a:spLocks noChangeArrowheads="1"/>
            </p:cNvSpPr>
            <p:nvPr/>
          </p:nvSpPr>
          <p:spPr bwMode="auto">
            <a:xfrm>
              <a:off x="690" y="8815"/>
              <a:ext cx="616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356" name="Line 1988"/>
            <p:cNvSpPr>
              <a:spLocks noChangeShapeType="1"/>
            </p:cNvSpPr>
            <p:nvPr/>
          </p:nvSpPr>
          <p:spPr bwMode="auto">
            <a:xfrm>
              <a:off x="735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57" name="Line 1989"/>
            <p:cNvSpPr>
              <a:spLocks noChangeShapeType="1"/>
            </p:cNvSpPr>
            <p:nvPr/>
          </p:nvSpPr>
          <p:spPr bwMode="auto">
            <a:xfrm>
              <a:off x="812" y="8383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58" name="Line 1990"/>
            <p:cNvSpPr>
              <a:spLocks noChangeShapeType="1"/>
            </p:cNvSpPr>
            <p:nvPr/>
          </p:nvSpPr>
          <p:spPr bwMode="auto">
            <a:xfrm>
              <a:off x="897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59" name="Line 1991"/>
            <p:cNvSpPr>
              <a:spLocks noChangeShapeType="1"/>
            </p:cNvSpPr>
            <p:nvPr/>
          </p:nvSpPr>
          <p:spPr bwMode="auto">
            <a:xfrm>
              <a:off x="974" y="838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0" name="Line 1992"/>
            <p:cNvSpPr>
              <a:spLocks noChangeShapeType="1"/>
            </p:cNvSpPr>
            <p:nvPr/>
          </p:nvSpPr>
          <p:spPr bwMode="auto">
            <a:xfrm>
              <a:off x="1126" y="839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1" name="Line 1993"/>
            <p:cNvSpPr>
              <a:spLocks noChangeShapeType="1"/>
            </p:cNvSpPr>
            <p:nvPr/>
          </p:nvSpPr>
          <p:spPr bwMode="auto">
            <a:xfrm>
              <a:off x="1270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2" name="Line 1994"/>
            <p:cNvSpPr>
              <a:spLocks noChangeShapeType="1"/>
            </p:cNvSpPr>
            <p:nvPr/>
          </p:nvSpPr>
          <p:spPr bwMode="auto">
            <a:xfrm>
              <a:off x="1051" y="839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3" name="Line 1995"/>
            <p:cNvSpPr>
              <a:spLocks noChangeShapeType="1"/>
            </p:cNvSpPr>
            <p:nvPr/>
          </p:nvSpPr>
          <p:spPr bwMode="auto">
            <a:xfrm>
              <a:off x="1200" y="8389"/>
              <a:ext cx="0" cy="42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4" name="Line 1996"/>
            <p:cNvSpPr>
              <a:spLocks noChangeShapeType="1"/>
            </p:cNvSpPr>
            <p:nvPr/>
          </p:nvSpPr>
          <p:spPr bwMode="auto">
            <a:xfrm>
              <a:off x="764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5" name="Line 1997"/>
            <p:cNvSpPr>
              <a:spLocks noChangeShapeType="1"/>
            </p:cNvSpPr>
            <p:nvPr/>
          </p:nvSpPr>
          <p:spPr bwMode="auto">
            <a:xfrm>
              <a:off x="837" y="944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6" name="Line 1998"/>
            <p:cNvSpPr>
              <a:spLocks noChangeShapeType="1"/>
            </p:cNvSpPr>
            <p:nvPr/>
          </p:nvSpPr>
          <p:spPr bwMode="auto">
            <a:xfrm>
              <a:off x="906" y="9455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7" name="Line 1999"/>
            <p:cNvSpPr>
              <a:spLocks noChangeShapeType="1"/>
            </p:cNvSpPr>
            <p:nvPr/>
          </p:nvSpPr>
          <p:spPr bwMode="auto">
            <a:xfrm>
              <a:off x="976" y="9449"/>
              <a:ext cx="0" cy="42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8" name="Line 2000"/>
            <p:cNvSpPr>
              <a:spLocks noChangeShapeType="1"/>
            </p:cNvSpPr>
            <p:nvPr/>
          </p:nvSpPr>
          <p:spPr bwMode="auto">
            <a:xfrm>
              <a:off x="1110" y="9455"/>
              <a:ext cx="0" cy="42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69" name="Line 2001"/>
            <p:cNvSpPr>
              <a:spLocks noChangeShapeType="1"/>
            </p:cNvSpPr>
            <p:nvPr/>
          </p:nvSpPr>
          <p:spPr bwMode="auto">
            <a:xfrm>
              <a:off x="1244" y="9455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0" name="Line 2002"/>
            <p:cNvSpPr>
              <a:spLocks noChangeShapeType="1"/>
            </p:cNvSpPr>
            <p:nvPr/>
          </p:nvSpPr>
          <p:spPr bwMode="auto">
            <a:xfrm>
              <a:off x="1045" y="9455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1" name="Line 2003"/>
            <p:cNvSpPr>
              <a:spLocks noChangeShapeType="1"/>
            </p:cNvSpPr>
            <p:nvPr/>
          </p:nvSpPr>
          <p:spPr bwMode="auto">
            <a:xfrm>
              <a:off x="1172" y="945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2" name="Rectangle 2004"/>
            <p:cNvSpPr>
              <a:spLocks noChangeArrowheads="1"/>
            </p:cNvSpPr>
            <p:nvPr/>
          </p:nvSpPr>
          <p:spPr bwMode="auto">
            <a:xfrm>
              <a:off x="1360" y="8825"/>
              <a:ext cx="617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373" name="Line 2005"/>
            <p:cNvSpPr>
              <a:spLocks noChangeShapeType="1"/>
            </p:cNvSpPr>
            <p:nvPr/>
          </p:nvSpPr>
          <p:spPr bwMode="auto">
            <a:xfrm>
              <a:off x="1405" y="840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4" name="Line 2006"/>
            <p:cNvSpPr>
              <a:spLocks noChangeShapeType="1"/>
            </p:cNvSpPr>
            <p:nvPr/>
          </p:nvSpPr>
          <p:spPr bwMode="auto">
            <a:xfrm>
              <a:off x="1482" y="8393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5" name="Line 2007"/>
            <p:cNvSpPr>
              <a:spLocks noChangeShapeType="1"/>
            </p:cNvSpPr>
            <p:nvPr/>
          </p:nvSpPr>
          <p:spPr bwMode="auto">
            <a:xfrm>
              <a:off x="1568" y="8383"/>
              <a:ext cx="0" cy="44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6" name="Line 2008"/>
            <p:cNvSpPr>
              <a:spLocks noChangeShapeType="1"/>
            </p:cNvSpPr>
            <p:nvPr/>
          </p:nvSpPr>
          <p:spPr bwMode="auto">
            <a:xfrm>
              <a:off x="1647" y="839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7" name="Line 2009"/>
            <p:cNvSpPr>
              <a:spLocks noChangeShapeType="1"/>
            </p:cNvSpPr>
            <p:nvPr/>
          </p:nvSpPr>
          <p:spPr bwMode="auto">
            <a:xfrm>
              <a:off x="1796" y="8401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8" name="Line 2010"/>
            <p:cNvSpPr>
              <a:spLocks noChangeShapeType="1"/>
            </p:cNvSpPr>
            <p:nvPr/>
          </p:nvSpPr>
          <p:spPr bwMode="auto">
            <a:xfrm>
              <a:off x="1941" y="840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79" name="Line 2011"/>
            <p:cNvSpPr>
              <a:spLocks noChangeShapeType="1"/>
            </p:cNvSpPr>
            <p:nvPr/>
          </p:nvSpPr>
          <p:spPr bwMode="auto">
            <a:xfrm>
              <a:off x="1723" y="8401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0" name="Line 2012"/>
            <p:cNvSpPr>
              <a:spLocks noChangeShapeType="1"/>
            </p:cNvSpPr>
            <p:nvPr/>
          </p:nvSpPr>
          <p:spPr bwMode="auto">
            <a:xfrm>
              <a:off x="1872" y="8398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1" name="Line 2013"/>
            <p:cNvSpPr>
              <a:spLocks noChangeShapeType="1"/>
            </p:cNvSpPr>
            <p:nvPr/>
          </p:nvSpPr>
          <p:spPr bwMode="auto">
            <a:xfrm>
              <a:off x="1415" y="94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2" name="Line 2014"/>
            <p:cNvSpPr>
              <a:spLocks noChangeShapeType="1"/>
            </p:cNvSpPr>
            <p:nvPr/>
          </p:nvSpPr>
          <p:spPr bwMode="auto">
            <a:xfrm>
              <a:off x="1473" y="945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3" name="Line 2015"/>
            <p:cNvSpPr>
              <a:spLocks noChangeShapeType="1"/>
            </p:cNvSpPr>
            <p:nvPr/>
          </p:nvSpPr>
          <p:spPr bwMode="auto">
            <a:xfrm>
              <a:off x="1558" y="94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4" name="Line 2016"/>
            <p:cNvSpPr>
              <a:spLocks noChangeShapeType="1"/>
            </p:cNvSpPr>
            <p:nvPr/>
          </p:nvSpPr>
          <p:spPr bwMode="auto">
            <a:xfrm>
              <a:off x="1637" y="9459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5" name="Line 2017"/>
            <p:cNvSpPr>
              <a:spLocks noChangeShapeType="1"/>
            </p:cNvSpPr>
            <p:nvPr/>
          </p:nvSpPr>
          <p:spPr bwMode="auto">
            <a:xfrm>
              <a:off x="1787" y="945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6" name="Line 2018"/>
            <p:cNvSpPr>
              <a:spLocks noChangeShapeType="1"/>
            </p:cNvSpPr>
            <p:nvPr/>
          </p:nvSpPr>
          <p:spPr bwMode="auto">
            <a:xfrm>
              <a:off x="1932" y="945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7" name="Line 2019"/>
            <p:cNvSpPr>
              <a:spLocks noChangeShapeType="1"/>
            </p:cNvSpPr>
            <p:nvPr/>
          </p:nvSpPr>
          <p:spPr bwMode="auto">
            <a:xfrm>
              <a:off x="1712" y="94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8" name="Line 2020"/>
            <p:cNvSpPr>
              <a:spLocks noChangeShapeType="1"/>
            </p:cNvSpPr>
            <p:nvPr/>
          </p:nvSpPr>
          <p:spPr bwMode="auto">
            <a:xfrm>
              <a:off x="1861" y="9461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89" name="Rectangle 2021"/>
            <p:cNvSpPr>
              <a:spLocks noChangeArrowheads="1"/>
            </p:cNvSpPr>
            <p:nvPr/>
          </p:nvSpPr>
          <p:spPr bwMode="auto">
            <a:xfrm>
              <a:off x="2045" y="8834"/>
              <a:ext cx="615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390" name="Line 2022"/>
            <p:cNvSpPr>
              <a:spLocks noChangeShapeType="1"/>
            </p:cNvSpPr>
            <p:nvPr/>
          </p:nvSpPr>
          <p:spPr bwMode="auto">
            <a:xfrm>
              <a:off x="2088" y="839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1" name="Line 2023"/>
            <p:cNvSpPr>
              <a:spLocks noChangeShapeType="1"/>
            </p:cNvSpPr>
            <p:nvPr/>
          </p:nvSpPr>
          <p:spPr bwMode="auto">
            <a:xfrm flipH="1">
              <a:off x="2167" y="8385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2" name="Line 2024"/>
            <p:cNvSpPr>
              <a:spLocks noChangeShapeType="1"/>
            </p:cNvSpPr>
            <p:nvPr/>
          </p:nvSpPr>
          <p:spPr bwMode="auto">
            <a:xfrm>
              <a:off x="2251" y="8384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3" name="Line 2025"/>
            <p:cNvSpPr>
              <a:spLocks noChangeShapeType="1"/>
            </p:cNvSpPr>
            <p:nvPr/>
          </p:nvSpPr>
          <p:spPr bwMode="auto">
            <a:xfrm>
              <a:off x="2330" y="8358"/>
              <a:ext cx="0" cy="4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4" name="Line 2026"/>
            <p:cNvSpPr>
              <a:spLocks noChangeShapeType="1"/>
            </p:cNvSpPr>
            <p:nvPr/>
          </p:nvSpPr>
          <p:spPr bwMode="auto">
            <a:xfrm>
              <a:off x="2480" y="8381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5" name="Line 2027"/>
            <p:cNvSpPr>
              <a:spLocks noChangeShapeType="1"/>
            </p:cNvSpPr>
            <p:nvPr/>
          </p:nvSpPr>
          <p:spPr bwMode="auto">
            <a:xfrm>
              <a:off x="2626" y="839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6" name="Line 2028"/>
            <p:cNvSpPr>
              <a:spLocks noChangeShapeType="1"/>
            </p:cNvSpPr>
            <p:nvPr/>
          </p:nvSpPr>
          <p:spPr bwMode="auto">
            <a:xfrm>
              <a:off x="2406" y="8381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7" name="Line 2029"/>
            <p:cNvSpPr>
              <a:spLocks noChangeShapeType="1"/>
            </p:cNvSpPr>
            <p:nvPr/>
          </p:nvSpPr>
          <p:spPr bwMode="auto">
            <a:xfrm>
              <a:off x="2555" y="8358"/>
              <a:ext cx="0" cy="47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8" name="Line 2030"/>
            <p:cNvSpPr>
              <a:spLocks noChangeShapeType="1"/>
            </p:cNvSpPr>
            <p:nvPr/>
          </p:nvSpPr>
          <p:spPr bwMode="auto">
            <a:xfrm>
              <a:off x="2079" y="946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399" name="Line 2031"/>
            <p:cNvSpPr>
              <a:spLocks noChangeShapeType="1"/>
            </p:cNvSpPr>
            <p:nvPr/>
          </p:nvSpPr>
          <p:spPr bwMode="auto">
            <a:xfrm>
              <a:off x="2158" y="9464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0" name="Line 2032"/>
            <p:cNvSpPr>
              <a:spLocks noChangeShapeType="1"/>
            </p:cNvSpPr>
            <p:nvPr/>
          </p:nvSpPr>
          <p:spPr bwMode="auto">
            <a:xfrm>
              <a:off x="2242" y="946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1" name="Line 2033"/>
            <p:cNvSpPr>
              <a:spLocks noChangeShapeType="1"/>
            </p:cNvSpPr>
            <p:nvPr/>
          </p:nvSpPr>
          <p:spPr bwMode="auto">
            <a:xfrm>
              <a:off x="2321" y="9455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2" name="Line 2034"/>
            <p:cNvSpPr>
              <a:spLocks noChangeShapeType="1"/>
            </p:cNvSpPr>
            <p:nvPr/>
          </p:nvSpPr>
          <p:spPr bwMode="auto">
            <a:xfrm>
              <a:off x="2470" y="946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3" name="Line 2035"/>
            <p:cNvSpPr>
              <a:spLocks noChangeShapeType="1"/>
            </p:cNvSpPr>
            <p:nvPr/>
          </p:nvSpPr>
          <p:spPr bwMode="auto">
            <a:xfrm>
              <a:off x="2617" y="946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4" name="Line 2036"/>
            <p:cNvSpPr>
              <a:spLocks noChangeShapeType="1"/>
            </p:cNvSpPr>
            <p:nvPr/>
          </p:nvSpPr>
          <p:spPr bwMode="auto">
            <a:xfrm>
              <a:off x="2395" y="946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5" name="Line 2037"/>
            <p:cNvSpPr>
              <a:spLocks noChangeShapeType="1"/>
            </p:cNvSpPr>
            <p:nvPr/>
          </p:nvSpPr>
          <p:spPr bwMode="auto">
            <a:xfrm>
              <a:off x="2545" y="945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6" name="Rectangle 2038"/>
            <p:cNvSpPr>
              <a:spLocks noChangeArrowheads="1"/>
            </p:cNvSpPr>
            <p:nvPr/>
          </p:nvSpPr>
          <p:spPr bwMode="auto">
            <a:xfrm>
              <a:off x="2710" y="8815"/>
              <a:ext cx="614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407" name="Line 2039"/>
            <p:cNvSpPr>
              <a:spLocks noChangeShapeType="1"/>
            </p:cNvSpPr>
            <p:nvPr/>
          </p:nvSpPr>
          <p:spPr bwMode="auto">
            <a:xfrm>
              <a:off x="2754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8" name="Line 2040"/>
            <p:cNvSpPr>
              <a:spLocks noChangeShapeType="1"/>
            </p:cNvSpPr>
            <p:nvPr/>
          </p:nvSpPr>
          <p:spPr bwMode="auto">
            <a:xfrm>
              <a:off x="2831" y="8383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09" name="Line 2041"/>
            <p:cNvSpPr>
              <a:spLocks noChangeShapeType="1"/>
            </p:cNvSpPr>
            <p:nvPr/>
          </p:nvSpPr>
          <p:spPr bwMode="auto">
            <a:xfrm>
              <a:off x="2916" y="839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0" name="Line 2042"/>
            <p:cNvSpPr>
              <a:spLocks noChangeShapeType="1"/>
            </p:cNvSpPr>
            <p:nvPr/>
          </p:nvSpPr>
          <p:spPr bwMode="auto">
            <a:xfrm>
              <a:off x="2994" y="838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1" name="Line 2043"/>
            <p:cNvSpPr>
              <a:spLocks noChangeShapeType="1"/>
            </p:cNvSpPr>
            <p:nvPr/>
          </p:nvSpPr>
          <p:spPr bwMode="auto">
            <a:xfrm>
              <a:off x="3146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2" name="Line 2044"/>
            <p:cNvSpPr>
              <a:spLocks noChangeShapeType="1"/>
            </p:cNvSpPr>
            <p:nvPr/>
          </p:nvSpPr>
          <p:spPr bwMode="auto">
            <a:xfrm>
              <a:off x="3290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3" name="Line 2045"/>
            <p:cNvSpPr>
              <a:spLocks noChangeShapeType="1"/>
            </p:cNvSpPr>
            <p:nvPr/>
          </p:nvSpPr>
          <p:spPr bwMode="auto">
            <a:xfrm>
              <a:off x="3070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4" name="Line 2046"/>
            <p:cNvSpPr>
              <a:spLocks noChangeShapeType="1"/>
            </p:cNvSpPr>
            <p:nvPr/>
          </p:nvSpPr>
          <p:spPr bwMode="auto">
            <a:xfrm>
              <a:off x="3219" y="8389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5" name="Line 2047"/>
            <p:cNvSpPr>
              <a:spLocks noChangeShapeType="1"/>
            </p:cNvSpPr>
            <p:nvPr/>
          </p:nvSpPr>
          <p:spPr bwMode="auto">
            <a:xfrm>
              <a:off x="2743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6" name="Line 2048"/>
            <p:cNvSpPr>
              <a:spLocks noChangeShapeType="1"/>
            </p:cNvSpPr>
            <p:nvPr/>
          </p:nvSpPr>
          <p:spPr bwMode="auto">
            <a:xfrm>
              <a:off x="2822" y="944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7" name="Line 2049"/>
            <p:cNvSpPr>
              <a:spLocks noChangeShapeType="1"/>
            </p:cNvSpPr>
            <p:nvPr/>
          </p:nvSpPr>
          <p:spPr bwMode="auto">
            <a:xfrm>
              <a:off x="2907" y="9455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8" name="Line 2050"/>
            <p:cNvSpPr>
              <a:spLocks noChangeShapeType="1"/>
            </p:cNvSpPr>
            <p:nvPr/>
          </p:nvSpPr>
          <p:spPr bwMode="auto">
            <a:xfrm>
              <a:off x="2985" y="944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19" name="Line 2051"/>
            <p:cNvSpPr>
              <a:spLocks noChangeShapeType="1"/>
            </p:cNvSpPr>
            <p:nvPr/>
          </p:nvSpPr>
          <p:spPr bwMode="auto">
            <a:xfrm>
              <a:off x="3134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0" name="Line 2052"/>
            <p:cNvSpPr>
              <a:spLocks noChangeShapeType="1"/>
            </p:cNvSpPr>
            <p:nvPr/>
          </p:nvSpPr>
          <p:spPr bwMode="auto">
            <a:xfrm>
              <a:off x="3280" y="9455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1" name="Line 2053"/>
            <p:cNvSpPr>
              <a:spLocks noChangeShapeType="1"/>
            </p:cNvSpPr>
            <p:nvPr/>
          </p:nvSpPr>
          <p:spPr bwMode="auto">
            <a:xfrm>
              <a:off x="3061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2" name="Line 2054"/>
            <p:cNvSpPr>
              <a:spLocks noChangeShapeType="1"/>
            </p:cNvSpPr>
            <p:nvPr/>
          </p:nvSpPr>
          <p:spPr bwMode="auto">
            <a:xfrm>
              <a:off x="3210" y="9452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3" name="Rectangle 2055"/>
            <p:cNvSpPr>
              <a:spLocks noChangeArrowheads="1"/>
            </p:cNvSpPr>
            <p:nvPr/>
          </p:nvSpPr>
          <p:spPr bwMode="auto">
            <a:xfrm>
              <a:off x="3391" y="8823"/>
              <a:ext cx="616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424" name="Line 2056"/>
            <p:cNvSpPr>
              <a:spLocks noChangeShapeType="1"/>
            </p:cNvSpPr>
            <p:nvPr/>
          </p:nvSpPr>
          <p:spPr bwMode="auto">
            <a:xfrm>
              <a:off x="3435" y="840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5" name="Line 2057"/>
            <p:cNvSpPr>
              <a:spLocks noChangeShapeType="1"/>
            </p:cNvSpPr>
            <p:nvPr/>
          </p:nvSpPr>
          <p:spPr bwMode="auto">
            <a:xfrm>
              <a:off x="3513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6" name="Line 2058"/>
            <p:cNvSpPr>
              <a:spLocks noChangeShapeType="1"/>
            </p:cNvSpPr>
            <p:nvPr/>
          </p:nvSpPr>
          <p:spPr bwMode="auto">
            <a:xfrm>
              <a:off x="3597" y="840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7" name="Line 2059"/>
            <p:cNvSpPr>
              <a:spLocks noChangeShapeType="1"/>
            </p:cNvSpPr>
            <p:nvPr/>
          </p:nvSpPr>
          <p:spPr bwMode="auto">
            <a:xfrm>
              <a:off x="3677" y="839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8" name="Line 2060"/>
            <p:cNvSpPr>
              <a:spLocks noChangeShapeType="1"/>
            </p:cNvSpPr>
            <p:nvPr/>
          </p:nvSpPr>
          <p:spPr bwMode="auto">
            <a:xfrm>
              <a:off x="3827" y="840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29" name="Line 2061"/>
            <p:cNvSpPr>
              <a:spLocks noChangeShapeType="1"/>
            </p:cNvSpPr>
            <p:nvPr/>
          </p:nvSpPr>
          <p:spPr bwMode="auto">
            <a:xfrm>
              <a:off x="3972" y="840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0" name="Line 2062"/>
            <p:cNvSpPr>
              <a:spLocks noChangeShapeType="1"/>
            </p:cNvSpPr>
            <p:nvPr/>
          </p:nvSpPr>
          <p:spPr bwMode="auto">
            <a:xfrm>
              <a:off x="3752" y="840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1" name="Line 2063"/>
            <p:cNvSpPr>
              <a:spLocks noChangeShapeType="1"/>
            </p:cNvSpPr>
            <p:nvPr/>
          </p:nvSpPr>
          <p:spPr bwMode="auto">
            <a:xfrm>
              <a:off x="3901" y="839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2" name="Line 2064"/>
            <p:cNvSpPr>
              <a:spLocks noChangeShapeType="1"/>
            </p:cNvSpPr>
            <p:nvPr/>
          </p:nvSpPr>
          <p:spPr bwMode="auto">
            <a:xfrm>
              <a:off x="3425" y="9463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3" name="Line 2065"/>
            <p:cNvSpPr>
              <a:spLocks noChangeShapeType="1"/>
            </p:cNvSpPr>
            <p:nvPr/>
          </p:nvSpPr>
          <p:spPr bwMode="auto">
            <a:xfrm>
              <a:off x="3504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4" name="Line 2066"/>
            <p:cNvSpPr>
              <a:spLocks noChangeShapeType="1"/>
            </p:cNvSpPr>
            <p:nvPr/>
          </p:nvSpPr>
          <p:spPr bwMode="auto">
            <a:xfrm>
              <a:off x="3587" y="9463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5" name="Line 2067"/>
            <p:cNvSpPr>
              <a:spLocks noChangeShapeType="1"/>
            </p:cNvSpPr>
            <p:nvPr/>
          </p:nvSpPr>
          <p:spPr bwMode="auto">
            <a:xfrm>
              <a:off x="3668" y="9457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6" name="Line 2068"/>
            <p:cNvSpPr>
              <a:spLocks noChangeShapeType="1"/>
            </p:cNvSpPr>
            <p:nvPr/>
          </p:nvSpPr>
          <p:spPr bwMode="auto">
            <a:xfrm>
              <a:off x="3816" y="9463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7" name="Line 2069"/>
            <p:cNvSpPr>
              <a:spLocks noChangeShapeType="1"/>
            </p:cNvSpPr>
            <p:nvPr/>
          </p:nvSpPr>
          <p:spPr bwMode="auto">
            <a:xfrm>
              <a:off x="3962" y="9463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8" name="Line 2070"/>
            <p:cNvSpPr>
              <a:spLocks noChangeShapeType="1"/>
            </p:cNvSpPr>
            <p:nvPr/>
          </p:nvSpPr>
          <p:spPr bwMode="auto">
            <a:xfrm>
              <a:off x="3742" y="9463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39" name="Line 2071"/>
            <p:cNvSpPr>
              <a:spLocks noChangeShapeType="1"/>
            </p:cNvSpPr>
            <p:nvPr/>
          </p:nvSpPr>
          <p:spPr bwMode="auto">
            <a:xfrm>
              <a:off x="3891" y="946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0" name="Rectangle 2072"/>
            <p:cNvSpPr>
              <a:spLocks noChangeArrowheads="1"/>
            </p:cNvSpPr>
            <p:nvPr/>
          </p:nvSpPr>
          <p:spPr bwMode="auto">
            <a:xfrm>
              <a:off x="4055" y="8823"/>
              <a:ext cx="615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441" name="Line 2073"/>
            <p:cNvSpPr>
              <a:spLocks noChangeShapeType="1"/>
            </p:cNvSpPr>
            <p:nvPr/>
          </p:nvSpPr>
          <p:spPr bwMode="auto">
            <a:xfrm>
              <a:off x="4098" y="840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2" name="Line 2074"/>
            <p:cNvSpPr>
              <a:spLocks noChangeShapeType="1"/>
            </p:cNvSpPr>
            <p:nvPr/>
          </p:nvSpPr>
          <p:spPr bwMode="auto">
            <a:xfrm>
              <a:off x="4176" y="839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3" name="Line 2075"/>
            <p:cNvSpPr>
              <a:spLocks noChangeShapeType="1"/>
            </p:cNvSpPr>
            <p:nvPr/>
          </p:nvSpPr>
          <p:spPr bwMode="auto">
            <a:xfrm>
              <a:off x="4261" y="840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4" name="Line 2076"/>
            <p:cNvSpPr>
              <a:spLocks noChangeShapeType="1"/>
            </p:cNvSpPr>
            <p:nvPr/>
          </p:nvSpPr>
          <p:spPr bwMode="auto">
            <a:xfrm>
              <a:off x="4340" y="8400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5" name="Line 2077"/>
            <p:cNvSpPr>
              <a:spLocks noChangeShapeType="1"/>
            </p:cNvSpPr>
            <p:nvPr/>
          </p:nvSpPr>
          <p:spPr bwMode="auto">
            <a:xfrm>
              <a:off x="4490" y="840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6" name="Line 2078"/>
            <p:cNvSpPr>
              <a:spLocks noChangeShapeType="1"/>
            </p:cNvSpPr>
            <p:nvPr/>
          </p:nvSpPr>
          <p:spPr bwMode="auto">
            <a:xfrm>
              <a:off x="4635" y="840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7" name="Line 2079"/>
            <p:cNvSpPr>
              <a:spLocks noChangeShapeType="1"/>
            </p:cNvSpPr>
            <p:nvPr/>
          </p:nvSpPr>
          <p:spPr bwMode="auto">
            <a:xfrm>
              <a:off x="4415" y="840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8" name="Line 2080"/>
            <p:cNvSpPr>
              <a:spLocks noChangeShapeType="1"/>
            </p:cNvSpPr>
            <p:nvPr/>
          </p:nvSpPr>
          <p:spPr bwMode="auto">
            <a:xfrm>
              <a:off x="4564" y="840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49" name="Line 2081"/>
            <p:cNvSpPr>
              <a:spLocks noChangeShapeType="1"/>
            </p:cNvSpPr>
            <p:nvPr/>
          </p:nvSpPr>
          <p:spPr bwMode="auto">
            <a:xfrm>
              <a:off x="4088" y="9471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0" name="Line 2082"/>
            <p:cNvSpPr>
              <a:spLocks noChangeShapeType="1"/>
            </p:cNvSpPr>
            <p:nvPr/>
          </p:nvSpPr>
          <p:spPr bwMode="auto">
            <a:xfrm>
              <a:off x="4166" y="9475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1" name="Line 2083"/>
            <p:cNvSpPr>
              <a:spLocks noChangeShapeType="1"/>
            </p:cNvSpPr>
            <p:nvPr/>
          </p:nvSpPr>
          <p:spPr bwMode="auto">
            <a:xfrm>
              <a:off x="4251" y="9457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2" name="Line 2084"/>
            <p:cNvSpPr>
              <a:spLocks noChangeShapeType="1"/>
            </p:cNvSpPr>
            <p:nvPr/>
          </p:nvSpPr>
          <p:spPr bwMode="auto">
            <a:xfrm>
              <a:off x="4330" y="9452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3" name="Line 2085"/>
            <p:cNvSpPr>
              <a:spLocks noChangeShapeType="1"/>
            </p:cNvSpPr>
            <p:nvPr/>
          </p:nvSpPr>
          <p:spPr bwMode="auto">
            <a:xfrm>
              <a:off x="4480" y="9457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4" name="Line 2086"/>
            <p:cNvSpPr>
              <a:spLocks noChangeShapeType="1"/>
            </p:cNvSpPr>
            <p:nvPr/>
          </p:nvSpPr>
          <p:spPr bwMode="auto">
            <a:xfrm>
              <a:off x="4625" y="9445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5" name="Line 2087"/>
            <p:cNvSpPr>
              <a:spLocks noChangeShapeType="1"/>
            </p:cNvSpPr>
            <p:nvPr/>
          </p:nvSpPr>
          <p:spPr bwMode="auto">
            <a:xfrm>
              <a:off x="4406" y="9445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6" name="Line 2088"/>
            <p:cNvSpPr>
              <a:spLocks noChangeShapeType="1"/>
            </p:cNvSpPr>
            <p:nvPr/>
          </p:nvSpPr>
          <p:spPr bwMode="auto">
            <a:xfrm>
              <a:off x="4555" y="9456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7" name="Rectangle 2089"/>
            <p:cNvSpPr>
              <a:spLocks noChangeArrowheads="1"/>
            </p:cNvSpPr>
            <p:nvPr/>
          </p:nvSpPr>
          <p:spPr bwMode="auto">
            <a:xfrm>
              <a:off x="5416" y="8790"/>
              <a:ext cx="616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8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458" name="Line 2090"/>
            <p:cNvSpPr>
              <a:spLocks noChangeShapeType="1"/>
            </p:cNvSpPr>
            <p:nvPr/>
          </p:nvSpPr>
          <p:spPr bwMode="auto">
            <a:xfrm>
              <a:off x="5460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59" name="Line 2091"/>
            <p:cNvSpPr>
              <a:spLocks noChangeShapeType="1"/>
            </p:cNvSpPr>
            <p:nvPr/>
          </p:nvSpPr>
          <p:spPr bwMode="auto">
            <a:xfrm>
              <a:off x="5538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0" name="Line 2092"/>
            <p:cNvSpPr>
              <a:spLocks noChangeShapeType="1"/>
            </p:cNvSpPr>
            <p:nvPr/>
          </p:nvSpPr>
          <p:spPr bwMode="auto">
            <a:xfrm>
              <a:off x="5622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1" name="Line 2093"/>
            <p:cNvSpPr>
              <a:spLocks noChangeShapeType="1"/>
            </p:cNvSpPr>
            <p:nvPr/>
          </p:nvSpPr>
          <p:spPr bwMode="auto">
            <a:xfrm>
              <a:off x="5701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2" name="Line 2094"/>
            <p:cNvSpPr>
              <a:spLocks noChangeShapeType="1"/>
            </p:cNvSpPr>
            <p:nvPr/>
          </p:nvSpPr>
          <p:spPr bwMode="auto">
            <a:xfrm>
              <a:off x="585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3" name="Line 2095"/>
            <p:cNvSpPr>
              <a:spLocks noChangeShapeType="1"/>
            </p:cNvSpPr>
            <p:nvPr/>
          </p:nvSpPr>
          <p:spPr bwMode="auto">
            <a:xfrm>
              <a:off x="5997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4" name="Line 2096"/>
            <p:cNvSpPr>
              <a:spLocks noChangeShapeType="1"/>
            </p:cNvSpPr>
            <p:nvPr/>
          </p:nvSpPr>
          <p:spPr bwMode="auto">
            <a:xfrm>
              <a:off x="5777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5" name="Line 2097"/>
            <p:cNvSpPr>
              <a:spLocks noChangeShapeType="1"/>
            </p:cNvSpPr>
            <p:nvPr/>
          </p:nvSpPr>
          <p:spPr bwMode="auto">
            <a:xfrm>
              <a:off x="5926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6" name="Line 2098"/>
            <p:cNvSpPr>
              <a:spLocks noChangeShapeType="1"/>
            </p:cNvSpPr>
            <p:nvPr/>
          </p:nvSpPr>
          <p:spPr bwMode="auto">
            <a:xfrm>
              <a:off x="5449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7" name="Line 2099"/>
            <p:cNvSpPr>
              <a:spLocks noChangeShapeType="1"/>
            </p:cNvSpPr>
            <p:nvPr/>
          </p:nvSpPr>
          <p:spPr bwMode="auto">
            <a:xfrm>
              <a:off x="5528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8" name="Line 2100"/>
            <p:cNvSpPr>
              <a:spLocks noChangeShapeType="1"/>
            </p:cNvSpPr>
            <p:nvPr/>
          </p:nvSpPr>
          <p:spPr bwMode="auto">
            <a:xfrm>
              <a:off x="561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69" name="Line 2101"/>
            <p:cNvSpPr>
              <a:spLocks noChangeShapeType="1"/>
            </p:cNvSpPr>
            <p:nvPr/>
          </p:nvSpPr>
          <p:spPr bwMode="auto">
            <a:xfrm>
              <a:off x="5691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0" name="Line 2102"/>
            <p:cNvSpPr>
              <a:spLocks noChangeShapeType="1"/>
            </p:cNvSpPr>
            <p:nvPr/>
          </p:nvSpPr>
          <p:spPr bwMode="auto">
            <a:xfrm>
              <a:off x="584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1" name="Line 2103"/>
            <p:cNvSpPr>
              <a:spLocks noChangeShapeType="1"/>
            </p:cNvSpPr>
            <p:nvPr/>
          </p:nvSpPr>
          <p:spPr bwMode="auto">
            <a:xfrm>
              <a:off x="5987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2" name="Line 2104"/>
            <p:cNvSpPr>
              <a:spLocks noChangeShapeType="1"/>
            </p:cNvSpPr>
            <p:nvPr/>
          </p:nvSpPr>
          <p:spPr bwMode="auto">
            <a:xfrm>
              <a:off x="5767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3" name="Line 2105"/>
            <p:cNvSpPr>
              <a:spLocks noChangeShapeType="1"/>
            </p:cNvSpPr>
            <p:nvPr/>
          </p:nvSpPr>
          <p:spPr bwMode="auto">
            <a:xfrm>
              <a:off x="5916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4" name="Rectangle 2106"/>
            <p:cNvSpPr>
              <a:spLocks noChangeArrowheads="1"/>
            </p:cNvSpPr>
            <p:nvPr/>
          </p:nvSpPr>
          <p:spPr bwMode="auto">
            <a:xfrm>
              <a:off x="10829" y="8790"/>
              <a:ext cx="616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16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475" name="Line 2107"/>
            <p:cNvSpPr>
              <a:spLocks noChangeShapeType="1"/>
            </p:cNvSpPr>
            <p:nvPr/>
          </p:nvSpPr>
          <p:spPr bwMode="auto">
            <a:xfrm>
              <a:off x="10872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6" name="Line 2108"/>
            <p:cNvSpPr>
              <a:spLocks noChangeShapeType="1"/>
            </p:cNvSpPr>
            <p:nvPr/>
          </p:nvSpPr>
          <p:spPr bwMode="auto">
            <a:xfrm>
              <a:off x="10952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7" name="Line 2109"/>
            <p:cNvSpPr>
              <a:spLocks noChangeShapeType="1"/>
            </p:cNvSpPr>
            <p:nvPr/>
          </p:nvSpPr>
          <p:spPr bwMode="auto">
            <a:xfrm>
              <a:off x="11035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8" name="Line 2110"/>
            <p:cNvSpPr>
              <a:spLocks noChangeShapeType="1"/>
            </p:cNvSpPr>
            <p:nvPr/>
          </p:nvSpPr>
          <p:spPr bwMode="auto">
            <a:xfrm>
              <a:off x="11114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79" name="Line 2111"/>
            <p:cNvSpPr>
              <a:spLocks noChangeShapeType="1"/>
            </p:cNvSpPr>
            <p:nvPr/>
          </p:nvSpPr>
          <p:spPr bwMode="auto">
            <a:xfrm>
              <a:off x="11264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0" name="Line 2112"/>
            <p:cNvSpPr>
              <a:spLocks noChangeShapeType="1"/>
            </p:cNvSpPr>
            <p:nvPr/>
          </p:nvSpPr>
          <p:spPr bwMode="auto">
            <a:xfrm>
              <a:off x="11410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1" name="Line 2113"/>
            <p:cNvSpPr>
              <a:spLocks noChangeShapeType="1"/>
            </p:cNvSpPr>
            <p:nvPr/>
          </p:nvSpPr>
          <p:spPr bwMode="auto">
            <a:xfrm>
              <a:off x="11190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2" name="Line 2114"/>
            <p:cNvSpPr>
              <a:spLocks noChangeShapeType="1"/>
            </p:cNvSpPr>
            <p:nvPr/>
          </p:nvSpPr>
          <p:spPr bwMode="auto">
            <a:xfrm>
              <a:off x="11340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3" name="Line 2115"/>
            <p:cNvSpPr>
              <a:spLocks noChangeShapeType="1"/>
            </p:cNvSpPr>
            <p:nvPr/>
          </p:nvSpPr>
          <p:spPr bwMode="auto">
            <a:xfrm>
              <a:off x="1086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4" name="Line 2116"/>
            <p:cNvSpPr>
              <a:spLocks noChangeShapeType="1"/>
            </p:cNvSpPr>
            <p:nvPr/>
          </p:nvSpPr>
          <p:spPr bwMode="auto">
            <a:xfrm>
              <a:off x="10941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5" name="Line 2117"/>
            <p:cNvSpPr>
              <a:spLocks noChangeShapeType="1"/>
            </p:cNvSpPr>
            <p:nvPr/>
          </p:nvSpPr>
          <p:spPr bwMode="auto">
            <a:xfrm>
              <a:off x="1102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6" name="Line 2118"/>
            <p:cNvSpPr>
              <a:spLocks noChangeShapeType="1"/>
            </p:cNvSpPr>
            <p:nvPr/>
          </p:nvSpPr>
          <p:spPr bwMode="auto">
            <a:xfrm>
              <a:off x="11105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7" name="Line 2119"/>
            <p:cNvSpPr>
              <a:spLocks noChangeShapeType="1"/>
            </p:cNvSpPr>
            <p:nvPr/>
          </p:nvSpPr>
          <p:spPr bwMode="auto">
            <a:xfrm>
              <a:off x="11255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8" name="Line 2120"/>
            <p:cNvSpPr>
              <a:spLocks noChangeShapeType="1"/>
            </p:cNvSpPr>
            <p:nvPr/>
          </p:nvSpPr>
          <p:spPr bwMode="auto">
            <a:xfrm>
              <a:off x="11400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89" name="Line 2121"/>
            <p:cNvSpPr>
              <a:spLocks noChangeShapeType="1"/>
            </p:cNvSpPr>
            <p:nvPr/>
          </p:nvSpPr>
          <p:spPr bwMode="auto">
            <a:xfrm>
              <a:off x="11179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0" name="Line 2122"/>
            <p:cNvSpPr>
              <a:spLocks noChangeShapeType="1"/>
            </p:cNvSpPr>
            <p:nvPr/>
          </p:nvSpPr>
          <p:spPr bwMode="auto">
            <a:xfrm>
              <a:off x="11328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1" name="Rectangle 2123"/>
            <p:cNvSpPr>
              <a:spLocks noChangeArrowheads="1"/>
            </p:cNvSpPr>
            <p:nvPr/>
          </p:nvSpPr>
          <p:spPr bwMode="auto">
            <a:xfrm>
              <a:off x="4739" y="8815"/>
              <a:ext cx="615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492" name="Line 2124"/>
            <p:cNvSpPr>
              <a:spLocks noChangeShapeType="1"/>
            </p:cNvSpPr>
            <p:nvPr/>
          </p:nvSpPr>
          <p:spPr bwMode="auto">
            <a:xfrm>
              <a:off x="4783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3" name="Line 2125"/>
            <p:cNvSpPr>
              <a:spLocks noChangeShapeType="1"/>
            </p:cNvSpPr>
            <p:nvPr/>
          </p:nvSpPr>
          <p:spPr bwMode="auto">
            <a:xfrm>
              <a:off x="4861" y="8383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4" name="Line 2126"/>
            <p:cNvSpPr>
              <a:spLocks noChangeShapeType="1"/>
            </p:cNvSpPr>
            <p:nvPr/>
          </p:nvSpPr>
          <p:spPr bwMode="auto">
            <a:xfrm>
              <a:off x="4945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5" name="Line 2127"/>
            <p:cNvSpPr>
              <a:spLocks noChangeShapeType="1"/>
            </p:cNvSpPr>
            <p:nvPr/>
          </p:nvSpPr>
          <p:spPr bwMode="auto">
            <a:xfrm>
              <a:off x="5024" y="838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6" name="Line 2128"/>
            <p:cNvSpPr>
              <a:spLocks noChangeShapeType="1"/>
            </p:cNvSpPr>
            <p:nvPr/>
          </p:nvSpPr>
          <p:spPr bwMode="auto">
            <a:xfrm>
              <a:off x="5175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7" name="Line 2129"/>
            <p:cNvSpPr>
              <a:spLocks noChangeShapeType="1"/>
            </p:cNvSpPr>
            <p:nvPr/>
          </p:nvSpPr>
          <p:spPr bwMode="auto">
            <a:xfrm>
              <a:off x="5319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8" name="Line 2130"/>
            <p:cNvSpPr>
              <a:spLocks noChangeShapeType="1"/>
            </p:cNvSpPr>
            <p:nvPr/>
          </p:nvSpPr>
          <p:spPr bwMode="auto">
            <a:xfrm>
              <a:off x="5098" y="839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499" name="Line 2131"/>
            <p:cNvSpPr>
              <a:spLocks noChangeShapeType="1"/>
            </p:cNvSpPr>
            <p:nvPr/>
          </p:nvSpPr>
          <p:spPr bwMode="auto">
            <a:xfrm>
              <a:off x="5248" y="8389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0" name="Line 2132"/>
            <p:cNvSpPr>
              <a:spLocks noChangeShapeType="1"/>
            </p:cNvSpPr>
            <p:nvPr/>
          </p:nvSpPr>
          <p:spPr bwMode="auto">
            <a:xfrm>
              <a:off x="4771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1" name="Line 2133"/>
            <p:cNvSpPr>
              <a:spLocks noChangeShapeType="1"/>
            </p:cNvSpPr>
            <p:nvPr/>
          </p:nvSpPr>
          <p:spPr bwMode="auto">
            <a:xfrm>
              <a:off x="4851" y="944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2" name="Line 2134"/>
            <p:cNvSpPr>
              <a:spLocks noChangeShapeType="1"/>
            </p:cNvSpPr>
            <p:nvPr/>
          </p:nvSpPr>
          <p:spPr bwMode="auto">
            <a:xfrm>
              <a:off x="4935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3" name="Line 2135"/>
            <p:cNvSpPr>
              <a:spLocks noChangeShapeType="1"/>
            </p:cNvSpPr>
            <p:nvPr/>
          </p:nvSpPr>
          <p:spPr bwMode="auto">
            <a:xfrm>
              <a:off x="5014" y="944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4" name="Line 2136"/>
            <p:cNvSpPr>
              <a:spLocks noChangeShapeType="1"/>
            </p:cNvSpPr>
            <p:nvPr/>
          </p:nvSpPr>
          <p:spPr bwMode="auto">
            <a:xfrm>
              <a:off x="5163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5" name="Line 2137"/>
            <p:cNvSpPr>
              <a:spLocks noChangeShapeType="1"/>
            </p:cNvSpPr>
            <p:nvPr/>
          </p:nvSpPr>
          <p:spPr bwMode="auto">
            <a:xfrm>
              <a:off x="5310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6" name="Line 2138"/>
            <p:cNvSpPr>
              <a:spLocks noChangeShapeType="1"/>
            </p:cNvSpPr>
            <p:nvPr/>
          </p:nvSpPr>
          <p:spPr bwMode="auto">
            <a:xfrm>
              <a:off x="5089" y="9455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7" name="Line 2139"/>
            <p:cNvSpPr>
              <a:spLocks noChangeShapeType="1"/>
            </p:cNvSpPr>
            <p:nvPr/>
          </p:nvSpPr>
          <p:spPr bwMode="auto">
            <a:xfrm>
              <a:off x="5238" y="945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08" name="Rectangle 2140"/>
            <p:cNvSpPr>
              <a:spLocks noChangeArrowheads="1"/>
            </p:cNvSpPr>
            <p:nvPr/>
          </p:nvSpPr>
          <p:spPr bwMode="auto">
            <a:xfrm>
              <a:off x="10166" y="8790"/>
              <a:ext cx="615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509" name="Line 2141"/>
            <p:cNvSpPr>
              <a:spLocks noChangeShapeType="1"/>
            </p:cNvSpPr>
            <p:nvPr/>
          </p:nvSpPr>
          <p:spPr bwMode="auto">
            <a:xfrm>
              <a:off x="10209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0" name="Line 2142"/>
            <p:cNvSpPr>
              <a:spLocks noChangeShapeType="1"/>
            </p:cNvSpPr>
            <p:nvPr/>
          </p:nvSpPr>
          <p:spPr bwMode="auto">
            <a:xfrm>
              <a:off x="10287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1" name="Line 2143"/>
            <p:cNvSpPr>
              <a:spLocks noChangeShapeType="1"/>
            </p:cNvSpPr>
            <p:nvPr/>
          </p:nvSpPr>
          <p:spPr bwMode="auto">
            <a:xfrm>
              <a:off x="10372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2" name="Line 2144"/>
            <p:cNvSpPr>
              <a:spLocks noChangeShapeType="1"/>
            </p:cNvSpPr>
            <p:nvPr/>
          </p:nvSpPr>
          <p:spPr bwMode="auto">
            <a:xfrm>
              <a:off x="10450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3" name="Line 2145"/>
            <p:cNvSpPr>
              <a:spLocks noChangeShapeType="1"/>
            </p:cNvSpPr>
            <p:nvPr/>
          </p:nvSpPr>
          <p:spPr bwMode="auto">
            <a:xfrm>
              <a:off x="10600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4" name="Line 2146"/>
            <p:cNvSpPr>
              <a:spLocks noChangeShapeType="1"/>
            </p:cNvSpPr>
            <p:nvPr/>
          </p:nvSpPr>
          <p:spPr bwMode="auto">
            <a:xfrm>
              <a:off x="1074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5" name="Line 2147"/>
            <p:cNvSpPr>
              <a:spLocks noChangeShapeType="1"/>
            </p:cNvSpPr>
            <p:nvPr/>
          </p:nvSpPr>
          <p:spPr bwMode="auto">
            <a:xfrm>
              <a:off x="1052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6" name="Line 2148"/>
            <p:cNvSpPr>
              <a:spLocks noChangeShapeType="1"/>
            </p:cNvSpPr>
            <p:nvPr/>
          </p:nvSpPr>
          <p:spPr bwMode="auto">
            <a:xfrm>
              <a:off x="10675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7" name="Line 2149"/>
            <p:cNvSpPr>
              <a:spLocks noChangeShapeType="1"/>
            </p:cNvSpPr>
            <p:nvPr/>
          </p:nvSpPr>
          <p:spPr bwMode="auto">
            <a:xfrm>
              <a:off x="10198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8" name="Line 2150"/>
            <p:cNvSpPr>
              <a:spLocks noChangeShapeType="1"/>
            </p:cNvSpPr>
            <p:nvPr/>
          </p:nvSpPr>
          <p:spPr bwMode="auto">
            <a:xfrm>
              <a:off x="10277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19" name="Line 2151"/>
            <p:cNvSpPr>
              <a:spLocks noChangeShapeType="1"/>
            </p:cNvSpPr>
            <p:nvPr/>
          </p:nvSpPr>
          <p:spPr bwMode="auto">
            <a:xfrm>
              <a:off x="1036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0" name="Line 2152"/>
            <p:cNvSpPr>
              <a:spLocks noChangeShapeType="1"/>
            </p:cNvSpPr>
            <p:nvPr/>
          </p:nvSpPr>
          <p:spPr bwMode="auto">
            <a:xfrm>
              <a:off x="10441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1" name="Line 2153"/>
            <p:cNvSpPr>
              <a:spLocks noChangeShapeType="1"/>
            </p:cNvSpPr>
            <p:nvPr/>
          </p:nvSpPr>
          <p:spPr bwMode="auto">
            <a:xfrm>
              <a:off x="1059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2" name="Line 2154"/>
            <p:cNvSpPr>
              <a:spLocks noChangeShapeType="1"/>
            </p:cNvSpPr>
            <p:nvPr/>
          </p:nvSpPr>
          <p:spPr bwMode="auto">
            <a:xfrm>
              <a:off x="1073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3" name="Line 2155"/>
            <p:cNvSpPr>
              <a:spLocks noChangeShapeType="1"/>
            </p:cNvSpPr>
            <p:nvPr/>
          </p:nvSpPr>
          <p:spPr bwMode="auto">
            <a:xfrm>
              <a:off x="1051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4" name="Line 2156"/>
            <p:cNvSpPr>
              <a:spLocks noChangeShapeType="1"/>
            </p:cNvSpPr>
            <p:nvPr/>
          </p:nvSpPr>
          <p:spPr bwMode="auto">
            <a:xfrm>
              <a:off x="10664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5" name="Rectangle 2157"/>
            <p:cNvSpPr>
              <a:spLocks noChangeArrowheads="1"/>
            </p:cNvSpPr>
            <p:nvPr/>
          </p:nvSpPr>
          <p:spPr bwMode="auto">
            <a:xfrm>
              <a:off x="9495" y="8790"/>
              <a:ext cx="615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14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526" name="Line 2158"/>
            <p:cNvSpPr>
              <a:spLocks noChangeShapeType="1"/>
            </p:cNvSpPr>
            <p:nvPr/>
          </p:nvSpPr>
          <p:spPr bwMode="auto">
            <a:xfrm>
              <a:off x="9538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7" name="Line 2159"/>
            <p:cNvSpPr>
              <a:spLocks noChangeShapeType="1"/>
            </p:cNvSpPr>
            <p:nvPr/>
          </p:nvSpPr>
          <p:spPr bwMode="auto">
            <a:xfrm>
              <a:off x="9616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8" name="Line 2160"/>
            <p:cNvSpPr>
              <a:spLocks noChangeShapeType="1"/>
            </p:cNvSpPr>
            <p:nvPr/>
          </p:nvSpPr>
          <p:spPr bwMode="auto">
            <a:xfrm>
              <a:off x="970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29" name="Line 2161"/>
            <p:cNvSpPr>
              <a:spLocks noChangeShapeType="1"/>
            </p:cNvSpPr>
            <p:nvPr/>
          </p:nvSpPr>
          <p:spPr bwMode="auto">
            <a:xfrm>
              <a:off x="9779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0" name="Line 2162"/>
            <p:cNvSpPr>
              <a:spLocks noChangeShapeType="1"/>
            </p:cNvSpPr>
            <p:nvPr/>
          </p:nvSpPr>
          <p:spPr bwMode="auto">
            <a:xfrm>
              <a:off x="9929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1" name="Line 2163"/>
            <p:cNvSpPr>
              <a:spLocks noChangeShapeType="1"/>
            </p:cNvSpPr>
            <p:nvPr/>
          </p:nvSpPr>
          <p:spPr bwMode="auto">
            <a:xfrm>
              <a:off x="10075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2" name="Line 2164"/>
            <p:cNvSpPr>
              <a:spLocks noChangeShapeType="1"/>
            </p:cNvSpPr>
            <p:nvPr/>
          </p:nvSpPr>
          <p:spPr bwMode="auto">
            <a:xfrm>
              <a:off x="985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3" name="Line 2165"/>
            <p:cNvSpPr>
              <a:spLocks noChangeShapeType="1"/>
            </p:cNvSpPr>
            <p:nvPr/>
          </p:nvSpPr>
          <p:spPr bwMode="auto">
            <a:xfrm>
              <a:off x="10004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4" name="Line 2166"/>
            <p:cNvSpPr>
              <a:spLocks noChangeShapeType="1"/>
            </p:cNvSpPr>
            <p:nvPr/>
          </p:nvSpPr>
          <p:spPr bwMode="auto">
            <a:xfrm>
              <a:off x="9528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5" name="Line 2167"/>
            <p:cNvSpPr>
              <a:spLocks noChangeShapeType="1"/>
            </p:cNvSpPr>
            <p:nvPr/>
          </p:nvSpPr>
          <p:spPr bwMode="auto">
            <a:xfrm>
              <a:off x="9607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6" name="Line 2168"/>
            <p:cNvSpPr>
              <a:spLocks noChangeShapeType="1"/>
            </p:cNvSpPr>
            <p:nvPr/>
          </p:nvSpPr>
          <p:spPr bwMode="auto">
            <a:xfrm>
              <a:off x="969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7" name="Line 2169"/>
            <p:cNvSpPr>
              <a:spLocks noChangeShapeType="1"/>
            </p:cNvSpPr>
            <p:nvPr/>
          </p:nvSpPr>
          <p:spPr bwMode="auto">
            <a:xfrm>
              <a:off x="9771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8" name="Line 2170"/>
            <p:cNvSpPr>
              <a:spLocks noChangeShapeType="1"/>
            </p:cNvSpPr>
            <p:nvPr/>
          </p:nvSpPr>
          <p:spPr bwMode="auto">
            <a:xfrm>
              <a:off x="992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39" name="Line 2171"/>
            <p:cNvSpPr>
              <a:spLocks noChangeShapeType="1"/>
            </p:cNvSpPr>
            <p:nvPr/>
          </p:nvSpPr>
          <p:spPr bwMode="auto">
            <a:xfrm>
              <a:off x="10065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0" name="Line 2172"/>
            <p:cNvSpPr>
              <a:spLocks noChangeShapeType="1"/>
            </p:cNvSpPr>
            <p:nvPr/>
          </p:nvSpPr>
          <p:spPr bwMode="auto">
            <a:xfrm>
              <a:off x="9845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1" name="Line 2173"/>
            <p:cNvSpPr>
              <a:spLocks noChangeShapeType="1"/>
            </p:cNvSpPr>
            <p:nvPr/>
          </p:nvSpPr>
          <p:spPr bwMode="auto">
            <a:xfrm>
              <a:off x="9994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2" name="Rectangle 2174"/>
            <p:cNvSpPr>
              <a:spLocks noChangeArrowheads="1"/>
            </p:cNvSpPr>
            <p:nvPr/>
          </p:nvSpPr>
          <p:spPr bwMode="auto">
            <a:xfrm>
              <a:off x="8821" y="8790"/>
              <a:ext cx="615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543" name="Line 2175"/>
            <p:cNvSpPr>
              <a:spLocks noChangeShapeType="1"/>
            </p:cNvSpPr>
            <p:nvPr/>
          </p:nvSpPr>
          <p:spPr bwMode="auto">
            <a:xfrm>
              <a:off x="8865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4" name="Line 2176"/>
            <p:cNvSpPr>
              <a:spLocks noChangeShapeType="1"/>
            </p:cNvSpPr>
            <p:nvPr/>
          </p:nvSpPr>
          <p:spPr bwMode="auto">
            <a:xfrm>
              <a:off x="8943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5" name="Line 2177"/>
            <p:cNvSpPr>
              <a:spLocks noChangeShapeType="1"/>
            </p:cNvSpPr>
            <p:nvPr/>
          </p:nvSpPr>
          <p:spPr bwMode="auto">
            <a:xfrm>
              <a:off x="9027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6" name="Line 2178"/>
            <p:cNvSpPr>
              <a:spLocks noChangeShapeType="1"/>
            </p:cNvSpPr>
            <p:nvPr/>
          </p:nvSpPr>
          <p:spPr bwMode="auto">
            <a:xfrm>
              <a:off x="9104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7" name="Line 2179"/>
            <p:cNvSpPr>
              <a:spLocks noChangeShapeType="1"/>
            </p:cNvSpPr>
            <p:nvPr/>
          </p:nvSpPr>
          <p:spPr bwMode="auto">
            <a:xfrm>
              <a:off x="925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8" name="Line 2180"/>
            <p:cNvSpPr>
              <a:spLocks noChangeShapeType="1"/>
            </p:cNvSpPr>
            <p:nvPr/>
          </p:nvSpPr>
          <p:spPr bwMode="auto">
            <a:xfrm>
              <a:off x="940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49" name="Line 2181"/>
            <p:cNvSpPr>
              <a:spLocks noChangeShapeType="1"/>
            </p:cNvSpPr>
            <p:nvPr/>
          </p:nvSpPr>
          <p:spPr bwMode="auto">
            <a:xfrm>
              <a:off x="918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0" name="Line 2182"/>
            <p:cNvSpPr>
              <a:spLocks noChangeShapeType="1"/>
            </p:cNvSpPr>
            <p:nvPr/>
          </p:nvSpPr>
          <p:spPr bwMode="auto">
            <a:xfrm>
              <a:off x="9330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1" name="Line 2183"/>
            <p:cNvSpPr>
              <a:spLocks noChangeShapeType="1"/>
            </p:cNvSpPr>
            <p:nvPr/>
          </p:nvSpPr>
          <p:spPr bwMode="auto">
            <a:xfrm>
              <a:off x="8854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2" name="Line 2184"/>
            <p:cNvSpPr>
              <a:spLocks noChangeShapeType="1"/>
            </p:cNvSpPr>
            <p:nvPr/>
          </p:nvSpPr>
          <p:spPr bwMode="auto">
            <a:xfrm>
              <a:off x="8933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3" name="Line 2185"/>
            <p:cNvSpPr>
              <a:spLocks noChangeShapeType="1"/>
            </p:cNvSpPr>
            <p:nvPr/>
          </p:nvSpPr>
          <p:spPr bwMode="auto">
            <a:xfrm>
              <a:off x="9017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4" name="Line 2186"/>
            <p:cNvSpPr>
              <a:spLocks noChangeShapeType="1"/>
            </p:cNvSpPr>
            <p:nvPr/>
          </p:nvSpPr>
          <p:spPr bwMode="auto">
            <a:xfrm>
              <a:off x="9095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5" name="Line 2187"/>
            <p:cNvSpPr>
              <a:spLocks noChangeShapeType="1"/>
            </p:cNvSpPr>
            <p:nvPr/>
          </p:nvSpPr>
          <p:spPr bwMode="auto">
            <a:xfrm>
              <a:off x="924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6" name="Line 2188"/>
            <p:cNvSpPr>
              <a:spLocks noChangeShapeType="1"/>
            </p:cNvSpPr>
            <p:nvPr/>
          </p:nvSpPr>
          <p:spPr bwMode="auto">
            <a:xfrm>
              <a:off x="939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7" name="Line 2189"/>
            <p:cNvSpPr>
              <a:spLocks noChangeShapeType="1"/>
            </p:cNvSpPr>
            <p:nvPr/>
          </p:nvSpPr>
          <p:spPr bwMode="auto">
            <a:xfrm>
              <a:off x="917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8" name="Line 2190"/>
            <p:cNvSpPr>
              <a:spLocks noChangeShapeType="1"/>
            </p:cNvSpPr>
            <p:nvPr/>
          </p:nvSpPr>
          <p:spPr bwMode="auto">
            <a:xfrm>
              <a:off x="9320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59" name="Rectangle 2191"/>
            <p:cNvSpPr>
              <a:spLocks noChangeArrowheads="1"/>
            </p:cNvSpPr>
            <p:nvPr/>
          </p:nvSpPr>
          <p:spPr bwMode="auto">
            <a:xfrm>
              <a:off x="8140" y="8790"/>
              <a:ext cx="615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12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560" name="Line 2192"/>
            <p:cNvSpPr>
              <a:spLocks noChangeShapeType="1"/>
            </p:cNvSpPr>
            <p:nvPr/>
          </p:nvSpPr>
          <p:spPr bwMode="auto">
            <a:xfrm>
              <a:off x="8183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1" name="Line 2193"/>
            <p:cNvSpPr>
              <a:spLocks noChangeShapeType="1"/>
            </p:cNvSpPr>
            <p:nvPr/>
          </p:nvSpPr>
          <p:spPr bwMode="auto">
            <a:xfrm>
              <a:off x="8262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2" name="Line 2194"/>
            <p:cNvSpPr>
              <a:spLocks noChangeShapeType="1"/>
            </p:cNvSpPr>
            <p:nvPr/>
          </p:nvSpPr>
          <p:spPr bwMode="auto">
            <a:xfrm>
              <a:off x="834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3" name="Line 2195"/>
            <p:cNvSpPr>
              <a:spLocks noChangeShapeType="1"/>
            </p:cNvSpPr>
            <p:nvPr/>
          </p:nvSpPr>
          <p:spPr bwMode="auto">
            <a:xfrm>
              <a:off x="8425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4" name="Line 2196"/>
            <p:cNvSpPr>
              <a:spLocks noChangeShapeType="1"/>
            </p:cNvSpPr>
            <p:nvPr/>
          </p:nvSpPr>
          <p:spPr bwMode="auto">
            <a:xfrm>
              <a:off x="8575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5" name="Line 2197"/>
            <p:cNvSpPr>
              <a:spLocks noChangeShapeType="1"/>
            </p:cNvSpPr>
            <p:nvPr/>
          </p:nvSpPr>
          <p:spPr bwMode="auto">
            <a:xfrm>
              <a:off x="872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6" name="Line 2198"/>
            <p:cNvSpPr>
              <a:spLocks noChangeShapeType="1"/>
            </p:cNvSpPr>
            <p:nvPr/>
          </p:nvSpPr>
          <p:spPr bwMode="auto">
            <a:xfrm>
              <a:off x="8500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7" name="Line 2199"/>
            <p:cNvSpPr>
              <a:spLocks noChangeShapeType="1"/>
            </p:cNvSpPr>
            <p:nvPr/>
          </p:nvSpPr>
          <p:spPr bwMode="auto">
            <a:xfrm>
              <a:off x="8649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8" name="Line 2200"/>
            <p:cNvSpPr>
              <a:spLocks noChangeShapeType="1"/>
            </p:cNvSpPr>
            <p:nvPr/>
          </p:nvSpPr>
          <p:spPr bwMode="auto">
            <a:xfrm>
              <a:off x="817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69" name="Line 2201"/>
            <p:cNvSpPr>
              <a:spLocks noChangeShapeType="1"/>
            </p:cNvSpPr>
            <p:nvPr/>
          </p:nvSpPr>
          <p:spPr bwMode="auto">
            <a:xfrm>
              <a:off x="8251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0" name="Line 2202"/>
            <p:cNvSpPr>
              <a:spLocks noChangeShapeType="1"/>
            </p:cNvSpPr>
            <p:nvPr/>
          </p:nvSpPr>
          <p:spPr bwMode="auto">
            <a:xfrm>
              <a:off x="833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1" name="Line 2203"/>
            <p:cNvSpPr>
              <a:spLocks noChangeShapeType="1"/>
            </p:cNvSpPr>
            <p:nvPr/>
          </p:nvSpPr>
          <p:spPr bwMode="auto">
            <a:xfrm>
              <a:off x="8415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2" name="Line 2204"/>
            <p:cNvSpPr>
              <a:spLocks noChangeShapeType="1"/>
            </p:cNvSpPr>
            <p:nvPr/>
          </p:nvSpPr>
          <p:spPr bwMode="auto">
            <a:xfrm>
              <a:off x="8564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3" name="Line 2205"/>
            <p:cNvSpPr>
              <a:spLocks noChangeShapeType="1"/>
            </p:cNvSpPr>
            <p:nvPr/>
          </p:nvSpPr>
          <p:spPr bwMode="auto">
            <a:xfrm>
              <a:off x="8710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4" name="Line 2206"/>
            <p:cNvSpPr>
              <a:spLocks noChangeShapeType="1"/>
            </p:cNvSpPr>
            <p:nvPr/>
          </p:nvSpPr>
          <p:spPr bwMode="auto">
            <a:xfrm>
              <a:off x="8490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5" name="Line 2207"/>
            <p:cNvSpPr>
              <a:spLocks noChangeShapeType="1"/>
            </p:cNvSpPr>
            <p:nvPr/>
          </p:nvSpPr>
          <p:spPr bwMode="auto">
            <a:xfrm>
              <a:off x="8639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6" name="Rectangle 2208"/>
            <p:cNvSpPr>
              <a:spLocks noChangeArrowheads="1"/>
            </p:cNvSpPr>
            <p:nvPr/>
          </p:nvSpPr>
          <p:spPr bwMode="auto">
            <a:xfrm>
              <a:off x="7442" y="8790"/>
              <a:ext cx="616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577" name="Line 2209"/>
            <p:cNvSpPr>
              <a:spLocks noChangeShapeType="1"/>
            </p:cNvSpPr>
            <p:nvPr/>
          </p:nvSpPr>
          <p:spPr bwMode="auto">
            <a:xfrm>
              <a:off x="748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8" name="Line 2210"/>
            <p:cNvSpPr>
              <a:spLocks noChangeShapeType="1"/>
            </p:cNvSpPr>
            <p:nvPr/>
          </p:nvSpPr>
          <p:spPr bwMode="auto">
            <a:xfrm>
              <a:off x="7563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79" name="Line 2211"/>
            <p:cNvSpPr>
              <a:spLocks noChangeShapeType="1"/>
            </p:cNvSpPr>
            <p:nvPr/>
          </p:nvSpPr>
          <p:spPr bwMode="auto">
            <a:xfrm>
              <a:off x="7648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0" name="Line 2212"/>
            <p:cNvSpPr>
              <a:spLocks noChangeShapeType="1"/>
            </p:cNvSpPr>
            <p:nvPr/>
          </p:nvSpPr>
          <p:spPr bwMode="auto">
            <a:xfrm>
              <a:off x="7726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1" name="Line 2213"/>
            <p:cNvSpPr>
              <a:spLocks noChangeShapeType="1"/>
            </p:cNvSpPr>
            <p:nvPr/>
          </p:nvSpPr>
          <p:spPr bwMode="auto">
            <a:xfrm>
              <a:off x="7877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2" name="Line 2214"/>
            <p:cNvSpPr>
              <a:spLocks noChangeShapeType="1"/>
            </p:cNvSpPr>
            <p:nvPr/>
          </p:nvSpPr>
          <p:spPr bwMode="auto">
            <a:xfrm>
              <a:off x="8022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3" name="Line 2215"/>
            <p:cNvSpPr>
              <a:spLocks noChangeShapeType="1"/>
            </p:cNvSpPr>
            <p:nvPr/>
          </p:nvSpPr>
          <p:spPr bwMode="auto">
            <a:xfrm>
              <a:off x="7803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4" name="Line 2216"/>
            <p:cNvSpPr>
              <a:spLocks noChangeShapeType="1"/>
            </p:cNvSpPr>
            <p:nvPr/>
          </p:nvSpPr>
          <p:spPr bwMode="auto">
            <a:xfrm>
              <a:off x="7952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5" name="Line 2217"/>
            <p:cNvSpPr>
              <a:spLocks noChangeShapeType="1"/>
            </p:cNvSpPr>
            <p:nvPr/>
          </p:nvSpPr>
          <p:spPr bwMode="auto">
            <a:xfrm>
              <a:off x="747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6" name="Line 2218"/>
            <p:cNvSpPr>
              <a:spLocks noChangeShapeType="1"/>
            </p:cNvSpPr>
            <p:nvPr/>
          </p:nvSpPr>
          <p:spPr bwMode="auto">
            <a:xfrm>
              <a:off x="7553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7" name="Line 2219"/>
            <p:cNvSpPr>
              <a:spLocks noChangeShapeType="1"/>
            </p:cNvSpPr>
            <p:nvPr/>
          </p:nvSpPr>
          <p:spPr bwMode="auto">
            <a:xfrm>
              <a:off x="7638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8" name="Line 2220"/>
            <p:cNvSpPr>
              <a:spLocks noChangeShapeType="1"/>
            </p:cNvSpPr>
            <p:nvPr/>
          </p:nvSpPr>
          <p:spPr bwMode="auto">
            <a:xfrm>
              <a:off x="7716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89" name="Line 2221"/>
            <p:cNvSpPr>
              <a:spLocks noChangeShapeType="1"/>
            </p:cNvSpPr>
            <p:nvPr/>
          </p:nvSpPr>
          <p:spPr bwMode="auto">
            <a:xfrm>
              <a:off x="7867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0" name="Line 2222"/>
            <p:cNvSpPr>
              <a:spLocks noChangeShapeType="1"/>
            </p:cNvSpPr>
            <p:nvPr/>
          </p:nvSpPr>
          <p:spPr bwMode="auto">
            <a:xfrm>
              <a:off x="8013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1" name="Line 2223"/>
            <p:cNvSpPr>
              <a:spLocks noChangeShapeType="1"/>
            </p:cNvSpPr>
            <p:nvPr/>
          </p:nvSpPr>
          <p:spPr bwMode="auto">
            <a:xfrm>
              <a:off x="779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2" name="Line 2224"/>
            <p:cNvSpPr>
              <a:spLocks noChangeShapeType="1"/>
            </p:cNvSpPr>
            <p:nvPr/>
          </p:nvSpPr>
          <p:spPr bwMode="auto">
            <a:xfrm>
              <a:off x="7941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3" name="Rectangle 2225"/>
            <p:cNvSpPr>
              <a:spLocks noChangeArrowheads="1"/>
            </p:cNvSpPr>
            <p:nvPr/>
          </p:nvSpPr>
          <p:spPr bwMode="auto">
            <a:xfrm>
              <a:off x="6762" y="8790"/>
              <a:ext cx="614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r>
                <a:rPr kumimoji="0" lang="uz-Cyrl-UZ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594" name="Line 2226"/>
            <p:cNvSpPr>
              <a:spLocks noChangeShapeType="1"/>
            </p:cNvSpPr>
            <p:nvPr/>
          </p:nvSpPr>
          <p:spPr bwMode="auto">
            <a:xfrm>
              <a:off x="6804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5" name="Line 2227"/>
            <p:cNvSpPr>
              <a:spLocks noChangeShapeType="1"/>
            </p:cNvSpPr>
            <p:nvPr/>
          </p:nvSpPr>
          <p:spPr bwMode="auto">
            <a:xfrm>
              <a:off x="6882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6" name="Line 2228"/>
            <p:cNvSpPr>
              <a:spLocks noChangeShapeType="1"/>
            </p:cNvSpPr>
            <p:nvPr/>
          </p:nvSpPr>
          <p:spPr bwMode="auto">
            <a:xfrm>
              <a:off x="6968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7" name="Line 2229"/>
            <p:cNvSpPr>
              <a:spLocks noChangeShapeType="1"/>
            </p:cNvSpPr>
            <p:nvPr/>
          </p:nvSpPr>
          <p:spPr bwMode="auto">
            <a:xfrm>
              <a:off x="7045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8" name="Line 2230"/>
            <p:cNvSpPr>
              <a:spLocks noChangeShapeType="1"/>
            </p:cNvSpPr>
            <p:nvPr/>
          </p:nvSpPr>
          <p:spPr bwMode="auto">
            <a:xfrm>
              <a:off x="719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599" name="Line 2231"/>
            <p:cNvSpPr>
              <a:spLocks noChangeShapeType="1"/>
            </p:cNvSpPr>
            <p:nvPr/>
          </p:nvSpPr>
          <p:spPr bwMode="auto">
            <a:xfrm>
              <a:off x="734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0" name="Line 2232"/>
            <p:cNvSpPr>
              <a:spLocks noChangeShapeType="1"/>
            </p:cNvSpPr>
            <p:nvPr/>
          </p:nvSpPr>
          <p:spPr bwMode="auto">
            <a:xfrm>
              <a:off x="712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1" name="Line 2233"/>
            <p:cNvSpPr>
              <a:spLocks noChangeShapeType="1"/>
            </p:cNvSpPr>
            <p:nvPr/>
          </p:nvSpPr>
          <p:spPr bwMode="auto">
            <a:xfrm>
              <a:off x="7271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2" name="Line 2234"/>
            <p:cNvSpPr>
              <a:spLocks noChangeShapeType="1"/>
            </p:cNvSpPr>
            <p:nvPr/>
          </p:nvSpPr>
          <p:spPr bwMode="auto">
            <a:xfrm>
              <a:off x="6794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3" name="Line 2235"/>
            <p:cNvSpPr>
              <a:spLocks noChangeShapeType="1"/>
            </p:cNvSpPr>
            <p:nvPr/>
          </p:nvSpPr>
          <p:spPr bwMode="auto">
            <a:xfrm>
              <a:off x="6873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4" name="Line 2236"/>
            <p:cNvSpPr>
              <a:spLocks noChangeShapeType="1"/>
            </p:cNvSpPr>
            <p:nvPr/>
          </p:nvSpPr>
          <p:spPr bwMode="auto">
            <a:xfrm>
              <a:off x="6958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5" name="Line 2237"/>
            <p:cNvSpPr>
              <a:spLocks noChangeShapeType="1"/>
            </p:cNvSpPr>
            <p:nvPr/>
          </p:nvSpPr>
          <p:spPr bwMode="auto">
            <a:xfrm>
              <a:off x="7036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6" name="Line 2238"/>
            <p:cNvSpPr>
              <a:spLocks noChangeShapeType="1"/>
            </p:cNvSpPr>
            <p:nvPr/>
          </p:nvSpPr>
          <p:spPr bwMode="auto">
            <a:xfrm>
              <a:off x="7186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7" name="Line 2239"/>
            <p:cNvSpPr>
              <a:spLocks noChangeShapeType="1"/>
            </p:cNvSpPr>
            <p:nvPr/>
          </p:nvSpPr>
          <p:spPr bwMode="auto">
            <a:xfrm>
              <a:off x="733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8" name="Line 2240"/>
            <p:cNvSpPr>
              <a:spLocks noChangeShapeType="1"/>
            </p:cNvSpPr>
            <p:nvPr/>
          </p:nvSpPr>
          <p:spPr bwMode="auto">
            <a:xfrm>
              <a:off x="7112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09" name="Line 2241"/>
            <p:cNvSpPr>
              <a:spLocks noChangeShapeType="1"/>
            </p:cNvSpPr>
            <p:nvPr/>
          </p:nvSpPr>
          <p:spPr bwMode="auto">
            <a:xfrm>
              <a:off x="7259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0" name="Rectangle 2242"/>
            <p:cNvSpPr>
              <a:spLocks noChangeArrowheads="1"/>
            </p:cNvSpPr>
            <p:nvPr/>
          </p:nvSpPr>
          <p:spPr bwMode="auto">
            <a:xfrm>
              <a:off x="6098" y="8790"/>
              <a:ext cx="614" cy="63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9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611" name="Line 2243"/>
            <p:cNvSpPr>
              <a:spLocks noChangeShapeType="1"/>
            </p:cNvSpPr>
            <p:nvPr/>
          </p:nvSpPr>
          <p:spPr bwMode="auto">
            <a:xfrm>
              <a:off x="6141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2" name="Line 2244"/>
            <p:cNvSpPr>
              <a:spLocks noChangeShapeType="1"/>
            </p:cNvSpPr>
            <p:nvPr/>
          </p:nvSpPr>
          <p:spPr bwMode="auto">
            <a:xfrm>
              <a:off x="6218" y="835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3" name="Line 2245"/>
            <p:cNvSpPr>
              <a:spLocks noChangeShapeType="1"/>
            </p:cNvSpPr>
            <p:nvPr/>
          </p:nvSpPr>
          <p:spPr bwMode="auto">
            <a:xfrm>
              <a:off x="6304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4" name="Line 2246"/>
            <p:cNvSpPr>
              <a:spLocks noChangeShapeType="1"/>
            </p:cNvSpPr>
            <p:nvPr/>
          </p:nvSpPr>
          <p:spPr bwMode="auto">
            <a:xfrm>
              <a:off x="6381" y="8362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5" name="Line 2247"/>
            <p:cNvSpPr>
              <a:spLocks noChangeShapeType="1"/>
            </p:cNvSpPr>
            <p:nvPr/>
          </p:nvSpPr>
          <p:spPr bwMode="auto">
            <a:xfrm>
              <a:off x="6532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6" name="Line 2248"/>
            <p:cNvSpPr>
              <a:spLocks noChangeShapeType="1"/>
            </p:cNvSpPr>
            <p:nvPr/>
          </p:nvSpPr>
          <p:spPr bwMode="auto">
            <a:xfrm>
              <a:off x="6676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7" name="Line 2249"/>
            <p:cNvSpPr>
              <a:spLocks noChangeShapeType="1"/>
            </p:cNvSpPr>
            <p:nvPr/>
          </p:nvSpPr>
          <p:spPr bwMode="auto">
            <a:xfrm>
              <a:off x="6457" y="8366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8" name="Line 2250"/>
            <p:cNvSpPr>
              <a:spLocks noChangeShapeType="1"/>
            </p:cNvSpPr>
            <p:nvPr/>
          </p:nvSpPr>
          <p:spPr bwMode="auto">
            <a:xfrm>
              <a:off x="6606" y="836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19" name="Line 2251"/>
            <p:cNvSpPr>
              <a:spLocks noChangeShapeType="1"/>
            </p:cNvSpPr>
            <p:nvPr/>
          </p:nvSpPr>
          <p:spPr bwMode="auto">
            <a:xfrm>
              <a:off x="6130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0" name="Line 2252"/>
            <p:cNvSpPr>
              <a:spLocks noChangeShapeType="1"/>
            </p:cNvSpPr>
            <p:nvPr/>
          </p:nvSpPr>
          <p:spPr bwMode="auto">
            <a:xfrm>
              <a:off x="6209" y="9421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1" name="Line 2253"/>
            <p:cNvSpPr>
              <a:spLocks noChangeShapeType="1"/>
            </p:cNvSpPr>
            <p:nvPr/>
          </p:nvSpPr>
          <p:spPr bwMode="auto">
            <a:xfrm>
              <a:off x="6294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2" name="Line 2254"/>
            <p:cNvSpPr>
              <a:spLocks noChangeShapeType="1"/>
            </p:cNvSpPr>
            <p:nvPr/>
          </p:nvSpPr>
          <p:spPr bwMode="auto">
            <a:xfrm>
              <a:off x="6372" y="9424"/>
              <a:ext cx="0" cy="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3" name="Line 2255"/>
            <p:cNvSpPr>
              <a:spLocks noChangeShapeType="1"/>
            </p:cNvSpPr>
            <p:nvPr/>
          </p:nvSpPr>
          <p:spPr bwMode="auto">
            <a:xfrm>
              <a:off x="6521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4" name="Line 2256"/>
            <p:cNvSpPr>
              <a:spLocks noChangeShapeType="1"/>
            </p:cNvSpPr>
            <p:nvPr/>
          </p:nvSpPr>
          <p:spPr bwMode="auto">
            <a:xfrm>
              <a:off x="6667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5" name="Line 2257"/>
            <p:cNvSpPr>
              <a:spLocks noChangeShapeType="1"/>
            </p:cNvSpPr>
            <p:nvPr/>
          </p:nvSpPr>
          <p:spPr bwMode="auto">
            <a:xfrm>
              <a:off x="6448" y="94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6" name="Line 2258"/>
            <p:cNvSpPr>
              <a:spLocks noChangeShapeType="1"/>
            </p:cNvSpPr>
            <p:nvPr/>
          </p:nvSpPr>
          <p:spPr bwMode="auto">
            <a:xfrm>
              <a:off x="6597" y="9428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7" name="Rectangle 2259"/>
            <p:cNvSpPr>
              <a:spLocks noChangeArrowheads="1"/>
            </p:cNvSpPr>
            <p:nvPr/>
          </p:nvSpPr>
          <p:spPr bwMode="auto">
            <a:xfrm>
              <a:off x="543" y="7685"/>
              <a:ext cx="10949" cy="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1-раунд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калит </a:t>
              </a:r>
              <a:r>
                <a:rPr kumimoji="0" lang="ru-RU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битини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қўшиш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628" name="Line 2260"/>
            <p:cNvSpPr>
              <a:spLocks noChangeShapeType="1"/>
            </p:cNvSpPr>
            <p:nvPr/>
          </p:nvSpPr>
          <p:spPr bwMode="auto">
            <a:xfrm>
              <a:off x="780" y="10626"/>
              <a:ext cx="0" cy="42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29" name="Line 2261"/>
            <p:cNvSpPr>
              <a:spLocks noChangeShapeType="1"/>
            </p:cNvSpPr>
            <p:nvPr/>
          </p:nvSpPr>
          <p:spPr bwMode="auto">
            <a:xfrm>
              <a:off x="864" y="10619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0" name="Line 2262"/>
            <p:cNvSpPr>
              <a:spLocks noChangeShapeType="1"/>
            </p:cNvSpPr>
            <p:nvPr/>
          </p:nvSpPr>
          <p:spPr bwMode="auto">
            <a:xfrm>
              <a:off x="925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1" name="Line 2263"/>
            <p:cNvSpPr>
              <a:spLocks noChangeShapeType="1"/>
            </p:cNvSpPr>
            <p:nvPr/>
          </p:nvSpPr>
          <p:spPr bwMode="auto">
            <a:xfrm>
              <a:off x="980" y="1062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2" name="Line 2264"/>
            <p:cNvSpPr>
              <a:spLocks noChangeShapeType="1"/>
            </p:cNvSpPr>
            <p:nvPr/>
          </p:nvSpPr>
          <p:spPr bwMode="auto">
            <a:xfrm>
              <a:off x="1110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3" name="Line 2265"/>
            <p:cNvSpPr>
              <a:spLocks noChangeShapeType="1"/>
            </p:cNvSpPr>
            <p:nvPr/>
          </p:nvSpPr>
          <p:spPr bwMode="auto">
            <a:xfrm>
              <a:off x="1250" y="10626"/>
              <a:ext cx="0" cy="42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4" name="Line 2266"/>
            <p:cNvSpPr>
              <a:spLocks noChangeShapeType="1"/>
            </p:cNvSpPr>
            <p:nvPr/>
          </p:nvSpPr>
          <p:spPr bwMode="auto">
            <a:xfrm>
              <a:off x="1044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5" name="Line 2267"/>
            <p:cNvSpPr>
              <a:spLocks noChangeShapeType="1"/>
            </p:cNvSpPr>
            <p:nvPr/>
          </p:nvSpPr>
          <p:spPr bwMode="auto">
            <a:xfrm>
              <a:off x="1180" y="10612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6" name="Line 2268"/>
            <p:cNvSpPr>
              <a:spLocks noChangeShapeType="1"/>
            </p:cNvSpPr>
            <p:nvPr/>
          </p:nvSpPr>
          <p:spPr bwMode="auto">
            <a:xfrm>
              <a:off x="1454" y="10627"/>
              <a:ext cx="0" cy="42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7" name="Line 2269"/>
            <p:cNvSpPr>
              <a:spLocks noChangeShapeType="1"/>
            </p:cNvSpPr>
            <p:nvPr/>
          </p:nvSpPr>
          <p:spPr bwMode="auto">
            <a:xfrm>
              <a:off x="1532" y="10620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8" name="Line 2270"/>
            <p:cNvSpPr>
              <a:spLocks noChangeShapeType="1"/>
            </p:cNvSpPr>
            <p:nvPr/>
          </p:nvSpPr>
          <p:spPr bwMode="auto">
            <a:xfrm>
              <a:off x="1603" y="10616"/>
              <a:ext cx="0" cy="42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39" name="Line 2271"/>
            <p:cNvSpPr>
              <a:spLocks noChangeShapeType="1"/>
            </p:cNvSpPr>
            <p:nvPr/>
          </p:nvSpPr>
          <p:spPr bwMode="auto">
            <a:xfrm>
              <a:off x="1729" y="10620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0" name="Line 2272"/>
            <p:cNvSpPr>
              <a:spLocks noChangeShapeType="1"/>
            </p:cNvSpPr>
            <p:nvPr/>
          </p:nvSpPr>
          <p:spPr bwMode="auto">
            <a:xfrm>
              <a:off x="1874" y="1063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1" name="Line 2273"/>
            <p:cNvSpPr>
              <a:spLocks noChangeShapeType="1"/>
            </p:cNvSpPr>
            <p:nvPr/>
          </p:nvSpPr>
          <p:spPr bwMode="auto">
            <a:xfrm>
              <a:off x="1667" y="1063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2" name="Line 2274"/>
            <p:cNvSpPr>
              <a:spLocks noChangeShapeType="1"/>
            </p:cNvSpPr>
            <p:nvPr/>
          </p:nvSpPr>
          <p:spPr bwMode="auto">
            <a:xfrm>
              <a:off x="1796" y="10621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3" name="Line 2275"/>
            <p:cNvSpPr>
              <a:spLocks noChangeShapeType="1"/>
            </p:cNvSpPr>
            <p:nvPr/>
          </p:nvSpPr>
          <p:spPr bwMode="auto">
            <a:xfrm>
              <a:off x="1937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4" name="Line 2276"/>
            <p:cNvSpPr>
              <a:spLocks noChangeShapeType="1"/>
            </p:cNvSpPr>
            <p:nvPr/>
          </p:nvSpPr>
          <p:spPr bwMode="auto">
            <a:xfrm>
              <a:off x="2127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5" name="Line 2277"/>
            <p:cNvSpPr>
              <a:spLocks noChangeShapeType="1"/>
            </p:cNvSpPr>
            <p:nvPr/>
          </p:nvSpPr>
          <p:spPr bwMode="auto">
            <a:xfrm>
              <a:off x="2203" y="10612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6" name="Line 2278"/>
            <p:cNvSpPr>
              <a:spLocks noChangeShapeType="1"/>
            </p:cNvSpPr>
            <p:nvPr/>
          </p:nvSpPr>
          <p:spPr bwMode="auto">
            <a:xfrm>
              <a:off x="2337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7" name="Line 2279"/>
            <p:cNvSpPr>
              <a:spLocks noChangeShapeType="1"/>
            </p:cNvSpPr>
            <p:nvPr/>
          </p:nvSpPr>
          <p:spPr bwMode="auto">
            <a:xfrm>
              <a:off x="2478" y="10613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8" name="Line 2280"/>
            <p:cNvSpPr>
              <a:spLocks noChangeShapeType="1"/>
            </p:cNvSpPr>
            <p:nvPr/>
          </p:nvSpPr>
          <p:spPr bwMode="auto">
            <a:xfrm>
              <a:off x="2269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49" name="Line 2281"/>
            <p:cNvSpPr>
              <a:spLocks noChangeShapeType="1"/>
            </p:cNvSpPr>
            <p:nvPr/>
          </p:nvSpPr>
          <p:spPr bwMode="auto">
            <a:xfrm>
              <a:off x="2405" y="10610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0" name="Line 2282"/>
            <p:cNvSpPr>
              <a:spLocks noChangeShapeType="1"/>
            </p:cNvSpPr>
            <p:nvPr/>
          </p:nvSpPr>
          <p:spPr bwMode="auto">
            <a:xfrm>
              <a:off x="2549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1" name="Line 2283"/>
            <p:cNvSpPr>
              <a:spLocks noChangeShapeType="1"/>
            </p:cNvSpPr>
            <p:nvPr/>
          </p:nvSpPr>
          <p:spPr bwMode="auto">
            <a:xfrm>
              <a:off x="2619" y="10619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2" name="Line 2284"/>
            <p:cNvSpPr>
              <a:spLocks noChangeShapeType="1"/>
            </p:cNvSpPr>
            <p:nvPr/>
          </p:nvSpPr>
          <p:spPr bwMode="auto">
            <a:xfrm>
              <a:off x="2813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3" name="Line 2285"/>
            <p:cNvSpPr>
              <a:spLocks noChangeShapeType="1"/>
            </p:cNvSpPr>
            <p:nvPr/>
          </p:nvSpPr>
          <p:spPr bwMode="auto">
            <a:xfrm>
              <a:off x="2882" y="10623"/>
              <a:ext cx="0" cy="4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4" name="Line 2286"/>
            <p:cNvSpPr>
              <a:spLocks noChangeShapeType="1"/>
            </p:cNvSpPr>
            <p:nvPr/>
          </p:nvSpPr>
          <p:spPr bwMode="auto">
            <a:xfrm>
              <a:off x="3039" y="10626"/>
              <a:ext cx="0" cy="42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5" name="Line 2287"/>
            <p:cNvSpPr>
              <a:spLocks noChangeShapeType="1"/>
            </p:cNvSpPr>
            <p:nvPr/>
          </p:nvSpPr>
          <p:spPr bwMode="auto">
            <a:xfrm>
              <a:off x="3180" y="10626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6" name="Line 2288"/>
            <p:cNvSpPr>
              <a:spLocks noChangeShapeType="1"/>
            </p:cNvSpPr>
            <p:nvPr/>
          </p:nvSpPr>
          <p:spPr bwMode="auto">
            <a:xfrm>
              <a:off x="2964" y="10626"/>
              <a:ext cx="0" cy="42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7" name="Line 2289"/>
            <p:cNvSpPr>
              <a:spLocks noChangeShapeType="1"/>
            </p:cNvSpPr>
            <p:nvPr/>
          </p:nvSpPr>
          <p:spPr bwMode="auto">
            <a:xfrm>
              <a:off x="3111" y="10624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8" name="Line 2290"/>
            <p:cNvSpPr>
              <a:spLocks noChangeShapeType="1"/>
            </p:cNvSpPr>
            <p:nvPr/>
          </p:nvSpPr>
          <p:spPr bwMode="auto">
            <a:xfrm>
              <a:off x="3244" y="1062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59" name="Line 2291"/>
            <p:cNvSpPr>
              <a:spLocks noChangeShapeType="1"/>
            </p:cNvSpPr>
            <p:nvPr/>
          </p:nvSpPr>
          <p:spPr bwMode="auto">
            <a:xfrm>
              <a:off x="3316" y="10626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0" name="Line 2292"/>
            <p:cNvSpPr>
              <a:spLocks noChangeShapeType="1"/>
            </p:cNvSpPr>
            <p:nvPr/>
          </p:nvSpPr>
          <p:spPr bwMode="auto">
            <a:xfrm>
              <a:off x="3504" y="1062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1" name="Line 2293"/>
            <p:cNvSpPr>
              <a:spLocks noChangeShapeType="1"/>
            </p:cNvSpPr>
            <p:nvPr/>
          </p:nvSpPr>
          <p:spPr bwMode="auto">
            <a:xfrm>
              <a:off x="3559" y="10618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2" name="Line 2294"/>
            <p:cNvSpPr>
              <a:spLocks noChangeShapeType="1"/>
            </p:cNvSpPr>
            <p:nvPr/>
          </p:nvSpPr>
          <p:spPr bwMode="auto">
            <a:xfrm>
              <a:off x="3669" y="1062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3" name="Line 2295"/>
            <p:cNvSpPr>
              <a:spLocks noChangeShapeType="1"/>
            </p:cNvSpPr>
            <p:nvPr/>
          </p:nvSpPr>
          <p:spPr bwMode="auto">
            <a:xfrm>
              <a:off x="3804" y="1062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4" name="Line 2296"/>
            <p:cNvSpPr>
              <a:spLocks noChangeShapeType="1"/>
            </p:cNvSpPr>
            <p:nvPr/>
          </p:nvSpPr>
          <p:spPr bwMode="auto">
            <a:xfrm>
              <a:off x="3608" y="10622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5" name="Line 2297"/>
            <p:cNvSpPr>
              <a:spLocks noChangeShapeType="1"/>
            </p:cNvSpPr>
            <p:nvPr/>
          </p:nvSpPr>
          <p:spPr bwMode="auto">
            <a:xfrm>
              <a:off x="3736" y="10619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6" name="Line 2298"/>
            <p:cNvSpPr>
              <a:spLocks noChangeShapeType="1"/>
            </p:cNvSpPr>
            <p:nvPr/>
          </p:nvSpPr>
          <p:spPr bwMode="auto">
            <a:xfrm>
              <a:off x="3855" y="1062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7" name="Line 2299"/>
            <p:cNvSpPr>
              <a:spLocks noChangeShapeType="1"/>
            </p:cNvSpPr>
            <p:nvPr/>
          </p:nvSpPr>
          <p:spPr bwMode="auto">
            <a:xfrm>
              <a:off x="3923" y="1063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8" name="Line 2300"/>
            <p:cNvSpPr>
              <a:spLocks noChangeShapeType="1"/>
            </p:cNvSpPr>
            <p:nvPr/>
          </p:nvSpPr>
          <p:spPr bwMode="auto">
            <a:xfrm>
              <a:off x="4157" y="1062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69" name="Line 2301"/>
            <p:cNvSpPr>
              <a:spLocks noChangeShapeType="1"/>
            </p:cNvSpPr>
            <p:nvPr/>
          </p:nvSpPr>
          <p:spPr bwMode="auto">
            <a:xfrm>
              <a:off x="4211" y="10620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0" name="Line 2302"/>
            <p:cNvSpPr>
              <a:spLocks noChangeShapeType="1"/>
            </p:cNvSpPr>
            <p:nvPr/>
          </p:nvSpPr>
          <p:spPr bwMode="auto">
            <a:xfrm>
              <a:off x="4329" y="10612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1" name="Line 2303"/>
            <p:cNvSpPr>
              <a:spLocks noChangeShapeType="1"/>
            </p:cNvSpPr>
            <p:nvPr/>
          </p:nvSpPr>
          <p:spPr bwMode="auto">
            <a:xfrm>
              <a:off x="4477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2" name="Line 2304"/>
            <p:cNvSpPr>
              <a:spLocks noChangeShapeType="1"/>
            </p:cNvSpPr>
            <p:nvPr/>
          </p:nvSpPr>
          <p:spPr bwMode="auto">
            <a:xfrm>
              <a:off x="4278" y="10624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3" name="Line 2305"/>
            <p:cNvSpPr>
              <a:spLocks noChangeShapeType="1"/>
            </p:cNvSpPr>
            <p:nvPr/>
          </p:nvSpPr>
          <p:spPr bwMode="auto">
            <a:xfrm>
              <a:off x="4400" y="10621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4" name="Line 2306"/>
            <p:cNvSpPr>
              <a:spLocks noChangeShapeType="1"/>
            </p:cNvSpPr>
            <p:nvPr/>
          </p:nvSpPr>
          <p:spPr bwMode="auto">
            <a:xfrm>
              <a:off x="5305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5" name="Line 2307"/>
            <p:cNvSpPr>
              <a:spLocks noChangeShapeType="1"/>
            </p:cNvSpPr>
            <p:nvPr/>
          </p:nvSpPr>
          <p:spPr bwMode="auto">
            <a:xfrm>
              <a:off x="5502" y="10621"/>
              <a:ext cx="0" cy="4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6" name="Line 2308"/>
            <p:cNvSpPr>
              <a:spLocks noChangeShapeType="1"/>
            </p:cNvSpPr>
            <p:nvPr/>
          </p:nvSpPr>
          <p:spPr bwMode="auto">
            <a:xfrm>
              <a:off x="5573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7" name="Line 2309"/>
            <p:cNvSpPr>
              <a:spLocks noChangeShapeType="1"/>
            </p:cNvSpPr>
            <p:nvPr/>
          </p:nvSpPr>
          <p:spPr bwMode="auto">
            <a:xfrm>
              <a:off x="5648" y="10613"/>
              <a:ext cx="0" cy="4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8" name="Line 2310"/>
            <p:cNvSpPr>
              <a:spLocks noChangeShapeType="1"/>
            </p:cNvSpPr>
            <p:nvPr/>
          </p:nvSpPr>
          <p:spPr bwMode="auto">
            <a:xfrm>
              <a:off x="5798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79" name="Line 2311"/>
            <p:cNvSpPr>
              <a:spLocks noChangeShapeType="1"/>
            </p:cNvSpPr>
            <p:nvPr/>
          </p:nvSpPr>
          <p:spPr bwMode="auto">
            <a:xfrm>
              <a:off x="5943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0" name="Line 2312"/>
            <p:cNvSpPr>
              <a:spLocks noChangeShapeType="1"/>
            </p:cNvSpPr>
            <p:nvPr/>
          </p:nvSpPr>
          <p:spPr bwMode="auto">
            <a:xfrm>
              <a:off x="5720" y="10617"/>
              <a:ext cx="0" cy="42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1" name="Line 2313"/>
            <p:cNvSpPr>
              <a:spLocks noChangeShapeType="1"/>
            </p:cNvSpPr>
            <p:nvPr/>
          </p:nvSpPr>
          <p:spPr bwMode="auto">
            <a:xfrm>
              <a:off x="5869" y="10613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2" name="Line 2314"/>
            <p:cNvSpPr>
              <a:spLocks noChangeShapeType="1"/>
            </p:cNvSpPr>
            <p:nvPr/>
          </p:nvSpPr>
          <p:spPr bwMode="auto">
            <a:xfrm>
              <a:off x="10739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3" name="Line 2315"/>
            <p:cNvSpPr>
              <a:spLocks noChangeShapeType="1"/>
            </p:cNvSpPr>
            <p:nvPr/>
          </p:nvSpPr>
          <p:spPr bwMode="auto">
            <a:xfrm>
              <a:off x="10984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4" name="Line 2316"/>
            <p:cNvSpPr>
              <a:spLocks noChangeShapeType="1"/>
            </p:cNvSpPr>
            <p:nvPr/>
          </p:nvSpPr>
          <p:spPr bwMode="auto">
            <a:xfrm>
              <a:off x="11047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5" name="Line 2317"/>
            <p:cNvSpPr>
              <a:spLocks noChangeShapeType="1"/>
            </p:cNvSpPr>
            <p:nvPr/>
          </p:nvSpPr>
          <p:spPr bwMode="auto">
            <a:xfrm>
              <a:off x="11118" y="10623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6" name="Line 2318"/>
            <p:cNvSpPr>
              <a:spLocks noChangeShapeType="1"/>
            </p:cNvSpPr>
            <p:nvPr/>
          </p:nvSpPr>
          <p:spPr bwMode="auto">
            <a:xfrm>
              <a:off x="11262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7" name="Line 2319"/>
            <p:cNvSpPr>
              <a:spLocks noChangeShapeType="1"/>
            </p:cNvSpPr>
            <p:nvPr/>
          </p:nvSpPr>
          <p:spPr bwMode="auto">
            <a:xfrm>
              <a:off x="11415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8" name="Line 2320"/>
            <p:cNvSpPr>
              <a:spLocks noChangeShapeType="1"/>
            </p:cNvSpPr>
            <p:nvPr/>
          </p:nvSpPr>
          <p:spPr bwMode="auto">
            <a:xfrm>
              <a:off x="11195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89" name="Line 2321"/>
            <p:cNvSpPr>
              <a:spLocks noChangeShapeType="1"/>
            </p:cNvSpPr>
            <p:nvPr/>
          </p:nvSpPr>
          <p:spPr bwMode="auto">
            <a:xfrm>
              <a:off x="11341" y="10611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0" name="Line 2322"/>
            <p:cNvSpPr>
              <a:spLocks noChangeShapeType="1"/>
            </p:cNvSpPr>
            <p:nvPr/>
          </p:nvSpPr>
          <p:spPr bwMode="auto">
            <a:xfrm>
              <a:off x="4550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1" name="Line 2323"/>
            <p:cNvSpPr>
              <a:spLocks noChangeShapeType="1"/>
            </p:cNvSpPr>
            <p:nvPr/>
          </p:nvSpPr>
          <p:spPr bwMode="auto">
            <a:xfrm>
              <a:off x="4800" y="10619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2" name="Line 2324"/>
            <p:cNvSpPr>
              <a:spLocks noChangeShapeType="1"/>
            </p:cNvSpPr>
            <p:nvPr/>
          </p:nvSpPr>
          <p:spPr bwMode="auto">
            <a:xfrm>
              <a:off x="4874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3" name="Line 2325"/>
            <p:cNvSpPr>
              <a:spLocks noChangeShapeType="1"/>
            </p:cNvSpPr>
            <p:nvPr/>
          </p:nvSpPr>
          <p:spPr bwMode="auto">
            <a:xfrm>
              <a:off x="4950" y="10622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4" name="Line 2326"/>
            <p:cNvSpPr>
              <a:spLocks noChangeShapeType="1"/>
            </p:cNvSpPr>
            <p:nvPr/>
          </p:nvSpPr>
          <p:spPr bwMode="auto">
            <a:xfrm>
              <a:off x="5100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5" name="Line 2327"/>
            <p:cNvSpPr>
              <a:spLocks noChangeShapeType="1"/>
            </p:cNvSpPr>
            <p:nvPr/>
          </p:nvSpPr>
          <p:spPr bwMode="auto">
            <a:xfrm>
              <a:off x="5238" y="10613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6" name="Line 2328"/>
            <p:cNvSpPr>
              <a:spLocks noChangeShapeType="1"/>
            </p:cNvSpPr>
            <p:nvPr/>
          </p:nvSpPr>
          <p:spPr bwMode="auto">
            <a:xfrm>
              <a:off x="5029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7" name="Line 2329"/>
            <p:cNvSpPr>
              <a:spLocks noChangeShapeType="1"/>
            </p:cNvSpPr>
            <p:nvPr/>
          </p:nvSpPr>
          <p:spPr bwMode="auto">
            <a:xfrm>
              <a:off x="5175" y="10612"/>
              <a:ext cx="0" cy="4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8" name="Line 2330"/>
            <p:cNvSpPr>
              <a:spLocks noChangeShapeType="1"/>
            </p:cNvSpPr>
            <p:nvPr/>
          </p:nvSpPr>
          <p:spPr bwMode="auto">
            <a:xfrm>
              <a:off x="10225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699" name="Line 2331"/>
            <p:cNvSpPr>
              <a:spLocks noChangeShapeType="1"/>
            </p:cNvSpPr>
            <p:nvPr/>
          </p:nvSpPr>
          <p:spPr bwMode="auto">
            <a:xfrm>
              <a:off x="10298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0" name="Line 2332"/>
            <p:cNvSpPr>
              <a:spLocks noChangeShapeType="1"/>
            </p:cNvSpPr>
            <p:nvPr/>
          </p:nvSpPr>
          <p:spPr bwMode="auto">
            <a:xfrm>
              <a:off x="10364" y="10613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1" name="Line 2333"/>
            <p:cNvSpPr>
              <a:spLocks noChangeShapeType="1"/>
            </p:cNvSpPr>
            <p:nvPr/>
          </p:nvSpPr>
          <p:spPr bwMode="auto">
            <a:xfrm>
              <a:off x="10507" y="10615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2" name="Line 2334"/>
            <p:cNvSpPr>
              <a:spLocks noChangeShapeType="1"/>
            </p:cNvSpPr>
            <p:nvPr/>
          </p:nvSpPr>
          <p:spPr bwMode="auto">
            <a:xfrm>
              <a:off x="10659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3" name="Line 2335"/>
            <p:cNvSpPr>
              <a:spLocks noChangeShapeType="1"/>
            </p:cNvSpPr>
            <p:nvPr/>
          </p:nvSpPr>
          <p:spPr bwMode="auto">
            <a:xfrm>
              <a:off x="10426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4" name="Line 2336"/>
            <p:cNvSpPr>
              <a:spLocks noChangeShapeType="1"/>
            </p:cNvSpPr>
            <p:nvPr/>
          </p:nvSpPr>
          <p:spPr bwMode="auto">
            <a:xfrm>
              <a:off x="10585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5" name="Line 2337"/>
            <p:cNvSpPr>
              <a:spLocks noChangeShapeType="1"/>
            </p:cNvSpPr>
            <p:nvPr/>
          </p:nvSpPr>
          <p:spPr bwMode="auto">
            <a:xfrm>
              <a:off x="9353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6" name="Line 2338"/>
            <p:cNvSpPr>
              <a:spLocks noChangeShapeType="1"/>
            </p:cNvSpPr>
            <p:nvPr/>
          </p:nvSpPr>
          <p:spPr bwMode="auto">
            <a:xfrm>
              <a:off x="9560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7" name="Line 2339"/>
            <p:cNvSpPr>
              <a:spLocks noChangeShapeType="1"/>
            </p:cNvSpPr>
            <p:nvPr/>
          </p:nvSpPr>
          <p:spPr bwMode="auto">
            <a:xfrm>
              <a:off x="9634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8" name="Line 2340"/>
            <p:cNvSpPr>
              <a:spLocks noChangeShapeType="1"/>
            </p:cNvSpPr>
            <p:nvPr/>
          </p:nvSpPr>
          <p:spPr bwMode="auto">
            <a:xfrm>
              <a:off x="9714" y="10625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09" name="Line 2341"/>
            <p:cNvSpPr>
              <a:spLocks noChangeShapeType="1"/>
            </p:cNvSpPr>
            <p:nvPr/>
          </p:nvSpPr>
          <p:spPr bwMode="auto">
            <a:xfrm>
              <a:off x="9867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0" name="Line 2342"/>
            <p:cNvSpPr>
              <a:spLocks noChangeShapeType="1"/>
            </p:cNvSpPr>
            <p:nvPr/>
          </p:nvSpPr>
          <p:spPr bwMode="auto">
            <a:xfrm>
              <a:off x="10003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1" name="Line 2343"/>
            <p:cNvSpPr>
              <a:spLocks noChangeShapeType="1"/>
            </p:cNvSpPr>
            <p:nvPr/>
          </p:nvSpPr>
          <p:spPr bwMode="auto">
            <a:xfrm>
              <a:off x="9785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2" name="Line 2344"/>
            <p:cNvSpPr>
              <a:spLocks noChangeShapeType="1"/>
            </p:cNvSpPr>
            <p:nvPr/>
          </p:nvSpPr>
          <p:spPr bwMode="auto">
            <a:xfrm>
              <a:off x="9948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3" name="Line 2345"/>
            <p:cNvSpPr>
              <a:spLocks noChangeShapeType="1"/>
            </p:cNvSpPr>
            <p:nvPr/>
          </p:nvSpPr>
          <p:spPr bwMode="auto">
            <a:xfrm>
              <a:off x="8886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4" name="Line 2346"/>
            <p:cNvSpPr>
              <a:spLocks noChangeShapeType="1"/>
            </p:cNvSpPr>
            <p:nvPr/>
          </p:nvSpPr>
          <p:spPr bwMode="auto">
            <a:xfrm>
              <a:off x="8966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5" name="Line 2347"/>
            <p:cNvSpPr>
              <a:spLocks noChangeShapeType="1"/>
            </p:cNvSpPr>
            <p:nvPr/>
          </p:nvSpPr>
          <p:spPr bwMode="auto">
            <a:xfrm>
              <a:off x="9038" y="10613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6" name="Line 2348"/>
            <p:cNvSpPr>
              <a:spLocks noChangeShapeType="1"/>
            </p:cNvSpPr>
            <p:nvPr/>
          </p:nvSpPr>
          <p:spPr bwMode="auto">
            <a:xfrm>
              <a:off x="9170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7" name="Line 2349"/>
            <p:cNvSpPr>
              <a:spLocks noChangeShapeType="1"/>
            </p:cNvSpPr>
            <p:nvPr/>
          </p:nvSpPr>
          <p:spPr bwMode="auto">
            <a:xfrm>
              <a:off x="9297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8" name="Line 2350"/>
            <p:cNvSpPr>
              <a:spLocks noChangeShapeType="1"/>
            </p:cNvSpPr>
            <p:nvPr/>
          </p:nvSpPr>
          <p:spPr bwMode="auto">
            <a:xfrm>
              <a:off x="9110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19" name="Line 2351"/>
            <p:cNvSpPr>
              <a:spLocks noChangeShapeType="1"/>
            </p:cNvSpPr>
            <p:nvPr/>
          </p:nvSpPr>
          <p:spPr bwMode="auto">
            <a:xfrm>
              <a:off x="9226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0" name="Line 2352"/>
            <p:cNvSpPr>
              <a:spLocks noChangeShapeType="1"/>
            </p:cNvSpPr>
            <p:nvPr/>
          </p:nvSpPr>
          <p:spPr bwMode="auto">
            <a:xfrm>
              <a:off x="8032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1" name="Line 2353"/>
            <p:cNvSpPr>
              <a:spLocks noChangeShapeType="1"/>
            </p:cNvSpPr>
            <p:nvPr/>
          </p:nvSpPr>
          <p:spPr bwMode="auto">
            <a:xfrm>
              <a:off x="8260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2" name="Line 2354"/>
            <p:cNvSpPr>
              <a:spLocks noChangeShapeType="1"/>
            </p:cNvSpPr>
            <p:nvPr/>
          </p:nvSpPr>
          <p:spPr bwMode="auto">
            <a:xfrm>
              <a:off x="8340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3" name="Line 2355"/>
            <p:cNvSpPr>
              <a:spLocks noChangeShapeType="1"/>
            </p:cNvSpPr>
            <p:nvPr/>
          </p:nvSpPr>
          <p:spPr bwMode="auto">
            <a:xfrm>
              <a:off x="8399" y="10613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4" name="Line 2356"/>
            <p:cNvSpPr>
              <a:spLocks noChangeShapeType="1"/>
            </p:cNvSpPr>
            <p:nvPr/>
          </p:nvSpPr>
          <p:spPr bwMode="auto">
            <a:xfrm>
              <a:off x="8552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5" name="Line 2357"/>
            <p:cNvSpPr>
              <a:spLocks noChangeShapeType="1"/>
            </p:cNvSpPr>
            <p:nvPr/>
          </p:nvSpPr>
          <p:spPr bwMode="auto">
            <a:xfrm>
              <a:off x="8693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6" name="Line 2358"/>
            <p:cNvSpPr>
              <a:spLocks noChangeShapeType="1"/>
            </p:cNvSpPr>
            <p:nvPr/>
          </p:nvSpPr>
          <p:spPr bwMode="auto">
            <a:xfrm>
              <a:off x="8481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7" name="Line 2359"/>
            <p:cNvSpPr>
              <a:spLocks noChangeShapeType="1"/>
            </p:cNvSpPr>
            <p:nvPr/>
          </p:nvSpPr>
          <p:spPr bwMode="auto">
            <a:xfrm>
              <a:off x="8621" y="10613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8" name="Line 2360"/>
            <p:cNvSpPr>
              <a:spLocks noChangeShapeType="1"/>
            </p:cNvSpPr>
            <p:nvPr/>
          </p:nvSpPr>
          <p:spPr bwMode="auto">
            <a:xfrm>
              <a:off x="7355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29" name="Line 2361"/>
            <p:cNvSpPr>
              <a:spLocks noChangeShapeType="1"/>
            </p:cNvSpPr>
            <p:nvPr/>
          </p:nvSpPr>
          <p:spPr bwMode="auto">
            <a:xfrm>
              <a:off x="7542" y="10621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0" name="Line 2362"/>
            <p:cNvSpPr>
              <a:spLocks noChangeShapeType="1"/>
            </p:cNvSpPr>
            <p:nvPr/>
          </p:nvSpPr>
          <p:spPr bwMode="auto">
            <a:xfrm>
              <a:off x="7612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1" name="Line 2363"/>
            <p:cNvSpPr>
              <a:spLocks noChangeShapeType="1"/>
            </p:cNvSpPr>
            <p:nvPr/>
          </p:nvSpPr>
          <p:spPr bwMode="auto">
            <a:xfrm>
              <a:off x="7701" y="10625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2" name="Line 2364"/>
            <p:cNvSpPr>
              <a:spLocks noChangeShapeType="1"/>
            </p:cNvSpPr>
            <p:nvPr/>
          </p:nvSpPr>
          <p:spPr bwMode="auto">
            <a:xfrm>
              <a:off x="7863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3" name="Line 2365"/>
            <p:cNvSpPr>
              <a:spLocks noChangeShapeType="1"/>
            </p:cNvSpPr>
            <p:nvPr/>
          </p:nvSpPr>
          <p:spPr bwMode="auto">
            <a:xfrm>
              <a:off x="7968" y="1062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4" name="Line 2366"/>
            <p:cNvSpPr>
              <a:spLocks noChangeShapeType="1"/>
            </p:cNvSpPr>
            <p:nvPr/>
          </p:nvSpPr>
          <p:spPr bwMode="auto">
            <a:xfrm>
              <a:off x="7779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5" name="Line 2367"/>
            <p:cNvSpPr>
              <a:spLocks noChangeShapeType="1"/>
            </p:cNvSpPr>
            <p:nvPr/>
          </p:nvSpPr>
          <p:spPr bwMode="auto">
            <a:xfrm>
              <a:off x="7905" y="10626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6" name="Line 2368"/>
            <p:cNvSpPr>
              <a:spLocks noChangeShapeType="1"/>
            </p:cNvSpPr>
            <p:nvPr/>
          </p:nvSpPr>
          <p:spPr bwMode="auto">
            <a:xfrm>
              <a:off x="6711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7" name="Line 2369"/>
            <p:cNvSpPr>
              <a:spLocks noChangeShapeType="1"/>
            </p:cNvSpPr>
            <p:nvPr/>
          </p:nvSpPr>
          <p:spPr bwMode="auto">
            <a:xfrm>
              <a:off x="6842" y="10619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8" name="Line 2370"/>
            <p:cNvSpPr>
              <a:spLocks noChangeShapeType="1"/>
            </p:cNvSpPr>
            <p:nvPr/>
          </p:nvSpPr>
          <p:spPr bwMode="auto">
            <a:xfrm>
              <a:off x="6914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39" name="Line 2371"/>
            <p:cNvSpPr>
              <a:spLocks noChangeShapeType="1"/>
            </p:cNvSpPr>
            <p:nvPr/>
          </p:nvSpPr>
          <p:spPr bwMode="auto">
            <a:xfrm>
              <a:off x="6989" y="10612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0" name="Line 2372"/>
            <p:cNvSpPr>
              <a:spLocks noChangeShapeType="1"/>
            </p:cNvSpPr>
            <p:nvPr/>
          </p:nvSpPr>
          <p:spPr bwMode="auto">
            <a:xfrm>
              <a:off x="7136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1" name="Line 2373"/>
            <p:cNvSpPr>
              <a:spLocks noChangeShapeType="1"/>
            </p:cNvSpPr>
            <p:nvPr/>
          </p:nvSpPr>
          <p:spPr bwMode="auto">
            <a:xfrm>
              <a:off x="7295" y="10628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2" name="Line 2374"/>
            <p:cNvSpPr>
              <a:spLocks noChangeShapeType="1"/>
            </p:cNvSpPr>
            <p:nvPr/>
          </p:nvSpPr>
          <p:spPr bwMode="auto">
            <a:xfrm>
              <a:off x="7065" y="10616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3" name="Line 2375"/>
            <p:cNvSpPr>
              <a:spLocks noChangeShapeType="1"/>
            </p:cNvSpPr>
            <p:nvPr/>
          </p:nvSpPr>
          <p:spPr bwMode="auto">
            <a:xfrm>
              <a:off x="7215" y="10613"/>
              <a:ext cx="0" cy="4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4" name="Line 2376"/>
            <p:cNvSpPr>
              <a:spLocks noChangeShapeType="1"/>
            </p:cNvSpPr>
            <p:nvPr/>
          </p:nvSpPr>
          <p:spPr bwMode="auto">
            <a:xfrm>
              <a:off x="6005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5" name="Line 2377"/>
            <p:cNvSpPr>
              <a:spLocks noChangeShapeType="1"/>
            </p:cNvSpPr>
            <p:nvPr/>
          </p:nvSpPr>
          <p:spPr bwMode="auto">
            <a:xfrm>
              <a:off x="6176" y="10608"/>
              <a:ext cx="0" cy="4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6" name="Line 2378"/>
            <p:cNvSpPr>
              <a:spLocks noChangeShapeType="1"/>
            </p:cNvSpPr>
            <p:nvPr/>
          </p:nvSpPr>
          <p:spPr bwMode="auto">
            <a:xfrm>
              <a:off x="6261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7" name="Line 2379"/>
            <p:cNvSpPr>
              <a:spLocks noChangeShapeType="1"/>
            </p:cNvSpPr>
            <p:nvPr/>
          </p:nvSpPr>
          <p:spPr bwMode="auto">
            <a:xfrm>
              <a:off x="6331" y="10610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8" name="Line 2380"/>
            <p:cNvSpPr>
              <a:spLocks noChangeShapeType="1"/>
            </p:cNvSpPr>
            <p:nvPr/>
          </p:nvSpPr>
          <p:spPr bwMode="auto">
            <a:xfrm>
              <a:off x="6490" y="10617"/>
              <a:ext cx="0" cy="42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49" name="Line 2381"/>
            <p:cNvSpPr>
              <a:spLocks noChangeShapeType="1"/>
            </p:cNvSpPr>
            <p:nvPr/>
          </p:nvSpPr>
          <p:spPr bwMode="auto">
            <a:xfrm>
              <a:off x="6634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50" name="Line 2382"/>
            <p:cNvSpPr>
              <a:spLocks noChangeShapeType="1"/>
            </p:cNvSpPr>
            <p:nvPr/>
          </p:nvSpPr>
          <p:spPr bwMode="auto">
            <a:xfrm>
              <a:off x="6418" y="10617"/>
              <a:ext cx="0" cy="4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0751" name="Line 2383"/>
            <p:cNvSpPr>
              <a:spLocks noChangeShapeType="1"/>
            </p:cNvSpPr>
            <p:nvPr/>
          </p:nvSpPr>
          <p:spPr bwMode="auto">
            <a:xfrm>
              <a:off x="6561" y="10613"/>
              <a:ext cx="0" cy="4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396" name="Прямоугольник 2395"/>
          <p:cNvSpPr/>
          <p:nvPr/>
        </p:nvSpPr>
        <p:spPr>
          <a:xfrm>
            <a:off x="357158" y="142852"/>
            <a:ext cx="8501122" cy="3571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</a:rPr>
              <a:t>           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010010000000000000000000000000000000000000…0000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(128 бит)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0752" name="Object 2384"/>
          <p:cNvGraphicFramePr>
            <a:graphicFrameLocks noChangeAspect="1"/>
          </p:cNvGraphicFramePr>
          <p:nvPr/>
        </p:nvGraphicFramePr>
        <p:xfrm>
          <a:off x="642910" y="214290"/>
          <a:ext cx="3587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98" name="Формула" r:id="rId4" imgW="228501" imgH="165028" progId="Equation.3">
                  <p:embed/>
                </p:oleObj>
              </mc:Choice>
              <mc:Fallback>
                <p:oleObj name="Формула" r:id="rId4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214290"/>
                        <a:ext cx="358775" cy="236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8" name="Прямоугольник 2397"/>
          <p:cNvSpPr/>
          <p:nvPr/>
        </p:nvSpPr>
        <p:spPr>
          <a:xfrm>
            <a:off x="214282" y="6215082"/>
            <a:ext cx="8643998" cy="3571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</a:rPr>
              <a:t>       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01110010010011011111110110001111010110000101100111010…0010110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(128 бит)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0753" name="Object 2385"/>
          <p:cNvGraphicFramePr>
            <a:graphicFrameLocks noChangeAspect="1"/>
          </p:cNvGraphicFramePr>
          <p:nvPr/>
        </p:nvGraphicFramePr>
        <p:xfrm>
          <a:off x="285720" y="6286520"/>
          <a:ext cx="411162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99" name="Формула" r:id="rId6" imgW="253670" imgH="177569" progId="Equation.3">
                  <p:embed/>
                </p:oleObj>
              </mc:Choice>
              <mc:Fallback>
                <p:oleObj name="Формула" r:id="rId6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6286520"/>
                        <a:ext cx="411162" cy="236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106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9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0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0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0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96" grpId="0" animBg="1"/>
      <p:bldP spid="239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16632"/>
            <a:ext cx="8784976" cy="116922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III.</a:t>
            </a:r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Боб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uz-Cyrl-UZ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AES симметрик шифрлаш алгоритмлари учун дифференциал криптотаҳлил  усулини текшириш дастурий таъминотини яратиш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9512" y="1340768"/>
            <a:ext cx="8784976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458806" y="2420888"/>
            <a:ext cx="8361666" cy="8640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3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.1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Angsana New" pitchFamily="18" charset="-34"/>
              </a:rPr>
              <a:t>S_AES </a:t>
            </a:r>
            <a:r>
              <a:rPr lang="uz-Cyrl-UZ" sz="2000" b="1" dirty="0" smtClean="0">
                <a:solidFill>
                  <a:schemeClr val="tx1"/>
                </a:solidFill>
                <a:latin typeface="Times New Roman" pitchFamily="18" charset="0"/>
                <a:cs typeface="Angsana New" pitchFamily="18" charset="-34"/>
              </a:rPr>
              <a:t>алгоритмига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дифференциал </a:t>
            </a:r>
            <a:r>
              <a:rPr lang="uz-Cyrl-UZ" sz="2000" b="1" dirty="0">
                <a:latin typeface="Times New Roman" pitchFamily="18" charset="0"/>
                <a:cs typeface="Times New Roman" pitchFamily="18" charset="0"/>
              </a:rPr>
              <a:t>криптотаҳлил  усулини текшириш дастурий таъминотини яратиш 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58806" y="4036292"/>
            <a:ext cx="8361666" cy="9048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§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3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.2</a:t>
            </a:r>
            <a:r>
              <a:rPr lang="ru-RU" sz="2000" dirty="0" smtClean="0"/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дифференциал  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усули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дастурий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таъминотини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яратиш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38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142844" y="1196752"/>
            <a:ext cx="8858312" cy="5544616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42844" y="122926"/>
            <a:ext cx="8858312" cy="100181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3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.1 </a:t>
            </a:r>
            <a:r>
              <a:rPr lang="en-US" sz="2000" b="1" dirty="0" smtClean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S_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AES алгоритмига </a:t>
            </a:r>
            <a:r>
              <a:rPr lang="uz-Cyrl-UZ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дифференциал криптотаҳлил  усулини текшириш дастурий таъминотини яратиш </a:t>
            </a:r>
            <a:endParaRPr lang="ru-RU" b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3236838" y="1268760"/>
            <a:ext cx="2127250" cy="1973580"/>
          </a:xfrm>
          <a:prstGeom prst="rect">
            <a:avLst/>
          </a:prstGeom>
        </p:spPr>
      </p:pic>
      <p:sp>
        <p:nvSpPr>
          <p:cNvPr id="8" name="Скругленная прямоугольная выноска 7"/>
          <p:cNvSpPr/>
          <p:nvPr/>
        </p:nvSpPr>
        <p:spPr>
          <a:xfrm>
            <a:off x="6588224" y="1988840"/>
            <a:ext cx="2304256" cy="995680"/>
          </a:xfrm>
          <a:prstGeom prst="wedgeRoundRectCallout">
            <a:avLst>
              <a:gd name="adj1" fmla="val -125780"/>
              <a:gd name="adj2" fmla="val 22486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solidFill>
                  <a:srgbClr val="FF0000"/>
                </a:solidFill>
                <a:effectLst/>
                <a:latin typeface="Times New Roman"/>
                <a:ea typeface="Times New Roman"/>
                <a:cs typeface="Times New Roman"/>
              </a:rPr>
              <a:t>Чиқиш орттирма ва мос ОТ ва ШТ </a:t>
            </a:r>
            <a:r>
              <a:rPr lang="uz-Cyrl-UZ" sz="1400" b="1" dirty="0" smtClean="0">
                <a:solidFill>
                  <a:srgbClr val="FF0000"/>
                </a:solidFill>
                <a:effectLst/>
                <a:latin typeface="Times New Roman"/>
                <a:ea typeface="Times New Roman"/>
                <a:cs typeface="Times New Roman"/>
              </a:rPr>
              <a:t>жуфтликларни </a:t>
            </a:r>
            <a:r>
              <a:rPr lang="uz-Cyrl-UZ" sz="1400" b="1" dirty="0">
                <a:solidFill>
                  <a:srgbClr val="FF0000"/>
                </a:solidFill>
                <a:effectLst/>
                <a:latin typeface="Times New Roman"/>
                <a:ea typeface="Times New Roman"/>
                <a:cs typeface="Times New Roman"/>
              </a:rPr>
              <a:t>топиш</a:t>
            </a:r>
            <a:endParaRPr lang="ru-RU" b="1" dirty="0">
              <a:solidFill>
                <a:srgbClr val="FF0000"/>
              </a:solidFill>
              <a:effectLst/>
              <a:ea typeface="Times New Roman"/>
              <a:cs typeface="Times New Roman"/>
            </a:endParaRPr>
          </a:p>
        </p:txBody>
      </p:sp>
      <p:sp>
        <p:nvSpPr>
          <p:cNvPr id="9" name="Скругленная прямоугольная выноска 8"/>
          <p:cNvSpPr/>
          <p:nvPr/>
        </p:nvSpPr>
        <p:spPr>
          <a:xfrm>
            <a:off x="704508" y="1556792"/>
            <a:ext cx="1563236" cy="963414"/>
          </a:xfrm>
          <a:prstGeom prst="wedgeRoundRectCallout">
            <a:avLst>
              <a:gd name="adj1" fmla="val 126432"/>
              <a:gd name="adj2" fmla="val 15441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solidFill>
                  <a:srgbClr val="FF0000"/>
                </a:solidFill>
                <a:effectLst/>
                <a:latin typeface="Times New Roman"/>
                <a:ea typeface="Times New Roman"/>
                <a:cs typeface="Times New Roman"/>
              </a:rPr>
              <a:t>Кирувчи орттирмани киритиш</a:t>
            </a:r>
            <a:endParaRPr lang="ru-RU" b="1" dirty="0">
              <a:solidFill>
                <a:srgbClr val="FF0000"/>
              </a:solidFill>
              <a:effectLst/>
              <a:ea typeface="Times New Roman"/>
              <a:cs typeface="Times New Roman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649299"/>
              </p:ext>
            </p:extLst>
          </p:nvPr>
        </p:nvGraphicFramePr>
        <p:xfrm>
          <a:off x="467544" y="4005064"/>
          <a:ext cx="8280920" cy="259349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140027"/>
                <a:gridCol w="4140893"/>
              </a:tblGrid>
              <a:tr h="3074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endParaRPr lang="uz-Cyrl-UZ" sz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endParaRPr lang="uz-Cyrl-UZ" sz="1200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0110000000000000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0101000000001111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0000000000001110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0111000000001111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0000000000000101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0001000000000100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0000011000000000</a:t>
                      </a:r>
                      <a:endParaRPr lang="ru-RU" sz="1400" b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0000010111110000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99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1000000000000100</a:t>
                      </a:r>
                      <a:endParaRPr lang="ru-RU" sz="1400" b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3551555" algn="l"/>
                        </a:tabLst>
                      </a:pPr>
                      <a:r>
                        <a:rPr lang="uz-Cyrl-UZ" sz="2000" b="0" dirty="0">
                          <a:latin typeface="Times New Roman" pitchFamily="18" charset="0"/>
                          <a:ea typeface="Malgun Gothic" pitchFamily="34" charset="-127"/>
                          <a:cs typeface="Times New Roman" pitchFamily="18" charset="0"/>
                        </a:rPr>
                        <a:t>0000000000001001</a:t>
                      </a:r>
                      <a:endParaRPr lang="ru-RU" sz="1400" b="0" dirty="0">
                        <a:latin typeface="Times New Roman" pitchFamily="18" charset="0"/>
                        <a:ea typeface="Malgun Gothic" pitchFamily="34" charset="-127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391109"/>
              </p:ext>
            </p:extLst>
          </p:nvPr>
        </p:nvGraphicFramePr>
        <p:xfrm>
          <a:off x="2339752" y="4077072"/>
          <a:ext cx="3587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94" name="Формула" r:id="rId4" imgW="228501" imgH="165028" progId="Equation.3">
                  <p:embed/>
                </p:oleObj>
              </mc:Choice>
              <mc:Fallback>
                <p:oleObj name="Формула" r:id="rId4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077072"/>
                        <a:ext cx="358775" cy="236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992413"/>
              </p:ext>
            </p:extLst>
          </p:nvPr>
        </p:nvGraphicFramePr>
        <p:xfrm>
          <a:off x="6465093" y="4005064"/>
          <a:ext cx="41116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95" name="Формула" r:id="rId6" imgW="253670" imgH="177569" progId="Equation.3">
                  <p:embed/>
                </p:oleObj>
              </mc:Choice>
              <mc:Fallback>
                <p:oleObj name="Формула" r:id="rId6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093" y="4005064"/>
                        <a:ext cx="411163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232010" y="3284984"/>
            <a:ext cx="8588461" cy="72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ОТ ва ШТ </a:t>
            </a:r>
            <a:r>
              <a:rPr lang="ru-RU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жуфтликлар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ига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нисбатан </a:t>
            </a:r>
            <a:r>
              <a:rPr lang="uz-Cyrl-UZ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X`+X=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ва </a:t>
            </a:r>
            <a:r>
              <a:rPr lang="uz-Cyrl-UZ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Y+Y`=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шартларга текширилади.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601718"/>
              </p:ext>
            </p:extLst>
          </p:nvPr>
        </p:nvGraphicFramePr>
        <p:xfrm>
          <a:off x="4546523" y="3502148"/>
          <a:ext cx="358775" cy="28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96" name="Формула" r:id="rId8" imgW="228501" imgH="165028" progId="Equation.3">
                  <p:embed/>
                </p:oleObj>
              </mc:Choice>
              <mc:Fallback>
                <p:oleObj name="Формула" r:id="rId8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523" y="3502148"/>
                        <a:ext cx="358775" cy="285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Объект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001678"/>
              </p:ext>
            </p:extLst>
          </p:nvPr>
        </p:nvGraphicFramePr>
        <p:xfrm>
          <a:off x="5868144" y="3490751"/>
          <a:ext cx="411162" cy="308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97" name="Формула" r:id="rId9" imgW="253670" imgH="177569" progId="Equation.3">
                  <p:embed/>
                </p:oleObj>
              </mc:Choice>
              <mc:Fallback>
                <p:oleObj name="Формула" r:id="rId9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3490751"/>
                        <a:ext cx="411162" cy="3085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60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8" grpId="0" animBg="1"/>
      <p:bldP spid="9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764704"/>
            <a:ext cx="8858312" cy="597666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42844" y="44624"/>
            <a:ext cx="8858312" cy="64177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S_AES алгоритми учун ДКТ ўтказиш дастурий таъминоти</a:t>
            </a:r>
            <a:endParaRPr lang="ru-RU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" name="Рисунок 34"/>
          <p:cNvPicPr/>
          <p:nvPr/>
        </p:nvPicPr>
        <p:blipFill rotWithShape="1">
          <a:blip r:embed="rId3"/>
          <a:srcRect l="8781" t="5158" r="8766" b="5748"/>
          <a:stretch/>
        </p:blipFill>
        <p:spPr bwMode="auto">
          <a:xfrm>
            <a:off x="142844" y="764704"/>
            <a:ext cx="8858312" cy="59766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6" name="Скругленная прямоугольная выноска 35"/>
          <p:cNvSpPr/>
          <p:nvPr/>
        </p:nvSpPr>
        <p:spPr>
          <a:xfrm>
            <a:off x="2267744" y="1432496"/>
            <a:ext cx="2160240" cy="844376"/>
          </a:xfrm>
          <a:prstGeom prst="wedgeRoundRectCallout">
            <a:avLst>
              <a:gd name="adj1" fmla="val -107067"/>
              <a:gd name="adj2" fmla="val 3710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S_AES алгоритми S блоки жойлашадиган соҳа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7" name="Скругленная прямоугольная выноска 36"/>
          <p:cNvSpPr/>
          <p:nvPr/>
        </p:nvSpPr>
        <p:spPr>
          <a:xfrm>
            <a:off x="2686100" y="3016672"/>
            <a:ext cx="1741884" cy="844376"/>
          </a:xfrm>
          <a:prstGeom prst="wedgeRoundRectCallout">
            <a:avLst>
              <a:gd name="adj1" fmla="val -110712"/>
              <a:gd name="adj2" fmla="val 50641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S_AES алгоритми S блокига мос айирма матрица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8" name="Скругленная прямоугольная выноска 37"/>
          <p:cNvSpPr/>
          <p:nvPr/>
        </p:nvSpPr>
        <p:spPr>
          <a:xfrm>
            <a:off x="1259632" y="4005064"/>
            <a:ext cx="1728192" cy="684076"/>
          </a:xfrm>
          <a:prstGeom prst="wedgeRoundRectCallout">
            <a:avLst>
              <a:gd name="adj1" fmla="val -89871"/>
              <a:gd name="adj2" fmla="val 181117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орттирмаларни юклаш тугмаси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9" name="Скругленная прямоугольная выноска 38"/>
          <p:cNvSpPr/>
          <p:nvPr/>
        </p:nvSpPr>
        <p:spPr>
          <a:xfrm>
            <a:off x="3275856" y="4312816"/>
            <a:ext cx="1872208" cy="844376"/>
          </a:xfrm>
          <a:prstGeom prst="wedgeRoundRectCallout">
            <a:avLst>
              <a:gd name="adj1" fmla="val -186524"/>
              <a:gd name="adj2" fmla="val 13637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Орттирмаларга мос шифр матнларни юклаш тугмаси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40" name="Скругленная прямоугольная выноска 39"/>
          <p:cNvSpPr/>
          <p:nvPr/>
        </p:nvSpPr>
        <p:spPr>
          <a:xfrm>
            <a:off x="5580112" y="1628800"/>
            <a:ext cx="1656184" cy="988392"/>
          </a:xfrm>
          <a:prstGeom prst="wedgeRoundRectCallout">
            <a:avLst>
              <a:gd name="adj1" fmla="val -123836"/>
              <a:gd name="adj2" fmla="val 3710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Охирги раунд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блокка кирувчи орттирма вариантлари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41" name="Скругленная прямоугольная выноска 40"/>
          <p:cNvSpPr/>
          <p:nvPr/>
        </p:nvSpPr>
        <p:spPr>
          <a:xfrm>
            <a:off x="3491880" y="5409220"/>
            <a:ext cx="1728192" cy="684076"/>
          </a:xfrm>
          <a:prstGeom prst="wedgeRoundRectCallout">
            <a:avLst>
              <a:gd name="adj1" fmla="val -139842"/>
              <a:gd name="adj2" fmla="val 8086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ДКТ ни амалга ошириш тугмаси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42" name="Скругленная прямоугольная выноска 41"/>
          <p:cNvSpPr/>
          <p:nvPr/>
        </p:nvSpPr>
        <p:spPr>
          <a:xfrm>
            <a:off x="6912260" y="3258840"/>
            <a:ext cx="1843608" cy="988392"/>
          </a:xfrm>
          <a:prstGeom prst="wedgeRoundRectCallout">
            <a:avLst>
              <a:gd name="adj1" fmla="val -51755"/>
              <a:gd name="adj2" fmla="val -13507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блокка кирувчи орттирмаларга мос чиқувчи орттирма вариантлари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43" name="Скругленная прямоугольная выноска 42"/>
          <p:cNvSpPr/>
          <p:nvPr/>
        </p:nvSpPr>
        <p:spPr>
          <a:xfrm>
            <a:off x="6043364" y="4689140"/>
            <a:ext cx="2088232" cy="1330430"/>
          </a:xfrm>
          <a:prstGeom prst="wedgeRoundRectCallout">
            <a:avLst>
              <a:gd name="adj1" fmla="val -100118"/>
              <a:gd name="adj2" fmla="val -45943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чи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ишига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мос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шифр матнга боғлиқ бўлган калит тенгламалари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graphicFrame>
        <p:nvGraphicFramePr>
          <p:cNvPr id="44" name="Объект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792299"/>
              </p:ext>
            </p:extLst>
          </p:nvPr>
        </p:nvGraphicFramePr>
        <p:xfrm>
          <a:off x="6897141" y="4705201"/>
          <a:ext cx="411163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762" name="Формула" r:id="rId4" imgW="253670" imgH="177569" progId="Equation.3">
                  <p:embed/>
                </p:oleObj>
              </mc:Choice>
              <mc:Fallback>
                <p:oleObj name="Формула" r:id="rId4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141" y="4705201"/>
                        <a:ext cx="411163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Скругленная прямоугольная выноска 44"/>
          <p:cNvSpPr/>
          <p:nvPr/>
        </p:nvSpPr>
        <p:spPr>
          <a:xfrm>
            <a:off x="4426992" y="5493066"/>
            <a:ext cx="1728192" cy="684076"/>
          </a:xfrm>
          <a:prstGeom prst="wedgeRoundRectCallout">
            <a:avLst>
              <a:gd name="adj1" fmla="val 87234"/>
              <a:gd name="adj2" fmla="val -10850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калит вариантлари</a:t>
            </a:r>
            <a:endParaRPr lang="ru-RU" sz="1600" b="1" dirty="0">
              <a:solidFill>
                <a:srgbClr val="FF0000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20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5" grpId="0" animBg="1"/>
      <p:bldP spid="4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980728"/>
            <a:ext cx="8858312" cy="573442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42844" y="44624"/>
            <a:ext cx="8858312" cy="857802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3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.1 </a:t>
            </a:r>
            <a:r>
              <a:rPr lang="uz-Cyrl-UZ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АES шифрлаш алгоритми 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учун  </a:t>
            </a:r>
            <a:r>
              <a:rPr lang="uz-Cyrl-UZ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дифференциал  криптотаҳлил усули дастурий таъминотини яратиш</a:t>
            </a:r>
            <a:endParaRPr lang="ru-RU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142845" y="980728"/>
            <a:ext cx="8858312" cy="5734420"/>
          </a:xfrm>
          <a:prstGeom prst="rect">
            <a:avLst/>
          </a:prstGeom>
        </p:spPr>
      </p:pic>
      <p:sp>
        <p:nvSpPr>
          <p:cNvPr id="13" name="Скругленная прямоугольная выноска 12"/>
          <p:cNvSpPr/>
          <p:nvPr/>
        </p:nvSpPr>
        <p:spPr>
          <a:xfrm>
            <a:off x="899592" y="2267744"/>
            <a:ext cx="2160240" cy="844376"/>
          </a:xfrm>
          <a:prstGeom prst="wedgeRoundRectCallout">
            <a:avLst>
              <a:gd name="adj1" fmla="val -70030"/>
              <a:gd name="adj2" fmla="val -150905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S блокни юклаш ва унга мос айирма матрицани қуриш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14" name="Скругленная прямоугольная выноска 13"/>
          <p:cNvSpPr/>
          <p:nvPr/>
        </p:nvSpPr>
        <p:spPr>
          <a:xfrm>
            <a:off x="2135188" y="1124744"/>
            <a:ext cx="2160240" cy="844376"/>
          </a:xfrm>
          <a:prstGeom prst="wedgeRoundRectCallout">
            <a:avLst>
              <a:gd name="adj1" fmla="val -104716"/>
              <a:gd name="adj2" fmla="val 49137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Раундлар сони (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яъни нечта раунд учун орттирма қуриш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)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15" name="Скругленная прямоугольная выноска 14"/>
          <p:cNvSpPr/>
          <p:nvPr/>
        </p:nvSpPr>
        <p:spPr>
          <a:xfrm>
            <a:off x="4316016" y="1138064"/>
            <a:ext cx="2160240" cy="844376"/>
          </a:xfrm>
          <a:prstGeom prst="wedgeRoundRectCallout">
            <a:avLst>
              <a:gd name="adj1" fmla="val -121765"/>
              <a:gd name="adj2" fmla="val 41617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ОТ ва ШТ ларнинг генерация чегараси киритиладиган соха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16" name="Скругленная прямоугольная выноска 15"/>
          <p:cNvSpPr/>
          <p:nvPr/>
        </p:nvSpPr>
        <p:spPr>
          <a:xfrm>
            <a:off x="6459984" y="2148780"/>
            <a:ext cx="1928440" cy="844376"/>
          </a:xfrm>
          <a:prstGeom prst="wedgeRoundRectCallout">
            <a:avLst>
              <a:gd name="adj1" fmla="val -82283"/>
              <a:gd name="adj2" fmla="val -5765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Орттирма чегараси киритиладиган соха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17" name="Скругленная прямоугольная выноска 16"/>
          <p:cNvSpPr/>
          <p:nvPr/>
        </p:nvSpPr>
        <p:spPr>
          <a:xfrm>
            <a:off x="3059832" y="3717032"/>
            <a:ext cx="1291456" cy="844376"/>
          </a:xfrm>
          <a:prstGeom prst="wedgeRoundRectCallout">
            <a:avLst>
              <a:gd name="adj1" fmla="val 42186"/>
              <a:gd name="adj2" fmla="val -141880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Дастур ишини бошлаш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7" name="Скругленная прямоугольная выноска 26"/>
          <p:cNvSpPr/>
          <p:nvPr/>
        </p:nvSpPr>
        <p:spPr>
          <a:xfrm>
            <a:off x="6764784" y="3573016"/>
            <a:ext cx="1479624" cy="844376"/>
          </a:xfrm>
          <a:prstGeom prst="wedgeRoundRectCallout">
            <a:avLst>
              <a:gd name="adj1" fmla="val -142212"/>
              <a:gd name="adj2" fmla="val 551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S блок жойлашадиган соха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8" name="Скругленная прямоугольная выноска 27"/>
          <p:cNvSpPr/>
          <p:nvPr/>
        </p:nvSpPr>
        <p:spPr>
          <a:xfrm>
            <a:off x="6740872" y="5013176"/>
            <a:ext cx="1928440" cy="844376"/>
          </a:xfrm>
          <a:prstGeom prst="wedgeRoundRectCallout">
            <a:avLst>
              <a:gd name="adj1" fmla="val -129041"/>
              <a:gd name="adj2" fmla="val 2356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S блокка мос айирма матрицаси жойлашадиган соха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710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764704"/>
            <a:ext cx="8858312" cy="5950444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42844" y="44624"/>
            <a:ext cx="8858312" cy="64177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sz="20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алгоритми учун ДКТ ўтказиш дастурий таъминоти</a:t>
            </a:r>
            <a:endParaRPr lang="ru-RU" sz="20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" name="Рисунок 20"/>
          <p:cNvPicPr/>
          <p:nvPr/>
        </p:nvPicPr>
        <p:blipFill rotWithShape="1">
          <a:blip r:embed="rId2"/>
          <a:srcRect l="18642" t="9742" r="20813" b="7761"/>
          <a:stretch/>
        </p:blipFill>
        <p:spPr bwMode="auto">
          <a:xfrm>
            <a:off x="142844" y="764704"/>
            <a:ext cx="8858311" cy="59504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2" name="Скругленная прямоугольная выноска 21"/>
          <p:cNvSpPr/>
          <p:nvPr/>
        </p:nvSpPr>
        <p:spPr>
          <a:xfrm>
            <a:off x="1907704" y="1988840"/>
            <a:ext cx="2160240" cy="844376"/>
          </a:xfrm>
          <a:prstGeom prst="wedgeRoundRectCallout">
            <a:avLst>
              <a:gd name="adj1" fmla="val -120588"/>
              <a:gd name="adj2" fmla="val -146393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S блокни юклаш ва унга мос айирма матрицани қуриш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3" name="Скругленная прямоугольная выноска 22"/>
          <p:cNvSpPr/>
          <p:nvPr/>
        </p:nvSpPr>
        <p:spPr>
          <a:xfrm>
            <a:off x="3923928" y="1540260"/>
            <a:ext cx="2160240" cy="844376"/>
          </a:xfrm>
          <a:prstGeom prst="wedgeRoundRectCallout">
            <a:avLst>
              <a:gd name="adj1" fmla="val -179377"/>
              <a:gd name="adj2" fmla="val -89238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Раундлар сони (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яъни нечта раунд учун </a:t>
            </a:r>
            <a:r>
              <a:rPr lang="uz-Cyrl-UZ" sz="1400" b="1" i="1" dirty="0" smtClean="0">
                <a:latin typeface="Times New Roman" pitchFamily="18" charset="0"/>
                <a:cs typeface="Times New Roman" pitchFamily="18" charset="0"/>
              </a:rPr>
              <a:t>орттирмага мос ДКТ</a:t>
            </a:r>
            <a:r>
              <a:rPr lang="uz-Cyrl-UZ" sz="12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4" name="Скругленная прямоугольная выноска 23"/>
          <p:cNvSpPr/>
          <p:nvPr/>
        </p:nvSpPr>
        <p:spPr>
          <a:xfrm>
            <a:off x="6732240" y="1962448"/>
            <a:ext cx="1728192" cy="844376"/>
          </a:xfrm>
          <a:prstGeom prst="wedgeRoundRectCallout">
            <a:avLst>
              <a:gd name="adj1" fmla="val -162328"/>
              <a:gd name="adj2" fmla="val 31087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S блок жойлашадиган соха </a:t>
            </a:r>
            <a:r>
              <a:rPr lang="uz-Cyrl-UZ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5" name="Скругленная прямоугольная выноска 24"/>
          <p:cNvSpPr/>
          <p:nvPr/>
        </p:nvSpPr>
        <p:spPr>
          <a:xfrm>
            <a:off x="6884640" y="3739926"/>
            <a:ext cx="1728192" cy="844376"/>
          </a:xfrm>
          <a:prstGeom prst="wedgeRoundRectCallout">
            <a:avLst>
              <a:gd name="adj1" fmla="val -118236"/>
              <a:gd name="adj2" fmla="val 47632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AES алгоритми S блокига мос айирма матрица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6" name="Скругленная прямоугольная выноска 25"/>
          <p:cNvSpPr/>
          <p:nvPr/>
        </p:nvSpPr>
        <p:spPr>
          <a:xfrm>
            <a:off x="1907704" y="3911152"/>
            <a:ext cx="1296144" cy="597968"/>
          </a:xfrm>
          <a:prstGeom prst="wedgeRoundRectCallout">
            <a:avLst>
              <a:gd name="adj1" fmla="val -148120"/>
              <a:gd name="adj2" fmla="val 232474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Орттирмани юклаш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9" name="Скругленная прямоугольная выноска 28"/>
          <p:cNvSpPr/>
          <p:nvPr/>
        </p:nvSpPr>
        <p:spPr>
          <a:xfrm>
            <a:off x="3707904" y="4301416"/>
            <a:ext cx="1728192" cy="844376"/>
          </a:xfrm>
          <a:prstGeom prst="wedgeRoundRectCallout">
            <a:avLst>
              <a:gd name="adj1" fmla="val -222587"/>
              <a:gd name="adj2" fmla="val 154420"/>
              <a:gd name="adj3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Орттирмага мос шифрматнни юклаш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3203848" y="6237312"/>
            <a:ext cx="3680792" cy="3600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94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16632"/>
            <a:ext cx="8893652" cy="6527078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/>
          <p:nvPr/>
        </p:nvPicPr>
        <p:blipFill rotWithShape="1">
          <a:blip r:embed="rId3"/>
          <a:srcRect b="3438"/>
          <a:stretch/>
        </p:blipFill>
        <p:spPr bwMode="auto">
          <a:xfrm>
            <a:off x="142844" y="116632"/>
            <a:ext cx="8893652" cy="65270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Скругленная прямоугольная выноска 12"/>
          <p:cNvSpPr/>
          <p:nvPr/>
        </p:nvSpPr>
        <p:spPr>
          <a:xfrm>
            <a:off x="3779912" y="836712"/>
            <a:ext cx="2376264" cy="1080120"/>
          </a:xfrm>
          <a:prstGeom prst="wedgeRoundRectCallout">
            <a:avLst>
              <a:gd name="adj1" fmla="val -98541"/>
              <a:gd name="adj2" fmla="val 2020"/>
              <a:gd name="adj3" fmla="val 16667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 охирги </a:t>
            </a:r>
            <a:r>
              <a:rPr lang="uz-Cyrl-UZ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раунд  S блокка  кирувчи орттирмаларнинг вариантлари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14" name="Скругленная прямоугольная выноска 13"/>
          <p:cNvSpPr/>
          <p:nvPr/>
        </p:nvSpPr>
        <p:spPr>
          <a:xfrm>
            <a:off x="5521548" y="2708920"/>
            <a:ext cx="3082900" cy="1152128"/>
          </a:xfrm>
          <a:prstGeom prst="wedgeRoundRectCallout">
            <a:avLst>
              <a:gd name="adj1" fmla="val -93639"/>
              <a:gd name="adj2" fmla="val 6043"/>
              <a:gd name="adj3" fmla="val 16667"/>
            </a:avLst>
          </a:prstGeom>
          <a:solidFill>
            <a:schemeClr val="bg2"/>
          </a:solidFill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Алгоритм охирги раунд  S блокка  кирувчи орттирмаларнинг вариантлари мос чиқувчи орттирмаларнинг вариантлари </a:t>
            </a:r>
            <a:r>
              <a:rPr lang="uz-Cyrl-UZ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15" name="Скругленная прямоугольная выноска 14"/>
          <p:cNvSpPr/>
          <p:nvPr/>
        </p:nvSpPr>
        <p:spPr>
          <a:xfrm>
            <a:off x="1331640" y="4581128"/>
            <a:ext cx="2160240" cy="1296144"/>
          </a:xfrm>
          <a:prstGeom prst="wedgeRoundRectCallout">
            <a:avLst>
              <a:gd name="adj1" fmla="val 114572"/>
              <a:gd name="adj2" fmla="val 49136"/>
              <a:gd name="adj3" fmla="val 16667"/>
            </a:avLst>
          </a:prstGeom>
          <a:solidFill>
            <a:schemeClr val="bg2"/>
          </a:solidFill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400" b="1" dirty="0" smtClean="0">
                <a:latin typeface="Times New Roman" pitchFamily="18" charset="0"/>
                <a:cs typeface="Times New Roman" pitchFamily="18" charset="0"/>
              </a:rPr>
              <a:t>чиқишига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мос шифр матнга боғлиқ бўлган калит тенгламалари </a:t>
            </a:r>
            <a:endParaRPr lang="ru-RU" sz="1400" b="1" dirty="0">
              <a:solidFill>
                <a:schemeClr val="tx1"/>
              </a:solidFill>
              <a:effectLst/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724558"/>
              </p:ext>
            </p:extLst>
          </p:nvPr>
        </p:nvGraphicFramePr>
        <p:xfrm>
          <a:off x="2206179" y="4598455"/>
          <a:ext cx="411162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786" name="Формула" r:id="rId4" imgW="253670" imgH="177569" progId="Equation.3">
                  <p:embed/>
                </p:oleObj>
              </mc:Choice>
              <mc:Fallback>
                <p:oleObj name="Формула" r:id="rId4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179" y="4598455"/>
                        <a:ext cx="411162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Прямоугольник 16"/>
          <p:cNvSpPr/>
          <p:nvPr/>
        </p:nvSpPr>
        <p:spPr>
          <a:xfrm>
            <a:off x="251520" y="476672"/>
            <a:ext cx="8712968" cy="172819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/>
        </p:nvSpPr>
        <p:spPr>
          <a:xfrm>
            <a:off x="251520" y="2492896"/>
            <a:ext cx="8712968" cy="172819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251520" y="4437112"/>
            <a:ext cx="8712968" cy="1728192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3635896" y="6237312"/>
            <a:ext cx="2088232" cy="2880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38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1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1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16" presetClass="exit" presetSubtype="2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4282" y="214290"/>
            <a:ext cx="8786874" cy="642942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214282" y="214290"/>
            <a:ext cx="8786873" cy="6429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9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116632"/>
            <a:ext cx="8784976" cy="116922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tx1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IV.</a:t>
            </a:r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Боб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uz-Cyrl-UZ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AES симметрик шифрлаш алгоритмлари учун дифференциал криптотаҳлил  усулини текшириш дастурий </a:t>
            </a:r>
            <a:r>
              <a:rPr lang="uz-Cyrl-UZ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таъминотидан олинган натижалар таҳлили 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9512" y="1340768"/>
            <a:ext cx="8784976" cy="5410200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323528" y="2420888"/>
            <a:ext cx="8496944" cy="8640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4.1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Angsana New" pitchFamily="18" charset="-34"/>
              </a:rPr>
              <a:t>S_AES </a:t>
            </a:r>
            <a:r>
              <a:rPr lang="uz-Cyrl-UZ" sz="2000" b="1" dirty="0" smtClean="0">
                <a:solidFill>
                  <a:schemeClr val="tx1"/>
                </a:solidFill>
                <a:latin typeface="Times New Roman" pitchFamily="18" charset="0"/>
                <a:cs typeface="Angsana New" pitchFamily="18" charset="-34"/>
              </a:rPr>
              <a:t>алгоритмига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дифференциал </a:t>
            </a:r>
            <a:r>
              <a:rPr lang="uz-Cyrl-UZ" sz="2000" b="1" dirty="0">
                <a:latin typeface="Times New Roman" pitchFamily="18" charset="0"/>
                <a:cs typeface="Times New Roman" pitchFamily="18" charset="0"/>
              </a:rPr>
              <a:t>криптотаҳлил  усулини текшириш дастурий </a:t>
            </a:r>
            <a:r>
              <a:rPr lang="uz-Cyrl-UZ" sz="2000" b="1" dirty="0" smtClean="0">
                <a:latin typeface="Times New Roman" pitchFamily="18" charset="0"/>
                <a:cs typeface="Times New Roman" pitchFamily="18" charset="0"/>
              </a:rPr>
              <a:t>таъминотидан олинган натижалар таҳлили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23528" y="4036292"/>
            <a:ext cx="8496944" cy="10488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§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4.2</a:t>
            </a:r>
            <a:r>
              <a:rPr lang="ru-RU" sz="2000" dirty="0" smtClean="0"/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шифрлаш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дифференциал  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криптотаҳлил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усули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дастурий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таъминотидан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олинган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натижалар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таҳлили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раундлар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108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052736"/>
            <a:ext cx="8858312" cy="559097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525853"/>
              </p:ext>
            </p:extLst>
          </p:nvPr>
        </p:nvGraphicFramePr>
        <p:xfrm>
          <a:off x="251520" y="1124750"/>
          <a:ext cx="8677627" cy="5400597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600943"/>
                <a:gridCol w="3594980"/>
                <a:gridCol w="2517732"/>
                <a:gridCol w="1963972"/>
              </a:tblGrid>
              <a:tr h="5455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ru-RU" sz="11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2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 ва ШТ жуфтликлар сони</a:t>
                      </a:r>
                      <a:endParaRPr lang="ru-RU" sz="12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0110000000000000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0101000000001111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1536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0000000000001110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0111000000001111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2048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0000000000000101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0001000000000100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1024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0000011000000000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0000010111110000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1024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1000000000000100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0000000000001001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1024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0011101111010111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1101000110000100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та 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0000000001001001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1011110010000111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 та 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0000000001110101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0001010000100100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0001100000111100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1000011101000111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0001100001000110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0111000010011100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0000000010001110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0111110111001111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 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45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ru-RU" sz="11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1000110011111011</a:t>
                      </a:r>
                      <a:endParaRPr lang="ru-RU" sz="1600" b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0010011000010000</a:t>
                      </a:r>
                      <a:endParaRPr lang="ru-RU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</a:t>
                      </a:r>
                      <a:r>
                        <a:rPr lang="uz-Cyrl-UZ" sz="1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211871"/>
              </p:ext>
            </p:extLst>
          </p:nvPr>
        </p:nvGraphicFramePr>
        <p:xfrm>
          <a:off x="2339752" y="1196752"/>
          <a:ext cx="3619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6" name="Формула" r:id="rId3" imgW="228501" imgH="165028" progId="Equation.3">
                  <p:embed/>
                </p:oleObj>
              </mc:Choice>
              <mc:Fallback>
                <p:oleObj name="Формула" r:id="rId3" imgW="228501" imgH="165028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196752"/>
                        <a:ext cx="3619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597264"/>
              </p:ext>
            </p:extLst>
          </p:nvPr>
        </p:nvGraphicFramePr>
        <p:xfrm>
          <a:off x="5436096" y="1196752"/>
          <a:ext cx="4191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27" name="Формула" r:id="rId5" imgW="253670" imgH="177569" progId="Equation.3">
                  <p:embed/>
                </p:oleObj>
              </mc:Choice>
              <mc:Fallback>
                <p:oleObj name="Формула" r:id="rId5" imgW="253670" imgH="177569" progId="Equation.3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6096" y="1196752"/>
                        <a:ext cx="41910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251520" y="3645024"/>
            <a:ext cx="8640960" cy="28803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42844" y="116632"/>
            <a:ext cx="8858312" cy="864096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uz-Cyrl-UZ" sz="20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4.1 </a:t>
            </a:r>
            <a:r>
              <a:rPr lang="en-US" sz="2000" b="1" dirty="0" smtClean="0">
                <a:solidFill>
                  <a:srgbClr val="0000FF"/>
                </a:solidFill>
                <a:latin typeface="Times New Roman" pitchFamily="18" charset="0"/>
                <a:cs typeface="Angsana New" pitchFamily="18" charset="-34"/>
              </a:rPr>
              <a:t>S_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AES алгоритмига </a:t>
            </a:r>
            <a:r>
              <a:rPr lang="uz-Cyrl-UZ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дифференциал криптотаҳлил  усулини текшириш дастурий 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таъминотидан олинган натижалар таҳлили </a:t>
            </a:r>
            <a:endParaRPr lang="ru-RU" b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7" grpId="1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16632"/>
            <a:ext cx="8858312" cy="662473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88640"/>
            <a:ext cx="8636390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6084168" y="3861048"/>
            <a:ext cx="1728192" cy="26642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10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662473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57158" y="357166"/>
          <a:ext cx="842968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4948"/>
                <a:gridCol w="1404948"/>
                <a:gridCol w="1404948"/>
                <a:gridCol w="1404948"/>
                <a:gridCol w="1404948"/>
                <a:gridCol w="1404948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Times New Roman"/>
                          <a:cs typeface="Times New Roman"/>
                        </a:rPr>
                        <a:t>0010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1111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6</a:t>
                      </a:r>
                      <a:endParaRPr lang="ru-RU" sz="2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0001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1011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1010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0110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1110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7964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0100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0011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Times New Roman"/>
                          <a:cs typeface="Times New Roman"/>
                        </a:rPr>
                        <a:t>0111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96257" name="Object 1"/>
          <p:cNvGraphicFramePr>
            <a:graphicFrameLocks noChangeAspect="1"/>
          </p:cNvGraphicFramePr>
          <p:nvPr/>
        </p:nvGraphicFramePr>
        <p:xfrm>
          <a:off x="852464" y="428604"/>
          <a:ext cx="3619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06" name="Формула" r:id="rId3" imgW="228501" imgH="165028" progId="Equation.3">
                  <p:embed/>
                </p:oleObj>
              </mc:Choice>
              <mc:Fallback>
                <p:oleObj name="Формула" r:id="rId3" imgW="228501" imgH="165028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64" y="428604"/>
                        <a:ext cx="3619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57158" y="1928802"/>
          <a:ext cx="842968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4948"/>
                <a:gridCol w="1404948"/>
                <a:gridCol w="1404948"/>
                <a:gridCol w="1404948"/>
                <a:gridCol w="1404948"/>
                <a:gridCol w="1404948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0111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7</a:t>
                      </a:r>
                      <a:endParaRPr lang="ru-RU" sz="2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E36C0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57158" y="3500438"/>
          <a:ext cx="842968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4948"/>
                <a:gridCol w="1404948"/>
                <a:gridCol w="1404948"/>
                <a:gridCol w="1404948"/>
                <a:gridCol w="1404948"/>
                <a:gridCol w="1404948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1100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0111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0110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8</a:t>
                      </a:r>
                      <a:endParaRPr lang="ru-RU" sz="2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0011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E36C0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0010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1101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1011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357158" y="5072074"/>
          <a:ext cx="8429688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4948"/>
                <a:gridCol w="1404948"/>
                <a:gridCol w="1404948"/>
                <a:gridCol w="1404948"/>
                <a:gridCol w="1404948"/>
                <a:gridCol w="1404948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100" dirty="0" smtClean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</a:t>
                      </a:r>
                      <a:endParaRPr lang="ru-RU" sz="2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0010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E36C0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0000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0011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0100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70840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latin typeface="Times New Roman"/>
                          <a:ea typeface="Times New Roman"/>
                          <a:cs typeface="Times New Roman"/>
                        </a:rPr>
                        <a:t>K</a:t>
                      </a:r>
                      <a:r>
                        <a:rPr lang="en-US" sz="1400" b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ru-RU" sz="12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1110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1001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latin typeface="Times New Roman"/>
                          <a:ea typeface="Times New Roman"/>
                          <a:cs typeface="Times New Roman"/>
                        </a:rPr>
                        <a:t>1010</a:t>
                      </a:r>
                      <a:endParaRPr lang="ru-RU" sz="1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1101</a:t>
                      </a:r>
                      <a:endParaRPr lang="ru-RU" sz="1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857224" y="2000240"/>
          <a:ext cx="3619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07" name="Формула" r:id="rId5" imgW="228501" imgH="165028" progId="Equation.3">
                  <p:embed/>
                </p:oleObj>
              </mc:Choice>
              <mc:Fallback>
                <p:oleObj name="Формула" r:id="rId5" imgW="228501" imgH="165028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2000240"/>
                        <a:ext cx="3619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857224" y="3571876"/>
          <a:ext cx="3619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08" name="Формула" r:id="rId6" imgW="228501" imgH="165028" progId="Equation.3">
                  <p:embed/>
                </p:oleObj>
              </mc:Choice>
              <mc:Fallback>
                <p:oleObj name="Формула" r:id="rId6" imgW="228501" imgH="165028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3571876"/>
                        <a:ext cx="3619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928662" y="5143512"/>
          <a:ext cx="36195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609" name="Формула" r:id="rId7" imgW="228501" imgH="165028" progId="Equation.3">
                  <p:embed/>
                </p:oleObj>
              </mc:Choice>
              <mc:Fallback>
                <p:oleObj name="Формула" r:id="rId7" imgW="228501" imgH="165028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5143512"/>
                        <a:ext cx="361950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247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908720"/>
            <a:ext cx="8858312" cy="573499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endParaRPr lang="uz-Cyrl-UZ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</a:t>
            </a:r>
            <a:endParaRPr lang="ru-RU" sz="1400" b="1" dirty="0" smtClean="0">
              <a:solidFill>
                <a:srgbClr val="C00000"/>
              </a:solidFill>
              <a:ea typeface="Times New Roman"/>
              <a:cs typeface="Times New Roman"/>
            </a:endParaRPr>
          </a:p>
          <a:p>
            <a:endParaRPr lang="ru-RU" sz="1600" b="1" dirty="0" smtClean="0">
              <a:ea typeface="Times New Roman"/>
              <a:cs typeface="Times New Roman"/>
            </a:endParaRPr>
          </a:p>
          <a:p>
            <a:r>
              <a:rPr lang="uz-Cyrl-UZ" b="1" baseline="-250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lang="ru-RU" sz="1600" b="1" dirty="0" smtClean="0">
              <a:solidFill>
                <a:srgbClr val="0000FF"/>
              </a:solidFill>
              <a:ea typeface="Times New Roman"/>
              <a:cs typeface="Times New Roman"/>
            </a:endParaRPr>
          </a:p>
          <a:p>
            <a:r>
              <a:rPr lang="ru-RU" b="1" baseline="-250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42844" y="122926"/>
            <a:ext cx="8858312" cy="641778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Калитларнинг барча вариантларидан ҳосил бўлган статистик жадвал</a:t>
            </a:r>
            <a:endParaRPr lang="ru-RU" sz="2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051525"/>
              </p:ext>
            </p:extLst>
          </p:nvPr>
        </p:nvGraphicFramePr>
        <p:xfrm>
          <a:off x="285720" y="1571612"/>
          <a:ext cx="8572560" cy="271464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857520"/>
                <a:gridCol w="2857520"/>
                <a:gridCol w="2857520"/>
              </a:tblGrid>
              <a:tr h="6786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6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400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1101</a:t>
                      </a:r>
                      <a:r>
                        <a:rPr lang="uz-Cyrl-UZ" sz="1400" kern="12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kern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u-RU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itchFamily="18" charset="0"/>
                          <a:cs typeface="Times New Roman" pitchFamily="18" charset="0"/>
                        </a:rPr>
                        <a:t>9 та</a:t>
                      </a:r>
                      <a:endParaRPr lang="ru-RU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600" b="1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0001</a:t>
                      </a:r>
                      <a:r>
                        <a:rPr lang="uz-Cyrl-UZ" sz="1400" b="1" kern="12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b="1" kern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u-RU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itchFamily="18" charset="0"/>
                          <a:cs typeface="Times New Roman" pitchFamily="18" charset="0"/>
                        </a:rPr>
                        <a:t>6 та</a:t>
                      </a:r>
                      <a:endParaRPr lang="ru-RU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6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0000</a:t>
                      </a:r>
                      <a:r>
                        <a:rPr lang="ru-RU" sz="1400" b="1" kern="12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b="1" kern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u-RU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itchFamily="18" charset="0"/>
                          <a:cs typeface="Times New Roman" pitchFamily="18" charset="0"/>
                        </a:rPr>
                        <a:t>8 та</a:t>
                      </a:r>
                      <a:endParaRPr lang="ru-RU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7866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1" dirty="0"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r>
                        <a:rPr lang="en-US" sz="1600" b="1" baseline="-250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400" b="1" kern="1200" dirty="0" smtClean="0">
                          <a:latin typeface="Times New Roman" pitchFamily="18" charset="0"/>
                          <a:cs typeface="Times New Roman" pitchFamily="18" charset="0"/>
                        </a:rPr>
                        <a:t>0011</a:t>
                      </a:r>
                      <a:r>
                        <a:rPr lang="uz-Cyrl-UZ" sz="1400" b="1" kern="12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b="1" kern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ru-RU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itchFamily="18" charset="0"/>
                          <a:cs typeface="Times New Roman" pitchFamily="18" charset="0"/>
                        </a:rPr>
                        <a:t>8 та</a:t>
                      </a:r>
                      <a:endParaRPr lang="ru-RU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95536" y="4797152"/>
            <a:ext cx="3143272" cy="44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Калит учун умумий хулоса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716016" y="4785752"/>
            <a:ext cx="864096" cy="44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=</a:t>
            </a:r>
            <a:r>
              <a:rPr lang="en-US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1101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403648" y="1484784"/>
            <a:ext cx="57606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b="1" baseline="-25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403648" y="2132856"/>
            <a:ext cx="57606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403648" y="2852936"/>
            <a:ext cx="57606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403648" y="3501008"/>
            <a:ext cx="57606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lang="en-US" b="1" baseline="-250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441576" y="4797152"/>
            <a:ext cx="482352" cy="44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endParaRPr lang="ru-RU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292080" y="4785752"/>
            <a:ext cx="792088" cy="44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0001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6136" y="4785752"/>
            <a:ext cx="792088" cy="44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0000</a:t>
            </a:r>
            <a:endParaRPr lang="ru-RU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300192" y="4785752"/>
            <a:ext cx="864096" cy="44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0011</a:t>
            </a:r>
            <a:r>
              <a:rPr lang="uz-Cyrl-UZ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47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4.16667E-6 0.24143 C 4.16667E-6 0.34953 0.06857 0.4831 0.125 0.4831 L 0.25052 0.4831 " pathEditMode="relative" rAng="0" ptsTypes="FfFF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17" y="24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59259E-6 L 4.16667E-6 0.19375 C 4.16667E-6 0.28079 0.07656 0.38843 0.13958 0.38843 L 0.27986 0.38843 " pathEditMode="relative" rAng="0" ptsTypes="FfFF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93" y="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-3.7037E-6 L 0.00017 0.14144 C 0.00017 0.2051 0.08472 0.28357 0.15399 0.28357 L 0.30937 0.28357 " pathEditMode="relative" rAng="0" ptsTypes="FfFF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51" y="1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000"/>
                            </p:stCondLst>
                            <p:childTnLst>
                              <p:par>
                                <p:cTn id="4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6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85185E-6 L 4.16667E-6 0.09421 C 4.16667E-6 0.13657 0.09288 0.18912 0.16892 0.18912 L 0.33871 0.18912 " pathEditMode="relative" rAng="0" ptsTypes="FfFF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927" y="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9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6" grpId="0"/>
      <p:bldP spid="7" grpId="0"/>
      <p:bldP spid="2" grpId="0"/>
      <p:bldP spid="2" grpId="1"/>
      <p:bldP spid="9" grpId="0"/>
      <p:bldP spid="9" grpId="1"/>
      <p:bldP spid="10" grpId="0"/>
      <p:bldP spid="10" grpId="1"/>
      <p:bldP spid="11" grpId="0"/>
      <p:bldP spid="11" grpId="1"/>
      <p:bldP spid="3" grpId="0"/>
      <p:bldP spid="12" grpId="0"/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714356"/>
            <a:ext cx="8858312" cy="60007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2285984" y="1000108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4357686" y="1000108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6429388" y="1000108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547398"/>
              </p:ext>
            </p:extLst>
          </p:nvPr>
        </p:nvGraphicFramePr>
        <p:xfrm>
          <a:off x="214282" y="1000108"/>
          <a:ext cx="1643076" cy="10972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  <a:hlinkClick r:id="rId3" action="ppaction://hlinksldjump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  <a:hlinkClick r:id="rId4" action="ppaction://hlinksldjump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197</a:t>
                      </a:r>
                      <a:endParaRPr lang="ru-RU" sz="1200" b="1" dirty="0">
                        <a:solidFill>
                          <a:srgbClr val="C00000"/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4" name="Прямоугольник 135"/>
          <p:cNvSpPr>
            <a:spLocks noChangeArrowheads="1"/>
          </p:cNvSpPr>
          <p:nvPr/>
        </p:nvSpPr>
        <p:spPr bwMode="auto">
          <a:xfrm>
            <a:off x="196830" y="642918"/>
            <a:ext cx="1660526" cy="44926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uz-Cyrl-UZ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Кириш орттирмаси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Прямоугольник 136"/>
          <p:cNvSpPr>
            <a:spLocks noChangeArrowheads="1"/>
          </p:cNvSpPr>
          <p:nvPr/>
        </p:nvSpPr>
        <p:spPr bwMode="auto">
          <a:xfrm>
            <a:off x="2285984" y="714356"/>
            <a:ext cx="1643074" cy="2841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SubBytes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 ()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Прямоугольник 137"/>
          <p:cNvSpPr>
            <a:spLocks noChangeArrowheads="1"/>
          </p:cNvSpPr>
          <p:nvPr/>
        </p:nvSpPr>
        <p:spPr bwMode="auto">
          <a:xfrm>
            <a:off x="4214810" y="642918"/>
            <a:ext cx="1857388" cy="438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ShiftRows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Прямоугольник 138"/>
          <p:cNvSpPr>
            <a:spLocks noChangeArrowheads="1"/>
          </p:cNvSpPr>
          <p:nvPr/>
        </p:nvSpPr>
        <p:spPr bwMode="auto">
          <a:xfrm>
            <a:off x="6357950" y="714356"/>
            <a:ext cx="1857388" cy="28575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Arial" pitchFamily="34" charset="0"/>
              </a:rPr>
              <a:t>MixColumns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Прямая соединительная линия 111"/>
          <p:cNvSpPr>
            <a:spLocks noChangeShapeType="1"/>
          </p:cNvSpPr>
          <p:nvPr/>
        </p:nvSpPr>
        <p:spPr bwMode="auto">
          <a:xfrm>
            <a:off x="8188352" y="1500174"/>
            <a:ext cx="241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rot="10800000">
            <a:off x="214284" y="2214554"/>
            <a:ext cx="8215368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rot="16200000" flipH="1">
            <a:off x="8071671" y="1857363"/>
            <a:ext cx="715170" cy="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5400000">
            <a:off x="-178230" y="2607066"/>
            <a:ext cx="785818" cy="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97"/>
          <p:cNvCxnSpPr>
            <a:cxnSpLocks noChangeShapeType="1"/>
          </p:cNvCxnSpPr>
          <p:nvPr/>
        </p:nvCxnSpPr>
        <p:spPr bwMode="auto">
          <a:xfrm>
            <a:off x="207934" y="2992435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graphicFrame>
        <p:nvGraphicFramePr>
          <p:cNvPr id="24" name="Таблица 23"/>
          <p:cNvGraphicFramePr>
            <a:graphicFrameLocks noGrp="1"/>
          </p:cNvGraphicFramePr>
          <p:nvPr/>
        </p:nvGraphicFramePr>
        <p:xfrm>
          <a:off x="642910" y="2474596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/>
        </p:nvGraphicFramePr>
        <p:xfrm>
          <a:off x="2714610" y="2500306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/>
        </p:nvGraphicFramePr>
        <p:xfrm>
          <a:off x="4786312" y="2500306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61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9" name="Прямоугольник 136"/>
          <p:cNvSpPr>
            <a:spLocks noChangeArrowheads="1"/>
          </p:cNvSpPr>
          <p:nvPr/>
        </p:nvSpPr>
        <p:spPr bwMode="auto">
          <a:xfrm>
            <a:off x="642910" y="2214554"/>
            <a:ext cx="1643074" cy="2841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SubBytes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 ()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Прямоугольник 137"/>
          <p:cNvSpPr>
            <a:spLocks noChangeArrowheads="1"/>
          </p:cNvSpPr>
          <p:nvPr/>
        </p:nvSpPr>
        <p:spPr bwMode="auto">
          <a:xfrm>
            <a:off x="2571736" y="2143116"/>
            <a:ext cx="1857388" cy="438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ShiftRows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Прямоугольник 138"/>
          <p:cNvSpPr>
            <a:spLocks noChangeArrowheads="1"/>
          </p:cNvSpPr>
          <p:nvPr/>
        </p:nvSpPr>
        <p:spPr bwMode="auto">
          <a:xfrm>
            <a:off x="4643438" y="2214554"/>
            <a:ext cx="1857388" cy="28575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Arial" pitchFamily="34" charset="0"/>
              </a:rPr>
              <a:t>MixColumns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Прямая соединительная линия 111"/>
          <p:cNvSpPr>
            <a:spLocks noChangeShapeType="1"/>
          </p:cNvSpPr>
          <p:nvPr/>
        </p:nvSpPr>
        <p:spPr bwMode="auto">
          <a:xfrm>
            <a:off x="6473840" y="3000373"/>
            <a:ext cx="241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 rot="10800000">
            <a:off x="220632" y="3714753"/>
            <a:ext cx="6494508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rot="16200000" flipH="1">
            <a:off x="6357951" y="3357562"/>
            <a:ext cx="715170" cy="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 rot="5400000">
            <a:off x="-171882" y="4107265"/>
            <a:ext cx="785818" cy="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97"/>
          <p:cNvCxnSpPr>
            <a:cxnSpLocks noChangeShapeType="1"/>
          </p:cNvCxnSpPr>
          <p:nvPr/>
        </p:nvCxnSpPr>
        <p:spPr bwMode="auto">
          <a:xfrm>
            <a:off x="214282" y="4492634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42" name="Прямая со стрелкой 97"/>
          <p:cNvCxnSpPr>
            <a:cxnSpLocks noChangeShapeType="1"/>
          </p:cNvCxnSpPr>
          <p:nvPr/>
        </p:nvCxnSpPr>
        <p:spPr bwMode="auto">
          <a:xfrm>
            <a:off x="1928794" y="1500174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43" name="Прямая со стрелкой 98"/>
          <p:cNvCxnSpPr>
            <a:cxnSpLocks noChangeShapeType="1"/>
          </p:cNvCxnSpPr>
          <p:nvPr/>
        </p:nvCxnSpPr>
        <p:spPr bwMode="auto">
          <a:xfrm>
            <a:off x="4000496" y="1500174"/>
            <a:ext cx="292100" cy="9525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44" name="Прямая со стрелкой 98"/>
          <p:cNvCxnSpPr>
            <a:cxnSpLocks noChangeShapeType="1"/>
          </p:cNvCxnSpPr>
          <p:nvPr/>
        </p:nvCxnSpPr>
        <p:spPr bwMode="auto">
          <a:xfrm>
            <a:off x="6072198" y="1500174"/>
            <a:ext cx="292100" cy="9525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47" name="Прямая со стрелкой 97"/>
          <p:cNvCxnSpPr>
            <a:cxnSpLocks noChangeShapeType="1"/>
          </p:cNvCxnSpPr>
          <p:nvPr/>
        </p:nvCxnSpPr>
        <p:spPr bwMode="auto">
          <a:xfrm>
            <a:off x="2351074" y="3000372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48" name="Прямая со стрелкой 98"/>
          <p:cNvCxnSpPr>
            <a:cxnSpLocks noChangeShapeType="1"/>
          </p:cNvCxnSpPr>
          <p:nvPr/>
        </p:nvCxnSpPr>
        <p:spPr bwMode="auto">
          <a:xfrm>
            <a:off x="4422776" y="3000372"/>
            <a:ext cx="292100" cy="9525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graphicFrame>
        <p:nvGraphicFramePr>
          <p:cNvPr id="49" name="Таблица 48"/>
          <p:cNvGraphicFramePr>
            <a:graphicFrameLocks noGrp="1"/>
          </p:cNvGraphicFramePr>
          <p:nvPr/>
        </p:nvGraphicFramePr>
        <p:xfrm>
          <a:off x="642910" y="3974794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/>
        </p:nvGraphicFramePr>
        <p:xfrm>
          <a:off x="2714610" y="3974794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/>
        </p:nvGraphicFramePr>
        <p:xfrm>
          <a:off x="4786312" y="3974794"/>
          <a:ext cx="1643076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225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225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225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225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b="1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53" marR="66853" marT="0" marB="0"/>
                </a:tc>
              </a:tr>
            </a:tbl>
          </a:graphicData>
        </a:graphic>
      </p:graphicFrame>
      <p:sp>
        <p:nvSpPr>
          <p:cNvPr id="52" name="Прямоугольник 136"/>
          <p:cNvSpPr>
            <a:spLocks noChangeArrowheads="1"/>
          </p:cNvSpPr>
          <p:nvPr/>
        </p:nvSpPr>
        <p:spPr bwMode="auto">
          <a:xfrm>
            <a:off x="642910" y="3716341"/>
            <a:ext cx="1643074" cy="2841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SubBytes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 ()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Прямоугольник 137"/>
          <p:cNvSpPr>
            <a:spLocks noChangeArrowheads="1"/>
          </p:cNvSpPr>
          <p:nvPr/>
        </p:nvSpPr>
        <p:spPr bwMode="auto">
          <a:xfrm>
            <a:off x="2643174" y="3633792"/>
            <a:ext cx="1857388" cy="438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ShiftRows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Прямоугольник 138"/>
          <p:cNvSpPr>
            <a:spLocks noChangeArrowheads="1"/>
          </p:cNvSpPr>
          <p:nvPr/>
        </p:nvSpPr>
        <p:spPr bwMode="auto">
          <a:xfrm>
            <a:off x="4643438" y="3714752"/>
            <a:ext cx="1857388" cy="28575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Arial" pitchFamily="34" charset="0"/>
              </a:rPr>
              <a:t>MixColumns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5" name="Прямая со стрелкой 97"/>
          <p:cNvCxnSpPr>
            <a:cxnSpLocks noChangeShapeType="1"/>
          </p:cNvCxnSpPr>
          <p:nvPr/>
        </p:nvCxnSpPr>
        <p:spPr bwMode="auto">
          <a:xfrm>
            <a:off x="2351074" y="4500570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cxnSp>
        <p:nvCxnSpPr>
          <p:cNvPr id="56" name="Прямая со стрелкой 98"/>
          <p:cNvCxnSpPr>
            <a:cxnSpLocks noChangeShapeType="1"/>
          </p:cNvCxnSpPr>
          <p:nvPr/>
        </p:nvCxnSpPr>
        <p:spPr bwMode="auto">
          <a:xfrm>
            <a:off x="4422776" y="4500570"/>
            <a:ext cx="292100" cy="9525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sp>
        <p:nvSpPr>
          <p:cNvPr id="59" name="Прямая соединительная линия 111"/>
          <p:cNvSpPr>
            <a:spLocks noChangeShapeType="1"/>
          </p:cNvSpPr>
          <p:nvPr/>
        </p:nvSpPr>
        <p:spPr bwMode="auto">
          <a:xfrm>
            <a:off x="6473840" y="4572008"/>
            <a:ext cx="2413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cxnSp>
        <p:nvCxnSpPr>
          <p:cNvPr id="60" name="Прямая соединительная линия 59"/>
          <p:cNvCxnSpPr/>
          <p:nvPr/>
        </p:nvCxnSpPr>
        <p:spPr>
          <a:xfrm rot="10800000">
            <a:off x="220632" y="5284799"/>
            <a:ext cx="6494508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rot="16200000" flipH="1">
            <a:off x="6357951" y="4928407"/>
            <a:ext cx="715170" cy="79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rot="5400000">
            <a:off x="-171882" y="5678900"/>
            <a:ext cx="785818" cy="79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97"/>
          <p:cNvCxnSpPr>
            <a:cxnSpLocks noChangeShapeType="1"/>
          </p:cNvCxnSpPr>
          <p:nvPr/>
        </p:nvCxnSpPr>
        <p:spPr bwMode="auto">
          <a:xfrm>
            <a:off x="214282" y="6064269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graphicFrame>
        <p:nvGraphicFramePr>
          <p:cNvPr id="64" name="Таблица 63"/>
          <p:cNvGraphicFramePr>
            <a:graphicFrameLocks noGrp="1"/>
          </p:cNvGraphicFramePr>
          <p:nvPr/>
        </p:nvGraphicFramePr>
        <p:xfrm>
          <a:off x="642910" y="5546430"/>
          <a:ext cx="1643076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65" name="Таблица 64"/>
          <p:cNvGraphicFramePr>
            <a:graphicFrameLocks noGrp="1"/>
          </p:cNvGraphicFramePr>
          <p:nvPr/>
        </p:nvGraphicFramePr>
        <p:xfrm>
          <a:off x="2714610" y="5546430"/>
          <a:ext cx="1643076" cy="109728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10769"/>
                <a:gridCol w="410769"/>
                <a:gridCol w="410769"/>
                <a:gridCol w="410769"/>
              </a:tblGrid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0066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40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2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200" dirty="0"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cxnSp>
        <p:nvCxnSpPr>
          <p:cNvPr id="66" name="Прямая со стрелкой 97"/>
          <p:cNvCxnSpPr>
            <a:cxnSpLocks noChangeShapeType="1"/>
          </p:cNvCxnSpPr>
          <p:nvPr/>
        </p:nvCxnSpPr>
        <p:spPr bwMode="auto">
          <a:xfrm>
            <a:off x="2357422" y="6064269"/>
            <a:ext cx="292100" cy="7937"/>
          </a:xfrm>
          <a:prstGeom prst="straightConnector1">
            <a:avLst/>
          </a:prstGeom>
          <a:noFill/>
          <a:ln w="38100">
            <a:solidFill>
              <a:srgbClr val="000000"/>
            </a:solidFill>
            <a:round/>
            <a:headEnd/>
            <a:tailEnd type="arrow" w="sm" len="med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</p:cxnSp>
      <p:sp>
        <p:nvSpPr>
          <p:cNvPr id="67" name="Прямоугольник 136"/>
          <p:cNvSpPr>
            <a:spLocks noChangeArrowheads="1"/>
          </p:cNvSpPr>
          <p:nvPr/>
        </p:nvSpPr>
        <p:spPr bwMode="auto">
          <a:xfrm>
            <a:off x="642910" y="5287977"/>
            <a:ext cx="1643074" cy="2841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SubBytes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71BCF"/>
                </a:solidFill>
                <a:effectLst/>
                <a:latin typeface="Times New Roman" pitchFamily="18" charset="0"/>
                <a:cs typeface="Arial" pitchFamily="34" charset="0"/>
              </a:rPr>
              <a:t> ()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Прямоугольник 137"/>
          <p:cNvSpPr>
            <a:spLocks noChangeArrowheads="1"/>
          </p:cNvSpPr>
          <p:nvPr/>
        </p:nvSpPr>
        <p:spPr bwMode="auto">
          <a:xfrm>
            <a:off x="2643174" y="5205428"/>
            <a:ext cx="1857388" cy="438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ShiftRows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rgbClr val="1C940C"/>
                </a:solidFill>
                <a:effectLst/>
                <a:latin typeface="Times New Roman" pitchFamily="18" charset="0"/>
                <a:cs typeface="Arial" pitchFamily="34" charset="0"/>
              </a:rPr>
              <a:t> () </a:t>
            </a:r>
            <a:r>
              <a:rPr kumimoji="0" lang="uz-Cyrl-UZ" sz="1200" b="0" i="0" u="none" strike="noStrike" cap="none" normalizeH="0" baseline="0" dirty="0" smtClean="0">
                <a:ln>
                  <a:noFill/>
                </a:ln>
                <a:solidFill>
                  <a:srgbClr val="0D0D0D"/>
                </a:solidFill>
                <a:effectLst/>
                <a:latin typeface="Times New Roman" pitchFamily="18" charset="0"/>
                <a:cs typeface="Arial" pitchFamily="34" charset="0"/>
              </a:rPr>
              <a:t>дан кейин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Прямоугольник 148"/>
          <p:cNvSpPr>
            <a:spLocks noChangeArrowheads="1"/>
          </p:cNvSpPr>
          <p:nvPr/>
        </p:nvSpPr>
        <p:spPr bwMode="auto">
          <a:xfrm>
            <a:off x="8072462" y="928670"/>
            <a:ext cx="922337" cy="29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1-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раунд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Прямоугольник 148"/>
          <p:cNvSpPr>
            <a:spLocks noChangeArrowheads="1"/>
          </p:cNvSpPr>
          <p:nvPr/>
        </p:nvSpPr>
        <p:spPr bwMode="auto">
          <a:xfrm>
            <a:off x="7864505" y="2422520"/>
            <a:ext cx="922337" cy="29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uz-Cyrl-UZ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2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-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раунд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Прямоугольник 148"/>
          <p:cNvSpPr>
            <a:spLocks noChangeArrowheads="1"/>
          </p:cNvSpPr>
          <p:nvPr/>
        </p:nvSpPr>
        <p:spPr bwMode="auto">
          <a:xfrm>
            <a:off x="7935943" y="3922718"/>
            <a:ext cx="922337" cy="29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uz-Cyrl-UZ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3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-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раунд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Прямоугольник 148"/>
          <p:cNvSpPr>
            <a:spLocks noChangeArrowheads="1"/>
          </p:cNvSpPr>
          <p:nvPr/>
        </p:nvSpPr>
        <p:spPr bwMode="auto">
          <a:xfrm>
            <a:off x="8007381" y="5643578"/>
            <a:ext cx="922337" cy="29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uz-Cyrl-UZ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4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-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Arial" pitchFamily="34" charset="0"/>
              </a:rPr>
              <a:t>раунд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Скругленный прямоугольник 56"/>
          <p:cNvSpPr/>
          <p:nvPr/>
        </p:nvSpPr>
        <p:spPr>
          <a:xfrm>
            <a:off x="142844" y="72578"/>
            <a:ext cx="8858312" cy="57034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uz-Cyrl-UZ" sz="2800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§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 </a:t>
            </a:r>
            <a:r>
              <a:rPr lang="uz-Cyrl-UZ" b="1" dirty="0" smtClean="0">
                <a:solidFill>
                  <a:srgbClr val="FF0000"/>
                </a:solidFill>
                <a:latin typeface="Times New Roman" pitchFamily="18" charset="0"/>
                <a:cs typeface="Angsana New" pitchFamily="18" charset="-34"/>
              </a:rPr>
              <a:t>4.2 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алгоритми учун ДКТ </a:t>
            </a:r>
            <a:r>
              <a:rPr lang="uz-Cyrl-UZ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ўтказиш ДТдан олинган натижалар таҳлили</a:t>
            </a:r>
            <a:endParaRPr lang="ru-RU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8" name="Скругленная прямоугольная выноска 57"/>
          <p:cNvSpPr/>
          <p:nvPr/>
        </p:nvSpPr>
        <p:spPr>
          <a:xfrm>
            <a:off x="683568" y="2852936"/>
            <a:ext cx="5745250" cy="711898"/>
          </a:xfrm>
          <a:prstGeom prst="wedgeRoundRectCallout">
            <a:avLst>
              <a:gd name="adj1" fmla="val 77348"/>
              <a:gd name="adj2" fmla="val 350767"/>
              <a:gd name="adj3" fmla="val 1666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4" name="Скругленная прямоугольная выноска 73"/>
          <p:cNvSpPr/>
          <p:nvPr/>
        </p:nvSpPr>
        <p:spPr>
          <a:xfrm>
            <a:off x="1799511" y="3645024"/>
            <a:ext cx="4929222" cy="714380"/>
          </a:xfrm>
          <a:prstGeom prst="wedgeRoundRectCallout">
            <a:avLst>
              <a:gd name="adj1" fmla="val 73316"/>
              <a:gd name="adj2" fmla="val -18763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6" name="Скругленная прямоугольная выноска 75"/>
          <p:cNvSpPr/>
          <p:nvPr/>
        </p:nvSpPr>
        <p:spPr>
          <a:xfrm>
            <a:off x="1928794" y="2143116"/>
            <a:ext cx="4857784" cy="714380"/>
          </a:xfrm>
          <a:prstGeom prst="wedgeRoundRectCallout">
            <a:avLst>
              <a:gd name="adj1" fmla="val 78144"/>
              <a:gd name="adj2" fmla="val -19109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276872"/>
            <a:ext cx="5169752" cy="496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723" y="3753713"/>
            <a:ext cx="5163573" cy="549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Скругленная прямоугольная выноска 74"/>
          <p:cNvSpPr/>
          <p:nvPr/>
        </p:nvSpPr>
        <p:spPr>
          <a:xfrm>
            <a:off x="1763688" y="5085184"/>
            <a:ext cx="5072098" cy="714380"/>
          </a:xfrm>
          <a:prstGeom prst="wedgeRoundRectCallout">
            <a:avLst>
              <a:gd name="adj1" fmla="val 72634"/>
              <a:gd name="adj2" fmla="val -18114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2644" name="Picture 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548" y="5225110"/>
            <a:ext cx="5503169" cy="502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45" name="Picture 5">
            <a:hlinkClick r:id="rId8" action="ppaction://hlinksldjump"/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924944"/>
            <a:ext cx="6184085" cy="57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47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60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00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8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90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15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2500"/>
                            </p:stCondLst>
                            <p:childTnLst>
                              <p:par>
                                <p:cTn id="1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30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5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2" dur="500"/>
                                        <p:tgtEl>
                                          <p:spTgt spid="112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4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21" dur="500"/>
                                        <p:tgtEl>
                                          <p:spTgt spid="112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7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4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3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49" dur="2000" tmFilter="0, 0; .2, .5; .8, .5; 1, 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0" dur="1000" autoRev="1" fill="hold"/>
                                        <p:tgtEl>
                                          <p:spTgt spid="1126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4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  <p:bldP spid="15" grpId="0"/>
      <p:bldP spid="17" grpId="0"/>
      <p:bldP spid="18" grpId="0"/>
      <p:bldP spid="19" grpId="0" animBg="1"/>
      <p:bldP spid="29" grpId="0"/>
      <p:bldP spid="30" grpId="0"/>
      <p:bldP spid="31" grpId="0"/>
      <p:bldP spid="32" grpId="0" animBg="1"/>
      <p:bldP spid="52" grpId="0"/>
      <p:bldP spid="53" grpId="0"/>
      <p:bldP spid="54" grpId="0"/>
      <p:bldP spid="59" grpId="0" animBg="1"/>
      <p:bldP spid="67" grpId="0"/>
      <p:bldP spid="68" grpId="0"/>
      <p:bldP spid="69" grpId="0"/>
      <p:bldP spid="71" grpId="0"/>
      <p:bldP spid="72" grpId="0"/>
      <p:bldP spid="73" grpId="0"/>
      <p:bldP spid="57" grpId="0" animBg="1"/>
      <p:bldP spid="58" grpId="0" animBg="1"/>
      <p:bldP spid="58" grpId="1" animBg="1"/>
      <p:bldP spid="74" grpId="0" animBg="1"/>
      <p:bldP spid="74" grpId="1" animBg="1"/>
      <p:bldP spid="76" grpId="0" animBg="1"/>
      <p:bldP spid="76" grpId="1" animBg="1"/>
      <p:bldP spid="75" grpId="0" animBg="1"/>
      <p:bldP spid="7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6572296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3666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568952" cy="633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1547664" y="3429000"/>
            <a:ext cx="936104" cy="280831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539552" y="692695"/>
            <a:ext cx="936104" cy="268794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555776" y="692694"/>
            <a:ext cx="936104" cy="27122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955526"/>
              </p:ext>
            </p:extLst>
          </p:nvPr>
        </p:nvGraphicFramePr>
        <p:xfrm>
          <a:off x="395536" y="1412779"/>
          <a:ext cx="8496944" cy="424847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60508"/>
                <a:gridCol w="8036436"/>
              </a:tblGrid>
              <a:tr h="5070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200" b="1" dirty="0"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ru-RU" sz="11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uz-Cyrl-UZ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Орттирмалар </a:t>
                      </a:r>
                      <a:r>
                        <a:rPr lang="en-US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(128 </a:t>
                      </a:r>
                      <a:r>
                        <a:rPr lang="ru-RU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бит</a:t>
                      </a:r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ru-RU" sz="11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00000000000000000000000000000000000000000000000000000000000000000000</a:t>
                      </a:r>
                      <a:r>
                        <a:rPr lang="uz-Cyrl-UZ" sz="1400" dirty="0">
                          <a:latin typeface="Times New Roman" pitchFamily="18" charset="0"/>
                          <a:cs typeface="Times New Roman" pitchFamily="18" charset="0"/>
                        </a:rPr>
                        <a:t>...101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00000000000000000000000000000000000000000000000000000000000000000000</a:t>
                      </a:r>
                      <a:r>
                        <a:rPr lang="uz-Cyrl-UZ" sz="1400" dirty="0">
                          <a:latin typeface="Times New Roman" pitchFamily="18" charset="0"/>
                          <a:cs typeface="Times New Roman" pitchFamily="18" charset="0"/>
                        </a:rPr>
                        <a:t>...100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000000000000000000000000000000000000000000000000000000000000000000</a:t>
                      </a:r>
                      <a:r>
                        <a:rPr lang="uz-Cyrl-UZ" sz="1400" dirty="0">
                          <a:latin typeface="Times New Roman" pitchFamily="18" charset="0"/>
                          <a:cs typeface="Times New Roman" pitchFamily="18" charset="0"/>
                        </a:rPr>
                        <a:t>...11000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0000000000000000000000000000000000000000000000000000000000000</a:t>
                      </a:r>
                      <a:r>
                        <a:rPr lang="uz-Cyrl-UZ" sz="1400" dirty="0">
                          <a:latin typeface="Times New Roman" pitchFamily="18" charset="0"/>
                          <a:cs typeface="Times New Roman" pitchFamily="18" charset="0"/>
                        </a:rPr>
                        <a:t>...1000000001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0000000000000000000000000000000000000000000000000000000000000</a:t>
                      </a:r>
                      <a:r>
                        <a:rPr lang="uz-Cyrl-UZ" sz="1400" dirty="0">
                          <a:latin typeface="Times New Roman" pitchFamily="18" charset="0"/>
                          <a:cs typeface="Times New Roman" pitchFamily="18" charset="0"/>
                        </a:rPr>
                        <a:t>...1000000000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00000000000000000000000000000000000000000000000000000000</a:t>
                      </a:r>
                      <a:r>
                        <a:rPr lang="uz-Cyrl-UZ" sz="1400" dirty="0">
                          <a:latin typeface="Times New Roman" pitchFamily="18" charset="0"/>
                          <a:cs typeface="Times New Roman" pitchFamily="18" charset="0"/>
                        </a:rPr>
                        <a:t>...</a:t>
                      </a:r>
                      <a:r>
                        <a:rPr lang="uz-Cyrl-UZ" sz="1400" dirty="0" smtClean="0">
                          <a:latin typeface="Times New Roman" pitchFamily="18" charset="0"/>
                          <a:cs typeface="Times New Roman" pitchFamily="18" charset="0"/>
                        </a:rPr>
                        <a:t>100000000000000</a:t>
                      </a:r>
                      <a:endParaRPr lang="ru-RU" sz="12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  <a:tr h="5344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en-US" sz="1200" b="1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7</a:t>
                      </a:r>
                      <a:endParaRPr lang="ru-RU" sz="1200" b="1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836930" algn="l"/>
                        </a:tabLst>
                      </a:pPr>
                      <a:r>
                        <a:rPr lang="ru-RU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1100010100000000000000000000000001100010100000000000000000000000011000101000000000000000</a:t>
                      </a:r>
                      <a:r>
                        <a:rPr lang="en-US" sz="1400" dirty="0" smtClean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0</a:t>
                      </a:r>
                      <a:endParaRPr lang="ru-RU" sz="14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819" marR="66819" marT="0" marB="0"/>
                </a:tc>
              </a:tr>
            </a:tbl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827584" y="5085184"/>
            <a:ext cx="8064896" cy="572644"/>
          </a:xfrm>
          <a:prstGeom prst="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62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5" grpId="0" animBg="1"/>
      <p:bldP spid="15" grpId="1" animBg="1"/>
      <p:bldP spid="15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4282" y="764704"/>
            <a:ext cx="8786874" cy="5976664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78184" y="44624"/>
            <a:ext cx="8858312" cy="57034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Angsana New" pitchFamily="18" charset="-34"/>
              </a:rPr>
              <a:t>ХУЛОСА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322200" y="908720"/>
            <a:ext cx="6986104" cy="432048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uz-Cyrl-UZ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 </a:t>
            </a:r>
            <a:r>
              <a:rPr lang="uz-Cyrl-UZ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тармоғи учун ДКТ усулини ўтказиш методи таҳлил қилинди.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000" dirty="0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323528" y="1556792"/>
            <a:ext cx="8568952" cy="64807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S_AES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ва  AES алгоритми учун ДКТ усулини ўтказиш математик модели ишлаб чиқилди.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000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323528" y="2492896"/>
            <a:ext cx="8568952" cy="64807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S_AES ва  AES алгоритми учун ДКТ усулини ўтказиш дастурий таъминоти яратилди.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323528" y="3356992"/>
            <a:ext cx="8568952" cy="100811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S_AES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алгоритми учун ДКТ усулини ўтказиш дастурий таъминотидан олинган натижалар таҳлилига кўра унинг мос раундида фойдаланилган 16 бит узунликдаги калитлар бир қийматли топилади.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323528" y="4581128"/>
            <a:ext cx="8568952" cy="201622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АЕS симметрик шифрлаш алгоритмида фойдаланилган SubBytes() акслантиришининг чизиқсизлик қиймати юқори ҳамда MixColumns() функцияси кириш битларини максимал аралаштиради, бу ҳолат эса ДКТ ни ўтказишга зарур орттирмаларни қуришда эҳтимоллигини туширади.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Мазкур ҳолат эса ушбу 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орттирмалар ёрдамида ДКТ усулини ўтказилганда  ҳақиқий калитни топишни мураккаблаштиради. 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5" grpId="0" animBg="1"/>
      <p:bldP spid="26" grpId="0" animBg="1"/>
      <p:bldP spid="27" grpId="0" animBg="1"/>
      <p:bldP spid="28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4282" y="764704"/>
            <a:ext cx="8786874" cy="5976664"/>
          </a:xfrm>
          <a:prstGeom prst="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78184" y="44624"/>
            <a:ext cx="8858312" cy="570340"/>
          </a:xfrm>
          <a:prstGeom prst="round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z-Cyrl-UZ" sz="2400" b="1" dirty="0" smtClean="0">
              <a:solidFill>
                <a:srgbClr val="FF0000"/>
              </a:solidFill>
              <a:latin typeface="Times New Roman" pitchFamily="18" charset="0"/>
              <a:cs typeface="Angsana New" pitchFamily="18" charset="-34"/>
            </a:endParaRPr>
          </a:p>
          <a:p>
            <a:pPr algn="ctr"/>
            <a:r>
              <a:rPr lang="ru-RU" sz="2800" b="1" dirty="0" smtClean="0">
                <a:solidFill>
                  <a:schemeClr val="tx1"/>
                </a:solidFill>
                <a:latin typeface="Times New Roman" pitchFamily="18" charset="0"/>
                <a:cs typeface="Angsana New" pitchFamily="18" charset="-34"/>
              </a:rPr>
              <a:t>ХУЛОСА</a:t>
            </a:r>
            <a:endParaRPr lang="ru-RU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323528" y="2204864"/>
            <a:ext cx="8568952" cy="720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AES алгоритмига ДКТ ни ўтказиш бевосита оптимал орттирмаларни қуриш билан характерланади.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323528" y="5229200"/>
            <a:ext cx="8568952" cy="100811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9.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Ушбу диссертация ишида олинган илмий натижалар мавжуд ва миллий стандарт симметрик шифрлаш алгоритмини замонавий криптотаҳлил усулларига бардошлигини баҳолаш масалаларида фойдаланиш мумкин.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323528" y="3592500"/>
            <a:ext cx="8568952" cy="108012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8.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Диссертация ишида таклиф этилган математик модел ва унга мос дастурий таъминот ёрдамида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алгоритми 4 ва ундан юқори раундларда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дифференциал криптотаҳлил усулига бардошли эканлиги исботланди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23528" y="980728"/>
            <a:ext cx="8568952" cy="72008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AES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MixColumns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акслантиришини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ҳисоблашда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ёрдам берадиган жадвал тузилди (</a:t>
            </a:r>
            <a:r>
              <a:rPr lang="uz-Cyrl-UZ" i="1" dirty="0" smtClean="0">
                <a:latin typeface="Times New Roman" pitchFamily="18" charset="0"/>
                <a:cs typeface="Times New Roman" pitchFamily="18" charset="0"/>
              </a:rPr>
              <a:t>Иловадаги Х10-жадвал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3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18" grpId="0" animBg="1"/>
      <p:bldP spid="19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/>
          <p:nvPr/>
        </p:nvPicPr>
        <p:blipFill rotWithShape="1">
          <a:blip r:embed="rId2"/>
          <a:srcRect l="2340" t="41047" r="2483" b="22718"/>
          <a:stretch/>
        </p:blipFill>
        <p:spPr bwMode="auto">
          <a:xfrm>
            <a:off x="428596" y="571480"/>
            <a:ext cx="8358246" cy="47863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8550" name="Прямоугольник 8"/>
          <p:cNvSpPr>
            <a:spLocks noChangeArrowheads="1"/>
          </p:cNvSpPr>
          <p:nvPr/>
        </p:nvSpPr>
        <p:spPr bwMode="auto">
          <a:xfrm>
            <a:off x="2786050" y="3714752"/>
            <a:ext cx="357190" cy="35719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08551" name="Овал 9"/>
          <p:cNvSpPr>
            <a:spLocks noChangeArrowheads="1"/>
          </p:cNvSpPr>
          <p:nvPr/>
        </p:nvSpPr>
        <p:spPr bwMode="auto">
          <a:xfrm>
            <a:off x="428597" y="3714752"/>
            <a:ext cx="428627" cy="334954"/>
          </a:xfrm>
          <a:prstGeom prst="ellipse">
            <a:avLst/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cxnSp>
        <p:nvCxnSpPr>
          <p:cNvPr id="108553" name="Прямая со стрелкой 11"/>
          <p:cNvCxnSpPr>
            <a:cxnSpLocks noChangeShapeType="1"/>
          </p:cNvCxnSpPr>
          <p:nvPr/>
        </p:nvCxnSpPr>
        <p:spPr bwMode="auto">
          <a:xfrm>
            <a:off x="928662" y="3857628"/>
            <a:ext cx="1785950" cy="1588"/>
          </a:xfrm>
          <a:prstGeom prst="straightConnector1">
            <a:avLst/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</p:spPr>
      </p:cxnSp>
      <p:cxnSp>
        <p:nvCxnSpPr>
          <p:cNvPr id="108554" name="Прямая со стрелкой 12"/>
          <p:cNvCxnSpPr>
            <a:cxnSpLocks noChangeShapeType="1"/>
          </p:cNvCxnSpPr>
          <p:nvPr/>
        </p:nvCxnSpPr>
        <p:spPr bwMode="auto">
          <a:xfrm rot="5400000">
            <a:off x="1857753" y="2571347"/>
            <a:ext cx="2143140" cy="794"/>
          </a:xfrm>
          <a:prstGeom prst="straightConnector1">
            <a:avLst/>
          </a:prstGeom>
          <a:noFill/>
          <a:ln w="38100">
            <a:solidFill>
              <a:srgbClr val="00B050"/>
            </a:solidFill>
            <a:round/>
            <a:headEnd/>
            <a:tailEnd type="triangle" w="med" len="med"/>
          </a:ln>
        </p:spPr>
      </p:cxnSp>
      <p:sp>
        <p:nvSpPr>
          <p:cNvPr id="15" name="Овал 9"/>
          <p:cNvSpPr>
            <a:spLocks noChangeArrowheads="1"/>
          </p:cNvSpPr>
          <p:nvPr/>
        </p:nvSpPr>
        <p:spPr bwMode="auto">
          <a:xfrm>
            <a:off x="2714612" y="1071546"/>
            <a:ext cx="428627" cy="334954"/>
          </a:xfrm>
          <a:prstGeom prst="ellipse">
            <a:avLst/>
          </a:prstGeom>
          <a:noFill/>
          <a:ln w="38100">
            <a:solidFill>
              <a:srgbClr val="0070C0"/>
            </a:soli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" name="Стрелка вправо 24">
            <a:hlinkClick r:id="rId3" action="ppaction://hlinksldjump"/>
          </p:cNvPr>
          <p:cNvSpPr/>
          <p:nvPr/>
        </p:nvSpPr>
        <p:spPr>
          <a:xfrm rot="10800000">
            <a:off x="8532440" y="6309318"/>
            <a:ext cx="360040" cy="288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3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10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1085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0" grpId="0" animBg="1"/>
      <p:bldP spid="108550" grpId="1" animBg="1"/>
      <p:bldP spid="108551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Стрелка вправо 24">
            <a:hlinkClick r:id="rId2" action="ppaction://hlinksldjump"/>
          </p:cNvPr>
          <p:cNvSpPr/>
          <p:nvPr/>
        </p:nvSpPr>
        <p:spPr>
          <a:xfrm rot="10800000">
            <a:off x="8286776" y="6072206"/>
            <a:ext cx="428628" cy="341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/>
          <p:cNvGrpSpPr>
            <a:grpSpLocks/>
          </p:cNvGrpSpPr>
          <p:nvPr/>
        </p:nvGrpSpPr>
        <p:grpSpPr bwMode="auto">
          <a:xfrm>
            <a:off x="1122680" y="1432560"/>
            <a:ext cx="4298950" cy="869315"/>
            <a:chOff x="0" y="0"/>
            <a:chExt cx="36210" cy="7166"/>
          </a:xfrm>
        </p:grpSpPr>
        <p:sp>
          <p:nvSpPr>
            <p:cNvPr id="11" name="Rectangle 3424"/>
            <p:cNvSpPr>
              <a:spLocks noChangeArrowheads="1"/>
            </p:cNvSpPr>
            <p:nvPr/>
          </p:nvSpPr>
          <p:spPr bwMode="auto">
            <a:xfrm>
              <a:off x="0" y="2048"/>
              <a:ext cx="6508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>
                  <a:effectLst/>
                  <a:latin typeface="Times New Roman"/>
                  <a:ea typeface="Times New Roman"/>
                  <a:cs typeface="Times New Roman"/>
                </a:rPr>
                <a:t>11</a:t>
              </a:r>
              <a:endParaRPr lang="ru-RU" sz="1100">
                <a:effectLst/>
                <a:latin typeface="Calibri"/>
                <a:ea typeface="Times New Roman"/>
                <a:cs typeface="Times New Roman"/>
              </a:endParaRPr>
            </a:p>
          </p:txBody>
        </p:sp>
        <p:sp>
          <p:nvSpPr>
            <p:cNvPr id="12" name="Прямоугольник 11"/>
            <p:cNvSpPr>
              <a:spLocks noChangeArrowheads="1"/>
            </p:cNvSpPr>
            <p:nvPr/>
          </p:nvSpPr>
          <p:spPr bwMode="auto">
            <a:xfrm>
              <a:off x="9802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12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3" name="Прямоугольник 12"/>
            <p:cNvSpPr>
              <a:spLocks noChangeArrowheads="1"/>
            </p:cNvSpPr>
            <p:nvPr/>
          </p:nvSpPr>
          <p:spPr bwMode="auto">
            <a:xfrm>
              <a:off x="19531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13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4" name="Прямоугольник 13"/>
            <p:cNvSpPr>
              <a:spLocks noChangeArrowheads="1"/>
            </p:cNvSpPr>
            <p:nvPr/>
          </p:nvSpPr>
          <p:spPr bwMode="auto">
            <a:xfrm>
              <a:off x="29699" y="2048"/>
              <a:ext cx="6511" cy="3072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14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cxnSp>
          <p:nvCxnSpPr>
            <p:cNvPr id="16" name="Прямая соединительная линия 15"/>
            <p:cNvCxnSpPr/>
            <p:nvPr/>
          </p:nvCxnSpPr>
          <p:spPr bwMode="auto">
            <a:xfrm flipV="1">
              <a:off x="1170" y="0"/>
              <a:ext cx="0" cy="204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Прямая соединительная линия 16"/>
            <p:cNvCxnSpPr/>
            <p:nvPr/>
          </p:nvCxnSpPr>
          <p:spPr bwMode="auto">
            <a:xfrm flipV="1">
              <a:off x="2487" y="0"/>
              <a:ext cx="0" cy="20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Прямая соединительная линия 17"/>
            <p:cNvCxnSpPr/>
            <p:nvPr/>
          </p:nvCxnSpPr>
          <p:spPr bwMode="auto">
            <a:xfrm flipV="1">
              <a:off x="3950" y="0"/>
              <a:ext cx="0" cy="20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Прямая соединительная линия 18"/>
            <p:cNvCxnSpPr/>
            <p:nvPr/>
          </p:nvCxnSpPr>
          <p:spPr bwMode="auto">
            <a:xfrm flipV="1">
              <a:off x="5266" y="0"/>
              <a:ext cx="0" cy="204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Прямая соединительная линия 19"/>
            <p:cNvCxnSpPr/>
            <p:nvPr/>
          </p:nvCxnSpPr>
          <p:spPr bwMode="auto">
            <a:xfrm flipV="1">
              <a:off x="11119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Прямая соединительная линия 20"/>
            <p:cNvCxnSpPr/>
            <p:nvPr/>
          </p:nvCxnSpPr>
          <p:spPr bwMode="auto">
            <a:xfrm flipV="1">
              <a:off x="12435" y="0"/>
              <a:ext cx="0" cy="20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Прямая соединительная линия 21"/>
            <p:cNvCxnSpPr/>
            <p:nvPr/>
          </p:nvCxnSpPr>
          <p:spPr bwMode="auto">
            <a:xfrm flipV="1">
              <a:off x="1389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Прямая соединительная линия 22"/>
            <p:cNvCxnSpPr/>
            <p:nvPr/>
          </p:nvCxnSpPr>
          <p:spPr bwMode="auto">
            <a:xfrm flipV="1">
              <a:off x="15215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Прямая соединительная линия 23"/>
            <p:cNvCxnSpPr/>
            <p:nvPr/>
          </p:nvCxnSpPr>
          <p:spPr bwMode="auto">
            <a:xfrm flipV="1">
              <a:off x="2070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Прямая соединительная линия 25"/>
            <p:cNvCxnSpPr/>
            <p:nvPr/>
          </p:nvCxnSpPr>
          <p:spPr bwMode="auto">
            <a:xfrm flipV="1">
              <a:off x="2201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Прямая соединительная линия 26"/>
            <p:cNvCxnSpPr/>
            <p:nvPr/>
          </p:nvCxnSpPr>
          <p:spPr bwMode="auto">
            <a:xfrm flipV="1">
              <a:off x="23481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Прямая соединительная линия 27"/>
            <p:cNvCxnSpPr/>
            <p:nvPr/>
          </p:nvCxnSpPr>
          <p:spPr bwMode="auto">
            <a:xfrm flipV="1">
              <a:off x="2479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Прямая соединительная линия 28"/>
            <p:cNvCxnSpPr/>
            <p:nvPr/>
          </p:nvCxnSpPr>
          <p:spPr bwMode="auto">
            <a:xfrm flipV="1">
              <a:off x="30943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Прямая соединительная линия 29"/>
            <p:cNvCxnSpPr/>
            <p:nvPr/>
          </p:nvCxnSpPr>
          <p:spPr bwMode="auto">
            <a:xfrm flipV="1">
              <a:off x="32260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Прямая соединительная линия 30"/>
            <p:cNvCxnSpPr/>
            <p:nvPr/>
          </p:nvCxnSpPr>
          <p:spPr bwMode="auto">
            <a:xfrm flipV="1">
              <a:off x="33723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Прямая соединительная линия 31"/>
            <p:cNvCxnSpPr/>
            <p:nvPr/>
          </p:nvCxnSpPr>
          <p:spPr bwMode="auto">
            <a:xfrm flipV="1">
              <a:off x="35039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Прямая соединительная линия 32"/>
            <p:cNvCxnSpPr/>
            <p:nvPr/>
          </p:nvCxnSpPr>
          <p:spPr bwMode="auto">
            <a:xfrm flipV="1">
              <a:off x="3081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Прямая соединительная линия 33"/>
            <p:cNvCxnSpPr/>
            <p:nvPr/>
          </p:nvCxnSpPr>
          <p:spPr bwMode="auto">
            <a:xfrm flipV="1">
              <a:off x="3212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Прямая соединительная линия 34"/>
            <p:cNvCxnSpPr/>
            <p:nvPr/>
          </p:nvCxnSpPr>
          <p:spPr bwMode="auto">
            <a:xfrm flipV="1">
              <a:off x="3359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Прямая соединительная линия 35"/>
            <p:cNvCxnSpPr/>
            <p:nvPr/>
          </p:nvCxnSpPr>
          <p:spPr bwMode="auto">
            <a:xfrm flipV="1">
              <a:off x="3490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Прямая соединительная линия 36"/>
            <p:cNvCxnSpPr/>
            <p:nvPr/>
          </p:nvCxnSpPr>
          <p:spPr bwMode="auto">
            <a:xfrm flipV="1">
              <a:off x="2077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Прямая соединительная линия 37"/>
            <p:cNvCxnSpPr/>
            <p:nvPr/>
          </p:nvCxnSpPr>
          <p:spPr bwMode="auto">
            <a:xfrm flipV="1">
              <a:off x="2209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Прямая соединительная линия 38"/>
            <p:cNvCxnSpPr/>
            <p:nvPr/>
          </p:nvCxnSpPr>
          <p:spPr bwMode="auto">
            <a:xfrm flipV="1">
              <a:off x="23554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Прямая соединительная линия 39"/>
            <p:cNvCxnSpPr/>
            <p:nvPr/>
          </p:nvCxnSpPr>
          <p:spPr bwMode="auto">
            <a:xfrm flipV="1">
              <a:off x="2487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Прямая соединительная линия 40"/>
            <p:cNvCxnSpPr/>
            <p:nvPr/>
          </p:nvCxnSpPr>
          <p:spPr bwMode="auto">
            <a:xfrm flipV="1">
              <a:off x="11119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Прямая соединительная линия 41"/>
            <p:cNvCxnSpPr/>
            <p:nvPr/>
          </p:nvCxnSpPr>
          <p:spPr bwMode="auto">
            <a:xfrm flipV="1">
              <a:off x="1243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Прямая соединительная линия 42"/>
            <p:cNvCxnSpPr/>
            <p:nvPr/>
          </p:nvCxnSpPr>
          <p:spPr bwMode="auto">
            <a:xfrm flipV="1">
              <a:off x="13898" y="5120"/>
              <a:ext cx="0" cy="2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Прямая соединительная линия 43"/>
            <p:cNvCxnSpPr/>
            <p:nvPr/>
          </p:nvCxnSpPr>
          <p:spPr bwMode="auto">
            <a:xfrm flipV="1">
              <a:off x="1521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Прямая соединительная линия 44"/>
            <p:cNvCxnSpPr/>
            <p:nvPr/>
          </p:nvCxnSpPr>
          <p:spPr bwMode="auto">
            <a:xfrm flipV="1">
              <a:off x="1243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Прямая соединительная линия 45"/>
            <p:cNvCxnSpPr/>
            <p:nvPr/>
          </p:nvCxnSpPr>
          <p:spPr bwMode="auto">
            <a:xfrm flipV="1">
              <a:off x="2560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Прямая соединительная линия 46"/>
            <p:cNvCxnSpPr/>
            <p:nvPr/>
          </p:nvCxnSpPr>
          <p:spPr bwMode="auto">
            <a:xfrm flipV="1">
              <a:off x="4023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Прямая соединительная линия 47"/>
            <p:cNvCxnSpPr/>
            <p:nvPr/>
          </p:nvCxnSpPr>
          <p:spPr bwMode="auto">
            <a:xfrm flipV="1">
              <a:off x="5340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9" name="Группа 48"/>
          <p:cNvGrpSpPr>
            <a:grpSpLocks/>
          </p:cNvGrpSpPr>
          <p:nvPr/>
        </p:nvGrpSpPr>
        <p:grpSpPr bwMode="auto">
          <a:xfrm>
            <a:off x="1122680" y="3660140"/>
            <a:ext cx="4298950" cy="869315"/>
            <a:chOff x="0" y="0"/>
            <a:chExt cx="36210" cy="7166"/>
          </a:xfrm>
        </p:grpSpPr>
        <p:sp>
          <p:nvSpPr>
            <p:cNvPr id="50" name="Прямоугольник 49"/>
            <p:cNvSpPr>
              <a:spLocks noChangeArrowheads="1"/>
            </p:cNvSpPr>
            <p:nvPr/>
          </p:nvSpPr>
          <p:spPr bwMode="auto">
            <a:xfrm>
              <a:off x="0" y="2048"/>
              <a:ext cx="6508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21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51" name="Прямоугольник 50"/>
            <p:cNvSpPr>
              <a:spLocks noChangeArrowheads="1"/>
            </p:cNvSpPr>
            <p:nvPr/>
          </p:nvSpPr>
          <p:spPr bwMode="auto">
            <a:xfrm>
              <a:off x="9802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22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52" name="Прямоугольник 51"/>
            <p:cNvSpPr>
              <a:spLocks noChangeArrowheads="1"/>
            </p:cNvSpPr>
            <p:nvPr/>
          </p:nvSpPr>
          <p:spPr bwMode="auto">
            <a:xfrm>
              <a:off x="19531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23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53" name="Прямоугольник 52"/>
            <p:cNvSpPr>
              <a:spLocks noChangeArrowheads="1"/>
            </p:cNvSpPr>
            <p:nvPr/>
          </p:nvSpPr>
          <p:spPr bwMode="auto">
            <a:xfrm>
              <a:off x="29699" y="2048"/>
              <a:ext cx="6511" cy="3072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24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cxnSp>
          <p:nvCxnSpPr>
            <p:cNvPr id="54" name="Прямая соединительная линия 53"/>
            <p:cNvCxnSpPr/>
            <p:nvPr/>
          </p:nvCxnSpPr>
          <p:spPr bwMode="auto">
            <a:xfrm flipV="1">
              <a:off x="1316" y="0"/>
              <a:ext cx="0" cy="204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Прямая соединительная линия 54"/>
            <p:cNvCxnSpPr/>
            <p:nvPr/>
          </p:nvCxnSpPr>
          <p:spPr bwMode="auto">
            <a:xfrm flipV="1">
              <a:off x="2633" y="0"/>
              <a:ext cx="0" cy="204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Прямая соединительная линия 55"/>
            <p:cNvCxnSpPr/>
            <p:nvPr/>
          </p:nvCxnSpPr>
          <p:spPr bwMode="auto">
            <a:xfrm flipV="1">
              <a:off x="4096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Прямая соединительная линия 56"/>
            <p:cNvCxnSpPr/>
            <p:nvPr/>
          </p:nvCxnSpPr>
          <p:spPr bwMode="auto">
            <a:xfrm flipV="1">
              <a:off x="5413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Прямая соединительная линия 57"/>
            <p:cNvCxnSpPr/>
            <p:nvPr/>
          </p:nvCxnSpPr>
          <p:spPr bwMode="auto">
            <a:xfrm flipV="1">
              <a:off x="11192" y="0"/>
              <a:ext cx="0" cy="204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Прямая соединительная линия 58"/>
            <p:cNvCxnSpPr/>
            <p:nvPr/>
          </p:nvCxnSpPr>
          <p:spPr bwMode="auto">
            <a:xfrm flipV="1">
              <a:off x="1250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Прямая соединительная линия 59"/>
            <p:cNvCxnSpPr/>
            <p:nvPr/>
          </p:nvCxnSpPr>
          <p:spPr bwMode="auto">
            <a:xfrm flipV="1">
              <a:off x="1397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Прямая соединительная линия 60"/>
            <p:cNvCxnSpPr/>
            <p:nvPr/>
          </p:nvCxnSpPr>
          <p:spPr bwMode="auto">
            <a:xfrm flipV="1">
              <a:off x="1528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Прямая соединительная линия 61"/>
            <p:cNvCxnSpPr/>
            <p:nvPr/>
          </p:nvCxnSpPr>
          <p:spPr bwMode="auto">
            <a:xfrm flipV="1">
              <a:off x="20921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Прямая соединительная линия 62"/>
            <p:cNvCxnSpPr/>
            <p:nvPr/>
          </p:nvCxnSpPr>
          <p:spPr bwMode="auto">
            <a:xfrm flipV="1">
              <a:off x="22238" y="0"/>
              <a:ext cx="0" cy="20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Прямая соединительная линия 63"/>
            <p:cNvCxnSpPr/>
            <p:nvPr/>
          </p:nvCxnSpPr>
          <p:spPr bwMode="auto">
            <a:xfrm flipV="1">
              <a:off x="23701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Прямая соединительная линия 64"/>
            <p:cNvCxnSpPr/>
            <p:nvPr/>
          </p:nvCxnSpPr>
          <p:spPr bwMode="auto">
            <a:xfrm flipV="1">
              <a:off x="25017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Прямая соединительная линия 65"/>
            <p:cNvCxnSpPr/>
            <p:nvPr/>
          </p:nvCxnSpPr>
          <p:spPr bwMode="auto">
            <a:xfrm flipV="1">
              <a:off x="3116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Прямая соединительная линия 66"/>
            <p:cNvCxnSpPr/>
            <p:nvPr/>
          </p:nvCxnSpPr>
          <p:spPr bwMode="auto">
            <a:xfrm flipV="1">
              <a:off x="32479" y="0"/>
              <a:ext cx="0" cy="20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Прямая соединительная линия 67"/>
            <p:cNvCxnSpPr/>
            <p:nvPr/>
          </p:nvCxnSpPr>
          <p:spPr bwMode="auto">
            <a:xfrm flipV="1">
              <a:off x="3394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Прямая соединительная линия 68"/>
            <p:cNvCxnSpPr/>
            <p:nvPr/>
          </p:nvCxnSpPr>
          <p:spPr bwMode="auto">
            <a:xfrm flipV="1">
              <a:off x="35259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Прямая соединительная линия 69"/>
            <p:cNvCxnSpPr/>
            <p:nvPr/>
          </p:nvCxnSpPr>
          <p:spPr bwMode="auto">
            <a:xfrm flipV="1">
              <a:off x="31309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Прямая соединительная линия 70"/>
            <p:cNvCxnSpPr/>
            <p:nvPr/>
          </p:nvCxnSpPr>
          <p:spPr bwMode="auto">
            <a:xfrm flipV="1">
              <a:off x="32625" y="5120"/>
              <a:ext cx="0" cy="2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Прямая соединительная линия 71"/>
            <p:cNvCxnSpPr/>
            <p:nvPr/>
          </p:nvCxnSpPr>
          <p:spPr bwMode="auto">
            <a:xfrm flipV="1">
              <a:off x="3408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Прямая соединительная линия 72"/>
            <p:cNvCxnSpPr/>
            <p:nvPr/>
          </p:nvCxnSpPr>
          <p:spPr bwMode="auto">
            <a:xfrm flipV="1">
              <a:off x="3540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Прямая соединительная линия 73"/>
            <p:cNvCxnSpPr/>
            <p:nvPr/>
          </p:nvCxnSpPr>
          <p:spPr bwMode="auto">
            <a:xfrm flipV="1">
              <a:off x="2092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Прямая соединительная линия 74"/>
            <p:cNvCxnSpPr/>
            <p:nvPr/>
          </p:nvCxnSpPr>
          <p:spPr bwMode="auto">
            <a:xfrm flipV="1">
              <a:off x="2223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Прямая соединительная линия 75"/>
            <p:cNvCxnSpPr/>
            <p:nvPr/>
          </p:nvCxnSpPr>
          <p:spPr bwMode="auto">
            <a:xfrm flipV="1">
              <a:off x="2370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Прямая соединительная линия 76"/>
            <p:cNvCxnSpPr/>
            <p:nvPr/>
          </p:nvCxnSpPr>
          <p:spPr bwMode="auto">
            <a:xfrm flipV="1">
              <a:off x="25017" y="5120"/>
              <a:ext cx="0" cy="2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Прямая соединительная линия 77"/>
            <p:cNvCxnSpPr/>
            <p:nvPr/>
          </p:nvCxnSpPr>
          <p:spPr bwMode="auto">
            <a:xfrm flipV="1">
              <a:off x="11192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Прямая соединительная линия 78"/>
            <p:cNvCxnSpPr/>
            <p:nvPr/>
          </p:nvCxnSpPr>
          <p:spPr bwMode="auto">
            <a:xfrm flipV="1">
              <a:off x="12508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Прямая соединительная линия 79"/>
            <p:cNvCxnSpPr/>
            <p:nvPr/>
          </p:nvCxnSpPr>
          <p:spPr bwMode="auto">
            <a:xfrm flipV="1">
              <a:off x="13972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Прямая соединительная линия 80"/>
            <p:cNvCxnSpPr/>
            <p:nvPr/>
          </p:nvCxnSpPr>
          <p:spPr bwMode="auto">
            <a:xfrm flipV="1">
              <a:off x="15288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Прямая соединительная линия 81"/>
            <p:cNvCxnSpPr/>
            <p:nvPr/>
          </p:nvCxnSpPr>
          <p:spPr bwMode="auto">
            <a:xfrm flipV="1">
              <a:off x="1316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Прямая соединительная линия 82"/>
            <p:cNvCxnSpPr/>
            <p:nvPr/>
          </p:nvCxnSpPr>
          <p:spPr bwMode="auto">
            <a:xfrm flipV="1">
              <a:off x="2633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Прямая соединительная линия 83"/>
            <p:cNvCxnSpPr/>
            <p:nvPr/>
          </p:nvCxnSpPr>
          <p:spPr bwMode="auto">
            <a:xfrm flipV="1">
              <a:off x="4096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Прямая соединительная линия 84"/>
            <p:cNvCxnSpPr/>
            <p:nvPr/>
          </p:nvCxnSpPr>
          <p:spPr bwMode="auto">
            <a:xfrm flipV="1">
              <a:off x="5413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6" name="Прямоугольник 85"/>
          <p:cNvSpPr>
            <a:spLocks noChangeArrowheads="1"/>
          </p:cNvSpPr>
          <p:nvPr/>
        </p:nvSpPr>
        <p:spPr bwMode="auto">
          <a:xfrm>
            <a:off x="1082675" y="1101090"/>
            <a:ext cx="4367530" cy="3282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b="1">
                <a:effectLst/>
                <a:latin typeface="Times New Roman"/>
                <a:ea typeface="Times New Roman"/>
                <a:cs typeface="Times New Roman"/>
              </a:rPr>
              <a:t>K </a:t>
            </a:r>
            <a:r>
              <a:rPr lang="ru-RU" sz="1200" b="1">
                <a:effectLst/>
                <a:latin typeface="Times New Roman"/>
                <a:ea typeface="Times New Roman"/>
                <a:cs typeface="Times New Roman"/>
              </a:rPr>
              <a:t>калит битини </a:t>
            </a:r>
            <a:r>
              <a:rPr lang="uz-Cyrl-UZ" sz="1200" b="1">
                <a:effectLst/>
                <a:latin typeface="Times New Roman"/>
                <a:ea typeface="Times New Roman"/>
                <a:cs typeface="Times New Roman"/>
              </a:rPr>
              <a:t>қўшиш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</p:txBody>
      </p:sp>
      <p:sp>
        <p:nvSpPr>
          <p:cNvPr id="87" name="Прямоугольник 86"/>
          <p:cNvSpPr>
            <a:spLocks noChangeArrowheads="1"/>
          </p:cNvSpPr>
          <p:nvPr/>
        </p:nvSpPr>
        <p:spPr bwMode="auto">
          <a:xfrm>
            <a:off x="1106170" y="2301240"/>
            <a:ext cx="4368800" cy="7105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200" b="1">
                <a:effectLst/>
                <a:latin typeface="Times New Roman"/>
                <a:ea typeface="Times New Roman"/>
                <a:cs typeface="Times New Roman"/>
              </a:rPr>
              <a:t>ФУНКЦИЯ</a:t>
            </a:r>
            <a:r>
              <a:rPr lang="en-US" sz="1200" b="1">
                <a:effectLst/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b="1" i="1">
                <a:effectLst/>
                <a:latin typeface="Times New Roman"/>
                <a:ea typeface="Times New Roman"/>
                <a:cs typeface="Times New Roman"/>
              </a:rPr>
              <a:t>Shift,MixCol</a:t>
            </a:r>
            <a:r>
              <a:rPr lang="en-US" sz="1200" b="1">
                <a:effectLst/>
                <a:latin typeface="Times New Roman"/>
                <a:ea typeface="Times New Roman"/>
                <a:cs typeface="Times New Roman"/>
              </a:rPr>
              <a:t>)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</p:txBody>
      </p:sp>
      <p:sp>
        <p:nvSpPr>
          <p:cNvPr id="88" name="Прямоугольник 87"/>
          <p:cNvSpPr>
            <a:spLocks noChangeArrowheads="1"/>
          </p:cNvSpPr>
          <p:nvPr/>
        </p:nvSpPr>
        <p:spPr bwMode="auto">
          <a:xfrm>
            <a:off x="1098550" y="3319780"/>
            <a:ext cx="4368165" cy="32893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US" sz="1200" b="1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 smtClean="0">
                <a:effectLst/>
                <a:latin typeface="Times New Roman"/>
                <a:ea typeface="Times New Roman"/>
                <a:cs typeface="Times New Roman"/>
              </a:rPr>
              <a:t>K 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калит </a:t>
            </a:r>
            <a:r>
              <a:rPr lang="ru-RU" sz="1200" b="1" dirty="0" err="1">
                <a:effectLst/>
                <a:latin typeface="Times New Roman"/>
                <a:ea typeface="Times New Roman"/>
                <a:cs typeface="Times New Roman"/>
              </a:rPr>
              <a:t>битини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uz-Cyrl-UZ" sz="1200" b="1" dirty="0">
                <a:effectLst/>
                <a:latin typeface="Times New Roman"/>
                <a:ea typeface="Times New Roman"/>
                <a:cs typeface="Times New Roman"/>
              </a:rPr>
              <a:t>қўшиш</a:t>
            </a:r>
            <a:endParaRPr lang="ru-RU" sz="1100" dirty="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 dirty="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grpSp>
        <p:nvGrpSpPr>
          <p:cNvPr id="89" name="Группа 88"/>
          <p:cNvGrpSpPr>
            <a:grpSpLocks/>
          </p:cNvGrpSpPr>
          <p:nvPr/>
        </p:nvGrpSpPr>
        <p:grpSpPr bwMode="auto">
          <a:xfrm>
            <a:off x="1276985" y="3013710"/>
            <a:ext cx="4018280" cy="310515"/>
            <a:chOff x="0" y="0"/>
            <a:chExt cx="33846" cy="2559"/>
          </a:xfrm>
        </p:grpSpPr>
        <p:cxnSp>
          <p:nvCxnSpPr>
            <p:cNvPr id="90" name="Прямая соединительная линия 89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Прямая соединительная линия 90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Прямая соединительная линия 91"/>
            <p:cNvCxnSpPr/>
            <p:nvPr/>
          </p:nvCxnSpPr>
          <p:spPr bwMode="auto">
            <a:xfrm flipV="1">
              <a:off x="2797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Прямая соединительная линия 92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Прямая соединительная линия 93"/>
            <p:cNvCxnSpPr/>
            <p:nvPr/>
          </p:nvCxnSpPr>
          <p:spPr bwMode="auto">
            <a:xfrm flipV="1">
              <a:off x="10031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Прямая соединительная линия 94"/>
            <p:cNvCxnSpPr/>
            <p:nvPr/>
          </p:nvCxnSpPr>
          <p:spPr bwMode="auto">
            <a:xfrm flipV="1">
              <a:off x="11327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Прямая соединительная линия 95"/>
            <p:cNvCxnSpPr/>
            <p:nvPr/>
          </p:nvCxnSpPr>
          <p:spPr bwMode="auto">
            <a:xfrm flipV="1">
              <a:off x="12760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Прямая соединительная линия 96"/>
            <p:cNvCxnSpPr/>
            <p:nvPr/>
          </p:nvCxnSpPr>
          <p:spPr bwMode="auto">
            <a:xfrm flipH="1" flipV="1">
              <a:off x="1412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Прямая соединительная линия 97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Прямая соединительная линия 98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Прямая соединительная линия 99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Прямая соединительная линия 100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Прямая соединительная линия 101"/>
            <p:cNvCxnSpPr/>
            <p:nvPr/>
          </p:nvCxnSpPr>
          <p:spPr bwMode="auto">
            <a:xfrm flipV="1">
              <a:off x="2975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Прямая соединительная линия 102"/>
            <p:cNvCxnSpPr/>
            <p:nvPr/>
          </p:nvCxnSpPr>
          <p:spPr bwMode="auto">
            <a:xfrm flipV="1">
              <a:off x="31048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Прямая соединительная линия 103"/>
            <p:cNvCxnSpPr/>
            <p:nvPr/>
          </p:nvCxnSpPr>
          <p:spPr bwMode="auto">
            <a:xfrm flipV="1">
              <a:off x="32549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Прямая соединительная линия 104"/>
            <p:cNvCxnSpPr/>
            <p:nvPr/>
          </p:nvCxnSpPr>
          <p:spPr bwMode="auto">
            <a:xfrm flipH="1" flipV="1">
              <a:off x="33846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Группа 105"/>
          <p:cNvGrpSpPr>
            <a:grpSpLocks/>
          </p:cNvGrpSpPr>
          <p:nvPr/>
        </p:nvGrpSpPr>
        <p:grpSpPr bwMode="auto">
          <a:xfrm>
            <a:off x="1284605" y="952500"/>
            <a:ext cx="4001770" cy="144145"/>
            <a:chOff x="0" y="0"/>
            <a:chExt cx="33710" cy="2559"/>
          </a:xfrm>
        </p:grpSpPr>
        <p:cxnSp>
          <p:nvCxnSpPr>
            <p:cNvPr id="107" name="Прямая соединительная линия 106"/>
            <p:cNvCxnSpPr/>
            <p:nvPr/>
          </p:nvCxnSpPr>
          <p:spPr bwMode="auto">
            <a:xfrm flipV="1">
              <a:off x="2961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Прямая соединительная линия 107"/>
            <p:cNvCxnSpPr/>
            <p:nvPr/>
          </p:nvCxnSpPr>
          <p:spPr bwMode="auto">
            <a:xfrm flipV="1">
              <a:off x="3091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Прямая соединительная линия 108"/>
            <p:cNvCxnSpPr/>
            <p:nvPr/>
          </p:nvCxnSpPr>
          <p:spPr bwMode="auto">
            <a:xfrm flipV="1">
              <a:off x="32413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Прямая соединительная линия 109"/>
            <p:cNvCxnSpPr/>
            <p:nvPr/>
          </p:nvCxnSpPr>
          <p:spPr bwMode="auto">
            <a:xfrm flipH="1" flipV="1">
              <a:off x="33709" y="0"/>
              <a:ext cx="1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Прямая соединительная линия 110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Прямая соединительная линия 111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Прямая соединительная линия 112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Прямая соединительная линия 113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" name="Прямая соединительная линия 114"/>
            <p:cNvCxnSpPr/>
            <p:nvPr/>
          </p:nvCxnSpPr>
          <p:spPr bwMode="auto">
            <a:xfrm flipV="1">
              <a:off x="9826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Прямая соединительная линия 115"/>
            <p:cNvCxnSpPr/>
            <p:nvPr/>
          </p:nvCxnSpPr>
          <p:spPr bwMode="auto">
            <a:xfrm flipV="1">
              <a:off x="11191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Прямая соединительная линия 116"/>
            <p:cNvCxnSpPr/>
            <p:nvPr/>
          </p:nvCxnSpPr>
          <p:spPr bwMode="auto">
            <a:xfrm flipV="1">
              <a:off x="12624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Прямая соединительная линия 117"/>
            <p:cNvCxnSpPr/>
            <p:nvPr/>
          </p:nvCxnSpPr>
          <p:spPr bwMode="auto">
            <a:xfrm flipH="1" flipV="1">
              <a:off x="13920" y="0"/>
              <a:ext cx="1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Прямая соединительная линия 118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Прямая соединительная линия 119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Прямая соединительная линия 120"/>
            <p:cNvCxnSpPr/>
            <p:nvPr/>
          </p:nvCxnSpPr>
          <p:spPr bwMode="auto">
            <a:xfrm flipV="1">
              <a:off x="2729" y="0"/>
              <a:ext cx="70" cy="255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Прямая соединительная линия 121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3" name="Прямоугольник 122"/>
          <p:cNvSpPr>
            <a:spLocks noChangeArrowheads="1"/>
          </p:cNvSpPr>
          <p:nvPr/>
        </p:nvSpPr>
        <p:spPr bwMode="auto">
          <a:xfrm>
            <a:off x="1066165" y="4529455"/>
            <a:ext cx="4367530" cy="52959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US" sz="1200" b="1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200" b="1" dirty="0" smtClean="0">
                <a:effectLst/>
                <a:latin typeface="Times New Roman"/>
                <a:ea typeface="Times New Roman"/>
                <a:cs typeface="Times New Roman"/>
              </a:rPr>
              <a:t>ФУНКЦИЯ</a:t>
            </a:r>
            <a:r>
              <a:rPr lang="en-US" sz="1200" b="1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200" b="1" dirty="0">
                <a:effectLst/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200" b="1" i="1" dirty="0">
                <a:effectLst/>
                <a:latin typeface="Times New Roman"/>
                <a:ea typeface="Times New Roman"/>
                <a:cs typeface="Times New Roman"/>
              </a:rPr>
              <a:t>Shift</a:t>
            </a:r>
            <a:r>
              <a:rPr lang="en-US" sz="1200" b="1" dirty="0">
                <a:effectLst/>
                <a:latin typeface="Times New Roman"/>
                <a:ea typeface="Times New Roman"/>
                <a:cs typeface="Times New Roman"/>
              </a:rPr>
              <a:t>)</a:t>
            </a:r>
            <a:endParaRPr lang="ru-RU" sz="1100" dirty="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 dirty="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124" name="Прямоугольник 123"/>
          <p:cNvSpPr>
            <a:spLocks noChangeArrowheads="1"/>
          </p:cNvSpPr>
          <p:nvPr/>
        </p:nvSpPr>
        <p:spPr bwMode="auto">
          <a:xfrm>
            <a:off x="1098550" y="5365115"/>
            <a:ext cx="4368165" cy="32956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US" sz="1200" b="1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 smtClean="0">
                <a:effectLst/>
                <a:latin typeface="Times New Roman"/>
                <a:ea typeface="Times New Roman"/>
                <a:cs typeface="Times New Roman"/>
              </a:rPr>
              <a:t>K 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калит </a:t>
            </a:r>
            <a:r>
              <a:rPr lang="ru-RU" sz="1200" b="1" dirty="0" err="1">
                <a:effectLst/>
                <a:latin typeface="Times New Roman"/>
                <a:ea typeface="Times New Roman"/>
                <a:cs typeface="Times New Roman"/>
              </a:rPr>
              <a:t>битини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uz-Cyrl-UZ" sz="1200" b="1" dirty="0">
                <a:effectLst/>
                <a:latin typeface="Times New Roman"/>
                <a:ea typeface="Times New Roman"/>
                <a:cs typeface="Times New Roman"/>
              </a:rPr>
              <a:t>қўшиш</a:t>
            </a:r>
            <a:endParaRPr lang="ru-RU" sz="1100" dirty="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 dirty="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grpSp>
        <p:nvGrpSpPr>
          <p:cNvPr id="125" name="Группа 124"/>
          <p:cNvGrpSpPr>
            <a:grpSpLocks/>
          </p:cNvGrpSpPr>
          <p:nvPr/>
        </p:nvGrpSpPr>
        <p:grpSpPr bwMode="auto">
          <a:xfrm>
            <a:off x="1308735" y="5059045"/>
            <a:ext cx="4018280" cy="310515"/>
            <a:chOff x="0" y="0"/>
            <a:chExt cx="33846" cy="2559"/>
          </a:xfrm>
        </p:grpSpPr>
        <p:cxnSp>
          <p:nvCxnSpPr>
            <p:cNvPr id="126" name="Прямая соединительная линия 125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Прямая соединительная линия 126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8" name="Прямая соединительная линия 127"/>
            <p:cNvCxnSpPr/>
            <p:nvPr/>
          </p:nvCxnSpPr>
          <p:spPr bwMode="auto">
            <a:xfrm flipV="1">
              <a:off x="2797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9" name="Прямая соединительная линия 128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Прямая соединительная линия 129"/>
            <p:cNvCxnSpPr/>
            <p:nvPr/>
          </p:nvCxnSpPr>
          <p:spPr bwMode="auto">
            <a:xfrm flipV="1">
              <a:off x="10031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1" name="Прямая соединительная линия 130"/>
            <p:cNvCxnSpPr/>
            <p:nvPr/>
          </p:nvCxnSpPr>
          <p:spPr bwMode="auto">
            <a:xfrm flipV="1">
              <a:off x="11327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2" name="Прямая соединительная линия 131"/>
            <p:cNvCxnSpPr/>
            <p:nvPr/>
          </p:nvCxnSpPr>
          <p:spPr bwMode="auto">
            <a:xfrm flipV="1">
              <a:off x="12760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Прямая соединительная линия 132"/>
            <p:cNvCxnSpPr/>
            <p:nvPr/>
          </p:nvCxnSpPr>
          <p:spPr bwMode="auto">
            <a:xfrm flipH="1" flipV="1">
              <a:off x="1412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Прямая соединительная линия 133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" name="Прямая соединительная линия 134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Прямая соединительная линия 135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Прямая соединительная линия 136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Прямая соединительная линия 137"/>
            <p:cNvCxnSpPr/>
            <p:nvPr/>
          </p:nvCxnSpPr>
          <p:spPr bwMode="auto">
            <a:xfrm flipV="1">
              <a:off x="29752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Прямая соединительная линия 138"/>
            <p:cNvCxnSpPr/>
            <p:nvPr/>
          </p:nvCxnSpPr>
          <p:spPr bwMode="auto">
            <a:xfrm flipV="1">
              <a:off x="31048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Прямая соединительная линия 139"/>
            <p:cNvCxnSpPr/>
            <p:nvPr/>
          </p:nvCxnSpPr>
          <p:spPr bwMode="auto">
            <a:xfrm flipV="1">
              <a:off x="32549" y="0"/>
              <a:ext cx="70" cy="255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Прямая соединительная линия 140"/>
            <p:cNvCxnSpPr/>
            <p:nvPr/>
          </p:nvCxnSpPr>
          <p:spPr bwMode="auto">
            <a:xfrm flipH="1" flipV="1">
              <a:off x="3384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2" name="Группа 141"/>
          <p:cNvGrpSpPr>
            <a:grpSpLocks/>
          </p:cNvGrpSpPr>
          <p:nvPr/>
        </p:nvGrpSpPr>
        <p:grpSpPr bwMode="auto">
          <a:xfrm>
            <a:off x="1308735" y="5688965"/>
            <a:ext cx="4018280" cy="132080"/>
            <a:chOff x="0" y="0"/>
            <a:chExt cx="33846" cy="2559"/>
          </a:xfrm>
        </p:grpSpPr>
        <p:cxnSp>
          <p:nvCxnSpPr>
            <p:cNvPr id="143" name="Прямая соединительная линия 142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Прямая соединительная линия 143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Прямая соединительная линия 144"/>
            <p:cNvCxnSpPr/>
            <p:nvPr/>
          </p:nvCxnSpPr>
          <p:spPr bwMode="auto">
            <a:xfrm flipV="1">
              <a:off x="2797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Прямая соединительная линия 145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Прямая соединительная линия 146"/>
            <p:cNvCxnSpPr/>
            <p:nvPr/>
          </p:nvCxnSpPr>
          <p:spPr bwMode="auto">
            <a:xfrm flipV="1">
              <a:off x="10031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Прямая соединительная линия 147"/>
            <p:cNvCxnSpPr/>
            <p:nvPr/>
          </p:nvCxnSpPr>
          <p:spPr bwMode="auto">
            <a:xfrm flipV="1">
              <a:off x="11327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Прямая соединительная линия 148"/>
            <p:cNvCxnSpPr/>
            <p:nvPr/>
          </p:nvCxnSpPr>
          <p:spPr bwMode="auto">
            <a:xfrm flipV="1">
              <a:off x="12760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Прямая соединительная линия 149"/>
            <p:cNvCxnSpPr/>
            <p:nvPr/>
          </p:nvCxnSpPr>
          <p:spPr bwMode="auto">
            <a:xfrm flipH="1" flipV="1">
              <a:off x="1412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Прямая соединительная линия 150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Прямая соединительная линия 151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Прямая соединительная линия 152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Прямая соединительная линия 153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Прямая соединительная линия 154"/>
            <p:cNvCxnSpPr/>
            <p:nvPr/>
          </p:nvCxnSpPr>
          <p:spPr bwMode="auto">
            <a:xfrm flipV="1">
              <a:off x="29752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Прямая соединительная линия 155"/>
            <p:cNvCxnSpPr/>
            <p:nvPr/>
          </p:nvCxnSpPr>
          <p:spPr bwMode="auto">
            <a:xfrm flipV="1">
              <a:off x="31048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Прямая соединительная линия 156"/>
            <p:cNvCxnSpPr/>
            <p:nvPr/>
          </p:nvCxnSpPr>
          <p:spPr bwMode="auto">
            <a:xfrm flipV="1">
              <a:off x="32549" y="0"/>
              <a:ext cx="70" cy="255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Прямая соединительная линия 157"/>
            <p:cNvCxnSpPr/>
            <p:nvPr/>
          </p:nvCxnSpPr>
          <p:spPr bwMode="auto">
            <a:xfrm flipH="1" flipV="1">
              <a:off x="3384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9" name="Правая фигурная скобка 158"/>
          <p:cNvSpPr>
            <a:spLocks/>
          </p:cNvSpPr>
          <p:nvPr/>
        </p:nvSpPr>
        <p:spPr bwMode="auto">
          <a:xfrm>
            <a:off x="5627370" y="1026795"/>
            <a:ext cx="332105" cy="2178050"/>
          </a:xfrm>
          <a:prstGeom prst="rightBrace">
            <a:avLst>
              <a:gd name="adj1" fmla="val 8532"/>
              <a:gd name="adj2" fmla="val 50000"/>
            </a:avLst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ru-RU"/>
          </a:p>
        </p:txBody>
      </p:sp>
      <p:sp>
        <p:nvSpPr>
          <p:cNvPr id="160" name="Правая фигурная скобка 159"/>
          <p:cNvSpPr>
            <a:spLocks/>
          </p:cNvSpPr>
          <p:nvPr/>
        </p:nvSpPr>
        <p:spPr bwMode="auto">
          <a:xfrm>
            <a:off x="5651500" y="3261995"/>
            <a:ext cx="332740" cy="2431415"/>
          </a:xfrm>
          <a:prstGeom prst="rightBrace">
            <a:avLst>
              <a:gd name="adj1" fmla="val 8525"/>
              <a:gd name="adj2" fmla="val 50000"/>
            </a:avLst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ru-RU"/>
          </a:p>
        </p:txBody>
      </p:sp>
      <p:sp>
        <p:nvSpPr>
          <p:cNvPr id="161" name="Прямоугольник 160"/>
          <p:cNvSpPr>
            <a:spLocks noChangeArrowheads="1"/>
          </p:cNvSpPr>
          <p:nvPr/>
        </p:nvSpPr>
        <p:spPr bwMode="auto">
          <a:xfrm>
            <a:off x="5941060" y="1985010"/>
            <a:ext cx="1012190" cy="364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effectLst/>
                <a:latin typeface="Times New Roman"/>
                <a:ea typeface="Times New Roman"/>
                <a:cs typeface="Times New Roman"/>
              </a:rPr>
              <a:t>1 -</a:t>
            </a:r>
            <a:r>
              <a:rPr lang="ru-RU" sz="1400" b="1">
                <a:effectLst/>
                <a:latin typeface="Times New Roman"/>
                <a:ea typeface="Times New Roman"/>
                <a:cs typeface="Times New Roman"/>
              </a:rPr>
              <a:t>раунд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</p:txBody>
      </p:sp>
      <p:sp>
        <p:nvSpPr>
          <p:cNvPr id="162" name="Прямоугольник 161"/>
          <p:cNvSpPr>
            <a:spLocks noChangeArrowheads="1"/>
          </p:cNvSpPr>
          <p:nvPr/>
        </p:nvSpPr>
        <p:spPr bwMode="auto">
          <a:xfrm>
            <a:off x="5963285" y="4342130"/>
            <a:ext cx="10128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1400" b="1">
                <a:effectLst/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1400" b="1">
                <a:effectLst/>
                <a:latin typeface="Times New Roman"/>
                <a:ea typeface="Times New Roman"/>
                <a:cs typeface="Times New Roman"/>
              </a:rPr>
              <a:t> -</a:t>
            </a:r>
            <a:r>
              <a:rPr lang="ru-RU" sz="1400" b="1">
                <a:effectLst/>
                <a:latin typeface="Times New Roman"/>
                <a:ea typeface="Times New Roman"/>
                <a:cs typeface="Times New Roman"/>
              </a:rPr>
              <a:t>раунд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2" name="Rectangle 15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1238" algn="l"/>
              </a:tabLst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168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1238" algn="l"/>
              </a:tabLst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1043608" y="3717032"/>
            <a:ext cx="938478" cy="931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10471" y="3550027"/>
            <a:ext cx="1152128" cy="455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1100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6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/>
      <p:bldP spid="6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Стрелка вправо 24">
            <a:hlinkClick r:id="rId2" action="ppaction://hlinksldjump"/>
          </p:cNvPr>
          <p:cNvSpPr/>
          <p:nvPr/>
        </p:nvSpPr>
        <p:spPr>
          <a:xfrm rot="10800000">
            <a:off x="8286776" y="6072206"/>
            <a:ext cx="428628" cy="341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0" name="Группа 9"/>
          <p:cNvGrpSpPr>
            <a:grpSpLocks/>
          </p:cNvGrpSpPr>
          <p:nvPr/>
        </p:nvGrpSpPr>
        <p:grpSpPr bwMode="auto">
          <a:xfrm>
            <a:off x="1122680" y="1432560"/>
            <a:ext cx="4298950" cy="869315"/>
            <a:chOff x="0" y="0"/>
            <a:chExt cx="36210" cy="7166"/>
          </a:xfrm>
        </p:grpSpPr>
        <p:sp>
          <p:nvSpPr>
            <p:cNvPr id="11" name="Rectangle 3424"/>
            <p:cNvSpPr>
              <a:spLocks noChangeArrowheads="1"/>
            </p:cNvSpPr>
            <p:nvPr/>
          </p:nvSpPr>
          <p:spPr bwMode="auto">
            <a:xfrm>
              <a:off x="0" y="2048"/>
              <a:ext cx="6508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>
                  <a:effectLst/>
                  <a:latin typeface="Times New Roman"/>
                  <a:ea typeface="Times New Roman"/>
                  <a:cs typeface="Times New Roman"/>
                </a:rPr>
                <a:t>11</a:t>
              </a:r>
              <a:endParaRPr lang="ru-RU" sz="1100">
                <a:effectLst/>
                <a:latin typeface="Calibri"/>
                <a:ea typeface="Times New Roman"/>
                <a:cs typeface="Times New Roman"/>
              </a:endParaRPr>
            </a:p>
          </p:txBody>
        </p:sp>
        <p:sp>
          <p:nvSpPr>
            <p:cNvPr id="12" name="Прямоугольник 11"/>
            <p:cNvSpPr>
              <a:spLocks noChangeArrowheads="1"/>
            </p:cNvSpPr>
            <p:nvPr/>
          </p:nvSpPr>
          <p:spPr bwMode="auto">
            <a:xfrm>
              <a:off x="9802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12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3" name="Прямоугольник 12"/>
            <p:cNvSpPr>
              <a:spLocks noChangeArrowheads="1"/>
            </p:cNvSpPr>
            <p:nvPr/>
          </p:nvSpPr>
          <p:spPr bwMode="auto">
            <a:xfrm>
              <a:off x="19531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13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14" name="Прямоугольник 13"/>
            <p:cNvSpPr>
              <a:spLocks noChangeArrowheads="1"/>
            </p:cNvSpPr>
            <p:nvPr/>
          </p:nvSpPr>
          <p:spPr bwMode="auto">
            <a:xfrm>
              <a:off x="29699" y="2048"/>
              <a:ext cx="6511" cy="3072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14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cxnSp>
          <p:nvCxnSpPr>
            <p:cNvPr id="16" name="Прямая соединительная линия 15"/>
            <p:cNvCxnSpPr/>
            <p:nvPr/>
          </p:nvCxnSpPr>
          <p:spPr bwMode="auto">
            <a:xfrm flipV="1">
              <a:off x="1170" y="0"/>
              <a:ext cx="0" cy="204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Прямая соединительная линия 16"/>
            <p:cNvCxnSpPr/>
            <p:nvPr/>
          </p:nvCxnSpPr>
          <p:spPr bwMode="auto">
            <a:xfrm flipV="1">
              <a:off x="2487" y="0"/>
              <a:ext cx="0" cy="20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Прямая соединительная линия 17"/>
            <p:cNvCxnSpPr/>
            <p:nvPr/>
          </p:nvCxnSpPr>
          <p:spPr bwMode="auto">
            <a:xfrm flipV="1">
              <a:off x="3950" y="0"/>
              <a:ext cx="0" cy="20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Прямая соединительная линия 18"/>
            <p:cNvCxnSpPr/>
            <p:nvPr/>
          </p:nvCxnSpPr>
          <p:spPr bwMode="auto">
            <a:xfrm flipV="1">
              <a:off x="5266" y="0"/>
              <a:ext cx="0" cy="2044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Прямая соединительная линия 19"/>
            <p:cNvCxnSpPr/>
            <p:nvPr/>
          </p:nvCxnSpPr>
          <p:spPr bwMode="auto">
            <a:xfrm flipV="1">
              <a:off x="11119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Прямая соединительная линия 20"/>
            <p:cNvCxnSpPr/>
            <p:nvPr/>
          </p:nvCxnSpPr>
          <p:spPr bwMode="auto">
            <a:xfrm flipV="1">
              <a:off x="12435" y="0"/>
              <a:ext cx="0" cy="20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Прямая соединительная линия 21"/>
            <p:cNvCxnSpPr/>
            <p:nvPr/>
          </p:nvCxnSpPr>
          <p:spPr bwMode="auto">
            <a:xfrm flipV="1">
              <a:off x="1389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Прямая соединительная линия 22"/>
            <p:cNvCxnSpPr/>
            <p:nvPr/>
          </p:nvCxnSpPr>
          <p:spPr bwMode="auto">
            <a:xfrm flipV="1">
              <a:off x="15215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Прямая соединительная линия 23"/>
            <p:cNvCxnSpPr/>
            <p:nvPr/>
          </p:nvCxnSpPr>
          <p:spPr bwMode="auto">
            <a:xfrm flipV="1">
              <a:off x="2070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Прямая соединительная линия 25"/>
            <p:cNvCxnSpPr/>
            <p:nvPr/>
          </p:nvCxnSpPr>
          <p:spPr bwMode="auto">
            <a:xfrm flipV="1">
              <a:off x="2201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Прямая соединительная линия 26"/>
            <p:cNvCxnSpPr/>
            <p:nvPr/>
          </p:nvCxnSpPr>
          <p:spPr bwMode="auto">
            <a:xfrm flipV="1">
              <a:off x="23481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Прямая соединительная линия 27"/>
            <p:cNvCxnSpPr/>
            <p:nvPr/>
          </p:nvCxnSpPr>
          <p:spPr bwMode="auto">
            <a:xfrm flipV="1">
              <a:off x="2479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Прямая соединительная линия 28"/>
            <p:cNvCxnSpPr/>
            <p:nvPr/>
          </p:nvCxnSpPr>
          <p:spPr bwMode="auto">
            <a:xfrm flipV="1">
              <a:off x="30943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Прямая соединительная линия 29"/>
            <p:cNvCxnSpPr/>
            <p:nvPr/>
          </p:nvCxnSpPr>
          <p:spPr bwMode="auto">
            <a:xfrm flipV="1">
              <a:off x="32260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Прямая соединительная линия 30"/>
            <p:cNvCxnSpPr/>
            <p:nvPr/>
          </p:nvCxnSpPr>
          <p:spPr bwMode="auto">
            <a:xfrm flipV="1">
              <a:off x="33723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Прямая соединительная линия 31"/>
            <p:cNvCxnSpPr/>
            <p:nvPr/>
          </p:nvCxnSpPr>
          <p:spPr bwMode="auto">
            <a:xfrm flipV="1">
              <a:off x="35039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Прямая соединительная линия 32"/>
            <p:cNvCxnSpPr/>
            <p:nvPr/>
          </p:nvCxnSpPr>
          <p:spPr bwMode="auto">
            <a:xfrm flipV="1">
              <a:off x="3081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Прямая соединительная линия 33"/>
            <p:cNvCxnSpPr/>
            <p:nvPr/>
          </p:nvCxnSpPr>
          <p:spPr bwMode="auto">
            <a:xfrm flipV="1">
              <a:off x="3212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Прямая соединительная линия 34"/>
            <p:cNvCxnSpPr/>
            <p:nvPr/>
          </p:nvCxnSpPr>
          <p:spPr bwMode="auto">
            <a:xfrm flipV="1">
              <a:off x="3359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Прямая соединительная линия 35"/>
            <p:cNvCxnSpPr/>
            <p:nvPr/>
          </p:nvCxnSpPr>
          <p:spPr bwMode="auto">
            <a:xfrm flipV="1">
              <a:off x="3490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Прямая соединительная линия 36"/>
            <p:cNvCxnSpPr/>
            <p:nvPr/>
          </p:nvCxnSpPr>
          <p:spPr bwMode="auto">
            <a:xfrm flipV="1">
              <a:off x="2077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Прямая соединительная линия 37"/>
            <p:cNvCxnSpPr/>
            <p:nvPr/>
          </p:nvCxnSpPr>
          <p:spPr bwMode="auto">
            <a:xfrm flipV="1">
              <a:off x="2209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Прямая соединительная линия 38"/>
            <p:cNvCxnSpPr/>
            <p:nvPr/>
          </p:nvCxnSpPr>
          <p:spPr bwMode="auto">
            <a:xfrm flipV="1">
              <a:off x="23554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Прямая соединительная линия 39"/>
            <p:cNvCxnSpPr/>
            <p:nvPr/>
          </p:nvCxnSpPr>
          <p:spPr bwMode="auto">
            <a:xfrm flipV="1">
              <a:off x="2487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Прямая соединительная линия 40"/>
            <p:cNvCxnSpPr/>
            <p:nvPr/>
          </p:nvCxnSpPr>
          <p:spPr bwMode="auto">
            <a:xfrm flipV="1">
              <a:off x="11119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Прямая соединительная линия 41"/>
            <p:cNvCxnSpPr/>
            <p:nvPr/>
          </p:nvCxnSpPr>
          <p:spPr bwMode="auto">
            <a:xfrm flipV="1">
              <a:off x="1243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Прямая соединительная линия 42"/>
            <p:cNvCxnSpPr/>
            <p:nvPr/>
          </p:nvCxnSpPr>
          <p:spPr bwMode="auto">
            <a:xfrm flipV="1">
              <a:off x="13898" y="5120"/>
              <a:ext cx="0" cy="2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Прямая соединительная линия 43"/>
            <p:cNvCxnSpPr/>
            <p:nvPr/>
          </p:nvCxnSpPr>
          <p:spPr bwMode="auto">
            <a:xfrm flipV="1">
              <a:off x="1521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Прямая соединительная линия 44"/>
            <p:cNvCxnSpPr/>
            <p:nvPr/>
          </p:nvCxnSpPr>
          <p:spPr bwMode="auto">
            <a:xfrm flipV="1">
              <a:off x="1243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Прямая соединительная линия 45"/>
            <p:cNvCxnSpPr/>
            <p:nvPr/>
          </p:nvCxnSpPr>
          <p:spPr bwMode="auto">
            <a:xfrm flipV="1">
              <a:off x="2560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Прямая соединительная линия 46"/>
            <p:cNvCxnSpPr/>
            <p:nvPr/>
          </p:nvCxnSpPr>
          <p:spPr bwMode="auto">
            <a:xfrm flipV="1">
              <a:off x="4023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Прямая соединительная линия 47"/>
            <p:cNvCxnSpPr/>
            <p:nvPr/>
          </p:nvCxnSpPr>
          <p:spPr bwMode="auto">
            <a:xfrm flipV="1">
              <a:off x="5340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9" name="Группа 48"/>
          <p:cNvGrpSpPr>
            <a:grpSpLocks/>
          </p:cNvGrpSpPr>
          <p:nvPr/>
        </p:nvGrpSpPr>
        <p:grpSpPr bwMode="auto">
          <a:xfrm>
            <a:off x="1122680" y="3660140"/>
            <a:ext cx="4298950" cy="869315"/>
            <a:chOff x="0" y="0"/>
            <a:chExt cx="36210" cy="7166"/>
          </a:xfrm>
        </p:grpSpPr>
        <p:sp>
          <p:nvSpPr>
            <p:cNvPr id="50" name="Прямоугольник 49"/>
            <p:cNvSpPr>
              <a:spLocks noChangeArrowheads="1"/>
            </p:cNvSpPr>
            <p:nvPr/>
          </p:nvSpPr>
          <p:spPr bwMode="auto">
            <a:xfrm>
              <a:off x="0" y="2048"/>
              <a:ext cx="6508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21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51" name="Прямоугольник 50"/>
            <p:cNvSpPr>
              <a:spLocks noChangeArrowheads="1"/>
            </p:cNvSpPr>
            <p:nvPr/>
          </p:nvSpPr>
          <p:spPr bwMode="auto">
            <a:xfrm>
              <a:off x="9802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22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52" name="Прямоугольник 51"/>
            <p:cNvSpPr>
              <a:spLocks noChangeArrowheads="1"/>
            </p:cNvSpPr>
            <p:nvPr/>
          </p:nvSpPr>
          <p:spPr bwMode="auto">
            <a:xfrm>
              <a:off x="19531" y="2048"/>
              <a:ext cx="6509" cy="3067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23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sp>
          <p:nvSpPr>
            <p:cNvPr id="53" name="Прямоугольник 52"/>
            <p:cNvSpPr>
              <a:spLocks noChangeArrowheads="1"/>
            </p:cNvSpPr>
            <p:nvPr/>
          </p:nvSpPr>
          <p:spPr bwMode="auto">
            <a:xfrm>
              <a:off x="29699" y="2048"/>
              <a:ext cx="6511" cy="3072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en-US" sz="1400" b="1" dirty="0" smtClean="0">
                <a:effectLst/>
                <a:latin typeface="Times New Roman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 dirty="0" smtClean="0">
                  <a:effectLst/>
                  <a:latin typeface="Times New Roman"/>
                  <a:ea typeface="Times New Roman"/>
                  <a:cs typeface="Times New Roman"/>
                </a:rPr>
                <a:t>S</a:t>
              </a:r>
              <a:r>
                <a:rPr lang="en-US" sz="1400" b="1" baseline="-25000" dirty="0" smtClean="0">
                  <a:effectLst/>
                  <a:latin typeface="Times New Roman"/>
                  <a:ea typeface="Times New Roman"/>
                  <a:cs typeface="Times New Roman"/>
                </a:rPr>
                <a:t>24</a:t>
              </a:r>
              <a:endParaRPr lang="ru-RU" sz="1100" dirty="0">
                <a:effectLst/>
                <a:latin typeface="Calibri"/>
                <a:ea typeface="Times New Roman"/>
                <a:cs typeface="Times New Roman"/>
              </a:endParaRPr>
            </a:p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ru-RU" sz="1100" dirty="0">
                  <a:effectLst/>
                  <a:latin typeface="Calibri"/>
                  <a:ea typeface="Times New Roman"/>
                  <a:cs typeface="Times New Roman"/>
                </a:rPr>
                <a:t> </a:t>
              </a:r>
            </a:p>
          </p:txBody>
        </p:sp>
        <p:cxnSp>
          <p:nvCxnSpPr>
            <p:cNvPr id="54" name="Прямая соединительная линия 53"/>
            <p:cNvCxnSpPr/>
            <p:nvPr/>
          </p:nvCxnSpPr>
          <p:spPr bwMode="auto">
            <a:xfrm flipV="1">
              <a:off x="1316" y="0"/>
              <a:ext cx="0" cy="204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Прямая соединительная линия 54"/>
            <p:cNvCxnSpPr/>
            <p:nvPr/>
          </p:nvCxnSpPr>
          <p:spPr bwMode="auto">
            <a:xfrm flipV="1">
              <a:off x="2633" y="0"/>
              <a:ext cx="0" cy="204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Прямая соединительная линия 55"/>
            <p:cNvCxnSpPr/>
            <p:nvPr/>
          </p:nvCxnSpPr>
          <p:spPr bwMode="auto">
            <a:xfrm flipV="1">
              <a:off x="4096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Прямая соединительная линия 56"/>
            <p:cNvCxnSpPr/>
            <p:nvPr/>
          </p:nvCxnSpPr>
          <p:spPr bwMode="auto">
            <a:xfrm flipV="1">
              <a:off x="5413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Прямая соединительная линия 57"/>
            <p:cNvCxnSpPr/>
            <p:nvPr/>
          </p:nvCxnSpPr>
          <p:spPr bwMode="auto">
            <a:xfrm flipV="1">
              <a:off x="11192" y="0"/>
              <a:ext cx="0" cy="204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Прямая соединительная линия 58"/>
            <p:cNvCxnSpPr/>
            <p:nvPr/>
          </p:nvCxnSpPr>
          <p:spPr bwMode="auto">
            <a:xfrm flipV="1">
              <a:off x="1250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0" name="Прямая соединительная линия 59"/>
            <p:cNvCxnSpPr/>
            <p:nvPr/>
          </p:nvCxnSpPr>
          <p:spPr bwMode="auto">
            <a:xfrm flipV="1">
              <a:off x="1397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" name="Прямая соединительная линия 60"/>
            <p:cNvCxnSpPr/>
            <p:nvPr/>
          </p:nvCxnSpPr>
          <p:spPr bwMode="auto">
            <a:xfrm flipV="1">
              <a:off x="15288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" name="Прямая соединительная линия 61"/>
            <p:cNvCxnSpPr/>
            <p:nvPr/>
          </p:nvCxnSpPr>
          <p:spPr bwMode="auto">
            <a:xfrm flipV="1">
              <a:off x="20921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Прямая соединительная линия 62"/>
            <p:cNvCxnSpPr/>
            <p:nvPr/>
          </p:nvCxnSpPr>
          <p:spPr bwMode="auto">
            <a:xfrm flipV="1">
              <a:off x="22238" y="0"/>
              <a:ext cx="0" cy="20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" name="Прямая соединительная линия 63"/>
            <p:cNvCxnSpPr/>
            <p:nvPr/>
          </p:nvCxnSpPr>
          <p:spPr bwMode="auto">
            <a:xfrm flipV="1">
              <a:off x="23701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Прямая соединительная линия 64"/>
            <p:cNvCxnSpPr/>
            <p:nvPr/>
          </p:nvCxnSpPr>
          <p:spPr bwMode="auto">
            <a:xfrm flipV="1">
              <a:off x="25017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Прямая соединительная линия 65"/>
            <p:cNvCxnSpPr/>
            <p:nvPr/>
          </p:nvCxnSpPr>
          <p:spPr bwMode="auto">
            <a:xfrm flipV="1">
              <a:off x="3116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Прямая соединительная линия 66"/>
            <p:cNvCxnSpPr/>
            <p:nvPr/>
          </p:nvCxnSpPr>
          <p:spPr bwMode="auto">
            <a:xfrm flipV="1">
              <a:off x="32479" y="0"/>
              <a:ext cx="0" cy="20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Прямая соединительная линия 67"/>
            <p:cNvCxnSpPr/>
            <p:nvPr/>
          </p:nvCxnSpPr>
          <p:spPr bwMode="auto">
            <a:xfrm flipV="1">
              <a:off x="33942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Прямая соединительная линия 68"/>
            <p:cNvCxnSpPr/>
            <p:nvPr/>
          </p:nvCxnSpPr>
          <p:spPr bwMode="auto">
            <a:xfrm flipV="1">
              <a:off x="35259" y="0"/>
              <a:ext cx="0" cy="2045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Прямая соединительная линия 69"/>
            <p:cNvCxnSpPr/>
            <p:nvPr/>
          </p:nvCxnSpPr>
          <p:spPr bwMode="auto">
            <a:xfrm flipV="1">
              <a:off x="31309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Прямая соединительная линия 70"/>
            <p:cNvCxnSpPr/>
            <p:nvPr/>
          </p:nvCxnSpPr>
          <p:spPr bwMode="auto">
            <a:xfrm flipV="1">
              <a:off x="32625" y="5120"/>
              <a:ext cx="0" cy="2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Прямая соединительная линия 71"/>
            <p:cNvCxnSpPr/>
            <p:nvPr/>
          </p:nvCxnSpPr>
          <p:spPr bwMode="auto">
            <a:xfrm flipV="1">
              <a:off x="3408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Прямая соединительная линия 72"/>
            <p:cNvCxnSpPr/>
            <p:nvPr/>
          </p:nvCxnSpPr>
          <p:spPr bwMode="auto">
            <a:xfrm flipV="1">
              <a:off x="35405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Прямая соединительная линия 73"/>
            <p:cNvCxnSpPr/>
            <p:nvPr/>
          </p:nvCxnSpPr>
          <p:spPr bwMode="auto">
            <a:xfrm flipV="1">
              <a:off x="2092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Прямая соединительная линия 74"/>
            <p:cNvCxnSpPr/>
            <p:nvPr/>
          </p:nvCxnSpPr>
          <p:spPr bwMode="auto">
            <a:xfrm flipV="1">
              <a:off x="22238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Прямая соединительная линия 75"/>
            <p:cNvCxnSpPr/>
            <p:nvPr/>
          </p:nvCxnSpPr>
          <p:spPr bwMode="auto">
            <a:xfrm flipV="1">
              <a:off x="23701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Прямая соединительная линия 76"/>
            <p:cNvCxnSpPr/>
            <p:nvPr/>
          </p:nvCxnSpPr>
          <p:spPr bwMode="auto">
            <a:xfrm flipV="1">
              <a:off x="25017" y="5120"/>
              <a:ext cx="0" cy="204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Прямая соединительная линия 77"/>
            <p:cNvCxnSpPr/>
            <p:nvPr/>
          </p:nvCxnSpPr>
          <p:spPr bwMode="auto">
            <a:xfrm flipV="1">
              <a:off x="11192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Прямая соединительная линия 78"/>
            <p:cNvCxnSpPr/>
            <p:nvPr/>
          </p:nvCxnSpPr>
          <p:spPr bwMode="auto">
            <a:xfrm flipV="1">
              <a:off x="12508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Прямая соединительная линия 79"/>
            <p:cNvCxnSpPr/>
            <p:nvPr/>
          </p:nvCxnSpPr>
          <p:spPr bwMode="auto">
            <a:xfrm flipV="1">
              <a:off x="13972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Прямая соединительная линия 80"/>
            <p:cNvCxnSpPr/>
            <p:nvPr/>
          </p:nvCxnSpPr>
          <p:spPr bwMode="auto">
            <a:xfrm flipV="1">
              <a:off x="15288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Прямая соединительная линия 81"/>
            <p:cNvCxnSpPr/>
            <p:nvPr/>
          </p:nvCxnSpPr>
          <p:spPr bwMode="auto">
            <a:xfrm flipV="1">
              <a:off x="1316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Прямая соединительная линия 82"/>
            <p:cNvCxnSpPr/>
            <p:nvPr/>
          </p:nvCxnSpPr>
          <p:spPr bwMode="auto">
            <a:xfrm flipV="1">
              <a:off x="2633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Прямая соединительная линия 83"/>
            <p:cNvCxnSpPr/>
            <p:nvPr/>
          </p:nvCxnSpPr>
          <p:spPr bwMode="auto">
            <a:xfrm flipV="1">
              <a:off x="4096" y="5120"/>
              <a:ext cx="0" cy="2046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Прямая соединительная линия 84"/>
            <p:cNvCxnSpPr/>
            <p:nvPr/>
          </p:nvCxnSpPr>
          <p:spPr bwMode="auto">
            <a:xfrm flipV="1">
              <a:off x="5413" y="5120"/>
              <a:ext cx="0" cy="20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6" name="Прямоугольник 85"/>
          <p:cNvSpPr>
            <a:spLocks noChangeArrowheads="1"/>
          </p:cNvSpPr>
          <p:nvPr/>
        </p:nvSpPr>
        <p:spPr bwMode="auto">
          <a:xfrm>
            <a:off x="1082675" y="1101090"/>
            <a:ext cx="4367530" cy="3282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b="1">
                <a:effectLst/>
                <a:latin typeface="Times New Roman"/>
                <a:ea typeface="Times New Roman"/>
                <a:cs typeface="Times New Roman"/>
              </a:rPr>
              <a:t>K </a:t>
            </a:r>
            <a:r>
              <a:rPr lang="ru-RU" sz="1200" b="1">
                <a:effectLst/>
                <a:latin typeface="Times New Roman"/>
                <a:ea typeface="Times New Roman"/>
                <a:cs typeface="Times New Roman"/>
              </a:rPr>
              <a:t>калит битини </a:t>
            </a:r>
            <a:r>
              <a:rPr lang="uz-Cyrl-UZ" sz="1200" b="1">
                <a:effectLst/>
                <a:latin typeface="Times New Roman"/>
                <a:ea typeface="Times New Roman"/>
                <a:cs typeface="Times New Roman"/>
              </a:rPr>
              <a:t>қўшиш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</p:txBody>
      </p:sp>
      <p:sp>
        <p:nvSpPr>
          <p:cNvPr id="87" name="Прямоугольник 86"/>
          <p:cNvSpPr>
            <a:spLocks noChangeArrowheads="1"/>
          </p:cNvSpPr>
          <p:nvPr/>
        </p:nvSpPr>
        <p:spPr bwMode="auto">
          <a:xfrm>
            <a:off x="1106170" y="2301240"/>
            <a:ext cx="4368800" cy="710565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200" b="1">
                <a:effectLst/>
                <a:latin typeface="Times New Roman"/>
                <a:ea typeface="Times New Roman"/>
                <a:cs typeface="Times New Roman"/>
              </a:rPr>
              <a:t>ФУНКЦИЯ</a:t>
            </a:r>
            <a:r>
              <a:rPr lang="en-US" sz="1200" b="1">
                <a:effectLst/>
                <a:latin typeface="Times New Roman"/>
                <a:ea typeface="Times New Roman"/>
                <a:cs typeface="Times New Roman"/>
              </a:rPr>
              <a:t> (</a:t>
            </a:r>
            <a:r>
              <a:rPr lang="en-US" sz="1200" b="1" i="1">
                <a:effectLst/>
                <a:latin typeface="Times New Roman"/>
                <a:ea typeface="Times New Roman"/>
                <a:cs typeface="Times New Roman"/>
              </a:rPr>
              <a:t>Shift,MixCol</a:t>
            </a:r>
            <a:r>
              <a:rPr lang="en-US" sz="1200" b="1">
                <a:effectLst/>
                <a:latin typeface="Times New Roman"/>
                <a:ea typeface="Times New Roman"/>
                <a:cs typeface="Times New Roman"/>
              </a:rPr>
              <a:t>)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</p:txBody>
      </p:sp>
      <p:sp>
        <p:nvSpPr>
          <p:cNvPr id="88" name="Прямоугольник 87"/>
          <p:cNvSpPr>
            <a:spLocks noChangeArrowheads="1"/>
          </p:cNvSpPr>
          <p:nvPr/>
        </p:nvSpPr>
        <p:spPr bwMode="auto">
          <a:xfrm>
            <a:off x="1098550" y="3319780"/>
            <a:ext cx="4368165" cy="32893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US" sz="1200" b="1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 smtClean="0">
                <a:effectLst/>
                <a:latin typeface="Times New Roman"/>
                <a:ea typeface="Times New Roman"/>
                <a:cs typeface="Times New Roman"/>
              </a:rPr>
              <a:t>K 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калит </a:t>
            </a:r>
            <a:r>
              <a:rPr lang="ru-RU" sz="1200" b="1" dirty="0" err="1">
                <a:effectLst/>
                <a:latin typeface="Times New Roman"/>
                <a:ea typeface="Times New Roman"/>
                <a:cs typeface="Times New Roman"/>
              </a:rPr>
              <a:t>битини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uz-Cyrl-UZ" sz="1200" b="1" dirty="0">
                <a:effectLst/>
                <a:latin typeface="Times New Roman"/>
                <a:ea typeface="Times New Roman"/>
                <a:cs typeface="Times New Roman"/>
              </a:rPr>
              <a:t>қўшиш</a:t>
            </a:r>
            <a:endParaRPr lang="ru-RU" sz="1100" dirty="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 dirty="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grpSp>
        <p:nvGrpSpPr>
          <p:cNvPr id="89" name="Группа 88"/>
          <p:cNvGrpSpPr>
            <a:grpSpLocks/>
          </p:cNvGrpSpPr>
          <p:nvPr/>
        </p:nvGrpSpPr>
        <p:grpSpPr bwMode="auto">
          <a:xfrm>
            <a:off x="1276985" y="3013710"/>
            <a:ext cx="4018280" cy="310515"/>
            <a:chOff x="0" y="0"/>
            <a:chExt cx="33846" cy="2559"/>
          </a:xfrm>
        </p:grpSpPr>
        <p:cxnSp>
          <p:nvCxnSpPr>
            <p:cNvPr id="90" name="Прямая соединительная линия 89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Прямая соединительная линия 90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Прямая соединительная линия 91"/>
            <p:cNvCxnSpPr/>
            <p:nvPr/>
          </p:nvCxnSpPr>
          <p:spPr bwMode="auto">
            <a:xfrm flipV="1">
              <a:off x="2797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Прямая соединительная линия 92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Прямая соединительная линия 93"/>
            <p:cNvCxnSpPr/>
            <p:nvPr/>
          </p:nvCxnSpPr>
          <p:spPr bwMode="auto">
            <a:xfrm flipV="1">
              <a:off x="10031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Прямая соединительная линия 94"/>
            <p:cNvCxnSpPr/>
            <p:nvPr/>
          </p:nvCxnSpPr>
          <p:spPr bwMode="auto">
            <a:xfrm flipV="1">
              <a:off x="11327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Прямая соединительная линия 95"/>
            <p:cNvCxnSpPr/>
            <p:nvPr/>
          </p:nvCxnSpPr>
          <p:spPr bwMode="auto">
            <a:xfrm flipV="1">
              <a:off x="12760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Прямая соединительная линия 96"/>
            <p:cNvCxnSpPr/>
            <p:nvPr/>
          </p:nvCxnSpPr>
          <p:spPr bwMode="auto">
            <a:xfrm flipH="1" flipV="1">
              <a:off x="1412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Прямая соединительная линия 97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Прямая соединительная линия 98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Прямая соединительная линия 99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Прямая соединительная линия 100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Прямая соединительная линия 101"/>
            <p:cNvCxnSpPr/>
            <p:nvPr/>
          </p:nvCxnSpPr>
          <p:spPr bwMode="auto">
            <a:xfrm flipV="1">
              <a:off x="2975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Прямая соединительная линия 102"/>
            <p:cNvCxnSpPr/>
            <p:nvPr/>
          </p:nvCxnSpPr>
          <p:spPr bwMode="auto">
            <a:xfrm flipV="1">
              <a:off x="31048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Прямая соединительная линия 103"/>
            <p:cNvCxnSpPr/>
            <p:nvPr/>
          </p:nvCxnSpPr>
          <p:spPr bwMode="auto">
            <a:xfrm flipV="1">
              <a:off x="32549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Прямая соединительная линия 104"/>
            <p:cNvCxnSpPr/>
            <p:nvPr/>
          </p:nvCxnSpPr>
          <p:spPr bwMode="auto">
            <a:xfrm flipH="1" flipV="1">
              <a:off x="33846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6" name="Группа 105"/>
          <p:cNvGrpSpPr>
            <a:grpSpLocks/>
          </p:cNvGrpSpPr>
          <p:nvPr/>
        </p:nvGrpSpPr>
        <p:grpSpPr bwMode="auto">
          <a:xfrm>
            <a:off x="1284605" y="952500"/>
            <a:ext cx="4001770" cy="144145"/>
            <a:chOff x="0" y="0"/>
            <a:chExt cx="33710" cy="2559"/>
          </a:xfrm>
        </p:grpSpPr>
        <p:cxnSp>
          <p:nvCxnSpPr>
            <p:cNvPr id="107" name="Прямая соединительная линия 106"/>
            <p:cNvCxnSpPr/>
            <p:nvPr/>
          </p:nvCxnSpPr>
          <p:spPr bwMode="auto">
            <a:xfrm flipV="1">
              <a:off x="2961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Прямая соединительная линия 107"/>
            <p:cNvCxnSpPr/>
            <p:nvPr/>
          </p:nvCxnSpPr>
          <p:spPr bwMode="auto">
            <a:xfrm flipV="1">
              <a:off x="3091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Прямая соединительная линия 108"/>
            <p:cNvCxnSpPr/>
            <p:nvPr/>
          </p:nvCxnSpPr>
          <p:spPr bwMode="auto">
            <a:xfrm flipV="1">
              <a:off x="32413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Прямая соединительная линия 109"/>
            <p:cNvCxnSpPr/>
            <p:nvPr/>
          </p:nvCxnSpPr>
          <p:spPr bwMode="auto">
            <a:xfrm flipH="1" flipV="1">
              <a:off x="33709" y="0"/>
              <a:ext cx="1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Прямая соединительная линия 110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Прямая соединительная линия 111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Прямая соединительная линия 112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Прямая соединительная линия 113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" name="Прямая соединительная линия 114"/>
            <p:cNvCxnSpPr/>
            <p:nvPr/>
          </p:nvCxnSpPr>
          <p:spPr bwMode="auto">
            <a:xfrm flipV="1">
              <a:off x="9826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6" name="Прямая соединительная линия 115"/>
            <p:cNvCxnSpPr/>
            <p:nvPr/>
          </p:nvCxnSpPr>
          <p:spPr bwMode="auto">
            <a:xfrm flipV="1">
              <a:off x="11191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7" name="Прямая соединительная линия 116"/>
            <p:cNvCxnSpPr/>
            <p:nvPr/>
          </p:nvCxnSpPr>
          <p:spPr bwMode="auto">
            <a:xfrm flipV="1">
              <a:off x="12624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Прямая соединительная линия 117"/>
            <p:cNvCxnSpPr/>
            <p:nvPr/>
          </p:nvCxnSpPr>
          <p:spPr bwMode="auto">
            <a:xfrm flipH="1" flipV="1">
              <a:off x="13920" y="0"/>
              <a:ext cx="1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9" name="Прямая соединительная линия 118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Прямая соединительная линия 119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Прямая соединительная линия 120"/>
            <p:cNvCxnSpPr/>
            <p:nvPr/>
          </p:nvCxnSpPr>
          <p:spPr bwMode="auto">
            <a:xfrm flipV="1">
              <a:off x="2729" y="0"/>
              <a:ext cx="70" cy="255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Прямая соединительная линия 121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3" name="Прямоугольник 122"/>
          <p:cNvSpPr>
            <a:spLocks noChangeArrowheads="1"/>
          </p:cNvSpPr>
          <p:nvPr/>
        </p:nvSpPr>
        <p:spPr bwMode="auto">
          <a:xfrm>
            <a:off x="1066165" y="4529455"/>
            <a:ext cx="4367530" cy="52959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US" sz="1200" b="1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uz-Cyrl-UZ" sz="1200" b="1" dirty="0" smtClean="0">
                <a:effectLst/>
                <a:latin typeface="Times New Roman"/>
                <a:ea typeface="Times New Roman"/>
                <a:cs typeface="Times New Roman"/>
              </a:rPr>
              <a:t>ФУНКЦИЯ</a:t>
            </a:r>
            <a:r>
              <a:rPr lang="en-US" sz="1200" b="1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200" b="1" dirty="0">
                <a:effectLst/>
                <a:latin typeface="Times New Roman"/>
                <a:ea typeface="Times New Roman"/>
                <a:cs typeface="Times New Roman"/>
              </a:rPr>
              <a:t>(</a:t>
            </a:r>
            <a:r>
              <a:rPr lang="en-US" sz="1200" b="1" i="1" dirty="0">
                <a:effectLst/>
                <a:latin typeface="Times New Roman"/>
                <a:ea typeface="Times New Roman"/>
                <a:cs typeface="Times New Roman"/>
              </a:rPr>
              <a:t>Shift</a:t>
            </a:r>
            <a:r>
              <a:rPr lang="en-US" sz="1200" b="1" dirty="0">
                <a:effectLst/>
                <a:latin typeface="Times New Roman"/>
                <a:ea typeface="Times New Roman"/>
                <a:cs typeface="Times New Roman"/>
              </a:rPr>
              <a:t>)</a:t>
            </a:r>
            <a:endParaRPr lang="ru-RU" sz="1100" dirty="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 dirty="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124" name="Прямоугольник 123"/>
          <p:cNvSpPr>
            <a:spLocks noChangeArrowheads="1"/>
          </p:cNvSpPr>
          <p:nvPr/>
        </p:nvSpPr>
        <p:spPr bwMode="auto">
          <a:xfrm>
            <a:off x="1098550" y="5365115"/>
            <a:ext cx="4368165" cy="329565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en-US" sz="1200" b="1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 smtClean="0">
                <a:effectLst/>
                <a:latin typeface="Times New Roman"/>
                <a:ea typeface="Times New Roman"/>
                <a:cs typeface="Times New Roman"/>
              </a:rPr>
              <a:t>K 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калит </a:t>
            </a:r>
            <a:r>
              <a:rPr lang="ru-RU" sz="1200" b="1" dirty="0" err="1">
                <a:effectLst/>
                <a:latin typeface="Times New Roman"/>
                <a:ea typeface="Times New Roman"/>
                <a:cs typeface="Times New Roman"/>
              </a:rPr>
              <a:t>битини</a:t>
            </a:r>
            <a:r>
              <a:rPr lang="ru-RU" sz="1200" b="1" dirty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uz-Cyrl-UZ" sz="1200" b="1" dirty="0">
                <a:effectLst/>
                <a:latin typeface="Times New Roman"/>
                <a:ea typeface="Times New Roman"/>
                <a:cs typeface="Times New Roman"/>
              </a:rPr>
              <a:t>қўшиш</a:t>
            </a:r>
            <a:endParaRPr lang="ru-RU" sz="1100" dirty="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 dirty="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grpSp>
        <p:nvGrpSpPr>
          <p:cNvPr id="125" name="Группа 124"/>
          <p:cNvGrpSpPr>
            <a:grpSpLocks/>
          </p:cNvGrpSpPr>
          <p:nvPr/>
        </p:nvGrpSpPr>
        <p:grpSpPr bwMode="auto">
          <a:xfrm>
            <a:off x="1308735" y="5059045"/>
            <a:ext cx="4018280" cy="310515"/>
            <a:chOff x="0" y="0"/>
            <a:chExt cx="33846" cy="2559"/>
          </a:xfrm>
        </p:grpSpPr>
        <p:cxnSp>
          <p:nvCxnSpPr>
            <p:cNvPr id="126" name="Прямая соединительная линия 125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7" name="Прямая соединительная линия 126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8" name="Прямая соединительная линия 127"/>
            <p:cNvCxnSpPr/>
            <p:nvPr/>
          </p:nvCxnSpPr>
          <p:spPr bwMode="auto">
            <a:xfrm flipV="1">
              <a:off x="2797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9" name="Прямая соединительная линия 128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0" name="Прямая соединительная линия 129"/>
            <p:cNvCxnSpPr/>
            <p:nvPr/>
          </p:nvCxnSpPr>
          <p:spPr bwMode="auto">
            <a:xfrm flipV="1">
              <a:off x="10031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1" name="Прямая соединительная линия 130"/>
            <p:cNvCxnSpPr/>
            <p:nvPr/>
          </p:nvCxnSpPr>
          <p:spPr bwMode="auto">
            <a:xfrm flipV="1">
              <a:off x="11327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2" name="Прямая соединительная линия 131"/>
            <p:cNvCxnSpPr/>
            <p:nvPr/>
          </p:nvCxnSpPr>
          <p:spPr bwMode="auto">
            <a:xfrm flipV="1">
              <a:off x="12760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" name="Прямая соединительная линия 132"/>
            <p:cNvCxnSpPr/>
            <p:nvPr/>
          </p:nvCxnSpPr>
          <p:spPr bwMode="auto">
            <a:xfrm flipH="1" flipV="1">
              <a:off x="1412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4" name="Прямая соединительная линия 133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5" name="Прямая соединительная линия 134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6" name="Прямая соединительная линия 135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Прямая соединительная линия 136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Прямая соединительная линия 137"/>
            <p:cNvCxnSpPr/>
            <p:nvPr/>
          </p:nvCxnSpPr>
          <p:spPr bwMode="auto">
            <a:xfrm flipV="1">
              <a:off x="29752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Прямая соединительная линия 138"/>
            <p:cNvCxnSpPr/>
            <p:nvPr/>
          </p:nvCxnSpPr>
          <p:spPr bwMode="auto">
            <a:xfrm flipV="1">
              <a:off x="31048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Прямая соединительная линия 139"/>
            <p:cNvCxnSpPr/>
            <p:nvPr/>
          </p:nvCxnSpPr>
          <p:spPr bwMode="auto">
            <a:xfrm flipV="1">
              <a:off x="32549" y="0"/>
              <a:ext cx="70" cy="255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Прямая соединительная линия 140"/>
            <p:cNvCxnSpPr/>
            <p:nvPr/>
          </p:nvCxnSpPr>
          <p:spPr bwMode="auto">
            <a:xfrm flipH="1" flipV="1">
              <a:off x="3384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2" name="Группа 141"/>
          <p:cNvGrpSpPr>
            <a:grpSpLocks/>
          </p:cNvGrpSpPr>
          <p:nvPr/>
        </p:nvGrpSpPr>
        <p:grpSpPr bwMode="auto">
          <a:xfrm>
            <a:off x="1308735" y="5688965"/>
            <a:ext cx="4018280" cy="132080"/>
            <a:chOff x="0" y="0"/>
            <a:chExt cx="33846" cy="2559"/>
          </a:xfrm>
        </p:grpSpPr>
        <p:cxnSp>
          <p:nvCxnSpPr>
            <p:cNvPr id="143" name="Прямая соединительная линия 142"/>
            <p:cNvCxnSpPr/>
            <p:nvPr/>
          </p:nvCxnSpPr>
          <p:spPr bwMode="auto">
            <a:xfrm flipV="1">
              <a:off x="0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Прямая соединительная линия 143"/>
            <p:cNvCxnSpPr/>
            <p:nvPr/>
          </p:nvCxnSpPr>
          <p:spPr bwMode="auto">
            <a:xfrm flipV="1">
              <a:off x="129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" name="Прямая соединительная линия 144"/>
            <p:cNvCxnSpPr/>
            <p:nvPr/>
          </p:nvCxnSpPr>
          <p:spPr bwMode="auto">
            <a:xfrm flipV="1">
              <a:off x="2797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Прямая соединительная линия 145"/>
            <p:cNvCxnSpPr/>
            <p:nvPr/>
          </p:nvCxnSpPr>
          <p:spPr bwMode="auto">
            <a:xfrm flipH="1" flipV="1">
              <a:off x="4094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Прямая соединительная линия 146"/>
            <p:cNvCxnSpPr/>
            <p:nvPr/>
          </p:nvCxnSpPr>
          <p:spPr bwMode="auto">
            <a:xfrm flipV="1">
              <a:off x="10031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Прямая соединительная линия 147"/>
            <p:cNvCxnSpPr/>
            <p:nvPr/>
          </p:nvCxnSpPr>
          <p:spPr bwMode="auto">
            <a:xfrm flipV="1">
              <a:off x="11327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Прямая соединительная линия 148"/>
            <p:cNvCxnSpPr/>
            <p:nvPr/>
          </p:nvCxnSpPr>
          <p:spPr bwMode="auto">
            <a:xfrm flipV="1">
              <a:off x="12760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Прямая соединительная линия 149"/>
            <p:cNvCxnSpPr/>
            <p:nvPr/>
          </p:nvCxnSpPr>
          <p:spPr bwMode="auto">
            <a:xfrm flipH="1" flipV="1">
              <a:off x="14125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Прямая соединительная линия 150"/>
            <p:cNvCxnSpPr/>
            <p:nvPr/>
          </p:nvCxnSpPr>
          <p:spPr bwMode="auto">
            <a:xfrm flipV="1">
              <a:off x="19448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Прямая соединительная линия 151"/>
            <p:cNvCxnSpPr/>
            <p:nvPr/>
          </p:nvCxnSpPr>
          <p:spPr bwMode="auto">
            <a:xfrm flipV="1">
              <a:off x="20744" y="0"/>
              <a:ext cx="0" cy="2552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Прямая соединительная линия 152"/>
            <p:cNvCxnSpPr/>
            <p:nvPr/>
          </p:nvCxnSpPr>
          <p:spPr bwMode="auto">
            <a:xfrm flipV="1">
              <a:off x="22245" y="0"/>
              <a:ext cx="70" cy="255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Прямая соединительная линия 153"/>
            <p:cNvCxnSpPr/>
            <p:nvPr/>
          </p:nvCxnSpPr>
          <p:spPr bwMode="auto">
            <a:xfrm flipH="1" flipV="1">
              <a:off x="23542" y="0"/>
              <a:ext cx="0" cy="25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Прямая соединительная линия 154"/>
            <p:cNvCxnSpPr/>
            <p:nvPr/>
          </p:nvCxnSpPr>
          <p:spPr bwMode="auto">
            <a:xfrm flipV="1">
              <a:off x="29752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Прямая соединительная линия 155"/>
            <p:cNvCxnSpPr/>
            <p:nvPr/>
          </p:nvCxnSpPr>
          <p:spPr bwMode="auto">
            <a:xfrm flipV="1">
              <a:off x="31048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Прямая соединительная линия 156"/>
            <p:cNvCxnSpPr/>
            <p:nvPr/>
          </p:nvCxnSpPr>
          <p:spPr bwMode="auto">
            <a:xfrm flipV="1">
              <a:off x="32549" y="0"/>
              <a:ext cx="70" cy="2559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Прямая соединительная линия 157"/>
            <p:cNvCxnSpPr/>
            <p:nvPr/>
          </p:nvCxnSpPr>
          <p:spPr bwMode="auto">
            <a:xfrm flipH="1" flipV="1">
              <a:off x="33846" y="0"/>
              <a:ext cx="0" cy="25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9" name="Правая фигурная скобка 158"/>
          <p:cNvSpPr>
            <a:spLocks/>
          </p:cNvSpPr>
          <p:nvPr/>
        </p:nvSpPr>
        <p:spPr bwMode="auto">
          <a:xfrm>
            <a:off x="5627370" y="1026795"/>
            <a:ext cx="332105" cy="2178050"/>
          </a:xfrm>
          <a:prstGeom prst="rightBrace">
            <a:avLst>
              <a:gd name="adj1" fmla="val 8532"/>
              <a:gd name="adj2" fmla="val 50000"/>
            </a:avLst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ru-RU"/>
          </a:p>
        </p:txBody>
      </p:sp>
      <p:sp>
        <p:nvSpPr>
          <p:cNvPr id="160" name="Правая фигурная скобка 159"/>
          <p:cNvSpPr>
            <a:spLocks/>
          </p:cNvSpPr>
          <p:nvPr/>
        </p:nvSpPr>
        <p:spPr bwMode="auto">
          <a:xfrm>
            <a:off x="5651500" y="3261995"/>
            <a:ext cx="332740" cy="2431415"/>
          </a:xfrm>
          <a:prstGeom prst="rightBrace">
            <a:avLst>
              <a:gd name="adj1" fmla="val 8525"/>
              <a:gd name="adj2" fmla="val 50000"/>
            </a:avLst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ru-RU"/>
          </a:p>
        </p:txBody>
      </p:sp>
      <p:sp>
        <p:nvSpPr>
          <p:cNvPr id="161" name="Прямоугольник 160"/>
          <p:cNvSpPr>
            <a:spLocks noChangeArrowheads="1"/>
          </p:cNvSpPr>
          <p:nvPr/>
        </p:nvSpPr>
        <p:spPr bwMode="auto">
          <a:xfrm>
            <a:off x="5941060" y="1985010"/>
            <a:ext cx="1012190" cy="364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effectLst/>
                <a:latin typeface="Times New Roman"/>
                <a:ea typeface="Times New Roman"/>
                <a:cs typeface="Times New Roman"/>
              </a:rPr>
              <a:t>1 -</a:t>
            </a:r>
            <a:r>
              <a:rPr lang="ru-RU" sz="1400" b="1">
                <a:effectLst/>
                <a:latin typeface="Times New Roman"/>
                <a:ea typeface="Times New Roman"/>
                <a:cs typeface="Times New Roman"/>
              </a:rPr>
              <a:t>раунд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</p:txBody>
      </p:sp>
      <p:sp>
        <p:nvSpPr>
          <p:cNvPr id="162" name="Прямоугольник 161"/>
          <p:cNvSpPr>
            <a:spLocks noChangeArrowheads="1"/>
          </p:cNvSpPr>
          <p:nvPr/>
        </p:nvSpPr>
        <p:spPr bwMode="auto">
          <a:xfrm>
            <a:off x="5963285" y="4342130"/>
            <a:ext cx="10128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ru-RU" sz="1400" b="1">
                <a:effectLst/>
                <a:latin typeface="Times New Roman"/>
                <a:ea typeface="Times New Roman"/>
                <a:cs typeface="Times New Roman"/>
              </a:rPr>
              <a:t>2</a:t>
            </a:r>
            <a:r>
              <a:rPr lang="en-US" sz="1400" b="1">
                <a:effectLst/>
                <a:latin typeface="Times New Roman"/>
                <a:ea typeface="Times New Roman"/>
                <a:cs typeface="Times New Roman"/>
              </a:rPr>
              <a:t> -</a:t>
            </a:r>
            <a:r>
              <a:rPr lang="ru-RU" sz="1400" b="1">
                <a:effectLst/>
                <a:latin typeface="Times New Roman"/>
                <a:ea typeface="Times New Roman"/>
                <a:cs typeface="Times New Roman"/>
              </a:rPr>
              <a:t>раунд</a:t>
            </a:r>
            <a:endParaRPr lang="ru-RU" sz="1100">
              <a:effectLst/>
              <a:latin typeface="Calibri"/>
              <a:ea typeface="Times New Roman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1100">
                <a:effectLst/>
                <a:latin typeface="Calibri"/>
                <a:ea typeface="Times New Roman"/>
                <a:cs typeface="Times New Roman"/>
              </a:rPr>
              <a:t> </a:t>
            </a:r>
          </a:p>
        </p:txBody>
      </p:sp>
      <p:sp>
        <p:nvSpPr>
          <p:cNvPr id="2" name="Rectangle 15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1238" algn="l"/>
              </a:tabLst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168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1238" algn="l"/>
              </a:tabLst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3" name="Овал 162"/>
          <p:cNvSpPr/>
          <p:nvPr/>
        </p:nvSpPr>
        <p:spPr>
          <a:xfrm>
            <a:off x="1113242" y="4365104"/>
            <a:ext cx="938478" cy="931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Прямоугольник 163"/>
          <p:cNvSpPr/>
          <p:nvPr/>
        </p:nvSpPr>
        <p:spPr>
          <a:xfrm>
            <a:off x="251520" y="4149080"/>
            <a:ext cx="1152128" cy="4550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0101</a:t>
            </a:r>
            <a:r>
              <a:rPr lang="uz-Cyrl-UZ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52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" dur="2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63" grpId="1" animBg="1"/>
      <p:bldP spid="164" grpId="0"/>
      <p:bldP spid="16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85720" y="152400"/>
            <a:ext cx="8643998" cy="64913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06400" y="855845"/>
            <a:ext cx="8356600" cy="5087757"/>
            <a:chOff x="641" y="1753"/>
            <a:chExt cx="10818" cy="5479"/>
          </a:xfrm>
        </p:grpSpPr>
        <p:sp>
          <p:nvSpPr>
            <p:cNvPr id="1027" name="Rectangle 3"/>
            <p:cNvSpPr>
              <a:spLocks noChangeArrowheads="1"/>
            </p:cNvSpPr>
            <p:nvPr/>
          </p:nvSpPr>
          <p:spPr bwMode="auto">
            <a:xfrm>
              <a:off x="670" y="5796"/>
              <a:ext cx="10789" cy="89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uz-Cyrl-UZ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ФУНКЦИЯ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(</a:t>
              </a:r>
              <a:r>
                <a:rPr kumimoji="0" lang="en-US" sz="1600" b="1" i="1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Shift,MixCol</a:t>
              </a:r>
              <a:r>
                <a:rPr kumimoji="0" lang="en-US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)</a:t>
              </a:r>
              <a:r>
                <a:rPr kumimoji="0" lang="uz-Cyrl-UZ" sz="16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auto">
            <a:xfrm>
              <a:off x="722" y="4512"/>
              <a:ext cx="606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sz="2000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endPara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9" name="Line 5"/>
            <p:cNvSpPr>
              <a:spLocks noChangeShapeType="1"/>
            </p:cNvSpPr>
            <p:nvPr/>
          </p:nvSpPr>
          <p:spPr bwMode="auto">
            <a:xfrm>
              <a:off x="760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0" name="Line 6"/>
            <p:cNvSpPr>
              <a:spLocks noChangeShapeType="1"/>
            </p:cNvSpPr>
            <p:nvPr/>
          </p:nvSpPr>
          <p:spPr bwMode="auto">
            <a:xfrm>
              <a:off x="837" y="39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1" name="Line 7"/>
            <p:cNvSpPr>
              <a:spLocks noChangeShapeType="1"/>
            </p:cNvSpPr>
            <p:nvPr/>
          </p:nvSpPr>
          <p:spPr bwMode="auto">
            <a:xfrm>
              <a:off x="922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2" name="Line 8"/>
            <p:cNvSpPr>
              <a:spLocks noChangeShapeType="1"/>
            </p:cNvSpPr>
            <p:nvPr/>
          </p:nvSpPr>
          <p:spPr bwMode="auto">
            <a:xfrm>
              <a:off x="998" y="399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3" name="Line 9"/>
            <p:cNvSpPr>
              <a:spLocks noChangeShapeType="1"/>
            </p:cNvSpPr>
            <p:nvPr/>
          </p:nvSpPr>
          <p:spPr bwMode="auto">
            <a:xfrm>
              <a:off x="1149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4" name="Line 10"/>
            <p:cNvSpPr>
              <a:spLocks noChangeShapeType="1"/>
            </p:cNvSpPr>
            <p:nvPr/>
          </p:nvSpPr>
          <p:spPr bwMode="auto">
            <a:xfrm>
              <a:off x="1292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5" name="Line 11"/>
            <p:cNvSpPr>
              <a:spLocks noChangeShapeType="1"/>
            </p:cNvSpPr>
            <p:nvPr/>
          </p:nvSpPr>
          <p:spPr bwMode="auto">
            <a:xfrm>
              <a:off x="1075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6" name="Line 12"/>
            <p:cNvSpPr>
              <a:spLocks noChangeShapeType="1"/>
            </p:cNvSpPr>
            <p:nvPr/>
          </p:nvSpPr>
          <p:spPr bwMode="auto">
            <a:xfrm>
              <a:off x="1223" y="3997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7" name="Line 13"/>
            <p:cNvSpPr>
              <a:spLocks noChangeShapeType="1"/>
            </p:cNvSpPr>
            <p:nvPr/>
          </p:nvSpPr>
          <p:spPr bwMode="auto">
            <a:xfrm>
              <a:off x="790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8" name="Line 14"/>
            <p:cNvSpPr>
              <a:spLocks noChangeShapeType="1"/>
            </p:cNvSpPr>
            <p:nvPr/>
          </p:nvSpPr>
          <p:spPr bwMode="auto">
            <a:xfrm>
              <a:off x="862" y="527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931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0" name="Line 16"/>
            <p:cNvSpPr>
              <a:spLocks noChangeShapeType="1"/>
            </p:cNvSpPr>
            <p:nvPr/>
          </p:nvSpPr>
          <p:spPr bwMode="auto">
            <a:xfrm>
              <a:off x="1000" y="5278"/>
              <a:ext cx="0" cy="5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1" name="Line 17"/>
            <p:cNvSpPr>
              <a:spLocks noChangeShapeType="1"/>
            </p:cNvSpPr>
            <p:nvPr/>
          </p:nvSpPr>
          <p:spPr bwMode="auto">
            <a:xfrm>
              <a:off x="1119" y="5285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2" name="Line 18"/>
            <p:cNvSpPr>
              <a:spLocks noChangeShapeType="1"/>
            </p:cNvSpPr>
            <p:nvPr/>
          </p:nvSpPr>
          <p:spPr bwMode="auto">
            <a:xfrm>
              <a:off x="1252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3" name="Line 19"/>
            <p:cNvSpPr>
              <a:spLocks noChangeShapeType="1"/>
            </p:cNvSpPr>
            <p:nvPr/>
          </p:nvSpPr>
          <p:spPr bwMode="auto">
            <a:xfrm>
              <a:off x="1054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4" name="Line 20"/>
            <p:cNvSpPr>
              <a:spLocks noChangeShapeType="1"/>
            </p:cNvSpPr>
            <p:nvPr/>
          </p:nvSpPr>
          <p:spPr bwMode="auto">
            <a:xfrm>
              <a:off x="1181" y="528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5" name="Rectangle 21"/>
            <p:cNvSpPr>
              <a:spLocks noChangeArrowheads="1"/>
            </p:cNvSpPr>
            <p:nvPr/>
          </p:nvSpPr>
          <p:spPr bwMode="auto">
            <a:xfrm>
              <a:off x="1388" y="4524"/>
              <a:ext cx="608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sz="2000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2</a:t>
              </a:r>
              <a:endParaRPr kumimoji="0" 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6" name="Line 22"/>
            <p:cNvSpPr>
              <a:spLocks noChangeShapeType="1"/>
            </p:cNvSpPr>
            <p:nvPr/>
          </p:nvSpPr>
          <p:spPr bwMode="auto">
            <a:xfrm>
              <a:off x="1427" y="40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7" name="Line 23"/>
            <p:cNvSpPr>
              <a:spLocks noChangeShapeType="1"/>
            </p:cNvSpPr>
            <p:nvPr/>
          </p:nvSpPr>
          <p:spPr bwMode="auto">
            <a:xfrm>
              <a:off x="1504" y="400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8" name="Line 24"/>
            <p:cNvSpPr>
              <a:spLocks noChangeShapeType="1"/>
            </p:cNvSpPr>
            <p:nvPr/>
          </p:nvSpPr>
          <p:spPr bwMode="auto">
            <a:xfrm>
              <a:off x="1589" y="40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49" name="Line 25"/>
            <p:cNvSpPr>
              <a:spLocks noChangeShapeType="1"/>
            </p:cNvSpPr>
            <p:nvPr/>
          </p:nvSpPr>
          <p:spPr bwMode="auto">
            <a:xfrm>
              <a:off x="1667" y="4007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0" name="Line 26"/>
            <p:cNvSpPr>
              <a:spLocks noChangeShapeType="1"/>
            </p:cNvSpPr>
            <p:nvPr/>
          </p:nvSpPr>
          <p:spPr bwMode="auto">
            <a:xfrm>
              <a:off x="1816" y="40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1" name="Line 27"/>
            <p:cNvSpPr>
              <a:spLocks noChangeShapeType="1"/>
            </p:cNvSpPr>
            <p:nvPr/>
          </p:nvSpPr>
          <p:spPr bwMode="auto">
            <a:xfrm>
              <a:off x="1960" y="40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2" name="Line 28"/>
            <p:cNvSpPr>
              <a:spLocks noChangeShapeType="1"/>
            </p:cNvSpPr>
            <p:nvPr/>
          </p:nvSpPr>
          <p:spPr bwMode="auto">
            <a:xfrm>
              <a:off x="1743" y="40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3" name="Line 29"/>
            <p:cNvSpPr>
              <a:spLocks noChangeShapeType="1"/>
            </p:cNvSpPr>
            <p:nvPr/>
          </p:nvSpPr>
          <p:spPr bwMode="auto">
            <a:xfrm>
              <a:off x="1890" y="400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4" name="Line 30"/>
            <p:cNvSpPr>
              <a:spLocks noChangeShapeType="1"/>
            </p:cNvSpPr>
            <p:nvPr/>
          </p:nvSpPr>
          <p:spPr bwMode="auto">
            <a:xfrm>
              <a:off x="1436" y="529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5" name="Line 31"/>
            <p:cNvSpPr>
              <a:spLocks noChangeShapeType="1"/>
            </p:cNvSpPr>
            <p:nvPr/>
          </p:nvSpPr>
          <p:spPr bwMode="auto">
            <a:xfrm>
              <a:off x="1494" y="528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6" name="Line 32"/>
            <p:cNvSpPr>
              <a:spLocks noChangeShapeType="1"/>
            </p:cNvSpPr>
            <p:nvPr/>
          </p:nvSpPr>
          <p:spPr bwMode="auto">
            <a:xfrm>
              <a:off x="1579" y="529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7" name="Line 33"/>
            <p:cNvSpPr>
              <a:spLocks noChangeShapeType="1"/>
            </p:cNvSpPr>
            <p:nvPr/>
          </p:nvSpPr>
          <p:spPr bwMode="auto">
            <a:xfrm>
              <a:off x="1657" y="5290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8" name="Line 34"/>
            <p:cNvSpPr>
              <a:spLocks noChangeShapeType="1"/>
            </p:cNvSpPr>
            <p:nvPr/>
          </p:nvSpPr>
          <p:spPr bwMode="auto">
            <a:xfrm>
              <a:off x="1806" y="528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59" name="Line 35"/>
            <p:cNvSpPr>
              <a:spLocks noChangeShapeType="1"/>
            </p:cNvSpPr>
            <p:nvPr/>
          </p:nvSpPr>
          <p:spPr bwMode="auto">
            <a:xfrm>
              <a:off x="1950" y="528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0" name="Line 36"/>
            <p:cNvSpPr>
              <a:spLocks noChangeShapeType="1"/>
            </p:cNvSpPr>
            <p:nvPr/>
          </p:nvSpPr>
          <p:spPr bwMode="auto">
            <a:xfrm>
              <a:off x="1732" y="529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1" name="Line 37"/>
            <p:cNvSpPr>
              <a:spLocks noChangeShapeType="1"/>
            </p:cNvSpPr>
            <p:nvPr/>
          </p:nvSpPr>
          <p:spPr bwMode="auto">
            <a:xfrm>
              <a:off x="1880" y="529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2" name="Rectangle 38"/>
            <p:cNvSpPr>
              <a:spLocks noChangeArrowheads="1"/>
            </p:cNvSpPr>
            <p:nvPr/>
          </p:nvSpPr>
          <p:spPr bwMode="auto">
            <a:xfrm>
              <a:off x="2069" y="4534"/>
              <a:ext cx="605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3" name="Line 39"/>
            <p:cNvSpPr>
              <a:spLocks noChangeShapeType="1"/>
            </p:cNvSpPr>
            <p:nvPr/>
          </p:nvSpPr>
          <p:spPr bwMode="auto">
            <a:xfrm>
              <a:off x="2106" y="40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4" name="Line 40"/>
            <p:cNvSpPr>
              <a:spLocks noChangeShapeType="1"/>
            </p:cNvSpPr>
            <p:nvPr/>
          </p:nvSpPr>
          <p:spPr bwMode="auto">
            <a:xfrm>
              <a:off x="2184" y="40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5" name="Line 41"/>
            <p:cNvSpPr>
              <a:spLocks noChangeShapeType="1"/>
            </p:cNvSpPr>
            <p:nvPr/>
          </p:nvSpPr>
          <p:spPr bwMode="auto">
            <a:xfrm>
              <a:off x="2268" y="40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6" name="Line 42"/>
            <p:cNvSpPr>
              <a:spLocks noChangeShapeType="1"/>
            </p:cNvSpPr>
            <p:nvPr/>
          </p:nvSpPr>
          <p:spPr bwMode="auto">
            <a:xfrm>
              <a:off x="2346" y="3960"/>
              <a:ext cx="0" cy="5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7" name="Line 43"/>
            <p:cNvSpPr>
              <a:spLocks noChangeShapeType="1"/>
            </p:cNvSpPr>
            <p:nvPr/>
          </p:nvSpPr>
          <p:spPr bwMode="auto">
            <a:xfrm>
              <a:off x="2495" y="40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8" name="Line 44"/>
            <p:cNvSpPr>
              <a:spLocks noChangeShapeType="1"/>
            </p:cNvSpPr>
            <p:nvPr/>
          </p:nvSpPr>
          <p:spPr bwMode="auto">
            <a:xfrm>
              <a:off x="2640" y="40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69" name="Line 45"/>
            <p:cNvSpPr>
              <a:spLocks noChangeShapeType="1"/>
            </p:cNvSpPr>
            <p:nvPr/>
          </p:nvSpPr>
          <p:spPr bwMode="auto">
            <a:xfrm>
              <a:off x="2421" y="40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0" name="Line 46"/>
            <p:cNvSpPr>
              <a:spLocks noChangeShapeType="1"/>
            </p:cNvSpPr>
            <p:nvPr/>
          </p:nvSpPr>
          <p:spPr bwMode="auto">
            <a:xfrm>
              <a:off x="2570" y="3960"/>
              <a:ext cx="0" cy="5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1" name="Line 47"/>
            <p:cNvSpPr>
              <a:spLocks noChangeShapeType="1"/>
            </p:cNvSpPr>
            <p:nvPr/>
          </p:nvSpPr>
          <p:spPr bwMode="auto">
            <a:xfrm>
              <a:off x="2096" y="529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2" name="Line 48"/>
            <p:cNvSpPr>
              <a:spLocks noChangeShapeType="1"/>
            </p:cNvSpPr>
            <p:nvPr/>
          </p:nvSpPr>
          <p:spPr bwMode="auto">
            <a:xfrm>
              <a:off x="2175" y="529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3" name="Line 49"/>
            <p:cNvSpPr>
              <a:spLocks noChangeShapeType="1"/>
            </p:cNvSpPr>
            <p:nvPr/>
          </p:nvSpPr>
          <p:spPr bwMode="auto">
            <a:xfrm>
              <a:off x="2258" y="529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4" name="Line 50"/>
            <p:cNvSpPr>
              <a:spLocks noChangeShapeType="1"/>
            </p:cNvSpPr>
            <p:nvPr/>
          </p:nvSpPr>
          <p:spPr bwMode="auto">
            <a:xfrm>
              <a:off x="2337" y="528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5" name="Line 51"/>
            <p:cNvSpPr>
              <a:spLocks noChangeShapeType="1"/>
            </p:cNvSpPr>
            <p:nvPr/>
          </p:nvSpPr>
          <p:spPr bwMode="auto">
            <a:xfrm>
              <a:off x="2485" y="529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6" name="Line 52"/>
            <p:cNvSpPr>
              <a:spLocks noChangeShapeType="1"/>
            </p:cNvSpPr>
            <p:nvPr/>
          </p:nvSpPr>
          <p:spPr bwMode="auto">
            <a:xfrm>
              <a:off x="2631" y="529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7" name="Line 53"/>
            <p:cNvSpPr>
              <a:spLocks noChangeShapeType="1"/>
            </p:cNvSpPr>
            <p:nvPr/>
          </p:nvSpPr>
          <p:spPr bwMode="auto">
            <a:xfrm>
              <a:off x="2411" y="529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8" name="Line 54"/>
            <p:cNvSpPr>
              <a:spLocks noChangeShapeType="1"/>
            </p:cNvSpPr>
            <p:nvPr/>
          </p:nvSpPr>
          <p:spPr bwMode="auto">
            <a:xfrm>
              <a:off x="2560" y="528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79" name="Rectangle 55"/>
            <p:cNvSpPr>
              <a:spLocks noChangeArrowheads="1"/>
            </p:cNvSpPr>
            <p:nvPr/>
          </p:nvSpPr>
          <p:spPr bwMode="auto">
            <a:xfrm>
              <a:off x="2729" y="4512"/>
              <a:ext cx="605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4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0" name="Line 56"/>
            <p:cNvSpPr>
              <a:spLocks noChangeShapeType="1"/>
            </p:cNvSpPr>
            <p:nvPr/>
          </p:nvSpPr>
          <p:spPr bwMode="auto">
            <a:xfrm>
              <a:off x="2767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1" name="Line 57"/>
            <p:cNvSpPr>
              <a:spLocks noChangeShapeType="1"/>
            </p:cNvSpPr>
            <p:nvPr/>
          </p:nvSpPr>
          <p:spPr bwMode="auto">
            <a:xfrm>
              <a:off x="2844" y="39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2" name="Line 58"/>
            <p:cNvSpPr>
              <a:spLocks noChangeShapeType="1"/>
            </p:cNvSpPr>
            <p:nvPr/>
          </p:nvSpPr>
          <p:spPr bwMode="auto">
            <a:xfrm>
              <a:off x="2928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3" name="Line 59"/>
            <p:cNvSpPr>
              <a:spLocks noChangeShapeType="1"/>
            </p:cNvSpPr>
            <p:nvPr/>
          </p:nvSpPr>
          <p:spPr bwMode="auto">
            <a:xfrm>
              <a:off x="3006" y="399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4" name="Line 60"/>
            <p:cNvSpPr>
              <a:spLocks noChangeShapeType="1"/>
            </p:cNvSpPr>
            <p:nvPr/>
          </p:nvSpPr>
          <p:spPr bwMode="auto">
            <a:xfrm>
              <a:off x="3157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5" name="Line 61"/>
            <p:cNvSpPr>
              <a:spLocks noChangeShapeType="1"/>
            </p:cNvSpPr>
            <p:nvPr/>
          </p:nvSpPr>
          <p:spPr bwMode="auto">
            <a:xfrm>
              <a:off x="3300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6" name="Line 62"/>
            <p:cNvSpPr>
              <a:spLocks noChangeShapeType="1"/>
            </p:cNvSpPr>
            <p:nvPr/>
          </p:nvSpPr>
          <p:spPr bwMode="auto">
            <a:xfrm>
              <a:off x="3081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7" name="Line 63"/>
            <p:cNvSpPr>
              <a:spLocks noChangeShapeType="1"/>
            </p:cNvSpPr>
            <p:nvPr/>
          </p:nvSpPr>
          <p:spPr bwMode="auto">
            <a:xfrm>
              <a:off x="3230" y="3997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8" name="Line 64"/>
            <p:cNvSpPr>
              <a:spLocks noChangeShapeType="1"/>
            </p:cNvSpPr>
            <p:nvPr/>
          </p:nvSpPr>
          <p:spPr bwMode="auto">
            <a:xfrm>
              <a:off x="2757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89" name="Line 65"/>
            <p:cNvSpPr>
              <a:spLocks noChangeShapeType="1"/>
            </p:cNvSpPr>
            <p:nvPr/>
          </p:nvSpPr>
          <p:spPr bwMode="auto">
            <a:xfrm>
              <a:off x="2835" y="527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0" name="Line 66"/>
            <p:cNvSpPr>
              <a:spLocks noChangeShapeType="1"/>
            </p:cNvSpPr>
            <p:nvPr/>
          </p:nvSpPr>
          <p:spPr bwMode="auto">
            <a:xfrm>
              <a:off x="2920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1" name="Line 67"/>
            <p:cNvSpPr>
              <a:spLocks noChangeShapeType="1"/>
            </p:cNvSpPr>
            <p:nvPr/>
          </p:nvSpPr>
          <p:spPr bwMode="auto">
            <a:xfrm>
              <a:off x="2997" y="5278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2" name="Line 68"/>
            <p:cNvSpPr>
              <a:spLocks noChangeShapeType="1"/>
            </p:cNvSpPr>
            <p:nvPr/>
          </p:nvSpPr>
          <p:spPr bwMode="auto">
            <a:xfrm>
              <a:off x="3145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3" name="Line 69"/>
            <p:cNvSpPr>
              <a:spLocks noChangeShapeType="1"/>
            </p:cNvSpPr>
            <p:nvPr/>
          </p:nvSpPr>
          <p:spPr bwMode="auto">
            <a:xfrm>
              <a:off x="3291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4" name="Line 70"/>
            <p:cNvSpPr>
              <a:spLocks noChangeShapeType="1"/>
            </p:cNvSpPr>
            <p:nvPr/>
          </p:nvSpPr>
          <p:spPr bwMode="auto">
            <a:xfrm>
              <a:off x="3072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5" name="Line 71"/>
            <p:cNvSpPr>
              <a:spLocks noChangeShapeType="1"/>
            </p:cNvSpPr>
            <p:nvPr/>
          </p:nvSpPr>
          <p:spPr bwMode="auto">
            <a:xfrm>
              <a:off x="3220" y="528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6" name="Rectangle 72"/>
            <p:cNvSpPr>
              <a:spLocks noChangeArrowheads="1"/>
            </p:cNvSpPr>
            <p:nvPr/>
          </p:nvSpPr>
          <p:spPr bwMode="auto">
            <a:xfrm>
              <a:off x="3406" y="4522"/>
              <a:ext cx="607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7" name="Line 73"/>
            <p:cNvSpPr>
              <a:spLocks noChangeShapeType="1"/>
            </p:cNvSpPr>
            <p:nvPr/>
          </p:nvSpPr>
          <p:spPr bwMode="auto">
            <a:xfrm>
              <a:off x="3444" y="401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8" name="Line 74"/>
            <p:cNvSpPr>
              <a:spLocks noChangeShapeType="1"/>
            </p:cNvSpPr>
            <p:nvPr/>
          </p:nvSpPr>
          <p:spPr bwMode="auto">
            <a:xfrm>
              <a:off x="3522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099" name="Line 75"/>
            <p:cNvSpPr>
              <a:spLocks noChangeShapeType="1"/>
            </p:cNvSpPr>
            <p:nvPr/>
          </p:nvSpPr>
          <p:spPr bwMode="auto">
            <a:xfrm>
              <a:off x="3605" y="401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0" name="Line 76"/>
            <p:cNvSpPr>
              <a:spLocks noChangeShapeType="1"/>
            </p:cNvSpPr>
            <p:nvPr/>
          </p:nvSpPr>
          <p:spPr bwMode="auto">
            <a:xfrm>
              <a:off x="3685" y="400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1" name="Line 77"/>
            <p:cNvSpPr>
              <a:spLocks noChangeShapeType="1"/>
            </p:cNvSpPr>
            <p:nvPr/>
          </p:nvSpPr>
          <p:spPr bwMode="auto">
            <a:xfrm>
              <a:off x="3834" y="401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2" name="Line 78"/>
            <p:cNvSpPr>
              <a:spLocks noChangeShapeType="1"/>
            </p:cNvSpPr>
            <p:nvPr/>
          </p:nvSpPr>
          <p:spPr bwMode="auto">
            <a:xfrm>
              <a:off x="3978" y="401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3" name="Line 79"/>
            <p:cNvSpPr>
              <a:spLocks noChangeShapeType="1"/>
            </p:cNvSpPr>
            <p:nvPr/>
          </p:nvSpPr>
          <p:spPr bwMode="auto">
            <a:xfrm>
              <a:off x="3760" y="401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4" name="Line 80"/>
            <p:cNvSpPr>
              <a:spLocks noChangeShapeType="1"/>
            </p:cNvSpPr>
            <p:nvPr/>
          </p:nvSpPr>
          <p:spPr bwMode="auto">
            <a:xfrm>
              <a:off x="3908" y="4007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5" name="Line 81"/>
            <p:cNvSpPr>
              <a:spLocks noChangeShapeType="1"/>
            </p:cNvSpPr>
            <p:nvPr/>
          </p:nvSpPr>
          <p:spPr bwMode="auto">
            <a:xfrm>
              <a:off x="3435" y="529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6" name="Line 82"/>
            <p:cNvSpPr>
              <a:spLocks noChangeShapeType="1"/>
            </p:cNvSpPr>
            <p:nvPr/>
          </p:nvSpPr>
          <p:spPr bwMode="auto">
            <a:xfrm>
              <a:off x="3512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7" name="Line 83"/>
            <p:cNvSpPr>
              <a:spLocks noChangeShapeType="1"/>
            </p:cNvSpPr>
            <p:nvPr/>
          </p:nvSpPr>
          <p:spPr bwMode="auto">
            <a:xfrm>
              <a:off x="3596" y="529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8" name="Line 84"/>
            <p:cNvSpPr>
              <a:spLocks noChangeShapeType="1"/>
            </p:cNvSpPr>
            <p:nvPr/>
          </p:nvSpPr>
          <p:spPr bwMode="auto">
            <a:xfrm>
              <a:off x="3675" y="5287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09" name="Line 85"/>
            <p:cNvSpPr>
              <a:spLocks noChangeShapeType="1"/>
            </p:cNvSpPr>
            <p:nvPr/>
          </p:nvSpPr>
          <p:spPr bwMode="auto">
            <a:xfrm>
              <a:off x="3823" y="529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0" name="Line 86"/>
            <p:cNvSpPr>
              <a:spLocks noChangeShapeType="1"/>
            </p:cNvSpPr>
            <p:nvPr/>
          </p:nvSpPr>
          <p:spPr bwMode="auto">
            <a:xfrm>
              <a:off x="3968" y="529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1" name="Line 87"/>
            <p:cNvSpPr>
              <a:spLocks noChangeShapeType="1"/>
            </p:cNvSpPr>
            <p:nvPr/>
          </p:nvSpPr>
          <p:spPr bwMode="auto">
            <a:xfrm>
              <a:off x="3749" y="529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2" name="Line 88"/>
            <p:cNvSpPr>
              <a:spLocks noChangeShapeType="1"/>
            </p:cNvSpPr>
            <p:nvPr/>
          </p:nvSpPr>
          <p:spPr bwMode="auto">
            <a:xfrm>
              <a:off x="3897" y="529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3" name="Rectangle 89"/>
            <p:cNvSpPr>
              <a:spLocks noChangeArrowheads="1"/>
            </p:cNvSpPr>
            <p:nvPr/>
          </p:nvSpPr>
          <p:spPr bwMode="auto">
            <a:xfrm>
              <a:off x="4066" y="4522"/>
              <a:ext cx="606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6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4" name="Line 90"/>
            <p:cNvSpPr>
              <a:spLocks noChangeShapeType="1"/>
            </p:cNvSpPr>
            <p:nvPr/>
          </p:nvSpPr>
          <p:spPr bwMode="auto">
            <a:xfrm>
              <a:off x="4103" y="401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5" name="Line 91"/>
            <p:cNvSpPr>
              <a:spLocks noChangeShapeType="1"/>
            </p:cNvSpPr>
            <p:nvPr/>
          </p:nvSpPr>
          <p:spPr bwMode="auto">
            <a:xfrm>
              <a:off x="4181" y="400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6" name="Line 92"/>
            <p:cNvSpPr>
              <a:spLocks noChangeShapeType="1"/>
            </p:cNvSpPr>
            <p:nvPr/>
          </p:nvSpPr>
          <p:spPr bwMode="auto">
            <a:xfrm>
              <a:off x="4265" y="401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7" name="Line 93"/>
            <p:cNvSpPr>
              <a:spLocks noChangeShapeType="1"/>
            </p:cNvSpPr>
            <p:nvPr/>
          </p:nvSpPr>
          <p:spPr bwMode="auto">
            <a:xfrm>
              <a:off x="4344" y="401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8" name="Line 94"/>
            <p:cNvSpPr>
              <a:spLocks noChangeShapeType="1"/>
            </p:cNvSpPr>
            <p:nvPr/>
          </p:nvSpPr>
          <p:spPr bwMode="auto">
            <a:xfrm>
              <a:off x="4493" y="401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19" name="Line 95"/>
            <p:cNvSpPr>
              <a:spLocks noChangeShapeType="1"/>
            </p:cNvSpPr>
            <p:nvPr/>
          </p:nvSpPr>
          <p:spPr bwMode="auto">
            <a:xfrm>
              <a:off x="4637" y="401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0" name="Line 96"/>
            <p:cNvSpPr>
              <a:spLocks noChangeShapeType="1"/>
            </p:cNvSpPr>
            <p:nvPr/>
          </p:nvSpPr>
          <p:spPr bwMode="auto">
            <a:xfrm>
              <a:off x="4419" y="401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1" name="Line 97"/>
            <p:cNvSpPr>
              <a:spLocks noChangeShapeType="1"/>
            </p:cNvSpPr>
            <p:nvPr/>
          </p:nvSpPr>
          <p:spPr bwMode="auto">
            <a:xfrm>
              <a:off x="4566" y="4012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2" name="Line 98"/>
            <p:cNvSpPr>
              <a:spLocks noChangeShapeType="1"/>
            </p:cNvSpPr>
            <p:nvPr/>
          </p:nvSpPr>
          <p:spPr bwMode="auto">
            <a:xfrm>
              <a:off x="4093" y="53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3" name="Line 99"/>
            <p:cNvSpPr>
              <a:spLocks noChangeShapeType="1"/>
            </p:cNvSpPr>
            <p:nvPr/>
          </p:nvSpPr>
          <p:spPr bwMode="auto">
            <a:xfrm>
              <a:off x="4171" y="5309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4" name="Line 100"/>
            <p:cNvSpPr>
              <a:spLocks noChangeShapeType="1"/>
            </p:cNvSpPr>
            <p:nvPr/>
          </p:nvSpPr>
          <p:spPr bwMode="auto">
            <a:xfrm>
              <a:off x="4256" y="528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5" name="Line 101"/>
            <p:cNvSpPr>
              <a:spLocks noChangeShapeType="1"/>
            </p:cNvSpPr>
            <p:nvPr/>
          </p:nvSpPr>
          <p:spPr bwMode="auto">
            <a:xfrm>
              <a:off x="4334" y="5282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6" name="Line 102"/>
            <p:cNvSpPr>
              <a:spLocks noChangeShapeType="1"/>
            </p:cNvSpPr>
            <p:nvPr/>
          </p:nvSpPr>
          <p:spPr bwMode="auto">
            <a:xfrm>
              <a:off x="4483" y="528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7" name="Line 103"/>
            <p:cNvSpPr>
              <a:spLocks noChangeShapeType="1"/>
            </p:cNvSpPr>
            <p:nvPr/>
          </p:nvSpPr>
          <p:spPr bwMode="auto">
            <a:xfrm>
              <a:off x="4627" y="527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8" name="Line 104"/>
            <p:cNvSpPr>
              <a:spLocks noChangeShapeType="1"/>
            </p:cNvSpPr>
            <p:nvPr/>
          </p:nvSpPr>
          <p:spPr bwMode="auto">
            <a:xfrm>
              <a:off x="4409" y="527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29" name="Line 105"/>
            <p:cNvSpPr>
              <a:spLocks noChangeShapeType="1"/>
            </p:cNvSpPr>
            <p:nvPr/>
          </p:nvSpPr>
          <p:spPr bwMode="auto">
            <a:xfrm>
              <a:off x="4557" y="528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0" name="Rectangle 106"/>
            <p:cNvSpPr>
              <a:spLocks noChangeArrowheads="1"/>
            </p:cNvSpPr>
            <p:nvPr/>
          </p:nvSpPr>
          <p:spPr bwMode="auto">
            <a:xfrm>
              <a:off x="5419" y="4482"/>
              <a:ext cx="606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8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1" name="Line 107"/>
            <p:cNvSpPr>
              <a:spLocks noChangeShapeType="1"/>
            </p:cNvSpPr>
            <p:nvPr/>
          </p:nvSpPr>
          <p:spPr bwMode="auto">
            <a:xfrm>
              <a:off x="5457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2" name="Line 108"/>
            <p:cNvSpPr>
              <a:spLocks noChangeShapeType="1"/>
            </p:cNvSpPr>
            <p:nvPr/>
          </p:nvSpPr>
          <p:spPr bwMode="auto">
            <a:xfrm>
              <a:off x="5534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3" name="Line 109"/>
            <p:cNvSpPr>
              <a:spLocks noChangeShapeType="1"/>
            </p:cNvSpPr>
            <p:nvPr/>
          </p:nvSpPr>
          <p:spPr bwMode="auto">
            <a:xfrm>
              <a:off x="5618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4" name="Line 110"/>
            <p:cNvSpPr>
              <a:spLocks noChangeShapeType="1"/>
            </p:cNvSpPr>
            <p:nvPr/>
          </p:nvSpPr>
          <p:spPr bwMode="auto">
            <a:xfrm>
              <a:off x="5696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5" name="Line 111"/>
            <p:cNvSpPr>
              <a:spLocks noChangeShapeType="1"/>
            </p:cNvSpPr>
            <p:nvPr/>
          </p:nvSpPr>
          <p:spPr bwMode="auto">
            <a:xfrm>
              <a:off x="5845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6" name="Line 112"/>
            <p:cNvSpPr>
              <a:spLocks noChangeShapeType="1"/>
            </p:cNvSpPr>
            <p:nvPr/>
          </p:nvSpPr>
          <p:spPr bwMode="auto">
            <a:xfrm>
              <a:off x="5990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7" name="Line 113"/>
            <p:cNvSpPr>
              <a:spLocks noChangeShapeType="1"/>
            </p:cNvSpPr>
            <p:nvPr/>
          </p:nvSpPr>
          <p:spPr bwMode="auto">
            <a:xfrm>
              <a:off x="577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8" name="Line 114"/>
            <p:cNvSpPr>
              <a:spLocks noChangeShapeType="1"/>
            </p:cNvSpPr>
            <p:nvPr/>
          </p:nvSpPr>
          <p:spPr bwMode="auto">
            <a:xfrm>
              <a:off x="5920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39" name="Line 115"/>
            <p:cNvSpPr>
              <a:spLocks noChangeShapeType="1"/>
            </p:cNvSpPr>
            <p:nvPr/>
          </p:nvSpPr>
          <p:spPr bwMode="auto">
            <a:xfrm>
              <a:off x="544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0" name="Line 116"/>
            <p:cNvSpPr>
              <a:spLocks noChangeShapeType="1"/>
            </p:cNvSpPr>
            <p:nvPr/>
          </p:nvSpPr>
          <p:spPr bwMode="auto">
            <a:xfrm>
              <a:off x="5525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1" name="Line 117"/>
            <p:cNvSpPr>
              <a:spLocks noChangeShapeType="1"/>
            </p:cNvSpPr>
            <p:nvPr/>
          </p:nvSpPr>
          <p:spPr bwMode="auto">
            <a:xfrm>
              <a:off x="5608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2" name="Line 118"/>
            <p:cNvSpPr>
              <a:spLocks noChangeShapeType="1"/>
            </p:cNvSpPr>
            <p:nvPr/>
          </p:nvSpPr>
          <p:spPr bwMode="auto">
            <a:xfrm>
              <a:off x="5687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3" name="Line 119"/>
            <p:cNvSpPr>
              <a:spLocks noChangeShapeType="1"/>
            </p:cNvSpPr>
            <p:nvPr/>
          </p:nvSpPr>
          <p:spPr bwMode="auto">
            <a:xfrm>
              <a:off x="583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4" name="Line 120"/>
            <p:cNvSpPr>
              <a:spLocks noChangeShapeType="1"/>
            </p:cNvSpPr>
            <p:nvPr/>
          </p:nvSpPr>
          <p:spPr bwMode="auto">
            <a:xfrm>
              <a:off x="5981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5" name="Line 121"/>
            <p:cNvSpPr>
              <a:spLocks noChangeShapeType="1"/>
            </p:cNvSpPr>
            <p:nvPr/>
          </p:nvSpPr>
          <p:spPr bwMode="auto">
            <a:xfrm>
              <a:off x="576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6" name="Line 122"/>
            <p:cNvSpPr>
              <a:spLocks noChangeShapeType="1"/>
            </p:cNvSpPr>
            <p:nvPr/>
          </p:nvSpPr>
          <p:spPr bwMode="auto">
            <a:xfrm>
              <a:off x="5910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7" name="Rectangle 123"/>
            <p:cNvSpPr>
              <a:spLocks noChangeArrowheads="1"/>
            </p:cNvSpPr>
            <p:nvPr/>
          </p:nvSpPr>
          <p:spPr bwMode="auto">
            <a:xfrm>
              <a:off x="10799" y="4482"/>
              <a:ext cx="606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16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8" name="Line 124"/>
            <p:cNvSpPr>
              <a:spLocks noChangeShapeType="1"/>
            </p:cNvSpPr>
            <p:nvPr/>
          </p:nvSpPr>
          <p:spPr bwMode="auto">
            <a:xfrm>
              <a:off x="10836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49" name="Line 125"/>
            <p:cNvSpPr>
              <a:spLocks noChangeShapeType="1"/>
            </p:cNvSpPr>
            <p:nvPr/>
          </p:nvSpPr>
          <p:spPr bwMode="auto">
            <a:xfrm>
              <a:off x="10915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0" name="Line 126"/>
            <p:cNvSpPr>
              <a:spLocks noChangeShapeType="1"/>
            </p:cNvSpPr>
            <p:nvPr/>
          </p:nvSpPr>
          <p:spPr bwMode="auto">
            <a:xfrm>
              <a:off x="10998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1" name="Line 127"/>
            <p:cNvSpPr>
              <a:spLocks noChangeShapeType="1"/>
            </p:cNvSpPr>
            <p:nvPr/>
          </p:nvSpPr>
          <p:spPr bwMode="auto">
            <a:xfrm>
              <a:off x="11076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2" name="Line 128"/>
            <p:cNvSpPr>
              <a:spLocks noChangeShapeType="1"/>
            </p:cNvSpPr>
            <p:nvPr/>
          </p:nvSpPr>
          <p:spPr bwMode="auto">
            <a:xfrm>
              <a:off x="11226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3" name="Line 129"/>
            <p:cNvSpPr>
              <a:spLocks noChangeShapeType="1"/>
            </p:cNvSpPr>
            <p:nvPr/>
          </p:nvSpPr>
          <p:spPr bwMode="auto">
            <a:xfrm>
              <a:off x="11371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4" name="Line 130"/>
            <p:cNvSpPr>
              <a:spLocks noChangeShapeType="1"/>
            </p:cNvSpPr>
            <p:nvPr/>
          </p:nvSpPr>
          <p:spPr bwMode="auto">
            <a:xfrm>
              <a:off x="1115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5" name="Line 131"/>
            <p:cNvSpPr>
              <a:spLocks noChangeShapeType="1"/>
            </p:cNvSpPr>
            <p:nvPr/>
          </p:nvSpPr>
          <p:spPr bwMode="auto">
            <a:xfrm>
              <a:off x="11301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6" name="Line 132"/>
            <p:cNvSpPr>
              <a:spLocks noChangeShapeType="1"/>
            </p:cNvSpPr>
            <p:nvPr/>
          </p:nvSpPr>
          <p:spPr bwMode="auto">
            <a:xfrm>
              <a:off x="1082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7" name="Line 133"/>
            <p:cNvSpPr>
              <a:spLocks noChangeShapeType="1"/>
            </p:cNvSpPr>
            <p:nvPr/>
          </p:nvSpPr>
          <p:spPr bwMode="auto">
            <a:xfrm>
              <a:off x="10904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8" name="Line 134"/>
            <p:cNvSpPr>
              <a:spLocks noChangeShapeType="1"/>
            </p:cNvSpPr>
            <p:nvPr/>
          </p:nvSpPr>
          <p:spPr bwMode="auto">
            <a:xfrm>
              <a:off x="10989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59" name="Line 135"/>
            <p:cNvSpPr>
              <a:spLocks noChangeShapeType="1"/>
            </p:cNvSpPr>
            <p:nvPr/>
          </p:nvSpPr>
          <p:spPr bwMode="auto">
            <a:xfrm>
              <a:off x="11067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0" name="Line 136"/>
            <p:cNvSpPr>
              <a:spLocks noChangeShapeType="1"/>
            </p:cNvSpPr>
            <p:nvPr/>
          </p:nvSpPr>
          <p:spPr bwMode="auto">
            <a:xfrm>
              <a:off x="1121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1" name="Line 137"/>
            <p:cNvSpPr>
              <a:spLocks noChangeShapeType="1"/>
            </p:cNvSpPr>
            <p:nvPr/>
          </p:nvSpPr>
          <p:spPr bwMode="auto">
            <a:xfrm>
              <a:off x="11360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2" name="Line 138"/>
            <p:cNvSpPr>
              <a:spLocks noChangeShapeType="1"/>
            </p:cNvSpPr>
            <p:nvPr/>
          </p:nvSpPr>
          <p:spPr bwMode="auto">
            <a:xfrm>
              <a:off x="11141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3" name="Line 139"/>
            <p:cNvSpPr>
              <a:spLocks noChangeShapeType="1"/>
            </p:cNvSpPr>
            <p:nvPr/>
          </p:nvSpPr>
          <p:spPr bwMode="auto">
            <a:xfrm>
              <a:off x="11289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4" name="Rectangle 140"/>
            <p:cNvSpPr>
              <a:spLocks noChangeArrowheads="1"/>
            </p:cNvSpPr>
            <p:nvPr/>
          </p:nvSpPr>
          <p:spPr bwMode="auto">
            <a:xfrm>
              <a:off x="4746" y="4512"/>
              <a:ext cx="605" cy="7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7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65" name="Line 141"/>
            <p:cNvSpPr>
              <a:spLocks noChangeShapeType="1"/>
            </p:cNvSpPr>
            <p:nvPr/>
          </p:nvSpPr>
          <p:spPr bwMode="auto">
            <a:xfrm>
              <a:off x="4784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6" name="Line 142"/>
            <p:cNvSpPr>
              <a:spLocks noChangeShapeType="1"/>
            </p:cNvSpPr>
            <p:nvPr/>
          </p:nvSpPr>
          <p:spPr bwMode="auto">
            <a:xfrm>
              <a:off x="4861" y="39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7" name="Line 143"/>
            <p:cNvSpPr>
              <a:spLocks noChangeShapeType="1"/>
            </p:cNvSpPr>
            <p:nvPr/>
          </p:nvSpPr>
          <p:spPr bwMode="auto">
            <a:xfrm>
              <a:off x="4945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8" name="Line 144"/>
            <p:cNvSpPr>
              <a:spLocks noChangeShapeType="1"/>
            </p:cNvSpPr>
            <p:nvPr/>
          </p:nvSpPr>
          <p:spPr bwMode="auto">
            <a:xfrm>
              <a:off x="5023" y="399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69" name="Line 145"/>
            <p:cNvSpPr>
              <a:spLocks noChangeShapeType="1"/>
            </p:cNvSpPr>
            <p:nvPr/>
          </p:nvSpPr>
          <p:spPr bwMode="auto">
            <a:xfrm>
              <a:off x="5173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0" name="Line 146"/>
            <p:cNvSpPr>
              <a:spLocks noChangeShapeType="1"/>
            </p:cNvSpPr>
            <p:nvPr/>
          </p:nvSpPr>
          <p:spPr bwMode="auto">
            <a:xfrm>
              <a:off x="5317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1" name="Line 147"/>
            <p:cNvSpPr>
              <a:spLocks noChangeShapeType="1"/>
            </p:cNvSpPr>
            <p:nvPr/>
          </p:nvSpPr>
          <p:spPr bwMode="auto">
            <a:xfrm>
              <a:off x="5097" y="400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2" name="Line 148"/>
            <p:cNvSpPr>
              <a:spLocks noChangeShapeType="1"/>
            </p:cNvSpPr>
            <p:nvPr/>
          </p:nvSpPr>
          <p:spPr bwMode="auto">
            <a:xfrm>
              <a:off x="5246" y="3997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3" name="Line 149"/>
            <p:cNvSpPr>
              <a:spLocks noChangeShapeType="1"/>
            </p:cNvSpPr>
            <p:nvPr/>
          </p:nvSpPr>
          <p:spPr bwMode="auto">
            <a:xfrm>
              <a:off x="4772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4" name="Line 150"/>
            <p:cNvSpPr>
              <a:spLocks noChangeShapeType="1"/>
            </p:cNvSpPr>
            <p:nvPr/>
          </p:nvSpPr>
          <p:spPr bwMode="auto">
            <a:xfrm>
              <a:off x="4852" y="527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5" name="Line 151"/>
            <p:cNvSpPr>
              <a:spLocks noChangeShapeType="1"/>
            </p:cNvSpPr>
            <p:nvPr/>
          </p:nvSpPr>
          <p:spPr bwMode="auto">
            <a:xfrm>
              <a:off x="4935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6" name="Line 152"/>
            <p:cNvSpPr>
              <a:spLocks noChangeShapeType="1"/>
            </p:cNvSpPr>
            <p:nvPr/>
          </p:nvSpPr>
          <p:spPr bwMode="auto">
            <a:xfrm>
              <a:off x="5014" y="5278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7" name="Line 153"/>
            <p:cNvSpPr>
              <a:spLocks noChangeShapeType="1"/>
            </p:cNvSpPr>
            <p:nvPr/>
          </p:nvSpPr>
          <p:spPr bwMode="auto">
            <a:xfrm>
              <a:off x="5162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8" name="Line 154"/>
            <p:cNvSpPr>
              <a:spLocks noChangeShapeType="1"/>
            </p:cNvSpPr>
            <p:nvPr/>
          </p:nvSpPr>
          <p:spPr bwMode="auto">
            <a:xfrm>
              <a:off x="5308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9" name="Line 155"/>
            <p:cNvSpPr>
              <a:spLocks noChangeShapeType="1"/>
            </p:cNvSpPr>
            <p:nvPr/>
          </p:nvSpPr>
          <p:spPr bwMode="auto">
            <a:xfrm>
              <a:off x="5088" y="528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0" name="Line 156"/>
            <p:cNvSpPr>
              <a:spLocks noChangeShapeType="1"/>
            </p:cNvSpPr>
            <p:nvPr/>
          </p:nvSpPr>
          <p:spPr bwMode="auto">
            <a:xfrm>
              <a:off x="5237" y="5281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1" name="Rectangle 157"/>
            <p:cNvSpPr>
              <a:spLocks noChangeArrowheads="1"/>
            </p:cNvSpPr>
            <p:nvPr/>
          </p:nvSpPr>
          <p:spPr bwMode="auto">
            <a:xfrm>
              <a:off x="10139" y="4482"/>
              <a:ext cx="606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15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82" name="Line 158"/>
            <p:cNvSpPr>
              <a:spLocks noChangeShapeType="1"/>
            </p:cNvSpPr>
            <p:nvPr/>
          </p:nvSpPr>
          <p:spPr bwMode="auto">
            <a:xfrm>
              <a:off x="10176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3" name="Line 159"/>
            <p:cNvSpPr>
              <a:spLocks noChangeShapeType="1"/>
            </p:cNvSpPr>
            <p:nvPr/>
          </p:nvSpPr>
          <p:spPr bwMode="auto">
            <a:xfrm>
              <a:off x="10254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4" name="Line 160"/>
            <p:cNvSpPr>
              <a:spLocks noChangeShapeType="1"/>
            </p:cNvSpPr>
            <p:nvPr/>
          </p:nvSpPr>
          <p:spPr bwMode="auto">
            <a:xfrm>
              <a:off x="10339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5" name="Line 161"/>
            <p:cNvSpPr>
              <a:spLocks noChangeShapeType="1"/>
            </p:cNvSpPr>
            <p:nvPr/>
          </p:nvSpPr>
          <p:spPr bwMode="auto">
            <a:xfrm>
              <a:off x="10416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6" name="Line 162"/>
            <p:cNvSpPr>
              <a:spLocks noChangeShapeType="1"/>
            </p:cNvSpPr>
            <p:nvPr/>
          </p:nvSpPr>
          <p:spPr bwMode="auto">
            <a:xfrm>
              <a:off x="10565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7" name="Line 163"/>
            <p:cNvSpPr>
              <a:spLocks noChangeShapeType="1"/>
            </p:cNvSpPr>
            <p:nvPr/>
          </p:nvSpPr>
          <p:spPr bwMode="auto">
            <a:xfrm>
              <a:off x="10711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8" name="Line 164"/>
            <p:cNvSpPr>
              <a:spLocks noChangeShapeType="1"/>
            </p:cNvSpPr>
            <p:nvPr/>
          </p:nvSpPr>
          <p:spPr bwMode="auto">
            <a:xfrm>
              <a:off x="1049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89" name="Line 165"/>
            <p:cNvSpPr>
              <a:spLocks noChangeShapeType="1"/>
            </p:cNvSpPr>
            <p:nvPr/>
          </p:nvSpPr>
          <p:spPr bwMode="auto">
            <a:xfrm>
              <a:off x="10640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0" name="Line 166"/>
            <p:cNvSpPr>
              <a:spLocks noChangeShapeType="1"/>
            </p:cNvSpPr>
            <p:nvPr/>
          </p:nvSpPr>
          <p:spPr bwMode="auto">
            <a:xfrm>
              <a:off x="1016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1" name="Line 167"/>
            <p:cNvSpPr>
              <a:spLocks noChangeShapeType="1"/>
            </p:cNvSpPr>
            <p:nvPr/>
          </p:nvSpPr>
          <p:spPr bwMode="auto">
            <a:xfrm>
              <a:off x="10245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2" name="Line 168"/>
            <p:cNvSpPr>
              <a:spLocks noChangeShapeType="1"/>
            </p:cNvSpPr>
            <p:nvPr/>
          </p:nvSpPr>
          <p:spPr bwMode="auto">
            <a:xfrm>
              <a:off x="10329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3" name="Line 169"/>
            <p:cNvSpPr>
              <a:spLocks noChangeShapeType="1"/>
            </p:cNvSpPr>
            <p:nvPr/>
          </p:nvSpPr>
          <p:spPr bwMode="auto">
            <a:xfrm>
              <a:off x="10408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4" name="Line 170"/>
            <p:cNvSpPr>
              <a:spLocks noChangeShapeType="1"/>
            </p:cNvSpPr>
            <p:nvPr/>
          </p:nvSpPr>
          <p:spPr bwMode="auto">
            <a:xfrm>
              <a:off x="10557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5" name="Line 171"/>
            <p:cNvSpPr>
              <a:spLocks noChangeShapeType="1"/>
            </p:cNvSpPr>
            <p:nvPr/>
          </p:nvSpPr>
          <p:spPr bwMode="auto">
            <a:xfrm>
              <a:off x="10701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6" name="Line 172"/>
            <p:cNvSpPr>
              <a:spLocks noChangeShapeType="1"/>
            </p:cNvSpPr>
            <p:nvPr/>
          </p:nvSpPr>
          <p:spPr bwMode="auto">
            <a:xfrm>
              <a:off x="1048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7" name="Line 173"/>
            <p:cNvSpPr>
              <a:spLocks noChangeShapeType="1"/>
            </p:cNvSpPr>
            <p:nvPr/>
          </p:nvSpPr>
          <p:spPr bwMode="auto">
            <a:xfrm>
              <a:off x="10630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8" name="Rectangle 174"/>
            <p:cNvSpPr>
              <a:spLocks noChangeArrowheads="1"/>
            </p:cNvSpPr>
            <p:nvPr/>
          </p:nvSpPr>
          <p:spPr bwMode="auto">
            <a:xfrm>
              <a:off x="9473" y="4482"/>
              <a:ext cx="606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14</a:t>
              </a:r>
              <a:endParaRPr kumimoji="0" 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99" name="Line 175"/>
            <p:cNvSpPr>
              <a:spLocks noChangeShapeType="1"/>
            </p:cNvSpPr>
            <p:nvPr/>
          </p:nvSpPr>
          <p:spPr bwMode="auto">
            <a:xfrm>
              <a:off x="9510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0" name="Line 176"/>
            <p:cNvSpPr>
              <a:spLocks noChangeShapeType="1"/>
            </p:cNvSpPr>
            <p:nvPr/>
          </p:nvSpPr>
          <p:spPr bwMode="auto">
            <a:xfrm>
              <a:off x="9588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1" name="Line 177"/>
            <p:cNvSpPr>
              <a:spLocks noChangeShapeType="1"/>
            </p:cNvSpPr>
            <p:nvPr/>
          </p:nvSpPr>
          <p:spPr bwMode="auto">
            <a:xfrm>
              <a:off x="967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2" name="Line 178"/>
            <p:cNvSpPr>
              <a:spLocks noChangeShapeType="1"/>
            </p:cNvSpPr>
            <p:nvPr/>
          </p:nvSpPr>
          <p:spPr bwMode="auto">
            <a:xfrm>
              <a:off x="9750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3" name="Line 179"/>
            <p:cNvSpPr>
              <a:spLocks noChangeShapeType="1"/>
            </p:cNvSpPr>
            <p:nvPr/>
          </p:nvSpPr>
          <p:spPr bwMode="auto">
            <a:xfrm>
              <a:off x="9899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4" name="Line 180"/>
            <p:cNvSpPr>
              <a:spLocks noChangeShapeType="1"/>
            </p:cNvSpPr>
            <p:nvPr/>
          </p:nvSpPr>
          <p:spPr bwMode="auto">
            <a:xfrm>
              <a:off x="10044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5" name="Line 181"/>
            <p:cNvSpPr>
              <a:spLocks noChangeShapeType="1"/>
            </p:cNvSpPr>
            <p:nvPr/>
          </p:nvSpPr>
          <p:spPr bwMode="auto">
            <a:xfrm>
              <a:off x="9826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6" name="Line 182"/>
            <p:cNvSpPr>
              <a:spLocks noChangeShapeType="1"/>
            </p:cNvSpPr>
            <p:nvPr/>
          </p:nvSpPr>
          <p:spPr bwMode="auto">
            <a:xfrm>
              <a:off x="9974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7" name="Line 183"/>
            <p:cNvSpPr>
              <a:spLocks noChangeShapeType="1"/>
            </p:cNvSpPr>
            <p:nvPr/>
          </p:nvSpPr>
          <p:spPr bwMode="auto">
            <a:xfrm>
              <a:off x="9500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8" name="Line 184"/>
            <p:cNvSpPr>
              <a:spLocks noChangeShapeType="1"/>
            </p:cNvSpPr>
            <p:nvPr/>
          </p:nvSpPr>
          <p:spPr bwMode="auto">
            <a:xfrm>
              <a:off x="9578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9" name="Line 185"/>
            <p:cNvSpPr>
              <a:spLocks noChangeShapeType="1"/>
            </p:cNvSpPr>
            <p:nvPr/>
          </p:nvSpPr>
          <p:spPr bwMode="auto">
            <a:xfrm>
              <a:off x="966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0" name="Line 186"/>
            <p:cNvSpPr>
              <a:spLocks noChangeShapeType="1"/>
            </p:cNvSpPr>
            <p:nvPr/>
          </p:nvSpPr>
          <p:spPr bwMode="auto">
            <a:xfrm>
              <a:off x="9741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1" name="Line 187"/>
            <p:cNvSpPr>
              <a:spLocks noChangeShapeType="1"/>
            </p:cNvSpPr>
            <p:nvPr/>
          </p:nvSpPr>
          <p:spPr bwMode="auto">
            <a:xfrm>
              <a:off x="9890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2" name="Line 188"/>
            <p:cNvSpPr>
              <a:spLocks noChangeShapeType="1"/>
            </p:cNvSpPr>
            <p:nvPr/>
          </p:nvSpPr>
          <p:spPr bwMode="auto">
            <a:xfrm>
              <a:off x="10034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3" name="Line 189"/>
            <p:cNvSpPr>
              <a:spLocks noChangeShapeType="1"/>
            </p:cNvSpPr>
            <p:nvPr/>
          </p:nvSpPr>
          <p:spPr bwMode="auto">
            <a:xfrm>
              <a:off x="9815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4" name="Line 190"/>
            <p:cNvSpPr>
              <a:spLocks noChangeShapeType="1"/>
            </p:cNvSpPr>
            <p:nvPr/>
          </p:nvSpPr>
          <p:spPr bwMode="auto">
            <a:xfrm>
              <a:off x="9963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5" name="Rectangle 191"/>
            <p:cNvSpPr>
              <a:spLocks noChangeArrowheads="1"/>
            </p:cNvSpPr>
            <p:nvPr/>
          </p:nvSpPr>
          <p:spPr bwMode="auto">
            <a:xfrm>
              <a:off x="8803" y="4482"/>
              <a:ext cx="606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13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16" name="Line 192"/>
            <p:cNvSpPr>
              <a:spLocks noChangeShapeType="1"/>
            </p:cNvSpPr>
            <p:nvPr/>
          </p:nvSpPr>
          <p:spPr bwMode="auto">
            <a:xfrm>
              <a:off x="8841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7" name="Line 193"/>
            <p:cNvSpPr>
              <a:spLocks noChangeShapeType="1"/>
            </p:cNvSpPr>
            <p:nvPr/>
          </p:nvSpPr>
          <p:spPr bwMode="auto">
            <a:xfrm>
              <a:off x="8918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8" name="Line 194"/>
            <p:cNvSpPr>
              <a:spLocks noChangeShapeType="1"/>
            </p:cNvSpPr>
            <p:nvPr/>
          </p:nvSpPr>
          <p:spPr bwMode="auto">
            <a:xfrm>
              <a:off x="900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9" name="Line 195"/>
            <p:cNvSpPr>
              <a:spLocks noChangeShapeType="1"/>
            </p:cNvSpPr>
            <p:nvPr/>
          </p:nvSpPr>
          <p:spPr bwMode="auto">
            <a:xfrm>
              <a:off x="9079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0" name="Line 196"/>
            <p:cNvSpPr>
              <a:spLocks noChangeShapeType="1"/>
            </p:cNvSpPr>
            <p:nvPr/>
          </p:nvSpPr>
          <p:spPr bwMode="auto">
            <a:xfrm>
              <a:off x="9229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1" name="Line 197"/>
            <p:cNvSpPr>
              <a:spLocks noChangeShapeType="1"/>
            </p:cNvSpPr>
            <p:nvPr/>
          </p:nvSpPr>
          <p:spPr bwMode="auto">
            <a:xfrm>
              <a:off x="9374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2" name="Line 198"/>
            <p:cNvSpPr>
              <a:spLocks noChangeShapeType="1"/>
            </p:cNvSpPr>
            <p:nvPr/>
          </p:nvSpPr>
          <p:spPr bwMode="auto">
            <a:xfrm>
              <a:off x="9155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3" name="Line 199"/>
            <p:cNvSpPr>
              <a:spLocks noChangeShapeType="1"/>
            </p:cNvSpPr>
            <p:nvPr/>
          </p:nvSpPr>
          <p:spPr bwMode="auto">
            <a:xfrm>
              <a:off x="9303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4" name="Line 200"/>
            <p:cNvSpPr>
              <a:spLocks noChangeShapeType="1"/>
            </p:cNvSpPr>
            <p:nvPr/>
          </p:nvSpPr>
          <p:spPr bwMode="auto">
            <a:xfrm>
              <a:off x="8830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5" name="Line 201"/>
            <p:cNvSpPr>
              <a:spLocks noChangeShapeType="1"/>
            </p:cNvSpPr>
            <p:nvPr/>
          </p:nvSpPr>
          <p:spPr bwMode="auto">
            <a:xfrm>
              <a:off x="8909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6" name="Line 202"/>
            <p:cNvSpPr>
              <a:spLocks noChangeShapeType="1"/>
            </p:cNvSpPr>
            <p:nvPr/>
          </p:nvSpPr>
          <p:spPr bwMode="auto">
            <a:xfrm>
              <a:off x="899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7" name="Line 203"/>
            <p:cNvSpPr>
              <a:spLocks noChangeShapeType="1"/>
            </p:cNvSpPr>
            <p:nvPr/>
          </p:nvSpPr>
          <p:spPr bwMode="auto">
            <a:xfrm>
              <a:off x="9070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8" name="Line 204"/>
            <p:cNvSpPr>
              <a:spLocks noChangeShapeType="1"/>
            </p:cNvSpPr>
            <p:nvPr/>
          </p:nvSpPr>
          <p:spPr bwMode="auto">
            <a:xfrm>
              <a:off x="9220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29" name="Line 205"/>
            <p:cNvSpPr>
              <a:spLocks noChangeShapeType="1"/>
            </p:cNvSpPr>
            <p:nvPr/>
          </p:nvSpPr>
          <p:spPr bwMode="auto">
            <a:xfrm>
              <a:off x="9364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0" name="Line 206"/>
            <p:cNvSpPr>
              <a:spLocks noChangeShapeType="1"/>
            </p:cNvSpPr>
            <p:nvPr/>
          </p:nvSpPr>
          <p:spPr bwMode="auto">
            <a:xfrm>
              <a:off x="914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1" name="Line 207"/>
            <p:cNvSpPr>
              <a:spLocks noChangeShapeType="1"/>
            </p:cNvSpPr>
            <p:nvPr/>
          </p:nvSpPr>
          <p:spPr bwMode="auto">
            <a:xfrm>
              <a:off x="9293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2" name="Rectangle 208"/>
            <p:cNvSpPr>
              <a:spLocks noChangeArrowheads="1"/>
            </p:cNvSpPr>
            <p:nvPr/>
          </p:nvSpPr>
          <p:spPr bwMode="auto">
            <a:xfrm>
              <a:off x="8126" y="4482"/>
              <a:ext cx="606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12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3" name="Line 209"/>
            <p:cNvSpPr>
              <a:spLocks noChangeShapeType="1"/>
            </p:cNvSpPr>
            <p:nvPr/>
          </p:nvSpPr>
          <p:spPr bwMode="auto">
            <a:xfrm>
              <a:off x="8163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4" name="Line 210"/>
            <p:cNvSpPr>
              <a:spLocks noChangeShapeType="1"/>
            </p:cNvSpPr>
            <p:nvPr/>
          </p:nvSpPr>
          <p:spPr bwMode="auto">
            <a:xfrm>
              <a:off x="8242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5" name="Line 211"/>
            <p:cNvSpPr>
              <a:spLocks noChangeShapeType="1"/>
            </p:cNvSpPr>
            <p:nvPr/>
          </p:nvSpPr>
          <p:spPr bwMode="auto">
            <a:xfrm>
              <a:off x="8325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6" name="Line 212"/>
            <p:cNvSpPr>
              <a:spLocks noChangeShapeType="1"/>
            </p:cNvSpPr>
            <p:nvPr/>
          </p:nvSpPr>
          <p:spPr bwMode="auto">
            <a:xfrm>
              <a:off x="8404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7" name="Line 213"/>
            <p:cNvSpPr>
              <a:spLocks noChangeShapeType="1"/>
            </p:cNvSpPr>
            <p:nvPr/>
          </p:nvSpPr>
          <p:spPr bwMode="auto">
            <a:xfrm>
              <a:off x="8553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8" name="Line 214"/>
            <p:cNvSpPr>
              <a:spLocks noChangeShapeType="1"/>
            </p:cNvSpPr>
            <p:nvPr/>
          </p:nvSpPr>
          <p:spPr bwMode="auto">
            <a:xfrm>
              <a:off x="8698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39" name="Line 215"/>
            <p:cNvSpPr>
              <a:spLocks noChangeShapeType="1"/>
            </p:cNvSpPr>
            <p:nvPr/>
          </p:nvSpPr>
          <p:spPr bwMode="auto">
            <a:xfrm>
              <a:off x="8479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0" name="Line 216"/>
            <p:cNvSpPr>
              <a:spLocks noChangeShapeType="1"/>
            </p:cNvSpPr>
            <p:nvPr/>
          </p:nvSpPr>
          <p:spPr bwMode="auto">
            <a:xfrm>
              <a:off x="8627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1" name="Line 217"/>
            <p:cNvSpPr>
              <a:spLocks noChangeShapeType="1"/>
            </p:cNvSpPr>
            <p:nvPr/>
          </p:nvSpPr>
          <p:spPr bwMode="auto">
            <a:xfrm>
              <a:off x="8153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2" name="Line 218"/>
            <p:cNvSpPr>
              <a:spLocks noChangeShapeType="1"/>
            </p:cNvSpPr>
            <p:nvPr/>
          </p:nvSpPr>
          <p:spPr bwMode="auto">
            <a:xfrm>
              <a:off x="8231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3" name="Line 219"/>
            <p:cNvSpPr>
              <a:spLocks noChangeShapeType="1"/>
            </p:cNvSpPr>
            <p:nvPr/>
          </p:nvSpPr>
          <p:spPr bwMode="auto">
            <a:xfrm>
              <a:off x="831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4" name="Line 220"/>
            <p:cNvSpPr>
              <a:spLocks noChangeShapeType="1"/>
            </p:cNvSpPr>
            <p:nvPr/>
          </p:nvSpPr>
          <p:spPr bwMode="auto">
            <a:xfrm>
              <a:off x="8394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5" name="Line 221"/>
            <p:cNvSpPr>
              <a:spLocks noChangeShapeType="1"/>
            </p:cNvSpPr>
            <p:nvPr/>
          </p:nvSpPr>
          <p:spPr bwMode="auto">
            <a:xfrm>
              <a:off x="854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6" name="Line 222"/>
            <p:cNvSpPr>
              <a:spLocks noChangeShapeType="1"/>
            </p:cNvSpPr>
            <p:nvPr/>
          </p:nvSpPr>
          <p:spPr bwMode="auto">
            <a:xfrm>
              <a:off x="8687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7" name="Line 223"/>
            <p:cNvSpPr>
              <a:spLocks noChangeShapeType="1"/>
            </p:cNvSpPr>
            <p:nvPr/>
          </p:nvSpPr>
          <p:spPr bwMode="auto">
            <a:xfrm>
              <a:off x="8468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8" name="Line 224"/>
            <p:cNvSpPr>
              <a:spLocks noChangeShapeType="1"/>
            </p:cNvSpPr>
            <p:nvPr/>
          </p:nvSpPr>
          <p:spPr bwMode="auto">
            <a:xfrm>
              <a:off x="8616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49" name="Rectangle 225"/>
            <p:cNvSpPr>
              <a:spLocks noChangeArrowheads="1"/>
            </p:cNvSpPr>
            <p:nvPr/>
          </p:nvSpPr>
          <p:spPr bwMode="auto">
            <a:xfrm>
              <a:off x="7432" y="4482"/>
              <a:ext cx="607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itchFamily="18" charset="0"/>
                  <a:cs typeface="Arial" pitchFamily="34" charset="0"/>
                </a:rPr>
                <a:t>11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50" name="Line 226"/>
            <p:cNvSpPr>
              <a:spLocks noChangeShapeType="1"/>
            </p:cNvSpPr>
            <p:nvPr/>
          </p:nvSpPr>
          <p:spPr bwMode="auto">
            <a:xfrm>
              <a:off x="7470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1" name="Line 227"/>
            <p:cNvSpPr>
              <a:spLocks noChangeShapeType="1"/>
            </p:cNvSpPr>
            <p:nvPr/>
          </p:nvSpPr>
          <p:spPr bwMode="auto">
            <a:xfrm>
              <a:off x="7547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2" name="Line 228"/>
            <p:cNvSpPr>
              <a:spLocks noChangeShapeType="1"/>
            </p:cNvSpPr>
            <p:nvPr/>
          </p:nvSpPr>
          <p:spPr bwMode="auto">
            <a:xfrm>
              <a:off x="7631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3" name="Line 229"/>
            <p:cNvSpPr>
              <a:spLocks noChangeShapeType="1"/>
            </p:cNvSpPr>
            <p:nvPr/>
          </p:nvSpPr>
          <p:spPr bwMode="auto">
            <a:xfrm>
              <a:off x="7709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4" name="Line 230"/>
            <p:cNvSpPr>
              <a:spLocks noChangeShapeType="1"/>
            </p:cNvSpPr>
            <p:nvPr/>
          </p:nvSpPr>
          <p:spPr bwMode="auto">
            <a:xfrm>
              <a:off x="7859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5" name="Line 231"/>
            <p:cNvSpPr>
              <a:spLocks noChangeShapeType="1"/>
            </p:cNvSpPr>
            <p:nvPr/>
          </p:nvSpPr>
          <p:spPr bwMode="auto">
            <a:xfrm>
              <a:off x="8003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6" name="Line 232"/>
            <p:cNvSpPr>
              <a:spLocks noChangeShapeType="1"/>
            </p:cNvSpPr>
            <p:nvPr/>
          </p:nvSpPr>
          <p:spPr bwMode="auto">
            <a:xfrm>
              <a:off x="7786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7" name="Line 233"/>
            <p:cNvSpPr>
              <a:spLocks noChangeShapeType="1"/>
            </p:cNvSpPr>
            <p:nvPr/>
          </p:nvSpPr>
          <p:spPr bwMode="auto">
            <a:xfrm>
              <a:off x="7934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8" name="Line 234"/>
            <p:cNvSpPr>
              <a:spLocks noChangeShapeType="1"/>
            </p:cNvSpPr>
            <p:nvPr/>
          </p:nvSpPr>
          <p:spPr bwMode="auto">
            <a:xfrm>
              <a:off x="7461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59" name="Line 235"/>
            <p:cNvSpPr>
              <a:spLocks noChangeShapeType="1"/>
            </p:cNvSpPr>
            <p:nvPr/>
          </p:nvSpPr>
          <p:spPr bwMode="auto">
            <a:xfrm>
              <a:off x="7537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0" name="Line 236"/>
            <p:cNvSpPr>
              <a:spLocks noChangeShapeType="1"/>
            </p:cNvSpPr>
            <p:nvPr/>
          </p:nvSpPr>
          <p:spPr bwMode="auto">
            <a:xfrm>
              <a:off x="762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1" name="Line 237"/>
            <p:cNvSpPr>
              <a:spLocks noChangeShapeType="1"/>
            </p:cNvSpPr>
            <p:nvPr/>
          </p:nvSpPr>
          <p:spPr bwMode="auto">
            <a:xfrm>
              <a:off x="7699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2" name="Line 238"/>
            <p:cNvSpPr>
              <a:spLocks noChangeShapeType="1"/>
            </p:cNvSpPr>
            <p:nvPr/>
          </p:nvSpPr>
          <p:spPr bwMode="auto">
            <a:xfrm>
              <a:off x="7849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3" name="Line 239"/>
            <p:cNvSpPr>
              <a:spLocks noChangeShapeType="1"/>
            </p:cNvSpPr>
            <p:nvPr/>
          </p:nvSpPr>
          <p:spPr bwMode="auto">
            <a:xfrm>
              <a:off x="7994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4" name="Line 240"/>
            <p:cNvSpPr>
              <a:spLocks noChangeShapeType="1"/>
            </p:cNvSpPr>
            <p:nvPr/>
          </p:nvSpPr>
          <p:spPr bwMode="auto">
            <a:xfrm>
              <a:off x="7774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5" name="Line 241"/>
            <p:cNvSpPr>
              <a:spLocks noChangeShapeType="1"/>
            </p:cNvSpPr>
            <p:nvPr/>
          </p:nvSpPr>
          <p:spPr bwMode="auto">
            <a:xfrm>
              <a:off x="7923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6" name="Rectangle 242"/>
            <p:cNvSpPr>
              <a:spLocks noChangeArrowheads="1"/>
            </p:cNvSpPr>
            <p:nvPr/>
          </p:nvSpPr>
          <p:spPr bwMode="auto">
            <a:xfrm>
              <a:off x="6756" y="4482"/>
              <a:ext cx="605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1</a:t>
              </a:r>
              <a:r>
                <a:rPr kumimoji="0" lang="uz-Cyrl-UZ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67" name="Line 243"/>
            <p:cNvSpPr>
              <a:spLocks noChangeShapeType="1"/>
            </p:cNvSpPr>
            <p:nvPr/>
          </p:nvSpPr>
          <p:spPr bwMode="auto">
            <a:xfrm>
              <a:off x="679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8" name="Line 244"/>
            <p:cNvSpPr>
              <a:spLocks noChangeShapeType="1"/>
            </p:cNvSpPr>
            <p:nvPr/>
          </p:nvSpPr>
          <p:spPr bwMode="auto">
            <a:xfrm>
              <a:off x="6870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69" name="Line 245"/>
            <p:cNvSpPr>
              <a:spLocks noChangeShapeType="1"/>
            </p:cNvSpPr>
            <p:nvPr/>
          </p:nvSpPr>
          <p:spPr bwMode="auto">
            <a:xfrm>
              <a:off x="6955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0" name="Line 246"/>
            <p:cNvSpPr>
              <a:spLocks noChangeShapeType="1"/>
            </p:cNvSpPr>
            <p:nvPr/>
          </p:nvSpPr>
          <p:spPr bwMode="auto">
            <a:xfrm>
              <a:off x="7032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1" name="Line 247"/>
            <p:cNvSpPr>
              <a:spLocks noChangeShapeType="1"/>
            </p:cNvSpPr>
            <p:nvPr/>
          </p:nvSpPr>
          <p:spPr bwMode="auto">
            <a:xfrm>
              <a:off x="718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2" name="Line 248"/>
            <p:cNvSpPr>
              <a:spLocks noChangeShapeType="1"/>
            </p:cNvSpPr>
            <p:nvPr/>
          </p:nvSpPr>
          <p:spPr bwMode="auto">
            <a:xfrm>
              <a:off x="7327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3" name="Line 249"/>
            <p:cNvSpPr>
              <a:spLocks noChangeShapeType="1"/>
            </p:cNvSpPr>
            <p:nvPr/>
          </p:nvSpPr>
          <p:spPr bwMode="auto">
            <a:xfrm>
              <a:off x="7108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4" name="Line 250"/>
            <p:cNvSpPr>
              <a:spLocks noChangeShapeType="1"/>
            </p:cNvSpPr>
            <p:nvPr/>
          </p:nvSpPr>
          <p:spPr bwMode="auto">
            <a:xfrm>
              <a:off x="7257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5" name="Line 251"/>
            <p:cNvSpPr>
              <a:spLocks noChangeShapeType="1"/>
            </p:cNvSpPr>
            <p:nvPr/>
          </p:nvSpPr>
          <p:spPr bwMode="auto">
            <a:xfrm>
              <a:off x="6783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6" name="Line 252"/>
            <p:cNvSpPr>
              <a:spLocks noChangeShapeType="1"/>
            </p:cNvSpPr>
            <p:nvPr/>
          </p:nvSpPr>
          <p:spPr bwMode="auto">
            <a:xfrm>
              <a:off x="6861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7" name="Line 253"/>
            <p:cNvSpPr>
              <a:spLocks noChangeShapeType="1"/>
            </p:cNvSpPr>
            <p:nvPr/>
          </p:nvSpPr>
          <p:spPr bwMode="auto">
            <a:xfrm>
              <a:off x="694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8" name="Line 254"/>
            <p:cNvSpPr>
              <a:spLocks noChangeShapeType="1"/>
            </p:cNvSpPr>
            <p:nvPr/>
          </p:nvSpPr>
          <p:spPr bwMode="auto">
            <a:xfrm>
              <a:off x="7024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79" name="Line 255"/>
            <p:cNvSpPr>
              <a:spLocks noChangeShapeType="1"/>
            </p:cNvSpPr>
            <p:nvPr/>
          </p:nvSpPr>
          <p:spPr bwMode="auto">
            <a:xfrm>
              <a:off x="717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0" name="Line 256"/>
            <p:cNvSpPr>
              <a:spLocks noChangeShapeType="1"/>
            </p:cNvSpPr>
            <p:nvPr/>
          </p:nvSpPr>
          <p:spPr bwMode="auto">
            <a:xfrm>
              <a:off x="731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1" name="Line 257"/>
            <p:cNvSpPr>
              <a:spLocks noChangeShapeType="1"/>
            </p:cNvSpPr>
            <p:nvPr/>
          </p:nvSpPr>
          <p:spPr bwMode="auto">
            <a:xfrm>
              <a:off x="7098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2" name="Line 258"/>
            <p:cNvSpPr>
              <a:spLocks noChangeShapeType="1"/>
            </p:cNvSpPr>
            <p:nvPr/>
          </p:nvSpPr>
          <p:spPr bwMode="auto">
            <a:xfrm>
              <a:off x="7245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3" name="Rectangle 259"/>
            <p:cNvSpPr>
              <a:spLocks noChangeArrowheads="1"/>
            </p:cNvSpPr>
            <p:nvPr/>
          </p:nvSpPr>
          <p:spPr bwMode="auto">
            <a:xfrm>
              <a:off x="6096" y="4482"/>
              <a:ext cx="605" cy="76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S</a:t>
              </a:r>
              <a:r>
                <a:rPr kumimoji="0" lang="en-US" b="1" i="0" u="none" strike="noStrike" cap="none" normalizeH="0" baseline="-2500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9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4" name="Line 260"/>
            <p:cNvSpPr>
              <a:spLocks noChangeShapeType="1"/>
            </p:cNvSpPr>
            <p:nvPr/>
          </p:nvSpPr>
          <p:spPr bwMode="auto">
            <a:xfrm>
              <a:off x="6133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5" name="Line 261"/>
            <p:cNvSpPr>
              <a:spLocks noChangeShapeType="1"/>
            </p:cNvSpPr>
            <p:nvPr/>
          </p:nvSpPr>
          <p:spPr bwMode="auto">
            <a:xfrm>
              <a:off x="6210" y="396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6" name="Line 262"/>
            <p:cNvSpPr>
              <a:spLocks noChangeShapeType="1"/>
            </p:cNvSpPr>
            <p:nvPr/>
          </p:nvSpPr>
          <p:spPr bwMode="auto">
            <a:xfrm>
              <a:off x="6296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7" name="Line 263"/>
            <p:cNvSpPr>
              <a:spLocks noChangeShapeType="1"/>
            </p:cNvSpPr>
            <p:nvPr/>
          </p:nvSpPr>
          <p:spPr bwMode="auto">
            <a:xfrm>
              <a:off x="6372" y="396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8" name="Line 264"/>
            <p:cNvSpPr>
              <a:spLocks noChangeShapeType="1"/>
            </p:cNvSpPr>
            <p:nvPr/>
          </p:nvSpPr>
          <p:spPr bwMode="auto">
            <a:xfrm>
              <a:off x="6522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89" name="Line 265"/>
            <p:cNvSpPr>
              <a:spLocks noChangeShapeType="1"/>
            </p:cNvSpPr>
            <p:nvPr/>
          </p:nvSpPr>
          <p:spPr bwMode="auto">
            <a:xfrm>
              <a:off x="6665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0" name="Line 266"/>
            <p:cNvSpPr>
              <a:spLocks noChangeShapeType="1"/>
            </p:cNvSpPr>
            <p:nvPr/>
          </p:nvSpPr>
          <p:spPr bwMode="auto">
            <a:xfrm>
              <a:off x="6448" y="397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1" name="Line 267"/>
            <p:cNvSpPr>
              <a:spLocks noChangeShapeType="1"/>
            </p:cNvSpPr>
            <p:nvPr/>
          </p:nvSpPr>
          <p:spPr bwMode="auto">
            <a:xfrm>
              <a:off x="6596" y="396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2" name="Line 268"/>
            <p:cNvSpPr>
              <a:spLocks noChangeShapeType="1"/>
            </p:cNvSpPr>
            <p:nvPr/>
          </p:nvSpPr>
          <p:spPr bwMode="auto">
            <a:xfrm>
              <a:off x="6123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3" name="Line 269"/>
            <p:cNvSpPr>
              <a:spLocks noChangeShapeType="1"/>
            </p:cNvSpPr>
            <p:nvPr/>
          </p:nvSpPr>
          <p:spPr bwMode="auto">
            <a:xfrm>
              <a:off x="6202" y="5244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4" name="Line 270"/>
            <p:cNvSpPr>
              <a:spLocks noChangeShapeType="1"/>
            </p:cNvSpPr>
            <p:nvPr/>
          </p:nvSpPr>
          <p:spPr bwMode="auto">
            <a:xfrm>
              <a:off x="6286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5" name="Line 271"/>
            <p:cNvSpPr>
              <a:spLocks noChangeShapeType="1"/>
            </p:cNvSpPr>
            <p:nvPr/>
          </p:nvSpPr>
          <p:spPr bwMode="auto">
            <a:xfrm>
              <a:off x="6363" y="5248"/>
              <a:ext cx="0" cy="5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6" name="Line 272"/>
            <p:cNvSpPr>
              <a:spLocks noChangeShapeType="1"/>
            </p:cNvSpPr>
            <p:nvPr/>
          </p:nvSpPr>
          <p:spPr bwMode="auto">
            <a:xfrm>
              <a:off x="6512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7" name="Line 273"/>
            <p:cNvSpPr>
              <a:spLocks noChangeShapeType="1"/>
            </p:cNvSpPr>
            <p:nvPr/>
          </p:nvSpPr>
          <p:spPr bwMode="auto">
            <a:xfrm>
              <a:off x="6657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8" name="Line 274"/>
            <p:cNvSpPr>
              <a:spLocks noChangeShapeType="1"/>
            </p:cNvSpPr>
            <p:nvPr/>
          </p:nvSpPr>
          <p:spPr bwMode="auto">
            <a:xfrm>
              <a:off x="6439" y="525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99" name="Line 275"/>
            <p:cNvSpPr>
              <a:spLocks noChangeShapeType="1"/>
            </p:cNvSpPr>
            <p:nvPr/>
          </p:nvSpPr>
          <p:spPr bwMode="auto">
            <a:xfrm>
              <a:off x="6587" y="5252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0" name="Rectangle 276"/>
            <p:cNvSpPr>
              <a:spLocks noChangeArrowheads="1"/>
            </p:cNvSpPr>
            <p:nvPr/>
          </p:nvSpPr>
          <p:spPr bwMode="auto">
            <a:xfrm>
              <a:off x="665" y="3146"/>
              <a:ext cx="10787" cy="8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K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ru-RU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бошлан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ғич 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калит </a:t>
              </a:r>
              <a:r>
                <a:rPr kumimoji="0" lang="ru-RU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битини</a:t>
              </a: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 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қўшиш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1" name="Rectangle 277"/>
            <p:cNvSpPr>
              <a:spLocks noChangeArrowheads="1"/>
            </p:cNvSpPr>
            <p:nvPr/>
          </p:nvSpPr>
          <p:spPr bwMode="auto">
            <a:xfrm>
              <a:off x="641" y="1753"/>
              <a:ext cx="10789" cy="8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Очи</a:t>
              </a:r>
              <a:r>
                <a:rPr kumimoji="0" lang="uz-Cyrl-UZ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қ матн(128 бит)</a:t>
              </a:r>
              <a:endPara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02" name="Line 278"/>
            <p:cNvSpPr>
              <a:spLocks noChangeShapeType="1"/>
            </p:cNvSpPr>
            <p:nvPr/>
          </p:nvSpPr>
          <p:spPr bwMode="auto">
            <a:xfrm>
              <a:off x="776" y="2569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3" name="Line 279"/>
            <p:cNvSpPr>
              <a:spLocks noChangeShapeType="1"/>
            </p:cNvSpPr>
            <p:nvPr/>
          </p:nvSpPr>
          <p:spPr bwMode="auto">
            <a:xfrm>
              <a:off x="855" y="2568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4" name="Line 280"/>
            <p:cNvSpPr>
              <a:spLocks noChangeShapeType="1"/>
            </p:cNvSpPr>
            <p:nvPr/>
          </p:nvSpPr>
          <p:spPr bwMode="auto">
            <a:xfrm>
              <a:off x="940" y="2574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5" name="Line 281"/>
            <p:cNvSpPr>
              <a:spLocks noChangeShapeType="1"/>
            </p:cNvSpPr>
            <p:nvPr/>
          </p:nvSpPr>
          <p:spPr bwMode="auto">
            <a:xfrm>
              <a:off x="1018" y="2575"/>
              <a:ext cx="0" cy="5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6" name="Line 282"/>
            <p:cNvSpPr>
              <a:spLocks noChangeShapeType="1"/>
            </p:cNvSpPr>
            <p:nvPr/>
          </p:nvSpPr>
          <p:spPr bwMode="auto">
            <a:xfrm>
              <a:off x="1178" y="2569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7" name="Line 283"/>
            <p:cNvSpPr>
              <a:spLocks noChangeShapeType="1"/>
            </p:cNvSpPr>
            <p:nvPr/>
          </p:nvSpPr>
          <p:spPr bwMode="auto">
            <a:xfrm>
              <a:off x="1333" y="2579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8" name="Line 284"/>
            <p:cNvSpPr>
              <a:spLocks noChangeShapeType="1"/>
            </p:cNvSpPr>
            <p:nvPr/>
          </p:nvSpPr>
          <p:spPr bwMode="auto">
            <a:xfrm>
              <a:off x="1101" y="2569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09" name="Line 285"/>
            <p:cNvSpPr>
              <a:spLocks noChangeShapeType="1"/>
            </p:cNvSpPr>
            <p:nvPr/>
          </p:nvSpPr>
          <p:spPr bwMode="auto">
            <a:xfrm>
              <a:off x="1257" y="2578"/>
              <a:ext cx="0" cy="5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0" name="Line 286"/>
            <p:cNvSpPr>
              <a:spLocks noChangeShapeType="1"/>
            </p:cNvSpPr>
            <p:nvPr/>
          </p:nvSpPr>
          <p:spPr bwMode="auto">
            <a:xfrm>
              <a:off x="1421" y="2573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1" name="Line 287"/>
            <p:cNvSpPr>
              <a:spLocks noChangeShapeType="1"/>
            </p:cNvSpPr>
            <p:nvPr/>
          </p:nvSpPr>
          <p:spPr bwMode="auto">
            <a:xfrm>
              <a:off x="1498" y="2572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2" name="Line 288"/>
            <p:cNvSpPr>
              <a:spLocks noChangeShapeType="1"/>
            </p:cNvSpPr>
            <p:nvPr/>
          </p:nvSpPr>
          <p:spPr bwMode="auto">
            <a:xfrm>
              <a:off x="1582" y="2569"/>
              <a:ext cx="0" cy="5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3" name="Line 289"/>
            <p:cNvSpPr>
              <a:spLocks noChangeShapeType="1"/>
            </p:cNvSpPr>
            <p:nvPr/>
          </p:nvSpPr>
          <p:spPr bwMode="auto">
            <a:xfrm>
              <a:off x="1669" y="2621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4" name="Line 290"/>
            <p:cNvSpPr>
              <a:spLocks noChangeShapeType="1"/>
            </p:cNvSpPr>
            <p:nvPr/>
          </p:nvSpPr>
          <p:spPr bwMode="auto">
            <a:xfrm>
              <a:off x="1834" y="262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5" name="Line 291"/>
            <p:cNvSpPr>
              <a:spLocks noChangeShapeType="1"/>
            </p:cNvSpPr>
            <p:nvPr/>
          </p:nvSpPr>
          <p:spPr bwMode="auto">
            <a:xfrm>
              <a:off x="2002" y="260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6" name="Line 292"/>
            <p:cNvSpPr>
              <a:spLocks noChangeShapeType="1"/>
            </p:cNvSpPr>
            <p:nvPr/>
          </p:nvSpPr>
          <p:spPr bwMode="auto">
            <a:xfrm>
              <a:off x="1752" y="260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7" name="Line 293"/>
            <p:cNvSpPr>
              <a:spLocks noChangeShapeType="1"/>
            </p:cNvSpPr>
            <p:nvPr/>
          </p:nvSpPr>
          <p:spPr bwMode="auto">
            <a:xfrm>
              <a:off x="1917" y="260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8" name="Line 294"/>
            <p:cNvSpPr>
              <a:spLocks noChangeShapeType="1"/>
            </p:cNvSpPr>
            <p:nvPr/>
          </p:nvSpPr>
          <p:spPr bwMode="auto">
            <a:xfrm>
              <a:off x="2090" y="261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9" name="Line 295"/>
            <p:cNvSpPr>
              <a:spLocks noChangeShapeType="1"/>
            </p:cNvSpPr>
            <p:nvPr/>
          </p:nvSpPr>
          <p:spPr bwMode="auto">
            <a:xfrm>
              <a:off x="2176" y="260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0" name="Line 296"/>
            <p:cNvSpPr>
              <a:spLocks noChangeShapeType="1"/>
            </p:cNvSpPr>
            <p:nvPr/>
          </p:nvSpPr>
          <p:spPr bwMode="auto">
            <a:xfrm>
              <a:off x="2259" y="261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1" name="Line 297"/>
            <p:cNvSpPr>
              <a:spLocks noChangeShapeType="1"/>
            </p:cNvSpPr>
            <p:nvPr/>
          </p:nvSpPr>
          <p:spPr bwMode="auto">
            <a:xfrm>
              <a:off x="2351" y="26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2" name="Line 298"/>
            <p:cNvSpPr>
              <a:spLocks noChangeShapeType="1"/>
            </p:cNvSpPr>
            <p:nvPr/>
          </p:nvSpPr>
          <p:spPr bwMode="auto">
            <a:xfrm>
              <a:off x="2513" y="261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3" name="Line 299"/>
            <p:cNvSpPr>
              <a:spLocks noChangeShapeType="1"/>
            </p:cNvSpPr>
            <p:nvPr/>
          </p:nvSpPr>
          <p:spPr bwMode="auto">
            <a:xfrm>
              <a:off x="2684" y="261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4" name="Line 300"/>
            <p:cNvSpPr>
              <a:spLocks noChangeShapeType="1"/>
            </p:cNvSpPr>
            <p:nvPr/>
          </p:nvSpPr>
          <p:spPr bwMode="auto">
            <a:xfrm>
              <a:off x="2426" y="261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5" name="Line 301"/>
            <p:cNvSpPr>
              <a:spLocks noChangeShapeType="1"/>
            </p:cNvSpPr>
            <p:nvPr/>
          </p:nvSpPr>
          <p:spPr bwMode="auto">
            <a:xfrm>
              <a:off x="2601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6" name="Line 302"/>
            <p:cNvSpPr>
              <a:spLocks noChangeShapeType="1"/>
            </p:cNvSpPr>
            <p:nvPr/>
          </p:nvSpPr>
          <p:spPr bwMode="auto">
            <a:xfrm>
              <a:off x="2765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7" name="Line 303"/>
            <p:cNvSpPr>
              <a:spLocks noChangeShapeType="1"/>
            </p:cNvSpPr>
            <p:nvPr/>
          </p:nvSpPr>
          <p:spPr bwMode="auto">
            <a:xfrm>
              <a:off x="2856" y="2621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8" name="Line 304"/>
            <p:cNvSpPr>
              <a:spLocks noChangeShapeType="1"/>
            </p:cNvSpPr>
            <p:nvPr/>
          </p:nvSpPr>
          <p:spPr bwMode="auto">
            <a:xfrm>
              <a:off x="2940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9" name="Line 305"/>
            <p:cNvSpPr>
              <a:spLocks noChangeShapeType="1"/>
            </p:cNvSpPr>
            <p:nvPr/>
          </p:nvSpPr>
          <p:spPr bwMode="auto">
            <a:xfrm>
              <a:off x="3018" y="261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0" name="Line 306"/>
            <p:cNvSpPr>
              <a:spLocks noChangeShapeType="1"/>
            </p:cNvSpPr>
            <p:nvPr/>
          </p:nvSpPr>
          <p:spPr bwMode="auto">
            <a:xfrm>
              <a:off x="3181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1" name="Line 307"/>
            <p:cNvSpPr>
              <a:spLocks noChangeShapeType="1"/>
            </p:cNvSpPr>
            <p:nvPr/>
          </p:nvSpPr>
          <p:spPr bwMode="auto">
            <a:xfrm>
              <a:off x="3352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2" name="Line 308"/>
            <p:cNvSpPr>
              <a:spLocks noChangeShapeType="1"/>
            </p:cNvSpPr>
            <p:nvPr/>
          </p:nvSpPr>
          <p:spPr bwMode="auto">
            <a:xfrm>
              <a:off x="3100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3" name="Line 309"/>
            <p:cNvSpPr>
              <a:spLocks noChangeShapeType="1"/>
            </p:cNvSpPr>
            <p:nvPr/>
          </p:nvSpPr>
          <p:spPr bwMode="auto">
            <a:xfrm>
              <a:off x="3269" y="26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4" name="Line 310"/>
            <p:cNvSpPr>
              <a:spLocks noChangeShapeType="1"/>
            </p:cNvSpPr>
            <p:nvPr/>
          </p:nvSpPr>
          <p:spPr bwMode="auto">
            <a:xfrm>
              <a:off x="3436" y="262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5" name="Line 311"/>
            <p:cNvSpPr>
              <a:spLocks noChangeShapeType="1"/>
            </p:cNvSpPr>
            <p:nvPr/>
          </p:nvSpPr>
          <p:spPr bwMode="auto">
            <a:xfrm>
              <a:off x="3513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6" name="Line 312"/>
            <p:cNvSpPr>
              <a:spLocks noChangeShapeType="1"/>
            </p:cNvSpPr>
            <p:nvPr/>
          </p:nvSpPr>
          <p:spPr bwMode="auto">
            <a:xfrm>
              <a:off x="3597" y="262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7" name="Line 313"/>
            <p:cNvSpPr>
              <a:spLocks noChangeShapeType="1"/>
            </p:cNvSpPr>
            <p:nvPr/>
          </p:nvSpPr>
          <p:spPr bwMode="auto">
            <a:xfrm>
              <a:off x="3683" y="262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8" name="Line 314"/>
            <p:cNvSpPr>
              <a:spLocks noChangeShapeType="1"/>
            </p:cNvSpPr>
            <p:nvPr/>
          </p:nvSpPr>
          <p:spPr bwMode="auto">
            <a:xfrm>
              <a:off x="3851" y="262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9" name="Line 315"/>
            <p:cNvSpPr>
              <a:spLocks noChangeShapeType="1"/>
            </p:cNvSpPr>
            <p:nvPr/>
          </p:nvSpPr>
          <p:spPr bwMode="auto">
            <a:xfrm>
              <a:off x="4023" y="262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0" name="Line 316"/>
            <p:cNvSpPr>
              <a:spLocks noChangeShapeType="1"/>
            </p:cNvSpPr>
            <p:nvPr/>
          </p:nvSpPr>
          <p:spPr bwMode="auto">
            <a:xfrm>
              <a:off x="3771" y="262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1" name="Line 317"/>
            <p:cNvSpPr>
              <a:spLocks noChangeShapeType="1"/>
            </p:cNvSpPr>
            <p:nvPr/>
          </p:nvSpPr>
          <p:spPr bwMode="auto">
            <a:xfrm>
              <a:off x="3940" y="2621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2" name="Line 318"/>
            <p:cNvSpPr>
              <a:spLocks noChangeShapeType="1"/>
            </p:cNvSpPr>
            <p:nvPr/>
          </p:nvSpPr>
          <p:spPr bwMode="auto">
            <a:xfrm>
              <a:off x="4108" y="2633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3" name="Line 319"/>
            <p:cNvSpPr>
              <a:spLocks noChangeShapeType="1"/>
            </p:cNvSpPr>
            <p:nvPr/>
          </p:nvSpPr>
          <p:spPr bwMode="auto">
            <a:xfrm>
              <a:off x="4185" y="264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4" name="Line 320"/>
            <p:cNvSpPr>
              <a:spLocks noChangeShapeType="1"/>
            </p:cNvSpPr>
            <p:nvPr/>
          </p:nvSpPr>
          <p:spPr bwMode="auto">
            <a:xfrm>
              <a:off x="4276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5" name="Line 321"/>
            <p:cNvSpPr>
              <a:spLocks noChangeShapeType="1"/>
            </p:cNvSpPr>
            <p:nvPr/>
          </p:nvSpPr>
          <p:spPr bwMode="auto">
            <a:xfrm>
              <a:off x="4355" y="2623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6" name="Line 322"/>
            <p:cNvSpPr>
              <a:spLocks noChangeShapeType="1"/>
            </p:cNvSpPr>
            <p:nvPr/>
          </p:nvSpPr>
          <p:spPr bwMode="auto">
            <a:xfrm>
              <a:off x="4517" y="262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7" name="Line 323"/>
            <p:cNvSpPr>
              <a:spLocks noChangeShapeType="1"/>
            </p:cNvSpPr>
            <p:nvPr/>
          </p:nvSpPr>
          <p:spPr bwMode="auto">
            <a:xfrm>
              <a:off x="4675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8" name="Line 324"/>
            <p:cNvSpPr>
              <a:spLocks noChangeShapeType="1"/>
            </p:cNvSpPr>
            <p:nvPr/>
          </p:nvSpPr>
          <p:spPr bwMode="auto">
            <a:xfrm>
              <a:off x="4437" y="2639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9" name="Line 325"/>
            <p:cNvSpPr>
              <a:spLocks noChangeShapeType="1"/>
            </p:cNvSpPr>
            <p:nvPr/>
          </p:nvSpPr>
          <p:spPr bwMode="auto">
            <a:xfrm>
              <a:off x="4599" y="262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0" name="Line 326"/>
            <p:cNvSpPr>
              <a:spLocks noChangeShapeType="1"/>
            </p:cNvSpPr>
            <p:nvPr/>
          </p:nvSpPr>
          <p:spPr bwMode="auto">
            <a:xfrm>
              <a:off x="5448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1" name="Line 327"/>
            <p:cNvSpPr>
              <a:spLocks noChangeShapeType="1"/>
            </p:cNvSpPr>
            <p:nvPr/>
          </p:nvSpPr>
          <p:spPr bwMode="auto">
            <a:xfrm>
              <a:off x="5532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2" name="Line 328"/>
            <p:cNvSpPr>
              <a:spLocks noChangeShapeType="1"/>
            </p:cNvSpPr>
            <p:nvPr/>
          </p:nvSpPr>
          <p:spPr bwMode="auto">
            <a:xfrm>
              <a:off x="5622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3" name="Line 329"/>
            <p:cNvSpPr>
              <a:spLocks noChangeShapeType="1"/>
            </p:cNvSpPr>
            <p:nvPr/>
          </p:nvSpPr>
          <p:spPr bwMode="auto">
            <a:xfrm>
              <a:off x="5708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4" name="Line 330"/>
            <p:cNvSpPr>
              <a:spLocks noChangeShapeType="1"/>
            </p:cNvSpPr>
            <p:nvPr/>
          </p:nvSpPr>
          <p:spPr bwMode="auto">
            <a:xfrm>
              <a:off x="5877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5" name="Line 331"/>
            <p:cNvSpPr>
              <a:spLocks noChangeShapeType="1"/>
            </p:cNvSpPr>
            <p:nvPr/>
          </p:nvSpPr>
          <p:spPr bwMode="auto">
            <a:xfrm>
              <a:off x="6042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6" name="Line 332"/>
            <p:cNvSpPr>
              <a:spLocks noChangeShapeType="1"/>
            </p:cNvSpPr>
            <p:nvPr/>
          </p:nvSpPr>
          <p:spPr bwMode="auto">
            <a:xfrm>
              <a:off x="5790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7" name="Line 333"/>
            <p:cNvSpPr>
              <a:spLocks noChangeShapeType="1"/>
            </p:cNvSpPr>
            <p:nvPr/>
          </p:nvSpPr>
          <p:spPr bwMode="auto">
            <a:xfrm>
              <a:off x="5958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8" name="Line 334"/>
            <p:cNvSpPr>
              <a:spLocks noChangeShapeType="1"/>
            </p:cNvSpPr>
            <p:nvPr/>
          </p:nvSpPr>
          <p:spPr bwMode="auto">
            <a:xfrm>
              <a:off x="10849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9" name="Line 335"/>
            <p:cNvSpPr>
              <a:spLocks noChangeShapeType="1"/>
            </p:cNvSpPr>
            <p:nvPr/>
          </p:nvSpPr>
          <p:spPr bwMode="auto">
            <a:xfrm>
              <a:off x="10925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0" name="Line 336"/>
            <p:cNvSpPr>
              <a:spLocks noChangeShapeType="1"/>
            </p:cNvSpPr>
            <p:nvPr/>
          </p:nvSpPr>
          <p:spPr bwMode="auto">
            <a:xfrm>
              <a:off x="11003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1" name="Line 337"/>
            <p:cNvSpPr>
              <a:spLocks noChangeShapeType="1"/>
            </p:cNvSpPr>
            <p:nvPr/>
          </p:nvSpPr>
          <p:spPr bwMode="auto">
            <a:xfrm>
              <a:off x="11074" y="263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2" name="Line 338"/>
            <p:cNvSpPr>
              <a:spLocks noChangeShapeType="1"/>
            </p:cNvSpPr>
            <p:nvPr/>
          </p:nvSpPr>
          <p:spPr bwMode="auto">
            <a:xfrm>
              <a:off x="11230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3" name="Line 339"/>
            <p:cNvSpPr>
              <a:spLocks noChangeShapeType="1"/>
            </p:cNvSpPr>
            <p:nvPr/>
          </p:nvSpPr>
          <p:spPr bwMode="auto">
            <a:xfrm>
              <a:off x="11388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4" name="Line 340"/>
            <p:cNvSpPr>
              <a:spLocks noChangeShapeType="1"/>
            </p:cNvSpPr>
            <p:nvPr/>
          </p:nvSpPr>
          <p:spPr bwMode="auto">
            <a:xfrm>
              <a:off x="11150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5" name="Line 341"/>
            <p:cNvSpPr>
              <a:spLocks noChangeShapeType="1"/>
            </p:cNvSpPr>
            <p:nvPr/>
          </p:nvSpPr>
          <p:spPr bwMode="auto">
            <a:xfrm>
              <a:off x="11305" y="2596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6" name="Line 342"/>
            <p:cNvSpPr>
              <a:spLocks noChangeShapeType="1"/>
            </p:cNvSpPr>
            <p:nvPr/>
          </p:nvSpPr>
          <p:spPr bwMode="auto">
            <a:xfrm>
              <a:off x="4767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7" name="Line 343"/>
            <p:cNvSpPr>
              <a:spLocks noChangeShapeType="1"/>
            </p:cNvSpPr>
            <p:nvPr/>
          </p:nvSpPr>
          <p:spPr bwMode="auto">
            <a:xfrm>
              <a:off x="4859" y="2621"/>
              <a:ext cx="0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8" name="Line 344"/>
            <p:cNvSpPr>
              <a:spLocks noChangeShapeType="1"/>
            </p:cNvSpPr>
            <p:nvPr/>
          </p:nvSpPr>
          <p:spPr bwMode="auto">
            <a:xfrm>
              <a:off x="4949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9" name="Line 345"/>
            <p:cNvSpPr>
              <a:spLocks noChangeShapeType="1"/>
            </p:cNvSpPr>
            <p:nvPr/>
          </p:nvSpPr>
          <p:spPr bwMode="auto">
            <a:xfrm>
              <a:off x="5034" y="261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0" name="Line 346"/>
            <p:cNvSpPr>
              <a:spLocks noChangeShapeType="1"/>
            </p:cNvSpPr>
            <p:nvPr/>
          </p:nvSpPr>
          <p:spPr bwMode="auto">
            <a:xfrm>
              <a:off x="5203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1" name="Line 347"/>
            <p:cNvSpPr>
              <a:spLocks noChangeShapeType="1"/>
            </p:cNvSpPr>
            <p:nvPr/>
          </p:nvSpPr>
          <p:spPr bwMode="auto">
            <a:xfrm>
              <a:off x="5361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2" name="Line 348"/>
            <p:cNvSpPr>
              <a:spLocks noChangeShapeType="1"/>
            </p:cNvSpPr>
            <p:nvPr/>
          </p:nvSpPr>
          <p:spPr bwMode="auto">
            <a:xfrm>
              <a:off x="5117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3" name="Line 349"/>
            <p:cNvSpPr>
              <a:spLocks noChangeShapeType="1"/>
            </p:cNvSpPr>
            <p:nvPr/>
          </p:nvSpPr>
          <p:spPr bwMode="auto">
            <a:xfrm>
              <a:off x="5278" y="26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4" name="Line 350"/>
            <p:cNvSpPr>
              <a:spLocks noChangeShapeType="1"/>
            </p:cNvSpPr>
            <p:nvPr/>
          </p:nvSpPr>
          <p:spPr bwMode="auto">
            <a:xfrm>
              <a:off x="10175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5" name="Line 351"/>
            <p:cNvSpPr>
              <a:spLocks noChangeShapeType="1"/>
            </p:cNvSpPr>
            <p:nvPr/>
          </p:nvSpPr>
          <p:spPr bwMode="auto">
            <a:xfrm>
              <a:off x="10266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6" name="Line 352"/>
            <p:cNvSpPr>
              <a:spLocks noChangeShapeType="1"/>
            </p:cNvSpPr>
            <p:nvPr/>
          </p:nvSpPr>
          <p:spPr bwMode="auto">
            <a:xfrm>
              <a:off x="10350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7" name="Line 353"/>
            <p:cNvSpPr>
              <a:spLocks noChangeShapeType="1"/>
            </p:cNvSpPr>
            <p:nvPr/>
          </p:nvSpPr>
          <p:spPr bwMode="auto">
            <a:xfrm>
              <a:off x="10434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8" name="Line 354"/>
            <p:cNvSpPr>
              <a:spLocks noChangeShapeType="1"/>
            </p:cNvSpPr>
            <p:nvPr/>
          </p:nvSpPr>
          <p:spPr bwMode="auto">
            <a:xfrm>
              <a:off x="10598" y="262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79" name="Line 355"/>
            <p:cNvSpPr>
              <a:spLocks noChangeShapeType="1"/>
            </p:cNvSpPr>
            <p:nvPr/>
          </p:nvSpPr>
          <p:spPr bwMode="auto">
            <a:xfrm>
              <a:off x="10768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0" name="Line 356"/>
            <p:cNvSpPr>
              <a:spLocks noChangeShapeType="1"/>
            </p:cNvSpPr>
            <p:nvPr/>
          </p:nvSpPr>
          <p:spPr bwMode="auto">
            <a:xfrm>
              <a:off x="10517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1" name="Line 357"/>
            <p:cNvSpPr>
              <a:spLocks noChangeShapeType="1"/>
            </p:cNvSpPr>
            <p:nvPr/>
          </p:nvSpPr>
          <p:spPr bwMode="auto">
            <a:xfrm>
              <a:off x="10685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2" name="Line 358"/>
            <p:cNvSpPr>
              <a:spLocks noChangeShapeType="1"/>
            </p:cNvSpPr>
            <p:nvPr/>
          </p:nvSpPr>
          <p:spPr bwMode="auto">
            <a:xfrm>
              <a:off x="9521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3" name="Line 359"/>
            <p:cNvSpPr>
              <a:spLocks noChangeShapeType="1"/>
            </p:cNvSpPr>
            <p:nvPr/>
          </p:nvSpPr>
          <p:spPr bwMode="auto">
            <a:xfrm>
              <a:off x="9606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4" name="Line 360"/>
            <p:cNvSpPr>
              <a:spLocks noChangeShapeType="1"/>
            </p:cNvSpPr>
            <p:nvPr/>
          </p:nvSpPr>
          <p:spPr bwMode="auto">
            <a:xfrm>
              <a:off x="9690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5" name="Line 361"/>
            <p:cNvSpPr>
              <a:spLocks noChangeShapeType="1"/>
            </p:cNvSpPr>
            <p:nvPr/>
          </p:nvSpPr>
          <p:spPr bwMode="auto">
            <a:xfrm>
              <a:off x="9768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6" name="Line 362"/>
            <p:cNvSpPr>
              <a:spLocks noChangeShapeType="1"/>
            </p:cNvSpPr>
            <p:nvPr/>
          </p:nvSpPr>
          <p:spPr bwMode="auto">
            <a:xfrm>
              <a:off x="9932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7" name="Line 363"/>
            <p:cNvSpPr>
              <a:spLocks noChangeShapeType="1"/>
            </p:cNvSpPr>
            <p:nvPr/>
          </p:nvSpPr>
          <p:spPr bwMode="auto">
            <a:xfrm>
              <a:off x="10096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8" name="Line 364"/>
            <p:cNvSpPr>
              <a:spLocks noChangeShapeType="1"/>
            </p:cNvSpPr>
            <p:nvPr/>
          </p:nvSpPr>
          <p:spPr bwMode="auto">
            <a:xfrm>
              <a:off x="9849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89" name="Line 365"/>
            <p:cNvSpPr>
              <a:spLocks noChangeShapeType="1"/>
            </p:cNvSpPr>
            <p:nvPr/>
          </p:nvSpPr>
          <p:spPr bwMode="auto">
            <a:xfrm>
              <a:off x="10011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0" name="Line 366"/>
            <p:cNvSpPr>
              <a:spLocks noChangeShapeType="1"/>
            </p:cNvSpPr>
            <p:nvPr/>
          </p:nvSpPr>
          <p:spPr bwMode="auto">
            <a:xfrm>
              <a:off x="8845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1" name="Line 367"/>
            <p:cNvSpPr>
              <a:spLocks noChangeShapeType="1"/>
            </p:cNvSpPr>
            <p:nvPr/>
          </p:nvSpPr>
          <p:spPr bwMode="auto">
            <a:xfrm>
              <a:off x="8936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2" name="Line 368"/>
            <p:cNvSpPr>
              <a:spLocks noChangeShapeType="1"/>
            </p:cNvSpPr>
            <p:nvPr/>
          </p:nvSpPr>
          <p:spPr bwMode="auto">
            <a:xfrm>
              <a:off x="9021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3" name="Line 369"/>
            <p:cNvSpPr>
              <a:spLocks noChangeShapeType="1"/>
            </p:cNvSpPr>
            <p:nvPr/>
          </p:nvSpPr>
          <p:spPr bwMode="auto">
            <a:xfrm>
              <a:off x="9099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4" name="Line 370"/>
            <p:cNvSpPr>
              <a:spLocks noChangeShapeType="1"/>
            </p:cNvSpPr>
            <p:nvPr/>
          </p:nvSpPr>
          <p:spPr bwMode="auto">
            <a:xfrm>
              <a:off x="9254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5" name="Line 371"/>
            <p:cNvSpPr>
              <a:spLocks noChangeShapeType="1"/>
            </p:cNvSpPr>
            <p:nvPr/>
          </p:nvSpPr>
          <p:spPr bwMode="auto">
            <a:xfrm>
              <a:off x="9426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6" name="Line 372"/>
            <p:cNvSpPr>
              <a:spLocks noChangeShapeType="1"/>
            </p:cNvSpPr>
            <p:nvPr/>
          </p:nvSpPr>
          <p:spPr bwMode="auto">
            <a:xfrm>
              <a:off x="9174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7" name="Line 373"/>
            <p:cNvSpPr>
              <a:spLocks noChangeShapeType="1"/>
            </p:cNvSpPr>
            <p:nvPr/>
          </p:nvSpPr>
          <p:spPr bwMode="auto">
            <a:xfrm>
              <a:off x="9335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8" name="Line 374"/>
            <p:cNvSpPr>
              <a:spLocks noChangeShapeType="1"/>
            </p:cNvSpPr>
            <p:nvPr/>
          </p:nvSpPr>
          <p:spPr bwMode="auto">
            <a:xfrm>
              <a:off x="8169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99" name="Line 375"/>
            <p:cNvSpPr>
              <a:spLocks noChangeShapeType="1"/>
            </p:cNvSpPr>
            <p:nvPr/>
          </p:nvSpPr>
          <p:spPr bwMode="auto">
            <a:xfrm>
              <a:off x="8253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0" name="Line 376"/>
            <p:cNvSpPr>
              <a:spLocks noChangeShapeType="1"/>
            </p:cNvSpPr>
            <p:nvPr/>
          </p:nvSpPr>
          <p:spPr bwMode="auto">
            <a:xfrm>
              <a:off x="8343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1" name="Line 377"/>
            <p:cNvSpPr>
              <a:spLocks noChangeShapeType="1"/>
            </p:cNvSpPr>
            <p:nvPr/>
          </p:nvSpPr>
          <p:spPr bwMode="auto">
            <a:xfrm>
              <a:off x="8421" y="2595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2" name="Line 378"/>
            <p:cNvSpPr>
              <a:spLocks noChangeShapeType="1"/>
            </p:cNvSpPr>
            <p:nvPr/>
          </p:nvSpPr>
          <p:spPr bwMode="auto">
            <a:xfrm>
              <a:off x="8584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3" name="Line 379"/>
            <p:cNvSpPr>
              <a:spLocks noChangeShapeType="1"/>
            </p:cNvSpPr>
            <p:nvPr/>
          </p:nvSpPr>
          <p:spPr bwMode="auto">
            <a:xfrm>
              <a:off x="8756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4" name="Line 380"/>
            <p:cNvSpPr>
              <a:spLocks noChangeShapeType="1"/>
            </p:cNvSpPr>
            <p:nvPr/>
          </p:nvSpPr>
          <p:spPr bwMode="auto">
            <a:xfrm>
              <a:off x="8504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5" name="Line 381"/>
            <p:cNvSpPr>
              <a:spLocks noChangeShapeType="1"/>
            </p:cNvSpPr>
            <p:nvPr/>
          </p:nvSpPr>
          <p:spPr bwMode="auto">
            <a:xfrm>
              <a:off x="8671" y="261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6" name="Line 382"/>
            <p:cNvSpPr>
              <a:spLocks noChangeShapeType="1"/>
            </p:cNvSpPr>
            <p:nvPr/>
          </p:nvSpPr>
          <p:spPr bwMode="auto">
            <a:xfrm>
              <a:off x="7475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7" name="Line 383"/>
            <p:cNvSpPr>
              <a:spLocks noChangeShapeType="1"/>
            </p:cNvSpPr>
            <p:nvPr/>
          </p:nvSpPr>
          <p:spPr bwMode="auto">
            <a:xfrm>
              <a:off x="7558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8" name="Line 384"/>
            <p:cNvSpPr>
              <a:spLocks noChangeShapeType="1"/>
            </p:cNvSpPr>
            <p:nvPr/>
          </p:nvSpPr>
          <p:spPr bwMode="auto">
            <a:xfrm>
              <a:off x="7650" y="260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09" name="Line 385"/>
            <p:cNvSpPr>
              <a:spLocks noChangeShapeType="1"/>
            </p:cNvSpPr>
            <p:nvPr/>
          </p:nvSpPr>
          <p:spPr bwMode="auto">
            <a:xfrm>
              <a:off x="7728" y="261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0" name="Line 386"/>
            <p:cNvSpPr>
              <a:spLocks noChangeShapeType="1"/>
            </p:cNvSpPr>
            <p:nvPr/>
          </p:nvSpPr>
          <p:spPr bwMode="auto">
            <a:xfrm>
              <a:off x="7911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1" name="Line 387"/>
            <p:cNvSpPr>
              <a:spLocks noChangeShapeType="1"/>
            </p:cNvSpPr>
            <p:nvPr/>
          </p:nvSpPr>
          <p:spPr bwMode="auto">
            <a:xfrm>
              <a:off x="8075" y="260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2" name="Line 388"/>
            <p:cNvSpPr>
              <a:spLocks noChangeShapeType="1"/>
            </p:cNvSpPr>
            <p:nvPr/>
          </p:nvSpPr>
          <p:spPr bwMode="auto">
            <a:xfrm>
              <a:off x="7816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3" name="Line 389"/>
            <p:cNvSpPr>
              <a:spLocks noChangeShapeType="1"/>
            </p:cNvSpPr>
            <p:nvPr/>
          </p:nvSpPr>
          <p:spPr bwMode="auto">
            <a:xfrm>
              <a:off x="7992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4" name="Line 390"/>
            <p:cNvSpPr>
              <a:spLocks noChangeShapeType="1"/>
            </p:cNvSpPr>
            <p:nvPr/>
          </p:nvSpPr>
          <p:spPr bwMode="auto">
            <a:xfrm>
              <a:off x="6806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5" name="Line 391"/>
            <p:cNvSpPr>
              <a:spLocks noChangeShapeType="1"/>
            </p:cNvSpPr>
            <p:nvPr/>
          </p:nvSpPr>
          <p:spPr bwMode="auto">
            <a:xfrm>
              <a:off x="6889" y="26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6" name="Line 392"/>
            <p:cNvSpPr>
              <a:spLocks noChangeShapeType="1"/>
            </p:cNvSpPr>
            <p:nvPr/>
          </p:nvSpPr>
          <p:spPr bwMode="auto">
            <a:xfrm>
              <a:off x="6967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7" name="Line 393"/>
            <p:cNvSpPr>
              <a:spLocks noChangeShapeType="1"/>
            </p:cNvSpPr>
            <p:nvPr/>
          </p:nvSpPr>
          <p:spPr bwMode="auto">
            <a:xfrm>
              <a:off x="7051" y="259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8" name="Line 394"/>
            <p:cNvSpPr>
              <a:spLocks noChangeShapeType="1"/>
            </p:cNvSpPr>
            <p:nvPr/>
          </p:nvSpPr>
          <p:spPr bwMode="auto">
            <a:xfrm>
              <a:off x="7207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19" name="Line 395"/>
            <p:cNvSpPr>
              <a:spLocks noChangeShapeType="1"/>
            </p:cNvSpPr>
            <p:nvPr/>
          </p:nvSpPr>
          <p:spPr bwMode="auto">
            <a:xfrm>
              <a:off x="7384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0" name="Line 396"/>
            <p:cNvSpPr>
              <a:spLocks noChangeShapeType="1"/>
            </p:cNvSpPr>
            <p:nvPr/>
          </p:nvSpPr>
          <p:spPr bwMode="auto">
            <a:xfrm>
              <a:off x="7127" y="260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1" name="Line 397"/>
            <p:cNvSpPr>
              <a:spLocks noChangeShapeType="1"/>
            </p:cNvSpPr>
            <p:nvPr/>
          </p:nvSpPr>
          <p:spPr bwMode="auto">
            <a:xfrm>
              <a:off x="7295" y="259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2" name="Line 398"/>
            <p:cNvSpPr>
              <a:spLocks noChangeShapeType="1"/>
            </p:cNvSpPr>
            <p:nvPr/>
          </p:nvSpPr>
          <p:spPr bwMode="auto">
            <a:xfrm>
              <a:off x="6124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3" name="Line 399"/>
            <p:cNvSpPr>
              <a:spLocks noChangeShapeType="1"/>
            </p:cNvSpPr>
            <p:nvPr/>
          </p:nvSpPr>
          <p:spPr bwMode="auto">
            <a:xfrm>
              <a:off x="6223" y="26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4" name="Line 400"/>
            <p:cNvSpPr>
              <a:spLocks noChangeShapeType="1"/>
            </p:cNvSpPr>
            <p:nvPr/>
          </p:nvSpPr>
          <p:spPr bwMode="auto">
            <a:xfrm>
              <a:off x="6306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5" name="Line 401"/>
            <p:cNvSpPr>
              <a:spLocks noChangeShapeType="1"/>
            </p:cNvSpPr>
            <p:nvPr/>
          </p:nvSpPr>
          <p:spPr bwMode="auto">
            <a:xfrm>
              <a:off x="6398" y="263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6" name="Line 402"/>
            <p:cNvSpPr>
              <a:spLocks noChangeShapeType="1"/>
            </p:cNvSpPr>
            <p:nvPr/>
          </p:nvSpPr>
          <p:spPr bwMode="auto">
            <a:xfrm>
              <a:off x="6554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7" name="Line 403"/>
            <p:cNvSpPr>
              <a:spLocks noChangeShapeType="1"/>
            </p:cNvSpPr>
            <p:nvPr/>
          </p:nvSpPr>
          <p:spPr bwMode="auto">
            <a:xfrm>
              <a:off x="6717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8" name="Line 404"/>
            <p:cNvSpPr>
              <a:spLocks noChangeShapeType="1"/>
            </p:cNvSpPr>
            <p:nvPr/>
          </p:nvSpPr>
          <p:spPr bwMode="auto">
            <a:xfrm>
              <a:off x="6473" y="261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29" name="Line 405"/>
            <p:cNvSpPr>
              <a:spLocks noChangeShapeType="1"/>
            </p:cNvSpPr>
            <p:nvPr/>
          </p:nvSpPr>
          <p:spPr bwMode="auto">
            <a:xfrm>
              <a:off x="6635" y="26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0" name="Line 406"/>
            <p:cNvSpPr>
              <a:spLocks noChangeShapeType="1"/>
            </p:cNvSpPr>
            <p:nvPr/>
          </p:nvSpPr>
          <p:spPr bwMode="auto">
            <a:xfrm>
              <a:off x="805" y="6689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1" name="Line 407"/>
            <p:cNvSpPr>
              <a:spLocks noChangeShapeType="1"/>
            </p:cNvSpPr>
            <p:nvPr/>
          </p:nvSpPr>
          <p:spPr bwMode="auto">
            <a:xfrm>
              <a:off x="889" y="6693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2" name="Line 408"/>
            <p:cNvSpPr>
              <a:spLocks noChangeShapeType="1"/>
            </p:cNvSpPr>
            <p:nvPr/>
          </p:nvSpPr>
          <p:spPr bwMode="auto">
            <a:xfrm>
              <a:off x="950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3" name="Line 409"/>
            <p:cNvSpPr>
              <a:spLocks noChangeShapeType="1"/>
            </p:cNvSpPr>
            <p:nvPr/>
          </p:nvSpPr>
          <p:spPr bwMode="auto">
            <a:xfrm>
              <a:off x="1004" y="6696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4" name="Line 410"/>
            <p:cNvSpPr>
              <a:spLocks noChangeShapeType="1"/>
            </p:cNvSpPr>
            <p:nvPr/>
          </p:nvSpPr>
          <p:spPr bwMode="auto">
            <a:xfrm>
              <a:off x="1134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5" name="Line 411"/>
            <p:cNvSpPr>
              <a:spLocks noChangeShapeType="1"/>
            </p:cNvSpPr>
            <p:nvPr/>
          </p:nvSpPr>
          <p:spPr bwMode="auto">
            <a:xfrm>
              <a:off x="1272" y="6689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6" name="Line 412"/>
            <p:cNvSpPr>
              <a:spLocks noChangeShapeType="1"/>
            </p:cNvSpPr>
            <p:nvPr/>
          </p:nvSpPr>
          <p:spPr bwMode="auto">
            <a:xfrm>
              <a:off x="1068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7" name="Line 413"/>
            <p:cNvSpPr>
              <a:spLocks noChangeShapeType="1"/>
            </p:cNvSpPr>
            <p:nvPr/>
          </p:nvSpPr>
          <p:spPr bwMode="auto">
            <a:xfrm>
              <a:off x="1203" y="669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8" name="Line 414"/>
            <p:cNvSpPr>
              <a:spLocks noChangeShapeType="1"/>
            </p:cNvSpPr>
            <p:nvPr/>
          </p:nvSpPr>
          <p:spPr bwMode="auto">
            <a:xfrm>
              <a:off x="1475" y="6691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39" name="Line 415"/>
            <p:cNvSpPr>
              <a:spLocks noChangeShapeType="1"/>
            </p:cNvSpPr>
            <p:nvPr/>
          </p:nvSpPr>
          <p:spPr bwMode="auto">
            <a:xfrm>
              <a:off x="1553" y="6694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0" name="Line 416"/>
            <p:cNvSpPr>
              <a:spLocks noChangeShapeType="1"/>
            </p:cNvSpPr>
            <p:nvPr/>
          </p:nvSpPr>
          <p:spPr bwMode="auto">
            <a:xfrm>
              <a:off x="1623" y="6689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1" name="Line 417"/>
            <p:cNvSpPr>
              <a:spLocks noChangeShapeType="1"/>
            </p:cNvSpPr>
            <p:nvPr/>
          </p:nvSpPr>
          <p:spPr bwMode="auto">
            <a:xfrm>
              <a:off x="1734" y="669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2" name="Line 418"/>
            <p:cNvSpPr>
              <a:spLocks noChangeShapeType="1"/>
            </p:cNvSpPr>
            <p:nvPr/>
          </p:nvSpPr>
          <p:spPr bwMode="auto">
            <a:xfrm>
              <a:off x="1892" y="6697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3" name="Line 419"/>
            <p:cNvSpPr>
              <a:spLocks noChangeShapeType="1"/>
            </p:cNvSpPr>
            <p:nvPr/>
          </p:nvSpPr>
          <p:spPr bwMode="auto">
            <a:xfrm>
              <a:off x="1687" y="669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4" name="Line 420"/>
            <p:cNvSpPr>
              <a:spLocks noChangeShapeType="1"/>
            </p:cNvSpPr>
            <p:nvPr/>
          </p:nvSpPr>
          <p:spPr bwMode="auto">
            <a:xfrm>
              <a:off x="1816" y="6695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5" name="Line 421"/>
            <p:cNvSpPr>
              <a:spLocks noChangeShapeType="1"/>
            </p:cNvSpPr>
            <p:nvPr/>
          </p:nvSpPr>
          <p:spPr bwMode="auto">
            <a:xfrm>
              <a:off x="1956" y="6692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6" name="Line 422"/>
            <p:cNvSpPr>
              <a:spLocks noChangeShapeType="1"/>
            </p:cNvSpPr>
            <p:nvPr/>
          </p:nvSpPr>
          <p:spPr bwMode="auto">
            <a:xfrm>
              <a:off x="2144" y="6692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7" name="Line 423"/>
            <p:cNvSpPr>
              <a:spLocks noChangeShapeType="1"/>
            </p:cNvSpPr>
            <p:nvPr/>
          </p:nvSpPr>
          <p:spPr bwMode="auto">
            <a:xfrm>
              <a:off x="2219" y="6706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8" name="Line 424"/>
            <p:cNvSpPr>
              <a:spLocks noChangeShapeType="1"/>
            </p:cNvSpPr>
            <p:nvPr/>
          </p:nvSpPr>
          <p:spPr bwMode="auto">
            <a:xfrm>
              <a:off x="2353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49" name="Line 425"/>
            <p:cNvSpPr>
              <a:spLocks noChangeShapeType="1"/>
            </p:cNvSpPr>
            <p:nvPr/>
          </p:nvSpPr>
          <p:spPr bwMode="auto">
            <a:xfrm>
              <a:off x="2479" y="6706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0" name="Line 426"/>
            <p:cNvSpPr>
              <a:spLocks noChangeShapeType="1"/>
            </p:cNvSpPr>
            <p:nvPr/>
          </p:nvSpPr>
          <p:spPr bwMode="auto">
            <a:xfrm>
              <a:off x="2334" y="6692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1" name="Line 427"/>
            <p:cNvSpPr>
              <a:spLocks noChangeShapeType="1"/>
            </p:cNvSpPr>
            <p:nvPr/>
          </p:nvSpPr>
          <p:spPr bwMode="auto">
            <a:xfrm>
              <a:off x="2406" y="669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2" name="Line 428"/>
            <p:cNvSpPr>
              <a:spLocks noChangeShapeType="1"/>
            </p:cNvSpPr>
            <p:nvPr/>
          </p:nvSpPr>
          <p:spPr bwMode="auto">
            <a:xfrm>
              <a:off x="2549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3" name="Line 429"/>
            <p:cNvSpPr>
              <a:spLocks noChangeShapeType="1"/>
            </p:cNvSpPr>
            <p:nvPr/>
          </p:nvSpPr>
          <p:spPr bwMode="auto">
            <a:xfrm>
              <a:off x="2619" y="6693"/>
              <a:ext cx="0" cy="5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4" name="Line 430"/>
            <p:cNvSpPr>
              <a:spLocks noChangeShapeType="1"/>
            </p:cNvSpPr>
            <p:nvPr/>
          </p:nvSpPr>
          <p:spPr bwMode="auto">
            <a:xfrm>
              <a:off x="2826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5" name="Line 431"/>
            <p:cNvSpPr>
              <a:spLocks noChangeShapeType="1"/>
            </p:cNvSpPr>
            <p:nvPr/>
          </p:nvSpPr>
          <p:spPr bwMode="auto">
            <a:xfrm>
              <a:off x="2894" y="6697"/>
              <a:ext cx="0" cy="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6" name="Line 432"/>
            <p:cNvSpPr>
              <a:spLocks noChangeShapeType="1"/>
            </p:cNvSpPr>
            <p:nvPr/>
          </p:nvSpPr>
          <p:spPr bwMode="auto">
            <a:xfrm>
              <a:off x="3051" y="6689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7" name="Line 433"/>
            <p:cNvSpPr>
              <a:spLocks noChangeShapeType="1"/>
            </p:cNvSpPr>
            <p:nvPr/>
          </p:nvSpPr>
          <p:spPr bwMode="auto">
            <a:xfrm>
              <a:off x="3191" y="6689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8" name="Line 434"/>
            <p:cNvSpPr>
              <a:spLocks noChangeShapeType="1"/>
            </p:cNvSpPr>
            <p:nvPr/>
          </p:nvSpPr>
          <p:spPr bwMode="auto">
            <a:xfrm>
              <a:off x="2976" y="6689"/>
              <a:ext cx="0" cy="5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59" name="Line 435"/>
            <p:cNvSpPr>
              <a:spLocks noChangeShapeType="1"/>
            </p:cNvSpPr>
            <p:nvPr/>
          </p:nvSpPr>
          <p:spPr bwMode="auto">
            <a:xfrm>
              <a:off x="3122" y="669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0" name="Line 436"/>
            <p:cNvSpPr>
              <a:spLocks noChangeShapeType="1"/>
            </p:cNvSpPr>
            <p:nvPr/>
          </p:nvSpPr>
          <p:spPr bwMode="auto">
            <a:xfrm>
              <a:off x="3266" y="6687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1" name="Line 437"/>
            <p:cNvSpPr>
              <a:spLocks noChangeShapeType="1"/>
            </p:cNvSpPr>
            <p:nvPr/>
          </p:nvSpPr>
          <p:spPr bwMode="auto">
            <a:xfrm>
              <a:off x="3326" y="669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2" name="Line 438"/>
            <p:cNvSpPr>
              <a:spLocks noChangeShapeType="1"/>
            </p:cNvSpPr>
            <p:nvPr/>
          </p:nvSpPr>
          <p:spPr bwMode="auto">
            <a:xfrm>
              <a:off x="3513" y="671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3" name="Line 439"/>
            <p:cNvSpPr>
              <a:spLocks noChangeShapeType="1"/>
            </p:cNvSpPr>
            <p:nvPr/>
          </p:nvSpPr>
          <p:spPr bwMode="auto">
            <a:xfrm>
              <a:off x="3567" y="670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4" name="Line 440"/>
            <p:cNvSpPr>
              <a:spLocks noChangeShapeType="1"/>
            </p:cNvSpPr>
            <p:nvPr/>
          </p:nvSpPr>
          <p:spPr bwMode="auto">
            <a:xfrm>
              <a:off x="3677" y="671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5" name="Line 441"/>
            <p:cNvSpPr>
              <a:spLocks noChangeShapeType="1"/>
            </p:cNvSpPr>
            <p:nvPr/>
          </p:nvSpPr>
          <p:spPr bwMode="auto">
            <a:xfrm>
              <a:off x="3797" y="671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6" name="Line 442"/>
            <p:cNvSpPr>
              <a:spLocks noChangeShapeType="1"/>
            </p:cNvSpPr>
            <p:nvPr/>
          </p:nvSpPr>
          <p:spPr bwMode="auto">
            <a:xfrm>
              <a:off x="3617" y="671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7" name="Line 443"/>
            <p:cNvSpPr>
              <a:spLocks noChangeShapeType="1"/>
            </p:cNvSpPr>
            <p:nvPr/>
          </p:nvSpPr>
          <p:spPr bwMode="auto">
            <a:xfrm>
              <a:off x="3744" y="670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8" name="Line 444"/>
            <p:cNvSpPr>
              <a:spLocks noChangeShapeType="1"/>
            </p:cNvSpPr>
            <p:nvPr/>
          </p:nvSpPr>
          <p:spPr bwMode="auto">
            <a:xfrm>
              <a:off x="3862" y="667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69" name="Line 445"/>
            <p:cNvSpPr>
              <a:spLocks noChangeShapeType="1"/>
            </p:cNvSpPr>
            <p:nvPr/>
          </p:nvSpPr>
          <p:spPr bwMode="auto">
            <a:xfrm>
              <a:off x="3929" y="670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0" name="Line 446"/>
            <p:cNvSpPr>
              <a:spLocks noChangeShapeType="1"/>
            </p:cNvSpPr>
            <p:nvPr/>
          </p:nvSpPr>
          <p:spPr bwMode="auto">
            <a:xfrm>
              <a:off x="4162" y="669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1" name="Line 447"/>
            <p:cNvSpPr>
              <a:spLocks noChangeShapeType="1"/>
            </p:cNvSpPr>
            <p:nvPr/>
          </p:nvSpPr>
          <p:spPr bwMode="auto">
            <a:xfrm>
              <a:off x="4230" y="670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2" name="Line 448"/>
            <p:cNvSpPr>
              <a:spLocks noChangeShapeType="1"/>
            </p:cNvSpPr>
            <p:nvPr/>
          </p:nvSpPr>
          <p:spPr bwMode="auto">
            <a:xfrm>
              <a:off x="4333" y="669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3" name="Line 449"/>
            <p:cNvSpPr>
              <a:spLocks noChangeShapeType="1"/>
            </p:cNvSpPr>
            <p:nvPr/>
          </p:nvSpPr>
          <p:spPr bwMode="auto">
            <a:xfrm>
              <a:off x="4480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4" name="Line 450"/>
            <p:cNvSpPr>
              <a:spLocks noChangeShapeType="1"/>
            </p:cNvSpPr>
            <p:nvPr/>
          </p:nvSpPr>
          <p:spPr bwMode="auto">
            <a:xfrm>
              <a:off x="4282" y="669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5" name="Line 451"/>
            <p:cNvSpPr>
              <a:spLocks noChangeShapeType="1"/>
            </p:cNvSpPr>
            <p:nvPr/>
          </p:nvSpPr>
          <p:spPr bwMode="auto">
            <a:xfrm>
              <a:off x="4403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6" name="Line 452"/>
            <p:cNvSpPr>
              <a:spLocks noChangeShapeType="1"/>
            </p:cNvSpPr>
            <p:nvPr/>
          </p:nvSpPr>
          <p:spPr bwMode="auto">
            <a:xfrm>
              <a:off x="5303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7" name="Line 453"/>
            <p:cNvSpPr>
              <a:spLocks noChangeShapeType="1"/>
            </p:cNvSpPr>
            <p:nvPr/>
          </p:nvSpPr>
          <p:spPr bwMode="auto">
            <a:xfrm>
              <a:off x="5498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8" name="Line 454"/>
            <p:cNvSpPr>
              <a:spLocks noChangeShapeType="1"/>
            </p:cNvSpPr>
            <p:nvPr/>
          </p:nvSpPr>
          <p:spPr bwMode="auto">
            <a:xfrm>
              <a:off x="5569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79" name="Line 455"/>
            <p:cNvSpPr>
              <a:spLocks noChangeShapeType="1"/>
            </p:cNvSpPr>
            <p:nvPr/>
          </p:nvSpPr>
          <p:spPr bwMode="auto">
            <a:xfrm>
              <a:off x="5643" y="67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0" name="Line 456"/>
            <p:cNvSpPr>
              <a:spLocks noChangeShapeType="1"/>
            </p:cNvSpPr>
            <p:nvPr/>
          </p:nvSpPr>
          <p:spPr bwMode="auto">
            <a:xfrm>
              <a:off x="5793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1" name="Line 457"/>
            <p:cNvSpPr>
              <a:spLocks noChangeShapeType="1"/>
            </p:cNvSpPr>
            <p:nvPr/>
          </p:nvSpPr>
          <p:spPr bwMode="auto">
            <a:xfrm>
              <a:off x="5937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2" name="Line 458"/>
            <p:cNvSpPr>
              <a:spLocks noChangeShapeType="1"/>
            </p:cNvSpPr>
            <p:nvPr/>
          </p:nvSpPr>
          <p:spPr bwMode="auto">
            <a:xfrm>
              <a:off x="5715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3" name="Line 459"/>
            <p:cNvSpPr>
              <a:spLocks noChangeShapeType="1"/>
            </p:cNvSpPr>
            <p:nvPr/>
          </p:nvSpPr>
          <p:spPr bwMode="auto">
            <a:xfrm>
              <a:off x="5863" y="671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4" name="Line 460"/>
            <p:cNvSpPr>
              <a:spLocks noChangeShapeType="1"/>
            </p:cNvSpPr>
            <p:nvPr/>
          </p:nvSpPr>
          <p:spPr bwMode="auto">
            <a:xfrm>
              <a:off x="10703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5" name="Line 461"/>
            <p:cNvSpPr>
              <a:spLocks noChangeShapeType="1"/>
            </p:cNvSpPr>
            <p:nvPr/>
          </p:nvSpPr>
          <p:spPr bwMode="auto">
            <a:xfrm>
              <a:off x="10932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6" name="Line 462"/>
            <p:cNvSpPr>
              <a:spLocks noChangeShapeType="1"/>
            </p:cNvSpPr>
            <p:nvPr/>
          </p:nvSpPr>
          <p:spPr bwMode="auto">
            <a:xfrm>
              <a:off x="10995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7" name="Line 463"/>
            <p:cNvSpPr>
              <a:spLocks noChangeShapeType="1"/>
            </p:cNvSpPr>
            <p:nvPr/>
          </p:nvSpPr>
          <p:spPr bwMode="auto">
            <a:xfrm>
              <a:off x="11081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8" name="Line 464"/>
            <p:cNvSpPr>
              <a:spLocks noChangeShapeType="1"/>
            </p:cNvSpPr>
            <p:nvPr/>
          </p:nvSpPr>
          <p:spPr bwMode="auto">
            <a:xfrm>
              <a:off x="11222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89" name="Line 465"/>
            <p:cNvSpPr>
              <a:spLocks noChangeShapeType="1"/>
            </p:cNvSpPr>
            <p:nvPr/>
          </p:nvSpPr>
          <p:spPr bwMode="auto">
            <a:xfrm>
              <a:off x="11376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0" name="Line 466"/>
            <p:cNvSpPr>
              <a:spLocks noChangeShapeType="1"/>
            </p:cNvSpPr>
            <p:nvPr/>
          </p:nvSpPr>
          <p:spPr bwMode="auto">
            <a:xfrm>
              <a:off x="11157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1" name="Line 467"/>
            <p:cNvSpPr>
              <a:spLocks noChangeShapeType="1"/>
            </p:cNvSpPr>
            <p:nvPr/>
          </p:nvSpPr>
          <p:spPr bwMode="auto">
            <a:xfrm>
              <a:off x="11302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2" name="Line 468"/>
            <p:cNvSpPr>
              <a:spLocks noChangeShapeType="1"/>
            </p:cNvSpPr>
            <p:nvPr/>
          </p:nvSpPr>
          <p:spPr bwMode="auto">
            <a:xfrm>
              <a:off x="4552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3" name="Line 469"/>
            <p:cNvSpPr>
              <a:spLocks noChangeShapeType="1"/>
            </p:cNvSpPr>
            <p:nvPr/>
          </p:nvSpPr>
          <p:spPr bwMode="auto">
            <a:xfrm>
              <a:off x="4815" y="670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4" name="Line 470"/>
            <p:cNvSpPr>
              <a:spLocks noChangeShapeType="1"/>
            </p:cNvSpPr>
            <p:nvPr/>
          </p:nvSpPr>
          <p:spPr bwMode="auto">
            <a:xfrm>
              <a:off x="4875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5" name="Line 471"/>
            <p:cNvSpPr>
              <a:spLocks noChangeShapeType="1"/>
            </p:cNvSpPr>
            <p:nvPr/>
          </p:nvSpPr>
          <p:spPr bwMode="auto">
            <a:xfrm>
              <a:off x="4950" y="671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6" name="Line 472"/>
            <p:cNvSpPr>
              <a:spLocks noChangeShapeType="1"/>
            </p:cNvSpPr>
            <p:nvPr/>
          </p:nvSpPr>
          <p:spPr bwMode="auto">
            <a:xfrm>
              <a:off x="5099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7" name="Line 473"/>
            <p:cNvSpPr>
              <a:spLocks noChangeShapeType="1"/>
            </p:cNvSpPr>
            <p:nvPr/>
          </p:nvSpPr>
          <p:spPr bwMode="auto">
            <a:xfrm>
              <a:off x="5237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8" name="Line 474"/>
            <p:cNvSpPr>
              <a:spLocks noChangeShapeType="1"/>
            </p:cNvSpPr>
            <p:nvPr/>
          </p:nvSpPr>
          <p:spPr bwMode="auto">
            <a:xfrm>
              <a:off x="5042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499" name="Line 475"/>
            <p:cNvSpPr>
              <a:spLocks noChangeShapeType="1"/>
            </p:cNvSpPr>
            <p:nvPr/>
          </p:nvSpPr>
          <p:spPr bwMode="auto">
            <a:xfrm>
              <a:off x="5174" y="667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0" name="Line 476"/>
            <p:cNvSpPr>
              <a:spLocks noChangeShapeType="1"/>
            </p:cNvSpPr>
            <p:nvPr/>
          </p:nvSpPr>
          <p:spPr bwMode="auto">
            <a:xfrm>
              <a:off x="10193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1" name="Line 477"/>
            <p:cNvSpPr>
              <a:spLocks noChangeShapeType="1"/>
            </p:cNvSpPr>
            <p:nvPr/>
          </p:nvSpPr>
          <p:spPr bwMode="auto">
            <a:xfrm>
              <a:off x="10266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2" name="Line 478"/>
            <p:cNvSpPr>
              <a:spLocks noChangeShapeType="1"/>
            </p:cNvSpPr>
            <p:nvPr/>
          </p:nvSpPr>
          <p:spPr bwMode="auto">
            <a:xfrm>
              <a:off x="10331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3" name="Line 479"/>
            <p:cNvSpPr>
              <a:spLocks noChangeShapeType="1"/>
            </p:cNvSpPr>
            <p:nvPr/>
          </p:nvSpPr>
          <p:spPr bwMode="auto">
            <a:xfrm>
              <a:off x="10473" y="6678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4" name="Line 480"/>
            <p:cNvSpPr>
              <a:spLocks noChangeShapeType="1"/>
            </p:cNvSpPr>
            <p:nvPr/>
          </p:nvSpPr>
          <p:spPr bwMode="auto">
            <a:xfrm>
              <a:off x="10624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5" name="Line 481"/>
            <p:cNvSpPr>
              <a:spLocks noChangeShapeType="1"/>
            </p:cNvSpPr>
            <p:nvPr/>
          </p:nvSpPr>
          <p:spPr bwMode="auto">
            <a:xfrm>
              <a:off x="10408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6" name="Line 482"/>
            <p:cNvSpPr>
              <a:spLocks noChangeShapeType="1"/>
            </p:cNvSpPr>
            <p:nvPr/>
          </p:nvSpPr>
          <p:spPr bwMode="auto">
            <a:xfrm>
              <a:off x="10551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7" name="Line 483"/>
            <p:cNvSpPr>
              <a:spLocks noChangeShapeType="1"/>
            </p:cNvSpPr>
            <p:nvPr/>
          </p:nvSpPr>
          <p:spPr bwMode="auto">
            <a:xfrm>
              <a:off x="9326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8" name="Line 484"/>
            <p:cNvSpPr>
              <a:spLocks noChangeShapeType="1"/>
            </p:cNvSpPr>
            <p:nvPr/>
          </p:nvSpPr>
          <p:spPr bwMode="auto">
            <a:xfrm>
              <a:off x="9532" y="669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09" name="Line 485"/>
            <p:cNvSpPr>
              <a:spLocks noChangeShapeType="1"/>
            </p:cNvSpPr>
            <p:nvPr/>
          </p:nvSpPr>
          <p:spPr bwMode="auto">
            <a:xfrm>
              <a:off x="9606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0" name="Line 486"/>
            <p:cNvSpPr>
              <a:spLocks noChangeShapeType="1"/>
            </p:cNvSpPr>
            <p:nvPr/>
          </p:nvSpPr>
          <p:spPr bwMode="auto">
            <a:xfrm>
              <a:off x="9684" y="670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1" name="Line 487"/>
            <p:cNvSpPr>
              <a:spLocks noChangeShapeType="1"/>
            </p:cNvSpPr>
            <p:nvPr/>
          </p:nvSpPr>
          <p:spPr bwMode="auto">
            <a:xfrm>
              <a:off x="9837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2" name="Line 488"/>
            <p:cNvSpPr>
              <a:spLocks noChangeShapeType="1"/>
            </p:cNvSpPr>
            <p:nvPr/>
          </p:nvSpPr>
          <p:spPr bwMode="auto">
            <a:xfrm>
              <a:off x="10001" y="669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3" name="Line 489"/>
            <p:cNvSpPr>
              <a:spLocks noChangeShapeType="1"/>
            </p:cNvSpPr>
            <p:nvPr/>
          </p:nvSpPr>
          <p:spPr bwMode="auto">
            <a:xfrm>
              <a:off x="9756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4" name="Line 490"/>
            <p:cNvSpPr>
              <a:spLocks noChangeShapeType="1"/>
            </p:cNvSpPr>
            <p:nvPr/>
          </p:nvSpPr>
          <p:spPr bwMode="auto">
            <a:xfrm>
              <a:off x="9918" y="6704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5" name="Line 491"/>
            <p:cNvSpPr>
              <a:spLocks noChangeShapeType="1"/>
            </p:cNvSpPr>
            <p:nvPr/>
          </p:nvSpPr>
          <p:spPr bwMode="auto">
            <a:xfrm>
              <a:off x="8892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6" name="Line 492"/>
            <p:cNvSpPr>
              <a:spLocks noChangeShapeType="1"/>
            </p:cNvSpPr>
            <p:nvPr/>
          </p:nvSpPr>
          <p:spPr bwMode="auto">
            <a:xfrm>
              <a:off x="8941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7" name="Line 493"/>
            <p:cNvSpPr>
              <a:spLocks noChangeShapeType="1"/>
            </p:cNvSpPr>
            <p:nvPr/>
          </p:nvSpPr>
          <p:spPr bwMode="auto">
            <a:xfrm>
              <a:off x="9013" y="671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8" name="Line 494"/>
            <p:cNvSpPr>
              <a:spLocks noChangeShapeType="1"/>
            </p:cNvSpPr>
            <p:nvPr/>
          </p:nvSpPr>
          <p:spPr bwMode="auto">
            <a:xfrm>
              <a:off x="9129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19" name="Line 495"/>
            <p:cNvSpPr>
              <a:spLocks noChangeShapeType="1"/>
            </p:cNvSpPr>
            <p:nvPr/>
          </p:nvSpPr>
          <p:spPr bwMode="auto">
            <a:xfrm>
              <a:off x="9255" y="669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0" name="Line 496"/>
            <p:cNvSpPr>
              <a:spLocks noChangeShapeType="1"/>
            </p:cNvSpPr>
            <p:nvPr/>
          </p:nvSpPr>
          <p:spPr bwMode="auto">
            <a:xfrm>
              <a:off x="9069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1" name="Line 497"/>
            <p:cNvSpPr>
              <a:spLocks noChangeShapeType="1"/>
            </p:cNvSpPr>
            <p:nvPr/>
          </p:nvSpPr>
          <p:spPr bwMode="auto">
            <a:xfrm>
              <a:off x="9200" y="671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2" name="Line 498"/>
            <p:cNvSpPr>
              <a:spLocks noChangeShapeType="1"/>
            </p:cNvSpPr>
            <p:nvPr/>
          </p:nvSpPr>
          <p:spPr bwMode="auto">
            <a:xfrm>
              <a:off x="8013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3" name="Line 499"/>
            <p:cNvSpPr>
              <a:spLocks noChangeShapeType="1"/>
            </p:cNvSpPr>
            <p:nvPr/>
          </p:nvSpPr>
          <p:spPr bwMode="auto">
            <a:xfrm>
              <a:off x="8240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4" name="Line 500"/>
            <p:cNvSpPr>
              <a:spLocks noChangeShapeType="1"/>
            </p:cNvSpPr>
            <p:nvPr/>
          </p:nvSpPr>
          <p:spPr bwMode="auto">
            <a:xfrm>
              <a:off x="8319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5" name="Line 501"/>
            <p:cNvSpPr>
              <a:spLocks noChangeShapeType="1"/>
            </p:cNvSpPr>
            <p:nvPr/>
          </p:nvSpPr>
          <p:spPr bwMode="auto">
            <a:xfrm>
              <a:off x="8378" y="6678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6" name="Line 502"/>
            <p:cNvSpPr>
              <a:spLocks noChangeShapeType="1"/>
            </p:cNvSpPr>
            <p:nvPr/>
          </p:nvSpPr>
          <p:spPr bwMode="auto">
            <a:xfrm>
              <a:off x="8530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7" name="Line 503"/>
            <p:cNvSpPr>
              <a:spLocks noChangeShapeType="1"/>
            </p:cNvSpPr>
            <p:nvPr/>
          </p:nvSpPr>
          <p:spPr bwMode="auto">
            <a:xfrm>
              <a:off x="8670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8" name="Line 504"/>
            <p:cNvSpPr>
              <a:spLocks noChangeShapeType="1"/>
            </p:cNvSpPr>
            <p:nvPr/>
          </p:nvSpPr>
          <p:spPr bwMode="auto">
            <a:xfrm>
              <a:off x="8460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29" name="Line 505"/>
            <p:cNvSpPr>
              <a:spLocks noChangeShapeType="1"/>
            </p:cNvSpPr>
            <p:nvPr/>
          </p:nvSpPr>
          <p:spPr bwMode="auto">
            <a:xfrm>
              <a:off x="8598" y="670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0" name="Line 506"/>
            <p:cNvSpPr>
              <a:spLocks noChangeShapeType="1"/>
            </p:cNvSpPr>
            <p:nvPr/>
          </p:nvSpPr>
          <p:spPr bwMode="auto">
            <a:xfrm>
              <a:off x="7340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1" name="Line 507"/>
            <p:cNvSpPr>
              <a:spLocks noChangeShapeType="1"/>
            </p:cNvSpPr>
            <p:nvPr/>
          </p:nvSpPr>
          <p:spPr bwMode="auto">
            <a:xfrm>
              <a:off x="7526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2" name="Line 508"/>
            <p:cNvSpPr>
              <a:spLocks noChangeShapeType="1"/>
            </p:cNvSpPr>
            <p:nvPr/>
          </p:nvSpPr>
          <p:spPr bwMode="auto">
            <a:xfrm>
              <a:off x="7596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3" name="Line 509"/>
            <p:cNvSpPr>
              <a:spLocks noChangeShapeType="1"/>
            </p:cNvSpPr>
            <p:nvPr/>
          </p:nvSpPr>
          <p:spPr bwMode="auto">
            <a:xfrm>
              <a:off x="7684" y="670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4" name="Line 510"/>
            <p:cNvSpPr>
              <a:spLocks noChangeShapeType="1"/>
            </p:cNvSpPr>
            <p:nvPr/>
          </p:nvSpPr>
          <p:spPr bwMode="auto">
            <a:xfrm>
              <a:off x="7816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5" name="Line 511"/>
            <p:cNvSpPr>
              <a:spLocks noChangeShapeType="1"/>
            </p:cNvSpPr>
            <p:nvPr/>
          </p:nvSpPr>
          <p:spPr bwMode="auto">
            <a:xfrm>
              <a:off x="7950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6" name="Line 512"/>
            <p:cNvSpPr>
              <a:spLocks noChangeShapeType="1"/>
            </p:cNvSpPr>
            <p:nvPr/>
          </p:nvSpPr>
          <p:spPr bwMode="auto">
            <a:xfrm>
              <a:off x="7762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7" name="Line 513"/>
            <p:cNvSpPr>
              <a:spLocks noChangeShapeType="1"/>
            </p:cNvSpPr>
            <p:nvPr/>
          </p:nvSpPr>
          <p:spPr bwMode="auto">
            <a:xfrm>
              <a:off x="7887" y="6701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8" name="Line 514"/>
            <p:cNvSpPr>
              <a:spLocks noChangeShapeType="1"/>
            </p:cNvSpPr>
            <p:nvPr/>
          </p:nvSpPr>
          <p:spPr bwMode="auto">
            <a:xfrm>
              <a:off x="6700" y="672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39" name="Line 515"/>
            <p:cNvSpPr>
              <a:spLocks noChangeShapeType="1"/>
            </p:cNvSpPr>
            <p:nvPr/>
          </p:nvSpPr>
          <p:spPr bwMode="auto">
            <a:xfrm>
              <a:off x="6844" y="6693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0" name="Line 516"/>
            <p:cNvSpPr>
              <a:spLocks noChangeShapeType="1"/>
            </p:cNvSpPr>
            <p:nvPr/>
          </p:nvSpPr>
          <p:spPr bwMode="auto">
            <a:xfrm>
              <a:off x="6902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1" name="Line 517"/>
            <p:cNvSpPr>
              <a:spLocks noChangeShapeType="1"/>
            </p:cNvSpPr>
            <p:nvPr/>
          </p:nvSpPr>
          <p:spPr bwMode="auto">
            <a:xfrm>
              <a:off x="6976" y="6699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2" name="Line 518"/>
            <p:cNvSpPr>
              <a:spLocks noChangeShapeType="1"/>
            </p:cNvSpPr>
            <p:nvPr/>
          </p:nvSpPr>
          <p:spPr bwMode="auto">
            <a:xfrm>
              <a:off x="7123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3" name="Line 519"/>
            <p:cNvSpPr>
              <a:spLocks noChangeShapeType="1"/>
            </p:cNvSpPr>
            <p:nvPr/>
          </p:nvSpPr>
          <p:spPr bwMode="auto">
            <a:xfrm>
              <a:off x="7280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4" name="Line 520"/>
            <p:cNvSpPr>
              <a:spLocks noChangeShapeType="1"/>
            </p:cNvSpPr>
            <p:nvPr/>
          </p:nvSpPr>
          <p:spPr bwMode="auto">
            <a:xfrm>
              <a:off x="7052" y="6704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5" name="Line 521"/>
            <p:cNvSpPr>
              <a:spLocks noChangeShapeType="1"/>
            </p:cNvSpPr>
            <p:nvPr/>
          </p:nvSpPr>
          <p:spPr bwMode="auto">
            <a:xfrm>
              <a:off x="7201" y="6700"/>
              <a:ext cx="0" cy="5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6" name="Line 522"/>
            <p:cNvSpPr>
              <a:spLocks noChangeShapeType="1"/>
            </p:cNvSpPr>
            <p:nvPr/>
          </p:nvSpPr>
          <p:spPr bwMode="auto">
            <a:xfrm>
              <a:off x="5999" y="6705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7" name="Line 523"/>
            <p:cNvSpPr>
              <a:spLocks noChangeShapeType="1"/>
            </p:cNvSpPr>
            <p:nvPr/>
          </p:nvSpPr>
          <p:spPr bwMode="auto">
            <a:xfrm>
              <a:off x="6168" y="671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8" name="Line 524"/>
            <p:cNvSpPr>
              <a:spLocks noChangeShapeType="1"/>
            </p:cNvSpPr>
            <p:nvPr/>
          </p:nvSpPr>
          <p:spPr bwMode="auto">
            <a:xfrm>
              <a:off x="6253" y="672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49" name="Line 525"/>
            <p:cNvSpPr>
              <a:spLocks noChangeShapeType="1"/>
            </p:cNvSpPr>
            <p:nvPr/>
          </p:nvSpPr>
          <p:spPr bwMode="auto">
            <a:xfrm>
              <a:off x="6323" y="6712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0" name="Line 526"/>
            <p:cNvSpPr>
              <a:spLocks noChangeShapeType="1"/>
            </p:cNvSpPr>
            <p:nvPr/>
          </p:nvSpPr>
          <p:spPr bwMode="auto">
            <a:xfrm>
              <a:off x="6480" y="672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1" name="Line 527"/>
            <p:cNvSpPr>
              <a:spLocks noChangeShapeType="1"/>
            </p:cNvSpPr>
            <p:nvPr/>
          </p:nvSpPr>
          <p:spPr bwMode="auto">
            <a:xfrm>
              <a:off x="6624" y="672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2" name="Line 528"/>
            <p:cNvSpPr>
              <a:spLocks noChangeShapeType="1"/>
            </p:cNvSpPr>
            <p:nvPr/>
          </p:nvSpPr>
          <p:spPr bwMode="auto">
            <a:xfrm>
              <a:off x="6409" y="6720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553" name="Line 529"/>
            <p:cNvSpPr>
              <a:spLocks noChangeShapeType="1"/>
            </p:cNvSpPr>
            <p:nvPr/>
          </p:nvSpPr>
          <p:spPr bwMode="auto">
            <a:xfrm>
              <a:off x="6551" y="6716"/>
              <a:ext cx="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535" name="Прямоугольник 534"/>
          <p:cNvSpPr/>
          <p:nvPr/>
        </p:nvSpPr>
        <p:spPr>
          <a:xfrm>
            <a:off x="533400" y="304800"/>
            <a:ext cx="8077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 smtClean="0">
                <a:solidFill>
                  <a:schemeClr val="tx1"/>
                </a:solidFill>
              </a:rPr>
              <a:t>                  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000000100000000000000000000000000000…00000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(128 бит)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54" name="Object 530"/>
          <p:cNvGraphicFramePr>
            <a:graphicFrameLocks noChangeAspect="1"/>
          </p:cNvGraphicFramePr>
          <p:nvPr/>
        </p:nvGraphicFramePr>
        <p:xfrm>
          <a:off x="1143000" y="381000"/>
          <a:ext cx="533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2" name="Формула" r:id="rId3" imgW="228501" imgH="165028" progId="Equation.3">
                  <p:embed/>
                </p:oleObj>
              </mc:Choice>
              <mc:Fallback>
                <p:oleObj name="Формула" r:id="rId3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1000"/>
                        <a:ext cx="5334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7" name="Прямоугольник 536">
            <a:hlinkClick r:id="rId5" action="ppaction://hlinksldjump"/>
          </p:cNvPr>
          <p:cNvSpPr/>
          <p:nvPr/>
        </p:nvSpPr>
        <p:spPr>
          <a:xfrm>
            <a:off x="366464" y="5924128"/>
            <a:ext cx="8382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=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110100011110010111100101001101000000000000000000000…00000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(128 бит)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55" name="Object 5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74881"/>
              </p:ext>
            </p:extLst>
          </p:nvPr>
        </p:nvGraphicFramePr>
        <p:xfrm>
          <a:off x="613792" y="6000328"/>
          <a:ext cx="4572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43" name="Формула" r:id="rId6" imgW="253670" imgH="177569" progId="Equation.3">
                  <p:embed/>
                </p:oleObj>
              </mc:Choice>
              <mc:Fallback>
                <p:oleObj name="Формула" r:id="rId6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92" y="6000328"/>
                        <a:ext cx="4572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Стрелка вверх 6">
            <a:hlinkClick r:id="rId5" action="ppaction://hlinksldjump"/>
          </p:cNvPr>
          <p:cNvSpPr/>
          <p:nvPr/>
        </p:nvSpPr>
        <p:spPr>
          <a:xfrm>
            <a:off x="8604448" y="6309319"/>
            <a:ext cx="267057" cy="27946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4290"/>
            <a:ext cx="6096000" cy="626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527548" y="699911"/>
            <a:ext cx="3048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=0000010100000000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791200" y="5638800"/>
            <a:ext cx="3048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0000010000010000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921283"/>
              </p:ext>
            </p:extLst>
          </p:nvPr>
        </p:nvGraphicFramePr>
        <p:xfrm>
          <a:off x="5569879" y="762000"/>
          <a:ext cx="526122" cy="346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6" name="Формула" r:id="rId5" imgW="228501" imgH="165028" progId="Equation.3">
                  <p:embed/>
                </p:oleObj>
              </mc:Choice>
              <mc:Fallback>
                <p:oleObj name="Формула" r:id="rId5" imgW="228501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879" y="762000"/>
                        <a:ext cx="526122" cy="3468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950713"/>
              </p:ext>
            </p:extLst>
          </p:nvPr>
        </p:nvGraphicFramePr>
        <p:xfrm>
          <a:off x="5867400" y="5707062"/>
          <a:ext cx="543617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67" name="Формула" r:id="rId7" imgW="253670" imgH="177569" progId="Equation.3">
                  <p:embed/>
                </p:oleObj>
              </mc:Choice>
              <mc:Fallback>
                <p:oleObj name="Формула" r:id="rId7" imgW="253670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707062"/>
                        <a:ext cx="543617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Стрелка вниз 7">
            <a:hlinkClick r:id="rId9" action="ppaction://hlinksldjump"/>
          </p:cNvPr>
          <p:cNvSpPr/>
          <p:nvPr/>
        </p:nvSpPr>
        <p:spPr>
          <a:xfrm rot="5400000">
            <a:off x="8501120" y="6215112"/>
            <a:ext cx="357158" cy="3571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22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8" name="Стрелка вниз 7">
            <a:hlinkClick r:id="rId3" action="ppaction://hlinksldjump"/>
          </p:cNvPr>
          <p:cNvSpPr/>
          <p:nvPr/>
        </p:nvSpPr>
        <p:spPr>
          <a:xfrm rot="10800000">
            <a:off x="8820472" y="6525549"/>
            <a:ext cx="262955" cy="2878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570916"/>
              </p:ext>
            </p:extLst>
          </p:nvPr>
        </p:nvGraphicFramePr>
        <p:xfrm>
          <a:off x="395536" y="332657"/>
          <a:ext cx="8353293" cy="6133216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4176218"/>
                <a:gridCol w="4177075"/>
              </a:tblGrid>
              <a:tr h="374331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	Кирувчи устун 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6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MixColumns()дан чиқиш устуни</a:t>
                      </a:r>
                      <a:endParaRPr lang="ru-RU" sz="16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2104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516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516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5161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2*</a:t>
                      </a:r>
                      <a:r>
                        <a:rPr lang="uz-Cyrl-UZ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Δ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ru-RU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95536" y="692696"/>
            <a:ext cx="4176464" cy="1224136"/>
          </a:xfrm>
          <a:prstGeom prst="rect">
            <a:avLst/>
          </a:prstGeom>
          <a:noFill/>
          <a:ln w="57150">
            <a:solidFill>
              <a:srgbClr val="171B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98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1" presetClass="exit" presetSubtype="1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4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285720" y="214290"/>
            <a:ext cx="8643998" cy="64294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>
            <a:hlinkClick r:id="rId4" action="ppaction://hlinksldjump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949842"/>
              </p:ext>
            </p:extLst>
          </p:nvPr>
        </p:nvGraphicFramePr>
        <p:xfrm>
          <a:off x="285720" y="243701"/>
          <a:ext cx="8606760" cy="6284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0" name="Диаграмма" r:id="rId6" imgW="4924530" imgH="3352710" progId="Excel.Chart.8">
                  <p:embed/>
                </p:oleObj>
              </mc:Choice>
              <mc:Fallback>
                <p:oleObj name="Диаграмма" r:id="rId6" imgW="4924530" imgH="3352710" progId="Excel.Char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194" t="-5719" r="-4514" b="-6526"/>
                      <a:stretch>
                        <a:fillRect/>
                      </a:stretch>
                    </p:blipFill>
                    <p:spPr bwMode="auto">
                      <a:xfrm>
                        <a:off x="285720" y="243701"/>
                        <a:ext cx="8606760" cy="62842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3810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06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6720</TotalTime>
  <Words>3288</Words>
  <Application>Microsoft Office PowerPoint</Application>
  <PresentationFormat>Экран (4:3)</PresentationFormat>
  <Paragraphs>1381</Paragraphs>
  <Slides>41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41</vt:i4>
      </vt:variant>
    </vt:vector>
  </HeadingPairs>
  <TitlesOfParts>
    <vt:vector size="45" baseType="lpstr">
      <vt:lpstr>Office Theme</vt:lpstr>
      <vt:lpstr>Equation</vt:lpstr>
      <vt:lpstr>Формула</vt:lpstr>
      <vt:lpstr>Диаграмма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Jamshid</dc:creator>
  <cp:lastModifiedBy>Uzer</cp:lastModifiedBy>
  <cp:revision>395</cp:revision>
  <dcterms:created xsi:type="dcterms:W3CDTF">2011-10-13T06:14:12Z</dcterms:created>
  <dcterms:modified xsi:type="dcterms:W3CDTF">2012-05-30T14:19:30Z</dcterms:modified>
</cp:coreProperties>
</file>