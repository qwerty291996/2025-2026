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258" r:id="rId3"/>
    <p:sldId id="262" r:id="rId4"/>
    <p:sldId id="257" r:id="rId5"/>
    <p:sldId id="259" r:id="rId6"/>
    <p:sldId id="297" r:id="rId7"/>
    <p:sldId id="345" r:id="rId8"/>
    <p:sldId id="342" r:id="rId9"/>
    <p:sldId id="309" r:id="rId10"/>
    <p:sldId id="311" r:id="rId11"/>
    <p:sldId id="314" r:id="rId12"/>
    <p:sldId id="318" r:id="rId13"/>
    <p:sldId id="322" r:id="rId14"/>
    <p:sldId id="324" r:id="rId15"/>
    <p:sldId id="341" r:id="rId16"/>
    <p:sldId id="343" r:id="rId17"/>
    <p:sldId id="326" r:id="rId18"/>
    <p:sldId id="344" r:id="rId19"/>
    <p:sldId id="329" r:id="rId20"/>
    <p:sldId id="331" r:id="rId21"/>
    <p:sldId id="332" r:id="rId22"/>
    <p:sldId id="333" r:id="rId23"/>
    <p:sldId id="334" r:id="rId24"/>
    <p:sldId id="335" r:id="rId25"/>
    <p:sldId id="336" r:id="rId26"/>
    <p:sldId id="339" r:id="rId27"/>
    <p:sldId id="261" r:id="rId28"/>
    <p:sldId id="280" r:id="rId29"/>
    <p:sldId id="287" r:id="rId30"/>
    <p:sldId id="288" r:id="rId31"/>
    <p:sldId id="291" r:id="rId32"/>
    <p:sldId id="294" r:id="rId33"/>
    <p:sldId id="274" r:id="rId3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Schoolbook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F04CC"/>
    <a:srgbClr val="4E6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Светлый стиль 2 -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Светлый стиль 2 -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Средний стиль 4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76" autoAdjust="0"/>
  </p:normalViewPr>
  <p:slideViewPr>
    <p:cSldViewPr>
      <p:cViewPr varScale="1">
        <p:scale>
          <a:sx n="83" d="100"/>
          <a:sy n="83" d="100"/>
        </p:scale>
        <p:origin x="-55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4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6.3722219748349018E-2"/>
          <c:y val="4.2086882809095415E-2"/>
          <c:w val="0.72411400382181146"/>
          <c:h val="0.85157882672750485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200</c:v>
                </c:pt>
              </c:strCache>
            </c:strRef>
          </c:tx>
          <c:invertIfNegative val="0"/>
          <c:cat>
            <c:strRef>
              <c:f>Лист1!$A$2:$A$6</c:f>
              <c:strCache>
                <c:ptCount val="5"/>
                <c:pt idx="0">
                  <c:v>4000</c:v>
                </c:pt>
                <c:pt idx="1">
                  <c:v>….</c:v>
                </c:pt>
                <c:pt idx="2">
                  <c:v>2^14</c:v>
                </c:pt>
                <c:pt idx="3">
                  <c:v>2^15</c:v>
                </c:pt>
                <c:pt idx="4">
                  <c:v>2^16</c:v>
                </c:pt>
              </c:strCache>
            </c:strRef>
          </c:cat>
          <c:val>
            <c:numRef>
              <c:f>Лист1!$B$2:$B$6</c:f>
              <c:numCache>
                <c:formatCode>Основной</c:formatCode>
                <c:ptCount val="5"/>
                <c:pt idx="0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….</c:v>
                </c:pt>
              </c:strCache>
            </c:strRef>
          </c:tx>
          <c:invertIfNegative val="0"/>
          <c:cat>
            <c:strRef>
              <c:f>Лист1!$A$2:$A$6</c:f>
              <c:strCache>
                <c:ptCount val="5"/>
                <c:pt idx="0">
                  <c:v>4000</c:v>
                </c:pt>
                <c:pt idx="1">
                  <c:v>….</c:v>
                </c:pt>
                <c:pt idx="2">
                  <c:v>2^14</c:v>
                </c:pt>
                <c:pt idx="3">
                  <c:v>2^15</c:v>
                </c:pt>
                <c:pt idx="4">
                  <c:v>2^16</c:v>
                </c:pt>
              </c:strCache>
            </c:strRef>
          </c:cat>
          <c:val>
            <c:numRef>
              <c:f>Лист1!$C$2:$C$6</c:f>
              <c:numCache>
                <c:formatCode>Основной</c:formatCode>
                <c:ptCount val="5"/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500</c:v>
                </c:pt>
              </c:strCache>
            </c:strRef>
          </c:tx>
          <c:invertIfNegative val="0"/>
          <c:cat>
            <c:strRef>
              <c:f>Лист1!$A$2:$A$6</c:f>
              <c:strCache>
                <c:ptCount val="5"/>
                <c:pt idx="0">
                  <c:v>4000</c:v>
                </c:pt>
                <c:pt idx="1">
                  <c:v>….</c:v>
                </c:pt>
                <c:pt idx="2">
                  <c:v>2^14</c:v>
                </c:pt>
                <c:pt idx="3">
                  <c:v>2^15</c:v>
                </c:pt>
                <c:pt idx="4">
                  <c:v>2^16</c:v>
                </c:pt>
              </c:strCache>
            </c:strRef>
          </c:cat>
          <c:val>
            <c:numRef>
              <c:f>Лист1!$D$2:$D$6</c:f>
              <c:numCache>
                <c:formatCode>Основной</c:formatCode>
                <c:ptCount val="5"/>
                <c:pt idx="0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1000</c:v>
                </c:pt>
              </c:strCache>
            </c:strRef>
          </c:tx>
          <c:invertIfNegative val="0"/>
          <c:cat>
            <c:strRef>
              <c:f>Лист1!$A$2:$A$6</c:f>
              <c:strCache>
                <c:ptCount val="5"/>
                <c:pt idx="0">
                  <c:v>4000</c:v>
                </c:pt>
                <c:pt idx="1">
                  <c:v>….</c:v>
                </c:pt>
                <c:pt idx="2">
                  <c:v>2^14</c:v>
                </c:pt>
                <c:pt idx="3">
                  <c:v>2^15</c:v>
                </c:pt>
                <c:pt idx="4">
                  <c:v>2^16</c:v>
                </c:pt>
              </c:strCache>
            </c:strRef>
          </c:cat>
          <c:val>
            <c:numRef>
              <c:f>Лист1!$E$2:$E$6</c:f>
              <c:numCache>
                <c:formatCode>Основной</c:formatCode>
                <c:ptCount val="5"/>
                <c:pt idx="0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10</c:v>
                </c:pt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10000</c:v>
                </c:pt>
              </c:strCache>
            </c:strRef>
          </c:tx>
          <c:invertIfNegative val="0"/>
          <c:cat>
            <c:strRef>
              <c:f>Лист1!$A$2:$A$6</c:f>
              <c:strCache>
                <c:ptCount val="5"/>
                <c:pt idx="0">
                  <c:v>4000</c:v>
                </c:pt>
                <c:pt idx="1">
                  <c:v>….</c:v>
                </c:pt>
                <c:pt idx="2">
                  <c:v>2^14</c:v>
                </c:pt>
                <c:pt idx="3">
                  <c:v>2^15</c:v>
                </c:pt>
                <c:pt idx="4">
                  <c:v>2^16</c:v>
                </c:pt>
              </c:strCache>
            </c:strRef>
          </c:cat>
          <c:val>
            <c:numRef>
              <c:f>Лист1!$F$2:$F$6</c:f>
              <c:numCache>
                <c:formatCode>Основной</c:formatCode>
                <c:ptCount val="5"/>
                <c:pt idx="0">
                  <c:v>5</c:v>
                </c:pt>
                <c:pt idx="2">
                  <c:v>15</c:v>
                </c:pt>
                <c:pt idx="3">
                  <c:v>40</c:v>
                </c:pt>
                <c:pt idx="4">
                  <c:v>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2708608"/>
        <c:axId val="192710144"/>
        <c:axId val="192690816"/>
      </c:bar3DChart>
      <c:catAx>
        <c:axId val="192708608"/>
        <c:scaling>
          <c:orientation val="minMax"/>
        </c:scaling>
        <c:delete val="0"/>
        <c:axPos val="b"/>
        <c:majorTickMark val="out"/>
        <c:minorTickMark val="none"/>
        <c:tickLblPos val="nextTo"/>
        <c:crossAx val="192710144"/>
        <c:crosses val="autoZero"/>
        <c:auto val="1"/>
        <c:lblAlgn val="ctr"/>
        <c:lblOffset val="100"/>
        <c:noMultiLvlLbl val="0"/>
      </c:catAx>
      <c:valAx>
        <c:axId val="192710144"/>
        <c:scaling>
          <c:orientation val="minMax"/>
        </c:scaling>
        <c:delete val="0"/>
        <c:axPos val="l"/>
        <c:majorGridlines/>
        <c:numFmt formatCode="Основной" sourceLinked="1"/>
        <c:majorTickMark val="out"/>
        <c:minorTickMark val="none"/>
        <c:tickLblPos val="nextTo"/>
        <c:crossAx val="192708608"/>
        <c:crosses val="autoZero"/>
        <c:crossBetween val="between"/>
      </c:valAx>
      <c:serAx>
        <c:axId val="192690816"/>
        <c:scaling>
          <c:orientation val="minMax"/>
        </c:scaling>
        <c:delete val="0"/>
        <c:axPos val="b"/>
        <c:majorTickMark val="out"/>
        <c:minorTickMark val="none"/>
        <c:tickLblPos val="nextTo"/>
        <c:crossAx val="192710144"/>
        <c:crosses val="autoZero"/>
      </c:ser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41AC1D-EEAF-4138-8511-087413433D88}" type="doc">
      <dgm:prSet loTypeId="urn:microsoft.com/office/officeart/2005/8/layout/vList3#4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C8FA6A5-EB8E-46CB-8203-8AC056CF61EA}" type="pres">
      <dgm:prSet presAssocID="{5E41AC1D-EEAF-4138-8511-087413433D8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</dgm:ptLst>
  <dgm:cxnLst>
    <dgm:cxn modelId="{E35786F5-8D27-470D-8454-07FFB17D87B7}" type="presOf" srcId="{5E41AC1D-EEAF-4138-8511-087413433D88}" destId="{EC8FA6A5-EB8E-46CB-8203-8AC056CF61EA}" srcOrd="0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41AC1D-EEAF-4138-8511-087413433D88}" type="doc">
      <dgm:prSet loTypeId="urn:microsoft.com/office/officeart/2005/8/layout/vList3#4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C8FA6A5-EB8E-46CB-8203-8AC056CF61EA}" type="pres">
      <dgm:prSet presAssocID="{5E41AC1D-EEAF-4138-8511-087413433D8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</dgm:ptLst>
  <dgm:cxnLst>
    <dgm:cxn modelId="{FDB3069F-AE13-4A92-8217-57048A6FC975}" type="presOf" srcId="{5E41AC1D-EEAF-4138-8511-087413433D88}" destId="{EC8FA6A5-EB8E-46CB-8203-8AC056CF61EA}" srcOrd="0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41AC1D-EEAF-4138-8511-087413433D88}" type="doc">
      <dgm:prSet loTypeId="urn:microsoft.com/office/officeart/2005/8/layout/vList3#4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C8FA6A5-EB8E-46CB-8203-8AC056CF61EA}" type="pres">
      <dgm:prSet presAssocID="{5E41AC1D-EEAF-4138-8511-087413433D8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</dgm:ptLst>
  <dgm:cxnLst>
    <dgm:cxn modelId="{0075FAF9-3A19-49ED-A319-AE9A4943FAE8}" type="presOf" srcId="{5E41AC1D-EEAF-4138-8511-087413433D88}" destId="{EC8FA6A5-EB8E-46CB-8203-8AC056CF61EA}" srcOrd="0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41AC1D-EEAF-4138-8511-087413433D88}" type="doc">
      <dgm:prSet loTypeId="urn:microsoft.com/office/officeart/2005/8/layout/vList3#4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C8FA6A5-EB8E-46CB-8203-8AC056CF61EA}" type="pres">
      <dgm:prSet presAssocID="{5E41AC1D-EEAF-4138-8511-087413433D8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</dgm:ptLst>
  <dgm:cxnLst>
    <dgm:cxn modelId="{89C47CE8-88D5-428D-8A8E-111CF35A92C5}" type="presOf" srcId="{5E41AC1D-EEAF-4138-8511-087413433D88}" destId="{EC8FA6A5-EB8E-46CB-8203-8AC056CF61EA}" srcOrd="0" destOrd="0" presId="urn:microsoft.com/office/officeart/2005/8/layout/vList3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25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0.61302</cdr:x>
      <cdr:y>0.87983</cdr:y>
    </cdr:from>
    <cdr:to>
      <cdr:x>0.65094</cdr:x>
      <cdr:y>0.938</cdr:y>
    </cdr:to>
    <cdr:sp macro="" textlink="">
      <cdr:nvSpPr>
        <cdr:cNvPr id="12" name="Прямоугольник 11"/>
        <cdr:cNvSpPr/>
      </cdr:nvSpPr>
      <cdr:spPr>
        <a:xfrm xmlns:a="http://schemas.openxmlformats.org/drawingml/2006/main">
          <a:off x="4679088" y="4347388"/>
          <a:ext cx="289464" cy="287451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X</a:t>
          </a:r>
          <a:endParaRPr lang="ru-RU" sz="1800" b="1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cdr:txBody>
    </cdr:sp>
  </cdr:relSizeAnchor>
  <cdr:relSizeAnchor xmlns:cdr="http://schemas.openxmlformats.org/drawingml/2006/chartDrawing">
    <cdr:from>
      <cdr:x>0.75472</cdr:x>
      <cdr:y>0.5591</cdr:y>
    </cdr:from>
    <cdr:to>
      <cdr:x>0.80054</cdr:x>
      <cdr:y>0.6242</cdr:y>
    </cdr:to>
    <cdr:sp macro="" textlink="">
      <cdr:nvSpPr>
        <cdr:cNvPr id="13" name="Прямоугольник 12"/>
        <cdr:cNvSpPr/>
      </cdr:nvSpPr>
      <cdr:spPr>
        <a:xfrm xmlns:a="http://schemas.openxmlformats.org/drawingml/2006/main">
          <a:off x="5760640" y="2762631"/>
          <a:ext cx="349728" cy="321629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Y</a:t>
          </a:r>
          <a:endParaRPr lang="ru-RU" sz="1800" b="1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cdr:txBody>
    </cdr:sp>
  </cdr:relSizeAnchor>
  <cdr:relSizeAnchor xmlns:cdr="http://schemas.openxmlformats.org/drawingml/2006/chartDrawing">
    <cdr:from>
      <cdr:x>0.07002</cdr:x>
      <cdr:y>0.04066</cdr:y>
    </cdr:from>
    <cdr:to>
      <cdr:x>0.12815</cdr:x>
      <cdr:y>0.14258</cdr:y>
    </cdr:to>
    <cdr:sp macro="" textlink="">
      <cdr:nvSpPr>
        <cdr:cNvPr id="14" name="Прямоугольник 13"/>
        <cdr:cNvSpPr/>
      </cdr:nvSpPr>
      <cdr:spPr>
        <a:xfrm xmlns:a="http://schemas.openxmlformats.org/drawingml/2006/main">
          <a:off x="361666" y="136210"/>
          <a:ext cx="300252" cy="341460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Z</a:t>
          </a:r>
          <a:endParaRPr lang="ru-RU" sz="1800" b="1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cdr:txBody>
    </cdr:sp>
  </cdr:relSizeAnchor>
  <cdr:relSizeAnchor xmlns:cdr="http://schemas.openxmlformats.org/drawingml/2006/chartDrawing">
    <cdr:from>
      <cdr:x>0.34906</cdr:x>
      <cdr:y>0.10734</cdr:y>
    </cdr:from>
    <cdr:to>
      <cdr:x>0.68868</cdr:x>
      <cdr:y>0.54453</cdr:y>
    </cdr:to>
    <cdr:sp macro="" textlink="">
      <cdr:nvSpPr>
        <cdr:cNvPr id="2" name="Полилиния 1"/>
        <cdr:cNvSpPr/>
      </cdr:nvSpPr>
      <cdr:spPr>
        <a:xfrm xmlns:a="http://schemas.openxmlformats.org/drawingml/2006/main">
          <a:off x="2664296" y="530383"/>
          <a:ext cx="2592288" cy="2160240"/>
        </a:xfrm>
        <a:custGeom xmlns:a="http://schemas.openxmlformats.org/drawingml/2006/main">
          <a:avLst/>
          <a:gdLst>
            <a:gd name="connsiteX0" fmla="*/ 0 w 1419367"/>
            <a:gd name="connsiteY0" fmla="*/ 900753 h 900753"/>
            <a:gd name="connsiteX1" fmla="*/ 627797 w 1419367"/>
            <a:gd name="connsiteY1" fmla="*/ 839338 h 900753"/>
            <a:gd name="connsiteX2" fmla="*/ 1023582 w 1419367"/>
            <a:gd name="connsiteY2" fmla="*/ 552735 h 900753"/>
            <a:gd name="connsiteX3" fmla="*/ 1419367 w 1419367"/>
            <a:gd name="connsiteY3" fmla="*/ 0 h 900753"/>
            <a:gd name="connsiteX4" fmla="*/ 1419367 w 1419367"/>
            <a:gd name="connsiteY4" fmla="*/ 0 h 900753"/>
            <a:gd name="connsiteX5" fmla="*/ 1419367 w 1419367"/>
            <a:gd name="connsiteY5" fmla="*/ 0 h 900753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</a:cxnLst>
          <a:rect l="l" t="t" r="r" b="b"/>
          <a:pathLst>
            <a:path w="1419367" h="900753">
              <a:moveTo>
                <a:pt x="0" y="900753"/>
              </a:moveTo>
              <a:cubicBezTo>
                <a:pt x="228600" y="899047"/>
                <a:pt x="457200" y="897341"/>
                <a:pt x="627797" y="839338"/>
              </a:cubicBezTo>
              <a:cubicBezTo>
                <a:pt x="798394" y="781335"/>
                <a:pt x="891654" y="692625"/>
                <a:pt x="1023582" y="552735"/>
              </a:cubicBezTo>
              <a:cubicBezTo>
                <a:pt x="1155510" y="412845"/>
                <a:pt x="1419367" y="0"/>
                <a:pt x="1419367" y="0"/>
              </a:cubicBezTo>
              <a:lnTo>
                <a:pt x="1419367" y="0"/>
              </a:lnTo>
              <a:lnTo>
                <a:pt x="1419367" y="0"/>
              </a:lnTo>
            </a:path>
          </a:pathLst>
        </a:custGeom>
        <a:ln xmlns:a="http://schemas.openxmlformats.org/drawingml/2006/main" w="28575">
          <a:prstDash val="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0.58491</cdr:x>
      <cdr:y>0.10734</cdr:y>
    </cdr:from>
    <cdr:to>
      <cdr:x>0.68868</cdr:x>
      <cdr:y>0.81807</cdr:y>
    </cdr:to>
    <cdr:sp macro="" textlink="">
      <cdr:nvSpPr>
        <cdr:cNvPr id="3" name="Полилиния 2"/>
        <cdr:cNvSpPr/>
      </cdr:nvSpPr>
      <cdr:spPr>
        <a:xfrm xmlns:a="http://schemas.openxmlformats.org/drawingml/2006/main">
          <a:off x="4464496" y="530383"/>
          <a:ext cx="792088" cy="3511814"/>
        </a:xfrm>
        <a:custGeom xmlns:a="http://schemas.openxmlformats.org/drawingml/2006/main">
          <a:avLst/>
          <a:gdLst>
            <a:gd name="connsiteX0" fmla="*/ 0 w 450376"/>
            <a:gd name="connsiteY0" fmla="*/ 1610436 h 1610436"/>
            <a:gd name="connsiteX1" fmla="*/ 225188 w 450376"/>
            <a:gd name="connsiteY1" fmla="*/ 1289713 h 1610436"/>
            <a:gd name="connsiteX2" fmla="*/ 341194 w 450376"/>
            <a:gd name="connsiteY2" fmla="*/ 1057701 h 1610436"/>
            <a:gd name="connsiteX3" fmla="*/ 450376 w 450376"/>
            <a:gd name="connsiteY3" fmla="*/ 0 h 1610436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</a:cxnLst>
          <a:rect l="l" t="t" r="r" b="b"/>
          <a:pathLst>
            <a:path w="450376" h="1610436">
              <a:moveTo>
                <a:pt x="0" y="1610436"/>
              </a:moveTo>
              <a:cubicBezTo>
                <a:pt x="84161" y="1496135"/>
                <a:pt x="168322" y="1381835"/>
                <a:pt x="225188" y="1289713"/>
              </a:cubicBezTo>
              <a:cubicBezTo>
                <a:pt x="282054" y="1197590"/>
                <a:pt x="303663" y="1272653"/>
                <a:pt x="341194" y="1057701"/>
              </a:cubicBezTo>
              <a:cubicBezTo>
                <a:pt x="378725" y="842749"/>
                <a:pt x="414550" y="421374"/>
                <a:pt x="450376" y="0"/>
              </a:cubicBezTo>
            </a:path>
          </a:pathLst>
        </a:custGeom>
        <a:ln xmlns:a="http://schemas.openxmlformats.org/drawingml/2006/main" w="28575">
          <a:solidFill>
            <a:srgbClr val="0000FF"/>
          </a:solidFill>
          <a:prstDash val="dashDot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999F6190-A6E5-4F97-88E2-FBE04958BBA9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1A550527-0A60-45C0-9B82-A65ABBBEDA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4768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50527-0A60-45C0-9B82-A65ABBBEDADC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075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12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itchFamily="18" charset="0"/>
                <a:cs typeface="Arial" pitchFamily="34" charset="0"/>
              </a:defRPr>
            </a:lvl9pPr>
          </a:lstStyle>
          <a:p>
            <a:pPr eaLnBrk="1" hangingPunct="1"/>
            <a:fld id="{0F4055D9-4FAD-44F9-9BA9-418EC7CB94EE}" type="slidenum">
              <a:rPr lang="ru-RU" smtClean="0"/>
              <a:pPr eaLnBrk="1" hangingPunct="1"/>
              <a:t>4</a:t>
            </a:fld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50527-0A60-45C0-9B82-A65ABBBEDADC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834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50527-0A60-45C0-9B82-A65ABBBEDADC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702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50527-0A60-45C0-9B82-A65ABBBEDADC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83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12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2397-E0C4-44BC-A432-27F016B25293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83870-55EF-4490-94B4-3D7D9AC7E2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38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B4F34-FDFB-4D4D-AD10-DC57DB9CFB2A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22B3F-337E-49E7-9B20-CF2031A2D1B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46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C9A6D-3E94-4A36-94AC-74D0AC7E9FEC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3051A-C518-409F-8BA8-03B9A46AC2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28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D5689D-6871-4A7B-8155-B541EFC79851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08851-9F52-4667-82C0-36CD0F2447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96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759AAA-0B91-4F0E-9A5C-1098AC1AD96D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F03035-91B8-4227-B2F8-D7B3CA13AB3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20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53CA9-F667-4DE2-B030-5584A2C91427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CDCBA-A938-4819-843D-FF8169D820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6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DC762-935E-4ED8-83AB-59D81FB27926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2BD1E-E4A3-437F-BD05-2D8AC146985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52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695C2-E86D-492F-8170-D9E26EF5A3B8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5E66B-54C2-423D-BB93-D1C134B9E4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06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9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5EE67-38FC-4579-8710-FC1A4C2D2A8A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6182-24B1-4774-BB56-2E23AA09734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03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CEFB1-DBDF-48D4-94B3-CC3F1A653D87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FF026-893F-47BC-BD97-D9CFD8C5D8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72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FA932-432B-4545-A2E5-992024FE2908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ABD17-8848-43E2-AE52-68308BF15D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16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30985F-F4EC-4F33-811D-438BB2FA2864}" type="datetimeFigureOut">
              <a:rPr lang="ru-RU"/>
              <a:pPr>
                <a:defRPr/>
              </a:pPr>
              <a:t>27.05.2012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ED8568-1ABC-40E5-A5F0-A3D9AB3665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29" r:id="rId2"/>
    <p:sldLayoutId id="2147483738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9" r:id="rId9"/>
    <p:sldLayoutId id="2147483735" r:id="rId10"/>
    <p:sldLayoutId id="2147483736" r:id="rId11"/>
  </p:sldLayoutIdLst>
  <p:timing>
    <p:tnLst>
      <p:par>
        <p:cTn id="1" dur="indefinite" restart="never" nodeType="tmRoot"/>
      </p:par>
    </p:tnLst>
  </p:timing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Century Schoolbook" pitchFamily="18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Century Schoolbook" pitchFamily="18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Century Schoolbook" pitchFamily="18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Century Schoolbook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slide" Target="slide10.xml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5" Type="http://schemas.openxmlformats.org/officeDocument/2006/relationships/slide" Target="slide9.xml"/><Relationship Id="rId10" Type="http://schemas.openxmlformats.org/officeDocument/2006/relationships/oleObject" Target="../embeddings/oleObject3.bin"/><Relationship Id="rId4" Type="http://schemas.openxmlformats.org/officeDocument/2006/relationships/slide" Target="slide11.xml"/><Relationship Id="rId9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6.wmf"/><Relationship Id="rId3" Type="http://schemas.openxmlformats.org/officeDocument/2006/relationships/image" Target="../media/image7.jpe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0.png"/><Relationship Id="rId5" Type="http://schemas.openxmlformats.org/officeDocument/2006/relationships/image" Target="../media/image25.wmf"/><Relationship Id="rId15" Type="http://schemas.openxmlformats.org/officeDocument/2006/relationships/image" Target="../media/image27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900113" y="260350"/>
            <a:ext cx="7272337" cy="865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Radioelektron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tizimlar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nologiyalari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markazi</a:t>
            </a:r>
            <a:endParaRPr lang="ru-RU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3356992"/>
            <a:ext cx="8208912" cy="1368152"/>
          </a:xfrm>
          <a:effectLst/>
          <a:extLst/>
        </p:spPr>
        <p:txBody>
          <a:bodyPr rtlCol="0">
            <a:noAutofit/>
          </a:bodyPr>
          <a:lstStyle/>
          <a:p>
            <a:pPr algn="just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3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800" dirty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algoritmini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usuliga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bardoshligini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baholash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ta’minotini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sz="2800" dirty="0" smtClean="0">
                <a:ln>
                  <a:solidFill>
                    <a:srgbClr val="7030A0"/>
                  </a:solidFill>
                </a:ln>
                <a:solidFill>
                  <a:schemeClr val="bg2">
                    <a:lumMod val="1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”</a:t>
            </a:r>
            <a:endParaRPr lang="ru-RU" sz="2800" dirty="0">
              <a:ln>
                <a:solidFill>
                  <a:srgbClr val="7030A0"/>
                </a:solidFill>
              </a:ln>
              <a:solidFill>
                <a:schemeClr val="bg2">
                  <a:lumMod val="1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50"/>
          <p:cNvSpPr>
            <a:spLocks noChangeArrowheads="1"/>
          </p:cNvSpPr>
          <p:nvPr/>
        </p:nvSpPr>
        <p:spPr bwMode="auto">
          <a:xfrm>
            <a:off x="237173" y="987267"/>
            <a:ext cx="8643937" cy="46037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791746" y="1628800"/>
            <a:ext cx="5851988" cy="1107996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b="1" dirty="0">
                <a:ln w="17780" cmpd="sng">
                  <a:solidFill>
                    <a:schemeClr val="accent3">
                      <a:lumMod val="75000"/>
                    </a:schemeClr>
                  </a:solidFill>
                  <a:prstDash val="solid"/>
                  <a:miter lim="800000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  <a:cs typeface="+mn-cs"/>
              </a:rPr>
              <a:t>DISSERTATSIYA</a:t>
            </a:r>
            <a:endParaRPr lang="ru-RU" sz="6600" b="1" dirty="0">
              <a:ln w="17780" cmpd="sng">
                <a:solidFill>
                  <a:schemeClr val="accent3">
                    <a:lumMod val="75000"/>
                  </a:schemeClr>
                </a:solidFill>
                <a:prstDash val="solid"/>
                <a:miter lim="800000"/>
              </a:ln>
              <a:solidFill>
                <a:schemeClr val="accent3">
                  <a:lumMod val="75000"/>
                </a:schemeClr>
              </a:solidFill>
              <a:effectLst>
                <a:outerShdw blurRad="50800" algn="tl" rotWithShape="0">
                  <a:srgbClr val="000000"/>
                </a:outerShdw>
              </a:effectLst>
              <a:latin typeface="+mn-lt"/>
              <a:cs typeface="+mn-cs"/>
            </a:endParaRPr>
          </a:p>
        </p:txBody>
      </p:sp>
      <p:sp>
        <p:nvSpPr>
          <p:cNvPr id="17" name="Text Box 154"/>
          <p:cNvSpPr txBox="1">
            <a:spLocks noChangeArrowheads="1"/>
          </p:cNvSpPr>
          <p:nvPr/>
        </p:nvSpPr>
        <p:spPr bwMode="auto">
          <a:xfrm>
            <a:off x="3695079" y="5445224"/>
            <a:ext cx="54134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b="1" dirty="0" err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Ilmiy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rahbar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   f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m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f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b="1" dirty="0" err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Kur’yazov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D. M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b="1" dirty="0" err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Dissertant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en-US" sz="2000" b="1" dirty="0" err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Mayliyev</a:t>
            </a:r>
            <a:r>
              <a:rPr lang="en-US" sz="2000" b="1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O. I.</a:t>
            </a:r>
            <a:endParaRPr lang="ru-RU" sz="2000" b="1" dirty="0" smtClean="0"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-19145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Скругленный прямоугольник 4"/>
          <p:cNvSpPr/>
          <p:nvPr/>
        </p:nvSpPr>
        <p:spPr>
          <a:xfrm>
            <a:off x="652711" y="1607086"/>
            <a:ext cx="7958598" cy="44244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en-US" sz="2400" dirty="0" smtClean="0"/>
              <a:t>	</a:t>
            </a:r>
            <a:r>
              <a:rPr lang="en-US" sz="2400" dirty="0" err="1" smtClean="0"/>
              <a:t>Axborotni</a:t>
            </a:r>
            <a:r>
              <a:rPr lang="en-US" sz="2400" dirty="0" smtClean="0"/>
              <a:t> </a:t>
            </a:r>
            <a:r>
              <a:rPr lang="en-US" sz="2400" dirty="0" err="1"/>
              <a:t>kriptografik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texnik</a:t>
            </a:r>
            <a:r>
              <a:rPr lang="en-US" sz="2400" dirty="0"/>
              <a:t> </a:t>
            </a:r>
            <a:r>
              <a:rPr lang="en-US" sz="2400" dirty="0" err="1"/>
              <a:t>himoya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r>
              <a:rPr lang="en-US" sz="2400" dirty="0"/>
              <a:t> </a:t>
            </a:r>
            <a:r>
              <a:rPr lang="en-US" sz="2400" dirty="0" err="1"/>
              <a:t>vositalarini</a:t>
            </a:r>
            <a:r>
              <a:rPr lang="en-US" sz="2400" dirty="0"/>
              <a:t> </a:t>
            </a:r>
            <a:r>
              <a:rPr lang="en-US" sz="2400" dirty="0" err="1"/>
              <a:t>yaratish</a:t>
            </a:r>
            <a:r>
              <a:rPr lang="en-US" sz="2400" dirty="0"/>
              <a:t> </a:t>
            </a:r>
            <a:r>
              <a:rPr lang="en-US" sz="2400" dirty="0" err="1"/>
              <a:t>bo’yicha</a:t>
            </a:r>
            <a:r>
              <a:rPr lang="en-US" sz="2400" dirty="0"/>
              <a:t> 2011 – 2015 </a:t>
            </a:r>
            <a:r>
              <a:rPr lang="en-US" sz="2400" dirty="0" err="1"/>
              <a:t>yillarga</a:t>
            </a:r>
            <a:r>
              <a:rPr lang="en-US" sz="2400" dirty="0"/>
              <a:t> </a:t>
            </a:r>
            <a:r>
              <a:rPr lang="en-US" sz="2400" dirty="0" err="1"/>
              <a:t>mo’ljallangan</a:t>
            </a:r>
            <a:r>
              <a:rPr lang="en-US" sz="2400" dirty="0"/>
              <a:t> “</a:t>
            </a:r>
            <a:r>
              <a:rPr lang="en-US" sz="2400" dirty="0" err="1"/>
              <a:t>ilmiy</a:t>
            </a:r>
            <a:r>
              <a:rPr lang="en-US" sz="2400" dirty="0"/>
              <a:t> </a:t>
            </a:r>
            <a:r>
              <a:rPr lang="en-US" sz="2400" dirty="0" err="1"/>
              <a:t>tadqiqot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tajriba</a:t>
            </a:r>
            <a:r>
              <a:rPr lang="en-US" sz="2400" dirty="0"/>
              <a:t> </a:t>
            </a:r>
            <a:r>
              <a:rPr lang="en-US" sz="2400" dirty="0" err="1"/>
              <a:t>konstruktorlik</a:t>
            </a:r>
            <a:r>
              <a:rPr lang="en-US" sz="2400" dirty="0"/>
              <a:t> </a:t>
            </a:r>
            <a:r>
              <a:rPr lang="en-US" sz="2400" dirty="0" err="1"/>
              <a:t>ishlari</a:t>
            </a:r>
            <a:r>
              <a:rPr lang="en-US" sz="2400" dirty="0"/>
              <a:t>” </a:t>
            </a:r>
            <a:r>
              <a:rPr lang="en-US" sz="2400" dirty="0" err="1"/>
              <a:t>rejasiga</a:t>
            </a:r>
            <a:r>
              <a:rPr lang="en-US" sz="2400" dirty="0"/>
              <a:t> </a:t>
            </a:r>
            <a:r>
              <a:rPr lang="en-US" sz="2400" dirty="0" err="1"/>
              <a:t>asosan</a:t>
            </a:r>
            <a:r>
              <a:rPr lang="en-US" sz="2400" dirty="0"/>
              <a:t> </a:t>
            </a:r>
            <a:r>
              <a:rPr lang="en-US" sz="2400" dirty="0" err="1"/>
              <a:t>kriptografik</a:t>
            </a:r>
            <a:r>
              <a:rPr lang="en-US" sz="2400" dirty="0"/>
              <a:t> </a:t>
            </a:r>
            <a:r>
              <a:rPr lang="en-US" sz="2400" dirty="0" err="1"/>
              <a:t>algoritmlar</a:t>
            </a:r>
            <a:r>
              <a:rPr lang="en-US" sz="2400" dirty="0"/>
              <a:t> </a:t>
            </a:r>
            <a:r>
              <a:rPr lang="en-US" sz="2400" dirty="0" err="1" smtClean="0"/>
              <a:t>bardoshligini</a:t>
            </a:r>
            <a:r>
              <a:rPr lang="en-US" sz="2400" dirty="0" smtClean="0"/>
              <a:t> </a:t>
            </a:r>
            <a:r>
              <a:rPr lang="en-US" sz="2400" dirty="0" err="1"/>
              <a:t>baholash</a:t>
            </a:r>
            <a:r>
              <a:rPr lang="en-US" sz="2400" dirty="0"/>
              <a:t> </a:t>
            </a:r>
            <a:r>
              <a:rPr lang="en-US" sz="2400" dirty="0" err="1"/>
              <a:t>yo’nalishi</a:t>
            </a:r>
            <a:r>
              <a:rPr lang="en-US" sz="2400" dirty="0"/>
              <a:t> </a:t>
            </a:r>
            <a:r>
              <a:rPr lang="en-US" sz="2400" dirty="0" err="1"/>
              <a:t>bo’yicha</a:t>
            </a:r>
            <a:r>
              <a:rPr lang="en-US" sz="2400" dirty="0"/>
              <a:t> </a:t>
            </a:r>
            <a:r>
              <a:rPr lang="en-US" sz="2400" dirty="0" err="1"/>
              <a:t>ilmiy</a:t>
            </a:r>
            <a:r>
              <a:rPr lang="en-US" sz="2400" dirty="0"/>
              <a:t> </a:t>
            </a:r>
            <a:r>
              <a:rPr lang="en-US" sz="2400" dirty="0" err="1"/>
              <a:t>tadqiqot</a:t>
            </a:r>
            <a:r>
              <a:rPr lang="en-US" sz="2400" dirty="0"/>
              <a:t> </a:t>
            </a:r>
            <a:r>
              <a:rPr lang="en-US" sz="2400" dirty="0" err="1"/>
              <a:t>ishlarini</a:t>
            </a:r>
            <a:r>
              <a:rPr lang="en-US" sz="2400" dirty="0"/>
              <a:t> </a:t>
            </a:r>
            <a:r>
              <a:rPr lang="en-US" sz="2400" dirty="0" err="1"/>
              <a:t>olib</a:t>
            </a:r>
            <a:r>
              <a:rPr lang="en-US" sz="2400" dirty="0"/>
              <a:t> </a:t>
            </a:r>
            <a:r>
              <a:rPr lang="en-US" sz="2400" dirty="0" err="1"/>
              <a:t>borish</a:t>
            </a:r>
            <a:r>
              <a:rPr lang="en-US" sz="2400" dirty="0"/>
              <a:t> </a:t>
            </a:r>
            <a:r>
              <a:rPr lang="en-US" sz="2400" dirty="0" err="1"/>
              <a:t>nazarda</a:t>
            </a:r>
            <a:r>
              <a:rPr lang="en-US" sz="2400" dirty="0"/>
              <a:t> </a:t>
            </a:r>
            <a:r>
              <a:rPr lang="en-US" sz="2400" dirty="0" err="1"/>
              <a:t>tutilgan</a:t>
            </a:r>
            <a:r>
              <a:rPr lang="en-US" sz="2400" dirty="0"/>
              <a:t>. </a:t>
            </a:r>
            <a:r>
              <a:rPr lang="en-US" sz="2400" dirty="0" err="1"/>
              <a:t>Shundan</a:t>
            </a:r>
            <a:r>
              <a:rPr lang="en-US" sz="2400" dirty="0"/>
              <a:t> </a:t>
            </a:r>
            <a:r>
              <a:rPr lang="en-US" sz="2400" dirty="0" err="1"/>
              <a:t>kelib</a:t>
            </a:r>
            <a:r>
              <a:rPr lang="en-US" sz="2400" dirty="0"/>
              <a:t> </a:t>
            </a:r>
            <a:r>
              <a:rPr lang="en-US" sz="2400" dirty="0" err="1"/>
              <a:t>chiqib</a:t>
            </a:r>
            <a:r>
              <a:rPr lang="en-US" sz="2400" dirty="0"/>
              <a:t> </a:t>
            </a:r>
            <a:r>
              <a:rPr lang="en-US" sz="2400" dirty="0" err="1"/>
              <a:t>standart</a:t>
            </a:r>
            <a:r>
              <a:rPr lang="en-US" sz="2400" dirty="0"/>
              <a:t> </a:t>
            </a:r>
            <a:r>
              <a:rPr lang="en-US" sz="2400" dirty="0" err="1"/>
              <a:t>simmetrik</a:t>
            </a:r>
            <a:r>
              <a:rPr lang="en-US" sz="2400" dirty="0"/>
              <a:t> </a:t>
            </a:r>
            <a:r>
              <a:rPr lang="en-US" sz="2400" dirty="0" err="1"/>
              <a:t>shifrlash</a:t>
            </a:r>
            <a:r>
              <a:rPr lang="en-US" sz="2400" dirty="0"/>
              <a:t> </a:t>
            </a:r>
            <a:r>
              <a:rPr lang="en-US" sz="2400" dirty="0" err="1"/>
              <a:t>algoritmlari</a:t>
            </a:r>
            <a:r>
              <a:rPr lang="en-US" sz="2400" dirty="0"/>
              <a:t> </a:t>
            </a:r>
            <a:r>
              <a:rPr lang="en-US" sz="2400" dirty="0" err="1" smtClean="0"/>
              <a:t>kriptotahlili</a:t>
            </a:r>
            <a:r>
              <a:rPr lang="en-US" sz="2400" dirty="0" smtClean="0"/>
              <a:t> </a:t>
            </a:r>
            <a:r>
              <a:rPr lang="en-US" sz="2400" dirty="0" err="1"/>
              <a:t>mavzusida</a:t>
            </a:r>
            <a:r>
              <a:rPr lang="en-US" sz="2400" dirty="0"/>
              <a:t> </a:t>
            </a:r>
            <a:r>
              <a:rPr lang="en-US" sz="2400" dirty="0" err="1"/>
              <a:t>ilmiy</a:t>
            </a:r>
            <a:r>
              <a:rPr lang="en-US" sz="2400" dirty="0"/>
              <a:t> </a:t>
            </a:r>
            <a:r>
              <a:rPr lang="en-US" sz="2400" dirty="0" err="1"/>
              <a:t>tadqiqot</a:t>
            </a:r>
            <a:r>
              <a:rPr lang="en-US" sz="2400" dirty="0"/>
              <a:t> </a:t>
            </a:r>
            <a:r>
              <a:rPr lang="en-US" sz="2400" dirty="0" err="1"/>
              <a:t>ishlarini</a:t>
            </a:r>
            <a:r>
              <a:rPr lang="en-US" sz="2400" dirty="0"/>
              <a:t> </a:t>
            </a:r>
            <a:r>
              <a:rPr lang="en-US" sz="2400" dirty="0" err="1"/>
              <a:t>olib</a:t>
            </a:r>
            <a:r>
              <a:rPr lang="en-US" sz="2400" dirty="0"/>
              <a:t> </a:t>
            </a:r>
            <a:r>
              <a:rPr lang="en-US" sz="2400" dirty="0" err="1"/>
              <a:t>borish</a:t>
            </a:r>
            <a:r>
              <a:rPr lang="en-US" sz="2400" dirty="0"/>
              <a:t> </a:t>
            </a:r>
            <a:r>
              <a:rPr lang="en-US" sz="2400" dirty="0" err="1"/>
              <a:t>dolzarb</a:t>
            </a:r>
            <a:r>
              <a:rPr lang="en-US" sz="2400" dirty="0"/>
              <a:t> </a:t>
            </a:r>
            <a:r>
              <a:rPr lang="en-US" sz="2400" dirty="0" err="1"/>
              <a:t>hisoblanadi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4622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err="1" smtClean="0">
                <a:solidFill>
                  <a:srgbClr val="C00000"/>
                </a:solidFill>
              </a:rPr>
              <a:t>Mavzuning</a:t>
            </a:r>
            <a:r>
              <a:rPr lang="en-US" sz="4400" b="1" dirty="0" smtClean="0">
                <a:solidFill>
                  <a:srgbClr val="C00000"/>
                </a:solidFill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</a:rPr>
              <a:t>dolzarbligi</a:t>
            </a:r>
            <a:endParaRPr lang="ru-RU" sz="4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Скругленный прямоугольник 4"/>
          <p:cNvSpPr/>
          <p:nvPr/>
        </p:nvSpPr>
        <p:spPr>
          <a:xfrm>
            <a:off x="450885" y="1279361"/>
            <a:ext cx="8280921" cy="54006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503237" indent="-45720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1993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M. Matsui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tamonidan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algoritmiga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qo’llanilgan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3237" indent="-45720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2001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yilda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V. V.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Sholin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V. V.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Jeleznyakov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E. M.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Gabidulin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tamonidan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GOST28147-89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5-raundidan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boshlab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usuliga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7-raundidan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boshlab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differentsial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usuliga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bardoshligi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masalalari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ko’rib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chiqilgan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3237" indent="-457200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2009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yilda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magistrant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Ahmadaliyev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A. R.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tamonidan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bloklari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kripotahlil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bo’yicha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tegishli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3237" indent="-457200" algn="just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2010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yilda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magistrant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Aliqulov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B. M.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tamonidan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raundi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GOST 28147-89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bloklari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SP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tarmog’iga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asoslangan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9 bit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9 bit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chiqishga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bo’lgan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raundli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kripotahlil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bo’yicha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tegishli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3237" indent="-457200" algn="just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qabul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bo’yicha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o’tkazilgan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tanlov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i="1" u="sng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http://csrc.nist.gov/encryption/aes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xulosalariga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ko’ra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usuliga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bardoshliligi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3237" indent="-457200" algn="just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Kvadrat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arxitekturasi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bo’lmagan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differentsiallar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deb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ataluvchi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usullariga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tekshirilib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tegishli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00" b="1" dirty="0" smtClean="0">
                <a:solidFill>
                  <a:srgbClr val="C00000"/>
                </a:solidFill>
              </a:rPr>
              <a:t> </a:t>
            </a:r>
            <a:r>
              <a:rPr lang="en-US" sz="3400" b="1" dirty="0" err="1">
                <a:solidFill>
                  <a:srgbClr val="C00000"/>
                </a:solidFill>
              </a:rPr>
              <a:t>Mavzuning</a:t>
            </a:r>
            <a:r>
              <a:rPr lang="en-US" sz="3400" b="1" dirty="0">
                <a:solidFill>
                  <a:srgbClr val="C00000"/>
                </a:solidFill>
              </a:rPr>
              <a:t> </a:t>
            </a:r>
            <a:r>
              <a:rPr lang="en-US" sz="3400" b="1" dirty="0" err="1">
                <a:solidFill>
                  <a:srgbClr val="C00000"/>
                </a:solidFill>
              </a:rPr>
              <a:t>o’rganilganlik</a:t>
            </a:r>
            <a:r>
              <a:rPr lang="en-US" sz="3400" b="1" dirty="0">
                <a:solidFill>
                  <a:srgbClr val="C00000"/>
                </a:solidFill>
              </a:rPr>
              <a:t> </a:t>
            </a:r>
            <a:r>
              <a:rPr lang="en-US" sz="3400" b="1" dirty="0" err="1">
                <a:solidFill>
                  <a:srgbClr val="C00000"/>
                </a:solidFill>
              </a:rPr>
              <a:t>darajasi</a:t>
            </a:r>
            <a:endParaRPr lang="ru-RU" sz="3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64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/>
          <p:cNvCxnSpPr/>
          <p:nvPr/>
        </p:nvCxnSpPr>
        <p:spPr>
          <a:xfrm>
            <a:off x="-29428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Скругленный прямоугольник 3"/>
          <p:cNvSpPr/>
          <p:nvPr/>
        </p:nvSpPr>
        <p:spPr>
          <a:xfrm>
            <a:off x="581844" y="1613942"/>
            <a:ext cx="7958598" cy="4424476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sz="4000" dirty="0">
                <a:latin typeface="Times New Roman" pitchFamily="18" charset="0"/>
                <a:cs typeface="Times New Roman" pitchFamily="18" charset="0"/>
              </a:rPr>
              <a:t>standart va 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AES  </a:t>
            </a:r>
            <a:r>
              <a:rPr lang="uz-Cyrl-UZ" sz="4000" dirty="0">
                <a:latin typeface="Times New Roman" pitchFamily="18" charset="0"/>
                <a:cs typeface="Times New Roman" pitchFamily="18" charset="0"/>
              </a:rPr>
              <a:t>o’quv simmetrik shifrlash 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algoritmlar</a:t>
            </a: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 chiziqli </a:t>
            </a:r>
            <a:r>
              <a:rPr lang="uz-Cyrl-UZ" sz="4000" dirty="0">
                <a:latin typeface="Times New Roman" pitchFamily="18" charset="0"/>
                <a:cs typeface="Times New Roman" pitchFamily="18" charset="0"/>
              </a:rPr>
              <a:t>kriptotahlil usuliga 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bardoshligini </a:t>
            </a:r>
            <a:r>
              <a:rPr lang="uz-Cyrl-UZ" sz="4000" dirty="0">
                <a:latin typeface="Times New Roman" pitchFamily="18" charset="0"/>
                <a:cs typeface="Times New Roman" pitchFamily="18" charset="0"/>
              </a:rPr>
              <a:t>baholash va uning 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dasturi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4000" dirty="0">
                <a:latin typeface="Times New Roman" pitchFamily="18" charset="0"/>
                <a:cs typeface="Times New Roman" pitchFamily="18" charset="0"/>
              </a:rPr>
              <a:t>ta’minotini </a:t>
            </a:r>
            <a:r>
              <a:rPr lang="uz-Cyrl-UZ" sz="4000" dirty="0" smtClean="0"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(1,2,3 – </a:t>
            </a: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raundlar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misolida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 err="1" smtClean="0">
                <a:solidFill>
                  <a:srgbClr val="C00000"/>
                </a:solidFill>
              </a:rPr>
              <a:t>Tadqiqot</a:t>
            </a:r>
            <a:r>
              <a:rPr lang="en-US" sz="4800" b="1" dirty="0" smtClean="0">
                <a:solidFill>
                  <a:srgbClr val="C00000"/>
                </a:solidFill>
              </a:rPr>
              <a:t> </a:t>
            </a:r>
            <a:r>
              <a:rPr lang="en-US" sz="4800" b="1" dirty="0" err="1" smtClean="0">
                <a:solidFill>
                  <a:srgbClr val="C00000"/>
                </a:solidFill>
              </a:rPr>
              <a:t>maqsadi</a:t>
            </a:r>
            <a:endParaRPr lang="ru-RU" sz="4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/>
          <p:cNvSpPr/>
          <p:nvPr/>
        </p:nvSpPr>
        <p:spPr>
          <a:xfrm>
            <a:off x="647042" y="1488179"/>
            <a:ext cx="8101434" cy="910569"/>
          </a:xfrm>
          <a:custGeom>
            <a:avLst/>
            <a:gdLst>
              <a:gd name="connsiteX0" fmla="*/ 0 w 8101434"/>
              <a:gd name="connsiteY0" fmla="*/ 0 h 910567"/>
              <a:gd name="connsiteX1" fmla="*/ 7646151 w 8101434"/>
              <a:gd name="connsiteY1" fmla="*/ 0 h 910567"/>
              <a:gd name="connsiteX2" fmla="*/ 8101434 w 8101434"/>
              <a:gd name="connsiteY2" fmla="*/ 455284 h 910567"/>
              <a:gd name="connsiteX3" fmla="*/ 7646151 w 8101434"/>
              <a:gd name="connsiteY3" fmla="*/ 910567 h 910567"/>
              <a:gd name="connsiteX4" fmla="*/ 0 w 8101434"/>
              <a:gd name="connsiteY4" fmla="*/ 910567 h 910567"/>
              <a:gd name="connsiteX5" fmla="*/ 0 w 8101434"/>
              <a:gd name="connsiteY5" fmla="*/ 0 h 91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01434" h="910567">
                <a:moveTo>
                  <a:pt x="8101434" y="910566"/>
                </a:moveTo>
                <a:lnTo>
                  <a:pt x="455283" y="910566"/>
                </a:lnTo>
                <a:lnTo>
                  <a:pt x="0" y="455283"/>
                </a:lnTo>
                <a:lnTo>
                  <a:pt x="455283" y="1"/>
                </a:lnTo>
                <a:lnTo>
                  <a:pt x="8101434" y="1"/>
                </a:lnTo>
                <a:lnTo>
                  <a:pt x="8101434" y="910566"/>
                </a:lnTo>
                <a:close/>
              </a:path>
            </a:pathLst>
          </a:cu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29177" tIns="68581" rIns="128016" bIns="68581" numCol="1" spcCol="1270" anchor="ctr" anchorCtr="0">
            <a:noAutofit/>
          </a:bodyPr>
          <a:lstStyle/>
          <a:p>
            <a:pPr lvl="0" algn="just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uz-Cyrl-UZ" sz="1800" b="1" kern="1200" dirty="0" smtClean="0"/>
              <a:t>SP tarmog’iga asoslangan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shifrlash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algoritmlari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uchun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chiziqli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kriptotahlil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usuli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tahlili</a:t>
            </a:r>
            <a:endParaRPr lang="ru-RU" sz="1800" b="1" kern="1200" dirty="0"/>
          </a:p>
        </p:txBody>
      </p:sp>
      <p:sp>
        <p:nvSpPr>
          <p:cNvPr id="7" name="Овал 6"/>
          <p:cNvSpPr/>
          <p:nvPr/>
        </p:nvSpPr>
        <p:spPr>
          <a:xfrm>
            <a:off x="251520" y="1559878"/>
            <a:ext cx="910567" cy="910567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2700" prstMaterial="translucentPowder">
            <a:bevelT w="25400" h="6350" prst="softRound"/>
            <a:bevelB w="0" h="0" prst="convex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Полилиния 7"/>
          <p:cNvSpPr/>
          <p:nvPr/>
        </p:nvSpPr>
        <p:spPr>
          <a:xfrm>
            <a:off x="679212" y="2670558"/>
            <a:ext cx="8037095" cy="910569"/>
          </a:xfrm>
          <a:custGeom>
            <a:avLst/>
            <a:gdLst>
              <a:gd name="connsiteX0" fmla="*/ 0 w 8037095"/>
              <a:gd name="connsiteY0" fmla="*/ 0 h 910567"/>
              <a:gd name="connsiteX1" fmla="*/ 7581812 w 8037095"/>
              <a:gd name="connsiteY1" fmla="*/ 0 h 910567"/>
              <a:gd name="connsiteX2" fmla="*/ 8037095 w 8037095"/>
              <a:gd name="connsiteY2" fmla="*/ 455284 h 910567"/>
              <a:gd name="connsiteX3" fmla="*/ 7581812 w 8037095"/>
              <a:gd name="connsiteY3" fmla="*/ 910567 h 910567"/>
              <a:gd name="connsiteX4" fmla="*/ 0 w 8037095"/>
              <a:gd name="connsiteY4" fmla="*/ 910567 h 910567"/>
              <a:gd name="connsiteX5" fmla="*/ 0 w 8037095"/>
              <a:gd name="connsiteY5" fmla="*/ 0 h 91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37095" h="910567">
                <a:moveTo>
                  <a:pt x="8037095" y="910566"/>
                </a:moveTo>
                <a:lnTo>
                  <a:pt x="455283" y="910566"/>
                </a:lnTo>
                <a:lnTo>
                  <a:pt x="0" y="455283"/>
                </a:lnTo>
                <a:lnTo>
                  <a:pt x="455283" y="1"/>
                </a:lnTo>
                <a:lnTo>
                  <a:pt x="8037095" y="1"/>
                </a:lnTo>
                <a:lnTo>
                  <a:pt x="8037095" y="910566"/>
                </a:lnTo>
                <a:close/>
              </a:path>
            </a:pathLst>
          </a:cu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29177" tIns="68581" rIns="128016" bIns="68581" numCol="1" spcCol="1270" anchor="ctr" anchorCtr="0">
            <a:noAutofit/>
          </a:bodyPr>
          <a:lstStyle/>
          <a:p>
            <a:pPr lvl="0" algn="just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uz-Cyrl-UZ" sz="1800" b="1" kern="1200" dirty="0" smtClean="0"/>
              <a:t>AES simmetrik shifrlash algoritmi uchun chiziqli </a:t>
            </a:r>
            <a:r>
              <a:rPr lang="en-US" sz="1800" b="1" kern="1200" dirty="0" err="1" smtClean="0"/>
              <a:t>kriptotahlil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usulining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qo’llanilishi</a:t>
            </a:r>
            <a:endParaRPr lang="ru-RU" sz="1800" b="1" kern="1200" dirty="0"/>
          </a:p>
        </p:txBody>
      </p:sp>
      <p:sp>
        <p:nvSpPr>
          <p:cNvPr id="10" name="Овал 9"/>
          <p:cNvSpPr/>
          <p:nvPr/>
        </p:nvSpPr>
        <p:spPr>
          <a:xfrm>
            <a:off x="251520" y="2691192"/>
            <a:ext cx="910567" cy="910567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2700" prstMaterial="translucentPowder">
            <a:bevelT w="25400" h="6350" prst="softRound"/>
            <a:bevelB w="0" h="0" prst="convex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Полилиния 10"/>
          <p:cNvSpPr/>
          <p:nvPr/>
        </p:nvSpPr>
        <p:spPr>
          <a:xfrm>
            <a:off x="679212" y="3852936"/>
            <a:ext cx="8037095" cy="910568"/>
          </a:xfrm>
          <a:custGeom>
            <a:avLst/>
            <a:gdLst>
              <a:gd name="connsiteX0" fmla="*/ 0 w 8037095"/>
              <a:gd name="connsiteY0" fmla="*/ 0 h 910567"/>
              <a:gd name="connsiteX1" fmla="*/ 7581812 w 8037095"/>
              <a:gd name="connsiteY1" fmla="*/ 0 h 910567"/>
              <a:gd name="connsiteX2" fmla="*/ 8037095 w 8037095"/>
              <a:gd name="connsiteY2" fmla="*/ 455284 h 910567"/>
              <a:gd name="connsiteX3" fmla="*/ 7581812 w 8037095"/>
              <a:gd name="connsiteY3" fmla="*/ 910567 h 910567"/>
              <a:gd name="connsiteX4" fmla="*/ 0 w 8037095"/>
              <a:gd name="connsiteY4" fmla="*/ 910567 h 910567"/>
              <a:gd name="connsiteX5" fmla="*/ 0 w 8037095"/>
              <a:gd name="connsiteY5" fmla="*/ 0 h 91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37095" h="910567">
                <a:moveTo>
                  <a:pt x="8037095" y="910566"/>
                </a:moveTo>
                <a:lnTo>
                  <a:pt x="455283" y="910566"/>
                </a:lnTo>
                <a:lnTo>
                  <a:pt x="0" y="455283"/>
                </a:lnTo>
                <a:lnTo>
                  <a:pt x="455283" y="1"/>
                </a:lnTo>
                <a:lnTo>
                  <a:pt x="8037095" y="1"/>
                </a:lnTo>
                <a:lnTo>
                  <a:pt x="8037095" y="910566"/>
                </a:lnTo>
                <a:close/>
              </a:path>
            </a:pathLst>
          </a:cu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29177" tIns="68581" rIns="128016" bIns="68580" numCol="1" spcCol="1270" anchor="ctr" anchorCtr="0">
            <a:noAutofit/>
          </a:bodyPr>
          <a:lstStyle/>
          <a:p>
            <a:pPr lvl="0" algn="just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uz-Cyrl-UZ" sz="1800" b="1" kern="1200" dirty="0" smtClean="0"/>
              <a:t>AES simmetrik shifrlash algoritmi uchun chiziqli kriptotahlil usuliga dasturiy ta’minot yaratish</a:t>
            </a:r>
            <a:endParaRPr lang="ru-RU" sz="1800" b="1" kern="1200" dirty="0"/>
          </a:p>
        </p:txBody>
      </p:sp>
      <p:sp>
        <p:nvSpPr>
          <p:cNvPr id="12" name="Овал 11"/>
          <p:cNvSpPr/>
          <p:nvPr/>
        </p:nvSpPr>
        <p:spPr>
          <a:xfrm>
            <a:off x="251520" y="3865803"/>
            <a:ext cx="910567" cy="910567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2700" prstMaterial="translucentPowder">
            <a:bevelT w="25400" h="6350" prst="softRound"/>
            <a:bevelB w="0" h="0" prst="convex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Полилиния 12"/>
          <p:cNvSpPr/>
          <p:nvPr/>
        </p:nvSpPr>
        <p:spPr>
          <a:xfrm>
            <a:off x="679212" y="5035315"/>
            <a:ext cx="8037095" cy="910568"/>
          </a:xfrm>
          <a:custGeom>
            <a:avLst/>
            <a:gdLst>
              <a:gd name="connsiteX0" fmla="*/ 0 w 8037095"/>
              <a:gd name="connsiteY0" fmla="*/ 0 h 910567"/>
              <a:gd name="connsiteX1" fmla="*/ 7581812 w 8037095"/>
              <a:gd name="connsiteY1" fmla="*/ 0 h 910567"/>
              <a:gd name="connsiteX2" fmla="*/ 8037095 w 8037095"/>
              <a:gd name="connsiteY2" fmla="*/ 455284 h 910567"/>
              <a:gd name="connsiteX3" fmla="*/ 7581812 w 8037095"/>
              <a:gd name="connsiteY3" fmla="*/ 910567 h 910567"/>
              <a:gd name="connsiteX4" fmla="*/ 0 w 8037095"/>
              <a:gd name="connsiteY4" fmla="*/ 910567 h 910567"/>
              <a:gd name="connsiteX5" fmla="*/ 0 w 8037095"/>
              <a:gd name="connsiteY5" fmla="*/ 0 h 91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37095" h="910567">
                <a:moveTo>
                  <a:pt x="8037095" y="910566"/>
                </a:moveTo>
                <a:lnTo>
                  <a:pt x="455283" y="910566"/>
                </a:lnTo>
                <a:lnTo>
                  <a:pt x="0" y="455283"/>
                </a:lnTo>
                <a:lnTo>
                  <a:pt x="455283" y="1"/>
                </a:lnTo>
                <a:lnTo>
                  <a:pt x="8037095" y="1"/>
                </a:lnTo>
                <a:lnTo>
                  <a:pt x="8037095" y="910566"/>
                </a:lnTo>
                <a:close/>
              </a:path>
            </a:pathLst>
          </a:cu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29177" tIns="68581" rIns="128016" bIns="68580" numCol="1" spcCol="1270" anchor="ctr" anchorCtr="0">
            <a:noAutofit/>
          </a:bodyPr>
          <a:lstStyle/>
          <a:p>
            <a:pPr lvl="0" algn="just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uz-Cyrl-UZ" sz="1800" b="1" kern="1200" dirty="0" smtClean="0"/>
              <a:t>AES simmetrik shifrlash algoritmiga ch</a:t>
            </a:r>
            <a:r>
              <a:rPr lang="en-US" sz="1800" b="1" kern="1200" dirty="0" smtClean="0"/>
              <a:t>i</a:t>
            </a:r>
            <a:r>
              <a:rPr lang="uz-Cyrl-UZ" sz="1800" b="1" kern="1200" dirty="0" smtClean="0"/>
              <a:t>ziqli kriptotahlil usuli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uchun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yaratilgan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dasturiy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ta’minotidan</a:t>
            </a:r>
            <a:r>
              <a:rPr lang="en-US" sz="1800" b="1" kern="1200" dirty="0" smtClean="0"/>
              <a:t> </a:t>
            </a:r>
            <a:r>
              <a:rPr lang="uz-Cyrl-UZ" sz="1800" b="1" kern="1200" dirty="0" smtClean="0"/>
              <a:t>olingan natijalar</a:t>
            </a:r>
            <a:r>
              <a:rPr lang="en-US" sz="1800" b="1" kern="1200" dirty="0" smtClean="0"/>
              <a:t> </a:t>
            </a:r>
            <a:r>
              <a:rPr lang="en-US" sz="1800" b="1" kern="1200" dirty="0" err="1" smtClean="0"/>
              <a:t>tahlili</a:t>
            </a:r>
            <a:endParaRPr lang="ru-RU" sz="1800" b="1" kern="1200" dirty="0"/>
          </a:p>
        </p:txBody>
      </p:sp>
      <p:sp>
        <p:nvSpPr>
          <p:cNvPr id="17" name="Овал 16"/>
          <p:cNvSpPr/>
          <p:nvPr/>
        </p:nvSpPr>
        <p:spPr>
          <a:xfrm>
            <a:off x="251520" y="5038712"/>
            <a:ext cx="910567" cy="910567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2700" prstMaterial="translucentPowder">
            <a:bevelT w="25400" h="6350" prst="softRound"/>
            <a:bevelB w="0" h="0" prst="convex"/>
          </a:sp3d>
        </p:spPr>
        <p:style>
          <a:lnRef idx="0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4" name="Прямая соединительная линия 3"/>
          <p:cNvCxnSpPr/>
          <p:nvPr/>
        </p:nvCxnSpPr>
        <p:spPr>
          <a:xfrm>
            <a:off x="-98008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Блок-схема: узел 5"/>
          <p:cNvSpPr/>
          <p:nvPr/>
        </p:nvSpPr>
        <p:spPr>
          <a:xfrm>
            <a:off x="285809" y="1583080"/>
            <a:ext cx="848975" cy="864096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 w="50800"/>
                <a:solidFill>
                  <a:schemeClr val="bg1"/>
                </a:solidFill>
              </a:rPr>
              <a:t>1</a:t>
            </a:r>
            <a:endParaRPr lang="ru-RU" sz="4400" b="1" dirty="0">
              <a:ln w="50800"/>
              <a:solidFill>
                <a:schemeClr val="bg1"/>
              </a:solidFill>
            </a:endParaRPr>
          </a:p>
        </p:txBody>
      </p:sp>
      <p:sp>
        <p:nvSpPr>
          <p:cNvPr id="14" name="Блок-схема: узел 13"/>
          <p:cNvSpPr/>
          <p:nvPr/>
        </p:nvSpPr>
        <p:spPr>
          <a:xfrm>
            <a:off x="280578" y="2708920"/>
            <a:ext cx="848975" cy="864096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 w="50800"/>
                <a:solidFill>
                  <a:schemeClr val="bg1"/>
                </a:solidFill>
              </a:rPr>
              <a:t>2</a:t>
            </a:r>
            <a:endParaRPr lang="ru-RU" sz="4400" b="1" dirty="0">
              <a:ln w="50800"/>
              <a:solidFill>
                <a:schemeClr val="bg1"/>
              </a:solidFill>
            </a:endParaRPr>
          </a:p>
        </p:txBody>
      </p:sp>
      <p:sp>
        <p:nvSpPr>
          <p:cNvPr id="15" name="Блок-схема: узел 14"/>
          <p:cNvSpPr/>
          <p:nvPr/>
        </p:nvSpPr>
        <p:spPr>
          <a:xfrm>
            <a:off x="289501" y="3875906"/>
            <a:ext cx="848975" cy="864096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 w="50800"/>
                <a:solidFill>
                  <a:schemeClr val="bg1"/>
                </a:solidFill>
              </a:rPr>
              <a:t>3</a:t>
            </a:r>
            <a:endParaRPr lang="ru-RU" sz="4400" b="1" dirty="0">
              <a:ln w="50800"/>
              <a:solidFill>
                <a:schemeClr val="bg1"/>
              </a:solidFill>
            </a:endParaRPr>
          </a:p>
        </p:txBody>
      </p:sp>
      <p:sp>
        <p:nvSpPr>
          <p:cNvPr id="16" name="Блок-схема: узел 15"/>
          <p:cNvSpPr/>
          <p:nvPr/>
        </p:nvSpPr>
        <p:spPr>
          <a:xfrm>
            <a:off x="285810" y="5050894"/>
            <a:ext cx="848975" cy="864096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 w="50800"/>
                <a:solidFill>
                  <a:schemeClr val="bg1"/>
                </a:solidFill>
              </a:rPr>
              <a:t>4</a:t>
            </a:r>
            <a:endParaRPr lang="ru-RU" sz="4400" b="1" dirty="0">
              <a:ln w="50800"/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rgbClr val="C00000"/>
                </a:solidFill>
              </a:rPr>
              <a:t>Maqsaddan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en-US" sz="3200" b="1" dirty="0" err="1">
                <a:solidFill>
                  <a:srgbClr val="C00000"/>
                </a:solidFill>
              </a:rPr>
              <a:t>kelib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err="1">
                <a:solidFill>
                  <a:srgbClr val="C00000"/>
                </a:solidFill>
              </a:rPr>
              <a:t>chiquvchi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</a:rPr>
              <a:t>vazifalar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3" grpId="0" animBg="1"/>
      <p:bldP spid="6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643182"/>
          <a:ext cx="8358214" cy="12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Группа 7"/>
          <p:cNvGrpSpPr/>
          <p:nvPr/>
        </p:nvGrpSpPr>
        <p:grpSpPr>
          <a:xfrm>
            <a:off x="1112020" y="3624374"/>
            <a:ext cx="7643866" cy="1285884"/>
            <a:chOff x="571493" y="-75640"/>
            <a:chExt cx="7215226" cy="136152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8" name="Пятиугольник 7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Пятиугольник 4"/>
            <p:cNvSpPr/>
            <p:nvPr/>
          </p:nvSpPr>
          <p:spPr>
            <a:xfrm>
              <a:off x="892967" y="-75640"/>
              <a:ext cx="6893752" cy="136152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uz-Cyrl-UZ" sz="2000" b="1" dirty="0">
                  <a:latin typeface="Times New Roman" pitchFamily="18" charset="0"/>
                  <a:cs typeface="Times New Roman" pitchFamily="18" charset="0"/>
                </a:rPr>
                <a:t>SP tarmog’iga asoslangan 9 bit kirish va 9 bit chiqishga ega bo’lgan simmetrik shifrlash algoritmi uchun chiziqli kriptotahlil usuli</a:t>
              </a:r>
              <a:endPara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Группа 13"/>
          <p:cNvGrpSpPr/>
          <p:nvPr/>
        </p:nvGrpSpPr>
        <p:grpSpPr>
          <a:xfrm>
            <a:off x="1142976" y="1863080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Пятиугольник 13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sp3d prstMaterial="dkEdge">
              <a:bevelT w="82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000" b="1" dirty="0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uz-Cyrl-UZ" sz="2000" b="1" dirty="0" smtClean="0">
                  <a:latin typeface="Times New Roman" pitchFamily="18" charset="0"/>
                  <a:cs typeface="Times New Roman" pitchFamily="18" charset="0"/>
                </a:rPr>
                <a:t>ES </a:t>
              </a:r>
              <a:r>
                <a:rPr lang="uz-Cyrl-UZ" sz="2000" b="1" dirty="0">
                  <a:latin typeface="Times New Roman" pitchFamily="18" charset="0"/>
                  <a:cs typeface="Times New Roman" pitchFamily="18" charset="0"/>
                </a:rPr>
                <a:t>shifrlash </a:t>
              </a:r>
              <a:r>
                <a:rPr lang="uz-Cyrl-UZ" sz="2000" b="1" dirty="0" smtClean="0">
                  <a:latin typeface="Times New Roman" pitchFamily="18" charset="0"/>
                  <a:cs typeface="Times New Roman" pitchFamily="18" charset="0"/>
                </a:rPr>
                <a:t>algoritmi </a:t>
              </a:r>
              <a:r>
                <a:rPr lang="uz-Cyrl-UZ" sz="2000" b="1" dirty="0">
                  <a:latin typeface="Times New Roman" pitchFamily="18" charset="0"/>
                  <a:cs typeface="Times New Roman" pitchFamily="18" charset="0"/>
                </a:rPr>
                <a:t>va </a:t>
              </a:r>
              <a:r>
                <a:rPr lang="uz-Cyrl-UZ" sz="2000" b="1" dirty="0" smtClean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sz="2000" b="1" dirty="0" err="1" smtClean="0">
                  <a:latin typeface="Times New Roman" pitchFamily="18" charset="0"/>
                  <a:cs typeface="Times New Roman" pitchFamily="18" charset="0"/>
                </a:rPr>
                <a:t>ni</a:t>
              </a:r>
              <a:r>
                <a:rPr lang="uz-Cyrl-UZ" sz="20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latin typeface="Times New Roman" pitchFamily="18" charset="0"/>
                  <a:cs typeface="Times New Roman" pitchFamily="18" charset="0"/>
                </a:rPr>
                <a:t>umumiy</a:t>
              </a:r>
              <a:r>
                <a:rPr lang="en-US" sz="20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sz="2000" b="1" dirty="0">
                  <a:latin typeface="Times New Roman" pitchFamily="18" charset="0"/>
                  <a:cs typeface="Times New Roman" pitchFamily="18" charset="0"/>
                </a:rPr>
                <a:t>kriptografik talablarga tekshirish </a:t>
              </a:r>
              <a:endPara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Овал 15"/>
          <p:cNvSpPr/>
          <p:nvPr/>
        </p:nvSpPr>
        <p:spPr>
          <a:xfrm>
            <a:off x="785786" y="1791642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200" b="1" dirty="0"/>
              <a:t>1.1</a:t>
            </a:r>
            <a:endParaRPr lang="ru-RU" sz="2200" b="1" dirty="0"/>
          </a:p>
        </p:txBody>
      </p:sp>
      <p:sp>
        <p:nvSpPr>
          <p:cNvPr id="18" name="Овал 17"/>
          <p:cNvSpPr/>
          <p:nvPr/>
        </p:nvSpPr>
        <p:spPr>
          <a:xfrm>
            <a:off x="754830" y="3624374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  <a:bevelB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200" b="1" dirty="0" smtClean="0"/>
              <a:t>1.</a:t>
            </a:r>
            <a:r>
              <a:rPr lang="en-US" sz="2200" b="1" dirty="0" smtClean="0"/>
              <a:t>2</a:t>
            </a:r>
            <a:endParaRPr lang="ru-RU" sz="2200" b="1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274006" y="281813"/>
            <a:ext cx="1738087" cy="60000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I BOB</a:t>
            </a:r>
            <a:endParaRPr lang="ru-RU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971600" y="197202"/>
            <a:ext cx="7992888" cy="792088"/>
            <a:chOff x="971600" y="197202"/>
            <a:chExt cx="7992888" cy="792088"/>
          </a:xfrm>
        </p:grpSpPr>
        <p:sp>
          <p:nvSpPr>
            <p:cNvPr id="4" name="Блок-схема: сохраненные данные 3"/>
            <p:cNvSpPr/>
            <p:nvPr/>
          </p:nvSpPr>
          <p:spPr>
            <a:xfrm rot="10800000">
              <a:off x="971600" y="197202"/>
              <a:ext cx="7992888" cy="792088"/>
            </a:xfrm>
            <a:prstGeom prst="flowChartOnlineStorag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2204545" y="285669"/>
              <a:ext cx="6514203" cy="60000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SP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tarmog’iga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asoslangan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shifrlash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algoritmlari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uchun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usuli</a:t>
              </a:r>
              <a:r>
                <a:rPr lang="en-US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tahlili</a:t>
              </a:r>
              <a:endParaRPr lang="ru-RU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1786766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nimBg="1"/>
      <p:bldP spid="18" grpId="0" build="p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07504" y="1268760"/>
            <a:ext cx="8928992" cy="5544616"/>
          </a:xfrm>
          <a:prstGeom prst="roundRect">
            <a:avLst>
              <a:gd name="adj" fmla="val 6704"/>
            </a:avLst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*()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akslantirishlarini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kriptografik talablarga tekshirish </a:t>
            </a:r>
            <a:endParaRPr lang="ru-RU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632312"/>
              </p:ext>
            </p:extLst>
          </p:nvPr>
        </p:nvGraphicFramePr>
        <p:xfrm>
          <a:off x="451489" y="1396166"/>
          <a:ext cx="8211522" cy="519836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{16D9F66E-5EB9-4882-86FB-DCBF35E3C3E4}</a:tableStyleId>
              </a:tblPr>
              <a:tblGrid>
                <a:gridCol w="2063718"/>
                <a:gridCol w="768946"/>
                <a:gridCol w="768946"/>
                <a:gridCol w="768946"/>
                <a:gridCol w="768946"/>
                <a:gridCol w="768005"/>
                <a:gridCol w="768005"/>
                <a:gridCol w="768005"/>
                <a:gridCol w="768005"/>
              </a:tblGrid>
              <a:tr h="433197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u="none" strike="noStrike" kern="1200" cap="none" spc="0" normalizeH="0" baseline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rgbClr val="0000FF"/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AES</a:t>
                      </a:r>
                      <a:endParaRPr kumimoji="0" lang="ru-RU" sz="2000" b="1" u="none" strike="noStrike" kern="1200" cap="none" spc="0" normalizeH="0" baseline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rgbClr val="0000FF"/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Sub</a:t>
                      </a:r>
                      <a:r>
                        <a:rPr kumimoji="0" lang="uz-Cyrl-UZ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Byt</a:t>
                      </a:r>
                      <a:r>
                        <a:rPr kumimoji="0" lang="en-US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</a:t>
                      </a:r>
                      <a:r>
                        <a:rPr kumimoji="0" lang="uz-Cyrl-UZ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()</a:t>
                      </a:r>
                      <a:endParaRPr kumimoji="0" lang="ru-RU" sz="2000" b="1" u="none" strike="noStrike" kern="1200" cap="none" normalizeH="0" baseline="0" dirty="0">
                        <a:ln>
                          <a:noFill/>
                        </a:ln>
                        <a:solidFill>
                          <a:srgbClr val="AF04CC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86639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</a:t>
                      </a:r>
                      <a:r>
                        <a:rPr lang="en-US" sz="2000" baseline="-25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ru-RU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ru-RU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ru-RU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0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argumentlari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8663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balanslashganlik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+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reguryarlik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deg (f)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 (f)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112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 (φ)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CI(f)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33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SAC(f)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968505"/>
              </p:ext>
            </p:extLst>
          </p:nvPr>
        </p:nvGraphicFramePr>
        <p:xfrm>
          <a:off x="1134965" y="1416232"/>
          <a:ext cx="6912761" cy="51811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  <a:gridCol w="406633"/>
              </a:tblGrid>
              <a:tr h="287840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             </a:t>
                      </a:r>
                      <a:r>
                        <a:rPr lang="en-US" sz="14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87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5e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1c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8a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4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ce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28784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8c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bf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0f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bb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</a:tbl>
          </a:graphicData>
        </a:graphic>
      </p:graphicFrame>
      <p:cxnSp>
        <p:nvCxnSpPr>
          <p:cNvPr id="3" name="Прямая соединительная линия 2"/>
          <p:cNvCxnSpPr/>
          <p:nvPr/>
        </p:nvCxnSpPr>
        <p:spPr>
          <a:xfrm>
            <a:off x="1024176" y="548680"/>
            <a:ext cx="14401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987824" y="548680"/>
            <a:ext cx="157672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08065"/>
              </p:ext>
            </p:extLst>
          </p:nvPr>
        </p:nvGraphicFramePr>
        <p:xfrm>
          <a:off x="1028750" y="1427637"/>
          <a:ext cx="6957269" cy="544068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08565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  <a:gridCol w="409294"/>
              </a:tblGrid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252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1103" marR="511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29590409"/>
              </p:ext>
            </p:extLst>
          </p:nvPr>
        </p:nvGraphicFramePr>
        <p:xfrm>
          <a:off x="394339" y="1439063"/>
          <a:ext cx="8434679" cy="507331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119849"/>
                <a:gridCol w="790750"/>
                <a:gridCol w="789154"/>
                <a:gridCol w="790753"/>
                <a:gridCol w="789154"/>
                <a:gridCol w="789154"/>
                <a:gridCol w="787556"/>
                <a:gridCol w="790753"/>
                <a:gridCol w="787556"/>
              </a:tblGrid>
              <a:tr h="46169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spc="0" normalizeH="0" baseline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rgbClr val="0000FF"/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AES</a:t>
                      </a:r>
                      <a:endParaRPr kumimoji="0" lang="ru-RU" sz="2000" b="1" i="1" u="none" strike="noStrike" cap="none" spc="0" normalizeH="0" baseline="0" dirty="0" smtClean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rgbClr val="0000FF"/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</a:rPr>
                        <a:t>SubBytes</a:t>
                      </a: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F04CC"/>
                          </a:solidFill>
                          <a:effectLst/>
                        </a:rPr>
                        <a:t>*()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AF04CC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6292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en-US" sz="2000" b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ru-RU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ru-RU" sz="2000" b="1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ru-RU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en-US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en-US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en-US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</a:t>
                      </a:r>
                      <a:r>
                        <a:rPr kumimoji="0" lang="en-US" sz="2000" b="1" u="none" strike="noStrike" cap="none" normalizeH="0" baseline="-2500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1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argumentlari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8816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 smtClean="0">
                          <a:effectLst/>
                        </a:rPr>
                        <a:t>balanslashganlik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1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reguryarlik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1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deg (f)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2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 (f)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106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104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98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1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 (φ)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62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CI(f)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61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SAC(f)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ru-RU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ru-RU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17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mph" presetSubtype="0" repeatCount="2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07504" y="1268760"/>
            <a:ext cx="8928992" cy="5544616"/>
          </a:xfrm>
          <a:prstGeom prst="roundRect">
            <a:avLst>
              <a:gd name="adj" fmla="val 6704"/>
            </a:avLst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 </a:t>
            </a:r>
            <a:r>
              <a:rPr lang="uz-Cyrl-UZ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tarmog’iga asoslangan 9 bit kirish va 9 bit chiqishga ega bo’lgan simmetrik shifrlash algoritmi uchun chiziqli kriptotahlil </a:t>
            </a:r>
            <a:r>
              <a:rPr lang="uz-Cyrl-UZ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usuli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Group 637"/>
          <p:cNvGrpSpPr>
            <a:grpSpLocks/>
          </p:cNvGrpSpPr>
          <p:nvPr/>
        </p:nvGrpSpPr>
        <p:grpSpPr bwMode="auto">
          <a:xfrm>
            <a:off x="5292080" y="1406215"/>
            <a:ext cx="3675735" cy="5263145"/>
            <a:chOff x="2163" y="158"/>
            <a:chExt cx="2890" cy="4015"/>
          </a:xfrm>
        </p:grpSpPr>
        <p:sp>
          <p:nvSpPr>
            <p:cNvPr id="9" name="Rectangle 638"/>
            <p:cNvSpPr>
              <a:spLocks noChangeArrowheads="1"/>
            </p:cNvSpPr>
            <p:nvPr/>
          </p:nvSpPr>
          <p:spPr bwMode="auto">
            <a:xfrm>
              <a:off x="2163" y="158"/>
              <a:ext cx="2781" cy="4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 sz="1200"/>
            </a:p>
          </p:txBody>
        </p:sp>
        <p:grpSp>
          <p:nvGrpSpPr>
            <p:cNvPr id="10" name="Group 639"/>
            <p:cNvGrpSpPr>
              <a:grpSpLocks/>
            </p:cNvGrpSpPr>
            <p:nvPr/>
          </p:nvGrpSpPr>
          <p:grpSpPr bwMode="auto">
            <a:xfrm>
              <a:off x="2186" y="173"/>
              <a:ext cx="2867" cy="3965"/>
              <a:chOff x="2186" y="173"/>
              <a:chExt cx="2867" cy="3965"/>
            </a:xfrm>
          </p:grpSpPr>
          <p:sp>
            <p:nvSpPr>
              <p:cNvPr id="11" name="Line 640"/>
              <p:cNvSpPr>
                <a:spLocks noChangeShapeType="1"/>
              </p:cNvSpPr>
              <p:nvPr/>
            </p:nvSpPr>
            <p:spPr bwMode="auto">
              <a:xfrm>
                <a:off x="2519" y="36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" name="Line 641"/>
              <p:cNvSpPr>
                <a:spLocks noChangeShapeType="1"/>
              </p:cNvSpPr>
              <p:nvPr/>
            </p:nvSpPr>
            <p:spPr bwMode="auto">
              <a:xfrm>
                <a:off x="2671" y="36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" name="Line 642"/>
              <p:cNvSpPr>
                <a:spLocks noChangeShapeType="1"/>
              </p:cNvSpPr>
              <p:nvPr/>
            </p:nvSpPr>
            <p:spPr bwMode="auto">
              <a:xfrm>
                <a:off x="2823" y="36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" name="Line 643"/>
              <p:cNvSpPr>
                <a:spLocks noChangeShapeType="1"/>
              </p:cNvSpPr>
              <p:nvPr/>
            </p:nvSpPr>
            <p:spPr bwMode="auto">
              <a:xfrm>
                <a:off x="3239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5" name="Line 644"/>
              <p:cNvSpPr>
                <a:spLocks noChangeShapeType="1"/>
              </p:cNvSpPr>
              <p:nvPr/>
            </p:nvSpPr>
            <p:spPr bwMode="auto">
              <a:xfrm>
                <a:off x="3396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6" name="Line 645"/>
              <p:cNvSpPr>
                <a:spLocks noChangeShapeType="1"/>
              </p:cNvSpPr>
              <p:nvPr/>
            </p:nvSpPr>
            <p:spPr bwMode="auto">
              <a:xfrm>
                <a:off x="3554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7" name="Line 646"/>
              <p:cNvSpPr>
                <a:spLocks noChangeShapeType="1"/>
              </p:cNvSpPr>
              <p:nvPr/>
            </p:nvSpPr>
            <p:spPr bwMode="auto">
              <a:xfrm>
                <a:off x="4018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8" name="Line 647"/>
              <p:cNvSpPr>
                <a:spLocks noChangeShapeType="1"/>
              </p:cNvSpPr>
              <p:nvPr/>
            </p:nvSpPr>
            <p:spPr bwMode="auto">
              <a:xfrm>
                <a:off x="4175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9" name="Line 648"/>
              <p:cNvSpPr>
                <a:spLocks noChangeShapeType="1"/>
              </p:cNvSpPr>
              <p:nvPr/>
            </p:nvSpPr>
            <p:spPr bwMode="auto">
              <a:xfrm>
                <a:off x="4338" y="37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0" name="Text Box 649"/>
              <p:cNvSpPr txBox="1">
                <a:spLocks noChangeArrowheads="1"/>
              </p:cNvSpPr>
              <p:nvPr/>
            </p:nvSpPr>
            <p:spPr bwMode="auto">
              <a:xfrm>
                <a:off x="3996" y="3958"/>
                <a:ext cx="336" cy="1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l">
                  <a:lnSpc>
                    <a:spcPct val="70000"/>
                  </a:lnSpc>
                </a:pPr>
                <a:r>
                  <a:rPr lang="en-US" sz="1100" b="1"/>
                  <a:t>Y</a:t>
                </a:r>
                <a:r>
                  <a:rPr lang="en-US" sz="1100" b="1" baseline="-25000"/>
                  <a:t>9</a:t>
                </a:r>
                <a:endParaRPr lang="ru-RU" sz="1100" b="1"/>
              </a:p>
            </p:txBody>
          </p:sp>
          <p:sp>
            <p:nvSpPr>
              <p:cNvPr id="21" name="Line 650"/>
              <p:cNvSpPr>
                <a:spLocks noChangeShapeType="1"/>
              </p:cNvSpPr>
              <p:nvPr/>
            </p:nvSpPr>
            <p:spPr bwMode="auto">
              <a:xfrm>
                <a:off x="2495" y="2429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2" name="Line 651"/>
              <p:cNvSpPr>
                <a:spLocks noChangeShapeType="1"/>
              </p:cNvSpPr>
              <p:nvPr/>
            </p:nvSpPr>
            <p:spPr bwMode="auto">
              <a:xfrm>
                <a:off x="2654" y="2423"/>
                <a:ext cx="565" cy="2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3" name="Line 652"/>
              <p:cNvSpPr>
                <a:spLocks noChangeShapeType="1"/>
              </p:cNvSpPr>
              <p:nvPr/>
            </p:nvSpPr>
            <p:spPr bwMode="auto">
              <a:xfrm>
                <a:off x="2808" y="2429"/>
                <a:ext cx="1176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4" name="Line 653"/>
              <p:cNvSpPr>
                <a:spLocks noChangeShapeType="1"/>
              </p:cNvSpPr>
              <p:nvPr/>
            </p:nvSpPr>
            <p:spPr bwMode="auto">
              <a:xfrm flipH="1">
                <a:off x="2643" y="2429"/>
                <a:ext cx="588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5" name="Line 654"/>
              <p:cNvSpPr>
                <a:spLocks noChangeShapeType="1"/>
              </p:cNvSpPr>
              <p:nvPr/>
            </p:nvSpPr>
            <p:spPr bwMode="auto">
              <a:xfrm flipH="1">
                <a:off x="2790" y="2423"/>
                <a:ext cx="1249" cy="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6" name="Line 655"/>
              <p:cNvSpPr>
                <a:spLocks noChangeShapeType="1"/>
              </p:cNvSpPr>
              <p:nvPr/>
            </p:nvSpPr>
            <p:spPr bwMode="auto">
              <a:xfrm>
                <a:off x="3525" y="2435"/>
                <a:ext cx="630" cy="2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7" name="Line 656"/>
              <p:cNvSpPr>
                <a:spLocks noChangeShapeType="1"/>
              </p:cNvSpPr>
              <p:nvPr/>
            </p:nvSpPr>
            <p:spPr bwMode="auto">
              <a:xfrm flipH="1">
                <a:off x="3525" y="2429"/>
                <a:ext cx="661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8" name="Line 657"/>
              <p:cNvSpPr>
                <a:spLocks noChangeShapeType="1"/>
              </p:cNvSpPr>
              <p:nvPr/>
            </p:nvSpPr>
            <p:spPr bwMode="auto">
              <a:xfrm>
                <a:off x="4327" y="2429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29" name="Rectangle 658">
                <a:hlinkClick r:id="rId3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2432" y="2021"/>
                <a:ext cx="442" cy="241"/>
              </a:xfrm>
              <a:prstGeom prst="rect">
                <a:avLst/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1100" b="1"/>
                  <a:t>S</a:t>
                </a:r>
                <a:r>
                  <a:rPr lang="en-US" sz="1100" b="1" baseline="-25000"/>
                  <a:t>21</a:t>
                </a:r>
                <a:endParaRPr lang="ru-RU" sz="1100" b="1"/>
              </a:p>
            </p:txBody>
          </p:sp>
          <p:sp>
            <p:nvSpPr>
              <p:cNvPr id="30" name="Rectangle 659"/>
              <p:cNvSpPr>
                <a:spLocks noChangeArrowheads="1"/>
              </p:cNvSpPr>
              <p:nvPr/>
            </p:nvSpPr>
            <p:spPr bwMode="auto">
              <a:xfrm>
                <a:off x="3169" y="2026"/>
                <a:ext cx="442" cy="236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1100" b="1"/>
                  <a:t>S</a:t>
                </a:r>
                <a:r>
                  <a:rPr lang="en-US" sz="1100" b="1" baseline="-25000"/>
                  <a:t>22</a:t>
                </a:r>
                <a:endParaRPr lang="ru-RU" sz="1100" b="1"/>
              </a:p>
            </p:txBody>
          </p:sp>
          <p:sp>
            <p:nvSpPr>
              <p:cNvPr id="31" name="Rectangle 660"/>
              <p:cNvSpPr>
                <a:spLocks noChangeArrowheads="1"/>
              </p:cNvSpPr>
              <p:nvPr/>
            </p:nvSpPr>
            <p:spPr bwMode="auto">
              <a:xfrm>
                <a:off x="3948" y="2026"/>
                <a:ext cx="442" cy="236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1100" b="1"/>
                  <a:t>S</a:t>
                </a:r>
                <a:r>
                  <a:rPr lang="en-US" sz="1100" b="1" baseline="-25000"/>
                  <a:t>23</a:t>
                </a:r>
                <a:endParaRPr lang="ru-RU" sz="1100" b="1"/>
              </a:p>
            </p:txBody>
          </p:sp>
          <p:sp>
            <p:nvSpPr>
              <p:cNvPr id="32" name="Line 661"/>
              <p:cNvSpPr>
                <a:spLocks noChangeShapeType="1"/>
              </p:cNvSpPr>
              <p:nvPr/>
            </p:nvSpPr>
            <p:spPr bwMode="auto">
              <a:xfrm>
                <a:off x="2664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3" name="Line 662"/>
              <p:cNvSpPr>
                <a:spLocks noChangeShapeType="1"/>
              </p:cNvSpPr>
              <p:nvPr/>
            </p:nvSpPr>
            <p:spPr bwMode="auto">
              <a:xfrm>
                <a:off x="2806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4" name="Line 663"/>
              <p:cNvSpPr>
                <a:spLocks noChangeShapeType="1"/>
              </p:cNvSpPr>
              <p:nvPr/>
            </p:nvSpPr>
            <p:spPr bwMode="auto">
              <a:xfrm>
                <a:off x="3232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5" name="Line 664"/>
              <p:cNvSpPr>
                <a:spLocks noChangeShapeType="1"/>
              </p:cNvSpPr>
              <p:nvPr/>
            </p:nvSpPr>
            <p:spPr bwMode="auto">
              <a:xfrm>
                <a:off x="3371" y="2256"/>
                <a:ext cx="0" cy="7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6" name="Line 665"/>
              <p:cNvSpPr>
                <a:spLocks noChangeShapeType="1"/>
              </p:cNvSpPr>
              <p:nvPr/>
            </p:nvSpPr>
            <p:spPr bwMode="auto">
              <a:xfrm>
                <a:off x="3530" y="22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7" name="Line 666"/>
              <p:cNvSpPr>
                <a:spLocks noChangeShapeType="1"/>
              </p:cNvSpPr>
              <p:nvPr/>
            </p:nvSpPr>
            <p:spPr bwMode="auto">
              <a:xfrm>
                <a:off x="4033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8" name="Line 667"/>
              <p:cNvSpPr>
                <a:spLocks noChangeShapeType="1"/>
              </p:cNvSpPr>
              <p:nvPr/>
            </p:nvSpPr>
            <p:spPr bwMode="auto">
              <a:xfrm>
                <a:off x="4185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39" name="Line 668"/>
              <p:cNvSpPr>
                <a:spLocks noChangeShapeType="1"/>
              </p:cNvSpPr>
              <p:nvPr/>
            </p:nvSpPr>
            <p:spPr bwMode="auto">
              <a:xfrm>
                <a:off x="4327" y="2256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0" name="Line 669"/>
              <p:cNvSpPr>
                <a:spLocks noChangeShapeType="1"/>
              </p:cNvSpPr>
              <p:nvPr/>
            </p:nvSpPr>
            <p:spPr bwMode="auto">
              <a:xfrm>
                <a:off x="2495" y="2261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1" name="Line 670"/>
              <p:cNvSpPr>
                <a:spLocks noChangeShapeType="1"/>
              </p:cNvSpPr>
              <p:nvPr/>
            </p:nvSpPr>
            <p:spPr bwMode="auto">
              <a:xfrm>
                <a:off x="2507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2" name="Line 671"/>
              <p:cNvSpPr>
                <a:spLocks noChangeShapeType="1"/>
              </p:cNvSpPr>
              <p:nvPr/>
            </p:nvSpPr>
            <p:spPr bwMode="auto">
              <a:xfrm>
                <a:off x="2653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3" name="Line 672"/>
              <p:cNvSpPr>
                <a:spLocks noChangeShapeType="1"/>
              </p:cNvSpPr>
              <p:nvPr/>
            </p:nvSpPr>
            <p:spPr bwMode="auto">
              <a:xfrm>
                <a:off x="2810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4" name="Line 673"/>
              <p:cNvSpPr>
                <a:spLocks noChangeShapeType="1"/>
              </p:cNvSpPr>
              <p:nvPr/>
            </p:nvSpPr>
            <p:spPr bwMode="auto">
              <a:xfrm>
                <a:off x="4327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5" name="Line 674"/>
              <p:cNvSpPr>
                <a:spLocks noChangeShapeType="1"/>
              </p:cNvSpPr>
              <p:nvPr/>
            </p:nvSpPr>
            <p:spPr bwMode="auto">
              <a:xfrm>
                <a:off x="3385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6" name="Line 675"/>
              <p:cNvSpPr>
                <a:spLocks noChangeShapeType="1"/>
              </p:cNvSpPr>
              <p:nvPr/>
            </p:nvSpPr>
            <p:spPr bwMode="auto">
              <a:xfrm>
                <a:off x="3537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7" name="Line 676"/>
              <p:cNvSpPr>
                <a:spLocks noChangeShapeType="1"/>
              </p:cNvSpPr>
              <p:nvPr/>
            </p:nvSpPr>
            <p:spPr bwMode="auto">
              <a:xfrm>
                <a:off x="4011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8" name="Line 677"/>
              <p:cNvSpPr>
                <a:spLocks noChangeShapeType="1"/>
              </p:cNvSpPr>
              <p:nvPr/>
            </p:nvSpPr>
            <p:spPr bwMode="auto">
              <a:xfrm>
                <a:off x="4169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49" name="Line 678"/>
              <p:cNvSpPr>
                <a:spLocks noChangeShapeType="1"/>
              </p:cNvSpPr>
              <p:nvPr/>
            </p:nvSpPr>
            <p:spPr bwMode="auto">
              <a:xfrm>
                <a:off x="3227" y="185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0" name="Line 679"/>
              <p:cNvSpPr>
                <a:spLocks noChangeShapeType="1"/>
              </p:cNvSpPr>
              <p:nvPr/>
            </p:nvSpPr>
            <p:spPr bwMode="auto">
              <a:xfrm>
                <a:off x="2511" y="150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1" name="Line 680"/>
              <p:cNvSpPr>
                <a:spLocks noChangeShapeType="1"/>
              </p:cNvSpPr>
              <p:nvPr/>
            </p:nvSpPr>
            <p:spPr bwMode="auto">
              <a:xfrm>
                <a:off x="2653" y="150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2" name="Line 681"/>
              <p:cNvSpPr>
                <a:spLocks noChangeShapeType="1"/>
              </p:cNvSpPr>
              <p:nvPr/>
            </p:nvSpPr>
            <p:spPr bwMode="auto">
              <a:xfrm>
                <a:off x="2805" y="150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3" name="Line 682"/>
              <p:cNvSpPr>
                <a:spLocks noChangeShapeType="1"/>
              </p:cNvSpPr>
              <p:nvPr/>
            </p:nvSpPr>
            <p:spPr bwMode="auto">
              <a:xfrm>
                <a:off x="3227" y="1524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4" name="Line 683"/>
              <p:cNvSpPr>
                <a:spLocks noChangeShapeType="1"/>
              </p:cNvSpPr>
              <p:nvPr/>
            </p:nvSpPr>
            <p:spPr bwMode="auto">
              <a:xfrm>
                <a:off x="3391" y="1508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5" name="Line 684"/>
              <p:cNvSpPr>
                <a:spLocks noChangeShapeType="1"/>
              </p:cNvSpPr>
              <p:nvPr/>
            </p:nvSpPr>
            <p:spPr bwMode="auto">
              <a:xfrm>
                <a:off x="3542" y="151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6" name="Line 685"/>
              <p:cNvSpPr>
                <a:spLocks noChangeShapeType="1"/>
              </p:cNvSpPr>
              <p:nvPr/>
            </p:nvSpPr>
            <p:spPr bwMode="auto">
              <a:xfrm>
                <a:off x="4006" y="151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7" name="Line 686"/>
              <p:cNvSpPr>
                <a:spLocks noChangeShapeType="1"/>
              </p:cNvSpPr>
              <p:nvPr/>
            </p:nvSpPr>
            <p:spPr bwMode="auto">
              <a:xfrm>
                <a:off x="4170" y="151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8" name="Line 687"/>
              <p:cNvSpPr>
                <a:spLocks noChangeShapeType="1"/>
              </p:cNvSpPr>
              <p:nvPr/>
            </p:nvSpPr>
            <p:spPr bwMode="auto">
              <a:xfrm>
                <a:off x="2509" y="1243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59" name="Line 688"/>
              <p:cNvSpPr>
                <a:spLocks noChangeShapeType="1"/>
              </p:cNvSpPr>
              <p:nvPr/>
            </p:nvSpPr>
            <p:spPr bwMode="auto">
              <a:xfrm>
                <a:off x="3390" y="1243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0" name="Line 689"/>
              <p:cNvSpPr>
                <a:spLocks noChangeShapeType="1"/>
              </p:cNvSpPr>
              <p:nvPr/>
            </p:nvSpPr>
            <p:spPr bwMode="auto">
              <a:xfrm>
                <a:off x="2676" y="1240"/>
                <a:ext cx="544" cy="2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1" name="Line 690"/>
              <p:cNvSpPr>
                <a:spLocks noChangeShapeType="1"/>
              </p:cNvSpPr>
              <p:nvPr/>
            </p:nvSpPr>
            <p:spPr bwMode="auto">
              <a:xfrm>
                <a:off x="2823" y="1243"/>
                <a:ext cx="1176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2" name="Line 691"/>
              <p:cNvSpPr>
                <a:spLocks noChangeShapeType="1"/>
              </p:cNvSpPr>
              <p:nvPr/>
            </p:nvSpPr>
            <p:spPr bwMode="auto">
              <a:xfrm flipH="1">
                <a:off x="2655" y="1238"/>
                <a:ext cx="588" cy="2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3" name="Line 692"/>
              <p:cNvSpPr>
                <a:spLocks noChangeShapeType="1"/>
              </p:cNvSpPr>
              <p:nvPr/>
            </p:nvSpPr>
            <p:spPr bwMode="auto">
              <a:xfrm flipH="1">
                <a:off x="2796" y="1238"/>
                <a:ext cx="1250" cy="2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4" name="Line 693"/>
              <p:cNvSpPr>
                <a:spLocks noChangeShapeType="1"/>
              </p:cNvSpPr>
              <p:nvPr/>
            </p:nvSpPr>
            <p:spPr bwMode="auto">
              <a:xfrm>
                <a:off x="3544" y="1249"/>
                <a:ext cx="631" cy="2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5" name="Line 694"/>
              <p:cNvSpPr>
                <a:spLocks noChangeShapeType="1"/>
              </p:cNvSpPr>
              <p:nvPr/>
            </p:nvSpPr>
            <p:spPr bwMode="auto">
              <a:xfrm flipH="1">
                <a:off x="3538" y="1243"/>
                <a:ext cx="661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6" name="Line 695"/>
              <p:cNvSpPr>
                <a:spLocks noChangeShapeType="1"/>
              </p:cNvSpPr>
              <p:nvPr/>
            </p:nvSpPr>
            <p:spPr bwMode="auto">
              <a:xfrm>
                <a:off x="2677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7" name="Line 696"/>
              <p:cNvSpPr>
                <a:spLocks noChangeShapeType="1"/>
              </p:cNvSpPr>
              <p:nvPr/>
            </p:nvSpPr>
            <p:spPr bwMode="auto">
              <a:xfrm>
                <a:off x="2818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8" name="Line 697"/>
              <p:cNvSpPr>
                <a:spLocks noChangeShapeType="1"/>
              </p:cNvSpPr>
              <p:nvPr/>
            </p:nvSpPr>
            <p:spPr bwMode="auto">
              <a:xfrm>
                <a:off x="3238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69" name="Line 698"/>
              <p:cNvSpPr>
                <a:spLocks noChangeShapeType="1"/>
              </p:cNvSpPr>
              <p:nvPr/>
            </p:nvSpPr>
            <p:spPr bwMode="auto">
              <a:xfrm>
                <a:off x="3390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0" name="Line 699"/>
              <p:cNvSpPr>
                <a:spLocks noChangeShapeType="1"/>
              </p:cNvSpPr>
              <p:nvPr/>
            </p:nvSpPr>
            <p:spPr bwMode="auto">
              <a:xfrm>
                <a:off x="3549" y="1071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1" name="Line 700"/>
              <p:cNvSpPr>
                <a:spLocks noChangeShapeType="1"/>
              </p:cNvSpPr>
              <p:nvPr/>
            </p:nvSpPr>
            <p:spPr bwMode="auto">
              <a:xfrm>
                <a:off x="4040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2" name="Line 701"/>
              <p:cNvSpPr>
                <a:spLocks noChangeShapeType="1"/>
              </p:cNvSpPr>
              <p:nvPr/>
            </p:nvSpPr>
            <p:spPr bwMode="auto">
              <a:xfrm>
                <a:off x="4192" y="1065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3" name="Line 702"/>
              <p:cNvSpPr>
                <a:spLocks noChangeShapeType="1"/>
              </p:cNvSpPr>
              <p:nvPr/>
            </p:nvSpPr>
            <p:spPr bwMode="auto">
              <a:xfrm>
                <a:off x="4327" y="1065"/>
                <a:ext cx="0" cy="7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4" name="Line 703"/>
              <p:cNvSpPr>
                <a:spLocks noChangeShapeType="1"/>
              </p:cNvSpPr>
              <p:nvPr/>
            </p:nvSpPr>
            <p:spPr bwMode="auto">
              <a:xfrm>
                <a:off x="2509" y="1070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5" name="Line 704"/>
              <p:cNvSpPr>
                <a:spLocks noChangeShapeType="1"/>
              </p:cNvSpPr>
              <p:nvPr/>
            </p:nvSpPr>
            <p:spPr bwMode="auto">
              <a:xfrm>
                <a:off x="2519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6" name="Line 705"/>
              <p:cNvSpPr>
                <a:spLocks noChangeShapeType="1"/>
              </p:cNvSpPr>
              <p:nvPr/>
            </p:nvSpPr>
            <p:spPr bwMode="auto">
              <a:xfrm>
                <a:off x="2667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7" name="Line 706"/>
              <p:cNvSpPr>
                <a:spLocks noChangeShapeType="1"/>
              </p:cNvSpPr>
              <p:nvPr/>
            </p:nvSpPr>
            <p:spPr bwMode="auto">
              <a:xfrm>
                <a:off x="2823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8" name="Line 707"/>
              <p:cNvSpPr>
                <a:spLocks noChangeShapeType="1"/>
              </p:cNvSpPr>
              <p:nvPr/>
            </p:nvSpPr>
            <p:spPr bwMode="auto">
              <a:xfrm>
                <a:off x="4339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79" name="Line 708"/>
              <p:cNvSpPr>
                <a:spLocks noChangeShapeType="1"/>
              </p:cNvSpPr>
              <p:nvPr/>
            </p:nvSpPr>
            <p:spPr bwMode="auto">
              <a:xfrm>
                <a:off x="3397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0" name="Line 709"/>
              <p:cNvSpPr>
                <a:spLocks noChangeShapeType="1"/>
              </p:cNvSpPr>
              <p:nvPr/>
            </p:nvSpPr>
            <p:spPr bwMode="auto">
              <a:xfrm>
                <a:off x="3550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1" name="Line 710"/>
              <p:cNvSpPr>
                <a:spLocks noChangeShapeType="1"/>
              </p:cNvSpPr>
              <p:nvPr/>
            </p:nvSpPr>
            <p:spPr bwMode="auto">
              <a:xfrm>
                <a:off x="4024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2" name="Line 711"/>
              <p:cNvSpPr>
                <a:spLocks noChangeShapeType="1"/>
              </p:cNvSpPr>
              <p:nvPr/>
            </p:nvSpPr>
            <p:spPr bwMode="auto">
              <a:xfrm>
                <a:off x="4181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3" name="Line 712"/>
              <p:cNvSpPr>
                <a:spLocks noChangeShapeType="1"/>
              </p:cNvSpPr>
              <p:nvPr/>
            </p:nvSpPr>
            <p:spPr bwMode="auto">
              <a:xfrm>
                <a:off x="3239" y="662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4" name="Rectangle 713"/>
              <p:cNvSpPr>
                <a:spLocks noChangeArrowheads="1"/>
              </p:cNvSpPr>
              <p:nvPr/>
            </p:nvSpPr>
            <p:spPr bwMode="auto">
              <a:xfrm>
                <a:off x="2445" y="830"/>
                <a:ext cx="443" cy="240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11</a:t>
                </a:r>
                <a:endParaRPr lang="ru-RU" sz="1100" b="1"/>
              </a:p>
            </p:txBody>
          </p:sp>
          <p:sp>
            <p:nvSpPr>
              <p:cNvPr id="85" name="Rectangle 714"/>
              <p:cNvSpPr>
                <a:spLocks noChangeArrowheads="1"/>
              </p:cNvSpPr>
              <p:nvPr/>
            </p:nvSpPr>
            <p:spPr bwMode="auto">
              <a:xfrm>
                <a:off x="3182" y="835"/>
                <a:ext cx="441" cy="235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12</a:t>
                </a:r>
                <a:endParaRPr lang="ru-RU" sz="1100" b="1"/>
              </a:p>
            </p:txBody>
          </p:sp>
          <p:sp>
            <p:nvSpPr>
              <p:cNvPr id="86" name="Rectangle 715">
                <a:hlinkClick r:id="rId3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3960" y="835"/>
                <a:ext cx="442" cy="235"/>
              </a:xfrm>
              <a:prstGeom prst="rect">
                <a:avLst/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13</a:t>
                </a:r>
                <a:endParaRPr lang="ru-RU" sz="1100" b="1"/>
              </a:p>
            </p:txBody>
          </p:sp>
          <p:sp>
            <p:nvSpPr>
              <p:cNvPr id="87" name="Line 716"/>
              <p:cNvSpPr>
                <a:spLocks noChangeShapeType="1"/>
              </p:cNvSpPr>
              <p:nvPr/>
            </p:nvSpPr>
            <p:spPr bwMode="auto">
              <a:xfrm>
                <a:off x="2494" y="2691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8" name="Line 717"/>
              <p:cNvSpPr>
                <a:spLocks noChangeShapeType="1"/>
              </p:cNvSpPr>
              <p:nvPr/>
            </p:nvSpPr>
            <p:spPr bwMode="auto">
              <a:xfrm>
                <a:off x="2646" y="269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89" name="Line 718"/>
              <p:cNvSpPr>
                <a:spLocks noChangeShapeType="1"/>
              </p:cNvSpPr>
              <p:nvPr/>
            </p:nvSpPr>
            <p:spPr bwMode="auto">
              <a:xfrm>
                <a:off x="2799" y="269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0" name="Line 719"/>
              <p:cNvSpPr>
                <a:spLocks noChangeShapeType="1"/>
              </p:cNvSpPr>
              <p:nvPr/>
            </p:nvSpPr>
            <p:spPr bwMode="auto">
              <a:xfrm>
                <a:off x="3215" y="269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1" name="Line 720"/>
              <p:cNvSpPr>
                <a:spLocks noChangeShapeType="1"/>
              </p:cNvSpPr>
              <p:nvPr/>
            </p:nvSpPr>
            <p:spPr bwMode="auto">
              <a:xfrm>
                <a:off x="3530" y="269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2" name="Line 721"/>
              <p:cNvSpPr>
                <a:spLocks noChangeShapeType="1"/>
              </p:cNvSpPr>
              <p:nvPr/>
            </p:nvSpPr>
            <p:spPr bwMode="auto">
              <a:xfrm>
                <a:off x="3993" y="269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3" name="Line 722"/>
              <p:cNvSpPr>
                <a:spLocks noChangeShapeType="1"/>
              </p:cNvSpPr>
              <p:nvPr/>
            </p:nvSpPr>
            <p:spPr bwMode="auto">
              <a:xfrm>
                <a:off x="4150" y="269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4" name="Line 723"/>
              <p:cNvSpPr>
                <a:spLocks noChangeShapeType="1"/>
              </p:cNvSpPr>
              <p:nvPr/>
            </p:nvSpPr>
            <p:spPr bwMode="auto">
              <a:xfrm>
                <a:off x="4326" y="2697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5" name="Line 724"/>
              <p:cNvSpPr>
                <a:spLocks noChangeShapeType="1"/>
              </p:cNvSpPr>
              <p:nvPr/>
            </p:nvSpPr>
            <p:spPr bwMode="auto">
              <a:xfrm>
                <a:off x="2821" y="3443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6" name="Line 725"/>
              <p:cNvSpPr>
                <a:spLocks noChangeShapeType="1"/>
              </p:cNvSpPr>
              <p:nvPr/>
            </p:nvSpPr>
            <p:spPr bwMode="auto">
              <a:xfrm>
                <a:off x="3220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7" name="Line 726"/>
              <p:cNvSpPr>
                <a:spLocks noChangeShapeType="1"/>
              </p:cNvSpPr>
              <p:nvPr/>
            </p:nvSpPr>
            <p:spPr bwMode="auto">
              <a:xfrm>
                <a:off x="3383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8" name="Line 727"/>
              <p:cNvSpPr>
                <a:spLocks noChangeShapeType="1"/>
              </p:cNvSpPr>
              <p:nvPr/>
            </p:nvSpPr>
            <p:spPr bwMode="auto">
              <a:xfrm>
                <a:off x="3530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99" name="Line 728"/>
              <p:cNvSpPr>
                <a:spLocks noChangeShapeType="1"/>
              </p:cNvSpPr>
              <p:nvPr/>
            </p:nvSpPr>
            <p:spPr bwMode="auto">
              <a:xfrm>
                <a:off x="4009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0" name="Line 729"/>
              <p:cNvSpPr>
                <a:spLocks noChangeShapeType="1"/>
              </p:cNvSpPr>
              <p:nvPr/>
            </p:nvSpPr>
            <p:spPr bwMode="auto">
              <a:xfrm>
                <a:off x="4167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1" name="Line 730"/>
              <p:cNvSpPr>
                <a:spLocks noChangeShapeType="1"/>
              </p:cNvSpPr>
              <p:nvPr/>
            </p:nvSpPr>
            <p:spPr bwMode="auto">
              <a:xfrm>
                <a:off x="4313" y="3443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2" name="Line 731"/>
              <p:cNvSpPr>
                <a:spLocks noChangeShapeType="1"/>
              </p:cNvSpPr>
              <p:nvPr/>
            </p:nvSpPr>
            <p:spPr bwMode="auto">
              <a:xfrm>
                <a:off x="2456" y="3448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3" name="Line 732"/>
              <p:cNvSpPr>
                <a:spLocks noChangeShapeType="1"/>
              </p:cNvSpPr>
              <p:nvPr/>
            </p:nvSpPr>
            <p:spPr bwMode="auto">
              <a:xfrm>
                <a:off x="2495" y="3788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4" name="Line 733"/>
              <p:cNvSpPr>
                <a:spLocks noChangeShapeType="1"/>
              </p:cNvSpPr>
              <p:nvPr/>
            </p:nvSpPr>
            <p:spPr bwMode="auto">
              <a:xfrm>
                <a:off x="2649" y="3788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5" name="Text Box 734"/>
              <p:cNvSpPr txBox="1">
                <a:spLocks noChangeArrowheads="1"/>
              </p:cNvSpPr>
              <p:nvPr/>
            </p:nvSpPr>
            <p:spPr bwMode="auto">
              <a:xfrm>
                <a:off x="4166" y="178"/>
                <a:ext cx="295" cy="19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l">
                  <a:lnSpc>
                    <a:spcPct val="80000"/>
                  </a:lnSpc>
                </a:pPr>
                <a:r>
                  <a:rPr lang="en-US" sz="1100" b="1" dirty="0"/>
                  <a:t>X</a:t>
                </a:r>
                <a:r>
                  <a:rPr lang="en-US" sz="1100" b="1" baseline="-25000" dirty="0"/>
                  <a:t>9</a:t>
                </a:r>
                <a:endParaRPr lang="ru-RU" sz="1100" b="1" dirty="0"/>
              </a:p>
            </p:txBody>
          </p:sp>
          <p:sp>
            <p:nvSpPr>
              <p:cNvPr id="106" name="Text Box 735"/>
              <p:cNvSpPr txBox="1">
                <a:spLocks noChangeArrowheads="1"/>
              </p:cNvSpPr>
              <p:nvPr/>
            </p:nvSpPr>
            <p:spPr bwMode="auto">
              <a:xfrm>
                <a:off x="2422" y="173"/>
                <a:ext cx="294" cy="19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l">
                  <a:lnSpc>
                    <a:spcPct val="80000"/>
                  </a:lnSpc>
                </a:pPr>
                <a:r>
                  <a:rPr lang="en-US" sz="1100" b="1" dirty="0"/>
                  <a:t>X</a:t>
                </a:r>
                <a:r>
                  <a:rPr lang="en-US" sz="1100" b="1" baseline="-25000" dirty="0"/>
                  <a:t>1</a:t>
                </a:r>
                <a:endParaRPr lang="ru-RU" sz="1100" b="1" dirty="0"/>
              </a:p>
            </p:txBody>
          </p:sp>
          <p:sp>
            <p:nvSpPr>
              <p:cNvPr id="107" name="Text Box 736"/>
              <p:cNvSpPr txBox="1">
                <a:spLocks noChangeArrowheads="1"/>
              </p:cNvSpPr>
              <p:nvPr/>
            </p:nvSpPr>
            <p:spPr bwMode="auto">
              <a:xfrm>
                <a:off x="2821" y="173"/>
                <a:ext cx="1251" cy="198"/>
              </a:xfrm>
              <a:prstGeom prst="rect">
                <a:avLst/>
              </a:prstGeom>
              <a:solidFill>
                <a:srgbClr val="FFCC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100" b="1" dirty="0" err="1" smtClean="0"/>
                  <a:t>Ochiq</a:t>
                </a:r>
                <a:r>
                  <a:rPr lang="en-US" sz="1100" b="1" dirty="0" smtClean="0"/>
                  <a:t> </a:t>
                </a:r>
                <a:r>
                  <a:rPr lang="en-US" sz="1100" b="1" dirty="0" err="1" smtClean="0"/>
                  <a:t>matn</a:t>
                </a:r>
                <a:endParaRPr lang="ru-RU" sz="1100" b="1" dirty="0"/>
              </a:p>
            </p:txBody>
          </p:sp>
          <p:sp>
            <p:nvSpPr>
              <p:cNvPr id="108" name="Line 737"/>
              <p:cNvSpPr>
                <a:spLocks noChangeShapeType="1"/>
              </p:cNvSpPr>
              <p:nvPr/>
            </p:nvSpPr>
            <p:spPr bwMode="auto">
              <a:xfrm>
                <a:off x="2790" y="3786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09" name="Line 738"/>
              <p:cNvSpPr>
                <a:spLocks noChangeShapeType="1"/>
              </p:cNvSpPr>
              <p:nvPr/>
            </p:nvSpPr>
            <p:spPr bwMode="auto">
              <a:xfrm>
                <a:off x="3219" y="3788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0" name="Line 739"/>
              <p:cNvSpPr>
                <a:spLocks noChangeShapeType="1"/>
              </p:cNvSpPr>
              <p:nvPr/>
            </p:nvSpPr>
            <p:spPr bwMode="auto">
              <a:xfrm>
                <a:off x="3384" y="3786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1" name="Line 740"/>
              <p:cNvSpPr>
                <a:spLocks noChangeShapeType="1"/>
              </p:cNvSpPr>
              <p:nvPr/>
            </p:nvSpPr>
            <p:spPr bwMode="auto">
              <a:xfrm>
                <a:off x="3537" y="3786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2" name="Line 741"/>
              <p:cNvSpPr>
                <a:spLocks noChangeShapeType="1"/>
              </p:cNvSpPr>
              <p:nvPr/>
            </p:nvSpPr>
            <p:spPr bwMode="auto">
              <a:xfrm>
                <a:off x="4015" y="3786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3" name="Line 742"/>
              <p:cNvSpPr>
                <a:spLocks noChangeShapeType="1"/>
              </p:cNvSpPr>
              <p:nvPr/>
            </p:nvSpPr>
            <p:spPr bwMode="auto">
              <a:xfrm>
                <a:off x="4174" y="3786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4" name="Line 743"/>
              <p:cNvSpPr>
                <a:spLocks noChangeShapeType="1"/>
              </p:cNvSpPr>
              <p:nvPr/>
            </p:nvSpPr>
            <p:spPr bwMode="auto">
              <a:xfrm>
                <a:off x="4328" y="3786"/>
                <a:ext cx="0" cy="17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5" name="Line 744"/>
              <p:cNvSpPr>
                <a:spLocks noChangeShapeType="1"/>
              </p:cNvSpPr>
              <p:nvPr/>
            </p:nvSpPr>
            <p:spPr bwMode="auto">
              <a:xfrm>
                <a:off x="2494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6" name="Line 745"/>
              <p:cNvSpPr>
                <a:spLocks noChangeShapeType="1"/>
              </p:cNvSpPr>
              <p:nvPr/>
            </p:nvSpPr>
            <p:spPr bwMode="auto">
              <a:xfrm>
                <a:off x="2641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7" name="Line 746"/>
              <p:cNvSpPr>
                <a:spLocks noChangeShapeType="1"/>
              </p:cNvSpPr>
              <p:nvPr/>
            </p:nvSpPr>
            <p:spPr bwMode="auto">
              <a:xfrm>
                <a:off x="2799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8" name="Line 747"/>
              <p:cNvSpPr>
                <a:spLocks noChangeShapeType="1"/>
              </p:cNvSpPr>
              <p:nvPr/>
            </p:nvSpPr>
            <p:spPr bwMode="auto">
              <a:xfrm>
                <a:off x="4314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19" name="Line 748"/>
              <p:cNvSpPr>
                <a:spLocks noChangeShapeType="1"/>
              </p:cNvSpPr>
              <p:nvPr/>
            </p:nvSpPr>
            <p:spPr bwMode="auto">
              <a:xfrm>
                <a:off x="3373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0" name="Line 749"/>
              <p:cNvSpPr>
                <a:spLocks noChangeShapeType="1"/>
              </p:cNvSpPr>
              <p:nvPr/>
            </p:nvSpPr>
            <p:spPr bwMode="auto">
              <a:xfrm>
                <a:off x="3525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1" name="Line 750"/>
              <p:cNvSpPr>
                <a:spLocks noChangeShapeType="1"/>
              </p:cNvSpPr>
              <p:nvPr/>
            </p:nvSpPr>
            <p:spPr bwMode="auto">
              <a:xfrm>
                <a:off x="3999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2" name="Line 751"/>
              <p:cNvSpPr>
                <a:spLocks noChangeShapeType="1"/>
              </p:cNvSpPr>
              <p:nvPr/>
            </p:nvSpPr>
            <p:spPr bwMode="auto">
              <a:xfrm>
                <a:off x="4156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3" name="Line 752"/>
              <p:cNvSpPr>
                <a:spLocks noChangeShapeType="1"/>
              </p:cNvSpPr>
              <p:nvPr/>
            </p:nvSpPr>
            <p:spPr bwMode="auto">
              <a:xfrm>
                <a:off x="3215" y="3039"/>
                <a:ext cx="0" cy="1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4" name="Rectangle 753">
                <a:hlinkClick r:id="" action="ppaction://noaction"/>
              </p:cNvPr>
              <p:cNvSpPr>
                <a:spLocks noChangeArrowheads="1"/>
              </p:cNvSpPr>
              <p:nvPr/>
            </p:nvSpPr>
            <p:spPr bwMode="auto">
              <a:xfrm>
                <a:off x="2420" y="3207"/>
                <a:ext cx="442" cy="241"/>
              </a:xfrm>
              <a:prstGeom prst="rect">
                <a:avLst/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31</a:t>
                </a:r>
                <a:endParaRPr lang="ru-RU" sz="1100" b="1"/>
              </a:p>
            </p:txBody>
          </p:sp>
          <p:sp>
            <p:nvSpPr>
              <p:cNvPr id="125" name="Rectangle 754"/>
              <p:cNvSpPr>
                <a:spLocks noChangeArrowheads="1"/>
              </p:cNvSpPr>
              <p:nvPr/>
            </p:nvSpPr>
            <p:spPr bwMode="auto">
              <a:xfrm>
                <a:off x="3157" y="3213"/>
                <a:ext cx="442" cy="235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32</a:t>
                </a:r>
                <a:endParaRPr lang="ru-RU" sz="1100" b="1"/>
              </a:p>
            </p:txBody>
          </p:sp>
          <p:sp>
            <p:nvSpPr>
              <p:cNvPr id="126" name="Rectangle 755"/>
              <p:cNvSpPr>
                <a:spLocks noChangeArrowheads="1"/>
              </p:cNvSpPr>
              <p:nvPr/>
            </p:nvSpPr>
            <p:spPr bwMode="auto">
              <a:xfrm>
                <a:off x="3935" y="3213"/>
                <a:ext cx="443" cy="235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100" b="1"/>
                  <a:t>S</a:t>
                </a:r>
                <a:r>
                  <a:rPr lang="en-US" sz="1100" b="1" baseline="-25000"/>
                  <a:t>33</a:t>
                </a:r>
                <a:endParaRPr lang="ru-RU" sz="1100" b="1"/>
              </a:p>
            </p:txBody>
          </p:sp>
          <p:sp>
            <p:nvSpPr>
              <p:cNvPr id="127" name="Line 756"/>
              <p:cNvSpPr>
                <a:spLocks noChangeShapeType="1"/>
              </p:cNvSpPr>
              <p:nvPr/>
            </p:nvSpPr>
            <p:spPr bwMode="auto">
              <a:xfrm>
                <a:off x="4490" y="1594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8" name="Line 757"/>
              <p:cNvSpPr>
                <a:spLocks noChangeShapeType="1"/>
              </p:cNvSpPr>
              <p:nvPr/>
            </p:nvSpPr>
            <p:spPr bwMode="auto">
              <a:xfrm>
                <a:off x="4487" y="2773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29" name="Line 758"/>
              <p:cNvSpPr>
                <a:spLocks noChangeShapeType="1"/>
              </p:cNvSpPr>
              <p:nvPr/>
            </p:nvSpPr>
            <p:spPr bwMode="auto">
              <a:xfrm>
                <a:off x="4487" y="3958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0" name="Line 759"/>
              <p:cNvSpPr>
                <a:spLocks noChangeShapeType="1"/>
              </p:cNvSpPr>
              <p:nvPr/>
            </p:nvSpPr>
            <p:spPr bwMode="auto">
              <a:xfrm>
                <a:off x="4490" y="1656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1" name="Line 760"/>
              <p:cNvSpPr>
                <a:spLocks noChangeShapeType="1"/>
              </p:cNvSpPr>
              <p:nvPr/>
            </p:nvSpPr>
            <p:spPr bwMode="auto">
              <a:xfrm>
                <a:off x="4666" y="1656"/>
                <a:ext cx="0" cy="112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2" name="Line 761"/>
              <p:cNvSpPr>
                <a:spLocks noChangeShapeType="1"/>
              </p:cNvSpPr>
              <p:nvPr/>
            </p:nvSpPr>
            <p:spPr bwMode="auto">
              <a:xfrm>
                <a:off x="4666" y="2309"/>
                <a:ext cx="14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3" name="Line 762"/>
              <p:cNvSpPr>
                <a:spLocks noChangeShapeType="1"/>
              </p:cNvSpPr>
              <p:nvPr/>
            </p:nvSpPr>
            <p:spPr bwMode="auto">
              <a:xfrm>
                <a:off x="4478" y="393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4" name="Line 763"/>
              <p:cNvSpPr>
                <a:spLocks noChangeShapeType="1"/>
              </p:cNvSpPr>
              <p:nvPr/>
            </p:nvSpPr>
            <p:spPr bwMode="auto">
              <a:xfrm>
                <a:off x="4666" y="384"/>
                <a:ext cx="0" cy="120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5" name="Line 764"/>
              <p:cNvSpPr>
                <a:spLocks noChangeShapeType="1"/>
              </p:cNvSpPr>
              <p:nvPr/>
            </p:nvSpPr>
            <p:spPr bwMode="auto">
              <a:xfrm>
                <a:off x="4671" y="1063"/>
                <a:ext cx="14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6" name="Text Box 765">
                <a:hlinkClick r:id="rId4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4749" y="953"/>
                <a:ext cx="304" cy="198"/>
              </a:xfrm>
              <a:prstGeom prst="rect">
                <a:avLst/>
              </a:prstGeom>
              <a:ln w="28575"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l"/>
                <a:r>
                  <a:rPr lang="uz-Cyrl-UZ" sz="1050" b="1" dirty="0" smtClean="0"/>
                  <a:t>1-</a:t>
                </a:r>
                <a:r>
                  <a:rPr lang="en-US" sz="1050" b="1" dirty="0" smtClean="0"/>
                  <a:t>r</a:t>
                </a:r>
                <a:endParaRPr lang="ru-RU" sz="1050" b="1" dirty="0"/>
              </a:p>
            </p:txBody>
          </p:sp>
          <p:sp>
            <p:nvSpPr>
              <p:cNvPr id="137" name="Text Box 766">
                <a:hlinkClick r:id="rId4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4758" y="2205"/>
                <a:ext cx="295" cy="198"/>
              </a:xfrm>
              <a:prstGeom prst="rect">
                <a:avLst/>
              </a:prstGeom>
              <a:ln w="28575"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sz="1050" b="1" dirty="0" smtClean="0"/>
                  <a:t>2</a:t>
                </a:r>
                <a:r>
                  <a:rPr lang="uz-Cyrl-UZ" sz="1050" b="1" dirty="0" smtClean="0"/>
                  <a:t>-</a:t>
                </a:r>
                <a:r>
                  <a:rPr lang="en-US" sz="1050" b="1" dirty="0" smtClean="0"/>
                  <a:t>r</a:t>
                </a:r>
                <a:endParaRPr lang="ru-RU" sz="1050" b="1" dirty="0"/>
              </a:p>
              <a:p>
                <a:pPr algn="l"/>
                <a:endParaRPr lang="ru-RU" sz="1000" b="1" dirty="0"/>
              </a:p>
            </p:txBody>
          </p:sp>
          <p:sp>
            <p:nvSpPr>
              <p:cNvPr id="138" name="Line 767"/>
              <p:cNvSpPr>
                <a:spLocks noChangeShapeType="1"/>
              </p:cNvSpPr>
              <p:nvPr/>
            </p:nvSpPr>
            <p:spPr bwMode="auto">
              <a:xfrm>
                <a:off x="4477" y="2848"/>
                <a:ext cx="1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39" name="Line 768"/>
              <p:cNvSpPr>
                <a:spLocks noChangeShapeType="1"/>
              </p:cNvSpPr>
              <p:nvPr/>
            </p:nvSpPr>
            <p:spPr bwMode="auto">
              <a:xfrm>
                <a:off x="4666" y="2842"/>
                <a:ext cx="0" cy="112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0" name="Line 769"/>
              <p:cNvSpPr>
                <a:spLocks noChangeShapeType="1"/>
              </p:cNvSpPr>
              <p:nvPr/>
            </p:nvSpPr>
            <p:spPr bwMode="auto">
              <a:xfrm>
                <a:off x="4666" y="3567"/>
                <a:ext cx="14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1" name="Text Box 770">
                <a:hlinkClick r:id="rId5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4749" y="3475"/>
                <a:ext cx="304" cy="198"/>
              </a:xfrm>
              <a:prstGeom prst="rect">
                <a:avLst/>
              </a:prstGeom>
              <a:ln w="28575"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uz-Cyrl-UZ" sz="1050" b="1" dirty="0" smtClean="0"/>
                  <a:t>3-</a:t>
                </a:r>
                <a:r>
                  <a:rPr lang="en-US" sz="1050" b="1" dirty="0" smtClean="0"/>
                  <a:t>r</a:t>
                </a:r>
                <a:endParaRPr lang="ru-RU" sz="1050" b="1" dirty="0"/>
              </a:p>
              <a:p>
                <a:pPr algn="l"/>
                <a:endParaRPr lang="ru-RU" sz="1200" b="1" dirty="0"/>
              </a:p>
            </p:txBody>
          </p:sp>
          <p:sp>
            <p:nvSpPr>
              <p:cNvPr id="142" name="Line 771"/>
              <p:cNvSpPr>
                <a:spLocks noChangeShapeType="1"/>
              </p:cNvSpPr>
              <p:nvPr/>
            </p:nvSpPr>
            <p:spPr bwMode="auto">
              <a:xfrm>
                <a:off x="4348" y="374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3" name="Line 772"/>
              <p:cNvSpPr>
                <a:spLocks noChangeShapeType="1"/>
              </p:cNvSpPr>
              <p:nvPr/>
            </p:nvSpPr>
            <p:spPr bwMode="auto">
              <a:xfrm>
                <a:off x="4324" y="670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4" name="Line 773"/>
              <p:cNvSpPr>
                <a:spLocks noChangeShapeType="1"/>
              </p:cNvSpPr>
              <p:nvPr/>
            </p:nvSpPr>
            <p:spPr bwMode="auto">
              <a:xfrm>
                <a:off x="4038" y="1061"/>
                <a:ext cx="0" cy="1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5" name="Line 774"/>
              <p:cNvSpPr>
                <a:spLocks noChangeShapeType="1"/>
              </p:cNvSpPr>
              <p:nvPr/>
            </p:nvSpPr>
            <p:spPr bwMode="auto">
              <a:xfrm flipH="1">
                <a:off x="2780" y="1245"/>
                <a:ext cx="1250" cy="269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6" name="Line 775"/>
              <p:cNvSpPr>
                <a:spLocks noChangeShapeType="1"/>
              </p:cNvSpPr>
              <p:nvPr/>
            </p:nvSpPr>
            <p:spPr bwMode="auto">
              <a:xfrm>
                <a:off x="2789" y="1507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7" name="Line 776"/>
              <p:cNvSpPr>
                <a:spLocks noChangeShapeType="1"/>
              </p:cNvSpPr>
              <p:nvPr/>
            </p:nvSpPr>
            <p:spPr bwMode="auto">
              <a:xfrm>
                <a:off x="2803" y="1853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8" name="Line 777"/>
              <p:cNvSpPr>
                <a:spLocks noChangeShapeType="1"/>
              </p:cNvSpPr>
              <p:nvPr/>
            </p:nvSpPr>
            <p:spPr bwMode="auto">
              <a:xfrm>
                <a:off x="2493" y="2261"/>
                <a:ext cx="0" cy="1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49" name="Line 778"/>
              <p:cNvSpPr>
                <a:spLocks noChangeShapeType="1"/>
              </p:cNvSpPr>
              <p:nvPr/>
            </p:nvSpPr>
            <p:spPr bwMode="auto">
              <a:xfrm>
                <a:off x="2494" y="2427"/>
                <a:ext cx="0" cy="45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50" name="Line 779"/>
              <p:cNvSpPr>
                <a:spLocks noChangeShapeType="1"/>
              </p:cNvSpPr>
              <p:nvPr/>
            </p:nvSpPr>
            <p:spPr bwMode="auto">
              <a:xfrm>
                <a:off x="2488" y="3033"/>
                <a:ext cx="0" cy="1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51" name="Text Box 780"/>
              <p:cNvSpPr txBox="1">
                <a:spLocks noChangeArrowheads="1"/>
              </p:cNvSpPr>
              <p:nvPr/>
            </p:nvSpPr>
            <p:spPr bwMode="auto">
              <a:xfrm>
                <a:off x="4332" y="690"/>
                <a:ext cx="426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A40000"/>
                    </a:solidFill>
                  </a:rPr>
                  <a:t>U</a:t>
                </a:r>
                <a:r>
                  <a:rPr lang="en-US" sz="1100" b="1" baseline="-25000" dirty="0">
                    <a:solidFill>
                      <a:srgbClr val="A40000"/>
                    </a:solidFill>
                  </a:rPr>
                  <a:t>19</a:t>
                </a:r>
                <a:endParaRPr lang="ru-RU" sz="1200" b="1" dirty="0">
                  <a:solidFill>
                    <a:srgbClr val="A40000"/>
                  </a:solidFill>
                </a:endParaRPr>
              </a:p>
            </p:txBody>
          </p:sp>
          <p:sp>
            <p:nvSpPr>
              <p:cNvPr id="152" name="Text Box 781"/>
              <p:cNvSpPr txBox="1">
                <a:spLocks noChangeArrowheads="1"/>
              </p:cNvSpPr>
              <p:nvPr/>
            </p:nvSpPr>
            <p:spPr bwMode="auto">
              <a:xfrm>
                <a:off x="3738" y="1034"/>
                <a:ext cx="412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0000CC"/>
                    </a:solidFill>
                  </a:rPr>
                  <a:t>V</a:t>
                </a:r>
                <a:r>
                  <a:rPr lang="en-US" sz="1100" b="1" baseline="-25000" dirty="0">
                    <a:solidFill>
                      <a:srgbClr val="0000CC"/>
                    </a:solidFill>
                  </a:rPr>
                  <a:t>17</a:t>
                </a:r>
                <a:endParaRPr lang="ru-RU" sz="11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53" name="Text Box 782"/>
              <p:cNvSpPr txBox="1">
                <a:spLocks noChangeArrowheads="1"/>
              </p:cNvSpPr>
              <p:nvPr/>
            </p:nvSpPr>
            <p:spPr bwMode="auto">
              <a:xfrm>
                <a:off x="2803" y="1457"/>
                <a:ext cx="412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0000CC"/>
                    </a:solidFill>
                  </a:rPr>
                  <a:t>V</a:t>
                </a:r>
                <a:r>
                  <a:rPr lang="en-US" sz="1100" b="1" baseline="-25000" dirty="0">
                    <a:solidFill>
                      <a:srgbClr val="0000CC"/>
                    </a:solidFill>
                  </a:rPr>
                  <a:t>17</a:t>
                </a:r>
                <a:endParaRPr lang="ru-RU" sz="11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54" name="Text Box 783"/>
              <p:cNvSpPr txBox="1">
                <a:spLocks noChangeArrowheads="1"/>
              </p:cNvSpPr>
              <p:nvPr/>
            </p:nvSpPr>
            <p:spPr bwMode="auto">
              <a:xfrm>
                <a:off x="2211" y="2251"/>
                <a:ext cx="417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0000CC"/>
                    </a:solidFill>
                  </a:rPr>
                  <a:t>V</a:t>
                </a:r>
                <a:r>
                  <a:rPr lang="en-US" sz="1100" b="1" baseline="-25000" dirty="0">
                    <a:solidFill>
                      <a:srgbClr val="0000CC"/>
                    </a:solidFill>
                  </a:rPr>
                  <a:t>21</a:t>
                </a:r>
                <a:endParaRPr lang="ru-RU" sz="1100" b="1" baseline="-250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55" name="Text Box 784"/>
              <p:cNvSpPr txBox="1">
                <a:spLocks noChangeArrowheads="1"/>
              </p:cNvSpPr>
              <p:nvPr/>
            </p:nvSpPr>
            <p:spPr bwMode="auto">
              <a:xfrm>
                <a:off x="2186" y="3001"/>
                <a:ext cx="488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A40000"/>
                    </a:solidFill>
                  </a:rPr>
                  <a:t>U</a:t>
                </a:r>
                <a:r>
                  <a:rPr lang="en-US" sz="1100" b="1" baseline="-25000" dirty="0">
                    <a:solidFill>
                      <a:srgbClr val="A40000"/>
                    </a:solidFill>
                  </a:rPr>
                  <a:t>31</a:t>
                </a:r>
                <a:endParaRPr lang="ru-RU" sz="1100" b="1" dirty="0">
                  <a:solidFill>
                    <a:srgbClr val="A40000"/>
                  </a:solidFill>
                </a:endParaRPr>
              </a:p>
            </p:txBody>
          </p:sp>
          <p:sp>
            <p:nvSpPr>
              <p:cNvPr id="156" name="Text Box 785"/>
              <p:cNvSpPr txBox="1">
                <a:spLocks noChangeArrowheads="1"/>
              </p:cNvSpPr>
              <p:nvPr/>
            </p:nvSpPr>
            <p:spPr bwMode="auto">
              <a:xfrm>
                <a:off x="2781" y="1851"/>
                <a:ext cx="462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b="1" dirty="0">
                    <a:solidFill>
                      <a:srgbClr val="A40000"/>
                    </a:solidFill>
                  </a:rPr>
                  <a:t>U</a:t>
                </a:r>
                <a:r>
                  <a:rPr lang="en-US" sz="1200" b="1" baseline="-25000" dirty="0">
                    <a:solidFill>
                      <a:srgbClr val="A40000"/>
                    </a:solidFill>
                  </a:rPr>
                  <a:t>23</a:t>
                </a:r>
                <a:endParaRPr lang="ru-RU" sz="1200" b="1" dirty="0">
                  <a:solidFill>
                    <a:srgbClr val="A40000"/>
                  </a:solidFill>
                </a:endParaRPr>
              </a:p>
            </p:txBody>
          </p:sp>
          <p:sp>
            <p:nvSpPr>
              <p:cNvPr id="157" name="Line 786"/>
              <p:cNvSpPr>
                <a:spLocks noChangeShapeType="1"/>
              </p:cNvSpPr>
              <p:nvPr/>
            </p:nvSpPr>
            <p:spPr bwMode="auto">
              <a:xfrm>
                <a:off x="2663" y="3441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 sz="1200"/>
              </a:p>
            </p:txBody>
          </p:sp>
          <p:sp>
            <p:nvSpPr>
              <p:cNvPr id="158" name="Text Box 787"/>
              <p:cNvSpPr txBox="1">
                <a:spLocks noChangeArrowheads="1"/>
              </p:cNvSpPr>
              <p:nvPr/>
            </p:nvSpPr>
            <p:spPr bwMode="auto">
              <a:xfrm>
                <a:off x="2405" y="3428"/>
                <a:ext cx="436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>
                    <a:solidFill>
                      <a:srgbClr val="0000CC"/>
                    </a:solidFill>
                  </a:rPr>
                  <a:t>V</a:t>
                </a:r>
                <a:r>
                  <a:rPr lang="en-US" sz="1100" b="1" baseline="-25000" dirty="0">
                    <a:solidFill>
                      <a:srgbClr val="0000CC"/>
                    </a:solidFill>
                  </a:rPr>
                  <a:t>32</a:t>
                </a:r>
                <a:endParaRPr lang="ru-RU" sz="11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159" name="Text Box 788">
                <a:hlinkClick r:id="rId5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2476" y="3946"/>
                <a:ext cx="341" cy="1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l">
                  <a:lnSpc>
                    <a:spcPct val="70000"/>
                  </a:lnSpc>
                </a:pPr>
                <a:r>
                  <a:rPr lang="en-US" sz="1100" b="1" dirty="0"/>
                  <a:t>Y</a:t>
                </a:r>
                <a:r>
                  <a:rPr lang="en-US" sz="1100" b="1" baseline="-25000" dirty="0"/>
                  <a:t>1</a:t>
                </a:r>
                <a:endParaRPr lang="ru-RU" sz="1100" b="1" dirty="0"/>
              </a:p>
            </p:txBody>
          </p:sp>
          <p:sp>
            <p:nvSpPr>
              <p:cNvPr id="160" name="Text Box 789"/>
              <p:cNvSpPr txBox="1">
                <a:spLocks noChangeArrowheads="1"/>
              </p:cNvSpPr>
              <p:nvPr/>
            </p:nvSpPr>
            <p:spPr bwMode="auto">
              <a:xfrm>
                <a:off x="2991" y="3940"/>
                <a:ext cx="956" cy="198"/>
              </a:xfrm>
              <a:prstGeom prst="rect">
                <a:avLst/>
              </a:prstGeom>
              <a:solidFill>
                <a:srgbClr val="C0C0C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100" b="1" dirty="0" err="1" smtClean="0"/>
                  <a:t>Shifr</a:t>
                </a:r>
                <a:r>
                  <a:rPr lang="en-US" sz="1100" b="1" dirty="0" smtClean="0"/>
                  <a:t> </a:t>
                </a:r>
                <a:r>
                  <a:rPr lang="en-US" sz="1100" b="1" dirty="0" err="1" smtClean="0"/>
                  <a:t>matn</a:t>
                </a:r>
                <a:endParaRPr lang="ru-RU" sz="1100" b="1" dirty="0"/>
              </a:p>
            </p:txBody>
          </p:sp>
          <p:sp>
            <p:nvSpPr>
              <p:cNvPr id="161" name="AutoShape 790"/>
              <p:cNvSpPr>
                <a:spLocks noChangeArrowheads="1"/>
              </p:cNvSpPr>
              <p:nvPr/>
            </p:nvSpPr>
            <p:spPr bwMode="auto">
              <a:xfrm>
                <a:off x="2385" y="1661"/>
                <a:ext cx="2083" cy="197"/>
              </a:xfrm>
              <a:prstGeom prst="flowChartProcess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/>
                <a:r>
                  <a:rPr lang="ru-RU" sz="1100" b="1" dirty="0"/>
                  <a:t>К </a:t>
                </a:r>
                <a:r>
                  <a:rPr lang="en-US" sz="1100" b="1" dirty="0" err="1"/>
                  <a:t>kalit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bilan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qo’shish</a:t>
                </a:r>
                <a:endParaRPr lang="ru-RU" sz="1100" b="1" dirty="0"/>
              </a:p>
              <a:p>
                <a:pPr algn="r"/>
                <a:endParaRPr lang="ru-RU" sz="1100" b="1" dirty="0"/>
              </a:p>
            </p:txBody>
          </p:sp>
          <p:sp>
            <p:nvSpPr>
              <p:cNvPr id="162" name="Text Box 791"/>
              <p:cNvSpPr txBox="1">
                <a:spLocks noChangeArrowheads="1"/>
              </p:cNvSpPr>
              <p:nvPr/>
            </p:nvSpPr>
            <p:spPr bwMode="auto">
              <a:xfrm>
                <a:off x="2348" y="1659"/>
                <a:ext cx="329" cy="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/>
                  <a:t>K</a:t>
                </a:r>
                <a:r>
                  <a:rPr lang="en-US" sz="1100" b="1" baseline="-25000" dirty="0"/>
                  <a:t>3</a:t>
                </a:r>
                <a:endParaRPr lang="ru-RU" sz="1100" b="1" dirty="0"/>
              </a:p>
            </p:txBody>
          </p:sp>
          <p:graphicFrame>
            <p:nvGraphicFramePr>
              <p:cNvPr id="163" name="Object 792"/>
              <p:cNvGraphicFramePr>
                <a:graphicFrameLocks noChangeAspect="1"/>
              </p:cNvGraphicFramePr>
              <p:nvPr/>
            </p:nvGraphicFramePr>
            <p:xfrm>
              <a:off x="2566" y="1701"/>
              <a:ext cx="104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82" name="Формула" r:id="rId6" imgW="164880" imgH="177480" progId="Equation.3">
                      <p:embed/>
                    </p:oleObj>
                  </mc:Choice>
                  <mc:Fallback>
                    <p:oleObj name="Формула" r:id="rId6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6" y="1701"/>
                            <a:ext cx="104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" name="Text Box 793"/>
              <p:cNvSpPr txBox="1">
                <a:spLocks noChangeArrowheads="1"/>
              </p:cNvSpPr>
              <p:nvPr/>
            </p:nvSpPr>
            <p:spPr bwMode="auto">
              <a:xfrm>
                <a:off x="2639" y="1645"/>
                <a:ext cx="332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/>
                  <a:t>V</a:t>
                </a:r>
                <a:r>
                  <a:rPr lang="en-US" sz="1100" b="1" baseline="-25000" dirty="0"/>
                  <a:t>17</a:t>
                </a:r>
                <a:endParaRPr lang="ru-RU" sz="1100" b="1" dirty="0"/>
              </a:p>
            </p:txBody>
          </p:sp>
          <p:sp>
            <p:nvSpPr>
              <p:cNvPr id="165" name="AutoShape 794"/>
              <p:cNvSpPr>
                <a:spLocks noChangeArrowheads="1"/>
              </p:cNvSpPr>
              <p:nvPr/>
            </p:nvSpPr>
            <p:spPr bwMode="auto">
              <a:xfrm>
                <a:off x="2397" y="490"/>
                <a:ext cx="2084" cy="231"/>
              </a:xfrm>
              <a:prstGeom prst="flowChartProcess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ru-RU" sz="1100" b="1" dirty="0"/>
                  <a:t>К </a:t>
                </a:r>
                <a:r>
                  <a:rPr lang="en-US" sz="1100" b="1" dirty="0" err="1"/>
                  <a:t>kalit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bilan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qo’shish</a:t>
                </a:r>
                <a:endParaRPr lang="ru-RU" sz="1100" b="1" dirty="0"/>
              </a:p>
              <a:p>
                <a:pPr algn="l"/>
                <a:r>
                  <a:rPr lang="ru-RU" sz="1200" b="1" dirty="0" smtClean="0"/>
                  <a:t>     </a:t>
                </a:r>
                <a:endParaRPr lang="ru-RU" sz="1200" b="1" dirty="0"/>
              </a:p>
            </p:txBody>
          </p:sp>
          <p:grpSp>
            <p:nvGrpSpPr>
              <p:cNvPr id="166" name="Group 795"/>
              <p:cNvGrpSpPr>
                <a:grpSpLocks/>
              </p:cNvGrpSpPr>
              <p:nvPr/>
            </p:nvGrpSpPr>
            <p:grpSpPr bwMode="auto">
              <a:xfrm>
                <a:off x="3933" y="494"/>
                <a:ext cx="551" cy="200"/>
                <a:chOff x="3933" y="494"/>
                <a:chExt cx="551" cy="200"/>
              </a:xfrm>
            </p:grpSpPr>
            <p:sp>
              <p:nvSpPr>
                <p:cNvPr id="176" name="Text Box 796"/>
                <p:cNvSpPr txBox="1">
                  <a:spLocks noChangeArrowheads="1"/>
                </p:cNvSpPr>
                <p:nvPr/>
              </p:nvSpPr>
              <p:spPr bwMode="auto">
                <a:xfrm>
                  <a:off x="3933" y="494"/>
                  <a:ext cx="391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100" b="1" dirty="0"/>
                    <a:t>K</a:t>
                  </a:r>
                  <a:r>
                    <a:rPr lang="en-US" sz="1100" b="1" baseline="-25000" dirty="0"/>
                    <a:t>9</a:t>
                  </a:r>
                  <a:endParaRPr lang="ru-RU" sz="1100" b="1" dirty="0"/>
                </a:p>
              </p:txBody>
            </p:sp>
            <p:graphicFrame>
              <p:nvGraphicFramePr>
                <p:cNvPr id="177" name="Object 797"/>
                <p:cNvGraphicFramePr>
                  <a:graphicFrameLocks noChangeAspect="1"/>
                </p:cNvGraphicFramePr>
                <p:nvPr/>
              </p:nvGraphicFramePr>
              <p:xfrm>
                <a:off x="4145" y="532"/>
                <a:ext cx="104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783" name="Формула" r:id="rId8" imgW="164880" imgH="177480" progId="Equation.3">
                        <p:embed/>
                      </p:oleObj>
                    </mc:Choice>
                    <mc:Fallback>
                      <p:oleObj name="Формула" r:id="rId8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45" y="532"/>
                              <a:ext cx="104" cy="1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8" name="Text Box 798"/>
                <p:cNvSpPr txBox="1">
                  <a:spLocks noChangeArrowheads="1"/>
                </p:cNvSpPr>
                <p:nvPr/>
              </p:nvSpPr>
              <p:spPr bwMode="auto">
                <a:xfrm>
                  <a:off x="4212" y="500"/>
                  <a:ext cx="272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100" b="1"/>
                    <a:t>X</a:t>
                  </a:r>
                  <a:r>
                    <a:rPr lang="en-US" sz="1100" b="1" baseline="-25000"/>
                    <a:t>9</a:t>
                  </a:r>
                  <a:endParaRPr lang="ru-RU" sz="1100" b="1"/>
                </a:p>
              </p:txBody>
            </p:sp>
          </p:grpSp>
          <p:sp>
            <p:nvSpPr>
              <p:cNvPr id="167" name="AutoShape 799"/>
              <p:cNvSpPr>
                <a:spLocks noChangeArrowheads="1"/>
              </p:cNvSpPr>
              <p:nvPr/>
            </p:nvSpPr>
            <p:spPr bwMode="auto">
              <a:xfrm>
                <a:off x="2373" y="2840"/>
                <a:ext cx="2083" cy="204"/>
              </a:xfrm>
              <a:prstGeom prst="flowChartProcess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/>
                <a:r>
                  <a:rPr lang="ru-RU" sz="1100" b="1" dirty="0"/>
                  <a:t>К </a:t>
                </a:r>
                <a:r>
                  <a:rPr lang="en-US" sz="1100" b="1" dirty="0" err="1"/>
                  <a:t>kalit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bilan</a:t>
                </a:r>
                <a:r>
                  <a:rPr lang="en-US" sz="1100" b="1" dirty="0"/>
                  <a:t> </a:t>
                </a:r>
                <a:r>
                  <a:rPr lang="en-US" sz="1100" b="1" dirty="0" err="1"/>
                  <a:t>qo’shish</a:t>
                </a:r>
                <a:endParaRPr lang="ru-RU" sz="1100" b="1" dirty="0"/>
              </a:p>
              <a:p>
                <a:pPr algn="r"/>
                <a:endParaRPr lang="ru-RU" sz="1100" b="1" dirty="0"/>
              </a:p>
              <a:p>
                <a:endParaRPr lang="ru-RU" sz="1200" b="1" dirty="0"/>
              </a:p>
            </p:txBody>
          </p:sp>
          <p:sp>
            <p:nvSpPr>
              <p:cNvPr id="168" name="Text Box 800"/>
              <p:cNvSpPr txBox="1">
                <a:spLocks noChangeArrowheads="1"/>
              </p:cNvSpPr>
              <p:nvPr/>
            </p:nvSpPr>
            <p:spPr bwMode="auto">
              <a:xfrm>
                <a:off x="2338" y="2812"/>
                <a:ext cx="378" cy="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 dirty="0"/>
                  <a:t>K</a:t>
                </a:r>
                <a:r>
                  <a:rPr lang="en-US" sz="1100" b="1" baseline="-25000" dirty="0"/>
                  <a:t>1</a:t>
                </a:r>
                <a:endParaRPr lang="ru-RU" sz="1100" b="1" dirty="0"/>
              </a:p>
            </p:txBody>
          </p:sp>
          <p:graphicFrame>
            <p:nvGraphicFramePr>
              <p:cNvPr id="169" name="Object 801"/>
              <p:cNvGraphicFramePr>
                <a:graphicFrameLocks noChangeAspect="1"/>
              </p:cNvGraphicFramePr>
              <p:nvPr/>
            </p:nvGraphicFramePr>
            <p:xfrm>
              <a:off x="2524" y="2860"/>
              <a:ext cx="104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84" name="Формула" r:id="rId10" imgW="164880" imgH="177480" progId="Equation.3">
                      <p:embed/>
                    </p:oleObj>
                  </mc:Choice>
                  <mc:Fallback>
                    <p:oleObj name="Формула" r:id="rId10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24" y="2860"/>
                            <a:ext cx="104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0" name="Text Box 802"/>
              <p:cNvSpPr txBox="1">
                <a:spLocks noChangeArrowheads="1"/>
              </p:cNvSpPr>
              <p:nvPr/>
            </p:nvSpPr>
            <p:spPr bwMode="auto">
              <a:xfrm>
                <a:off x="2596" y="2821"/>
                <a:ext cx="329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100" b="1"/>
                  <a:t>V</a:t>
                </a:r>
                <a:r>
                  <a:rPr lang="en-US" sz="1100" b="1" baseline="-25000"/>
                  <a:t>21</a:t>
                </a:r>
                <a:endParaRPr lang="ru-RU" sz="1100" b="1"/>
              </a:p>
            </p:txBody>
          </p:sp>
          <p:sp>
            <p:nvSpPr>
              <p:cNvPr id="171" name="AutoShape 803"/>
              <p:cNvSpPr>
                <a:spLocks noChangeArrowheads="1"/>
              </p:cNvSpPr>
              <p:nvPr/>
            </p:nvSpPr>
            <p:spPr bwMode="auto">
              <a:xfrm>
                <a:off x="2391" y="3618"/>
                <a:ext cx="2083" cy="220"/>
              </a:xfrm>
              <a:prstGeom prst="flowChartProcess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r"/>
                <a:r>
                  <a:rPr lang="ru-RU" sz="1200" b="1" dirty="0"/>
                  <a:t>   </a:t>
                </a:r>
                <a:r>
                  <a:rPr lang="en-US" sz="1200" b="1" dirty="0" smtClean="0"/>
                  <a:t> </a:t>
                </a:r>
                <a:r>
                  <a:rPr lang="ru-RU" sz="1200" b="1" dirty="0" smtClean="0"/>
                  <a:t>       </a:t>
                </a:r>
                <a:r>
                  <a:rPr lang="ru-RU" sz="1100" b="1" dirty="0" smtClean="0"/>
                  <a:t>К </a:t>
                </a:r>
                <a:r>
                  <a:rPr lang="en-US" sz="1100" b="1" dirty="0" err="1" smtClean="0"/>
                  <a:t>kalit</a:t>
                </a:r>
                <a:r>
                  <a:rPr lang="en-US" sz="1100" b="1" dirty="0" smtClean="0"/>
                  <a:t> </a:t>
                </a:r>
                <a:r>
                  <a:rPr lang="en-US" sz="1100" b="1" dirty="0" err="1" smtClean="0"/>
                  <a:t>bilan</a:t>
                </a:r>
                <a:r>
                  <a:rPr lang="en-US" sz="1100" b="1" dirty="0" smtClean="0"/>
                  <a:t> </a:t>
                </a:r>
                <a:r>
                  <a:rPr lang="en-US" sz="1100" b="1" dirty="0" err="1" smtClean="0"/>
                  <a:t>qo’shish</a:t>
                </a:r>
                <a:endParaRPr lang="ru-RU" sz="1100" b="1" dirty="0"/>
              </a:p>
              <a:p>
                <a:r>
                  <a:rPr lang="en-US" sz="1200" b="1" dirty="0" smtClean="0"/>
                  <a:t>	</a:t>
                </a:r>
                <a:endParaRPr lang="ru-RU" sz="1200" b="1" dirty="0"/>
              </a:p>
            </p:txBody>
          </p:sp>
          <p:grpSp>
            <p:nvGrpSpPr>
              <p:cNvPr id="172" name="Group 804"/>
              <p:cNvGrpSpPr>
                <a:grpSpLocks/>
              </p:cNvGrpSpPr>
              <p:nvPr/>
            </p:nvGrpSpPr>
            <p:grpSpPr bwMode="auto">
              <a:xfrm>
                <a:off x="2361" y="3613"/>
                <a:ext cx="580" cy="200"/>
                <a:chOff x="2343" y="3613"/>
                <a:chExt cx="580" cy="200"/>
              </a:xfrm>
            </p:grpSpPr>
            <p:sp>
              <p:nvSpPr>
                <p:cNvPr id="173" name="Text Box 805"/>
                <p:cNvSpPr txBox="1">
                  <a:spLocks noChangeArrowheads="1"/>
                </p:cNvSpPr>
                <p:nvPr/>
              </p:nvSpPr>
              <p:spPr bwMode="auto">
                <a:xfrm>
                  <a:off x="2343" y="3613"/>
                  <a:ext cx="355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100" b="1" dirty="0"/>
                    <a:t>K</a:t>
                  </a:r>
                  <a:r>
                    <a:rPr lang="en-US" sz="1100" b="1" baseline="-25000" dirty="0"/>
                    <a:t>2</a:t>
                  </a:r>
                  <a:endParaRPr lang="ru-RU" sz="1100" b="1" dirty="0"/>
                </a:p>
              </p:txBody>
            </p:sp>
            <p:graphicFrame>
              <p:nvGraphicFramePr>
                <p:cNvPr id="174" name="Object 806"/>
                <p:cNvGraphicFramePr>
                  <a:graphicFrameLocks noChangeAspect="1"/>
                </p:cNvGraphicFramePr>
                <p:nvPr/>
              </p:nvGraphicFramePr>
              <p:xfrm>
                <a:off x="2544" y="3636"/>
                <a:ext cx="125" cy="14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785" name="Формула" r:id="rId12" imgW="164880" imgH="177480" progId="Equation.3">
                        <p:embed/>
                      </p:oleObj>
                    </mc:Choice>
                    <mc:Fallback>
                      <p:oleObj name="Формула" r:id="rId12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44" y="3636"/>
                              <a:ext cx="125" cy="14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5" name="Text Box 807"/>
                <p:cNvSpPr txBox="1">
                  <a:spLocks noChangeArrowheads="1"/>
                </p:cNvSpPr>
                <p:nvPr/>
              </p:nvSpPr>
              <p:spPr bwMode="auto">
                <a:xfrm>
                  <a:off x="2606" y="3614"/>
                  <a:ext cx="317" cy="1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100" b="1"/>
                    <a:t>V</a:t>
                  </a:r>
                  <a:r>
                    <a:rPr lang="en-US" sz="1100" b="1" baseline="-25000"/>
                    <a:t>32</a:t>
                  </a:r>
                  <a:endParaRPr lang="ru-RU" sz="1100" b="1"/>
                </a:p>
              </p:txBody>
            </p:sp>
          </p:grpSp>
        </p:grpSp>
      </p:grpSp>
      <p:graphicFrame>
        <p:nvGraphicFramePr>
          <p:cNvPr id="179" name="Group 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66574386"/>
              </p:ext>
            </p:extLst>
          </p:nvPr>
        </p:nvGraphicFramePr>
        <p:xfrm>
          <a:off x="251520" y="1501160"/>
          <a:ext cx="2520280" cy="487680"/>
        </p:xfrm>
        <a:graphic>
          <a:graphicData uri="http://schemas.openxmlformats.org/drawingml/2006/table">
            <a:tbl>
              <a:tblPr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89176"/>
                <a:gridCol w="212472"/>
                <a:gridCol w="208280"/>
                <a:gridCol w="214208"/>
                <a:gridCol w="288032"/>
                <a:gridCol w="216024"/>
                <a:gridCol w="288032"/>
                <a:gridCol w="216024"/>
                <a:gridCol w="288032"/>
              </a:tblGrid>
              <a:tr h="238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Kirish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375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Chiqish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FF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" name="Group 908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10402088"/>
              </p:ext>
            </p:extLst>
          </p:nvPr>
        </p:nvGraphicFramePr>
        <p:xfrm>
          <a:off x="3160375" y="1501160"/>
          <a:ext cx="1915681" cy="487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8280"/>
                <a:gridCol w="208280"/>
                <a:gridCol w="208280"/>
                <a:gridCol w="210721"/>
                <a:gridCol w="216024"/>
                <a:gridCol w="216024"/>
                <a:gridCol w="216024"/>
                <a:gridCol w="216024"/>
                <a:gridCol w="216024"/>
              </a:tblGrid>
              <a:tr h="2395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</a:tr>
              <a:tr h="2395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ru-RU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181" name="Прямоугольник 180"/>
          <p:cNvSpPr/>
          <p:nvPr/>
        </p:nvSpPr>
        <p:spPr>
          <a:xfrm>
            <a:off x="3131840" y="1268760"/>
            <a:ext cx="1944216" cy="184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O’rin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almashtirish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akslantirish</a:t>
            </a:r>
            <a:endParaRPr lang="ru-RU" sz="11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" name="Прямоугольник 181"/>
          <p:cNvSpPr/>
          <p:nvPr/>
        </p:nvSpPr>
        <p:spPr>
          <a:xfrm>
            <a:off x="467544" y="1268760"/>
            <a:ext cx="1944216" cy="184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blok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akslantirish</a:t>
            </a:r>
            <a:endParaRPr lang="ru-RU" sz="11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3" name="Group 53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44750925"/>
              </p:ext>
            </p:extLst>
          </p:nvPr>
        </p:nvGraphicFramePr>
        <p:xfrm>
          <a:off x="3131840" y="2265142"/>
          <a:ext cx="1944216" cy="2194560"/>
        </p:xfrm>
        <a:graphic>
          <a:graphicData uri="http://schemas.openxmlformats.org/drawingml/2006/table">
            <a:tbl>
              <a:tblPr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43027"/>
                <a:gridCol w="243027"/>
                <a:gridCol w="243027"/>
                <a:gridCol w="243027"/>
                <a:gridCol w="243027"/>
                <a:gridCol w="243027"/>
                <a:gridCol w="243027"/>
                <a:gridCol w="243027"/>
              </a:tblGrid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3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4" name="Прямоугольник 183"/>
          <p:cNvSpPr/>
          <p:nvPr/>
        </p:nvSpPr>
        <p:spPr>
          <a:xfrm>
            <a:off x="3131840" y="2052139"/>
            <a:ext cx="1944216" cy="184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endParaRPr lang="ru-RU" sz="11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5" name="Group 8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159971"/>
              </p:ext>
            </p:extLst>
          </p:nvPr>
        </p:nvGraphicFramePr>
        <p:xfrm>
          <a:off x="179512" y="2266747"/>
          <a:ext cx="2808312" cy="10058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12178"/>
                <a:gridCol w="915894"/>
                <a:gridCol w="1580240"/>
              </a:tblGrid>
              <a:tr h="4156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u="none" strike="noStrike" cap="none" normalizeH="0" baseline="0" dirty="0" smtClean="0">
                          <a:ln>
                            <a:noFill/>
                          </a:ln>
                          <a:effectLst/>
                          <a:hlinkClick r:id="rId3" action="ppaction://hlinksldjump"/>
                        </a:rPr>
                        <a:t>№</a:t>
                      </a:r>
                      <a:endParaRPr kumimoji="0" lang="ru-RU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Kirish</a:t>
                      </a:r>
                      <a:r>
                        <a:rPr kumimoji="0" lang="en-US" sz="12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bitlari</a:t>
                      </a:r>
                      <a:endParaRPr kumimoji="0" lang="uz-Cyrl-UZ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200" b="1" u="none" strike="noStrike" kern="1200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Chiqish</a:t>
                      </a:r>
                      <a:r>
                        <a:rPr kumimoji="0" lang="en-US" sz="1200" b="1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b="1" u="none" strike="noStrike" kern="1200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bitlari</a:t>
                      </a:r>
                      <a:endParaRPr kumimoji="0" lang="ru-RU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987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200" b="1" i="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uz-Cyrl-UZ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X</a:t>
                      </a:r>
                      <a:r>
                        <a:rPr kumimoji="0" lang="en-US" sz="120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9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S</a:t>
                      </a:r>
                      <a:r>
                        <a:rPr kumimoji="0" lang="uz-Cyrl-UZ" sz="1200" u="none" strike="noStrike" kern="1200" cap="none" normalizeH="0" baseline="-25000" dirty="0">
                          <a:ln>
                            <a:noFill/>
                          </a:ln>
                          <a:effectLst/>
                        </a:rPr>
                        <a:t>31</a:t>
                      </a:r>
                      <a:r>
                        <a:rPr kumimoji="0" lang="uz-Cyrl-UZ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bloklarning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chiqishi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uz-Cyrl-UZ" sz="12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010, 011 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v</a:t>
                      </a:r>
                      <a:r>
                        <a:rPr kumimoji="0" lang="uz-Cyrl-UZ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а </a:t>
                      </a:r>
                      <a:r>
                        <a:rPr kumimoji="0" lang="uz-Cyrl-UZ" sz="12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110 </a:t>
                      </a: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ga</a:t>
                      </a:r>
                      <a:r>
                        <a:rPr kumimoji="0" lang="en-US" sz="12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200" u="none" strike="noStrike" kern="1200" cap="none" normalizeH="0" baseline="0" dirty="0" err="1">
                          <a:ln>
                            <a:noFill/>
                          </a:ln>
                          <a:effectLst/>
                        </a:rPr>
                        <a:t>teng</a:t>
                      </a:r>
                      <a:endParaRPr kumimoji="0" lang="ru-RU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51520" y="3571773"/>
            <a:ext cx="2808311" cy="1200329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raund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=0</a:t>
            </a:r>
            <a:endParaRPr lang="en-US" b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Ikkinchi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raund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+V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Прямоугольник 185"/>
          <p:cNvSpPr/>
          <p:nvPr/>
        </p:nvSpPr>
        <p:spPr>
          <a:xfrm>
            <a:off x="251520" y="4714952"/>
            <a:ext cx="4824536" cy="2000548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Uchinchi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raund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+V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=U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=3/4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+V</a:t>
            </a:r>
            <a:r>
              <a:rPr lang="en-US" sz="1600" b="1" baseline="-25000" dirty="0" smtClean="0">
                <a:latin typeface="Times New Roman" pitchFamily="18" charset="0"/>
                <a:cs typeface="Times New Roman" pitchFamily="18" charset="0"/>
              </a:rPr>
              <a:t>32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tenglamalari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P=3/4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Y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P=3/4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Y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P=3/4</a:t>
            </a:r>
            <a:endParaRPr lang="ru-RU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1" name="Группа 210"/>
          <p:cNvGrpSpPr/>
          <p:nvPr/>
        </p:nvGrpSpPr>
        <p:grpSpPr>
          <a:xfrm>
            <a:off x="251520" y="3545508"/>
            <a:ext cx="4824537" cy="3169992"/>
            <a:chOff x="251520" y="3545508"/>
            <a:chExt cx="4824537" cy="3169992"/>
          </a:xfrm>
        </p:grpSpPr>
        <p:cxnSp>
          <p:nvCxnSpPr>
            <p:cNvPr id="202" name="Прямая соединительная линия 201"/>
            <p:cNvCxnSpPr/>
            <p:nvPr/>
          </p:nvCxnSpPr>
          <p:spPr>
            <a:xfrm>
              <a:off x="2987824" y="3612935"/>
              <a:ext cx="0" cy="939368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10" name="Группа 209"/>
            <p:cNvGrpSpPr/>
            <p:nvPr/>
          </p:nvGrpSpPr>
          <p:grpSpPr>
            <a:xfrm>
              <a:off x="251520" y="3545508"/>
              <a:ext cx="4824537" cy="3169992"/>
              <a:chOff x="251520" y="3545508"/>
              <a:chExt cx="4824537" cy="3169992"/>
            </a:xfrm>
          </p:grpSpPr>
          <p:cxnSp>
            <p:nvCxnSpPr>
              <p:cNvPr id="193" name="Прямая соединительная линия 192"/>
              <p:cNvCxnSpPr/>
              <p:nvPr/>
            </p:nvCxnSpPr>
            <p:spPr>
              <a:xfrm>
                <a:off x="251520" y="3636005"/>
                <a:ext cx="0" cy="307949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4" name="Прямая соединительная линия 193"/>
              <p:cNvCxnSpPr/>
              <p:nvPr/>
            </p:nvCxnSpPr>
            <p:spPr>
              <a:xfrm flipH="1">
                <a:off x="251520" y="6669360"/>
                <a:ext cx="4824537" cy="4614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0" name="Прямая соединительная линия 199"/>
              <p:cNvCxnSpPr/>
              <p:nvPr/>
            </p:nvCxnSpPr>
            <p:spPr>
              <a:xfrm flipH="1">
                <a:off x="251521" y="3545508"/>
                <a:ext cx="2736303" cy="1526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4" name="Прямая соединительная линия 203"/>
              <p:cNvCxnSpPr/>
              <p:nvPr/>
            </p:nvCxnSpPr>
            <p:spPr>
              <a:xfrm>
                <a:off x="5076056" y="4552303"/>
                <a:ext cx="0" cy="210721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6" name="Прямая соединительная линия 205"/>
              <p:cNvCxnSpPr/>
              <p:nvPr/>
            </p:nvCxnSpPr>
            <p:spPr>
              <a:xfrm flipH="1">
                <a:off x="2987825" y="4532072"/>
                <a:ext cx="20882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1021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643182"/>
          <a:ext cx="8358214" cy="12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Группа 7"/>
          <p:cNvGrpSpPr/>
          <p:nvPr/>
        </p:nvGrpSpPr>
        <p:grpSpPr>
          <a:xfrm>
            <a:off x="1142976" y="4863476"/>
            <a:ext cx="7643866" cy="1285884"/>
            <a:chOff x="571493" y="-75640"/>
            <a:chExt cx="7215226" cy="136152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8" name="Пятиугольник 7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Пятиугольник 4"/>
            <p:cNvSpPr/>
            <p:nvPr/>
          </p:nvSpPr>
          <p:spPr>
            <a:xfrm>
              <a:off x="892967" y="-75640"/>
              <a:ext cx="6893752" cy="136152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AES </a:t>
              </a:r>
              <a:r>
                <a:rPr lang="en-US" sz="2400" b="1" dirty="0" err="1">
                  <a:latin typeface="Times New Roman" pitchFamily="18" charset="0"/>
                  <a:cs typeface="Times New Roman" pitchFamily="18" charset="0"/>
                </a:rPr>
                <a:t>shifrlash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uchun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usuli</a:t>
              </a:r>
              <a:r>
                <a:rPr lang="en-US" sz="2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" name="Группа 10"/>
          <p:cNvGrpSpPr/>
          <p:nvPr/>
        </p:nvGrpSpPr>
        <p:grpSpPr>
          <a:xfrm>
            <a:off x="1142976" y="3434716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1" name="Пятиугольник 10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</a:t>
              </a:r>
              <a:r>
                <a:rPr lang="uz-Cyrl-UZ" sz="2400" b="1" dirty="0" smtClean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shifrlash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 err="1" smtClean="0">
                  <a:latin typeface="Times New Roman" pitchFamily="18" charset="0"/>
                  <a:cs typeface="Times New Roman" pitchFamily="18" charset="0"/>
                </a:rPr>
                <a:t>SubBytes</a:t>
              </a:r>
              <a:r>
                <a:rPr lang="en-US" sz="2400" b="1" i="1" dirty="0" smtClean="0">
                  <a:latin typeface="Times New Roman" pitchFamily="18" charset="0"/>
                  <a:cs typeface="Times New Roman" pitchFamily="18" charset="0"/>
                </a:rPr>
                <a:t>()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akslantirishi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uchun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usuli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Группа 13"/>
          <p:cNvGrpSpPr/>
          <p:nvPr/>
        </p:nvGrpSpPr>
        <p:grpSpPr>
          <a:xfrm>
            <a:off x="1142976" y="1863080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Пятиугольник 13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sp3d prstMaterial="dkEdge">
              <a:bevelT w="82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Пятиугольник 4"/>
            <p:cNvSpPr/>
            <p:nvPr/>
          </p:nvSpPr>
          <p:spPr>
            <a:xfrm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AES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o’quv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uchun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usulini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o’tkazish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Овал 15"/>
          <p:cNvSpPr/>
          <p:nvPr/>
        </p:nvSpPr>
        <p:spPr>
          <a:xfrm>
            <a:off x="785786" y="1791642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2</a:t>
            </a:r>
            <a:r>
              <a:rPr lang="uz-Cyrl-UZ" sz="2200" b="1" dirty="0" smtClean="0"/>
              <a:t>.1</a:t>
            </a:r>
            <a:endParaRPr lang="ru-RU" sz="2200" b="1" dirty="0"/>
          </a:p>
        </p:txBody>
      </p:sp>
      <p:sp>
        <p:nvSpPr>
          <p:cNvPr id="17" name="Овал 16"/>
          <p:cNvSpPr/>
          <p:nvPr/>
        </p:nvSpPr>
        <p:spPr>
          <a:xfrm>
            <a:off x="785786" y="3291840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2</a:t>
            </a:r>
            <a:r>
              <a:rPr lang="uz-Cyrl-UZ" sz="2200" b="1" dirty="0" smtClean="0"/>
              <a:t>.2</a:t>
            </a:r>
            <a:endParaRPr lang="ru-RU" sz="2200" b="1" dirty="0"/>
          </a:p>
        </p:txBody>
      </p:sp>
      <p:sp>
        <p:nvSpPr>
          <p:cNvPr id="18" name="Овал 17"/>
          <p:cNvSpPr/>
          <p:nvPr/>
        </p:nvSpPr>
        <p:spPr>
          <a:xfrm>
            <a:off x="785786" y="4863476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  <a:bevelB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2</a:t>
            </a:r>
            <a:r>
              <a:rPr lang="uz-Cyrl-UZ" sz="2200" b="1" dirty="0" smtClean="0"/>
              <a:t>.3</a:t>
            </a:r>
            <a:endParaRPr lang="ru-RU" sz="2200" b="1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274006" y="281813"/>
            <a:ext cx="1738087" cy="60000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II </a:t>
            </a:r>
            <a:r>
              <a:rPr lang="en-US" sz="2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BOB</a:t>
            </a:r>
            <a:endParaRPr lang="ru-RU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971600" y="149731"/>
            <a:ext cx="7992888" cy="839559"/>
            <a:chOff x="971600" y="149731"/>
            <a:chExt cx="7992888" cy="839559"/>
          </a:xfrm>
        </p:grpSpPr>
        <p:sp>
          <p:nvSpPr>
            <p:cNvPr id="4" name="Блок-схема: сохраненные данные 3"/>
            <p:cNvSpPr/>
            <p:nvPr/>
          </p:nvSpPr>
          <p:spPr>
            <a:xfrm rot="10800000">
              <a:off x="971600" y="197202"/>
              <a:ext cx="7992888" cy="792088"/>
            </a:xfrm>
            <a:prstGeom prst="flowChartOnlineStorag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2123728" y="149731"/>
              <a:ext cx="6155086" cy="830997"/>
            </a:xfrm>
            <a:prstGeom prst="rect">
              <a:avLst/>
            </a:prstGeom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square">
              <a:spAutoFit/>
            </a:bodyPr>
            <a:lstStyle/>
            <a:p>
              <a:pPr algn="ctr"/>
              <a:r>
                <a:rPr lang="uz-Cyrl-UZ" sz="24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AES simmetrik shifrlash algoritmi uchun chiziqli </a:t>
              </a:r>
              <a:r>
                <a:rPr lang="en-US" sz="24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usulining</a:t>
              </a:r>
              <a:r>
                <a:rPr lang="en-US" sz="24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qo’llanilishi</a:t>
              </a:r>
              <a:endParaRPr lang="ru-RU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371790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nimBg="1"/>
      <p:bldP spid="17" grpId="0" build="p" animBg="1"/>
      <p:bldP spid="18" grpId="0" build="p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66126"/>
              </p:ext>
            </p:extLst>
          </p:nvPr>
        </p:nvGraphicFramePr>
        <p:xfrm>
          <a:off x="238446" y="2348880"/>
          <a:ext cx="3714128" cy="3108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  <a:gridCol w="232133"/>
              </a:tblGrid>
              <a:tr h="31344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200" dirty="0">
                          <a:effectLst>
                            <a:glow rad="139700">
                              <a:schemeClr val="accent6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endParaRPr lang="ru-RU" sz="1200" dirty="0">
                        <a:effectLst>
                          <a:glow rad="1397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39700">
                              <a:schemeClr val="accent6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ru-RU" sz="1200" dirty="0">
                        <a:effectLst>
                          <a:glow rad="1397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  <a:tr h="15672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>
                            <a:glow rad="101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200" dirty="0">
                        <a:effectLst>
                          <a:glow rad="101600">
                            <a:schemeClr val="accent1">
                              <a:satMod val="175000"/>
                              <a:alpha val="40000"/>
                            </a:schemeClr>
                          </a:glow>
                        </a:effectLst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9617" marR="29617" marT="0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Box 121"/>
          <p:cNvSpPr txBox="1">
            <a:spLocks noChangeArrowheads="1"/>
          </p:cNvSpPr>
          <p:nvPr/>
        </p:nvSpPr>
        <p:spPr bwMode="auto">
          <a:xfrm>
            <a:off x="-266926" y="6101712"/>
            <a:ext cx="48968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8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chetlanishga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bo’lgan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vektorlar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qaraladi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02578"/>
              </p:ext>
            </p:extLst>
          </p:nvPr>
        </p:nvGraphicFramePr>
        <p:xfrm>
          <a:off x="193441" y="1556792"/>
          <a:ext cx="5256591" cy="668965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672992"/>
                <a:gridCol w="191401"/>
                <a:gridCol w="289582"/>
                <a:gridCol w="289582"/>
                <a:gridCol w="289582"/>
                <a:gridCol w="289582"/>
                <a:gridCol w="289582"/>
                <a:gridCol w="289582"/>
                <a:gridCol w="289582"/>
                <a:gridCol w="289582"/>
                <a:gridCol w="289582"/>
                <a:gridCol w="297660"/>
                <a:gridCol w="297660"/>
                <a:gridCol w="297660"/>
                <a:gridCol w="297660"/>
                <a:gridCol w="297660"/>
                <a:gridCol w="297660"/>
              </a:tblGrid>
              <a:tr h="40137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Kirish</a:t>
                      </a:r>
                      <a:endParaRPr lang="ru-RU" sz="1200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6758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Chiqish</a:t>
                      </a:r>
                      <a:endParaRPr lang="ru-RU" sz="1200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81" name="Прямоугольник 380"/>
          <p:cNvSpPr/>
          <p:nvPr/>
        </p:nvSpPr>
        <p:spPr>
          <a:xfrm>
            <a:off x="238446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o’quv algoritmi uchun chiziqli kriptotahlil usulini </a:t>
            </a:r>
            <a:r>
              <a:rPr lang="uz-Cyrl-UZ" sz="2400" b="1" dirty="0" smtClean="0">
                <a:solidFill>
                  <a:srgbClr val="C00000"/>
                </a:solidFill>
              </a:rPr>
              <a:t>o’tkazish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382" name="Скругленный прямоугольник 381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pic>
        <p:nvPicPr>
          <p:cNvPr id="10" name="Рисунок 9"/>
          <p:cNvPicPr/>
          <p:nvPr/>
        </p:nvPicPr>
        <p:blipFill rotWithShape="1">
          <a:blip r:embed="rId3"/>
          <a:srcRect l="1516" t="5283" r="34900" b="39811"/>
          <a:stretch/>
        </p:blipFill>
        <p:spPr bwMode="auto">
          <a:xfrm>
            <a:off x="4355975" y="2348880"/>
            <a:ext cx="4595437" cy="4091385"/>
          </a:xfrm>
          <a:prstGeom prst="rect">
            <a:avLst/>
          </a:prstGeom>
          <a:ln w="3175">
            <a:solidFill>
              <a:srgbClr val="0000FF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" name="Объект 1">
            <a:hlinkClick r:id="rId4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059666"/>
              </p:ext>
            </p:extLst>
          </p:nvPr>
        </p:nvGraphicFramePr>
        <p:xfrm>
          <a:off x="5940152" y="1556792"/>
          <a:ext cx="2408237" cy="69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0" name="Equation" r:id="rId5" imgW="1346040" imgH="482400" progId="Equation.3">
                  <p:embed/>
                </p:oleObj>
              </mc:Choice>
              <mc:Fallback>
                <p:oleObj name="Equation" r:id="rId5" imgW="1346040" imgH="482400" progId="Equation.3">
                  <p:embed/>
                  <p:pic>
                    <p:nvPicPr>
                      <p:cNvPr id="0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556792"/>
                        <a:ext cx="2408237" cy="695771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4705289" y="6440266"/>
            <a:ext cx="415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1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endParaRPr lang="ru-RU" sz="1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99131" y="5589240"/>
            <a:ext cx="38779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1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endParaRPr lang="ru-RU" sz="1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691680" y="1207319"/>
            <a:ext cx="2023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akslantirishi</a:t>
            </a:r>
            <a:endParaRPr lang="ru-RU" sz="1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6012160" y="1196752"/>
            <a:ext cx="23022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sz="1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1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akslantirishi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53277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07504" y="44624"/>
            <a:ext cx="8928992" cy="6768752"/>
          </a:xfrm>
          <a:prstGeom prst="roundRect">
            <a:avLst>
              <a:gd name="adj" fmla="val 6704"/>
            </a:avLst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2" name="Прямоугольник 191"/>
          <p:cNvSpPr/>
          <p:nvPr/>
        </p:nvSpPr>
        <p:spPr>
          <a:xfrm>
            <a:off x="4932040" y="184707"/>
            <a:ext cx="3983490" cy="638871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5043730" y="78914"/>
            <a:ext cx="4048720" cy="6494505"/>
            <a:chOff x="20472" y="-30118"/>
            <a:chExt cx="4961183" cy="5204932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61416" y="696036"/>
              <a:ext cx="3700718" cy="1862115"/>
              <a:chOff x="0" y="0"/>
              <a:chExt cx="3700980" cy="1863043"/>
            </a:xfrm>
          </p:grpSpPr>
          <p:sp>
            <p:nvSpPr>
              <p:cNvPr id="127" name="Прямоугольник 126">
                <a:hlinkClick r:id="rId2" action="ppaction://hlinksldjump"/>
              </p:cNvPr>
              <p:cNvSpPr/>
              <p:nvPr/>
            </p:nvSpPr>
            <p:spPr>
              <a:xfrm>
                <a:off x="0" y="204826"/>
                <a:ext cx="650875" cy="306705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>
                    <a:effectLst/>
                    <a:latin typeface="Times New Roman"/>
                    <a:ea typeface="Times New Roman"/>
                  </a:rPr>
                  <a:t>11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28" name="Прямоугольник 127"/>
              <p:cNvSpPr/>
              <p:nvPr/>
            </p:nvSpPr>
            <p:spPr>
              <a:xfrm>
                <a:off x="980237" y="204826"/>
                <a:ext cx="650875" cy="306705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12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129" name="Прямоугольник 128"/>
              <p:cNvSpPr/>
              <p:nvPr/>
            </p:nvSpPr>
            <p:spPr>
              <a:xfrm>
                <a:off x="1953159" y="204826"/>
                <a:ext cx="650875" cy="306705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13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130" name="Прямоугольник 129"/>
              <p:cNvSpPr/>
              <p:nvPr/>
            </p:nvSpPr>
            <p:spPr>
              <a:xfrm>
                <a:off x="2969972" y="204826"/>
                <a:ext cx="651053" cy="307238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14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cxnSp>
            <p:nvCxnSpPr>
              <p:cNvPr id="131" name="Прямая соединительная линия 130"/>
              <p:cNvCxnSpPr/>
              <p:nvPr/>
            </p:nvCxnSpPr>
            <p:spPr>
              <a:xfrm flipV="1">
                <a:off x="117044" y="0"/>
                <a:ext cx="0" cy="20447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Прямая соединительная линия 131"/>
              <p:cNvCxnSpPr/>
              <p:nvPr/>
            </p:nvCxnSpPr>
            <p:spPr>
              <a:xfrm flipV="1">
                <a:off x="248717" y="0"/>
                <a:ext cx="0" cy="2044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Прямая соединительная линия 132"/>
              <p:cNvCxnSpPr/>
              <p:nvPr/>
            </p:nvCxnSpPr>
            <p:spPr>
              <a:xfrm flipV="1">
                <a:off x="395021" y="0"/>
                <a:ext cx="0" cy="2044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Прямая соединительная линия 133"/>
              <p:cNvCxnSpPr/>
              <p:nvPr/>
            </p:nvCxnSpPr>
            <p:spPr>
              <a:xfrm flipV="1">
                <a:off x="526695" y="0"/>
                <a:ext cx="0" cy="2044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Прямая соединительная линия 134"/>
              <p:cNvCxnSpPr/>
              <p:nvPr/>
            </p:nvCxnSpPr>
            <p:spPr>
              <a:xfrm flipV="1">
                <a:off x="1111911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Прямая соединительная линия 135"/>
              <p:cNvCxnSpPr/>
              <p:nvPr/>
            </p:nvCxnSpPr>
            <p:spPr>
              <a:xfrm flipV="1">
                <a:off x="1243584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Прямая соединительная линия 136"/>
              <p:cNvCxnSpPr/>
              <p:nvPr/>
            </p:nvCxnSpPr>
            <p:spPr>
              <a:xfrm flipV="1">
                <a:off x="1389888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Прямая соединительная линия 137"/>
              <p:cNvCxnSpPr/>
              <p:nvPr/>
            </p:nvCxnSpPr>
            <p:spPr>
              <a:xfrm flipV="1">
                <a:off x="1521562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Прямая соединительная линия 138"/>
              <p:cNvCxnSpPr/>
              <p:nvPr/>
            </p:nvCxnSpPr>
            <p:spPr>
              <a:xfrm flipV="1">
                <a:off x="2070202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Прямая соединительная линия 139"/>
              <p:cNvCxnSpPr/>
              <p:nvPr/>
            </p:nvCxnSpPr>
            <p:spPr>
              <a:xfrm flipV="1">
                <a:off x="2201876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Прямая соединительная линия 140"/>
              <p:cNvCxnSpPr/>
              <p:nvPr/>
            </p:nvCxnSpPr>
            <p:spPr>
              <a:xfrm flipV="1">
                <a:off x="2348180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Прямая соединительная линия 141"/>
              <p:cNvCxnSpPr/>
              <p:nvPr/>
            </p:nvCxnSpPr>
            <p:spPr>
              <a:xfrm flipV="1">
                <a:off x="2479853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Прямая соединительная линия 142"/>
              <p:cNvCxnSpPr/>
              <p:nvPr/>
            </p:nvCxnSpPr>
            <p:spPr>
              <a:xfrm flipV="1">
                <a:off x="3094330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Прямая соединительная линия 143"/>
              <p:cNvCxnSpPr/>
              <p:nvPr/>
            </p:nvCxnSpPr>
            <p:spPr>
              <a:xfrm flipV="1">
                <a:off x="3226004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Прямая соединительная линия 144"/>
              <p:cNvCxnSpPr/>
              <p:nvPr/>
            </p:nvCxnSpPr>
            <p:spPr>
              <a:xfrm flipV="1">
                <a:off x="3372308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Прямая соединительная линия 145"/>
              <p:cNvCxnSpPr/>
              <p:nvPr/>
            </p:nvCxnSpPr>
            <p:spPr>
              <a:xfrm flipV="1">
                <a:off x="3503981" y="0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Прямая соединительная линия 146"/>
              <p:cNvCxnSpPr/>
              <p:nvPr/>
            </p:nvCxnSpPr>
            <p:spPr>
              <a:xfrm flipV="1">
                <a:off x="3081172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Прямая соединительная линия 147"/>
              <p:cNvCxnSpPr/>
              <p:nvPr/>
            </p:nvCxnSpPr>
            <p:spPr>
              <a:xfrm flipV="1">
                <a:off x="3212845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Прямая соединительная линия 148"/>
              <p:cNvCxnSpPr/>
              <p:nvPr/>
            </p:nvCxnSpPr>
            <p:spPr>
              <a:xfrm flipV="1">
                <a:off x="3359150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Прямая соединительная линия 149"/>
              <p:cNvCxnSpPr/>
              <p:nvPr/>
            </p:nvCxnSpPr>
            <p:spPr>
              <a:xfrm flipV="1">
                <a:off x="3490823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Прямая соединительная линия 150"/>
              <p:cNvCxnSpPr/>
              <p:nvPr/>
            </p:nvCxnSpPr>
            <p:spPr>
              <a:xfrm flipH="1" flipV="1">
                <a:off x="2077314" y="511930"/>
                <a:ext cx="17927" cy="94886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Прямая соединительная линия 151"/>
              <p:cNvCxnSpPr/>
              <p:nvPr/>
            </p:nvCxnSpPr>
            <p:spPr>
              <a:xfrm flipH="1" flipV="1">
                <a:off x="2208975" y="511930"/>
                <a:ext cx="17928" cy="1041804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Прямая соединительная линия 152"/>
              <p:cNvCxnSpPr/>
              <p:nvPr/>
            </p:nvCxnSpPr>
            <p:spPr>
              <a:xfrm flipH="1" flipV="1">
                <a:off x="2355265" y="511930"/>
                <a:ext cx="17928" cy="94838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Прямая соединительная линия 153"/>
              <p:cNvCxnSpPr/>
              <p:nvPr/>
            </p:nvCxnSpPr>
            <p:spPr>
              <a:xfrm flipH="1" flipV="1">
                <a:off x="2486926" y="511930"/>
                <a:ext cx="17316" cy="94814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Прямая соединительная линия 154"/>
              <p:cNvCxnSpPr/>
              <p:nvPr/>
            </p:nvCxnSpPr>
            <p:spPr>
              <a:xfrm flipV="1">
                <a:off x="1111911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Прямая соединительная линия 155"/>
              <p:cNvCxnSpPr/>
              <p:nvPr/>
            </p:nvCxnSpPr>
            <p:spPr>
              <a:xfrm flipV="1">
                <a:off x="1243584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Прямая соединительная линия 156"/>
              <p:cNvCxnSpPr/>
              <p:nvPr/>
            </p:nvCxnSpPr>
            <p:spPr>
              <a:xfrm flipV="1">
                <a:off x="1389888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Прямая соединительная линия 157"/>
              <p:cNvCxnSpPr/>
              <p:nvPr/>
            </p:nvCxnSpPr>
            <p:spPr>
              <a:xfrm flipV="1">
                <a:off x="1521562" y="512064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Прямая соединительная линия 158"/>
              <p:cNvCxnSpPr/>
              <p:nvPr/>
            </p:nvCxnSpPr>
            <p:spPr>
              <a:xfrm flipH="1" flipV="1">
                <a:off x="136367" y="511930"/>
                <a:ext cx="5304" cy="948865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Прямая соединительная линия 159"/>
              <p:cNvCxnSpPr/>
              <p:nvPr/>
            </p:nvCxnSpPr>
            <p:spPr>
              <a:xfrm flipH="1" flipV="1">
                <a:off x="256004" y="511930"/>
                <a:ext cx="17927" cy="996652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Прямая соединительная линия 160"/>
              <p:cNvCxnSpPr/>
              <p:nvPr/>
            </p:nvCxnSpPr>
            <p:spPr>
              <a:xfrm flipH="1" flipV="1">
                <a:off x="402294" y="511930"/>
                <a:ext cx="17927" cy="948624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Прямая соединительная линия 161"/>
              <p:cNvCxnSpPr/>
              <p:nvPr/>
            </p:nvCxnSpPr>
            <p:spPr>
              <a:xfrm flipH="1" flipV="1">
                <a:off x="533955" y="511930"/>
                <a:ext cx="17927" cy="948865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Прямоугольник 162">
                <a:hlinkClick r:id="" action="ppaction://noaction"/>
              </p:cNvPr>
              <p:cNvSpPr/>
              <p:nvPr/>
            </p:nvSpPr>
            <p:spPr>
              <a:xfrm>
                <a:off x="21527" y="1556337"/>
                <a:ext cx="1745364" cy="306706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i="1" dirty="0" err="1" smtClean="0">
                    <a:latin typeface="Times New Roman"/>
                    <a:ea typeface="Times New Roman"/>
                  </a:rPr>
                  <a:t>MixColumns</a:t>
                </a:r>
                <a:r>
                  <a:rPr lang="en-US" sz="1200" i="1" dirty="0" smtClean="0">
                    <a:latin typeface="Times New Roman"/>
                    <a:ea typeface="Times New Roman"/>
                  </a:rPr>
                  <a:t>()</a:t>
                </a:r>
                <a:r>
                  <a:rPr lang="en-US" sz="1200" b="1" i="1" dirty="0" smtClean="0">
                    <a:latin typeface="Times New Roman"/>
                    <a:ea typeface="Times New Roman"/>
                  </a:rPr>
                  <a:t>(</a:t>
                </a:r>
                <a:r>
                  <a:rPr lang="en-US" sz="1200" b="1" dirty="0" smtClean="0">
                    <a:effectLst/>
                    <a:latin typeface="Times New Roman"/>
                    <a:ea typeface="Times New Roman"/>
                  </a:rPr>
                  <a:t>P</a:t>
                </a:r>
                <a:r>
                  <a:rPr lang="en-US" sz="1200" b="1" baseline="-25000" dirty="0" smtClean="0">
                    <a:effectLst/>
                    <a:latin typeface="Times New Roman"/>
                    <a:ea typeface="Times New Roman"/>
                  </a:rPr>
                  <a:t>1</a:t>
                </a:r>
                <a:r>
                  <a:rPr lang="en-US" sz="1200" b="1" dirty="0" smtClean="0">
                    <a:effectLst/>
                    <a:latin typeface="Times New Roman"/>
                    <a:ea typeface="Times New Roman"/>
                  </a:rPr>
                  <a:t>)</a:t>
                </a:r>
                <a:endParaRPr lang="ru-RU" sz="1200" b="1" dirty="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64" name="Прямоугольник 163"/>
              <p:cNvSpPr/>
              <p:nvPr/>
            </p:nvSpPr>
            <p:spPr>
              <a:xfrm>
                <a:off x="2033075" y="1554078"/>
                <a:ext cx="1667905" cy="306706"/>
              </a:xfrm>
              <a:prstGeom prst="rect">
                <a:avLst/>
              </a:prstGeom>
              <a:ln w="31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i="1" dirty="0" err="1">
                    <a:latin typeface="Times New Roman"/>
                    <a:ea typeface="Times New Roman"/>
                  </a:rPr>
                  <a:t>MixColumns</a:t>
                </a:r>
                <a:r>
                  <a:rPr lang="en-US" sz="1200" i="1" dirty="0">
                    <a:latin typeface="Times New Roman"/>
                    <a:ea typeface="Times New Roman"/>
                  </a:rPr>
                  <a:t>()</a:t>
                </a:r>
                <a:r>
                  <a:rPr lang="en-US" sz="1200" b="1" i="1" dirty="0">
                    <a:latin typeface="Times New Roman"/>
                    <a:ea typeface="Times New Roman"/>
                  </a:rPr>
                  <a:t>(</a:t>
                </a:r>
                <a:r>
                  <a:rPr lang="en-US" sz="1200" b="1" dirty="0" smtClean="0">
                    <a:latin typeface="Times New Roman"/>
                    <a:ea typeface="Times New Roman"/>
                  </a:rPr>
                  <a:t>P</a:t>
                </a:r>
                <a:r>
                  <a:rPr lang="en-US" sz="1200" b="1" baseline="-25000" dirty="0" smtClean="0">
                    <a:latin typeface="Times New Roman"/>
                    <a:ea typeface="Times New Roman"/>
                  </a:rPr>
                  <a:t>2</a:t>
                </a:r>
                <a:r>
                  <a:rPr lang="en-US" sz="1200" b="1" dirty="0" smtClean="0">
                    <a:latin typeface="Times New Roman"/>
                    <a:ea typeface="Times New Roman"/>
                  </a:rPr>
                  <a:t>)</a:t>
                </a:r>
                <a:endParaRPr lang="ru-RU" sz="1200" b="1" dirty="0">
                  <a:latin typeface="Times New Roman"/>
                  <a:ea typeface="Times New Roman"/>
                </a:endParaRPr>
              </a:p>
            </p:txBody>
          </p:sp>
          <p:cxnSp>
            <p:nvCxnSpPr>
              <p:cNvPr id="165" name="Прямая соединительная линия 164"/>
              <p:cNvCxnSpPr/>
              <p:nvPr/>
            </p:nvCxnSpPr>
            <p:spPr>
              <a:xfrm flipV="1">
                <a:off x="3099102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Прямая соединительная линия 165"/>
              <p:cNvCxnSpPr/>
              <p:nvPr/>
            </p:nvCxnSpPr>
            <p:spPr>
              <a:xfrm flipV="1">
                <a:off x="3230775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Прямая соединительная линия 166"/>
              <p:cNvCxnSpPr/>
              <p:nvPr/>
            </p:nvCxnSpPr>
            <p:spPr>
              <a:xfrm flipV="1">
                <a:off x="3377080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Прямая соединительная линия 167"/>
              <p:cNvCxnSpPr/>
              <p:nvPr/>
            </p:nvCxnSpPr>
            <p:spPr>
              <a:xfrm flipV="1">
                <a:off x="3508752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Прямая соединительная линия 168"/>
              <p:cNvCxnSpPr/>
              <p:nvPr/>
            </p:nvCxnSpPr>
            <p:spPr>
              <a:xfrm flipV="1">
                <a:off x="2095446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Прямая соединительная линия 169"/>
              <p:cNvCxnSpPr/>
              <p:nvPr/>
            </p:nvCxnSpPr>
            <p:spPr>
              <a:xfrm flipV="1">
                <a:off x="2227120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Прямая соединительная линия 170"/>
              <p:cNvCxnSpPr/>
              <p:nvPr/>
            </p:nvCxnSpPr>
            <p:spPr>
              <a:xfrm flipV="1">
                <a:off x="2373424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Прямая соединительная линия 171"/>
              <p:cNvCxnSpPr/>
              <p:nvPr/>
            </p:nvCxnSpPr>
            <p:spPr>
              <a:xfrm flipV="1">
                <a:off x="2505098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Прямая соединительная линия 172"/>
              <p:cNvCxnSpPr/>
              <p:nvPr/>
            </p:nvCxnSpPr>
            <p:spPr>
              <a:xfrm flipV="1">
                <a:off x="1129841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Прямая соединительная линия 173"/>
              <p:cNvCxnSpPr/>
              <p:nvPr/>
            </p:nvCxnSpPr>
            <p:spPr>
              <a:xfrm flipV="1">
                <a:off x="1261513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Прямая соединительная линия 174"/>
              <p:cNvCxnSpPr/>
              <p:nvPr/>
            </p:nvCxnSpPr>
            <p:spPr>
              <a:xfrm flipV="1">
                <a:off x="1407817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Прямая соединительная линия 175"/>
              <p:cNvCxnSpPr/>
              <p:nvPr/>
            </p:nvCxnSpPr>
            <p:spPr>
              <a:xfrm flipV="1">
                <a:off x="1539491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Прямая соединительная линия 176"/>
              <p:cNvCxnSpPr/>
              <p:nvPr/>
            </p:nvCxnSpPr>
            <p:spPr>
              <a:xfrm flipV="1">
                <a:off x="142288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Прямая соединительная линия 177"/>
              <p:cNvCxnSpPr/>
              <p:nvPr/>
            </p:nvCxnSpPr>
            <p:spPr>
              <a:xfrm flipV="1">
                <a:off x="273962" y="1349413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Прямая соединительная линия 178"/>
              <p:cNvCxnSpPr/>
              <p:nvPr/>
            </p:nvCxnSpPr>
            <p:spPr>
              <a:xfrm flipV="1">
                <a:off x="420266" y="1349413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Прямая соединительная линия 179"/>
              <p:cNvCxnSpPr/>
              <p:nvPr/>
            </p:nvCxnSpPr>
            <p:spPr>
              <a:xfrm flipV="1">
                <a:off x="551940" y="1349413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Прямая соединительная линия 180"/>
              <p:cNvCxnSpPr/>
              <p:nvPr/>
            </p:nvCxnSpPr>
            <p:spPr>
              <a:xfrm flipH="1" flipV="1">
                <a:off x="1103697" y="716455"/>
                <a:ext cx="1995104" cy="632730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Прямая соединительная линия 181"/>
              <p:cNvCxnSpPr/>
              <p:nvPr/>
            </p:nvCxnSpPr>
            <p:spPr>
              <a:xfrm flipH="1" flipV="1">
                <a:off x="1243571" y="716455"/>
                <a:ext cx="1995104" cy="632730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Прямая соединительная линия 182"/>
              <p:cNvCxnSpPr/>
              <p:nvPr/>
            </p:nvCxnSpPr>
            <p:spPr>
              <a:xfrm flipH="1" flipV="1">
                <a:off x="1381963" y="716455"/>
                <a:ext cx="1995104" cy="632730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Прямая соединительная линия 183"/>
              <p:cNvCxnSpPr/>
              <p:nvPr/>
            </p:nvCxnSpPr>
            <p:spPr>
              <a:xfrm flipH="1" flipV="1">
                <a:off x="1521667" y="716685"/>
                <a:ext cx="1995104" cy="632730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Прямая соединительная линия 184"/>
              <p:cNvCxnSpPr/>
              <p:nvPr/>
            </p:nvCxnSpPr>
            <p:spPr>
              <a:xfrm flipH="1">
                <a:off x="1129729" y="716599"/>
                <a:ext cx="1948223" cy="632586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Прямая соединительная линия 185"/>
              <p:cNvCxnSpPr/>
              <p:nvPr/>
            </p:nvCxnSpPr>
            <p:spPr>
              <a:xfrm flipH="1">
                <a:off x="1264610" y="716829"/>
                <a:ext cx="1948223" cy="632586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Прямая соединительная линия 186"/>
              <p:cNvCxnSpPr/>
              <p:nvPr/>
            </p:nvCxnSpPr>
            <p:spPr>
              <a:xfrm flipH="1">
                <a:off x="1409349" y="716829"/>
                <a:ext cx="1948223" cy="632586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Прямая соединительная линия 187"/>
              <p:cNvCxnSpPr/>
              <p:nvPr/>
            </p:nvCxnSpPr>
            <p:spPr>
              <a:xfrm flipH="1">
                <a:off x="1539707" y="716829"/>
                <a:ext cx="1948223" cy="632586"/>
              </a:xfrm>
              <a:prstGeom prst="line">
                <a:avLst/>
              </a:prstGeom>
              <a:ln w="31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Группа 7"/>
            <p:cNvGrpSpPr/>
            <p:nvPr/>
          </p:nvGrpSpPr>
          <p:grpSpPr>
            <a:xfrm>
              <a:off x="103416" y="3088160"/>
              <a:ext cx="3620770" cy="716279"/>
              <a:chOff x="48829" y="556778"/>
              <a:chExt cx="3621026" cy="716636"/>
            </a:xfrm>
          </p:grpSpPr>
          <p:sp>
            <p:nvSpPr>
              <p:cNvPr id="91" name="Прямоугольник 90"/>
              <p:cNvSpPr/>
              <p:nvPr/>
            </p:nvSpPr>
            <p:spPr>
              <a:xfrm>
                <a:off x="48829" y="761604"/>
                <a:ext cx="650875" cy="30670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21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92" name="Прямоугольник 91"/>
              <p:cNvSpPr/>
              <p:nvPr/>
            </p:nvSpPr>
            <p:spPr>
              <a:xfrm>
                <a:off x="1029065" y="761604"/>
                <a:ext cx="650875" cy="30670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22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93" name="Прямоугольник 92"/>
              <p:cNvSpPr/>
              <p:nvPr/>
            </p:nvSpPr>
            <p:spPr>
              <a:xfrm>
                <a:off x="2001987" y="761604"/>
                <a:ext cx="650875" cy="30670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23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sp>
            <p:nvSpPr>
              <p:cNvPr id="94" name="Прямоугольник 93"/>
              <p:cNvSpPr/>
              <p:nvPr/>
            </p:nvSpPr>
            <p:spPr>
              <a:xfrm>
                <a:off x="3018802" y="761604"/>
                <a:ext cx="651053" cy="307238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en-US" sz="1200" dirty="0" smtClean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1200" dirty="0" smtClean="0"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1200" baseline="-25000" dirty="0" smtClean="0">
                    <a:effectLst/>
                    <a:latin typeface="Times New Roman"/>
                    <a:ea typeface="Times New Roman"/>
                  </a:rPr>
                  <a:t>24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200" dirty="0">
                    <a:effectLst/>
                    <a:latin typeface="Times New Roman"/>
                    <a:ea typeface="Times New Roman"/>
                  </a:rPr>
                  <a:t> </a:t>
                </a:r>
              </a:p>
            </p:txBody>
          </p:sp>
          <p:cxnSp>
            <p:nvCxnSpPr>
              <p:cNvPr id="95" name="Прямая соединительная линия 94"/>
              <p:cNvCxnSpPr/>
              <p:nvPr/>
            </p:nvCxnSpPr>
            <p:spPr>
              <a:xfrm flipV="1">
                <a:off x="180502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Прямая соединительная линия 95"/>
              <p:cNvCxnSpPr/>
              <p:nvPr/>
            </p:nvCxnSpPr>
            <p:spPr>
              <a:xfrm flipV="1">
                <a:off x="312176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Прямая соединительная линия 96"/>
              <p:cNvCxnSpPr/>
              <p:nvPr/>
            </p:nvCxnSpPr>
            <p:spPr>
              <a:xfrm flipV="1">
                <a:off x="438957" y="556778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Прямая соединительная линия 97"/>
              <p:cNvCxnSpPr/>
              <p:nvPr/>
            </p:nvCxnSpPr>
            <p:spPr>
              <a:xfrm flipV="1">
                <a:off x="570628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Прямая соединительная линия 98"/>
              <p:cNvCxnSpPr/>
              <p:nvPr/>
            </p:nvCxnSpPr>
            <p:spPr>
              <a:xfrm flipV="1">
                <a:off x="1168054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Прямая соединительная линия 99"/>
              <p:cNvCxnSpPr/>
              <p:nvPr/>
            </p:nvCxnSpPr>
            <p:spPr>
              <a:xfrm flipV="1">
                <a:off x="1299729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Прямая соединительная линия 100"/>
              <p:cNvCxnSpPr/>
              <p:nvPr/>
            </p:nvCxnSpPr>
            <p:spPr>
              <a:xfrm flipV="1">
                <a:off x="1446033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Прямая соединительная линия 101"/>
              <p:cNvCxnSpPr/>
              <p:nvPr/>
            </p:nvCxnSpPr>
            <p:spPr>
              <a:xfrm flipV="1">
                <a:off x="1577705" y="556778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Прямая соединительная линия 102"/>
              <p:cNvCxnSpPr/>
              <p:nvPr/>
            </p:nvCxnSpPr>
            <p:spPr>
              <a:xfrm flipV="1">
                <a:off x="2140976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Прямая соединительная линия 103"/>
              <p:cNvCxnSpPr/>
              <p:nvPr/>
            </p:nvCxnSpPr>
            <p:spPr>
              <a:xfrm flipV="1">
                <a:off x="2272650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Прямая соединительная линия 104"/>
              <p:cNvCxnSpPr/>
              <p:nvPr/>
            </p:nvCxnSpPr>
            <p:spPr>
              <a:xfrm flipV="1">
                <a:off x="2418954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Прямая соединительная линия 105"/>
              <p:cNvCxnSpPr/>
              <p:nvPr/>
            </p:nvCxnSpPr>
            <p:spPr>
              <a:xfrm flipV="1">
                <a:off x="2550627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Прямая соединительная линия 106"/>
              <p:cNvCxnSpPr/>
              <p:nvPr/>
            </p:nvCxnSpPr>
            <p:spPr>
              <a:xfrm flipV="1">
                <a:off x="3165104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единительная линия 107"/>
              <p:cNvCxnSpPr/>
              <p:nvPr/>
            </p:nvCxnSpPr>
            <p:spPr>
              <a:xfrm flipV="1">
                <a:off x="3296779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Прямая соединительная линия 108"/>
              <p:cNvCxnSpPr/>
              <p:nvPr/>
            </p:nvCxnSpPr>
            <p:spPr>
              <a:xfrm flipV="1">
                <a:off x="3443083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Прямая соединительная линия 109"/>
              <p:cNvCxnSpPr/>
              <p:nvPr/>
            </p:nvCxnSpPr>
            <p:spPr>
              <a:xfrm flipV="1">
                <a:off x="3574755" y="556778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Прямая соединительная линия 110"/>
              <p:cNvCxnSpPr/>
              <p:nvPr/>
            </p:nvCxnSpPr>
            <p:spPr>
              <a:xfrm flipV="1">
                <a:off x="3179734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Прямая соединительная линия 111"/>
              <p:cNvCxnSpPr/>
              <p:nvPr/>
            </p:nvCxnSpPr>
            <p:spPr>
              <a:xfrm flipV="1">
                <a:off x="3311410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Прямая соединительная линия 112"/>
              <p:cNvCxnSpPr/>
              <p:nvPr/>
            </p:nvCxnSpPr>
            <p:spPr>
              <a:xfrm flipV="1">
                <a:off x="3457714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Прямая соединительная линия 113"/>
              <p:cNvCxnSpPr/>
              <p:nvPr/>
            </p:nvCxnSpPr>
            <p:spPr>
              <a:xfrm flipV="1">
                <a:off x="3589385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Прямая соединительная линия 114"/>
              <p:cNvCxnSpPr/>
              <p:nvPr/>
            </p:nvCxnSpPr>
            <p:spPr>
              <a:xfrm flipV="1">
                <a:off x="2140978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Прямая соединительная линия 115"/>
              <p:cNvCxnSpPr/>
              <p:nvPr/>
            </p:nvCxnSpPr>
            <p:spPr>
              <a:xfrm flipV="1">
                <a:off x="2272649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Прямая соединительная линия 116"/>
              <p:cNvCxnSpPr/>
              <p:nvPr/>
            </p:nvCxnSpPr>
            <p:spPr>
              <a:xfrm flipV="1">
                <a:off x="2418953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Прямая соединительная линия 117"/>
              <p:cNvCxnSpPr/>
              <p:nvPr/>
            </p:nvCxnSpPr>
            <p:spPr>
              <a:xfrm flipV="1">
                <a:off x="2550627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Прямая соединительная линия 118"/>
              <p:cNvCxnSpPr/>
              <p:nvPr/>
            </p:nvCxnSpPr>
            <p:spPr>
              <a:xfrm flipV="1">
                <a:off x="1168054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Прямая соединительная линия 119"/>
              <p:cNvCxnSpPr/>
              <p:nvPr/>
            </p:nvCxnSpPr>
            <p:spPr>
              <a:xfrm flipV="1">
                <a:off x="1299730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Прямая соединительная линия 120"/>
              <p:cNvCxnSpPr/>
              <p:nvPr/>
            </p:nvCxnSpPr>
            <p:spPr>
              <a:xfrm flipV="1">
                <a:off x="1446034" y="1068842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Прямая соединительная линия 121"/>
              <p:cNvCxnSpPr/>
              <p:nvPr/>
            </p:nvCxnSpPr>
            <p:spPr>
              <a:xfrm flipV="1">
                <a:off x="1577705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Прямая соединительная линия 122"/>
              <p:cNvCxnSpPr/>
              <p:nvPr/>
            </p:nvCxnSpPr>
            <p:spPr>
              <a:xfrm flipV="1">
                <a:off x="180502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Прямая соединительная линия 123"/>
              <p:cNvCxnSpPr/>
              <p:nvPr/>
            </p:nvCxnSpPr>
            <p:spPr>
              <a:xfrm flipV="1">
                <a:off x="312178" y="1068842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Прямая соединительная линия 124"/>
              <p:cNvCxnSpPr/>
              <p:nvPr/>
            </p:nvCxnSpPr>
            <p:spPr>
              <a:xfrm flipV="1">
                <a:off x="458482" y="1068842"/>
                <a:ext cx="0" cy="2045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Прямая соединительная линия 125"/>
              <p:cNvCxnSpPr/>
              <p:nvPr/>
            </p:nvCxnSpPr>
            <p:spPr>
              <a:xfrm flipV="1">
                <a:off x="590153" y="1068842"/>
                <a:ext cx="0" cy="2045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Прямоугольник 8"/>
            <p:cNvSpPr/>
            <p:nvPr/>
          </p:nvSpPr>
          <p:spPr>
            <a:xfrm>
              <a:off x="20472" y="423081"/>
              <a:ext cx="3679190" cy="270510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100" dirty="0">
                  <a:effectLst/>
                  <a:latin typeface="Times New Roman"/>
                  <a:ea typeface="Times New Roman"/>
                </a:rPr>
                <a:t>K </a:t>
              </a:r>
              <a:r>
                <a:rPr lang="en-US" sz="1100" dirty="0" err="1">
                  <a:effectLst/>
                  <a:latin typeface="Times New Roman"/>
                  <a:ea typeface="Times New Roman"/>
                </a:rPr>
                <a:t>kalit</a:t>
              </a:r>
              <a:r>
                <a:rPr lang="en-US" sz="11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100" dirty="0" err="1">
                  <a:effectLst/>
                  <a:latin typeface="Times New Roman"/>
                  <a:ea typeface="Times New Roman"/>
                </a:rPr>
                <a:t>bitini</a:t>
              </a:r>
              <a:r>
                <a:rPr lang="en-US" sz="11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100" dirty="0" err="1">
                  <a:effectLst/>
                  <a:latin typeface="Times New Roman"/>
                  <a:ea typeface="Times New Roman"/>
                </a:rPr>
                <a:t>qo’shish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82947" y="2808382"/>
              <a:ext cx="3679190" cy="270510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/>
                  <a:ea typeface="Times New Roman"/>
                </a:rPr>
                <a:t>K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kalit</a:t>
              </a:r>
              <a:r>
                <a:rPr lang="en-US" sz="12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bitini</a:t>
              </a:r>
              <a:r>
                <a:rPr lang="en-US" sz="12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qo’shish</a:t>
              </a:r>
              <a:endParaRPr lang="ru-RU" sz="1400" dirty="0">
                <a:effectLst/>
                <a:latin typeface="Times New Roman"/>
                <a:ea typeface="Times New Roman"/>
              </a:endParaRPr>
            </a:p>
          </p:txBody>
        </p:sp>
        <p:grpSp>
          <p:nvGrpSpPr>
            <p:cNvPr id="11" name="Группа 10"/>
            <p:cNvGrpSpPr/>
            <p:nvPr/>
          </p:nvGrpSpPr>
          <p:grpSpPr>
            <a:xfrm>
              <a:off x="213548" y="2555897"/>
              <a:ext cx="3404204" cy="255906"/>
              <a:chOff x="29303" y="556500"/>
              <a:chExt cx="3404204" cy="255906"/>
            </a:xfrm>
          </p:grpSpPr>
          <p:cxnSp>
            <p:nvCxnSpPr>
              <p:cNvPr id="75" name="Прямая соединительная линия 74"/>
              <p:cNvCxnSpPr/>
              <p:nvPr/>
            </p:nvCxnSpPr>
            <p:spPr>
              <a:xfrm flipV="1">
                <a:off x="29303" y="556501"/>
                <a:ext cx="0" cy="2552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Прямая соединительная линия 75"/>
              <p:cNvCxnSpPr/>
              <p:nvPr/>
            </p:nvCxnSpPr>
            <p:spPr>
              <a:xfrm flipV="1">
                <a:off x="158958" y="556501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Прямая соединительная линия 76"/>
              <p:cNvCxnSpPr/>
              <p:nvPr/>
            </p:nvCxnSpPr>
            <p:spPr>
              <a:xfrm flipV="1">
                <a:off x="309082" y="556501"/>
                <a:ext cx="6985" cy="255905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/>
              <p:cNvCxnSpPr/>
              <p:nvPr/>
            </p:nvCxnSpPr>
            <p:spPr>
              <a:xfrm flipH="1" flipV="1">
                <a:off x="438737" y="556501"/>
                <a:ext cx="36" cy="2552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/>
              <p:cNvCxnSpPr/>
              <p:nvPr/>
            </p:nvCxnSpPr>
            <p:spPr>
              <a:xfrm flipV="1">
                <a:off x="1051936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Прямая соединительная линия 79"/>
              <p:cNvCxnSpPr/>
              <p:nvPr/>
            </p:nvCxnSpPr>
            <p:spPr>
              <a:xfrm flipV="1">
                <a:off x="1181591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Прямая соединительная линия 80"/>
              <p:cNvCxnSpPr/>
              <p:nvPr/>
            </p:nvCxnSpPr>
            <p:spPr>
              <a:xfrm flipV="1">
                <a:off x="1324892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Прямая соединительная линия 81"/>
              <p:cNvCxnSpPr/>
              <p:nvPr/>
            </p:nvCxnSpPr>
            <p:spPr>
              <a:xfrm flipH="1" flipV="1">
                <a:off x="1461369" y="556501"/>
                <a:ext cx="36" cy="25527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Прямая соединительная линия 82"/>
              <p:cNvCxnSpPr/>
              <p:nvPr/>
            </p:nvCxnSpPr>
            <p:spPr>
              <a:xfrm flipV="1">
                <a:off x="1993632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Прямая соединительная линия 83"/>
              <p:cNvCxnSpPr/>
              <p:nvPr/>
            </p:nvCxnSpPr>
            <p:spPr>
              <a:xfrm flipV="1">
                <a:off x="2123287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Прямая соединительная линия 84"/>
              <p:cNvCxnSpPr/>
              <p:nvPr/>
            </p:nvCxnSpPr>
            <p:spPr>
              <a:xfrm flipV="1">
                <a:off x="2273412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Прямая соединительная линия 85"/>
              <p:cNvCxnSpPr/>
              <p:nvPr/>
            </p:nvCxnSpPr>
            <p:spPr>
              <a:xfrm flipH="1" flipV="1">
                <a:off x="2403066" y="556501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Прямая соединительная линия 86"/>
              <p:cNvCxnSpPr/>
              <p:nvPr/>
            </p:nvCxnSpPr>
            <p:spPr>
              <a:xfrm flipV="1">
                <a:off x="3024039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Прямая соединительная линия 87"/>
              <p:cNvCxnSpPr/>
              <p:nvPr/>
            </p:nvCxnSpPr>
            <p:spPr>
              <a:xfrm flipV="1">
                <a:off x="3153692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Прямая соединительная линия 88"/>
              <p:cNvCxnSpPr/>
              <p:nvPr/>
            </p:nvCxnSpPr>
            <p:spPr>
              <a:xfrm flipV="1">
                <a:off x="3303818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Прямая соединительная линия 89"/>
              <p:cNvCxnSpPr/>
              <p:nvPr/>
            </p:nvCxnSpPr>
            <p:spPr>
              <a:xfrm flipH="1" flipV="1">
                <a:off x="3433471" y="556500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Группа 11"/>
            <p:cNvGrpSpPr/>
            <p:nvPr/>
          </p:nvGrpSpPr>
          <p:grpSpPr>
            <a:xfrm>
              <a:off x="191069" y="300251"/>
              <a:ext cx="3371033" cy="119380"/>
              <a:chOff x="0" y="0"/>
              <a:chExt cx="3371033" cy="255905"/>
            </a:xfrm>
          </p:grpSpPr>
          <p:cxnSp>
            <p:nvCxnSpPr>
              <p:cNvPr id="59" name="Прямая соединительная линия 58"/>
              <p:cNvCxnSpPr/>
              <p:nvPr/>
            </p:nvCxnSpPr>
            <p:spPr>
              <a:xfrm flipV="1">
                <a:off x="2961564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/>
              <p:cNvCxnSpPr/>
              <p:nvPr/>
            </p:nvCxnSpPr>
            <p:spPr>
              <a:xfrm flipV="1">
                <a:off x="3091218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Прямая соединительная линия 60"/>
              <p:cNvCxnSpPr/>
              <p:nvPr/>
            </p:nvCxnSpPr>
            <p:spPr>
              <a:xfrm flipV="1">
                <a:off x="3241343" y="0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Прямая соединительная линия 61"/>
              <p:cNvCxnSpPr/>
              <p:nvPr/>
            </p:nvCxnSpPr>
            <p:spPr>
              <a:xfrm flipH="1" flipV="1">
                <a:off x="3370997" y="0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Прямая соединительная линия 62"/>
              <p:cNvCxnSpPr/>
              <p:nvPr/>
            </p:nvCxnSpPr>
            <p:spPr>
              <a:xfrm flipV="1">
                <a:off x="1944806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Прямая соединительная линия 63"/>
              <p:cNvCxnSpPr/>
              <p:nvPr/>
            </p:nvCxnSpPr>
            <p:spPr>
              <a:xfrm flipV="1">
                <a:off x="2074459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Прямая соединительная линия 64"/>
              <p:cNvCxnSpPr/>
              <p:nvPr/>
            </p:nvCxnSpPr>
            <p:spPr>
              <a:xfrm flipV="1">
                <a:off x="2224585" y="0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Прямая соединительная линия 65"/>
              <p:cNvCxnSpPr/>
              <p:nvPr/>
            </p:nvCxnSpPr>
            <p:spPr>
              <a:xfrm flipH="1" flipV="1">
                <a:off x="2354239" y="0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Прямая соединительная линия 66"/>
              <p:cNvCxnSpPr/>
              <p:nvPr/>
            </p:nvCxnSpPr>
            <p:spPr>
              <a:xfrm flipV="1">
                <a:off x="982639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Прямая соединительная линия 67"/>
              <p:cNvCxnSpPr/>
              <p:nvPr/>
            </p:nvCxnSpPr>
            <p:spPr>
              <a:xfrm flipV="1">
                <a:off x="1119116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Прямая соединительная линия 68"/>
              <p:cNvCxnSpPr/>
              <p:nvPr/>
            </p:nvCxnSpPr>
            <p:spPr>
              <a:xfrm flipV="1">
                <a:off x="1262418" y="0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Прямая соединительная линия 69"/>
              <p:cNvCxnSpPr/>
              <p:nvPr/>
            </p:nvCxnSpPr>
            <p:spPr>
              <a:xfrm flipH="1" flipV="1">
                <a:off x="1392071" y="0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Прямая соединительная линия 70"/>
              <p:cNvCxnSpPr/>
              <p:nvPr/>
            </p:nvCxnSpPr>
            <p:spPr>
              <a:xfrm flipV="1">
                <a:off x="0" y="0"/>
                <a:ext cx="0" cy="25527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Прямая соединительная линия 71"/>
              <p:cNvCxnSpPr/>
              <p:nvPr/>
            </p:nvCxnSpPr>
            <p:spPr>
              <a:xfrm flipV="1">
                <a:off x="129654" y="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Прямая соединительная линия 72"/>
              <p:cNvCxnSpPr/>
              <p:nvPr/>
            </p:nvCxnSpPr>
            <p:spPr>
              <a:xfrm flipV="1">
                <a:off x="272955" y="0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Прямая соединительная линия 73"/>
              <p:cNvCxnSpPr/>
              <p:nvPr/>
            </p:nvCxnSpPr>
            <p:spPr>
              <a:xfrm flipH="1" flipV="1">
                <a:off x="409433" y="0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" name="Прямоугольник 12"/>
            <p:cNvSpPr/>
            <p:nvPr/>
          </p:nvSpPr>
          <p:spPr>
            <a:xfrm>
              <a:off x="55649" y="3804667"/>
              <a:ext cx="3679190" cy="436728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400" i="1">
                  <a:effectLst/>
                  <a:latin typeface="Times New Roman"/>
                  <a:ea typeface="Times New Roman"/>
                </a:rPr>
                <a:t>ShiftRows()</a:t>
              </a:r>
              <a:endParaRPr lang="ru-RU" sz="14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82947" y="4493879"/>
              <a:ext cx="3679190" cy="270510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Times New Roman"/>
                  <a:ea typeface="Times New Roman"/>
                </a:rPr>
                <a:t>K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kalit</a:t>
              </a:r>
              <a:r>
                <a:rPr lang="en-US" sz="12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bitini</a:t>
              </a:r>
              <a:r>
                <a:rPr lang="en-US" sz="1200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effectLst/>
                  <a:latin typeface="Times New Roman"/>
                  <a:ea typeface="Times New Roman"/>
                </a:rPr>
                <a:t>qo’shish</a:t>
              </a:r>
              <a:endParaRPr lang="ru-RU" sz="1400" dirty="0">
                <a:effectLst/>
                <a:latin typeface="Times New Roman"/>
                <a:ea typeface="Times New Roman"/>
              </a:endParaRPr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260366" y="4241394"/>
              <a:ext cx="3384681" cy="255906"/>
              <a:chOff x="48826" y="556500"/>
              <a:chExt cx="3384681" cy="255906"/>
            </a:xfrm>
          </p:grpSpPr>
          <p:cxnSp>
            <p:nvCxnSpPr>
              <p:cNvPr id="43" name="Прямая соединительная линия 42"/>
              <p:cNvCxnSpPr/>
              <p:nvPr/>
            </p:nvCxnSpPr>
            <p:spPr>
              <a:xfrm flipV="1">
                <a:off x="48826" y="556500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единительная линия 43"/>
              <p:cNvCxnSpPr/>
              <p:nvPr/>
            </p:nvCxnSpPr>
            <p:spPr>
              <a:xfrm flipV="1">
                <a:off x="178479" y="556500"/>
                <a:ext cx="0" cy="25527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единительная линия 44"/>
              <p:cNvCxnSpPr/>
              <p:nvPr/>
            </p:nvCxnSpPr>
            <p:spPr>
              <a:xfrm flipV="1">
                <a:off x="328604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 flipH="1" flipV="1">
                <a:off x="458258" y="556501"/>
                <a:ext cx="36" cy="255270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 flipV="1">
                <a:off x="1051935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 flipV="1">
                <a:off x="1181591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/>
              <p:cNvCxnSpPr/>
              <p:nvPr/>
            </p:nvCxnSpPr>
            <p:spPr>
              <a:xfrm flipV="1">
                <a:off x="1324891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/>
              <p:cNvCxnSpPr/>
              <p:nvPr/>
            </p:nvCxnSpPr>
            <p:spPr>
              <a:xfrm flipH="1" flipV="1">
                <a:off x="1461370" y="556501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/>
              <p:cNvCxnSpPr/>
              <p:nvPr/>
            </p:nvCxnSpPr>
            <p:spPr>
              <a:xfrm flipV="1">
                <a:off x="1993631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/>
              <p:cNvCxnSpPr/>
              <p:nvPr/>
            </p:nvCxnSpPr>
            <p:spPr>
              <a:xfrm flipV="1">
                <a:off x="2123285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/>
              <p:cNvCxnSpPr/>
              <p:nvPr/>
            </p:nvCxnSpPr>
            <p:spPr>
              <a:xfrm flipV="1">
                <a:off x="2273410" y="556501"/>
                <a:ext cx="6985" cy="255905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/>
              <p:cNvCxnSpPr/>
              <p:nvPr/>
            </p:nvCxnSpPr>
            <p:spPr>
              <a:xfrm flipH="1" flipV="1">
                <a:off x="2403065" y="556501"/>
                <a:ext cx="36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/>
              <p:cNvCxnSpPr/>
              <p:nvPr/>
            </p:nvCxnSpPr>
            <p:spPr>
              <a:xfrm flipV="1">
                <a:off x="3024037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Прямая соединительная линия 55"/>
              <p:cNvCxnSpPr/>
              <p:nvPr/>
            </p:nvCxnSpPr>
            <p:spPr>
              <a:xfrm flipV="1">
                <a:off x="3153691" y="556501"/>
                <a:ext cx="0" cy="25527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Прямая соединительная линия 56"/>
              <p:cNvCxnSpPr/>
              <p:nvPr/>
            </p:nvCxnSpPr>
            <p:spPr>
              <a:xfrm flipV="1">
                <a:off x="3303816" y="556501"/>
                <a:ext cx="6985" cy="255905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Прямая соединительная линия 57"/>
              <p:cNvCxnSpPr/>
              <p:nvPr/>
            </p:nvCxnSpPr>
            <p:spPr>
              <a:xfrm flipH="1" flipV="1">
                <a:off x="3433471" y="556501"/>
                <a:ext cx="36" cy="255272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Группа 15"/>
            <p:cNvGrpSpPr/>
            <p:nvPr/>
          </p:nvGrpSpPr>
          <p:grpSpPr>
            <a:xfrm>
              <a:off x="260366" y="4760000"/>
              <a:ext cx="3384681" cy="116755"/>
              <a:chOff x="48826" y="1304329"/>
              <a:chExt cx="3384681" cy="273655"/>
            </a:xfrm>
          </p:grpSpPr>
          <p:cxnSp>
            <p:nvCxnSpPr>
              <p:cNvPr id="27" name="Прямая соединительная линия 26"/>
              <p:cNvCxnSpPr/>
              <p:nvPr/>
            </p:nvCxnSpPr>
            <p:spPr>
              <a:xfrm flipV="1">
                <a:off x="48826" y="1304332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/>
              <p:cNvCxnSpPr/>
              <p:nvPr/>
            </p:nvCxnSpPr>
            <p:spPr>
              <a:xfrm flipV="1">
                <a:off x="178479" y="1304332"/>
                <a:ext cx="0" cy="255271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/>
              <p:cNvCxnSpPr/>
              <p:nvPr/>
            </p:nvCxnSpPr>
            <p:spPr>
              <a:xfrm flipV="1">
                <a:off x="328604" y="1304332"/>
                <a:ext cx="6985" cy="255907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/>
              <p:cNvCxnSpPr/>
              <p:nvPr/>
            </p:nvCxnSpPr>
            <p:spPr>
              <a:xfrm flipH="1" flipV="1">
                <a:off x="458258" y="1304337"/>
                <a:ext cx="36" cy="255272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/>
              <p:cNvCxnSpPr/>
              <p:nvPr/>
            </p:nvCxnSpPr>
            <p:spPr>
              <a:xfrm flipV="1">
                <a:off x="1051937" y="1304332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/>
              <p:cNvCxnSpPr/>
              <p:nvPr/>
            </p:nvCxnSpPr>
            <p:spPr>
              <a:xfrm flipV="1">
                <a:off x="1181589" y="1304332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/>
              <p:cNvCxnSpPr/>
              <p:nvPr/>
            </p:nvCxnSpPr>
            <p:spPr>
              <a:xfrm flipV="1">
                <a:off x="1324893" y="1304332"/>
                <a:ext cx="6985" cy="255907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Прямая соединительная линия 33"/>
              <p:cNvCxnSpPr/>
              <p:nvPr/>
            </p:nvCxnSpPr>
            <p:spPr>
              <a:xfrm flipH="1" flipV="1">
                <a:off x="1461368" y="1304332"/>
                <a:ext cx="36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/>
              <p:cNvCxnSpPr/>
              <p:nvPr/>
            </p:nvCxnSpPr>
            <p:spPr>
              <a:xfrm flipV="1">
                <a:off x="1993633" y="1304332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Прямая соединительная линия 35"/>
              <p:cNvCxnSpPr/>
              <p:nvPr/>
            </p:nvCxnSpPr>
            <p:spPr>
              <a:xfrm flipV="1">
                <a:off x="2123287" y="1304332"/>
                <a:ext cx="0" cy="255271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Прямая соединительная линия 36"/>
              <p:cNvCxnSpPr/>
              <p:nvPr/>
            </p:nvCxnSpPr>
            <p:spPr>
              <a:xfrm flipV="1">
                <a:off x="2273412" y="1304332"/>
                <a:ext cx="6985" cy="255907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Прямая соединительная линия 37"/>
              <p:cNvCxnSpPr/>
              <p:nvPr/>
            </p:nvCxnSpPr>
            <p:spPr>
              <a:xfrm flipH="1" flipV="1">
                <a:off x="2403065" y="1322715"/>
                <a:ext cx="36" cy="2552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/>
              <p:cNvCxnSpPr/>
              <p:nvPr/>
            </p:nvCxnSpPr>
            <p:spPr>
              <a:xfrm flipV="1">
                <a:off x="3024039" y="1304329"/>
                <a:ext cx="0" cy="2552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единительная линия 39"/>
              <p:cNvCxnSpPr/>
              <p:nvPr/>
            </p:nvCxnSpPr>
            <p:spPr>
              <a:xfrm flipV="1">
                <a:off x="3153692" y="1304332"/>
                <a:ext cx="0" cy="2552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/>
              <p:nvPr/>
            </p:nvCxnSpPr>
            <p:spPr>
              <a:xfrm flipV="1">
                <a:off x="3303818" y="1304332"/>
                <a:ext cx="6985" cy="255904"/>
              </a:xfrm>
              <a:prstGeom prst="line">
                <a:avLst/>
              </a:pr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/>
              <p:cNvCxnSpPr/>
              <p:nvPr/>
            </p:nvCxnSpPr>
            <p:spPr>
              <a:xfrm flipH="1" flipV="1">
                <a:off x="3433471" y="1304332"/>
                <a:ext cx="36" cy="2552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" name="Прямоугольник 16"/>
            <p:cNvSpPr/>
            <p:nvPr/>
          </p:nvSpPr>
          <p:spPr>
            <a:xfrm>
              <a:off x="40943" y="62735"/>
              <a:ext cx="333375" cy="298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>
                  <a:effectLst/>
                  <a:latin typeface="Times New Roman"/>
                  <a:ea typeface="Times New Roman"/>
                </a:rPr>
                <a:t>X</a:t>
              </a:r>
              <a:r>
                <a:rPr lang="en-US" sz="1050" baseline="-25000">
                  <a:effectLst/>
                  <a:latin typeface="Times New Roman"/>
                  <a:ea typeface="Times New Roman"/>
                </a:rPr>
                <a:t>1</a:t>
              </a:r>
              <a:endParaRPr lang="ru-RU" sz="16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3418764" y="62740"/>
              <a:ext cx="470848" cy="2920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>
                  <a:effectLst/>
                  <a:latin typeface="Times New Roman"/>
                  <a:ea typeface="Times New Roman"/>
                </a:rPr>
                <a:t>X</a:t>
              </a:r>
              <a:r>
                <a:rPr lang="en-US" sz="1050" baseline="-25000">
                  <a:effectLst/>
                  <a:latin typeface="Times New Roman"/>
                  <a:ea typeface="Times New Roman"/>
                </a:rPr>
                <a:t>16</a:t>
              </a:r>
              <a:endParaRPr lang="ru-RU" sz="16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1206170" y="-30118"/>
              <a:ext cx="1392016" cy="354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200" b="1" dirty="0" err="1">
                  <a:effectLst/>
                  <a:latin typeface="Times New Roman"/>
                  <a:ea typeface="Times New Roman"/>
                </a:rPr>
                <a:t>Ochiq</a:t>
              </a:r>
              <a:r>
                <a:rPr lang="en-US" sz="1200" b="1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b="1" dirty="0" err="1">
                  <a:effectLst/>
                  <a:latin typeface="Times New Roman"/>
                  <a:ea typeface="Times New Roman"/>
                </a:rPr>
                <a:t>matn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48826" y="4814609"/>
              <a:ext cx="333375" cy="3062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 dirty="0">
                  <a:effectLst/>
                  <a:latin typeface="Times New Roman"/>
                  <a:ea typeface="Times New Roman"/>
                </a:rPr>
                <a:t>Y</a:t>
              </a:r>
              <a:r>
                <a:rPr lang="en-US" sz="1050" baseline="-25000" dirty="0">
                  <a:effectLst/>
                  <a:latin typeface="Times New Roman"/>
                  <a:ea typeface="Times New Roman"/>
                </a:rPr>
                <a:t>1</a:t>
              </a:r>
              <a:endParaRPr lang="ru-RU" sz="16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3426647" y="4814980"/>
              <a:ext cx="470848" cy="2994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>
                  <a:effectLst/>
                  <a:latin typeface="Times New Roman"/>
                  <a:ea typeface="Times New Roman"/>
                </a:rPr>
                <a:t>Y</a:t>
              </a:r>
              <a:r>
                <a:rPr lang="en-US" sz="1050" baseline="-25000">
                  <a:effectLst/>
                  <a:latin typeface="Times New Roman"/>
                  <a:ea typeface="Times New Roman"/>
                </a:rPr>
                <a:t>16</a:t>
              </a:r>
              <a:endParaRPr lang="ru-RU" sz="16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149172" y="4875094"/>
              <a:ext cx="1391920" cy="2997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200" b="1" dirty="0" err="1">
                  <a:effectLst/>
                  <a:latin typeface="Times New Roman"/>
                  <a:ea typeface="Times New Roman"/>
                </a:rPr>
                <a:t>Shifr</a:t>
              </a:r>
              <a:r>
                <a:rPr lang="en-US" sz="1200" b="1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b="1" dirty="0" err="1">
                  <a:effectLst/>
                  <a:latin typeface="Times New Roman"/>
                  <a:ea typeface="Times New Roman"/>
                </a:rPr>
                <a:t>matn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3" name="Правая фигурная скобка 22"/>
            <p:cNvSpPr/>
            <p:nvPr/>
          </p:nvSpPr>
          <p:spPr>
            <a:xfrm>
              <a:off x="3848577" y="361624"/>
              <a:ext cx="280092" cy="2196240"/>
            </a:xfrm>
            <a:prstGeom prst="rightBrace">
              <a:avLst/>
            </a:prstGeom>
            <a:ln w="31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 sz="1400"/>
            </a:p>
          </p:txBody>
        </p:sp>
        <p:sp>
          <p:nvSpPr>
            <p:cNvPr id="24" name="Правая фигурная скобка 23"/>
            <p:cNvSpPr/>
            <p:nvPr/>
          </p:nvSpPr>
          <p:spPr>
            <a:xfrm>
              <a:off x="3848670" y="2808314"/>
              <a:ext cx="280092" cy="2003283"/>
            </a:xfrm>
            <a:prstGeom prst="rightBrace">
              <a:avLst>
                <a:gd name="adj1" fmla="val 31677"/>
                <a:gd name="adj2" fmla="val 50000"/>
              </a:avLst>
            </a:prstGeom>
            <a:ln w="31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 sz="1400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4128670" y="1270399"/>
              <a:ext cx="852985" cy="3002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 dirty="0">
                  <a:effectLst/>
                  <a:latin typeface="Times New Roman"/>
                  <a:ea typeface="Times New Roman"/>
                </a:rPr>
                <a:t>1 - </a:t>
              </a:r>
              <a:r>
                <a:rPr lang="en-US" sz="1050" dirty="0" smtClean="0">
                  <a:effectLst/>
                  <a:latin typeface="Times New Roman"/>
                  <a:ea typeface="Times New Roman"/>
                </a:rPr>
                <a:t>r</a:t>
              </a:r>
              <a:endParaRPr lang="ru-RU" sz="105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4075698" y="3616245"/>
              <a:ext cx="852985" cy="3002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50" dirty="0">
                  <a:effectLst/>
                  <a:latin typeface="Times New Roman"/>
                  <a:ea typeface="Times New Roman"/>
                </a:rPr>
                <a:t>2 - </a:t>
              </a:r>
              <a:r>
                <a:rPr lang="en-US" sz="1050" dirty="0" smtClean="0">
                  <a:effectLst/>
                  <a:latin typeface="Times New Roman"/>
                  <a:ea typeface="Times New Roman"/>
                </a:rPr>
                <a:t>r</a:t>
              </a:r>
              <a:endParaRPr lang="ru-RU" sz="105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94" name="Прямоугольник 193"/>
            <p:cNvSpPr/>
            <p:nvPr/>
          </p:nvSpPr>
          <p:spPr>
            <a:xfrm>
              <a:off x="44996" y="1412134"/>
              <a:ext cx="3679190" cy="632415"/>
            </a:xfrm>
            <a:prstGeom prst="rect">
              <a:avLst/>
            </a:prstGeom>
            <a:ln w="31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400" i="1">
                  <a:effectLst/>
                  <a:latin typeface="Times New Roman"/>
                  <a:ea typeface="Times New Roman"/>
                </a:rPr>
                <a:t>ShiftRows()</a:t>
              </a:r>
              <a:endParaRPr lang="ru-RU" sz="1400">
                <a:effectLst/>
                <a:latin typeface="Times New Roman"/>
                <a:ea typeface="Times New Roman"/>
              </a:endParaRPr>
            </a:p>
          </p:txBody>
        </p:sp>
      </p:grpSp>
      <p:sp>
        <p:nvSpPr>
          <p:cNvPr id="195" name="Прямоугольник 194"/>
          <p:cNvSpPr/>
          <p:nvPr/>
        </p:nvSpPr>
        <p:spPr>
          <a:xfrm>
            <a:off x="5077143" y="2808081"/>
            <a:ext cx="3090625" cy="635003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0" name="Прямая соединительная линия 189"/>
          <p:cNvCxnSpPr/>
          <p:nvPr/>
        </p:nvCxnSpPr>
        <p:spPr>
          <a:xfrm flipV="1">
            <a:off x="5172654" y="984980"/>
            <a:ext cx="0" cy="255942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 flipV="1">
            <a:off x="5390516" y="1613138"/>
            <a:ext cx="11070" cy="271992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Прямая соединительная линия 192"/>
          <p:cNvCxnSpPr/>
          <p:nvPr/>
        </p:nvCxnSpPr>
        <p:spPr>
          <a:xfrm flipV="1">
            <a:off x="5538685" y="1613137"/>
            <a:ext cx="1964" cy="271992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/>
          <p:cNvCxnSpPr/>
          <p:nvPr/>
        </p:nvCxnSpPr>
        <p:spPr>
          <a:xfrm flipV="1">
            <a:off x="5414072" y="2670435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/>
          <p:cNvCxnSpPr/>
          <p:nvPr/>
        </p:nvCxnSpPr>
        <p:spPr>
          <a:xfrm flipH="1" flipV="1">
            <a:off x="5543621" y="2670435"/>
            <a:ext cx="953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Прямая соединительная линия 197"/>
          <p:cNvCxnSpPr/>
          <p:nvPr/>
        </p:nvCxnSpPr>
        <p:spPr>
          <a:xfrm flipV="1">
            <a:off x="5414072" y="3958212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/>
          <p:cNvCxnSpPr/>
          <p:nvPr/>
        </p:nvCxnSpPr>
        <p:spPr>
          <a:xfrm flipV="1">
            <a:off x="6358418" y="3958212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Прямая соединительная линия 199"/>
          <p:cNvCxnSpPr/>
          <p:nvPr/>
        </p:nvCxnSpPr>
        <p:spPr>
          <a:xfrm flipV="1">
            <a:off x="6261449" y="4590175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Прямая соединительная линия 200"/>
          <p:cNvCxnSpPr/>
          <p:nvPr/>
        </p:nvCxnSpPr>
        <p:spPr>
          <a:xfrm flipV="1">
            <a:off x="5338930" y="4590175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Прямая соединительная линия 201"/>
          <p:cNvCxnSpPr/>
          <p:nvPr/>
        </p:nvCxnSpPr>
        <p:spPr>
          <a:xfrm flipV="1">
            <a:off x="5580075" y="4590175"/>
            <a:ext cx="0" cy="25607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Прямая соединительная линия 202"/>
          <p:cNvCxnSpPr/>
          <p:nvPr/>
        </p:nvCxnSpPr>
        <p:spPr>
          <a:xfrm flipV="1">
            <a:off x="5446327" y="3308452"/>
            <a:ext cx="7378" cy="320486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Прямая соединительная линия 203"/>
          <p:cNvCxnSpPr/>
          <p:nvPr/>
        </p:nvCxnSpPr>
        <p:spPr>
          <a:xfrm flipH="1" flipV="1">
            <a:off x="6370004" y="3304465"/>
            <a:ext cx="38" cy="31969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Прямая соединительная линия 204"/>
          <p:cNvCxnSpPr/>
          <p:nvPr/>
        </p:nvCxnSpPr>
        <p:spPr>
          <a:xfrm flipV="1">
            <a:off x="5188422" y="495262"/>
            <a:ext cx="0" cy="149136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Прямая соединительная линия 205"/>
          <p:cNvCxnSpPr/>
          <p:nvPr/>
        </p:nvCxnSpPr>
        <p:spPr>
          <a:xfrm flipV="1">
            <a:off x="5345310" y="5412393"/>
            <a:ext cx="0" cy="31969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 flipH="1" flipV="1">
            <a:off x="5580037" y="5387453"/>
            <a:ext cx="38" cy="31969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 flipV="1">
            <a:off x="7897846" y="5412394"/>
            <a:ext cx="7378" cy="320486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Прямая соединительная линия 208"/>
          <p:cNvCxnSpPr/>
          <p:nvPr/>
        </p:nvCxnSpPr>
        <p:spPr>
          <a:xfrm flipV="1">
            <a:off x="5345310" y="6052013"/>
            <a:ext cx="0" cy="136396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Прямая соединительная линия 209"/>
          <p:cNvCxnSpPr/>
          <p:nvPr/>
        </p:nvCxnSpPr>
        <p:spPr>
          <a:xfrm flipH="1" flipV="1">
            <a:off x="5579961" y="6061877"/>
            <a:ext cx="38" cy="136398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Прямая соединительная линия 210"/>
          <p:cNvCxnSpPr/>
          <p:nvPr/>
        </p:nvCxnSpPr>
        <p:spPr>
          <a:xfrm flipV="1">
            <a:off x="7897846" y="6104437"/>
            <a:ext cx="7378" cy="136734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2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643026"/>
              </p:ext>
            </p:extLst>
          </p:nvPr>
        </p:nvGraphicFramePr>
        <p:xfrm>
          <a:off x="251520" y="1381634"/>
          <a:ext cx="4585653" cy="51960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543"/>
                <a:gridCol w="964734"/>
                <a:gridCol w="2864316"/>
                <a:gridCol w="520060"/>
              </a:tblGrid>
              <a:tr h="237591">
                <a:tc>
                  <a:txBody>
                    <a:bodyPr/>
                    <a:lstStyle/>
                    <a:p>
                      <a:pPr indent="90170" algn="l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ru-RU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Kirish</a:t>
                      </a: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biti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Kirish</a:t>
                      </a: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chiqish</a:t>
                      </a: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</a:t>
                      </a: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kalit</a:t>
                      </a: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bitlari</a:t>
                      </a:r>
                      <a:endParaRPr lang="ru-RU" sz="11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endParaRPr lang="ru-RU" sz="11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100" b="1" baseline="-25000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Y[2,4,15]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=K[1,2,3,4,8,15]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100" b="1" baseline="-25000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X[1,2]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Y[2,3,13,15]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=K[4,5,8,13,15]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0.4375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X[1,2,3]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Y[3,16]=K[6,16]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100" b="1" baseline="-25000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X[10]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Y[6,8,11,12]=K[6,8,15]  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0.4375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X[9,11]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Y[6,7,11,12]=K[6,7,9,10,11,12,15]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0340" algn="l"/>
                        </a:tabLst>
                        <a:defRPr/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</a:t>
                      </a:r>
                      <a:r>
                        <a:rPr lang="en-US" sz="11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9,11,12]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Y[6,7,13,15,16]=K[6,7,10,11]</a:t>
                      </a:r>
                      <a:endParaRPr lang="ru-RU" sz="1100" dirty="0" smtClean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X[5,7]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Y[7,8,10,12]=K[5,8,10,11,12,14,15]             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X[5,6,7]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Y[7,12]=K[5,6,10,12,13,14]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X[5,8]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Y[6,8,9,10,12]=K[5,6,14,15,16]               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100" b="1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 dirty="0" smtClean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X[13,14,15,16]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Y[3,7,13,15]=K[1,3,4,5,8,14,16]               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100" b="1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X[14,15,16]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Y[2,16]=K[1,2,3,5,6,7,8,14,15]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100" b="1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X[3,15,16]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Y[1,2,3,4,15]= K[5,6,16]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0.4687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100" b="1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X[6,7,12]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Y[6,7,10]=K[7,9,10,11,12,13,15,16]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0.4687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100" b="1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X[1,13]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Y[2,14]=K[1,2,3,4,7,8,13,14]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0.5312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100" b="1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100" b="1" baseline="-2500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100" b="1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X[1,5]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Y[2,4,6,8,11,15]=K[1,2,3,4,5,6,11,12]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0.5039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  <a:tr h="3099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1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100" b="1" baseline="-25000" dirty="0"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100" b="1" dirty="0"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X[16]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Y[1,3,14,15,16]=K[3,4,5,7,8,14,15]                       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0.5625</a:t>
                      </a:r>
                      <a:endParaRPr lang="ru-RU" sz="11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34143" marR="34143" marT="0" marB="0"/>
                </a:tc>
              </a:tr>
            </a:tbl>
          </a:graphicData>
        </a:graphic>
      </p:graphicFrame>
      <p:sp>
        <p:nvSpPr>
          <p:cNvPr id="213" name="Text Box 435"/>
          <p:cNvSpPr txBox="1">
            <a:spLocks noChangeArrowheads="1"/>
          </p:cNvSpPr>
          <p:nvPr/>
        </p:nvSpPr>
        <p:spPr bwMode="auto">
          <a:xfrm>
            <a:off x="323529" y="203960"/>
            <a:ext cx="4536504" cy="10156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8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defTabSz="533400">
              <a:spcBef>
                <a:spcPct val="50000"/>
              </a:spcBef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Shunga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o'xshash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yuqoridagi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pozitsiyalariga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tenglamalari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yuqorida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qadamlar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ketma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ketligida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quriladi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62950" y="1616469"/>
            <a:ext cx="4536505" cy="2952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96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2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2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25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2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2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2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2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2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2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2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2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25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2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2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07504" y="44624"/>
            <a:ext cx="8928992" cy="6768752"/>
          </a:xfrm>
          <a:prstGeom prst="roundRect">
            <a:avLst>
              <a:gd name="adj" fmla="val 6704"/>
            </a:avLst>
          </a:prstGeom>
          <a:blipFill>
            <a:blip r:embed="rId2"/>
            <a:tile tx="0" ty="0" sx="100000" sy="100000" flip="none" algn="tl"/>
          </a:blip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7524" y="116632"/>
            <a:ext cx="8568952" cy="1512168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533400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Yuqorida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bayon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qilingan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fikrlardan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kelib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chiqib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tarmog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tkazish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jarayoni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algoritmida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foydalanilgan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raund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kalitlaridan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qandaydir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bitlarini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topish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imkoniyatini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Haqiqiy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bitlarini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tanlab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usulida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tuzilgan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tenglamalarning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extimolligidan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tanlangan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shifr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matndan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kelib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chiqib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algoritmga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asoslanib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tenglamalar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tuziladi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99446"/>
              </p:ext>
            </p:extLst>
          </p:nvPr>
        </p:nvGraphicFramePr>
        <p:xfrm>
          <a:off x="287524" y="1772816"/>
          <a:ext cx="8568952" cy="258156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284476"/>
                <a:gridCol w="4284476"/>
              </a:tblGrid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1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 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0                      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1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1               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= 0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0               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1         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=  1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 1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1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0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=  1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04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 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                      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 0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412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8. 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= 1        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16.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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400" baseline="-25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5433" marR="55433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287524" y="4474830"/>
            <a:ext cx="8568952" cy="2232248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536575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Natijada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kalitning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to’rtta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variant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bo’ladi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baseline="30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= 0000100011101010</a:t>
            </a:r>
            <a:r>
              <a:rPr lang="en-US" b="1" baseline="-250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			K</a:t>
            </a:r>
            <a:r>
              <a:rPr lang="en-US" b="1" baseline="30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= 0011101001010010</a:t>
            </a:r>
            <a:r>
              <a:rPr lang="en-US" b="1" baseline="-250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			K</a:t>
            </a:r>
            <a:r>
              <a:rPr lang="en-US" b="1" baseline="30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= 1101110110101011</a:t>
            </a:r>
            <a:r>
              <a:rPr lang="en-US" b="1" baseline="-250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			K</a:t>
            </a:r>
            <a:r>
              <a:rPr lang="en-US" b="1" baseline="30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= 0100111110010011</a:t>
            </a:r>
            <a:r>
              <a:rPr lang="en-US" b="1" baseline="-250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defTabSz="536575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Bu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shifrlanadi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natijani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matnga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shifr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tenglashtiriladi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haqiqiy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aniqlanadi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defTabSz="536575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Demak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haqiqiy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 = 0000100011101010</a:t>
            </a:r>
            <a:r>
              <a:rPr lang="en-US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ekanligi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aniqlandi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6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</a:t>
            </a:r>
            <a:r>
              <a:rPr lang="en-US" sz="2400" b="1" dirty="0" err="1" smtClean="0">
                <a:solidFill>
                  <a:srgbClr val="C00000"/>
                </a:solidFill>
              </a:rPr>
              <a:t>shifrlash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uz-Cyrl-UZ" sz="2400" b="1" dirty="0" smtClean="0">
                <a:solidFill>
                  <a:srgbClr val="C00000"/>
                </a:solidFill>
              </a:rPr>
              <a:t>algoritmi </a:t>
            </a:r>
            <a:r>
              <a:rPr lang="en-US" sz="2400" b="1" i="1" dirty="0" err="1" smtClean="0">
                <a:solidFill>
                  <a:srgbClr val="C00000"/>
                </a:solidFill>
              </a:rPr>
              <a:t>SubBytes</a:t>
            </a:r>
            <a:r>
              <a:rPr lang="en-US" sz="2400" b="1" i="1" dirty="0" smtClean="0">
                <a:solidFill>
                  <a:srgbClr val="C00000"/>
                </a:solidFill>
              </a:rPr>
              <a:t>()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akslantirishi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uz-Cyrl-UZ" sz="2400" b="1" dirty="0" smtClean="0">
                <a:solidFill>
                  <a:srgbClr val="C00000"/>
                </a:solidFill>
              </a:rPr>
              <a:t>uchun </a:t>
            </a:r>
            <a:r>
              <a:rPr lang="uz-Cyrl-UZ" sz="2400" b="1" dirty="0">
                <a:solidFill>
                  <a:srgbClr val="C00000"/>
                </a:solidFill>
              </a:rPr>
              <a:t>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03854"/>
              </p:ext>
            </p:extLst>
          </p:nvPr>
        </p:nvGraphicFramePr>
        <p:xfrm>
          <a:off x="267296" y="1412776"/>
          <a:ext cx="4880768" cy="49377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  <a:gridCol w="287104"/>
              </a:tblGrid>
              <a:tr h="193058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             </a:t>
                      </a:r>
                      <a:r>
                        <a:rPr lang="en-US" sz="12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930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5e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1c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8a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ru-RU" sz="12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ce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  <a:tr h="1930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ru-RU" sz="12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8c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e6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0f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b0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bb</a:t>
                      </a:r>
                      <a:endParaRPr lang="ru-RU" sz="12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8264" marR="48264" marT="0" marB="0"/>
                </a:tc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5292080" y="1398092"/>
            <a:ext cx="3672407" cy="5343276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akslantirishini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formula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tuziladi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shifr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defTabSz="536575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matritsada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juftliklari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chetlanish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qiymatining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oshishi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effiktiv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analog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bo’lishini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taminlaydi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defTabSz="536575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chetlanish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qiymati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defTabSz="536575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(i*,j</a:t>
            </a:r>
            <a:r>
              <a:rPr lang="en-US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|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(i*,j</a:t>
            </a:r>
            <a:r>
              <a:rPr lang="en-US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- 112| =</a:t>
            </a:r>
          </a:p>
          <a:p>
            <a:pPr defTabSz="536575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max|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*,j</a:t>
            </a:r>
            <a:r>
              <a:rPr lang="en-US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- 112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|;</a:t>
            </a:r>
          </a:p>
          <a:p>
            <a:pPr algn="just" defTabSz="536575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tenglik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bilan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aniqlanadi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260482"/>
              </p:ext>
            </p:extLst>
          </p:nvPr>
        </p:nvGraphicFramePr>
        <p:xfrm>
          <a:off x="6048164" y="2686290"/>
          <a:ext cx="1944216" cy="50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" name="Equation" r:id="rId3" imgW="914400" imgH="241300" progId="Equation.3">
                  <p:embed/>
                </p:oleObj>
              </mc:Choice>
              <mc:Fallback>
                <p:oleObj name="Equation" r:id="rId3" imgW="914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164" y="2686290"/>
                        <a:ext cx="1944216" cy="5063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977805"/>
              </p:ext>
            </p:extLst>
          </p:nvPr>
        </p:nvGraphicFramePr>
        <p:xfrm>
          <a:off x="7430963" y="6237312"/>
          <a:ext cx="1482873" cy="20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9" name="Equation" r:id="rId5" imgW="1536480" imgH="203040" progId="Equation.3">
                  <p:embed/>
                </p:oleObj>
              </mc:Choice>
              <mc:Fallback>
                <p:oleObj name="Equation" r:id="rId5" imgW="1536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0963" y="6237312"/>
                        <a:ext cx="1482873" cy="20368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5868144" y="2708920"/>
            <a:ext cx="23042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394597"/>
              </p:ext>
            </p:extLst>
          </p:nvPr>
        </p:nvGraphicFramePr>
        <p:xfrm>
          <a:off x="6228184" y="3284984"/>
          <a:ext cx="1525587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0" name="Equation" r:id="rId7" imgW="1536480" imgH="203040" progId="Equation.3">
                  <p:embed/>
                </p:oleObj>
              </mc:Choice>
              <mc:Fallback>
                <p:oleObj name="Equation" r:id="rId7" imgW="1536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3284984"/>
                        <a:ext cx="1525587" cy="20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5338972" y="5949280"/>
            <a:ext cx="3553508" cy="557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/>
          <p:nvPr/>
        </p:nvPicPr>
        <p:blipFill rotWithShape="1">
          <a:blip r:embed="rId9"/>
          <a:srcRect l="1178" t="8999" r="3847" b="25872"/>
          <a:stretch/>
        </p:blipFill>
        <p:spPr bwMode="auto">
          <a:xfrm>
            <a:off x="143508" y="1281460"/>
            <a:ext cx="8856984" cy="54599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Скругленный прямоугольник 15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213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07504" y="44624"/>
            <a:ext cx="8928992" cy="6768752"/>
          </a:xfrm>
          <a:prstGeom prst="roundRect">
            <a:avLst>
              <a:gd name="adj" fmla="val 6704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279077"/>
              </p:ext>
            </p:extLst>
          </p:nvPr>
        </p:nvGraphicFramePr>
        <p:xfrm>
          <a:off x="361883" y="1291213"/>
          <a:ext cx="8568951" cy="50022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0079"/>
                <a:gridCol w="6623683"/>
                <a:gridCol w="1225189"/>
              </a:tblGrid>
              <a:tr h="8769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Aproksimatsiya</a:t>
                      </a:r>
                      <a:r>
                        <a:rPr lang="en-US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tenglamasi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Extimol-ligi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</a:tr>
              <a:tr h="5280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uz-Cyrl-UZ" sz="18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P=0,4375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637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 = 0,5625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5280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0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 = 0,4375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5280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 = 0,5625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4384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20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7437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1274</a:t>
                      </a:r>
                      <a:endParaRPr lang="ru-RU" sz="2000" b="1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 = 0,5625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  <a:tr h="8390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1275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gradFill flip="none" rotWithShape="1">
                      <a:gsLst>
                        <a:gs pos="0">
                          <a:schemeClr val="bg1">
                            <a:shade val="30000"/>
                            <a:satMod val="115000"/>
                          </a:schemeClr>
                        </a:gs>
                        <a:gs pos="50000">
                          <a:schemeClr val="bg1">
                            <a:shade val="67500"/>
                            <a:satMod val="115000"/>
                          </a:schemeClr>
                        </a:gs>
                        <a:gs pos="100000">
                          <a:schemeClr val="bg1">
                            <a:shade val="100000"/>
                            <a:satMod val="115000"/>
                          </a:schemeClr>
                        </a:gs>
                      </a:gsLst>
                      <a:lin ang="189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 = 0,4375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112764"/>
              </p:ext>
            </p:extLst>
          </p:nvPr>
        </p:nvGraphicFramePr>
        <p:xfrm>
          <a:off x="937946" y="2243852"/>
          <a:ext cx="2448272" cy="41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6" name="Equation" r:id="rId4" imgW="1333500" imgH="228600" progId="Equation.3">
                  <p:embed/>
                </p:oleObj>
              </mc:Choice>
              <mc:Fallback>
                <p:oleObj name="Equation" r:id="rId4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946" y="2243852"/>
                        <a:ext cx="2448272" cy="419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874242"/>
              </p:ext>
            </p:extLst>
          </p:nvPr>
        </p:nvGraphicFramePr>
        <p:xfrm>
          <a:off x="919944" y="2832528"/>
          <a:ext cx="4698522" cy="40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7" name="Equation" r:id="rId6" imgW="2641600" imgH="228600" progId="Equation.3">
                  <p:embed/>
                </p:oleObj>
              </mc:Choice>
              <mc:Fallback>
                <p:oleObj name="Equation" r:id="rId6" imgW="264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44" y="2832528"/>
                        <a:ext cx="4698522" cy="4070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513097"/>
              </p:ext>
            </p:extLst>
          </p:nvPr>
        </p:nvGraphicFramePr>
        <p:xfrm>
          <a:off x="912546" y="3350202"/>
          <a:ext cx="5065960" cy="393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8" name="Equation" r:id="rId8" imgW="2946400" imgH="228600" progId="Equation.3">
                  <p:embed/>
                </p:oleObj>
              </mc:Choice>
              <mc:Fallback>
                <p:oleObj name="Equation" r:id="rId8" imgW="294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546" y="3350202"/>
                        <a:ext cx="5065960" cy="3934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6041"/>
              </p:ext>
            </p:extLst>
          </p:nvPr>
        </p:nvGraphicFramePr>
        <p:xfrm>
          <a:off x="950646" y="3858692"/>
          <a:ext cx="3371676" cy="38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9" name="Equation" r:id="rId10" imgW="1981200" imgH="228600" progId="Equation.3">
                  <p:embed/>
                </p:oleObj>
              </mc:Choice>
              <mc:Fallback>
                <p:oleObj name="Equation" r:id="rId10" imgW="198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646" y="3858692"/>
                        <a:ext cx="3371676" cy="389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407753"/>
              </p:ext>
            </p:extLst>
          </p:nvPr>
        </p:nvGraphicFramePr>
        <p:xfrm>
          <a:off x="1115616" y="4747378"/>
          <a:ext cx="6362104" cy="665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0" name="Equation" r:id="rId12" imgW="4152900" imgH="457200" progId="Equation.3">
                  <p:embed/>
                </p:oleObj>
              </mc:Choice>
              <mc:Fallback>
                <p:oleObj name="Equation" r:id="rId12" imgW="4152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747378"/>
                        <a:ext cx="6362104" cy="6659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372775"/>
              </p:ext>
            </p:extLst>
          </p:nvPr>
        </p:nvGraphicFramePr>
        <p:xfrm>
          <a:off x="1115616" y="5539466"/>
          <a:ext cx="62511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1" name="Equation" r:id="rId14" imgW="4406900" imgH="457200" progId="Equation.3">
                  <p:embed/>
                </p:oleObj>
              </mc:Choice>
              <mc:Fallback>
                <p:oleObj name="Equation" r:id="rId14" imgW="4406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539466"/>
                        <a:ext cx="6251194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Прямоугольник 19"/>
          <p:cNvSpPr/>
          <p:nvPr/>
        </p:nvSpPr>
        <p:spPr>
          <a:xfrm>
            <a:off x="685919" y="6392445"/>
            <a:ext cx="792088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tuzilgan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tenglamalar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jadvali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87524" y="127542"/>
            <a:ext cx="8568952" cy="613355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536575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chetlanish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ravishda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formula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asosida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tenglamalariga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bo’linadi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402014"/>
              </p:ext>
            </p:extLst>
          </p:nvPr>
        </p:nvGraphicFramePr>
        <p:xfrm>
          <a:off x="2789237" y="809914"/>
          <a:ext cx="3294931" cy="39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" name="Equation" r:id="rId16" imgW="1892300" imgH="228600" progId="Equation.3">
                  <p:embed/>
                </p:oleObj>
              </mc:Choice>
              <mc:Fallback>
                <p:oleObj name="Equation" r:id="rId16" imgW="1892300" imgH="228600" progId="Equation.3">
                  <p:embed/>
                  <p:pic>
                    <p:nvPicPr>
                      <p:cNvPr id="0" name="Объект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7" y="809914"/>
                        <a:ext cx="3294931" cy="39903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rgbClr val="F14124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711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395536" y="3212976"/>
            <a:ext cx="5743575" cy="3456384"/>
            <a:chOff x="0" y="0"/>
            <a:chExt cx="5743575" cy="3456384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0" y="0"/>
              <a:ext cx="5743575" cy="3244428"/>
              <a:chOff x="0" y="0"/>
              <a:chExt cx="5743575" cy="3244428"/>
            </a:xfrm>
          </p:grpSpPr>
          <p:sp>
            <p:nvSpPr>
              <p:cNvPr id="9" name="Прямоугольник 8"/>
              <p:cNvSpPr/>
              <p:nvPr/>
            </p:nvSpPr>
            <p:spPr>
              <a:xfrm>
                <a:off x="3175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 dirty="0" smtClean="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02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0" name="Прямоугольник 9"/>
              <p:cNvSpPr/>
              <p:nvPr/>
            </p:nvSpPr>
            <p:spPr>
              <a:xfrm>
                <a:off x="38100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73660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3" name="Прямоугольник 12"/>
              <p:cNvSpPr/>
              <p:nvPr/>
            </p:nvSpPr>
            <p:spPr>
              <a:xfrm>
                <a:off x="109855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03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4" name="Прямоугольник 13"/>
              <p:cNvSpPr/>
              <p:nvPr/>
            </p:nvSpPr>
            <p:spPr>
              <a:xfrm>
                <a:off x="147955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943634"/>
                    </a:solidFill>
                    <a:effectLst/>
                    <a:latin typeface="Times New Roman"/>
                    <a:ea typeface="Times New Roman"/>
                  </a:rPr>
                  <a:t>03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5" name="Прямоугольник 14"/>
              <p:cNvSpPr/>
              <p:nvPr/>
            </p:nvSpPr>
            <p:spPr>
              <a:xfrm>
                <a:off x="183515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943634"/>
                    </a:solidFill>
                    <a:effectLst/>
                    <a:latin typeface="Times New Roman"/>
                    <a:ea typeface="Times New Roman"/>
                  </a:rPr>
                  <a:t>02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6" name="Прямоугольник 15"/>
              <p:cNvSpPr/>
              <p:nvPr/>
            </p:nvSpPr>
            <p:spPr>
              <a:xfrm>
                <a:off x="219075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943634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7" name="Прямоугольник 16"/>
              <p:cNvSpPr/>
              <p:nvPr/>
            </p:nvSpPr>
            <p:spPr>
              <a:xfrm>
                <a:off x="255270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943634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8" name="Прямоугольник 17"/>
              <p:cNvSpPr/>
              <p:nvPr/>
            </p:nvSpPr>
            <p:spPr>
              <a:xfrm>
                <a:off x="2921000" y="72390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9" name="Прямоугольник 18"/>
              <p:cNvSpPr/>
              <p:nvPr/>
            </p:nvSpPr>
            <p:spPr>
              <a:xfrm>
                <a:off x="3276600" y="72390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03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0" name="Прямоугольник 19"/>
              <p:cNvSpPr/>
              <p:nvPr/>
            </p:nvSpPr>
            <p:spPr>
              <a:xfrm>
                <a:off x="3632200" y="72390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02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1" name="Прямоугольник 20"/>
              <p:cNvSpPr/>
              <p:nvPr/>
            </p:nvSpPr>
            <p:spPr>
              <a:xfrm>
                <a:off x="3994150" y="72390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2" name="Прямоугольник 21"/>
              <p:cNvSpPr/>
              <p:nvPr/>
            </p:nvSpPr>
            <p:spPr>
              <a:xfrm>
                <a:off x="435610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3" name="Прямоугольник 22"/>
              <p:cNvSpPr/>
              <p:nvPr/>
            </p:nvSpPr>
            <p:spPr>
              <a:xfrm>
                <a:off x="4711700" y="717550"/>
                <a:ext cx="320722" cy="23883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01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4" name="Прямоугольник 23"/>
              <p:cNvSpPr/>
              <p:nvPr/>
            </p:nvSpPr>
            <p:spPr>
              <a:xfrm>
                <a:off x="506095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03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>
                <a:off x="5422900" y="717550"/>
                <a:ext cx="320675" cy="23876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02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cxnSp>
            <p:nvCxnSpPr>
              <p:cNvPr id="26" name="Прямая соединительная линия 25"/>
              <p:cNvCxnSpPr/>
              <p:nvPr/>
            </p:nvCxnSpPr>
            <p:spPr>
              <a:xfrm flipV="1">
                <a:off x="190500" y="47625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/>
              <p:cNvCxnSpPr/>
              <p:nvPr/>
            </p:nvCxnSpPr>
            <p:spPr>
              <a:xfrm flipV="1">
                <a:off x="546100" y="47625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/>
              <p:cNvCxnSpPr/>
              <p:nvPr/>
            </p:nvCxnSpPr>
            <p:spPr>
              <a:xfrm flipV="1">
                <a:off x="895350" y="47625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/>
              <p:cNvCxnSpPr/>
              <p:nvPr/>
            </p:nvCxnSpPr>
            <p:spPr>
              <a:xfrm flipV="1">
                <a:off x="1257300" y="48260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/>
              <p:cNvCxnSpPr/>
              <p:nvPr/>
            </p:nvCxnSpPr>
            <p:spPr>
              <a:xfrm flipV="1">
                <a:off x="1638300" y="482600"/>
                <a:ext cx="0" cy="2413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/>
              <p:cNvCxnSpPr/>
              <p:nvPr/>
            </p:nvCxnSpPr>
            <p:spPr>
              <a:xfrm flipV="1">
                <a:off x="1987550" y="482600"/>
                <a:ext cx="0" cy="2413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/>
              <p:cNvCxnSpPr/>
              <p:nvPr/>
            </p:nvCxnSpPr>
            <p:spPr>
              <a:xfrm flipV="1">
                <a:off x="2355850" y="482600"/>
                <a:ext cx="0" cy="2413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/>
              <p:cNvCxnSpPr/>
              <p:nvPr/>
            </p:nvCxnSpPr>
            <p:spPr>
              <a:xfrm flipV="1">
                <a:off x="2717800" y="482600"/>
                <a:ext cx="0" cy="2413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4" name="Прямая соединительная линия 33"/>
              <p:cNvCxnSpPr/>
              <p:nvPr/>
            </p:nvCxnSpPr>
            <p:spPr>
              <a:xfrm flipV="1">
                <a:off x="3067050" y="482600"/>
                <a:ext cx="0" cy="2413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/>
              <p:cNvCxnSpPr/>
              <p:nvPr/>
            </p:nvCxnSpPr>
            <p:spPr>
              <a:xfrm flipV="1">
                <a:off x="3429000" y="482600"/>
                <a:ext cx="0" cy="2413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Прямая соединительная линия 35"/>
              <p:cNvCxnSpPr/>
              <p:nvPr/>
            </p:nvCxnSpPr>
            <p:spPr>
              <a:xfrm flipV="1">
                <a:off x="3778250" y="482600"/>
                <a:ext cx="0" cy="2413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Прямая соединительная линия 36"/>
              <p:cNvCxnSpPr/>
              <p:nvPr/>
            </p:nvCxnSpPr>
            <p:spPr>
              <a:xfrm flipV="1">
                <a:off x="4152900" y="482600"/>
                <a:ext cx="0" cy="2413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Прямая соединительная линия 37"/>
              <p:cNvCxnSpPr/>
              <p:nvPr/>
            </p:nvCxnSpPr>
            <p:spPr>
              <a:xfrm flipV="1">
                <a:off x="4508500" y="482600"/>
                <a:ext cx="0" cy="24130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/>
              <p:cNvCxnSpPr/>
              <p:nvPr/>
            </p:nvCxnSpPr>
            <p:spPr>
              <a:xfrm flipV="1">
                <a:off x="4851400" y="482600"/>
                <a:ext cx="0" cy="24130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единительная линия 39"/>
              <p:cNvCxnSpPr/>
              <p:nvPr/>
            </p:nvCxnSpPr>
            <p:spPr>
              <a:xfrm flipV="1">
                <a:off x="5200650" y="476250"/>
                <a:ext cx="0" cy="24130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/>
              <p:nvPr/>
            </p:nvCxnSpPr>
            <p:spPr>
              <a:xfrm flipV="1">
                <a:off x="5562600" y="482600"/>
                <a:ext cx="0" cy="24130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Прямая соединительная линия 41"/>
              <p:cNvCxnSpPr/>
              <p:nvPr/>
            </p:nvCxnSpPr>
            <p:spPr>
              <a:xfrm flipV="1">
                <a:off x="190500" y="958850"/>
                <a:ext cx="0" cy="3175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единительная линия 42"/>
              <p:cNvCxnSpPr/>
              <p:nvPr/>
            </p:nvCxnSpPr>
            <p:spPr>
              <a:xfrm flipV="1">
                <a:off x="546100" y="958850"/>
                <a:ext cx="0" cy="4572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Прямая соединительная линия 43"/>
              <p:cNvCxnSpPr/>
              <p:nvPr/>
            </p:nvCxnSpPr>
            <p:spPr>
              <a:xfrm flipV="1">
                <a:off x="914400" y="958850"/>
                <a:ext cx="0" cy="60325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единительная линия 44"/>
              <p:cNvCxnSpPr/>
              <p:nvPr/>
            </p:nvCxnSpPr>
            <p:spPr>
              <a:xfrm flipH="1" flipV="1">
                <a:off x="1257300" y="965200"/>
                <a:ext cx="19050" cy="7239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 flipV="1">
                <a:off x="1638300" y="965200"/>
                <a:ext cx="0" cy="31115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 flipV="1">
                <a:off x="2006600" y="965200"/>
                <a:ext cx="0" cy="45085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 flipV="1">
                <a:off x="2374900" y="965200"/>
                <a:ext cx="0" cy="5969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/>
              <p:cNvCxnSpPr/>
              <p:nvPr/>
            </p:nvCxnSpPr>
            <p:spPr>
              <a:xfrm flipV="1">
                <a:off x="2730500" y="965200"/>
                <a:ext cx="0" cy="72390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/>
              <p:cNvCxnSpPr/>
              <p:nvPr/>
            </p:nvCxnSpPr>
            <p:spPr>
              <a:xfrm flipV="1">
                <a:off x="3067050" y="965200"/>
                <a:ext cx="0" cy="31115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/>
              <p:cNvCxnSpPr/>
              <p:nvPr/>
            </p:nvCxnSpPr>
            <p:spPr>
              <a:xfrm flipV="1">
                <a:off x="3429000" y="965200"/>
                <a:ext cx="0" cy="45085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/>
              <p:cNvCxnSpPr/>
              <p:nvPr/>
            </p:nvCxnSpPr>
            <p:spPr>
              <a:xfrm flipV="1">
                <a:off x="3803650" y="965200"/>
                <a:ext cx="0" cy="5969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/>
              <p:cNvCxnSpPr/>
              <p:nvPr/>
            </p:nvCxnSpPr>
            <p:spPr>
              <a:xfrm flipV="1">
                <a:off x="4152900" y="965200"/>
                <a:ext cx="0" cy="72390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/>
              <p:cNvCxnSpPr/>
              <p:nvPr/>
            </p:nvCxnSpPr>
            <p:spPr>
              <a:xfrm flipV="1">
                <a:off x="4508500" y="965200"/>
                <a:ext cx="0" cy="37465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/>
              <p:cNvCxnSpPr/>
              <p:nvPr/>
            </p:nvCxnSpPr>
            <p:spPr>
              <a:xfrm flipV="1">
                <a:off x="4870450" y="965200"/>
                <a:ext cx="0" cy="517525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Прямая соединительная линия 55"/>
              <p:cNvCxnSpPr/>
              <p:nvPr/>
            </p:nvCxnSpPr>
            <p:spPr>
              <a:xfrm flipV="1">
                <a:off x="5245100" y="952500"/>
                <a:ext cx="0" cy="66768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Прямая соединительная линия 56"/>
              <p:cNvCxnSpPr/>
              <p:nvPr/>
            </p:nvCxnSpPr>
            <p:spPr>
              <a:xfrm flipV="1">
                <a:off x="5594350" y="965200"/>
                <a:ext cx="0" cy="78740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Прямоугольник 57"/>
              <p:cNvSpPr/>
              <p:nvPr/>
            </p:nvSpPr>
            <p:spPr>
              <a:xfrm>
                <a:off x="101600" y="241300"/>
                <a:ext cx="1225550" cy="2349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900" b="1" baseline="-2500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0</a:t>
                </a:r>
                <a:r>
                  <a:rPr lang="en-US" sz="900" b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 </a:t>
                </a:r>
                <a:r>
                  <a:rPr lang="en-US" sz="80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(8 bit)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cxnSp>
            <p:nvCxnSpPr>
              <p:cNvPr id="59" name="Прямая соединительная линия 58"/>
              <p:cNvCxnSpPr/>
              <p:nvPr/>
            </p:nvCxnSpPr>
            <p:spPr>
              <a:xfrm flipV="1">
                <a:off x="704850" y="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Прямоугольник 59"/>
              <p:cNvSpPr/>
              <p:nvPr/>
            </p:nvSpPr>
            <p:spPr>
              <a:xfrm>
                <a:off x="1574800" y="241300"/>
                <a:ext cx="1225550" cy="2349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C00000"/>
                    </a:solidFill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900" b="1" baseline="-25000">
                    <a:solidFill>
                      <a:srgbClr val="C00000"/>
                    </a:solidFill>
                    <a:effectLst/>
                    <a:latin typeface="Times New Roman"/>
                    <a:ea typeface="Times New Roman"/>
                  </a:rPr>
                  <a:t>1</a:t>
                </a:r>
                <a:r>
                  <a:rPr lang="en-US" sz="80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(8 bit)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cxnSp>
            <p:nvCxnSpPr>
              <p:cNvPr id="61" name="Прямая соединительная линия 60"/>
              <p:cNvCxnSpPr/>
              <p:nvPr/>
            </p:nvCxnSpPr>
            <p:spPr>
              <a:xfrm flipV="1">
                <a:off x="2178050" y="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Прямоугольник 61"/>
              <p:cNvSpPr/>
              <p:nvPr/>
            </p:nvSpPr>
            <p:spPr>
              <a:xfrm>
                <a:off x="3028950" y="241300"/>
                <a:ext cx="1225550" cy="2349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900" b="1" baseline="-25000">
                    <a:solidFill>
                      <a:srgbClr val="548DD4"/>
                    </a:solidFill>
                    <a:effectLst/>
                    <a:latin typeface="Times New Roman"/>
                    <a:ea typeface="Times New Roman"/>
                  </a:rPr>
                  <a:t>2</a:t>
                </a:r>
                <a:r>
                  <a:rPr lang="en-US" sz="80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(8 bit)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cxnSp>
            <p:nvCxnSpPr>
              <p:cNvPr id="63" name="Прямая соединительная линия 62"/>
              <p:cNvCxnSpPr/>
              <p:nvPr/>
            </p:nvCxnSpPr>
            <p:spPr>
              <a:xfrm flipV="1">
                <a:off x="3632200" y="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Прямоугольник 63"/>
              <p:cNvSpPr/>
              <p:nvPr/>
            </p:nvSpPr>
            <p:spPr>
              <a:xfrm>
                <a:off x="4419600" y="241300"/>
                <a:ext cx="1225550" cy="2349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900" b="1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S</a:t>
                </a:r>
                <a:r>
                  <a:rPr lang="en-US" sz="900" b="1" baseline="-25000">
                    <a:solidFill>
                      <a:srgbClr val="FF0000"/>
                    </a:solidFill>
                    <a:effectLst/>
                    <a:latin typeface="Times New Roman"/>
                    <a:ea typeface="Times New Roman"/>
                  </a:rPr>
                  <a:t>3</a:t>
                </a:r>
                <a:r>
                  <a:rPr lang="en-US" sz="80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(8 bit)</a:t>
                </a: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cxnSp>
            <p:nvCxnSpPr>
              <p:cNvPr id="65" name="Прямая соединительная линия 64"/>
              <p:cNvCxnSpPr/>
              <p:nvPr/>
            </p:nvCxnSpPr>
            <p:spPr>
              <a:xfrm flipV="1">
                <a:off x="5022850" y="0"/>
                <a:ext cx="0" cy="2413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Блок-схема: ИЛИ 65"/>
              <p:cNvSpPr/>
              <p:nvPr/>
            </p:nvSpPr>
            <p:spPr>
              <a:xfrm>
                <a:off x="114300" y="12763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67" name="Блок-схема: ИЛИ 66"/>
              <p:cNvSpPr/>
              <p:nvPr/>
            </p:nvSpPr>
            <p:spPr>
              <a:xfrm>
                <a:off x="1574800" y="12763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68" name="Блок-схема: ИЛИ 67"/>
              <p:cNvSpPr/>
              <p:nvPr/>
            </p:nvSpPr>
            <p:spPr>
              <a:xfrm>
                <a:off x="2997200" y="12763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cxnSp>
            <p:nvCxnSpPr>
              <p:cNvPr id="70" name="Прямая соединительная линия 69"/>
              <p:cNvCxnSpPr/>
              <p:nvPr/>
            </p:nvCxnSpPr>
            <p:spPr>
              <a:xfrm>
                <a:off x="260350" y="1346200"/>
                <a:ext cx="1314450" cy="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71" name="Прямая соединительная линия 70"/>
              <p:cNvCxnSpPr>
                <a:stCxn id="67" idx="6"/>
              </p:cNvCxnSpPr>
              <p:nvPr/>
            </p:nvCxnSpPr>
            <p:spPr>
              <a:xfrm>
                <a:off x="1714500" y="1339850"/>
                <a:ext cx="1282700" cy="635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Прямая соединительная линия 71"/>
              <p:cNvCxnSpPr/>
              <p:nvPr/>
            </p:nvCxnSpPr>
            <p:spPr>
              <a:xfrm>
                <a:off x="3136900" y="1339850"/>
                <a:ext cx="1371600" cy="9525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Прямая соединительная линия 72"/>
              <p:cNvCxnSpPr/>
              <p:nvPr/>
            </p:nvCxnSpPr>
            <p:spPr>
              <a:xfrm flipV="1">
                <a:off x="190500" y="1403350"/>
                <a:ext cx="0" cy="11557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Блок-схема: ИЛИ 73"/>
              <p:cNvSpPr/>
              <p:nvPr/>
            </p:nvSpPr>
            <p:spPr>
              <a:xfrm>
                <a:off x="476250" y="14160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75" name="Блок-схема: ИЛИ 74"/>
              <p:cNvSpPr/>
              <p:nvPr/>
            </p:nvSpPr>
            <p:spPr>
              <a:xfrm>
                <a:off x="1936750" y="14160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76" name="Блок-схема: ИЛИ 75"/>
              <p:cNvSpPr/>
              <p:nvPr/>
            </p:nvSpPr>
            <p:spPr>
              <a:xfrm>
                <a:off x="3359150" y="141605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cxnSp>
            <p:nvCxnSpPr>
              <p:cNvPr id="78" name="Прямая соединительная линия 77"/>
              <p:cNvCxnSpPr/>
              <p:nvPr/>
            </p:nvCxnSpPr>
            <p:spPr>
              <a:xfrm>
                <a:off x="622300" y="1485900"/>
                <a:ext cx="1314450" cy="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/>
              <p:cNvCxnSpPr/>
              <p:nvPr/>
            </p:nvCxnSpPr>
            <p:spPr>
              <a:xfrm>
                <a:off x="2076450" y="1485900"/>
                <a:ext cx="1282700" cy="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" name="Прямая соединительная линия 79"/>
              <p:cNvCxnSpPr/>
              <p:nvPr/>
            </p:nvCxnSpPr>
            <p:spPr>
              <a:xfrm>
                <a:off x="3498850" y="1479550"/>
                <a:ext cx="1371600" cy="635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Прямая соединительная линия 80"/>
              <p:cNvCxnSpPr/>
              <p:nvPr/>
            </p:nvCxnSpPr>
            <p:spPr>
              <a:xfrm flipV="1">
                <a:off x="546100" y="1543050"/>
                <a:ext cx="6350" cy="101600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2" name="Блок-схема: ИЛИ 81"/>
              <p:cNvSpPr/>
              <p:nvPr/>
            </p:nvSpPr>
            <p:spPr>
              <a:xfrm>
                <a:off x="844550" y="1562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83" name="Блок-схема: ИЛИ 82"/>
              <p:cNvSpPr/>
              <p:nvPr/>
            </p:nvSpPr>
            <p:spPr>
              <a:xfrm>
                <a:off x="2305050" y="1562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84" name="Блок-схема: ИЛИ 83"/>
              <p:cNvSpPr/>
              <p:nvPr/>
            </p:nvSpPr>
            <p:spPr>
              <a:xfrm>
                <a:off x="3727450" y="1562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cxnSp>
            <p:nvCxnSpPr>
              <p:cNvPr id="86" name="Прямая соединительная линия 85"/>
              <p:cNvCxnSpPr/>
              <p:nvPr/>
            </p:nvCxnSpPr>
            <p:spPr>
              <a:xfrm>
                <a:off x="990600" y="1631950"/>
                <a:ext cx="1314450" cy="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7" name="Прямая соединительная линия 86"/>
              <p:cNvCxnSpPr/>
              <p:nvPr/>
            </p:nvCxnSpPr>
            <p:spPr>
              <a:xfrm>
                <a:off x="2444750" y="1625600"/>
                <a:ext cx="1282700" cy="635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" name="Прямая соединительная линия 87"/>
              <p:cNvCxnSpPr/>
              <p:nvPr/>
            </p:nvCxnSpPr>
            <p:spPr>
              <a:xfrm>
                <a:off x="3867150" y="1625600"/>
                <a:ext cx="1377950" cy="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Прямая соединительная линия 88"/>
              <p:cNvCxnSpPr/>
              <p:nvPr/>
            </p:nvCxnSpPr>
            <p:spPr>
              <a:xfrm flipV="1">
                <a:off x="920750" y="1689100"/>
                <a:ext cx="0" cy="86995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Блок-схема: ИЛИ 89"/>
              <p:cNvSpPr/>
              <p:nvPr/>
            </p:nvSpPr>
            <p:spPr>
              <a:xfrm>
                <a:off x="1200150" y="1689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91" name="Блок-схема: ИЛИ 90"/>
              <p:cNvSpPr/>
              <p:nvPr/>
            </p:nvSpPr>
            <p:spPr>
              <a:xfrm>
                <a:off x="2660650" y="1689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sp>
            <p:nvSpPr>
              <p:cNvPr id="92" name="Блок-схема: ИЛИ 91"/>
              <p:cNvSpPr/>
              <p:nvPr/>
            </p:nvSpPr>
            <p:spPr>
              <a:xfrm>
                <a:off x="4083050" y="1689100"/>
                <a:ext cx="139700" cy="127000"/>
              </a:xfrm>
              <a:prstGeom prst="flowChar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ru-RU"/>
              </a:p>
            </p:txBody>
          </p:sp>
          <p:cxnSp>
            <p:nvCxnSpPr>
              <p:cNvPr id="94" name="Прямая соединительная линия 93"/>
              <p:cNvCxnSpPr/>
              <p:nvPr/>
            </p:nvCxnSpPr>
            <p:spPr>
              <a:xfrm>
                <a:off x="1346200" y="1758950"/>
                <a:ext cx="1314450" cy="0"/>
              </a:xfrm>
              <a:prstGeom prst="line">
                <a:avLst/>
              </a:prstGeom>
              <a:ln w="12700"/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5" name="Прямая соединительная линия 94"/>
              <p:cNvCxnSpPr/>
              <p:nvPr/>
            </p:nvCxnSpPr>
            <p:spPr>
              <a:xfrm>
                <a:off x="2800350" y="1752600"/>
                <a:ext cx="1282700" cy="6350"/>
              </a:xfrm>
              <a:prstGeom prst="line">
                <a:avLst/>
              </a:prstGeom>
              <a:ln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6" name="Прямая соединительная линия 95"/>
              <p:cNvCxnSpPr/>
              <p:nvPr/>
            </p:nvCxnSpPr>
            <p:spPr>
              <a:xfrm>
                <a:off x="4222750" y="1752600"/>
                <a:ext cx="1371600" cy="635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Прямая соединительная линия 96"/>
              <p:cNvCxnSpPr/>
              <p:nvPr/>
            </p:nvCxnSpPr>
            <p:spPr>
              <a:xfrm flipV="1">
                <a:off x="1276350" y="1816100"/>
                <a:ext cx="0" cy="74295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Прямоугольник 97"/>
              <p:cNvSpPr/>
              <p:nvPr/>
            </p:nvSpPr>
            <p:spPr>
              <a:xfrm>
                <a:off x="0" y="2527300"/>
                <a:ext cx="393700" cy="355600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99" name="Прямоугольник 98"/>
              <p:cNvSpPr/>
              <p:nvPr/>
            </p:nvSpPr>
            <p:spPr>
              <a:xfrm>
                <a:off x="381000" y="2527300"/>
                <a:ext cx="339724" cy="40576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00" name="Прямоугольник 99"/>
              <p:cNvSpPr/>
              <p:nvPr/>
            </p:nvSpPr>
            <p:spPr>
              <a:xfrm>
                <a:off x="736600" y="2526754"/>
                <a:ext cx="353694" cy="35559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01" name="Прямоугольник 100"/>
              <p:cNvSpPr/>
              <p:nvPr/>
            </p:nvSpPr>
            <p:spPr>
              <a:xfrm>
                <a:off x="1079500" y="2526754"/>
                <a:ext cx="353694" cy="35559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endParaRPr lang="ru-RU" sz="1200">
                  <a:effectLst/>
                  <a:latin typeface="Times New Roman"/>
                  <a:ea typeface="Times New Roman"/>
                </a:endParaRPr>
              </a:p>
            </p:txBody>
          </p:sp>
          <p:sp>
            <p:nvSpPr>
              <p:cNvPr id="102" name="Прямоугольник 101"/>
              <p:cNvSpPr/>
              <p:nvPr/>
            </p:nvSpPr>
            <p:spPr>
              <a:xfrm>
                <a:off x="62483" y="3009478"/>
                <a:ext cx="1066800" cy="234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800" dirty="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 (ha </a:t>
                </a:r>
                <a:r>
                  <a:rPr lang="en-US" sz="800" dirty="0" err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biri</a:t>
                </a:r>
                <a:r>
                  <a:rPr lang="en-US" sz="800" dirty="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 8 </a:t>
                </a:r>
                <a:r>
                  <a:rPr lang="en-US" sz="800" dirty="0" err="1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bitdan</a:t>
                </a:r>
                <a:r>
                  <a:rPr lang="en-US" sz="800" dirty="0">
                    <a:solidFill>
                      <a:srgbClr val="000000"/>
                    </a:solidFill>
                    <a:effectLst/>
                    <a:latin typeface="Times New Roman"/>
                    <a:ea typeface="Times New Roman"/>
                  </a:rPr>
                  <a:t>)</a:t>
                </a:r>
                <a:endParaRPr lang="ru-RU" sz="1200" dirty="0">
                  <a:effectLst/>
                  <a:latin typeface="Times New Roman"/>
                  <a:ea typeface="Times New Roman"/>
                </a:endParaRPr>
              </a:p>
            </p:txBody>
          </p:sp>
        </p:grpSp>
        <p:sp>
          <p:nvSpPr>
            <p:cNvPr id="8" name="Прямоугольник 7"/>
            <p:cNvSpPr/>
            <p:nvPr/>
          </p:nvSpPr>
          <p:spPr>
            <a:xfrm>
              <a:off x="1554167" y="3083004"/>
              <a:ext cx="3670300" cy="3733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3.1 – </a:t>
              </a:r>
              <a:r>
                <a:rPr lang="en-US" sz="1200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sxema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. </a:t>
              </a:r>
              <a:r>
                <a:rPr lang="en-US" sz="1200" i="1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MixColumns</a:t>
              </a:r>
              <a:r>
                <a:rPr lang="en-US" sz="1200" i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akslantirish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funksiyasi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.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716474"/>
              </p:ext>
            </p:extLst>
          </p:nvPr>
        </p:nvGraphicFramePr>
        <p:xfrm>
          <a:off x="855157" y="1484784"/>
          <a:ext cx="7462338" cy="1603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4" name="Equation" r:id="rId3" imgW="5422900" imgH="1016000" progId="Equation.3">
                  <p:embed/>
                </p:oleObj>
              </mc:Choice>
              <mc:Fallback>
                <p:oleObj name="Equation" r:id="rId3" imgW="54229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157" y="1484784"/>
                        <a:ext cx="7462338" cy="16032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7" name="Line 1384"/>
          <p:cNvCxnSpPr/>
          <p:nvPr/>
        </p:nvCxnSpPr>
        <p:spPr bwMode="auto">
          <a:xfrm>
            <a:off x="6801385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Line 1385"/>
          <p:cNvCxnSpPr/>
          <p:nvPr/>
        </p:nvCxnSpPr>
        <p:spPr bwMode="auto">
          <a:xfrm>
            <a:off x="6862058" y="407451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Line 1386"/>
          <p:cNvCxnSpPr/>
          <p:nvPr/>
        </p:nvCxnSpPr>
        <p:spPr bwMode="auto">
          <a:xfrm>
            <a:off x="6928534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Line 1387"/>
          <p:cNvCxnSpPr/>
          <p:nvPr/>
        </p:nvCxnSpPr>
        <p:spPr bwMode="auto">
          <a:xfrm>
            <a:off x="6989207" y="407769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Line 1388"/>
          <p:cNvCxnSpPr/>
          <p:nvPr/>
        </p:nvCxnSpPr>
        <p:spPr bwMode="auto">
          <a:xfrm>
            <a:off x="7106332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Line 1389"/>
          <p:cNvCxnSpPr/>
          <p:nvPr/>
        </p:nvCxnSpPr>
        <p:spPr bwMode="auto">
          <a:xfrm>
            <a:off x="7219236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Line 1390"/>
          <p:cNvCxnSpPr/>
          <p:nvPr/>
        </p:nvCxnSpPr>
        <p:spPr bwMode="auto">
          <a:xfrm>
            <a:off x="7047770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Line 1391"/>
          <p:cNvCxnSpPr/>
          <p:nvPr/>
        </p:nvCxnSpPr>
        <p:spPr bwMode="auto">
          <a:xfrm>
            <a:off x="7163839" y="4079289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Line 1401"/>
          <p:cNvCxnSpPr/>
          <p:nvPr/>
        </p:nvCxnSpPr>
        <p:spPr bwMode="auto">
          <a:xfrm>
            <a:off x="7323699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Line 1402"/>
          <p:cNvCxnSpPr/>
          <p:nvPr/>
        </p:nvCxnSpPr>
        <p:spPr bwMode="auto">
          <a:xfrm>
            <a:off x="7384372" y="4082474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Line 1403"/>
          <p:cNvCxnSpPr/>
          <p:nvPr/>
        </p:nvCxnSpPr>
        <p:spPr bwMode="auto">
          <a:xfrm>
            <a:off x="7450848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Line 1404"/>
          <p:cNvCxnSpPr/>
          <p:nvPr/>
        </p:nvCxnSpPr>
        <p:spPr bwMode="auto">
          <a:xfrm>
            <a:off x="7511521" y="4085659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Line 1405"/>
          <p:cNvCxnSpPr/>
          <p:nvPr/>
        </p:nvCxnSpPr>
        <p:spPr bwMode="auto">
          <a:xfrm>
            <a:off x="7628645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Line 1406"/>
          <p:cNvCxnSpPr/>
          <p:nvPr/>
        </p:nvCxnSpPr>
        <p:spPr bwMode="auto">
          <a:xfrm>
            <a:off x="7741550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Line 1407"/>
          <p:cNvCxnSpPr/>
          <p:nvPr/>
        </p:nvCxnSpPr>
        <p:spPr bwMode="auto">
          <a:xfrm>
            <a:off x="7571666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Line 1408"/>
          <p:cNvCxnSpPr/>
          <p:nvPr/>
        </p:nvCxnSpPr>
        <p:spPr bwMode="auto">
          <a:xfrm>
            <a:off x="7687208" y="4085659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Line 1418"/>
          <p:cNvCxnSpPr/>
          <p:nvPr/>
        </p:nvCxnSpPr>
        <p:spPr bwMode="auto">
          <a:xfrm>
            <a:off x="7857092" y="409521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Line 1419"/>
          <p:cNvCxnSpPr/>
          <p:nvPr/>
        </p:nvCxnSpPr>
        <p:spPr bwMode="auto">
          <a:xfrm>
            <a:off x="7917764" y="408884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Line 1420"/>
          <p:cNvCxnSpPr/>
          <p:nvPr/>
        </p:nvCxnSpPr>
        <p:spPr bwMode="auto">
          <a:xfrm>
            <a:off x="7982658" y="409521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Line 1421"/>
          <p:cNvCxnSpPr/>
          <p:nvPr/>
        </p:nvCxnSpPr>
        <p:spPr bwMode="auto">
          <a:xfrm>
            <a:off x="8044914" y="4092029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Line 1422"/>
          <p:cNvCxnSpPr/>
          <p:nvPr/>
        </p:nvCxnSpPr>
        <p:spPr bwMode="auto">
          <a:xfrm>
            <a:off x="8162038" y="409521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Line 1423"/>
          <p:cNvCxnSpPr/>
          <p:nvPr/>
        </p:nvCxnSpPr>
        <p:spPr bwMode="auto">
          <a:xfrm>
            <a:off x="8274943" y="409521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Line 1424"/>
          <p:cNvCxnSpPr/>
          <p:nvPr/>
        </p:nvCxnSpPr>
        <p:spPr bwMode="auto">
          <a:xfrm>
            <a:off x="8103476" y="4095214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Line 1425"/>
          <p:cNvCxnSpPr/>
          <p:nvPr/>
        </p:nvCxnSpPr>
        <p:spPr bwMode="auto">
          <a:xfrm>
            <a:off x="8219546" y="4092029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Line 1435"/>
          <p:cNvCxnSpPr/>
          <p:nvPr/>
        </p:nvCxnSpPr>
        <p:spPr bwMode="auto">
          <a:xfrm>
            <a:off x="8374657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Line 1436"/>
          <p:cNvCxnSpPr/>
          <p:nvPr/>
        </p:nvCxnSpPr>
        <p:spPr bwMode="auto">
          <a:xfrm>
            <a:off x="8435330" y="407451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Line 1437"/>
          <p:cNvCxnSpPr/>
          <p:nvPr/>
        </p:nvCxnSpPr>
        <p:spPr bwMode="auto">
          <a:xfrm>
            <a:off x="8500223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Line 1438"/>
          <p:cNvCxnSpPr/>
          <p:nvPr/>
        </p:nvCxnSpPr>
        <p:spPr bwMode="auto">
          <a:xfrm>
            <a:off x="8561951" y="407769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Line 1439"/>
          <p:cNvCxnSpPr/>
          <p:nvPr/>
        </p:nvCxnSpPr>
        <p:spPr bwMode="auto">
          <a:xfrm>
            <a:off x="8679604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Line 1440"/>
          <p:cNvCxnSpPr/>
          <p:nvPr/>
        </p:nvCxnSpPr>
        <p:spPr bwMode="auto">
          <a:xfrm>
            <a:off x="8792508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Line 1441"/>
          <p:cNvCxnSpPr/>
          <p:nvPr/>
        </p:nvCxnSpPr>
        <p:spPr bwMode="auto">
          <a:xfrm>
            <a:off x="8621041" y="4080882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Line 1442"/>
          <p:cNvCxnSpPr/>
          <p:nvPr/>
        </p:nvCxnSpPr>
        <p:spPr bwMode="auto">
          <a:xfrm>
            <a:off x="8736583" y="4079289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angle 1655"/>
          <p:cNvSpPr>
            <a:spLocks noChangeArrowheads="1"/>
          </p:cNvSpPr>
          <p:nvPr/>
        </p:nvSpPr>
        <p:spPr bwMode="auto">
          <a:xfrm>
            <a:off x="6742823" y="3547399"/>
            <a:ext cx="2068151" cy="5295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0" name="Line 1656"/>
          <p:cNvCxnSpPr/>
          <p:nvPr/>
        </p:nvCxnSpPr>
        <p:spPr bwMode="auto">
          <a:xfrm>
            <a:off x="6839899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Line 1657"/>
          <p:cNvCxnSpPr/>
          <p:nvPr/>
        </p:nvCxnSpPr>
        <p:spPr bwMode="auto">
          <a:xfrm>
            <a:off x="6900044" y="3219346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Line 1658"/>
          <p:cNvCxnSpPr/>
          <p:nvPr/>
        </p:nvCxnSpPr>
        <p:spPr bwMode="auto">
          <a:xfrm>
            <a:off x="6966521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Line 1659"/>
          <p:cNvCxnSpPr/>
          <p:nvPr/>
        </p:nvCxnSpPr>
        <p:spPr bwMode="auto">
          <a:xfrm>
            <a:off x="7027194" y="3212976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Line 1660"/>
          <p:cNvCxnSpPr/>
          <p:nvPr/>
        </p:nvCxnSpPr>
        <p:spPr bwMode="auto">
          <a:xfrm>
            <a:off x="7150649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Line 1661"/>
          <p:cNvCxnSpPr/>
          <p:nvPr/>
        </p:nvCxnSpPr>
        <p:spPr bwMode="auto">
          <a:xfrm>
            <a:off x="7252474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Line 1662"/>
          <p:cNvCxnSpPr/>
          <p:nvPr/>
        </p:nvCxnSpPr>
        <p:spPr bwMode="auto">
          <a:xfrm>
            <a:off x="7093670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Line 1663"/>
          <p:cNvCxnSpPr/>
          <p:nvPr/>
        </p:nvCxnSpPr>
        <p:spPr bwMode="auto">
          <a:xfrm>
            <a:off x="7216071" y="3214569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Line 1664"/>
          <p:cNvCxnSpPr/>
          <p:nvPr/>
        </p:nvCxnSpPr>
        <p:spPr bwMode="auto">
          <a:xfrm>
            <a:off x="7343220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Line 1665"/>
          <p:cNvCxnSpPr/>
          <p:nvPr/>
        </p:nvCxnSpPr>
        <p:spPr bwMode="auto">
          <a:xfrm>
            <a:off x="7379623" y="321616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Line 1666"/>
          <p:cNvCxnSpPr/>
          <p:nvPr/>
        </p:nvCxnSpPr>
        <p:spPr bwMode="auto">
          <a:xfrm>
            <a:off x="7469841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Line 1667"/>
          <p:cNvCxnSpPr/>
          <p:nvPr/>
        </p:nvCxnSpPr>
        <p:spPr bwMode="auto">
          <a:xfrm>
            <a:off x="7538428" y="3219346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Line 1668"/>
          <p:cNvCxnSpPr/>
          <p:nvPr/>
        </p:nvCxnSpPr>
        <p:spPr bwMode="auto">
          <a:xfrm>
            <a:off x="7642890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Line 1669"/>
          <p:cNvCxnSpPr/>
          <p:nvPr/>
        </p:nvCxnSpPr>
        <p:spPr bwMode="auto">
          <a:xfrm>
            <a:off x="7774788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Line 1670"/>
          <p:cNvCxnSpPr/>
          <p:nvPr/>
        </p:nvCxnSpPr>
        <p:spPr bwMode="auto">
          <a:xfrm>
            <a:off x="7603321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Line 1671"/>
          <p:cNvCxnSpPr/>
          <p:nvPr/>
        </p:nvCxnSpPr>
        <p:spPr bwMode="auto">
          <a:xfrm>
            <a:off x="7732053" y="3220939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Line 1672"/>
          <p:cNvCxnSpPr/>
          <p:nvPr/>
        </p:nvCxnSpPr>
        <p:spPr bwMode="auto">
          <a:xfrm>
            <a:off x="7844430" y="322890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Line 1673"/>
          <p:cNvCxnSpPr/>
          <p:nvPr/>
        </p:nvCxnSpPr>
        <p:spPr bwMode="auto">
          <a:xfrm>
            <a:off x="7909851" y="322253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Line 1674"/>
          <p:cNvCxnSpPr/>
          <p:nvPr/>
        </p:nvCxnSpPr>
        <p:spPr bwMode="auto">
          <a:xfrm>
            <a:off x="7976327" y="322890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Line 1675"/>
          <p:cNvCxnSpPr/>
          <p:nvPr/>
        </p:nvCxnSpPr>
        <p:spPr bwMode="auto">
          <a:xfrm>
            <a:off x="8048079" y="3225716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Line 1676"/>
          <p:cNvCxnSpPr/>
          <p:nvPr/>
        </p:nvCxnSpPr>
        <p:spPr bwMode="auto">
          <a:xfrm>
            <a:off x="8176283" y="322890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Line 1677"/>
          <p:cNvCxnSpPr/>
          <p:nvPr/>
        </p:nvCxnSpPr>
        <p:spPr bwMode="auto">
          <a:xfrm>
            <a:off x="8309763" y="322890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Line 1678"/>
          <p:cNvCxnSpPr/>
          <p:nvPr/>
        </p:nvCxnSpPr>
        <p:spPr bwMode="auto">
          <a:xfrm>
            <a:off x="8106641" y="3228901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Line 1679"/>
          <p:cNvCxnSpPr/>
          <p:nvPr/>
        </p:nvCxnSpPr>
        <p:spPr bwMode="auto">
          <a:xfrm>
            <a:off x="8244870" y="3227309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Line 1680"/>
          <p:cNvCxnSpPr/>
          <p:nvPr/>
        </p:nvCxnSpPr>
        <p:spPr bwMode="auto">
          <a:xfrm>
            <a:off x="8373074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Line 1681"/>
          <p:cNvCxnSpPr/>
          <p:nvPr/>
        </p:nvCxnSpPr>
        <p:spPr bwMode="auto">
          <a:xfrm>
            <a:off x="8443244" y="3219346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Line 1682"/>
          <p:cNvCxnSpPr/>
          <p:nvPr/>
        </p:nvCxnSpPr>
        <p:spPr bwMode="auto">
          <a:xfrm>
            <a:off x="8509720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Line 1683"/>
          <p:cNvCxnSpPr/>
          <p:nvPr/>
        </p:nvCxnSpPr>
        <p:spPr bwMode="auto">
          <a:xfrm>
            <a:off x="8571448" y="3212976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Line 1684"/>
          <p:cNvCxnSpPr/>
          <p:nvPr/>
        </p:nvCxnSpPr>
        <p:spPr bwMode="auto">
          <a:xfrm>
            <a:off x="8698597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Line 1685"/>
          <p:cNvCxnSpPr/>
          <p:nvPr/>
        </p:nvCxnSpPr>
        <p:spPr bwMode="auto">
          <a:xfrm>
            <a:off x="6781388" y="3232198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Line 1686"/>
          <p:cNvCxnSpPr/>
          <p:nvPr/>
        </p:nvCxnSpPr>
        <p:spPr bwMode="auto">
          <a:xfrm>
            <a:off x="8635286" y="3216161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Line 1687"/>
          <p:cNvCxnSpPr/>
          <p:nvPr/>
        </p:nvCxnSpPr>
        <p:spPr bwMode="auto">
          <a:xfrm>
            <a:off x="8767183" y="3214569"/>
            <a:ext cx="0" cy="319294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Rectangle 981"/>
          <p:cNvSpPr>
            <a:spLocks noChangeArrowheads="1"/>
          </p:cNvSpPr>
          <p:nvPr/>
        </p:nvSpPr>
        <p:spPr bwMode="auto">
          <a:xfrm>
            <a:off x="6734910" y="5576199"/>
            <a:ext cx="474830" cy="4801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3" name="Line 982"/>
          <p:cNvCxnSpPr/>
          <p:nvPr/>
        </p:nvCxnSpPr>
        <p:spPr bwMode="auto">
          <a:xfrm>
            <a:off x="6789251" y="5255313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Line 983"/>
          <p:cNvCxnSpPr>
            <a:cxnSpLocks noChangeShapeType="1"/>
          </p:cNvCxnSpPr>
          <p:nvPr/>
        </p:nvCxnSpPr>
        <p:spPr bwMode="auto">
          <a:xfrm>
            <a:off x="6825128" y="524973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" name="Line 984"/>
          <p:cNvCxnSpPr>
            <a:cxnSpLocks noChangeShapeType="1"/>
          </p:cNvCxnSpPr>
          <p:nvPr/>
        </p:nvCxnSpPr>
        <p:spPr bwMode="auto">
          <a:xfrm>
            <a:off x="6891076" y="525610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6" name="Line 985"/>
          <p:cNvCxnSpPr>
            <a:cxnSpLocks noChangeShapeType="1"/>
          </p:cNvCxnSpPr>
          <p:nvPr/>
        </p:nvCxnSpPr>
        <p:spPr bwMode="auto">
          <a:xfrm>
            <a:off x="6952277" y="5252924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7" name="Line 986"/>
          <p:cNvCxnSpPr>
            <a:cxnSpLocks noChangeShapeType="1"/>
          </p:cNvCxnSpPr>
          <p:nvPr/>
        </p:nvCxnSpPr>
        <p:spPr bwMode="auto">
          <a:xfrm>
            <a:off x="7069401" y="525610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8" name="Line 987"/>
          <p:cNvCxnSpPr>
            <a:cxnSpLocks noChangeShapeType="1"/>
          </p:cNvCxnSpPr>
          <p:nvPr/>
        </p:nvCxnSpPr>
        <p:spPr bwMode="auto">
          <a:xfrm>
            <a:off x="7182306" y="525610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9" name="Line 988"/>
          <p:cNvCxnSpPr>
            <a:cxnSpLocks noChangeShapeType="1"/>
          </p:cNvCxnSpPr>
          <p:nvPr/>
        </p:nvCxnSpPr>
        <p:spPr bwMode="auto">
          <a:xfrm>
            <a:off x="7011367" y="525610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0" name="Line 989"/>
          <p:cNvCxnSpPr>
            <a:cxnSpLocks noChangeShapeType="1"/>
          </p:cNvCxnSpPr>
          <p:nvPr/>
        </p:nvCxnSpPr>
        <p:spPr bwMode="auto">
          <a:xfrm>
            <a:off x="7127436" y="5253720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1" name="Line 990"/>
          <p:cNvCxnSpPr>
            <a:cxnSpLocks noChangeShapeType="1"/>
          </p:cNvCxnSpPr>
          <p:nvPr/>
        </p:nvCxnSpPr>
        <p:spPr bwMode="auto">
          <a:xfrm>
            <a:off x="6756541" y="605951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" name="Line 991"/>
          <p:cNvCxnSpPr/>
          <p:nvPr/>
        </p:nvCxnSpPr>
        <p:spPr bwMode="auto">
          <a:xfrm>
            <a:off x="6841483" y="6052353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Line 992"/>
          <p:cNvCxnSpPr>
            <a:cxnSpLocks noChangeShapeType="1"/>
          </p:cNvCxnSpPr>
          <p:nvPr/>
        </p:nvCxnSpPr>
        <p:spPr bwMode="auto">
          <a:xfrm>
            <a:off x="6883690" y="605951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" name="Line 993"/>
          <p:cNvCxnSpPr>
            <a:cxnSpLocks noChangeShapeType="1"/>
          </p:cNvCxnSpPr>
          <p:nvPr/>
        </p:nvCxnSpPr>
        <p:spPr bwMode="auto">
          <a:xfrm>
            <a:off x="6944890" y="6055538"/>
            <a:ext cx="0" cy="3208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" name="Line 994"/>
          <p:cNvCxnSpPr>
            <a:cxnSpLocks noChangeShapeType="1"/>
          </p:cNvCxnSpPr>
          <p:nvPr/>
        </p:nvCxnSpPr>
        <p:spPr bwMode="auto">
          <a:xfrm>
            <a:off x="7061488" y="605951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6" name="Line 995"/>
          <p:cNvCxnSpPr>
            <a:cxnSpLocks noChangeShapeType="1"/>
          </p:cNvCxnSpPr>
          <p:nvPr/>
        </p:nvCxnSpPr>
        <p:spPr bwMode="auto">
          <a:xfrm>
            <a:off x="7174919" y="6059519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7" name="Line 996"/>
          <p:cNvCxnSpPr/>
          <p:nvPr/>
        </p:nvCxnSpPr>
        <p:spPr bwMode="auto">
          <a:xfrm>
            <a:off x="7027194" y="6058723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Line 997"/>
          <p:cNvCxnSpPr>
            <a:cxnSpLocks noChangeShapeType="1"/>
          </p:cNvCxnSpPr>
          <p:nvPr/>
        </p:nvCxnSpPr>
        <p:spPr bwMode="auto">
          <a:xfrm>
            <a:off x="7119522" y="6057130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" name="Rectangle 981"/>
          <p:cNvSpPr>
            <a:spLocks noChangeArrowheads="1"/>
          </p:cNvSpPr>
          <p:nvPr/>
        </p:nvSpPr>
        <p:spPr bwMode="auto">
          <a:xfrm>
            <a:off x="7596336" y="5558843"/>
            <a:ext cx="474830" cy="4801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0" name="Line 982"/>
          <p:cNvCxnSpPr/>
          <p:nvPr/>
        </p:nvCxnSpPr>
        <p:spPr bwMode="auto">
          <a:xfrm>
            <a:off x="7650677" y="523795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Line 983"/>
          <p:cNvCxnSpPr>
            <a:cxnSpLocks noChangeShapeType="1"/>
          </p:cNvCxnSpPr>
          <p:nvPr/>
        </p:nvCxnSpPr>
        <p:spPr bwMode="auto">
          <a:xfrm>
            <a:off x="7686554" y="523238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2" name="Line 984"/>
          <p:cNvCxnSpPr>
            <a:cxnSpLocks noChangeShapeType="1"/>
          </p:cNvCxnSpPr>
          <p:nvPr/>
        </p:nvCxnSpPr>
        <p:spPr bwMode="auto">
          <a:xfrm>
            <a:off x="7752502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3" name="Line 985"/>
          <p:cNvCxnSpPr>
            <a:cxnSpLocks noChangeShapeType="1"/>
          </p:cNvCxnSpPr>
          <p:nvPr/>
        </p:nvCxnSpPr>
        <p:spPr bwMode="auto">
          <a:xfrm>
            <a:off x="7813703" y="5235568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" name="Line 986"/>
          <p:cNvCxnSpPr>
            <a:cxnSpLocks noChangeShapeType="1"/>
          </p:cNvCxnSpPr>
          <p:nvPr/>
        </p:nvCxnSpPr>
        <p:spPr bwMode="auto">
          <a:xfrm>
            <a:off x="7930827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" name="Line 987"/>
          <p:cNvCxnSpPr>
            <a:cxnSpLocks noChangeShapeType="1"/>
          </p:cNvCxnSpPr>
          <p:nvPr/>
        </p:nvCxnSpPr>
        <p:spPr bwMode="auto">
          <a:xfrm>
            <a:off x="8043732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6" name="Line 988"/>
          <p:cNvCxnSpPr>
            <a:cxnSpLocks noChangeShapeType="1"/>
          </p:cNvCxnSpPr>
          <p:nvPr/>
        </p:nvCxnSpPr>
        <p:spPr bwMode="auto">
          <a:xfrm>
            <a:off x="7872793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Line 989"/>
          <p:cNvCxnSpPr>
            <a:cxnSpLocks noChangeShapeType="1"/>
          </p:cNvCxnSpPr>
          <p:nvPr/>
        </p:nvCxnSpPr>
        <p:spPr bwMode="auto">
          <a:xfrm>
            <a:off x="7988862" y="5236364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" name="Line 990"/>
          <p:cNvCxnSpPr>
            <a:cxnSpLocks noChangeShapeType="1"/>
          </p:cNvCxnSpPr>
          <p:nvPr/>
        </p:nvCxnSpPr>
        <p:spPr bwMode="auto">
          <a:xfrm>
            <a:off x="7617967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9" name="Line 991"/>
          <p:cNvCxnSpPr/>
          <p:nvPr/>
        </p:nvCxnSpPr>
        <p:spPr bwMode="auto">
          <a:xfrm>
            <a:off x="7702909" y="603499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Line 992"/>
          <p:cNvCxnSpPr>
            <a:cxnSpLocks noChangeShapeType="1"/>
          </p:cNvCxnSpPr>
          <p:nvPr/>
        </p:nvCxnSpPr>
        <p:spPr bwMode="auto">
          <a:xfrm>
            <a:off x="7745116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" name="Line 993"/>
          <p:cNvCxnSpPr>
            <a:cxnSpLocks noChangeShapeType="1"/>
          </p:cNvCxnSpPr>
          <p:nvPr/>
        </p:nvCxnSpPr>
        <p:spPr bwMode="auto">
          <a:xfrm>
            <a:off x="7806316" y="6038182"/>
            <a:ext cx="0" cy="3208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2" name="Line 994"/>
          <p:cNvCxnSpPr>
            <a:cxnSpLocks noChangeShapeType="1"/>
          </p:cNvCxnSpPr>
          <p:nvPr/>
        </p:nvCxnSpPr>
        <p:spPr bwMode="auto">
          <a:xfrm>
            <a:off x="7922914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" name="Line 995"/>
          <p:cNvCxnSpPr>
            <a:cxnSpLocks noChangeShapeType="1"/>
          </p:cNvCxnSpPr>
          <p:nvPr/>
        </p:nvCxnSpPr>
        <p:spPr bwMode="auto">
          <a:xfrm>
            <a:off x="8036345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" name="Line 996"/>
          <p:cNvCxnSpPr/>
          <p:nvPr/>
        </p:nvCxnSpPr>
        <p:spPr bwMode="auto">
          <a:xfrm>
            <a:off x="7888620" y="604136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Line 997"/>
          <p:cNvCxnSpPr>
            <a:cxnSpLocks noChangeShapeType="1"/>
          </p:cNvCxnSpPr>
          <p:nvPr/>
        </p:nvCxnSpPr>
        <p:spPr bwMode="auto">
          <a:xfrm>
            <a:off x="7980948" y="6039774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6" name="Rectangle 981"/>
          <p:cNvSpPr>
            <a:spLocks noChangeArrowheads="1"/>
          </p:cNvSpPr>
          <p:nvPr/>
        </p:nvSpPr>
        <p:spPr bwMode="auto">
          <a:xfrm>
            <a:off x="8388424" y="5558843"/>
            <a:ext cx="474830" cy="4801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7" name="Line 982"/>
          <p:cNvCxnSpPr/>
          <p:nvPr/>
        </p:nvCxnSpPr>
        <p:spPr bwMode="auto">
          <a:xfrm>
            <a:off x="8442765" y="523795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Line 983"/>
          <p:cNvCxnSpPr>
            <a:cxnSpLocks noChangeShapeType="1"/>
          </p:cNvCxnSpPr>
          <p:nvPr/>
        </p:nvCxnSpPr>
        <p:spPr bwMode="auto">
          <a:xfrm>
            <a:off x="8478642" y="523238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" name="Line 984"/>
          <p:cNvCxnSpPr>
            <a:cxnSpLocks noChangeShapeType="1"/>
          </p:cNvCxnSpPr>
          <p:nvPr/>
        </p:nvCxnSpPr>
        <p:spPr bwMode="auto">
          <a:xfrm>
            <a:off x="8544590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0" name="Line 985"/>
          <p:cNvCxnSpPr>
            <a:cxnSpLocks noChangeShapeType="1"/>
          </p:cNvCxnSpPr>
          <p:nvPr/>
        </p:nvCxnSpPr>
        <p:spPr bwMode="auto">
          <a:xfrm>
            <a:off x="8605791" y="5235568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1" name="Line 986"/>
          <p:cNvCxnSpPr>
            <a:cxnSpLocks noChangeShapeType="1"/>
          </p:cNvCxnSpPr>
          <p:nvPr/>
        </p:nvCxnSpPr>
        <p:spPr bwMode="auto">
          <a:xfrm>
            <a:off x="8722915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" name="Line 987"/>
          <p:cNvCxnSpPr>
            <a:cxnSpLocks noChangeShapeType="1"/>
          </p:cNvCxnSpPr>
          <p:nvPr/>
        </p:nvCxnSpPr>
        <p:spPr bwMode="auto">
          <a:xfrm>
            <a:off x="8835820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3" name="Line 988"/>
          <p:cNvCxnSpPr>
            <a:cxnSpLocks noChangeShapeType="1"/>
          </p:cNvCxnSpPr>
          <p:nvPr/>
        </p:nvCxnSpPr>
        <p:spPr bwMode="auto">
          <a:xfrm>
            <a:off x="8664881" y="523875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4" name="Line 989"/>
          <p:cNvCxnSpPr>
            <a:cxnSpLocks noChangeShapeType="1"/>
          </p:cNvCxnSpPr>
          <p:nvPr/>
        </p:nvCxnSpPr>
        <p:spPr bwMode="auto">
          <a:xfrm>
            <a:off x="8780950" y="5236364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" name="Line 990"/>
          <p:cNvCxnSpPr>
            <a:cxnSpLocks noChangeShapeType="1"/>
          </p:cNvCxnSpPr>
          <p:nvPr/>
        </p:nvCxnSpPr>
        <p:spPr bwMode="auto">
          <a:xfrm>
            <a:off x="8410055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" name="Line 991"/>
          <p:cNvCxnSpPr/>
          <p:nvPr/>
        </p:nvCxnSpPr>
        <p:spPr bwMode="auto">
          <a:xfrm>
            <a:off x="8494997" y="603499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Line 992"/>
          <p:cNvCxnSpPr>
            <a:cxnSpLocks noChangeShapeType="1"/>
          </p:cNvCxnSpPr>
          <p:nvPr/>
        </p:nvCxnSpPr>
        <p:spPr bwMode="auto">
          <a:xfrm>
            <a:off x="8537204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" name="Line 993"/>
          <p:cNvCxnSpPr>
            <a:cxnSpLocks noChangeShapeType="1"/>
          </p:cNvCxnSpPr>
          <p:nvPr/>
        </p:nvCxnSpPr>
        <p:spPr bwMode="auto">
          <a:xfrm>
            <a:off x="8598404" y="6038182"/>
            <a:ext cx="0" cy="3208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9" name="Line 994"/>
          <p:cNvCxnSpPr>
            <a:cxnSpLocks noChangeShapeType="1"/>
          </p:cNvCxnSpPr>
          <p:nvPr/>
        </p:nvCxnSpPr>
        <p:spPr bwMode="auto">
          <a:xfrm>
            <a:off x="8715002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0" name="Line 995"/>
          <p:cNvCxnSpPr>
            <a:cxnSpLocks noChangeShapeType="1"/>
          </p:cNvCxnSpPr>
          <p:nvPr/>
        </p:nvCxnSpPr>
        <p:spPr bwMode="auto">
          <a:xfrm>
            <a:off x="8828433" y="6042163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" name="Line 996"/>
          <p:cNvCxnSpPr/>
          <p:nvPr/>
        </p:nvCxnSpPr>
        <p:spPr bwMode="auto">
          <a:xfrm>
            <a:off x="8680708" y="6041367"/>
            <a:ext cx="0" cy="320886"/>
          </a:xfrm>
          <a:prstGeom prst="line">
            <a:avLst/>
          </a:prstGeom>
          <a:ln w="952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Line 997"/>
          <p:cNvCxnSpPr>
            <a:cxnSpLocks noChangeShapeType="1"/>
          </p:cNvCxnSpPr>
          <p:nvPr/>
        </p:nvCxnSpPr>
        <p:spPr bwMode="auto">
          <a:xfrm>
            <a:off x="8773036" y="6039774"/>
            <a:ext cx="0" cy="320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3" name="Прямоугольник 222"/>
          <p:cNvSpPr/>
          <p:nvPr/>
        </p:nvSpPr>
        <p:spPr>
          <a:xfrm>
            <a:off x="6588224" y="2996952"/>
            <a:ext cx="2376263" cy="36724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7" name="Группа 226"/>
          <p:cNvGrpSpPr/>
          <p:nvPr/>
        </p:nvGrpSpPr>
        <p:grpSpPr>
          <a:xfrm>
            <a:off x="6900044" y="4489125"/>
            <a:ext cx="1779560" cy="640080"/>
            <a:chOff x="6900044" y="4274820"/>
            <a:chExt cx="1779560" cy="640080"/>
          </a:xfrm>
        </p:grpSpPr>
        <p:sp>
          <p:nvSpPr>
            <p:cNvPr id="224" name="Стрелка вниз 223"/>
            <p:cNvSpPr/>
            <p:nvPr/>
          </p:nvSpPr>
          <p:spPr>
            <a:xfrm>
              <a:off x="6900044" y="4279900"/>
              <a:ext cx="192571" cy="63500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5" name="Стрелка вниз 224"/>
            <p:cNvSpPr/>
            <p:nvPr/>
          </p:nvSpPr>
          <p:spPr>
            <a:xfrm>
              <a:off x="7710030" y="4274820"/>
              <a:ext cx="192571" cy="63500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Стрелка вниз 225"/>
            <p:cNvSpPr/>
            <p:nvPr/>
          </p:nvSpPr>
          <p:spPr>
            <a:xfrm>
              <a:off x="8487033" y="4274820"/>
              <a:ext cx="192571" cy="63500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8" name="Скругленный прямоугольник 227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29" name="Прямоугольник 228"/>
          <p:cNvSpPr/>
          <p:nvPr/>
        </p:nvSpPr>
        <p:spPr>
          <a:xfrm>
            <a:off x="351692" y="3356992"/>
            <a:ext cx="5876492" cy="2203178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1" name="Объект 2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14163"/>
              </p:ext>
            </p:extLst>
          </p:nvPr>
        </p:nvGraphicFramePr>
        <p:xfrm>
          <a:off x="395536" y="5805264"/>
          <a:ext cx="315105" cy="518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" name="Equation" r:id="rId5" imgW="152334" imgH="241195" progId="Equation.3">
                  <p:embed/>
                </p:oleObj>
              </mc:Choice>
              <mc:Fallback>
                <p:oleObj name="Equation" r:id="rId5" imgW="15233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805264"/>
                        <a:ext cx="315105" cy="518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3" name="Объект 2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423635"/>
              </p:ext>
            </p:extLst>
          </p:nvPr>
        </p:nvGraphicFramePr>
        <p:xfrm>
          <a:off x="790745" y="5796041"/>
          <a:ext cx="319049" cy="53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6" name="Equation" r:id="rId7" imgW="139700" imgH="228600" progId="Equation.3">
                  <p:embed/>
                </p:oleObj>
              </mc:Choice>
              <mc:Fallback>
                <p:oleObj name="Equation" r:id="rId7" imgW="139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745" y="5796041"/>
                        <a:ext cx="319049" cy="538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5" name="Объект 2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270593"/>
              </p:ext>
            </p:extLst>
          </p:nvPr>
        </p:nvGraphicFramePr>
        <p:xfrm>
          <a:off x="1175901" y="5763335"/>
          <a:ext cx="336387" cy="53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7" name="Equation" r:id="rId9" imgW="152334" imgH="228501" progId="Equation.3">
                  <p:embed/>
                </p:oleObj>
              </mc:Choice>
              <mc:Fallback>
                <p:oleObj name="Equation" r:id="rId9" imgW="152334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901" y="5763335"/>
                        <a:ext cx="336387" cy="534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7" name="Объект 2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612600"/>
              </p:ext>
            </p:extLst>
          </p:nvPr>
        </p:nvGraphicFramePr>
        <p:xfrm>
          <a:off x="1559196" y="5805264"/>
          <a:ext cx="310815" cy="511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8" name="Equation" r:id="rId11" imgW="152334" imgH="241195" progId="Equation.3">
                  <p:embed/>
                </p:oleObj>
              </mc:Choice>
              <mc:Fallback>
                <p:oleObj name="Equation" r:id="rId11" imgW="15233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196" y="5805264"/>
                        <a:ext cx="310815" cy="511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3" name="Группа 242"/>
          <p:cNvGrpSpPr/>
          <p:nvPr/>
        </p:nvGrpSpPr>
        <p:grpSpPr>
          <a:xfrm>
            <a:off x="351334" y="1459134"/>
            <a:ext cx="4803678" cy="2761954"/>
            <a:chOff x="351334" y="1459134"/>
            <a:chExt cx="4803678" cy="2761954"/>
          </a:xfrm>
        </p:grpSpPr>
        <p:sp>
          <p:nvSpPr>
            <p:cNvPr id="241" name="Овал 240"/>
            <p:cNvSpPr/>
            <p:nvPr/>
          </p:nvSpPr>
          <p:spPr>
            <a:xfrm>
              <a:off x="4256440" y="1459134"/>
              <a:ext cx="898572" cy="4320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Овал 241"/>
            <p:cNvSpPr/>
            <p:nvPr/>
          </p:nvSpPr>
          <p:spPr>
            <a:xfrm>
              <a:off x="351334" y="3867483"/>
              <a:ext cx="476250" cy="35360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8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39" name="Объект 2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912101"/>
              </p:ext>
            </p:extLst>
          </p:nvPr>
        </p:nvGraphicFramePr>
        <p:xfrm>
          <a:off x="2134097" y="5864873"/>
          <a:ext cx="3572975" cy="382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9" name="Equation" r:id="rId13" imgW="2590560" imgH="241200" progId="Equation.3">
                  <p:embed/>
                </p:oleObj>
              </mc:Choice>
              <mc:Fallback>
                <p:oleObj name="Equation" r:id="rId13" imgW="2590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097" y="5864873"/>
                        <a:ext cx="3572975" cy="38292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" name="Прямоугольник 239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</a:t>
            </a:r>
            <a:r>
              <a:rPr lang="en-US" sz="2400" b="1" dirty="0" err="1" smtClean="0">
                <a:solidFill>
                  <a:srgbClr val="C00000"/>
                </a:solidFill>
              </a:rPr>
              <a:t>shifrlash</a:t>
            </a:r>
            <a:r>
              <a:rPr lang="uz-Cyrl-UZ" sz="2400" b="1" dirty="0" smtClean="0">
                <a:solidFill>
                  <a:srgbClr val="C00000"/>
                </a:solidFill>
              </a:rPr>
              <a:t> algoritmi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uz-Cyrl-UZ" sz="2400" b="1" dirty="0" smtClean="0">
                <a:solidFill>
                  <a:srgbClr val="C00000"/>
                </a:solidFill>
              </a:rPr>
              <a:t>uchun </a:t>
            </a:r>
            <a:r>
              <a:rPr lang="uz-Cyrl-UZ" sz="2400" b="1" dirty="0">
                <a:solidFill>
                  <a:srgbClr val="C00000"/>
                </a:solidFill>
              </a:rPr>
              <a:t>chiziqli kriptotahlil usulini </a:t>
            </a:r>
            <a:r>
              <a:rPr lang="uz-Cyrl-UZ" sz="2400" b="1" dirty="0" smtClean="0">
                <a:solidFill>
                  <a:srgbClr val="C00000"/>
                </a:solidFill>
              </a:rPr>
              <a:t>o’tkazish</a:t>
            </a:r>
            <a:endParaRPr lang="ru-RU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75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17230" y="12806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o’quv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algoritmi </a:t>
            </a:r>
            <a:r>
              <a:rPr lang="en-US" sz="24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matritsasi</a:t>
            </a:r>
            <a:endParaRPr lang="ru-RU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930428"/>
              </p:ext>
            </p:extLst>
          </p:nvPr>
        </p:nvGraphicFramePr>
        <p:xfrm>
          <a:off x="2843808" y="1501197"/>
          <a:ext cx="3985078" cy="75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0" name="Equation" r:id="rId4" imgW="3238200" imgH="533160" progId="Equation.3">
                  <p:embed/>
                </p:oleObj>
              </mc:Choice>
              <mc:Fallback>
                <p:oleObj name="Equation" r:id="rId4" imgW="323820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501197"/>
                        <a:ext cx="3985078" cy="75270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Группа 8"/>
          <p:cNvGrpSpPr/>
          <p:nvPr/>
        </p:nvGrpSpPr>
        <p:grpSpPr>
          <a:xfrm>
            <a:off x="7115140" y="1260758"/>
            <a:ext cx="1580676" cy="1732371"/>
            <a:chOff x="31750" y="0"/>
            <a:chExt cx="1580676" cy="1732371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31750" y="717550"/>
              <a:ext cx="320722" cy="23883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 smtClean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03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81000" y="717550"/>
              <a:ext cx="320722" cy="23883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 smtClean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02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936104" y="717550"/>
              <a:ext cx="320722" cy="23883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 smtClean="0">
                  <a:solidFill>
                    <a:srgbClr val="943634"/>
                  </a:solidFill>
                  <a:effectLst/>
                  <a:latin typeface="Times New Roman"/>
                  <a:ea typeface="Times New Roman"/>
                </a:rPr>
                <a:t>02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1291704" y="717550"/>
              <a:ext cx="320722" cy="23883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 smtClean="0">
                  <a:solidFill>
                    <a:srgbClr val="943634"/>
                  </a:solidFill>
                  <a:effectLst/>
                  <a:latin typeface="Times New Roman"/>
                  <a:ea typeface="Times New Roman"/>
                </a:rPr>
                <a:t>03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27" name="Прямая соединительная линия 26"/>
            <p:cNvCxnSpPr/>
            <p:nvPr/>
          </p:nvCxnSpPr>
          <p:spPr>
            <a:xfrm flipV="1">
              <a:off x="190500" y="476250"/>
              <a:ext cx="0" cy="2413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V="1">
              <a:off x="546100" y="476250"/>
              <a:ext cx="0" cy="2413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/>
            <p:nvPr/>
          </p:nvCxnSpPr>
          <p:spPr>
            <a:xfrm flipV="1">
              <a:off x="1094854" y="482600"/>
              <a:ext cx="0" cy="24130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/>
            <p:nvPr/>
          </p:nvCxnSpPr>
          <p:spPr>
            <a:xfrm flipV="1">
              <a:off x="1444104" y="482600"/>
              <a:ext cx="0" cy="24130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/>
            <p:cNvCxnSpPr/>
            <p:nvPr/>
          </p:nvCxnSpPr>
          <p:spPr>
            <a:xfrm flipV="1">
              <a:off x="187325" y="958850"/>
              <a:ext cx="0" cy="3175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 flipV="1">
              <a:off x="546100" y="958850"/>
              <a:ext cx="0" cy="4572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/>
            <p:cNvCxnSpPr/>
            <p:nvPr/>
          </p:nvCxnSpPr>
          <p:spPr>
            <a:xfrm flipV="1">
              <a:off x="1094854" y="965200"/>
              <a:ext cx="0" cy="37465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/>
            <p:cNvCxnSpPr/>
            <p:nvPr/>
          </p:nvCxnSpPr>
          <p:spPr>
            <a:xfrm flipV="1">
              <a:off x="1463154" y="965200"/>
              <a:ext cx="0" cy="51435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1750" y="241300"/>
              <a:ext cx="669972" cy="234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S</a:t>
              </a:r>
              <a:r>
                <a:rPr lang="en-US" sz="900" b="1" baseline="-250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0</a:t>
              </a:r>
              <a:r>
                <a:rPr lang="en-US" sz="900" b="1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</a:t>
              </a:r>
              <a:r>
                <a:rPr lang="en-US" sz="800" dirty="0" smtClean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(4 </a:t>
              </a:r>
              <a:r>
                <a:rPr lang="en-US" sz="8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bit)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60" name="Прямая соединительная линия 59"/>
            <p:cNvCxnSpPr/>
            <p:nvPr/>
          </p:nvCxnSpPr>
          <p:spPr>
            <a:xfrm flipV="1">
              <a:off x="352472" y="7496"/>
              <a:ext cx="0" cy="2413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Прямоугольник 60"/>
            <p:cNvSpPr/>
            <p:nvPr/>
          </p:nvSpPr>
          <p:spPr>
            <a:xfrm>
              <a:off x="936104" y="241300"/>
              <a:ext cx="676322" cy="234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900" b="1" dirty="0" smtClean="0">
                  <a:solidFill>
                    <a:srgbClr val="C00000"/>
                  </a:solidFill>
                  <a:effectLst/>
                  <a:latin typeface="Times New Roman"/>
                  <a:ea typeface="Times New Roman"/>
                </a:rPr>
                <a:t>S</a:t>
              </a:r>
              <a:r>
                <a:rPr lang="en-US" sz="900" b="1" baseline="-25000" dirty="0" smtClean="0">
                  <a:solidFill>
                    <a:srgbClr val="C00000"/>
                  </a:solidFill>
                  <a:effectLst/>
                  <a:latin typeface="Times New Roman"/>
                  <a:ea typeface="Times New Roman"/>
                </a:rPr>
                <a:t>1</a:t>
              </a:r>
              <a:r>
                <a:rPr lang="en-US" sz="800" dirty="0" smtClean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(4 </a:t>
              </a:r>
              <a:r>
                <a:rPr lang="en-US" sz="8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bit)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flipV="1">
              <a:off x="1256826" y="0"/>
              <a:ext cx="0" cy="24130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Блок-схема: ИЛИ 66"/>
            <p:cNvSpPr/>
            <p:nvPr/>
          </p:nvSpPr>
          <p:spPr>
            <a:xfrm>
              <a:off x="114300" y="1276350"/>
              <a:ext cx="139700" cy="127000"/>
            </a:xfrm>
            <a:prstGeom prst="flowChar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cxnSp>
          <p:nvCxnSpPr>
            <p:cNvPr id="71" name="Прямая соединительная линия 70"/>
            <p:cNvCxnSpPr/>
            <p:nvPr/>
          </p:nvCxnSpPr>
          <p:spPr>
            <a:xfrm flipV="1">
              <a:off x="260350" y="1339850"/>
              <a:ext cx="834504" cy="635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/>
            <p:cNvCxnSpPr/>
            <p:nvPr/>
          </p:nvCxnSpPr>
          <p:spPr>
            <a:xfrm flipH="1" flipV="1">
              <a:off x="184150" y="1403350"/>
              <a:ext cx="6350" cy="324842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Блок-схема: ИЛИ 74"/>
            <p:cNvSpPr/>
            <p:nvPr/>
          </p:nvSpPr>
          <p:spPr>
            <a:xfrm>
              <a:off x="476250" y="1416050"/>
              <a:ext cx="139700" cy="127000"/>
            </a:xfrm>
            <a:prstGeom prst="flowChar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cxnSp>
          <p:nvCxnSpPr>
            <p:cNvPr id="79" name="Прямая соединительная линия 78"/>
            <p:cNvCxnSpPr/>
            <p:nvPr/>
          </p:nvCxnSpPr>
          <p:spPr>
            <a:xfrm flipV="1">
              <a:off x="622300" y="1479550"/>
              <a:ext cx="840854" cy="6350"/>
            </a:xfrm>
            <a:prstGeom prst="line">
              <a:avLst/>
            </a:prstGeom>
            <a:ln w="12700"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flipV="1">
              <a:off x="546100" y="1543050"/>
              <a:ext cx="0" cy="185142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Прямоугольник 102"/>
            <p:cNvSpPr/>
            <p:nvPr/>
          </p:nvSpPr>
          <p:spPr>
            <a:xfrm>
              <a:off x="440938" y="1518780"/>
              <a:ext cx="1066800" cy="2135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8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(ha </a:t>
              </a:r>
              <a:r>
                <a:rPr lang="en-US" sz="800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biri</a:t>
              </a:r>
              <a:r>
                <a:rPr lang="en-US" sz="8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 </a:t>
              </a:r>
              <a:r>
                <a:rPr lang="en-US" sz="800" dirty="0" smtClean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4 </a:t>
              </a:r>
              <a:r>
                <a:rPr lang="en-US" sz="800" dirty="0" err="1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bitdan</a:t>
              </a:r>
              <a:r>
                <a:rPr lang="en-US" sz="800" dirty="0">
                  <a:solidFill>
                    <a:srgbClr val="000000"/>
                  </a:solidFill>
                  <a:effectLst/>
                  <a:latin typeface="Times New Roman"/>
                  <a:ea typeface="Times New Roman"/>
                </a:rPr>
                <a:t>)</a:t>
              </a:r>
              <a:endParaRPr lang="ru-RU" sz="1200" dirty="0">
                <a:effectLst/>
                <a:latin typeface="Times New Roman"/>
                <a:ea typeface="Times New Roman"/>
              </a:endParaRPr>
            </a:p>
          </p:txBody>
        </p:sp>
      </p:grpSp>
      <p:graphicFrame>
        <p:nvGraphicFramePr>
          <p:cNvPr id="108" name="Объект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930028"/>
              </p:ext>
            </p:extLst>
          </p:nvPr>
        </p:nvGraphicFramePr>
        <p:xfrm>
          <a:off x="7069420" y="2770583"/>
          <a:ext cx="155844" cy="25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1" name="Equation" r:id="rId6" imgW="152334" imgH="241195" progId="Equation.3">
                  <p:embed/>
                </p:oleObj>
              </mc:Choice>
              <mc:Fallback>
                <p:oleObj name="Equation" r:id="rId6" imgW="15233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420" y="2770583"/>
                        <a:ext cx="155844" cy="256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Объект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24559"/>
              </p:ext>
            </p:extLst>
          </p:nvPr>
        </p:nvGraphicFramePr>
        <p:xfrm>
          <a:off x="7427495" y="2738325"/>
          <a:ext cx="157411" cy="265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2" name="Equation" r:id="rId8" imgW="139700" imgH="228600" progId="Equation.3">
                  <p:embed/>
                </p:oleObj>
              </mc:Choice>
              <mc:Fallback>
                <p:oleObj name="Equation" r:id="rId8" imgW="139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495" y="2738325"/>
                        <a:ext cx="157411" cy="265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7" name="Picture 9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" t="4547" r="4186" b="50908"/>
          <a:stretch/>
        </p:blipFill>
        <p:spPr bwMode="auto">
          <a:xfrm>
            <a:off x="4017014" y="3081906"/>
            <a:ext cx="5025516" cy="274698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" t="41121" r="65652" b="2684"/>
          <a:stretch/>
        </p:blipFill>
        <p:spPr bwMode="auto">
          <a:xfrm>
            <a:off x="116702" y="3072387"/>
            <a:ext cx="3732966" cy="2756501"/>
          </a:xfrm>
          <a:prstGeom prst="rect">
            <a:avLst/>
          </a:prstGeom>
          <a:noFill/>
          <a:ln w="28575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9" t="28436" r="15099" b="64481"/>
          <a:stretch/>
        </p:blipFill>
        <p:spPr bwMode="auto">
          <a:xfrm>
            <a:off x="888162" y="2163491"/>
            <a:ext cx="1368152" cy="49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Прямоугольник 109"/>
          <p:cNvSpPr/>
          <p:nvPr/>
        </p:nvSpPr>
        <p:spPr>
          <a:xfrm>
            <a:off x="706428" y="1772816"/>
            <a:ext cx="180020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00FF"/>
                </a:solidFill>
              </a:rPr>
              <a:t>00110000</a:t>
            </a:r>
            <a:endParaRPr lang="ru-RU" sz="2000" b="1" dirty="0">
              <a:solidFill>
                <a:srgbClr val="0000FF"/>
              </a:solidFill>
            </a:endParaRPr>
          </a:p>
        </p:txBody>
      </p:sp>
      <p:sp>
        <p:nvSpPr>
          <p:cNvPr id="115" name="Прямоугольник 114"/>
          <p:cNvSpPr/>
          <p:nvPr/>
        </p:nvSpPr>
        <p:spPr>
          <a:xfrm>
            <a:off x="706428" y="2537098"/>
            <a:ext cx="180020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00100001</a:t>
            </a:r>
            <a:endParaRPr lang="ru-RU" sz="2000" b="1" dirty="0">
              <a:solidFill>
                <a:schemeClr val="tx1"/>
              </a:solidFill>
            </a:endParaRPr>
          </a:p>
        </p:txBody>
      </p:sp>
      <p:cxnSp>
        <p:nvCxnSpPr>
          <p:cNvPr id="112" name="Прямая соединительная линия 111"/>
          <p:cNvCxnSpPr/>
          <p:nvPr/>
        </p:nvCxnSpPr>
        <p:spPr>
          <a:xfrm>
            <a:off x="300668" y="4429110"/>
            <a:ext cx="1080120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единительная линия 113"/>
          <p:cNvCxnSpPr/>
          <p:nvPr/>
        </p:nvCxnSpPr>
        <p:spPr>
          <a:xfrm flipV="1">
            <a:off x="1549378" y="3273554"/>
            <a:ext cx="0" cy="1008112"/>
          </a:xfrm>
          <a:prstGeom prst="line">
            <a:avLst/>
          </a:prstGeom>
          <a:ln w="285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Овал 115"/>
          <p:cNvSpPr/>
          <p:nvPr/>
        </p:nvSpPr>
        <p:spPr>
          <a:xfrm>
            <a:off x="1369358" y="4258806"/>
            <a:ext cx="360040" cy="2880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1" name="Объект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416049"/>
              </p:ext>
            </p:extLst>
          </p:nvPr>
        </p:nvGraphicFramePr>
        <p:xfrm>
          <a:off x="1142901" y="1480290"/>
          <a:ext cx="332755" cy="50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3" name="Equation" r:id="rId12" imgW="164880" imgH="241200" progId="Equation.3">
                  <p:embed/>
                </p:oleObj>
              </mc:Choice>
              <mc:Fallback>
                <p:oleObj name="Equation" r:id="rId12" imgW="1648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01" y="1480290"/>
                        <a:ext cx="332755" cy="50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Объект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686895"/>
              </p:ext>
            </p:extLst>
          </p:nvPr>
        </p:nvGraphicFramePr>
        <p:xfrm>
          <a:off x="1718345" y="1501775"/>
          <a:ext cx="333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4" name="Equation" r:id="rId14" imgW="164880" imgH="228600" progId="Equation.3">
                  <p:embed/>
                </p:oleObj>
              </mc:Choice>
              <mc:Fallback>
                <p:oleObj name="Equation" r:id="rId14" imgW="164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345" y="1501775"/>
                        <a:ext cx="3333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7" name="Прямая соединительная линия 126"/>
          <p:cNvCxnSpPr/>
          <p:nvPr/>
        </p:nvCxnSpPr>
        <p:spPr>
          <a:xfrm>
            <a:off x="4120921" y="3696412"/>
            <a:ext cx="134368" cy="0"/>
          </a:xfrm>
          <a:prstGeom prst="line">
            <a:avLst/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единительная линия 127"/>
          <p:cNvCxnSpPr/>
          <p:nvPr/>
        </p:nvCxnSpPr>
        <p:spPr>
          <a:xfrm flipV="1">
            <a:off x="4390732" y="3273554"/>
            <a:ext cx="0" cy="302890"/>
          </a:xfrm>
          <a:prstGeom prst="line">
            <a:avLst/>
          </a:prstGeom>
          <a:ln w="31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Овал 128"/>
          <p:cNvSpPr/>
          <p:nvPr/>
        </p:nvSpPr>
        <p:spPr>
          <a:xfrm>
            <a:off x="4249574" y="3603847"/>
            <a:ext cx="282317" cy="17376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4" name="Овал 133"/>
          <p:cNvSpPr/>
          <p:nvPr/>
        </p:nvSpPr>
        <p:spPr>
          <a:xfrm>
            <a:off x="6753536" y="3609509"/>
            <a:ext cx="187419" cy="1590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5" name="Прямая соединительная линия 134"/>
          <p:cNvCxnSpPr/>
          <p:nvPr/>
        </p:nvCxnSpPr>
        <p:spPr>
          <a:xfrm flipV="1">
            <a:off x="6851802" y="3284984"/>
            <a:ext cx="0" cy="302890"/>
          </a:xfrm>
          <a:prstGeom prst="line">
            <a:avLst/>
          </a:prstGeom>
          <a:ln w="3175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48" name="Объект 20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047460"/>
              </p:ext>
            </p:extLst>
          </p:nvPr>
        </p:nvGraphicFramePr>
        <p:xfrm>
          <a:off x="596363" y="5911767"/>
          <a:ext cx="8087675" cy="825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5" name="Equation" r:id="rId16" imgW="5194080" imgH="533160" progId="Equation.3">
                  <p:embed/>
                </p:oleObj>
              </mc:Choice>
              <mc:Fallback>
                <p:oleObj name="Equation" r:id="rId16" imgW="519408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63" y="5911767"/>
                        <a:ext cx="8087675" cy="825301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" name="Прямоугольник 2048"/>
          <p:cNvSpPr/>
          <p:nvPr/>
        </p:nvSpPr>
        <p:spPr>
          <a:xfrm>
            <a:off x="3976286" y="2798032"/>
            <a:ext cx="739740" cy="3148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{03}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38" name="Прямоугольник 137"/>
          <p:cNvSpPr/>
          <p:nvPr/>
        </p:nvSpPr>
        <p:spPr>
          <a:xfrm>
            <a:off x="6485126" y="2771745"/>
            <a:ext cx="739740" cy="3148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{02}</a:t>
            </a:r>
            <a:endParaRPr lang="ru-RU" sz="2000" b="1" dirty="0">
              <a:solidFill>
                <a:schemeClr val="tx1"/>
              </a:solidFill>
            </a:endParaRPr>
          </a:p>
        </p:txBody>
      </p:sp>
      <p:cxnSp>
        <p:nvCxnSpPr>
          <p:cNvPr id="141" name="Прямая соединительная линия 140"/>
          <p:cNvCxnSpPr/>
          <p:nvPr/>
        </p:nvCxnSpPr>
        <p:spPr>
          <a:xfrm>
            <a:off x="7705690" y="6453336"/>
            <a:ext cx="99012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Прямоугольник 52"/>
          <p:cNvSpPr/>
          <p:nvPr/>
        </p:nvSpPr>
        <p:spPr>
          <a:xfrm>
            <a:off x="683568" y="1772816"/>
            <a:ext cx="180020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00FF"/>
                </a:solidFill>
              </a:rPr>
              <a:t>00110000</a:t>
            </a:r>
            <a:endParaRPr lang="ru-RU" sz="2000" b="1" dirty="0">
              <a:solidFill>
                <a:srgbClr val="0000FF"/>
              </a:solidFill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706428" y="2952750"/>
            <a:ext cx="1800200" cy="476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00100001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91379" y="1824102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0011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60257" y="2993129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0010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899592" y="1844824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0011</a:t>
            </a:r>
            <a:endParaRPr lang="ru-RU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6563377" y="3030629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0001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549378" y="1844824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0000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796035" y="5926420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0000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1547664" y="1844824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0000FF"/>
                </a:solidFill>
              </a:rPr>
              <a:t>0000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6792818" y="6288598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0000</a:t>
            </a:r>
            <a:endParaRPr lang="ru-RU" b="1" dirty="0">
              <a:solidFill>
                <a:srgbClr val="0000FF"/>
              </a:solidFill>
            </a:endParaRPr>
          </a:p>
        </p:txBody>
      </p:sp>
      <p:sp>
        <p:nvSpPr>
          <p:cNvPr id="66" name="Прямоугольник 65"/>
          <p:cNvSpPr/>
          <p:nvPr/>
        </p:nvSpPr>
        <p:spPr>
          <a:xfrm>
            <a:off x="7547188" y="6113110"/>
            <a:ext cx="12974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00100001</a:t>
            </a:r>
            <a:endParaRPr lang="ru-RU" b="1" dirty="0"/>
          </a:p>
        </p:txBody>
      </p:sp>
      <p:sp>
        <p:nvSpPr>
          <p:cNvPr id="68" name="Скругленный прямоугольник 67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87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96296E-6 L -0.15364 0.35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91" y="1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75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22222E-6 L 0.00139 -0.0597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07407E-6 L 0.32396 0.5956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98" y="2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10"/>
                            </p:stCondLst>
                            <p:childTnLst>
                              <p:par>
                                <p:cTn id="38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396 0.59561 L 0.31615 0.249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" y="-1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10"/>
                            </p:stCondLst>
                            <p:childTnLst>
                              <p:par>
                                <p:cTn id="4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10"/>
                            </p:stCondLst>
                            <p:childTnLst>
                              <p:par>
                                <p:cTn id="4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1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1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1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1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44444E-6 L 0.19566 0.43172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4" y="2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32309 0.6555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10"/>
                            </p:stCondLst>
                            <p:childTnLst>
                              <p:par>
                                <p:cTn id="70" presetID="6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309 0.65556 L 0.60659 0.2354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-2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1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1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10"/>
                            </p:stCondLst>
                            <p:childTnLst>
                              <p:par>
                                <p:cTn id="8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1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1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 L -0.07725 0.47569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72" y="2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33333E-6 L 0.37795 0.592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2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3783 0.6555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06" y="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9" grpId="0" animBg="1"/>
      <p:bldP spid="134" grpId="0" animBg="1"/>
      <p:bldP spid="53" grpId="0"/>
      <p:bldP spid="53" grpId="1"/>
      <p:bldP spid="54" grpId="0"/>
      <p:bldP spid="54" grpId="1"/>
      <p:bldP spid="2" grpId="0"/>
      <p:bldP spid="2" grpId="1"/>
      <p:bldP spid="2" grpId="2"/>
      <p:bldP spid="2" grpId="3"/>
      <p:bldP spid="3" grpId="0"/>
      <p:bldP spid="3" grpId="1"/>
      <p:bldP spid="58" grpId="0"/>
      <p:bldP spid="58" grpId="1"/>
      <p:bldP spid="58" grpId="2"/>
      <p:bldP spid="58" grpId="3"/>
      <p:bldP spid="63" grpId="0"/>
      <p:bldP spid="63" grpId="1"/>
      <p:bldP spid="7" grpId="0"/>
      <p:bldP spid="7" grpId="1"/>
      <p:bldP spid="7" grpId="2"/>
      <p:bldP spid="8" grpId="0"/>
      <p:bldP spid="64" grpId="0"/>
      <p:bldP spid="64" grpId="1"/>
      <p:bldP spid="64" grpId="2"/>
      <p:bldP spid="65" grpId="0"/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Прямоугольник 800"/>
          <p:cNvSpPr/>
          <p:nvPr/>
        </p:nvSpPr>
        <p:spPr>
          <a:xfrm>
            <a:off x="179512" y="203528"/>
            <a:ext cx="8712968" cy="495366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/>
          <p:cNvGrpSpPr>
            <a:grpSpLocks/>
          </p:cNvGrpSpPr>
          <p:nvPr/>
        </p:nvGrpSpPr>
        <p:grpSpPr bwMode="auto">
          <a:xfrm>
            <a:off x="324583" y="312375"/>
            <a:ext cx="8495889" cy="4844818"/>
            <a:chOff x="390" y="2061"/>
            <a:chExt cx="16104" cy="7173"/>
          </a:xfrm>
        </p:grpSpPr>
        <p:sp>
          <p:nvSpPr>
            <p:cNvPr id="7" name="Rectangle 980"/>
            <p:cNvSpPr>
              <a:spLocks noChangeArrowheads="1"/>
            </p:cNvSpPr>
            <p:nvPr/>
          </p:nvSpPr>
          <p:spPr bwMode="auto">
            <a:xfrm>
              <a:off x="474" y="5253"/>
              <a:ext cx="16020" cy="7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uz-Cyrl-UZ" dirty="0" smtClean="0">
                  <a:effectLst/>
                  <a:latin typeface="Times New Roman"/>
                  <a:ea typeface="Times New Roman"/>
                </a:rPr>
                <a:t>ShiftRows</a:t>
              </a:r>
              <a:r>
                <a:rPr lang="en-US" dirty="0" smtClean="0">
                  <a:effectLst/>
                  <a:latin typeface="Times New Roman"/>
                  <a:ea typeface="Times New Roman"/>
                </a:rPr>
                <a:t>()</a:t>
              </a:r>
              <a:r>
                <a:rPr lang="uz-Cyrl-UZ" dirty="0" smtClean="0">
                  <a:effectLst/>
                  <a:latin typeface="Times New Roman"/>
                  <a:ea typeface="Times New Roman"/>
                </a:rPr>
                <a:t> </a:t>
              </a:r>
              <a:endParaRPr lang="ru-RU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8" name="Rectangle 981"/>
            <p:cNvSpPr>
              <a:spLocks noChangeArrowheads="1"/>
            </p:cNvSpPr>
            <p:nvPr/>
          </p:nvSpPr>
          <p:spPr bwMode="auto">
            <a:xfrm>
              <a:off x="549" y="4244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9" name="Line 982"/>
            <p:cNvCxnSpPr/>
            <p:nvPr/>
          </p:nvCxnSpPr>
          <p:spPr bwMode="auto">
            <a:xfrm>
              <a:off x="651" y="3842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Line 983"/>
            <p:cNvCxnSpPr/>
            <p:nvPr/>
          </p:nvCxnSpPr>
          <p:spPr bwMode="auto">
            <a:xfrm>
              <a:off x="720" y="383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984"/>
            <p:cNvCxnSpPr/>
            <p:nvPr/>
          </p:nvCxnSpPr>
          <p:spPr bwMode="auto">
            <a:xfrm>
              <a:off x="845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985"/>
            <p:cNvCxnSpPr/>
            <p:nvPr/>
          </p:nvCxnSpPr>
          <p:spPr bwMode="auto">
            <a:xfrm>
              <a:off x="961" y="38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986"/>
            <p:cNvCxnSpPr/>
            <p:nvPr/>
          </p:nvCxnSpPr>
          <p:spPr bwMode="auto">
            <a:xfrm>
              <a:off x="1183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987"/>
            <p:cNvCxnSpPr/>
            <p:nvPr/>
          </p:nvCxnSpPr>
          <p:spPr bwMode="auto">
            <a:xfrm>
              <a:off x="1397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988"/>
            <p:cNvCxnSpPr/>
            <p:nvPr/>
          </p:nvCxnSpPr>
          <p:spPr bwMode="auto">
            <a:xfrm>
              <a:off x="1073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989"/>
            <p:cNvCxnSpPr/>
            <p:nvPr/>
          </p:nvCxnSpPr>
          <p:spPr bwMode="auto">
            <a:xfrm>
              <a:off x="1293" y="383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990"/>
            <p:cNvCxnSpPr/>
            <p:nvPr/>
          </p:nvCxnSpPr>
          <p:spPr bwMode="auto">
            <a:xfrm>
              <a:off x="590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991"/>
            <p:cNvCxnSpPr/>
            <p:nvPr/>
          </p:nvCxnSpPr>
          <p:spPr bwMode="auto">
            <a:xfrm>
              <a:off x="752" y="484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Line 992"/>
            <p:cNvCxnSpPr/>
            <p:nvPr/>
          </p:nvCxnSpPr>
          <p:spPr bwMode="auto">
            <a:xfrm>
              <a:off x="831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993"/>
            <p:cNvCxnSpPr/>
            <p:nvPr/>
          </p:nvCxnSpPr>
          <p:spPr bwMode="auto">
            <a:xfrm>
              <a:off x="947" y="4846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994"/>
            <p:cNvCxnSpPr/>
            <p:nvPr/>
          </p:nvCxnSpPr>
          <p:spPr bwMode="auto">
            <a:xfrm>
              <a:off x="1168" y="4851"/>
              <a:ext cx="0" cy="40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995"/>
            <p:cNvCxnSpPr/>
            <p:nvPr/>
          </p:nvCxnSpPr>
          <p:spPr bwMode="auto">
            <a:xfrm>
              <a:off x="1383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996"/>
            <p:cNvCxnSpPr/>
            <p:nvPr/>
          </p:nvCxnSpPr>
          <p:spPr bwMode="auto">
            <a:xfrm>
              <a:off x="1104" y="485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Line 997"/>
            <p:cNvCxnSpPr/>
            <p:nvPr/>
          </p:nvCxnSpPr>
          <p:spPr bwMode="auto">
            <a:xfrm>
              <a:off x="1278" y="4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998"/>
            <p:cNvSpPr>
              <a:spLocks noChangeArrowheads="1"/>
            </p:cNvSpPr>
            <p:nvPr/>
          </p:nvSpPr>
          <p:spPr bwMode="auto">
            <a:xfrm>
              <a:off x="1540" y="4253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2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26" name="Line 999"/>
            <p:cNvCxnSpPr/>
            <p:nvPr/>
          </p:nvCxnSpPr>
          <p:spPr bwMode="auto">
            <a:xfrm>
              <a:off x="1596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1000"/>
            <p:cNvCxnSpPr/>
            <p:nvPr/>
          </p:nvCxnSpPr>
          <p:spPr bwMode="auto">
            <a:xfrm>
              <a:off x="1711" y="384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1001"/>
            <p:cNvCxnSpPr/>
            <p:nvPr/>
          </p:nvCxnSpPr>
          <p:spPr bwMode="auto">
            <a:xfrm>
              <a:off x="1836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1002"/>
            <p:cNvCxnSpPr/>
            <p:nvPr/>
          </p:nvCxnSpPr>
          <p:spPr bwMode="auto">
            <a:xfrm>
              <a:off x="1952" y="384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1003"/>
            <p:cNvCxnSpPr/>
            <p:nvPr/>
          </p:nvCxnSpPr>
          <p:spPr bwMode="auto">
            <a:xfrm>
              <a:off x="2174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1004"/>
            <p:cNvCxnSpPr/>
            <p:nvPr/>
          </p:nvCxnSpPr>
          <p:spPr bwMode="auto">
            <a:xfrm>
              <a:off x="2388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Line 1005"/>
            <p:cNvCxnSpPr/>
            <p:nvPr/>
          </p:nvCxnSpPr>
          <p:spPr bwMode="auto">
            <a:xfrm>
              <a:off x="2064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1006"/>
            <p:cNvCxnSpPr/>
            <p:nvPr/>
          </p:nvCxnSpPr>
          <p:spPr bwMode="auto">
            <a:xfrm>
              <a:off x="2284" y="3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Line 1007"/>
            <p:cNvCxnSpPr/>
            <p:nvPr/>
          </p:nvCxnSpPr>
          <p:spPr bwMode="auto">
            <a:xfrm>
              <a:off x="1581" y="48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Line 1008"/>
            <p:cNvCxnSpPr/>
            <p:nvPr/>
          </p:nvCxnSpPr>
          <p:spPr bwMode="auto">
            <a:xfrm>
              <a:off x="1697" y="485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Line 1009"/>
            <p:cNvCxnSpPr/>
            <p:nvPr/>
          </p:nvCxnSpPr>
          <p:spPr bwMode="auto">
            <a:xfrm>
              <a:off x="1822" y="48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1010"/>
            <p:cNvCxnSpPr/>
            <p:nvPr/>
          </p:nvCxnSpPr>
          <p:spPr bwMode="auto">
            <a:xfrm>
              <a:off x="1938" y="4855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Line 1011"/>
            <p:cNvCxnSpPr/>
            <p:nvPr/>
          </p:nvCxnSpPr>
          <p:spPr bwMode="auto">
            <a:xfrm>
              <a:off x="2159" y="4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Line 1012"/>
            <p:cNvCxnSpPr/>
            <p:nvPr/>
          </p:nvCxnSpPr>
          <p:spPr bwMode="auto">
            <a:xfrm>
              <a:off x="2374" y="4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Line 1013"/>
            <p:cNvCxnSpPr/>
            <p:nvPr/>
          </p:nvCxnSpPr>
          <p:spPr bwMode="auto">
            <a:xfrm>
              <a:off x="2049" y="48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Line 1014"/>
            <p:cNvCxnSpPr/>
            <p:nvPr/>
          </p:nvCxnSpPr>
          <p:spPr bwMode="auto">
            <a:xfrm>
              <a:off x="2269" y="48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Rectangle 1015"/>
            <p:cNvSpPr>
              <a:spLocks noChangeArrowheads="1"/>
            </p:cNvSpPr>
            <p:nvPr/>
          </p:nvSpPr>
          <p:spPr bwMode="auto">
            <a:xfrm>
              <a:off x="2549" y="4261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dirty="0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 dirty="0">
                  <a:effectLst/>
                  <a:latin typeface="Times New Roman"/>
                  <a:ea typeface="Times New Roman"/>
                </a:rPr>
                <a:t>3</a:t>
              </a:r>
              <a:endParaRPr lang="ru-RU" dirty="0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 dirty="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43" name="Line 1016"/>
            <p:cNvCxnSpPr/>
            <p:nvPr/>
          </p:nvCxnSpPr>
          <p:spPr bwMode="auto">
            <a:xfrm>
              <a:off x="2605" y="3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1017"/>
            <p:cNvCxnSpPr/>
            <p:nvPr/>
          </p:nvCxnSpPr>
          <p:spPr bwMode="auto">
            <a:xfrm>
              <a:off x="2720" y="3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Line 1018"/>
            <p:cNvCxnSpPr/>
            <p:nvPr/>
          </p:nvCxnSpPr>
          <p:spPr bwMode="auto">
            <a:xfrm>
              <a:off x="2845" y="3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Line 1019"/>
            <p:cNvCxnSpPr/>
            <p:nvPr/>
          </p:nvCxnSpPr>
          <p:spPr bwMode="auto">
            <a:xfrm>
              <a:off x="2961" y="385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Line 1020"/>
            <p:cNvCxnSpPr/>
            <p:nvPr/>
          </p:nvCxnSpPr>
          <p:spPr bwMode="auto">
            <a:xfrm>
              <a:off x="3183" y="3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Line 1021"/>
            <p:cNvCxnSpPr/>
            <p:nvPr/>
          </p:nvCxnSpPr>
          <p:spPr bwMode="auto">
            <a:xfrm>
              <a:off x="3397" y="3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Line 1022"/>
            <p:cNvCxnSpPr/>
            <p:nvPr/>
          </p:nvCxnSpPr>
          <p:spPr bwMode="auto">
            <a:xfrm>
              <a:off x="3073" y="3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Line 1023"/>
            <p:cNvCxnSpPr/>
            <p:nvPr/>
          </p:nvCxnSpPr>
          <p:spPr bwMode="auto">
            <a:xfrm>
              <a:off x="3293" y="3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Line 1024"/>
            <p:cNvCxnSpPr/>
            <p:nvPr/>
          </p:nvCxnSpPr>
          <p:spPr bwMode="auto">
            <a:xfrm>
              <a:off x="2590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Line 1025"/>
            <p:cNvCxnSpPr/>
            <p:nvPr/>
          </p:nvCxnSpPr>
          <p:spPr bwMode="auto">
            <a:xfrm>
              <a:off x="2706" y="48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Line 1026"/>
            <p:cNvCxnSpPr/>
            <p:nvPr/>
          </p:nvCxnSpPr>
          <p:spPr bwMode="auto">
            <a:xfrm>
              <a:off x="2831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Line 1027"/>
            <p:cNvCxnSpPr/>
            <p:nvPr/>
          </p:nvCxnSpPr>
          <p:spPr bwMode="auto">
            <a:xfrm>
              <a:off x="2947" y="485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Line 1028"/>
            <p:cNvCxnSpPr/>
            <p:nvPr/>
          </p:nvCxnSpPr>
          <p:spPr bwMode="auto">
            <a:xfrm>
              <a:off x="3168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Line 1029"/>
            <p:cNvCxnSpPr/>
            <p:nvPr/>
          </p:nvCxnSpPr>
          <p:spPr bwMode="auto">
            <a:xfrm>
              <a:off x="3383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Line 1030"/>
            <p:cNvCxnSpPr/>
            <p:nvPr/>
          </p:nvCxnSpPr>
          <p:spPr bwMode="auto">
            <a:xfrm>
              <a:off x="3058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Line 1031"/>
            <p:cNvCxnSpPr/>
            <p:nvPr/>
          </p:nvCxnSpPr>
          <p:spPr bwMode="auto">
            <a:xfrm>
              <a:off x="3278" y="48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9" name="Rectangle 1032"/>
            <p:cNvSpPr>
              <a:spLocks noChangeArrowheads="1"/>
            </p:cNvSpPr>
            <p:nvPr/>
          </p:nvSpPr>
          <p:spPr bwMode="auto">
            <a:xfrm>
              <a:off x="3530" y="4244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4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60" name="Line 1033"/>
            <p:cNvCxnSpPr/>
            <p:nvPr/>
          </p:nvCxnSpPr>
          <p:spPr bwMode="auto">
            <a:xfrm>
              <a:off x="3586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Line 1034"/>
            <p:cNvCxnSpPr/>
            <p:nvPr/>
          </p:nvCxnSpPr>
          <p:spPr bwMode="auto">
            <a:xfrm>
              <a:off x="3701" y="383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Line 1035"/>
            <p:cNvCxnSpPr/>
            <p:nvPr/>
          </p:nvCxnSpPr>
          <p:spPr bwMode="auto">
            <a:xfrm>
              <a:off x="3826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Line 1036"/>
            <p:cNvCxnSpPr/>
            <p:nvPr/>
          </p:nvCxnSpPr>
          <p:spPr bwMode="auto">
            <a:xfrm>
              <a:off x="3942" y="38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Line 1037"/>
            <p:cNvCxnSpPr/>
            <p:nvPr/>
          </p:nvCxnSpPr>
          <p:spPr bwMode="auto">
            <a:xfrm>
              <a:off x="4164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Line 1038"/>
            <p:cNvCxnSpPr/>
            <p:nvPr/>
          </p:nvCxnSpPr>
          <p:spPr bwMode="auto">
            <a:xfrm>
              <a:off x="4378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Line 1039"/>
            <p:cNvCxnSpPr/>
            <p:nvPr/>
          </p:nvCxnSpPr>
          <p:spPr bwMode="auto">
            <a:xfrm>
              <a:off x="4054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Line 1040"/>
            <p:cNvCxnSpPr/>
            <p:nvPr/>
          </p:nvCxnSpPr>
          <p:spPr bwMode="auto">
            <a:xfrm>
              <a:off x="4274" y="383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Line 1041"/>
            <p:cNvCxnSpPr/>
            <p:nvPr/>
          </p:nvCxnSpPr>
          <p:spPr bwMode="auto">
            <a:xfrm>
              <a:off x="3571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Line 1042"/>
            <p:cNvCxnSpPr/>
            <p:nvPr/>
          </p:nvCxnSpPr>
          <p:spPr bwMode="auto">
            <a:xfrm>
              <a:off x="3687" y="484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Line 1043"/>
            <p:cNvCxnSpPr/>
            <p:nvPr/>
          </p:nvCxnSpPr>
          <p:spPr bwMode="auto">
            <a:xfrm>
              <a:off x="3812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Line 1044"/>
            <p:cNvCxnSpPr/>
            <p:nvPr/>
          </p:nvCxnSpPr>
          <p:spPr bwMode="auto">
            <a:xfrm>
              <a:off x="3928" y="4846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Line 1045"/>
            <p:cNvCxnSpPr/>
            <p:nvPr/>
          </p:nvCxnSpPr>
          <p:spPr bwMode="auto">
            <a:xfrm>
              <a:off x="4149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Line 1046"/>
            <p:cNvCxnSpPr/>
            <p:nvPr/>
          </p:nvCxnSpPr>
          <p:spPr bwMode="auto">
            <a:xfrm>
              <a:off x="4364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Line 1047"/>
            <p:cNvCxnSpPr/>
            <p:nvPr/>
          </p:nvCxnSpPr>
          <p:spPr bwMode="auto">
            <a:xfrm>
              <a:off x="4039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Line 1048"/>
            <p:cNvCxnSpPr/>
            <p:nvPr/>
          </p:nvCxnSpPr>
          <p:spPr bwMode="auto">
            <a:xfrm>
              <a:off x="4259" y="4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" name="Rectangle 1049"/>
            <p:cNvSpPr>
              <a:spLocks noChangeArrowheads="1"/>
            </p:cNvSpPr>
            <p:nvPr/>
          </p:nvSpPr>
          <p:spPr bwMode="auto">
            <a:xfrm>
              <a:off x="4536" y="4252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5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77" name="Line 1050"/>
            <p:cNvCxnSpPr/>
            <p:nvPr/>
          </p:nvCxnSpPr>
          <p:spPr bwMode="auto">
            <a:xfrm>
              <a:off x="4592" y="38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Line 1051"/>
            <p:cNvCxnSpPr/>
            <p:nvPr/>
          </p:nvCxnSpPr>
          <p:spPr bwMode="auto">
            <a:xfrm>
              <a:off x="4707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Line 1052"/>
            <p:cNvCxnSpPr/>
            <p:nvPr/>
          </p:nvCxnSpPr>
          <p:spPr bwMode="auto">
            <a:xfrm>
              <a:off x="4832" y="38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Line 1053"/>
            <p:cNvCxnSpPr/>
            <p:nvPr/>
          </p:nvCxnSpPr>
          <p:spPr bwMode="auto">
            <a:xfrm>
              <a:off x="4948" y="384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Line 1054"/>
            <p:cNvCxnSpPr/>
            <p:nvPr/>
          </p:nvCxnSpPr>
          <p:spPr bwMode="auto">
            <a:xfrm>
              <a:off x="5170" y="38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Line 1055"/>
            <p:cNvCxnSpPr/>
            <p:nvPr/>
          </p:nvCxnSpPr>
          <p:spPr bwMode="auto">
            <a:xfrm>
              <a:off x="5384" y="38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Line 1056"/>
            <p:cNvCxnSpPr/>
            <p:nvPr/>
          </p:nvCxnSpPr>
          <p:spPr bwMode="auto">
            <a:xfrm>
              <a:off x="5060" y="38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Line 1057"/>
            <p:cNvCxnSpPr/>
            <p:nvPr/>
          </p:nvCxnSpPr>
          <p:spPr bwMode="auto">
            <a:xfrm>
              <a:off x="5280" y="384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Line 1058"/>
            <p:cNvCxnSpPr/>
            <p:nvPr/>
          </p:nvCxnSpPr>
          <p:spPr bwMode="auto">
            <a:xfrm>
              <a:off x="4577" y="4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Line 1059"/>
            <p:cNvCxnSpPr/>
            <p:nvPr/>
          </p:nvCxnSpPr>
          <p:spPr bwMode="auto">
            <a:xfrm>
              <a:off x="4693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Line 1060"/>
            <p:cNvCxnSpPr/>
            <p:nvPr/>
          </p:nvCxnSpPr>
          <p:spPr bwMode="auto">
            <a:xfrm>
              <a:off x="4818" y="4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Line 1061"/>
            <p:cNvCxnSpPr/>
            <p:nvPr/>
          </p:nvCxnSpPr>
          <p:spPr bwMode="auto">
            <a:xfrm>
              <a:off x="4934" y="4853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Line 1062"/>
            <p:cNvCxnSpPr/>
            <p:nvPr/>
          </p:nvCxnSpPr>
          <p:spPr bwMode="auto">
            <a:xfrm>
              <a:off x="5155" y="4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Line 1063"/>
            <p:cNvCxnSpPr/>
            <p:nvPr/>
          </p:nvCxnSpPr>
          <p:spPr bwMode="auto">
            <a:xfrm>
              <a:off x="5370" y="4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Line 1064"/>
            <p:cNvCxnSpPr/>
            <p:nvPr/>
          </p:nvCxnSpPr>
          <p:spPr bwMode="auto">
            <a:xfrm>
              <a:off x="5045" y="485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Line 1065"/>
            <p:cNvCxnSpPr/>
            <p:nvPr/>
          </p:nvCxnSpPr>
          <p:spPr bwMode="auto">
            <a:xfrm>
              <a:off x="5265" y="48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3" name="Rectangle 1066"/>
            <p:cNvSpPr>
              <a:spLocks noChangeArrowheads="1"/>
            </p:cNvSpPr>
            <p:nvPr/>
          </p:nvSpPr>
          <p:spPr bwMode="auto">
            <a:xfrm>
              <a:off x="5515" y="4252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6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94" name="Line 1067"/>
            <p:cNvCxnSpPr/>
            <p:nvPr/>
          </p:nvCxnSpPr>
          <p:spPr bwMode="auto">
            <a:xfrm>
              <a:off x="5571" y="38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Line 1068"/>
            <p:cNvCxnSpPr/>
            <p:nvPr/>
          </p:nvCxnSpPr>
          <p:spPr bwMode="auto">
            <a:xfrm>
              <a:off x="5686" y="386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Line 1069"/>
            <p:cNvCxnSpPr/>
            <p:nvPr/>
          </p:nvCxnSpPr>
          <p:spPr bwMode="auto">
            <a:xfrm>
              <a:off x="5811" y="38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Line 1070"/>
            <p:cNvCxnSpPr/>
            <p:nvPr/>
          </p:nvCxnSpPr>
          <p:spPr bwMode="auto">
            <a:xfrm>
              <a:off x="5927" y="386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Line 1071"/>
            <p:cNvCxnSpPr/>
            <p:nvPr/>
          </p:nvCxnSpPr>
          <p:spPr bwMode="auto">
            <a:xfrm>
              <a:off x="6149" y="38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Line 1072"/>
            <p:cNvCxnSpPr/>
            <p:nvPr/>
          </p:nvCxnSpPr>
          <p:spPr bwMode="auto">
            <a:xfrm>
              <a:off x="6363" y="38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Line 1073"/>
            <p:cNvCxnSpPr/>
            <p:nvPr/>
          </p:nvCxnSpPr>
          <p:spPr bwMode="auto">
            <a:xfrm>
              <a:off x="6039" y="38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Line 1074"/>
            <p:cNvCxnSpPr/>
            <p:nvPr/>
          </p:nvCxnSpPr>
          <p:spPr bwMode="auto">
            <a:xfrm>
              <a:off x="6259" y="3866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Line 1075"/>
            <p:cNvCxnSpPr/>
            <p:nvPr/>
          </p:nvCxnSpPr>
          <p:spPr bwMode="auto">
            <a:xfrm>
              <a:off x="5556" y="48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Line 1076"/>
            <p:cNvCxnSpPr/>
            <p:nvPr/>
          </p:nvCxnSpPr>
          <p:spPr bwMode="auto">
            <a:xfrm>
              <a:off x="5672" y="487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Line 1077"/>
            <p:cNvCxnSpPr/>
            <p:nvPr/>
          </p:nvCxnSpPr>
          <p:spPr bwMode="auto">
            <a:xfrm>
              <a:off x="5797" y="48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Line 1078"/>
            <p:cNvCxnSpPr/>
            <p:nvPr/>
          </p:nvCxnSpPr>
          <p:spPr bwMode="auto">
            <a:xfrm>
              <a:off x="5913" y="484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Line 1079"/>
            <p:cNvCxnSpPr/>
            <p:nvPr/>
          </p:nvCxnSpPr>
          <p:spPr bwMode="auto">
            <a:xfrm>
              <a:off x="6134" y="48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Line 1080"/>
            <p:cNvCxnSpPr/>
            <p:nvPr/>
          </p:nvCxnSpPr>
          <p:spPr bwMode="auto">
            <a:xfrm>
              <a:off x="6349" y="4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Line 1081"/>
            <p:cNvCxnSpPr/>
            <p:nvPr/>
          </p:nvCxnSpPr>
          <p:spPr bwMode="auto">
            <a:xfrm>
              <a:off x="6024" y="4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Line 1082"/>
            <p:cNvCxnSpPr/>
            <p:nvPr/>
          </p:nvCxnSpPr>
          <p:spPr bwMode="auto">
            <a:xfrm>
              <a:off x="6244" y="485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" name="Rectangle 1083"/>
            <p:cNvSpPr>
              <a:spLocks noChangeArrowheads="1"/>
            </p:cNvSpPr>
            <p:nvPr/>
          </p:nvSpPr>
          <p:spPr bwMode="auto">
            <a:xfrm>
              <a:off x="752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8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111" name="Line 1084"/>
            <p:cNvCxnSpPr/>
            <p:nvPr/>
          </p:nvCxnSpPr>
          <p:spPr bwMode="auto">
            <a:xfrm>
              <a:off x="758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Line 1085"/>
            <p:cNvCxnSpPr/>
            <p:nvPr/>
          </p:nvCxnSpPr>
          <p:spPr bwMode="auto">
            <a:xfrm>
              <a:off x="769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Line 1086"/>
            <p:cNvCxnSpPr/>
            <p:nvPr/>
          </p:nvCxnSpPr>
          <p:spPr bwMode="auto">
            <a:xfrm>
              <a:off x="782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Line 1087"/>
            <p:cNvCxnSpPr/>
            <p:nvPr/>
          </p:nvCxnSpPr>
          <p:spPr bwMode="auto">
            <a:xfrm>
              <a:off x="793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Line 1088"/>
            <p:cNvCxnSpPr/>
            <p:nvPr/>
          </p:nvCxnSpPr>
          <p:spPr bwMode="auto">
            <a:xfrm>
              <a:off x="815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Line 1089"/>
            <p:cNvCxnSpPr/>
            <p:nvPr/>
          </p:nvCxnSpPr>
          <p:spPr bwMode="auto">
            <a:xfrm>
              <a:off x="837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Line 1090"/>
            <p:cNvCxnSpPr/>
            <p:nvPr/>
          </p:nvCxnSpPr>
          <p:spPr bwMode="auto">
            <a:xfrm>
              <a:off x="804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Line 1091"/>
            <p:cNvCxnSpPr/>
            <p:nvPr/>
          </p:nvCxnSpPr>
          <p:spPr bwMode="auto">
            <a:xfrm>
              <a:off x="826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Line 1092"/>
            <p:cNvCxnSpPr/>
            <p:nvPr/>
          </p:nvCxnSpPr>
          <p:spPr bwMode="auto">
            <a:xfrm>
              <a:off x="756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Line 1093"/>
            <p:cNvCxnSpPr/>
            <p:nvPr/>
          </p:nvCxnSpPr>
          <p:spPr bwMode="auto">
            <a:xfrm>
              <a:off x="768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Line 1094"/>
            <p:cNvCxnSpPr/>
            <p:nvPr/>
          </p:nvCxnSpPr>
          <p:spPr bwMode="auto">
            <a:xfrm>
              <a:off x="780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Line 1095"/>
            <p:cNvCxnSpPr/>
            <p:nvPr/>
          </p:nvCxnSpPr>
          <p:spPr bwMode="auto">
            <a:xfrm>
              <a:off x="792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Line 1096"/>
            <p:cNvCxnSpPr/>
            <p:nvPr/>
          </p:nvCxnSpPr>
          <p:spPr bwMode="auto">
            <a:xfrm>
              <a:off x="814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4" name="Line 1097"/>
            <p:cNvCxnSpPr/>
            <p:nvPr/>
          </p:nvCxnSpPr>
          <p:spPr bwMode="auto">
            <a:xfrm>
              <a:off x="835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Line 1098"/>
            <p:cNvCxnSpPr/>
            <p:nvPr/>
          </p:nvCxnSpPr>
          <p:spPr bwMode="auto">
            <a:xfrm>
              <a:off x="803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Line 1099"/>
            <p:cNvCxnSpPr/>
            <p:nvPr/>
          </p:nvCxnSpPr>
          <p:spPr bwMode="auto">
            <a:xfrm>
              <a:off x="825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7" name="Rectangle 1100"/>
            <p:cNvSpPr>
              <a:spLocks noChangeArrowheads="1"/>
            </p:cNvSpPr>
            <p:nvPr/>
          </p:nvSpPr>
          <p:spPr bwMode="auto">
            <a:xfrm>
              <a:off x="1551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16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128" name="Line 1101"/>
            <p:cNvCxnSpPr/>
            <p:nvPr/>
          </p:nvCxnSpPr>
          <p:spPr bwMode="auto">
            <a:xfrm>
              <a:off x="1557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Line 1102"/>
            <p:cNvCxnSpPr/>
            <p:nvPr/>
          </p:nvCxnSpPr>
          <p:spPr bwMode="auto">
            <a:xfrm>
              <a:off x="1568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Line 1103"/>
            <p:cNvCxnSpPr/>
            <p:nvPr/>
          </p:nvCxnSpPr>
          <p:spPr bwMode="auto">
            <a:xfrm>
              <a:off x="1581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Line 1104"/>
            <p:cNvCxnSpPr/>
            <p:nvPr/>
          </p:nvCxnSpPr>
          <p:spPr bwMode="auto">
            <a:xfrm>
              <a:off x="1592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2" name="Line 1105"/>
            <p:cNvCxnSpPr/>
            <p:nvPr/>
          </p:nvCxnSpPr>
          <p:spPr bwMode="auto">
            <a:xfrm>
              <a:off x="1614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Line 1106"/>
            <p:cNvCxnSpPr/>
            <p:nvPr/>
          </p:nvCxnSpPr>
          <p:spPr bwMode="auto">
            <a:xfrm>
              <a:off x="1636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Line 1107"/>
            <p:cNvCxnSpPr/>
            <p:nvPr/>
          </p:nvCxnSpPr>
          <p:spPr bwMode="auto">
            <a:xfrm>
              <a:off x="1603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Line 1108"/>
            <p:cNvCxnSpPr/>
            <p:nvPr/>
          </p:nvCxnSpPr>
          <p:spPr bwMode="auto">
            <a:xfrm>
              <a:off x="1625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Line 1109"/>
            <p:cNvCxnSpPr/>
            <p:nvPr/>
          </p:nvCxnSpPr>
          <p:spPr bwMode="auto">
            <a:xfrm>
              <a:off x="1555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Line 1110"/>
            <p:cNvCxnSpPr/>
            <p:nvPr/>
          </p:nvCxnSpPr>
          <p:spPr bwMode="auto">
            <a:xfrm>
              <a:off x="1567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Line 1111"/>
            <p:cNvCxnSpPr/>
            <p:nvPr/>
          </p:nvCxnSpPr>
          <p:spPr bwMode="auto">
            <a:xfrm>
              <a:off x="1579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Line 1112"/>
            <p:cNvCxnSpPr/>
            <p:nvPr/>
          </p:nvCxnSpPr>
          <p:spPr bwMode="auto">
            <a:xfrm>
              <a:off x="1591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Line 1113"/>
            <p:cNvCxnSpPr/>
            <p:nvPr/>
          </p:nvCxnSpPr>
          <p:spPr bwMode="auto">
            <a:xfrm>
              <a:off x="1613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Line 1114"/>
            <p:cNvCxnSpPr/>
            <p:nvPr/>
          </p:nvCxnSpPr>
          <p:spPr bwMode="auto">
            <a:xfrm>
              <a:off x="1634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Line 1115"/>
            <p:cNvCxnSpPr/>
            <p:nvPr/>
          </p:nvCxnSpPr>
          <p:spPr bwMode="auto">
            <a:xfrm>
              <a:off x="1602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Line 1116"/>
            <p:cNvCxnSpPr/>
            <p:nvPr/>
          </p:nvCxnSpPr>
          <p:spPr bwMode="auto">
            <a:xfrm>
              <a:off x="1624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4" name="Rectangle 1117"/>
            <p:cNvSpPr>
              <a:spLocks noChangeArrowheads="1"/>
            </p:cNvSpPr>
            <p:nvPr/>
          </p:nvSpPr>
          <p:spPr bwMode="auto">
            <a:xfrm>
              <a:off x="6524" y="4244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7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145" name="Line 1118"/>
            <p:cNvCxnSpPr/>
            <p:nvPr/>
          </p:nvCxnSpPr>
          <p:spPr bwMode="auto">
            <a:xfrm>
              <a:off x="6580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Line 1119"/>
            <p:cNvCxnSpPr/>
            <p:nvPr/>
          </p:nvCxnSpPr>
          <p:spPr bwMode="auto">
            <a:xfrm>
              <a:off x="6695" y="383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Line 1120"/>
            <p:cNvCxnSpPr/>
            <p:nvPr/>
          </p:nvCxnSpPr>
          <p:spPr bwMode="auto">
            <a:xfrm>
              <a:off x="6820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Line 1121"/>
            <p:cNvCxnSpPr/>
            <p:nvPr/>
          </p:nvCxnSpPr>
          <p:spPr bwMode="auto">
            <a:xfrm>
              <a:off x="6936" y="38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Line 1122"/>
            <p:cNvCxnSpPr/>
            <p:nvPr/>
          </p:nvCxnSpPr>
          <p:spPr bwMode="auto">
            <a:xfrm>
              <a:off x="7158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Line 1123"/>
            <p:cNvCxnSpPr/>
            <p:nvPr/>
          </p:nvCxnSpPr>
          <p:spPr bwMode="auto">
            <a:xfrm>
              <a:off x="7372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Line 1124"/>
            <p:cNvCxnSpPr/>
            <p:nvPr/>
          </p:nvCxnSpPr>
          <p:spPr bwMode="auto">
            <a:xfrm>
              <a:off x="7048" y="384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Line 1125"/>
            <p:cNvCxnSpPr/>
            <p:nvPr/>
          </p:nvCxnSpPr>
          <p:spPr bwMode="auto">
            <a:xfrm>
              <a:off x="7268" y="383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Line 1126"/>
            <p:cNvCxnSpPr/>
            <p:nvPr/>
          </p:nvCxnSpPr>
          <p:spPr bwMode="auto">
            <a:xfrm>
              <a:off x="6565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Line 1127"/>
            <p:cNvCxnSpPr/>
            <p:nvPr/>
          </p:nvCxnSpPr>
          <p:spPr bwMode="auto">
            <a:xfrm>
              <a:off x="6681" y="484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Line 1128"/>
            <p:cNvCxnSpPr/>
            <p:nvPr/>
          </p:nvCxnSpPr>
          <p:spPr bwMode="auto">
            <a:xfrm>
              <a:off x="6806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Line 1129"/>
            <p:cNvCxnSpPr/>
            <p:nvPr/>
          </p:nvCxnSpPr>
          <p:spPr bwMode="auto">
            <a:xfrm>
              <a:off x="6922" y="4846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Line 1130"/>
            <p:cNvCxnSpPr/>
            <p:nvPr/>
          </p:nvCxnSpPr>
          <p:spPr bwMode="auto">
            <a:xfrm>
              <a:off x="7143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Line 1131"/>
            <p:cNvCxnSpPr/>
            <p:nvPr/>
          </p:nvCxnSpPr>
          <p:spPr bwMode="auto">
            <a:xfrm>
              <a:off x="7358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" name="Line 1132"/>
            <p:cNvCxnSpPr/>
            <p:nvPr/>
          </p:nvCxnSpPr>
          <p:spPr bwMode="auto">
            <a:xfrm>
              <a:off x="7033" y="485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0" name="Line 1133"/>
            <p:cNvCxnSpPr/>
            <p:nvPr/>
          </p:nvCxnSpPr>
          <p:spPr bwMode="auto">
            <a:xfrm>
              <a:off x="7253" y="48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1" name="Rectangle 1134"/>
            <p:cNvSpPr>
              <a:spLocks noChangeArrowheads="1"/>
            </p:cNvSpPr>
            <p:nvPr/>
          </p:nvSpPr>
          <p:spPr bwMode="auto">
            <a:xfrm>
              <a:off x="1453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15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162" name="Line 1135"/>
            <p:cNvCxnSpPr/>
            <p:nvPr/>
          </p:nvCxnSpPr>
          <p:spPr bwMode="auto">
            <a:xfrm>
              <a:off x="1459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Line 1136"/>
            <p:cNvCxnSpPr/>
            <p:nvPr/>
          </p:nvCxnSpPr>
          <p:spPr bwMode="auto">
            <a:xfrm>
              <a:off x="1470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Line 1137"/>
            <p:cNvCxnSpPr/>
            <p:nvPr/>
          </p:nvCxnSpPr>
          <p:spPr bwMode="auto">
            <a:xfrm>
              <a:off x="1483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" name="Line 1138"/>
            <p:cNvCxnSpPr/>
            <p:nvPr/>
          </p:nvCxnSpPr>
          <p:spPr bwMode="auto">
            <a:xfrm>
              <a:off x="1494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6" name="Line 1139"/>
            <p:cNvCxnSpPr/>
            <p:nvPr/>
          </p:nvCxnSpPr>
          <p:spPr bwMode="auto">
            <a:xfrm>
              <a:off x="1516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7" name="Line 1140"/>
            <p:cNvCxnSpPr/>
            <p:nvPr/>
          </p:nvCxnSpPr>
          <p:spPr bwMode="auto">
            <a:xfrm>
              <a:off x="1538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8" name="Line 1141"/>
            <p:cNvCxnSpPr/>
            <p:nvPr/>
          </p:nvCxnSpPr>
          <p:spPr bwMode="auto">
            <a:xfrm>
              <a:off x="1505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9" name="Line 1142"/>
            <p:cNvCxnSpPr/>
            <p:nvPr/>
          </p:nvCxnSpPr>
          <p:spPr bwMode="auto">
            <a:xfrm>
              <a:off x="1527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" name="Line 1143"/>
            <p:cNvCxnSpPr/>
            <p:nvPr/>
          </p:nvCxnSpPr>
          <p:spPr bwMode="auto">
            <a:xfrm>
              <a:off x="1457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1" name="Line 1144"/>
            <p:cNvCxnSpPr/>
            <p:nvPr/>
          </p:nvCxnSpPr>
          <p:spPr bwMode="auto">
            <a:xfrm>
              <a:off x="1469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2" name="Line 1145"/>
            <p:cNvCxnSpPr/>
            <p:nvPr/>
          </p:nvCxnSpPr>
          <p:spPr bwMode="auto">
            <a:xfrm>
              <a:off x="1481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" name="Line 1146"/>
            <p:cNvCxnSpPr/>
            <p:nvPr/>
          </p:nvCxnSpPr>
          <p:spPr bwMode="auto">
            <a:xfrm>
              <a:off x="1493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" name="Line 1147"/>
            <p:cNvCxnSpPr/>
            <p:nvPr/>
          </p:nvCxnSpPr>
          <p:spPr bwMode="auto">
            <a:xfrm>
              <a:off x="1515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5" name="Line 1148"/>
            <p:cNvCxnSpPr/>
            <p:nvPr/>
          </p:nvCxnSpPr>
          <p:spPr bwMode="auto">
            <a:xfrm>
              <a:off x="1536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Line 1149"/>
            <p:cNvCxnSpPr/>
            <p:nvPr/>
          </p:nvCxnSpPr>
          <p:spPr bwMode="auto">
            <a:xfrm>
              <a:off x="1504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7" name="Line 1150"/>
            <p:cNvCxnSpPr/>
            <p:nvPr/>
          </p:nvCxnSpPr>
          <p:spPr bwMode="auto">
            <a:xfrm>
              <a:off x="1526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8" name="Rectangle 1151"/>
            <p:cNvSpPr>
              <a:spLocks noChangeArrowheads="1"/>
            </p:cNvSpPr>
            <p:nvPr/>
          </p:nvSpPr>
          <p:spPr bwMode="auto">
            <a:xfrm>
              <a:off x="1354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dirty="0" smtClean="0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 dirty="0" smtClean="0">
                  <a:effectLst/>
                  <a:latin typeface="Times New Roman"/>
                  <a:ea typeface="Times New Roman"/>
                </a:rPr>
                <a:t>14</a:t>
              </a:r>
              <a:endParaRPr lang="ru-RU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179" name="Line 1152"/>
            <p:cNvCxnSpPr/>
            <p:nvPr/>
          </p:nvCxnSpPr>
          <p:spPr bwMode="auto">
            <a:xfrm>
              <a:off x="1360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0" name="Line 1153"/>
            <p:cNvCxnSpPr/>
            <p:nvPr/>
          </p:nvCxnSpPr>
          <p:spPr bwMode="auto">
            <a:xfrm>
              <a:off x="1371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1" name="Line 1154"/>
            <p:cNvCxnSpPr/>
            <p:nvPr/>
          </p:nvCxnSpPr>
          <p:spPr bwMode="auto">
            <a:xfrm>
              <a:off x="1384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2" name="Line 1155"/>
            <p:cNvCxnSpPr/>
            <p:nvPr/>
          </p:nvCxnSpPr>
          <p:spPr bwMode="auto">
            <a:xfrm>
              <a:off x="1395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3" name="Line 1156"/>
            <p:cNvCxnSpPr/>
            <p:nvPr/>
          </p:nvCxnSpPr>
          <p:spPr bwMode="auto">
            <a:xfrm>
              <a:off x="1417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" name="Line 1157"/>
            <p:cNvCxnSpPr/>
            <p:nvPr/>
          </p:nvCxnSpPr>
          <p:spPr bwMode="auto">
            <a:xfrm>
              <a:off x="1439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" name="Line 1158"/>
            <p:cNvCxnSpPr/>
            <p:nvPr/>
          </p:nvCxnSpPr>
          <p:spPr bwMode="auto">
            <a:xfrm>
              <a:off x="1406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" name="Line 1159"/>
            <p:cNvCxnSpPr/>
            <p:nvPr/>
          </p:nvCxnSpPr>
          <p:spPr bwMode="auto">
            <a:xfrm>
              <a:off x="1428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7" name="Line 1160"/>
            <p:cNvCxnSpPr/>
            <p:nvPr/>
          </p:nvCxnSpPr>
          <p:spPr bwMode="auto">
            <a:xfrm>
              <a:off x="1358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8" name="Line 1161"/>
            <p:cNvCxnSpPr/>
            <p:nvPr/>
          </p:nvCxnSpPr>
          <p:spPr bwMode="auto">
            <a:xfrm>
              <a:off x="1370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9" name="Line 1162"/>
            <p:cNvCxnSpPr/>
            <p:nvPr/>
          </p:nvCxnSpPr>
          <p:spPr bwMode="auto">
            <a:xfrm>
              <a:off x="1382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0" name="Line 1163"/>
            <p:cNvCxnSpPr/>
            <p:nvPr/>
          </p:nvCxnSpPr>
          <p:spPr bwMode="auto">
            <a:xfrm>
              <a:off x="1394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1" name="Line 1164"/>
            <p:cNvCxnSpPr/>
            <p:nvPr/>
          </p:nvCxnSpPr>
          <p:spPr bwMode="auto">
            <a:xfrm>
              <a:off x="1416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" name="Line 1165"/>
            <p:cNvCxnSpPr/>
            <p:nvPr/>
          </p:nvCxnSpPr>
          <p:spPr bwMode="auto">
            <a:xfrm>
              <a:off x="1437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" name="Line 1166"/>
            <p:cNvCxnSpPr/>
            <p:nvPr/>
          </p:nvCxnSpPr>
          <p:spPr bwMode="auto">
            <a:xfrm>
              <a:off x="1405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" name="Line 1167"/>
            <p:cNvCxnSpPr/>
            <p:nvPr/>
          </p:nvCxnSpPr>
          <p:spPr bwMode="auto">
            <a:xfrm>
              <a:off x="1427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" name="Rectangle 1168"/>
            <p:cNvSpPr>
              <a:spLocks noChangeArrowheads="1"/>
            </p:cNvSpPr>
            <p:nvPr/>
          </p:nvSpPr>
          <p:spPr bwMode="auto">
            <a:xfrm>
              <a:off x="12549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13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196" name="Line 1169"/>
            <p:cNvCxnSpPr/>
            <p:nvPr/>
          </p:nvCxnSpPr>
          <p:spPr bwMode="auto">
            <a:xfrm>
              <a:off x="1260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Line 1170"/>
            <p:cNvCxnSpPr/>
            <p:nvPr/>
          </p:nvCxnSpPr>
          <p:spPr bwMode="auto">
            <a:xfrm>
              <a:off x="12720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8" name="Line 1171"/>
            <p:cNvCxnSpPr/>
            <p:nvPr/>
          </p:nvCxnSpPr>
          <p:spPr bwMode="auto">
            <a:xfrm>
              <a:off x="1284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9" name="Line 1172"/>
            <p:cNvCxnSpPr/>
            <p:nvPr/>
          </p:nvCxnSpPr>
          <p:spPr bwMode="auto">
            <a:xfrm>
              <a:off x="12961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0" name="Line 1173"/>
            <p:cNvCxnSpPr/>
            <p:nvPr/>
          </p:nvCxnSpPr>
          <p:spPr bwMode="auto">
            <a:xfrm>
              <a:off x="1318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1" name="Line 1174"/>
            <p:cNvCxnSpPr/>
            <p:nvPr/>
          </p:nvCxnSpPr>
          <p:spPr bwMode="auto">
            <a:xfrm>
              <a:off x="13397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2" name="Line 1175"/>
            <p:cNvCxnSpPr/>
            <p:nvPr/>
          </p:nvCxnSpPr>
          <p:spPr bwMode="auto">
            <a:xfrm>
              <a:off x="1307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3" name="Line 1176"/>
            <p:cNvCxnSpPr/>
            <p:nvPr/>
          </p:nvCxnSpPr>
          <p:spPr bwMode="auto">
            <a:xfrm>
              <a:off x="13293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" name="Line 1177"/>
            <p:cNvCxnSpPr/>
            <p:nvPr/>
          </p:nvCxnSpPr>
          <p:spPr bwMode="auto">
            <a:xfrm>
              <a:off x="12590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" name="Line 1178"/>
            <p:cNvCxnSpPr/>
            <p:nvPr/>
          </p:nvCxnSpPr>
          <p:spPr bwMode="auto">
            <a:xfrm>
              <a:off x="12706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6" name="Line 1179"/>
            <p:cNvCxnSpPr/>
            <p:nvPr/>
          </p:nvCxnSpPr>
          <p:spPr bwMode="auto">
            <a:xfrm>
              <a:off x="12831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7" name="Line 1180"/>
            <p:cNvCxnSpPr/>
            <p:nvPr/>
          </p:nvCxnSpPr>
          <p:spPr bwMode="auto">
            <a:xfrm>
              <a:off x="12947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8" name="Line 1181"/>
            <p:cNvCxnSpPr/>
            <p:nvPr/>
          </p:nvCxnSpPr>
          <p:spPr bwMode="auto">
            <a:xfrm>
              <a:off x="1316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9" name="Line 1182"/>
            <p:cNvCxnSpPr/>
            <p:nvPr/>
          </p:nvCxnSpPr>
          <p:spPr bwMode="auto">
            <a:xfrm>
              <a:off x="1338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0" name="Line 1183"/>
            <p:cNvCxnSpPr/>
            <p:nvPr/>
          </p:nvCxnSpPr>
          <p:spPr bwMode="auto">
            <a:xfrm>
              <a:off x="1305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" name="Line 1184"/>
            <p:cNvCxnSpPr/>
            <p:nvPr/>
          </p:nvCxnSpPr>
          <p:spPr bwMode="auto">
            <a:xfrm>
              <a:off x="13278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" name="Rectangle 1185"/>
            <p:cNvSpPr>
              <a:spLocks noChangeArrowheads="1"/>
            </p:cNvSpPr>
            <p:nvPr/>
          </p:nvSpPr>
          <p:spPr bwMode="auto">
            <a:xfrm>
              <a:off x="1154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12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213" name="Line 1186"/>
            <p:cNvCxnSpPr/>
            <p:nvPr/>
          </p:nvCxnSpPr>
          <p:spPr bwMode="auto">
            <a:xfrm>
              <a:off x="1160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" name="Line 1187"/>
            <p:cNvCxnSpPr/>
            <p:nvPr/>
          </p:nvCxnSpPr>
          <p:spPr bwMode="auto">
            <a:xfrm>
              <a:off x="1171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" name="Line 1188"/>
            <p:cNvCxnSpPr/>
            <p:nvPr/>
          </p:nvCxnSpPr>
          <p:spPr bwMode="auto">
            <a:xfrm>
              <a:off x="1184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6" name="Line 1189"/>
            <p:cNvCxnSpPr/>
            <p:nvPr/>
          </p:nvCxnSpPr>
          <p:spPr bwMode="auto">
            <a:xfrm>
              <a:off x="1195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7" name="Line 1190"/>
            <p:cNvCxnSpPr/>
            <p:nvPr/>
          </p:nvCxnSpPr>
          <p:spPr bwMode="auto">
            <a:xfrm>
              <a:off x="1217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8" name="Line 1191"/>
            <p:cNvCxnSpPr/>
            <p:nvPr/>
          </p:nvCxnSpPr>
          <p:spPr bwMode="auto">
            <a:xfrm>
              <a:off x="1239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9" name="Line 1192"/>
            <p:cNvCxnSpPr/>
            <p:nvPr/>
          </p:nvCxnSpPr>
          <p:spPr bwMode="auto">
            <a:xfrm>
              <a:off x="1206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0" name="Line 1193"/>
            <p:cNvCxnSpPr/>
            <p:nvPr/>
          </p:nvCxnSpPr>
          <p:spPr bwMode="auto">
            <a:xfrm>
              <a:off x="1228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1" name="Line 1194"/>
            <p:cNvCxnSpPr/>
            <p:nvPr/>
          </p:nvCxnSpPr>
          <p:spPr bwMode="auto">
            <a:xfrm>
              <a:off x="1158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2" name="Line 1195"/>
            <p:cNvCxnSpPr/>
            <p:nvPr/>
          </p:nvCxnSpPr>
          <p:spPr bwMode="auto">
            <a:xfrm>
              <a:off x="1170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3" name="Line 1196"/>
            <p:cNvCxnSpPr/>
            <p:nvPr/>
          </p:nvCxnSpPr>
          <p:spPr bwMode="auto">
            <a:xfrm>
              <a:off x="1182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4" name="Line 1197"/>
            <p:cNvCxnSpPr/>
            <p:nvPr/>
          </p:nvCxnSpPr>
          <p:spPr bwMode="auto">
            <a:xfrm>
              <a:off x="1194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" name="Line 1198"/>
            <p:cNvCxnSpPr/>
            <p:nvPr/>
          </p:nvCxnSpPr>
          <p:spPr bwMode="auto">
            <a:xfrm>
              <a:off x="1216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" name="Line 1199"/>
            <p:cNvCxnSpPr/>
            <p:nvPr/>
          </p:nvCxnSpPr>
          <p:spPr bwMode="auto">
            <a:xfrm>
              <a:off x="1237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7" name="Line 1200"/>
            <p:cNvCxnSpPr/>
            <p:nvPr/>
          </p:nvCxnSpPr>
          <p:spPr bwMode="auto">
            <a:xfrm>
              <a:off x="1205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8" name="Line 1201"/>
            <p:cNvCxnSpPr/>
            <p:nvPr/>
          </p:nvCxnSpPr>
          <p:spPr bwMode="auto">
            <a:xfrm>
              <a:off x="1227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9" name="Rectangle 1202"/>
            <p:cNvSpPr>
              <a:spLocks noChangeArrowheads="1"/>
            </p:cNvSpPr>
            <p:nvPr/>
          </p:nvSpPr>
          <p:spPr bwMode="auto">
            <a:xfrm>
              <a:off x="10514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11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230" name="Line 1203"/>
            <p:cNvCxnSpPr/>
            <p:nvPr/>
          </p:nvCxnSpPr>
          <p:spPr bwMode="auto">
            <a:xfrm>
              <a:off x="1057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1" name="Line 1204"/>
            <p:cNvCxnSpPr/>
            <p:nvPr/>
          </p:nvCxnSpPr>
          <p:spPr bwMode="auto">
            <a:xfrm>
              <a:off x="10685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2" name="Line 1205"/>
            <p:cNvCxnSpPr/>
            <p:nvPr/>
          </p:nvCxnSpPr>
          <p:spPr bwMode="auto">
            <a:xfrm>
              <a:off x="10810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3" name="Line 1206"/>
            <p:cNvCxnSpPr/>
            <p:nvPr/>
          </p:nvCxnSpPr>
          <p:spPr bwMode="auto">
            <a:xfrm>
              <a:off x="10926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4" name="Line 1207"/>
            <p:cNvCxnSpPr/>
            <p:nvPr/>
          </p:nvCxnSpPr>
          <p:spPr bwMode="auto">
            <a:xfrm>
              <a:off x="1114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" name="Line 1208"/>
            <p:cNvCxnSpPr/>
            <p:nvPr/>
          </p:nvCxnSpPr>
          <p:spPr bwMode="auto">
            <a:xfrm>
              <a:off x="11362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Line 1209"/>
            <p:cNvCxnSpPr/>
            <p:nvPr/>
          </p:nvCxnSpPr>
          <p:spPr bwMode="auto">
            <a:xfrm>
              <a:off x="11038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7" name="Line 1210"/>
            <p:cNvCxnSpPr/>
            <p:nvPr/>
          </p:nvCxnSpPr>
          <p:spPr bwMode="auto">
            <a:xfrm>
              <a:off x="11258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8" name="Line 1211"/>
            <p:cNvCxnSpPr/>
            <p:nvPr/>
          </p:nvCxnSpPr>
          <p:spPr bwMode="auto">
            <a:xfrm>
              <a:off x="10555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Line 1212"/>
            <p:cNvCxnSpPr/>
            <p:nvPr/>
          </p:nvCxnSpPr>
          <p:spPr bwMode="auto">
            <a:xfrm>
              <a:off x="10671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0" name="Line 1213"/>
            <p:cNvCxnSpPr/>
            <p:nvPr/>
          </p:nvCxnSpPr>
          <p:spPr bwMode="auto">
            <a:xfrm>
              <a:off x="10796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1" name="Line 1214"/>
            <p:cNvCxnSpPr/>
            <p:nvPr/>
          </p:nvCxnSpPr>
          <p:spPr bwMode="auto">
            <a:xfrm>
              <a:off x="10912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Line 1215"/>
            <p:cNvCxnSpPr/>
            <p:nvPr/>
          </p:nvCxnSpPr>
          <p:spPr bwMode="auto">
            <a:xfrm>
              <a:off x="1113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3" name="Line 1216"/>
            <p:cNvCxnSpPr/>
            <p:nvPr/>
          </p:nvCxnSpPr>
          <p:spPr bwMode="auto">
            <a:xfrm>
              <a:off x="1134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4" name="Line 1217"/>
            <p:cNvCxnSpPr/>
            <p:nvPr/>
          </p:nvCxnSpPr>
          <p:spPr bwMode="auto">
            <a:xfrm>
              <a:off x="1102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" name="Line 1218"/>
            <p:cNvCxnSpPr/>
            <p:nvPr/>
          </p:nvCxnSpPr>
          <p:spPr bwMode="auto">
            <a:xfrm>
              <a:off x="11243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" name="Rectangle 1219"/>
            <p:cNvSpPr>
              <a:spLocks noChangeArrowheads="1"/>
            </p:cNvSpPr>
            <p:nvPr/>
          </p:nvSpPr>
          <p:spPr bwMode="auto">
            <a:xfrm>
              <a:off x="9509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10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247" name="Line 1220"/>
            <p:cNvCxnSpPr/>
            <p:nvPr/>
          </p:nvCxnSpPr>
          <p:spPr bwMode="auto">
            <a:xfrm>
              <a:off x="956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8" name="Line 1221"/>
            <p:cNvCxnSpPr/>
            <p:nvPr/>
          </p:nvCxnSpPr>
          <p:spPr bwMode="auto">
            <a:xfrm>
              <a:off x="9680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9" name="Line 1222"/>
            <p:cNvCxnSpPr/>
            <p:nvPr/>
          </p:nvCxnSpPr>
          <p:spPr bwMode="auto">
            <a:xfrm>
              <a:off x="980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0" name="Line 1223"/>
            <p:cNvCxnSpPr/>
            <p:nvPr/>
          </p:nvCxnSpPr>
          <p:spPr bwMode="auto">
            <a:xfrm>
              <a:off x="9921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1" name="Line 1224"/>
            <p:cNvCxnSpPr/>
            <p:nvPr/>
          </p:nvCxnSpPr>
          <p:spPr bwMode="auto">
            <a:xfrm>
              <a:off x="1014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2" name="Line 1225"/>
            <p:cNvCxnSpPr/>
            <p:nvPr/>
          </p:nvCxnSpPr>
          <p:spPr bwMode="auto">
            <a:xfrm>
              <a:off x="10357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3" name="Line 1226"/>
            <p:cNvCxnSpPr/>
            <p:nvPr/>
          </p:nvCxnSpPr>
          <p:spPr bwMode="auto">
            <a:xfrm>
              <a:off x="1003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4" name="Line 1227"/>
            <p:cNvCxnSpPr/>
            <p:nvPr/>
          </p:nvCxnSpPr>
          <p:spPr bwMode="auto">
            <a:xfrm>
              <a:off x="10253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5" name="Line 1228"/>
            <p:cNvCxnSpPr/>
            <p:nvPr/>
          </p:nvCxnSpPr>
          <p:spPr bwMode="auto">
            <a:xfrm>
              <a:off x="9550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Line 1229"/>
            <p:cNvCxnSpPr/>
            <p:nvPr/>
          </p:nvCxnSpPr>
          <p:spPr bwMode="auto">
            <a:xfrm>
              <a:off x="9666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Line 1230"/>
            <p:cNvCxnSpPr/>
            <p:nvPr/>
          </p:nvCxnSpPr>
          <p:spPr bwMode="auto">
            <a:xfrm>
              <a:off x="9791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8" name="Line 1231"/>
            <p:cNvCxnSpPr/>
            <p:nvPr/>
          </p:nvCxnSpPr>
          <p:spPr bwMode="auto">
            <a:xfrm>
              <a:off x="9907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9" name="Line 1232"/>
            <p:cNvCxnSpPr/>
            <p:nvPr/>
          </p:nvCxnSpPr>
          <p:spPr bwMode="auto">
            <a:xfrm>
              <a:off x="1012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0" name="Line 1233"/>
            <p:cNvCxnSpPr/>
            <p:nvPr/>
          </p:nvCxnSpPr>
          <p:spPr bwMode="auto">
            <a:xfrm>
              <a:off x="1034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1" name="Line 1234"/>
            <p:cNvCxnSpPr/>
            <p:nvPr/>
          </p:nvCxnSpPr>
          <p:spPr bwMode="auto">
            <a:xfrm>
              <a:off x="1001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" name="Line 1235"/>
            <p:cNvCxnSpPr/>
            <p:nvPr/>
          </p:nvCxnSpPr>
          <p:spPr bwMode="auto">
            <a:xfrm>
              <a:off x="10238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3" name="Rectangle 1236"/>
            <p:cNvSpPr>
              <a:spLocks noChangeArrowheads="1"/>
            </p:cNvSpPr>
            <p:nvPr/>
          </p:nvSpPr>
          <p:spPr bwMode="auto">
            <a:xfrm>
              <a:off x="8529" y="4220"/>
              <a:ext cx="900" cy="6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S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9</a:t>
              </a:r>
              <a:endParaRPr lang="ru-RU">
                <a:effectLst/>
                <a:latin typeface="Times New Roman"/>
                <a:ea typeface="Times New Roman"/>
              </a:endParaRPr>
            </a:p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ru-RU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cxnSp>
          <p:nvCxnSpPr>
            <p:cNvPr id="264" name="Line 1237"/>
            <p:cNvCxnSpPr/>
            <p:nvPr/>
          </p:nvCxnSpPr>
          <p:spPr bwMode="auto">
            <a:xfrm>
              <a:off x="858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5" name="Line 1238"/>
            <p:cNvCxnSpPr/>
            <p:nvPr/>
          </p:nvCxnSpPr>
          <p:spPr bwMode="auto">
            <a:xfrm>
              <a:off x="8700" y="381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Line 1239"/>
            <p:cNvCxnSpPr/>
            <p:nvPr/>
          </p:nvCxnSpPr>
          <p:spPr bwMode="auto">
            <a:xfrm>
              <a:off x="8825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7" name="Line 1240"/>
            <p:cNvCxnSpPr/>
            <p:nvPr/>
          </p:nvCxnSpPr>
          <p:spPr bwMode="auto">
            <a:xfrm>
              <a:off x="8941" y="381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8" name="Line 1241"/>
            <p:cNvCxnSpPr/>
            <p:nvPr/>
          </p:nvCxnSpPr>
          <p:spPr bwMode="auto">
            <a:xfrm>
              <a:off x="916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9" name="Line 1242"/>
            <p:cNvCxnSpPr/>
            <p:nvPr/>
          </p:nvCxnSpPr>
          <p:spPr bwMode="auto">
            <a:xfrm>
              <a:off x="9377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0" name="Line 1243"/>
            <p:cNvCxnSpPr/>
            <p:nvPr/>
          </p:nvCxnSpPr>
          <p:spPr bwMode="auto">
            <a:xfrm>
              <a:off x="9053" y="381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1" name="Line 1244"/>
            <p:cNvCxnSpPr/>
            <p:nvPr/>
          </p:nvCxnSpPr>
          <p:spPr bwMode="auto">
            <a:xfrm>
              <a:off x="9273" y="381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2" name="Line 1245"/>
            <p:cNvCxnSpPr/>
            <p:nvPr/>
          </p:nvCxnSpPr>
          <p:spPr bwMode="auto">
            <a:xfrm>
              <a:off x="8570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3" name="Line 1246"/>
            <p:cNvCxnSpPr/>
            <p:nvPr/>
          </p:nvCxnSpPr>
          <p:spPr bwMode="auto">
            <a:xfrm>
              <a:off x="8686" y="481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4" name="Line 1247"/>
            <p:cNvCxnSpPr/>
            <p:nvPr/>
          </p:nvCxnSpPr>
          <p:spPr bwMode="auto">
            <a:xfrm>
              <a:off x="8811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5" name="Line 1248"/>
            <p:cNvCxnSpPr/>
            <p:nvPr/>
          </p:nvCxnSpPr>
          <p:spPr bwMode="auto">
            <a:xfrm>
              <a:off x="8927" y="4822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Line 1249"/>
            <p:cNvCxnSpPr/>
            <p:nvPr/>
          </p:nvCxnSpPr>
          <p:spPr bwMode="auto">
            <a:xfrm>
              <a:off x="914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" name="Line 1250"/>
            <p:cNvCxnSpPr/>
            <p:nvPr/>
          </p:nvCxnSpPr>
          <p:spPr bwMode="auto">
            <a:xfrm>
              <a:off x="9363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8" name="Line 1251"/>
            <p:cNvCxnSpPr/>
            <p:nvPr/>
          </p:nvCxnSpPr>
          <p:spPr bwMode="auto">
            <a:xfrm>
              <a:off x="9038" y="482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9" name="Line 1252"/>
            <p:cNvCxnSpPr/>
            <p:nvPr/>
          </p:nvCxnSpPr>
          <p:spPr bwMode="auto">
            <a:xfrm>
              <a:off x="9258" y="48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0" name="Rectangle 1253"/>
            <p:cNvSpPr>
              <a:spLocks noChangeArrowheads="1"/>
            </p:cNvSpPr>
            <p:nvPr/>
          </p:nvSpPr>
          <p:spPr bwMode="auto">
            <a:xfrm>
              <a:off x="464" y="3171"/>
              <a:ext cx="160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uz-Cyrl-UZ">
                  <a:effectLst/>
                  <a:latin typeface="Times New Roman"/>
                  <a:ea typeface="Times New Roman"/>
                </a:rPr>
                <a:t>0-</a:t>
              </a:r>
              <a:r>
                <a:rPr lang="en-US">
                  <a:effectLst/>
                  <a:latin typeface="Times New Roman"/>
                  <a:ea typeface="Times New Roman"/>
                </a:rPr>
                <a:t>raund kaliti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281" name="Rectangle 1254"/>
            <p:cNvSpPr>
              <a:spLocks noChangeArrowheads="1"/>
            </p:cNvSpPr>
            <p:nvPr/>
          </p:nvSpPr>
          <p:spPr bwMode="auto">
            <a:xfrm>
              <a:off x="429" y="2061"/>
              <a:ext cx="16020" cy="6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dirty="0" err="1">
                  <a:effectLst/>
                  <a:latin typeface="Times New Roman"/>
                  <a:ea typeface="Times New Roman"/>
                </a:rPr>
                <a:t>Ochiq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matn</a:t>
              </a:r>
              <a:endParaRPr lang="ru-RU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282" name="Line 1255"/>
            <p:cNvCxnSpPr/>
            <p:nvPr/>
          </p:nvCxnSpPr>
          <p:spPr bwMode="auto">
            <a:xfrm>
              <a:off x="675" y="2718"/>
              <a:ext cx="0" cy="459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Line 1256"/>
            <p:cNvCxnSpPr/>
            <p:nvPr/>
          </p:nvCxnSpPr>
          <p:spPr bwMode="auto">
            <a:xfrm>
              <a:off x="747" y="271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4" name="Line 1257"/>
            <p:cNvCxnSpPr/>
            <p:nvPr/>
          </p:nvCxnSpPr>
          <p:spPr bwMode="auto">
            <a:xfrm>
              <a:off x="872" y="2722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5" name="Line 1258"/>
            <p:cNvCxnSpPr/>
            <p:nvPr/>
          </p:nvCxnSpPr>
          <p:spPr bwMode="auto">
            <a:xfrm>
              <a:off x="988" y="2723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Line 1259"/>
            <p:cNvCxnSpPr/>
            <p:nvPr/>
          </p:nvCxnSpPr>
          <p:spPr bwMode="auto">
            <a:xfrm>
              <a:off x="1225" y="2718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" name="Line 1260"/>
            <p:cNvCxnSpPr/>
            <p:nvPr/>
          </p:nvCxnSpPr>
          <p:spPr bwMode="auto">
            <a:xfrm>
              <a:off x="1457" y="2726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" name="Line 1261"/>
            <p:cNvCxnSpPr/>
            <p:nvPr/>
          </p:nvCxnSpPr>
          <p:spPr bwMode="auto">
            <a:xfrm>
              <a:off x="1112" y="2718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9" name="Line 1262"/>
            <p:cNvCxnSpPr/>
            <p:nvPr/>
          </p:nvCxnSpPr>
          <p:spPr bwMode="auto">
            <a:xfrm>
              <a:off x="1344" y="2725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0" name="Line 1263"/>
            <p:cNvCxnSpPr/>
            <p:nvPr/>
          </p:nvCxnSpPr>
          <p:spPr bwMode="auto">
            <a:xfrm>
              <a:off x="1587" y="2721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1" name="Line 1264"/>
            <p:cNvCxnSpPr/>
            <p:nvPr/>
          </p:nvCxnSpPr>
          <p:spPr bwMode="auto">
            <a:xfrm>
              <a:off x="1702" y="2720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2" name="Line 1265"/>
            <p:cNvCxnSpPr/>
            <p:nvPr/>
          </p:nvCxnSpPr>
          <p:spPr bwMode="auto">
            <a:xfrm>
              <a:off x="1827" y="2718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3" name="Line 1266"/>
            <p:cNvCxnSpPr/>
            <p:nvPr/>
          </p:nvCxnSpPr>
          <p:spPr bwMode="auto">
            <a:xfrm>
              <a:off x="1955" y="275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4" name="Line 1267"/>
            <p:cNvCxnSpPr/>
            <p:nvPr/>
          </p:nvCxnSpPr>
          <p:spPr bwMode="auto">
            <a:xfrm>
              <a:off x="2201" y="27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5" name="Line 1268"/>
            <p:cNvCxnSpPr/>
            <p:nvPr/>
          </p:nvCxnSpPr>
          <p:spPr bwMode="auto">
            <a:xfrm>
              <a:off x="2451" y="27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6" name="Line 1269"/>
            <p:cNvCxnSpPr/>
            <p:nvPr/>
          </p:nvCxnSpPr>
          <p:spPr bwMode="auto">
            <a:xfrm>
              <a:off x="2079" y="27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" name="Line 1270"/>
            <p:cNvCxnSpPr/>
            <p:nvPr/>
          </p:nvCxnSpPr>
          <p:spPr bwMode="auto">
            <a:xfrm>
              <a:off x="2323" y="276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" name="Line 1271"/>
            <p:cNvCxnSpPr/>
            <p:nvPr/>
          </p:nvCxnSpPr>
          <p:spPr bwMode="auto">
            <a:xfrm>
              <a:off x="2582" y="27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" name="Line 1272"/>
            <p:cNvCxnSpPr/>
            <p:nvPr/>
          </p:nvCxnSpPr>
          <p:spPr bwMode="auto">
            <a:xfrm>
              <a:off x="2707" y="27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0" name="Line 1273"/>
            <p:cNvCxnSpPr/>
            <p:nvPr/>
          </p:nvCxnSpPr>
          <p:spPr bwMode="auto">
            <a:xfrm>
              <a:off x="2832" y="27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1" name="Line 1274"/>
            <p:cNvCxnSpPr/>
            <p:nvPr/>
          </p:nvCxnSpPr>
          <p:spPr bwMode="auto">
            <a:xfrm>
              <a:off x="2968" y="276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2" name="Line 1275"/>
            <p:cNvCxnSpPr/>
            <p:nvPr/>
          </p:nvCxnSpPr>
          <p:spPr bwMode="auto">
            <a:xfrm>
              <a:off x="3210" y="27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3" name="Line 1276"/>
            <p:cNvCxnSpPr/>
            <p:nvPr/>
          </p:nvCxnSpPr>
          <p:spPr bwMode="auto">
            <a:xfrm>
              <a:off x="3464" y="27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4" name="Line 1277"/>
            <p:cNvCxnSpPr/>
            <p:nvPr/>
          </p:nvCxnSpPr>
          <p:spPr bwMode="auto">
            <a:xfrm>
              <a:off x="3080" y="27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Line 1278"/>
            <p:cNvCxnSpPr/>
            <p:nvPr/>
          </p:nvCxnSpPr>
          <p:spPr bwMode="auto">
            <a:xfrm>
              <a:off x="3340" y="27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6" name="Line 1279"/>
            <p:cNvCxnSpPr/>
            <p:nvPr/>
          </p:nvCxnSpPr>
          <p:spPr bwMode="auto">
            <a:xfrm>
              <a:off x="3583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" name="Line 1280"/>
            <p:cNvCxnSpPr/>
            <p:nvPr/>
          </p:nvCxnSpPr>
          <p:spPr bwMode="auto">
            <a:xfrm>
              <a:off x="3718" y="275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" name="Line 1281"/>
            <p:cNvCxnSpPr/>
            <p:nvPr/>
          </p:nvCxnSpPr>
          <p:spPr bwMode="auto">
            <a:xfrm>
              <a:off x="3843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9" name="Line 1282"/>
            <p:cNvCxnSpPr/>
            <p:nvPr/>
          </p:nvCxnSpPr>
          <p:spPr bwMode="auto">
            <a:xfrm>
              <a:off x="3959" y="27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Line 1283"/>
            <p:cNvCxnSpPr/>
            <p:nvPr/>
          </p:nvCxnSpPr>
          <p:spPr bwMode="auto">
            <a:xfrm>
              <a:off x="4201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Line 1284"/>
            <p:cNvCxnSpPr/>
            <p:nvPr/>
          </p:nvCxnSpPr>
          <p:spPr bwMode="auto">
            <a:xfrm>
              <a:off x="445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" name="Line 1285"/>
            <p:cNvCxnSpPr/>
            <p:nvPr/>
          </p:nvCxnSpPr>
          <p:spPr bwMode="auto">
            <a:xfrm>
              <a:off x="4081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3" name="Line 1286"/>
            <p:cNvCxnSpPr/>
            <p:nvPr/>
          </p:nvCxnSpPr>
          <p:spPr bwMode="auto">
            <a:xfrm>
              <a:off x="4331" y="275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4" name="Line 1287"/>
            <p:cNvCxnSpPr/>
            <p:nvPr/>
          </p:nvCxnSpPr>
          <p:spPr bwMode="auto">
            <a:xfrm>
              <a:off x="4579" y="27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5" name="Line 1288"/>
            <p:cNvCxnSpPr/>
            <p:nvPr/>
          </p:nvCxnSpPr>
          <p:spPr bwMode="auto">
            <a:xfrm>
              <a:off x="4694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6" name="Line 1289"/>
            <p:cNvCxnSpPr/>
            <p:nvPr/>
          </p:nvCxnSpPr>
          <p:spPr bwMode="auto">
            <a:xfrm>
              <a:off x="4819" y="27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" name="Line 1290"/>
            <p:cNvCxnSpPr/>
            <p:nvPr/>
          </p:nvCxnSpPr>
          <p:spPr bwMode="auto">
            <a:xfrm>
              <a:off x="4945" y="275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8" name="Line 1291"/>
            <p:cNvCxnSpPr/>
            <p:nvPr/>
          </p:nvCxnSpPr>
          <p:spPr bwMode="auto">
            <a:xfrm>
              <a:off x="5197" y="27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9" name="Line 1292"/>
            <p:cNvCxnSpPr/>
            <p:nvPr/>
          </p:nvCxnSpPr>
          <p:spPr bwMode="auto">
            <a:xfrm>
              <a:off x="5451" y="27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0" name="Line 1293"/>
            <p:cNvCxnSpPr/>
            <p:nvPr/>
          </p:nvCxnSpPr>
          <p:spPr bwMode="auto">
            <a:xfrm>
              <a:off x="5077" y="27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1" name="Line 1294"/>
            <p:cNvCxnSpPr/>
            <p:nvPr/>
          </p:nvCxnSpPr>
          <p:spPr bwMode="auto">
            <a:xfrm>
              <a:off x="5327" y="275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2" name="Line 1295"/>
            <p:cNvCxnSpPr/>
            <p:nvPr/>
          </p:nvCxnSpPr>
          <p:spPr bwMode="auto">
            <a:xfrm>
              <a:off x="5578" y="276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3" name="Line 1296"/>
            <p:cNvCxnSpPr/>
            <p:nvPr/>
          </p:nvCxnSpPr>
          <p:spPr bwMode="auto">
            <a:xfrm>
              <a:off x="5693" y="277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4" name="Line 1297"/>
            <p:cNvCxnSpPr/>
            <p:nvPr/>
          </p:nvCxnSpPr>
          <p:spPr bwMode="auto">
            <a:xfrm>
              <a:off x="5828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5" name="Line 1298"/>
            <p:cNvCxnSpPr/>
            <p:nvPr/>
          </p:nvCxnSpPr>
          <p:spPr bwMode="auto">
            <a:xfrm>
              <a:off x="5944" y="27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6" name="Line 1299"/>
            <p:cNvCxnSpPr/>
            <p:nvPr/>
          </p:nvCxnSpPr>
          <p:spPr bwMode="auto">
            <a:xfrm>
              <a:off x="6186" y="27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" name="Line 1300"/>
            <p:cNvCxnSpPr/>
            <p:nvPr/>
          </p:nvCxnSpPr>
          <p:spPr bwMode="auto">
            <a:xfrm>
              <a:off x="6420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" name="Line 1301"/>
            <p:cNvCxnSpPr/>
            <p:nvPr/>
          </p:nvCxnSpPr>
          <p:spPr bwMode="auto">
            <a:xfrm>
              <a:off x="6066" y="277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9" name="Line 1302"/>
            <p:cNvCxnSpPr/>
            <p:nvPr/>
          </p:nvCxnSpPr>
          <p:spPr bwMode="auto">
            <a:xfrm>
              <a:off x="6306" y="276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0" name="Line 1303"/>
            <p:cNvCxnSpPr/>
            <p:nvPr/>
          </p:nvCxnSpPr>
          <p:spPr bwMode="auto">
            <a:xfrm>
              <a:off x="756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1" name="Line 1304"/>
            <p:cNvCxnSpPr/>
            <p:nvPr/>
          </p:nvCxnSpPr>
          <p:spPr bwMode="auto">
            <a:xfrm>
              <a:off x="769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2" name="Line 1305"/>
            <p:cNvCxnSpPr/>
            <p:nvPr/>
          </p:nvCxnSpPr>
          <p:spPr bwMode="auto">
            <a:xfrm>
              <a:off x="7827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3" name="Line 1306"/>
            <p:cNvCxnSpPr/>
            <p:nvPr/>
          </p:nvCxnSpPr>
          <p:spPr bwMode="auto">
            <a:xfrm>
              <a:off x="7953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Line 1307"/>
            <p:cNvCxnSpPr/>
            <p:nvPr/>
          </p:nvCxnSpPr>
          <p:spPr bwMode="auto">
            <a:xfrm>
              <a:off x="820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Line 1308"/>
            <p:cNvCxnSpPr/>
            <p:nvPr/>
          </p:nvCxnSpPr>
          <p:spPr bwMode="auto">
            <a:xfrm>
              <a:off x="8449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6" name="Line 1309"/>
            <p:cNvCxnSpPr/>
            <p:nvPr/>
          </p:nvCxnSpPr>
          <p:spPr bwMode="auto">
            <a:xfrm>
              <a:off x="807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7" name="Line 1310"/>
            <p:cNvCxnSpPr/>
            <p:nvPr/>
          </p:nvCxnSpPr>
          <p:spPr bwMode="auto">
            <a:xfrm>
              <a:off x="832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" name="Line 1311"/>
            <p:cNvCxnSpPr/>
            <p:nvPr/>
          </p:nvCxnSpPr>
          <p:spPr bwMode="auto">
            <a:xfrm>
              <a:off x="1558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9" name="Line 1312"/>
            <p:cNvCxnSpPr/>
            <p:nvPr/>
          </p:nvCxnSpPr>
          <p:spPr bwMode="auto">
            <a:xfrm>
              <a:off x="1570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0" name="Line 1313"/>
            <p:cNvCxnSpPr/>
            <p:nvPr/>
          </p:nvCxnSpPr>
          <p:spPr bwMode="auto">
            <a:xfrm>
              <a:off x="1581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1" name="Line 1314"/>
            <p:cNvCxnSpPr/>
            <p:nvPr/>
          </p:nvCxnSpPr>
          <p:spPr bwMode="auto">
            <a:xfrm>
              <a:off x="15923" y="27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2" name="Line 1315"/>
            <p:cNvCxnSpPr/>
            <p:nvPr/>
          </p:nvCxnSpPr>
          <p:spPr bwMode="auto">
            <a:xfrm>
              <a:off x="1615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3" name="Line 1316"/>
            <p:cNvCxnSpPr/>
            <p:nvPr/>
          </p:nvCxnSpPr>
          <p:spPr bwMode="auto">
            <a:xfrm>
              <a:off x="16389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4" name="Line 1317"/>
            <p:cNvCxnSpPr/>
            <p:nvPr/>
          </p:nvCxnSpPr>
          <p:spPr bwMode="auto">
            <a:xfrm>
              <a:off x="1603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5" name="Line 1318"/>
            <p:cNvCxnSpPr/>
            <p:nvPr/>
          </p:nvCxnSpPr>
          <p:spPr bwMode="auto">
            <a:xfrm>
              <a:off x="1626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6" name="Line 1319"/>
            <p:cNvCxnSpPr/>
            <p:nvPr/>
          </p:nvCxnSpPr>
          <p:spPr bwMode="auto">
            <a:xfrm>
              <a:off x="6557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7" name="Line 1320"/>
            <p:cNvCxnSpPr/>
            <p:nvPr/>
          </p:nvCxnSpPr>
          <p:spPr bwMode="auto">
            <a:xfrm>
              <a:off x="6692" y="2759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" name="Line 1321"/>
            <p:cNvCxnSpPr/>
            <p:nvPr/>
          </p:nvCxnSpPr>
          <p:spPr bwMode="auto">
            <a:xfrm>
              <a:off x="6827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9" name="Line 1322"/>
            <p:cNvCxnSpPr/>
            <p:nvPr/>
          </p:nvCxnSpPr>
          <p:spPr bwMode="auto">
            <a:xfrm>
              <a:off x="6953" y="27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0" name="Line 1323"/>
            <p:cNvCxnSpPr/>
            <p:nvPr/>
          </p:nvCxnSpPr>
          <p:spPr bwMode="auto">
            <a:xfrm>
              <a:off x="720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1" name="Line 1324"/>
            <p:cNvCxnSpPr/>
            <p:nvPr/>
          </p:nvCxnSpPr>
          <p:spPr bwMode="auto">
            <a:xfrm>
              <a:off x="7439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2" name="Line 1325"/>
            <p:cNvCxnSpPr/>
            <p:nvPr/>
          </p:nvCxnSpPr>
          <p:spPr bwMode="auto">
            <a:xfrm>
              <a:off x="707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3" name="Line 1326"/>
            <p:cNvCxnSpPr/>
            <p:nvPr/>
          </p:nvCxnSpPr>
          <p:spPr bwMode="auto">
            <a:xfrm>
              <a:off x="7315" y="275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4" name="Line 1327"/>
            <p:cNvCxnSpPr/>
            <p:nvPr/>
          </p:nvCxnSpPr>
          <p:spPr bwMode="auto">
            <a:xfrm>
              <a:off x="1458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5" name="Line 1328"/>
            <p:cNvCxnSpPr/>
            <p:nvPr/>
          </p:nvCxnSpPr>
          <p:spPr bwMode="auto">
            <a:xfrm>
              <a:off x="1472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6" name="Line 1329"/>
            <p:cNvCxnSpPr/>
            <p:nvPr/>
          </p:nvCxnSpPr>
          <p:spPr bwMode="auto">
            <a:xfrm>
              <a:off x="1484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7" name="Line 1330"/>
            <p:cNvCxnSpPr/>
            <p:nvPr/>
          </p:nvCxnSpPr>
          <p:spPr bwMode="auto">
            <a:xfrm>
              <a:off x="14973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" name="Line 1331"/>
            <p:cNvCxnSpPr/>
            <p:nvPr/>
          </p:nvCxnSpPr>
          <p:spPr bwMode="auto">
            <a:xfrm>
              <a:off x="15215" y="276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" name="Line 1332"/>
            <p:cNvCxnSpPr/>
            <p:nvPr/>
          </p:nvCxnSpPr>
          <p:spPr bwMode="auto">
            <a:xfrm>
              <a:off x="15469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0" name="Line 1333"/>
            <p:cNvCxnSpPr/>
            <p:nvPr/>
          </p:nvCxnSpPr>
          <p:spPr bwMode="auto">
            <a:xfrm>
              <a:off x="1509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1" name="Line 1334"/>
            <p:cNvCxnSpPr/>
            <p:nvPr/>
          </p:nvCxnSpPr>
          <p:spPr bwMode="auto">
            <a:xfrm>
              <a:off x="1534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2" name="Line 1335"/>
            <p:cNvCxnSpPr/>
            <p:nvPr/>
          </p:nvCxnSpPr>
          <p:spPr bwMode="auto">
            <a:xfrm>
              <a:off x="1361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3" name="Line 1336"/>
            <p:cNvCxnSpPr/>
            <p:nvPr/>
          </p:nvCxnSpPr>
          <p:spPr bwMode="auto">
            <a:xfrm>
              <a:off x="1374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4" name="Line 1337"/>
            <p:cNvCxnSpPr/>
            <p:nvPr/>
          </p:nvCxnSpPr>
          <p:spPr bwMode="auto">
            <a:xfrm>
              <a:off x="13867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5" name="Line 1338"/>
            <p:cNvCxnSpPr/>
            <p:nvPr/>
          </p:nvCxnSpPr>
          <p:spPr bwMode="auto">
            <a:xfrm>
              <a:off x="13983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6" name="Line 1339"/>
            <p:cNvCxnSpPr/>
            <p:nvPr/>
          </p:nvCxnSpPr>
          <p:spPr bwMode="auto">
            <a:xfrm>
              <a:off x="1422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7" name="Line 1340"/>
            <p:cNvCxnSpPr/>
            <p:nvPr/>
          </p:nvCxnSpPr>
          <p:spPr bwMode="auto">
            <a:xfrm>
              <a:off x="14469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" name="Line 1341"/>
            <p:cNvCxnSpPr/>
            <p:nvPr/>
          </p:nvCxnSpPr>
          <p:spPr bwMode="auto">
            <a:xfrm>
              <a:off x="1410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" name="Line 1342"/>
            <p:cNvCxnSpPr/>
            <p:nvPr/>
          </p:nvCxnSpPr>
          <p:spPr bwMode="auto">
            <a:xfrm>
              <a:off x="1434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" name="Line 1343"/>
            <p:cNvCxnSpPr/>
            <p:nvPr/>
          </p:nvCxnSpPr>
          <p:spPr bwMode="auto">
            <a:xfrm>
              <a:off x="12612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" name="Line 1344"/>
            <p:cNvCxnSpPr/>
            <p:nvPr/>
          </p:nvCxnSpPr>
          <p:spPr bwMode="auto">
            <a:xfrm>
              <a:off x="12747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" name="Line 1345"/>
            <p:cNvCxnSpPr/>
            <p:nvPr/>
          </p:nvCxnSpPr>
          <p:spPr bwMode="auto">
            <a:xfrm>
              <a:off x="12872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3" name="Line 1346"/>
            <p:cNvCxnSpPr/>
            <p:nvPr/>
          </p:nvCxnSpPr>
          <p:spPr bwMode="auto">
            <a:xfrm>
              <a:off x="12988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4" name="Line 1347"/>
            <p:cNvCxnSpPr/>
            <p:nvPr/>
          </p:nvCxnSpPr>
          <p:spPr bwMode="auto">
            <a:xfrm>
              <a:off x="13220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5" name="Line 1348"/>
            <p:cNvCxnSpPr/>
            <p:nvPr/>
          </p:nvCxnSpPr>
          <p:spPr bwMode="auto">
            <a:xfrm>
              <a:off x="13474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6" name="Line 1349"/>
            <p:cNvCxnSpPr/>
            <p:nvPr/>
          </p:nvCxnSpPr>
          <p:spPr bwMode="auto">
            <a:xfrm>
              <a:off x="13100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7" name="Line 1350"/>
            <p:cNvCxnSpPr/>
            <p:nvPr/>
          </p:nvCxnSpPr>
          <p:spPr bwMode="auto">
            <a:xfrm>
              <a:off x="13340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8" name="Line 1351"/>
            <p:cNvCxnSpPr/>
            <p:nvPr/>
          </p:nvCxnSpPr>
          <p:spPr bwMode="auto">
            <a:xfrm>
              <a:off x="11607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" name="Line 1352"/>
            <p:cNvCxnSpPr/>
            <p:nvPr/>
          </p:nvCxnSpPr>
          <p:spPr bwMode="auto">
            <a:xfrm>
              <a:off x="1173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0" name="Line 1353"/>
            <p:cNvCxnSpPr/>
            <p:nvPr/>
          </p:nvCxnSpPr>
          <p:spPr bwMode="auto">
            <a:xfrm>
              <a:off x="11867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1" name="Line 1354"/>
            <p:cNvCxnSpPr/>
            <p:nvPr/>
          </p:nvCxnSpPr>
          <p:spPr bwMode="auto">
            <a:xfrm>
              <a:off x="11983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2" name="Line 1355"/>
            <p:cNvCxnSpPr/>
            <p:nvPr/>
          </p:nvCxnSpPr>
          <p:spPr bwMode="auto">
            <a:xfrm>
              <a:off x="1222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3" name="Line 1356"/>
            <p:cNvCxnSpPr/>
            <p:nvPr/>
          </p:nvCxnSpPr>
          <p:spPr bwMode="auto">
            <a:xfrm>
              <a:off x="12479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4" name="Line 1357"/>
            <p:cNvCxnSpPr/>
            <p:nvPr/>
          </p:nvCxnSpPr>
          <p:spPr bwMode="auto">
            <a:xfrm>
              <a:off x="1210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5" name="Line 1358"/>
            <p:cNvCxnSpPr/>
            <p:nvPr/>
          </p:nvCxnSpPr>
          <p:spPr bwMode="auto">
            <a:xfrm>
              <a:off x="12355" y="275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6" name="Line 1359"/>
            <p:cNvCxnSpPr/>
            <p:nvPr/>
          </p:nvCxnSpPr>
          <p:spPr bwMode="auto">
            <a:xfrm>
              <a:off x="10577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7" name="Line 1360"/>
            <p:cNvCxnSpPr/>
            <p:nvPr/>
          </p:nvCxnSpPr>
          <p:spPr bwMode="auto">
            <a:xfrm>
              <a:off x="10702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8" name="Line 1361"/>
            <p:cNvCxnSpPr/>
            <p:nvPr/>
          </p:nvCxnSpPr>
          <p:spPr bwMode="auto">
            <a:xfrm>
              <a:off x="10837" y="27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" name="Line 1362"/>
            <p:cNvCxnSpPr/>
            <p:nvPr/>
          </p:nvCxnSpPr>
          <p:spPr bwMode="auto">
            <a:xfrm>
              <a:off x="10953" y="275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0" name="Line 1363"/>
            <p:cNvCxnSpPr/>
            <p:nvPr/>
          </p:nvCxnSpPr>
          <p:spPr bwMode="auto">
            <a:xfrm>
              <a:off x="1122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1" name="Line 1364"/>
            <p:cNvCxnSpPr/>
            <p:nvPr/>
          </p:nvCxnSpPr>
          <p:spPr bwMode="auto">
            <a:xfrm>
              <a:off x="11469" y="274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2" name="Line 1365"/>
            <p:cNvCxnSpPr/>
            <p:nvPr/>
          </p:nvCxnSpPr>
          <p:spPr bwMode="auto">
            <a:xfrm>
              <a:off x="11085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3" name="Line 1366"/>
            <p:cNvCxnSpPr/>
            <p:nvPr/>
          </p:nvCxnSpPr>
          <p:spPr bwMode="auto">
            <a:xfrm>
              <a:off x="11345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4" name="Line 1367"/>
            <p:cNvCxnSpPr/>
            <p:nvPr/>
          </p:nvCxnSpPr>
          <p:spPr bwMode="auto">
            <a:xfrm>
              <a:off x="9582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5" name="Line 1368"/>
            <p:cNvCxnSpPr/>
            <p:nvPr/>
          </p:nvCxnSpPr>
          <p:spPr bwMode="auto">
            <a:xfrm>
              <a:off x="9707" y="274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6" name="Line 1369"/>
            <p:cNvCxnSpPr/>
            <p:nvPr/>
          </p:nvCxnSpPr>
          <p:spPr bwMode="auto">
            <a:xfrm>
              <a:off x="9822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7" name="Line 1370"/>
            <p:cNvCxnSpPr/>
            <p:nvPr/>
          </p:nvCxnSpPr>
          <p:spPr bwMode="auto">
            <a:xfrm>
              <a:off x="9948" y="27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8" name="Line 1371"/>
            <p:cNvCxnSpPr/>
            <p:nvPr/>
          </p:nvCxnSpPr>
          <p:spPr bwMode="auto">
            <a:xfrm>
              <a:off x="10180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" name="Line 1372"/>
            <p:cNvCxnSpPr/>
            <p:nvPr/>
          </p:nvCxnSpPr>
          <p:spPr bwMode="auto">
            <a:xfrm>
              <a:off x="10444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0" name="Line 1373"/>
            <p:cNvCxnSpPr/>
            <p:nvPr/>
          </p:nvCxnSpPr>
          <p:spPr bwMode="auto">
            <a:xfrm>
              <a:off x="10060" y="274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1" name="Line 1374"/>
            <p:cNvCxnSpPr/>
            <p:nvPr/>
          </p:nvCxnSpPr>
          <p:spPr bwMode="auto">
            <a:xfrm>
              <a:off x="10310" y="274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2" name="Line 1375"/>
            <p:cNvCxnSpPr/>
            <p:nvPr/>
          </p:nvCxnSpPr>
          <p:spPr bwMode="auto">
            <a:xfrm>
              <a:off x="8572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3" name="Line 1376"/>
            <p:cNvCxnSpPr/>
            <p:nvPr/>
          </p:nvCxnSpPr>
          <p:spPr bwMode="auto">
            <a:xfrm>
              <a:off x="8717" y="274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4" name="Line 1377"/>
            <p:cNvCxnSpPr/>
            <p:nvPr/>
          </p:nvCxnSpPr>
          <p:spPr bwMode="auto">
            <a:xfrm>
              <a:off x="8842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5" name="Line 1378"/>
            <p:cNvCxnSpPr/>
            <p:nvPr/>
          </p:nvCxnSpPr>
          <p:spPr bwMode="auto">
            <a:xfrm>
              <a:off x="8978" y="27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6" name="Line 1379"/>
            <p:cNvCxnSpPr/>
            <p:nvPr/>
          </p:nvCxnSpPr>
          <p:spPr bwMode="auto">
            <a:xfrm>
              <a:off x="9210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7" name="Line 1380"/>
            <p:cNvCxnSpPr/>
            <p:nvPr/>
          </p:nvCxnSpPr>
          <p:spPr bwMode="auto">
            <a:xfrm>
              <a:off x="9454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8" name="Line 1381"/>
            <p:cNvCxnSpPr/>
            <p:nvPr/>
          </p:nvCxnSpPr>
          <p:spPr bwMode="auto">
            <a:xfrm>
              <a:off x="9090" y="275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" name="Line 1382"/>
            <p:cNvCxnSpPr/>
            <p:nvPr/>
          </p:nvCxnSpPr>
          <p:spPr bwMode="auto">
            <a:xfrm>
              <a:off x="9330" y="275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" name="Line 1384"/>
            <p:cNvCxnSpPr/>
            <p:nvPr/>
          </p:nvCxnSpPr>
          <p:spPr bwMode="auto">
            <a:xfrm>
              <a:off x="555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1" name="Line 1385"/>
            <p:cNvCxnSpPr/>
            <p:nvPr/>
          </p:nvCxnSpPr>
          <p:spPr bwMode="auto">
            <a:xfrm>
              <a:off x="670" y="705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2" name="Line 1386"/>
            <p:cNvCxnSpPr/>
            <p:nvPr/>
          </p:nvCxnSpPr>
          <p:spPr bwMode="auto">
            <a:xfrm>
              <a:off x="795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3" name="Line 1387"/>
            <p:cNvCxnSpPr/>
            <p:nvPr/>
          </p:nvCxnSpPr>
          <p:spPr bwMode="auto">
            <a:xfrm>
              <a:off x="911" y="706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4" name="Line 1388"/>
            <p:cNvCxnSpPr/>
            <p:nvPr/>
          </p:nvCxnSpPr>
          <p:spPr bwMode="auto">
            <a:xfrm>
              <a:off x="1133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5" name="Line 1389"/>
            <p:cNvCxnSpPr/>
            <p:nvPr/>
          </p:nvCxnSpPr>
          <p:spPr bwMode="auto">
            <a:xfrm>
              <a:off x="1347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6" name="Line 1390"/>
            <p:cNvCxnSpPr/>
            <p:nvPr/>
          </p:nvCxnSpPr>
          <p:spPr bwMode="auto">
            <a:xfrm>
              <a:off x="1023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7" name="Line 1391"/>
            <p:cNvCxnSpPr/>
            <p:nvPr/>
          </p:nvCxnSpPr>
          <p:spPr bwMode="auto">
            <a:xfrm>
              <a:off x="1243" y="7061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8" name="Line 1401"/>
            <p:cNvCxnSpPr/>
            <p:nvPr/>
          </p:nvCxnSpPr>
          <p:spPr bwMode="auto">
            <a:xfrm>
              <a:off x="1546" y="707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9" name="Line 1402"/>
            <p:cNvCxnSpPr/>
            <p:nvPr/>
          </p:nvCxnSpPr>
          <p:spPr bwMode="auto">
            <a:xfrm>
              <a:off x="1661" y="706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0" name="Line 1403"/>
            <p:cNvCxnSpPr/>
            <p:nvPr/>
          </p:nvCxnSpPr>
          <p:spPr bwMode="auto">
            <a:xfrm>
              <a:off x="1786" y="707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1" name="Line 1404"/>
            <p:cNvCxnSpPr/>
            <p:nvPr/>
          </p:nvCxnSpPr>
          <p:spPr bwMode="auto">
            <a:xfrm>
              <a:off x="1902" y="7069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2" name="Line 1405"/>
            <p:cNvCxnSpPr/>
            <p:nvPr/>
          </p:nvCxnSpPr>
          <p:spPr bwMode="auto">
            <a:xfrm>
              <a:off x="2124" y="7073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3" name="Line 1406"/>
            <p:cNvCxnSpPr/>
            <p:nvPr/>
          </p:nvCxnSpPr>
          <p:spPr bwMode="auto">
            <a:xfrm>
              <a:off x="2338" y="707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4" name="Line 1407"/>
            <p:cNvCxnSpPr/>
            <p:nvPr/>
          </p:nvCxnSpPr>
          <p:spPr bwMode="auto">
            <a:xfrm>
              <a:off x="2014" y="707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5" name="Line 1408"/>
            <p:cNvCxnSpPr/>
            <p:nvPr/>
          </p:nvCxnSpPr>
          <p:spPr bwMode="auto">
            <a:xfrm>
              <a:off x="2234" y="707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6" name="Line 1418"/>
            <p:cNvCxnSpPr/>
            <p:nvPr/>
          </p:nvCxnSpPr>
          <p:spPr bwMode="auto">
            <a:xfrm>
              <a:off x="2555" y="70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7" name="Line 1419"/>
            <p:cNvCxnSpPr/>
            <p:nvPr/>
          </p:nvCxnSpPr>
          <p:spPr bwMode="auto">
            <a:xfrm>
              <a:off x="2670" y="707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8" name="Line 1420"/>
            <p:cNvCxnSpPr/>
            <p:nvPr/>
          </p:nvCxnSpPr>
          <p:spPr bwMode="auto">
            <a:xfrm>
              <a:off x="2795" y="70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9" name="Line 1421"/>
            <p:cNvCxnSpPr/>
            <p:nvPr/>
          </p:nvCxnSpPr>
          <p:spPr bwMode="auto">
            <a:xfrm>
              <a:off x="2911" y="7077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0" name="Line 1422"/>
            <p:cNvCxnSpPr/>
            <p:nvPr/>
          </p:nvCxnSpPr>
          <p:spPr bwMode="auto">
            <a:xfrm>
              <a:off x="3133" y="7081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1" name="Line 1423"/>
            <p:cNvCxnSpPr/>
            <p:nvPr/>
          </p:nvCxnSpPr>
          <p:spPr bwMode="auto">
            <a:xfrm>
              <a:off x="3347" y="70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2" name="Line 1424"/>
            <p:cNvCxnSpPr/>
            <p:nvPr/>
          </p:nvCxnSpPr>
          <p:spPr bwMode="auto">
            <a:xfrm>
              <a:off x="3023" y="70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3" name="Line 1425"/>
            <p:cNvCxnSpPr/>
            <p:nvPr/>
          </p:nvCxnSpPr>
          <p:spPr bwMode="auto">
            <a:xfrm>
              <a:off x="3243" y="7078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4" name="Line 1435"/>
            <p:cNvCxnSpPr/>
            <p:nvPr/>
          </p:nvCxnSpPr>
          <p:spPr bwMode="auto">
            <a:xfrm>
              <a:off x="3536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5" name="Line 1436"/>
            <p:cNvCxnSpPr/>
            <p:nvPr/>
          </p:nvCxnSpPr>
          <p:spPr bwMode="auto">
            <a:xfrm>
              <a:off x="3651" y="705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6" name="Line 1437"/>
            <p:cNvCxnSpPr/>
            <p:nvPr/>
          </p:nvCxnSpPr>
          <p:spPr bwMode="auto">
            <a:xfrm>
              <a:off x="3776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7" name="Line 1438"/>
            <p:cNvCxnSpPr/>
            <p:nvPr/>
          </p:nvCxnSpPr>
          <p:spPr bwMode="auto">
            <a:xfrm>
              <a:off x="3892" y="706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8" name="Line 1439"/>
            <p:cNvCxnSpPr/>
            <p:nvPr/>
          </p:nvCxnSpPr>
          <p:spPr bwMode="auto">
            <a:xfrm>
              <a:off x="4114" y="7064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9" name="Line 1440"/>
            <p:cNvCxnSpPr/>
            <p:nvPr/>
          </p:nvCxnSpPr>
          <p:spPr bwMode="auto">
            <a:xfrm>
              <a:off x="4328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0" name="Line 1441"/>
            <p:cNvCxnSpPr/>
            <p:nvPr/>
          </p:nvCxnSpPr>
          <p:spPr bwMode="auto">
            <a:xfrm>
              <a:off x="4004" y="706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1" name="Line 1442"/>
            <p:cNvCxnSpPr/>
            <p:nvPr/>
          </p:nvCxnSpPr>
          <p:spPr bwMode="auto">
            <a:xfrm>
              <a:off x="4224" y="7061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2" name="Line 1452"/>
            <p:cNvCxnSpPr/>
            <p:nvPr/>
          </p:nvCxnSpPr>
          <p:spPr bwMode="auto">
            <a:xfrm>
              <a:off x="4542" y="707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3" name="Line 1453"/>
            <p:cNvCxnSpPr/>
            <p:nvPr/>
          </p:nvCxnSpPr>
          <p:spPr bwMode="auto">
            <a:xfrm>
              <a:off x="4657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4" name="Line 1454"/>
            <p:cNvCxnSpPr/>
            <p:nvPr/>
          </p:nvCxnSpPr>
          <p:spPr bwMode="auto">
            <a:xfrm>
              <a:off x="4782" y="707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Line 1455"/>
            <p:cNvCxnSpPr/>
            <p:nvPr/>
          </p:nvCxnSpPr>
          <p:spPr bwMode="auto">
            <a:xfrm>
              <a:off x="4898" y="706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Line 1456"/>
            <p:cNvCxnSpPr/>
            <p:nvPr/>
          </p:nvCxnSpPr>
          <p:spPr bwMode="auto">
            <a:xfrm>
              <a:off x="5120" y="707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Line 1457"/>
            <p:cNvCxnSpPr/>
            <p:nvPr/>
          </p:nvCxnSpPr>
          <p:spPr bwMode="auto">
            <a:xfrm>
              <a:off x="5334" y="707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8" name="Line 1458"/>
            <p:cNvCxnSpPr/>
            <p:nvPr/>
          </p:nvCxnSpPr>
          <p:spPr bwMode="auto">
            <a:xfrm>
              <a:off x="5010" y="7071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9" name="Line 1459"/>
            <p:cNvCxnSpPr/>
            <p:nvPr/>
          </p:nvCxnSpPr>
          <p:spPr bwMode="auto">
            <a:xfrm>
              <a:off x="5230" y="706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" name="Line 1469"/>
            <p:cNvCxnSpPr/>
            <p:nvPr/>
          </p:nvCxnSpPr>
          <p:spPr bwMode="auto">
            <a:xfrm>
              <a:off x="5521" y="709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" name="Line 1470"/>
            <p:cNvCxnSpPr/>
            <p:nvPr/>
          </p:nvCxnSpPr>
          <p:spPr bwMode="auto">
            <a:xfrm>
              <a:off x="5636" y="708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" name="Line 1471"/>
            <p:cNvCxnSpPr/>
            <p:nvPr/>
          </p:nvCxnSpPr>
          <p:spPr bwMode="auto">
            <a:xfrm>
              <a:off x="5761" y="709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3" name="Line 1472"/>
            <p:cNvCxnSpPr/>
            <p:nvPr/>
          </p:nvCxnSpPr>
          <p:spPr bwMode="auto">
            <a:xfrm>
              <a:off x="5877" y="708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4" name="Line 1473"/>
            <p:cNvCxnSpPr/>
            <p:nvPr/>
          </p:nvCxnSpPr>
          <p:spPr bwMode="auto">
            <a:xfrm>
              <a:off x="6099" y="709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5" name="Line 1474"/>
            <p:cNvCxnSpPr/>
            <p:nvPr/>
          </p:nvCxnSpPr>
          <p:spPr bwMode="auto">
            <a:xfrm>
              <a:off x="6313" y="709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6" name="Line 1475"/>
            <p:cNvCxnSpPr/>
            <p:nvPr/>
          </p:nvCxnSpPr>
          <p:spPr bwMode="auto">
            <a:xfrm>
              <a:off x="5989" y="709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7" name="Line 1476"/>
            <p:cNvCxnSpPr/>
            <p:nvPr/>
          </p:nvCxnSpPr>
          <p:spPr bwMode="auto">
            <a:xfrm>
              <a:off x="6209" y="7088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8" name="Line 1486"/>
            <p:cNvCxnSpPr/>
            <p:nvPr/>
          </p:nvCxnSpPr>
          <p:spPr bwMode="auto">
            <a:xfrm>
              <a:off x="753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9" name="Line 1487"/>
            <p:cNvCxnSpPr/>
            <p:nvPr/>
          </p:nvCxnSpPr>
          <p:spPr bwMode="auto">
            <a:xfrm>
              <a:off x="764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" name="Line 1488"/>
            <p:cNvCxnSpPr/>
            <p:nvPr/>
          </p:nvCxnSpPr>
          <p:spPr bwMode="auto">
            <a:xfrm>
              <a:off x="777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" name="Line 1489"/>
            <p:cNvCxnSpPr/>
            <p:nvPr/>
          </p:nvCxnSpPr>
          <p:spPr bwMode="auto">
            <a:xfrm>
              <a:off x="788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" name="Line 1490"/>
            <p:cNvCxnSpPr/>
            <p:nvPr/>
          </p:nvCxnSpPr>
          <p:spPr bwMode="auto">
            <a:xfrm>
              <a:off x="810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" name="Line 1491"/>
            <p:cNvCxnSpPr/>
            <p:nvPr/>
          </p:nvCxnSpPr>
          <p:spPr bwMode="auto">
            <a:xfrm>
              <a:off x="832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4" name="Line 1492"/>
            <p:cNvCxnSpPr/>
            <p:nvPr/>
          </p:nvCxnSpPr>
          <p:spPr bwMode="auto">
            <a:xfrm>
              <a:off x="799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5" name="Line 1493"/>
            <p:cNvCxnSpPr/>
            <p:nvPr/>
          </p:nvCxnSpPr>
          <p:spPr bwMode="auto">
            <a:xfrm>
              <a:off x="821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6" name="Line 1503"/>
            <p:cNvCxnSpPr/>
            <p:nvPr/>
          </p:nvCxnSpPr>
          <p:spPr bwMode="auto">
            <a:xfrm>
              <a:off x="1552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7" name="Line 1504"/>
            <p:cNvCxnSpPr/>
            <p:nvPr/>
          </p:nvCxnSpPr>
          <p:spPr bwMode="auto">
            <a:xfrm>
              <a:off x="1563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Line 1505"/>
            <p:cNvCxnSpPr/>
            <p:nvPr/>
          </p:nvCxnSpPr>
          <p:spPr bwMode="auto">
            <a:xfrm>
              <a:off x="1576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9" name="Line 1506"/>
            <p:cNvCxnSpPr/>
            <p:nvPr/>
          </p:nvCxnSpPr>
          <p:spPr bwMode="auto">
            <a:xfrm>
              <a:off x="1587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0" name="Line 1507"/>
            <p:cNvCxnSpPr/>
            <p:nvPr/>
          </p:nvCxnSpPr>
          <p:spPr bwMode="auto">
            <a:xfrm>
              <a:off x="1609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" name="Line 1508"/>
            <p:cNvCxnSpPr/>
            <p:nvPr/>
          </p:nvCxnSpPr>
          <p:spPr bwMode="auto">
            <a:xfrm>
              <a:off x="1631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" name="Line 1509"/>
            <p:cNvCxnSpPr/>
            <p:nvPr/>
          </p:nvCxnSpPr>
          <p:spPr bwMode="auto">
            <a:xfrm>
              <a:off x="1598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" name="Line 1510"/>
            <p:cNvCxnSpPr/>
            <p:nvPr/>
          </p:nvCxnSpPr>
          <p:spPr bwMode="auto">
            <a:xfrm>
              <a:off x="1620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4" name="Line 1520"/>
            <p:cNvCxnSpPr/>
            <p:nvPr/>
          </p:nvCxnSpPr>
          <p:spPr bwMode="auto">
            <a:xfrm>
              <a:off x="6530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5" name="Line 1521"/>
            <p:cNvCxnSpPr/>
            <p:nvPr/>
          </p:nvCxnSpPr>
          <p:spPr bwMode="auto">
            <a:xfrm>
              <a:off x="6645" y="70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6" name="Line 1522"/>
            <p:cNvCxnSpPr/>
            <p:nvPr/>
          </p:nvCxnSpPr>
          <p:spPr bwMode="auto">
            <a:xfrm>
              <a:off x="6770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7" name="Line 1523"/>
            <p:cNvCxnSpPr/>
            <p:nvPr/>
          </p:nvCxnSpPr>
          <p:spPr bwMode="auto">
            <a:xfrm>
              <a:off x="6886" y="70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8" name="Line 1524"/>
            <p:cNvCxnSpPr/>
            <p:nvPr/>
          </p:nvCxnSpPr>
          <p:spPr bwMode="auto">
            <a:xfrm>
              <a:off x="7108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9" name="Line 1525"/>
            <p:cNvCxnSpPr/>
            <p:nvPr/>
          </p:nvCxnSpPr>
          <p:spPr bwMode="auto">
            <a:xfrm>
              <a:off x="7322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0" name="Line 1526"/>
            <p:cNvCxnSpPr/>
            <p:nvPr/>
          </p:nvCxnSpPr>
          <p:spPr bwMode="auto">
            <a:xfrm>
              <a:off x="6998" y="706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1" name="Line 1527"/>
            <p:cNvCxnSpPr/>
            <p:nvPr/>
          </p:nvCxnSpPr>
          <p:spPr bwMode="auto">
            <a:xfrm>
              <a:off x="7218" y="706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2" name="Line 1537"/>
            <p:cNvCxnSpPr/>
            <p:nvPr/>
          </p:nvCxnSpPr>
          <p:spPr bwMode="auto">
            <a:xfrm>
              <a:off x="1454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3" name="Line 1538"/>
            <p:cNvCxnSpPr/>
            <p:nvPr/>
          </p:nvCxnSpPr>
          <p:spPr bwMode="auto">
            <a:xfrm>
              <a:off x="1465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4" name="Line 1539"/>
            <p:cNvCxnSpPr/>
            <p:nvPr/>
          </p:nvCxnSpPr>
          <p:spPr bwMode="auto">
            <a:xfrm>
              <a:off x="1478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5" name="Line 1540"/>
            <p:cNvCxnSpPr/>
            <p:nvPr/>
          </p:nvCxnSpPr>
          <p:spPr bwMode="auto">
            <a:xfrm>
              <a:off x="1489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6" name="Line 1541"/>
            <p:cNvCxnSpPr/>
            <p:nvPr/>
          </p:nvCxnSpPr>
          <p:spPr bwMode="auto">
            <a:xfrm>
              <a:off x="1511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7" name="Line 1542"/>
            <p:cNvCxnSpPr/>
            <p:nvPr/>
          </p:nvCxnSpPr>
          <p:spPr bwMode="auto">
            <a:xfrm>
              <a:off x="1533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8" name="Line 1543"/>
            <p:cNvCxnSpPr/>
            <p:nvPr/>
          </p:nvCxnSpPr>
          <p:spPr bwMode="auto">
            <a:xfrm>
              <a:off x="1500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9" name="Line 1544"/>
            <p:cNvCxnSpPr/>
            <p:nvPr/>
          </p:nvCxnSpPr>
          <p:spPr bwMode="auto">
            <a:xfrm>
              <a:off x="1522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0" name="Line 1554"/>
            <p:cNvCxnSpPr/>
            <p:nvPr/>
          </p:nvCxnSpPr>
          <p:spPr bwMode="auto">
            <a:xfrm>
              <a:off x="1355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" name="Line 1555"/>
            <p:cNvCxnSpPr/>
            <p:nvPr/>
          </p:nvCxnSpPr>
          <p:spPr bwMode="auto">
            <a:xfrm>
              <a:off x="1366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2" name="Line 1556"/>
            <p:cNvCxnSpPr/>
            <p:nvPr/>
          </p:nvCxnSpPr>
          <p:spPr bwMode="auto">
            <a:xfrm>
              <a:off x="1379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3" name="Line 1557"/>
            <p:cNvCxnSpPr/>
            <p:nvPr/>
          </p:nvCxnSpPr>
          <p:spPr bwMode="auto">
            <a:xfrm>
              <a:off x="1390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4" name="Line 1558"/>
            <p:cNvCxnSpPr/>
            <p:nvPr/>
          </p:nvCxnSpPr>
          <p:spPr bwMode="auto">
            <a:xfrm>
              <a:off x="1412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5" name="Line 1559"/>
            <p:cNvCxnSpPr/>
            <p:nvPr/>
          </p:nvCxnSpPr>
          <p:spPr bwMode="auto">
            <a:xfrm>
              <a:off x="1434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6" name="Line 1560"/>
            <p:cNvCxnSpPr/>
            <p:nvPr/>
          </p:nvCxnSpPr>
          <p:spPr bwMode="auto">
            <a:xfrm>
              <a:off x="1401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7" name="Line 1561"/>
            <p:cNvCxnSpPr/>
            <p:nvPr/>
          </p:nvCxnSpPr>
          <p:spPr bwMode="auto">
            <a:xfrm>
              <a:off x="1423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8" name="Line 1571"/>
            <p:cNvCxnSpPr/>
            <p:nvPr/>
          </p:nvCxnSpPr>
          <p:spPr bwMode="auto">
            <a:xfrm>
              <a:off x="1255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9" name="Line 1572"/>
            <p:cNvCxnSpPr/>
            <p:nvPr/>
          </p:nvCxnSpPr>
          <p:spPr bwMode="auto">
            <a:xfrm>
              <a:off x="12670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0" name="Line 1573"/>
            <p:cNvCxnSpPr/>
            <p:nvPr/>
          </p:nvCxnSpPr>
          <p:spPr bwMode="auto">
            <a:xfrm>
              <a:off x="1279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" name="Line 1574"/>
            <p:cNvCxnSpPr/>
            <p:nvPr/>
          </p:nvCxnSpPr>
          <p:spPr bwMode="auto">
            <a:xfrm>
              <a:off x="12911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" name="Line 1575"/>
            <p:cNvCxnSpPr/>
            <p:nvPr/>
          </p:nvCxnSpPr>
          <p:spPr bwMode="auto">
            <a:xfrm>
              <a:off x="1313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3" name="Line 1576"/>
            <p:cNvCxnSpPr/>
            <p:nvPr/>
          </p:nvCxnSpPr>
          <p:spPr bwMode="auto">
            <a:xfrm>
              <a:off x="13347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4" name="Line 1577"/>
            <p:cNvCxnSpPr/>
            <p:nvPr/>
          </p:nvCxnSpPr>
          <p:spPr bwMode="auto">
            <a:xfrm>
              <a:off x="1302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5" name="Line 1578"/>
            <p:cNvCxnSpPr/>
            <p:nvPr/>
          </p:nvCxnSpPr>
          <p:spPr bwMode="auto">
            <a:xfrm>
              <a:off x="13243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6" name="Line 1588"/>
            <p:cNvCxnSpPr/>
            <p:nvPr/>
          </p:nvCxnSpPr>
          <p:spPr bwMode="auto">
            <a:xfrm>
              <a:off x="1155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7" name="Line 1589"/>
            <p:cNvCxnSpPr/>
            <p:nvPr/>
          </p:nvCxnSpPr>
          <p:spPr bwMode="auto">
            <a:xfrm>
              <a:off x="1166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8" name="Line 1590"/>
            <p:cNvCxnSpPr/>
            <p:nvPr/>
          </p:nvCxnSpPr>
          <p:spPr bwMode="auto">
            <a:xfrm>
              <a:off x="1179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9" name="Line 1591"/>
            <p:cNvCxnSpPr/>
            <p:nvPr/>
          </p:nvCxnSpPr>
          <p:spPr bwMode="auto">
            <a:xfrm>
              <a:off x="1190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0" name="Line 1592"/>
            <p:cNvCxnSpPr/>
            <p:nvPr/>
          </p:nvCxnSpPr>
          <p:spPr bwMode="auto">
            <a:xfrm>
              <a:off x="1212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1" name="Line 1593"/>
            <p:cNvCxnSpPr/>
            <p:nvPr/>
          </p:nvCxnSpPr>
          <p:spPr bwMode="auto">
            <a:xfrm>
              <a:off x="1234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" name="Line 1594"/>
            <p:cNvCxnSpPr/>
            <p:nvPr/>
          </p:nvCxnSpPr>
          <p:spPr bwMode="auto">
            <a:xfrm>
              <a:off x="1201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" name="Line 1595"/>
            <p:cNvCxnSpPr/>
            <p:nvPr/>
          </p:nvCxnSpPr>
          <p:spPr bwMode="auto">
            <a:xfrm>
              <a:off x="1223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" name="Line 1605"/>
            <p:cNvCxnSpPr/>
            <p:nvPr/>
          </p:nvCxnSpPr>
          <p:spPr bwMode="auto">
            <a:xfrm>
              <a:off x="1052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5" name="Line 1606"/>
            <p:cNvCxnSpPr/>
            <p:nvPr/>
          </p:nvCxnSpPr>
          <p:spPr bwMode="auto">
            <a:xfrm>
              <a:off x="10635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6" name="Line 1607"/>
            <p:cNvCxnSpPr/>
            <p:nvPr/>
          </p:nvCxnSpPr>
          <p:spPr bwMode="auto">
            <a:xfrm>
              <a:off x="10760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7" name="Line 1608"/>
            <p:cNvCxnSpPr/>
            <p:nvPr/>
          </p:nvCxnSpPr>
          <p:spPr bwMode="auto">
            <a:xfrm>
              <a:off x="10876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8" name="Line 1609"/>
            <p:cNvCxnSpPr/>
            <p:nvPr/>
          </p:nvCxnSpPr>
          <p:spPr bwMode="auto">
            <a:xfrm>
              <a:off x="1109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9" name="Line 1610"/>
            <p:cNvCxnSpPr/>
            <p:nvPr/>
          </p:nvCxnSpPr>
          <p:spPr bwMode="auto">
            <a:xfrm>
              <a:off x="11312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0" name="Line 1611"/>
            <p:cNvCxnSpPr/>
            <p:nvPr/>
          </p:nvCxnSpPr>
          <p:spPr bwMode="auto">
            <a:xfrm>
              <a:off x="10988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1" name="Line 1612"/>
            <p:cNvCxnSpPr/>
            <p:nvPr/>
          </p:nvCxnSpPr>
          <p:spPr bwMode="auto">
            <a:xfrm>
              <a:off x="11208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" name="Line 1622"/>
            <p:cNvCxnSpPr/>
            <p:nvPr/>
          </p:nvCxnSpPr>
          <p:spPr bwMode="auto">
            <a:xfrm>
              <a:off x="951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" name="Line 1623"/>
            <p:cNvCxnSpPr/>
            <p:nvPr/>
          </p:nvCxnSpPr>
          <p:spPr bwMode="auto">
            <a:xfrm>
              <a:off x="9630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4" name="Line 1624"/>
            <p:cNvCxnSpPr/>
            <p:nvPr/>
          </p:nvCxnSpPr>
          <p:spPr bwMode="auto">
            <a:xfrm>
              <a:off x="975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5" name="Line 1625"/>
            <p:cNvCxnSpPr/>
            <p:nvPr/>
          </p:nvCxnSpPr>
          <p:spPr bwMode="auto">
            <a:xfrm>
              <a:off x="9871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6" name="Line 1626"/>
            <p:cNvCxnSpPr/>
            <p:nvPr/>
          </p:nvCxnSpPr>
          <p:spPr bwMode="auto">
            <a:xfrm>
              <a:off x="1009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7" name="Line 1627"/>
            <p:cNvCxnSpPr/>
            <p:nvPr/>
          </p:nvCxnSpPr>
          <p:spPr bwMode="auto">
            <a:xfrm>
              <a:off x="10307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8" name="Line 1628"/>
            <p:cNvCxnSpPr/>
            <p:nvPr/>
          </p:nvCxnSpPr>
          <p:spPr bwMode="auto">
            <a:xfrm>
              <a:off x="998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9" name="Line 1629"/>
            <p:cNvCxnSpPr/>
            <p:nvPr/>
          </p:nvCxnSpPr>
          <p:spPr bwMode="auto">
            <a:xfrm>
              <a:off x="10203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0" name="Line 1639"/>
            <p:cNvCxnSpPr/>
            <p:nvPr/>
          </p:nvCxnSpPr>
          <p:spPr bwMode="auto">
            <a:xfrm>
              <a:off x="853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1" name="Line 1640"/>
            <p:cNvCxnSpPr/>
            <p:nvPr/>
          </p:nvCxnSpPr>
          <p:spPr bwMode="auto">
            <a:xfrm>
              <a:off x="8650" y="703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" name="Line 1641"/>
            <p:cNvCxnSpPr/>
            <p:nvPr/>
          </p:nvCxnSpPr>
          <p:spPr bwMode="auto">
            <a:xfrm>
              <a:off x="8775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3" name="Line 1642"/>
            <p:cNvCxnSpPr/>
            <p:nvPr/>
          </p:nvCxnSpPr>
          <p:spPr bwMode="auto">
            <a:xfrm>
              <a:off x="8891" y="703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4" name="Line 1643"/>
            <p:cNvCxnSpPr/>
            <p:nvPr/>
          </p:nvCxnSpPr>
          <p:spPr bwMode="auto">
            <a:xfrm>
              <a:off x="911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5" name="Line 1644"/>
            <p:cNvCxnSpPr/>
            <p:nvPr/>
          </p:nvCxnSpPr>
          <p:spPr bwMode="auto">
            <a:xfrm>
              <a:off x="9327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6" name="Line 1645"/>
            <p:cNvCxnSpPr/>
            <p:nvPr/>
          </p:nvCxnSpPr>
          <p:spPr bwMode="auto">
            <a:xfrm>
              <a:off x="9003" y="704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7" name="Line 1646"/>
            <p:cNvCxnSpPr/>
            <p:nvPr/>
          </p:nvCxnSpPr>
          <p:spPr bwMode="auto">
            <a:xfrm>
              <a:off x="9223" y="70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8" name="Rectangle 1655"/>
            <p:cNvSpPr>
              <a:spLocks noChangeArrowheads="1"/>
            </p:cNvSpPr>
            <p:nvPr/>
          </p:nvSpPr>
          <p:spPr bwMode="auto">
            <a:xfrm>
              <a:off x="444" y="6393"/>
              <a:ext cx="39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P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1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539" name="Line 1656"/>
            <p:cNvCxnSpPr/>
            <p:nvPr/>
          </p:nvCxnSpPr>
          <p:spPr bwMode="auto">
            <a:xfrm>
              <a:off x="628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0" name="Line 1657"/>
            <p:cNvCxnSpPr/>
            <p:nvPr/>
          </p:nvCxnSpPr>
          <p:spPr bwMode="auto">
            <a:xfrm>
              <a:off x="743" y="59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1" name="Line 1658"/>
            <p:cNvCxnSpPr/>
            <p:nvPr/>
          </p:nvCxnSpPr>
          <p:spPr bwMode="auto">
            <a:xfrm>
              <a:off x="868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2" name="Line 1659"/>
            <p:cNvCxnSpPr/>
            <p:nvPr/>
          </p:nvCxnSpPr>
          <p:spPr bwMode="auto">
            <a:xfrm>
              <a:off x="984" y="597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3" name="Line 1660"/>
            <p:cNvCxnSpPr/>
            <p:nvPr/>
          </p:nvCxnSpPr>
          <p:spPr bwMode="auto">
            <a:xfrm>
              <a:off x="1218" y="5976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4" name="Line 1661"/>
            <p:cNvCxnSpPr/>
            <p:nvPr/>
          </p:nvCxnSpPr>
          <p:spPr bwMode="auto">
            <a:xfrm>
              <a:off x="1410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5" name="Line 1662"/>
            <p:cNvCxnSpPr/>
            <p:nvPr/>
          </p:nvCxnSpPr>
          <p:spPr bwMode="auto">
            <a:xfrm>
              <a:off x="1108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Line 1663"/>
            <p:cNvCxnSpPr/>
            <p:nvPr/>
          </p:nvCxnSpPr>
          <p:spPr bwMode="auto">
            <a:xfrm>
              <a:off x="1340" y="597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7" name="Line 1664"/>
            <p:cNvCxnSpPr/>
            <p:nvPr/>
          </p:nvCxnSpPr>
          <p:spPr bwMode="auto">
            <a:xfrm>
              <a:off x="1583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8" name="Line 1665"/>
            <p:cNvCxnSpPr/>
            <p:nvPr/>
          </p:nvCxnSpPr>
          <p:spPr bwMode="auto">
            <a:xfrm>
              <a:off x="1652" y="5977"/>
              <a:ext cx="0" cy="403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9" name="Line 1666"/>
            <p:cNvCxnSpPr/>
            <p:nvPr/>
          </p:nvCxnSpPr>
          <p:spPr bwMode="auto">
            <a:xfrm>
              <a:off x="1823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0" name="Line 1667"/>
            <p:cNvCxnSpPr/>
            <p:nvPr/>
          </p:nvCxnSpPr>
          <p:spPr bwMode="auto">
            <a:xfrm>
              <a:off x="1951" y="59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1" name="Line 1668"/>
            <p:cNvCxnSpPr/>
            <p:nvPr/>
          </p:nvCxnSpPr>
          <p:spPr bwMode="auto">
            <a:xfrm>
              <a:off x="2151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2" name="Line 1669"/>
            <p:cNvCxnSpPr/>
            <p:nvPr/>
          </p:nvCxnSpPr>
          <p:spPr bwMode="auto">
            <a:xfrm>
              <a:off x="2401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3" name="Line 1670"/>
            <p:cNvCxnSpPr/>
            <p:nvPr/>
          </p:nvCxnSpPr>
          <p:spPr bwMode="auto">
            <a:xfrm>
              <a:off x="2075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4" name="Line 1671"/>
            <p:cNvCxnSpPr/>
            <p:nvPr/>
          </p:nvCxnSpPr>
          <p:spPr bwMode="auto">
            <a:xfrm>
              <a:off x="2319" y="598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5" name="Line 1672"/>
            <p:cNvCxnSpPr/>
            <p:nvPr/>
          </p:nvCxnSpPr>
          <p:spPr bwMode="auto">
            <a:xfrm>
              <a:off x="2532" y="599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6" name="Line 1673"/>
            <p:cNvCxnSpPr/>
            <p:nvPr/>
          </p:nvCxnSpPr>
          <p:spPr bwMode="auto">
            <a:xfrm>
              <a:off x="2657" y="598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7" name="Line 1674"/>
            <p:cNvCxnSpPr/>
            <p:nvPr/>
          </p:nvCxnSpPr>
          <p:spPr bwMode="auto">
            <a:xfrm>
              <a:off x="2782" y="599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8" name="Line 1675"/>
            <p:cNvCxnSpPr/>
            <p:nvPr/>
          </p:nvCxnSpPr>
          <p:spPr bwMode="auto">
            <a:xfrm>
              <a:off x="2918" y="5989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9" name="Line 1676"/>
            <p:cNvCxnSpPr/>
            <p:nvPr/>
          </p:nvCxnSpPr>
          <p:spPr bwMode="auto">
            <a:xfrm>
              <a:off x="3160" y="599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0" name="Line 1677"/>
            <p:cNvCxnSpPr/>
            <p:nvPr/>
          </p:nvCxnSpPr>
          <p:spPr bwMode="auto">
            <a:xfrm>
              <a:off x="3414" y="599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1" name="Line 1678"/>
            <p:cNvCxnSpPr/>
            <p:nvPr/>
          </p:nvCxnSpPr>
          <p:spPr bwMode="auto">
            <a:xfrm>
              <a:off x="3030" y="599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2" name="Line 1679"/>
            <p:cNvCxnSpPr/>
            <p:nvPr/>
          </p:nvCxnSpPr>
          <p:spPr bwMode="auto">
            <a:xfrm>
              <a:off x="3290" y="599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3" name="Line 1680"/>
            <p:cNvCxnSpPr/>
            <p:nvPr/>
          </p:nvCxnSpPr>
          <p:spPr bwMode="auto">
            <a:xfrm>
              <a:off x="3533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4" name="Line 1681"/>
            <p:cNvCxnSpPr/>
            <p:nvPr/>
          </p:nvCxnSpPr>
          <p:spPr bwMode="auto">
            <a:xfrm>
              <a:off x="3668" y="5981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5" name="Line 1682"/>
            <p:cNvCxnSpPr/>
            <p:nvPr/>
          </p:nvCxnSpPr>
          <p:spPr bwMode="auto">
            <a:xfrm>
              <a:off x="3793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6" name="Line 1683"/>
            <p:cNvCxnSpPr/>
            <p:nvPr/>
          </p:nvCxnSpPr>
          <p:spPr bwMode="auto">
            <a:xfrm>
              <a:off x="3909" y="597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7" name="Line 1684"/>
            <p:cNvCxnSpPr/>
            <p:nvPr/>
          </p:nvCxnSpPr>
          <p:spPr bwMode="auto">
            <a:xfrm>
              <a:off x="4151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8" name="Line 1685"/>
            <p:cNvCxnSpPr/>
            <p:nvPr/>
          </p:nvCxnSpPr>
          <p:spPr bwMode="auto">
            <a:xfrm>
              <a:off x="4405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9" name="Line 1686"/>
            <p:cNvCxnSpPr/>
            <p:nvPr/>
          </p:nvCxnSpPr>
          <p:spPr bwMode="auto">
            <a:xfrm>
              <a:off x="4031" y="597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0" name="Line 1687"/>
            <p:cNvCxnSpPr/>
            <p:nvPr/>
          </p:nvCxnSpPr>
          <p:spPr bwMode="auto">
            <a:xfrm>
              <a:off x="4281" y="597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1" name="Line 1688"/>
            <p:cNvCxnSpPr/>
            <p:nvPr/>
          </p:nvCxnSpPr>
          <p:spPr bwMode="auto">
            <a:xfrm>
              <a:off x="4529" y="5984"/>
              <a:ext cx="0" cy="402"/>
            </a:xfrm>
            <a:prstGeom prst="line">
              <a:avLst/>
            </a:prstGeom>
            <a:ln w="9525"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2" name="Line 1689"/>
            <p:cNvCxnSpPr/>
            <p:nvPr/>
          </p:nvCxnSpPr>
          <p:spPr bwMode="auto">
            <a:xfrm>
              <a:off x="4644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" name="Line 1690"/>
            <p:cNvCxnSpPr/>
            <p:nvPr/>
          </p:nvCxnSpPr>
          <p:spPr bwMode="auto">
            <a:xfrm>
              <a:off x="4769" y="598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4" name="Line 1691"/>
            <p:cNvCxnSpPr/>
            <p:nvPr/>
          </p:nvCxnSpPr>
          <p:spPr bwMode="auto">
            <a:xfrm>
              <a:off x="4895" y="598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5" name="Line 1692"/>
            <p:cNvCxnSpPr/>
            <p:nvPr/>
          </p:nvCxnSpPr>
          <p:spPr bwMode="auto">
            <a:xfrm>
              <a:off x="5147" y="598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6" name="Line 1693"/>
            <p:cNvCxnSpPr/>
            <p:nvPr/>
          </p:nvCxnSpPr>
          <p:spPr bwMode="auto">
            <a:xfrm>
              <a:off x="5401" y="598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7" name="Line 1694"/>
            <p:cNvCxnSpPr/>
            <p:nvPr/>
          </p:nvCxnSpPr>
          <p:spPr bwMode="auto">
            <a:xfrm>
              <a:off x="5027" y="598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8" name="Line 1695"/>
            <p:cNvCxnSpPr/>
            <p:nvPr/>
          </p:nvCxnSpPr>
          <p:spPr bwMode="auto">
            <a:xfrm>
              <a:off x="5277" y="598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9" name="Line 1696"/>
            <p:cNvCxnSpPr/>
            <p:nvPr/>
          </p:nvCxnSpPr>
          <p:spPr bwMode="auto">
            <a:xfrm>
              <a:off x="5528" y="600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0" name="Line 1697"/>
            <p:cNvCxnSpPr/>
            <p:nvPr/>
          </p:nvCxnSpPr>
          <p:spPr bwMode="auto">
            <a:xfrm>
              <a:off x="5643" y="599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1" name="Line 1698"/>
            <p:cNvCxnSpPr/>
            <p:nvPr/>
          </p:nvCxnSpPr>
          <p:spPr bwMode="auto">
            <a:xfrm>
              <a:off x="5778" y="600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2" name="Line 1699"/>
            <p:cNvCxnSpPr/>
            <p:nvPr/>
          </p:nvCxnSpPr>
          <p:spPr bwMode="auto">
            <a:xfrm>
              <a:off x="5894" y="600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" name="Line 1700"/>
            <p:cNvCxnSpPr/>
            <p:nvPr/>
          </p:nvCxnSpPr>
          <p:spPr bwMode="auto">
            <a:xfrm>
              <a:off x="6136" y="600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4" name="Line 1701"/>
            <p:cNvCxnSpPr/>
            <p:nvPr/>
          </p:nvCxnSpPr>
          <p:spPr bwMode="auto">
            <a:xfrm>
              <a:off x="6370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5" name="Line 1702"/>
            <p:cNvCxnSpPr/>
            <p:nvPr/>
          </p:nvCxnSpPr>
          <p:spPr bwMode="auto">
            <a:xfrm>
              <a:off x="6016" y="600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6" name="Line 1703"/>
            <p:cNvCxnSpPr/>
            <p:nvPr/>
          </p:nvCxnSpPr>
          <p:spPr bwMode="auto">
            <a:xfrm>
              <a:off x="6256" y="60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7" name="Line 1704"/>
            <p:cNvCxnSpPr/>
            <p:nvPr/>
          </p:nvCxnSpPr>
          <p:spPr bwMode="auto">
            <a:xfrm>
              <a:off x="751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8" name="Line 1705"/>
            <p:cNvCxnSpPr/>
            <p:nvPr/>
          </p:nvCxnSpPr>
          <p:spPr bwMode="auto">
            <a:xfrm>
              <a:off x="764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9" name="Line 1706"/>
            <p:cNvCxnSpPr/>
            <p:nvPr/>
          </p:nvCxnSpPr>
          <p:spPr bwMode="auto">
            <a:xfrm>
              <a:off x="7777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0" name="Line 1707"/>
            <p:cNvCxnSpPr/>
            <p:nvPr/>
          </p:nvCxnSpPr>
          <p:spPr bwMode="auto">
            <a:xfrm>
              <a:off x="7903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1" name="Line 1708"/>
            <p:cNvCxnSpPr/>
            <p:nvPr/>
          </p:nvCxnSpPr>
          <p:spPr bwMode="auto">
            <a:xfrm>
              <a:off x="815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2" name="Line 1709"/>
            <p:cNvCxnSpPr/>
            <p:nvPr/>
          </p:nvCxnSpPr>
          <p:spPr bwMode="auto">
            <a:xfrm>
              <a:off x="8399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3" name="Line 1710"/>
            <p:cNvCxnSpPr/>
            <p:nvPr/>
          </p:nvCxnSpPr>
          <p:spPr bwMode="auto">
            <a:xfrm>
              <a:off x="802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" name="Line 1711"/>
            <p:cNvCxnSpPr/>
            <p:nvPr/>
          </p:nvCxnSpPr>
          <p:spPr bwMode="auto">
            <a:xfrm>
              <a:off x="827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5" name="Line 1712"/>
            <p:cNvCxnSpPr/>
            <p:nvPr/>
          </p:nvCxnSpPr>
          <p:spPr bwMode="auto">
            <a:xfrm>
              <a:off x="1553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6" name="Line 1713"/>
            <p:cNvCxnSpPr/>
            <p:nvPr/>
          </p:nvCxnSpPr>
          <p:spPr bwMode="auto">
            <a:xfrm>
              <a:off x="1565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7" name="Line 1714"/>
            <p:cNvCxnSpPr/>
            <p:nvPr/>
          </p:nvCxnSpPr>
          <p:spPr bwMode="auto">
            <a:xfrm>
              <a:off x="1576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8" name="Line 1715"/>
            <p:cNvCxnSpPr/>
            <p:nvPr/>
          </p:nvCxnSpPr>
          <p:spPr bwMode="auto">
            <a:xfrm>
              <a:off x="15873" y="598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9" name="Line 1716"/>
            <p:cNvCxnSpPr/>
            <p:nvPr/>
          </p:nvCxnSpPr>
          <p:spPr bwMode="auto">
            <a:xfrm>
              <a:off x="1610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0" name="Line 1717"/>
            <p:cNvCxnSpPr/>
            <p:nvPr/>
          </p:nvCxnSpPr>
          <p:spPr bwMode="auto">
            <a:xfrm>
              <a:off x="16339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1" name="Line 1718"/>
            <p:cNvCxnSpPr/>
            <p:nvPr/>
          </p:nvCxnSpPr>
          <p:spPr bwMode="auto">
            <a:xfrm>
              <a:off x="1598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2" name="Line 1719"/>
            <p:cNvCxnSpPr/>
            <p:nvPr/>
          </p:nvCxnSpPr>
          <p:spPr bwMode="auto">
            <a:xfrm>
              <a:off x="1621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3" name="Line 1720"/>
            <p:cNvCxnSpPr/>
            <p:nvPr/>
          </p:nvCxnSpPr>
          <p:spPr bwMode="auto">
            <a:xfrm>
              <a:off x="6507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" name="Line 1721"/>
            <p:cNvCxnSpPr/>
            <p:nvPr/>
          </p:nvCxnSpPr>
          <p:spPr bwMode="auto">
            <a:xfrm>
              <a:off x="6642" y="598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5" name="Line 1722"/>
            <p:cNvCxnSpPr/>
            <p:nvPr/>
          </p:nvCxnSpPr>
          <p:spPr bwMode="auto">
            <a:xfrm>
              <a:off x="6777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6" name="Line 1723"/>
            <p:cNvCxnSpPr/>
            <p:nvPr/>
          </p:nvCxnSpPr>
          <p:spPr bwMode="auto">
            <a:xfrm>
              <a:off x="6903" y="597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7" name="Line 1724"/>
            <p:cNvCxnSpPr/>
            <p:nvPr/>
          </p:nvCxnSpPr>
          <p:spPr bwMode="auto">
            <a:xfrm>
              <a:off x="715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8" name="Line 1725"/>
            <p:cNvCxnSpPr/>
            <p:nvPr/>
          </p:nvCxnSpPr>
          <p:spPr bwMode="auto">
            <a:xfrm>
              <a:off x="7389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9" name="Line 1726"/>
            <p:cNvCxnSpPr/>
            <p:nvPr/>
          </p:nvCxnSpPr>
          <p:spPr bwMode="auto">
            <a:xfrm>
              <a:off x="702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0" name="Line 1727"/>
            <p:cNvCxnSpPr/>
            <p:nvPr/>
          </p:nvCxnSpPr>
          <p:spPr bwMode="auto">
            <a:xfrm>
              <a:off x="7265" y="5974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1" name="Line 1728"/>
            <p:cNvCxnSpPr/>
            <p:nvPr/>
          </p:nvCxnSpPr>
          <p:spPr bwMode="auto">
            <a:xfrm>
              <a:off x="1453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2" name="Line 1729"/>
            <p:cNvCxnSpPr/>
            <p:nvPr/>
          </p:nvCxnSpPr>
          <p:spPr bwMode="auto">
            <a:xfrm>
              <a:off x="1467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3" name="Line 1730"/>
            <p:cNvCxnSpPr/>
            <p:nvPr/>
          </p:nvCxnSpPr>
          <p:spPr bwMode="auto">
            <a:xfrm>
              <a:off x="1479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" name="Line 1731"/>
            <p:cNvCxnSpPr/>
            <p:nvPr/>
          </p:nvCxnSpPr>
          <p:spPr bwMode="auto">
            <a:xfrm>
              <a:off x="14923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5" name="Line 1732"/>
            <p:cNvCxnSpPr/>
            <p:nvPr/>
          </p:nvCxnSpPr>
          <p:spPr bwMode="auto">
            <a:xfrm>
              <a:off x="15165" y="599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" name="Line 1733"/>
            <p:cNvCxnSpPr/>
            <p:nvPr/>
          </p:nvCxnSpPr>
          <p:spPr bwMode="auto">
            <a:xfrm>
              <a:off x="15419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" name="Line 1734"/>
            <p:cNvCxnSpPr/>
            <p:nvPr/>
          </p:nvCxnSpPr>
          <p:spPr bwMode="auto">
            <a:xfrm>
              <a:off x="1504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" name="Line 1735"/>
            <p:cNvCxnSpPr/>
            <p:nvPr/>
          </p:nvCxnSpPr>
          <p:spPr bwMode="auto">
            <a:xfrm>
              <a:off x="1529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9" name="Line 1736"/>
            <p:cNvCxnSpPr/>
            <p:nvPr/>
          </p:nvCxnSpPr>
          <p:spPr bwMode="auto">
            <a:xfrm>
              <a:off x="1356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0" name="Line 1737"/>
            <p:cNvCxnSpPr/>
            <p:nvPr/>
          </p:nvCxnSpPr>
          <p:spPr bwMode="auto">
            <a:xfrm>
              <a:off x="1369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1" name="Line 1738"/>
            <p:cNvCxnSpPr/>
            <p:nvPr/>
          </p:nvCxnSpPr>
          <p:spPr bwMode="auto">
            <a:xfrm>
              <a:off x="1381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2" name="Line 1739"/>
            <p:cNvCxnSpPr/>
            <p:nvPr/>
          </p:nvCxnSpPr>
          <p:spPr bwMode="auto">
            <a:xfrm>
              <a:off x="13933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3" name="Line 1740"/>
            <p:cNvCxnSpPr/>
            <p:nvPr/>
          </p:nvCxnSpPr>
          <p:spPr bwMode="auto">
            <a:xfrm>
              <a:off x="1417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" name="Line 1741"/>
            <p:cNvCxnSpPr/>
            <p:nvPr/>
          </p:nvCxnSpPr>
          <p:spPr bwMode="auto">
            <a:xfrm>
              <a:off x="14419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" name="Line 1742"/>
            <p:cNvCxnSpPr/>
            <p:nvPr/>
          </p:nvCxnSpPr>
          <p:spPr bwMode="auto">
            <a:xfrm>
              <a:off x="1405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6" name="Line 1743"/>
            <p:cNvCxnSpPr/>
            <p:nvPr/>
          </p:nvCxnSpPr>
          <p:spPr bwMode="auto">
            <a:xfrm>
              <a:off x="1429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7" name="Line 1744"/>
            <p:cNvCxnSpPr/>
            <p:nvPr/>
          </p:nvCxnSpPr>
          <p:spPr bwMode="auto">
            <a:xfrm>
              <a:off x="12562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8" name="Line 1745"/>
            <p:cNvCxnSpPr/>
            <p:nvPr/>
          </p:nvCxnSpPr>
          <p:spPr bwMode="auto">
            <a:xfrm>
              <a:off x="12697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9" name="Line 1746"/>
            <p:cNvCxnSpPr/>
            <p:nvPr/>
          </p:nvCxnSpPr>
          <p:spPr bwMode="auto">
            <a:xfrm>
              <a:off x="12822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0" name="Line 1747"/>
            <p:cNvCxnSpPr/>
            <p:nvPr/>
          </p:nvCxnSpPr>
          <p:spPr bwMode="auto">
            <a:xfrm>
              <a:off x="12938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1" name="Line 1748"/>
            <p:cNvCxnSpPr/>
            <p:nvPr/>
          </p:nvCxnSpPr>
          <p:spPr bwMode="auto">
            <a:xfrm>
              <a:off x="13170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2" name="Line 1749"/>
            <p:cNvCxnSpPr/>
            <p:nvPr/>
          </p:nvCxnSpPr>
          <p:spPr bwMode="auto">
            <a:xfrm>
              <a:off x="13424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3" name="Line 1750"/>
            <p:cNvCxnSpPr/>
            <p:nvPr/>
          </p:nvCxnSpPr>
          <p:spPr bwMode="auto">
            <a:xfrm>
              <a:off x="13050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4" name="Line 1751"/>
            <p:cNvCxnSpPr/>
            <p:nvPr/>
          </p:nvCxnSpPr>
          <p:spPr bwMode="auto">
            <a:xfrm>
              <a:off x="13290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" name="Line 1752"/>
            <p:cNvCxnSpPr/>
            <p:nvPr/>
          </p:nvCxnSpPr>
          <p:spPr bwMode="auto">
            <a:xfrm>
              <a:off x="11557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6" name="Line 1753"/>
            <p:cNvCxnSpPr/>
            <p:nvPr/>
          </p:nvCxnSpPr>
          <p:spPr bwMode="auto">
            <a:xfrm>
              <a:off x="1168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7" name="Line 1754"/>
            <p:cNvCxnSpPr/>
            <p:nvPr/>
          </p:nvCxnSpPr>
          <p:spPr bwMode="auto">
            <a:xfrm>
              <a:off x="11817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8" name="Line 1755"/>
            <p:cNvCxnSpPr/>
            <p:nvPr/>
          </p:nvCxnSpPr>
          <p:spPr bwMode="auto">
            <a:xfrm>
              <a:off x="11933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9" name="Line 1756"/>
            <p:cNvCxnSpPr/>
            <p:nvPr/>
          </p:nvCxnSpPr>
          <p:spPr bwMode="auto">
            <a:xfrm>
              <a:off x="1217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0" name="Line 1757"/>
            <p:cNvCxnSpPr/>
            <p:nvPr/>
          </p:nvCxnSpPr>
          <p:spPr bwMode="auto">
            <a:xfrm>
              <a:off x="12429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1" name="Line 1758"/>
            <p:cNvCxnSpPr/>
            <p:nvPr/>
          </p:nvCxnSpPr>
          <p:spPr bwMode="auto">
            <a:xfrm>
              <a:off x="1205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2" name="Line 1759"/>
            <p:cNvCxnSpPr/>
            <p:nvPr/>
          </p:nvCxnSpPr>
          <p:spPr bwMode="auto">
            <a:xfrm>
              <a:off x="12305" y="59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3" name="Line 1760"/>
            <p:cNvCxnSpPr/>
            <p:nvPr/>
          </p:nvCxnSpPr>
          <p:spPr bwMode="auto">
            <a:xfrm>
              <a:off x="10527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4" name="Line 1761"/>
            <p:cNvCxnSpPr/>
            <p:nvPr/>
          </p:nvCxnSpPr>
          <p:spPr bwMode="auto">
            <a:xfrm>
              <a:off x="10652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" name="Line 1762"/>
            <p:cNvCxnSpPr/>
            <p:nvPr/>
          </p:nvCxnSpPr>
          <p:spPr bwMode="auto">
            <a:xfrm>
              <a:off x="10787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6" name="Line 1763"/>
            <p:cNvCxnSpPr/>
            <p:nvPr/>
          </p:nvCxnSpPr>
          <p:spPr bwMode="auto">
            <a:xfrm>
              <a:off x="10903" y="597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7" name="Line 1764"/>
            <p:cNvCxnSpPr/>
            <p:nvPr/>
          </p:nvCxnSpPr>
          <p:spPr bwMode="auto">
            <a:xfrm>
              <a:off x="1117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8" name="Line 1765"/>
            <p:cNvCxnSpPr/>
            <p:nvPr/>
          </p:nvCxnSpPr>
          <p:spPr bwMode="auto">
            <a:xfrm>
              <a:off x="11419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9" name="Line 1766"/>
            <p:cNvCxnSpPr/>
            <p:nvPr/>
          </p:nvCxnSpPr>
          <p:spPr bwMode="auto">
            <a:xfrm>
              <a:off x="11035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0" name="Line 1767"/>
            <p:cNvCxnSpPr/>
            <p:nvPr/>
          </p:nvCxnSpPr>
          <p:spPr bwMode="auto">
            <a:xfrm>
              <a:off x="11295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1" name="Line 1768"/>
            <p:cNvCxnSpPr/>
            <p:nvPr/>
          </p:nvCxnSpPr>
          <p:spPr bwMode="auto">
            <a:xfrm>
              <a:off x="9532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2" name="Line 1769"/>
            <p:cNvCxnSpPr/>
            <p:nvPr/>
          </p:nvCxnSpPr>
          <p:spPr bwMode="auto">
            <a:xfrm>
              <a:off x="9657" y="595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3" name="Line 1770"/>
            <p:cNvCxnSpPr/>
            <p:nvPr/>
          </p:nvCxnSpPr>
          <p:spPr bwMode="auto">
            <a:xfrm>
              <a:off x="9772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4" name="Line 1771"/>
            <p:cNvCxnSpPr/>
            <p:nvPr/>
          </p:nvCxnSpPr>
          <p:spPr bwMode="auto">
            <a:xfrm>
              <a:off x="9898" y="596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" name="Line 1772"/>
            <p:cNvCxnSpPr/>
            <p:nvPr/>
          </p:nvCxnSpPr>
          <p:spPr bwMode="auto">
            <a:xfrm>
              <a:off x="10130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6" name="Line 1773"/>
            <p:cNvCxnSpPr/>
            <p:nvPr/>
          </p:nvCxnSpPr>
          <p:spPr bwMode="auto">
            <a:xfrm>
              <a:off x="10394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7" name="Line 1774"/>
            <p:cNvCxnSpPr/>
            <p:nvPr/>
          </p:nvCxnSpPr>
          <p:spPr bwMode="auto">
            <a:xfrm>
              <a:off x="10010" y="596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8" name="Line 1775"/>
            <p:cNvCxnSpPr/>
            <p:nvPr/>
          </p:nvCxnSpPr>
          <p:spPr bwMode="auto">
            <a:xfrm>
              <a:off x="10260" y="596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9" name="Line 1776"/>
            <p:cNvCxnSpPr/>
            <p:nvPr/>
          </p:nvCxnSpPr>
          <p:spPr bwMode="auto">
            <a:xfrm>
              <a:off x="8522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0" name="Line 1777"/>
            <p:cNvCxnSpPr/>
            <p:nvPr/>
          </p:nvCxnSpPr>
          <p:spPr bwMode="auto">
            <a:xfrm>
              <a:off x="8667" y="597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1" name="Line 1778"/>
            <p:cNvCxnSpPr/>
            <p:nvPr/>
          </p:nvCxnSpPr>
          <p:spPr bwMode="auto">
            <a:xfrm>
              <a:off x="8792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2" name="Line 1779"/>
            <p:cNvCxnSpPr/>
            <p:nvPr/>
          </p:nvCxnSpPr>
          <p:spPr bwMode="auto">
            <a:xfrm>
              <a:off x="8928" y="598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3" name="Line 1780"/>
            <p:cNvCxnSpPr/>
            <p:nvPr/>
          </p:nvCxnSpPr>
          <p:spPr bwMode="auto">
            <a:xfrm>
              <a:off x="9160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4" name="Line 1781"/>
            <p:cNvCxnSpPr/>
            <p:nvPr/>
          </p:nvCxnSpPr>
          <p:spPr bwMode="auto">
            <a:xfrm>
              <a:off x="9404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5" name="Line 1782"/>
            <p:cNvCxnSpPr/>
            <p:nvPr/>
          </p:nvCxnSpPr>
          <p:spPr bwMode="auto">
            <a:xfrm>
              <a:off x="9040" y="597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6" name="Line 1783"/>
            <p:cNvCxnSpPr/>
            <p:nvPr/>
          </p:nvCxnSpPr>
          <p:spPr bwMode="auto">
            <a:xfrm>
              <a:off x="9280" y="597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7" name="Text Box 1915"/>
            <p:cNvSpPr txBox="1">
              <a:spLocks noChangeArrowheads="1"/>
            </p:cNvSpPr>
            <p:nvPr/>
          </p:nvSpPr>
          <p:spPr bwMode="auto">
            <a:xfrm>
              <a:off x="416" y="8546"/>
              <a:ext cx="16050" cy="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dirty="0" smtClean="0">
                  <a:effectLst/>
                  <a:latin typeface="Times New Roman"/>
                  <a:ea typeface="Times New Roman"/>
                </a:rPr>
                <a:t>AES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standart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shimmetrik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shifrlash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algoritmining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1-raundi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uchun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ChKT</a:t>
              </a:r>
              <a:endParaRPr lang="ru-RU" dirty="0">
                <a:effectLst/>
                <a:latin typeface="Times New Roman"/>
                <a:ea typeface="Times New Roman"/>
              </a:endParaRPr>
            </a:p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uz-Cyrl-UZ" dirty="0">
                  <a:effectLst/>
                  <a:latin typeface="Times New Roman"/>
                  <a:ea typeface="Times New Roman"/>
                </a:rPr>
                <a:t> </a:t>
              </a:r>
              <a:endParaRPr lang="ru-RU" dirty="0">
                <a:effectLst/>
                <a:latin typeface="Times New Roman"/>
                <a:ea typeface="Times New Roman"/>
              </a:endParaRPr>
            </a:p>
          </p:txBody>
        </p:sp>
        <p:cxnSp>
          <p:nvCxnSpPr>
            <p:cNvPr id="668" name="Line 1384"/>
            <p:cNvCxnSpPr/>
            <p:nvPr/>
          </p:nvCxnSpPr>
          <p:spPr bwMode="auto">
            <a:xfrm>
              <a:off x="501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9" name="Line 1385"/>
            <p:cNvCxnSpPr/>
            <p:nvPr/>
          </p:nvCxnSpPr>
          <p:spPr bwMode="auto">
            <a:xfrm>
              <a:off x="616" y="812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0" name="Line 1386"/>
            <p:cNvCxnSpPr/>
            <p:nvPr/>
          </p:nvCxnSpPr>
          <p:spPr bwMode="auto">
            <a:xfrm>
              <a:off x="741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1" name="Line 1387"/>
            <p:cNvCxnSpPr/>
            <p:nvPr/>
          </p:nvCxnSpPr>
          <p:spPr bwMode="auto">
            <a:xfrm>
              <a:off x="857" y="8129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2" name="Line 1388"/>
            <p:cNvCxnSpPr/>
            <p:nvPr/>
          </p:nvCxnSpPr>
          <p:spPr bwMode="auto">
            <a:xfrm>
              <a:off x="1079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3" name="Line 1389"/>
            <p:cNvCxnSpPr/>
            <p:nvPr/>
          </p:nvCxnSpPr>
          <p:spPr bwMode="auto">
            <a:xfrm>
              <a:off x="1293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4" name="Line 1390"/>
            <p:cNvCxnSpPr/>
            <p:nvPr/>
          </p:nvCxnSpPr>
          <p:spPr bwMode="auto">
            <a:xfrm>
              <a:off x="969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5" name="Line 1391"/>
            <p:cNvCxnSpPr/>
            <p:nvPr/>
          </p:nvCxnSpPr>
          <p:spPr bwMode="auto">
            <a:xfrm>
              <a:off x="1189" y="8130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6" name="Line 1401"/>
            <p:cNvCxnSpPr/>
            <p:nvPr/>
          </p:nvCxnSpPr>
          <p:spPr bwMode="auto">
            <a:xfrm>
              <a:off x="1492" y="814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7" name="Line 1402"/>
            <p:cNvCxnSpPr/>
            <p:nvPr/>
          </p:nvCxnSpPr>
          <p:spPr bwMode="auto">
            <a:xfrm>
              <a:off x="1607" y="8134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8" name="Line 1403"/>
            <p:cNvCxnSpPr/>
            <p:nvPr/>
          </p:nvCxnSpPr>
          <p:spPr bwMode="auto">
            <a:xfrm>
              <a:off x="1732" y="814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9" name="Line 1404"/>
            <p:cNvCxnSpPr/>
            <p:nvPr/>
          </p:nvCxnSpPr>
          <p:spPr bwMode="auto">
            <a:xfrm>
              <a:off x="1848" y="8138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0" name="Line 1405"/>
            <p:cNvCxnSpPr/>
            <p:nvPr/>
          </p:nvCxnSpPr>
          <p:spPr bwMode="auto">
            <a:xfrm>
              <a:off x="2070" y="8142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1" name="Line 1406"/>
            <p:cNvCxnSpPr/>
            <p:nvPr/>
          </p:nvCxnSpPr>
          <p:spPr bwMode="auto">
            <a:xfrm>
              <a:off x="2284" y="814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2" name="Line 1407"/>
            <p:cNvCxnSpPr/>
            <p:nvPr/>
          </p:nvCxnSpPr>
          <p:spPr bwMode="auto">
            <a:xfrm>
              <a:off x="1960" y="814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3" name="Line 1408"/>
            <p:cNvCxnSpPr/>
            <p:nvPr/>
          </p:nvCxnSpPr>
          <p:spPr bwMode="auto">
            <a:xfrm>
              <a:off x="2180" y="8139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4" name="Line 1418"/>
            <p:cNvCxnSpPr/>
            <p:nvPr/>
          </p:nvCxnSpPr>
          <p:spPr bwMode="auto">
            <a:xfrm>
              <a:off x="2501" y="815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5" name="Line 1419"/>
            <p:cNvCxnSpPr/>
            <p:nvPr/>
          </p:nvCxnSpPr>
          <p:spPr bwMode="auto">
            <a:xfrm>
              <a:off x="2616" y="8142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6" name="Line 1420"/>
            <p:cNvCxnSpPr/>
            <p:nvPr/>
          </p:nvCxnSpPr>
          <p:spPr bwMode="auto">
            <a:xfrm>
              <a:off x="2741" y="815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7" name="Line 1421"/>
            <p:cNvCxnSpPr/>
            <p:nvPr/>
          </p:nvCxnSpPr>
          <p:spPr bwMode="auto">
            <a:xfrm>
              <a:off x="2857" y="8146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8" name="Line 1422"/>
            <p:cNvCxnSpPr/>
            <p:nvPr/>
          </p:nvCxnSpPr>
          <p:spPr bwMode="auto">
            <a:xfrm>
              <a:off x="3079" y="8150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9" name="Line 1423"/>
            <p:cNvCxnSpPr/>
            <p:nvPr/>
          </p:nvCxnSpPr>
          <p:spPr bwMode="auto">
            <a:xfrm>
              <a:off x="3293" y="815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0" name="Line 1424"/>
            <p:cNvCxnSpPr/>
            <p:nvPr/>
          </p:nvCxnSpPr>
          <p:spPr bwMode="auto">
            <a:xfrm>
              <a:off x="2969" y="8150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1" name="Line 1425"/>
            <p:cNvCxnSpPr/>
            <p:nvPr/>
          </p:nvCxnSpPr>
          <p:spPr bwMode="auto">
            <a:xfrm>
              <a:off x="3189" y="8147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2" name="Line 1435"/>
            <p:cNvCxnSpPr/>
            <p:nvPr/>
          </p:nvCxnSpPr>
          <p:spPr bwMode="auto">
            <a:xfrm>
              <a:off x="3482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3" name="Line 1436"/>
            <p:cNvCxnSpPr/>
            <p:nvPr/>
          </p:nvCxnSpPr>
          <p:spPr bwMode="auto">
            <a:xfrm>
              <a:off x="3597" y="8125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4" name="Line 1437"/>
            <p:cNvCxnSpPr/>
            <p:nvPr/>
          </p:nvCxnSpPr>
          <p:spPr bwMode="auto">
            <a:xfrm>
              <a:off x="3722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5" name="Line 1438"/>
            <p:cNvCxnSpPr/>
            <p:nvPr/>
          </p:nvCxnSpPr>
          <p:spPr bwMode="auto">
            <a:xfrm>
              <a:off x="3838" y="8129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6" name="Line 1439"/>
            <p:cNvCxnSpPr/>
            <p:nvPr/>
          </p:nvCxnSpPr>
          <p:spPr bwMode="auto">
            <a:xfrm>
              <a:off x="4060" y="8133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7" name="Line 1440"/>
            <p:cNvCxnSpPr/>
            <p:nvPr/>
          </p:nvCxnSpPr>
          <p:spPr bwMode="auto">
            <a:xfrm>
              <a:off x="4274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8" name="Line 1441"/>
            <p:cNvCxnSpPr/>
            <p:nvPr/>
          </p:nvCxnSpPr>
          <p:spPr bwMode="auto">
            <a:xfrm>
              <a:off x="3950" y="8133"/>
              <a:ext cx="0" cy="402"/>
            </a:xfrm>
            <a:prstGeom prst="line">
              <a:avLst/>
            </a:prstGeom>
            <a:ln w="9525"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9" name="Line 1442"/>
            <p:cNvCxnSpPr/>
            <p:nvPr/>
          </p:nvCxnSpPr>
          <p:spPr bwMode="auto">
            <a:xfrm>
              <a:off x="4170" y="8130"/>
              <a:ext cx="0" cy="402"/>
            </a:xfrm>
            <a:prstGeom prst="line">
              <a:avLst/>
            </a:prstGeom>
            <a:ln w="38100">
              <a:solidFill>
                <a:srgbClr val="FF0000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0" name="Line 1452"/>
            <p:cNvCxnSpPr/>
            <p:nvPr/>
          </p:nvCxnSpPr>
          <p:spPr bwMode="auto">
            <a:xfrm>
              <a:off x="4488" y="814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1" name="Line 1453"/>
            <p:cNvCxnSpPr/>
            <p:nvPr/>
          </p:nvCxnSpPr>
          <p:spPr bwMode="auto">
            <a:xfrm>
              <a:off x="4603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2" name="Line 1454"/>
            <p:cNvCxnSpPr/>
            <p:nvPr/>
          </p:nvCxnSpPr>
          <p:spPr bwMode="auto">
            <a:xfrm>
              <a:off x="4728" y="814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3" name="Line 1455"/>
            <p:cNvCxnSpPr/>
            <p:nvPr/>
          </p:nvCxnSpPr>
          <p:spPr bwMode="auto">
            <a:xfrm>
              <a:off x="4844" y="813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4" name="Line 1456"/>
            <p:cNvCxnSpPr/>
            <p:nvPr/>
          </p:nvCxnSpPr>
          <p:spPr bwMode="auto">
            <a:xfrm>
              <a:off x="5066" y="814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5" name="Line 1457"/>
            <p:cNvCxnSpPr/>
            <p:nvPr/>
          </p:nvCxnSpPr>
          <p:spPr bwMode="auto">
            <a:xfrm>
              <a:off x="5280" y="814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6" name="Line 1458"/>
            <p:cNvCxnSpPr/>
            <p:nvPr/>
          </p:nvCxnSpPr>
          <p:spPr bwMode="auto">
            <a:xfrm>
              <a:off x="4956" y="8140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7" name="Line 1459"/>
            <p:cNvCxnSpPr/>
            <p:nvPr/>
          </p:nvCxnSpPr>
          <p:spPr bwMode="auto">
            <a:xfrm>
              <a:off x="5176" y="8138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8" name="Line 1469"/>
            <p:cNvCxnSpPr/>
            <p:nvPr/>
          </p:nvCxnSpPr>
          <p:spPr bwMode="auto">
            <a:xfrm>
              <a:off x="5467" y="81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9" name="Line 1470"/>
            <p:cNvCxnSpPr/>
            <p:nvPr/>
          </p:nvCxnSpPr>
          <p:spPr bwMode="auto">
            <a:xfrm>
              <a:off x="5582" y="8152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0" name="Line 1471"/>
            <p:cNvCxnSpPr/>
            <p:nvPr/>
          </p:nvCxnSpPr>
          <p:spPr bwMode="auto">
            <a:xfrm>
              <a:off x="5707" y="81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1" name="Line 1472"/>
            <p:cNvCxnSpPr/>
            <p:nvPr/>
          </p:nvCxnSpPr>
          <p:spPr bwMode="auto">
            <a:xfrm>
              <a:off x="5823" y="8156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2" name="Line 1473"/>
            <p:cNvCxnSpPr/>
            <p:nvPr/>
          </p:nvCxnSpPr>
          <p:spPr bwMode="auto">
            <a:xfrm>
              <a:off x="6045" y="81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3" name="Line 1474"/>
            <p:cNvCxnSpPr/>
            <p:nvPr/>
          </p:nvCxnSpPr>
          <p:spPr bwMode="auto">
            <a:xfrm>
              <a:off x="6259" y="81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4" name="Line 1475"/>
            <p:cNvCxnSpPr/>
            <p:nvPr/>
          </p:nvCxnSpPr>
          <p:spPr bwMode="auto">
            <a:xfrm>
              <a:off x="5935" y="816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5" name="Line 1476"/>
            <p:cNvCxnSpPr/>
            <p:nvPr/>
          </p:nvCxnSpPr>
          <p:spPr bwMode="auto">
            <a:xfrm>
              <a:off x="6155" y="8157"/>
              <a:ext cx="0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6" name="Line 1486"/>
            <p:cNvCxnSpPr/>
            <p:nvPr/>
          </p:nvCxnSpPr>
          <p:spPr bwMode="auto">
            <a:xfrm>
              <a:off x="747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" name="Line 1487"/>
            <p:cNvCxnSpPr/>
            <p:nvPr/>
          </p:nvCxnSpPr>
          <p:spPr bwMode="auto">
            <a:xfrm>
              <a:off x="759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" name="Line 1488"/>
            <p:cNvCxnSpPr/>
            <p:nvPr/>
          </p:nvCxnSpPr>
          <p:spPr bwMode="auto">
            <a:xfrm>
              <a:off x="771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" name="Line 1489"/>
            <p:cNvCxnSpPr/>
            <p:nvPr/>
          </p:nvCxnSpPr>
          <p:spPr bwMode="auto">
            <a:xfrm>
              <a:off x="783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" name="Line 1490"/>
            <p:cNvCxnSpPr/>
            <p:nvPr/>
          </p:nvCxnSpPr>
          <p:spPr bwMode="auto">
            <a:xfrm>
              <a:off x="805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" name="Line 1491"/>
            <p:cNvCxnSpPr/>
            <p:nvPr/>
          </p:nvCxnSpPr>
          <p:spPr bwMode="auto">
            <a:xfrm>
              <a:off x="826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" name="Line 1492"/>
            <p:cNvCxnSpPr/>
            <p:nvPr/>
          </p:nvCxnSpPr>
          <p:spPr bwMode="auto">
            <a:xfrm>
              <a:off x="794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3" name="Line 1493"/>
            <p:cNvCxnSpPr/>
            <p:nvPr/>
          </p:nvCxnSpPr>
          <p:spPr bwMode="auto">
            <a:xfrm>
              <a:off x="816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4" name="Line 1503"/>
            <p:cNvCxnSpPr/>
            <p:nvPr/>
          </p:nvCxnSpPr>
          <p:spPr bwMode="auto">
            <a:xfrm>
              <a:off x="1546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5" name="Line 1504"/>
            <p:cNvCxnSpPr/>
            <p:nvPr/>
          </p:nvCxnSpPr>
          <p:spPr bwMode="auto">
            <a:xfrm>
              <a:off x="1558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6" name="Line 1505"/>
            <p:cNvCxnSpPr/>
            <p:nvPr/>
          </p:nvCxnSpPr>
          <p:spPr bwMode="auto">
            <a:xfrm>
              <a:off x="1570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" name="Line 1506"/>
            <p:cNvCxnSpPr/>
            <p:nvPr/>
          </p:nvCxnSpPr>
          <p:spPr bwMode="auto">
            <a:xfrm>
              <a:off x="1582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8" name="Line 1507"/>
            <p:cNvCxnSpPr/>
            <p:nvPr/>
          </p:nvCxnSpPr>
          <p:spPr bwMode="auto">
            <a:xfrm>
              <a:off x="1604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9" name="Line 1508"/>
            <p:cNvCxnSpPr/>
            <p:nvPr/>
          </p:nvCxnSpPr>
          <p:spPr bwMode="auto">
            <a:xfrm>
              <a:off x="1625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0" name="Line 1509"/>
            <p:cNvCxnSpPr/>
            <p:nvPr/>
          </p:nvCxnSpPr>
          <p:spPr bwMode="auto">
            <a:xfrm>
              <a:off x="1593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1" name="Line 1510"/>
            <p:cNvCxnSpPr/>
            <p:nvPr/>
          </p:nvCxnSpPr>
          <p:spPr bwMode="auto">
            <a:xfrm>
              <a:off x="1615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2" name="Line 1520"/>
            <p:cNvCxnSpPr/>
            <p:nvPr/>
          </p:nvCxnSpPr>
          <p:spPr bwMode="auto">
            <a:xfrm>
              <a:off x="6476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3" name="Line 1521"/>
            <p:cNvCxnSpPr/>
            <p:nvPr/>
          </p:nvCxnSpPr>
          <p:spPr bwMode="auto">
            <a:xfrm>
              <a:off x="6591" y="812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4" name="Line 1522"/>
            <p:cNvCxnSpPr/>
            <p:nvPr/>
          </p:nvCxnSpPr>
          <p:spPr bwMode="auto">
            <a:xfrm>
              <a:off x="6716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5" name="Line 1523"/>
            <p:cNvCxnSpPr/>
            <p:nvPr/>
          </p:nvCxnSpPr>
          <p:spPr bwMode="auto">
            <a:xfrm>
              <a:off x="6832" y="812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6" name="Line 1524"/>
            <p:cNvCxnSpPr/>
            <p:nvPr/>
          </p:nvCxnSpPr>
          <p:spPr bwMode="auto">
            <a:xfrm>
              <a:off x="7054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" name="Line 1525"/>
            <p:cNvCxnSpPr/>
            <p:nvPr/>
          </p:nvCxnSpPr>
          <p:spPr bwMode="auto">
            <a:xfrm>
              <a:off x="7268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8" name="Line 1526"/>
            <p:cNvCxnSpPr/>
            <p:nvPr/>
          </p:nvCxnSpPr>
          <p:spPr bwMode="auto">
            <a:xfrm>
              <a:off x="6944" y="8133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9" name="Line 1527"/>
            <p:cNvCxnSpPr/>
            <p:nvPr/>
          </p:nvCxnSpPr>
          <p:spPr bwMode="auto">
            <a:xfrm>
              <a:off x="7164" y="8130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0" name="Line 1537"/>
            <p:cNvCxnSpPr/>
            <p:nvPr/>
          </p:nvCxnSpPr>
          <p:spPr bwMode="auto">
            <a:xfrm>
              <a:off x="1448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1" name="Line 1538"/>
            <p:cNvCxnSpPr/>
            <p:nvPr/>
          </p:nvCxnSpPr>
          <p:spPr bwMode="auto">
            <a:xfrm>
              <a:off x="1460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2" name="Line 1539"/>
            <p:cNvCxnSpPr/>
            <p:nvPr/>
          </p:nvCxnSpPr>
          <p:spPr bwMode="auto">
            <a:xfrm>
              <a:off x="1472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3" name="Line 1540"/>
            <p:cNvCxnSpPr/>
            <p:nvPr/>
          </p:nvCxnSpPr>
          <p:spPr bwMode="auto">
            <a:xfrm>
              <a:off x="1484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4" name="Line 1541"/>
            <p:cNvCxnSpPr/>
            <p:nvPr/>
          </p:nvCxnSpPr>
          <p:spPr bwMode="auto">
            <a:xfrm>
              <a:off x="1506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5" name="Line 1542"/>
            <p:cNvCxnSpPr/>
            <p:nvPr/>
          </p:nvCxnSpPr>
          <p:spPr bwMode="auto">
            <a:xfrm>
              <a:off x="1527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6" name="Line 1543"/>
            <p:cNvCxnSpPr/>
            <p:nvPr/>
          </p:nvCxnSpPr>
          <p:spPr bwMode="auto">
            <a:xfrm>
              <a:off x="1495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7" name="Line 1544"/>
            <p:cNvCxnSpPr/>
            <p:nvPr/>
          </p:nvCxnSpPr>
          <p:spPr bwMode="auto">
            <a:xfrm>
              <a:off x="1517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8" name="Line 1554"/>
            <p:cNvCxnSpPr/>
            <p:nvPr/>
          </p:nvCxnSpPr>
          <p:spPr bwMode="auto">
            <a:xfrm>
              <a:off x="1349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9" name="Line 1555"/>
            <p:cNvCxnSpPr/>
            <p:nvPr/>
          </p:nvCxnSpPr>
          <p:spPr bwMode="auto">
            <a:xfrm>
              <a:off x="1361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0" name="Line 1556"/>
            <p:cNvCxnSpPr/>
            <p:nvPr/>
          </p:nvCxnSpPr>
          <p:spPr bwMode="auto">
            <a:xfrm>
              <a:off x="1373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1" name="Line 1557"/>
            <p:cNvCxnSpPr/>
            <p:nvPr/>
          </p:nvCxnSpPr>
          <p:spPr bwMode="auto">
            <a:xfrm>
              <a:off x="1385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2" name="Line 1558"/>
            <p:cNvCxnSpPr/>
            <p:nvPr/>
          </p:nvCxnSpPr>
          <p:spPr bwMode="auto">
            <a:xfrm>
              <a:off x="1407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3" name="Line 1559"/>
            <p:cNvCxnSpPr/>
            <p:nvPr/>
          </p:nvCxnSpPr>
          <p:spPr bwMode="auto">
            <a:xfrm>
              <a:off x="1428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4" name="Line 1560"/>
            <p:cNvCxnSpPr/>
            <p:nvPr/>
          </p:nvCxnSpPr>
          <p:spPr bwMode="auto">
            <a:xfrm>
              <a:off x="1396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5" name="Line 1561"/>
            <p:cNvCxnSpPr/>
            <p:nvPr/>
          </p:nvCxnSpPr>
          <p:spPr bwMode="auto">
            <a:xfrm>
              <a:off x="1418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6" name="Line 1571"/>
            <p:cNvCxnSpPr/>
            <p:nvPr/>
          </p:nvCxnSpPr>
          <p:spPr bwMode="auto">
            <a:xfrm>
              <a:off x="1250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" name="Line 1572"/>
            <p:cNvCxnSpPr/>
            <p:nvPr/>
          </p:nvCxnSpPr>
          <p:spPr bwMode="auto">
            <a:xfrm>
              <a:off x="12616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" name="Line 1573"/>
            <p:cNvCxnSpPr/>
            <p:nvPr/>
          </p:nvCxnSpPr>
          <p:spPr bwMode="auto">
            <a:xfrm>
              <a:off x="1274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9" name="Line 1574"/>
            <p:cNvCxnSpPr/>
            <p:nvPr/>
          </p:nvCxnSpPr>
          <p:spPr bwMode="auto">
            <a:xfrm>
              <a:off x="12857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0" name="Line 1575"/>
            <p:cNvCxnSpPr/>
            <p:nvPr/>
          </p:nvCxnSpPr>
          <p:spPr bwMode="auto">
            <a:xfrm>
              <a:off x="1307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1" name="Line 1576"/>
            <p:cNvCxnSpPr/>
            <p:nvPr/>
          </p:nvCxnSpPr>
          <p:spPr bwMode="auto">
            <a:xfrm>
              <a:off x="13293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2" name="Line 1577"/>
            <p:cNvCxnSpPr/>
            <p:nvPr/>
          </p:nvCxnSpPr>
          <p:spPr bwMode="auto">
            <a:xfrm>
              <a:off x="1296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3" name="Line 1578"/>
            <p:cNvCxnSpPr/>
            <p:nvPr/>
          </p:nvCxnSpPr>
          <p:spPr bwMode="auto">
            <a:xfrm>
              <a:off x="13189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4" name="Line 1588"/>
            <p:cNvCxnSpPr/>
            <p:nvPr/>
          </p:nvCxnSpPr>
          <p:spPr bwMode="auto">
            <a:xfrm>
              <a:off x="1149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5" name="Line 1589"/>
            <p:cNvCxnSpPr/>
            <p:nvPr/>
          </p:nvCxnSpPr>
          <p:spPr bwMode="auto">
            <a:xfrm>
              <a:off x="1161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6" name="Line 1590"/>
            <p:cNvCxnSpPr/>
            <p:nvPr/>
          </p:nvCxnSpPr>
          <p:spPr bwMode="auto">
            <a:xfrm>
              <a:off x="1173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7" name="Line 1591"/>
            <p:cNvCxnSpPr/>
            <p:nvPr/>
          </p:nvCxnSpPr>
          <p:spPr bwMode="auto">
            <a:xfrm>
              <a:off x="1185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8" name="Line 1592"/>
            <p:cNvCxnSpPr/>
            <p:nvPr/>
          </p:nvCxnSpPr>
          <p:spPr bwMode="auto">
            <a:xfrm>
              <a:off x="1207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9" name="Line 1593"/>
            <p:cNvCxnSpPr/>
            <p:nvPr/>
          </p:nvCxnSpPr>
          <p:spPr bwMode="auto">
            <a:xfrm>
              <a:off x="1228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0" name="Line 1594"/>
            <p:cNvCxnSpPr/>
            <p:nvPr/>
          </p:nvCxnSpPr>
          <p:spPr bwMode="auto">
            <a:xfrm>
              <a:off x="1196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1" name="Line 1595"/>
            <p:cNvCxnSpPr/>
            <p:nvPr/>
          </p:nvCxnSpPr>
          <p:spPr bwMode="auto">
            <a:xfrm>
              <a:off x="1218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2" name="Line 1605"/>
            <p:cNvCxnSpPr/>
            <p:nvPr/>
          </p:nvCxnSpPr>
          <p:spPr bwMode="auto">
            <a:xfrm>
              <a:off x="1046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3" name="Line 1606"/>
            <p:cNvCxnSpPr/>
            <p:nvPr/>
          </p:nvCxnSpPr>
          <p:spPr bwMode="auto">
            <a:xfrm>
              <a:off x="10581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4" name="Line 1607"/>
            <p:cNvCxnSpPr/>
            <p:nvPr/>
          </p:nvCxnSpPr>
          <p:spPr bwMode="auto">
            <a:xfrm>
              <a:off x="10706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5" name="Line 1608"/>
            <p:cNvCxnSpPr/>
            <p:nvPr/>
          </p:nvCxnSpPr>
          <p:spPr bwMode="auto">
            <a:xfrm>
              <a:off x="10822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6" name="Line 1609"/>
            <p:cNvCxnSpPr/>
            <p:nvPr/>
          </p:nvCxnSpPr>
          <p:spPr bwMode="auto">
            <a:xfrm>
              <a:off x="1104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7" name="Line 1610"/>
            <p:cNvCxnSpPr/>
            <p:nvPr/>
          </p:nvCxnSpPr>
          <p:spPr bwMode="auto">
            <a:xfrm>
              <a:off x="11258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" name="Line 1611"/>
            <p:cNvCxnSpPr/>
            <p:nvPr/>
          </p:nvCxnSpPr>
          <p:spPr bwMode="auto">
            <a:xfrm>
              <a:off x="10934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9" name="Line 1612"/>
            <p:cNvCxnSpPr/>
            <p:nvPr/>
          </p:nvCxnSpPr>
          <p:spPr bwMode="auto">
            <a:xfrm>
              <a:off x="11154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0" name="Line 1622"/>
            <p:cNvCxnSpPr/>
            <p:nvPr/>
          </p:nvCxnSpPr>
          <p:spPr bwMode="auto">
            <a:xfrm>
              <a:off x="946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1" name="Line 1623"/>
            <p:cNvCxnSpPr/>
            <p:nvPr/>
          </p:nvCxnSpPr>
          <p:spPr bwMode="auto">
            <a:xfrm>
              <a:off x="9576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2" name="Line 1624"/>
            <p:cNvCxnSpPr/>
            <p:nvPr/>
          </p:nvCxnSpPr>
          <p:spPr bwMode="auto">
            <a:xfrm>
              <a:off x="970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3" name="Line 1625"/>
            <p:cNvCxnSpPr/>
            <p:nvPr/>
          </p:nvCxnSpPr>
          <p:spPr bwMode="auto">
            <a:xfrm>
              <a:off x="9817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4" name="Line 1626"/>
            <p:cNvCxnSpPr/>
            <p:nvPr/>
          </p:nvCxnSpPr>
          <p:spPr bwMode="auto">
            <a:xfrm>
              <a:off x="1003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5" name="Line 1627"/>
            <p:cNvCxnSpPr/>
            <p:nvPr/>
          </p:nvCxnSpPr>
          <p:spPr bwMode="auto">
            <a:xfrm>
              <a:off x="10253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6" name="Line 1628"/>
            <p:cNvCxnSpPr/>
            <p:nvPr/>
          </p:nvCxnSpPr>
          <p:spPr bwMode="auto">
            <a:xfrm>
              <a:off x="992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7" name="Line 1629"/>
            <p:cNvCxnSpPr/>
            <p:nvPr/>
          </p:nvCxnSpPr>
          <p:spPr bwMode="auto">
            <a:xfrm>
              <a:off x="10149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" name="Line 1639"/>
            <p:cNvCxnSpPr/>
            <p:nvPr/>
          </p:nvCxnSpPr>
          <p:spPr bwMode="auto">
            <a:xfrm>
              <a:off x="848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" name="Line 1640"/>
            <p:cNvCxnSpPr/>
            <p:nvPr/>
          </p:nvCxnSpPr>
          <p:spPr bwMode="auto">
            <a:xfrm>
              <a:off x="8596" y="8101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0" name="Line 1641"/>
            <p:cNvCxnSpPr/>
            <p:nvPr/>
          </p:nvCxnSpPr>
          <p:spPr bwMode="auto">
            <a:xfrm>
              <a:off x="8721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1" name="Line 1642"/>
            <p:cNvCxnSpPr/>
            <p:nvPr/>
          </p:nvCxnSpPr>
          <p:spPr bwMode="auto">
            <a:xfrm>
              <a:off x="8837" y="8105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2" name="Line 1643"/>
            <p:cNvCxnSpPr/>
            <p:nvPr/>
          </p:nvCxnSpPr>
          <p:spPr bwMode="auto">
            <a:xfrm>
              <a:off x="905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3" name="Line 1644"/>
            <p:cNvCxnSpPr/>
            <p:nvPr/>
          </p:nvCxnSpPr>
          <p:spPr bwMode="auto">
            <a:xfrm>
              <a:off x="9273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4" name="Line 1645"/>
            <p:cNvCxnSpPr/>
            <p:nvPr/>
          </p:nvCxnSpPr>
          <p:spPr bwMode="auto">
            <a:xfrm>
              <a:off x="8949" y="8109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5" name="Line 1646"/>
            <p:cNvCxnSpPr/>
            <p:nvPr/>
          </p:nvCxnSpPr>
          <p:spPr bwMode="auto">
            <a:xfrm>
              <a:off x="9169" y="8107"/>
              <a:ext cx="0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6" name="Rectangle 1655"/>
            <p:cNvSpPr>
              <a:spLocks noChangeArrowheads="1"/>
            </p:cNvSpPr>
            <p:nvPr/>
          </p:nvSpPr>
          <p:spPr bwMode="auto">
            <a:xfrm>
              <a:off x="390" y="7462"/>
              <a:ext cx="160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uz-Cyrl-UZ" dirty="0">
                  <a:effectLst/>
                  <a:latin typeface="Times New Roman"/>
                  <a:ea typeface="Times New Roman"/>
                </a:rPr>
                <a:t>1-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raund</a:t>
              </a:r>
              <a:r>
                <a:rPr lang="en-US" dirty="0">
                  <a:effectLst/>
                  <a:latin typeface="Times New Roman"/>
                  <a:ea typeface="Times New Roman"/>
                </a:rPr>
                <a:t> </a:t>
              </a:r>
              <a:r>
                <a:rPr lang="en-US" dirty="0" err="1">
                  <a:effectLst/>
                  <a:latin typeface="Times New Roman"/>
                  <a:ea typeface="Times New Roman"/>
                </a:rPr>
                <a:t>kaliti</a:t>
              </a:r>
              <a:endParaRPr lang="ru-RU" dirty="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797" name="Rectangle 1655"/>
            <p:cNvSpPr>
              <a:spLocks noChangeArrowheads="1"/>
            </p:cNvSpPr>
            <p:nvPr/>
          </p:nvSpPr>
          <p:spPr bwMode="auto">
            <a:xfrm>
              <a:off x="4452" y="6393"/>
              <a:ext cx="39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P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2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798" name="Rectangle 1655"/>
            <p:cNvSpPr>
              <a:spLocks noChangeArrowheads="1"/>
            </p:cNvSpPr>
            <p:nvPr/>
          </p:nvSpPr>
          <p:spPr bwMode="auto">
            <a:xfrm>
              <a:off x="8481" y="6393"/>
              <a:ext cx="39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P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3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799" name="Rectangle 1655"/>
            <p:cNvSpPr>
              <a:spLocks noChangeArrowheads="1"/>
            </p:cNvSpPr>
            <p:nvPr/>
          </p:nvSpPr>
          <p:spPr bwMode="auto">
            <a:xfrm>
              <a:off x="12501" y="6360"/>
              <a:ext cx="3920" cy="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>
                  <a:effectLst/>
                  <a:latin typeface="Times New Roman"/>
                  <a:ea typeface="Times New Roman"/>
                </a:rPr>
                <a:t>P</a:t>
              </a:r>
              <a:r>
                <a:rPr lang="en-US" baseline="-25000">
                  <a:effectLst/>
                  <a:latin typeface="Times New Roman"/>
                  <a:ea typeface="Times New Roman"/>
                </a:rPr>
                <a:t>4</a:t>
              </a:r>
              <a:endParaRPr lang="ru-RU">
                <a:effectLst/>
                <a:latin typeface="Times New Roman"/>
                <a:ea typeface="Times New Roman"/>
              </a:endParaRPr>
            </a:p>
          </p:txBody>
        </p:sp>
      </p:grpSp>
      <p:sp>
        <p:nvSpPr>
          <p:cNvPr id="803" name="Скругленный прямоугольник 802"/>
          <p:cNvSpPr/>
          <p:nvPr/>
        </p:nvSpPr>
        <p:spPr>
          <a:xfrm>
            <a:off x="107950" y="116632"/>
            <a:ext cx="8928100" cy="669691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820" name="Прямоугольник 819"/>
          <p:cNvSpPr/>
          <p:nvPr/>
        </p:nvSpPr>
        <p:spPr>
          <a:xfrm>
            <a:off x="179512" y="5157192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3975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pozitsiyasiga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algoritmining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1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raundiga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ChKTni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qo’llab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tenglamasiga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bo’linadi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1" name="Прямоугольник 820"/>
          <p:cNvSpPr/>
          <p:nvPr/>
        </p:nvSpPr>
        <p:spPr>
          <a:xfrm>
            <a:off x="631667" y="6053226"/>
            <a:ext cx="7704856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y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y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14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y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22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y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30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y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=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14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22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30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+ k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P = 0,53125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6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07950" y="44450"/>
            <a:ext cx="8928100" cy="6769100"/>
          </a:xfrm>
          <a:prstGeom prst="roundRect">
            <a:avLst>
              <a:gd name="adj" fmla="val 6704"/>
            </a:avLst>
          </a:prstGeom>
          <a:blipFill>
            <a:blip r:embed="rId2"/>
            <a:tile tx="0" ty="0" sx="100000" sy="100000" flip="none" algn="tl"/>
          </a:blip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4" t="20232" r="9306" b="3490"/>
          <a:stretch>
            <a:fillRect/>
          </a:stretch>
        </p:blipFill>
        <p:spPr bwMode="auto">
          <a:xfrm>
            <a:off x="292100" y="981075"/>
            <a:ext cx="8726488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1915"/>
          <p:cNvSpPr txBox="1">
            <a:spLocks noChangeArrowheads="1"/>
          </p:cNvSpPr>
          <p:nvPr/>
        </p:nvSpPr>
        <p:spPr bwMode="auto">
          <a:xfrm>
            <a:off x="310925" y="188639"/>
            <a:ext cx="8467401" cy="573377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upright="1"/>
          <a:lstStyle/>
          <a:p>
            <a:pPr algn="ctr">
              <a:spcAft>
                <a:spcPts val="0"/>
              </a:spcAft>
              <a:defRPr/>
            </a:pPr>
            <a:r>
              <a:rPr lang="en-US" sz="2400" b="1" dirty="0">
                <a:latin typeface="Times New Roman"/>
                <a:ea typeface="Times New Roman"/>
              </a:rPr>
              <a:t>AES </a:t>
            </a:r>
            <a:r>
              <a:rPr lang="en-US" sz="2400" b="1" dirty="0" err="1">
                <a:latin typeface="Times New Roman"/>
                <a:ea typeface="Times New Roman"/>
              </a:rPr>
              <a:t>standart</a:t>
            </a:r>
            <a:r>
              <a:rPr lang="en-US" sz="2400" b="1" dirty="0">
                <a:latin typeface="Times New Roman"/>
                <a:ea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</a:rPr>
              <a:t>simmetrik</a:t>
            </a:r>
            <a:r>
              <a:rPr lang="en-US" sz="2400" b="1" dirty="0">
                <a:latin typeface="Times New Roman"/>
                <a:ea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</a:rPr>
              <a:t>shifrlash</a:t>
            </a:r>
            <a:r>
              <a:rPr lang="en-US" sz="2400" b="1" dirty="0">
                <a:latin typeface="Times New Roman"/>
                <a:ea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</a:rPr>
              <a:t>algoritmi</a:t>
            </a:r>
            <a:r>
              <a:rPr lang="uz-Cyrl-UZ" sz="2400" b="1" dirty="0">
                <a:latin typeface="Times New Roman"/>
                <a:ea typeface="Times New Roman"/>
              </a:rPr>
              <a:t> </a:t>
            </a:r>
            <a:endParaRPr lang="ru-RU" sz="2400" b="1" dirty="0"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1934208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643182"/>
          <a:ext cx="8358214" cy="12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Группа 10"/>
          <p:cNvGrpSpPr/>
          <p:nvPr/>
        </p:nvGrpSpPr>
        <p:grpSpPr>
          <a:xfrm>
            <a:off x="1142976" y="3434716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1" name="Пятиугольник 10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</a:t>
              </a:r>
              <a:r>
                <a:rPr lang="uz-Cyrl-UZ" sz="2400" b="1" dirty="0" smtClean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shifrlash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algoritmiga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o’tkazish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daturiy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ta’minotini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yaratish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Группа 13"/>
          <p:cNvGrpSpPr/>
          <p:nvPr/>
        </p:nvGrpSpPr>
        <p:grpSpPr>
          <a:xfrm>
            <a:off x="1142976" y="1863080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Пятиугольник 13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sp3d prstMaterial="dkEdge">
              <a:bevelT w="82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Пятиугольник 4"/>
            <p:cNvSpPr/>
            <p:nvPr/>
          </p:nvSpPr>
          <p:spPr>
            <a:xfrm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AES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o’quv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algoritmiga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o’tkazish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dasturiy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ta’minotini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yaratish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Овал 15"/>
          <p:cNvSpPr/>
          <p:nvPr/>
        </p:nvSpPr>
        <p:spPr>
          <a:xfrm>
            <a:off x="785786" y="1791642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3</a:t>
            </a:r>
            <a:r>
              <a:rPr lang="uz-Cyrl-UZ" sz="2200" b="1" dirty="0" smtClean="0"/>
              <a:t>.1</a:t>
            </a:r>
            <a:endParaRPr lang="ru-RU" sz="2200" b="1" dirty="0"/>
          </a:p>
        </p:txBody>
      </p:sp>
      <p:sp>
        <p:nvSpPr>
          <p:cNvPr id="17" name="Овал 16"/>
          <p:cNvSpPr/>
          <p:nvPr/>
        </p:nvSpPr>
        <p:spPr>
          <a:xfrm>
            <a:off x="785786" y="3291840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3</a:t>
            </a:r>
            <a:r>
              <a:rPr lang="uz-Cyrl-UZ" sz="2200" b="1" dirty="0" smtClean="0"/>
              <a:t>.2</a:t>
            </a:r>
            <a:endParaRPr lang="ru-RU" sz="2200" b="1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57982" y="281813"/>
            <a:ext cx="1738087" cy="60000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III </a:t>
            </a:r>
            <a:r>
              <a:rPr lang="en-US" sz="2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BOB</a:t>
            </a:r>
            <a:endParaRPr lang="ru-RU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755576" y="116632"/>
            <a:ext cx="8460432" cy="872658"/>
            <a:chOff x="755576" y="116632"/>
            <a:chExt cx="8460432" cy="872658"/>
          </a:xfrm>
        </p:grpSpPr>
        <p:sp>
          <p:nvSpPr>
            <p:cNvPr id="4" name="Блок-схема: сохраненные данные 3"/>
            <p:cNvSpPr/>
            <p:nvPr/>
          </p:nvSpPr>
          <p:spPr>
            <a:xfrm rot="10800000">
              <a:off x="755576" y="197202"/>
              <a:ext cx="8280920" cy="792088"/>
            </a:xfrm>
            <a:prstGeom prst="flowChartOnlineStorag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2195736" y="116632"/>
              <a:ext cx="702027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uz-Cyrl-UZ" sz="24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AES simmetrik shifrlash algoritmi uchun chiziqli kriptotahlil usuliga dasturiy ta’minotni yaratish</a:t>
              </a:r>
              <a:endParaRPr lang="ru-RU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9293708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nimBg="1"/>
      <p:bldP spid="17" grpId="0" build="p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o’quv algoritmi 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1" t="15746" r="4655" b="18053"/>
          <a:stretch/>
        </p:blipFill>
        <p:spPr bwMode="auto">
          <a:xfrm>
            <a:off x="150910" y="1556792"/>
            <a:ext cx="8813577" cy="468052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150267" y="1546528"/>
            <a:ext cx="8813577" cy="4968552"/>
            <a:chOff x="254928" y="1889448"/>
            <a:chExt cx="8813577" cy="4968552"/>
          </a:xfrm>
        </p:grpSpPr>
        <p:pic>
          <p:nvPicPr>
            <p:cNvPr id="7" name="Рисунок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54928" y="1889448"/>
              <a:ext cx="8813577" cy="4968552"/>
            </a:xfrm>
            <a:prstGeom prst="rect">
              <a:avLst/>
            </a:prstGeom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8" name="Рисунок 7"/>
            <p:cNvPicPr/>
            <p:nvPr/>
          </p:nvPicPr>
          <p:blipFill rotWithShape="1">
            <a:blip r:embed="rId4"/>
            <a:srcRect l="35565" t="90379" r="44523" b="3038"/>
            <a:stretch/>
          </p:blipFill>
          <p:spPr bwMode="auto">
            <a:xfrm>
              <a:off x="3500064" y="6381522"/>
              <a:ext cx="1608686" cy="32883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9922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4339" y="188640"/>
            <a:ext cx="834041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sz="20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Pi,i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=1,2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ru-RU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7" name="Рисунок 26"/>
          <p:cNvPicPr/>
          <p:nvPr/>
        </p:nvPicPr>
        <p:blipFill rotWithShape="1">
          <a:blip r:embed="rId2"/>
          <a:srcRect l="4023" t="15815" r="4599" b="17614"/>
          <a:stretch/>
        </p:blipFill>
        <p:spPr bwMode="auto">
          <a:xfrm>
            <a:off x="251520" y="1412776"/>
            <a:ext cx="8640960" cy="4968552"/>
          </a:xfrm>
          <a:prstGeom prst="rect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Прямоугольник 27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o’quv algoritmi 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pic>
        <p:nvPicPr>
          <p:cNvPr id="29" name="Рисунок 28"/>
          <p:cNvPicPr/>
          <p:nvPr/>
        </p:nvPicPr>
        <p:blipFill rotWithShape="1">
          <a:blip r:embed="rId3"/>
          <a:srcRect l="4022" t="15447" r="4368" b="17798"/>
          <a:stretch/>
        </p:blipFill>
        <p:spPr bwMode="auto">
          <a:xfrm>
            <a:off x="244065" y="1383748"/>
            <a:ext cx="8640960" cy="4968552"/>
          </a:xfrm>
          <a:prstGeom prst="rect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130" name="Picture 67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" t="15640" r="5185" b="18222"/>
          <a:stretch/>
        </p:blipFill>
        <p:spPr bwMode="auto">
          <a:xfrm>
            <a:off x="251519" y="1398262"/>
            <a:ext cx="8633505" cy="4983066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31" name="Picture 67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5" t="16401" r="4710" b="17873"/>
          <a:stretch/>
        </p:blipFill>
        <p:spPr bwMode="auto">
          <a:xfrm>
            <a:off x="245885" y="1395827"/>
            <a:ext cx="8653653" cy="501784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33" name="Picture 67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" t="15561" r="4604" b="17704"/>
          <a:stretch/>
        </p:blipFill>
        <p:spPr bwMode="auto">
          <a:xfrm>
            <a:off x="258579" y="1369234"/>
            <a:ext cx="8640959" cy="4997579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Скругленный прямоугольник 13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805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Рисунок 211"/>
          <p:cNvPicPr/>
          <p:nvPr/>
        </p:nvPicPr>
        <p:blipFill>
          <a:blip r:embed="rId2"/>
          <a:stretch>
            <a:fillRect/>
          </a:stretch>
        </p:blipFill>
        <p:spPr>
          <a:xfrm>
            <a:off x="236013" y="1340768"/>
            <a:ext cx="8728474" cy="5328592"/>
          </a:xfrm>
          <a:prstGeom prst="rect">
            <a:avLst/>
          </a:prstGeom>
        </p:spPr>
      </p:pic>
      <p:sp>
        <p:nvSpPr>
          <p:cNvPr id="213" name="Прямоугольник 212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o’quv algoritmi 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cxnSp>
        <p:nvCxnSpPr>
          <p:cNvPr id="214" name="Прямая соединительная линия 213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56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o’quv algoritmi 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798" name="Picture 31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3" t="16222" r="9722" b="11111"/>
          <a:stretch/>
        </p:blipFill>
        <p:spPr bwMode="auto">
          <a:xfrm>
            <a:off x="180117" y="1435224"/>
            <a:ext cx="8799229" cy="511983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99" name="Picture 31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3" t="16400" r="10101" b="11361"/>
          <a:stretch/>
        </p:blipFill>
        <p:spPr bwMode="auto">
          <a:xfrm>
            <a:off x="153427" y="1435224"/>
            <a:ext cx="8824170" cy="5119835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00" name="Picture 32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1" t="16401" r="10101" b="11360"/>
          <a:stretch/>
        </p:blipFill>
        <p:spPr bwMode="auto">
          <a:xfrm>
            <a:off x="180117" y="1447428"/>
            <a:ext cx="8784370" cy="511500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Группа 11"/>
          <p:cNvGrpSpPr/>
          <p:nvPr/>
        </p:nvGrpSpPr>
        <p:grpSpPr>
          <a:xfrm>
            <a:off x="180489" y="1453158"/>
            <a:ext cx="8771828" cy="5101901"/>
            <a:chOff x="180489" y="1453158"/>
            <a:chExt cx="8771828" cy="5101901"/>
          </a:xfrm>
        </p:grpSpPr>
        <p:pic>
          <p:nvPicPr>
            <p:cNvPr id="20802" name="Picture 32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489" y="1453158"/>
              <a:ext cx="8771828" cy="5101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3" name="Прямая соединительная линия 2"/>
            <p:cNvCxnSpPr/>
            <p:nvPr/>
          </p:nvCxnSpPr>
          <p:spPr>
            <a:xfrm>
              <a:off x="3184798" y="1844824"/>
              <a:ext cx="165618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804" name="Picture 3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12" y="1454668"/>
            <a:ext cx="8792405" cy="5113869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05" name="Picture 3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89" y="1454668"/>
            <a:ext cx="8771828" cy="510190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Скругленный прямоугольник 14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19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</a:t>
            </a:r>
            <a:r>
              <a:rPr lang="uz-Cyrl-UZ" sz="2400" b="1" dirty="0" smtClean="0">
                <a:solidFill>
                  <a:srgbClr val="C00000"/>
                </a:solidFill>
              </a:rPr>
              <a:t>algoritmi </a:t>
            </a:r>
            <a:r>
              <a:rPr lang="uz-Cyrl-UZ" sz="2400" b="1" dirty="0">
                <a:solidFill>
                  <a:srgbClr val="C00000"/>
                </a:solidFill>
              </a:rPr>
              <a:t>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8" name="Рисунок 17"/>
          <p:cNvPicPr/>
          <p:nvPr/>
        </p:nvPicPr>
        <p:blipFill>
          <a:blip r:embed="rId2"/>
          <a:stretch>
            <a:fillRect/>
          </a:stretch>
        </p:blipFill>
        <p:spPr>
          <a:xfrm>
            <a:off x="136531" y="1340768"/>
            <a:ext cx="8856983" cy="5400600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976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</a:t>
            </a:r>
            <a:r>
              <a:rPr lang="uz-Cyrl-UZ" sz="2400" b="1" dirty="0" smtClean="0">
                <a:solidFill>
                  <a:srgbClr val="C00000"/>
                </a:solidFill>
              </a:rPr>
              <a:t>algoritmi </a:t>
            </a:r>
            <a:r>
              <a:rPr lang="uz-Cyrl-UZ" sz="2400" b="1" dirty="0">
                <a:solidFill>
                  <a:srgbClr val="C00000"/>
                </a:solidFill>
              </a:rPr>
              <a:t>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0" t="9482" r="7726" b="9587"/>
          <a:stretch/>
        </p:blipFill>
        <p:spPr bwMode="auto">
          <a:xfrm>
            <a:off x="137952" y="1268760"/>
            <a:ext cx="8826535" cy="5472608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263052" y="4250116"/>
            <a:ext cx="3528392" cy="23762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58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>
                <a:solidFill>
                  <a:srgbClr val="C00000"/>
                </a:solidFill>
              </a:rPr>
              <a:t>AES </a:t>
            </a:r>
            <a:r>
              <a:rPr lang="uz-Cyrl-UZ" sz="2400" b="1" dirty="0" smtClean="0">
                <a:solidFill>
                  <a:srgbClr val="C00000"/>
                </a:solidFill>
              </a:rPr>
              <a:t>algoritmi </a:t>
            </a:r>
            <a:r>
              <a:rPr lang="uz-Cyrl-UZ" sz="2400" b="1" dirty="0">
                <a:solidFill>
                  <a:srgbClr val="C00000"/>
                </a:solidFill>
              </a:rPr>
              <a:t>uchun chiziqli kriptotahlil </a:t>
            </a:r>
            <a:r>
              <a:rPr lang="uz-Cyrl-UZ" sz="2400" b="1" dirty="0" smtClean="0">
                <a:solidFill>
                  <a:srgbClr val="C00000"/>
                </a:solidFill>
              </a:rPr>
              <a:t>usuli</a:t>
            </a:r>
            <a:r>
              <a:rPr lang="en-US" sz="2400" b="1" dirty="0" err="1" smtClean="0">
                <a:solidFill>
                  <a:srgbClr val="C00000"/>
                </a:solidFill>
              </a:rPr>
              <a:t>ga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</a:t>
            </a:r>
            <a:endParaRPr lang="ru-RU" sz="2400" b="1" dirty="0">
              <a:solidFill>
                <a:srgbClr val="C00000"/>
              </a:solidFill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379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6" t="10000" r="8056" b="10000"/>
          <a:stretch/>
        </p:blipFill>
        <p:spPr bwMode="auto">
          <a:xfrm>
            <a:off x="236965" y="1412776"/>
            <a:ext cx="8674565" cy="5170271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t="9680" r="7917" b="10000"/>
          <a:stretch/>
        </p:blipFill>
        <p:spPr bwMode="auto">
          <a:xfrm>
            <a:off x="251520" y="1412776"/>
            <a:ext cx="8660010" cy="5170258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5"/>
          <p:cNvGrpSpPr/>
          <p:nvPr/>
        </p:nvGrpSpPr>
        <p:grpSpPr>
          <a:xfrm>
            <a:off x="270993" y="1412776"/>
            <a:ext cx="8640538" cy="5170258"/>
            <a:chOff x="270993" y="1412776"/>
            <a:chExt cx="8640538" cy="5170258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797" name="Picture 5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17" t="10000" r="7917" b="10000"/>
            <a:stretch/>
          </p:blipFill>
          <p:spPr bwMode="auto">
            <a:xfrm>
              <a:off x="270993" y="1412776"/>
              <a:ext cx="8640538" cy="5170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798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809" y="1983373"/>
              <a:ext cx="2719388" cy="2014538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pic>
      </p:grpSp>
      <p:grpSp>
        <p:nvGrpSpPr>
          <p:cNvPr id="9" name="Группа 8"/>
          <p:cNvGrpSpPr/>
          <p:nvPr/>
        </p:nvGrpSpPr>
        <p:grpSpPr>
          <a:xfrm>
            <a:off x="294756" y="1322774"/>
            <a:ext cx="8634013" cy="5148145"/>
            <a:chOff x="-113504" y="3896847"/>
            <a:chExt cx="8634013" cy="5148145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799" name="Picture 7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16" t="10000" r="7778" b="10000"/>
            <a:stretch/>
          </p:blipFill>
          <p:spPr bwMode="auto">
            <a:xfrm>
              <a:off x="-113504" y="3896847"/>
              <a:ext cx="8634013" cy="5148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800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64" y="5143228"/>
              <a:ext cx="8220075" cy="1428750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pic>
      </p:grpSp>
      <p:grpSp>
        <p:nvGrpSpPr>
          <p:cNvPr id="14" name="Группа 13"/>
          <p:cNvGrpSpPr/>
          <p:nvPr/>
        </p:nvGrpSpPr>
        <p:grpSpPr>
          <a:xfrm>
            <a:off x="236966" y="1322774"/>
            <a:ext cx="8674564" cy="5260260"/>
            <a:chOff x="236966" y="1322774"/>
            <a:chExt cx="8674564" cy="5260260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801" name="Picture 9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17" t="10000" r="8056" b="10000"/>
            <a:stretch/>
          </p:blipFill>
          <p:spPr bwMode="auto">
            <a:xfrm>
              <a:off x="236966" y="1322774"/>
              <a:ext cx="8674564" cy="5260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Прямая соединительная линия 12"/>
            <p:cNvCxnSpPr/>
            <p:nvPr/>
          </p:nvCxnSpPr>
          <p:spPr>
            <a:xfrm>
              <a:off x="481224" y="3036362"/>
              <a:ext cx="4450816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7" name="Группа 16"/>
          <p:cNvGrpSpPr/>
          <p:nvPr/>
        </p:nvGrpSpPr>
        <p:grpSpPr>
          <a:xfrm>
            <a:off x="236965" y="1312048"/>
            <a:ext cx="8674565" cy="5270986"/>
            <a:chOff x="236965" y="1312048"/>
            <a:chExt cx="8674565" cy="5270986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802" name="Picture 10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5" t="9334" r="7778" b="9556"/>
            <a:stretch/>
          </p:blipFill>
          <p:spPr bwMode="auto">
            <a:xfrm>
              <a:off x="236965" y="1312048"/>
              <a:ext cx="8674565" cy="52709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Прямая соединительная линия 15"/>
            <p:cNvCxnSpPr/>
            <p:nvPr/>
          </p:nvCxnSpPr>
          <p:spPr>
            <a:xfrm>
              <a:off x="433636" y="4715619"/>
              <a:ext cx="445081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/>
          <p:cNvGrpSpPr/>
          <p:nvPr/>
        </p:nvGrpSpPr>
        <p:grpSpPr>
          <a:xfrm>
            <a:off x="236966" y="1312048"/>
            <a:ext cx="8674564" cy="5270985"/>
            <a:chOff x="236966" y="1312048"/>
            <a:chExt cx="8674564" cy="5270985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803" name="Picture 11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0" t="10000" r="7884" b="10000"/>
            <a:stretch/>
          </p:blipFill>
          <p:spPr bwMode="auto">
            <a:xfrm>
              <a:off x="236966" y="1312048"/>
              <a:ext cx="8674564" cy="5270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9" name="Прямая соединительная линия 18"/>
            <p:cNvCxnSpPr/>
            <p:nvPr/>
          </p:nvCxnSpPr>
          <p:spPr>
            <a:xfrm>
              <a:off x="410050" y="6208284"/>
              <a:ext cx="445081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Группа 20"/>
          <p:cNvGrpSpPr/>
          <p:nvPr/>
        </p:nvGrpSpPr>
        <p:grpSpPr>
          <a:xfrm>
            <a:off x="251520" y="1312048"/>
            <a:ext cx="8660010" cy="5270985"/>
            <a:chOff x="251520" y="1312048"/>
            <a:chExt cx="8660010" cy="5270985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3804" name="Picture 12"/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1" t="9680" r="7883" b="10000"/>
            <a:stretch/>
          </p:blipFill>
          <p:spPr bwMode="auto">
            <a:xfrm>
              <a:off x="251520" y="1312048"/>
              <a:ext cx="8660010" cy="5270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805" name="Picture 13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5458" y="2328889"/>
              <a:ext cx="4505963" cy="3338043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pic>
      </p:grpSp>
      <p:sp>
        <p:nvSpPr>
          <p:cNvPr id="24" name="Скругленный прямоугольник 23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50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643182"/>
          <a:ext cx="8358214" cy="12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Группа 10"/>
          <p:cNvGrpSpPr/>
          <p:nvPr/>
        </p:nvGrpSpPr>
        <p:grpSpPr>
          <a:xfrm>
            <a:off x="1142976" y="3434716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1" name="Пятиугольник 10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ятиугольник 4"/>
            <p:cNvSpPr/>
            <p:nvPr/>
          </p:nvSpPr>
          <p:spPr>
            <a:xfrm rot="21600000"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</a:t>
              </a:r>
              <a:r>
                <a:rPr lang="uz-Cyrl-UZ" sz="2400" b="1" dirty="0" smtClean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shifrlash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algoritmiga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o’tkazish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daturiy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ta’minotidan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olingan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natijalar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Группа 13"/>
          <p:cNvGrpSpPr/>
          <p:nvPr/>
        </p:nvGrpSpPr>
        <p:grpSpPr>
          <a:xfrm>
            <a:off x="1142976" y="1863080"/>
            <a:ext cx="7643866" cy="1214446"/>
            <a:chOff x="571493" y="0"/>
            <a:chExt cx="7215226" cy="12858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4" name="Пятиугольник 13"/>
            <p:cNvSpPr/>
            <p:nvPr/>
          </p:nvSpPr>
          <p:spPr>
            <a:xfrm rot="10800000">
              <a:off x="571493" y="0"/>
              <a:ext cx="7215226" cy="1285884"/>
            </a:xfrm>
            <a:prstGeom prst="homePlate">
              <a:avLst/>
            </a:prstGeom>
            <a:sp3d prstMaterial="dkEdge">
              <a:bevelT w="8200" h="381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Пятиугольник 4"/>
            <p:cNvSpPr/>
            <p:nvPr/>
          </p:nvSpPr>
          <p:spPr>
            <a:xfrm>
              <a:off x="892967" y="0"/>
              <a:ext cx="6893752" cy="1285884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567039" tIns="91440" rIns="170688" bIns="91440" spcCol="1270" anchor="ctr"/>
            <a:lstStyle/>
            <a:p>
              <a:pPr algn="just">
                <a:defRPr/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AES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o’quv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algoritmiga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chiziqli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kriptotahlil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o’tkazish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dasturiy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ta’minotidan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olingan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dirty="0" err="1" smtClean="0">
                  <a:latin typeface="Times New Roman" pitchFamily="18" charset="0"/>
                  <a:cs typeface="Times New Roman" pitchFamily="18" charset="0"/>
                </a:rPr>
                <a:t>natijalar</a:t>
              </a:r>
              <a:endPara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Овал 15"/>
          <p:cNvSpPr/>
          <p:nvPr/>
        </p:nvSpPr>
        <p:spPr>
          <a:xfrm>
            <a:off x="785786" y="1791642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 smtClean="0"/>
              <a:t>4</a:t>
            </a:r>
            <a:r>
              <a:rPr lang="uz-Cyrl-UZ" sz="2200" b="1" dirty="0" smtClean="0"/>
              <a:t>.1</a:t>
            </a:r>
            <a:endParaRPr lang="ru-RU" sz="2200" b="1" dirty="0"/>
          </a:p>
        </p:txBody>
      </p:sp>
      <p:sp>
        <p:nvSpPr>
          <p:cNvPr id="17" name="Овал 16"/>
          <p:cNvSpPr/>
          <p:nvPr/>
        </p:nvSpPr>
        <p:spPr>
          <a:xfrm>
            <a:off x="785786" y="3291840"/>
            <a:ext cx="857256" cy="857256"/>
          </a:xfrm>
          <a:prstGeom prst="ellipse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200" b="1" dirty="0"/>
              <a:t>4</a:t>
            </a:r>
            <a:r>
              <a:rPr lang="uz-Cyrl-UZ" sz="2200" b="1" dirty="0" smtClean="0"/>
              <a:t>.2</a:t>
            </a:r>
            <a:endParaRPr lang="ru-RU" sz="2200" b="1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57982" y="281813"/>
            <a:ext cx="1738087" cy="60000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IV </a:t>
            </a:r>
            <a:r>
              <a:rPr lang="en-US" sz="2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BOB</a:t>
            </a:r>
            <a:endParaRPr lang="ru-RU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755576" y="197201"/>
            <a:ext cx="8316416" cy="792089"/>
            <a:chOff x="755576" y="197201"/>
            <a:chExt cx="8316416" cy="792089"/>
          </a:xfrm>
        </p:grpSpPr>
        <p:sp>
          <p:nvSpPr>
            <p:cNvPr id="4" name="Блок-схема: сохраненные данные 3"/>
            <p:cNvSpPr/>
            <p:nvPr/>
          </p:nvSpPr>
          <p:spPr>
            <a:xfrm rot="10800000">
              <a:off x="755576" y="197202"/>
              <a:ext cx="8280920" cy="792088"/>
            </a:xfrm>
            <a:prstGeom prst="flowChartOnlineStorag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2051720" y="197201"/>
              <a:ext cx="702027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uz-Cyrl-UZ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AES simmetrik shifrlash </a:t>
              </a:r>
              <a:r>
                <a:rPr lang="uz-Cyrl-UZ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algoritmi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ga</a:t>
              </a:r>
              <a:r>
                <a:rPr lang="uz-Cyrl-UZ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chiziqli </a:t>
              </a:r>
              <a:r>
                <a:rPr lang="uz-Cyrl-UZ" sz="2000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kriptotahlil </a:t>
              </a:r>
              <a:r>
                <a:rPr lang="uz-Cyrl-UZ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usuli</a:t>
              </a:r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uchun</a:t>
              </a:r>
              <a:r>
                <a:rPr lang="uz-Cyrl-UZ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yaratilgan</a:t>
              </a:r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dasturiy ta’minot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dan</a:t>
              </a:r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olingan</a:t>
              </a:r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natijalar</a:t>
              </a:r>
              <a:r>
                <a:rPr lang="en-US" sz="20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b="1" dirty="0" err="1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tahlili</a:t>
              </a:r>
              <a:endParaRPr lang="ru-RU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nimBg="1"/>
      <p:bldP spid="17" grpId="0" build="p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единительная линия 16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</a:rPr>
              <a:t>AES </a:t>
            </a:r>
            <a:r>
              <a:rPr lang="uz-Cyrl-UZ" sz="2400" b="1" dirty="0">
                <a:solidFill>
                  <a:srgbClr val="C00000"/>
                </a:solidFill>
              </a:rPr>
              <a:t>o’quv algoritmi uchun chiziqli kriptotahlil </a:t>
            </a:r>
            <a:r>
              <a:rPr lang="en-US" sz="2400" b="1" dirty="0" err="1" smtClean="0">
                <a:solidFill>
                  <a:srgbClr val="C00000"/>
                </a:solidFill>
              </a:rPr>
              <a:t>o’tkazish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ta’minotini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baholash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89579"/>
              </p:ext>
            </p:extLst>
          </p:nvPr>
        </p:nvGraphicFramePr>
        <p:xfrm>
          <a:off x="431539" y="2348880"/>
          <a:ext cx="8352927" cy="42523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3834"/>
                <a:gridCol w="964339"/>
                <a:gridCol w="648072"/>
                <a:gridCol w="664290"/>
                <a:gridCol w="407929"/>
                <a:gridCol w="420494"/>
                <a:gridCol w="420494"/>
                <a:gridCol w="462377"/>
                <a:gridCol w="360720"/>
                <a:gridCol w="432048"/>
                <a:gridCol w="576064"/>
                <a:gridCol w="591240"/>
                <a:gridCol w="454000"/>
                <a:gridCol w="454000"/>
                <a:gridCol w="456513"/>
                <a:gridCol w="456513"/>
              </a:tblGrid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ru-RU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Kiruvchi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pozitsiyalar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soni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S1 blok akslantirishi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S2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blok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akslantirishi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09175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Kiruvchi-lar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soni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Diagonal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shaklga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keladigan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soni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 va unga mos SHTlar soni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 va unga mos SHTlar soni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624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71755" marR="71755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5000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4000 ta</a:t>
                      </a:r>
                      <a:endParaRPr lang="ru-RU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5000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4000 ta</a:t>
                      </a:r>
                      <a:endParaRPr lang="ru-RU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 ta</a:t>
                      </a:r>
                      <a:endParaRPr lang="ru-RU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 vert="vert270"/>
                </a:tc>
              </a:tr>
              <a:tr h="3091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cap="all">
                          <a:ln w="4496" cap="flat" cmpd="sng" algn="ctr">
                            <a:solidFill>
                              <a:srgbClr val="5C437A"/>
                            </a:solidFill>
                            <a:prstDash val="solid"/>
                            <a:round/>
                          </a:ln>
                          <a:effectLst>
                            <a:reflection blurRad="12700" stA="28000" endPos="45000" dist="1003" dir="5400000" sy="-100000" algn="bl"/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2612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10000</a:t>
                      </a:r>
                      <a:endParaRPr lang="ru-RU" sz="2000" b="1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2889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2828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584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183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lang="ru-RU" sz="2000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lang="ru-RU" sz="2000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400</a:t>
                      </a:r>
                      <a:endParaRPr lang="ru-RU" sz="2000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lang="ru-RU" sz="2000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lang="ru-RU" sz="2000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ru-RU" sz="2000" b="1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2054" marR="6205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93137" y="1148551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334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Quyida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jadvallarda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algoritmda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qo’llanilgan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raund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bo’lgan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holati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test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natijalari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shakli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94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7" name="Диаграмма 6"/>
          <p:cNvGraphicFramePr/>
          <p:nvPr>
            <p:extLst>
              <p:ext uri="{D42A27DB-BD31-4B8C-83A1-F6EECF244321}">
                <p14:modId xmlns:p14="http://schemas.microsoft.com/office/powerpoint/2010/main" val="1292679652"/>
              </p:ext>
            </p:extLst>
          </p:nvPr>
        </p:nvGraphicFramePr>
        <p:xfrm>
          <a:off x="899592" y="1458457"/>
          <a:ext cx="7632848" cy="4941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193393" y="1124744"/>
            <a:ext cx="8843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S1 </a:t>
            </a:r>
            <a:r>
              <a:rPr lang="en-US" sz="2400" b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blok</a:t>
            </a:r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SubBytes</a:t>
            </a:r>
            <a:r>
              <a:rPr lang="en-US" sz="2400" b="1" i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akslantirishiga</a:t>
            </a:r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qiymatlarning</a:t>
            </a:r>
            <a:r>
              <a:rPr lang="en-US" sz="2400" b="1" dirty="0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AF04CC"/>
                </a:solidFill>
                <a:latin typeface="Times New Roman" pitchFamily="18" charset="0"/>
                <a:cs typeface="Times New Roman" pitchFamily="18" charset="0"/>
              </a:rPr>
              <a:t>grafgi</a:t>
            </a:r>
            <a:endParaRPr lang="ru-RU" sz="2400" b="1" dirty="0">
              <a:solidFill>
                <a:srgbClr val="AF04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</a:rPr>
              <a:t>AES </a:t>
            </a:r>
            <a:r>
              <a:rPr lang="uz-Cyrl-UZ" sz="2400" b="1" dirty="0">
                <a:solidFill>
                  <a:srgbClr val="C00000"/>
                </a:solidFill>
              </a:rPr>
              <a:t>o’quv algoritmi uchun chiziqli kriptotahlil </a:t>
            </a:r>
            <a:r>
              <a:rPr lang="en-US" sz="2400" b="1" dirty="0" err="1" smtClean="0">
                <a:solidFill>
                  <a:srgbClr val="C00000"/>
                </a:solidFill>
              </a:rPr>
              <a:t>o’tkazish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ta’minotini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baholash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1383" y="6093296"/>
            <a:ext cx="89284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i="1" dirty="0">
                <a:solidFill>
                  <a:srgbClr val="FF0000"/>
                </a:solidFill>
              </a:rPr>
              <a:t>X</a:t>
            </a:r>
            <a:r>
              <a:rPr lang="en-US" sz="1600" i="1" dirty="0"/>
              <a:t> –</a:t>
            </a:r>
            <a:r>
              <a:rPr lang="en-US" sz="1600" dirty="0"/>
              <a:t> OT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unga</a:t>
            </a:r>
            <a:r>
              <a:rPr lang="en-US" sz="1600" dirty="0"/>
              <a:t> </a:t>
            </a:r>
            <a:r>
              <a:rPr lang="en-US" sz="1600" dirty="0" err="1"/>
              <a:t>mos</a:t>
            </a:r>
            <a:r>
              <a:rPr lang="en-US" sz="1600" dirty="0"/>
              <a:t> SHT </a:t>
            </a:r>
            <a:r>
              <a:rPr lang="en-US" sz="1600" dirty="0" err="1"/>
              <a:t>matn</a:t>
            </a:r>
            <a:r>
              <a:rPr lang="en-US" sz="1600" dirty="0"/>
              <a:t> </a:t>
            </a:r>
            <a:r>
              <a:rPr lang="en-US" sz="1600" dirty="0" err="1"/>
              <a:t>juftliklari</a:t>
            </a:r>
            <a:r>
              <a:rPr lang="en-US" sz="1600" dirty="0"/>
              <a:t> </a:t>
            </a:r>
            <a:r>
              <a:rPr lang="en-US" sz="1600" dirty="0" err="1"/>
              <a:t>soni</a:t>
            </a:r>
            <a:r>
              <a:rPr lang="en-US" sz="1600" dirty="0"/>
              <a:t>, </a:t>
            </a:r>
            <a:r>
              <a:rPr lang="en-US" sz="1600" b="1" i="1" dirty="0">
                <a:solidFill>
                  <a:srgbClr val="FF0000"/>
                </a:solidFill>
              </a:rPr>
              <a:t>Y</a:t>
            </a:r>
            <a:r>
              <a:rPr lang="en-US" sz="1600" i="1" dirty="0"/>
              <a:t> – </a:t>
            </a:r>
            <a:r>
              <a:rPr lang="en-US" sz="1600" dirty="0" err="1"/>
              <a:t>kiruvchi</a:t>
            </a:r>
            <a:r>
              <a:rPr lang="en-US" sz="1600" dirty="0"/>
              <a:t> </a:t>
            </a:r>
            <a:r>
              <a:rPr lang="en-US" sz="1600" dirty="0" err="1"/>
              <a:t>ochiq</a:t>
            </a:r>
            <a:r>
              <a:rPr lang="en-US" sz="1600" dirty="0"/>
              <a:t> </a:t>
            </a:r>
            <a:r>
              <a:rPr lang="en-US" sz="1600" dirty="0" err="1"/>
              <a:t>matn</a:t>
            </a:r>
            <a:r>
              <a:rPr lang="en-US" sz="1600" dirty="0"/>
              <a:t> </a:t>
            </a:r>
            <a:r>
              <a:rPr lang="en-US" sz="1600" dirty="0" err="1" smtClean="0"/>
              <a:t>pozitsiyalar</a:t>
            </a:r>
            <a:r>
              <a:rPr lang="en-US" sz="1600" dirty="0" smtClean="0"/>
              <a:t> </a:t>
            </a:r>
            <a:r>
              <a:rPr lang="en-US" sz="1600" dirty="0" err="1"/>
              <a:t>soni</a:t>
            </a:r>
            <a:r>
              <a:rPr lang="en-US" sz="1600" dirty="0"/>
              <a:t>, </a:t>
            </a:r>
            <a:endParaRPr lang="en-US" sz="1600" dirty="0" smtClean="0"/>
          </a:p>
          <a:p>
            <a:pPr algn="just"/>
            <a:r>
              <a:rPr lang="en-US" sz="1600" b="1" i="1" dirty="0" smtClean="0">
                <a:solidFill>
                  <a:srgbClr val="FF0000"/>
                </a:solidFill>
              </a:rPr>
              <a:t>Z</a:t>
            </a:r>
            <a:r>
              <a:rPr lang="en-US" sz="1600" i="1" dirty="0" smtClean="0"/>
              <a:t> </a:t>
            </a:r>
            <a:r>
              <a:rPr lang="en-US" sz="1600" i="1" dirty="0"/>
              <a:t>– </a:t>
            </a:r>
            <a:r>
              <a:rPr lang="en-US" sz="1600" dirty="0" err="1"/>
              <a:t>Kalit</a:t>
            </a:r>
            <a:r>
              <a:rPr lang="en-US" sz="1600" dirty="0"/>
              <a:t> </a:t>
            </a:r>
            <a:r>
              <a:rPr lang="en-US" sz="1600" dirty="0" err="1"/>
              <a:t>bitlarini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qiymatli</a:t>
            </a:r>
            <a:r>
              <a:rPr lang="en-US" sz="1600" dirty="0"/>
              <a:t> </a:t>
            </a:r>
            <a:r>
              <a:rPr lang="en-US" sz="1600" dirty="0" err="1"/>
              <a:t>aniqlavchi</a:t>
            </a:r>
            <a:r>
              <a:rPr lang="en-US" sz="1600" dirty="0"/>
              <a:t> </a:t>
            </a:r>
            <a:r>
              <a:rPr lang="en-US" sz="1600" dirty="0" err="1"/>
              <a:t>kiruvchi</a:t>
            </a:r>
            <a:r>
              <a:rPr lang="en-US" sz="1600" dirty="0"/>
              <a:t> </a:t>
            </a:r>
            <a:r>
              <a:rPr lang="en-US" sz="1600" dirty="0" err="1"/>
              <a:t>ochiq</a:t>
            </a:r>
            <a:r>
              <a:rPr lang="en-US" sz="1600" dirty="0"/>
              <a:t> </a:t>
            </a:r>
            <a:r>
              <a:rPr lang="en-US" sz="1600" dirty="0" err="1"/>
              <a:t>matn</a:t>
            </a:r>
            <a:r>
              <a:rPr lang="en-US" sz="1600" dirty="0"/>
              <a:t> </a:t>
            </a:r>
            <a:r>
              <a:rPr lang="en-US" sz="1600" dirty="0" err="1" smtClean="0"/>
              <a:t>pozitsiyalar</a:t>
            </a:r>
            <a:r>
              <a:rPr lang="en-US" sz="1600" dirty="0" smtClean="0"/>
              <a:t> </a:t>
            </a:r>
            <a:r>
              <a:rPr lang="en-US" sz="1600" dirty="0" err="1"/>
              <a:t>soni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33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" name="Прямоугольник 67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</a:rPr>
              <a:t>AES </a:t>
            </a:r>
            <a:r>
              <a:rPr lang="uz-Cyrl-UZ" sz="2400" b="1" dirty="0">
                <a:solidFill>
                  <a:srgbClr val="C00000"/>
                </a:solidFill>
              </a:rPr>
              <a:t>o’quv algoritmi uchun chiziqli kriptotahlil </a:t>
            </a:r>
            <a:r>
              <a:rPr lang="en-US" sz="2400" b="1" dirty="0" err="1" smtClean="0">
                <a:solidFill>
                  <a:srgbClr val="C00000"/>
                </a:solidFill>
              </a:rPr>
              <a:t>o’tkazish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ta’minotini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baholash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69" name="Таблица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508057"/>
              </p:ext>
            </p:extLst>
          </p:nvPr>
        </p:nvGraphicFramePr>
        <p:xfrm>
          <a:off x="395536" y="1700808"/>
          <a:ext cx="8352927" cy="3774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3834"/>
                <a:gridCol w="964339"/>
                <a:gridCol w="648072"/>
                <a:gridCol w="576064"/>
                <a:gridCol w="496155"/>
                <a:gridCol w="420494"/>
                <a:gridCol w="420494"/>
                <a:gridCol w="462377"/>
                <a:gridCol w="360720"/>
                <a:gridCol w="432048"/>
                <a:gridCol w="576064"/>
                <a:gridCol w="591240"/>
                <a:gridCol w="454000"/>
                <a:gridCol w="454000"/>
                <a:gridCol w="456513"/>
                <a:gridCol w="456513"/>
              </a:tblGrid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№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Kiruvchi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b="1" dirty="0" err="1" smtClean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pozitsiyalar</a:t>
                      </a:r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soni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S1 blok akslantirishi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S2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blok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akslantirishi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09175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 err="1" smtClean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Kiruvchi-lar</a:t>
                      </a:r>
                      <a:r>
                        <a:rPr lang="en-US" sz="1600" dirty="0" smtClean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soni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Diagonal shaklga keladigan/ soni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OT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unga</a:t>
                      </a: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mos</a:t>
                      </a: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SHTlar</a:t>
                      </a: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soni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OT va unga mos SHTlar soni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624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71755" marR="71755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5000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4000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1000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800" baseline="30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5000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4000 ta</a:t>
                      </a:r>
                      <a:endParaRPr lang="ru-RU" sz="20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  <a:tc rowSpan="2">
                  <a:txBody>
                    <a:bodyPr/>
                    <a:lstStyle/>
                    <a:p>
                      <a:pPr marL="71755" marR="7175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1000 ta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/>
                </a:tc>
              </a:tr>
              <a:tr h="3091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 cap="all">
                          <a:ln w="4496" cap="flat" cmpd="sng" algn="ctr">
                            <a:solidFill>
                              <a:srgbClr val="5C437A"/>
                            </a:solidFill>
                            <a:prstDash val="solid"/>
                            <a:round/>
                          </a:ln>
                          <a:gradFill>
                            <a:gsLst>
                              <a:gs pos="0">
                                <a:srgbClr val="381563"/>
                              </a:gs>
                              <a:gs pos="43000">
                                <a:srgbClr val="7B34D2"/>
                              </a:gs>
                              <a:gs pos="48000">
                                <a:srgbClr val="7230C3"/>
                              </a:gs>
                              <a:gs pos="100000">
                                <a:srgbClr val="381563"/>
                              </a:gs>
                            </a:gsLst>
                            <a:lin ang="5400000" scaled="0"/>
                          </a:gradFill>
                          <a:effectLst>
                            <a:reflection blurRad="12700" stA="28000" endPos="45000" dist="1003" dir="5400000" sy="-100000" algn="bl"/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S1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gradFill>
                            <a:gsLst>
                              <a:gs pos="0">
                                <a:srgbClr val="FFFF80"/>
                              </a:gs>
                              <a:gs pos="50000">
                                <a:srgbClr val="FFFFB3"/>
                              </a:gs>
                              <a:gs pos="100000">
                                <a:srgbClr val="FFFFDA"/>
                              </a:gs>
                            </a:gsLst>
                            <a:lin ang="2700000" scaled="0"/>
                          </a:gra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2612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10000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2889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2828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648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267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277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298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400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122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115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300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93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84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200</a:t>
                      </a:r>
                      <a:endParaRPr lang="ru-RU" sz="1600" b="1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091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  <a:endParaRPr lang="ru-RU" sz="1600" b="1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B0F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37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solidFill>
                            <a:srgbClr val="0070C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35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6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0" name="Скругленный прямоугольник 69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95536" y="5646439"/>
            <a:ext cx="8352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biti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=1010110001001100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bo’lgandagi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statistik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jadvali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0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Скругленный прямоугольник 3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</a:rPr>
              <a:t>AES algoritmi </a:t>
            </a:r>
            <a:r>
              <a:rPr lang="uz-Cyrl-UZ" sz="2400" b="1" dirty="0">
                <a:solidFill>
                  <a:srgbClr val="C00000"/>
                </a:solidFill>
              </a:rPr>
              <a:t>uchun chiziqli kriptotahlil </a:t>
            </a:r>
            <a:r>
              <a:rPr lang="en-US" sz="2400" b="1" dirty="0" err="1" smtClean="0">
                <a:solidFill>
                  <a:srgbClr val="C00000"/>
                </a:solidFill>
              </a:rPr>
              <a:t>o’tkazish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ta’minotini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baholash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26738"/>
              </p:ext>
            </p:extLst>
          </p:nvPr>
        </p:nvGraphicFramePr>
        <p:xfrm>
          <a:off x="251520" y="2492896"/>
          <a:ext cx="8640960" cy="4229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040"/>
                <a:gridCol w="1527620"/>
                <a:gridCol w="1208684"/>
                <a:gridCol w="1224136"/>
                <a:gridCol w="432048"/>
                <a:gridCol w="432048"/>
                <a:gridCol w="1224136"/>
                <a:gridCol w="1415622"/>
                <a:gridCol w="422776"/>
                <a:gridCol w="393850"/>
              </a:tblGrid>
              <a:tr h="286311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2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Kiruvchi</a:t>
                      </a: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ochiq</a:t>
                      </a: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matn</a:t>
                      </a: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pozitsiyasi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SubBytes</a:t>
                      </a: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()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SubBytes</a:t>
                      </a:r>
                      <a:r>
                        <a:rPr lang="en-US" sz="2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*()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27958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1-raund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2-raund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3-raund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4-raund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1-raund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20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2-raund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3-raund</a:t>
                      </a:r>
                      <a:endParaRPr lang="ru-RU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  <a:tc>
                  <a:txBody>
                    <a:bodyPr/>
                    <a:lstStyle/>
                    <a:p>
                      <a:pPr marL="71755" marR="717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4-raund</a:t>
                      </a:r>
                      <a:endParaRPr lang="ru-RU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 vert="vert270"/>
                </a:tc>
              </a:tr>
              <a:tr h="28631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0,53125     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0,50000381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0,55078125     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0,5000358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8631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0,49609375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0,500000476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0,491271972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143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0,5004882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0,5000004768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0,4983520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0,50000539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147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121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0,499938964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0,4999999925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0,499667584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0,5000002379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143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0,500007629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0,5000000000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0,500072715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0,4999999998736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143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lang="en-US" sz="1600" b="1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ru-RU" sz="1600" b="1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0,50000095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0,4999999999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0,4999999999999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1478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600" b="1" baseline="-250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,X</a:t>
                      </a:r>
                      <a:r>
                        <a:rPr lang="en-US" sz="1600" b="1" baseline="-25000" dirty="0"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ru-RU" sz="1600" b="1" dirty="0"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0,50000011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0,4999981587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ru-RU" sz="1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59338" marR="59338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274638" y="1225550"/>
            <a:ext cx="868997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defTabSz="533400">
              <a:defRPr/>
            </a:pP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Yaratilgan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ta’minotdan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1" baseline="-250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pozitsiyasiga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ChKTni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oshirildi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raundlarga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tenglamasi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ehtimolliklar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hisoblandi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 = 0,53125</a:t>
            </a:r>
            <a:r>
              <a:rPr lang="en-US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x1 + y7 + y14 + y22 + y30 + y31 = k1 + k7 + k14 + k22 + k30 + k31</a:t>
            </a:r>
            <a:endParaRPr lang="ru-RU" sz="16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8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/>
          <p:cNvCxnSpPr/>
          <p:nvPr/>
        </p:nvCxnSpPr>
        <p:spPr>
          <a:xfrm>
            <a:off x="-75813" y="110188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Скругленный прямоугольник 3"/>
          <p:cNvSpPr/>
          <p:nvPr/>
        </p:nvSpPr>
        <p:spPr>
          <a:xfrm>
            <a:off x="107950" y="1196752"/>
            <a:ext cx="8928100" cy="5616798"/>
          </a:xfrm>
          <a:prstGeom prst="roundRect">
            <a:avLst>
              <a:gd name="adj" fmla="val 5280"/>
            </a:avLst>
          </a:prstGeom>
          <a:noFill/>
          <a:ln>
            <a:solidFill>
              <a:srgbClr val="0000FF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116632"/>
            <a:ext cx="8712967" cy="86409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r>
              <a:rPr lang="uz-Cyrl-UZ" sz="2400" b="1" dirty="0" smtClean="0">
                <a:solidFill>
                  <a:srgbClr val="C00000"/>
                </a:solidFill>
              </a:rPr>
              <a:t>AES algoritmi </a:t>
            </a:r>
            <a:r>
              <a:rPr lang="uz-Cyrl-UZ" sz="2400" b="1" dirty="0">
                <a:solidFill>
                  <a:srgbClr val="C00000"/>
                </a:solidFill>
              </a:rPr>
              <a:t>uchun chiziqli kriptotahlil </a:t>
            </a:r>
            <a:r>
              <a:rPr lang="en-US" sz="2400" b="1" dirty="0" err="1" smtClean="0">
                <a:solidFill>
                  <a:srgbClr val="C00000"/>
                </a:solidFill>
              </a:rPr>
              <a:t>o’tkazish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dasturiy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ta’minotini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baholash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8627" y="1220530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334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algoritmning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raundlariga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testlash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natijalari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775259"/>
              </p:ext>
            </p:extLst>
          </p:nvPr>
        </p:nvGraphicFramePr>
        <p:xfrm>
          <a:off x="251520" y="1910108"/>
          <a:ext cx="8621117" cy="2995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4212"/>
                <a:gridCol w="1728192"/>
                <a:gridCol w="1368152"/>
                <a:gridCol w="1008112"/>
                <a:gridCol w="1512168"/>
                <a:gridCol w="1296144"/>
                <a:gridCol w="1224137"/>
              </a:tblGrid>
              <a:tr h="792088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blok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akslantirishlar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Kiruvchi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ochiq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matn</a:t>
                      </a: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pozitsiyalari</a:t>
                      </a:r>
                      <a:r>
                        <a:rPr lang="en-US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soni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Diagonal shaklga keladiganlar soni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Aniqlangan kalit bitlari soni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00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1-raund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2-raund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1-raund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334645" algn="l"/>
                        </a:tabLs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2-raund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rgbClr val="92D050"/>
                    </a:solidFill>
                  </a:tcPr>
                </a:tc>
              </a:tr>
              <a:tr h="460760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0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SubBytes</a:t>
                      </a:r>
                      <a:r>
                        <a:rPr lang="en-US" sz="20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()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ru-RU" sz="1800" b="1" dirty="0">
                        <a:solidFill>
                          <a:schemeClr val="accent6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58..73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59..79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607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lang="ru-RU" sz="1800" b="1" dirty="0">
                        <a:solidFill>
                          <a:schemeClr val="accent6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222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52..76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51..83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60760"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0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SubBytes</a:t>
                      </a:r>
                      <a:r>
                        <a:rPr lang="en-US" sz="20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*()</a:t>
                      </a:r>
                      <a:endParaRPr lang="ru-RU" sz="20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ru-RU" sz="1800" b="1" dirty="0">
                        <a:solidFill>
                          <a:schemeClr val="accent6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49..72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53..79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607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lang="ru-RU" sz="1800" b="1" dirty="0">
                        <a:solidFill>
                          <a:schemeClr val="accent6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308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327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48..79</a:t>
                      </a:r>
                      <a:endParaRPr lang="ru-RU" sz="18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47..81</a:t>
                      </a:r>
                      <a:endParaRPr lang="ru-RU" sz="18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3022" marR="63022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61181" y="4869160"/>
            <a:ext cx="88216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53340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Xulosa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1.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algoritmining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2-raundlariga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qo’llab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qachonki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pozitsiyalarini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generatsiya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qilinsa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pozitsiyasini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qurish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bevosita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128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holatlarini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ko’rib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chiqishni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talab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etadi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Yuqorida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keltirilgan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natijalarni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random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funksiyasi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pozitsiyalari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generatsiya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qilinib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bitlari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ma’lum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deb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qaraganda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50%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atrofida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to’g’ri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aniqlandi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04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-70092" y="1124744"/>
            <a:ext cx="9322877" cy="0"/>
          </a:xfrm>
          <a:prstGeom prst="line">
            <a:avLst/>
          </a:prstGeom>
          <a:ln w="38100">
            <a:gradFill>
              <a:gsLst>
                <a:gs pos="0">
                  <a:srgbClr val="000082">
                    <a:lumMod val="98000"/>
                  </a:srgbClr>
                </a:gs>
                <a:gs pos="13000">
                  <a:srgbClr val="0047FF"/>
                </a:gs>
                <a:gs pos="28000">
                  <a:srgbClr val="000082"/>
                </a:gs>
                <a:gs pos="42999">
                  <a:srgbClr val="0047FF"/>
                </a:gs>
                <a:gs pos="58000">
                  <a:srgbClr val="000082"/>
                </a:gs>
                <a:gs pos="72000">
                  <a:srgbClr val="0047FF"/>
                </a:gs>
                <a:gs pos="87000">
                  <a:srgbClr val="000082"/>
                </a:gs>
                <a:gs pos="100000">
                  <a:srgbClr val="0047FF"/>
                </a:gs>
              </a:gsLst>
              <a:lin ang="5400000" scaled="0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46000" endPos="52000" dist="50800" dir="5400000" sy="-100000" algn="bl" rotWithShape="0"/>
          </a:effectLst>
          <a:scene3d>
            <a:camera prst="orthographicFront">
              <a:rot lat="0" lon="21299999" rev="0"/>
            </a:camera>
            <a:lightRig rig="soft" dir="t">
              <a:rot lat="0" lon="0" rev="0"/>
            </a:lightRig>
          </a:scene3d>
          <a:sp3d prstMaterial="legacyWireframe">
            <a:bevelT prst="angle"/>
            <a:bevelB prst="slope"/>
          </a:sp3d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53675" y="188640"/>
            <a:ext cx="8475343" cy="72008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 err="1" smtClean="0">
                <a:solidFill>
                  <a:srgbClr val="C00000"/>
                </a:solidFill>
              </a:rPr>
              <a:t>Xulosa</a:t>
            </a:r>
            <a:endParaRPr lang="ru-RU" sz="5400" b="1" dirty="0">
              <a:solidFill>
                <a:srgbClr val="C00000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51520" y="1268760"/>
            <a:ext cx="8640960" cy="544865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342900" lvl="0" indent="-342900" algn="just">
              <a:buFont typeface="+mj-lt"/>
              <a:buAutoNum type="arabicPeriod"/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SP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tarmog’i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metodi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tahlil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qilindi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o’quv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algoritmlari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matematik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modeli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chiqildi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smtClean="0">
                <a:latin typeface="Times New Roman" pitchFamily="18" charset="0"/>
                <a:cs typeface="Times New Roman" pitchFamily="18" charset="0"/>
              </a:rPr>
              <a:t>korrelyatsion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matritsa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qurish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masalasi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yechildi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o’quv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algoritmlari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ta’minotlari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yaratildi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o’quv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ta’minotidan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tahliliga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ko’ra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raundlarida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foydalanilgan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16 bit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uzunlikdagi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kalitlar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qiymatli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topiladi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uz-Cyrl-UZ" sz="1500" dirty="0">
                <a:latin typeface="Times New Roman" pitchFamily="18" charset="0"/>
                <a:cs typeface="Times New Roman" pitchFamily="18" charset="0"/>
              </a:rPr>
              <a:t>AES simmetrik shifrlash algoritmida foydalanilgan </a:t>
            </a:r>
            <a:r>
              <a:rPr lang="uz-Cyrl-UZ" sz="1500" i="1" dirty="0">
                <a:latin typeface="Times New Roman" pitchFamily="18" charset="0"/>
                <a:cs typeface="Times New Roman" pitchFamily="18" charset="0"/>
              </a:rPr>
              <a:t>SubBytes() </a:t>
            </a:r>
            <a:r>
              <a:rPr lang="uz-Cyrl-UZ" sz="1500" dirty="0">
                <a:latin typeface="Times New Roman" pitchFamily="18" charset="0"/>
                <a:cs typeface="Times New Roman" pitchFamily="18" charset="0"/>
              </a:rPr>
              <a:t> akslantirishining chiziqsizlik qiymati yuqori hamda </a:t>
            </a:r>
            <a:r>
              <a:rPr lang="uz-Cyrl-UZ" sz="1500" i="1" dirty="0">
                <a:latin typeface="Times New Roman" pitchFamily="18" charset="0"/>
                <a:cs typeface="Times New Roman" pitchFamily="18" charset="0"/>
              </a:rPr>
              <a:t>MixColumns()</a:t>
            </a:r>
            <a:r>
              <a:rPr lang="uz-Cyrl-UZ" sz="1500" dirty="0">
                <a:latin typeface="Times New Roman" pitchFamily="18" charset="0"/>
                <a:cs typeface="Times New Roman" pitchFamily="18" charset="0"/>
              </a:rPr>
              <a:t> funksiyasi bitlarni maksimal aralashtiradi, bu esa raundda ishlatilgan kalit bitlarini chiziqli kriptotahlil usuli bilan topish imkoniyatini murakkablashtiradi.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ta’minotidan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tahlil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natijalariga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ko’ra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uch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undan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yuqori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bo’lgan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raundlarga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qurilgan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aproksimatsiya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tenglamalari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P=1/2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ehtimollik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bajarilishi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aniqlandi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algoritmining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ikkinchi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raundlariga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oshirish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bevosita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pozitsiyalarini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tanlash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qilingan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tenglamalar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sistemasini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yechish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usullarini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chiqish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500" dirty="0" err="1" smtClean="0">
                <a:latin typeface="Times New Roman" pitchFamily="18" charset="0"/>
                <a:cs typeface="Times New Roman" pitchFamily="18" charset="0"/>
              </a:rPr>
              <a:t>arakterlanadi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dissertatsiya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ishida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olingan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ilmiy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natijalar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milliy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standart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simmetrik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algoritmlarini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zamonaviy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kriptotahlil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usullariga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bardoshligini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baholash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masalarida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foydalanish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Kelajakda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mazkur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yo’nalishdagi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ilmiy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ishlarning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uzviy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davomi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sifatida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AES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algoritmiga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ChKT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o’tkazishning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elementi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hisoblangan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kirish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pozitsiyasi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bitlarini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tanlash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ochiq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shifr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matnlar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sonini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kalitga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nisbatan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qilingan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tenglamalar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sistemasini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yechishning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effektiv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usullarini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tadqiq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maqsadga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muvofiq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36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7930</TotalTime>
  <Words>3658</Words>
  <Application>Microsoft Office PowerPoint</Application>
  <PresentationFormat>Экран (4:3)</PresentationFormat>
  <Paragraphs>2202</Paragraphs>
  <Slides>33</Slides>
  <Notes>5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Воздушный поток</vt:lpstr>
      <vt:lpstr>Формула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630</cp:revision>
  <dcterms:created xsi:type="dcterms:W3CDTF">2011-09-21T08:21:02Z</dcterms:created>
  <dcterms:modified xsi:type="dcterms:W3CDTF">2012-05-27T13:21:29Z</dcterms:modified>
</cp:coreProperties>
</file>