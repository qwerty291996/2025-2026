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0000FF"/>
    <a:srgbClr val="5B3BE5"/>
    <a:srgbClr val="AC0808"/>
    <a:srgbClr val="FFCC99"/>
    <a:srgbClr val="B8549E"/>
    <a:srgbClr val="448AF2"/>
    <a:srgbClr val="0066FF"/>
    <a:srgbClr val="0DA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E90C6F-8347-4229-983D-7763B4884A0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63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BBF1C-E814-4741-9BF5-031FC522918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03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1A9D6E-662A-4E81-9FEE-6A561A1FB29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1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59D1D-DD03-4B0F-AF86-8D6A740B7CD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91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0F4233-D4B4-4EA5-85DD-83682518C5A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82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7AF68-81EC-4FEA-90B3-3EAF2F31321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74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26F57A-831C-419F-8AEA-DB5AAB2E56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11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E69178-A5AB-4B50-ACFD-833DF80A521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67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68EE9-A811-47F7-8D8A-9A96A16D95F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66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27EBC-9111-4BB6-97C4-1B72195F108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9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A9E08-BEF3-404C-AE23-CA74C6C4EC3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3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2ABBA0-10CD-4A82-9265-97A0ED6832B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9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1.png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83568" y="1345992"/>
            <a:ext cx="7772400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 тармоғига асосланган </a:t>
            </a:r>
            <a:r>
              <a:rPr lang="uz-Cyrl-UZ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ўқув </a:t>
            </a:r>
            <a:r>
              <a:rPr lang="uz-Cyrl-UZ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алгоритмига чизиқли криптотаҳлил </a:t>
            </a:r>
            <a:r>
              <a:rPr lang="uz-Cyrl-UZ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усулини қўллаш</a:t>
            </a:r>
            <a:endParaRPr lang="ru-RU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16216" y="5733256"/>
            <a:ext cx="2592288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Саттаров А.Б.</a:t>
            </a:r>
            <a:endParaRPr lang="ru-RU" sz="16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9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>
            <a:grpSpLocks noChangeAspect="1"/>
          </p:cNvGrpSpPr>
          <p:nvPr/>
        </p:nvGrpSpPr>
        <p:grpSpPr bwMode="auto">
          <a:xfrm>
            <a:off x="287984" y="404664"/>
            <a:ext cx="4140000" cy="6288032"/>
            <a:chOff x="3133" y="1827"/>
            <a:chExt cx="7973" cy="12671"/>
          </a:xfrm>
        </p:grpSpPr>
        <p:sp>
          <p:nvSpPr>
            <p:cNvPr id="3" name="Text Box 3"/>
            <p:cNvSpPr txBox="1">
              <a:spLocks noChangeArrowheads="1"/>
            </p:cNvSpPr>
            <p:nvPr/>
          </p:nvSpPr>
          <p:spPr bwMode="auto">
            <a:xfrm>
              <a:off x="4583" y="13884"/>
              <a:ext cx="2243" cy="6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uz-Cyrl-UZ" sz="1100">
                  <a:effectLst/>
                  <a:latin typeface="Times New Roman"/>
                  <a:ea typeface="Calibri"/>
                  <a:cs typeface="Times New Roman"/>
                </a:rPr>
                <a:t>Шифр матн</a:t>
              </a:r>
              <a:endParaRPr lang="uz-Cyrl-UZ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3133" y="1827"/>
              <a:ext cx="7973" cy="12663"/>
              <a:chOff x="3133" y="1234"/>
              <a:chExt cx="7973" cy="12663"/>
            </a:xfrm>
          </p:grpSpPr>
          <p:sp>
            <p:nvSpPr>
              <p:cNvPr id="5" name="AutoShape 5"/>
              <p:cNvSpPr>
                <a:spLocks noChangeArrowheads="1"/>
              </p:cNvSpPr>
              <p:nvPr/>
            </p:nvSpPr>
            <p:spPr bwMode="auto">
              <a:xfrm>
                <a:off x="3190" y="2394"/>
                <a:ext cx="4888" cy="538"/>
              </a:xfrm>
              <a:prstGeom prst="flowChartProcess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uz-Cyrl-UZ" sz="1400" dirty="0">
                    <a:effectLst/>
                    <a:latin typeface="Times New Roman"/>
                    <a:ea typeface="Calibri"/>
                    <a:cs typeface="Times New Roman"/>
                  </a:rPr>
                  <a:t>К калит билан қўшиш</a:t>
                </a:r>
                <a:endParaRPr lang="uz-Cyrl-UZ" sz="105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6" name="Line 6"/>
              <p:cNvCxnSpPr/>
              <p:nvPr/>
            </p:nvCxnSpPr>
            <p:spPr bwMode="auto">
              <a:xfrm>
                <a:off x="3474" y="1842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" name="Line 7"/>
              <p:cNvCxnSpPr/>
              <p:nvPr/>
            </p:nvCxnSpPr>
            <p:spPr bwMode="auto">
              <a:xfrm>
                <a:off x="3832" y="1842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" name="Line 8"/>
              <p:cNvCxnSpPr/>
              <p:nvPr/>
            </p:nvCxnSpPr>
            <p:spPr bwMode="auto">
              <a:xfrm>
                <a:off x="4190" y="1842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" name="Line 9"/>
              <p:cNvCxnSpPr/>
              <p:nvPr/>
            </p:nvCxnSpPr>
            <p:spPr bwMode="auto">
              <a:xfrm>
                <a:off x="5165" y="1857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" name="Line 10"/>
              <p:cNvCxnSpPr/>
              <p:nvPr/>
            </p:nvCxnSpPr>
            <p:spPr bwMode="auto">
              <a:xfrm>
                <a:off x="5535" y="1857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" name="Line 11"/>
              <p:cNvCxnSpPr/>
              <p:nvPr/>
            </p:nvCxnSpPr>
            <p:spPr bwMode="auto">
              <a:xfrm>
                <a:off x="5905" y="1857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Line 12"/>
              <p:cNvCxnSpPr/>
              <p:nvPr/>
            </p:nvCxnSpPr>
            <p:spPr bwMode="auto">
              <a:xfrm>
                <a:off x="6992" y="1857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Line 13"/>
              <p:cNvCxnSpPr/>
              <p:nvPr/>
            </p:nvCxnSpPr>
            <p:spPr bwMode="auto">
              <a:xfrm>
                <a:off x="7362" y="1857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Line 14"/>
              <p:cNvCxnSpPr/>
              <p:nvPr/>
            </p:nvCxnSpPr>
            <p:spPr bwMode="auto">
              <a:xfrm>
                <a:off x="7744" y="1857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" name="Text Box 15"/>
              <p:cNvSpPr txBox="1">
                <a:spLocks noChangeArrowheads="1"/>
              </p:cNvSpPr>
              <p:nvPr/>
            </p:nvSpPr>
            <p:spPr bwMode="auto">
              <a:xfrm>
                <a:off x="3205" y="13283"/>
                <a:ext cx="690" cy="61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100" b="1">
                    <a:effectLst/>
                    <a:latin typeface="Times New Roman"/>
                    <a:ea typeface="Calibri"/>
                    <a:cs typeface="Times New Roman"/>
                  </a:rPr>
                  <a:t>Y</a:t>
                </a:r>
                <a:r>
                  <a:rPr lang="en-US" sz="1100" b="1" baseline="-25000">
                    <a:effectLst/>
                    <a:latin typeface="Times New Roman"/>
                    <a:ea typeface="Calibri"/>
                    <a:cs typeface="Times New Roman"/>
                  </a:rPr>
                  <a:t>1</a:t>
                </a:r>
                <a:endParaRPr lang="uz-Cyrl-UZ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6" name="Text Box 16"/>
              <p:cNvSpPr txBox="1">
                <a:spLocks noChangeArrowheads="1"/>
              </p:cNvSpPr>
              <p:nvPr/>
            </p:nvSpPr>
            <p:spPr bwMode="auto">
              <a:xfrm>
                <a:off x="7532" y="13232"/>
                <a:ext cx="690" cy="61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100" b="1">
                    <a:effectLst/>
                    <a:latin typeface="Times New Roman"/>
                    <a:ea typeface="Calibri"/>
                    <a:cs typeface="Times New Roman"/>
                  </a:rPr>
                  <a:t>Y</a:t>
                </a:r>
                <a:r>
                  <a:rPr lang="en-US" sz="1100" b="1" baseline="-25000">
                    <a:effectLst/>
                    <a:latin typeface="Times New Roman"/>
                    <a:ea typeface="Calibri"/>
                    <a:cs typeface="Times New Roman"/>
                  </a:rPr>
                  <a:t>9</a:t>
                </a:r>
                <a:endParaRPr lang="uz-Cyrl-UZ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17" name="Line 17"/>
              <p:cNvCxnSpPr/>
              <p:nvPr/>
            </p:nvCxnSpPr>
            <p:spPr bwMode="auto">
              <a:xfrm>
                <a:off x="3421" y="8405"/>
                <a:ext cx="0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Line 18"/>
              <p:cNvCxnSpPr/>
              <p:nvPr/>
            </p:nvCxnSpPr>
            <p:spPr bwMode="auto">
              <a:xfrm>
                <a:off x="3794" y="8387"/>
                <a:ext cx="1323" cy="8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Line 19"/>
              <p:cNvCxnSpPr/>
              <p:nvPr/>
            </p:nvCxnSpPr>
            <p:spPr bwMode="auto">
              <a:xfrm>
                <a:off x="4154" y="8405"/>
                <a:ext cx="2759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Line 20"/>
              <p:cNvCxnSpPr/>
              <p:nvPr/>
            </p:nvCxnSpPr>
            <p:spPr bwMode="auto">
              <a:xfrm flipH="1">
                <a:off x="3766" y="8405"/>
                <a:ext cx="1380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Line 21"/>
              <p:cNvCxnSpPr/>
              <p:nvPr/>
            </p:nvCxnSpPr>
            <p:spPr bwMode="auto">
              <a:xfrm flipH="1">
                <a:off x="4111" y="8387"/>
                <a:ext cx="2932" cy="8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Line 22"/>
              <p:cNvCxnSpPr/>
              <p:nvPr/>
            </p:nvCxnSpPr>
            <p:spPr bwMode="auto">
              <a:xfrm>
                <a:off x="5476" y="8405"/>
                <a:ext cx="0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Line 23"/>
              <p:cNvCxnSpPr/>
              <p:nvPr/>
            </p:nvCxnSpPr>
            <p:spPr bwMode="auto">
              <a:xfrm>
                <a:off x="5835" y="8422"/>
                <a:ext cx="1481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Line 24"/>
              <p:cNvCxnSpPr/>
              <p:nvPr/>
            </p:nvCxnSpPr>
            <p:spPr bwMode="auto">
              <a:xfrm flipH="1">
                <a:off x="5835" y="8405"/>
                <a:ext cx="1553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Line 25"/>
              <p:cNvCxnSpPr/>
              <p:nvPr/>
            </p:nvCxnSpPr>
            <p:spPr bwMode="auto">
              <a:xfrm>
                <a:off x="7718" y="8405"/>
                <a:ext cx="0" cy="8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6" name="Group 26"/>
              <p:cNvGrpSpPr>
                <a:grpSpLocks/>
              </p:cNvGrpSpPr>
              <p:nvPr/>
            </p:nvGrpSpPr>
            <p:grpSpPr bwMode="auto">
              <a:xfrm>
                <a:off x="3163" y="2923"/>
                <a:ext cx="4888" cy="5511"/>
                <a:chOff x="2991" y="5077"/>
                <a:chExt cx="5100" cy="4845"/>
              </a:xfrm>
            </p:grpSpPr>
            <p:sp>
              <p:nvSpPr>
                <p:cNvPr id="88" name="Rectangle 27"/>
                <p:cNvSpPr>
                  <a:spLocks noChangeArrowheads="1"/>
                </p:cNvSpPr>
                <p:nvPr/>
              </p:nvSpPr>
              <p:spPr bwMode="auto">
                <a:xfrm>
                  <a:off x="3107" y="8791"/>
                  <a:ext cx="1082" cy="657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800" b="1">
                      <a:effectLst/>
                      <a:latin typeface="Times New Roman"/>
                      <a:ea typeface="Calibri"/>
                      <a:cs typeface="Times New Roman"/>
                    </a:rPr>
                    <a:t>S</a:t>
                  </a:r>
                  <a:r>
                    <a:rPr lang="en-US" sz="18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21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89" name="Rectangle 28"/>
                <p:cNvSpPr>
                  <a:spLocks noChangeArrowheads="1"/>
                </p:cNvSpPr>
                <p:nvPr/>
              </p:nvSpPr>
              <p:spPr bwMode="auto">
                <a:xfrm>
                  <a:off x="4910" y="8805"/>
                  <a:ext cx="1082" cy="64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800" b="1" dirty="0">
                      <a:effectLst/>
                      <a:latin typeface="Times New Roman"/>
                      <a:ea typeface="Calibri"/>
                      <a:cs typeface="Times New Roman"/>
                    </a:rPr>
                    <a:t>S</a:t>
                  </a:r>
                  <a:r>
                    <a:rPr lang="en-US" sz="1800" b="1" baseline="-25000" dirty="0">
                      <a:effectLst/>
                      <a:latin typeface="Times New Roman"/>
                      <a:ea typeface="Calibri"/>
                      <a:cs typeface="Times New Roman"/>
                    </a:rPr>
                    <a:t>22</a:t>
                  </a:r>
                  <a:endParaRPr lang="uz-Cyrl-UZ" sz="110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90" name="Rectangle 29"/>
                <p:cNvSpPr>
                  <a:spLocks noChangeArrowheads="1"/>
                </p:cNvSpPr>
                <p:nvPr/>
              </p:nvSpPr>
              <p:spPr bwMode="auto">
                <a:xfrm>
                  <a:off x="6816" y="8805"/>
                  <a:ext cx="1082" cy="64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800" b="1">
                      <a:effectLst/>
                      <a:latin typeface="Times New Roman"/>
                      <a:ea typeface="Calibri"/>
                      <a:cs typeface="Times New Roman"/>
                    </a:rPr>
                    <a:t>S</a:t>
                  </a:r>
                  <a:r>
                    <a:rPr lang="en-US" sz="18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23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91" name="Line 30"/>
                <p:cNvCxnSpPr/>
                <p:nvPr/>
              </p:nvCxnSpPr>
              <p:spPr bwMode="auto">
                <a:xfrm>
                  <a:off x="3674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2" name="Line 31"/>
                <p:cNvCxnSpPr/>
                <p:nvPr/>
              </p:nvCxnSpPr>
              <p:spPr bwMode="auto">
                <a:xfrm>
                  <a:off x="4021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3" name="Line 32"/>
                <p:cNvCxnSpPr/>
                <p:nvPr/>
              </p:nvCxnSpPr>
              <p:spPr bwMode="auto">
                <a:xfrm>
                  <a:off x="5064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4" name="Line 33"/>
                <p:cNvCxnSpPr/>
                <p:nvPr/>
              </p:nvCxnSpPr>
              <p:spPr bwMode="auto">
                <a:xfrm>
                  <a:off x="5404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" name="Line 34"/>
                <p:cNvCxnSpPr/>
                <p:nvPr/>
              </p:nvCxnSpPr>
              <p:spPr bwMode="auto">
                <a:xfrm>
                  <a:off x="5794" y="9449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6" name="Line 35"/>
                <p:cNvCxnSpPr/>
                <p:nvPr/>
              </p:nvCxnSpPr>
              <p:spPr bwMode="auto">
                <a:xfrm>
                  <a:off x="7026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" name="Line 36"/>
                <p:cNvCxnSpPr/>
                <p:nvPr/>
              </p:nvCxnSpPr>
              <p:spPr bwMode="auto">
                <a:xfrm>
                  <a:off x="7398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8" name="Line 37"/>
                <p:cNvCxnSpPr/>
                <p:nvPr/>
              </p:nvCxnSpPr>
              <p:spPr bwMode="auto">
                <a:xfrm>
                  <a:off x="7743" y="9434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" name="Line 38"/>
                <p:cNvCxnSpPr/>
                <p:nvPr/>
              </p:nvCxnSpPr>
              <p:spPr bwMode="auto">
                <a:xfrm>
                  <a:off x="3261" y="9447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00" name="Group 39"/>
                <p:cNvGrpSpPr>
                  <a:grpSpLocks/>
                </p:cNvGrpSpPr>
                <p:nvPr/>
              </p:nvGrpSpPr>
              <p:grpSpPr bwMode="auto">
                <a:xfrm>
                  <a:off x="2991" y="5077"/>
                  <a:ext cx="5100" cy="3728"/>
                  <a:chOff x="2991" y="5077"/>
                  <a:chExt cx="5100" cy="3728"/>
                </a:xfrm>
              </p:grpSpPr>
              <p:cxnSp>
                <p:nvCxnSpPr>
                  <p:cNvPr id="101" name="Line 40"/>
                  <p:cNvCxnSpPr/>
                  <p:nvPr/>
                </p:nvCxnSpPr>
                <p:spPr bwMode="auto">
                  <a:xfrm>
                    <a:off x="3287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2" name="Line 41"/>
                  <p:cNvCxnSpPr/>
                  <p:nvPr/>
                </p:nvCxnSpPr>
                <p:spPr bwMode="auto">
                  <a:xfrm>
                    <a:off x="3648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3" name="Line 42"/>
                  <p:cNvCxnSpPr/>
                  <p:nvPr/>
                </p:nvCxnSpPr>
                <p:spPr bwMode="auto">
                  <a:xfrm>
                    <a:off x="4031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4" name="Line 43"/>
                  <p:cNvCxnSpPr/>
                  <p:nvPr/>
                </p:nvCxnSpPr>
                <p:spPr bwMode="auto">
                  <a:xfrm>
                    <a:off x="7743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5" name="Line 44"/>
                  <p:cNvCxnSpPr/>
                  <p:nvPr/>
                </p:nvCxnSpPr>
                <p:spPr bwMode="auto">
                  <a:xfrm>
                    <a:off x="5438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6" name="Line 45"/>
                  <p:cNvCxnSpPr/>
                  <p:nvPr/>
                </p:nvCxnSpPr>
                <p:spPr bwMode="auto">
                  <a:xfrm>
                    <a:off x="5811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" name="Line 46"/>
                  <p:cNvCxnSpPr/>
                  <p:nvPr/>
                </p:nvCxnSpPr>
                <p:spPr bwMode="auto">
                  <a:xfrm>
                    <a:off x="6971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8" name="Line 47"/>
                  <p:cNvCxnSpPr/>
                  <p:nvPr/>
                </p:nvCxnSpPr>
                <p:spPr bwMode="auto">
                  <a:xfrm>
                    <a:off x="7357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9" name="Line 48"/>
                  <p:cNvCxnSpPr/>
                  <p:nvPr/>
                </p:nvCxnSpPr>
                <p:spPr bwMode="auto">
                  <a:xfrm>
                    <a:off x="5052" y="8332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10" name="AutoShape 49"/>
                  <p:cNvSpPr>
                    <a:spLocks noChangeArrowheads="1"/>
                  </p:cNvSpPr>
                  <p:nvPr/>
                </p:nvSpPr>
                <p:spPr bwMode="auto">
                  <a:xfrm>
                    <a:off x="2991" y="7872"/>
                    <a:ext cx="5100" cy="473"/>
                  </a:xfrm>
                  <a:prstGeom prst="flowChartProcess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algn="ctr">
                      <a:lnSpc>
                        <a:spcPct val="115000"/>
                      </a:lnSpc>
                      <a:spcAft>
                        <a:spcPts val="1000"/>
                      </a:spcAft>
                    </a:pPr>
                    <a:r>
                      <a:rPr lang="uz-Cyrl-UZ" sz="1400" dirty="0">
                        <a:effectLst/>
                        <a:latin typeface="Times New Roman"/>
                        <a:ea typeface="Calibri"/>
                        <a:cs typeface="Times New Roman"/>
                      </a:rPr>
                      <a:t>К калит билан қўшиш</a:t>
                    </a:r>
                    <a:endParaRPr lang="uz-Cyrl-UZ" sz="1400" dirty="0">
                      <a:effectLst/>
                      <a:latin typeface="Calibri"/>
                      <a:ea typeface="Calibri"/>
                      <a:cs typeface="Times New Roman"/>
                    </a:endParaRPr>
                  </a:p>
                  <a:p>
                    <a:pPr>
                      <a:lnSpc>
                        <a:spcPct val="115000"/>
                      </a:lnSpc>
                      <a:spcAft>
                        <a:spcPts val="1000"/>
                      </a:spcAft>
                    </a:pPr>
                    <a:r>
                      <a:rPr lang="uz-Cyrl-UZ" sz="1400" dirty="0">
                        <a:effectLst/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uz-Cyrl-UZ" sz="1400" dirty="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111" name="Line 50"/>
                  <p:cNvCxnSpPr/>
                  <p:nvPr/>
                </p:nvCxnSpPr>
                <p:spPr bwMode="auto">
                  <a:xfrm>
                    <a:off x="3287" y="7386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2" name="Line 51"/>
                  <p:cNvCxnSpPr/>
                  <p:nvPr/>
                </p:nvCxnSpPr>
                <p:spPr bwMode="auto">
                  <a:xfrm>
                    <a:off x="3646" y="7386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3" name="Line 52"/>
                  <p:cNvCxnSpPr/>
                  <p:nvPr/>
                </p:nvCxnSpPr>
                <p:spPr bwMode="auto">
                  <a:xfrm>
                    <a:off x="4019" y="7386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4" name="Line 53"/>
                  <p:cNvCxnSpPr/>
                  <p:nvPr/>
                </p:nvCxnSpPr>
                <p:spPr bwMode="auto">
                  <a:xfrm>
                    <a:off x="5052" y="7399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5" name="Line 54"/>
                  <p:cNvCxnSpPr/>
                  <p:nvPr/>
                </p:nvCxnSpPr>
                <p:spPr bwMode="auto">
                  <a:xfrm>
                    <a:off x="5453" y="7399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6" name="Line 55"/>
                  <p:cNvCxnSpPr/>
                  <p:nvPr/>
                </p:nvCxnSpPr>
                <p:spPr bwMode="auto">
                  <a:xfrm>
                    <a:off x="5824" y="7399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7" name="Line 56"/>
                  <p:cNvCxnSpPr/>
                  <p:nvPr/>
                </p:nvCxnSpPr>
                <p:spPr bwMode="auto">
                  <a:xfrm>
                    <a:off x="6958" y="7399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8" name="Line 57"/>
                  <p:cNvCxnSpPr/>
                  <p:nvPr/>
                </p:nvCxnSpPr>
                <p:spPr bwMode="auto">
                  <a:xfrm>
                    <a:off x="7359" y="7399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9" name="Line 58"/>
                  <p:cNvCxnSpPr/>
                  <p:nvPr/>
                </p:nvCxnSpPr>
                <p:spPr bwMode="auto">
                  <a:xfrm>
                    <a:off x="7743" y="7399"/>
                    <a:ext cx="0" cy="47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pSp>
                <p:nvGrpSpPr>
                  <p:cNvPr id="120" name="Group 59"/>
                  <p:cNvGrpSpPr>
                    <a:grpSpLocks/>
                  </p:cNvGrpSpPr>
                  <p:nvPr/>
                </p:nvGrpSpPr>
                <p:grpSpPr bwMode="auto">
                  <a:xfrm>
                    <a:off x="3137" y="5077"/>
                    <a:ext cx="4791" cy="2324"/>
                    <a:chOff x="3137" y="5077"/>
                    <a:chExt cx="4791" cy="2324"/>
                  </a:xfrm>
                </p:grpSpPr>
                <p:cxnSp>
                  <p:nvCxnSpPr>
                    <p:cNvPr id="121" name="Line 60"/>
                    <p:cNvCxnSpPr/>
                    <p:nvPr/>
                  </p:nvCxnSpPr>
                  <p:spPr bwMode="auto">
                    <a:xfrm>
                      <a:off x="3291" y="6666"/>
                      <a:ext cx="0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2" name="Line 61"/>
                    <p:cNvCxnSpPr/>
                    <p:nvPr/>
                  </p:nvCxnSpPr>
                  <p:spPr bwMode="auto">
                    <a:xfrm>
                      <a:off x="7746" y="6666"/>
                      <a:ext cx="0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3" name="Line 62"/>
                    <p:cNvCxnSpPr/>
                    <p:nvPr/>
                  </p:nvCxnSpPr>
                  <p:spPr bwMode="auto">
                    <a:xfrm>
                      <a:off x="5451" y="6666"/>
                      <a:ext cx="0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4" name="Line 63"/>
                    <p:cNvCxnSpPr/>
                    <p:nvPr/>
                  </p:nvCxnSpPr>
                  <p:spPr bwMode="auto">
                    <a:xfrm>
                      <a:off x="3681" y="6636"/>
                      <a:ext cx="1380" cy="75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5" name="Line 64"/>
                    <p:cNvCxnSpPr/>
                    <p:nvPr/>
                  </p:nvCxnSpPr>
                  <p:spPr bwMode="auto">
                    <a:xfrm>
                      <a:off x="4071" y="6666"/>
                      <a:ext cx="2880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6" name="Line 65"/>
                    <p:cNvCxnSpPr/>
                    <p:nvPr/>
                  </p:nvCxnSpPr>
                  <p:spPr bwMode="auto">
                    <a:xfrm flipH="1">
                      <a:off x="3651" y="6651"/>
                      <a:ext cx="1440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7" name="Line 66"/>
                    <p:cNvCxnSpPr/>
                    <p:nvPr/>
                  </p:nvCxnSpPr>
                  <p:spPr bwMode="auto">
                    <a:xfrm flipH="1">
                      <a:off x="3996" y="6651"/>
                      <a:ext cx="3060" cy="735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8" name="Line 67"/>
                    <p:cNvCxnSpPr/>
                    <p:nvPr/>
                  </p:nvCxnSpPr>
                  <p:spPr bwMode="auto">
                    <a:xfrm>
                      <a:off x="5826" y="6681"/>
                      <a:ext cx="1545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29" name="Line 68"/>
                    <p:cNvCxnSpPr/>
                    <p:nvPr/>
                  </p:nvCxnSpPr>
                  <p:spPr bwMode="auto">
                    <a:xfrm flipH="1">
                      <a:off x="5811" y="6666"/>
                      <a:ext cx="1620" cy="7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grpSp>
                  <p:nvGrpSpPr>
                    <p:cNvPr id="130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37" y="5077"/>
                      <a:ext cx="4791" cy="1591"/>
                      <a:chOff x="3137" y="5077"/>
                      <a:chExt cx="4791" cy="1591"/>
                    </a:xfrm>
                  </p:grpSpPr>
                  <p:cxnSp>
                    <p:nvCxnSpPr>
                      <p:cNvPr id="131" name="Line 70"/>
                      <p:cNvCxnSpPr/>
                      <p:nvPr/>
                    </p:nvCxnSpPr>
                    <p:spPr bwMode="auto">
                      <a:xfrm>
                        <a:off x="3704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2" name="Line 71"/>
                      <p:cNvCxnSpPr/>
                      <p:nvPr/>
                    </p:nvCxnSpPr>
                    <p:spPr bwMode="auto">
                      <a:xfrm>
                        <a:off x="4051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3" name="Line 72"/>
                      <p:cNvCxnSpPr/>
                      <p:nvPr/>
                    </p:nvCxnSpPr>
                    <p:spPr bwMode="auto">
                      <a:xfrm>
                        <a:off x="5079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4" name="Line 73"/>
                      <p:cNvCxnSpPr/>
                      <p:nvPr/>
                    </p:nvCxnSpPr>
                    <p:spPr bwMode="auto">
                      <a:xfrm>
                        <a:off x="5449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5" name="Line 74"/>
                      <p:cNvCxnSpPr/>
                      <p:nvPr/>
                    </p:nvCxnSpPr>
                    <p:spPr bwMode="auto">
                      <a:xfrm>
                        <a:off x="5839" y="6195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6" name="Line 75"/>
                      <p:cNvCxnSpPr/>
                      <p:nvPr/>
                    </p:nvCxnSpPr>
                    <p:spPr bwMode="auto">
                      <a:xfrm>
                        <a:off x="7041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7" name="Line 76"/>
                      <p:cNvCxnSpPr/>
                      <p:nvPr/>
                    </p:nvCxnSpPr>
                    <p:spPr bwMode="auto">
                      <a:xfrm>
                        <a:off x="7413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8" name="Line 77"/>
                      <p:cNvCxnSpPr/>
                      <p:nvPr/>
                    </p:nvCxnSpPr>
                    <p:spPr bwMode="auto">
                      <a:xfrm>
                        <a:off x="7743" y="6180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9" name="Line 78"/>
                      <p:cNvCxnSpPr/>
                      <p:nvPr/>
                    </p:nvCxnSpPr>
                    <p:spPr bwMode="auto">
                      <a:xfrm>
                        <a:off x="3291" y="6193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0" name="Line 79"/>
                      <p:cNvCxnSpPr/>
                      <p:nvPr/>
                    </p:nvCxnSpPr>
                    <p:spPr bwMode="auto">
                      <a:xfrm>
                        <a:off x="3317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1" name="Line 80"/>
                      <p:cNvCxnSpPr/>
                      <p:nvPr/>
                    </p:nvCxnSpPr>
                    <p:spPr bwMode="auto">
                      <a:xfrm>
                        <a:off x="3678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2" name="Line 81"/>
                      <p:cNvCxnSpPr/>
                      <p:nvPr/>
                    </p:nvCxnSpPr>
                    <p:spPr bwMode="auto">
                      <a:xfrm>
                        <a:off x="4064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3" name="Line 82"/>
                      <p:cNvCxnSpPr/>
                      <p:nvPr/>
                    </p:nvCxnSpPr>
                    <p:spPr bwMode="auto">
                      <a:xfrm>
                        <a:off x="7773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4" name="Line 83"/>
                      <p:cNvCxnSpPr/>
                      <p:nvPr/>
                    </p:nvCxnSpPr>
                    <p:spPr bwMode="auto">
                      <a:xfrm>
                        <a:off x="5468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5" name="Line 84"/>
                      <p:cNvCxnSpPr/>
                      <p:nvPr/>
                    </p:nvCxnSpPr>
                    <p:spPr bwMode="auto">
                      <a:xfrm>
                        <a:off x="5841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6" name="Line 85"/>
                      <p:cNvCxnSpPr/>
                      <p:nvPr/>
                    </p:nvCxnSpPr>
                    <p:spPr bwMode="auto">
                      <a:xfrm>
                        <a:off x="7001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7" name="Line 86"/>
                      <p:cNvCxnSpPr/>
                      <p:nvPr/>
                    </p:nvCxnSpPr>
                    <p:spPr bwMode="auto">
                      <a:xfrm>
                        <a:off x="7387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8" name="Line 87"/>
                      <p:cNvCxnSpPr/>
                      <p:nvPr/>
                    </p:nvCxnSpPr>
                    <p:spPr bwMode="auto">
                      <a:xfrm>
                        <a:off x="5082" y="5077"/>
                        <a:ext cx="0" cy="47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149" name="Rectangle 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37" y="5536"/>
                        <a:ext cx="1082" cy="65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pPr algn="ctr">
                          <a:lnSpc>
                            <a:spcPct val="115000"/>
                          </a:lnSpc>
                          <a:spcAft>
                            <a:spcPts val="1000"/>
                          </a:spcAft>
                        </a:pPr>
                        <a:r>
                          <a:rPr lang="en-US" sz="1800" b="1">
                            <a:effectLst/>
                            <a:latin typeface="Times New Roman"/>
                            <a:ea typeface="Calibri"/>
                            <a:cs typeface="Times New Roman"/>
                          </a:rPr>
                          <a:t>S</a:t>
                        </a:r>
                        <a:r>
                          <a:rPr lang="en-US" sz="1800" b="1" baseline="-25000">
                            <a:effectLst/>
                            <a:latin typeface="Times New Roman"/>
                            <a:ea typeface="Calibri"/>
                            <a:cs typeface="Times New Roman"/>
                          </a:rPr>
                          <a:t>11</a:t>
                        </a:r>
                        <a:endParaRPr lang="uz-Cyrl-UZ" sz="1100">
                          <a:effectLst/>
                          <a:latin typeface="Calibri"/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50" name="Rectangle 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40" y="5550"/>
                        <a:ext cx="1082" cy="64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pPr algn="ctr">
                          <a:lnSpc>
                            <a:spcPct val="115000"/>
                          </a:lnSpc>
                          <a:spcAft>
                            <a:spcPts val="1000"/>
                          </a:spcAft>
                        </a:pPr>
                        <a:r>
                          <a:rPr lang="en-US" sz="1800" b="1" dirty="0">
                            <a:effectLst/>
                            <a:latin typeface="Times New Roman"/>
                            <a:ea typeface="Calibri"/>
                            <a:cs typeface="Times New Roman"/>
                          </a:rPr>
                          <a:t>S</a:t>
                        </a:r>
                        <a:r>
                          <a:rPr lang="en-US" sz="1800" b="1" baseline="-25000" dirty="0">
                            <a:effectLst/>
                            <a:latin typeface="Times New Roman"/>
                            <a:ea typeface="Calibri"/>
                            <a:cs typeface="Times New Roman"/>
                          </a:rPr>
                          <a:t>12</a:t>
                        </a:r>
                        <a:endParaRPr lang="uz-Cyrl-UZ" sz="1100" dirty="0">
                          <a:effectLst/>
                          <a:latin typeface="Calibri"/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51" name="Rectangle 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846" y="5550"/>
                        <a:ext cx="1082" cy="64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pPr algn="ctr">
                          <a:lnSpc>
                            <a:spcPct val="115000"/>
                          </a:lnSpc>
                          <a:spcAft>
                            <a:spcPts val="1000"/>
                          </a:spcAft>
                        </a:pPr>
                        <a:r>
                          <a:rPr lang="en-US" sz="1800" b="1">
                            <a:effectLst/>
                            <a:latin typeface="Times New Roman"/>
                            <a:ea typeface="Calibri"/>
                            <a:cs typeface="Times New Roman"/>
                          </a:rPr>
                          <a:t>S</a:t>
                        </a:r>
                        <a:r>
                          <a:rPr lang="en-US" sz="1800" b="1" baseline="-25000">
                            <a:effectLst/>
                            <a:latin typeface="Times New Roman"/>
                            <a:ea typeface="Calibri"/>
                            <a:cs typeface="Times New Roman"/>
                          </a:rPr>
                          <a:t>13</a:t>
                        </a:r>
                        <a:endParaRPr lang="uz-Cyrl-UZ" sz="1100">
                          <a:effectLst/>
                          <a:latin typeface="Calibri"/>
                          <a:ea typeface="Calibri"/>
                          <a:cs typeface="Times New Roman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27" name="Line 91"/>
              <p:cNvCxnSpPr/>
              <p:nvPr/>
            </p:nvCxnSpPr>
            <p:spPr bwMode="auto">
              <a:xfrm>
                <a:off x="3417" y="9219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Line 92"/>
              <p:cNvCxnSpPr/>
              <p:nvPr/>
            </p:nvCxnSpPr>
            <p:spPr bwMode="auto">
              <a:xfrm>
                <a:off x="3775" y="9223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93"/>
              <p:cNvCxnSpPr/>
              <p:nvPr/>
            </p:nvCxnSpPr>
            <p:spPr bwMode="auto">
              <a:xfrm>
                <a:off x="4133" y="9223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Line 94"/>
              <p:cNvCxnSpPr/>
              <p:nvPr/>
            </p:nvCxnSpPr>
            <p:spPr bwMode="auto">
              <a:xfrm>
                <a:off x="5108" y="9237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Line 95"/>
              <p:cNvCxnSpPr/>
              <p:nvPr/>
            </p:nvCxnSpPr>
            <p:spPr bwMode="auto">
              <a:xfrm>
                <a:off x="5478" y="9237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Line 96"/>
              <p:cNvCxnSpPr/>
              <p:nvPr/>
            </p:nvCxnSpPr>
            <p:spPr bwMode="auto">
              <a:xfrm>
                <a:off x="5848" y="9237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Line 97"/>
              <p:cNvCxnSpPr/>
              <p:nvPr/>
            </p:nvCxnSpPr>
            <p:spPr bwMode="auto">
              <a:xfrm>
                <a:off x="6935" y="9237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Line 98"/>
              <p:cNvCxnSpPr/>
              <p:nvPr/>
            </p:nvCxnSpPr>
            <p:spPr bwMode="auto">
              <a:xfrm>
                <a:off x="7304" y="9237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Line 99"/>
              <p:cNvCxnSpPr/>
              <p:nvPr/>
            </p:nvCxnSpPr>
            <p:spPr bwMode="auto">
              <a:xfrm>
                <a:off x="7716" y="9237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Line 100"/>
              <p:cNvCxnSpPr/>
              <p:nvPr/>
            </p:nvCxnSpPr>
            <p:spPr bwMode="auto">
              <a:xfrm>
                <a:off x="3788" y="11552"/>
                <a:ext cx="0" cy="537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Line 101"/>
              <p:cNvCxnSpPr/>
              <p:nvPr/>
            </p:nvCxnSpPr>
            <p:spPr bwMode="auto">
              <a:xfrm>
                <a:off x="4120" y="11552"/>
                <a:ext cx="0" cy="537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Line 102"/>
              <p:cNvCxnSpPr/>
              <p:nvPr/>
            </p:nvCxnSpPr>
            <p:spPr bwMode="auto">
              <a:xfrm>
                <a:off x="5120" y="11552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Line 103"/>
              <p:cNvCxnSpPr/>
              <p:nvPr/>
            </p:nvCxnSpPr>
            <p:spPr bwMode="auto">
              <a:xfrm>
                <a:off x="5503" y="11552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Line 104"/>
              <p:cNvCxnSpPr/>
              <p:nvPr/>
            </p:nvCxnSpPr>
            <p:spPr bwMode="auto">
              <a:xfrm>
                <a:off x="5848" y="11552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Line 105"/>
              <p:cNvCxnSpPr/>
              <p:nvPr/>
            </p:nvCxnSpPr>
            <p:spPr bwMode="auto">
              <a:xfrm>
                <a:off x="6971" y="11552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Line 106"/>
              <p:cNvCxnSpPr/>
              <p:nvPr/>
            </p:nvCxnSpPr>
            <p:spPr bwMode="auto">
              <a:xfrm>
                <a:off x="7342" y="11552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Line 107"/>
              <p:cNvCxnSpPr/>
              <p:nvPr/>
            </p:nvCxnSpPr>
            <p:spPr bwMode="auto">
              <a:xfrm>
                <a:off x="7687" y="11552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Line 108"/>
              <p:cNvCxnSpPr/>
              <p:nvPr/>
            </p:nvCxnSpPr>
            <p:spPr bwMode="auto">
              <a:xfrm>
                <a:off x="3392" y="11567"/>
                <a:ext cx="0" cy="537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5" name="AutoShape 109"/>
              <p:cNvSpPr>
                <a:spLocks noChangeArrowheads="1"/>
              </p:cNvSpPr>
              <p:nvPr/>
            </p:nvSpPr>
            <p:spPr bwMode="auto">
              <a:xfrm>
                <a:off x="3176" y="12095"/>
                <a:ext cx="4888" cy="538"/>
              </a:xfrm>
              <a:prstGeom prst="flowChartProcess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uz-Cyrl-UZ" sz="1400" dirty="0">
                    <a:effectLst/>
                    <a:latin typeface="Times New Roman"/>
                    <a:ea typeface="Calibri"/>
                    <a:cs typeface="Times New Roman"/>
                  </a:rPr>
                  <a:t>К калит билан қўшиш</a:t>
                </a:r>
                <a:endParaRPr lang="uz-Cyrl-UZ" sz="14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uz-Cyrl-UZ" sz="1400" dirty="0">
                    <a:effectLst/>
                    <a:latin typeface="Times New Roman"/>
                    <a:ea typeface="Calibri"/>
                    <a:cs typeface="Times New Roman"/>
                  </a:rPr>
                  <a:t> </a:t>
                </a:r>
                <a:endParaRPr lang="uz-Cyrl-UZ" sz="14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6" name="Line 110"/>
              <p:cNvCxnSpPr/>
              <p:nvPr/>
            </p:nvCxnSpPr>
            <p:spPr bwMode="auto">
              <a:xfrm>
                <a:off x="3421" y="12623"/>
                <a:ext cx="0" cy="538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Line 111"/>
              <p:cNvCxnSpPr/>
              <p:nvPr/>
            </p:nvCxnSpPr>
            <p:spPr bwMode="auto">
              <a:xfrm>
                <a:off x="3780" y="12623"/>
                <a:ext cx="0" cy="538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8" name="Group 112"/>
              <p:cNvGrpSpPr>
                <a:grpSpLocks/>
              </p:cNvGrpSpPr>
              <p:nvPr/>
            </p:nvGrpSpPr>
            <p:grpSpPr bwMode="auto">
              <a:xfrm>
                <a:off x="3248" y="1234"/>
                <a:ext cx="4974" cy="11930"/>
                <a:chOff x="3081" y="3594"/>
                <a:chExt cx="5190" cy="10493"/>
              </a:xfrm>
            </p:grpSpPr>
            <p:sp>
              <p:nvSpPr>
                <p:cNvPr id="84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7551" y="3609"/>
                  <a:ext cx="720" cy="5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100" b="1">
                      <a:effectLst/>
                      <a:latin typeface="Times New Roman"/>
                      <a:ea typeface="Calibri"/>
                      <a:cs typeface="Times New Roman"/>
                    </a:rPr>
                    <a:t>X</a:t>
                  </a:r>
                  <a:r>
                    <a:rPr lang="en-US" sz="11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9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85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3081" y="3594"/>
                  <a:ext cx="720" cy="5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100" b="1">
                      <a:effectLst/>
                      <a:latin typeface="Times New Roman"/>
                      <a:ea typeface="Calibri"/>
                      <a:cs typeface="Times New Roman"/>
                    </a:rPr>
                    <a:t>X</a:t>
                  </a:r>
                  <a:r>
                    <a:rPr lang="en-US" sz="11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1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86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3903" y="3594"/>
                  <a:ext cx="3060" cy="5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uz-Cyrl-UZ" sz="1100">
                      <a:effectLst/>
                      <a:latin typeface="Times New Roman"/>
                      <a:ea typeface="Calibri"/>
                      <a:cs typeface="Times New Roman"/>
                    </a:rPr>
                    <a:t>Очиқ матн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87" name="Line 116"/>
                <p:cNvCxnSpPr/>
                <p:nvPr/>
              </p:nvCxnSpPr>
              <p:spPr bwMode="auto">
                <a:xfrm>
                  <a:off x="3981" y="13614"/>
                  <a:ext cx="0" cy="47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49" name="Line 117"/>
              <p:cNvCxnSpPr/>
              <p:nvPr/>
            </p:nvCxnSpPr>
            <p:spPr bwMode="auto">
              <a:xfrm>
                <a:off x="5117" y="12623"/>
                <a:ext cx="0" cy="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Line 118"/>
              <p:cNvCxnSpPr/>
              <p:nvPr/>
            </p:nvCxnSpPr>
            <p:spPr bwMode="auto">
              <a:xfrm>
                <a:off x="5505" y="12619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Line 119"/>
              <p:cNvCxnSpPr/>
              <p:nvPr/>
            </p:nvCxnSpPr>
            <p:spPr bwMode="auto">
              <a:xfrm>
                <a:off x="5864" y="12619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Line 120"/>
              <p:cNvCxnSpPr/>
              <p:nvPr/>
            </p:nvCxnSpPr>
            <p:spPr bwMode="auto">
              <a:xfrm>
                <a:off x="6986" y="12619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Line 121"/>
              <p:cNvCxnSpPr/>
              <p:nvPr/>
            </p:nvCxnSpPr>
            <p:spPr bwMode="auto">
              <a:xfrm>
                <a:off x="7359" y="12619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Line 122"/>
              <p:cNvCxnSpPr/>
              <p:nvPr/>
            </p:nvCxnSpPr>
            <p:spPr bwMode="auto">
              <a:xfrm>
                <a:off x="7719" y="12619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55" name="Group 123"/>
              <p:cNvGrpSpPr>
                <a:grpSpLocks/>
              </p:cNvGrpSpPr>
              <p:nvPr/>
            </p:nvGrpSpPr>
            <p:grpSpPr bwMode="auto">
              <a:xfrm>
                <a:off x="3133" y="9782"/>
                <a:ext cx="4888" cy="1792"/>
                <a:chOff x="2961" y="11112"/>
                <a:chExt cx="5100" cy="1576"/>
              </a:xfrm>
            </p:grpSpPr>
            <p:sp>
              <p:nvSpPr>
                <p:cNvPr id="71" name="AutoShape 124"/>
                <p:cNvSpPr>
                  <a:spLocks noChangeArrowheads="1"/>
                </p:cNvSpPr>
                <p:nvPr/>
              </p:nvSpPr>
              <p:spPr bwMode="auto">
                <a:xfrm>
                  <a:off x="2961" y="11112"/>
                  <a:ext cx="5100" cy="473"/>
                </a:xfrm>
                <a:prstGeom prst="flowChartProcess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uz-Cyrl-UZ" sz="1400" dirty="0">
                      <a:effectLst/>
                      <a:latin typeface="Times New Roman"/>
                      <a:ea typeface="Calibri"/>
                      <a:cs typeface="Times New Roman"/>
                    </a:rPr>
                    <a:t>К калит билан қўшиш</a:t>
                  </a:r>
                  <a:endParaRPr lang="uz-Cyrl-UZ" sz="1400" dirty="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uz-Cyrl-UZ" sz="1400" dirty="0">
                      <a:effectLst/>
                      <a:latin typeface="Times New Roman"/>
                      <a:ea typeface="Calibri"/>
                      <a:cs typeface="Times New Roman"/>
                    </a:rPr>
                    <a:t> </a:t>
                  </a:r>
                  <a:endParaRPr lang="uz-Cyrl-UZ" sz="140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cxnSp>
              <p:nvCxnSpPr>
                <p:cNvPr id="72" name="Line 125"/>
                <p:cNvCxnSpPr/>
                <p:nvPr/>
              </p:nvCxnSpPr>
              <p:spPr bwMode="auto">
                <a:xfrm>
                  <a:off x="3257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3" name="Line 126"/>
                <p:cNvCxnSpPr/>
                <p:nvPr/>
              </p:nvCxnSpPr>
              <p:spPr bwMode="auto">
                <a:xfrm>
                  <a:off x="3618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4" name="Line 127"/>
                <p:cNvCxnSpPr/>
                <p:nvPr/>
              </p:nvCxnSpPr>
              <p:spPr bwMode="auto">
                <a:xfrm>
                  <a:off x="4004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5" name="Line 128"/>
                <p:cNvCxnSpPr/>
                <p:nvPr/>
              </p:nvCxnSpPr>
              <p:spPr bwMode="auto">
                <a:xfrm>
                  <a:off x="7713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6" name="Line 129"/>
                <p:cNvCxnSpPr/>
                <p:nvPr/>
              </p:nvCxnSpPr>
              <p:spPr bwMode="auto">
                <a:xfrm>
                  <a:off x="5408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" name="Line 130"/>
                <p:cNvCxnSpPr/>
                <p:nvPr/>
              </p:nvCxnSpPr>
              <p:spPr bwMode="auto">
                <a:xfrm>
                  <a:off x="5781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8" name="Line 131"/>
                <p:cNvCxnSpPr/>
                <p:nvPr/>
              </p:nvCxnSpPr>
              <p:spPr bwMode="auto">
                <a:xfrm>
                  <a:off x="6941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" name="Line 132"/>
                <p:cNvCxnSpPr/>
                <p:nvPr/>
              </p:nvCxnSpPr>
              <p:spPr bwMode="auto">
                <a:xfrm>
                  <a:off x="7327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0" name="Line 133"/>
                <p:cNvCxnSpPr/>
                <p:nvPr/>
              </p:nvCxnSpPr>
              <p:spPr bwMode="auto">
                <a:xfrm>
                  <a:off x="5022" y="11572"/>
                  <a:ext cx="0" cy="4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1" name="Rectangle 134"/>
                <p:cNvSpPr>
                  <a:spLocks noChangeArrowheads="1"/>
                </p:cNvSpPr>
                <p:nvPr/>
              </p:nvSpPr>
              <p:spPr bwMode="auto">
                <a:xfrm>
                  <a:off x="3077" y="12031"/>
                  <a:ext cx="1082" cy="657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800" b="1">
                      <a:effectLst/>
                      <a:latin typeface="Times New Roman"/>
                      <a:ea typeface="Calibri"/>
                      <a:cs typeface="Times New Roman"/>
                    </a:rPr>
                    <a:t>S</a:t>
                  </a:r>
                  <a:r>
                    <a:rPr lang="en-US" sz="18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31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82" name="Rectangle 135"/>
                <p:cNvSpPr>
                  <a:spLocks noChangeArrowheads="1"/>
                </p:cNvSpPr>
                <p:nvPr/>
              </p:nvSpPr>
              <p:spPr bwMode="auto">
                <a:xfrm>
                  <a:off x="4880" y="12045"/>
                  <a:ext cx="1082" cy="64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800" b="1">
                      <a:effectLst/>
                      <a:latin typeface="Times New Roman"/>
                      <a:ea typeface="Calibri"/>
                      <a:cs typeface="Times New Roman"/>
                    </a:rPr>
                    <a:t>S</a:t>
                  </a:r>
                  <a:r>
                    <a:rPr lang="en-US" sz="18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32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83" name="Rectangle 136"/>
                <p:cNvSpPr>
                  <a:spLocks noChangeArrowheads="1"/>
                </p:cNvSpPr>
                <p:nvPr/>
              </p:nvSpPr>
              <p:spPr bwMode="auto">
                <a:xfrm>
                  <a:off x="6786" y="12045"/>
                  <a:ext cx="1082" cy="64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800" b="1">
                      <a:effectLst/>
                      <a:latin typeface="Times New Roman"/>
                      <a:ea typeface="Calibri"/>
                      <a:cs typeface="Times New Roman"/>
                    </a:rPr>
                    <a:t>S</a:t>
                  </a:r>
                  <a:r>
                    <a:rPr lang="en-US" sz="1800" b="1" baseline="-25000">
                      <a:effectLst/>
                      <a:latin typeface="Times New Roman"/>
                      <a:ea typeface="Calibri"/>
                      <a:cs typeface="Times New Roman"/>
                    </a:rPr>
                    <a:t>33</a:t>
                  </a:r>
                  <a:endParaRPr lang="uz-Cyrl-UZ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cxnSp>
            <p:nvCxnSpPr>
              <p:cNvPr id="56" name="Line 137"/>
              <p:cNvCxnSpPr/>
              <p:nvPr/>
            </p:nvCxnSpPr>
            <p:spPr bwMode="auto">
              <a:xfrm>
                <a:off x="8290" y="5788"/>
                <a:ext cx="6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Line 138"/>
              <p:cNvCxnSpPr/>
              <p:nvPr/>
            </p:nvCxnSpPr>
            <p:spPr bwMode="auto">
              <a:xfrm>
                <a:off x="8290" y="9472"/>
                <a:ext cx="6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Line 139"/>
              <p:cNvCxnSpPr/>
              <p:nvPr/>
            </p:nvCxnSpPr>
            <p:spPr bwMode="auto">
              <a:xfrm>
                <a:off x="8290" y="13152"/>
                <a:ext cx="6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9" name="Line 140"/>
              <p:cNvCxnSpPr/>
              <p:nvPr/>
            </p:nvCxnSpPr>
            <p:spPr bwMode="auto">
              <a:xfrm>
                <a:off x="8308" y="6005"/>
                <a:ext cx="6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Line 141"/>
              <p:cNvCxnSpPr/>
              <p:nvPr/>
            </p:nvCxnSpPr>
            <p:spPr bwMode="auto">
              <a:xfrm>
                <a:off x="8998" y="6005"/>
                <a:ext cx="0" cy="3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Line 142"/>
              <p:cNvCxnSpPr/>
              <p:nvPr/>
            </p:nvCxnSpPr>
            <p:spPr bwMode="auto">
              <a:xfrm>
                <a:off x="8998" y="8033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Line 143"/>
              <p:cNvCxnSpPr/>
              <p:nvPr/>
            </p:nvCxnSpPr>
            <p:spPr bwMode="auto">
              <a:xfrm>
                <a:off x="8308" y="1914"/>
                <a:ext cx="6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Line 144"/>
              <p:cNvCxnSpPr/>
              <p:nvPr/>
            </p:nvCxnSpPr>
            <p:spPr bwMode="auto">
              <a:xfrm>
                <a:off x="8998" y="1914"/>
                <a:ext cx="0" cy="38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Line 145"/>
              <p:cNvCxnSpPr/>
              <p:nvPr/>
            </p:nvCxnSpPr>
            <p:spPr bwMode="auto">
              <a:xfrm>
                <a:off x="9012" y="4164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5" name="Text Box 146"/>
              <p:cNvSpPr txBox="1">
                <a:spLocks noChangeArrowheads="1"/>
              </p:cNvSpPr>
              <p:nvPr/>
            </p:nvSpPr>
            <p:spPr bwMode="auto">
              <a:xfrm>
                <a:off x="9400" y="3857"/>
                <a:ext cx="1706" cy="61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uz-Cyrl-UZ" sz="1400" b="1" dirty="0">
                    <a:effectLst/>
                    <a:latin typeface="Times New Roman"/>
                    <a:ea typeface="Calibri"/>
                    <a:cs typeface="Times New Roman"/>
                  </a:rPr>
                  <a:t>1-раунд</a:t>
                </a:r>
                <a:endParaRPr lang="uz-Cyrl-UZ" sz="11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66" name="Text Box 147"/>
              <p:cNvSpPr txBox="1">
                <a:spLocks noChangeArrowheads="1"/>
              </p:cNvSpPr>
              <p:nvPr/>
            </p:nvSpPr>
            <p:spPr bwMode="auto">
              <a:xfrm>
                <a:off x="9501" y="7709"/>
                <a:ext cx="1605" cy="61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uz-Cyrl-UZ" sz="1400" b="1" dirty="0">
                    <a:effectLst/>
                    <a:latin typeface="Times New Roman"/>
                    <a:ea typeface="Calibri"/>
                    <a:cs typeface="Times New Roman"/>
                  </a:rPr>
                  <a:t>2-раунд</a:t>
                </a:r>
                <a:endParaRPr lang="uz-Cyrl-UZ" sz="11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67" name="Line 148"/>
              <p:cNvCxnSpPr/>
              <p:nvPr/>
            </p:nvCxnSpPr>
            <p:spPr bwMode="auto">
              <a:xfrm>
                <a:off x="8322" y="9704"/>
                <a:ext cx="6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" name="Line 149"/>
              <p:cNvCxnSpPr/>
              <p:nvPr/>
            </p:nvCxnSpPr>
            <p:spPr bwMode="auto">
              <a:xfrm>
                <a:off x="8998" y="9687"/>
                <a:ext cx="0" cy="3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" name="Line 150"/>
              <p:cNvCxnSpPr/>
              <p:nvPr/>
            </p:nvCxnSpPr>
            <p:spPr bwMode="auto">
              <a:xfrm>
                <a:off x="8998" y="11937"/>
                <a:ext cx="3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0" name="Text Box 151"/>
              <p:cNvSpPr txBox="1">
                <a:spLocks noChangeArrowheads="1"/>
              </p:cNvSpPr>
              <p:nvPr/>
            </p:nvSpPr>
            <p:spPr bwMode="auto">
              <a:xfrm>
                <a:off x="9487" y="11630"/>
                <a:ext cx="1619" cy="61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uz-Cyrl-UZ" sz="1400" b="1" dirty="0">
                    <a:effectLst/>
                    <a:latin typeface="Times New Roman"/>
                    <a:ea typeface="Calibri"/>
                    <a:cs typeface="Times New Roman"/>
                  </a:rPr>
                  <a:t>3-раунд</a:t>
                </a:r>
                <a:endParaRPr lang="uz-Cyrl-UZ" sz="11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p:grpSp>
      </p:grpSp>
      <p:graphicFrame>
        <p:nvGraphicFramePr>
          <p:cNvPr id="152" name="Таблица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45324"/>
              </p:ext>
            </p:extLst>
          </p:nvPr>
        </p:nvGraphicFramePr>
        <p:xfrm>
          <a:off x="4410684" y="4077072"/>
          <a:ext cx="4572970" cy="77618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674596"/>
                <a:gridCol w="506265"/>
                <a:gridCol w="484587"/>
                <a:gridCol w="484587"/>
                <a:gridCol w="484587"/>
                <a:gridCol w="484587"/>
                <a:gridCol w="484587"/>
                <a:gridCol w="484587"/>
                <a:gridCol w="484587"/>
              </a:tblGrid>
              <a:tr h="388094"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en-US" sz="20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094"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en-US" sz="20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S(X)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uz-Cyrl-UZ" sz="2000" b="1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uz-Cyrl-UZ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3" name="Rectangle 1"/>
          <p:cNvSpPr>
            <a:spLocks noChangeArrowheads="1"/>
          </p:cNvSpPr>
          <p:nvPr/>
        </p:nvSpPr>
        <p:spPr bwMode="auto">
          <a:xfrm>
            <a:off x="2648651" y="42272"/>
            <a:ext cx="4435766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SP </a:t>
            </a:r>
            <a:r>
              <a:rPr kumimoji="0" lang="uz-Cyrl-UZ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тармоғи</a:t>
            </a:r>
            <a:r>
              <a:rPr kumimoji="0" lang="uz-Cyrl-UZ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асосида ўқув алгоритми</a:t>
            </a:r>
            <a:r>
              <a:rPr kumimoji="0" lang="uz-Cyrl-UZ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55" name="Rectangle 1"/>
          <p:cNvSpPr>
            <a:spLocks noChangeArrowheads="1"/>
          </p:cNvSpPr>
          <p:nvPr/>
        </p:nvSpPr>
        <p:spPr bwMode="auto">
          <a:xfrm>
            <a:off x="5002882" y="1571888"/>
            <a:ext cx="3669338" cy="17851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uz-Cyrl-UZ" sz="2000" b="1" u="sng" dirty="0" smtClean="0">
                <a:latin typeface="Times New Roman" pitchFamily="18" charset="0"/>
                <a:cs typeface="Times New Roman" pitchFamily="18" charset="0"/>
              </a:rPr>
              <a:t>Умумий параметрлар</a:t>
            </a: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Блок узунлиги – 9 бит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uz-Cyrl-UZ" sz="200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Барча раунд калитлари бир хил</a:t>
            </a:r>
            <a:r>
              <a:rPr kumimoji="0" lang="en-US" sz="200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Барча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S-</a:t>
            </a: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блоклар бир хил.</a:t>
            </a:r>
            <a:endParaRPr kumimoji="0" lang="uz-Cyrl-UZ" sz="200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56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>
            <a:spLocks noChangeArrowheads="1"/>
          </p:cNvSpPr>
          <p:nvPr/>
        </p:nvSpPr>
        <p:spPr bwMode="auto">
          <a:xfrm>
            <a:off x="107504" y="299408"/>
            <a:ext cx="8928992" cy="20928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uz-Cyrl-UZ" sz="2000" b="1" u="sng" dirty="0" smtClean="0">
                <a:latin typeface="Times New Roman" pitchFamily="18" charset="0"/>
                <a:cs typeface="Times New Roman" pitchFamily="18" charset="0"/>
              </a:rPr>
              <a:t>Амалий топшириқ</a:t>
            </a: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</a:pP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Очиқ ва шифрматн битларини боғловчи аппроксимация тенгламаларини қуриш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</a:pPr>
            <a:r>
              <a:rPr kumimoji="0" lang="uz-Cyrl-UZ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Тенгламанинг бажарилиш эҳтимоллигини ҳисоблаш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</a:pPr>
            <a:r>
              <a:rPr lang="uz-Cyrl-UZ" sz="2000" dirty="0" smtClean="0">
                <a:latin typeface="Times New Roman" pitchFamily="18" charset="0"/>
                <a:cs typeface="Times New Roman" pitchFamily="18" charset="0"/>
              </a:rPr>
              <a:t>Олинган натижалар асосида тегишли хулоса чиқариш.</a:t>
            </a:r>
            <a:endParaRPr kumimoji="0" lang="uz-Cyrl-UZ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6" name="Таблица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82011"/>
              </p:ext>
            </p:extLst>
          </p:nvPr>
        </p:nvGraphicFramePr>
        <p:xfrm>
          <a:off x="1731327" y="2780928"/>
          <a:ext cx="5681345" cy="24688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709930"/>
                <a:gridCol w="709930"/>
                <a:gridCol w="709930"/>
                <a:gridCol w="709930"/>
                <a:gridCol w="709930"/>
                <a:gridCol w="710565"/>
                <a:gridCol w="710565"/>
                <a:gridCol w="710565"/>
              </a:tblGrid>
              <a:tr h="199390">
                <a:tc>
                  <a:txBody>
                    <a:bodyPr/>
                    <a:lstStyle/>
                    <a:p>
                      <a:pPr marL="457200" algn="ctr"/>
                      <a:r>
                        <a:rPr lang="en-US" sz="1800" i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endParaRPr lang="uz-Cyrl-UZ" sz="1800" i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0429">
                <a:tc>
                  <a:txBody>
                    <a:bodyPr/>
                    <a:lstStyle/>
                    <a:p>
                      <a:pPr marL="3175" indent="0" algn="l"/>
                      <a:r>
                        <a:rPr lang="en-US" sz="1800" i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uz-Cyrl-UZ" sz="1800" i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z-Cyrl-UZ"/>
                    </a:p>
                  </a:txBody>
                  <a:tcPr/>
                </a:tc>
              </a:tr>
              <a:tr h="162560">
                <a:tc>
                  <a:txBody>
                    <a:bodyPr/>
                    <a:lstStyle/>
                    <a:p>
                      <a:pPr marL="38100" indent="-38100" algn="ctr"/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uz-Cyrl-UZ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uz-Cyrl-UZ" sz="1800" b="1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3175" indent="0"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457200" indent="-419100"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b="1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3175" indent="0"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uz-Cyrl-UZ" sz="1800" b="1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38100" indent="-38100"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uz-Cyrl-UZ" sz="1800" b="1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37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226" y="196849"/>
            <a:ext cx="4968875" cy="646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072" name="Группа 3071"/>
          <p:cNvGrpSpPr/>
          <p:nvPr/>
        </p:nvGrpSpPr>
        <p:grpSpPr>
          <a:xfrm>
            <a:off x="4726496" y="174303"/>
            <a:ext cx="4034914" cy="878123"/>
            <a:chOff x="4499992" y="286753"/>
            <a:chExt cx="4034914" cy="878123"/>
          </a:xfrm>
        </p:grpSpPr>
        <p:grpSp>
          <p:nvGrpSpPr>
            <p:cNvPr id="176" name="Group 7337"/>
            <p:cNvGrpSpPr>
              <a:grpSpLocks/>
            </p:cNvGrpSpPr>
            <p:nvPr/>
          </p:nvGrpSpPr>
          <p:grpSpPr bwMode="auto">
            <a:xfrm>
              <a:off x="4499992" y="661193"/>
              <a:ext cx="4034914" cy="503683"/>
              <a:chOff x="1338" y="799"/>
              <a:chExt cx="2805" cy="397"/>
            </a:xfrm>
          </p:grpSpPr>
          <p:sp>
            <p:nvSpPr>
              <p:cNvPr id="177" name="Rectangle 7335"/>
              <p:cNvSpPr>
                <a:spLocks noChangeArrowheads="1"/>
              </p:cNvSpPr>
              <p:nvPr/>
            </p:nvSpPr>
            <p:spPr bwMode="auto">
              <a:xfrm>
                <a:off x="1338" y="799"/>
                <a:ext cx="2738" cy="397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rgbClr val="00008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 b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178" name="Object 73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4715355"/>
                  </p:ext>
                </p:extLst>
              </p:nvPr>
            </p:nvGraphicFramePr>
            <p:xfrm>
              <a:off x="1494" y="813"/>
              <a:ext cx="2153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6" name="Формула" r:id="rId4" imgW="1282680" imgH="241200" progId="Equation.3">
                      <p:embed/>
                    </p:oleObj>
                  </mc:Choice>
                  <mc:Fallback>
                    <p:oleObj name="Формула" r:id="rId4" imgW="128268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4" y="813"/>
                            <a:ext cx="2153" cy="383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9" name="Rectangle 7320"/>
              <p:cNvSpPr>
                <a:spLocks noChangeArrowheads="1"/>
              </p:cNvSpPr>
              <p:nvPr/>
            </p:nvSpPr>
            <p:spPr bwMode="auto">
              <a:xfrm>
                <a:off x="2018" y="822"/>
                <a:ext cx="1249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r>
                  <a:rPr lang="uz-Cyrl-UZ" sz="1200" b="1">
                    <a:latin typeface="Times New Roman" pitchFamily="18" charset="0"/>
                    <a:cs typeface="Times New Roman" pitchFamily="18" charset="0"/>
                  </a:rPr>
                  <a:t>                                         </a:t>
                </a:r>
                <a:r>
                  <a:rPr lang="ru-RU" sz="1100" b="1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400" b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0" name="Text Box 7328">
                <a:hlinkClick r:id="" action="ppaction://noaction"/>
              </p:cNvPr>
              <p:cNvSpPr txBox="1">
                <a:spLocks noChangeArrowheads="1"/>
              </p:cNvSpPr>
              <p:nvPr/>
            </p:nvSpPr>
            <p:spPr bwMode="auto">
              <a:xfrm>
                <a:off x="3690" y="868"/>
                <a:ext cx="45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uz-Cyrl-UZ" sz="2000" b="1" dirty="0">
                    <a:solidFill>
                      <a:srgbClr val="0000CC"/>
                    </a:solidFill>
                    <a:latin typeface="Times New Roman" pitchFamily="18" charset="0"/>
                    <a:cs typeface="Times New Roman" pitchFamily="18" charset="0"/>
                  </a:rPr>
                  <a:t>(1)</a:t>
                </a:r>
                <a:endParaRPr lang="ru-RU" sz="2000" b="1" dirty="0">
                  <a:solidFill>
                    <a:srgbClr val="00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5" name="Прямоугольник 174"/>
            <p:cNvSpPr/>
            <p:nvPr/>
          </p:nvSpPr>
          <p:spPr>
            <a:xfrm>
              <a:off x="7391447" y="286753"/>
              <a:ext cx="1047082" cy="369332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uz-Cyrl-UZ" b="1" i="1" dirty="0" smtClean="0">
                  <a:latin typeface="Times New Roman" pitchFamily="18" charset="0"/>
                  <a:cs typeface="Times New Roman" pitchFamily="18" charset="0"/>
                </a:rPr>
                <a:t>р</a:t>
              </a:r>
              <a:r>
                <a:rPr lang="uz-Cyrl-UZ" b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uz-Cyrl-UZ" b="1" dirty="0" smtClean="0">
                  <a:latin typeface="Times New Roman" pitchFamily="18" charset="0"/>
                  <a:cs typeface="Times New Roman" pitchFamily="18" charset="0"/>
                </a:rPr>
                <a:t>=0/8=0</a:t>
              </a:r>
              <a:endParaRPr lang="uz-Cyrl-UZ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91" name="Прямоугольник 190"/>
          <p:cNvSpPr/>
          <p:nvPr/>
        </p:nvSpPr>
        <p:spPr>
          <a:xfrm>
            <a:off x="3779912" y="44624"/>
            <a:ext cx="838691" cy="461665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uz-Cyrl-UZ" sz="2400" b="1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uz-Cyrl-UZ" sz="2400" b="1" baseline="-250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=?</a:t>
            </a:r>
            <a:endParaRPr lang="uz-Cyrl-UZ" sz="24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076" name="Группа 3075"/>
          <p:cNvGrpSpPr/>
          <p:nvPr/>
        </p:nvGrpSpPr>
        <p:grpSpPr>
          <a:xfrm>
            <a:off x="4983036" y="1196752"/>
            <a:ext cx="3837436" cy="1908160"/>
            <a:chOff x="4904764" y="2308987"/>
            <a:chExt cx="3837436" cy="1908160"/>
          </a:xfrm>
        </p:grpSpPr>
        <p:grpSp>
          <p:nvGrpSpPr>
            <p:cNvPr id="185" name="Группа 184"/>
            <p:cNvGrpSpPr/>
            <p:nvPr/>
          </p:nvGrpSpPr>
          <p:grpSpPr>
            <a:xfrm>
              <a:off x="5292080" y="2308987"/>
              <a:ext cx="2917999" cy="826199"/>
              <a:chOff x="4788024" y="2400427"/>
              <a:chExt cx="2917999" cy="826199"/>
            </a:xfrm>
          </p:grpSpPr>
          <p:sp>
            <p:nvSpPr>
              <p:cNvPr id="186" name="Text Box 7327"/>
              <p:cNvSpPr txBox="1">
                <a:spLocks noChangeArrowheads="1"/>
              </p:cNvSpPr>
              <p:nvPr/>
            </p:nvSpPr>
            <p:spPr bwMode="auto">
              <a:xfrm>
                <a:off x="6795625" y="2769759"/>
                <a:ext cx="7191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uz-Cyrl-UZ" sz="2000" b="1" dirty="0">
                    <a:solidFill>
                      <a:srgbClr val="0000CC"/>
                    </a:solidFill>
                    <a:latin typeface="Times New Roman" pitchFamily="18" charset="0"/>
                    <a:cs typeface="Times New Roman" pitchFamily="18" charset="0"/>
                  </a:rPr>
                  <a:t>(2)</a:t>
                </a:r>
                <a:endParaRPr lang="ru-RU" sz="2000" b="1" dirty="0">
                  <a:solidFill>
                    <a:srgbClr val="00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87" name="Группа 186"/>
              <p:cNvGrpSpPr/>
              <p:nvPr/>
            </p:nvGrpSpPr>
            <p:grpSpPr>
              <a:xfrm>
                <a:off x="4788024" y="2747201"/>
                <a:ext cx="2917999" cy="479425"/>
                <a:chOff x="2700338" y="4216066"/>
                <a:chExt cx="4824412" cy="479425"/>
              </a:xfrm>
            </p:grpSpPr>
            <p:graphicFrame>
              <p:nvGraphicFramePr>
                <p:cNvPr id="188" name="Object 732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03741616"/>
                    </p:ext>
                  </p:extLst>
                </p:nvPr>
              </p:nvGraphicFramePr>
              <p:xfrm>
                <a:off x="3357898" y="4216066"/>
                <a:ext cx="2380466" cy="4794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47" name="Microsoft Equation 3.0" r:id="rId6" imgW="647700" imgH="241300" progId="Equation.3">
                        <p:embed/>
                      </p:oleObj>
                    </mc:Choice>
                    <mc:Fallback>
                      <p:oleObj name="Microsoft Equation 3.0" r:id="rId6" imgW="647700" imgH="2413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57898" y="4216066"/>
                              <a:ext cx="2380466" cy="479425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9" name="Rectangle 7338"/>
                <p:cNvSpPr>
                  <a:spLocks noChangeArrowheads="1"/>
                </p:cNvSpPr>
                <p:nvPr/>
              </p:nvSpPr>
              <p:spPr bwMode="auto">
                <a:xfrm>
                  <a:off x="2700338" y="4238624"/>
                  <a:ext cx="4824412" cy="396875"/>
                </a:xfrm>
                <a:prstGeom prst="rect">
                  <a:avLst/>
                </a:prstGeom>
                <a:noFill/>
                <a:ln w="9525" algn="ctr">
                  <a:solidFill>
                    <a:srgbClr val="000080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</p:grpSp>
          <p:sp>
            <p:nvSpPr>
              <p:cNvPr id="190" name="Прямоугольник 189"/>
              <p:cNvSpPr/>
              <p:nvPr/>
            </p:nvSpPr>
            <p:spPr>
              <a:xfrm>
                <a:off x="6654513" y="2400427"/>
                <a:ext cx="1047082" cy="369332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uz-Cyrl-UZ" b="1" i="1" dirty="0" smtClean="0">
                    <a:latin typeface="Times New Roman" pitchFamily="18" charset="0"/>
                    <a:cs typeface="Times New Roman" pitchFamily="18" charset="0"/>
                  </a:rPr>
                  <a:t>р</a:t>
                </a:r>
                <a:r>
                  <a:rPr lang="uz-Cyrl-UZ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uz-Cyrl-UZ" b="1" dirty="0" smtClean="0">
                    <a:latin typeface="Times New Roman" pitchFamily="18" charset="0"/>
                    <a:cs typeface="Times New Roman" pitchFamily="18" charset="0"/>
                  </a:rPr>
                  <a:t>=0/8=0</a:t>
                </a:r>
                <a:endParaRPr lang="uz-Cyrl-UZ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3073" name="Группа 3072"/>
            <p:cNvGrpSpPr/>
            <p:nvPr/>
          </p:nvGrpSpPr>
          <p:grpSpPr>
            <a:xfrm>
              <a:off x="5106119" y="3173083"/>
              <a:ext cx="3310532" cy="490537"/>
              <a:chOff x="4190777" y="3912596"/>
              <a:chExt cx="3310532" cy="490537"/>
            </a:xfrm>
          </p:grpSpPr>
          <p:graphicFrame>
            <p:nvGraphicFramePr>
              <p:cNvPr id="194" name="Object 73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430050"/>
                  </p:ext>
                </p:extLst>
              </p:nvPr>
            </p:nvGraphicFramePr>
            <p:xfrm>
              <a:off x="4390262" y="3912596"/>
              <a:ext cx="1981200" cy="490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8" name="Microsoft Equation 3.0" r:id="rId8" imgW="965200" imgH="241300" progId="Equation.3">
                      <p:embed/>
                    </p:oleObj>
                  </mc:Choice>
                  <mc:Fallback>
                    <p:oleObj name="Microsoft Equation 3.0" r:id="rId8" imgW="9652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0262" y="3912596"/>
                            <a:ext cx="1981200" cy="4905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" name="Text Box 7331"/>
              <p:cNvSpPr txBox="1">
                <a:spLocks noChangeArrowheads="1"/>
              </p:cNvSpPr>
              <p:nvPr/>
            </p:nvSpPr>
            <p:spPr bwMode="auto">
              <a:xfrm>
                <a:off x="6475779" y="3912596"/>
                <a:ext cx="7191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uz-Cyrl-UZ" sz="2000" b="1" dirty="0">
                    <a:solidFill>
                      <a:srgbClr val="0000CC"/>
                    </a:solidFill>
                    <a:latin typeface="Times New Roman" pitchFamily="18" charset="0"/>
                    <a:cs typeface="Times New Roman" pitchFamily="18" charset="0"/>
                  </a:rPr>
                  <a:t>(3)</a:t>
                </a:r>
                <a:endParaRPr lang="ru-RU" sz="2000" b="1" dirty="0">
                  <a:solidFill>
                    <a:srgbClr val="00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6" name="Rectangle 7341"/>
              <p:cNvSpPr>
                <a:spLocks noChangeArrowheads="1"/>
              </p:cNvSpPr>
              <p:nvPr/>
            </p:nvSpPr>
            <p:spPr bwMode="auto">
              <a:xfrm>
                <a:off x="4190777" y="3933057"/>
                <a:ext cx="3310532" cy="468000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</p:grpSp>
        <p:grpSp>
          <p:nvGrpSpPr>
            <p:cNvPr id="3075" name="Группа 3074"/>
            <p:cNvGrpSpPr/>
            <p:nvPr/>
          </p:nvGrpSpPr>
          <p:grpSpPr>
            <a:xfrm>
              <a:off x="4904764" y="3729645"/>
              <a:ext cx="3837436" cy="487502"/>
              <a:chOff x="4904764" y="3729645"/>
              <a:chExt cx="3837436" cy="487502"/>
            </a:xfrm>
          </p:grpSpPr>
          <p:sp>
            <p:nvSpPr>
              <p:cNvPr id="200" name="Rectangle 442"/>
              <p:cNvSpPr>
                <a:spLocks noChangeArrowheads="1"/>
              </p:cNvSpPr>
              <p:nvPr/>
            </p:nvSpPr>
            <p:spPr bwMode="auto">
              <a:xfrm>
                <a:off x="4904764" y="3729645"/>
                <a:ext cx="3837436" cy="416377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rgbClr val="00008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 b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201" name="Object 4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9286237"/>
                  </p:ext>
                </p:extLst>
              </p:nvPr>
            </p:nvGraphicFramePr>
            <p:xfrm>
              <a:off x="5121409" y="3749147"/>
              <a:ext cx="3094157" cy="46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9" name="Microsoft Equation 3.0" r:id="rId10" imgW="1574800" imgH="241300" progId="Equation.3">
                      <p:embed/>
                    </p:oleObj>
                  </mc:Choice>
                  <mc:Fallback>
                    <p:oleObj name="Microsoft Equation 3.0" r:id="rId10" imgW="15748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21409" y="3749147"/>
                            <a:ext cx="3094157" cy="468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2" name="Text Box 434"/>
              <p:cNvSpPr txBox="1">
                <a:spLocks noChangeArrowheads="1"/>
              </p:cNvSpPr>
              <p:nvPr/>
            </p:nvSpPr>
            <p:spPr bwMode="auto">
              <a:xfrm>
                <a:off x="8167686" y="3749147"/>
                <a:ext cx="55781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uz-Cyrl-UZ" sz="2000" b="1" dirty="0">
                    <a:solidFill>
                      <a:srgbClr val="0000CC"/>
                    </a:solidFill>
                    <a:latin typeface="Times New Roman" pitchFamily="18" charset="0"/>
                    <a:cs typeface="Times New Roman" pitchFamily="18" charset="0"/>
                  </a:rPr>
                  <a:t>(4)</a:t>
                </a:r>
                <a:endParaRPr lang="ru-RU" sz="2000" b="1" dirty="0">
                  <a:solidFill>
                    <a:srgbClr val="00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3081" name="Группа 3080"/>
          <p:cNvGrpSpPr/>
          <p:nvPr/>
        </p:nvGrpSpPr>
        <p:grpSpPr>
          <a:xfrm>
            <a:off x="5004048" y="3212976"/>
            <a:ext cx="4014788" cy="2952280"/>
            <a:chOff x="5004048" y="3212976"/>
            <a:chExt cx="4014788" cy="2952280"/>
          </a:xfrm>
        </p:grpSpPr>
        <p:grpSp>
          <p:nvGrpSpPr>
            <p:cNvPr id="3080" name="Группа 3079"/>
            <p:cNvGrpSpPr/>
            <p:nvPr/>
          </p:nvGrpSpPr>
          <p:grpSpPr>
            <a:xfrm>
              <a:off x="5004048" y="3212976"/>
              <a:ext cx="4014788" cy="2447454"/>
              <a:chOff x="5004048" y="3212976"/>
              <a:chExt cx="4014788" cy="2447454"/>
            </a:xfrm>
          </p:grpSpPr>
          <p:grpSp>
            <p:nvGrpSpPr>
              <p:cNvPr id="3077" name="Группа 3076"/>
              <p:cNvGrpSpPr/>
              <p:nvPr/>
            </p:nvGrpSpPr>
            <p:grpSpPr>
              <a:xfrm>
                <a:off x="5709741" y="3212976"/>
                <a:ext cx="2606675" cy="855111"/>
                <a:chOff x="5447741" y="4561443"/>
                <a:chExt cx="2606675" cy="855111"/>
              </a:xfrm>
            </p:grpSpPr>
            <p:grpSp>
              <p:nvGrpSpPr>
                <p:cNvPr id="203" name="Group 445"/>
                <p:cNvGrpSpPr>
                  <a:grpSpLocks/>
                </p:cNvGrpSpPr>
                <p:nvPr/>
              </p:nvGrpSpPr>
              <p:grpSpPr bwMode="auto">
                <a:xfrm>
                  <a:off x="5447741" y="4921254"/>
                  <a:ext cx="2606675" cy="495300"/>
                  <a:chOff x="1383" y="2987"/>
                  <a:chExt cx="1642" cy="312"/>
                </a:xfrm>
              </p:grpSpPr>
              <p:sp>
                <p:nvSpPr>
                  <p:cNvPr id="204" name="Rectangle 443"/>
                  <p:cNvSpPr>
                    <a:spLocks noChangeArrowheads="1"/>
                  </p:cNvSpPr>
                  <p:nvPr/>
                </p:nvSpPr>
                <p:spPr bwMode="auto">
                  <a:xfrm>
                    <a:off x="1383" y="2993"/>
                    <a:ext cx="1630" cy="295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algn="ctr">
                    <a:solidFill>
                      <a:srgbClr val="000080"/>
                    </a:solidFill>
                    <a:prstDash val="dash"/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uz-Cyrl-UZ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graphicFrame>
                <p:nvGraphicFramePr>
                  <p:cNvPr id="205" name="Object 431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131993109"/>
                      </p:ext>
                    </p:extLst>
                  </p:nvPr>
                </p:nvGraphicFramePr>
                <p:xfrm>
                  <a:off x="1494" y="2987"/>
                  <a:ext cx="1044" cy="3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50" name="Microsoft Equation 3.0" r:id="rId12" imgW="634725" imgH="241195" progId="Equation.3">
                          <p:embed/>
                        </p:oleObj>
                      </mc:Choice>
                      <mc:Fallback>
                        <p:oleObj name="Microsoft Equation 3.0" r:id="rId12" imgW="634725" imgH="241195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494" y="2987"/>
                                <a:ext cx="1044" cy="30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06" name="Text Box 4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72" y="3049"/>
                    <a:ext cx="45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uz-Cyrl-UZ" sz="2000" b="1" dirty="0">
                        <a:solidFill>
                          <a:srgbClr val="0000CC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(5)</a:t>
                    </a:r>
                    <a:endParaRPr lang="ru-RU" sz="2000" b="1" dirty="0">
                      <a:solidFill>
                        <a:srgbClr val="0000CC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209" name="Прямоугольник 208"/>
                <p:cNvSpPr/>
                <p:nvPr/>
              </p:nvSpPr>
              <p:spPr>
                <a:xfrm>
                  <a:off x="6816271" y="4561443"/>
                  <a:ext cx="1229824" cy="369332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uz-Cyrl-UZ" b="1" i="1" dirty="0" smtClean="0">
                      <a:latin typeface="Times New Roman" pitchFamily="18" charset="0"/>
                      <a:cs typeface="Times New Roman" pitchFamily="18" charset="0"/>
                    </a:rPr>
                    <a:t>р</a:t>
                  </a:r>
                  <a:r>
                    <a:rPr lang="en-US" b="1" baseline="-25000" dirty="0" smtClean="0"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  <a:r>
                    <a:rPr lang="uz-Cyrl-UZ" b="1" dirty="0" smtClean="0">
                      <a:latin typeface="Times New Roman" pitchFamily="18" charset="0"/>
                      <a:cs typeface="Times New Roman" pitchFamily="18" charset="0"/>
                    </a:rPr>
                    <a:t>=</a:t>
                  </a:r>
                  <a:r>
                    <a:rPr lang="en-US" b="1" dirty="0" smtClean="0">
                      <a:latin typeface="Times New Roman" pitchFamily="18" charset="0"/>
                      <a:cs typeface="Times New Roman" pitchFamily="18" charset="0"/>
                    </a:rPr>
                    <a:t>6</a:t>
                  </a:r>
                  <a:r>
                    <a:rPr lang="uz-Cyrl-UZ" b="1" dirty="0" smtClean="0">
                      <a:latin typeface="Times New Roman" pitchFamily="18" charset="0"/>
                      <a:cs typeface="Times New Roman" pitchFamily="18" charset="0"/>
                    </a:rPr>
                    <a:t>/8=</a:t>
                  </a:r>
                  <a:r>
                    <a:rPr lang="en-US" b="1" dirty="0" smtClean="0">
                      <a:latin typeface="Times New Roman" pitchFamily="18" charset="0"/>
                      <a:cs typeface="Times New Roman" pitchFamily="18" charset="0"/>
                    </a:rPr>
                    <a:t>3/4</a:t>
                  </a:r>
                  <a:endParaRPr lang="uz-Cyrl-UZ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3078" name="Объект 307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519959"/>
                  </p:ext>
                </p:extLst>
              </p:nvPr>
            </p:nvGraphicFramePr>
            <p:xfrm>
              <a:off x="6078127" y="4077072"/>
              <a:ext cx="1800237" cy="43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1" name="Microsoft Equation 3.0" r:id="rId14" imgW="990170" imgH="241195" progId="Equation.3">
                      <p:embed/>
                    </p:oleObj>
                  </mc:Choice>
                  <mc:Fallback>
                    <p:oleObj name="Microsoft Equation 3.0" r:id="rId14" imgW="990170" imgH="241195" progId="Equation.3">
                      <p:embed/>
                      <p:pic>
                        <p:nvPicPr>
                          <p:cNvPr id="0" name="Object 4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78127" y="4077072"/>
                            <a:ext cx="1800237" cy="43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6" name="Group 244"/>
              <p:cNvGrpSpPr>
                <a:grpSpLocks/>
              </p:cNvGrpSpPr>
              <p:nvPr/>
            </p:nvGrpSpPr>
            <p:grpSpPr bwMode="auto">
              <a:xfrm>
                <a:off x="5148064" y="4581275"/>
                <a:ext cx="3744913" cy="431901"/>
                <a:chOff x="1202" y="210"/>
                <a:chExt cx="2359" cy="335"/>
              </a:xfrm>
            </p:grpSpPr>
            <p:sp>
              <p:nvSpPr>
                <p:cNvPr id="217" name="Rectangle 243"/>
                <p:cNvSpPr>
                  <a:spLocks noChangeArrowheads="1"/>
                </p:cNvSpPr>
                <p:nvPr/>
              </p:nvSpPr>
              <p:spPr bwMode="auto">
                <a:xfrm>
                  <a:off x="1202" y="210"/>
                  <a:ext cx="2223" cy="335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rgbClr val="000080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graphicFrame>
              <p:nvGraphicFramePr>
                <p:cNvPr id="218" name="Object 20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33719729"/>
                    </p:ext>
                  </p:extLst>
                </p:nvPr>
              </p:nvGraphicFramePr>
              <p:xfrm>
                <a:off x="1383" y="210"/>
                <a:ext cx="1670" cy="31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52" name="Microsoft Equation 3.0" r:id="rId16" imgW="1244600" imgH="241300" progId="Equation.3">
                        <p:embed/>
                      </p:oleObj>
                    </mc:Choice>
                    <mc:Fallback>
                      <p:oleObj name="Microsoft Equation 3.0" r:id="rId16" imgW="1244600" imgH="2413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83" y="210"/>
                              <a:ext cx="1670" cy="31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9" name="Text Box 211"/>
                <p:cNvSpPr txBox="1">
                  <a:spLocks noChangeArrowheads="1"/>
                </p:cNvSpPr>
                <p:nvPr/>
              </p:nvSpPr>
              <p:spPr bwMode="auto">
                <a:xfrm>
                  <a:off x="3108" y="210"/>
                  <a:ext cx="45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uz-Cyrl-UZ" sz="2000" b="1" dirty="0">
                      <a:solidFill>
                        <a:srgbClr val="0000CC"/>
                      </a:solidFill>
                      <a:latin typeface="Times New Roman" pitchFamily="18" charset="0"/>
                      <a:cs typeface="Times New Roman" pitchFamily="18" charset="0"/>
                    </a:rPr>
                    <a:t>(6)</a:t>
                  </a:r>
                  <a:endParaRPr lang="ru-RU" sz="2000" b="1" dirty="0">
                    <a:solidFill>
                      <a:srgbClr val="0000CC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20" name="Group 245"/>
              <p:cNvGrpSpPr>
                <a:grpSpLocks/>
              </p:cNvGrpSpPr>
              <p:nvPr/>
            </p:nvGrpSpPr>
            <p:grpSpPr bwMode="auto">
              <a:xfrm>
                <a:off x="5004048" y="5157192"/>
                <a:ext cx="4014788" cy="503238"/>
                <a:chOff x="1247" y="1099"/>
                <a:chExt cx="2529" cy="317"/>
              </a:xfrm>
            </p:grpSpPr>
            <p:sp>
              <p:nvSpPr>
                <p:cNvPr id="221" name="Rectangle 238"/>
                <p:cNvSpPr>
                  <a:spLocks noChangeArrowheads="1"/>
                </p:cNvSpPr>
                <p:nvPr/>
              </p:nvSpPr>
              <p:spPr bwMode="auto">
                <a:xfrm>
                  <a:off x="1247" y="1099"/>
                  <a:ext cx="2496" cy="317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solidFill>
                    <a:srgbClr val="000080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uz-Cyrl-UZ"/>
                </a:p>
              </p:txBody>
            </p:sp>
            <p:grpSp>
              <p:nvGrpSpPr>
                <p:cNvPr id="222" name="Group 228"/>
                <p:cNvGrpSpPr>
                  <a:grpSpLocks/>
                </p:cNvGrpSpPr>
                <p:nvPr/>
              </p:nvGrpSpPr>
              <p:grpSpPr bwMode="auto">
                <a:xfrm>
                  <a:off x="1292" y="1107"/>
                  <a:ext cx="2484" cy="286"/>
                  <a:chOff x="1292" y="1107"/>
                  <a:chExt cx="2484" cy="286"/>
                </a:xfrm>
              </p:grpSpPr>
              <p:graphicFrame>
                <p:nvGraphicFramePr>
                  <p:cNvPr id="223" name="Object 213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868613721"/>
                      </p:ext>
                    </p:extLst>
                  </p:nvPr>
                </p:nvGraphicFramePr>
                <p:xfrm>
                  <a:off x="1292" y="1121"/>
                  <a:ext cx="1990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53" name="Microsoft Equation 3.0" r:id="rId18" imgW="1981200" imgH="241300" progId="Equation.3">
                          <p:embed/>
                        </p:oleObj>
                      </mc:Choice>
                      <mc:Fallback>
                        <p:oleObj name="Microsoft Equation 3.0" r:id="rId18" imgW="1981200" imgH="2413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92" y="1121"/>
                                <a:ext cx="1990" cy="27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24" name="Text Box 2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23" y="1107"/>
                    <a:ext cx="45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uz-Cyrl-UZ" sz="2000" b="1" dirty="0">
                        <a:solidFill>
                          <a:srgbClr val="0000CC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(7)</a:t>
                    </a:r>
                    <a:endParaRPr lang="ru-RU" sz="2000" b="1" dirty="0">
                      <a:solidFill>
                        <a:srgbClr val="0000CC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</p:grpSp>
        </p:grpSp>
        <p:graphicFrame>
          <p:nvGraphicFramePr>
            <p:cNvPr id="3079" name="Объект 30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7046441"/>
                </p:ext>
              </p:extLst>
            </p:nvPr>
          </p:nvGraphicFramePr>
          <p:xfrm>
            <a:off x="6276958" y="5733256"/>
            <a:ext cx="1679418" cy="43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Microsoft Equation 3.0" r:id="rId20" imgW="927100" imgH="241300" progId="Equation.3">
                    <p:embed/>
                  </p:oleObj>
                </mc:Choice>
                <mc:Fallback>
                  <p:oleObj name="Microsoft Equation 3.0" r:id="rId20" imgW="927100" imgH="241300" progId="Equation.3">
                    <p:embed/>
                    <p:pic>
                      <p:nvPicPr>
                        <p:cNvPr id="0" name="Object 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6958" y="5733256"/>
                          <a:ext cx="1679418" cy="43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Группа 1"/>
          <p:cNvGrpSpPr/>
          <p:nvPr/>
        </p:nvGrpSpPr>
        <p:grpSpPr>
          <a:xfrm>
            <a:off x="4275708" y="5852080"/>
            <a:ext cx="4760788" cy="807482"/>
            <a:chOff x="4275708" y="5852080"/>
            <a:chExt cx="4760788" cy="807482"/>
          </a:xfrm>
        </p:grpSpPr>
        <p:grpSp>
          <p:nvGrpSpPr>
            <p:cNvPr id="226" name="Group 247"/>
            <p:cNvGrpSpPr>
              <a:grpSpLocks/>
            </p:cNvGrpSpPr>
            <p:nvPr/>
          </p:nvGrpSpPr>
          <p:grpSpPr bwMode="auto">
            <a:xfrm>
              <a:off x="4275708" y="6221412"/>
              <a:ext cx="4506913" cy="438150"/>
              <a:chOff x="1244" y="2831"/>
              <a:chExt cx="2839" cy="276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7" name="Rectangle 230"/>
              <p:cNvSpPr>
                <a:spLocks noChangeArrowheads="1"/>
              </p:cNvSpPr>
              <p:nvPr/>
            </p:nvSpPr>
            <p:spPr bwMode="auto">
              <a:xfrm>
                <a:off x="1247" y="2831"/>
                <a:ext cx="2836" cy="276"/>
              </a:xfrm>
              <a:prstGeom prst="rect">
                <a:avLst/>
              </a:prstGeom>
              <a:grpFill/>
              <a:ln w="9525" algn="ctr">
                <a:solidFill>
                  <a:srgbClr val="00008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grpSp>
            <p:nvGrpSpPr>
              <p:cNvPr id="228" name="Group 227"/>
              <p:cNvGrpSpPr>
                <a:grpSpLocks/>
              </p:cNvGrpSpPr>
              <p:nvPr/>
            </p:nvGrpSpPr>
            <p:grpSpPr bwMode="auto">
              <a:xfrm>
                <a:off x="1244" y="2835"/>
                <a:ext cx="2796" cy="272"/>
                <a:chOff x="1317" y="2535"/>
                <a:chExt cx="2796" cy="272"/>
              </a:xfrm>
              <a:grpFill/>
            </p:grpSpPr>
            <p:graphicFrame>
              <p:nvGraphicFramePr>
                <p:cNvPr id="229" name="Object 22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07691350"/>
                    </p:ext>
                  </p:extLst>
                </p:nvPr>
              </p:nvGraphicFramePr>
              <p:xfrm>
                <a:off x="1317" y="2535"/>
                <a:ext cx="2406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55" name="Microsoft Equation 3.0" r:id="rId22" imgW="1968500" imgH="228600" progId="Equation.3">
                        <p:embed/>
                      </p:oleObj>
                    </mc:Choice>
                    <mc:Fallback>
                      <p:oleObj name="Microsoft Equation 3.0" r:id="rId22" imgW="196850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17" y="2535"/>
                              <a:ext cx="2406" cy="272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0" name="Text Box 225">
                  <a:hlinkClick r:id="" action="ppaction://noaction"/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96" y="2549"/>
                  <a:ext cx="317" cy="23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uz-Cyrl-UZ" b="1" dirty="0" smtClean="0">
                      <a:solidFill>
                        <a:srgbClr val="0000CC"/>
                      </a:solidFill>
                    </a:rPr>
                    <a:t>(</a:t>
                  </a:r>
                  <a:r>
                    <a:rPr lang="en-US" b="1" dirty="0" smtClean="0">
                      <a:solidFill>
                        <a:srgbClr val="0000CC"/>
                      </a:solidFill>
                    </a:rPr>
                    <a:t>8</a:t>
                  </a:r>
                  <a:r>
                    <a:rPr lang="uz-Cyrl-UZ" b="1" dirty="0" smtClean="0">
                      <a:solidFill>
                        <a:srgbClr val="0000CC"/>
                      </a:solidFill>
                    </a:rPr>
                    <a:t>)</a:t>
                  </a:r>
                  <a:endParaRPr lang="ru-RU" b="1" dirty="0">
                    <a:solidFill>
                      <a:srgbClr val="0000CC"/>
                    </a:solidFill>
                  </a:endParaRPr>
                </a:p>
              </p:txBody>
            </p:sp>
          </p:grpSp>
        </p:grpSp>
        <p:sp>
          <p:nvSpPr>
            <p:cNvPr id="50" name="Прямоугольник 49"/>
            <p:cNvSpPr/>
            <p:nvPr/>
          </p:nvSpPr>
          <p:spPr>
            <a:xfrm>
              <a:off x="8276352" y="5852080"/>
              <a:ext cx="760144" cy="369332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uz-Cyrl-UZ" b="1" i="1" dirty="0" smtClean="0">
                  <a:latin typeface="Times New Roman" pitchFamily="18" charset="0"/>
                  <a:cs typeface="Times New Roman" pitchFamily="18" charset="0"/>
                </a:rPr>
                <a:t>р</a:t>
              </a:r>
              <a:r>
                <a:rPr lang="en-US" b="1" baseline="-25000" dirty="0" smtClean="0">
                  <a:latin typeface="Times New Roman" pitchFamily="18" charset="0"/>
                  <a:cs typeface="Times New Roman" pitchFamily="18" charset="0"/>
                </a:rPr>
                <a:t>um</a:t>
              </a:r>
              <a:r>
                <a:rPr lang="uz-Cyrl-UZ" b="1" dirty="0" smtClean="0"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b="1" dirty="0" smtClean="0">
                  <a:latin typeface="Times New Roman" pitchFamily="18" charset="0"/>
                  <a:cs typeface="Times New Roman" pitchFamily="18" charset="0"/>
                </a:rPr>
                <a:t>?</a:t>
              </a:r>
              <a:endParaRPr lang="uz-Cyrl-UZ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7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z-Cyrl-UZ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303344"/>
              </p:ext>
            </p:extLst>
          </p:nvPr>
        </p:nvGraphicFramePr>
        <p:xfrm>
          <a:off x="451285" y="260648"/>
          <a:ext cx="8241429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Формула" r:id="rId3" imgW="6108700" imgH="266700" progId="Equation.3">
                  <p:embed/>
                </p:oleObj>
              </mc:Choice>
              <mc:Fallback>
                <p:oleObj name="Формула" r:id="rId3" imgW="6108700" imgH="266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285" y="260648"/>
                        <a:ext cx="8241429" cy="3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9512" y="764704"/>
            <a:ext cx="557662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uz-Cyrl-UZ" sz="2000" b="1" u="sng" dirty="0" smtClean="0">
                <a:latin typeface="Times New Roman" pitchFamily="18" charset="0"/>
                <a:cs typeface="Times New Roman" pitchFamily="18" charset="0"/>
              </a:rPr>
              <a:t>Мустақил ишлаш учун топшириқ варианти</a:t>
            </a: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kumimoji="0" lang="uz-Cyrl-UZ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272"/>
              </p:ext>
            </p:extLst>
          </p:nvPr>
        </p:nvGraphicFramePr>
        <p:xfrm>
          <a:off x="1475656" y="1340768"/>
          <a:ext cx="6497389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346"/>
                <a:gridCol w="2457842"/>
                <a:gridCol w="758346"/>
                <a:gridCol w="2522855"/>
              </a:tblGrid>
              <a:tr h="447824">
                <a:tc>
                  <a:txBody>
                    <a:bodyPr/>
                    <a:lstStyle/>
                    <a:p>
                      <a:pPr algn="ctr"/>
                      <a:r>
                        <a:rPr lang="uz-Cyrl-UZ" sz="2800" dirty="0" smtClean="0">
                          <a:latin typeface="Courier New" pitchFamily="49" charset="0"/>
                          <a:cs typeface="Courier New" pitchFamily="49" charset="0"/>
                        </a:rPr>
                        <a:t>№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dirty="0" smtClean="0">
                          <a:latin typeface="Courier New" pitchFamily="49" charset="0"/>
                          <a:cs typeface="Courier New" pitchFamily="49" charset="0"/>
                        </a:rPr>
                        <a:t>Кириш бити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dirty="0" smtClean="0">
                          <a:latin typeface="Courier New" pitchFamily="49" charset="0"/>
                          <a:cs typeface="Courier New" pitchFamily="49" charset="0"/>
                        </a:rPr>
                        <a:t>№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dirty="0" smtClean="0">
                          <a:latin typeface="Courier New" pitchFamily="49" charset="0"/>
                          <a:cs typeface="Courier New" pitchFamily="49" charset="0"/>
                        </a:rPr>
                        <a:t>Кириш бити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uz-Cyrl-UZ" sz="2800" baseline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11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12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13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14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16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17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  <a:tr h="377421"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uz-Cyrl-UZ" sz="2800" baseline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2800" b="1" dirty="0" smtClean="0">
                          <a:latin typeface="Courier New" pitchFamily="49" charset="0"/>
                          <a:cs typeface="Courier New" pitchFamily="49" charset="0"/>
                        </a:rPr>
                        <a:t>18</a:t>
                      </a:r>
                      <a:endParaRPr lang="uz-Cyrl-UZ" sz="28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r>
                        <a:rPr lang="en-US" sz="2800" baseline="0" dirty="0" smtClean="0">
                          <a:latin typeface="Courier New" pitchFamily="49" charset="0"/>
                          <a:cs typeface="Courier New" pitchFamily="49" charset="0"/>
                          <a:sym typeface="Symbol"/>
                        </a:rPr>
                        <a:t></a:t>
                      </a:r>
                      <a:r>
                        <a:rPr lang="en-US" sz="2800" dirty="0" smtClean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sz="2800" baseline="-25000" dirty="0" smtClean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uz-Cyrl-UZ" sz="2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5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4426</TotalTime>
  <Words>291</Words>
  <Application>Microsoft Office PowerPoint</Application>
  <PresentationFormat>Экран (4:3)</PresentationFormat>
  <Paragraphs>174</Paragraphs>
  <Slides>5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Тема Office</vt:lpstr>
      <vt:lpstr>Формула</vt:lpstr>
      <vt:lpstr>Microsoft Equation 3.0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Office</cp:lastModifiedBy>
  <cp:revision>214</cp:revision>
  <cp:lastPrinted>1601-01-01T00:00:00Z</cp:lastPrinted>
  <dcterms:created xsi:type="dcterms:W3CDTF">2011-09-06T09:23:06Z</dcterms:created>
  <dcterms:modified xsi:type="dcterms:W3CDTF">2018-06-07T03:50:59Z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