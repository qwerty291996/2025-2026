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44"/>
  </p:notesMasterIdLst>
  <p:handoutMasterIdLst>
    <p:handoutMasterId r:id="rId45"/>
  </p:handoutMasterIdLst>
  <p:sldIdLst>
    <p:sldId id="256" r:id="rId2"/>
    <p:sldId id="257" r:id="rId3"/>
    <p:sldId id="268" r:id="rId4"/>
    <p:sldId id="291" r:id="rId5"/>
    <p:sldId id="292" r:id="rId6"/>
    <p:sldId id="293" r:id="rId7"/>
    <p:sldId id="294" r:id="rId8"/>
    <p:sldId id="297" r:id="rId9"/>
    <p:sldId id="295" r:id="rId10"/>
    <p:sldId id="296" r:id="rId11"/>
    <p:sldId id="298" r:id="rId12"/>
    <p:sldId id="299" r:id="rId13"/>
    <p:sldId id="300" r:id="rId14"/>
    <p:sldId id="301" r:id="rId15"/>
    <p:sldId id="302" r:id="rId16"/>
    <p:sldId id="304" r:id="rId17"/>
    <p:sldId id="305" r:id="rId18"/>
    <p:sldId id="307" r:id="rId19"/>
    <p:sldId id="308" r:id="rId20"/>
    <p:sldId id="309" r:id="rId21"/>
    <p:sldId id="310" r:id="rId22"/>
    <p:sldId id="313" r:id="rId23"/>
    <p:sldId id="316" r:id="rId24"/>
    <p:sldId id="314" r:id="rId25"/>
    <p:sldId id="334" r:id="rId26"/>
    <p:sldId id="318" r:id="rId27"/>
    <p:sldId id="335" r:id="rId28"/>
    <p:sldId id="319" r:id="rId29"/>
    <p:sldId id="320" r:id="rId30"/>
    <p:sldId id="321" r:id="rId31"/>
    <p:sldId id="322" r:id="rId32"/>
    <p:sldId id="323" r:id="rId33"/>
    <p:sldId id="324" r:id="rId34"/>
    <p:sldId id="326" r:id="rId35"/>
    <p:sldId id="327" r:id="rId36"/>
    <p:sldId id="328" r:id="rId37"/>
    <p:sldId id="329" r:id="rId38"/>
    <p:sldId id="330" r:id="rId39"/>
    <p:sldId id="331" r:id="rId40"/>
    <p:sldId id="332" r:id="rId41"/>
    <p:sldId id="333" r:id="rId42"/>
    <p:sldId id="266" r:id="rId43"/>
  </p:sldIdLst>
  <p:sldSz cx="9144000" cy="6858000" type="screen4x3"/>
  <p:notesSz cx="6742113" cy="9872663"/>
  <p:defaultTextStyle>
    <a:defPPr>
      <a:defRPr lang="ru-RU"/>
    </a:defPPr>
    <a:lvl1pPr algn="l" rtl="0" fontAlgn="base">
      <a:spcBef>
        <a:spcPct val="0"/>
      </a:spcBef>
      <a:spcAft>
        <a:spcPct val="0"/>
      </a:spcAft>
      <a:defRPr kern="1200">
        <a:solidFill>
          <a:schemeClr val="tx1"/>
        </a:solidFill>
        <a:latin typeface="Verdana" pitchFamily="34" charset="0"/>
        <a:ea typeface="+mn-ea"/>
        <a:cs typeface="+mn-cs"/>
      </a:defRPr>
    </a:lvl1pPr>
    <a:lvl2pPr marL="457200" algn="l" rtl="0" fontAlgn="base">
      <a:spcBef>
        <a:spcPct val="0"/>
      </a:spcBef>
      <a:spcAft>
        <a:spcPct val="0"/>
      </a:spcAft>
      <a:defRPr kern="1200">
        <a:solidFill>
          <a:schemeClr val="tx1"/>
        </a:solidFill>
        <a:latin typeface="Verdana" pitchFamily="34" charset="0"/>
        <a:ea typeface="+mn-ea"/>
        <a:cs typeface="+mn-cs"/>
      </a:defRPr>
    </a:lvl2pPr>
    <a:lvl3pPr marL="914400" algn="l" rtl="0" fontAlgn="base">
      <a:spcBef>
        <a:spcPct val="0"/>
      </a:spcBef>
      <a:spcAft>
        <a:spcPct val="0"/>
      </a:spcAft>
      <a:defRPr kern="1200">
        <a:solidFill>
          <a:schemeClr val="tx1"/>
        </a:solidFill>
        <a:latin typeface="Verdana" pitchFamily="34" charset="0"/>
        <a:ea typeface="+mn-ea"/>
        <a:cs typeface="+mn-cs"/>
      </a:defRPr>
    </a:lvl3pPr>
    <a:lvl4pPr marL="1371600" algn="l" rtl="0" fontAlgn="base">
      <a:spcBef>
        <a:spcPct val="0"/>
      </a:spcBef>
      <a:spcAft>
        <a:spcPct val="0"/>
      </a:spcAft>
      <a:defRPr kern="1200">
        <a:solidFill>
          <a:schemeClr val="tx1"/>
        </a:solidFill>
        <a:latin typeface="Verdana" pitchFamily="34" charset="0"/>
        <a:ea typeface="+mn-ea"/>
        <a:cs typeface="+mn-cs"/>
      </a:defRPr>
    </a:lvl4pPr>
    <a:lvl5pPr marL="1828800" algn="l" rtl="0" fontAlgn="base">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FF"/>
    <a:srgbClr val="FFFF99"/>
    <a:srgbClr val="FFFFCC"/>
    <a:srgbClr val="FFFF00"/>
    <a:srgbClr val="99CCFF"/>
    <a:srgbClr val="800000"/>
    <a:srgbClr val="000099"/>
    <a:srgbClr val="CCFFFF"/>
    <a:srgbClr val="CCECFF"/>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1" autoAdjust="0"/>
    <p:restoredTop sz="97876" autoAdjust="0"/>
  </p:normalViewPr>
  <p:slideViewPr>
    <p:cSldViewPr>
      <p:cViewPr>
        <p:scale>
          <a:sx n="75" d="100"/>
          <a:sy n="75" d="100"/>
        </p:scale>
        <p:origin x="-2580" y="-8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1842" y="-102"/>
      </p:cViewPr>
      <p:guideLst>
        <p:guide orient="horz" pos="3110"/>
        <p:guide pos="2124"/>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000" cy="493713"/>
          </a:xfrm>
          <a:prstGeom prst="rect">
            <a:avLst/>
          </a:prstGeom>
        </p:spPr>
        <p:txBody>
          <a:bodyPr vert="horz" lIns="91440" tIns="45720" rIns="91440" bIns="45720" rtlCol="0"/>
          <a:lstStyle>
            <a:lvl1pPr algn="l">
              <a:defRPr sz="1200"/>
            </a:lvl1pPr>
          </a:lstStyle>
          <a:p>
            <a:pPr>
              <a:defRPr/>
            </a:pPr>
            <a:endParaRPr lang="ru-RU"/>
          </a:p>
        </p:txBody>
      </p:sp>
      <p:sp>
        <p:nvSpPr>
          <p:cNvPr id="3" name="Date Placeholder 2"/>
          <p:cNvSpPr>
            <a:spLocks noGrp="1"/>
          </p:cNvSpPr>
          <p:nvPr>
            <p:ph type="dt" sz="quarter" idx="1"/>
          </p:nvPr>
        </p:nvSpPr>
        <p:spPr>
          <a:xfrm>
            <a:off x="3819525" y="0"/>
            <a:ext cx="2921000" cy="493713"/>
          </a:xfrm>
          <a:prstGeom prst="rect">
            <a:avLst/>
          </a:prstGeom>
        </p:spPr>
        <p:txBody>
          <a:bodyPr vert="horz" lIns="91440" tIns="45720" rIns="91440" bIns="45720" rtlCol="0"/>
          <a:lstStyle>
            <a:lvl1pPr algn="r">
              <a:defRPr sz="1200"/>
            </a:lvl1pPr>
          </a:lstStyle>
          <a:p>
            <a:pPr>
              <a:defRPr/>
            </a:pPr>
            <a:fld id="{86D07DFA-F503-42E6-A853-5B723913E276}" type="datetimeFigureOut">
              <a:rPr lang="ru-RU"/>
              <a:pPr>
                <a:defRPr/>
              </a:pPr>
              <a:t>22.08.2019</a:t>
            </a:fld>
            <a:endParaRPr lang="ru-RU"/>
          </a:p>
        </p:txBody>
      </p:sp>
      <p:sp>
        <p:nvSpPr>
          <p:cNvPr id="4" name="Footer Placeholder 3"/>
          <p:cNvSpPr>
            <a:spLocks noGrp="1"/>
          </p:cNvSpPr>
          <p:nvPr>
            <p:ph type="ftr" sz="quarter" idx="2"/>
          </p:nvPr>
        </p:nvSpPr>
        <p:spPr>
          <a:xfrm>
            <a:off x="0" y="9377363"/>
            <a:ext cx="2921000" cy="493712"/>
          </a:xfrm>
          <a:prstGeom prst="rect">
            <a:avLst/>
          </a:prstGeom>
        </p:spPr>
        <p:txBody>
          <a:bodyPr vert="horz" lIns="91440" tIns="45720" rIns="91440" bIns="45720" rtlCol="0" anchor="b"/>
          <a:lstStyle>
            <a:lvl1pPr algn="l">
              <a:defRPr sz="1200"/>
            </a:lvl1pPr>
          </a:lstStyle>
          <a:p>
            <a:pPr>
              <a:defRPr/>
            </a:pPr>
            <a:endParaRPr lang="ru-RU"/>
          </a:p>
        </p:txBody>
      </p:sp>
      <p:sp>
        <p:nvSpPr>
          <p:cNvPr id="5" name="Slide Number Placeholder 4"/>
          <p:cNvSpPr>
            <a:spLocks noGrp="1"/>
          </p:cNvSpPr>
          <p:nvPr>
            <p:ph type="sldNum" sz="quarter" idx="3"/>
          </p:nvPr>
        </p:nvSpPr>
        <p:spPr>
          <a:xfrm>
            <a:off x="3819525" y="9377363"/>
            <a:ext cx="2921000" cy="493712"/>
          </a:xfrm>
          <a:prstGeom prst="rect">
            <a:avLst/>
          </a:prstGeom>
        </p:spPr>
        <p:txBody>
          <a:bodyPr vert="horz" lIns="91440" tIns="45720" rIns="91440" bIns="45720" rtlCol="0" anchor="b"/>
          <a:lstStyle>
            <a:lvl1pPr algn="r">
              <a:defRPr sz="1200"/>
            </a:lvl1pPr>
          </a:lstStyle>
          <a:p>
            <a:pPr>
              <a:defRPr/>
            </a:pPr>
            <a:fld id="{0CD25E99-4A72-47D9-ABAF-AF14D35849EA}" type="slidenum">
              <a:rPr lang="ru-RU"/>
              <a:pPr>
                <a:defRPr/>
              </a:pPr>
              <a:t>‹#›</a:t>
            </a:fld>
            <a:endParaRPr lang="ru-RU"/>
          </a:p>
        </p:txBody>
      </p:sp>
    </p:spTree>
    <p:extLst>
      <p:ext uri="{BB962C8B-B14F-4D97-AF65-F5344CB8AC3E}">
        <p14:creationId xmlns:p14="http://schemas.microsoft.com/office/powerpoint/2010/main" val="30584893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000" cy="493713"/>
          </a:xfrm>
          <a:prstGeom prst="rect">
            <a:avLst/>
          </a:prstGeom>
        </p:spPr>
        <p:txBody>
          <a:bodyPr vert="horz" lIns="91440" tIns="45720" rIns="91440" bIns="45720" rtlCol="0"/>
          <a:lstStyle>
            <a:lvl1pPr algn="l">
              <a:defRPr sz="1200"/>
            </a:lvl1pPr>
          </a:lstStyle>
          <a:p>
            <a:pPr>
              <a:defRPr/>
            </a:pPr>
            <a:endParaRPr lang="ru-RU"/>
          </a:p>
        </p:txBody>
      </p:sp>
      <p:sp>
        <p:nvSpPr>
          <p:cNvPr id="3" name="Date Placeholder 2"/>
          <p:cNvSpPr>
            <a:spLocks noGrp="1"/>
          </p:cNvSpPr>
          <p:nvPr>
            <p:ph type="dt" idx="1"/>
          </p:nvPr>
        </p:nvSpPr>
        <p:spPr>
          <a:xfrm>
            <a:off x="3819525" y="0"/>
            <a:ext cx="2921000" cy="493713"/>
          </a:xfrm>
          <a:prstGeom prst="rect">
            <a:avLst/>
          </a:prstGeom>
        </p:spPr>
        <p:txBody>
          <a:bodyPr vert="horz" lIns="91440" tIns="45720" rIns="91440" bIns="45720" rtlCol="0"/>
          <a:lstStyle>
            <a:lvl1pPr algn="r">
              <a:defRPr sz="1200"/>
            </a:lvl1pPr>
          </a:lstStyle>
          <a:p>
            <a:pPr>
              <a:defRPr/>
            </a:pPr>
            <a:fld id="{04E497EB-0634-4D08-8909-A9E55616C759}" type="datetimeFigureOut">
              <a:rPr lang="ru-RU"/>
              <a:pPr>
                <a:defRPr/>
              </a:pPr>
              <a:t>22.08.2019</a:t>
            </a:fld>
            <a:endParaRPr lang="ru-RU"/>
          </a:p>
        </p:txBody>
      </p:sp>
      <p:sp>
        <p:nvSpPr>
          <p:cNvPr id="4" name="Slide Image Placeholder 3"/>
          <p:cNvSpPr>
            <a:spLocks noGrp="1" noRot="1" noChangeAspect="1"/>
          </p:cNvSpPr>
          <p:nvPr>
            <p:ph type="sldImg" idx="2"/>
          </p:nvPr>
        </p:nvSpPr>
        <p:spPr>
          <a:xfrm>
            <a:off x="901700" y="739775"/>
            <a:ext cx="4938713" cy="3703638"/>
          </a:xfrm>
          <a:prstGeom prst="rect">
            <a:avLst/>
          </a:prstGeom>
          <a:noFill/>
          <a:ln w="12700">
            <a:solidFill>
              <a:prstClr val="black"/>
            </a:solidFill>
          </a:ln>
        </p:spPr>
        <p:txBody>
          <a:bodyPr vert="horz" lIns="91440" tIns="45720" rIns="91440" bIns="45720" rtlCol="0" anchor="ctr"/>
          <a:lstStyle/>
          <a:p>
            <a:pPr lvl="0"/>
            <a:endParaRPr lang="ru-RU" noProof="0"/>
          </a:p>
        </p:txBody>
      </p:sp>
      <p:sp>
        <p:nvSpPr>
          <p:cNvPr id="5" name="Notes Placeholder 4"/>
          <p:cNvSpPr>
            <a:spLocks noGrp="1"/>
          </p:cNvSpPr>
          <p:nvPr>
            <p:ph type="body" sz="quarter" idx="3"/>
          </p:nvPr>
        </p:nvSpPr>
        <p:spPr>
          <a:xfrm>
            <a:off x="674688" y="4689475"/>
            <a:ext cx="5392737" cy="4443413"/>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ru-RU" noProof="0"/>
          </a:p>
        </p:txBody>
      </p:sp>
      <p:sp>
        <p:nvSpPr>
          <p:cNvPr id="6" name="Footer Placeholder 5"/>
          <p:cNvSpPr>
            <a:spLocks noGrp="1"/>
          </p:cNvSpPr>
          <p:nvPr>
            <p:ph type="ftr" sz="quarter" idx="4"/>
          </p:nvPr>
        </p:nvSpPr>
        <p:spPr>
          <a:xfrm>
            <a:off x="0" y="9377363"/>
            <a:ext cx="2921000" cy="493712"/>
          </a:xfrm>
          <a:prstGeom prst="rect">
            <a:avLst/>
          </a:prstGeom>
        </p:spPr>
        <p:txBody>
          <a:bodyPr vert="horz" lIns="91440" tIns="45720" rIns="91440" bIns="45720" rtlCol="0" anchor="b"/>
          <a:lstStyle>
            <a:lvl1pPr algn="l">
              <a:defRPr sz="1200"/>
            </a:lvl1pPr>
          </a:lstStyle>
          <a:p>
            <a:pPr>
              <a:defRPr/>
            </a:pPr>
            <a:endParaRPr lang="ru-RU"/>
          </a:p>
        </p:txBody>
      </p:sp>
      <p:sp>
        <p:nvSpPr>
          <p:cNvPr id="7" name="Slide Number Placeholder 6"/>
          <p:cNvSpPr>
            <a:spLocks noGrp="1"/>
          </p:cNvSpPr>
          <p:nvPr>
            <p:ph type="sldNum" sz="quarter" idx="5"/>
          </p:nvPr>
        </p:nvSpPr>
        <p:spPr>
          <a:xfrm>
            <a:off x="3819525" y="9377363"/>
            <a:ext cx="2921000" cy="493712"/>
          </a:xfrm>
          <a:prstGeom prst="rect">
            <a:avLst/>
          </a:prstGeom>
        </p:spPr>
        <p:txBody>
          <a:bodyPr vert="horz" lIns="91440" tIns="45720" rIns="91440" bIns="45720" rtlCol="0" anchor="b"/>
          <a:lstStyle>
            <a:lvl1pPr algn="r">
              <a:defRPr sz="1200"/>
            </a:lvl1pPr>
          </a:lstStyle>
          <a:p>
            <a:pPr>
              <a:defRPr/>
            </a:pPr>
            <a:fld id="{2BEEBCC1-37C8-434E-9B7C-189AA92B92FD}" type="slidenum">
              <a:rPr lang="ru-RU"/>
              <a:pPr>
                <a:defRPr/>
              </a:pPr>
              <a:t>‹#›</a:t>
            </a:fld>
            <a:endParaRPr lang="ru-RU"/>
          </a:p>
        </p:txBody>
      </p:sp>
    </p:spTree>
    <p:extLst>
      <p:ext uri="{BB962C8B-B14F-4D97-AF65-F5344CB8AC3E}">
        <p14:creationId xmlns:p14="http://schemas.microsoft.com/office/powerpoint/2010/main" val="22547227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ru-RU" smtClean="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defRPr>
            </a:lvl1pPr>
            <a:lvl2pPr marL="742950" indent="-285750" eaLnBrk="0" hangingPunct="0">
              <a:defRPr>
                <a:solidFill>
                  <a:schemeClr val="tx1"/>
                </a:solidFill>
                <a:latin typeface="Verdana" pitchFamily="34" charset="0"/>
              </a:defRPr>
            </a:lvl2pPr>
            <a:lvl3pPr marL="1143000" indent="-228600" eaLnBrk="0" hangingPunct="0">
              <a:defRPr>
                <a:solidFill>
                  <a:schemeClr val="tx1"/>
                </a:solidFill>
                <a:latin typeface="Verdana" pitchFamily="34" charset="0"/>
              </a:defRPr>
            </a:lvl3pPr>
            <a:lvl4pPr marL="1600200" indent="-228600" eaLnBrk="0" hangingPunct="0">
              <a:defRPr>
                <a:solidFill>
                  <a:schemeClr val="tx1"/>
                </a:solidFill>
                <a:latin typeface="Verdana" pitchFamily="34" charset="0"/>
              </a:defRPr>
            </a:lvl4pPr>
            <a:lvl5pPr marL="2057400" indent="-228600" eaLnBrk="0" hangingPunct="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eaLnBrk="1" hangingPunct="1"/>
            <a:fld id="{6955FED9-8F1C-4626-B22A-D2FDBA5DF24F}" type="slidenum">
              <a:rPr lang="ru-RU" smtClean="0"/>
              <a:pPr eaLnBrk="1" hangingPunct="1"/>
              <a:t>1</a:t>
            </a:fld>
            <a:endParaRPr lang="ru-RU"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ru-RU" smtClean="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defRPr>
            </a:lvl1pPr>
            <a:lvl2pPr marL="742950" indent="-285750" eaLnBrk="0" hangingPunct="0">
              <a:defRPr>
                <a:solidFill>
                  <a:schemeClr val="tx1"/>
                </a:solidFill>
                <a:latin typeface="Verdana" pitchFamily="34" charset="0"/>
              </a:defRPr>
            </a:lvl2pPr>
            <a:lvl3pPr marL="1143000" indent="-228600" eaLnBrk="0" hangingPunct="0">
              <a:defRPr>
                <a:solidFill>
                  <a:schemeClr val="tx1"/>
                </a:solidFill>
                <a:latin typeface="Verdana" pitchFamily="34" charset="0"/>
              </a:defRPr>
            </a:lvl3pPr>
            <a:lvl4pPr marL="1600200" indent="-228600" eaLnBrk="0" hangingPunct="0">
              <a:defRPr>
                <a:solidFill>
                  <a:schemeClr val="tx1"/>
                </a:solidFill>
                <a:latin typeface="Verdana" pitchFamily="34" charset="0"/>
              </a:defRPr>
            </a:lvl4pPr>
            <a:lvl5pPr marL="2057400" indent="-228600" eaLnBrk="0" hangingPunct="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eaLnBrk="1" hangingPunct="1"/>
            <a:fld id="{6955FED9-8F1C-4626-B22A-D2FDBA5DF24F}" type="slidenum">
              <a:rPr lang="ru-RU" smtClean="0"/>
              <a:pPr eaLnBrk="1" hangingPunct="1"/>
              <a:t>25</a:t>
            </a:fld>
            <a:endParaRPr lang="ru-RU"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CB45131A-79C8-45D2-B1BB-D9E31637F526}" type="slidenum">
              <a:rPr lang="ru-RU" smtClean="0"/>
              <a:pPr/>
              <a:t>37</a:t>
            </a:fld>
            <a:endParaRPr lang="ru-RU"/>
          </a:p>
        </p:txBody>
      </p:sp>
    </p:spTree>
    <p:extLst>
      <p:ext uri="{BB962C8B-B14F-4D97-AF65-F5344CB8AC3E}">
        <p14:creationId xmlns:p14="http://schemas.microsoft.com/office/powerpoint/2010/main" val="73645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7 w 1000"/>
              <a:gd name="T3" fmla="*/ 0 h 1000"/>
              <a:gd name="T4" fmla="*/ 2147483647 w 1000"/>
              <a:gd name="T5" fmla="*/ 1314299689 h 1000"/>
              <a:gd name="T6" fmla="*/ 0 w 1000"/>
              <a:gd name="T7" fmla="*/ 1314299689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ru-RU"/>
          </a:p>
        </p:txBody>
      </p:sp>
      <p:sp>
        <p:nvSpPr>
          <p:cNvPr id="54274" name="Rectangle 2"/>
          <p:cNvSpPr>
            <a:spLocks noGrp="1" noChangeArrowheads="1"/>
          </p:cNvSpPr>
          <p:nvPr>
            <p:ph type="ctrTitle"/>
          </p:nvPr>
        </p:nvSpPr>
        <p:spPr>
          <a:xfrm>
            <a:off x="685800" y="990600"/>
            <a:ext cx="7772400" cy="1371600"/>
          </a:xfrm>
        </p:spPr>
        <p:txBody>
          <a:bodyPr/>
          <a:lstStyle>
            <a:lvl1pPr>
              <a:defRPr sz="4000"/>
            </a:lvl1pPr>
          </a:lstStyle>
          <a:p>
            <a:r>
              <a:rPr lang="ru-RU"/>
              <a:t>Образец заголовка</a:t>
            </a:r>
          </a:p>
        </p:txBody>
      </p:sp>
      <p:sp>
        <p:nvSpPr>
          <p:cNvPr id="54275"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ru-RU"/>
              <a:t>Образец подзаголовка</a:t>
            </a:r>
          </a:p>
        </p:txBody>
      </p:sp>
      <p:sp>
        <p:nvSpPr>
          <p:cNvPr id="5" name="Rectangle 9"/>
          <p:cNvSpPr>
            <a:spLocks noGrp="1" noChangeArrowheads="1"/>
          </p:cNvSpPr>
          <p:nvPr>
            <p:ph type="dt" sz="half" idx="10"/>
          </p:nvPr>
        </p:nvSpPr>
        <p:spPr>
          <a:xfrm>
            <a:off x="685800" y="6248400"/>
            <a:ext cx="1905000" cy="457200"/>
          </a:xfrm>
        </p:spPr>
        <p:txBody>
          <a:bodyPr/>
          <a:lstStyle>
            <a:lvl1pPr>
              <a:defRPr/>
            </a:lvl1pPr>
          </a:lstStyle>
          <a:p>
            <a:pPr>
              <a:defRPr/>
            </a:pPr>
            <a:endParaRPr lang="ru-RU"/>
          </a:p>
        </p:txBody>
      </p:sp>
      <p:sp>
        <p:nvSpPr>
          <p:cNvPr id="6" name="Rectangle 10"/>
          <p:cNvSpPr>
            <a:spLocks noGrp="1" noChangeArrowheads="1"/>
          </p:cNvSpPr>
          <p:nvPr>
            <p:ph type="ftr" sz="quarter" idx="11"/>
          </p:nvPr>
        </p:nvSpPr>
        <p:spPr>
          <a:xfrm>
            <a:off x="3124200" y="6248400"/>
            <a:ext cx="2895600" cy="457200"/>
          </a:xfrm>
        </p:spPr>
        <p:txBody>
          <a:bodyPr/>
          <a:lstStyle>
            <a:lvl1pPr>
              <a:defRPr/>
            </a:lvl1pPr>
          </a:lstStyle>
          <a:p>
            <a:pPr>
              <a:defRPr/>
            </a:pPr>
            <a:endParaRPr lang="ru-RU"/>
          </a:p>
        </p:txBody>
      </p:sp>
      <p:sp>
        <p:nvSpPr>
          <p:cNvPr id="7" name="Rectangle 11"/>
          <p:cNvSpPr>
            <a:spLocks noGrp="1" noChangeArrowheads="1"/>
          </p:cNvSpPr>
          <p:nvPr>
            <p:ph type="sldNum" sz="quarter" idx="12"/>
          </p:nvPr>
        </p:nvSpPr>
        <p:spPr>
          <a:xfrm>
            <a:off x="6553200" y="6248400"/>
            <a:ext cx="1905000" cy="457200"/>
          </a:xfrm>
        </p:spPr>
        <p:txBody>
          <a:bodyPr/>
          <a:lstStyle>
            <a:lvl1pPr>
              <a:defRPr/>
            </a:lvl1pPr>
          </a:lstStyle>
          <a:p>
            <a:pPr>
              <a:defRPr/>
            </a:pPr>
            <a:fld id="{FC2DA85C-F319-435F-8E4C-2B5AACE61B32}" type="slidenum">
              <a:rPr lang="ru-RU"/>
              <a:pPr>
                <a:defRPr/>
              </a:pPr>
              <a:t>‹#›</a:t>
            </a:fld>
            <a:endParaRPr lang="ru-RU"/>
          </a:p>
        </p:txBody>
      </p:sp>
    </p:spTree>
    <p:extLst>
      <p:ext uri="{BB962C8B-B14F-4D97-AF65-F5344CB8AC3E}">
        <p14:creationId xmlns:p14="http://schemas.microsoft.com/office/powerpoint/2010/main" val="300235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6"/>
          <p:cNvSpPr>
            <a:spLocks noGrp="1" noChangeArrowheads="1"/>
          </p:cNvSpPr>
          <p:nvPr>
            <p:ph type="dt" sz="half" idx="10"/>
          </p:nvPr>
        </p:nvSpPr>
        <p:spPr>
          <a:ln/>
        </p:spPr>
        <p:txBody>
          <a:bodyPr/>
          <a:lstStyle>
            <a:lvl1pPr>
              <a:defRPr/>
            </a:lvl1pPr>
          </a:lstStyle>
          <a:p>
            <a:pPr>
              <a:defRPr/>
            </a:pPr>
            <a:endParaRPr lang="ru-RU"/>
          </a:p>
        </p:txBody>
      </p:sp>
      <p:sp>
        <p:nvSpPr>
          <p:cNvPr id="5" name="Rectangle 7"/>
          <p:cNvSpPr>
            <a:spLocks noGrp="1" noChangeArrowheads="1"/>
          </p:cNvSpPr>
          <p:nvPr>
            <p:ph type="ftr" sz="quarter" idx="11"/>
          </p:nvPr>
        </p:nvSpPr>
        <p:spPr>
          <a:ln/>
        </p:spPr>
        <p:txBody>
          <a:bodyPr/>
          <a:lstStyle>
            <a:lvl1pPr>
              <a:defRPr/>
            </a:lvl1pPr>
          </a:lstStyle>
          <a:p>
            <a:pPr>
              <a:defRPr/>
            </a:pPr>
            <a:endParaRPr lang="ru-RU"/>
          </a:p>
        </p:txBody>
      </p:sp>
      <p:sp>
        <p:nvSpPr>
          <p:cNvPr id="6" name="Rectangle 8"/>
          <p:cNvSpPr>
            <a:spLocks noGrp="1" noChangeArrowheads="1"/>
          </p:cNvSpPr>
          <p:nvPr>
            <p:ph type="sldNum" sz="quarter" idx="12"/>
          </p:nvPr>
        </p:nvSpPr>
        <p:spPr>
          <a:ln/>
        </p:spPr>
        <p:txBody>
          <a:bodyPr/>
          <a:lstStyle>
            <a:lvl1pPr>
              <a:defRPr/>
            </a:lvl1pPr>
          </a:lstStyle>
          <a:p>
            <a:pPr>
              <a:defRPr/>
            </a:pPr>
            <a:fld id="{D275A312-BF34-46CF-836A-4620D36C4C98}" type="slidenum">
              <a:rPr lang="ru-RU"/>
              <a:pPr>
                <a:defRPr/>
              </a:pPr>
              <a:t>‹#›</a:t>
            </a:fld>
            <a:endParaRPr lang="ru-RU"/>
          </a:p>
        </p:txBody>
      </p:sp>
    </p:spTree>
    <p:extLst>
      <p:ext uri="{BB962C8B-B14F-4D97-AF65-F5344CB8AC3E}">
        <p14:creationId xmlns:p14="http://schemas.microsoft.com/office/powerpoint/2010/main" val="3436956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ru-R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dt" sz="half" idx="10"/>
          </p:nvPr>
        </p:nvSpPr>
        <p:spPr>
          <a:ln/>
        </p:spPr>
        <p:txBody>
          <a:bodyPr/>
          <a:lstStyle>
            <a:lvl1pPr>
              <a:defRPr/>
            </a:lvl1pPr>
          </a:lstStyle>
          <a:p>
            <a:pPr>
              <a:defRPr/>
            </a:pPr>
            <a:endParaRPr lang="ru-RU"/>
          </a:p>
        </p:txBody>
      </p:sp>
      <p:sp>
        <p:nvSpPr>
          <p:cNvPr id="5" name="Rectangle 7"/>
          <p:cNvSpPr>
            <a:spLocks noGrp="1" noChangeArrowheads="1"/>
          </p:cNvSpPr>
          <p:nvPr>
            <p:ph type="ftr" sz="quarter" idx="11"/>
          </p:nvPr>
        </p:nvSpPr>
        <p:spPr>
          <a:ln/>
        </p:spPr>
        <p:txBody>
          <a:bodyPr/>
          <a:lstStyle>
            <a:lvl1pPr>
              <a:defRPr/>
            </a:lvl1pPr>
          </a:lstStyle>
          <a:p>
            <a:pPr>
              <a:defRPr/>
            </a:pPr>
            <a:endParaRPr lang="ru-RU"/>
          </a:p>
        </p:txBody>
      </p:sp>
      <p:sp>
        <p:nvSpPr>
          <p:cNvPr id="6" name="Rectangle 8"/>
          <p:cNvSpPr>
            <a:spLocks noGrp="1" noChangeArrowheads="1"/>
          </p:cNvSpPr>
          <p:nvPr>
            <p:ph type="sldNum" sz="quarter" idx="12"/>
          </p:nvPr>
        </p:nvSpPr>
        <p:spPr>
          <a:ln/>
        </p:spPr>
        <p:txBody>
          <a:bodyPr/>
          <a:lstStyle>
            <a:lvl1pPr>
              <a:defRPr/>
            </a:lvl1pPr>
          </a:lstStyle>
          <a:p>
            <a:pPr>
              <a:defRPr/>
            </a:pPr>
            <a:fld id="{6DF5691E-CC2B-42D5-89AE-63536E2FBCA4}" type="slidenum">
              <a:rPr lang="ru-RU"/>
              <a:pPr>
                <a:defRPr/>
              </a:pPr>
              <a:t>‹#›</a:t>
            </a:fld>
            <a:endParaRPr lang="ru-RU"/>
          </a:p>
        </p:txBody>
      </p:sp>
    </p:spTree>
    <p:extLst>
      <p:ext uri="{BB962C8B-B14F-4D97-AF65-F5344CB8AC3E}">
        <p14:creationId xmlns:p14="http://schemas.microsoft.com/office/powerpoint/2010/main" val="3850220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Rectangle 6"/>
          <p:cNvSpPr>
            <a:spLocks noGrp="1" noChangeArrowheads="1"/>
          </p:cNvSpPr>
          <p:nvPr>
            <p:ph type="dt" sz="half" idx="10"/>
          </p:nvPr>
        </p:nvSpPr>
        <p:spPr>
          <a:ln/>
        </p:spPr>
        <p:txBody>
          <a:bodyPr/>
          <a:lstStyle>
            <a:lvl1pPr>
              <a:defRPr/>
            </a:lvl1pPr>
          </a:lstStyle>
          <a:p>
            <a:pPr>
              <a:defRPr/>
            </a:pPr>
            <a:endParaRPr lang="ru-RU"/>
          </a:p>
        </p:txBody>
      </p:sp>
      <p:sp>
        <p:nvSpPr>
          <p:cNvPr id="6" name="Rectangle 7"/>
          <p:cNvSpPr>
            <a:spLocks noGrp="1" noChangeArrowheads="1"/>
          </p:cNvSpPr>
          <p:nvPr>
            <p:ph type="ftr" sz="quarter" idx="11"/>
          </p:nvPr>
        </p:nvSpPr>
        <p:spPr>
          <a:ln/>
        </p:spPr>
        <p:txBody>
          <a:bodyPr/>
          <a:lstStyle>
            <a:lvl1pPr>
              <a:defRPr/>
            </a:lvl1pPr>
          </a:lstStyle>
          <a:p>
            <a:pPr>
              <a:defRPr/>
            </a:pPr>
            <a:endParaRPr lang="ru-RU"/>
          </a:p>
        </p:txBody>
      </p:sp>
      <p:sp>
        <p:nvSpPr>
          <p:cNvPr id="7" name="Rectangle 8"/>
          <p:cNvSpPr>
            <a:spLocks noGrp="1" noChangeArrowheads="1"/>
          </p:cNvSpPr>
          <p:nvPr>
            <p:ph type="sldNum" sz="quarter" idx="12"/>
          </p:nvPr>
        </p:nvSpPr>
        <p:spPr>
          <a:ln/>
        </p:spPr>
        <p:txBody>
          <a:bodyPr/>
          <a:lstStyle>
            <a:lvl1pPr>
              <a:defRPr/>
            </a:lvl1pPr>
          </a:lstStyle>
          <a:p>
            <a:pPr>
              <a:defRPr/>
            </a:pPr>
            <a:fld id="{9F609675-DECF-4AB1-BD87-C7FF290A07A5}" type="slidenum">
              <a:rPr lang="ru-RU"/>
              <a:pPr>
                <a:defRPr/>
              </a:pPr>
              <a:t>‹#›</a:t>
            </a:fld>
            <a:endParaRPr lang="ru-RU"/>
          </a:p>
        </p:txBody>
      </p:sp>
    </p:spTree>
    <p:extLst>
      <p:ext uri="{BB962C8B-B14F-4D97-AF65-F5344CB8AC3E}">
        <p14:creationId xmlns:p14="http://schemas.microsoft.com/office/powerpoint/2010/main" val="2037672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ru-R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Rectangle 6"/>
          <p:cNvSpPr>
            <a:spLocks noGrp="1" noChangeArrowheads="1"/>
          </p:cNvSpPr>
          <p:nvPr>
            <p:ph type="dt" sz="half" idx="10"/>
          </p:nvPr>
        </p:nvSpPr>
        <p:spPr>
          <a:ln/>
        </p:spPr>
        <p:txBody>
          <a:bodyPr/>
          <a:lstStyle>
            <a:lvl1pPr>
              <a:defRPr/>
            </a:lvl1pPr>
          </a:lstStyle>
          <a:p>
            <a:pPr>
              <a:defRPr/>
            </a:pPr>
            <a:endParaRPr lang="ru-RU"/>
          </a:p>
        </p:txBody>
      </p:sp>
      <p:sp>
        <p:nvSpPr>
          <p:cNvPr id="8" name="Rectangle 7"/>
          <p:cNvSpPr>
            <a:spLocks noGrp="1" noChangeArrowheads="1"/>
          </p:cNvSpPr>
          <p:nvPr>
            <p:ph type="ftr" sz="quarter" idx="11"/>
          </p:nvPr>
        </p:nvSpPr>
        <p:spPr>
          <a:ln/>
        </p:spPr>
        <p:txBody>
          <a:bodyPr/>
          <a:lstStyle>
            <a:lvl1pPr>
              <a:defRPr/>
            </a:lvl1pPr>
          </a:lstStyle>
          <a:p>
            <a:pPr>
              <a:defRPr/>
            </a:pPr>
            <a:endParaRPr lang="ru-RU"/>
          </a:p>
        </p:txBody>
      </p:sp>
      <p:sp>
        <p:nvSpPr>
          <p:cNvPr id="9" name="Rectangle 8"/>
          <p:cNvSpPr>
            <a:spLocks noGrp="1" noChangeArrowheads="1"/>
          </p:cNvSpPr>
          <p:nvPr>
            <p:ph type="sldNum" sz="quarter" idx="12"/>
          </p:nvPr>
        </p:nvSpPr>
        <p:spPr>
          <a:ln/>
        </p:spPr>
        <p:txBody>
          <a:bodyPr/>
          <a:lstStyle>
            <a:lvl1pPr>
              <a:defRPr/>
            </a:lvl1pPr>
          </a:lstStyle>
          <a:p>
            <a:pPr>
              <a:defRPr/>
            </a:pPr>
            <a:fld id="{F9F3A142-577B-41D0-859B-658EBA85D373}" type="slidenum">
              <a:rPr lang="ru-RU"/>
              <a:pPr>
                <a:defRPr/>
              </a:pPr>
              <a:t>‹#›</a:t>
            </a:fld>
            <a:endParaRPr lang="ru-RU"/>
          </a:p>
        </p:txBody>
      </p:sp>
    </p:spTree>
    <p:extLst>
      <p:ext uri="{BB962C8B-B14F-4D97-AF65-F5344CB8AC3E}">
        <p14:creationId xmlns:p14="http://schemas.microsoft.com/office/powerpoint/2010/main" val="1447616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Rectangle 6"/>
          <p:cNvSpPr>
            <a:spLocks noGrp="1" noChangeArrowheads="1"/>
          </p:cNvSpPr>
          <p:nvPr>
            <p:ph type="dt" sz="half" idx="10"/>
          </p:nvPr>
        </p:nvSpPr>
        <p:spPr>
          <a:ln/>
        </p:spPr>
        <p:txBody>
          <a:bodyPr/>
          <a:lstStyle>
            <a:lvl1pPr>
              <a:defRPr/>
            </a:lvl1pPr>
          </a:lstStyle>
          <a:p>
            <a:pPr>
              <a:defRPr/>
            </a:pPr>
            <a:endParaRPr lang="ru-RU"/>
          </a:p>
        </p:txBody>
      </p:sp>
      <p:sp>
        <p:nvSpPr>
          <p:cNvPr id="4" name="Rectangle 7"/>
          <p:cNvSpPr>
            <a:spLocks noGrp="1" noChangeArrowheads="1"/>
          </p:cNvSpPr>
          <p:nvPr>
            <p:ph type="ftr" sz="quarter" idx="11"/>
          </p:nvPr>
        </p:nvSpPr>
        <p:spPr>
          <a:ln/>
        </p:spPr>
        <p:txBody>
          <a:bodyPr/>
          <a:lstStyle>
            <a:lvl1pPr>
              <a:defRPr/>
            </a:lvl1pPr>
          </a:lstStyle>
          <a:p>
            <a:pPr>
              <a:defRPr/>
            </a:pPr>
            <a:endParaRPr lang="ru-RU"/>
          </a:p>
        </p:txBody>
      </p:sp>
      <p:sp>
        <p:nvSpPr>
          <p:cNvPr id="5" name="Rectangle 8"/>
          <p:cNvSpPr>
            <a:spLocks noGrp="1" noChangeArrowheads="1"/>
          </p:cNvSpPr>
          <p:nvPr>
            <p:ph type="sldNum" sz="quarter" idx="12"/>
          </p:nvPr>
        </p:nvSpPr>
        <p:spPr>
          <a:ln/>
        </p:spPr>
        <p:txBody>
          <a:bodyPr/>
          <a:lstStyle>
            <a:lvl1pPr>
              <a:defRPr/>
            </a:lvl1pPr>
          </a:lstStyle>
          <a:p>
            <a:pPr>
              <a:defRPr/>
            </a:pPr>
            <a:fld id="{545210D7-9008-4D5D-8E23-471E3F0C16DD}" type="slidenum">
              <a:rPr lang="ru-RU"/>
              <a:pPr>
                <a:defRPr/>
              </a:pPr>
              <a:t>‹#›</a:t>
            </a:fld>
            <a:endParaRPr lang="ru-RU"/>
          </a:p>
        </p:txBody>
      </p:sp>
    </p:spTree>
    <p:extLst>
      <p:ext uri="{BB962C8B-B14F-4D97-AF65-F5344CB8AC3E}">
        <p14:creationId xmlns:p14="http://schemas.microsoft.com/office/powerpoint/2010/main" val="2229556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endParaRPr lang="ru-RU"/>
          </a:p>
        </p:txBody>
      </p:sp>
      <p:sp>
        <p:nvSpPr>
          <p:cNvPr id="3" name="Rectangle 7"/>
          <p:cNvSpPr>
            <a:spLocks noGrp="1" noChangeArrowheads="1"/>
          </p:cNvSpPr>
          <p:nvPr>
            <p:ph type="ftr" sz="quarter" idx="11"/>
          </p:nvPr>
        </p:nvSpPr>
        <p:spPr>
          <a:ln/>
        </p:spPr>
        <p:txBody>
          <a:bodyPr/>
          <a:lstStyle>
            <a:lvl1pPr>
              <a:defRPr/>
            </a:lvl1pPr>
          </a:lstStyle>
          <a:p>
            <a:pPr>
              <a:defRPr/>
            </a:pPr>
            <a:endParaRPr lang="ru-RU"/>
          </a:p>
        </p:txBody>
      </p:sp>
      <p:sp>
        <p:nvSpPr>
          <p:cNvPr id="4" name="Rectangle 8"/>
          <p:cNvSpPr>
            <a:spLocks noGrp="1" noChangeArrowheads="1"/>
          </p:cNvSpPr>
          <p:nvPr>
            <p:ph type="sldNum" sz="quarter" idx="12"/>
          </p:nvPr>
        </p:nvSpPr>
        <p:spPr>
          <a:ln/>
        </p:spPr>
        <p:txBody>
          <a:bodyPr/>
          <a:lstStyle>
            <a:lvl1pPr>
              <a:defRPr/>
            </a:lvl1pPr>
          </a:lstStyle>
          <a:p>
            <a:pPr>
              <a:defRPr/>
            </a:pPr>
            <a:fld id="{6D8E24A2-065F-449D-A575-8716BE5BF385}" type="slidenum">
              <a:rPr lang="ru-RU"/>
              <a:pPr>
                <a:defRPr/>
              </a:pPr>
              <a:t>‹#›</a:t>
            </a:fld>
            <a:endParaRPr lang="ru-RU"/>
          </a:p>
        </p:txBody>
      </p:sp>
    </p:spTree>
    <p:extLst>
      <p:ext uri="{BB962C8B-B14F-4D97-AF65-F5344CB8AC3E}">
        <p14:creationId xmlns:p14="http://schemas.microsoft.com/office/powerpoint/2010/main" val="2887583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ru-R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endParaRPr lang="ru-RU"/>
          </a:p>
        </p:txBody>
      </p:sp>
      <p:sp>
        <p:nvSpPr>
          <p:cNvPr id="6" name="Rectangle 7"/>
          <p:cNvSpPr>
            <a:spLocks noGrp="1" noChangeArrowheads="1"/>
          </p:cNvSpPr>
          <p:nvPr>
            <p:ph type="ftr" sz="quarter" idx="11"/>
          </p:nvPr>
        </p:nvSpPr>
        <p:spPr>
          <a:ln/>
        </p:spPr>
        <p:txBody>
          <a:bodyPr/>
          <a:lstStyle>
            <a:lvl1pPr>
              <a:defRPr/>
            </a:lvl1pPr>
          </a:lstStyle>
          <a:p>
            <a:pPr>
              <a:defRPr/>
            </a:pPr>
            <a:endParaRPr lang="ru-RU"/>
          </a:p>
        </p:txBody>
      </p:sp>
      <p:sp>
        <p:nvSpPr>
          <p:cNvPr id="7" name="Rectangle 8"/>
          <p:cNvSpPr>
            <a:spLocks noGrp="1" noChangeArrowheads="1"/>
          </p:cNvSpPr>
          <p:nvPr>
            <p:ph type="sldNum" sz="quarter" idx="12"/>
          </p:nvPr>
        </p:nvSpPr>
        <p:spPr>
          <a:ln/>
        </p:spPr>
        <p:txBody>
          <a:bodyPr/>
          <a:lstStyle>
            <a:lvl1pPr>
              <a:defRPr/>
            </a:lvl1pPr>
          </a:lstStyle>
          <a:p>
            <a:pPr>
              <a:defRPr/>
            </a:pPr>
            <a:fld id="{AD206980-A5DE-4A02-8319-42840655314E}" type="slidenum">
              <a:rPr lang="ru-RU"/>
              <a:pPr>
                <a:defRPr/>
              </a:pPr>
              <a:t>‹#›</a:t>
            </a:fld>
            <a:endParaRPr lang="ru-RU"/>
          </a:p>
        </p:txBody>
      </p:sp>
    </p:spTree>
    <p:extLst>
      <p:ext uri="{BB962C8B-B14F-4D97-AF65-F5344CB8AC3E}">
        <p14:creationId xmlns:p14="http://schemas.microsoft.com/office/powerpoint/2010/main" val="1489227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ru-R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endParaRPr lang="ru-RU"/>
          </a:p>
        </p:txBody>
      </p:sp>
      <p:sp>
        <p:nvSpPr>
          <p:cNvPr id="6" name="Rectangle 7"/>
          <p:cNvSpPr>
            <a:spLocks noGrp="1" noChangeArrowheads="1"/>
          </p:cNvSpPr>
          <p:nvPr>
            <p:ph type="ftr" sz="quarter" idx="11"/>
          </p:nvPr>
        </p:nvSpPr>
        <p:spPr>
          <a:ln/>
        </p:spPr>
        <p:txBody>
          <a:bodyPr/>
          <a:lstStyle>
            <a:lvl1pPr>
              <a:defRPr/>
            </a:lvl1pPr>
          </a:lstStyle>
          <a:p>
            <a:pPr>
              <a:defRPr/>
            </a:pPr>
            <a:endParaRPr lang="ru-RU"/>
          </a:p>
        </p:txBody>
      </p:sp>
      <p:sp>
        <p:nvSpPr>
          <p:cNvPr id="7" name="Rectangle 8"/>
          <p:cNvSpPr>
            <a:spLocks noGrp="1" noChangeArrowheads="1"/>
          </p:cNvSpPr>
          <p:nvPr>
            <p:ph type="sldNum" sz="quarter" idx="12"/>
          </p:nvPr>
        </p:nvSpPr>
        <p:spPr>
          <a:ln/>
        </p:spPr>
        <p:txBody>
          <a:bodyPr/>
          <a:lstStyle>
            <a:lvl1pPr>
              <a:defRPr/>
            </a:lvl1pPr>
          </a:lstStyle>
          <a:p>
            <a:pPr>
              <a:defRPr/>
            </a:pPr>
            <a:fld id="{BE3295C4-381D-4A39-9297-E359C357B21C}" type="slidenum">
              <a:rPr lang="ru-RU"/>
              <a:pPr>
                <a:defRPr/>
              </a:pPr>
              <a:t>‹#›</a:t>
            </a:fld>
            <a:endParaRPr lang="ru-RU"/>
          </a:p>
        </p:txBody>
      </p:sp>
    </p:spTree>
    <p:extLst>
      <p:ext uri="{BB962C8B-B14F-4D97-AF65-F5344CB8AC3E}">
        <p14:creationId xmlns:p14="http://schemas.microsoft.com/office/powerpoint/2010/main" val="3811252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6"/>
          <p:cNvSpPr>
            <a:spLocks noGrp="1" noChangeArrowheads="1"/>
          </p:cNvSpPr>
          <p:nvPr>
            <p:ph type="dt" sz="half" idx="10"/>
          </p:nvPr>
        </p:nvSpPr>
        <p:spPr>
          <a:ln/>
        </p:spPr>
        <p:txBody>
          <a:bodyPr/>
          <a:lstStyle>
            <a:lvl1pPr>
              <a:defRPr/>
            </a:lvl1pPr>
          </a:lstStyle>
          <a:p>
            <a:pPr>
              <a:defRPr/>
            </a:pPr>
            <a:endParaRPr lang="ru-RU"/>
          </a:p>
        </p:txBody>
      </p:sp>
      <p:sp>
        <p:nvSpPr>
          <p:cNvPr id="5" name="Rectangle 7"/>
          <p:cNvSpPr>
            <a:spLocks noGrp="1" noChangeArrowheads="1"/>
          </p:cNvSpPr>
          <p:nvPr>
            <p:ph type="ftr" sz="quarter" idx="11"/>
          </p:nvPr>
        </p:nvSpPr>
        <p:spPr>
          <a:ln/>
        </p:spPr>
        <p:txBody>
          <a:bodyPr/>
          <a:lstStyle>
            <a:lvl1pPr>
              <a:defRPr/>
            </a:lvl1pPr>
          </a:lstStyle>
          <a:p>
            <a:pPr>
              <a:defRPr/>
            </a:pPr>
            <a:endParaRPr lang="ru-RU"/>
          </a:p>
        </p:txBody>
      </p:sp>
      <p:sp>
        <p:nvSpPr>
          <p:cNvPr id="6" name="Rectangle 8"/>
          <p:cNvSpPr>
            <a:spLocks noGrp="1" noChangeArrowheads="1"/>
          </p:cNvSpPr>
          <p:nvPr>
            <p:ph type="sldNum" sz="quarter" idx="12"/>
          </p:nvPr>
        </p:nvSpPr>
        <p:spPr>
          <a:ln/>
        </p:spPr>
        <p:txBody>
          <a:bodyPr/>
          <a:lstStyle>
            <a:lvl1pPr>
              <a:defRPr/>
            </a:lvl1pPr>
          </a:lstStyle>
          <a:p>
            <a:pPr>
              <a:defRPr/>
            </a:pPr>
            <a:fld id="{02926E6E-35BB-4329-8AD1-EBB715D21AB4}" type="slidenum">
              <a:rPr lang="ru-RU"/>
              <a:pPr>
                <a:defRPr/>
              </a:pPr>
              <a:t>‹#›</a:t>
            </a:fld>
            <a:endParaRPr lang="ru-RU"/>
          </a:p>
        </p:txBody>
      </p:sp>
    </p:spTree>
    <p:extLst>
      <p:ext uri="{BB962C8B-B14F-4D97-AF65-F5344CB8AC3E}">
        <p14:creationId xmlns:p14="http://schemas.microsoft.com/office/powerpoint/2010/main" val="2249230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3838" y="304800"/>
            <a:ext cx="2001837" cy="5715000"/>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566738" y="304800"/>
            <a:ext cx="585470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6"/>
          <p:cNvSpPr>
            <a:spLocks noGrp="1" noChangeArrowheads="1"/>
          </p:cNvSpPr>
          <p:nvPr>
            <p:ph type="dt" sz="half" idx="10"/>
          </p:nvPr>
        </p:nvSpPr>
        <p:spPr>
          <a:ln/>
        </p:spPr>
        <p:txBody>
          <a:bodyPr/>
          <a:lstStyle>
            <a:lvl1pPr>
              <a:defRPr/>
            </a:lvl1pPr>
          </a:lstStyle>
          <a:p>
            <a:pPr>
              <a:defRPr/>
            </a:pPr>
            <a:endParaRPr lang="ru-RU"/>
          </a:p>
        </p:txBody>
      </p:sp>
      <p:sp>
        <p:nvSpPr>
          <p:cNvPr id="5" name="Rectangle 7"/>
          <p:cNvSpPr>
            <a:spLocks noGrp="1" noChangeArrowheads="1"/>
          </p:cNvSpPr>
          <p:nvPr>
            <p:ph type="ftr" sz="quarter" idx="11"/>
          </p:nvPr>
        </p:nvSpPr>
        <p:spPr>
          <a:ln/>
        </p:spPr>
        <p:txBody>
          <a:bodyPr/>
          <a:lstStyle>
            <a:lvl1pPr>
              <a:defRPr/>
            </a:lvl1pPr>
          </a:lstStyle>
          <a:p>
            <a:pPr>
              <a:defRPr/>
            </a:pPr>
            <a:endParaRPr lang="ru-RU"/>
          </a:p>
        </p:txBody>
      </p:sp>
      <p:sp>
        <p:nvSpPr>
          <p:cNvPr id="6" name="Rectangle 8"/>
          <p:cNvSpPr>
            <a:spLocks noGrp="1" noChangeArrowheads="1"/>
          </p:cNvSpPr>
          <p:nvPr>
            <p:ph type="sldNum" sz="quarter" idx="12"/>
          </p:nvPr>
        </p:nvSpPr>
        <p:spPr>
          <a:ln/>
        </p:spPr>
        <p:txBody>
          <a:bodyPr/>
          <a:lstStyle>
            <a:lvl1pPr>
              <a:defRPr/>
            </a:lvl1pPr>
          </a:lstStyle>
          <a:p>
            <a:pPr>
              <a:defRPr/>
            </a:pPr>
            <a:fld id="{FD204FEE-BF64-4C92-A2C4-B5107D76E759}" type="slidenum">
              <a:rPr lang="ru-RU"/>
              <a:pPr>
                <a:defRPr/>
              </a:pPr>
              <a:t>‹#›</a:t>
            </a:fld>
            <a:endParaRPr lang="ru-RU"/>
          </a:p>
        </p:txBody>
      </p:sp>
    </p:spTree>
    <p:extLst>
      <p:ext uri="{BB962C8B-B14F-4D97-AF65-F5344CB8AC3E}">
        <p14:creationId xmlns:p14="http://schemas.microsoft.com/office/powerpoint/2010/main" val="3022479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AEAEA"/>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ru-RU" smtClean="0"/>
              <a:t>Образец заголовка</a:t>
            </a:r>
          </a:p>
        </p:txBody>
      </p:sp>
      <p:sp>
        <p:nvSpPr>
          <p:cNvPr id="1027" name="Rectangle 3"/>
          <p:cNvSpPr>
            <a:spLocks noGrp="1" noChangeArrowheads="1"/>
          </p:cNvSpPr>
          <p:nvPr>
            <p:ph type="body" idx="1"/>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p>
        </p:txBody>
      </p:sp>
      <p:sp>
        <p:nvSpPr>
          <p:cNvPr id="1028" name="AutoShape 4"/>
          <p:cNvSpPr>
            <a:spLocks noChangeArrowheads="1"/>
          </p:cNvSpPr>
          <p:nvPr/>
        </p:nvSpPr>
        <p:spPr bwMode="auto">
          <a:xfrm>
            <a:off x="609600" y="1566863"/>
            <a:ext cx="7958138" cy="109537"/>
          </a:xfrm>
          <a:custGeom>
            <a:avLst/>
            <a:gdLst>
              <a:gd name="T0" fmla="*/ 0 w 1000"/>
              <a:gd name="T1" fmla="*/ 0 h 1000"/>
              <a:gd name="T2" fmla="*/ 2147483647 w 1000"/>
              <a:gd name="T3" fmla="*/ 0 h 1000"/>
              <a:gd name="T4" fmla="*/ 2147483647 w 1000"/>
              <a:gd name="T5" fmla="*/ 1314263702 h 1000"/>
              <a:gd name="T6" fmla="*/ 0 w 1000"/>
              <a:gd name="T7" fmla="*/ 1314263702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ru-RU"/>
          </a:p>
        </p:txBody>
      </p:sp>
      <p:sp>
        <p:nvSpPr>
          <p:cNvPr id="1029" name="Line 5"/>
          <p:cNvSpPr>
            <a:spLocks noChangeShapeType="1"/>
          </p:cNvSpPr>
          <p:nvPr/>
        </p:nvSpPr>
        <p:spPr bwMode="auto">
          <a:xfrm flipV="1">
            <a:off x="609600" y="6172200"/>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ru-RU"/>
          </a:p>
        </p:txBody>
      </p:sp>
      <p:sp>
        <p:nvSpPr>
          <p:cNvPr id="53254" name="Rectangle 6"/>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ru-RU"/>
          </a:p>
        </p:txBody>
      </p:sp>
      <p:sp>
        <p:nvSpPr>
          <p:cNvPr id="53255" name="Rectangle 7"/>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lvl1pPr>
          </a:lstStyle>
          <a:p>
            <a:pPr>
              <a:defRPr/>
            </a:pPr>
            <a:endParaRPr lang="ru-RU"/>
          </a:p>
        </p:txBody>
      </p:sp>
      <p:sp>
        <p:nvSpPr>
          <p:cNvPr id="53256"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76BC3D1D-8271-49D5-81EF-9B4335753F39}" type="slidenum">
              <a:rPr lang="ru-RU"/>
              <a:pPr>
                <a:defRPr/>
              </a:pPr>
              <a:t>‹#›</a:t>
            </a:fld>
            <a:endParaRPr lang="ru-RU"/>
          </a:p>
        </p:txBody>
      </p:sp>
    </p:spTree>
  </p:cSld>
  <p:clrMap bg1="lt1" tx1="dk1" bg2="lt2" tx2="dk2" accent1="accent1" accent2="accent2" accent3="accent3" accent4="accent4" accent5="accent5" accent6="accent6" hlink="hlink" folHlink="folHlink"/>
  <p:sldLayoutIdLst>
    <p:sldLayoutId id="2147483974"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Lst>
  <p:timing>
    <p:tnLst>
      <p:par>
        <p:cTn id="1" dur="indefinite" restart="never" nodeType="tmRoot"/>
      </p:par>
    </p:tnLst>
  </p:timing>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0.emf"/><Relationship Id="rId4" Type="http://schemas.openxmlformats.org/officeDocument/2006/relationships/package" Target="../embeddings/_________Microsoft_Word1.docx"/></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Process 9"/>
          <p:cNvSpPr/>
          <p:nvPr/>
        </p:nvSpPr>
        <p:spPr>
          <a:xfrm>
            <a:off x="214282" y="214290"/>
            <a:ext cx="8721900" cy="6429420"/>
          </a:xfrm>
          <a:prstGeom prst="flowChartProcess">
            <a:avLst/>
          </a:prstGeom>
          <a:noFill/>
          <a:ln w="57150">
            <a:solidFill>
              <a:srgbClr val="002060"/>
            </a:solidFill>
          </a:ln>
          <a:effectLst>
            <a:glow rad="2286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ru-RU"/>
          </a:p>
        </p:txBody>
      </p:sp>
      <p:sp>
        <p:nvSpPr>
          <p:cNvPr id="12309" name="Text Box 21"/>
          <p:cNvSpPr txBox="1">
            <a:spLocks noChangeArrowheads="1"/>
          </p:cNvSpPr>
          <p:nvPr/>
        </p:nvSpPr>
        <p:spPr bwMode="auto">
          <a:xfrm>
            <a:off x="538163" y="581025"/>
            <a:ext cx="8086725" cy="430213"/>
          </a:xfrm>
          <a:prstGeom prst="rect">
            <a:avLst/>
          </a:prstGeom>
          <a:solidFill>
            <a:schemeClr val="bg1"/>
          </a:solidFill>
          <a:ln w="9525">
            <a:noFill/>
            <a:miter lim="800000"/>
            <a:headEnd/>
            <a:tailEnd/>
          </a:ln>
          <a:effectLst>
            <a:prstShdw prst="shdw17" dist="17961" dir="2700000">
              <a:schemeClr val="bg1">
                <a:gamma/>
                <a:shade val="60000"/>
                <a:invGamma/>
                <a:alpha val="50000"/>
              </a:schemeClr>
            </a:prstShdw>
          </a:effectLst>
        </p:spPr>
        <p:txBody>
          <a:bodyPr wrap="none">
            <a:spAutoFit/>
          </a:bodyPr>
          <a:lstStyle/>
          <a:p>
            <a:pPr algn="ctr">
              <a:defRPr/>
            </a:pPr>
            <a:r>
              <a:rPr lang="ru-RU" sz="2200" b="1" dirty="0" err="1">
                <a:solidFill>
                  <a:srgbClr val="800000"/>
                </a:solidFill>
                <a:latin typeface="Times New Roman" pitchFamily="18" charset="0"/>
              </a:rPr>
              <a:t>Радиоэлектрон</a:t>
            </a:r>
            <a:r>
              <a:rPr lang="ru-RU" sz="2200" b="1" dirty="0">
                <a:solidFill>
                  <a:srgbClr val="800000"/>
                </a:solidFill>
                <a:latin typeface="Times New Roman" pitchFamily="18" charset="0"/>
              </a:rPr>
              <a:t> </a:t>
            </a:r>
            <a:r>
              <a:rPr lang="ru-RU" sz="2200" b="1" dirty="0" err="1">
                <a:solidFill>
                  <a:srgbClr val="800000"/>
                </a:solidFill>
                <a:latin typeface="Times New Roman" pitchFamily="18" charset="0"/>
              </a:rPr>
              <a:t>тизимлар</a:t>
            </a:r>
            <a:r>
              <a:rPr lang="ru-RU" sz="2200" b="1" dirty="0">
                <a:solidFill>
                  <a:srgbClr val="800000"/>
                </a:solidFill>
                <a:latin typeface="Times New Roman" pitchFamily="18" charset="0"/>
              </a:rPr>
              <a:t> </a:t>
            </a:r>
            <a:r>
              <a:rPr lang="ru-RU" sz="2200" b="1" dirty="0" err="1">
                <a:solidFill>
                  <a:srgbClr val="800000"/>
                </a:solidFill>
                <a:latin typeface="Times New Roman" pitchFamily="18" charset="0"/>
              </a:rPr>
              <a:t>ва</a:t>
            </a:r>
            <a:r>
              <a:rPr lang="ru-RU" sz="2200" b="1" dirty="0">
                <a:solidFill>
                  <a:srgbClr val="800000"/>
                </a:solidFill>
                <a:latin typeface="Times New Roman" pitchFamily="18" charset="0"/>
              </a:rPr>
              <a:t> а</a:t>
            </a:r>
            <a:r>
              <a:rPr lang="uz-Cyrl-UZ" sz="2200" b="1" dirty="0">
                <a:solidFill>
                  <a:srgbClr val="800000"/>
                </a:solidFill>
                <a:latin typeface="Times New Roman" pitchFamily="18" charset="0"/>
              </a:rPr>
              <a:t>хборот технологиялари маркази</a:t>
            </a:r>
            <a:endParaRPr lang="ru-RU" sz="2200" b="1" dirty="0">
              <a:solidFill>
                <a:srgbClr val="800000"/>
              </a:solidFill>
              <a:latin typeface="Times New Roman" pitchFamily="18" charset="0"/>
            </a:endParaRPr>
          </a:p>
        </p:txBody>
      </p:sp>
      <p:sp>
        <p:nvSpPr>
          <p:cNvPr id="12310" name="Text Box 22"/>
          <p:cNvSpPr txBox="1">
            <a:spLocks noChangeArrowheads="1"/>
          </p:cNvSpPr>
          <p:nvPr/>
        </p:nvSpPr>
        <p:spPr bwMode="auto">
          <a:xfrm>
            <a:off x="3487738" y="6148388"/>
            <a:ext cx="1944687" cy="396875"/>
          </a:xfrm>
          <a:prstGeom prst="rect">
            <a:avLst/>
          </a:prstGeom>
          <a:noFill/>
          <a:ln w="9525">
            <a:noFill/>
            <a:miter lim="800000"/>
            <a:headEnd/>
            <a:tailEnd/>
          </a:ln>
          <a:effectLst>
            <a:prstShdw prst="shdw17" dist="17961" dir="2700000">
              <a:schemeClr val="bg1">
                <a:gamma/>
                <a:shade val="60000"/>
                <a:invGamma/>
                <a:alpha val="50000"/>
              </a:schemeClr>
            </a:prstShdw>
          </a:effectLst>
        </p:spPr>
        <p:txBody>
          <a:bodyPr>
            <a:spAutoFit/>
          </a:bodyPr>
          <a:lstStyle/>
          <a:p>
            <a:pPr algn="ctr">
              <a:defRPr/>
            </a:pPr>
            <a:r>
              <a:rPr lang="uz-Cyrl-UZ" sz="2000" b="1" dirty="0">
                <a:latin typeface="Times New Roman" pitchFamily="18" charset="0"/>
              </a:rPr>
              <a:t>Тошкент - </a:t>
            </a:r>
            <a:r>
              <a:rPr lang="uz-Cyrl-UZ" sz="2000" b="1" dirty="0" smtClean="0">
                <a:latin typeface="Times New Roman" pitchFamily="18" charset="0"/>
              </a:rPr>
              <a:t>201</a:t>
            </a:r>
            <a:r>
              <a:rPr lang="en-US" sz="2000" b="1" dirty="0" smtClean="0">
                <a:latin typeface="Times New Roman" pitchFamily="18" charset="0"/>
              </a:rPr>
              <a:t>9</a:t>
            </a:r>
            <a:endParaRPr lang="ru-RU" sz="2000" b="1" dirty="0">
              <a:latin typeface="Times New Roman" pitchFamily="18" charset="0"/>
            </a:endParaRPr>
          </a:p>
        </p:txBody>
      </p:sp>
      <p:sp>
        <p:nvSpPr>
          <p:cNvPr id="12311" name="Rectangle 23"/>
          <p:cNvSpPr>
            <a:spLocks noChangeArrowheads="1"/>
          </p:cNvSpPr>
          <p:nvPr/>
        </p:nvSpPr>
        <p:spPr bwMode="auto">
          <a:xfrm>
            <a:off x="538164" y="2252889"/>
            <a:ext cx="8086724" cy="2252924"/>
          </a:xfrm>
          <a:prstGeom prst="rect">
            <a:avLst/>
          </a:prstGeom>
          <a:noFill/>
          <a:ln w="9525">
            <a:noFill/>
            <a:miter lim="800000"/>
            <a:headEnd/>
            <a:tailEnd/>
          </a:ln>
          <a:effectLst>
            <a:prstShdw prst="shdw17" dist="17961" dir="2700000">
              <a:schemeClr val="accent1">
                <a:gamma/>
                <a:shade val="60000"/>
                <a:invGamma/>
                <a:alpha val="50000"/>
              </a:schemeClr>
            </a:prstShdw>
          </a:effectLst>
        </p:spPr>
        <p:txBody>
          <a:bodyPr wrap="square" anchor="ctr">
            <a:spAutoFit/>
          </a:bodyPr>
          <a:lstStyle/>
          <a:p>
            <a:pPr algn="ctr" eaLnBrk="0" hangingPunct="0">
              <a:lnSpc>
                <a:spcPct val="130000"/>
              </a:lnSpc>
              <a:defRPr/>
            </a:pPr>
            <a:r>
              <a:rPr lang="en-US" sz="2800" b="1" dirty="0" smtClean="0">
                <a:latin typeface="Times New Roman" pitchFamily="18" charset="0"/>
              </a:rPr>
              <a:t>SP </a:t>
            </a:r>
            <a:r>
              <a:rPr lang="uz-Cyrl-UZ" sz="2800" b="1" dirty="0">
                <a:latin typeface="Times New Roman" pitchFamily="18" charset="0"/>
              </a:rPr>
              <a:t>тармоғига асосланган шифрлаш </a:t>
            </a:r>
            <a:r>
              <a:rPr lang="uz-Cyrl-UZ" sz="2800" b="1" dirty="0" smtClean="0">
                <a:latin typeface="Times New Roman" pitchFamily="18" charset="0"/>
              </a:rPr>
              <a:t>алгоритмларига интеграл криптотаҳлил усулини қўллаш</a:t>
            </a:r>
          </a:p>
          <a:p>
            <a:pPr algn="ctr" eaLnBrk="0" hangingPunct="0">
              <a:lnSpc>
                <a:spcPct val="130000"/>
              </a:lnSpc>
              <a:defRPr/>
            </a:pPr>
            <a:r>
              <a:rPr lang="uz-Cyrl-UZ" sz="2000" dirty="0" smtClean="0">
                <a:latin typeface="Times New Roman" pitchFamily="18" charset="0"/>
              </a:rPr>
              <a:t>(</a:t>
            </a:r>
            <a:r>
              <a:rPr lang="en-US" sz="2000" dirty="0" smtClean="0">
                <a:latin typeface="Times New Roman" pitchFamily="18" charset="0"/>
              </a:rPr>
              <a:t>S-AES: </a:t>
            </a:r>
            <a:r>
              <a:rPr lang="uz-Cyrl-UZ" sz="2000" dirty="0" smtClean="0">
                <a:latin typeface="Times New Roman" pitchFamily="18" charset="0"/>
              </a:rPr>
              <a:t>1-қисм)</a:t>
            </a:r>
            <a:endParaRPr lang="uz-Cyrl-UZ" dirty="0">
              <a:latin typeface="Times New Roman" pitchFamily="18" charset="0"/>
            </a:endParaRPr>
          </a:p>
        </p:txBody>
      </p:sp>
      <p:sp>
        <p:nvSpPr>
          <p:cNvPr id="3080" name="Text Box 25"/>
          <p:cNvSpPr txBox="1">
            <a:spLocks noChangeArrowheads="1"/>
          </p:cNvSpPr>
          <p:nvPr/>
        </p:nvSpPr>
        <p:spPr bwMode="auto">
          <a:xfrm>
            <a:off x="2849200" y="1052513"/>
            <a:ext cx="3410677" cy="461665"/>
          </a:xfrm>
          <a:prstGeom prst="rect">
            <a:avLst/>
          </a:prstGeom>
          <a:noFill/>
          <a:ln>
            <a:noFill/>
          </a:ln>
          <a:effectLst>
            <a:prstShdw prst="shdw17" dist="17961" dir="2700000">
              <a:srgbClr val="737373">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itchFamily="34" charset="0"/>
              </a:defRPr>
            </a:lvl1pPr>
            <a:lvl2pPr marL="742950" indent="-285750" eaLnBrk="0" hangingPunct="0">
              <a:defRPr>
                <a:solidFill>
                  <a:schemeClr val="tx1"/>
                </a:solidFill>
                <a:latin typeface="Verdana" pitchFamily="34" charset="0"/>
              </a:defRPr>
            </a:lvl2pPr>
            <a:lvl3pPr marL="1143000" indent="-228600" eaLnBrk="0" hangingPunct="0">
              <a:defRPr>
                <a:solidFill>
                  <a:schemeClr val="tx1"/>
                </a:solidFill>
                <a:latin typeface="Verdana" pitchFamily="34" charset="0"/>
              </a:defRPr>
            </a:lvl3pPr>
            <a:lvl4pPr marL="1600200" indent="-228600" eaLnBrk="0" hangingPunct="0">
              <a:defRPr>
                <a:solidFill>
                  <a:schemeClr val="tx1"/>
                </a:solidFill>
                <a:latin typeface="Verdana" pitchFamily="34" charset="0"/>
              </a:defRPr>
            </a:lvl4pPr>
            <a:lvl5pPr marL="2057400" indent="-228600" eaLnBrk="0" hangingPunct="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eaLnBrk="1" hangingPunct="1"/>
            <a:r>
              <a:rPr lang="uz-Cyrl-UZ" sz="2400" b="1" i="1" u="sng" dirty="0">
                <a:latin typeface="Times New Roman" pitchFamily="18" charset="0"/>
              </a:rPr>
              <a:t>Амалий </a:t>
            </a:r>
            <a:r>
              <a:rPr lang="uz-Cyrl-UZ" sz="2400" b="1" i="1" u="sng" dirty="0" smtClean="0">
                <a:latin typeface="Times New Roman" pitchFamily="18" charset="0"/>
              </a:rPr>
              <a:t>криптотаҳлил</a:t>
            </a:r>
            <a:endParaRPr lang="ru-RU" sz="2400" b="1" i="1" u="sng" dirty="0">
              <a:latin typeface="Times New Roman" pitchFamily="18"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
          <p:cNvSpPr>
            <a:spLocks noChangeArrowheads="1"/>
          </p:cNvSpPr>
          <p:nvPr/>
        </p:nvSpPr>
        <p:spPr bwMode="auto">
          <a:xfrm>
            <a:off x="71500" y="655531"/>
            <a:ext cx="8964800" cy="5663089"/>
          </a:xfrm>
          <a:prstGeom prst="rect">
            <a:avLst/>
          </a:prstGeom>
          <a:pattFill prst="dkHorz">
            <a:fgClr>
              <a:srgbClr val="EAEAEA"/>
            </a:fgClr>
            <a:bgClr>
              <a:schemeClr val="bg1"/>
            </a:bgClr>
          </a:pattFill>
          <a:ln w="9525">
            <a:solidFill>
              <a:schemeClr val="tx1"/>
            </a:solidFill>
            <a:miter lim="800000"/>
            <a:headEnd/>
            <a:tailEnd/>
          </a:ln>
          <a:effectLst>
            <a:prstShdw prst="shdw17" dist="17961" dir="2700000">
              <a:srgbClr val="8C8C8C">
                <a:alpha val="50000"/>
              </a:srgbClr>
            </a:prstShdw>
          </a:effectLst>
        </p:spPr>
        <p:txBody>
          <a:bodyPr wrap="square" anchor="ctr">
            <a:spAutoFit/>
          </a:bodyPr>
          <a:lstStyle/>
          <a:p>
            <a:pPr algn="just" eaLnBrk="0" hangingPunct="0">
              <a:spcAft>
                <a:spcPts val="1200"/>
              </a:spcAft>
              <a:buClr>
                <a:schemeClr val="accent2"/>
              </a:buClr>
            </a:pPr>
            <a:r>
              <a:rPr lang="uz-Cyrl-UZ" sz="2200" b="1" u="sng" dirty="0" smtClean="0">
                <a:latin typeface="Times New Roman" pitchFamily="18" charset="0"/>
                <a:cs typeface="Times New Roman" pitchFamily="18" charset="0"/>
              </a:rPr>
              <a:t>АСОСИЙ МАНБАЛАР</a:t>
            </a:r>
            <a:r>
              <a:rPr lang="uz-Cyrl-UZ" sz="2200" b="1" dirty="0" smtClean="0">
                <a:latin typeface="Times New Roman" pitchFamily="18" charset="0"/>
                <a:cs typeface="Times New Roman" pitchFamily="18" charset="0"/>
              </a:rPr>
              <a:t>:</a:t>
            </a:r>
          </a:p>
          <a:p>
            <a:pPr marL="457200" indent="-457200" algn="just" eaLnBrk="0" hangingPunct="0">
              <a:buClr>
                <a:schemeClr val="accent2"/>
              </a:buClr>
              <a:buFont typeface="+mj-lt"/>
              <a:buAutoNum type="arabicPeriod"/>
            </a:pPr>
            <a:r>
              <a:rPr lang="uz-Cyrl-UZ" sz="2200" b="1" dirty="0" smtClean="0">
                <a:latin typeface="Times New Roman" pitchFamily="18" charset="0"/>
                <a:cs typeface="Times New Roman" pitchFamily="18" charset="0"/>
              </a:rPr>
              <a:t>Яхшибоев А.М.</a:t>
            </a:r>
            <a:r>
              <a:rPr lang="uz-Cyrl-UZ" sz="220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AES </a:t>
            </a:r>
            <a:r>
              <a:rPr lang="uz-Cyrl-UZ" sz="2200" dirty="0" smtClean="0">
                <a:latin typeface="Times New Roman" pitchFamily="18" charset="0"/>
                <a:cs typeface="Times New Roman" pitchFamily="18" charset="0"/>
              </a:rPr>
              <a:t>симметрик шифрлаш алгоритми учун интеграл криптотаҳлил усули”. Ахборот хавфсизлиги йўналиши бўйича магистр даражасидаги диссертация иши. Тошкент-2014. </a:t>
            </a:r>
          </a:p>
          <a:p>
            <a:pPr marL="457200" indent="-457200" algn="just" eaLnBrk="0" hangingPunct="0">
              <a:buClr>
                <a:schemeClr val="accent2"/>
              </a:buClr>
              <a:buFont typeface="+mj-lt"/>
              <a:buAutoNum type="arabicPeriod"/>
            </a:pPr>
            <a:r>
              <a:rPr lang="en-US" sz="2200" b="1" dirty="0" smtClean="0">
                <a:latin typeface="Times New Roman" pitchFamily="18" charset="0"/>
                <a:cs typeface="Times New Roman" pitchFamily="18" charset="0"/>
              </a:rPr>
              <a:t>J. </a:t>
            </a:r>
            <a:r>
              <a:rPr lang="en-US" sz="2200" b="1" dirty="0" err="1" smtClean="0">
                <a:latin typeface="Times New Roman" pitchFamily="18" charset="0"/>
                <a:cs typeface="Times New Roman" pitchFamily="18" charset="0"/>
              </a:rPr>
              <a:t>Daemen</a:t>
            </a:r>
            <a:r>
              <a:rPr lang="en-US" sz="2200" b="1" dirty="0" smtClean="0">
                <a:latin typeface="Times New Roman" pitchFamily="18" charset="0"/>
                <a:cs typeface="Times New Roman" pitchFamily="18" charset="0"/>
              </a:rPr>
              <a:t>, L. Knudsen, and V. </a:t>
            </a:r>
            <a:r>
              <a:rPr lang="en-US" sz="2200" b="1" dirty="0" err="1" smtClean="0">
                <a:latin typeface="Times New Roman" pitchFamily="18" charset="0"/>
                <a:cs typeface="Times New Roman" pitchFamily="18" charset="0"/>
              </a:rPr>
              <a:t>Rijmen</a:t>
            </a:r>
            <a:r>
              <a:rPr lang="en-US" sz="2200" b="1" dirty="0" smtClean="0">
                <a:latin typeface="Times New Roman" pitchFamily="18" charset="0"/>
                <a:cs typeface="Times New Roman" pitchFamily="18" charset="0"/>
              </a:rPr>
              <a:t>.</a:t>
            </a:r>
            <a:r>
              <a:rPr lang="en-US" sz="2200" dirty="0" smtClean="0">
                <a:latin typeface="Times New Roman" pitchFamily="18" charset="0"/>
                <a:cs typeface="Times New Roman" pitchFamily="18" charset="0"/>
              </a:rPr>
              <a:t> The block cipher square. In E. </a:t>
            </a:r>
            <a:r>
              <a:rPr lang="en-US" sz="2200" dirty="0" err="1" smtClean="0">
                <a:latin typeface="Times New Roman" pitchFamily="18" charset="0"/>
                <a:cs typeface="Times New Roman" pitchFamily="18" charset="0"/>
              </a:rPr>
              <a:t>Biham</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edi</a:t>
            </a:r>
            <a:r>
              <a:rPr lang="en-US" sz="2200" dirty="0" smtClean="0">
                <a:latin typeface="Times New Roman" pitchFamily="18" charset="0"/>
                <a:cs typeface="Times New Roman" pitchFamily="18" charset="0"/>
              </a:rPr>
              <a:t>-tor, Fast Software Encryption 1997, pages 149–165. Springer-</a:t>
            </a:r>
            <a:r>
              <a:rPr lang="en-US" sz="2200" dirty="0" err="1" smtClean="0">
                <a:latin typeface="Times New Roman" pitchFamily="18" charset="0"/>
                <a:cs typeface="Times New Roman" pitchFamily="18" charset="0"/>
              </a:rPr>
              <a:t>Verlag</a:t>
            </a:r>
            <a:r>
              <a:rPr lang="en-US" sz="2200" dirty="0" smtClean="0">
                <a:latin typeface="Times New Roman" pitchFamily="18" charset="0"/>
                <a:cs typeface="Times New Roman" pitchFamily="18" charset="0"/>
              </a:rPr>
              <a:t>, 1997. Lecture Notes in Computer Science Volume 1267.</a:t>
            </a:r>
          </a:p>
          <a:p>
            <a:pPr marL="457200" indent="-457200" algn="just" eaLnBrk="0" hangingPunct="0">
              <a:buClr>
                <a:schemeClr val="accent2"/>
              </a:buClr>
              <a:buFont typeface="+mj-lt"/>
              <a:buAutoNum type="arabicPeriod"/>
            </a:pPr>
            <a:r>
              <a:rPr lang="en-US" sz="2200" b="1" dirty="0" smtClean="0">
                <a:latin typeface="Times New Roman" pitchFamily="18" charset="0"/>
                <a:cs typeface="Times New Roman" pitchFamily="18" charset="0"/>
              </a:rPr>
              <a:t>L. Knudsen and D. Wagner. </a:t>
            </a:r>
            <a:r>
              <a:rPr lang="en-US" sz="2200" dirty="0" smtClean="0">
                <a:latin typeface="Times New Roman" pitchFamily="18" charset="0"/>
                <a:cs typeface="Times New Roman" pitchFamily="18" charset="0"/>
              </a:rPr>
              <a:t>Integral cryptanalysis. In J. </a:t>
            </a:r>
            <a:r>
              <a:rPr lang="en-US" sz="2200" dirty="0" err="1" smtClean="0">
                <a:latin typeface="Times New Roman" pitchFamily="18" charset="0"/>
                <a:cs typeface="Times New Roman" pitchFamily="18" charset="0"/>
              </a:rPr>
              <a:t>Daemen</a:t>
            </a:r>
            <a:r>
              <a:rPr lang="en-US" sz="2200" dirty="0" smtClean="0">
                <a:latin typeface="Times New Roman" pitchFamily="18" charset="0"/>
                <a:cs typeface="Times New Roman" pitchFamily="18" charset="0"/>
              </a:rPr>
              <a:t> and V. </a:t>
            </a:r>
            <a:r>
              <a:rPr lang="en-US" sz="2200" dirty="0" err="1" smtClean="0">
                <a:latin typeface="Times New Roman" pitchFamily="18" charset="0"/>
                <a:cs typeface="Times New Roman" pitchFamily="18" charset="0"/>
              </a:rPr>
              <a:t>Rijmen</a:t>
            </a:r>
            <a:r>
              <a:rPr lang="en-US" sz="2200" dirty="0" smtClean="0">
                <a:latin typeface="Times New Roman" pitchFamily="18" charset="0"/>
                <a:cs typeface="Times New Roman" pitchFamily="18" charset="0"/>
              </a:rPr>
              <a:t>, editors, Fast Software Encryption (FSE ’02), pages 112–127, Berlin, 2002. Springer-</a:t>
            </a:r>
            <a:r>
              <a:rPr lang="en-US" sz="2200" dirty="0" err="1" smtClean="0">
                <a:latin typeface="Times New Roman" pitchFamily="18" charset="0"/>
                <a:cs typeface="Times New Roman" pitchFamily="18" charset="0"/>
              </a:rPr>
              <a:t>Verlag</a:t>
            </a:r>
            <a:r>
              <a:rPr lang="en-US" sz="2200" dirty="0" smtClean="0">
                <a:latin typeface="Times New Roman" pitchFamily="18" charset="0"/>
                <a:cs typeface="Times New Roman" pitchFamily="18" charset="0"/>
              </a:rPr>
              <a:t>. Lecture Notes in Computer Science Volume 2365.</a:t>
            </a:r>
          </a:p>
          <a:p>
            <a:pPr marL="457200" indent="-457200" algn="just" eaLnBrk="0" hangingPunct="0">
              <a:buClr>
                <a:schemeClr val="accent2"/>
              </a:buClr>
              <a:buFont typeface="+mj-lt"/>
              <a:buAutoNum type="arabicPeriod"/>
            </a:pPr>
            <a:r>
              <a:rPr lang="en-US" sz="2200" b="1" dirty="0" smtClean="0">
                <a:latin typeface="Times New Roman" pitchFamily="18" charset="0"/>
                <a:cs typeface="Times New Roman" pitchFamily="18" charset="0"/>
              </a:rPr>
              <a:t>Y. Hu, Y. Zhang, and G. Xiao</a:t>
            </a:r>
            <a:r>
              <a:rPr lang="uz-Cyrl-UZ" sz="2200" b="1" dirty="0" smtClean="0">
                <a:latin typeface="Times New Roman" pitchFamily="18" charset="0"/>
                <a:cs typeface="Times New Roman" pitchFamily="18" charset="0"/>
              </a:rPr>
              <a:t>.</a:t>
            </a:r>
            <a:r>
              <a:rPr lang="en-US" sz="2200" b="1"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“Integral cryptanalysis of SAFER+”,</a:t>
            </a:r>
            <a:r>
              <a:rPr lang="uz-Cyrl-UZ" sz="220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Electronics Letters, vol.35, (no.17), IEE, 19 Aug. 1999, p.1458-1459.</a:t>
            </a:r>
          </a:p>
          <a:p>
            <a:pPr marL="457200" indent="-457200" algn="just" eaLnBrk="0" hangingPunct="0">
              <a:buClr>
                <a:schemeClr val="accent2"/>
              </a:buClr>
              <a:buFont typeface="+mj-lt"/>
              <a:buAutoNum type="arabicPeriod"/>
            </a:pPr>
            <a:r>
              <a:rPr lang="en-US" sz="2200" b="1" dirty="0" smtClean="0">
                <a:latin typeface="Times New Roman" pitchFamily="18" charset="0"/>
                <a:cs typeface="Times New Roman" pitchFamily="18" charset="0"/>
              </a:rPr>
              <a:t>Raphael Chung-Wei </a:t>
            </a:r>
            <a:r>
              <a:rPr lang="en-US" sz="2200" b="1" dirty="0" err="1" smtClean="0">
                <a:latin typeface="Times New Roman" pitchFamily="18" charset="0"/>
                <a:cs typeface="Times New Roman" pitchFamily="18" charset="0"/>
              </a:rPr>
              <a:t>Phan</a:t>
            </a:r>
            <a:r>
              <a:rPr lang="uz-Cyrl-UZ" sz="2200" b="1" dirty="0" smtClean="0">
                <a:latin typeface="Times New Roman" pitchFamily="18" charset="0"/>
                <a:cs typeface="Times New Roman" pitchFamily="18" charset="0"/>
              </a:rPr>
              <a:t>.</a:t>
            </a:r>
            <a:r>
              <a:rPr lang="en-US" sz="2200" dirty="0" smtClean="0">
                <a:latin typeface="Times New Roman" pitchFamily="18" charset="0"/>
                <a:cs typeface="Times New Roman" pitchFamily="18" charset="0"/>
              </a:rPr>
              <a:t> Mini Advanced Encryption Standard (Mini-AES): A </a:t>
            </a:r>
            <a:r>
              <a:rPr lang="en-US" sz="2200" dirty="0" err="1" smtClean="0">
                <a:latin typeface="Times New Roman" pitchFamily="18" charset="0"/>
                <a:cs typeface="Times New Roman" pitchFamily="18" charset="0"/>
              </a:rPr>
              <a:t>Testbed</a:t>
            </a:r>
            <a:r>
              <a:rPr lang="en-US" sz="2200" dirty="0" smtClean="0">
                <a:latin typeface="Times New Roman" pitchFamily="18" charset="0"/>
                <a:cs typeface="Times New Roman" pitchFamily="18" charset="0"/>
              </a:rPr>
              <a:t> for Cryptanalysis Students. Published in </a:t>
            </a:r>
            <a:r>
              <a:rPr lang="en-US" sz="2200" dirty="0" err="1" smtClean="0">
                <a:latin typeface="Times New Roman" pitchFamily="18" charset="0"/>
                <a:cs typeface="Times New Roman" pitchFamily="18" charset="0"/>
              </a:rPr>
              <a:t>Cryptologia</a:t>
            </a:r>
            <a:r>
              <a:rPr lang="en-US" sz="2200" dirty="0" smtClean="0">
                <a:latin typeface="Times New Roman" pitchFamily="18" charset="0"/>
                <a:cs typeface="Times New Roman" pitchFamily="18" charset="0"/>
              </a:rPr>
              <a:t>, XXVI (4), 2002.</a:t>
            </a:r>
          </a:p>
        </p:txBody>
      </p:sp>
      <p:sp>
        <p:nvSpPr>
          <p:cNvPr id="4101" name="Line 16"/>
          <p:cNvSpPr>
            <a:spLocks noChangeShapeType="1"/>
          </p:cNvSpPr>
          <p:nvPr/>
        </p:nvSpPr>
        <p:spPr bwMode="auto">
          <a:xfrm>
            <a:off x="74613" y="116632"/>
            <a:ext cx="8997950" cy="0"/>
          </a:xfrm>
          <a:prstGeom prst="line">
            <a:avLst/>
          </a:prstGeom>
          <a:noFill/>
          <a:ln w="63500">
            <a:pattFill prst="dkHorz">
              <a:fgClr>
                <a:schemeClr val="tx1"/>
              </a:fgClr>
              <a:bgClr>
                <a:srgbClr val="FFFFFF"/>
              </a:bgClr>
            </a:pattFill>
            <a:round/>
            <a:headEnd/>
            <a:tailEnd/>
          </a:ln>
          <a:effectLst>
            <a:prstShdw prst="shdw17" dist="17961" dir="2700000">
              <a:srgbClr val="000000"/>
            </a:prstShdw>
          </a:effectLst>
          <a:extLst>
            <a:ext uri="{909E8E84-426E-40DD-AFC4-6F175D3DCCD1}">
              <a14:hiddenFill xmlns:a14="http://schemas.microsoft.com/office/drawing/2010/main">
                <a:noFill/>
              </a14:hiddenFill>
            </a:ext>
          </a:extLst>
        </p:spPr>
        <p:txBody>
          <a:bodyPr/>
          <a:lstStyle/>
          <a:p>
            <a:endParaRPr lang="ru-RU"/>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25471" y="1052736"/>
            <a:ext cx="8839017" cy="4185761"/>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457200" indent="-457200" algn="just">
              <a:spcBef>
                <a:spcPct val="30000"/>
              </a:spcBef>
              <a:buClr>
                <a:schemeClr val="accent2"/>
              </a:buClr>
              <a:buSzPct val="100000"/>
              <a:buFont typeface="Times New Roman" pitchFamily="18" charset="0"/>
              <a:buChar char="―"/>
              <a:defRPr/>
            </a:pPr>
            <a:r>
              <a:rPr lang="en-US" sz="2800" i="1" dirty="0" smtClean="0">
                <a:effectLst>
                  <a:outerShdw blurRad="38100" dist="38100" dir="2700000" algn="tl">
                    <a:srgbClr val="C0C0C0"/>
                  </a:outerShdw>
                </a:effectLst>
                <a:latin typeface="Times New Roman" pitchFamily="18" charset="0"/>
              </a:rPr>
              <a:t>SP </a:t>
            </a:r>
            <a:r>
              <a:rPr lang="uz-Cyrl-UZ" sz="2800" i="1" dirty="0" smtClean="0">
                <a:effectLst>
                  <a:outerShdw blurRad="38100" dist="38100" dir="2700000" algn="tl">
                    <a:srgbClr val="C0C0C0"/>
                  </a:outerShdw>
                </a:effectLst>
                <a:latin typeface="Times New Roman" pitchFamily="18" charset="0"/>
              </a:rPr>
              <a:t>тармоғига асосланган ШАга қўлланилади</a:t>
            </a:r>
            <a:r>
              <a:rPr lang="en-US" sz="2800" i="1" dirty="0" smtClean="0">
                <a:effectLst>
                  <a:outerShdw blurRad="38100" dist="38100" dir="2700000" algn="tl">
                    <a:srgbClr val="C0C0C0"/>
                  </a:outerShdw>
                </a:effectLst>
                <a:latin typeface="Times New Roman" pitchFamily="18" charset="0"/>
              </a:rPr>
              <a:t>;</a:t>
            </a:r>
            <a:r>
              <a:rPr lang="uz-Cyrl-UZ" sz="2800" i="1" dirty="0" smtClean="0">
                <a:effectLst>
                  <a:outerShdw blurRad="38100" dist="38100" dir="2700000" algn="tl">
                    <a:srgbClr val="C0C0C0"/>
                  </a:outerShdw>
                </a:effectLst>
                <a:latin typeface="Times New Roman" pitchFamily="18" charset="0"/>
              </a:rPr>
              <a:t> </a:t>
            </a:r>
          </a:p>
          <a:p>
            <a:pPr marL="457200" indent="-457200" algn="just">
              <a:spcBef>
                <a:spcPct val="30000"/>
              </a:spcBef>
              <a:buClr>
                <a:schemeClr val="accent2"/>
              </a:buClr>
              <a:buSzPct val="100000"/>
              <a:buFont typeface="Times New Roman" pitchFamily="18" charset="0"/>
              <a:buChar char="―"/>
              <a:defRPr/>
            </a:pPr>
            <a:r>
              <a:rPr lang="uz-Cyrl-UZ" sz="2800" i="1" dirty="0" smtClean="0">
                <a:effectLst>
                  <a:outerShdw blurRad="38100" dist="38100" dir="2700000" algn="tl">
                    <a:srgbClr val="C0C0C0"/>
                  </a:outerShdw>
                </a:effectLst>
                <a:latin typeface="Times New Roman" pitchFamily="18" charset="0"/>
              </a:rPr>
              <a:t>Статистик криптотаҳлил синфига мансуб</a:t>
            </a:r>
            <a:r>
              <a:rPr lang="en-US" sz="2800" i="1" dirty="0" smtClean="0">
                <a:effectLst>
                  <a:outerShdw blurRad="38100" dist="38100" dir="2700000" algn="tl">
                    <a:srgbClr val="C0C0C0"/>
                  </a:outerShdw>
                </a:effectLst>
                <a:latin typeface="Times New Roman" pitchFamily="18" charset="0"/>
              </a:rPr>
              <a:t>;</a:t>
            </a:r>
          </a:p>
          <a:p>
            <a:pPr marL="457200" indent="-457200" algn="just">
              <a:spcBef>
                <a:spcPct val="30000"/>
              </a:spcBef>
              <a:buClr>
                <a:schemeClr val="accent2"/>
              </a:buClr>
              <a:buSzPct val="100000"/>
              <a:buFont typeface="Times New Roman" pitchFamily="18" charset="0"/>
              <a:buChar char="―"/>
              <a:defRPr/>
            </a:pPr>
            <a:r>
              <a:rPr lang="uz-Cyrl-UZ" sz="2800" i="1" dirty="0" smtClean="0">
                <a:effectLst>
                  <a:outerShdw blurRad="38100" dist="38100" dir="2700000" algn="tl">
                    <a:srgbClr val="C0C0C0"/>
                  </a:outerShdw>
                </a:effectLst>
                <a:latin typeface="Times New Roman" pitchFamily="18" charset="0"/>
              </a:rPr>
              <a:t>Адаптив танланган </a:t>
            </a:r>
            <a:r>
              <a:rPr lang="uz-Cyrl-UZ" sz="2800" i="1" dirty="0">
                <a:effectLst>
                  <a:outerShdw blurRad="38100" dist="38100" dir="2700000" algn="tl">
                    <a:srgbClr val="C0C0C0"/>
                  </a:outerShdw>
                </a:effectLst>
                <a:latin typeface="Times New Roman" pitchFamily="18" charset="0"/>
              </a:rPr>
              <a:t>очиқ матнлар асосидаги </a:t>
            </a:r>
            <a:r>
              <a:rPr lang="uz-Cyrl-UZ" sz="2800" i="1" dirty="0" smtClean="0">
                <a:effectLst>
                  <a:outerShdw blurRad="38100" dist="38100" dir="2700000" algn="tl">
                    <a:srgbClr val="C0C0C0"/>
                  </a:outerShdw>
                </a:effectLst>
                <a:latin typeface="Times New Roman" pitchFamily="18" charset="0"/>
              </a:rPr>
              <a:t>ҳужум</a:t>
            </a:r>
            <a:r>
              <a:rPr lang="en-US" sz="2800" i="1" dirty="0" smtClean="0">
                <a:effectLst>
                  <a:outerShdw blurRad="38100" dist="38100" dir="2700000" algn="tl">
                    <a:srgbClr val="C0C0C0"/>
                  </a:outerShdw>
                </a:effectLst>
                <a:latin typeface="Times New Roman" pitchFamily="18" charset="0"/>
              </a:rPr>
              <a:t>;</a:t>
            </a:r>
            <a:endParaRPr lang="uz-Cyrl-UZ" sz="2800" i="1" dirty="0" smtClean="0">
              <a:effectLst>
                <a:outerShdw blurRad="38100" dist="38100" dir="2700000" algn="tl">
                  <a:srgbClr val="C0C0C0"/>
                </a:outerShdw>
              </a:effectLst>
              <a:latin typeface="Times New Roman" pitchFamily="18" charset="0"/>
            </a:endParaRPr>
          </a:p>
          <a:p>
            <a:pPr marL="457200" indent="-457200" algn="just">
              <a:spcBef>
                <a:spcPct val="30000"/>
              </a:spcBef>
              <a:buClr>
                <a:schemeClr val="accent2"/>
              </a:buClr>
              <a:buSzPct val="100000"/>
              <a:buFont typeface="Times New Roman" pitchFamily="18" charset="0"/>
              <a:buChar char="―"/>
              <a:defRPr/>
            </a:pPr>
            <a:r>
              <a:rPr lang="uz-Cyrl-UZ" sz="2800" i="1" dirty="0" smtClean="0">
                <a:effectLst>
                  <a:outerShdw blurRad="38100" dist="38100" dir="2700000" algn="tl">
                    <a:srgbClr val="C0C0C0"/>
                  </a:outerShdw>
                </a:effectLst>
                <a:latin typeface="Times New Roman" pitchFamily="18" charset="0"/>
              </a:rPr>
              <a:t>Сўнг</a:t>
            </a:r>
            <a:r>
              <a:rPr lang="ru-RU" sz="2800" i="1" dirty="0" smtClean="0">
                <a:effectLst>
                  <a:outerShdw blurRad="38100" dist="38100" dir="2700000" algn="tl">
                    <a:srgbClr val="C0C0C0"/>
                  </a:outerShdw>
                </a:effectLst>
                <a:latin typeface="Times New Roman" pitchFamily="18" charset="0"/>
              </a:rPr>
              <a:t>г</a:t>
            </a:r>
            <a:r>
              <a:rPr lang="uz-Cyrl-UZ" sz="2800" i="1" dirty="0" smtClean="0">
                <a:effectLst>
                  <a:outerShdw blurRad="38100" dist="38100" dir="2700000" algn="tl">
                    <a:srgbClr val="C0C0C0"/>
                  </a:outerShdw>
                </a:effectLst>
                <a:latin typeface="Times New Roman" pitchFamily="18" charset="0"/>
              </a:rPr>
              <a:t>и </a:t>
            </a:r>
            <a:r>
              <a:rPr lang="uz-Cyrl-UZ" sz="2800" i="1" dirty="0">
                <a:effectLst>
                  <a:outerShdw blurRad="38100" dist="38100" dir="2700000" algn="tl">
                    <a:srgbClr val="C0C0C0"/>
                  </a:outerShdw>
                </a:effectLst>
                <a:latin typeface="Times New Roman" pitchFamily="18" charset="0"/>
              </a:rPr>
              <a:t>раунд калитини аниқлашга </a:t>
            </a:r>
            <a:r>
              <a:rPr lang="uz-Cyrl-UZ" sz="2800" i="1" dirty="0" smtClean="0">
                <a:effectLst>
                  <a:outerShdw blurRad="38100" dist="38100" dir="2700000" algn="tl">
                    <a:srgbClr val="C0C0C0"/>
                  </a:outerShdw>
                </a:effectLst>
                <a:latin typeface="Times New Roman" pitchFamily="18" charset="0"/>
              </a:rPr>
              <a:t>қаратилган</a:t>
            </a:r>
            <a:r>
              <a:rPr lang="en-US" sz="2800" i="1" dirty="0" smtClean="0">
                <a:effectLst>
                  <a:outerShdw blurRad="38100" dist="38100" dir="2700000" algn="tl">
                    <a:srgbClr val="C0C0C0"/>
                  </a:outerShdw>
                </a:effectLst>
                <a:latin typeface="Times New Roman" pitchFamily="18" charset="0"/>
              </a:rPr>
              <a:t>;</a:t>
            </a:r>
          </a:p>
          <a:p>
            <a:pPr marL="457200" indent="-457200" algn="just">
              <a:spcBef>
                <a:spcPct val="30000"/>
              </a:spcBef>
              <a:buClr>
                <a:schemeClr val="accent2"/>
              </a:buClr>
              <a:buSzPct val="100000"/>
              <a:buFont typeface="Times New Roman" pitchFamily="18" charset="0"/>
              <a:buChar char="―"/>
              <a:defRPr/>
            </a:pPr>
            <a:r>
              <a:rPr lang="uz-Cyrl-UZ" sz="2800" i="1" dirty="0" smtClean="0">
                <a:effectLst>
                  <a:outerShdw blurRad="38100" dist="38100" dir="2700000" algn="tl">
                    <a:srgbClr val="C0C0C0"/>
                  </a:outerShdw>
                </a:effectLst>
                <a:latin typeface="Times New Roman" pitchFamily="18" charset="0"/>
              </a:rPr>
              <a:t>Чизиқсиз акслантириш (</a:t>
            </a:r>
            <a:r>
              <a:rPr lang="en-US" sz="2800" i="1" dirty="0" smtClean="0">
                <a:effectLst>
                  <a:outerShdw blurRad="38100" dist="38100" dir="2700000" algn="tl">
                    <a:srgbClr val="C0C0C0"/>
                  </a:outerShdw>
                </a:effectLst>
                <a:latin typeface="Times New Roman" pitchFamily="18" charset="0"/>
              </a:rPr>
              <a:t>S-</a:t>
            </a:r>
            <a:r>
              <a:rPr lang="uz-Cyrl-UZ" sz="2800" i="1" dirty="0" smtClean="0">
                <a:effectLst>
                  <a:outerShdw blurRad="38100" dist="38100" dir="2700000" algn="tl">
                    <a:srgbClr val="C0C0C0"/>
                  </a:outerShdw>
                </a:effectLst>
                <a:latin typeface="Times New Roman" pitchFamily="18" charset="0"/>
              </a:rPr>
              <a:t>блок)нинг очиқлиги талаб этилмайди</a:t>
            </a:r>
            <a:r>
              <a:rPr lang="en-US" sz="2800" i="1" dirty="0" smtClean="0">
                <a:effectLst>
                  <a:outerShdw blurRad="38100" dist="38100" dir="2700000" algn="tl">
                    <a:srgbClr val="C0C0C0"/>
                  </a:outerShdw>
                </a:effectLst>
                <a:latin typeface="Times New Roman" pitchFamily="18" charset="0"/>
              </a:rPr>
              <a:t>;</a:t>
            </a:r>
          </a:p>
          <a:p>
            <a:pPr marL="457200" indent="-457200" algn="just">
              <a:spcBef>
                <a:spcPct val="30000"/>
              </a:spcBef>
              <a:buClr>
                <a:schemeClr val="accent2"/>
              </a:buClr>
              <a:buSzPct val="100000"/>
              <a:buFont typeface="Times New Roman" pitchFamily="18" charset="0"/>
              <a:buChar char="―"/>
              <a:defRPr/>
            </a:pPr>
            <a:r>
              <a:rPr lang="uz-Cyrl-UZ" sz="2800" i="1" dirty="0">
                <a:effectLst>
                  <a:outerShdw blurRad="38100" dist="38100" dir="2700000" algn="tl">
                    <a:srgbClr val="C0C0C0"/>
                  </a:outerShdw>
                </a:effectLst>
                <a:latin typeface="Times New Roman" pitchFamily="18" charset="0"/>
              </a:rPr>
              <a:t>Чизиқсиз акслантириш (</a:t>
            </a:r>
            <a:r>
              <a:rPr lang="en-US" sz="2800" i="1" dirty="0">
                <a:effectLst>
                  <a:outerShdw blurRad="38100" dist="38100" dir="2700000" algn="tl">
                    <a:srgbClr val="C0C0C0"/>
                  </a:outerShdw>
                </a:effectLst>
                <a:latin typeface="Times New Roman" pitchFamily="18" charset="0"/>
              </a:rPr>
              <a:t>S-</a:t>
            </a:r>
            <a:r>
              <a:rPr lang="uz-Cyrl-UZ" sz="2800" i="1" dirty="0">
                <a:effectLst>
                  <a:outerShdw blurRad="38100" dist="38100" dir="2700000" algn="tl">
                    <a:srgbClr val="C0C0C0"/>
                  </a:outerShdw>
                </a:effectLst>
                <a:latin typeface="Times New Roman" pitchFamily="18" charset="0"/>
              </a:rPr>
              <a:t>блок</a:t>
            </a:r>
            <a:r>
              <a:rPr lang="uz-Cyrl-UZ" sz="2800" i="1" dirty="0" smtClean="0">
                <a:effectLst>
                  <a:outerShdw blurRad="38100" dist="38100" dir="2700000" algn="tl">
                    <a:srgbClr val="C0C0C0"/>
                  </a:outerShdw>
                </a:effectLst>
                <a:latin typeface="Times New Roman" pitchFamily="18" charset="0"/>
              </a:rPr>
              <a:t>)</a:t>
            </a:r>
            <a:r>
              <a:rPr lang="en-US" sz="2800" i="1" dirty="0" smtClean="0">
                <a:effectLst>
                  <a:outerShdw blurRad="38100" dist="38100" dir="2700000" algn="tl">
                    <a:srgbClr val="C0C0C0"/>
                  </a:outerShdw>
                </a:effectLst>
                <a:latin typeface="Times New Roman" pitchFamily="18" charset="0"/>
              </a:rPr>
              <a:t> </a:t>
            </a:r>
            <a:r>
              <a:rPr lang="uz-Cyrl-UZ" sz="2800" i="1" dirty="0" smtClean="0">
                <a:effectLst>
                  <a:outerShdw blurRad="38100" dist="38100" dir="2700000" algn="tl">
                    <a:srgbClr val="C0C0C0"/>
                  </a:outerShdw>
                </a:effectLst>
                <a:latin typeface="Times New Roman" pitchFamily="18" charset="0"/>
              </a:rPr>
              <a:t>биектив бўлиши лозим.</a:t>
            </a:r>
            <a:endParaRPr lang="ru-RU" sz="2800" i="1" dirty="0">
              <a:effectLst>
                <a:outerShdw blurRad="38100" dist="38100" dir="2700000" algn="tl">
                  <a:srgbClr val="C0C0C0"/>
                </a:outerShdw>
              </a:effectLst>
              <a:latin typeface="Times New Roman" pitchFamily="18" charset="0"/>
            </a:endParaRPr>
          </a:p>
        </p:txBody>
      </p:sp>
      <p:sp>
        <p:nvSpPr>
          <p:cNvPr id="27656" name="Rectangle 8"/>
          <p:cNvSpPr>
            <a:spLocks noChangeArrowheads="1"/>
          </p:cNvSpPr>
          <p:nvPr/>
        </p:nvSpPr>
        <p:spPr bwMode="auto">
          <a:xfrm>
            <a:off x="0" y="-1924"/>
            <a:ext cx="9144000" cy="430887"/>
          </a:xfrm>
          <a:prstGeom prst="rect">
            <a:avLst/>
          </a:prstGeom>
          <a:solidFill>
            <a:srgbClr val="00FF00">
              <a:alpha val="95000"/>
            </a:srgbClr>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r>
              <a:rPr lang="uz-Cyrl-UZ" sz="2200" b="1" dirty="0" smtClean="0">
                <a:solidFill>
                  <a:srgbClr val="000000"/>
                </a:solidFill>
                <a:effectLst>
                  <a:outerShdw blurRad="38100" dist="38100" dir="2700000" algn="tl">
                    <a:srgbClr val="FFFFFF"/>
                  </a:outerShdw>
                </a:effectLst>
                <a:latin typeface="Times New Roman" pitchFamily="18" charset="0"/>
              </a:rPr>
              <a:t>Интеграл криптотаҳлил усулининг умумий характеристикалари</a:t>
            </a:r>
            <a:endParaRPr kumimoji="1" lang="ru-RU" sz="2200" b="1" dirty="0">
              <a:solidFill>
                <a:srgbClr val="000000"/>
              </a:solidFill>
              <a:effectLst>
                <a:outerShdw blurRad="38100" dist="38100" dir="2700000" algn="tl">
                  <a:srgbClr val="FFFFFF"/>
                </a:outerShdw>
              </a:effectLst>
              <a:latin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25471" y="809063"/>
            <a:ext cx="8839017" cy="5392245"/>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457200" indent="-457200" algn="just">
              <a:spcBef>
                <a:spcPct val="30000"/>
              </a:spcBef>
              <a:buClr>
                <a:schemeClr val="accent2"/>
              </a:buClr>
              <a:buSzPct val="100000"/>
              <a:buFont typeface="Wingdings" pitchFamily="2" charset="2"/>
              <a:buChar char="q"/>
              <a:defRPr/>
            </a:pPr>
            <a:r>
              <a:rPr lang="ru-RU" sz="2800" b="1" dirty="0" smtClean="0">
                <a:effectLst>
                  <a:outerShdw blurRad="38100" dist="38100" dir="2700000" algn="tl">
                    <a:srgbClr val="C0C0C0"/>
                  </a:outerShdw>
                </a:effectLst>
                <a:latin typeface="Times New Roman" pitchFamily="18" charset="0"/>
              </a:rPr>
              <a:t>ИК </a:t>
            </a:r>
            <a:r>
              <a:rPr lang="ru-RU" sz="2800" b="1" dirty="0" err="1">
                <a:effectLst>
                  <a:outerShdw blurRad="38100" dist="38100" dir="2700000" algn="tl">
                    <a:srgbClr val="C0C0C0"/>
                  </a:outerShdw>
                </a:effectLst>
                <a:latin typeface="Times New Roman" pitchFamily="18" charset="0"/>
              </a:rPr>
              <a:t>усули</a:t>
            </a:r>
            <a:r>
              <a:rPr lang="ru-RU" sz="2800" dirty="0">
                <a:effectLst>
                  <a:outerShdw blurRad="38100" dist="38100" dir="2700000" algn="tl">
                    <a:srgbClr val="C0C0C0"/>
                  </a:outerShdw>
                </a:effectLst>
                <a:latin typeface="Times New Roman" pitchFamily="18" charset="0"/>
              </a:rPr>
              <a:t> – </a:t>
            </a:r>
            <a:r>
              <a:rPr lang="ru-RU" sz="2800" dirty="0" err="1">
                <a:effectLst>
                  <a:outerShdw blurRad="38100" dist="38100" dir="2700000" algn="tl">
                    <a:srgbClr val="C0C0C0"/>
                  </a:outerShdw>
                </a:effectLst>
                <a:latin typeface="Times New Roman" pitchFamily="18" charset="0"/>
              </a:rPr>
              <a:t>Даниялик</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криптограф</a:t>
            </a:r>
            <a:r>
              <a:rPr lang="ru-RU" sz="2800" dirty="0">
                <a:effectLst>
                  <a:outerShdw blurRad="38100" dist="38100" dir="2700000" algn="tl">
                    <a:srgbClr val="C0C0C0"/>
                  </a:outerShdw>
                </a:effectLst>
                <a:latin typeface="Times New Roman" pitchFamily="18" charset="0"/>
              </a:rPr>
              <a:t> </a:t>
            </a:r>
            <a:r>
              <a:rPr lang="ru-RU" sz="2800" b="1" dirty="0" err="1">
                <a:effectLst>
                  <a:outerShdw blurRad="38100" dist="38100" dir="2700000" algn="tl">
                    <a:srgbClr val="C0C0C0"/>
                  </a:outerShdw>
                </a:effectLst>
                <a:latin typeface="Times New Roman" pitchFamily="18" charset="0"/>
              </a:rPr>
              <a:t>Ласр</a:t>
            </a:r>
            <a:r>
              <a:rPr lang="ru-RU" sz="2800" b="1" dirty="0">
                <a:effectLst>
                  <a:outerShdw blurRad="38100" dist="38100" dir="2700000" algn="tl">
                    <a:srgbClr val="C0C0C0"/>
                  </a:outerShdw>
                </a:effectLst>
                <a:latin typeface="Times New Roman" pitchFamily="18" charset="0"/>
              </a:rPr>
              <a:t> </a:t>
            </a:r>
            <a:r>
              <a:rPr lang="ru-RU" sz="2800" b="1" dirty="0" err="1">
                <a:effectLst>
                  <a:outerShdw blurRad="38100" dist="38100" dir="2700000" algn="tl">
                    <a:srgbClr val="C0C0C0"/>
                  </a:outerShdw>
                </a:effectLst>
                <a:latin typeface="Times New Roman" pitchFamily="18" charset="0"/>
              </a:rPr>
              <a:t>Кнудсен</a:t>
            </a:r>
            <a:r>
              <a:rPr lang="ru-RU" sz="2800" b="1"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томонидан</a:t>
            </a:r>
            <a:r>
              <a:rPr lang="ru-RU" sz="2800" dirty="0">
                <a:effectLst>
                  <a:outerShdw blurRad="38100" dist="38100" dir="2700000" algn="tl">
                    <a:srgbClr val="C0C0C0"/>
                  </a:outerShdw>
                </a:effectLst>
                <a:latin typeface="Times New Roman" pitchFamily="18" charset="0"/>
              </a:rPr>
              <a:t> </a:t>
            </a:r>
            <a:r>
              <a:rPr lang="ru-RU" sz="2800" b="1" dirty="0">
                <a:effectLst>
                  <a:outerShdw blurRad="38100" dist="38100" dir="2700000" algn="tl">
                    <a:srgbClr val="C0C0C0"/>
                  </a:outerShdw>
                </a:effectLst>
                <a:latin typeface="Times New Roman" pitchFamily="18" charset="0"/>
              </a:rPr>
              <a:t>1997 </a:t>
            </a:r>
            <a:r>
              <a:rPr lang="ru-RU" sz="2800" b="1" dirty="0" err="1">
                <a:effectLst>
                  <a:outerShdw blurRad="38100" dist="38100" dir="2700000" algn="tl">
                    <a:srgbClr val="C0C0C0"/>
                  </a:outerShdw>
                </a:effectLst>
                <a:latin typeface="Times New Roman" pitchFamily="18" charset="0"/>
              </a:rPr>
              <a:t>йилда</a:t>
            </a:r>
            <a:r>
              <a:rPr lang="ru-RU" sz="2800" b="1" dirty="0">
                <a:effectLst>
                  <a:outerShdw blurRad="38100" dist="38100" dir="2700000" algn="tl">
                    <a:srgbClr val="C0C0C0"/>
                  </a:outerShdw>
                </a:effectLst>
                <a:latin typeface="Times New Roman" pitchFamily="18" charset="0"/>
              </a:rPr>
              <a:t> </a:t>
            </a:r>
            <a:r>
              <a:rPr lang="ru-RU" sz="2800" dirty="0">
                <a:effectLst>
                  <a:outerShdw blurRad="38100" dist="38100" dir="2700000" algn="tl">
                    <a:srgbClr val="C0C0C0"/>
                  </a:outerShdw>
                </a:effectLst>
                <a:latin typeface="Times New Roman" pitchFamily="18" charset="0"/>
              </a:rPr>
              <a:t>«Квадрат» (</a:t>
            </a:r>
            <a:r>
              <a:rPr lang="en-US" sz="2800" dirty="0">
                <a:effectLst>
                  <a:outerShdw blurRad="38100" dist="38100" dir="2700000" algn="tl">
                    <a:srgbClr val="C0C0C0"/>
                  </a:outerShdw>
                </a:effectLst>
                <a:latin typeface="Times New Roman" pitchFamily="18" charset="0"/>
              </a:rPr>
              <a:t>Square) </a:t>
            </a:r>
            <a:r>
              <a:rPr lang="ru-RU" sz="2800" dirty="0" err="1">
                <a:effectLst>
                  <a:outerShdw blurRad="38100" dist="38100" dir="2700000" algn="tl">
                    <a:srgbClr val="C0C0C0"/>
                  </a:outerShdw>
                </a:effectLst>
                <a:latin typeface="Times New Roman" pitchFamily="18" charset="0"/>
              </a:rPr>
              <a:t>шифрлаш</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алгоритмига</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ҳужум</a:t>
            </a:r>
            <a:r>
              <a:rPr lang="ru-RU" sz="2800" dirty="0">
                <a:effectLst>
                  <a:outerShdw blurRad="38100" dist="38100" dir="2700000" algn="tl">
                    <a:srgbClr val="C0C0C0"/>
                  </a:outerShdw>
                </a:effectLst>
                <a:latin typeface="Times New Roman" pitchFamily="18" charset="0"/>
              </a:rPr>
              <a:t> тури </a:t>
            </a:r>
            <a:r>
              <a:rPr lang="ru-RU" sz="2800" dirty="0" err="1">
                <a:effectLst>
                  <a:outerShdw blurRad="38100" dist="38100" dir="2700000" algn="tl">
                    <a:srgbClr val="C0C0C0"/>
                  </a:outerShdw>
                </a:effectLst>
                <a:latin typeface="Times New Roman" pitchFamily="18" charset="0"/>
              </a:rPr>
              <a:t>сифатида</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таклиф</a:t>
            </a:r>
            <a:r>
              <a:rPr lang="ru-RU" sz="2800" dirty="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этилган</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Шунинг</a:t>
            </a:r>
            <a:r>
              <a:rPr lang="ru-RU" sz="2800" dirty="0" smtClean="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учун</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айрим</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манбаларда</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бу</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хужум</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турини</a:t>
            </a:r>
            <a:r>
              <a:rPr lang="ru-RU" sz="2800" dirty="0">
                <a:effectLst>
                  <a:outerShdw blurRad="38100" dist="38100" dir="2700000" algn="tl">
                    <a:srgbClr val="C0C0C0"/>
                  </a:outerShdw>
                </a:effectLst>
                <a:latin typeface="Times New Roman" pitchFamily="18" charset="0"/>
              </a:rPr>
              <a:t> «</a:t>
            </a:r>
            <a:r>
              <a:rPr lang="en-US" sz="2800" dirty="0">
                <a:effectLst>
                  <a:outerShdw blurRad="38100" dist="38100" dir="2700000" algn="tl">
                    <a:srgbClr val="C0C0C0"/>
                  </a:outerShdw>
                </a:effectLst>
                <a:latin typeface="Times New Roman" pitchFamily="18" charset="0"/>
              </a:rPr>
              <a:t>Square-</a:t>
            </a:r>
            <a:r>
              <a:rPr lang="ru-RU" sz="2800" dirty="0" err="1">
                <a:effectLst>
                  <a:outerShdw blurRad="38100" dist="38100" dir="2700000" algn="tl">
                    <a:srgbClr val="C0C0C0"/>
                  </a:outerShdw>
                </a:effectLst>
                <a:latin typeface="Times New Roman" pitchFamily="18" charset="0"/>
              </a:rPr>
              <a:t>ҳужум</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деб</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номланади</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Кейинчалик</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ушбу</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ҳужум</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турининг</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аналоглари</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турли</a:t>
            </a:r>
            <a:r>
              <a:rPr lang="ru-RU" sz="2800" dirty="0">
                <a:effectLst>
                  <a:outerShdw blurRad="38100" dist="38100" dir="2700000" algn="tl">
                    <a:srgbClr val="C0C0C0"/>
                  </a:outerShdw>
                </a:effectLst>
                <a:latin typeface="Times New Roman" pitchFamily="18" charset="0"/>
              </a:rPr>
              <a:t> хил </a:t>
            </a:r>
            <a:r>
              <a:rPr lang="ru-RU" sz="2800" dirty="0" err="1">
                <a:effectLst>
                  <a:outerShdw blurRad="38100" dist="38100" dir="2700000" algn="tl">
                    <a:srgbClr val="C0C0C0"/>
                  </a:outerShdw>
                </a:effectLst>
                <a:latin typeface="Times New Roman" pitchFamily="18" charset="0"/>
              </a:rPr>
              <a:t>номлар</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остида</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бир</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нечта</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илмий</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мақолаларда</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пайдо</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бўлди</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ва</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умумий</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холда</a:t>
            </a:r>
            <a:r>
              <a:rPr lang="ru-RU" sz="2800" dirty="0">
                <a:effectLst>
                  <a:outerShdw blurRad="38100" dist="38100" dir="2700000" algn="tl">
                    <a:srgbClr val="C0C0C0"/>
                  </a:outerShdw>
                </a:effectLst>
                <a:latin typeface="Times New Roman" pitchFamily="18" charset="0"/>
              </a:rPr>
              <a:t> интеграл </a:t>
            </a:r>
            <a:r>
              <a:rPr lang="ru-RU" sz="2800" dirty="0" err="1">
                <a:effectLst>
                  <a:outerShdw blurRad="38100" dist="38100" dir="2700000" algn="tl">
                    <a:srgbClr val="C0C0C0"/>
                  </a:outerShdw>
                </a:effectLst>
                <a:latin typeface="Times New Roman" pitchFamily="18" charset="0"/>
              </a:rPr>
              <a:t>криптотаҳлил</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номи</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остида</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қабул</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қилинди</a:t>
            </a:r>
            <a:r>
              <a:rPr lang="ru-RU" sz="2800" dirty="0">
                <a:effectLst>
                  <a:outerShdw blurRad="38100" dist="38100" dir="2700000" algn="tl">
                    <a:srgbClr val="C0C0C0"/>
                  </a:outerShdw>
                </a:effectLst>
                <a:latin typeface="Times New Roman" pitchFamily="18" charset="0"/>
              </a:rPr>
              <a:t>. </a:t>
            </a:r>
            <a:endParaRPr lang="ru-RU" sz="2800" dirty="0" smtClean="0">
              <a:effectLst>
                <a:outerShdw blurRad="38100" dist="38100" dir="2700000" algn="tl">
                  <a:srgbClr val="C0C0C0"/>
                </a:outerShdw>
              </a:effectLst>
              <a:latin typeface="Times New Roman" pitchFamily="18" charset="0"/>
            </a:endParaRPr>
          </a:p>
          <a:p>
            <a:pPr marL="457200" indent="-457200" algn="just">
              <a:spcBef>
                <a:spcPct val="30000"/>
              </a:spcBef>
              <a:buClr>
                <a:schemeClr val="accent2"/>
              </a:buClr>
              <a:buSzPct val="100000"/>
              <a:buFont typeface="Wingdings" pitchFamily="2" charset="2"/>
              <a:buChar char="q"/>
              <a:defRPr/>
            </a:pPr>
            <a:r>
              <a:rPr lang="ru-RU" sz="2800" b="1" dirty="0" smtClean="0">
                <a:effectLst>
                  <a:outerShdw blurRad="38100" dist="38100" dir="2700000" algn="tl">
                    <a:srgbClr val="C0C0C0"/>
                  </a:outerShdw>
                </a:effectLst>
                <a:latin typeface="Times New Roman" pitchFamily="18" charset="0"/>
              </a:rPr>
              <a:t>«</a:t>
            </a:r>
            <a:r>
              <a:rPr lang="ru-RU" sz="2800" b="1" dirty="0">
                <a:effectLst>
                  <a:outerShdw blurRad="38100" dist="38100" dir="2700000" algn="tl">
                    <a:srgbClr val="C0C0C0"/>
                  </a:outerShdw>
                </a:effectLst>
                <a:latin typeface="Times New Roman" pitchFamily="18" charset="0"/>
              </a:rPr>
              <a:t>Интеграл </a:t>
            </a:r>
            <a:r>
              <a:rPr lang="ru-RU" sz="2800" b="1" dirty="0" err="1">
                <a:effectLst>
                  <a:outerShdw blurRad="38100" dist="38100" dir="2700000" algn="tl">
                    <a:srgbClr val="C0C0C0"/>
                  </a:outerShdw>
                </a:effectLst>
                <a:latin typeface="Times New Roman" pitchFamily="18" charset="0"/>
              </a:rPr>
              <a:t>криптотаҳлил</a:t>
            </a:r>
            <a:r>
              <a:rPr lang="ru-RU" sz="2800" b="1" dirty="0">
                <a:effectLst>
                  <a:outerShdw blurRad="38100" dist="38100" dir="2700000" algn="tl">
                    <a:srgbClr val="C0C0C0"/>
                  </a:outerShdw>
                </a:effectLst>
                <a:latin typeface="Times New Roman" pitchFamily="18" charset="0"/>
              </a:rPr>
              <a:t>»</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термини</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биринчи</a:t>
            </a:r>
            <a:r>
              <a:rPr lang="ru-RU" sz="2800" dirty="0">
                <a:effectLst>
                  <a:outerShdw blurRad="38100" dist="38100" dir="2700000" algn="tl">
                    <a:srgbClr val="C0C0C0"/>
                  </a:outerShdw>
                </a:effectLst>
                <a:latin typeface="Times New Roman" pitchFamily="18" charset="0"/>
              </a:rPr>
              <a:t> бор 1999 </a:t>
            </a:r>
            <a:r>
              <a:rPr lang="ru-RU" sz="2800" dirty="0" err="1">
                <a:effectLst>
                  <a:outerShdw blurRad="38100" dist="38100" dir="2700000" algn="tl">
                    <a:srgbClr val="C0C0C0"/>
                  </a:outerShdw>
                </a:effectLst>
                <a:latin typeface="Times New Roman" pitchFamily="18" charset="0"/>
              </a:rPr>
              <a:t>йили</a:t>
            </a:r>
            <a:r>
              <a:rPr lang="ru-RU" sz="2800" dirty="0">
                <a:effectLst>
                  <a:outerShdw blurRad="38100" dist="38100" dir="2700000" algn="tl">
                    <a:srgbClr val="C0C0C0"/>
                  </a:outerShdw>
                </a:effectLst>
                <a:latin typeface="Times New Roman" pitchFamily="18" charset="0"/>
              </a:rPr>
              <a:t> «</a:t>
            </a:r>
            <a:r>
              <a:rPr lang="en-US" sz="2800" b="1" dirty="0">
                <a:effectLst>
                  <a:outerShdw blurRad="38100" dist="38100" dir="2700000" algn="tl">
                    <a:srgbClr val="C0C0C0"/>
                  </a:outerShdw>
                </a:effectLst>
                <a:latin typeface="Times New Roman" pitchFamily="18" charset="0"/>
              </a:rPr>
              <a:t>Integral cryptanalysis of SAFER</a:t>
            </a:r>
            <a:r>
              <a:rPr lang="en-US"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нашрида</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келтирилган</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таклиф</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этилган</a:t>
            </a:r>
            <a:r>
              <a:rPr lang="ru-RU" sz="2800" dirty="0" smtClean="0">
                <a:effectLst>
                  <a:outerShdw blurRad="38100" dist="38100" dir="2700000" algn="tl">
                    <a:srgbClr val="C0C0C0"/>
                  </a:outerShdw>
                </a:effectLst>
                <a:latin typeface="Times New Roman" pitchFamily="18" charset="0"/>
              </a:rPr>
              <a:t>). </a:t>
            </a:r>
            <a:endParaRPr lang="ru-RU" sz="2800" dirty="0">
              <a:effectLst>
                <a:outerShdw blurRad="38100" dist="38100" dir="2700000" algn="tl">
                  <a:srgbClr val="C0C0C0"/>
                </a:outerShdw>
              </a:effectLst>
              <a:latin typeface="Times New Roman" pitchFamily="18" charset="0"/>
            </a:endParaRPr>
          </a:p>
        </p:txBody>
      </p:sp>
      <p:sp>
        <p:nvSpPr>
          <p:cNvPr id="27656" name="Rectangle 8"/>
          <p:cNvSpPr>
            <a:spLocks noChangeArrowheads="1"/>
          </p:cNvSpPr>
          <p:nvPr/>
        </p:nvSpPr>
        <p:spPr bwMode="auto">
          <a:xfrm>
            <a:off x="0" y="8620"/>
            <a:ext cx="4572000" cy="612000"/>
          </a:xfrm>
          <a:prstGeom prst="rect">
            <a:avLst/>
          </a:prstGeom>
          <a:solidFill>
            <a:schemeClr val="accent2">
              <a:lumMod val="40000"/>
              <a:lumOff val="60000"/>
              <a:alpha val="95000"/>
            </a:schemeClr>
          </a:solidFill>
          <a:ln>
            <a:noFill/>
          </a:ln>
          <a:effectLst/>
          <a:extLst/>
        </p:spPr>
        <p:txBody>
          <a:bodyPr wrap="square" anchor="ctr">
            <a:spAutoFit/>
          </a:bodyPr>
          <a:lstStyle/>
          <a:p>
            <a:pPr>
              <a:defRPr/>
            </a:pPr>
            <a:r>
              <a:rPr lang="uz-Cyrl-UZ" sz="3200" b="1" dirty="0" smtClean="0">
                <a:solidFill>
                  <a:srgbClr val="000000"/>
                </a:solidFill>
                <a:effectLst>
                  <a:outerShdw blurRad="38100" dist="38100" dir="2700000" algn="tl">
                    <a:srgbClr val="FFFFFF"/>
                  </a:outerShdw>
                </a:effectLst>
                <a:latin typeface="Times New Roman" pitchFamily="18" charset="0"/>
              </a:rPr>
              <a:t>Яратилиш тарихи</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spTree>
    <p:extLst>
      <p:ext uri="{BB962C8B-B14F-4D97-AF65-F5344CB8AC3E}">
        <p14:creationId xmlns:p14="http://schemas.microsoft.com/office/powerpoint/2010/main" val="25513749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25471" y="947563"/>
            <a:ext cx="8839017" cy="5115246"/>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457200" indent="-457200" algn="just">
              <a:spcBef>
                <a:spcPct val="30000"/>
              </a:spcBef>
              <a:spcAft>
                <a:spcPts val="1200"/>
              </a:spcAft>
              <a:buClr>
                <a:schemeClr val="accent2"/>
              </a:buClr>
              <a:buSzPct val="100000"/>
              <a:buFont typeface="Wingdings" pitchFamily="2" charset="2"/>
              <a:buChar char="q"/>
              <a:defRPr/>
            </a:pPr>
            <a:r>
              <a:rPr lang="ru-RU" sz="2800" dirty="0" smtClean="0">
                <a:effectLst>
                  <a:outerShdw blurRad="38100" dist="38100" dir="2700000" algn="tl">
                    <a:srgbClr val="C0C0C0"/>
                  </a:outerShdw>
                </a:effectLst>
                <a:latin typeface="Times New Roman" pitchFamily="18" charset="0"/>
              </a:rPr>
              <a:t>ИК </a:t>
            </a:r>
            <a:r>
              <a:rPr lang="ru-RU" sz="2800" dirty="0" err="1" smtClean="0">
                <a:effectLst>
                  <a:outerShdw blurRad="38100" dist="38100" dir="2700000" algn="tl">
                    <a:srgbClr val="C0C0C0"/>
                  </a:outerShdw>
                </a:effectLst>
                <a:latin typeface="Times New Roman" pitchFamily="18" charset="0"/>
              </a:rPr>
              <a:t>усулнинг</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асосий</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ғояси</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пайдо</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бўлгандан</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сўнг</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турли</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мутахассислар</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томонидан</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ушбу</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криптотаҳлил</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усули</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янада</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мукаммаллаштирилди</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ва</a:t>
            </a:r>
            <a:r>
              <a:rPr lang="ru-RU" sz="2800" dirty="0" smtClean="0">
                <a:effectLst>
                  <a:outerShdw blurRad="38100" dist="38100" dir="2700000" algn="tl">
                    <a:srgbClr val="C0C0C0"/>
                  </a:outerShdw>
                </a:effectLst>
                <a:latin typeface="Times New Roman" pitchFamily="18" charset="0"/>
              </a:rPr>
              <a:t> </a:t>
            </a:r>
            <a:r>
              <a:rPr lang="en-US" sz="2800" dirty="0" smtClean="0">
                <a:effectLst>
                  <a:outerShdw blurRad="38100" dist="38100" dir="2700000" algn="tl">
                    <a:srgbClr val="C0C0C0"/>
                  </a:outerShdw>
                </a:effectLst>
                <a:latin typeface="Times New Roman" pitchFamily="18" charset="0"/>
              </a:rPr>
              <a:t>Square </a:t>
            </a:r>
            <a:r>
              <a:rPr lang="ru-RU" sz="2800" dirty="0" err="1" smtClean="0">
                <a:effectLst>
                  <a:outerShdw blurRad="38100" dist="38100" dir="2700000" algn="tl">
                    <a:srgbClr val="C0C0C0"/>
                  </a:outerShdw>
                </a:effectLst>
                <a:latin typeface="Times New Roman" pitchFamily="18" charset="0"/>
              </a:rPr>
              <a:t>шифрига</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ўхшаш</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бўлган</a:t>
            </a:r>
            <a:r>
              <a:rPr lang="ru-RU" sz="2800" dirty="0" smtClean="0">
                <a:effectLst>
                  <a:outerShdw blurRad="38100" dist="38100" dir="2700000" algn="tl">
                    <a:srgbClr val="C0C0C0"/>
                  </a:outerShdw>
                </a:effectLst>
                <a:latin typeface="Times New Roman" pitchFamily="18" charset="0"/>
              </a:rPr>
              <a:t> </a:t>
            </a:r>
            <a:r>
              <a:rPr lang="en-US" sz="2800" dirty="0" smtClean="0">
                <a:effectLst>
                  <a:outerShdw blurRad="38100" dist="38100" dir="2700000" algn="tl">
                    <a:srgbClr val="C0C0C0"/>
                  </a:outerShdw>
                </a:effectLst>
                <a:latin typeface="Times New Roman" pitchFamily="18" charset="0"/>
              </a:rPr>
              <a:t>CRYPTON, </a:t>
            </a:r>
            <a:r>
              <a:rPr lang="en-US" sz="2800" dirty="0" err="1" smtClean="0">
                <a:effectLst>
                  <a:outerShdw blurRad="38100" dist="38100" dir="2700000" algn="tl">
                    <a:srgbClr val="C0C0C0"/>
                  </a:outerShdw>
                </a:effectLst>
                <a:latin typeface="Times New Roman" pitchFamily="18" charset="0"/>
              </a:rPr>
              <a:t>Rijndael</a:t>
            </a:r>
            <a:r>
              <a:rPr lang="en-US"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ва</a:t>
            </a:r>
            <a:r>
              <a:rPr lang="ru-RU" sz="2800" dirty="0" smtClean="0">
                <a:effectLst>
                  <a:outerShdw blurRad="38100" dist="38100" dir="2700000" algn="tl">
                    <a:srgbClr val="C0C0C0"/>
                  </a:outerShdw>
                </a:effectLst>
                <a:latin typeface="Times New Roman" pitchFamily="18" charset="0"/>
              </a:rPr>
              <a:t> </a:t>
            </a:r>
            <a:r>
              <a:rPr lang="en-US" sz="2800" dirty="0" smtClean="0">
                <a:effectLst>
                  <a:outerShdw blurRad="38100" dist="38100" dir="2700000" algn="tl">
                    <a:srgbClr val="C0C0C0"/>
                  </a:outerShdw>
                </a:effectLst>
                <a:latin typeface="Times New Roman" pitchFamily="18" charset="0"/>
              </a:rPr>
              <a:t>SHARK,</a:t>
            </a:r>
            <a:r>
              <a:rPr lang="ru-RU" sz="2800">
                <a:effectLst>
                  <a:outerShdw blurRad="38100" dist="38100" dir="2700000" algn="tl">
                    <a:srgbClr val="C0C0C0"/>
                  </a:outerShdw>
                </a:effectLst>
                <a:latin typeface="Times New Roman" pitchFamily="18" charset="0"/>
              </a:rPr>
              <a:t> ГОСТ Р 34.11-2012</a:t>
            </a:r>
            <a:r>
              <a:rPr lang="en-US" sz="280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каби</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алгоритмларга</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қўлланилди</a:t>
            </a:r>
            <a:r>
              <a:rPr lang="ru-RU" sz="2800" dirty="0" smtClean="0">
                <a:effectLst>
                  <a:outerShdw blurRad="38100" dist="38100" dir="2700000" algn="tl">
                    <a:srgbClr val="C0C0C0"/>
                  </a:outerShdw>
                </a:effectLst>
                <a:latin typeface="Times New Roman" pitchFamily="18" charset="0"/>
              </a:rPr>
              <a:t>. </a:t>
            </a:r>
          </a:p>
          <a:p>
            <a:pPr marL="457200" indent="-457200" algn="just">
              <a:spcBef>
                <a:spcPct val="30000"/>
              </a:spcBef>
              <a:buClr>
                <a:schemeClr val="accent2"/>
              </a:buClr>
              <a:buSzPct val="100000"/>
              <a:buFont typeface="Wingdings" pitchFamily="2" charset="2"/>
              <a:buChar char="q"/>
              <a:defRPr/>
            </a:pPr>
            <a:r>
              <a:rPr lang="ru-RU" sz="2800" dirty="0" smtClean="0">
                <a:effectLst>
                  <a:outerShdw blurRad="38100" dist="38100" dir="2700000" algn="tl">
                    <a:srgbClr val="C0C0C0"/>
                  </a:outerShdw>
                </a:effectLst>
                <a:latin typeface="Times New Roman" pitchFamily="18" charset="0"/>
              </a:rPr>
              <a:t>ИК </a:t>
            </a:r>
            <a:r>
              <a:rPr lang="ru-RU" sz="2800" dirty="0" err="1">
                <a:effectLst>
                  <a:outerShdw blurRad="38100" dist="38100" dir="2700000" algn="tl">
                    <a:srgbClr val="C0C0C0"/>
                  </a:outerShdw>
                </a:effectLst>
                <a:latin typeface="Times New Roman" pitchFamily="18" charset="0"/>
              </a:rPr>
              <a:t>усулининг</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турли</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модификациялари</a:t>
            </a:r>
            <a:r>
              <a:rPr lang="ru-RU" sz="2800" dirty="0">
                <a:effectLst>
                  <a:outerShdw blurRad="38100" dist="38100" dir="2700000" algn="tl">
                    <a:srgbClr val="C0C0C0"/>
                  </a:outerShdw>
                </a:effectLst>
                <a:latin typeface="Times New Roman" pitchFamily="18" charset="0"/>
              </a:rPr>
              <a:t> </a:t>
            </a:r>
            <a:r>
              <a:rPr lang="en-US" sz="2800" dirty="0" err="1">
                <a:effectLst>
                  <a:outerShdw blurRad="38100" dist="38100" dir="2700000" algn="tl">
                    <a:srgbClr val="C0C0C0"/>
                  </a:outerShdw>
                </a:effectLst>
                <a:latin typeface="Times New Roman" pitchFamily="18" charset="0"/>
              </a:rPr>
              <a:t>Hierocrypt</a:t>
            </a:r>
            <a:r>
              <a:rPr lang="en-US" sz="2800" dirty="0">
                <a:effectLst>
                  <a:outerShdw blurRad="38100" dist="38100" dir="2700000" algn="tl">
                    <a:srgbClr val="C0C0C0"/>
                  </a:outerShdw>
                </a:effectLst>
                <a:latin typeface="Times New Roman" pitchFamily="18" charset="0"/>
              </a:rPr>
              <a:t>, IDEA, Camellia, Skipjack, MISTY1, MISTY2, SAFER++, KHAZAD </a:t>
            </a:r>
            <a:r>
              <a:rPr lang="ru-RU" sz="2800" dirty="0" err="1">
                <a:effectLst>
                  <a:outerShdw blurRad="38100" dist="38100" dir="2700000" algn="tl">
                    <a:srgbClr val="C0C0C0"/>
                  </a:outerShdw>
                </a:effectLst>
                <a:latin typeface="Times New Roman" pitchFamily="18" charset="0"/>
              </a:rPr>
              <a:t>ва</a:t>
            </a:r>
            <a:r>
              <a:rPr lang="ru-RU" sz="2800" dirty="0">
                <a:effectLst>
                  <a:outerShdw blurRad="38100" dist="38100" dir="2700000" algn="tl">
                    <a:srgbClr val="C0C0C0"/>
                  </a:outerShdw>
                </a:effectLst>
                <a:latin typeface="Times New Roman" pitchFamily="18" charset="0"/>
              </a:rPr>
              <a:t> </a:t>
            </a:r>
            <a:r>
              <a:rPr lang="en-US" sz="2800" dirty="0">
                <a:effectLst>
                  <a:outerShdw blurRad="38100" dist="38100" dir="2700000" algn="tl">
                    <a:srgbClr val="C0C0C0"/>
                  </a:outerShdw>
                </a:effectLst>
                <a:latin typeface="Times New Roman" pitchFamily="18" charset="0"/>
              </a:rPr>
              <a:t>FOX </a:t>
            </a:r>
            <a:r>
              <a:rPr lang="ru-RU" sz="2800" dirty="0" err="1">
                <a:effectLst>
                  <a:outerShdw blurRad="38100" dist="38100" dir="2700000" algn="tl">
                    <a:srgbClr val="C0C0C0"/>
                  </a:outerShdw>
                </a:effectLst>
                <a:latin typeface="Times New Roman" pitchFamily="18" charset="0"/>
              </a:rPr>
              <a:t>шифрлаш</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алгоритмларига</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ҳам</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қўлланилган</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ва</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тегишли</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натижалар</a:t>
            </a:r>
            <a:r>
              <a:rPr lang="ru-RU" sz="2800" dirty="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олинган</a:t>
            </a:r>
            <a:r>
              <a:rPr lang="ru-RU" sz="2800" dirty="0" smtClean="0">
                <a:effectLst>
                  <a:outerShdw blurRad="38100" dist="38100" dir="2700000" algn="tl">
                    <a:srgbClr val="C0C0C0"/>
                  </a:outerShdw>
                </a:effectLst>
                <a:latin typeface="Times New Roman" pitchFamily="18" charset="0"/>
              </a:rPr>
              <a:t>.</a:t>
            </a:r>
            <a:endParaRPr lang="ru-RU" sz="2800" dirty="0">
              <a:effectLst>
                <a:outerShdw blurRad="38100" dist="38100" dir="2700000" algn="tl">
                  <a:srgbClr val="C0C0C0"/>
                </a:outerShdw>
              </a:effectLst>
              <a:latin typeface="Times New Roman" pitchFamily="18" charset="0"/>
            </a:endParaRPr>
          </a:p>
        </p:txBody>
      </p:sp>
      <p:sp>
        <p:nvSpPr>
          <p:cNvPr id="27656" name="Rectangle 8"/>
          <p:cNvSpPr>
            <a:spLocks noChangeArrowheads="1"/>
          </p:cNvSpPr>
          <p:nvPr/>
        </p:nvSpPr>
        <p:spPr bwMode="auto">
          <a:xfrm>
            <a:off x="0" y="8620"/>
            <a:ext cx="7380000" cy="648000"/>
          </a:xfrm>
          <a:prstGeom prst="rect">
            <a:avLst/>
          </a:prstGeom>
          <a:solidFill>
            <a:srgbClr val="92D050">
              <a:alpha val="95000"/>
            </a:srgbClr>
          </a:solidFill>
          <a:ln>
            <a:noFill/>
          </a:ln>
          <a:effectLst/>
          <a:extLst/>
        </p:spPr>
        <p:txBody>
          <a:bodyPr wrap="square" anchor="ctr">
            <a:spAutoFit/>
          </a:bodyPr>
          <a:lstStyle/>
          <a:p>
            <a:pPr>
              <a:defRPr/>
            </a:pPr>
            <a:r>
              <a:rPr lang="uz-Cyrl-UZ" sz="3600" b="1" dirty="0" smtClean="0">
                <a:solidFill>
                  <a:srgbClr val="000000"/>
                </a:solidFill>
                <a:effectLst>
                  <a:outerShdw blurRad="38100" dist="38100" dir="2700000" algn="tl">
                    <a:srgbClr val="FFFFFF"/>
                  </a:outerShdw>
                </a:effectLst>
                <a:latin typeface="Times New Roman" pitchFamily="18" charset="0"/>
              </a:rPr>
              <a:t>ИК усулини амалий татбиқлари</a:t>
            </a:r>
            <a:endParaRPr kumimoji="1" lang="ru-RU" sz="3600" b="1" dirty="0">
              <a:solidFill>
                <a:srgbClr val="000000"/>
              </a:solidFill>
              <a:effectLst>
                <a:outerShdw blurRad="38100" dist="38100" dir="2700000" algn="tl">
                  <a:srgbClr val="FFFFFF"/>
                </a:outerShdw>
              </a:effectLst>
              <a:latin typeface="Times New Roman" pitchFamily="18" charset="0"/>
            </a:endParaRPr>
          </a:p>
        </p:txBody>
      </p:sp>
    </p:spTree>
    <p:extLst>
      <p:ext uri="{BB962C8B-B14F-4D97-AF65-F5344CB8AC3E}">
        <p14:creationId xmlns:p14="http://schemas.microsoft.com/office/powerpoint/2010/main" val="3643616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6" name="Rectangle 8"/>
          <p:cNvSpPr>
            <a:spLocks noChangeArrowheads="1"/>
          </p:cNvSpPr>
          <p:nvPr/>
        </p:nvSpPr>
        <p:spPr bwMode="auto">
          <a:xfrm>
            <a:off x="0" y="8217"/>
            <a:ext cx="6804248" cy="584775"/>
          </a:xfrm>
          <a:prstGeom prst="rect">
            <a:avLst/>
          </a:prstGeom>
          <a:solidFill>
            <a:srgbClr val="92D050">
              <a:alpha val="95000"/>
            </a:srgbClr>
          </a:solidFill>
          <a:ln>
            <a:noFill/>
          </a:ln>
          <a:effectLst/>
          <a:extLst/>
        </p:spPr>
        <p:txBody>
          <a:bodyPr wrap="square" anchor="ctr">
            <a:spAutoFit/>
          </a:bodyPr>
          <a:lstStyle/>
          <a:p>
            <a:pPr>
              <a:defRPr/>
            </a:pPr>
            <a:r>
              <a:rPr lang="uz-Cyrl-UZ" sz="3200" b="1" dirty="0" smtClean="0">
                <a:solidFill>
                  <a:srgbClr val="000000"/>
                </a:solidFill>
                <a:effectLst>
                  <a:outerShdw blurRad="38100" dist="38100" dir="2700000" algn="tl">
                    <a:srgbClr val="FFFFFF"/>
                  </a:outerShdw>
                </a:effectLst>
                <a:latin typeface="Times New Roman" pitchFamily="18" charset="0"/>
              </a:rPr>
              <a:t>ИК усулини амалий татбиқлари</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pic>
        <p:nvPicPr>
          <p:cNvPr id="43011"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1548" t="33446" r="14405" b="35900"/>
          <a:stretch/>
        </p:blipFill>
        <p:spPr bwMode="auto">
          <a:xfrm>
            <a:off x="863588" y="780679"/>
            <a:ext cx="7452828" cy="2468301"/>
          </a:xfrm>
          <a:prstGeom prst="rect">
            <a:avLst/>
          </a:prstGeom>
          <a:noFill/>
          <a:ln>
            <a:noFill/>
          </a:ln>
          <a:effectLst>
            <a:prstShdw prst="shdw17" dist="17961" dir="2700000">
              <a:schemeClr val="accent1">
                <a:gamma/>
                <a:shade val="60000"/>
                <a:invGamma/>
                <a:alpha val="50000"/>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 name="Таблица 1"/>
          <p:cNvGraphicFramePr>
            <a:graphicFrameLocks noGrp="1"/>
          </p:cNvGraphicFramePr>
          <p:nvPr>
            <p:extLst>
              <p:ext uri="{D42A27DB-BD31-4B8C-83A1-F6EECF244321}">
                <p14:modId xmlns:p14="http://schemas.microsoft.com/office/powerpoint/2010/main" val="1518633498"/>
              </p:ext>
            </p:extLst>
          </p:nvPr>
        </p:nvGraphicFramePr>
        <p:xfrm>
          <a:off x="201565" y="3401396"/>
          <a:ext cx="8699340" cy="3470148"/>
        </p:xfrm>
        <a:graphic>
          <a:graphicData uri="http://schemas.openxmlformats.org/drawingml/2006/table">
            <a:tbl>
              <a:tblPr firstRow="1" firstCol="1" bandRow="1" bandCol="1">
                <a:tableStyleId>{5940675A-B579-460E-94D1-54222C63F5DA}</a:tableStyleId>
              </a:tblPr>
              <a:tblGrid>
                <a:gridCol w="1168527"/>
                <a:gridCol w="1058055"/>
                <a:gridCol w="1578198"/>
                <a:gridCol w="1723200"/>
                <a:gridCol w="1723200"/>
                <a:gridCol w="1448160"/>
              </a:tblGrid>
              <a:tr h="170815">
                <a:tc rowSpan="2">
                  <a:txBody>
                    <a:bodyPr/>
                    <a:lstStyle/>
                    <a:p>
                      <a:pPr algn="ctr">
                        <a:lnSpc>
                          <a:spcPct val="115000"/>
                        </a:lnSpc>
                        <a:spcAft>
                          <a:spcPts val="0"/>
                        </a:spcAft>
                      </a:pPr>
                      <a:r>
                        <a:rPr lang="uz-Cyrl-UZ" sz="1800" b="1" dirty="0" smtClean="0">
                          <a:effectLst/>
                          <a:latin typeface="Times New Roman" pitchFamily="18" charset="0"/>
                          <a:cs typeface="Times New Roman" pitchFamily="18" charset="0"/>
                        </a:rPr>
                        <a:t>Раундлар</a:t>
                      </a:r>
                    </a:p>
                    <a:p>
                      <a:pPr algn="ctr">
                        <a:lnSpc>
                          <a:spcPct val="115000"/>
                        </a:lnSpc>
                        <a:spcAft>
                          <a:spcPts val="0"/>
                        </a:spcAft>
                      </a:pPr>
                      <a:r>
                        <a:rPr lang="uz-Cyrl-UZ" sz="1800" b="1" dirty="0" smtClean="0">
                          <a:effectLst/>
                          <a:latin typeface="Times New Roman" pitchFamily="18" charset="0"/>
                          <a:cs typeface="Times New Roman" pitchFamily="18" charset="0"/>
                        </a:rPr>
                        <a:t>сони</a:t>
                      </a:r>
                      <a:endParaRPr lang="ru-RU" sz="1600" b="1" dirty="0">
                        <a:effectLst/>
                        <a:latin typeface="Times New Roman" pitchFamily="18" charset="0"/>
                        <a:ea typeface="Calibri"/>
                        <a:cs typeface="Times New Roman" pitchFamily="18" charset="0"/>
                      </a:endParaRPr>
                    </a:p>
                  </a:txBody>
                  <a:tcPr marL="68580" marR="68580" marT="0" marB="0" anchor="ctr">
                    <a:solidFill>
                      <a:srgbClr val="CCCCFF"/>
                    </a:solidFill>
                  </a:tcPr>
                </a:tc>
                <a:tc rowSpan="2">
                  <a:txBody>
                    <a:bodyPr/>
                    <a:lstStyle/>
                    <a:p>
                      <a:pPr algn="ctr">
                        <a:lnSpc>
                          <a:spcPct val="115000"/>
                        </a:lnSpc>
                        <a:spcAft>
                          <a:spcPts val="0"/>
                        </a:spcAft>
                      </a:pPr>
                      <a:r>
                        <a:rPr lang="uz-Cyrl-UZ" sz="1800" b="1" dirty="0">
                          <a:effectLst/>
                          <a:latin typeface="Times New Roman" pitchFamily="18" charset="0"/>
                          <a:cs typeface="Times New Roman" pitchFamily="18" charset="0"/>
                        </a:rPr>
                        <a:t>Калитни</a:t>
                      </a:r>
                      <a:endParaRPr lang="ru-RU" sz="1600" b="1" dirty="0">
                        <a:effectLst/>
                        <a:latin typeface="Times New Roman" pitchFamily="18" charset="0"/>
                        <a:cs typeface="Times New Roman" pitchFamily="18" charset="0"/>
                      </a:endParaRPr>
                    </a:p>
                    <a:p>
                      <a:pPr algn="ctr">
                        <a:lnSpc>
                          <a:spcPct val="115000"/>
                        </a:lnSpc>
                        <a:spcAft>
                          <a:spcPts val="0"/>
                        </a:spcAft>
                      </a:pPr>
                      <a:r>
                        <a:rPr lang="uz-Cyrl-UZ" sz="1800" b="1" dirty="0">
                          <a:effectLst/>
                          <a:latin typeface="Times New Roman" pitchFamily="18" charset="0"/>
                          <a:cs typeface="Times New Roman" pitchFamily="18" charset="0"/>
                        </a:rPr>
                        <a:t>аниқлаш усули</a:t>
                      </a:r>
                      <a:endParaRPr lang="ru-RU" sz="1600" b="1" dirty="0">
                        <a:effectLst/>
                        <a:latin typeface="Times New Roman" pitchFamily="18" charset="0"/>
                        <a:ea typeface="Calibri"/>
                        <a:cs typeface="Times New Roman" pitchFamily="18" charset="0"/>
                      </a:endParaRPr>
                    </a:p>
                  </a:txBody>
                  <a:tcPr marL="68580" marR="68580" marT="0" marB="0" vert="vert270" anchor="ctr">
                    <a:solidFill>
                      <a:srgbClr val="CCCCFF"/>
                    </a:solidFill>
                  </a:tcPr>
                </a:tc>
                <a:tc gridSpan="2">
                  <a:txBody>
                    <a:bodyPr/>
                    <a:lstStyle/>
                    <a:p>
                      <a:pPr algn="ctr">
                        <a:lnSpc>
                          <a:spcPct val="115000"/>
                        </a:lnSpc>
                        <a:spcAft>
                          <a:spcPts val="0"/>
                        </a:spcAft>
                      </a:pPr>
                      <a:r>
                        <a:rPr lang="en-US" sz="1800" b="1" dirty="0">
                          <a:effectLst/>
                          <a:latin typeface="Times New Roman" pitchFamily="18" charset="0"/>
                          <a:cs typeface="Times New Roman" pitchFamily="18" charset="0"/>
                        </a:rPr>
                        <a:t>S_AES</a:t>
                      </a:r>
                      <a:endParaRPr lang="ru-RU" sz="1600" b="1" dirty="0">
                        <a:effectLst/>
                        <a:latin typeface="Times New Roman" pitchFamily="18" charset="0"/>
                        <a:ea typeface="Calibri"/>
                        <a:cs typeface="Times New Roman" pitchFamily="18" charset="0"/>
                      </a:endParaRPr>
                    </a:p>
                  </a:txBody>
                  <a:tcPr marL="68580" marR="68580" marT="0" marB="0" anchor="ctr">
                    <a:solidFill>
                      <a:srgbClr val="CCCCFF"/>
                    </a:solidFill>
                  </a:tcPr>
                </a:tc>
                <a:tc hMerge="1">
                  <a:txBody>
                    <a:bodyPr/>
                    <a:lstStyle/>
                    <a:p>
                      <a:endParaRPr lang="ru-RU"/>
                    </a:p>
                  </a:txBody>
                  <a:tcPr/>
                </a:tc>
                <a:tc gridSpan="2">
                  <a:txBody>
                    <a:bodyPr/>
                    <a:lstStyle/>
                    <a:p>
                      <a:pPr algn="ctr">
                        <a:lnSpc>
                          <a:spcPct val="115000"/>
                        </a:lnSpc>
                        <a:spcAft>
                          <a:spcPts val="0"/>
                        </a:spcAft>
                      </a:pPr>
                      <a:r>
                        <a:rPr lang="en-US" sz="1800" b="1" dirty="0">
                          <a:effectLst/>
                          <a:latin typeface="Times New Roman" pitchFamily="18" charset="0"/>
                          <a:cs typeface="Times New Roman" pitchFamily="18" charset="0"/>
                        </a:rPr>
                        <a:t>AES</a:t>
                      </a:r>
                      <a:endParaRPr lang="ru-RU" sz="1600" b="1" dirty="0">
                        <a:effectLst/>
                        <a:latin typeface="Times New Roman" pitchFamily="18" charset="0"/>
                        <a:ea typeface="Calibri"/>
                        <a:cs typeface="Times New Roman" pitchFamily="18" charset="0"/>
                      </a:endParaRPr>
                    </a:p>
                  </a:txBody>
                  <a:tcPr marL="68580" marR="68580" marT="0" marB="0" anchor="ctr">
                    <a:solidFill>
                      <a:srgbClr val="CCCCFF"/>
                    </a:solidFill>
                  </a:tcPr>
                </a:tc>
                <a:tc hMerge="1">
                  <a:txBody>
                    <a:bodyPr/>
                    <a:lstStyle/>
                    <a:p>
                      <a:endParaRPr lang="ru-RU"/>
                    </a:p>
                  </a:txBody>
                  <a:tcPr/>
                </a:tc>
              </a:tr>
              <a:tr h="89535">
                <a:tc vMerge="1">
                  <a:txBody>
                    <a:bodyPr/>
                    <a:lstStyle/>
                    <a:p>
                      <a:endParaRPr lang="ru-RU"/>
                    </a:p>
                  </a:txBody>
                  <a:tcPr/>
                </a:tc>
                <a:tc vMerge="1">
                  <a:txBody>
                    <a:bodyPr/>
                    <a:lstStyle/>
                    <a:p>
                      <a:endParaRPr lang="ru-RU"/>
                    </a:p>
                  </a:txBody>
                  <a:tcPr/>
                </a:tc>
                <a:tc>
                  <a:txBody>
                    <a:bodyPr/>
                    <a:lstStyle/>
                    <a:p>
                      <a:pPr algn="ctr">
                        <a:lnSpc>
                          <a:spcPct val="115000"/>
                        </a:lnSpc>
                        <a:spcAft>
                          <a:spcPts val="0"/>
                        </a:spcAft>
                      </a:pPr>
                      <a:r>
                        <a:rPr lang="uz-Cyrl-UZ" sz="1800" b="0" dirty="0">
                          <a:effectLst/>
                          <a:latin typeface="Times New Roman" pitchFamily="18" charset="0"/>
                          <a:cs typeface="Times New Roman" pitchFamily="18" charset="0"/>
                        </a:rPr>
                        <a:t>Танланган очиқ/шифр матнлар сони (минимум)</a:t>
                      </a:r>
                      <a:endParaRPr lang="ru-RU" sz="1600" b="0" dirty="0">
                        <a:effectLst/>
                        <a:latin typeface="Times New Roman" pitchFamily="18" charset="0"/>
                        <a:ea typeface="Calibri"/>
                        <a:cs typeface="Times New Roman" pitchFamily="18" charset="0"/>
                      </a:endParaRPr>
                    </a:p>
                  </a:txBody>
                  <a:tcPr marL="68580" marR="68580" marT="0" marB="0" anchor="ctr">
                    <a:solidFill>
                      <a:srgbClr val="CCCCFF"/>
                    </a:solidFill>
                  </a:tcPr>
                </a:tc>
                <a:tc>
                  <a:txBody>
                    <a:bodyPr/>
                    <a:lstStyle/>
                    <a:p>
                      <a:pPr algn="ctr">
                        <a:lnSpc>
                          <a:spcPct val="115000"/>
                        </a:lnSpc>
                        <a:spcAft>
                          <a:spcPts val="0"/>
                        </a:spcAft>
                      </a:pPr>
                      <a:r>
                        <a:rPr lang="uz-Cyrl-UZ" sz="1800" b="0" dirty="0">
                          <a:effectLst/>
                          <a:latin typeface="Times New Roman" pitchFamily="18" charset="0"/>
                          <a:cs typeface="Times New Roman" pitchFamily="18" charset="0"/>
                        </a:rPr>
                        <a:t>Калитларни</a:t>
                      </a:r>
                      <a:endParaRPr lang="ru-RU" sz="1600" b="0" dirty="0">
                        <a:effectLst/>
                        <a:latin typeface="Times New Roman" pitchFamily="18" charset="0"/>
                        <a:cs typeface="Times New Roman" pitchFamily="18" charset="0"/>
                      </a:endParaRPr>
                    </a:p>
                    <a:p>
                      <a:pPr algn="ctr">
                        <a:lnSpc>
                          <a:spcPct val="115000"/>
                        </a:lnSpc>
                        <a:spcAft>
                          <a:spcPts val="0"/>
                        </a:spcAft>
                      </a:pPr>
                      <a:r>
                        <a:rPr lang="uz-Cyrl-UZ" sz="1800" b="0" dirty="0">
                          <a:effectLst/>
                          <a:latin typeface="Times New Roman" pitchFamily="18" charset="0"/>
                          <a:cs typeface="Times New Roman" pitchFamily="18" charset="0"/>
                        </a:rPr>
                        <a:t>танлашлар</a:t>
                      </a:r>
                      <a:endParaRPr lang="ru-RU" sz="1600" b="0" dirty="0">
                        <a:effectLst/>
                        <a:latin typeface="Times New Roman" pitchFamily="18" charset="0"/>
                        <a:cs typeface="Times New Roman" pitchFamily="18" charset="0"/>
                      </a:endParaRPr>
                    </a:p>
                    <a:p>
                      <a:pPr algn="ctr">
                        <a:lnSpc>
                          <a:spcPct val="115000"/>
                        </a:lnSpc>
                        <a:spcAft>
                          <a:spcPts val="0"/>
                        </a:spcAft>
                      </a:pPr>
                      <a:r>
                        <a:rPr lang="uz-Cyrl-UZ" sz="1800" b="0" dirty="0">
                          <a:effectLst/>
                          <a:latin typeface="Times New Roman" pitchFamily="18" charset="0"/>
                          <a:cs typeface="Times New Roman" pitchFamily="18" charset="0"/>
                        </a:rPr>
                        <a:t>сони</a:t>
                      </a:r>
                      <a:endParaRPr lang="ru-RU" sz="1600" b="0" dirty="0">
                        <a:effectLst/>
                        <a:latin typeface="Times New Roman" pitchFamily="18" charset="0"/>
                        <a:ea typeface="Calibri"/>
                        <a:cs typeface="Times New Roman" pitchFamily="18" charset="0"/>
                      </a:endParaRPr>
                    </a:p>
                  </a:txBody>
                  <a:tcPr marL="68580" marR="68580" marT="0" marB="0" anchor="ctr">
                    <a:solidFill>
                      <a:srgbClr val="CCCCFF"/>
                    </a:solidFill>
                  </a:tcPr>
                </a:tc>
                <a:tc>
                  <a:txBody>
                    <a:bodyPr/>
                    <a:lstStyle/>
                    <a:p>
                      <a:pPr algn="ctr">
                        <a:lnSpc>
                          <a:spcPct val="115000"/>
                        </a:lnSpc>
                        <a:spcAft>
                          <a:spcPts val="0"/>
                        </a:spcAft>
                      </a:pPr>
                      <a:r>
                        <a:rPr lang="uz-Cyrl-UZ" sz="1800" b="0" dirty="0">
                          <a:effectLst/>
                          <a:latin typeface="Times New Roman" pitchFamily="18" charset="0"/>
                          <a:cs typeface="Times New Roman" pitchFamily="18" charset="0"/>
                        </a:rPr>
                        <a:t>Танланган очиқ/шифр матнлар сони</a:t>
                      </a:r>
                      <a:endParaRPr lang="ru-RU" sz="1600" b="0" dirty="0">
                        <a:effectLst/>
                        <a:latin typeface="Times New Roman" pitchFamily="18" charset="0"/>
                        <a:cs typeface="Times New Roman" pitchFamily="18" charset="0"/>
                      </a:endParaRPr>
                    </a:p>
                    <a:p>
                      <a:pPr algn="ctr">
                        <a:lnSpc>
                          <a:spcPct val="115000"/>
                        </a:lnSpc>
                        <a:spcAft>
                          <a:spcPts val="0"/>
                        </a:spcAft>
                      </a:pPr>
                      <a:r>
                        <a:rPr lang="uz-Cyrl-UZ" sz="1800" b="0" dirty="0">
                          <a:effectLst/>
                          <a:latin typeface="Times New Roman" pitchFamily="18" charset="0"/>
                          <a:cs typeface="Times New Roman" pitchFamily="18" charset="0"/>
                        </a:rPr>
                        <a:t>(минимум)</a:t>
                      </a:r>
                      <a:endParaRPr lang="ru-RU" sz="1600" b="0" dirty="0">
                        <a:effectLst/>
                        <a:latin typeface="Times New Roman" pitchFamily="18" charset="0"/>
                        <a:ea typeface="Calibri"/>
                        <a:cs typeface="Times New Roman" pitchFamily="18" charset="0"/>
                      </a:endParaRPr>
                    </a:p>
                  </a:txBody>
                  <a:tcPr marL="68580" marR="68580" marT="0" marB="0" anchor="ctr">
                    <a:solidFill>
                      <a:srgbClr val="CCCCFF"/>
                    </a:solidFill>
                  </a:tcPr>
                </a:tc>
                <a:tc>
                  <a:txBody>
                    <a:bodyPr/>
                    <a:lstStyle/>
                    <a:p>
                      <a:pPr algn="ctr">
                        <a:lnSpc>
                          <a:spcPct val="115000"/>
                        </a:lnSpc>
                        <a:spcAft>
                          <a:spcPts val="0"/>
                        </a:spcAft>
                      </a:pPr>
                      <a:r>
                        <a:rPr lang="uz-Cyrl-UZ" sz="1800" b="0" dirty="0">
                          <a:effectLst/>
                          <a:latin typeface="Times New Roman" pitchFamily="18" charset="0"/>
                          <a:cs typeface="Times New Roman" pitchFamily="18" charset="0"/>
                        </a:rPr>
                        <a:t>Калитларни</a:t>
                      </a:r>
                      <a:endParaRPr lang="ru-RU" sz="1600" b="0" dirty="0">
                        <a:effectLst/>
                        <a:latin typeface="Times New Roman" pitchFamily="18" charset="0"/>
                        <a:cs typeface="Times New Roman" pitchFamily="18" charset="0"/>
                      </a:endParaRPr>
                    </a:p>
                    <a:p>
                      <a:pPr algn="ctr">
                        <a:lnSpc>
                          <a:spcPct val="115000"/>
                        </a:lnSpc>
                        <a:spcAft>
                          <a:spcPts val="0"/>
                        </a:spcAft>
                      </a:pPr>
                      <a:r>
                        <a:rPr lang="uz-Cyrl-UZ" sz="1800" b="0" dirty="0">
                          <a:effectLst/>
                          <a:latin typeface="Times New Roman" pitchFamily="18" charset="0"/>
                          <a:cs typeface="Times New Roman" pitchFamily="18" charset="0"/>
                        </a:rPr>
                        <a:t>танлашлар</a:t>
                      </a:r>
                      <a:endParaRPr lang="ru-RU" sz="1600" b="0" dirty="0">
                        <a:effectLst/>
                        <a:latin typeface="Times New Roman" pitchFamily="18" charset="0"/>
                        <a:cs typeface="Times New Roman" pitchFamily="18" charset="0"/>
                      </a:endParaRPr>
                    </a:p>
                    <a:p>
                      <a:pPr algn="ctr">
                        <a:lnSpc>
                          <a:spcPct val="115000"/>
                        </a:lnSpc>
                        <a:spcAft>
                          <a:spcPts val="0"/>
                        </a:spcAft>
                      </a:pPr>
                      <a:r>
                        <a:rPr lang="uz-Cyrl-UZ" sz="1800" b="0" dirty="0">
                          <a:effectLst/>
                          <a:latin typeface="Times New Roman" pitchFamily="18" charset="0"/>
                          <a:cs typeface="Times New Roman" pitchFamily="18" charset="0"/>
                        </a:rPr>
                        <a:t>сони</a:t>
                      </a:r>
                      <a:endParaRPr lang="ru-RU" sz="1600" b="0" dirty="0">
                        <a:effectLst/>
                        <a:latin typeface="Times New Roman" pitchFamily="18" charset="0"/>
                        <a:ea typeface="Calibri"/>
                        <a:cs typeface="Times New Roman" pitchFamily="18" charset="0"/>
                      </a:endParaRPr>
                    </a:p>
                  </a:txBody>
                  <a:tcPr marL="68580" marR="68580" marT="0" marB="0" anchor="ctr">
                    <a:solidFill>
                      <a:srgbClr val="CCCCFF"/>
                    </a:solidFill>
                  </a:tcPr>
                </a:tc>
              </a:tr>
              <a:tr h="170815">
                <a:tc>
                  <a:txBody>
                    <a:bodyPr/>
                    <a:lstStyle/>
                    <a:p>
                      <a:pPr algn="ctr">
                        <a:lnSpc>
                          <a:spcPct val="115000"/>
                        </a:lnSpc>
                        <a:spcAft>
                          <a:spcPts val="0"/>
                        </a:spcAft>
                      </a:pPr>
                      <a:r>
                        <a:rPr lang="uz-Cyrl-UZ" sz="1800">
                          <a:effectLst/>
                          <a:latin typeface="Times New Roman" pitchFamily="18" charset="0"/>
                          <a:cs typeface="Times New Roman" pitchFamily="18" charset="0"/>
                        </a:rPr>
                        <a:t>2, 3, 4</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1</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en-US" sz="1800" baseline="30000">
                          <a:effectLst/>
                          <a:latin typeface="Times New Roman" pitchFamily="18" charset="0"/>
                          <a:cs typeface="Times New Roman" pitchFamily="18" charset="0"/>
                        </a:rPr>
                        <a:t>5</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en-US" sz="1800" baseline="30000">
                          <a:effectLst/>
                          <a:latin typeface="Times New Roman" pitchFamily="18" charset="0"/>
                          <a:cs typeface="Times New Roman" pitchFamily="18" charset="0"/>
                        </a:rPr>
                        <a:t>8</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uz-Cyrl-UZ" sz="1800" baseline="30000">
                          <a:effectLst/>
                          <a:latin typeface="Times New Roman" pitchFamily="18" charset="0"/>
                          <a:cs typeface="Times New Roman" pitchFamily="18" charset="0"/>
                        </a:rPr>
                        <a:t>9</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uz-Cyrl-UZ" sz="1800" baseline="30000">
                          <a:effectLst/>
                          <a:latin typeface="Times New Roman" pitchFamily="18" charset="0"/>
                          <a:cs typeface="Times New Roman" pitchFamily="18" charset="0"/>
                        </a:rPr>
                        <a:t>12</a:t>
                      </a:r>
                      <a:endParaRPr lang="ru-RU" sz="1600">
                        <a:effectLst/>
                        <a:latin typeface="Times New Roman" pitchFamily="18" charset="0"/>
                        <a:ea typeface="Calibri"/>
                        <a:cs typeface="Times New Roman" pitchFamily="18" charset="0"/>
                      </a:endParaRPr>
                    </a:p>
                  </a:txBody>
                  <a:tcPr marL="68580" marR="68580" marT="0" marB="0" anchor="ctr"/>
                </a:tc>
              </a:tr>
              <a:tr h="163830">
                <a:tc>
                  <a:txBody>
                    <a:bodyPr/>
                    <a:lstStyle/>
                    <a:p>
                      <a:pPr algn="ctr">
                        <a:lnSpc>
                          <a:spcPct val="115000"/>
                        </a:lnSpc>
                        <a:spcAft>
                          <a:spcPts val="0"/>
                        </a:spcAft>
                      </a:pPr>
                      <a:r>
                        <a:rPr lang="uz-Cyrl-UZ" sz="1800">
                          <a:effectLst/>
                          <a:latin typeface="Times New Roman" pitchFamily="18" charset="0"/>
                          <a:cs typeface="Times New Roman" pitchFamily="18" charset="0"/>
                        </a:rPr>
                        <a:t>5</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en-US" sz="1800" baseline="30000">
                          <a:effectLst/>
                          <a:latin typeface="Times New Roman" pitchFamily="18" charset="0"/>
                          <a:cs typeface="Times New Roman" pitchFamily="18" charset="0"/>
                        </a:rPr>
                        <a:t>6</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en-US" sz="1800" baseline="30000">
                          <a:effectLst/>
                          <a:latin typeface="Times New Roman" pitchFamily="18" charset="0"/>
                          <a:cs typeface="Times New Roman" pitchFamily="18" charset="0"/>
                        </a:rPr>
                        <a:t>24</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uz-Cyrl-UZ" sz="1800" baseline="30000">
                          <a:effectLst/>
                          <a:latin typeface="Times New Roman" pitchFamily="18" charset="0"/>
                          <a:cs typeface="Times New Roman" pitchFamily="18" charset="0"/>
                        </a:rPr>
                        <a:t>11</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uz-Cyrl-UZ" sz="1800" baseline="30000">
                          <a:effectLst/>
                          <a:latin typeface="Times New Roman" pitchFamily="18" charset="0"/>
                          <a:cs typeface="Times New Roman" pitchFamily="18" charset="0"/>
                        </a:rPr>
                        <a:t>44</a:t>
                      </a:r>
                      <a:endParaRPr lang="ru-RU" sz="1600">
                        <a:effectLst/>
                        <a:latin typeface="Times New Roman" pitchFamily="18" charset="0"/>
                        <a:ea typeface="Calibri"/>
                        <a:cs typeface="Times New Roman" pitchFamily="18" charset="0"/>
                      </a:endParaRPr>
                    </a:p>
                  </a:txBody>
                  <a:tcPr marL="68580" marR="68580" marT="0" marB="0" anchor="ctr"/>
                </a:tc>
              </a:tr>
              <a:tr h="170815">
                <a:tc>
                  <a:txBody>
                    <a:bodyPr/>
                    <a:lstStyle/>
                    <a:p>
                      <a:pPr algn="ctr">
                        <a:lnSpc>
                          <a:spcPct val="115000"/>
                        </a:lnSpc>
                        <a:spcAft>
                          <a:spcPts val="0"/>
                        </a:spcAft>
                      </a:pPr>
                      <a:r>
                        <a:rPr lang="uz-Cyrl-UZ" sz="1800">
                          <a:effectLst/>
                          <a:latin typeface="Times New Roman" pitchFamily="18" charset="0"/>
                          <a:cs typeface="Times New Roman" pitchFamily="18" charset="0"/>
                        </a:rPr>
                        <a:t>5</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1</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en-US" sz="1800" baseline="30000">
                          <a:effectLst/>
                          <a:latin typeface="Times New Roman" pitchFamily="18" charset="0"/>
                          <a:cs typeface="Times New Roman" pitchFamily="18" charset="0"/>
                        </a:rPr>
                        <a:t>16</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en-US" sz="1800" baseline="30000">
                          <a:effectLst/>
                          <a:latin typeface="Times New Roman" pitchFamily="18" charset="0"/>
                          <a:cs typeface="Times New Roman" pitchFamily="18" charset="0"/>
                        </a:rPr>
                        <a:t>8</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uz-Cyrl-UZ" sz="1800" baseline="30000">
                          <a:effectLst/>
                          <a:latin typeface="Times New Roman" pitchFamily="18" charset="0"/>
                          <a:cs typeface="Times New Roman" pitchFamily="18" charset="0"/>
                        </a:rPr>
                        <a:t>32</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uz-Cyrl-UZ" sz="1800" baseline="30000">
                          <a:effectLst/>
                          <a:latin typeface="Times New Roman" pitchFamily="18" charset="0"/>
                          <a:cs typeface="Times New Roman" pitchFamily="18" charset="0"/>
                        </a:rPr>
                        <a:t>12</a:t>
                      </a:r>
                      <a:endParaRPr lang="ru-RU" sz="1600">
                        <a:effectLst/>
                        <a:latin typeface="Times New Roman" pitchFamily="18" charset="0"/>
                        <a:ea typeface="Calibri"/>
                        <a:cs typeface="Times New Roman" pitchFamily="18" charset="0"/>
                      </a:endParaRPr>
                    </a:p>
                  </a:txBody>
                  <a:tcPr marL="68580" marR="68580" marT="0" marB="0" anchor="ctr"/>
                </a:tc>
              </a:tr>
              <a:tr h="170815">
                <a:tc>
                  <a:txBody>
                    <a:bodyPr/>
                    <a:lstStyle/>
                    <a:p>
                      <a:pPr algn="ctr">
                        <a:lnSpc>
                          <a:spcPct val="115000"/>
                        </a:lnSpc>
                        <a:spcAft>
                          <a:spcPts val="0"/>
                        </a:spcAft>
                      </a:pPr>
                      <a:r>
                        <a:rPr lang="uz-Cyrl-UZ" sz="1800">
                          <a:effectLst/>
                          <a:latin typeface="Times New Roman" pitchFamily="18" charset="0"/>
                          <a:cs typeface="Times New Roman" pitchFamily="18" charset="0"/>
                        </a:rPr>
                        <a:t>6</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en-US" sz="1800" baseline="30000">
                          <a:effectLst/>
                          <a:latin typeface="Times New Roman" pitchFamily="18" charset="0"/>
                          <a:cs typeface="Times New Roman" pitchFamily="18" charset="0"/>
                        </a:rPr>
                        <a:t>16</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en-US" sz="1800" baseline="30000">
                          <a:effectLst/>
                          <a:latin typeface="Times New Roman" pitchFamily="18" charset="0"/>
                          <a:cs typeface="Times New Roman" pitchFamily="18" charset="0"/>
                        </a:rPr>
                        <a:t>24</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uz-Cyrl-UZ" sz="1800" baseline="30000">
                          <a:effectLst/>
                          <a:latin typeface="Times New Roman" pitchFamily="18" charset="0"/>
                          <a:cs typeface="Times New Roman" pitchFamily="18" charset="0"/>
                        </a:rPr>
                        <a:t>32</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uz-Cyrl-UZ" sz="1800" baseline="30000">
                          <a:effectLst/>
                          <a:latin typeface="Times New Roman" pitchFamily="18" charset="0"/>
                          <a:cs typeface="Times New Roman" pitchFamily="18" charset="0"/>
                        </a:rPr>
                        <a:t>44</a:t>
                      </a:r>
                      <a:endParaRPr lang="ru-RU" sz="1600">
                        <a:effectLst/>
                        <a:latin typeface="Times New Roman" pitchFamily="18" charset="0"/>
                        <a:ea typeface="Calibri"/>
                        <a:cs typeface="Times New Roman" pitchFamily="18" charset="0"/>
                      </a:endParaRPr>
                    </a:p>
                  </a:txBody>
                  <a:tcPr marL="68580" marR="68580" marT="0" marB="0" anchor="ctr"/>
                </a:tc>
              </a:tr>
              <a:tr h="170815">
                <a:tc>
                  <a:txBody>
                    <a:bodyPr/>
                    <a:lstStyle/>
                    <a:p>
                      <a:pPr algn="ctr">
                        <a:lnSpc>
                          <a:spcPct val="115000"/>
                        </a:lnSpc>
                        <a:spcAft>
                          <a:spcPts val="0"/>
                        </a:spcAft>
                      </a:pPr>
                      <a:r>
                        <a:rPr lang="uz-Cyrl-UZ" sz="1800">
                          <a:effectLst/>
                          <a:latin typeface="Times New Roman" pitchFamily="18" charset="0"/>
                          <a:cs typeface="Times New Roman" pitchFamily="18" charset="0"/>
                        </a:rPr>
                        <a:t>6</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1</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en-US" sz="1800" baseline="30000">
                          <a:effectLst/>
                          <a:latin typeface="Times New Roman" pitchFamily="18" charset="0"/>
                          <a:cs typeface="Times New Roman" pitchFamily="18" charset="0"/>
                        </a:rPr>
                        <a:t>32</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en-US" sz="1800" baseline="30000">
                          <a:effectLst/>
                          <a:latin typeface="Times New Roman" pitchFamily="18" charset="0"/>
                          <a:cs typeface="Times New Roman" pitchFamily="18" charset="0"/>
                        </a:rPr>
                        <a:t>8</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uz-Cyrl-UZ" sz="1800" baseline="30000">
                          <a:effectLst/>
                          <a:latin typeface="Times New Roman" pitchFamily="18" charset="0"/>
                          <a:cs typeface="Times New Roman" pitchFamily="18" charset="0"/>
                        </a:rPr>
                        <a:t>64</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uz-Cyrl-UZ" sz="1800" baseline="30000">
                          <a:effectLst/>
                          <a:latin typeface="Times New Roman" pitchFamily="18" charset="0"/>
                          <a:cs typeface="Times New Roman" pitchFamily="18" charset="0"/>
                        </a:rPr>
                        <a:t>12</a:t>
                      </a:r>
                      <a:endParaRPr lang="ru-RU" sz="1600">
                        <a:effectLst/>
                        <a:latin typeface="Times New Roman" pitchFamily="18" charset="0"/>
                        <a:ea typeface="Calibri"/>
                        <a:cs typeface="Times New Roman" pitchFamily="18" charset="0"/>
                      </a:endParaRPr>
                    </a:p>
                  </a:txBody>
                  <a:tcPr marL="68580" marR="68580" marT="0" marB="0" anchor="ctr"/>
                </a:tc>
              </a:tr>
              <a:tr h="179070">
                <a:tc>
                  <a:txBody>
                    <a:bodyPr/>
                    <a:lstStyle/>
                    <a:p>
                      <a:pPr algn="ctr">
                        <a:lnSpc>
                          <a:spcPct val="115000"/>
                        </a:lnSpc>
                        <a:spcAft>
                          <a:spcPts val="0"/>
                        </a:spcAft>
                      </a:pPr>
                      <a:r>
                        <a:rPr lang="uz-Cyrl-UZ" sz="1800">
                          <a:effectLst/>
                          <a:latin typeface="Times New Roman" pitchFamily="18" charset="0"/>
                          <a:cs typeface="Times New Roman" pitchFamily="18" charset="0"/>
                        </a:rPr>
                        <a:t>7</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en-US" sz="1800" baseline="30000">
                          <a:effectLst/>
                          <a:latin typeface="Times New Roman" pitchFamily="18" charset="0"/>
                          <a:cs typeface="Times New Roman" pitchFamily="18" charset="0"/>
                        </a:rPr>
                        <a:t>32</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en-US" sz="1800" baseline="30000">
                          <a:effectLst/>
                          <a:latin typeface="Times New Roman" pitchFamily="18" charset="0"/>
                          <a:cs typeface="Times New Roman" pitchFamily="18" charset="0"/>
                        </a:rPr>
                        <a:t>2</a:t>
                      </a:r>
                      <a:r>
                        <a:rPr lang="uz-Cyrl-UZ" sz="1800" baseline="30000">
                          <a:effectLst/>
                          <a:latin typeface="Times New Roman" pitchFamily="18" charset="0"/>
                          <a:cs typeface="Times New Roman" pitchFamily="18" charset="0"/>
                        </a:rPr>
                        <a:t>4</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a:effectLst/>
                          <a:latin typeface="Times New Roman" pitchFamily="18" charset="0"/>
                          <a:cs typeface="Times New Roman" pitchFamily="18" charset="0"/>
                        </a:rPr>
                        <a:t>2</a:t>
                      </a:r>
                      <a:r>
                        <a:rPr lang="uz-Cyrl-UZ" sz="1800" baseline="30000">
                          <a:effectLst/>
                          <a:latin typeface="Times New Roman" pitchFamily="18" charset="0"/>
                          <a:cs typeface="Times New Roman" pitchFamily="18" charset="0"/>
                        </a:rPr>
                        <a:t>64</a:t>
                      </a:r>
                      <a:endParaRPr lang="ru-RU" sz="1600">
                        <a:effectLst/>
                        <a:latin typeface="Times New Roman" pitchFamily="18" charset="0"/>
                        <a:ea typeface="Calibri"/>
                        <a:cs typeface="Times New Roman" pitchFamily="18" charset="0"/>
                      </a:endParaRPr>
                    </a:p>
                  </a:txBody>
                  <a:tcPr marL="68580" marR="68580" marT="0" marB="0" anchor="ctr"/>
                </a:tc>
                <a:tc>
                  <a:txBody>
                    <a:bodyPr/>
                    <a:lstStyle/>
                    <a:p>
                      <a:pPr algn="ctr">
                        <a:lnSpc>
                          <a:spcPct val="115000"/>
                        </a:lnSpc>
                        <a:spcAft>
                          <a:spcPts val="0"/>
                        </a:spcAft>
                      </a:pPr>
                      <a:r>
                        <a:rPr lang="uz-Cyrl-UZ" sz="1800" dirty="0">
                          <a:effectLst/>
                          <a:latin typeface="Times New Roman" pitchFamily="18" charset="0"/>
                          <a:cs typeface="Times New Roman" pitchFamily="18" charset="0"/>
                        </a:rPr>
                        <a:t>2</a:t>
                      </a:r>
                      <a:r>
                        <a:rPr lang="uz-Cyrl-UZ" sz="1800" baseline="30000" dirty="0">
                          <a:effectLst/>
                          <a:latin typeface="Times New Roman" pitchFamily="18" charset="0"/>
                          <a:cs typeface="Times New Roman" pitchFamily="18" charset="0"/>
                        </a:rPr>
                        <a:t>44</a:t>
                      </a:r>
                      <a:endParaRPr lang="ru-RU" sz="1600" dirty="0">
                        <a:effectLst/>
                        <a:latin typeface="Times New Roman" pitchFamily="18" charset="0"/>
                        <a:ea typeface="Calibri"/>
                        <a:cs typeface="Times New Roman" pitchFamily="18" charset="0"/>
                      </a:endParaRPr>
                    </a:p>
                  </a:txBody>
                  <a:tcPr marL="68580" marR="68580" marT="0" marB="0" anchor="ctr"/>
                </a:tc>
              </a:tr>
            </a:tbl>
          </a:graphicData>
        </a:graphic>
      </p:graphicFrame>
    </p:spTree>
    <p:extLst>
      <p:ext uri="{BB962C8B-B14F-4D97-AF65-F5344CB8AC3E}">
        <p14:creationId xmlns:p14="http://schemas.microsoft.com/office/powerpoint/2010/main" val="14406433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 name="Прямоугольник 32"/>
          <p:cNvSpPr/>
          <p:nvPr/>
        </p:nvSpPr>
        <p:spPr>
          <a:xfrm>
            <a:off x="270182" y="5023596"/>
            <a:ext cx="2952328" cy="1044000"/>
          </a:xfrm>
          <a:prstGeom prst="rect">
            <a:avLst/>
          </a:prstGeom>
          <a:solidFill>
            <a:srgbClr val="FFFF99"/>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36000" rIns="0" rtlCol="0" anchor="ctr"/>
          <a:lstStyle/>
          <a:p>
            <a:pPr algn="ctr"/>
            <a:endParaRPr lang="ru-RU" sz="2400" b="1" dirty="0">
              <a:solidFill>
                <a:sysClr val="windowText" lastClr="000000"/>
              </a:solidFill>
            </a:endParaRPr>
          </a:p>
        </p:txBody>
      </p:sp>
      <p:sp>
        <p:nvSpPr>
          <p:cNvPr id="27656" name="Rectangle 8"/>
          <p:cNvSpPr>
            <a:spLocks noChangeArrowheads="1"/>
          </p:cNvSpPr>
          <p:nvPr/>
        </p:nvSpPr>
        <p:spPr bwMode="auto">
          <a:xfrm>
            <a:off x="0" y="-78868"/>
            <a:ext cx="6804248" cy="584775"/>
          </a:xfrm>
          <a:prstGeom prst="rect">
            <a:avLst/>
          </a:prstGeom>
          <a:solidFill>
            <a:srgbClr val="99CCFF">
              <a:alpha val="95000"/>
            </a:srgbClr>
          </a:solidFill>
          <a:ln>
            <a:noFill/>
          </a:ln>
          <a:effectLst/>
          <a:extLst/>
        </p:spPr>
        <p:txBody>
          <a:bodyPr wrap="square" anchor="ctr">
            <a:spAutoFit/>
          </a:bodyPr>
          <a:lstStyle/>
          <a:p>
            <a:pPr>
              <a:defRPr/>
            </a:pPr>
            <a:r>
              <a:rPr lang="uz-Cyrl-UZ" sz="3200" b="1" dirty="0" smtClean="0">
                <a:solidFill>
                  <a:srgbClr val="000000"/>
                </a:solidFill>
                <a:effectLst>
                  <a:outerShdw blurRad="38100" dist="38100" dir="2700000" algn="tl">
                    <a:srgbClr val="FFFFFF"/>
                  </a:outerShdw>
                </a:effectLst>
                <a:latin typeface="Times New Roman" pitchFamily="18" charset="0"/>
              </a:rPr>
              <a:t>ИК усулининг ишлаш принципи</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sp>
        <p:nvSpPr>
          <p:cNvPr id="2" name="Прямоугольник 1"/>
          <p:cNvSpPr/>
          <p:nvPr/>
        </p:nvSpPr>
        <p:spPr>
          <a:xfrm>
            <a:off x="559715" y="1121567"/>
            <a:ext cx="2340260" cy="576064"/>
          </a:xfrm>
          <a:prstGeom prst="rect">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rtlCol="0" anchor="ctr"/>
          <a:lstStyle/>
          <a:p>
            <a:pPr algn="ctr"/>
            <a:r>
              <a:rPr lang="uz-Cyrl-UZ" sz="2400" b="1" dirty="0" smtClean="0">
                <a:solidFill>
                  <a:srgbClr val="C00000"/>
                </a:solidFill>
              </a:rPr>
              <a:t>1</a:t>
            </a:r>
            <a:r>
              <a:rPr lang="uz-Cyrl-UZ" sz="2400" b="1" dirty="0" smtClean="0">
                <a:solidFill>
                  <a:sysClr val="windowText" lastClr="000000"/>
                </a:solidFill>
              </a:rPr>
              <a:t>-раунд</a:t>
            </a:r>
            <a:endParaRPr lang="ru-RU" sz="2400" b="1" dirty="0">
              <a:solidFill>
                <a:sysClr val="windowText" lastClr="000000"/>
              </a:solidFill>
            </a:endParaRPr>
          </a:p>
        </p:txBody>
      </p:sp>
      <p:sp>
        <p:nvSpPr>
          <p:cNvPr id="3" name="Стрелка вниз 2"/>
          <p:cNvSpPr/>
          <p:nvPr/>
        </p:nvSpPr>
        <p:spPr>
          <a:xfrm>
            <a:off x="1585845" y="1697631"/>
            <a:ext cx="288000" cy="396000"/>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p:nvPr/>
        </p:nvSpPr>
        <p:spPr>
          <a:xfrm>
            <a:off x="564505" y="2093631"/>
            <a:ext cx="2340260" cy="576064"/>
          </a:xfrm>
          <a:prstGeom prst="rect">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rtlCol="0" anchor="ctr"/>
          <a:lstStyle/>
          <a:p>
            <a:pPr algn="ctr"/>
            <a:r>
              <a:rPr lang="uz-Cyrl-UZ" sz="2400" b="1" dirty="0">
                <a:solidFill>
                  <a:srgbClr val="C00000"/>
                </a:solidFill>
              </a:rPr>
              <a:t>2</a:t>
            </a:r>
            <a:r>
              <a:rPr lang="uz-Cyrl-UZ" sz="2400" b="1" dirty="0" smtClean="0">
                <a:solidFill>
                  <a:sysClr val="windowText" lastClr="000000"/>
                </a:solidFill>
              </a:rPr>
              <a:t>-раунд</a:t>
            </a:r>
            <a:endParaRPr lang="ru-RU" sz="2400" b="1" dirty="0">
              <a:solidFill>
                <a:sysClr val="windowText" lastClr="000000"/>
              </a:solidFill>
            </a:endParaRPr>
          </a:p>
        </p:txBody>
      </p:sp>
      <p:sp>
        <p:nvSpPr>
          <p:cNvPr id="7" name="Стрелка вниз 6"/>
          <p:cNvSpPr/>
          <p:nvPr/>
        </p:nvSpPr>
        <p:spPr>
          <a:xfrm>
            <a:off x="1590635" y="2669695"/>
            <a:ext cx="288000" cy="864000"/>
          </a:xfrm>
          <a:prstGeom prst="downArrow">
            <a:avLst/>
          </a:prstGeom>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Прямоугольник 7"/>
          <p:cNvSpPr/>
          <p:nvPr/>
        </p:nvSpPr>
        <p:spPr>
          <a:xfrm>
            <a:off x="575556" y="3564549"/>
            <a:ext cx="2340260" cy="576064"/>
          </a:xfrm>
          <a:prstGeom prst="rect">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rtlCol="0" anchor="ctr"/>
          <a:lstStyle/>
          <a:p>
            <a:pPr algn="ctr"/>
            <a:r>
              <a:rPr lang="en-US" sz="2400" b="1" dirty="0" smtClean="0">
                <a:solidFill>
                  <a:srgbClr val="C00000"/>
                </a:solidFill>
              </a:rPr>
              <a:t>N-1</a:t>
            </a:r>
            <a:r>
              <a:rPr lang="uz-Cyrl-UZ" sz="2400" b="1" dirty="0" smtClean="0">
                <a:solidFill>
                  <a:sysClr val="windowText" lastClr="000000"/>
                </a:solidFill>
              </a:rPr>
              <a:t>-раунд</a:t>
            </a:r>
            <a:endParaRPr lang="ru-RU" sz="2400" b="1" dirty="0">
              <a:solidFill>
                <a:sysClr val="windowText" lastClr="000000"/>
              </a:solidFill>
            </a:endParaRPr>
          </a:p>
        </p:txBody>
      </p:sp>
      <p:sp>
        <p:nvSpPr>
          <p:cNvPr id="9" name="Стрелка вниз 8"/>
          <p:cNvSpPr/>
          <p:nvPr/>
        </p:nvSpPr>
        <p:spPr>
          <a:xfrm>
            <a:off x="1601686" y="4140613"/>
            <a:ext cx="288000" cy="396000"/>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p:cNvSpPr/>
          <p:nvPr/>
        </p:nvSpPr>
        <p:spPr>
          <a:xfrm>
            <a:off x="574229" y="5317521"/>
            <a:ext cx="2340260" cy="576064"/>
          </a:xfrm>
          <a:prstGeom prst="rect">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rtlCol="0" anchor="ctr"/>
          <a:lstStyle/>
          <a:p>
            <a:pPr algn="ctr"/>
            <a:r>
              <a:rPr lang="en-US" sz="2400" b="1" dirty="0" smtClean="0">
                <a:solidFill>
                  <a:srgbClr val="C00000"/>
                </a:solidFill>
              </a:rPr>
              <a:t>N</a:t>
            </a:r>
            <a:r>
              <a:rPr lang="uz-Cyrl-UZ" sz="2400" b="1" dirty="0" smtClean="0">
                <a:solidFill>
                  <a:sysClr val="windowText" lastClr="000000"/>
                </a:solidFill>
              </a:rPr>
              <a:t>-раунд</a:t>
            </a:r>
            <a:endParaRPr lang="ru-RU" sz="2400" b="1" dirty="0">
              <a:solidFill>
                <a:sysClr val="windowText" lastClr="000000"/>
              </a:solidFill>
            </a:endParaRPr>
          </a:p>
        </p:txBody>
      </p:sp>
      <p:cxnSp>
        <p:nvCxnSpPr>
          <p:cNvPr id="5" name="Прямая со стрелкой 4"/>
          <p:cNvCxnSpPr/>
          <p:nvPr/>
        </p:nvCxnSpPr>
        <p:spPr>
          <a:xfrm>
            <a:off x="1726542" y="865848"/>
            <a:ext cx="0" cy="2520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p:nvPr/>
        </p:nvCxnSpPr>
        <p:spPr>
          <a:xfrm>
            <a:off x="1261340" y="865848"/>
            <a:ext cx="10081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534823" y="512676"/>
            <a:ext cx="383438" cy="400110"/>
          </a:xfrm>
          <a:prstGeom prst="rect">
            <a:avLst/>
          </a:prstGeom>
          <a:noFill/>
        </p:spPr>
        <p:txBody>
          <a:bodyPr wrap="none" rtlCol="0">
            <a:spAutoFit/>
          </a:bodyPr>
          <a:lstStyle/>
          <a:p>
            <a:r>
              <a:rPr lang="en-US" sz="2000" b="1" dirty="0">
                <a:solidFill>
                  <a:srgbClr val="C00000"/>
                </a:solidFill>
              </a:rPr>
              <a:t>A</a:t>
            </a:r>
            <a:endParaRPr lang="ru-RU" sz="2000" b="1" dirty="0">
              <a:solidFill>
                <a:srgbClr val="C00000"/>
              </a:solidFill>
            </a:endParaRPr>
          </a:p>
        </p:txBody>
      </p:sp>
      <p:cxnSp>
        <p:nvCxnSpPr>
          <p:cNvPr id="20" name="Прямая со стрелкой 19"/>
          <p:cNvCxnSpPr>
            <a:stCxn id="10" idx="2"/>
            <a:endCxn id="22" idx="0"/>
          </p:cNvCxnSpPr>
          <p:nvPr/>
        </p:nvCxnSpPr>
        <p:spPr>
          <a:xfrm>
            <a:off x="1744359" y="5893585"/>
            <a:ext cx="344" cy="475107"/>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p:nvPr/>
        </p:nvCxnSpPr>
        <p:spPr>
          <a:xfrm>
            <a:off x="1242581" y="6400851"/>
            <a:ext cx="10081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552984" y="6368692"/>
            <a:ext cx="383438" cy="400110"/>
          </a:xfrm>
          <a:prstGeom prst="rect">
            <a:avLst/>
          </a:prstGeom>
          <a:noFill/>
        </p:spPr>
        <p:txBody>
          <a:bodyPr wrap="none" rtlCol="0">
            <a:spAutoFit/>
          </a:bodyPr>
          <a:lstStyle/>
          <a:p>
            <a:r>
              <a:rPr lang="en-US" sz="2000" b="1" dirty="0" smtClean="0">
                <a:solidFill>
                  <a:srgbClr val="C00000"/>
                </a:solidFill>
              </a:rPr>
              <a:t>C</a:t>
            </a:r>
            <a:endParaRPr lang="ru-RU" sz="2000" b="1" dirty="0">
              <a:solidFill>
                <a:srgbClr val="C00000"/>
              </a:solidFill>
            </a:endParaRPr>
          </a:p>
        </p:txBody>
      </p:sp>
      <p:cxnSp>
        <p:nvCxnSpPr>
          <p:cNvPr id="29" name="Прямая соединительная линия 28"/>
          <p:cNvCxnSpPr/>
          <p:nvPr/>
        </p:nvCxnSpPr>
        <p:spPr>
          <a:xfrm>
            <a:off x="1239860" y="4559247"/>
            <a:ext cx="10081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531197" y="4508038"/>
            <a:ext cx="468398" cy="400110"/>
          </a:xfrm>
          <a:prstGeom prst="rect">
            <a:avLst/>
          </a:prstGeom>
          <a:noFill/>
        </p:spPr>
        <p:txBody>
          <a:bodyPr wrap="none" rtlCol="0">
            <a:spAutoFit/>
          </a:bodyPr>
          <a:lstStyle/>
          <a:p>
            <a:r>
              <a:rPr lang="en-US" sz="2000" b="1" dirty="0" smtClean="0">
                <a:solidFill>
                  <a:srgbClr val="C00000"/>
                </a:solidFill>
              </a:rPr>
              <a:t>A’</a:t>
            </a:r>
            <a:endParaRPr lang="ru-RU" sz="2000" b="1" dirty="0">
              <a:solidFill>
                <a:srgbClr val="C00000"/>
              </a:solidFill>
            </a:endParaRPr>
          </a:p>
        </p:txBody>
      </p:sp>
      <p:cxnSp>
        <p:nvCxnSpPr>
          <p:cNvPr id="31" name="Прямая соединительная линия 30"/>
          <p:cNvCxnSpPr/>
          <p:nvPr/>
        </p:nvCxnSpPr>
        <p:spPr>
          <a:xfrm>
            <a:off x="1232011" y="4876345"/>
            <a:ext cx="10081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Штриховая стрелка вправо 26"/>
          <p:cNvSpPr/>
          <p:nvPr/>
        </p:nvSpPr>
        <p:spPr>
          <a:xfrm rot="19115683">
            <a:off x="3209601" y="4580577"/>
            <a:ext cx="1073269" cy="366574"/>
          </a:xfrm>
          <a:prstGeom prst="stripedRightArrow">
            <a:avLst>
              <a:gd name="adj1" fmla="val 43546"/>
              <a:gd name="adj2" fmla="val 5000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Прямоугольник 34"/>
          <p:cNvSpPr/>
          <p:nvPr/>
        </p:nvSpPr>
        <p:spPr>
          <a:xfrm>
            <a:off x="4932040" y="1738522"/>
            <a:ext cx="2952328" cy="2114059"/>
          </a:xfrm>
          <a:prstGeom prst="rect">
            <a:avLst/>
          </a:prstGeom>
          <a:solidFill>
            <a:srgbClr val="FFFF99"/>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36000" rIns="0" rtlCol="0" anchor="ctr"/>
          <a:lstStyle/>
          <a:p>
            <a:pPr algn="ctr"/>
            <a:endParaRPr lang="ru-RU" sz="2400" b="1" dirty="0">
              <a:solidFill>
                <a:sysClr val="windowText" lastClr="000000"/>
              </a:solidFill>
            </a:endParaRPr>
          </a:p>
        </p:txBody>
      </p:sp>
      <p:sp>
        <p:nvSpPr>
          <p:cNvPr id="36" name="Прямоугольник 35"/>
          <p:cNvSpPr/>
          <p:nvPr/>
        </p:nvSpPr>
        <p:spPr>
          <a:xfrm>
            <a:off x="5262380" y="2093631"/>
            <a:ext cx="2340260" cy="1440064"/>
          </a:xfrm>
          <a:prstGeom prst="rect">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rtlCol="0" anchor="ctr"/>
          <a:lstStyle/>
          <a:p>
            <a:pPr algn="ctr"/>
            <a:r>
              <a:rPr lang="en-US" sz="2400" b="1" dirty="0" smtClean="0">
                <a:solidFill>
                  <a:srgbClr val="C00000"/>
                </a:solidFill>
              </a:rPr>
              <a:t>N</a:t>
            </a:r>
            <a:r>
              <a:rPr lang="uz-Cyrl-UZ" sz="2400" b="1" dirty="0" smtClean="0">
                <a:solidFill>
                  <a:sysClr val="windowText" lastClr="000000"/>
                </a:solidFill>
              </a:rPr>
              <a:t>-раунд</a:t>
            </a:r>
            <a:endParaRPr lang="en-US" sz="2400" b="1" dirty="0" smtClean="0">
              <a:solidFill>
                <a:sysClr val="windowText" lastClr="000000"/>
              </a:solidFill>
            </a:endParaRPr>
          </a:p>
        </p:txBody>
      </p:sp>
      <p:cxnSp>
        <p:nvCxnSpPr>
          <p:cNvPr id="37" name="Прямая со стрелкой 36"/>
          <p:cNvCxnSpPr>
            <a:stCxn id="36" idx="2"/>
            <a:endCxn id="39" idx="0"/>
          </p:cNvCxnSpPr>
          <p:nvPr/>
        </p:nvCxnSpPr>
        <p:spPr>
          <a:xfrm>
            <a:off x="6432510" y="3533695"/>
            <a:ext cx="344" cy="610325"/>
          </a:xfrm>
          <a:prstGeom prst="straightConnector1">
            <a:avLst/>
          </a:prstGeom>
          <a:ln w="381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p:cNvCxnSpPr/>
          <p:nvPr/>
        </p:nvCxnSpPr>
        <p:spPr>
          <a:xfrm>
            <a:off x="5930732" y="4176179"/>
            <a:ext cx="10081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6241135" y="4144020"/>
            <a:ext cx="383438" cy="400110"/>
          </a:xfrm>
          <a:prstGeom prst="rect">
            <a:avLst/>
          </a:prstGeom>
          <a:noFill/>
        </p:spPr>
        <p:txBody>
          <a:bodyPr wrap="none" rtlCol="0">
            <a:spAutoFit/>
          </a:bodyPr>
          <a:lstStyle/>
          <a:p>
            <a:r>
              <a:rPr lang="en-US" sz="2000" b="1" dirty="0" smtClean="0">
                <a:solidFill>
                  <a:srgbClr val="C00000"/>
                </a:solidFill>
              </a:rPr>
              <a:t>C</a:t>
            </a:r>
            <a:endParaRPr lang="ru-RU" sz="2000" b="1" dirty="0">
              <a:solidFill>
                <a:srgbClr val="C00000"/>
              </a:solidFill>
            </a:endParaRPr>
          </a:p>
        </p:txBody>
      </p:sp>
      <p:sp>
        <p:nvSpPr>
          <p:cNvPr id="40" name="TextBox 39"/>
          <p:cNvSpPr txBox="1"/>
          <p:nvPr/>
        </p:nvSpPr>
        <p:spPr>
          <a:xfrm>
            <a:off x="6199544" y="1155021"/>
            <a:ext cx="468398" cy="400110"/>
          </a:xfrm>
          <a:prstGeom prst="rect">
            <a:avLst/>
          </a:prstGeom>
          <a:noFill/>
        </p:spPr>
        <p:txBody>
          <a:bodyPr wrap="none" rtlCol="0">
            <a:spAutoFit/>
          </a:bodyPr>
          <a:lstStyle/>
          <a:p>
            <a:r>
              <a:rPr lang="en-US" sz="2000" b="1" dirty="0" smtClean="0">
                <a:solidFill>
                  <a:srgbClr val="C00000"/>
                </a:solidFill>
              </a:rPr>
              <a:t>A’</a:t>
            </a:r>
            <a:endParaRPr lang="ru-RU" sz="2000" b="1" dirty="0">
              <a:solidFill>
                <a:srgbClr val="C00000"/>
              </a:solidFill>
            </a:endParaRPr>
          </a:p>
        </p:txBody>
      </p:sp>
      <p:cxnSp>
        <p:nvCxnSpPr>
          <p:cNvPr id="41" name="Прямая соединительная линия 40"/>
          <p:cNvCxnSpPr/>
          <p:nvPr/>
        </p:nvCxnSpPr>
        <p:spPr>
          <a:xfrm>
            <a:off x="5929687" y="1546773"/>
            <a:ext cx="10081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22185" y="4971488"/>
            <a:ext cx="1253869" cy="338554"/>
          </a:xfrm>
          <a:prstGeom prst="rect">
            <a:avLst/>
          </a:prstGeom>
          <a:noFill/>
        </p:spPr>
        <p:txBody>
          <a:bodyPr wrap="none" rtlCol="0">
            <a:spAutoFit/>
          </a:bodyPr>
          <a:lstStyle/>
          <a:p>
            <a:r>
              <a:rPr lang="ru-RU" sz="1600" i="1" dirty="0" err="1" smtClean="0"/>
              <a:t>Қора</a:t>
            </a:r>
            <a:r>
              <a:rPr lang="ru-RU" sz="1600" i="1" dirty="0" smtClean="0"/>
              <a:t> </a:t>
            </a:r>
            <a:r>
              <a:rPr lang="ru-RU" sz="1600" i="1" dirty="0" err="1" smtClean="0"/>
              <a:t>қути</a:t>
            </a:r>
            <a:endParaRPr lang="ru-RU" sz="1600" i="1" dirty="0"/>
          </a:p>
        </p:txBody>
      </p:sp>
      <p:cxnSp>
        <p:nvCxnSpPr>
          <p:cNvPr id="47" name="Прямая со стрелкой 46"/>
          <p:cNvCxnSpPr>
            <a:endCxn id="10" idx="0"/>
          </p:cNvCxnSpPr>
          <p:nvPr/>
        </p:nvCxnSpPr>
        <p:spPr>
          <a:xfrm>
            <a:off x="1734635" y="4876345"/>
            <a:ext cx="9724" cy="44117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6" name="Прямая со стрелкой 55"/>
          <p:cNvCxnSpPr>
            <a:stCxn id="40" idx="2"/>
            <a:endCxn id="36" idx="0"/>
          </p:cNvCxnSpPr>
          <p:nvPr/>
        </p:nvCxnSpPr>
        <p:spPr>
          <a:xfrm flipH="1">
            <a:off x="6432510" y="1555131"/>
            <a:ext cx="1233" cy="538500"/>
          </a:xfrm>
          <a:prstGeom prst="straightConnector1">
            <a:avLst/>
          </a:prstGeom>
          <a:ln w="381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4035762" y="1733641"/>
            <a:ext cx="439544" cy="400110"/>
          </a:xfrm>
          <a:prstGeom prst="rect">
            <a:avLst/>
          </a:prstGeom>
          <a:noFill/>
        </p:spPr>
        <p:txBody>
          <a:bodyPr wrap="none" rtlCol="0">
            <a:spAutoFit/>
          </a:bodyPr>
          <a:lstStyle/>
          <a:p>
            <a:r>
              <a:rPr lang="en-US" sz="2000" b="1" dirty="0" smtClean="0">
                <a:solidFill>
                  <a:srgbClr val="C00000"/>
                </a:solidFill>
              </a:rPr>
              <a:t>K</a:t>
            </a:r>
            <a:r>
              <a:rPr lang="en-US" sz="2000" b="1" baseline="-25000" dirty="0" smtClean="0">
                <a:solidFill>
                  <a:srgbClr val="C00000"/>
                </a:solidFill>
              </a:rPr>
              <a:t>i</a:t>
            </a:r>
            <a:endParaRPr lang="ru-RU" sz="2000" b="1" baseline="-25000" dirty="0">
              <a:solidFill>
                <a:srgbClr val="C00000"/>
              </a:solidFill>
            </a:endParaRPr>
          </a:p>
        </p:txBody>
      </p:sp>
      <p:cxnSp>
        <p:nvCxnSpPr>
          <p:cNvPr id="64" name="Прямая соединительная линия 63"/>
          <p:cNvCxnSpPr/>
          <p:nvPr/>
        </p:nvCxnSpPr>
        <p:spPr>
          <a:xfrm>
            <a:off x="3765905" y="2125393"/>
            <a:ext cx="10081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Соединительная линия уступом 69"/>
          <p:cNvCxnSpPr>
            <a:stCxn id="63" idx="2"/>
            <a:endCxn id="36" idx="1"/>
          </p:cNvCxnSpPr>
          <p:nvPr/>
        </p:nvCxnSpPr>
        <p:spPr>
          <a:xfrm rot="16200000" flipH="1">
            <a:off x="4419001" y="1970284"/>
            <a:ext cx="679912" cy="1006846"/>
          </a:xfrm>
          <a:prstGeom prst="bentConnector2">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1" name="Прямоугольник 70"/>
          <p:cNvSpPr/>
          <p:nvPr/>
        </p:nvSpPr>
        <p:spPr>
          <a:xfrm>
            <a:off x="3835383" y="2775563"/>
            <a:ext cx="1176925" cy="369332"/>
          </a:xfrm>
          <a:prstGeom prst="rect">
            <a:avLst/>
          </a:prstGeom>
        </p:spPr>
        <p:txBody>
          <a:bodyPr wrap="none">
            <a:spAutoFit/>
          </a:bodyPr>
          <a:lstStyle/>
          <a:p>
            <a:r>
              <a:rPr lang="ru-RU" dirty="0" smtClean="0"/>
              <a:t>перебор</a:t>
            </a:r>
            <a:endParaRPr lang="ru-RU" dirty="0"/>
          </a:p>
        </p:txBody>
      </p:sp>
      <p:sp>
        <p:nvSpPr>
          <p:cNvPr id="74" name="TextBox 73"/>
          <p:cNvSpPr txBox="1"/>
          <p:nvPr/>
        </p:nvSpPr>
        <p:spPr>
          <a:xfrm>
            <a:off x="8292033" y="3286015"/>
            <a:ext cx="356188" cy="400110"/>
          </a:xfrm>
          <a:prstGeom prst="rect">
            <a:avLst/>
          </a:prstGeom>
          <a:noFill/>
        </p:spPr>
        <p:txBody>
          <a:bodyPr wrap="none" rtlCol="0">
            <a:spAutoFit/>
          </a:bodyPr>
          <a:lstStyle/>
          <a:p>
            <a:r>
              <a:rPr lang="en-US" sz="2000" b="1" i="1" dirty="0" smtClean="0">
                <a:solidFill>
                  <a:srgbClr val="C00000"/>
                </a:solidFill>
              </a:rPr>
              <a:t>k</a:t>
            </a:r>
            <a:endParaRPr lang="ru-RU" sz="2000" b="1" i="1" baseline="-25000" dirty="0">
              <a:solidFill>
                <a:srgbClr val="C00000"/>
              </a:solidFill>
            </a:endParaRPr>
          </a:p>
        </p:txBody>
      </p:sp>
      <p:cxnSp>
        <p:nvCxnSpPr>
          <p:cNvPr id="75" name="Прямая соединительная линия 74"/>
          <p:cNvCxnSpPr/>
          <p:nvPr/>
        </p:nvCxnSpPr>
        <p:spPr>
          <a:xfrm>
            <a:off x="7960124" y="3333640"/>
            <a:ext cx="10081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Соединительная линия уступом 75"/>
          <p:cNvCxnSpPr>
            <a:stCxn id="36" idx="3"/>
            <a:endCxn id="74" idx="0"/>
          </p:cNvCxnSpPr>
          <p:nvPr/>
        </p:nvCxnSpPr>
        <p:spPr>
          <a:xfrm>
            <a:off x="7602640" y="2813663"/>
            <a:ext cx="867487" cy="472352"/>
          </a:xfrm>
          <a:prstGeom prst="bentConnector2">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7" name="Прямоугольник 76"/>
          <p:cNvSpPr/>
          <p:nvPr/>
        </p:nvSpPr>
        <p:spPr>
          <a:xfrm>
            <a:off x="7884368" y="3588337"/>
            <a:ext cx="1196161" cy="646331"/>
          </a:xfrm>
          <a:prstGeom prst="rect">
            <a:avLst/>
          </a:prstGeom>
        </p:spPr>
        <p:txBody>
          <a:bodyPr wrap="none">
            <a:spAutoFit/>
          </a:bodyPr>
          <a:lstStyle/>
          <a:p>
            <a:pPr algn="ctr"/>
            <a:r>
              <a:rPr lang="uz-Cyrl-UZ" dirty="0" smtClean="0"/>
              <a:t>Ҳақиқий</a:t>
            </a:r>
          </a:p>
          <a:p>
            <a:pPr algn="ctr"/>
            <a:r>
              <a:rPr lang="uz-Cyrl-UZ" dirty="0" smtClean="0"/>
              <a:t>калит</a:t>
            </a:r>
            <a:endParaRPr lang="ru-RU" dirty="0"/>
          </a:p>
        </p:txBody>
      </p:sp>
      <p:sp>
        <p:nvSpPr>
          <p:cNvPr id="79" name="Прямоугольник 78"/>
          <p:cNvSpPr/>
          <p:nvPr/>
        </p:nvSpPr>
        <p:spPr>
          <a:xfrm>
            <a:off x="4976630" y="4497381"/>
            <a:ext cx="2888932" cy="1077218"/>
          </a:xfrm>
          <a:prstGeom prst="rect">
            <a:avLst/>
          </a:prstGeom>
        </p:spPr>
        <p:txBody>
          <a:bodyPr wrap="none">
            <a:spAutoFit/>
          </a:bodyPr>
          <a:lstStyle/>
          <a:p>
            <a:pPr algn="ctr"/>
            <a:r>
              <a:rPr lang="en-US" sz="3200" b="1" dirty="0" smtClean="0">
                <a:solidFill>
                  <a:srgbClr val="0070C0"/>
                </a:solidFill>
              </a:rPr>
              <a:t>          ?</a:t>
            </a:r>
          </a:p>
          <a:p>
            <a:pPr algn="ctr"/>
            <a:r>
              <a:rPr lang="en-US" sz="3200" b="1" dirty="0" smtClean="0">
                <a:solidFill>
                  <a:srgbClr val="0070C0"/>
                </a:solidFill>
              </a:rPr>
              <a:t>F</a:t>
            </a:r>
            <a:r>
              <a:rPr lang="en-US" sz="3200" b="1" baseline="30000" dirty="0" smtClean="0">
                <a:solidFill>
                  <a:srgbClr val="0070C0"/>
                </a:solidFill>
              </a:rPr>
              <a:t>-1</a:t>
            </a:r>
            <a:r>
              <a:rPr lang="en-US" sz="3200" b="1" dirty="0" smtClean="0">
                <a:solidFill>
                  <a:srgbClr val="0070C0"/>
                </a:solidFill>
              </a:rPr>
              <a:t>(</a:t>
            </a:r>
            <a:r>
              <a:rPr lang="en-US" sz="3200" b="1" dirty="0" err="1" smtClean="0">
                <a:solidFill>
                  <a:srgbClr val="0070C0"/>
                </a:solidFill>
              </a:rPr>
              <a:t>C,K</a:t>
            </a:r>
            <a:r>
              <a:rPr lang="en-US" sz="3200" b="1" baseline="-25000" dirty="0" err="1" smtClean="0">
                <a:solidFill>
                  <a:srgbClr val="0070C0"/>
                </a:solidFill>
              </a:rPr>
              <a:t>i</a:t>
            </a:r>
            <a:r>
              <a:rPr lang="uz-Cyrl-UZ" sz="3200" b="1" dirty="0" smtClean="0">
                <a:solidFill>
                  <a:srgbClr val="0070C0"/>
                </a:solidFill>
              </a:rPr>
              <a:t>)</a:t>
            </a:r>
            <a:r>
              <a:rPr lang="en-US" sz="3200" b="1" dirty="0" smtClean="0">
                <a:solidFill>
                  <a:srgbClr val="0070C0"/>
                </a:solidFill>
              </a:rPr>
              <a:t>=A’</a:t>
            </a:r>
            <a:endParaRPr lang="uz-Cyrl-UZ" sz="3200" b="1" dirty="0" smtClean="0">
              <a:solidFill>
                <a:srgbClr val="0070C0"/>
              </a:solidFill>
            </a:endParaRPr>
          </a:p>
        </p:txBody>
      </p:sp>
    </p:spTree>
    <p:extLst>
      <p:ext uri="{BB962C8B-B14F-4D97-AF65-F5344CB8AC3E}">
        <p14:creationId xmlns:p14="http://schemas.microsoft.com/office/powerpoint/2010/main" val="21472395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25471" y="1960148"/>
            <a:ext cx="8839017" cy="3090077"/>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514350" indent="-514350" algn="just">
              <a:spcBef>
                <a:spcPts val="600"/>
              </a:spcBef>
              <a:spcAft>
                <a:spcPts val="1200"/>
              </a:spcAft>
              <a:buClr>
                <a:schemeClr val="accent2"/>
              </a:buClr>
              <a:buSzPct val="100000"/>
              <a:buFont typeface="+mj-lt"/>
              <a:buAutoNum type="arabicPeriod"/>
              <a:defRPr/>
            </a:pPr>
            <a:r>
              <a:rPr lang="uz-Cyrl-UZ" sz="2800" b="1" u="sng" dirty="0" smtClean="0">
                <a:effectLst>
                  <a:outerShdw blurRad="38100" dist="38100" dir="2700000" algn="tl">
                    <a:srgbClr val="C0C0C0"/>
                  </a:outerShdw>
                </a:effectLst>
                <a:latin typeface="Times New Roman" pitchFamily="18" charset="0"/>
              </a:rPr>
              <a:t>Оптимал очиқ матнлар тўпламини аниқлаш</a:t>
            </a:r>
            <a:r>
              <a:rPr lang="en-US" sz="2800" b="1" dirty="0" smtClean="0">
                <a:effectLst>
                  <a:outerShdw blurRad="38100" dist="38100" dir="2700000" algn="tl">
                    <a:srgbClr val="C0C0C0"/>
                  </a:outerShdw>
                </a:effectLst>
                <a:latin typeface="Times New Roman" pitchFamily="18" charset="0"/>
              </a:rPr>
              <a:t> </a:t>
            </a:r>
            <a:r>
              <a:rPr lang="en-US" sz="2800" dirty="0" smtClean="0">
                <a:effectLst>
                  <a:outerShdw blurRad="38100" dist="38100" dir="2700000" algn="tl">
                    <a:srgbClr val="C0C0C0"/>
                  </a:outerShdw>
                </a:effectLst>
                <a:latin typeface="Times New Roman" pitchFamily="18" charset="0"/>
              </a:rPr>
              <a:t>(</a:t>
            </a:r>
            <a:r>
              <a:rPr lang="ru-RU" sz="2800" dirty="0" err="1" smtClean="0">
                <a:effectLst>
                  <a:outerShdw blurRad="38100" dist="38100" dir="2700000" algn="tl">
                    <a:srgbClr val="C0C0C0"/>
                  </a:outerShdw>
                </a:effectLst>
                <a:latin typeface="Times New Roman" pitchFamily="18" charset="0"/>
              </a:rPr>
              <a:t>тўплам</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элементларининг</a:t>
            </a:r>
            <a:r>
              <a:rPr lang="ru-RU" sz="2800" dirty="0" smtClean="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шифрлаш</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алгоритми</a:t>
            </a:r>
            <a:r>
              <a:rPr lang="ru-RU" sz="2800" dirty="0">
                <a:effectLst>
                  <a:outerShdw blurRad="38100" dist="38100" dir="2700000" algn="tl">
                    <a:srgbClr val="C0C0C0"/>
                  </a:outerShdw>
                </a:effectLst>
                <a:latin typeface="Times New Roman" pitchFamily="18" charset="0"/>
              </a:rPr>
              <a:t> </a:t>
            </a:r>
            <a:r>
              <a:rPr lang="ru-RU" sz="2800" dirty="0" err="1">
                <a:effectLst>
                  <a:outerShdw blurRad="38100" dist="38100" dir="2700000" algn="tl">
                    <a:srgbClr val="C0C0C0"/>
                  </a:outerShdw>
                </a:effectLst>
                <a:latin typeface="Times New Roman" pitchFamily="18" charset="0"/>
              </a:rPr>
              <a:t>раундларидан</a:t>
            </a:r>
            <a:r>
              <a:rPr lang="ru-RU" sz="2800" dirty="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ўтиш</a:t>
            </a:r>
            <a:r>
              <a:rPr lang="uz-Cyrl-UZ"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хусусиятига</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боғлиқ</a:t>
            </a:r>
            <a:r>
              <a:rPr lang="ru-RU" sz="2800" dirty="0" smtClean="0">
                <a:effectLst>
                  <a:outerShdw blurRad="38100" dist="38100" dir="2700000" algn="tl">
                    <a:srgbClr val="C0C0C0"/>
                  </a:outerShdw>
                </a:effectLst>
                <a:latin typeface="Times New Roman" pitchFamily="18" charset="0"/>
              </a:rPr>
              <a:t> </a:t>
            </a:r>
            <a:r>
              <a:rPr lang="ru-RU" sz="2800" dirty="0" err="1" smtClean="0">
                <a:effectLst>
                  <a:outerShdw blurRad="38100" dist="38100" dir="2700000" algn="tl">
                    <a:srgbClr val="C0C0C0"/>
                  </a:outerShdw>
                </a:effectLst>
                <a:latin typeface="Times New Roman" pitchFamily="18" charset="0"/>
              </a:rPr>
              <a:t>ҳолда</a:t>
            </a:r>
            <a:r>
              <a:rPr lang="en-US" sz="2800" dirty="0" smtClean="0">
                <a:effectLst>
                  <a:outerShdw blurRad="38100" dist="38100" dir="2700000" algn="tl">
                    <a:srgbClr val="C0C0C0"/>
                  </a:outerShdw>
                </a:effectLst>
                <a:latin typeface="Times New Roman" pitchFamily="18" charset="0"/>
              </a:rPr>
              <a:t>)</a:t>
            </a:r>
            <a:r>
              <a:rPr lang="uz-Cyrl-UZ" sz="2800" dirty="0" smtClean="0">
                <a:effectLst>
                  <a:outerShdw blurRad="38100" dist="38100" dir="2700000" algn="tl">
                    <a:srgbClr val="C0C0C0"/>
                  </a:outerShdw>
                </a:effectLst>
                <a:latin typeface="Times New Roman" pitchFamily="18" charset="0"/>
              </a:rPr>
              <a:t>.</a:t>
            </a:r>
            <a:endParaRPr lang="uz-Cyrl-UZ" sz="2800" b="1" u="sng" dirty="0" smtClean="0">
              <a:effectLst>
                <a:outerShdw blurRad="38100" dist="38100" dir="2700000" algn="tl">
                  <a:srgbClr val="C0C0C0"/>
                </a:outerShdw>
              </a:effectLst>
              <a:latin typeface="Times New Roman" pitchFamily="18" charset="0"/>
            </a:endParaRPr>
          </a:p>
          <a:p>
            <a:pPr marL="514350" indent="-514350" algn="just">
              <a:spcBef>
                <a:spcPct val="30000"/>
              </a:spcBef>
              <a:buClr>
                <a:schemeClr val="accent2"/>
              </a:buClr>
              <a:buSzPct val="100000"/>
              <a:buFont typeface="+mj-lt"/>
              <a:buAutoNum type="arabicPeriod"/>
              <a:defRPr/>
            </a:pPr>
            <a:r>
              <a:rPr lang="uz-Cyrl-UZ" sz="2800" b="1" u="sng" dirty="0" smtClean="0">
                <a:effectLst>
                  <a:outerShdw blurRad="38100" dist="38100" dir="2700000" algn="tl">
                    <a:srgbClr val="C0C0C0"/>
                  </a:outerShdw>
                </a:effectLst>
                <a:latin typeface="Times New Roman" pitchFamily="18" charset="0"/>
              </a:rPr>
              <a:t>Сўнгги раундда фойдаланилган калит қийматини аниқлаш</a:t>
            </a:r>
            <a:r>
              <a:rPr lang="uz-Cyrl-UZ" sz="2800" b="1" dirty="0" smtClean="0">
                <a:effectLst>
                  <a:outerShdw blurRad="38100" dist="38100" dir="2700000" algn="tl">
                    <a:srgbClr val="C0C0C0"/>
                  </a:outerShdw>
                </a:effectLst>
                <a:latin typeface="Times New Roman" pitchFamily="18" charset="0"/>
              </a:rPr>
              <a:t> </a:t>
            </a:r>
            <a:r>
              <a:rPr lang="uz-Cyrl-UZ" sz="2800" dirty="0" smtClean="0">
                <a:effectLst>
                  <a:outerShdw blurRad="38100" dist="38100" dir="2700000" algn="tl">
                    <a:srgbClr val="C0C0C0"/>
                  </a:outerShdw>
                </a:effectLst>
                <a:latin typeface="Times New Roman" pitchFamily="18" charset="0"/>
              </a:rPr>
              <a:t>(статистика ўтказиш орқали).</a:t>
            </a:r>
          </a:p>
          <a:p>
            <a:pPr marL="514350" indent="-514350" algn="just">
              <a:spcBef>
                <a:spcPct val="30000"/>
              </a:spcBef>
              <a:buClr>
                <a:schemeClr val="accent2"/>
              </a:buClr>
              <a:buSzPct val="100000"/>
              <a:buFont typeface="+mj-lt"/>
              <a:buAutoNum type="arabicPeriod"/>
              <a:defRPr/>
            </a:pPr>
            <a:endParaRPr lang="ru-RU" sz="2800" dirty="0">
              <a:effectLst>
                <a:outerShdw blurRad="38100" dist="38100" dir="2700000" algn="tl">
                  <a:srgbClr val="C0C0C0"/>
                </a:outerShdw>
              </a:effectLst>
              <a:latin typeface="Times New Roman" pitchFamily="18" charset="0"/>
            </a:endParaRPr>
          </a:p>
        </p:txBody>
      </p:sp>
      <p:sp>
        <p:nvSpPr>
          <p:cNvPr id="27656" name="Rectangle 8"/>
          <p:cNvSpPr>
            <a:spLocks noChangeArrowheads="1"/>
          </p:cNvSpPr>
          <p:nvPr/>
        </p:nvSpPr>
        <p:spPr bwMode="auto">
          <a:xfrm>
            <a:off x="0" y="-78868"/>
            <a:ext cx="6804248" cy="584775"/>
          </a:xfrm>
          <a:prstGeom prst="rect">
            <a:avLst/>
          </a:prstGeom>
          <a:solidFill>
            <a:srgbClr val="99CCFF">
              <a:alpha val="95000"/>
            </a:srgbClr>
          </a:solidFill>
          <a:ln>
            <a:noFill/>
          </a:ln>
          <a:effectLst/>
          <a:extLst/>
        </p:spPr>
        <p:txBody>
          <a:bodyPr wrap="square" anchor="ctr">
            <a:spAutoFit/>
          </a:bodyPr>
          <a:lstStyle/>
          <a:p>
            <a:pPr>
              <a:defRPr/>
            </a:pPr>
            <a:r>
              <a:rPr lang="uz-Cyrl-UZ" sz="3200" b="1" dirty="0" smtClean="0">
                <a:solidFill>
                  <a:srgbClr val="000000"/>
                </a:solidFill>
                <a:effectLst>
                  <a:outerShdw blurRad="38100" dist="38100" dir="2700000" algn="tl">
                    <a:srgbClr val="FFFFFF"/>
                  </a:outerShdw>
                </a:effectLst>
                <a:latin typeface="Times New Roman" pitchFamily="18" charset="0"/>
              </a:rPr>
              <a:t>ИК усулини қўллаш босқичлари</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spTree>
    <p:extLst>
      <p:ext uri="{BB962C8B-B14F-4D97-AF65-F5344CB8AC3E}">
        <p14:creationId xmlns:p14="http://schemas.microsoft.com/office/powerpoint/2010/main" val="14455635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25471" y="693559"/>
            <a:ext cx="8839017" cy="6047809"/>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363538" algn="just">
              <a:spcBef>
                <a:spcPts val="0"/>
              </a:spcBef>
              <a:spcAft>
                <a:spcPts val="1200"/>
              </a:spcAft>
              <a:buClr>
                <a:schemeClr val="accent2"/>
              </a:buClr>
              <a:buSzPct val="100000"/>
              <a:defRPr/>
            </a:pPr>
            <a:r>
              <a:rPr lang="uz-Cyrl-UZ" sz="2400" u="sng" dirty="0">
                <a:latin typeface="Times New Roman" pitchFamily="18" charset="0"/>
              </a:rPr>
              <a:t>Криптотаҳлил учун очиқ матнлар тўпламини (</a:t>
            </a:r>
            <a:r>
              <a:rPr lang="en-US" sz="2400" u="sng" dirty="0">
                <a:latin typeface="Times New Roman" pitchFamily="18" charset="0"/>
              </a:rPr>
              <a:t>A) </a:t>
            </a:r>
            <a:r>
              <a:rPr lang="uz-Cyrl-UZ" sz="2400" u="sng" dirty="0">
                <a:latin typeface="Times New Roman" pitchFamily="18" charset="0"/>
              </a:rPr>
              <a:t>танлаш қуйидаги тартибда амалга </a:t>
            </a:r>
            <a:r>
              <a:rPr lang="uz-Cyrl-UZ" sz="2400" u="sng" dirty="0" smtClean="0">
                <a:latin typeface="Times New Roman" pitchFamily="18" charset="0"/>
              </a:rPr>
              <a:t>оширилади (расм)</a:t>
            </a:r>
            <a:r>
              <a:rPr lang="uz-Cyrl-UZ" sz="2400" dirty="0" smtClean="0">
                <a:latin typeface="Times New Roman" pitchFamily="18" charset="0"/>
              </a:rPr>
              <a:t>.</a:t>
            </a:r>
            <a:endParaRPr lang="uz-Cyrl-UZ" sz="2400" dirty="0">
              <a:latin typeface="Times New Roman" pitchFamily="18" charset="0"/>
            </a:endParaRPr>
          </a:p>
          <a:p>
            <a:pPr indent="363538" algn="just">
              <a:spcBef>
                <a:spcPts val="600"/>
              </a:spcBef>
              <a:spcAft>
                <a:spcPts val="1200"/>
              </a:spcAft>
              <a:buClr>
                <a:schemeClr val="accent2"/>
              </a:buClr>
              <a:buSzPct val="100000"/>
              <a:defRPr/>
            </a:pPr>
            <a:r>
              <a:rPr lang="uz-Cyrl-UZ" sz="2400" u="sng" dirty="0">
                <a:latin typeface="Times New Roman" pitchFamily="18" charset="0"/>
              </a:rPr>
              <a:t> </a:t>
            </a:r>
          </a:p>
          <a:p>
            <a:pPr indent="363538" algn="ctr">
              <a:spcBef>
                <a:spcPts val="600"/>
              </a:spcBef>
              <a:spcAft>
                <a:spcPts val="1200"/>
              </a:spcAft>
              <a:buClr>
                <a:schemeClr val="accent2"/>
              </a:buClr>
              <a:buSzPct val="100000"/>
              <a:defRPr/>
            </a:pPr>
            <a:endParaRPr lang="uz-Cyrl-UZ" sz="2400" i="1" dirty="0" smtClean="0">
              <a:latin typeface="Times New Roman" pitchFamily="18" charset="0"/>
            </a:endParaRPr>
          </a:p>
          <a:p>
            <a:pPr indent="363538" algn="ctr">
              <a:spcBef>
                <a:spcPts val="600"/>
              </a:spcBef>
              <a:spcAft>
                <a:spcPts val="1200"/>
              </a:spcAft>
              <a:buClr>
                <a:schemeClr val="accent2"/>
              </a:buClr>
              <a:buSzPct val="100000"/>
              <a:defRPr/>
            </a:pPr>
            <a:endParaRPr lang="uz-Cyrl-UZ" sz="2400" i="1" dirty="0">
              <a:latin typeface="Times New Roman" pitchFamily="18" charset="0"/>
            </a:endParaRPr>
          </a:p>
          <a:p>
            <a:pPr indent="363538" algn="ctr">
              <a:spcBef>
                <a:spcPts val="0"/>
              </a:spcBef>
              <a:spcAft>
                <a:spcPts val="600"/>
              </a:spcAft>
              <a:buClr>
                <a:schemeClr val="accent2"/>
              </a:buClr>
              <a:buSzPct val="100000"/>
              <a:defRPr/>
            </a:pPr>
            <a:endParaRPr lang="uz-Cyrl-UZ" sz="2400" i="1" dirty="0" smtClean="0">
              <a:latin typeface="Times New Roman" pitchFamily="18" charset="0"/>
            </a:endParaRPr>
          </a:p>
          <a:p>
            <a:pPr indent="363538" algn="ctr">
              <a:spcBef>
                <a:spcPts val="0"/>
              </a:spcBef>
              <a:spcAft>
                <a:spcPts val="600"/>
              </a:spcAft>
              <a:buClr>
                <a:schemeClr val="accent2"/>
              </a:buClr>
              <a:buSzPct val="100000"/>
              <a:defRPr/>
            </a:pPr>
            <a:r>
              <a:rPr lang="uz-Cyrl-UZ" sz="2400" i="1" dirty="0" smtClean="0">
                <a:latin typeface="Times New Roman" pitchFamily="18" charset="0"/>
              </a:rPr>
              <a:t>Очиқ </a:t>
            </a:r>
            <a:r>
              <a:rPr lang="uz-Cyrl-UZ" sz="2400" i="1" dirty="0">
                <a:latin typeface="Times New Roman" pitchFamily="18" charset="0"/>
              </a:rPr>
              <a:t>матнлар </a:t>
            </a:r>
            <a:r>
              <a:rPr lang="uz-Cyrl-UZ" sz="2400" i="1" dirty="0" smtClean="0">
                <a:latin typeface="Times New Roman" pitchFamily="18" charset="0"/>
              </a:rPr>
              <a:t>тўплами</a:t>
            </a:r>
            <a:endParaRPr lang="uz-Cyrl-UZ" sz="2400" i="1" dirty="0">
              <a:latin typeface="Times New Roman" pitchFamily="18" charset="0"/>
            </a:endParaRPr>
          </a:p>
          <a:p>
            <a:pPr indent="363538" algn="just">
              <a:spcBef>
                <a:spcPts val="0"/>
              </a:spcBef>
              <a:spcAft>
                <a:spcPts val="1200"/>
              </a:spcAft>
              <a:buClr>
                <a:schemeClr val="accent2"/>
              </a:buClr>
              <a:buSzPct val="100000"/>
              <a:defRPr/>
            </a:pPr>
            <a:r>
              <a:rPr lang="uz-Cyrl-UZ" sz="2200" dirty="0" smtClean="0">
                <a:latin typeface="Times New Roman" pitchFamily="18" charset="0"/>
              </a:rPr>
              <a:t>Бу ерда, </a:t>
            </a:r>
            <a:r>
              <a:rPr lang="en-US" sz="2200" b="1" i="1" dirty="0">
                <a:latin typeface="Times New Roman" pitchFamily="18" charset="0"/>
              </a:rPr>
              <a:t>m</a:t>
            </a:r>
            <a:r>
              <a:rPr lang="en-US" sz="2200" b="1" dirty="0">
                <a:latin typeface="Times New Roman" pitchFamily="18" charset="0"/>
              </a:rPr>
              <a:t> – </a:t>
            </a:r>
            <a:r>
              <a:rPr lang="uz-Cyrl-UZ" sz="2200" b="1" dirty="0">
                <a:latin typeface="Times New Roman" pitchFamily="18" charset="0"/>
              </a:rPr>
              <a:t>танлаб олинувчи блоклар сони ва </a:t>
            </a:r>
            <a:r>
              <a:rPr lang="en-US" sz="2200" b="1" i="1" dirty="0">
                <a:latin typeface="Times New Roman" pitchFamily="18" charset="0"/>
              </a:rPr>
              <a:t>m</a:t>
            </a:r>
            <a:r>
              <a:rPr lang="en-US" sz="2200" b="1" dirty="0">
                <a:latin typeface="Times New Roman" pitchFamily="18" charset="0"/>
              </a:rPr>
              <a:t>=2</a:t>
            </a:r>
            <a:r>
              <a:rPr lang="en-US" sz="2200" b="1" i="1" baseline="30000" dirty="0">
                <a:latin typeface="Times New Roman" pitchFamily="18" charset="0"/>
              </a:rPr>
              <a:t>N*V</a:t>
            </a:r>
            <a:r>
              <a:rPr lang="en-US" sz="2200" b="1" dirty="0">
                <a:latin typeface="Times New Roman" pitchFamily="18" charset="0"/>
              </a:rPr>
              <a:t>, </a:t>
            </a:r>
            <a:r>
              <a:rPr lang="en-US" sz="2200" b="1" i="1" dirty="0">
                <a:latin typeface="Times New Roman" pitchFamily="18" charset="0"/>
              </a:rPr>
              <a:t>N</a:t>
            </a:r>
            <a:r>
              <a:rPr lang="en-US" sz="2200" b="1" dirty="0">
                <a:latin typeface="Times New Roman" pitchFamily="18" charset="0"/>
              </a:rPr>
              <a:t> – </a:t>
            </a:r>
            <a:r>
              <a:rPr lang="en-US" sz="2200" b="1" i="1" dirty="0" err="1">
                <a:latin typeface="Times New Roman" pitchFamily="18" charset="0"/>
              </a:rPr>
              <a:t>a</a:t>
            </a:r>
            <a:r>
              <a:rPr lang="en-US" sz="2200" b="1" i="1" baseline="-25000" dirty="0" err="1">
                <a:latin typeface="Times New Roman" pitchFamily="18" charset="0"/>
              </a:rPr>
              <a:t>ij</a:t>
            </a:r>
            <a:r>
              <a:rPr lang="en-US" sz="2200" b="1" dirty="0">
                <a:latin typeface="Times New Roman" pitchFamily="18" charset="0"/>
              </a:rPr>
              <a:t> </a:t>
            </a:r>
            <a:r>
              <a:rPr lang="uz-Cyrl-UZ" sz="2200" b="1" dirty="0">
                <a:latin typeface="Times New Roman" pitchFamily="18" charset="0"/>
              </a:rPr>
              <a:t>элементни битлар сонига тенг </a:t>
            </a:r>
            <a:r>
              <a:rPr lang="uz-Cyrl-UZ" sz="2200" dirty="0">
                <a:latin typeface="Times New Roman" pitchFamily="18" charset="0"/>
              </a:rPr>
              <a:t>(</a:t>
            </a:r>
            <a:r>
              <a:rPr lang="en-US" sz="2200" i="1" dirty="0" err="1">
                <a:latin typeface="Times New Roman" pitchFamily="18" charset="0"/>
              </a:rPr>
              <a:t>a</a:t>
            </a:r>
            <a:r>
              <a:rPr lang="en-US" sz="2200" i="1" baseline="-25000" dirty="0" err="1">
                <a:latin typeface="Times New Roman" pitchFamily="18" charset="0"/>
              </a:rPr>
              <a:t>ij</a:t>
            </a:r>
            <a:r>
              <a:rPr lang="en-US" sz="2200" dirty="0">
                <a:latin typeface="Times New Roman" pitchFamily="18" charset="0"/>
              </a:rPr>
              <a:t> </a:t>
            </a:r>
            <a:r>
              <a:rPr lang="uz-Cyrl-UZ" sz="2200" dirty="0">
                <a:latin typeface="Times New Roman" pitchFamily="18" charset="0"/>
              </a:rPr>
              <a:t>элемент узунлиги алгоритмнинг чизиқсиз акслантириши кириш ўлчамига боғлиқ, масалан: </a:t>
            </a:r>
            <a:r>
              <a:rPr lang="en-US" sz="2200" dirty="0">
                <a:latin typeface="Times New Roman" pitchFamily="18" charset="0"/>
              </a:rPr>
              <a:t>AES </a:t>
            </a:r>
            <a:r>
              <a:rPr lang="uz-Cyrl-UZ" sz="2200" dirty="0">
                <a:latin typeface="Times New Roman" pitchFamily="18" charset="0"/>
              </a:rPr>
              <a:t>алгоритми учун </a:t>
            </a:r>
            <a:r>
              <a:rPr lang="en-US" sz="2200" i="1" dirty="0">
                <a:latin typeface="Times New Roman" pitchFamily="18" charset="0"/>
              </a:rPr>
              <a:t>N</a:t>
            </a:r>
            <a:r>
              <a:rPr lang="en-US" sz="2200" dirty="0">
                <a:latin typeface="Times New Roman" pitchFamily="18" charset="0"/>
              </a:rPr>
              <a:t>=8), </a:t>
            </a:r>
            <a:r>
              <a:rPr lang="en-US" sz="2200" b="1" i="1" dirty="0">
                <a:latin typeface="Times New Roman" pitchFamily="18" charset="0"/>
              </a:rPr>
              <a:t>V</a:t>
            </a:r>
            <a:r>
              <a:rPr lang="en-US" sz="2200" b="1" dirty="0">
                <a:latin typeface="Times New Roman" pitchFamily="18" charset="0"/>
              </a:rPr>
              <a:t> (1&lt;</a:t>
            </a:r>
            <a:r>
              <a:rPr lang="en-US" sz="2200" b="1" i="1" dirty="0">
                <a:latin typeface="Times New Roman" pitchFamily="18" charset="0"/>
              </a:rPr>
              <a:t>V</a:t>
            </a:r>
            <a:r>
              <a:rPr lang="en-US" sz="2200" b="1" dirty="0">
                <a:latin typeface="Times New Roman" pitchFamily="18" charset="0"/>
              </a:rPr>
              <a:t>&lt;</a:t>
            </a:r>
            <a:r>
              <a:rPr lang="en-US" sz="2200" b="1" i="1" dirty="0">
                <a:latin typeface="Times New Roman" pitchFamily="18" charset="0"/>
              </a:rPr>
              <a:t>n</a:t>
            </a:r>
            <a:r>
              <a:rPr lang="en-US" sz="2200" b="1" dirty="0">
                <a:latin typeface="Times New Roman" pitchFamily="18" charset="0"/>
              </a:rPr>
              <a:t>) – </a:t>
            </a:r>
            <a:r>
              <a:rPr lang="uz-Cyrl-UZ" sz="2200" b="1" dirty="0">
                <a:latin typeface="Times New Roman" pitchFamily="18" charset="0"/>
              </a:rPr>
              <a:t>шифрлаш алгоритми раундлар сонига, </a:t>
            </a:r>
            <a:r>
              <a:rPr lang="en-US" sz="2200" b="1" i="1" dirty="0">
                <a:latin typeface="Times New Roman" pitchFamily="18" charset="0"/>
              </a:rPr>
              <a:t>n</a:t>
            </a:r>
            <a:r>
              <a:rPr lang="en-US" sz="2200" b="1" dirty="0">
                <a:latin typeface="Times New Roman" pitchFamily="18" charset="0"/>
              </a:rPr>
              <a:t> – </a:t>
            </a:r>
            <a:r>
              <a:rPr lang="uz-Cyrl-UZ" sz="2200" b="1" dirty="0">
                <a:latin typeface="Times New Roman" pitchFamily="18" charset="0"/>
              </a:rPr>
              <a:t>қаралаётган алгоритмнинг блок узунлигига боғлиқ </a:t>
            </a:r>
            <a:r>
              <a:rPr lang="uz-Cyrl-UZ" sz="2200" dirty="0">
                <a:latin typeface="Times New Roman" pitchFamily="18" charset="0"/>
              </a:rPr>
              <a:t>(масалан: 128 битли </a:t>
            </a:r>
            <a:r>
              <a:rPr lang="en-US" sz="2200" dirty="0">
                <a:latin typeface="Times New Roman" pitchFamily="18" charset="0"/>
              </a:rPr>
              <a:t>AES </a:t>
            </a:r>
            <a:r>
              <a:rPr lang="uz-Cyrl-UZ" sz="2200" dirty="0">
                <a:latin typeface="Times New Roman" pitchFamily="18" charset="0"/>
              </a:rPr>
              <a:t>алгоритми учун </a:t>
            </a:r>
            <a:r>
              <a:rPr lang="en-US" sz="2200" i="1" dirty="0">
                <a:latin typeface="Times New Roman" pitchFamily="18" charset="0"/>
              </a:rPr>
              <a:t>n</a:t>
            </a:r>
            <a:r>
              <a:rPr lang="en-US" sz="2200" dirty="0">
                <a:latin typeface="Times New Roman" pitchFamily="18" charset="0"/>
              </a:rPr>
              <a:t>=128/8=16) </a:t>
            </a:r>
            <a:r>
              <a:rPr lang="uz-Cyrl-UZ" sz="2200" b="1" dirty="0">
                <a:latin typeface="Times New Roman" pitchFamily="18" charset="0"/>
              </a:rPr>
              <a:t>ҳолда аниқланувчи </a:t>
            </a:r>
            <a:r>
              <a:rPr lang="uz-Cyrl-UZ" sz="2200" b="1" dirty="0" smtClean="0">
                <a:latin typeface="Times New Roman" pitchFamily="18" charset="0"/>
              </a:rPr>
              <a:t>сонлар</a:t>
            </a:r>
            <a:r>
              <a:rPr lang="uz-Cyrl-UZ" sz="2200" dirty="0" smtClean="0">
                <a:latin typeface="Times New Roman" pitchFamily="18" charset="0"/>
              </a:rPr>
              <a:t>.</a:t>
            </a:r>
            <a:endParaRPr lang="uz-Cyrl-UZ" sz="2200" dirty="0">
              <a:latin typeface="Times New Roman" pitchFamily="18" charset="0"/>
            </a:endParaRPr>
          </a:p>
        </p:txBody>
      </p:sp>
      <p:sp>
        <p:nvSpPr>
          <p:cNvPr id="27656" name="Rectangle 8"/>
          <p:cNvSpPr>
            <a:spLocks noChangeArrowheads="1"/>
          </p:cNvSpPr>
          <p:nvPr/>
        </p:nvSpPr>
        <p:spPr bwMode="auto">
          <a:xfrm>
            <a:off x="0" y="8620"/>
            <a:ext cx="8892000" cy="584775"/>
          </a:xfrm>
          <a:prstGeom prst="rect">
            <a:avLst/>
          </a:prstGeom>
          <a:solidFill>
            <a:schemeClr val="accent6">
              <a:lumMod val="40000"/>
              <a:lumOff val="60000"/>
              <a:alpha val="95000"/>
            </a:schemeClr>
          </a:solidFill>
          <a:ln>
            <a:noFill/>
          </a:ln>
          <a:effectLst/>
          <a:extLst/>
        </p:spPr>
        <p:txBody>
          <a:bodyPr wrap="square" anchor="ctr">
            <a:spAutoFit/>
          </a:bodyPr>
          <a:lstStyle/>
          <a:p>
            <a:pPr>
              <a:defRPr/>
            </a:pPr>
            <a:r>
              <a:rPr lang="ru-RU" sz="3200" b="1" dirty="0" err="1">
                <a:solidFill>
                  <a:srgbClr val="000000"/>
                </a:solidFill>
                <a:effectLst>
                  <a:outerShdw blurRad="38100" dist="38100" dir="2700000" algn="tl">
                    <a:srgbClr val="FFFFFF"/>
                  </a:outerShdw>
                </a:effectLst>
                <a:latin typeface="Times New Roman" pitchFamily="18" charset="0"/>
              </a:rPr>
              <a:t>Оптимал</a:t>
            </a:r>
            <a:r>
              <a:rPr lang="ru-RU" sz="3200" b="1" dirty="0">
                <a:solidFill>
                  <a:srgbClr val="000000"/>
                </a:solidFill>
                <a:effectLst>
                  <a:outerShdw blurRad="38100" dist="38100" dir="2700000" algn="tl">
                    <a:srgbClr val="FFFFFF"/>
                  </a:outerShdw>
                </a:effectLst>
                <a:latin typeface="Times New Roman" pitchFamily="18" charset="0"/>
              </a:rPr>
              <a:t> </a:t>
            </a:r>
            <a:r>
              <a:rPr lang="ru-RU" sz="3200" b="1" dirty="0" err="1">
                <a:solidFill>
                  <a:srgbClr val="000000"/>
                </a:solidFill>
                <a:effectLst>
                  <a:outerShdw blurRad="38100" dist="38100" dir="2700000" algn="tl">
                    <a:srgbClr val="FFFFFF"/>
                  </a:outerShdw>
                </a:effectLst>
                <a:latin typeface="Times New Roman" pitchFamily="18" charset="0"/>
              </a:rPr>
              <a:t>очиқ</a:t>
            </a:r>
            <a:r>
              <a:rPr lang="ru-RU" sz="3200" b="1" dirty="0">
                <a:solidFill>
                  <a:srgbClr val="000000"/>
                </a:solidFill>
                <a:effectLst>
                  <a:outerShdw blurRad="38100" dist="38100" dir="2700000" algn="tl">
                    <a:srgbClr val="FFFFFF"/>
                  </a:outerShdw>
                </a:effectLst>
                <a:latin typeface="Times New Roman" pitchFamily="18" charset="0"/>
              </a:rPr>
              <a:t> </a:t>
            </a:r>
            <a:r>
              <a:rPr lang="ru-RU" sz="3200" b="1" dirty="0" err="1">
                <a:solidFill>
                  <a:srgbClr val="000000"/>
                </a:solidFill>
                <a:effectLst>
                  <a:outerShdw blurRad="38100" dist="38100" dir="2700000" algn="tl">
                    <a:srgbClr val="FFFFFF"/>
                  </a:outerShdw>
                </a:effectLst>
                <a:latin typeface="Times New Roman" pitchFamily="18" charset="0"/>
              </a:rPr>
              <a:t>матнлар</a:t>
            </a:r>
            <a:r>
              <a:rPr lang="ru-RU" sz="3200" b="1" dirty="0">
                <a:solidFill>
                  <a:srgbClr val="000000"/>
                </a:solidFill>
                <a:effectLst>
                  <a:outerShdw blurRad="38100" dist="38100" dir="2700000" algn="tl">
                    <a:srgbClr val="FFFFFF"/>
                  </a:outerShdw>
                </a:effectLst>
                <a:latin typeface="Times New Roman" pitchFamily="18" charset="0"/>
              </a:rPr>
              <a:t> </a:t>
            </a:r>
            <a:r>
              <a:rPr lang="ru-RU" sz="3200" b="1" dirty="0" err="1">
                <a:solidFill>
                  <a:srgbClr val="000000"/>
                </a:solidFill>
                <a:effectLst>
                  <a:outerShdw blurRad="38100" dist="38100" dir="2700000" algn="tl">
                    <a:srgbClr val="FFFFFF"/>
                  </a:outerShdw>
                </a:effectLst>
                <a:latin typeface="Times New Roman" pitchFamily="18" charset="0"/>
              </a:rPr>
              <a:t>тўпламини</a:t>
            </a:r>
            <a:r>
              <a:rPr lang="ru-RU" sz="3200" b="1" dirty="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аниқлаш</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pic>
        <p:nvPicPr>
          <p:cNvPr id="573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593357"/>
            <a:ext cx="4832089" cy="2267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alpha val="50000"/>
                    </a:schemeClr>
                  </a:outerShdw>
                </a:effectLst>
              </a14:hiddenEffects>
            </a:ext>
          </a:extLst>
        </p:spPr>
      </p:pic>
    </p:spTree>
    <p:extLst>
      <p:ext uri="{BB962C8B-B14F-4D97-AF65-F5344CB8AC3E}">
        <p14:creationId xmlns:p14="http://schemas.microsoft.com/office/powerpoint/2010/main" val="8794531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21515" y="124061"/>
            <a:ext cx="8839017" cy="3354765"/>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536575" algn="just">
              <a:spcAft>
                <a:spcPts val="1200"/>
              </a:spcAft>
            </a:pPr>
            <a:r>
              <a:rPr lang="uz-Cyrl-UZ" sz="2400" b="1" i="1" u="sng" dirty="0" smtClean="0">
                <a:latin typeface="Times New Roman" pitchFamily="18" charset="0"/>
                <a:cs typeface="Times New Roman" pitchFamily="18" charset="0"/>
              </a:rPr>
              <a:t>А</a:t>
            </a:r>
            <a:r>
              <a:rPr lang="uz-Cyrl-UZ" sz="2400" b="1" u="sng" dirty="0" smtClean="0">
                <a:latin typeface="Times New Roman" pitchFamily="18" charset="0"/>
                <a:cs typeface="Times New Roman" pitchFamily="18" charset="0"/>
              </a:rPr>
              <a:t> </a:t>
            </a:r>
            <a:r>
              <a:rPr lang="uz-Cyrl-UZ" sz="2400" b="1" u="sng" dirty="0">
                <a:latin typeface="Times New Roman" pitchFamily="18" charset="0"/>
                <a:cs typeface="Times New Roman" pitchFamily="18" charset="0"/>
              </a:rPr>
              <a:t>– очиқ матнлар тўплами қуйидагича аниқланувчи </a:t>
            </a:r>
            <a:r>
              <a:rPr lang="uz-Cyrl-UZ" sz="2400" b="1" u="sng" dirty="0">
                <a:solidFill>
                  <a:srgbClr val="C00000"/>
                </a:solidFill>
                <a:latin typeface="Times New Roman" pitchFamily="18" charset="0"/>
                <a:cs typeface="Times New Roman" pitchFamily="18" charset="0"/>
              </a:rPr>
              <a:t>актив</a:t>
            </a:r>
            <a:r>
              <a:rPr lang="uz-Cyrl-UZ" sz="2400" b="1" u="sng" dirty="0">
                <a:latin typeface="Times New Roman" pitchFamily="18" charset="0"/>
                <a:cs typeface="Times New Roman" pitchFamily="18" charset="0"/>
              </a:rPr>
              <a:t> ва </a:t>
            </a:r>
            <a:r>
              <a:rPr lang="uz-Cyrl-UZ" sz="2400" b="1" u="sng" dirty="0">
                <a:solidFill>
                  <a:srgbClr val="C00000"/>
                </a:solidFill>
                <a:latin typeface="Times New Roman" pitchFamily="18" charset="0"/>
                <a:cs typeface="Times New Roman" pitchFamily="18" charset="0"/>
              </a:rPr>
              <a:t>пассив</a:t>
            </a:r>
            <a:r>
              <a:rPr lang="uz-Cyrl-UZ" sz="2400" b="1" u="sng" dirty="0">
                <a:latin typeface="Times New Roman" pitchFamily="18" charset="0"/>
                <a:cs typeface="Times New Roman" pitchFamily="18" charset="0"/>
              </a:rPr>
              <a:t> элементлардан ташкил топиши </a:t>
            </a:r>
            <a:r>
              <a:rPr lang="uz-Cyrl-UZ" sz="2400" b="1" u="sng" dirty="0" smtClean="0">
                <a:latin typeface="Times New Roman" pitchFamily="18" charset="0"/>
                <a:cs typeface="Times New Roman" pitchFamily="18" charset="0"/>
              </a:rPr>
              <a:t>керак:</a:t>
            </a:r>
            <a:endParaRPr lang="ru-RU" sz="2400" b="1" u="sng" dirty="0">
              <a:latin typeface="Times New Roman" pitchFamily="18" charset="0"/>
              <a:cs typeface="Times New Roman" pitchFamily="18" charset="0"/>
            </a:endParaRPr>
          </a:p>
          <a:p>
            <a:pPr marL="342900" lvl="0" indent="-342900" algn="just">
              <a:spcAft>
                <a:spcPts val="1200"/>
              </a:spcAft>
              <a:buFont typeface="Times New Roman" pitchFamily="18" charset="0"/>
              <a:buChar char="―"/>
            </a:pPr>
            <a:r>
              <a:rPr lang="uz-Cyrl-UZ" sz="2400" dirty="0">
                <a:latin typeface="Times New Roman" pitchFamily="18" charset="0"/>
                <a:cs typeface="Times New Roman" pitchFamily="18" charset="0"/>
              </a:rPr>
              <a:t>Агар </a:t>
            </a:r>
            <a:r>
              <a:rPr lang="uz-Cyrl-UZ" sz="2400" b="1" i="1" dirty="0">
                <a:latin typeface="Times New Roman" pitchFamily="18" charset="0"/>
                <a:cs typeface="Times New Roman" pitchFamily="18" charset="0"/>
              </a:rPr>
              <a:t>j=1..n </a:t>
            </a:r>
            <a:r>
              <a:rPr lang="uz-Cyrl-UZ" sz="2400" dirty="0">
                <a:latin typeface="Times New Roman" pitchFamily="18" charset="0"/>
                <a:cs typeface="Times New Roman" pitchFamily="18" charset="0"/>
              </a:rPr>
              <a:t>учун </a:t>
            </a:r>
            <a:r>
              <a:rPr lang="uz-Cyrl-UZ" sz="2400" b="1" i="1" dirty="0">
                <a:latin typeface="Times New Roman" pitchFamily="18" charset="0"/>
                <a:cs typeface="Times New Roman" pitchFamily="18" charset="0"/>
              </a:rPr>
              <a:t>a</a:t>
            </a:r>
            <a:r>
              <a:rPr lang="uz-Cyrl-UZ" sz="2400" b="1" i="1" baseline="-25000" dirty="0">
                <a:latin typeface="Times New Roman" pitchFamily="18" charset="0"/>
                <a:cs typeface="Times New Roman" pitchFamily="18" charset="0"/>
              </a:rPr>
              <a:t>1,j</a:t>
            </a:r>
            <a:r>
              <a:rPr lang="uz-Cyrl-UZ" sz="2400" b="1" i="1" dirty="0">
                <a:latin typeface="Times New Roman" pitchFamily="18" charset="0"/>
                <a:cs typeface="Times New Roman" pitchFamily="18" charset="0"/>
              </a:rPr>
              <a:t>≠a</a:t>
            </a:r>
            <a:r>
              <a:rPr lang="uz-Cyrl-UZ" sz="2400" b="1" i="1" baseline="-25000" dirty="0">
                <a:latin typeface="Times New Roman" pitchFamily="18" charset="0"/>
                <a:cs typeface="Times New Roman" pitchFamily="18" charset="0"/>
              </a:rPr>
              <a:t>2,j</a:t>
            </a:r>
            <a:r>
              <a:rPr lang="uz-Cyrl-UZ" sz="2400" b="1" i="1" dirty="0">
                <a:latin typeface="Times New Roman" pitchFamily="18" charset="0"/>
                <a:cs typeface="Times New Roman" pitchFamily="18" charset="0"/>
              </a:rPr>
              <a:t>≠a</a:t>
            </a:r>
            <a:r>
              <a:rPr lang="uz-Cyrl-UZ" sz="2400" b="1" i="1" baseline="-25000" dirty="0">
                <a:latin typeface="Times New Roman" pitchFamily="18" charset="0"/>
                <a:cs typeface="Times New Roman" pitchFamily="18" charset="0"/>
              </a:rPr>
              <a:t>3,j</a:t>
            </a:r>
            <a:r>
              <a:rPr lang="uz-Cyrl-UZ" sz="2400" dirty="0">
                <a:latin typeface="Times New Roman" pitchFamily="18" charset="0"/>
                <a:cs typeface="Times New Roman" pitchFamily="18" charset="0"/>
              </a:rPr>
              <a:t>...</a:t>
            </a:r>
            <a:r>
              <a:rPr lang="uz-Cyrl-UZ" sz="2400" b="1" i="1" dirty="0">
                <a:latin typeface="Times New Roman" pitchFamily="18" charset="0"/>
                <a:cs typeface="Times New Roman" pitchFamily="18" charset="0"/>
              </a:rPr>
              <a:t>≠a</a:t>
            </a:r>
            <a:r>
              <a:rPr lang="uz-Cyrl-UZ" sz="2400" b="1" i="1" baseline="-25000" dirty="0">
                <a:latin typeface="Times New Roman" pitchFamily="18" charset="0"/>
                <a:cs typeface="Times New Roman" pitchFamily="18" charset="0"/>
              </a:rPr>
              <a:t>m,j </a:t>
            </a:r>
            <a:r>
              <a:rPr lang="uz-Cyrl-UZ" sz="2400" dirty="0">
                <a:latin typeface="Times New Roman" pitchFamily="18" charset="0"/>
                <a:cs typeface="Times New Roman" pitchFamily="18" charset="0"/>
              </a:rPr>
              <a:t>бажарилса, очиқ матнлардаги </a:t>
            </a:r>
            <a:r>
              <a:rPr lang="uz-Cyrl-UZ" sz="2400" b="1" i="1" dirty="0">
                <a:latin typeface="Times New Roman" pitchFamily="18" charset="0"/>
                <a:cs typeface="Times New Roman" pitchFamily="18" charset="0"/>
              </a:rPr>
              <a:t>a</a:t>
            </a:r>
            <a:r>
              <a:rPr lang="uz-Cyrl-UZ" sz="2400" b="1" i="1" baseline="-25000" dirty="0">
                <a:latin typeface="Times New Roman" pitchFamily="18" charset="0"/>
                <a:cs typeface="Times New Roman" pitchFamily="18" charset="0"/>
              </a:rPr>
              <a:t>i,j</a:t>
            </a:r>
            <a:r>
              <a:rPr lang="uz-Cyrl-UZ" sz="2400" b="1" i="1" dirty="0">
                <a:latin typeface="Times New Roman" pitchFamily="18" charset="0"/>
                <a:cs typeface="Times New Roman" pitchFamily="18" charset="0"/>
              </a:rPr>
              <a:t> (i=1…m, j=const)</a:t>
            </a:r>
            <a:r>
              <a:rPr lang="uz-Cyrl-UZ" sz="2400" i="1" dirty="0">
                <a:latin typeface="Times New Roman" pitchFamily="18" charset="0"/>
                <a:cs typeface="Times New Roman" pitchFamily="18" charset="0"/>
              </a:rPr>
              <a:t> </a:t>
            </a:r>
            <a:r>
              <a:rPr lang="uz-Cyrl-UZ" sz="2400" dirty="0">
                <a:latin typeface="Times New Roman" pitchFamily="18" charset="0"/>
                <a:cs typeface="Times New Roman" pitchFamily="18" charset="0"/>
              </a:rPr>
              <a:t>элементлар </a:t>
            </a:r>
            <a:r>
              <a:rPr lang="uz-Cyrl-UZ" sz="2400" b="1" dirty="0">
                <a:latin typeface="Times New Roman" pitchFamily="18" charset="0"/>
                <a:cs typeface="Times New Roman" pitchFamily="18" charset="0"/>
              </a:rPr>
              <a:t>актив элементлар </a:t>
            </a:r>
            <a:r>
              <a:rPr lang="uz-Cyrl-UZ" sz="2400" dirty="0">
                <a:latin typeface="Times New Roman" pitchFamily="18" charset="0"/>
                <a:cs typeface="Times New Roman" pitchFamily="18" charset="0"/>
              </a:rPr>
              <a:t>ҳисобланади;</a:t>
            </a:r>
            <a:endParaRPr lang="ru-RU" sz="2400" dirty="0">
              <a:latin typeface="Times New Roman" pitchFamily="18" charset="0"/>
              <a:cs typeface="Times New Roman" pitchFamily="18" charset="0"/>
            </a:endParaRPr>
          </a:p>
          <a:p>
            <a:pPr marL="342900" lvl="0" indent="-342900" algn="just">
              <a:spcAft>
                <a:spcPts val="1200"/>
              </a:spcAft>
              <a:buFont typeface="Times New Roman" pitchFamily="18" charset="0"/>
              <a:buChar char="―"/>
            </a:pPr>
            <a:r>
              <a:rPr lang="uz-Cyrl-UZ" sz="2400" dirty="0">
                <a:latin typeface="Times New Roman" pitchFamily="18" charset="0"/>
                <a:cs typeface="Times New Roman" pitchFamily="18" charset="0"/>
              </a:rPr>
              <a:t>Агар </a:t>
            </a:r>
            <a:r>
              <a:rPr lang="uz-Cyrl-UZ" sz="2400" b="1" i="1" dirty="0">
                <a:latin typeface="Times New Roman" pitchFamily="18" charset="0"/>
                <a:cs typeface="Times New Roman" pitchFamily="18" charset="0"/>
              </a:rPr>
              <a:t>j=1..n </a:t>
            </a:r>
            <a:r>
              <a:rPr lang="uz-Cyrl-UZ" sz="2400" dirty="0">
                <a:latin typeface="Times New Roman" pitchFamily="18" charset="0"/>
                <a:cs typeface="Times New Roman" pitchFamily="18" charset="0"/>
              </a:rPr>
              <a:t>учун </a:t>
            </a:r>
            <a:r>
              <a:rPr lang="uz-Cyrl-UZ" sz="2400" b="1" i="1" dirty="0">
                <a:latin typeface="Times New Roman" pitchFamily="18" charset="0"/>
                <a:cs typeface="Times New Roman" pitchFamily="18" charset="0"/>
              </a:rPr>
              <a:t>a</a:t>
            </a:r>
            <a:r>
              <a:rPr lang="uz-Cyrl-UZ" sz="2400" b="1" i="1" baseline="-25000" dirty="0">
                <a:latin typeface="Times New Roman" pitchFamily="18" charset="0"/>
                <a:cs typeface="Times New Roman" pitchFamily="18" charset="0"/>
              </a:rPr>
              <a:t>1,j</a:t>
            </a:r>
            <a:r>
              <a:rPr lang="uz-Cyrl-UZ" sz="2400" b="1" i="1" dirty="0">
                <a:latin typeface="Times New Roman" pitchFamily="18" charset="0"/>
                <a:cs typeface="Times New Roman" pitchFamily="18" charset="0"/>
              </a:rPr>
              <a:t>=a</a:t>
            </a:r>
            <a:r>
              <a:rPr lang="uz-Cyrl-UZ" sz="2400" b="1" i="1" baseline="-25000" dirty="0">
                <a:latin typeface="Times New Roman" pitchFamily="18" charset="0"/>
                <a:cs typeface="Times New Roman" pitchFamily="18" charset="0"/>
              </a:rPr>
              <a:t>2,j</a:t>
            </a:r>
            <a:r>
              <a:rPr lang="uz-Cyrl-UZ" sz="2400" b="1" i="1" dirty="0">
                <a:latin typeface="Times New Roman" pitchFamily="18" charset="0"/>
                <a:cs typeface="Times New Roman" pitchFamily="18" charset="0"/>
              </a:rPr>
              <a:t>=a</a:t>
            </a:r>
            <a:r>
              <a:rPr lang="uz-Cyrl-UZ" sz="2400" b="1" i="1" baseline="-25000" dirty="0">
                <a:latin typeface="Times New Roman" pitchFamily="18" charset="0"/>
                <a:cs typeface="Times New Roman" pitchFamily="18" charset="0"/>
              </a:rPr>
              <a:t>3,j</a:t>
            </a:r>
            <a:r>
              <a:rPr lang="uz-Cyrl-UZ" sz="2400" dirty="0">
                <a:latin typeface="Times New Roman" pitchFamily="18" charset="0"/>
                <a:cs typeface="Times New Roman" pitchFamily="18" charset="0"/>
              </a:rPr>
              <a:t>...</a:t>
            </a:r>
            <a:r>
              <a:rPr lang="uz-Cyrl-UZ" sz="2400" b="1" i="1" dirty="0">
                <a:latin typeface="Times New Roman" pitchFamily="18" charset="0"/>
                <a:cs typeface="Times New Roman" pitchFamily="18" charset="0"/>
              </a:rPr>
              <a:t>=a</a:t>
            </a:r>
            <a:r>
              <a:rPr lang="uz-Cyrl-UZ" sz="2400" b="1" i="1" baseline="-25000" dirty="0">
                <a:latin typeface="Times New Roman" pitchFamily="18" charset="0"/>
                <a:cs typeface="Times New Roman" pitchFamily="18" charset="0"/>
              </a:rPr>
              <a:t>m,j</a:t>
            </a:r>
            <a:r>
              <a:rPr lang="uz-Cyrl-UZ" sz="2400" b="1" i="1" dirty="0">
                <a:latin typeface="Times New Roman" pitchFamily="18" charset="0"/>
                <a:cs typeface="Times New Roman" pitchFamily="18" charset="0"/>
              </a:rPr>
              <a:t> </a:t>
            </a:r>
            <a:r>
              <a:rPr lang="uz-Cyrl-UZ" sz="2400" dirty="0">
                <a:latin typeface="Times New Roman" pitchFamily="18" charset="0"/>
                <a:cs typeface="Times New Roman" pitchFamily="18" charset="0"/>
              </a:rPr>
              <a:t>бажарилса, очиқ матнлардаги </a:t>
            </a:r>
            <a:r>
              <a:rPr lang="uz-Cyrl-UZ" sz="2400" b="1" i="1" dirty="0">
                <a:latin typeface="Times New Roman" pitchFamily="18" charset="0"/>
                <a:cs typeface="Times New Roman" pitchFamily="18" charset="0"/>
              </a:rPr>
              <a:t>a</a:t>
            </a:r>
            <a:r>
              <a:rPr lang="uz-Cyrl-UZ" sz="2400" b="1" i="1" baseline="-25000" dirty="0">
                <a:latin typeface="Times New Roman" pitchFamily="18" charset="0"/>
                <a:cs typeface="Times New Roman" pitchFamily="18" charset="0"/>
              </a:rPr>
              <a:t>i,j</a:t>
            </a:r>
            <a:r>
              <a:rPr lang="uz-Cyrl-UZ" sz="2400" i="1" dirty="0">
                <a:latin typeface="Times New Roman" pitchFamily="18" charset="0"/>
                <a:cs typeface="Times New Roman" pitchFamily="18" charset="0"/>
              </a:rPr>
              <a:t> </a:t>
            </a:r>
            <a:r>
              <a:rPr lang="uz-Cyrl-UZ" sz="2400" b="1" i="1" dirty="0">
                <a:latin typeface="Times New Roman" pitchFamily="18" charset="0"/>
                <a:cs typeface="Times New Roman" pitchFamily="18" charset="0"/>
              </a:rPr>
              <a:t>(i=1…m, j=const) </a:t>
            </a:r>
            <a:r>
              <a:rPr lang="uz-Cyrl-UZ" sz="2400" dirty="0">
                <a:latin typeface="Times New Roman" pitchFamily="18" charset="0"/>
                <a:cs typeface="Times New Roman" pitchFamily="18" charset="0"/>
              </a:rPr>
              <a:t>элементлар </a:t>
            </a:r>
            <a:r>
              <a:rPr lang="uz-Cyrl-UZ" sz="2400" b="1" dirty="0">
                <a:latin typeface="Times New Roman" pitchFamily="18" charset="0"/>
                <a:cs typeface="Times New Roman" pitchFamily="18" charset="0"/>
              </a:rPr>
              <a:t>пассив элементлар</a:t>
            </a:r>
            <a:r>
              <a:rPr lang="uz-Cyrl-UZ" sz="2400" dirty="0">
                <a:latin typeface="Times New Roman" pitchFamily="18" charset="0"/>
                <a:cs typeface="Times New Roman" pitchFamily="18" charset="0"/>
              </a:rPr>
              <a:t> ҳисобланади</a:t>
            </a:r>
            <a:r>
              <a:rPr lang="uz-Cyrl-UZ" sz="2400" dirty="0" smtClean="0">
                <a:latin typeface="Times New Roman" pitchFamily="18" charset="0"/>
                <a:cs typeface="Times New Roman" pitchFamily="18" charset="0"/>
              </a:rPr>
              <a:t>.</a:t>
            </a:r>
            <a:endParaRPr lang="ru-RU" sz="2400" dirty="0">
              <a:latin typeface="Times New Roman" pitchFamily="18" charset="0"/>
              <a:cs typeface="Times New Roman" pitchFamily="18" charset="0"/>
            </a:endParaRPr>
          </a:p>
        </p:txBody>
      </p:sp>
      <p:sp>
        <p:nvSpPr>
          <p:cNvPr id="5" name="Rectangle 7"/>
          <p:cNvSpPr>
            <a:spLocks noChangeArrowheads="1"/>
          </p:cNvSpPr>
          <p:nvPr/>
        </p:nvSpPr>
        <p:spPr bwMode="auto">
          <a:xfrm>
            <a:off x="133533" y="3800289"/>
            <a:ext cx="8839017" cy="2693045"/>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536575" algn="just">
              <a:spcAft>
                <a:spcPts val="1800"/>
              </a:spcAft>
            </a:pPr>
            <a:r>
              <a:rPr lang="uz-Cyrl-UZ" sz="2400" dirty="0" smtClean="0">
                <a:latin typeface="Times New Roman" pitchFamily="18" charset="0"/>
                <a:cs typeface="Times New Roman" pitchFamily="18" charset="0"/>
              </a:rPr>
              <a:t>Мазкур шартлар </a:t>
            </a:r>
            <a:r>
              <a:rPr lang="uz-Cyrl-UZ" sz="2400" dirty="0">
                <a:latin typeface="Times New Roman" pitchFamily="18" charset="0"/>
                <a:cs typeface="Times New Roman" pitchFamily="18" charset="0"/>
              </a:rPr>
              <a:t>асосида танлаб олинган </a:t>
            </a:r>
            <a:r>
              <a:rPr lang="uz-Cyrl-UZ" sz="2400" b="1" i="1" dirty="0">
                <a:latin typeface="Times New Roman" pitchFamily="18" charset="0"/>
                <a:cs typeface="Times New Roman" pitchFamily="18" charset="0"/>
              </a:rPr>
              <a:t>А</a:t>
            </a:r>
            <a:r>
              <a:rPr lang="uz-Cyrl-UZ" sz="2400" dirty="0">
                <a:latin typeface="Times New Roman" pitchFamily="18" charset="0"/>
                <a:cs typeface="Times New Roman" pitchFamily="18" charset="0"/>
              </a:rPr>
              <a:t> – очиқ матнлар тўплами элементлари учун </a:t>
            </a:r>
            <a:r>
              <a:rPr lang="uz-Cyrl-UZ" sz="2400" b="1" dirty="0">
                <a:latin typeface="Times New Roman" pitchFamily="18" charset="0"/>
                <a:cs typeface="Times New Roman" pitchFamily="18" charset="0"/>
              </a:rPr>
              <a:t>[1</a:t>
            </a:r>
            <a:r>
              <a:rPr lang="uz-Cyrl-UZ" sz="2400" b="1" i="1" dirty="0">
                <a:latin typeface="Times New Roman" pitchFamily="18" charset="0"/>
                <a:cs typeface="Times New Roman" pitchFamily="18" charset="0"/>
              </a:rPr>
              <a:t>, n</a:t>
            </a:r>
            <a:r>
              <a:rPr lang="uz-Cyrl-UZ" sz="2400" b="1" dirty="0">
                <a:latin typeface="Times New Roman" pitchFamily="18" charset="0"/>
                <a:cs typeface="Times New Roman" pitchFamily="18" charset="0"/>
              </a:rPr>
              <a:t>]</a:t>
            </a:r>
            <a:r>
              <a:rPr lang="uz-Cyrl-UZ" sz="2400" dirty="0">
                <a:latin typeface="Times New Roman" pitchFamily="18" charset="0"/>
                <a:cs typeface="Times New Roman" pitchFamily="18" charset="0"/>
              </a:rPr>
              <a:t> – оралиқдан олинган барча </a:t>
            </a:r>
            <a:r>
              <a:rPr lang="uz-Cyrl-UZ" sz="2400" b="1" i="1" dirty="0">
                <a:latin typeface="Times New Roman" pitchFamily="18" charset="0"/>
                <a:cs typeface="Times New Roman" pitchFamily="18" charset="0"/>
              </a:rPr>
              <a:t>j</a:t>
            </a:r>
            <a:r>
              <a:rPr lang="uz-Cyrl-UZ" sz="2400" i="1" dirty="0">
                <a:latin typeface="Times New Roman" pitchFamily="18" charset="0"/>
                <a:cs typeface="Times New Roman" pitchFamily="18" charset="0"/>
              </a:rPr>
              <a:t> </a:t>
            </a:r>
            <a:r>
              <a:rPr lang="uz-Cyrl-UZ" sz="2400" dirty="0">
                <a:latin typeface="Times New Roman" pitchFamily="18" charset="0"/>
                <a:cs typeface="Times New Roman" pitchFamily="18" charset="0"/>
              </a:rPr>
              <a:t>га нисбатан қўйидаги тенглик ўринли (яъни, </a:t>
            </a:r>
            <a:r>
              <a:rPr lang="uz-Cyrl-UZ" sz="2400" dirty="0" smtClean="0">
                <a:latin typeface="Times New Roman" pitchFamily="18" charset="0"/>
                <a:cs typeface="Times New Roman" pitchFamily="18" charset="0"/>
              </a:rPr>
              <a:t>баланслашган):</a:t>
            </a:r>
            <a:endParaRPr lang="ru-RU" sz="2400" dirty="0">
              <a:latin typeface="Times New Roman" pitchFamily="18" charset="0"/>
              <a:cs typeface="Times New Roman" pitchFamily="18" charset="0"/>
            </a:endParaRPr>
          </a:p>
          <a:p>
            <a:pPr indent="536575" algn="just">
              <a:spcAft>
                <a:spcPts val="1200"/>
              </a:spcAft>
            </a:pPr>
            <a:r>
              <a:rPr lang="uz-Cyrl-UZ" sz="2400" dirty="0">
                <a:latin typeface="Times New Roman" pitchFamily="18" charset="0"/>
                <a:cs typeface="Times New Roman" pitchFamily="18" charset="0"/>
              </a:rPr>
              <a:t>				</a:t>
            </a:r>
            <a:r>
              <a:rPr lang="uz-Cyrl-UZ" sz="2400" i="1" dirty="0" smtClean="0">
                <a:latin typeface="Times New Roman" pitchFamily="18" charset="0"/>
                <a:cs typeface="Times New Roman" pitchFamily="18" charset="0"/>
              </a:rPr>
              <a:t> 	</a:t>
            </a:r>
            <a:endParaRPr lang="ru-RU" sz="2400" dirty="0" smtClean="0">
              <a:latin typeface="Times New Roman" pitchFamily="18" charset="0"/>
              <a:cs typeface="Times New Roman" pitchFamily="18" charset="0"/>
            </a:endParaRPr>
          </a:p>
          <a:p>
            <a:pPr algn="just">
              <a:spcAft>
                <a:spcPts val="1200"/>
              </a:spcAft>
            </a:pPr>
            <a:r>
              <a:rPr lang="uz-Cyrl-UZ" sz="2400" dirty="0" smtClean="0">
                <a:latin typeface="Times New Roman" pitchFamily="18" charset="0"/>
                <a:cs typeface="Times New Roman" pitchFamily="18" charset="0"/>
              </a:rPr>
              <a:t>бу </a:t>
            </a:r>
            <a:r>
              <a:rPr lang="uz-Cyrl-UZ" sz="2400" dirty="0">
                <a:latin typeface="Times New Roman" pitchFamily="18" charset="0"/>
                <a:cs typeface="Times New Roman" pitchFamily="18" charset="0"/>
              </a:rPr>
              <a:t>ерда, йиғинди – XOR (2 модул бўйича қўшиш) амали асосида бажарилади</a:t>
            </a:r>
            <a:r>
              <a:rPr lang="uz-Cyrl-UZ" sz="2400" i="1" dirty="0" smtClean="0">
                <a:latin typeface="Times New Roman" pitchFamily="18" charset="0"/>
                <a:cs typeface="Times New Roman" pitchFamily="18" charset="0"/>
              </a:rPr>
              <a:t>.</a:t>
            </a:r>
            <a:endParaRPr lang="uz-Cyrl-UZ" sz="2200" dirty="0">
              <a:latin typeface="Times New Roman" pitchFamily="18" charset="0"/>
              <a:cs typeface="Times New Roman" pitchFamily="18" charset="0"/>
            </a:endParaRPr>
          </a:p>
        </p:txBody>
      </p:sp>
      <p:graphicFrame>
        <p:nvGraphicFramePr>
          <p:cNvPr id="2" name="Объект 1"/>
          <p:cNvGraphicFramePr>
            <a:graphicFrameLocks noChangeAspect="1"/>
          </p:cNvGraphicFramePr>
          <p:nvPr>
            <p:extLst>
              <p:ext uri="{D42A27DB-BD31-4B8C-83A1-F6EECF244321}">
                <p14:modId xmlns:p14="http://schemas.microsoft.com/office/powerpoint/2010/main" val="545745389"/>
              </p:ext>
            </p:extLst>
          </p:nvPr>
        </p:nvGraphicFramePr>
        <p:xfrm>
          <a:off x="3355975" y="4948522"/>
          <a:ext cx="2376488" cy="792163"/>
        </p:xfrm>
        <a:graphic>
          <a:graphicData uri="http://schemas.openxmlformats.org/presentationml/2006/ole">
            <mc:AlternateContent xmlns:mc="http://schemas.openxmlformats.org/markup-compatibility/2006">
              <mc:Choice xmlns:v="urn:schemas-microsoft-com:vml" Requires="v">
                <p:oleObj spid="_x0000_s58425" name="Формула" r:id="rId3" imgW="1333440" imgH="444240" progId="Equation.3">
                  <p:embed/>
                </p:oleObj>
              </mc:Choice>
              <mc:Fallback>
                <p:oleObj name="Формула" r:id="rId3" imgW="1333440" imgH="444240" progId="Equation.3">
                  <p:embed/>
                  <p:pic>
                    <p:nvPicPr>
                      <p:cNvPr id="0" name=""/>
                      <p:cNvPicPr/>
                      <p:nvPr/>
                    </p:nvPicPr>
                    <p:blipFill>
                      <a:blip r:embed="rId4"/>
                      <a:stretch>
                        <a:fillRect/>
                      </a:stretch>
                    </p:blipFill>
                    <p:spPr>
                      <a:xfrm>
                        <a:off x="3355975" y="4948522"/>
                        <a:ext cx="2376488" cy="792163"/>
                      </a:xfrm>
                      <a:prstGeom prst="rect">
                        <a:avLst/>
                      </a:prstGeom>
                    </p:spPr>
                  </p:pic>
                </p:oleObj>
              </mc:Fallback>
            </mc:AlternateContent>
          </a:graphicData>
        </a:graphic>
      </p:graphicFrame>
    </p:spTree>
    <p:extLst>
      <p:ext uri="{BB962C8B-B14F-4D97-AF65-F5344CB8AC3E}">
        <p14:creationId xmlns:p14="http://schemas.microsoft.com/office/powerpoint/2010/main" val="20718045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18464" y="692696"/>
            <a:ext cx="8839017" cy="1046440"/>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447675" algn="just"/>
            <a:r>
              <a:rPr lang="uz-Cyrl-UZ" sz="2000" dirty="0">
                <a:latin typeface="Times New Roman" pitchFamily="18" charset="0"/>
                <a:cs typeface="Times New Roman" pitchFamily="18" charset="0"/>
              </a:rPr>
              <a:t>Айтайлик </a:t>
            </a:r>
            <a:r>
              <a:rPr lang="uz-Cyrl-UZ" sz="2000" b="1" i="1" dirty="0">
                <a:latin typeface="Times New Roman" pitchFamily="18" charset="0"/>
                <a:cs typeface="Times New Roman" pitchFamily="18" charset="0"/>
              </a:rPr>
              <a:t>a</a:t>
            </a:r>
            <a:r>
              <a:rPr lang="uz-Cyrl-UZ" sz="2000" b="1" baseline="-25000" dirty="0">
                <a:latin typeface="Times New Roman" pitchFamily="18" charset="0"/>
                <a:cs typeface="Times New Roman" pitchFamily="18" charset="0"/>
              </a:rPr>
              <a:t>1</a:t>
            </a:r>
            <a:r>
              <a:rPr lang="uz-Cyrl-UZ" sz="2000" b="1" dirty="0">
                <a:latin typeface="Times New Roman" pitchFamily="18" charset="0"/>
                <a:cs typeface="Times New Roman" pitchFamily="18" charset="0"/>
              </a:rPr>
              <a:t>, </a:t>
            </a:r>
            <a:r>
              <a:rPr lang="uz-Cyrl-UZ" sz="2000" b="1" i="1" dirty="0">
                <a:latin typeface="Times New Roman" pitchFamily="18" charset="0"/>
                <a:cs typeface="Times New Roman" pitchFamily="18" charset="0"/>
              </a:rPr>
              <a:t>a</a:t>
            </a:r>
            <a:r>
              <a:rPr lang="uz-Cyrl-UZ" sz="2000" b="1" baseline="-25000" dirty="0">
                <a:latin typeface="Times New Roman" pitchFamily="18" charset="0"/>
                <a:cs typeface="Times New Roman" pitchFamily="18" charset="0"/>
              </a:rPr>
              <a:t>2</a:t>
            </a:r>
            <a:r>
              <a:rPr lang="uz-Cyrl-UZ" sz="2000" b="1" dirty="0">
                <a:latin typeface="Times New Roman" pitchFamily="18" charset="0"/>
                <a:cs typeface="Times New Roman" pitchFamily="18" charset="0"/>
              </a:rPr>
              <a:t>, </a:t>
            </a:r>
            <a:r>
              <a:rPr lang="uz-Cyrl-UZ" sz="2000" b="1" i="1" dirty="0">
                <a:latin typeface="Times New Roman" pitchFamily="18" charset="0"/>
                <a:cs typeface="Times New Roman" pitchFamily="18" charset="0"/>
              </a:rPr>
              <a:t>a</a:t>
            </a:r>
            <a:r>
              <a:rPr lang="uz-Cyrl-UZ" sz="2000" b="1" baseline="-25000" dirty="0">
                <a:latin typeface="Times New Roman" pitchFamily="18" charset="0"/>
                <a:cs typeface="Times New Roman" pitchFamily="18" charset="0"/>
              </a:rPr>
              <a:t>3</a:t>
            </a:r>
            <a:r>
              <a:rPr lang="uz-Cyrl-UZ" sz="2000" b="1" dirty="0">
                <a:latin typeface="Times New Roman" pitchFamily="18" charset="0"/>
                <a:cs typeface="Times New Roman" pitchFamily="18" charset="0"/>
              </a:rPr>
              <a:t>, </a:t>
            </a:r>
            <a:r>
              <a:rPr lang="uz-Cyrl-UZ" sz="2000" b="1" i="1" dirty="0">
                <a:latin typeface="Times New Roman" pitchFamily="18" charset="0"/>
                <a:cs typeface="Times New Roman" pitchFamily="18" charset="0"/>
              </a:rPr>
              <a:t>a</a:t>
            </a:r>
            <a:r>
              <a:rPr lang="uz-Cyrl-UZ" sz="2000" b="1" baseline="-25000" dirty="0">
                <a:latin typeface="Times New Roman" pitchFamily="18" charset="0"/>
                <a:cs typeface="Times New Roman" pitchFamily="18" charset="0"/>
              </a:rPr>
              <a:t>4</a:t>
            </a:r>
            <a:r>
              <a:rPr lang="uz-Cyrl-UZ" sz="2000" b="1" dirty="0">
                <a:latin typeface="Times New Roman" pitchFamily="18" charset="0"/>
                <a:cs typeface="Times New Roman" pitchFamily="18" charset="0"/>
              </a:rPr>
              <a:t> </a:t>
            </a:r>
            <a:r>
              <a:rPr lang="uz-Cyrl-UZ" sz="2000" dirty="0">
                <a:latin typeface="Times New Roman" pitchFamily="18" charset="0"/>
                <a:cs typeface="Times New Roman" pitchFamily="18" charset="0"/>
              </a:rPr>
              <a:t>– бирор шифрлаш алгоритми учун кирувчи блок ҳамда </a:t>
            </a:r>
            <a:r>
              <a:rPr lang="uz-Cyrl-UZ" sz="2000" b="1" i="1" dirty="0">
                <a:latin typeface="Times New Roman" pitchFamily="18" charset="0"/>
                <a:cs typeface="Times New Roman" pitchFamily="18" charset="0"/>
              </a:rPr>
              <a:t>a</a:t>
            </a:r>
            <a:r>
              <a:rPr lang="uz-Cyrl-UZ" sz="2000" b="1" i="1" baseline="-25000" dirty="0">
                <a:latin typeface="Times New Roman" pitchFamily="18" charset="0"/>
                <a:cs typeface="Times New Roman" pitchFamily="18" charset="0"/>
              </a:rPr>
              <a:t>i</a:t>
            </a:r>
            <a:r>
              <a:rPr lang="uz-Cyrl-UZ" sz="2000" dirty="0">
                <a:latin typeface="Times New Roman" pitchFamily="18" charset="0"/>
                <a:cs typeface="Times New Roman" pitchFamily="18" charset="0"/>
              </a:rPr>
              <a:t> – ярим байт (битлар сони 4 та) </a:t>
            </a:r>
            <a:r>
              <a:rPr lang="uz-Cyrl-UZ" sz="2000" dirty="0" smtClean="0">
                <a:latin typeface="Times New Roman" pitchFamily="18" charset="0"/>
                <a:cs typeface="Times New Roman" pitchFamily="18" charset="0"/>
              </a:rPr>
              <a:t>бўлсин. Актив элементлар сони 1 та бўлган очиқ матн блоклари </a:t>
            </a:r>
            <a:r>
              <a:rPr lang="uz-Cyrl-UZ" sz="2000" dirty="0">
                <a:latin typeface="Times New Roman" pitchFamily="18" charset="0"/>
                <a:cs typeface="Times New Roman" pitchFamily="18" charset="0"/>
              </a:rPr>
              <a:t>сони 16 та (</a:t>
            </a:r>
            <a:r>
              <a:rPr lang="uz-Cyrl-UZ" sz="2000" i="1" dirty="0" smtClean="0">
                <a:latin typeface="Times New Roman" pitchFamily="18" charset="0"/>
                <a:cs typeface="Times New Roman" pitchFamily="18" charset="0"/>
              </a:rPr>
              <a:t>m=</a:t>
            </a:r>
            <a:r>
              <a:rPr lang="uz-Cyrl-UZ" sz="2000" dirty="0" smtClean="0">
                <a:latin typeface="Times New Roman" pitchFamily="18" charset="0"/>
                <a:cs typeface="Times New Roman" pitchFamily="18" charset="0"/>
              </a:rPr>
              <a:t>2</a:t>
            </a:r>
            <a:r>
              <a:rPr lang="uz-Cyrl-UZ" sz="2000" baseline="30000" dirty="0" smtClean="0">
                <a:latin typeface="Times New Roman" pitchFamily="18" charset="0"/>
                <a:cs typeface="Times New Roman" pitchFamily="18" charset="0"/>
              </a:rPr>
              <a:t>4*1</a:t>
            </a:r>
            <a:r>
              <a:rPr lang="uz-Cyrl-UZ" sz="2000" i="1" dirty="0" smtClean="0">
                <a:latin typeface="Times New Roman" pitchFamily="18" charset="0"/>
                <a:cs typeface="Times New Roman" pitchFamily="18" charset="0"/>
              </a:rPr>
              <a:t>=</a:t>
            </a:r>
            <a:r>
              <a:rPr lang="uz-Cyrl-UZ" sz="2000" dirty="0" smtClean="0">
                <a:latin typeface="Times New Roman" pitchFamily="18" charset="0"/>
                <a:cs typeface="Times New Roman" pitchFamily="18" charset="0"/>
              </a:rPr>
              <a:t>16</a:t>
            </a:r>
            <a:r>
              <a:rPr lang="uz-Cyrl-UZ" sz="2000" dirty="0">
                <a:latin typeface="Times New Roman" pitchFamily="18" charset="0"/>
                <a:cs typeface="Times New Roman" pitchFamily="18" charset="0"/>
              </a:rPr>
              <a:t>) бўлади. </a:t>
            </a:r>
            <a:r>
              <a:rPr lang="uz-Cyrl-UZ" sz="2000" b="1" i="1" dirty="0" smtClean="0">
                <a:latin typeface="Times New Roman" pitchFamily="18" charset="0"/>
              </a:rPr>
              <a:t>Масалан:</a:t>
            </a:r>
            <a:endParaRPr lang="ru-RU" sz="2000" dirty="0">
              <a:latin typeface="Times New Roman" pitchFamily="18" charset="0"/>
              <a:cs typeface="Times New Roman" pitchFamily="18" charset="0"/>
            </a:endParaRPr>
          </a:p>
        </p:txBody>
      </p:sp>
      <p:sp>
        <p:nvSpPr>
          <p:cNvPr id="27656" name="Rectangle 8"/>
          <p:cNvSpPr>
            <a:spLocks noChangeArrowheads="1"/>
          </p:cNvSpPr>
          <p:nvPr/>
        </p:nvSpPr>
        <p:spPr bwMode="auto">
          <a:xfrm>
            <a:off x="0" y="8620"/>
            <a:ext cx="8892000" cy="584775"/>
          </a:xfrm>
          <a:prstGeom prst="rect">
            <a:avLst/>
          </a:prstGeom>
          <a:solidFill>
            <a:schemeClr val="accent6">
              <a:lumMod val="40000"/>
              <a:lumOff val="60000"/>
              <a:alpha val="95000"/>
            </a:schemeClr>
          </a:solidFill>
          <a:ln>
            <a:noFill/>
          </a:ln>
          <a:effectLst/>
          <a:extLst/>
        </p:spPr>
        <p:txBody>
          <a:bodyPr wrap="square" anchor="ctr">
            <a:spAutoFit/>
          </a:bodyPr>
          <a:lstStyle/>
          <a:p>
            <a:pPr>
              <a:defRPr/>
            </a:pPr>
            <a:r>
              <a:rPr lang="ru-RU" sz="3200" b="1" dirty="0" err="1" smtClean="0">
                <a:solidFill>
                  <a:srgbClr val="000000"/>
                </a:solidFill>
                <a:effectLst>
                  <a:outerShdw blurRad="38100" dist="38100" dir="2700000" algn="tl">
                    <a:srgbClr val="FFFFFF"/>
                  </a:outerShdw>
                </a:effectLst>
                <a:latin typeface="Times New Roman" pitchFamily="18" charset="0"/>
              </a:rPr>
              <a:t>Очиқ</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матнлар</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тўпламига</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наъмуна</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pic>
        <p:nvPicPr>
          <p:cNvPr id="593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564" y="1819274"/>
            <a:ext cx="6525884" cy="476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alpha val="50000"/>
                    </a:schemeClr>
                  </a:outerShdw>
                </a:effectLst>
              </a14:hiddenEffects>
            </a:ext>
          </a:extLst>
        </p:spPr>
      </p:pic>
      <p:pic>
        <p:nvPicPr>
          <p:cNvPr id="5939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69327"/>
          <a:stretch/>
        </p:blipFill>
        <p:spPr bwMode="auto">
          <a:xfrm flipH="1">
            <a:off x="395536" y="2852936"/>
            <a:ext cx="1245402" cy="237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alpha val="50000"/>
                    </a:schemeClr>
                  </a:outerShdw>
                </a:effectLst>
              </a14:hiddenEffects>
            </a:ext>
          </a:extLst>
        </p:spPr>
      </p:pic>
    </p:spTree>
    <p:extLst>
      <p:ext uri="{BB962C8B-B14F-4D97-AF65-F5344CB8AC3E}">
        <p14:creationId xmlns:p14="http://schemas.microsoft.com/office/powerpoint/2010/main" val="9558586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18464" y="950588"/>
            <a:ext cx="8839017" cy="1866344"/>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p>
            <a:pPr indent="447675" algn="just">
              <a:spcAft>
                <a:spcPts val="1200"/>
              </a:spcAft>
            </a:pPr>
            <a:r>
              <a:rPr lang="uz-Cyrl-UZ" sz="2400" dirty="0">
                <a:latin typeface="Times New Roman" pitchFamily="18" charset="0"/>
                <a:cs typeface="Times New Roman" pitchFamily="18" charset="0"/>
              </a:rPr>
              <a:t>Криптотаҳлил асосида, </a:t>
            </a:r>
            <a:r>
              <a:rPr lang="uz-Cyrl-UZ" sz="2400" b="1" u="sng" dirty="0">
                <a:latin typeface="Times New Roman" pitchFamily="18" charset="0"/>
                <a:cs typeface="Times New Roman" pitchFamily="18" charset="0"/>
              </a:rPr>
              <a:t>танлаб олинган А тўплам хусусиятининг шифрлаш алгоритми раундларидан ўтганда қандай ўзгариши</a:t>
            </a:r>
            <a:r>
              <a:rPr lang="uz-Cyrl-UZ" sz="2400" dirty="0">
                <a:latin typeface="Times New Roman" pitchFamily="18" charset="0"/>
                <a:cs typeface="Times New Roman" pitchFamily="18" charset="0"/>
              </a:rPr>
              <a:t>ни (</a:t>
            </a:r>
            <a:r>
              <a:rPr lang="uz-Cyrl-UZ" sz="2400" i="1" dirty="0">
                <a:solidFill>
                  <a:srgbClr val="C00000"/>
                </a:solidFill>
                <a:latin typeface="Times New Roman" pitchFamily="18" charset="0"/>
                <a:cs typeface="Times New Roman" pitchFamily="18" charset="0"/>
              </a:rPr>
              <a:t>актив</a:t>
            </a:r>
            <a:r>
              <a:rPr lang="uz-Cyrl-UZ" sz="2400" dirty="0">
                <a:latin typeface="Times New Roman" pitchFamily="18" charset="0"/>
                <a:cs typeface="Times New Roman" pitchFamily="18" charset="0"/>
              </a:rPr>
              <a:t>, </a:t>
            </a:r>
            <a:r>
              <a:rPr lang="uz-Cyrl-UZ" sz="2400" i="1" dirty="0">
                <a:solidFill>
                  <a:srgbClr val="C00000"/>
                </a:solidFill>
                <a:latin typeface="Times New Roman" pitchFamily="18" charset="0"/>
                <a:cs typeface="Times New Roman" pitchFamily="18" charset="0"/>
              </a:rPr>
              <a:t>пассив</a:t>
            </a:r>
            <a:r>
              <a:rPr lang="uz-Cyrl-UZ" sz="2400" dirty="0">
                <a:latin typeface="Times New Roman" pitchFamily="18" charset="0"/>
                <a:cs typeface="Times New Roman" pitchFamily="18" charset="0"/>
              </a:rPr>
              <a:t>, </a:t>
            </a:r>
            <a:r>
              <a:rPr lang="uz-Cyrl-UZ" sz="2400" i="1" dirty="0">
                <a:solidFill>
                  <a:srgbClr val="C00000"/>
                </a:solidFill>
                <a:latin typeface="Times New Roman" pitchFamily="18" charset="0"/>
                <a:cs typeface="Times New Roman" pitchFamily="18" charset="0"/>
              </a:rPr>
              <a:t>аралаш</a:t>
            </a:r>
            <a:r>
              <a:rPr lang="uz-Cyrl-UZ" sz="2400" dirty="0">
                <a:latin typeface="Times New Roman" pitchFamily="18" charset="0"/>
                <a:cs typeface="Times New Roman" pitchFamily="18" charset="0"/>
              </a:rPr>
              <a:t> (актив ҳам эмас пассив ҳам эмас)) аниқлаш ётади </a:t>
            </a:r>
            <a:r>
              <a:rPr lang="uz-Cyrl-UZ" sz="2400" dirty="0" smtClean="0">
                <a:latin typeface="Times New Roman" pitchFamily="18" charset="0"/>
                <a:cs typeface="Times New Roman" pitchFamily="18" charset="0"/>
              </a:rPr>
              <a:t>(расм</a:t>
            </a:r>
            <a:r>
              <a:rPr lang="uz-Cyrl-UZ" sz="2400" dirty="0">
                <a:latin typeface="Times New Roman" pitchFamily="18" charset="0"/>
                <a:cs typeface="Times New Roman" pitchFamily="18" charset="0"/>
              </a:rPr>
              <a:t>). </a:t>
            </a:r>
            <a:endParaRPr lang="ru-RU" sz="2400" dirty="0">
              <a:latin typeface="Times New Roman" pitchFamily="18" charset="0"/>
              <a:cs typeface="Times New Roman" pitchFamily="18" charset="0"/>
            </a:endParaRPr>
          </a:p>
        </p:txBody>
      </p:sp>
      <p:sp>
        <p:nvSpPr>
          <p:cNvPr id="27656" name="Rectangle 8"/>
          <p:cNvSpPr>
            <a:spLocks noChangeArrowheads="1"/>
          </p:cNvSpPr>
          <p:nvPr/>
        </p:nvSpPr>
        <p:spPr bwMode="auto">
          <a:xfrm>
            <a:off x="0" y="8620"/>
            <a:ext cx="7344000" cy="584775"/>
          </a:xfrm>
          <a:prstGeom prst="rect">
            <a:avLst/>
          </a:prstGeom>
          <a:solidFill>
            <a:srgbClr val="92D050">
              <a:alpha val="95000"/>
            </a:srgbClr>
          </a:solidFill>
          <a:ln>
            <a:noFill/>
          </a:ln>
          <a:effectLst/>
          <a:extLst/>
        </p:spPr>
        <p:txBody>
          <a:bodyPr wrap="square" anchor="ctr">
            <a:spAutoFit/>
          </a:bodyPr>
          <a:lstStyle/>
          <a:p>
            <a:pPr>
              <a:defRPr/>
            </a:pPr>
            <a:r>
              <a:rPr lang="ru-RU" sz="3200" b="1" dirty="0" err="1" smtClean="0">
                <a:solidFill>
                  <a:srgbClr val="000000"/>
                </a:solidFill>
                <a:effectLst>
                  <a:outerShdw blurRad="38100" dist="38100" dir="2700000" algn="tl">
                    <a:srgbClr val="FFFFFF"/>
                  </a:outerShdw>
                </a:effectLst>
                <a:latin typeface="Times New Roman" pitchFamily="18" charset="0"/>
              </a:rPr>
              <a:t>Очиқ</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матнлар</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тўпламини</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кузатиш</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pic>
        <p:nvPicPr>
          <p:cNvPr id="604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448" y="3176972"/>
            <a:ext cx="8402020" cy="223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alpha val="50000"/>
                    </a:schemeClr>
                  </a:outerShdw>
                </a:effectLst>
              </a14:hiddenEffects>
            </a:ext>
          </a:extLst>
        </p:spPr>
      </p:pic>
      <p:sp>
        <p:nvSpPr>
          <p:cNvPr id="2" name="Прямоугольник 1"/>
          <p:cNvSpPr/>
          <p:nvPr/>
        </p:nvSpPr>
        <p:spPr>
          <a:xfrm>
            <a:off x="1079612" y="5625244"/>
            <a:ext cx="7056784" cy="461665"/>
          </a:xfrm>
          <a:prstGeom prst="rect">
            <a:avLst/>
          </a:prstGeom>
        </p:spPr>
        <p:txBody>
          <a:bodyPr wrap="square">
            <a:spAutoFit/>
          </a:bodyPr>
          <a:lstStyle/>
          <a:p>
            <a:pPr algn="ctr"/>
            <a:r>
              <a:rPr lang="uz-Cyrl-UZ" sz="2400" b="1" dirty="0">
                <a:latin typeface="Times New Roman" pitchFamily="18" charset="0"/>
                <a:cs typeface="Times New Roman" pitchFamily="18" charset="0"/>
              </a:rPr>
              <a:t>Очиқ матнлар тўпламини кузатиш схемаси</a:t>
            </a:r>
            <a:endParaRPr lang="ru-RU"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30197246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61475" y="1268760"/>
            <a:ext cx="8839017" cy="4678204"/>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342900" indent="-342900" algn="just">
              <a:spcAft>
                <a:spcPts val="1200"/>
              </a:spcAft>
              <a:buFont typeface="Wingdings" pitchFamily="2" charset="2"/>
              <a:buChar char="q"/>
            </a:pPr>
            <a:r>
              <a:rPr lang="en-US" sz="2400" dirty="0" smtClean="0">
                <a:latin typeface="Times New Roman" pitchFamily="18" charset="0"/>
                <a:cs typeface="Times New Roman" pitchFamily="18" charset="0"/>
              </a:rPr>
              <a:t>SP </a:t>
            </a:r>
            <a:r>
              <a:rPr lang="uz-Cyrl-UZ" sz="2400" dirty="0" smtClean="0">
                <a:latin typeface="Times New Roman" pitchFamily="18" charset="0"/>
                <a:cs typeface="Times New Roman" pitchFamily="18" charset="0"/>
              </a:rPr>
              <a:t>тармоғига асосланган аксарият шифрлаш алгоритмларида раунд калитлари модул 2 бўйича қўшилади. Шунга кўра, </a:t>
            </a:r>
            <a:r>
              <a:rPr lang="uz-Cyrl-UZ" sz="2400" b="1" dirty="0" smtClean="0">
                <a:latin typeface="Times New Roman" pitchFamily="18" charset="0"/>
                <a:cs typeface="Times New Roman" pitchFamily="18" charset="0"/>
              </a:rPr>
              <a:t>калит қўшиш жараёни кузатилаётган тўплам элементлари қийматларини ўзгаришига олиб келади, бироқ тўплам хусусиятини ўзгартирмайди (яъни, элементларнинг актив ёки пассивлик хусусиятини ўзгартирмайди).</a:t>
            </a:r>
            <a:r>
              <a:rPr lang="uz-Cyrl-UZ" sz="2400" dirty="0" smtClean="0">
                <a:latin typeface="Times New Roman" pitchFamily="18" charset="0"/>
                <a:cs typeface="Times New Roman" pitchFamily="18" charset="0"/>
              </a:rPr>
              <a:t> Шунинг учун, тўпламни кузатишда калит қўшиш жараёни инобатга олинмайди, шунингдек, калит қиймати криптотаҳлилчи учун махфий бўлади. </a:t>
            </a:r>
          </a:p>
          <a:p>
            <a:pPr marL="342900" indent="-342900" algn="just">
              <a:spcAft>
                <a:spcPts val="1200"/>
              </a:spcAft>
              <a:buFont typeface="Wingdings" pitchFamily="2" charset="2"/>
              <a:buChar char="q"/>
            </a:pPr>
            <a:r>
              <a:rPr lang="uz-Cyrl-UZ" sz="2400" dirty="0" smtClean="0">
                <a:latin typeface="Times New Roman" pitchFamily="18" charset="0"/>
                <a:cs typeface="Times New Roman" pitchFamily="18" charset="0"/>
              </a:rPr>
              <a:t>Шифрлаш алгоритмларининг ИК усулига бўлган асосий камчилиги ҳам айнан калит қўшиш акслантиришларининг ушбу хусусияти ҳисобланади.</a:t>
            </a:r>
            <a:endParaRPr lang="ru-RU" sz="2400" dirty="0">
              <a:latin typeface="Times New Roman" pitchFamily="18" charset="0"/>
              <a:cs typeface="Times New Roman" pitchFamily="18" charset="0"/>
            </a:endParaRPr>
          </a:p>
        </p:txBody>
      </p:sp>
      <p:sp>
        <p:nvSpPr>
          <p:cNvPr id="27656" name="Rectangle 8"/>
          <p:cNvSpPr>
            <a:spLocks noChangeArrowheads="1"/>
          </p:cNvSpPr>
          <p:nvPr/>
        </p:nvSpPr>
        <p:spPr bwMode="auto">
          <a:xfrm>
            <a:off x="0" y="8620"/>
            <a:ext cx="7344000" cy="584775"/>
          </a:xfrm>
          <a:prstGeom prst="rect">
            <a:avLst/>
          </a:prstGeom>
          <a:solidFill>
            <a:srgbClr val="CCCCFF">
              <a:alpha val="95000"/>
            </a:srgbClr>
          </a:solidFill>
          <a:ln>
            <a:noFill/>
          </a:ln>
          <a:effectLst/>
          <a:extLst/>
        </p:spPr>
        <p:txBody>
          <a:bodyPr wrap="square" anchor="ctr">
            <a:spAutoFit/>
          </a:bodyPr>
          <a:lstStyle/>
          <a:p>
            <a:pPr>
              <a:defRPr/>
            </a:pPr>
            <a:r>
              <a:rPr lang="ru-RU" sz="3200" b="1" dirty="0" err="1" smtClean="0">
                <a:solidFill>
                  <a:srgbClr val="000000"/>
                </a:solidFill>
                <a:effectLst>
                  <a:outerShdw blurRad="38100" dist="38100" dir="2700000" algn="tl">
                    <a:srgbClr val="FFFFFF"/>
                  </a:outerShdw>
                </a:effectLst>
                <a:latin typeface="Times New Roman" pitchFamily="18" charset="0"/>
              </a:rPr>
              <a:t>Ўта</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муҳим</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хусусият</a:t>
            </a:r>
            <a:r>
              <a:rPr lang="ru-RU" sz="3200" b="1" dirty="0" smtClean="0">
                <a:solidFill>
                  <a:srgbClr val="000000"/>
                </a:solidFill>
                <a:effectLst>
                  <a:outerShdw blurRad="38100" dist="38100" dir="2700000" algn="tl">
                    <a:srgbClr val="FFFFFF"/>
                  </a:outerShdw>
                </a:effectLst>
                <a:latin typeface="Times New Roman" pitchFamily="18" charset="0"/>
              </a:rPr>
              <a:t> !</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spTree>
    <p:extLst>
      <p:ext uri="{BB962C8B-B14F-4D97-AF65-F5344CB8AC3E}">
        <p14:creationId xmlns:p14="http://schemas.microsoft.com/office/powerpoint/2010/main" val="22014338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47994" y="858155"/>
            <a:ext cx="8839017" cy="5564600"/>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542925" algn="just">
              <a:lnSpc>
                <a:spcPct val="120000"/>
              </a:lnSpc>
              <a:spcAft>
                <a:spcPts val="600"/>
              </a:spcAft>
            </a:pP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Агар</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кузатилаётган</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очиқ</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матнлар</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тўпламининг</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бирор</a:t>
            </a:r>
            <a:r>
              <a:rPr lang="ru-RU" sz="2400" dirty="0">
                <a:latin typeface="Times New Roman" pitchFamily="18" charset="0"/>
                <a:cs typeface="Times New Roman" pitchFamily="18" charset="0"/>
              </a:rPr>
              <a:t> </a:t>
            </a:r>
            <a:r>
              <a:rPr lang="en-US" sz="2400" b="1" i="1" dirty="0" smtClean="0">
                <a:latin typeface="Times New Roman" pitchFamily="18" charset="0"/>
                <a:cs typeface="Times New Roman" pitchFamily="18" charset="0"/>
              </a:rPr>
              <a:t>R</a:t>
            </a:r>
            <a:r>
              <a:rPr lang="uz-Cyrl-UZ" sz="2400" b="1" i="1"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раунддан</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чиқиш</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ҳолатида</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баланслашганлик</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хусусияти</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бузилиб</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ҳамда</a:t>
            </a:r>
            <a:r>
              <a:rPr lang="ru-RU" sz="2400" dirty="0" smtClean="0">
                <a:latin typeface="Times New Roman" pitchFamily="18" charset="0"/>
                <a:cs typeface="Times New Roman" pitchFamily="18" charset="0"/>
              </a:rPr>
              <a:t> актив </a:t>
            </a:r>
            <a:r>
              <a:rPr lang="ru-RU" sz="2400" dirty="0" err="1" smtClean="0">
                <a:latin typeface="Times New Roman" pitchFamily="18" charset="0"/>
                <a:cs typeface="Times New Roman" pitchFamily="18" charset="0"/>
              </a:rPr>
              <a:t>ва</a:t>
            </a:r>
            <a:r>
              <a:rPr lang="ru-RU" sz="2400" dirty="0" smtClean="0">
                <a:latin typeface="Times New Roman" pitchFamily="18" charset="0"/>
                <a:cs typeface="Times New Roman" pitchFamily="18" charset="0"/>
              </a:rPr>
              <a:t> пассив </a:t>
            </a:r>
            <a:r>
              <a:rPr lang="ru-RU" sz="2400" dirty="0" err="1" smtClean="0">
                <a:latin typeface="Times New Roman" pitchFamily="18" charset="0"/>
                <a:cs typeface="Times New Roman" pitchFamily="18" charset="0"/>
              </a:rPr>
              <a:t>байтлар</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мавжуд</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бўлмаса</a:t>
            </a:r>
            <a:r>
              <a:rPr lang="ru-RU" sz="2400" dirty="0" smtClean="0">
                <a:latin typeface="Times New Roman" pitchFamily="18" charset="0"/>
                <a:cs typeface="Times New Roman" pitchFamily="18" charset="0"/>
              </a:rPr>
              <a:t>, у </a:t>
            </a:r>
            <a:r>
              <a:rPr lang="ru-RU" sz="2400" dirty="0" err="1" smtClean="0">
                <a:latin typeface="Times New Roman" pitchFamily="18" charset="0"/>
                <a:cs typeface="Times New Roman" pitchFamily="18" charset="0"/>
              </a:rPr>
              <a:t>ҳолда</a:t>
            </a:r>
            <a:r>
              <a:rPr lang="ru-RU" sz="2400" dirty="0" smtClean="0">
                <a:latin typeface="Times New Roman" pitchFamily="18" charset="0"/>
                <a:cs typeface="Times New Roman" pitchFamily="18" charset="0"/>
              </a:rPr>
              <a:t> </a:t>
            </a:r>
            <a:r>
              <a:rPr lang="en-US" sz="2400" b="1" i="1" dirty="0" smtClean="0">
                <a:latin typeface="Times New Roman" pitchFamily="18" charset="0"/>
                <a:cs typeface="Times New Roman" pitchFamily="18" charset="0"/>
              </a:rPr>
              <a:t>R</a:t>
            </a:r>
            <a:r>
              <a:rPr lang="en-US"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раундли</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шифрлаш</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алгоритмининг</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сўнгги</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раундида</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фойдаланилган</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махфий</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калитни</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топиш</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мумкин</a:t>
            </a: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бўлади</a:t>
            </a:r>
            <a:r>
              <a:rPr lang="ru-RU" sz="2400" dirty="0" smtClean="0">
                <a:latin typeface="Times New Roman" pitchFamily="18" charset="0"/>
                <a:cs typeface="Times New Roman" pitchFamily="18" charset="0"/>
              </a:rPr>
              <a:t>. </a:t>
            </a:r>
          </a:p>
          <a:p>
            <a:pPr indent="542925" algn="just">
              <a:lnSpc>
                <a:spcPct val="120000"/>
              </a:lnSpc>
              <a:spcAft>
                <a:spcPts val="600"/>
              </a:spcAft>
            </a:pPr>
            <a:endParaRPr lang="ru-RU" sz="2400" dirty="0" smtClean="0">
              <a:latin typeface="Times New Roman" pitchFamily="18" charset="0"/>
              <a:cs typeface="Times New Roman" pitchFamily="18" charset="0"/>
            </a:endParaRPr>
          </a:p>
          <a:p>
            <a:pPr indent="542925" algn="just">
              <a:lnSpc>
                <a:spcPct val="120000"/>
              </a:lnSpc>
              <a:spcAft>
                <a:spcPts val="1200"/>
              </a:spcAft>
            </a:pPr>
            <a:r>
              <a:rPr lang="ru-RU" sz="2400" dirty="0" smtClean="0">
                <a:latin typeface="Times New Roman" pitchFamily="18" charset="0"/>
                <a:cs typeface="Times New Roman" pitchFamily="18" charset="0"/>
              </a:rPr>
              <a:t>! </a:t>
            </a:r>
            <a:r>
              <a:rPr lang="ru-RU" sz="2400" dirty="0" err="1" smtClean="0">
                <a:latin typeface="Times New Roman" pitchFamily="18" charset="0"/>
                <a:cs typeface="Times New Roman" pitchFamily="18" charset="0"/>
              </a:rPr>
              <a:t>Яъни</a:t>
            </a:r>
            <a:r>
              <a:rPr lang="ru-RU" sz="2400"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шифрлаш</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алгоритмининг</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сўнгги</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раундида</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фойдаланилган</a:t>
            </a:r>
            <a:r>
              <a:rPr lang="ru-RU" sz="2400" b="1" dirty="0" smtClean="0">
                <a:latin typeface="Times New Roman" pitchFamily="18" charset="0"/>
                <a:cs typeface="Times New Roman" pitchFamily="18" charset="0"/>
              </a:rPr>
              <a:t> калит </a:t>
            </a:r>
            <a:r>
              <a:rPr lang="ru-RU" sz="2400" b="1" dirty="0" err="1" smtClean="0">
                <a:latin typeface="Times New Roman" pitchFamily="18" charset="0"/>
                <a:cs typeface="Times New Roman" pitchFamily="18" charset="0"/>
              </a:rPr>
              <a:t>қийматини</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аниқлаш</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сўнгги</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раундга</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кирувчи</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тўплам</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элементлари</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учун</a:t>
            </a:r>
            <a:r>
              <a:rPr lang="ru-RU" sz="2400" b="1" dirty="0" smtClean="0">
                <a:latin typeface="Times New Roman" pitchFamily="18" charset="0"/>
                <a:cs typeface="Times New Roman" pitchFamily="18" charset="0"/>
              </a:rPr>
              <a:t> (1) </a:t>
            </a:r>
            <a:r>
              <a:rPr lang="ru-RU" sz="2400" b="1" dirty="0" err="1" smtClean="0">
                <a:latin typeface="Times New Roman" pitchFamily="18" charset="0"/>
                <a:cs typeface="Times New Roman" pitchFamily="18" charset="0"/>
              </a:rPr>
              <a:t>тенглик</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бажарилишини</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ҳамда</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сўнгги</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раунддан</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чиқувчи</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маълумотни</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шифрматнни</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билган</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ҳолда</a:t>
            </a:r>
            <a:r>
              <a:rPr lang="ru-RU" sz="2400" b="1" dirty="0" smtClean="0">
                <a:latin typeface="Times New Roman" pitchFamily="18" charset="0"/>
                <a:cs typeface="Times New Roman" pitchFamily="18" charset="0"/>
              </a:rPr>
              <a:t> статистика </a:t>
            </a:r>
            <a:r>
              <a:rPr lang="ru-RU" sz="2400" b="1" dirty="0" err="1" smtClean="0">
                <a:latin typeface="Times New Roman" pitchFamily="18" charset="0"/>
                <a:cs typeface="Times New Roman" pitchFamily="18" charset="0"/>
              </a:rPr>
              <a:t>ўтказиш</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йўли</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орқали</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амалга</a:t>
            </a:r>
            <a:r>
              <a:rPr lang="ru-RU" sz="2400" b="1" dirty="0" smtClean="0">
                <a:latin typeface="Times New Roman" pitchFamily="18" charset="0"/>
                <a:cs typeface="Times New Roman" pitchFamily="18" charset="0"/>
              </a:rPr>
              <a:t> </a:t>
            </a:r>
            <a:r>
              <a:rPr lang="ru-RU" sz="2400" b="1" dirty="0" err="1" smtClean="0">
                <a:latin typeface="Times New Roman" pitchFamily="18" charset="0"/>
                <a:cs typeface="Times New Roman" pitchFamily="18" charset="0"/>
              </a:rPr>
              <a:t>оширилади</a:t>
            </a:r>
            <a:r>
              <a:rPr lang="ru-RU" sz="2400" b="1" dirty="0" smtClean="0">
                <a:latin typeface="Times New Roman" pitchFamily="18" charset="0"/>
                <a:cs typeface="Times New Roman" pitchFamily="18" charset="0"/>
              </a:rPr>
              <a:t>. </a:t>
            </a:r>
            <a:endParaRPr lang="ru-RU" sz="2400" b="1" dirty="0">
              <a:latin typeface="Times New Roman" pitchFamily="18" charset="0"/>
              <a:cs typeface="Times New Roman" pitchFamily="18" charset="0"/>
            </a:endParaRPr>
          </a:p>
        </p:txBody>
      </p:sp>
      <p:sp>
        <p:nvSpPr>
          <p:cNvPr id="4" name="Rectangle 8"/>
          <p:cNvSpPr>
            <a:spLocks noChangeArrowheads="1"/>
          </p:cNvSpPr>
          <p:nvPr/>
        </p:nvSpPr>
        <p:spPr bwMode="auto">
          <a:xfrm>
            <a:off x="0" y="-27384"/>
            <a:ext cx="8712000" cy="468000"/>
          </a:xfrm>
          <a:prstGeom prst="rect">
            <a:avLst/>
          </a:prstGeom>
          <a:solidFill>
            <a:srgbClr val="92D050">
              <a:alpha val="95000"/>
            </a:srgbClr>
          </a:solidFill>
          <a:ln>
            <a:noFill/>
          </a:ln>
          <a:effectLst/>
          <a:extLst/>
        </p:spPr>
        <p:txBody>
          <a:bodyPr wrap="square" anchor="ctr">
            <a:spAutoFit/>
          </a:bodyPr>
          <a:lstStyle/>
          <a:p>
            <a:pPr>
              <a:defRPr/>
            </a:pPr>
            <a:r>
              <a:rPr lang="ru-RU" sz="3200" b="1" dirty="0" err="1" smtClean="0">
                <a:solidFill>
                  <a:srgbClr val="000000"/>
                </a:solidFill>
                <a:effectLst>
                  <a:outerShdw blurRad="38100" dist="38100" dir="2700000" algn="tl">
                    <a:srgbClr val="FFFFFF"/>
                  </a:outerShdw>
                </a:effectLst>
                <a:latin typeface="Times New Roman" pitchFamily="18" charset="0"/>
              </a:rPr>
              <a:t>Очиқ</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матнлар</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тўпламини</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кузатиш</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натижаси</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spTree>
    <p:extLst>
      <p:ext uri="{BB962C8B-B14F-4D97-AF65-F5344CB8AC3E}">
        <p14:creationId xmlns:p14="http://schemas.microsoft.com/office/powerpoint/2010/main" val="41957804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24007" y="586842"/>
            <a:ext cx="8839017" cy="1569660"/>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542925" algn="just">
              <a:spcAft>
                <a:spcPts val="600"/>
              </a:spcAft>
            </a:pPr>
            <a:r>
              <a:rPr lang="uz-Cyrl-UZ" sz="2400" dirty="0" smtClean="0">
                <a:latin typeface="Times New Roman" pitchFamily="18" charset="0"/>
                <a:cs typeface="Times New Roman" pitchFamily="18" charset="0"/>
              </a:rPr>
              <a:t>Очиқ матнларга </a:t>
            </a:r>
            <a:r>
              <a:rPr lang="uz-Cyrl-UZ" sz="2400" dirty="0">
                <a:latin typeface="Times New Roman" pitchFamily="18" charset="0"/>
                <a:cs typeface="Times New Roman" pitchFamily="18" charset="0"/>
              </a:rPr>
              <a:t>мос шифр матнлар тўпламини бирор танлаб олинган калит асосида бир раунд дешифрланади. Агар дешифрлашдан ҳосил бўлган матнлар тўплами учун (1) тенглик бажарилса, ушбу калит номзод калитлар рўйхатига </a:t>
            </a:r>
            <a:r>
              <a:rPr lang="uz-Cyrl-UZ" sz="2400" dirty="0" smtClean="0">
                <a:latin typeface="Times New Roman" pitchFamily="18" charset="0"/>
                <a:cs typeface="Times New Roman" pitchFamily="18" charset="0"/>
              </a:rPr>
              <a:t>қўшилади.</a:t>
            </a:r>
            <a:endParaRPr lang="ru-RU" sz="2400" b="1" dirty="0">
              <a:latin typeface="Times New Roman" pitchFamily="18" charset="0"/>
              <a:cs typeface="Times New Roman" pitchFamily="18" charset="0"/>
            </a:endParaRPr>
          </a:p>
        </p:txBody>
      </p:sp>
      <p:sp>
        <p:nvSpPr>
          <p:cNvPr id="4" name="Rectangle 8"/>
          <p:cNvSpPr>
            <a:spLocks noChangeArrowheads="1"/>
          </p:cNvSpPr>
          <p:nvPr/>
        </p:nvSpPr>
        <p:spPr bwMode="auto">
          <a:xfrm>
            <a:off x="0" y="-67719"/>
            <a:ext cx="8676000" cy="584775"/>
          </a:xfrm>
          <a:prstGeom prst="rect">
            <a:avLst/>
          </a:prstGeom>
          <a:solidFill>
            <a:srgbClr val="FFC000">
              <a:alpha val="95000"/>
            </a:srgbClr>
          </a:solidFill>
          <a:ln>
            <a:noFill/>
          </a:ln>
          <a:effectLst/>
          <a:extLst/>
        </p:spPr>
        <p:txBody>
          <a:bodyPr wrap="square" anchor="ctr">
            <a:spAutoFit/>
          </a:bodyPr>
          <a:lstStyle/>
          <a:p>
            <a:pPr>
              <a:defRPr/>
            </a:pPr>
            <a:r>
              <a:rPr lang="ru-RU" sz="3200" b="1" dirty="0" err="1" smtClean="0">
                <a:solidFill>
                  <a:srgbClr val="000000"/>
                </a:solidFill>
                <a:effectLst>
                  <a:outerShdw blurRad="38100" dist="38100" dir="2700000" algn="tl">
                    <a:srgbClr val="FFFFFF"/>
                  </a:outerShdw>
                </a:effectLst>
                <a:latin typeface="Times New Roman" pitchFamily="18" charset="0"/>
              </a:rPr>
              <a:t>Сўнгги</a:t>
            </a:r>
            <a:r>
              <a:rPr lang="ru-RU" sz="3200" b="1" dirty="0" smtClean="0">
                <a:solidFill>
                  <a:srgbClr val="000000"/>
                </a:solidFill>
                <a:effectLst>
                  <a:outerShdw blurRad="38100" dist="38100" dir="2700000" algn="tl">
                    <a:srgbClr val="FFFFFF"/>
                  </a:outerShdw>
                </a:effectLst>
                <a:latin typeface="Times New Roman" pitchFamily="18" charset="0"/>
              </a:rPr>
              <a:t> раунд </a:t>
            </a:r>
            <a:r>
              <a:rPr lang="ru-RU" sz="3200" b="1" dirty="0" err="1" smtClean="0">
                <a:solidFill>
                  <a:srgbClr val="000000"/>
                </a:solidFill>
                <a:effectLst>
                  <a:outerShdw blurRad="38100" dist="38100" dir="2700000" algn="tl">
                    <a:srgbClr val="FFFFFF"/>
                  </a:outerShdw>
                </a:effectLst>
                <a:latin typeface="Times New Roman" pitchFamily="18" charset="0"/>
              </a:rPr>
              <a:t>калитини</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аниқлаш</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pic>
        <p:nvPicPr>
          <p:cNvPr id="6246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5156" t="28647" r="9531" b="27148"/>
          <a:stretch/>
        </p:blipFill>
        <p:spPr bwMode="auto">
          <a:xfrm>
            <a:off x="150081" y="2413575"/>
            <a:ext cx="8820000" cy="3656091"/>
          </a:xfrm>
          <a:prstGeom prst="rect">
            <a:avLst/>
          </a:prstGeom>
          <a:noFill/>
          <a:ln>
            <a:noFill/>
          </a:ln>
          <a:effectLst>
            <a:prstShdw prst="shdw17" dist="17961" dir="2700000">
              <a:schemeClr val="accent1">
                <a:gamma/>
                <a:shade val="60000"/>
                <a:invGamma/>
                <a:alpha val="50000"/>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8"/>
          <p:cNvSpPr>
            <a:spLocks noChangeArrowheads="1"/>
          </p:cNvSpPr>
          <p:nvPr/>
        </p:nvSpPr>
        <p:spPr bwMode="auto">
          <a:xfrm>
            <a:off x="216480" y="6171691"/>
            <a:ext cx="8676000" cy="461665"/>
          </a:xfrm>
          <a:prstGeom prst="rect">
            <a:avLst/>
          </a:prstGeom>
          <a:noFill/>
          <a:ln>
            <a:noFill/>
          </a:ln>
          <a:effectLst/>
          <a:extLst/>
        </p:spPr>
        <p:txBody>
          <a:bodyPr wrap="square" anchor="ctr">
            <a:spAutoFit/>
          </a:bodyPr>
          <a:lstStyle/>
          <a:p>
            <a:pPr algn="ctr">
              <a:defRPr/>
            </a:pPr>
            <a:r>
              <a:rPr lang="ru-RU" sz="2400" b="1" dirty="0" err="1" smtClean="0">
                <a:solidFill>
                  <a:srgbClr val="000000"/>
                </a:solidFill>
                <a:effectLst>
                  <a:outerShdw blurRad="38100" dist="38100" dir="2700000" algn="tl">
                    <a:srgbClr val="FFFFFF"/>
                  </a:outerShdw>
                </a:effectLst>
                <a:latin typeface="Times New Roman" pitchFamily="18" charset="0"/>
              </a:rPr>
              <a:t>Сўнгги</a:t>
            </a:r>
            <a:r>
              <a:rPr lang="ru-RU" sz="2400" b="1" dirty="0" smtClean="0">
                <a:solidFill>
                  <a:srgbClr val="000000"/>
                </a:solidFill>
                <a:effectLst>
                  <a:outerShdw blurRad="38100" dist="38100" dir="2700000" algn="tl">
                    <a:srgbClr val="FFFFFF"/>
                  </a:outerShdw>
                </a:effectLst>
                <a:latin typeface="Times New Roman" pitchFamily="18" charset="0"/>
              </a:rPr>
              <a:t> раунд </a:t>
            </a:r>
            <a:r>
              <a:rPr lang="ru-RU" sz="2400" b="1" dirty="0" err="1" smtClean="0">
                <a:solidFill>
                  <a:srgbClr val="000000"/>
                </a:solidFill>
                <a:effectLst>
                  <a:outerShdw blurRad="38100" dist="38100" dir="2700000" algn="tl">
                    <a:srgbClr val="FFFFFF"/>
                  </a:outerShdw>
                </a:effectLst>
                <a:latin typeface="Times New Roman" pitchFamily="18" charset="0"/>
              </a:rPr>
              <a:t>калитини</a:t>
            </a:r>
            <a:r>
              <a:rPr lang="ru-RU" sz="2400" b="1" dirty="0" smtClean="0">
                <a:solidFill>
                  <a:srgbClr val="000000"/>
                </a:solidFill>
                <a:effectLst>
                  <a:outerShdw blurRad="38100" dist="38100" dir="2700000" algn="tl">
                    <a:srgbClr val="FFFFFF"/>
                  </a:outerShdw>
                </a:effectLst>
                <a:latin typeface="Times New Roman" pitchFamily="18" charset="0"/>
              </a:rPr>
              <a:t> </a:t>
            </a:r>
            <a:r>
              <a:rPr lang="ru-RU" sz="2400" b="1" dirty="0" err="1" smtClean="0">
                <a:solidFill>
                  <a:srgbClr val="000000"/>
                </a:solidFill>
                <a:effectLst>
                  <a:outerShdw blurRad="38100" dist="38100" dir="2700000" algn="tl">
                    <a:srgbClr val="FFFFFF"/>
                  </a:outerShdw>
                </a:effectLst>
                <a:latin typeface="Times New Roman" pitchFamily="18" charset="0"/>
              </a:rPr>
              <a:t>аниқлашнинг</a:t>
            </a:r>
            <a:r>
              <a:rPr lang="ru-RU" sz="2400" b="1" dirty="0" smtClean="0">
                <a:solidFill>
                  <a:srgbClr val="000000"/>
                </a:solidFill>
                <a:effectLst>
                  <a:outerShdw blurRad="38100" dist="38100" dir="2700000" algn="tl">
                    <a:srgbClr val="FFFFFF"/>
                  </a:outerShdw>
                </a:effectLst>
                <a:latin typeface="Times New Roman" pitchFamily="18" charset="0"/>
              </a:rPr>
              <a:t> функционал </a:t>
            </a:r>
            <a:r>
              <a:rPr lang="ru-RU" sz="2400" b="1" dirty="0" err="1" smtClean="0">
                <a:solidFill>
                  <a:srgbClr val="000000"/>
                </a:solidFill>
                <a:effectLst>
                  <a:outerShdw blurRad="38100" dist="38100" dir="2700000" algn="tl">
                    <a:srgbClr val="FFFFFF"/>
                  </a:outerShdw>
                </a:effectLst>
                <a:latin typeface="Times New Roman" pitchFamily="18" charset="0"/>
              </a:rPr>
              <a:t>схемаси</a:t>
            </a:r>
            <a:endParaRPr kumimoji="1" lang="ru-RU" sz="2400" b="1" dirty="0">
              <a:solidFill>
                <a:srgbClr val="000000"/>
              </a:solidFill>
              <a:effectLst>
                <a:outerShdw blurRad="38100" dist="38100" dir="2700000" algn="tl">
                  <a:srgbClr val="FFFFFF"/>
                </a:outerShdw>
              </a:effectLst>
              <a:latin typeface="Times New Roman" pitchFamily="18" charset="0"/>
            </a:endParaRPr>
          </a:p>
        </p:txBody>
      </p:sp>
    </p:spTree>
    <p:extLst>
      <p:ext uri="{BB962C8B-B14F-4D97-AF65-F5344CB8AC3E}">
        <p14:creationId xmlns:p14="http://schemas.microsoft.com/office/powerpoint/2010/main" val="28368407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0" y="-3793"/>
            <a:ext cx="8676000" cy="492443"/>
          </a:xfrm>
          <a:prstGeom prst="rect">
            <a:avLst/>
          </a:prstGeom>
          <a:solidFill>
            <a:srgbClr val="92D050">
              <a:alpha val="95000"/>
            </a:srgbClr>
          </a:solidFill>
          <a:ln>
            <a:noFill/>
          </a:ln>
          <a:effectLst/>
          <a:extLst/>
        </p:spPr>
        <p:txBody>
          <a:bodyPr wrap="square" anchor="ctr">
            <a:spAutoFit/>
          </a:bodyPr>
          <a:lstStyle/>
          <a:p>
            <a:pPr algn="just">
              <a:defRPr/>
            </a:pPr>
            <a:r>
              <a:rPr lang="en-US" sz="2600" b="1" dirty="0">
                <a:solidFill>
                  <a:srgbClr val="000000"/>
                </a:solidFill>
                <a:effectLst>
                  <a:outerShdw blurRad="38100" dist="38100" dir="2700000" algn="tl">
                    <a:srgbClr val="FFFFFF"/>
                  </a:outerShdw>
                </a:effectLst>
                <a:latin typeface="Times New Roman" pitchFamily="18" charset="0"/>
              </a:rPr>
              <a:t>S_AES </a:t>
            </a:r>
            <a:r>
              <a:rPr lang="ru-RU" sz="2600" b="1" dirty="0" err="1" smtClean="0">
                <a:solidFill>
                  <a:srgbClr val="000000"/>
                </a:solidFill>
                <a:effectLst>
                  <a:outerShdw blurRad="38100" dist="38100" dir="2700000" algn="tl">
                    <a:srgbClr val="FFFFFF"/>
                  </a:outerShdw>
                </a:effectLst>
                <a:latin typeface="Times New Roman" pitchFamily="18" charset="0"/>
              </a:rPr>
              <a:t>алгоритмига</a:t>
            </a:r>
            <a:r>
              <a:rPr lang="ru-RU" sz="2600" b="1" dirty="0" smtClean="0">
                <a:solidFill>
                  <a:srgbClr val="000000"/>
                </a:solidFill>
                <a:effectLst>
                  <a:outerShdw blurRad="38100" dist="38100" dir="2700000" algn="tl">
                    <a:srgbClr val="FFFFFF"/>
                  </a:outerShdw>
                </a:effectLst>
                <a:latin typeface="Times New Roman" pitchFamily="18" charset="0"/>
              </a:rPr>
              <a:t> </a:t>
            </a:r>
            <a:r>
              <a:rPr lang="ru-RU" sz="2600" b="1" dirty="0">
                <a:solidFill>
                  <a:srgbClr val="000000"/>
                </a:solidFill>
                <a:effectLst>
                  <a:outerShdw blurRad="38100" dist="38100" dir="2700000" algn="tl">
                    <a:srgbClr val="FFFFFF"/>
                  </a:outerShdw>
                </a:effectLst>
                <a:latin typeface="Times New Roman" pitchFamily="18" charset="0"/>
              </a:rPr>
              <a:t>ИК </a:t>
            </a:r>
            <a:r>
              <a:rPr lang="ru-RU" sz="2600" b="1" dirty="0" err="1">
                <a:solidFill>
                  <a:srgbClr val="000000"/>
                </a:solidFill>
                <a:effectLst>
                  <a:outerShdw blurRad="38100" dist="38100" dir="2700000" algn="tl">
                    <a:srgbClr val="FFFFFF"/>
                  </a:outerShdw>
                </a:effectLst>
                <a:latin typeface="Times New Roman" pitchFamily="18" charset="0"/>
              </a:rPr>
              <a:t>усули</a:t>
            </a:r>
            <a:r>
              <a:rPr lang="ru-RU" sz="2600" b="1" dirty="0">
                <a:solidFill>
                  <a:srgbClr val="000000"/>
                </a:solidFill>
                <a:effectLst>
                  <a:outerShdw blurRad="38100" dist="38100" dir="2700000" algn="tl">
                    <a:srgbClr val="FFFFFF"/>
                  </a:outerShdw>
                </a:effectLst>
                <a:latin typeface="Times New Roman" pitchFamily="18" charset="0"/>
              </a:rPr>
              <a:t> </a:t>
            </a:r>
            <a:r>
              <a:rPr lang="ru-RU" sz="2600" b="1" dirty="0" err="1">
                <a:solidFill>
                  <a:srgbClr val="000000"/>
                </a:solidFill>
                <a:effectLst>
                  <a:outerShdw blurRad="38100" dist="38100" dir="2700000" algn="tl">
                    <a:srgbClr val="FFFFFF"/>
                  </a:outerShdw>
                </a:effectLst>
                <a:latin typeface="Times New Roman" pitchFamily="18" charset="0"/>
              </a:rPr>
              <a:t>қўлланилишига</a:t>
            </a:r>
            <a:r>
              <a:rPr lang="ru-RU" sz="2600" b="1" dirty="0">
                <a:solidFill>
                  <a:srgbClr val="000000"/>
                </a:solidFill>
                <a:effectLst>
                  <a:outerShdw blurRad="38100" dist="38100" dir="2700000" algn="tl">
                    <a:srgbClr val="FFFFFF"/>
                  </a:outerShdw>
                </a:effectLst>
                <a:latin typeface="Times New Roman" pitchFamily="18" charset="0"/>
              </a:rPr>
              <a:t> </a:t>
            </a:r>
            <a:r>
              <a:rPr lang="ru-RU" sz="2600" b="1" dirty="0" err="1" smtClean="0">
                <a:solidFill>
                  <a:srgbClr val="000000"/>
                </a:solidFill>
                <a:effectLst>
                  <a:outerShdw blurRad="38100" dist="38100" dir="2700000" algn="tl">
                    <a:srgbClr val="FFFFFF"/>
                  </a:outerShdw>
                </a:effectLst>
                <a:latin typeface="Times New Roman" pitchFamily="18" charset="0"/>
              </a:rPr>
              <a:t>намуна</a:t>
            </a:r>
            <a:endParaRPr kumimoji="1" lang="ru-RU" sz="2600" b="1" dirty="0">
              <a:solidFill>
                <a:srgbClr val="000000"/>
              </a:solidFill>
              <a:effectLst>
                <a:outerShdw blurRad="38100" dist="38100" dir="2700000" algn="tl">
                  <a:srgbClr val="FFFFFF"/>
                </a:outerShdw>
              </a:effectLst>
              <a:latin typeface="Times New Roman" pitchFamily="18" charset="0"/>
            </a:endParaRPr>
          </a:p>
        </p:txBody>
      </p:sp>
      <p:sp>
        <p:nvSpPr>
          <p:cNvPr id="6" name="Rectangle 8"/>
          <p:cNvSpPr>
            <a:spLocks noChangeArrowheads="1"/>
          </p:cNvSpPr>
          <p:nvPr/>
        </p:nvSpPr>
        <p:spPr bwMode="auto">
          <a:xfrm>
            <a:off x="216480" y="6418492"/>
            <a:ext cx="8676000" cy="400110"/>
          </a:xfrm>
          <a:prstGeom prst="rect">
            <a:avLst/>
          </a:prstGeom>
          <a:noFill/>
          <a:ln>
            <a:noFill/>
          </a:ln>
          <a:effectLst/>
          <a:extLst/>
        </p:spPr>
        <p:txBody>
          <a:bodyPr wrap="square" anchor="ctr">
            <a:spAutoFit/>
          </a:bodyPr>
          <a:lstStyle/>
          <a:p>
            <a:pPr algn="r">
              <a:defRPr/>
            </a:pPr>
            <a:r>
              <a:rPr lang="ru-RU" sz="2000" dirty="0">
                <a:solidFill>
                  <a:srgbClr val="000000"/>
                </a:solidFill>
                <a:effectLst>
                  <a:outerShdw blurRad="38100" dist="38100" dir="2700000" algn="tl">
                    <a:srgbClr val="FFFFFF"/>
                  </a:outerShdw>
                </a:effectLst>
                <a:latin typeface="Times New Roman" pitchFamily="18" charset="0"/>
              </a:rPr>
              <a:t>4 </a:t>
            </a:r>
            <a:r>
              <a:rPr lang="ru-RU" sz="2000" dirty="0" err="1">
                <a:solidFill>
                  <a:srgbClr val="000000"/>
                </a:solidFill>
                <a:effectLst>
                  <a:outerShdw blurRad="38100" dist="38100" dir="2700000" algn="tl">
                    <a:srgbClr val="FFFFFF"/>
                  </a:outerShdw>
                </a:effectLst>
                <a:latin typeface="Times New Roman" pitchFamily="18" charset="0"/>
              </a:rPr>
              <a:t>раундли</a:t>
            </a:r>
            <a:r>
              <a:rPr lang="ru-RU" sz="2000" dirty="0">
                <a:solidFill>
                  <a:srgbClr val="000000"/>
                </a:solidFill>
                <a:effectLst>
                  <a:outerShdw blurRad="38100" dist="38100" dir="2700000" algn="tl">
                    <a:srgbClr val="FFFFFF"/>
                  </a:outerShdw>
                </a:effectLst>
                <a:latin typeface="Times New Roman" pitchFamily="18" charset="0"/>
              </a:rPr>
              <a:t> </a:t>
            </a:r>
            <a:r>
              <a:rPr lang="en-US" sz="2000" dirty="0">
                <a:solidFill>
                  <a:srgbClr val="000000"/>
                </a:solidFill>
                <a:effectLst>
                  <a:outerShdw blurRad="38100" dist="38100" dir="2700000" algn="tl">
                    <a:srgbClr val="FFFFFF"/>
                  </a:outerShdw>
                </a:effectLst>
                <a:latin typeface="Times New Roman" pitchFamily="18" charset="0"/>
              </a:rPr>
              <a:t>S_AES  </a:t>
            </a:r>
            <a:r>
              <a:rPr lang="ru-RU" sz="2000" dirty="0" err="1">
                <a:solidFill>
                  <a:srgbClr val="000000"/>
                </a:solidFill>
                <a:effectLst>
                  <a:outerShdw blurRad="38100" dist="38100" dir="2700000" algn="tl">
                    <a:srgbClr val="FFFFFF"/>
                  </a:outerShdw>
                </a:effectLst>
                <a:latin typeface="Times New Roman" pitchFamily="18" charset="0"/>
              </a:rPr>
              <a:t>алгоритми</a:t>
            </a:r>
            <a:r>
              <a:rPr lang="ru-RU" sz="2000" dirty="0">
                <a:solidFill>
                  <a:srgbClr val="000000"/>
                </a:solidFill>
                <a:effectLst>
                  <a:outerShdw blurRad="38100" dist="38100" dir="2700000" algn="tl">
                    <a:srgbClr val="FFFFFF"/>
                  </a:outerShdw>
                </a:effectLst>
                <a:latin typeface="Times New Roman" pitchFamily="18" charset="0"/>
              </a:rPr>
              <a:t> </a:t>
            </a:r>
            <a:r>
              <a:rPr lang="ru-RU" sz="2000" dirty="0" err="1">
                <a:solidFill>
                  <a:srgbClr val="000000"/>
                </a:solidFill>
                <a:effectLst>
                  <a:outerShdw blurRad="38100" dist="38100" dir="2700000" algn="tl">
                    <a:srgbClr val="FFFFFF"/>
                  </a:outerShdw>
                </a:effectLst>
                <a:latin typeface="Times New Roman" pitchFamily="18" charset="0"/>
              </a:rPr>
              <a:t>схемаси</a:t>
            </a:r>
            <a:endParaRPr kumimoji="1" lang="ru-RU" sz="2000" dirty="0">
              <a:solidFill>
                <a:srgbClr val="000000"/>
              </a:solidFill>
              <a:effectLst>
                <a:outerShdw blurRad="38100" dist="38100" dir="2700000" algn="tl">
                  <a:srgbClr val="FFFFFF"/>
                </a:outerShdw>
              </a:effectLst>
              <a:latin typeface="Times New Roman" pitchFamily="18" charset="0"/>
            </a:endParaRPr>
          </a:p>
        </p:txBody>
      </p:sp>
      <p:pic>
        <p:nvPicPr>
          <p:cNvPr id="63499"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512" y="548680"/>
            <a:ext cx="8790878" cy="93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alpha val="50000"/>
                    </a:schemeClr>
                  </a:outerShdw>
                </a:effectLst>
              </a14:hiddenEffects>
            </a:ext>
          </a:extLst>
        </p:spPr>
      </p:pic>
      <p:pic>
        <p:nvPicPr>
          <p:cNvPr id="63500"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9289" y="1521336"/>
            <a:ext cx="5226603" cy="493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alpha val="50000"/>
                    </a:schemeClr>
                  </a:outerShdw>
                </a:effectLst>
              </a14:hiddenEffects>
            </a:ext>
          </a:extLst>
        </p:spPr>
      </p:pic>
      <p:sp>
        <p:nvSpPr>
          <p:cNvPr id="17" name="Объект 3"/>
          <p:cNvSpPr txBox="1">
            <a:spLocks/>
          </p:cNvSpPr>
          <p:nvPr/>
        </p:nvSpPr>
        <p:spPr>
          <a:xfrm>
            <a:off x="143904" y="1818830"/>
            <a:ext cx="3564000" cy="4413212"/>
          </a:xfrm>
          <a:prstGeom prst="rect">
            <a:avLst/>
          </a:prstGeom>
          <a:solidFill>
            <a:schemeClr val="bg1"/>
          </a:solidFill>
          <a:ln w="25400" cap="rnd" cmpd="sng" algn="ctr">
            <a:solidFill>
              <a:sysClr val="windowText" lastClr="000000"/>
            </a:solidFill>
            <a:prstDash val="solid"/>
          </a:ln>
          <a:effectLst/>
        </p:spPr>
        <p:txBody>
          <a:bodyPr vert="horz" lIns="91440" tIns="45720" rIns="91440" bIns="45720" rtlCol="0">
            <a:normAutofit/>
          </a:bodyPr>
          <a:lstStyle>
            <a:lvl1pPr marL="342900" indent="-342900" algn="l" defTabSz="914400" rtl="0" latinLnBrk="0">
              <a:spcBef>
                <a:spcPct val="20000"/>
              </a:spcBef>
              <a:buFont typeface="Arial" pitchFamily="34" charset="0"/>
              <a:buChar char="•"/>
              <a:defRPr sz="2800" kern="1200">
                <a:solidFill>
                  <a:schemeClr val="dk1"/>
                </a:solidFill>
                <a:latin typeface="+mn-lt"/>
                <a:ea typeface="+mn-ea"/>
                <a:cs typeface="+mn-cs"/>
              </a:defRPr>
            </a:lvl1pPr>
            <a:lvl2pPr marL="742950" indent="-285750" algn="l" defTabSz="914400" rtl="0" latinLnBrk="0">
              <a:spcBef>
                <a:spcPct val="20000"/>
              </a:spcBef>
              <a:buFont typeface="Arial" pitchFamily="34" charset="0"/>
              <a:buChar char="–"/>
              <a:defRPr sz="2400" kern="1200">
                <a:solidFill>
                  <a:schemeClr val="dk1"/>
                </a:solidFill>
                <a:latin typeface="+mn-lt"/>
                <a:ea typeface="+mn-ea"/>
                <a:cs typeface="+mn-cs"/>
              </a:defRPr>
            </a:lvl2pPr>
            <a:lvl3pPr marL="1143000" indent="-228600" algn="l" defTabSz="914400" rtl="0" latinLnBrk="0">
              <a:spcBef>
                <a:spcPct val="20000"/>
              </a:spcBef>
              <a:buFont typeface="Arial" pitchFamily="34" charset="0"/>
              <a:buChar char="•"/>
              <a:defRPr sz="2000" kern="1200">
                <a:solidFill>
                  <a:schemeClr val="dk1"/>
                </a:solidFill>
                <a:latin typeface="+mn-lt"/>
                <a:ea typeface="+mn-ea"/>
                <a:cs typeface="+mn-cs"/>
              </a:defRPr>
            </a:lvl3pPr>
            <a:lvl4pPr marL="1600200" indent="-228600" algn="l" defTabSz="914400" rtl="0" latinLnBrk="0">
              <a:spcBef>
                <a:spcPct val="20000"/>
              </a:spcBef>
              <a:buFont typeface="Arial" pitchFamily="34" charset="0"/>
              <a:buChar char="–"/>
              <a:defRPr sz="1800" kern="1200">
                <a:solidFill>
                  <a:schemeClr val="dk1"/>
                </a:solidFill>
                <a:latin typeface="+mn-lt"/>
                <a:ea typeface="+mn-ea"/>
                <a:cs typeface="+mn-cs"/>
              </a:defRPr>
            </a:lvl4pPr>
            <a:lvl5pPr marL="2057400" indent="-228600" algn="l" defTabSz="914400" rtl="0" latinLnBrk="0">
              <a:spcBef>
                <a:spcPct val="20000"/>
              </a:spcBef>
              <a:buFont typeface="Arial" pitchFamily="34" charset="0"/>
              <a:buChar char="»"/>
              <a:defRPr sz="1800" kern="1200">
                <a:solidFill>
                  <a:schemeClr val="dk1"/>
                </a:solidFill>
                <a:latin typeface="+mn-lt"/>
                <a:ea typeface="+mn-ea"/>
                <a:cs typeface="+mn-cs"/>
              </a:defRPr>
            </a:lvl5pPr>
            <a:lvl6pPr marL="2514600" indent="-228600" algn="l" defTabSz="914400" rtl="0" latinLnBrk="0">
              <a:spcBef>
                <a:spcPct val="20000"/>
              </a:spcBef>
              <a:buFont typeface="Arial" pitchFamily="34" charset="0"/>
              <a:buChar char="•"/>
              <a:defRPr sz="1800" kern="1200">
                <a:solidFill>
                  <a:schemeClr val="dk1"/>
                </a:solidFill>
                <a:latin typeface="+mn-lt"/>
                <a:ea typeface="+mn-ea"/>
                <a:cs typeface="+mn-cs"/>
              </a:defRPr>
            </a:lvl6pPr>
            <a:lvl7pPr marL="2971800" indent="-228600" algn="l" defTabSz="914400" rtl="0" latinLnBrk="0">
              <a:spcBef>
                <a:spcPct val="20000"/>
              </a:spcBef>
              <a:buFont typeface="Arial" pitchFamily="34" charset="0"/>
              <a:buChar char="•"/>
              <a:defRPr sz="1800" kern="1200">
                <a:solidFill>
                  <a:schemeClr val="dk1"/>
                </a:solidFill>
                <a:latin typeface="+mn-lt"/>
                <a:ea typeface="+mn-ea"/>
                <a:cs typeface="+mn-cs"/>
              </a:defRPr>
            </a:lvl7pPr>
            <a:lvl8pPr marL="3429000" indent="-228600" algn="l" defTabSz="914400" rtl="0" latinLnBrk="0">
              <a:spcBef>
                <a:spcPct val="20000"/>
              </a:spcBef>
              <a:buFont typeface="Arial" pitchFamily="34" charset="0"/>
              <a:buChar char="•"/>
              <a:defRPr sz="1800" kern="1200">
                <a:solidFill>
                  <a:schemeClr val="dk1"/>
                </a:solidFill>
                <a:latin typeface="+mn-lt"/>
                <a:ea typeface="+mn-ea"/>
                <a:cs typeface="+mn-cs"/>
              </a:defRPr>
            </a:lvl8pPr>
            <a:lvl9pPr marL="3886200" indent="-228600" algn="l" defTabSz="914400" rtl="0" latinLnBrk="0">
              <a:spcBef>
                <a:spcPct val="20000"/>
              </a:spcBef>
              <a:buFont typeface="Arial" pitchFamily="34" charset="0"/>
              <a:buChar char="•"/>
              <a:defRPr sz="1800" kern="1200">
                <a:solidFill>
                  <a:schemeClr val="dk1"/>
                </a:solidFill>
                <a:latin typeface="+mn-lt"/>
                <a:ea typeface="+mn-ea"/>
                <a:cs typeface="+mn-cs"/>
              </a:defRPr>
            </a:lvl9pPr>
          </a:lstStyle>
          <a:p>
            <a:pPr marL="1588" marR="0" lvl="0" indent="355600" algn="just" defTabSz="914400" rtl="0" eaLnBrk="1" fontAlgn="auto" latinLnBrk="0" hangingPunct="1">
              <a:lnSpc>
                <a:spcPct val="100000"/>
              </a:lnSpc>
              <a:spcBef>
                <a:spcPct val="20000"/>
              </a:spcBef>
              <a:spcAft>
                <a:spcPts val="0"/>
              </a:spcAft>
              <a:buClr>
                <a:sysClr val="window" lastClr="FFFFFF"/>
              </a:buClr>
              <a:buSzTx/>
              <a:buFont typeface="Arial" pitchFamily="34" charset="0"/>
              <a:buNone/>
              <a:tabLst/>
              <a:defRPr/>
            </a:pPr>
            <a:r>
              <a:rPr kumimoji="0" lang="uz-Cyrl-UZ" sz="1900" b="1" i="0" u="sng" strike="noStrike" kern="1200" cap="none" spc="0" normalizeH="0" baseline="0" noProof="0" dirty="0" smtClean="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S-AES алгоритми:</a:t>
            </a:r>
            <a:endParaRPr kumimoji="0" lang="ru-RU" sz="1900" b="1" i="1" u="sng" strike="noStrike" kern="1200" cap="none" spc="0" normalizeH="0" baseline="0" noProof="0" dirty="0" smtClean="0">
              <a:ln>
                <a:noFill/>
              </a:ln>
              <a:solidFill>
                <a:sysClr val="windowText" lastClr="000000"/>
              </a:solidFill>
              <a:effectLst>
                <a:outerShdw blurRad="38100" dist="38100" dir="2700000" algn="tl">
                  <a:srgbClr val="C0C0C0"/>
                </a:outerShdw>
              </a:effectLst>
              <a:uLnTx/>
              <a:uFillTx/>
              <a:latin typeface="Times New Roman" pitchFamily="18" charset="0"/>
              <a:ea typeface="+mn-ea"/>
              <a:cs typeface="+mn-cs"/>
            </a:endParaRPr>
          </a:p>
          <a:p>
            <a:pPr marL="92075" marR="0" lvl="0" indent="266700" algn="just" defTabSz="914400" rtl="0" eaLnBrk="1" fontAlgn="auto" latinLnBrk="0" hangingPunct="1">
              <a:lnSpc>
                <a:spcPct val="100000"/>
              </a:lnSpc>
              <a:spcBef>
                <a:spcPct val="20000"/>
              </a:spcBef>
              <a:spcAft>
                <a:spcPts val="0"/>
              </a:spcAft>
              <a:buClr>
                <a:srgbClr val="1F497D"/>
              </a:buClr>
              <a:buSzTx/>
              <a:buFont typeface="Wingdings" pitchFamily="2" charset="2"/>
              <a:buChar char="Ш"/>
              <a:tabLst/>
              <a:defRPr/>
            </a:pPr>
            <a:r>
              <a:rPr kumimoji="0" lang="ru-RU"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итерация </a:t>
            </a:r>
            <a:r>
              <a:rPr kumimoji="0" lang="ru-RU" sz="1900" b="0" i="1" u="none" strike="noStrike" kern="1200" cap="none" spc="0" normalizeH="0" baseline="0" noProof="0" dirty="0" err="1" smtClean="0">
                <a:ln>
                  <a:noFill/>
                </a:ln>
                <a:solidFill>
                  <a:sysClr val="windowText" lastClr="000000"/>
                </a:solidFill>
                <a:effectLst/>
                <a:uLnTx/>
                <a:uFillTx/>
                <a:latin typeface="Times New Roman" pitchFamily="18" charset="0"/>
                <a:ea typeface="+mn-ea"/>
                <a:cs typeface="+mn-cs"/>
              </a:rPr>
              <a:t>тармо</a:t>
            </a:r>
            <a:r>
              <a:rPr kumimoji="0" lang="uz-Cyrl-UZ"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ғи  </a:t>
            </a:r>
            <a:r>
              <a:rPr kumimoji="0" lang="en-US"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 </a:t>
            </a:r>
            <a:r>
              <a:rPr kumimoji="0" lang="en-US" sz="1900" b="0" i="1" u="none" strike="noStrike" kern="1200" cap="none" spc="0" normalizeH="0" baseline="0" noProof="0" dirty="0" smtClean="0">
                <a:ln>
                  <a:noFill/>
                </a:ln>
                <a:solidFill>
                  <a:srgbClr val="C00000"/>
                </a:solidFill>
                <a:effectLst/>
                <a:uLnTx/>
                <a:uFillTx/>
                <a:latin typeface="Times New Roman" pitchFamily="18" charset="0"/>
                <a:ea typeface="+mn-ea"/>
                <a:cs typeface="+mn-cs"/>
              </a:rPr>
              <a:t>SP</a:t>
            </a:r>
            <a:r>
              <a:rPr kumimoji="0" lang="en-US"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 </a:t>
            </a:r>
            <a:endParaRPr kumimoji="0" lang="ru-RU"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endParaRPr>
          </a:p>
          <a:p>
            <a:pPr marL="92075" marR="0" lvl="0" indent="266700" algn="just" defTabSz="914400" rtl="0" eaLnBrk="1" fontAlgn="auto" latinLnBrk="0" hangingPunct="1">
              <a:lnSpc>
                <a:spcPct val="100000"/>
              </a:lnSpc>
              <a:spcBef>
                <a:spcPct val="20000"/>
              </a:spcBef>
              <a:spcAft>
                <a:spcPts val="0"/>
              </a:spcAft>
              <a:buClr>
                <a:srgbClr val="1F497D"/>
              </a:buClr>
              <a:buSzTx/>
              <a:buFont typeface="Wingdings" pitchFamily="2" charset="2"/>
              <a:buChar char="Ш"/>
              <a:tabLst/>
              <a:defRPr/>
            </a:pPr>
            <a:r>
              <a:rPr kumimoji="0" lang="uz-Cyrl-UZ"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блок</a:t>
            </a:r>
            <a:r>
              <a:rPr kumimoji="0" lang="uz-Cyrl-UZ" sz="1900" b="0" i="0"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 </a:t>
            </a:r>
            <a:r>
              <a:rPr kumimoji="0" lang="uz-Cyrl-UZ"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узунлиги – </a:t>
            </a:r>
            <a:r>
              <a:rPr kumimoji="0" lang="uz-Cyrl-UZ" sz="1900" b="0" i="1" u="none" strike="noStrike" kern="1200" cap="none" spc="0" normalizeH="0" baseline="0" noProof="0" dirty="0" smtClean="0">
                <a:ln>
                  <a:noFill/>
                </a:ln>
                <a:solidFill>
                  <a:srgbClr val="C00000"/>
                </a:solidFill>
                <a:effectLst/>
                <a:uLnTx/>
                <a:uFillTx/>
                <a:latin typeface="Times New Roman" pitchFamily="18" charset="0"/>
                <a:ea typeface="+mn-ea"/>
                <a:cs typeface="+mn-cs"/>
              </a:rPr>
              <a:t>16 бит</a:t>
            </a:r>
            <a:r>
              <a:rPr kumimoji="0" lang="en-US"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a:t>
            </a:r>
            <a:r>
              <a:rPr kumimoji="0" lang="uz-Cyrl-UZ"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 </a:t>
            </a:r>
            <a:endParaRPr kumimoji="0" lang="en-US"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endParaRPr>
          </a:p>
          <a:p>
            <a:pPr marL="92075" marR="0" lvl="0" indent="266700" algn="l" defTabSz="914400" rtl="0" eaLnBrk="1" fontAlgn="auto" latinLnBrk="0" hangingPunct="1">
              <a:lnSpc>
                <a:spcPct val="100000"/>
              </a:lnSpc>
              <a:spcBef>
                <a:spcPct val="20000"/>
              </a:spcBef>
              <a:spcAft>
                <a:spcPts val="0"/>
              </a:spcAft>
              <a:buClr>
                <a:srgbClr val="1F497D"/>
              </a:buClr>
              <a:buSzTx/>
              <a:buFont typeface="Wingdings" pitchFamily="2" charset="2"/>
              <a:buChar char="Ш"/>
              <a:tabLst/>
              <a:defRPr/>
            </a:pPr>
            <a:r>
              <a:rPr kumimoji="0" lang="uz-Cyrl-UZ"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фойдаланилган акслантиришлар</a:t>
            </a:r>
            <a:r>
              <a:rPr kumimoji="0" lang="en-US"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a:t>
            </a:r>
            <a:endParaRPr kumimoji="0" lang="uz-Cyrl-UZ"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endParaRPr>
          </a:p>
          <a:p>
            <a:pPr marL="892175" marR="0" lvl="2" indent="266700" algn="l" defTabSz="914400" rtl="0" eaLnBrk="1" fontAlgn="auto" latinLnBrk="0" hangingPunct="1">
              <a:lnSpc>
                <a:spcPct val="100000"/>
              </a:lnSpc>
              <a:spcBef>
                <a:spcPct val="20000"/>
              </a:spcBef>
              <a:spcAft>
                <a:spcPts val="0"/>
              </a:spcAft>
              <a:buClr>
                <a:srgbClr val="1F497D"/>
              </a:buClr>
              <a:buSzTx/>
              <a:buFont typeface="Courier New" pitchFamily="49" charset="0"/>
              <a:buChar char="o"/>
              <a:tabLst/>
              <a:defRPr/>
            </a:pPr>
            <a:r>
              <a:rPr kumimoji="0" lang="uz-Cyrl-UZ" sz="1900" b="0" i="1" u="none" strike="noStrike" kern="1200" cap="none" spc="0" normalizeH="0" baseline="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rPr>
              <a:t>NibbleSub</a:t>
            </a:r>
            <a:r>
              <a:rPr kumimoji="0" lang="en-US" sz="1900" b="0" i="1" u="none" strike="noStrike" kern="1200" cap="none" spc="0" normalizeH="0" baseline="0" noProof="0" dirty="0" smtClean="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a:t>
            </a:r>
            <a:r>
              <a:rPr kumimoji="0" lang="en-US" sz="1900" b="0" i="1" u="none" strike="noStrike" kern="1200" cap="none" spc="0" normalizeH="0" baseline="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rPr>
              <a:t> </a:t>
            </a:r>
            <a:endParaRPr kumimoji="0" lang="uz-Cyrl-UZ" sz="1900" b="0" i="1" u="none" strike="noStrike" kern="1200" cap="none" spc="0" normalizeH="0" baseline="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892175" marR="0" lvl="2" indent="266700" algn="l" defTabSz="914400" rtl="0" eaLnBrk="1" fontAlgn="auto" latinLnBrk="0" hangingPunct="1">
              <a:lnSpc>
                <a:spcPct val="100000"/>
              </a:lnSpc>
              <a:spcBef>
                <a:spcPct val="20000"/>
              </a:spcBef>
              <a:spcAft>
                <a:spcPts val="0"/>
              </a:spcAft>
              <a:buClr>
                <a:srgbClr val="1F497D"/>
              </a:buClr>
              <a:buSzTx/>
              <a:buFont typeface="Courier New" pitchFamily="49" charset="0"/>
              <a:buChar char="o"/>
              <a:tabLst/>
              <a:defRPr/>
            </a:pPr>
            <a:r>
              <a:rPr kumimoji="0" lang="uz-Cyrl-UZ" sz="1900" b="0" i="1" u="none" strike="noStrike" kern="1200" cap="none" spc="0" normalizeH="0" baseline="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rPr>
              <a:t>ShiftRow</a:t>
            </a:r>
            <a:r>
              <a:rPr kumimoji="0" lang="en-US" sz="1900" b="0" i="1" u="none" strike="noStrike" kern="1200" cap="none" spc="0" normalizeH="0" baseline="0" noProof="0" dirty="0" smtClean="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a:t>
            </a:r>
            <a:r>
              <a:rPr kumimoji="0" lang="en-US" sz="1900" b="0" i="1" u="none" strike="noStrike" kern="1200" cap="none" spc="0" normalizeH="0" baseline="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rPr>
              <a:t> </a:t>
            </a:r>
            <a:endParaRPr kumimoji="0" lang="uz-Cyrl-UZ" sz="1900" b="0" i="1" u="none" strike="noStrike" kern="1200" cap="none" spc="0" normalizeH="0" baseline="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892175" marR="0" lvl="2" indent="266700" algn="l" defTabSz="914400" rtl="0" eaLnBrk="1" fontAlgn="auto" latinLnBrk="0" hangingPunct="1">
              <a:lnSpc>
                <a:spcPct val="100000"/>
              </a:lnSpc>
              <a:spcBef>
                <a:spcPct val="20000"/>
              </a:spcBef>
              <a:spcAft>
                <a:spcPts val="0"/>
              </a:spcAft>
              <a:buClr>
                <a:srgbClr val="1F497D"/>
              </a:buClr>
              <a:buSzTx/>
              <a:buFont typeface="Courier New" pitchFamily="49" charset="0"/>
              <a:buChar char="o"/>
              <a:tabLst/>
              <a:defRPr/>
            </a:pPr>
            <a:r>
              <a:rPr kumimoji="0" lang="uz-Cyrl-UZ" sz="1900" b="0" i="1" u="none" strike="noStrike" kern="1200" cap="none" spc="0" normalizeH="0" baseline="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rPr>
              <a:t>MixColumns</a:t>
            </a:r>
            <a:r>
              <a:rPr kumimoji="0" lang="en-US" sz="1900" b="0" i="1" u="none" strike="noStrike" kern="1200" cap="none" spc="0" normalizeH="0" baseline="0" noProof="0" dirty="0" smtClean="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a:t>
            </a:r>
            <a:r>
              <a:rPr kumimoji="0" lang="en-US" sz="1900" b="0" i="1" u="none" strike="noStrike" kern="1200" cap="none" spc="0" normalizeH="0" baseline="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rPr>
              <a:t> </a:t>
            </a:r>
            <a:endParaRPr kumimoji="0" lang="uz-Cyrl-UZ" sz="1900" b="0" i="1" u="none" strike="noStrike" kern="1200" cap="none" spc="0" normalizeH="0" baseline="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892175" marR="0" lvl="2" indent="266700" algn="l" defTabSz="914400" rtl="0" eaLnBrk="1" fontAlgn="auto" latinLnBrk="0" hangingPunct="1">
              <a:lnSpc>
                <a:spcPct val="100000"/>
              </a:lnSpc>
              <a:spcBef>
                <a:spcPct val="20000"/>
              </a:spcBef>
              <a:spcAft>
                <a:spcPts val="0"/>
              </a:spcAft>
              <a:buClr>
                <a:srgbClr val="1F497D"/>
              </a:buClr>
              <a:buSzTx/>
              <a:buFont typeface="Courier New" pitchFamily="49" charset="0"/>
              <a:buChar char="o"/>
              <a:tabLst/>
              <a:defRPr/>
            </a:pPr>
            <a:r>
              <a:rPr kumimoji="0" lang="uz-Cyrl-UZ" sz="1900" b="0" i="1" u="none" strike="noStrike" kern="1200" cap="none" spc="0" normalizeH="0" baseline="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rPr>
              <a:t>AddRоundKey</a:t>
            </a:r>
            <a:r>
              <a:rPr kumimoji="0" lang="en-US" sz="1900" b="0" i="1" u="none" strike="noStrike" kern="1200" cap="none" spc="0" normalizeH="0" baseline="0" noProof="0" dirty="0" smtClean="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a:t>
            </a:r>
            <a:r>
              <a:rPr kumimoji="0" lang="uz-Cyrl-UZ" sz="1900" b="0" i="1" u="none" strike="noStrike" kern="1200" cap="none" spc="0" normalizeH="0" baseline="0" noProof="0" dirty="0" smtClean="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 </a:t>
            </a:r>
            <a:endParaRPr kumimoji="0" lang="uz-Cyrl-UZ"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endParaRPr>
          </a:p>
          <a:p>
            <a:pPr marL="92075" marR="0" lvl="0" indent="266700" algn="just" defTabSz="914400" rtl="0" eaLnBrk="1" fontAlgn="auto" latinLnBrk="0" hangingPunct="1">
              <a:lnSpc>
                <a:spcPct val="100000"/>
              </a:lnSpc>
              <a:spcBef>
                <a:spcPct val="20000"/>
              </a:spcBef>
              <a:spcAft>
                <a:spcPts val="0"/>
              </a:spcAft>
              <a:buClr>
                <a:srgbClr val="1F497D"/>
              </a:buClr>
              <a:buSzTx/>
              <a:buFont typeface="Wingdings" pitchFamily="2" charset="2"/>
              <a:buChar char="Ш"/>
              <a:tabLst/>
              <a:defRPr/>
            </a:pPr>
            <a:r>
              <a:rPr kumimoji="0" lang="uz-Cyrl-UZ"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акслантириш обекти – </a:t>
            </a:r>
          </a:p>
          <a:p>
            <a:pPr marL="92075" marR="0" lvl="0" indent="266700" algn="just" defTabSz="914400" rtl="0" eaLnBrk="1" fontAlgn="auto" latinLnBrk="0" hangingPunct="1">
              <a:lnSpc>
                <a:spcPct val="100000"/>
              </a:lnSpc>
              <a:spcBef>
                <a:spcPct val="20000"/>
              </a:spcBef>
              <a:spcAft>
                <a:spcPts val="0"/>
              </a:spcAft>
              <a:buClr>
                <a:srgbClr val="1F497D"/>
              </a:buClr>
              <a:buSzTx/>
              <a:buFont typeface="Arial" pitchFamily="34" charset="0"/>
              <a:buNone/>
              <a:tabLst/>
              <a:defRPr/>
            </a:pPr>
            <a:r>
              <a:rPr kumimoji="0" lang="uz-Cyrl-UZ" sz="1900" b="0" i="1" u="none" strike="noStrike" kern="1200" cap="none" spc="0" normalizeH="0" baseline="0" noProof="0" dirty="0" smtClean="0">
                <a:ln>
                  <a:noFill/>
                </a:ln>
                <a:solidFill>
                  <a:srgbClr val="C00000"/>
                </a:solidFill>
                <a:effectLst/>
                <a:uLnTx/>
                <a:uFillTx/>
                <a:latin typeface="Times New Roman" pitchFamily="18" charset="0"/>
                <a:ea typeface="+mn-ea"/>
                <a:cs typeface="+mn-cs"/>
              </a:rPr>
              <a:t>	2</a:t>
            </a:r>
            <a:r>
              <a:rPr kumimoji="0" lang="en-US" sz="1900" b="0" i="1" u="none" strike="noStrike" kern="1200" cap="none" spc="0" normalizeH="0" baseline="0" noProof="0" dirty="0" smtClean="0">
                <a:ln>
                  <a:noFill/>
                </a:ln>
                <a:solidFill>
                  <a:srgbClr val="C00000"/>
                </a:solidFill>
                <a:effectLst/>
                <a:uLnTx/>
                <a:uFillTx/>
                <a:latin typeface="Times New Roman" pitchFamily="18" charset="0"/>
                <a:ea typeface="+mn-ea"/>
                <a:cs typeface="+mn-cs"/>
              </a:rPr>
              <a:t>x2 </a:t>
            </a:r>
            <a:r>
              <a:rPr kumimoji="0" lang="uz-Cyrl-UZ" sz="1900" b="0" i="1" u="none" strike="noStrike" kern="1200" cap="none" spc="0" normalizeH="0" baseline="0" noProof="0" dirty="0" smtClean="0">
                <a:ln>
                  <a:noFill/>
                </a:ln>
                <a:solidFill>
                  <a:srgbClr val="C00000"/>
                </a:solidFill>
                <a:effectLst/>
                <a:uLnTx/>
                <a:uFillTx/>
                <a:latin typeface="Times New Roman" pitchFamily="18" charset="0"/>
                <a:ea typeface="+mn-ea"/>
                <a:cs typeface="+mn-cs"/>
              </a:rPr>
              <a:t>ўлчамли ҳолат жадвали</a:t>
            </a:r>
            <a:r>
              <a:rPr kumimoji="0" lang="en-US" sz="1900" b="0" i="1" u="none" strike="noStrike" kern="1200" cap="none" spc="0" normalizeH="0" baseline="0" noProof="0" dirty="0" smtClean="0">
                <a:ln>
                  <a:noFill/>
                </a:ln>
                <a:solidFill>
                  <a:sysClr val="windowText" lastClr="000000"/>
                </a:solidFill>
                <a:effectLst/>
                <a:uLnTx/>
                <a:uFillTx/>
                <a:latin typeface="Times New Roman" pitchFamily="18" charset="0"/>
                <a:ea typeface="+mn-ea"/>
                <a:cs typeface="+mn-cs"/>
              </a:rPr>
              <a:t>;</a:t>
            </a:r>
            <a:endParaRPr kumimoji="0" lang="en-US" sz="2100" b="0" i="0" u="none" strike="noStrike" kern="1200" cap="none" spc="0" normalizeH="0" baseline="0" noProof="0" dirty="0" smtClean="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4201194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8"/>
          <p:cNvSpPr>
            <a:spLocks noChangeArrowheads="1"/>
          </p:cNvSpPr>
          <p:nvPr/>
        </p:nvSpPr>
        <p:spPr bwMode="auto">
          <a:xfrm>
            <a:off x="107504" y="116632"/>
            <a:ext cx="5472000" cy="2462213"/>
          </a:xfrm>
          <a:prstGeom prst="rect">
            <a:avLst/>
          </a:prstGeom>
          <a:solidFill>
            <a:schemeClr val="bg1"/>
          </a:solidFill>
          <a:ln>
            <a:noFill/>
          </a:ln>
          <a:effectLst/>
          <a:extLst/>
        </p:spPr>
        <p:txBody>
          <a:bodyPr wrap="square" anchor="ctr">
            <a:spAutoFit/>
          </a:bodyPr>
          <a:lstStyle/>
          <a:p>
            <a:pPr indent="533400" algn="just">
              <a:defRPr/>
            </a:pPr>
            <a:r>
              <a:rPr lang="ru-RU" sz="2200" dirty="0" err="1" smtClean="0">
                <a:solidFill>
                  <a:srgbClr val="000000"/>
                </a:solidFill>
                <a:effectLst>
                  <a:outerShdw blurRad="38100" dist="38100" dir="2700000" algn="tl">
                    <a:srgbClr val="FFFFFF"/>
                  </a:outerShdw>
                </a:effectLst>
                <a:latin typeface="Times New Roman" pitchFamily="18" charset="0"/>
              </a:rPr>
              <a:t>Очиқ</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матнлар</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тўпламини</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танлаш</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шартига</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мувофиқ</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шифрлаш</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алгоритмининг</a:t>
            </a:r>
            <a:r>
              <a:rPr lang="ru-RU" sz="2200" dirty="0" smtClean="0">
                <a:solidFill>
                  <a:srgbClr val="000000"/>
                </a:solidFill>
                <a:effectLst>
                  <a:outerShdw blurRad="38100" dist="38100" dir="2700000" algn="tl">
                    <a:srgbClr val="FFFFFF"/>
                  </a:outerShdw>
                </a:effectLst>
                <a:latin typeface="Times New Roman" pitchFamily="18" charset="0"/>
              </a:rPr>
              <a:t> 4-раундига </a:t>
            </a:r>
            <a:r>
              <a:rPr lang="ru-RU" sz="2200" dirty="0" err="1" smtClean="0">
                <a:solidFill>
                  <a:srgbClr val="000000"/>
                </a:solidFill>
                <a:effectLst>
                  <a:outerShdw blurRad="38100" dist="38100" dir="2700000" algn="tl">
                    <a:srgbClr val="FFFFFF"/>
                  </a:outerShdw>
                </a:effectLst>
                <a:latin typeface="Times New Roman" pitchFamily="18" charset="0"/>
              </a:rPr>
              <a:t>киришда</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баланслашган</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тўплам</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ҳосил</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бўлишини</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таъминлаб</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берувчи</a:t>
            </a:r>
            <a:r>
              <a:rPr lang="ru-RU" sz="2200" dirty="0" smtClean="0">
                <a:solidFill>
                  <a:srgbClr val="000000"/>
                </a:solidFill>
                <a:effectLst>
                  <a:outerShdw blurRad="38100" dist="38100" dir="2700000" algn="tl">
                    <a:srgbClr val="FFFFFF"/>
                  </a:outerShdw>
                </a:effectLst>
                <a:latin typeface="Times New Roman" pitchFamily="18" charset="0"/>
              </a:rPr>
              <a:t> </a:t>
            </a:r>
            <a:r>
              <a:rPr lang="en-US" sz="2200" b="1" dirty="0" smtClean="0">
                <a:solidFill>
                  <a:srgbClr val="000000"/>
                </a:solidFill>
                <a:effectLst>
                  <a:outerShdw blurRad="38100" dist="38100" dir="2700000" algn="tl">
                    <a:srgbClr val="FFFFFF"/>
                  </a:outerShdw>
                </a:effectLst>
                <a:latin typeface="Times New Roman" pitchFamily="18" charset="0"/>
              </a:rPr>
              <a:t>P={P</a:t>
            </a:r>
            <a:r>
              <a:rPr lang="en-US" sz="2200" b="1" baseline="-25000" dirty="0" smtClean="0">
                <a:solidFill>
                  <a:srgbClr val="000000"/>
                </a:solidFill>
                <a:effectLst>
                  <a:outerShdw blurRad="38100" dist="38100" dir="2700000" algn="tl">
                    <a:srgbClr val="FFFFFF"/>
                  </a:outerShdw>
                </a:effectLst>
                <a:latin typeface="Times New Roman" pitchFamily="18" charset="0"/>
              </a:rPr>
              <a:t>0</a:t>
            </a:r>
            <a:r>
              <a:rPr lang="en-US" sz="2200" b="1" dirty="0" smtClean="0">
                <a:solidFill>
                  <a:srgbClr val="000000"/>
                </a:solidFill>
                <a:effectLst>
                  <a:outerShdw blurRad="38100" dist="38100" dir="2700000" algn="tl">
                    <a:srgbClr val="FFFFFF"/>
                  </a:outerShdw>
                </a:effectLst>
                <a:latin typeface="Times New Roman" pitchFamily="18" charset="0"/>
              </a:rPr>
              <a:t>,P</a:t>
            </a:r>
            <a:r>
              <a:rPr lang="en-US" sz="2200" b="1" baseline="-25000" dirty="0" smtClean="0">
                <a:solidFill>
                  <a:srgbClr val="000000"/>
                </a:solidFill>
                <a:effectLst>
                  <a:outerShdw blurRad="38100" dist="38100" dir="2700000" algn="tl">
                    <a:srgbClr val="FFFFFF"/>
                  </a:outerShdw>
                </a:effectLst>
                <a:latin typeface="Times New Roman" pitchFamily="18" charset="0"/>
              </a:rPr>
              <a:t>1</a:t>
            </a:r>
            <a:r>
              <a:rPr lang="en-US" sz="2200" b="1" dirty="0" smtClean="0">
                <a:solidFill>
                  <a:srgbClr val="000000"/>
                </a:solidFill>
                <a:effectLst>
                  <a:outerShdw blurRad="38100" dist="38100" dir="2700000" algn="tl">
                    <a:srgbClr val="FFFFFF"/>
                  </a:outerShdw>
                </a:effectLst>
                <a:latin typeface="Times New Roman" pitchFamily="18" charset="0"/>
              </a:rPr>
              <a:t>,P</a:t>
            </a:r>
            <a:r>
              <a:rPr lang="en-US" sz="2200" b="1" baseline="-25000" dirty="0" smtClean="0">
                <a:solidFill>
                  <a:srgbClr val="000000"/>
                </a:solidFill>
                <a:effectLst>
                  <a:outerShdw blurRad="38100" dist="38100" dir="2700000" algn="tl">
                    <a:srgbClr val="FFFFFF"/>
                  </a:outerShdw>
                </a:effectLst>
                <a:latin typeface="Times New Roman" pitchFamily="18" charset="0"/>
              </a:rPr>
              <a:t>2</a:t>
            </a:r>
            <a:r>
              <a:rPr lang="en-US" sz="2200" b="1" dirty="0" smtClean="0">
                <a:solidFill>
                  <a:srgbClr val="000000"/>
                </a:solidFill>
                <a:effectLst>
                  <a:outerShdw blurRad="38100" dist="38100" dir="2700000" algn="tl">
                    <a:srgbClr val="FFFFFF"/>
                  </a:outerShdw>
                </a:effectLst>
                <a:latin typeface="Times New Roman" pitchFamily="18" charset="0"/>
              </a:rPr>
              <a:t>,…,P</a:t>
            </a:r>
            <a:r>
              <a:rPr lang="en-US" sz="2200" b="1" baseline="-25000" dirty="0" smtClean="0">
                <a:solidFill>
                  <a:srgbClr val="000000"/>
                </a:solidFill>
                <a:effectLst>
                  <a:outerShdw blurRad="38100" dist="38100" dir="2700000" algn="tl">
                    <a:srgbClr val="FFFFFF"/>
                  </a:outerShdw>
                </a:effectLst>
                <a:latin typeface="Times New Roman" pitchFamily="18" charset="0"/>
              </a:rPr>
              <a:t>15</a:t>
            </a:r>
            <a:r>
              <a:rPr lang="en-US" sz="2200" b="1" dirty="0" smtClean="0">
                <a:solidFill>
                  <a:srgbClr val="000000"/>
                </a:solidFill>
                <a:effectLst>
                  <a:outerShdw blurRad="38100" dist="38100" dir="2700000" algn="tl">
                    <a:srgbClr val="FFFFFF"/>
                  </a:outerShdw>
                </a:effectLst>
                <a:latin typeface="Times New Roman" pitchFamily="18" charset="0"/>
              </a:rPr>
              <a:t>} </a:t>
            </a:r>
            <a:r>
              <a:rPr lang="en-US"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очиқ</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матнлар</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тўплами</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қуйидагича</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танланди</a:t>
            </a:r>
            <a:r>
              <a:rPr lang="ru-RU" sz="2200" dirty="0" smtClean="0">
                <a:solidFill>
                  <a:srgbClr val="000000"/>
                </a:solidFill>
                <a:effectLst>
                  <a:outerShdw blurRad="38100" dist="38100" dir="2700000" algn="tl">
                    <a:srgbClr val="FFFFFF"/>
                  </a:outerShdw>
                </a:effectLst>
                <a:latin typeface="Times New Roman" pitchFamily="18" charset="0"/>
              </a:rPr>
              <a:t>: </a:t>
            </a:r>
            <a:r>
              <a:rPr lang="en-US" sz="2200" dirty="0" smtClean="0">
                <a:solidFill>
                  <a:srgbClr val="000000"/>
                </a:solidFill>
                <a:effectLst>
                  <a:outerShdw blurRad="38100" dist="38100" dir="2700000" algn="tl">
                    <a:srgbClr val="FFFFFF"/>
                  </a:outerShdw>
                </a:effectLst>
                <a:latin typeface="Times New Roman" pitchFamily="18" charset="0"/>
                <a:sym typeface="Wingdings" pitchFamily="2" charset="2"/>
              </a:rPr>
              <a:t></a:t>
            </a:r>
            <a:endParaRPr kumimoji="1" lang="ru-RU" sz="2200" dirty="0">
              <a:solidFill>
                <a:srgbClr val="000000"/>
              </a:solidFill>
              <a:effectLst>
                <a:outerShdw blurRad="38100" dist="38100" dir="2700000" algn="tl">
                  <a:srgbClr val="FFFFFF"/>
                </a:outerShdw>
              </a:effectLst>
              <a:latin typeface="Times New Roman" pitchFamily="18" charset="0"/>
            </a:endParaRPr>
          </a:p>
        </p:txBody>
      </p:sp>
      <p:sp>
        <p:nvSpPr>
          <p:cNvPr id="7" name="Объект 8"/>
          <p:cNvSpPr txBox="1">
            <a:spLocks/>
          </p:cNvSpPr>
          <p:nvPr/>
        </p:nvSpPr>
        <p:spPr>
          <a:xfrm>
            <a:off x="5779168" y="180472"/>
            <a:ext cx="3200400" cy="6525128"/>
          </a:xfrm>
          <a:prstGeom prst="rect">
            <a:avLst/>
          </a:prstGeom>
        </p:spPr>
        <p:style>
          <a:lnRef idx="2">
            <a:schemeClr val="dk1"/>
          </a:lnRef>
          <a:fillRef idx="1001">
            <a:schemeClr val="lt2"/>
          </a:fillRef>
          <a:effectRef idx="0">
            <a:schemeClr val="dk1"/>
          </a:effectRef>
          <a:fontRef idx="minor">
            <a:schemeClr val="dk1"/>
          </a:fontRef>
        </p:style>
        <p:txBody>
          <a:bodyPr>
            <a:normAutofit/>
          </a:bodyPr>
          <a:lstStyle>
            <a:lvl1pPr marL="469900" indent="-469900" algn="l" rtl="0" eaLnBrk="0" fontAlgn="base" hangingPunct="0">
              <a:spcBef>
                <a:spcPct val="20000"/>
              </a:spcBef>
              <a:spcAft>
                <a:spcPct val="0"/>
              </a:spcAft>
              <a:buClr>
                <a:schemeClr val="accent2"/>
              </a:buClr>
              <a:buFont typeface="Wingdings" pitchFamily="2" charset="2"/>
              <a:buChar char="o"/>
              <a:defRPr sz="3000">
                <a:solidFill>
                  <a:schemeClr val="dk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itchFamily="2" charset="2"/>
              <a:buChar char="n"/>
              <a:defRPr sz="2600">
                <a:solidFill>
                  <a:schemeClr val="dk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itchFamily="2" charset="2"/>
              <a:buChar char="o"/>
              <a:defRPr sz="2300">
                <a:solidFill>
                  <a:schemeClr val="dk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itchFamily="2" charset="2"/>
              <a:buChar char="n"/>
              <a:defRPr sz="2000">
                <a:solidFill>
                  <a:schemeClr val="dk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itchFamily="2" charset="2"/>
              <a:buChar char="§"/>
              <a:defRPr sz="2000">
                <a:solidFill>
                  <a:schemeClr val="dk1"/>
                </a:solidFill>
                <a:latin typeface="+mn-lt"/>
                <a:ea typeface="+mn-ea"/>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dk1"/>
                </a:solidFill>
                <a:latin typeface="+mn-lt"/>
                <a:ea typeface="+mn-ea"/>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dk1"/>
                </a:solidFill>
                <a:latin typeface="+mn-lt"/>
                <a:ea typeface="+mn-ea"/>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dk1"/>
                </a:solidFill>
                <a:latin typeface="+mn-lt"/>
                <a:ea typeface="+mn-ea"/>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dk1"/>
                </a:solidFill>
                <a:latin typeface="+mn-lt"/>
                <a:ea typeface="+mn-ea"/>
                <a:cs typeface="+mn-cs"/>
              </a:defRPr>
            </a:lvl9pPr>
          </a:lstStyle>
          <a:p>
            <a:pPr marL="0" indent="0" algn="ctr">
              <a:spcBef>
                <a:spcPts val="0"/>
              </a:spcBef>
              <a:buFont typeface="Wingdings" pitchFamily="2" charset="2"/>
              <a:buNone/>
            </a:pPr>
            <a:r>
              <a:rPr lang="uz-Cyrl-UZ" sz="18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Очиқ матнлар тўплами</a:t>
            </a:r>
            <a:endParaRPr lang="en-US" sz="18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0</a:t>
            </a:r>
            <a:r>
              <a:rPr lang="en-US" sz="2200" baseline="30000" dirty="0" smtClean="0">
                <a:latin typeface="Times New Roman" panose="02020603050405020304" pitchFamily="18" charset="0"/>
                <a:cs typeface="Times New Roman" panose="02020603050405020304" pitchFamily="18" charset="0"/>
              </a:rPr>
              <a:t>  </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0000</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1</a:t>
            </a:r>
            <a:r>
              <a:rPr lang="en-US" sz="2200" baseline="-25000" dirty="0" smtClean="0">
                <a:latin typeface="Times New Roman" panose="02020603050405020304" pitchFamily="18" charset="0"/>
                <a:cs typeface="Times New Roman" panose="02020603050405020304" pitchFamily="18" charset="0"/>
              </a:rPr>
              <a:t>  </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0001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2</a:t>
            </a:r>
            <a:r>
              <a:rPr lang="en-US" sz="2200" baseline="-25000" dirty="0" smtClean="0">
                <a:latin typeface="Times New Roman" panose="02020603050405020304" pitchFamily="18" charset="0"/>
                <a:cs typeface="Times New Roman" panose="02020603050405020304" pitchFamily="18" charset="0"/>
              </a:rPr>
              <a:t>  </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0010</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3</a:t>
            </a:r>
            <a:r>
              <a:rPr lang="en-US" sz="2200" baseline="-25000" dirty="0" smtClean="0">
                <a:latin typeface="Times New Roman" panose="02020603050405020304" pitchFamily="18" charset="0"/>
                <a:cs typeface="Times New Roman" panose="02020603050405020304" pitchFamily="18" charset="0"/>
              </a:rPr>
              <a:t>  </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0011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4</a:t>
            </a:r>
            <a:r>
              <a:rPr lang="en-US" sz="2200" baseline="-25000" dirty="0" smtClean="0">
                <a:latin typeface="Times New Roman" panose="02020603050405020304" pitchFamily="18" charset="0"/>
                <a:cs typeface="Times New Roman" panose="02020603050405020304" pitchFamily="18" charset="0"/>
              </a:rPr>
              <a:t>  </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0100</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5</a:t>
            </a:r>
            <a:r>
              <a:rPr lang="en-US" sz="2200" baseline="-25000" dirty="0" smtClean="0">
                <a:latin typeface="Times New Roman" panose="02020603050405020304" pitchFamily="18" charset="0"/>
                <a:cs typeface="Times New Roman" panose="02020603050405020304" pitchFamily="18" charset="0"/>
              </a:rPr>
              <a:t>  </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6</a:t>
            </a:r>
            <a:r>
              <a:rPr lang="en-US" sz="2200" baseline="-25000" dirty="0" smtClean="0">
                <a:latin typeface="Times New Roman" panose="02020603050405020304" pitchFamily="18" charset="0"/>
                <a:cs typeface="Times New Roman" panose="02020603050405020304" pitchFamily="18" charset="0"/>
              </a:rPr>
              <a:t>  </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0110</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7</a:t>
            </a:r>
            <a:r>
              <a:rPr lang="en-US" sz="2200" baseline="-25000" dirty="0" smtClean="0">
                <a:latin typeface="Times New Roman" panose="02020603050405020304" pitchFamily="18" charset="0"/>
                <a:cs typeface="Times New Roman" panose="02020603050405020304" pitchFamily="18" charset="0"/>
              </a:rPr>
              <a:t>  </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0111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8</a:t>
            </a:r>
            <a:r>
              <a:rPr lang="en-US" sz="2200" baseline="-25000" dirty="0" smtClean="0">
                <a:latin typeface="Times New Roman" panose="02020603050405020304" pitchFamily="18" charset="0"/>
                <a:cs typeface="Times New Roman" panose="02020603050405020304" pitchFamily="18" charset="0"/>
              </a:rPr>
              <a:t>  </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1000</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9</a:t>
            </a:r>
            <a:r>
              <a:rPr lang="en-US" sz="2200" baseline="-25000" dirty="0" smtClean="0">
                <a:latin typeface="Times New Roman" panose="02020603050405020304" pitchFamily="18" charset="0"/>
                <a:cs typeface="Times New Roman" panose="02020603050405020304" pitchFamily="18" charset="0"/>
              </a:rPr>
              <a:t>  </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1001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10</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1010</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11</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1011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12</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1100</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13</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1101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14</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 </a:t>
            </a:r>
            <a:endParaRPr lang="ru-RU"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uz-Cyrl-UZ" sz="2200" dirty="0" smtClean="0">
                <a:latin typeface="Times New Roman" panose="02020603050405020304" pitchFamily="18" charset="0"/>
                <a:cs typeface="Times New Roman" panose="02020603050405020304" pitchFamily="18" charset="0"/>
              </a:rPr>
              <a:t>P</a:t>
            </a:r>
            <a:r>
              <a:rPr lang="uz-Cyrl-UZ" sz="2200" baseline="-25000" dirty="0" smtClean="0">
                <a:latin typeface="Times New Roman" panose="02020603050405020304" pitchFamily="18" charset="0"/>
                <a:cs typeface="Times New Roman" panose="02020603050405020304" pitchFamily="18" charset="0"/>
              </a:rPr>
              <a:t>15</a:t>
            </a:r>
            <a:r>
              <a:rPr lang="uz-Cyrl-UZ" sz="2200" dirty="0" smtClean="0">
                <a:latin typeface="Times New Roman" panose="02020603050405020304" pitchFamily="18" charset="0"/>
                <a:cs typeface="Times New Roman" panose="02020603050405020304" pitchFamily="18" charset="0"/>
              </a:rPr>
              <a:t>= </a:t>
            </a:r>
            <a:r>
              <a:rPr lang="uz-Cyrl-UZ" sz="2200" b="1" dirty="0" smtClean="0">
                <a:solidFill>
                  <a:srgbClr val="FF0000"/>
                </a:solidFill>
                <a:latin typeface="Times New Roman" panose="02020603050405020304" pitchFamily="18" charset="0"/>
                <a:cs typeface="Times New Roman" panose="02020603050405020304" pitchFamily="18" charset="0"/>
              </a:rPr>
              <a:t>1111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00B050"/>
                </a:solidFill>
                <a:latin typeface="Times New Roman" panose="02020603050405020304" pitchFamily="18" charset="0"/>
                <a:cs typeface="Times New Roman" panose="02020603050405020304" pitchFamily="18" charset="0"/>
              </a:rPr>
              <a:t>0101</a:t>
            </a:r>
            <a:r>
              <a:rPr lang="uz-Cyrl-UZ" sz="2200" dirty="0" smtClean="0">
                <a:latin typeface="Times New Roman" panose="02020603050405020304" pitchFamily="18" charset="0"/>
                <a:cs typeface="Times New Roman" panose="02020603050405020304" pitchFamily="18" charset="0"/>
              </a:rPr>
              <a:t> </a:t>
            </a:r>
            <a:r>
              <a:rPr lang="uz-Cyrl-UZ" sz="2200" dirty="0" smtClean="0">
                <a:solidFill>
                  <a:srgbClr val="C00000"/>
                </a:solidFill>
                <a:latin typeface="Times New Roman" panose="02020603050405020304" pitchFamily="18" charset="0"/>
                <a:cs typeface="Times New Roman" panose="02020603050405020304" pitchFamily="18" charset="0"/>
              </a:rPr>
              <a:t>1110</a:t>
            </a:r>
            <a:r>
              <a:rPr lang="uz-Cyrl-UZ" sz="2200" dirty="0" smtClean="0">
                <a:latin typeface="Times New Roman" panose="02020603050405020304" pitchFamily="18" charset="0"/>
                <a:cs typeface="Times New Roman" panose="02020603050405020304" pitchFamily="18" charset="0"/>
              </a:rPr>
              <a:t> 1111</a:t>
            </a:r>
            <a:endParaRPr lang="en-US"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r>
              <a:rPr lang="en-US" sz="2200" dirty="0" smtClean="0">
                <a:latin typeface="Times New Roman" panose="02020603050405020304" pitchFamily="18" charset="0"/>
                <a:cs typeface="Times New Roman" panose="02020603050405020304" pitchFamily="18" charset="0"/>
              </a:rPr>
              <a:t>-------------------------------</a:t>
            </a:r>
          </a:p>
          <a:p>
            <a:pPr marL="0" indent="0">
              <a:spcBef>
                <a:spcPts val="0"/>
              </a:spcBef>
              <a:buFont typeface="Wingdings" pitchFamily="2" charset="2"/>
              <a:buNone/>
            </a:pPr>
            <a:r>
              <a:rPr lang="uz-Cyrl-UZ" sz="1900" dirty="0" smtClean="0">
                <a:latin typeface="Times New Roman" panose="02020603050405020304" pitchFamily="18" charset="0"/>
                <a:cs typeface="Times New Roman" panose="02020603050405020304" pitchFamily="18" charset="0"/>
              </a:rPr>
              <a:t>∑⊕</a:t>
            </a:r>
            <a:r>
              <a:rPr lang="en-US" sz="1900" dirty="0" smtClean="0">
                <a:latin typeface="Times New Roman" panose="02020603050405020304" pitchFamily="18" charset="0"/>
                <a:cs typeface="Times New Roman" panose="02020603050405020304" pitchFamily="18" charset="0"/>
              </a:rPr>
              <a:t>=</a:t>
            </a:r>
            <a:r>
              <a:rPr lang="en-US" sz="2100" b="1" dirty="0" smtClean="0">
                <a:solidFill>
                  <a:srgbClr val="FF0000"/>
                </a:solidFill>
                <a:latin typeface="Times New Roman" panose="02020603050405020304" pitchFamily="18" charset="0"/>
                <a:cs typeface="Times New Roman" panose="02020603050405020304" pitchFamily="18" charset="0"/>
              </a:rPr>
              <a:t>0000</a:t>
            </a:r>
            <a:r>
              <a:rPr lang="en-US" sz="2100" dirty="0" smtClean="0">
                <a:latin typeface="Times New Roman" panose="02020603050405020304" pitchFamily="18" charset="0"/>
                <a:cs typeface="Times New Roman" panose="02020603050405020304" pitchFamily="18" charset="0"/>
              </a:rPr>
              <a:t>  </a:t>
            </a:r>
            <a:r>
              <a:rPr lang="en-US" sz="2100" dirty="0" smtClean="0">
                <a:solidFill>
                  <a:srgbClr val="00B050"/>
                </a:solidFill>
                <a:latin typeface="Times New Roman" panose="02020603050405020304" pitchFamily="18" charset="0"/>
                <a:cs typeface="Times New Roman" panose="02020603050405020304" pitchFamily="18" charset="0"/>
              </a:rPr>
              <a:t>0000</a:t>
            </a:r>
            <a:r>
              <a:rPr lang="en-US" sz="2100" dirty="0" smtClean="0">
                <a:latin typeface="Times New Roman" panose="02020603050405020304" pitchFamily="18" charset="0"/>
                <a:cs typeface="Times New Roman" panose="02020603050405020304" pitchFamily="18" charset="0"/>
              </a:rPr>
              <a:t> </a:t>
            </a:r>
            <a:r>
              <a:rPr lang="en-US" sz="2100" dirty="0" smtClean="0">
                <a:solidFill>
                  <a:srgbClr val="C00000"/>
                </a:solidFill>
                <a:latin typeface="Times New Roman" panose="02020603050405020304" pitchFamily="18" charset="0"/>
                <a:cs typeface="Times New Roman" panose="02020603050405020304" pitchFamily="18" charset="0"/>
              </a:rPr>
              <a:t>0000</a:t>
            </a:r>
            <a:r>
              <a:rPr lang="en-US" sz="2100" dirty="0" smtClean="0">
                <a:latin typeface="Times New Roman" panose="02020603050405020304" pitchFamily="18" charset="0"/>
                <a:cs typeface="Times New Roman" panose="02020603050405020304" pitchFamily="18" charset="0"/>
              </a:rPr>
              <a:t> 0000</a:t>
            </a:r>
          </a:p>
          <a:p>
            <a:pPr marL="0" indent="0">
              <a:spcBef>
                <a:spcPts val="0"/>
              </a:spcBef>
              <a:buFont typeface="Wingdings" pitchFamily="2" charset="2"/>
              <a:buNone/>
            </a:pPr>
            <a:endParaRPr lang="en-US" sz="2200" dirty="0" smtClean="0">
              <a:latin typeface="Times New Roman" panose="02020603050405020304" pitchFamily="18" charset="0"/>
              <a:cs typeface="Times New Roman" panose="02020603050405020304" pitchFamily="18" charset="0"/>
            </a:endParaRPr>
          </a:p>
          <a:p>
            <a:pPr marL="0" indent="0">
              <a:spcBef>
                <a:spcPts val="0"/>
              </a:spcBef>
              <a:buFont typeface="Wingdings" pitchFamily="2" charset="2"/>
              <a:buNone/>
            </a:pPr>
            <a:endParaRPr lang="ru-RU" sz="2200" dirty="0">
              <a:latin typeface="Times New Roman" panose="02020603050405020304" pitchFamily="18" charset="0"/>
              <a:cs typeface="Times New Roman" panose="02020603050405020304" pitchFamily="18" charset="0"/>
            </a:endParaRPr>
          </a:p>
        </p:txBody>
      </p:sp>
      <p:sp>
        <p:nvSpPr>
          <p:cNvPr id="9" name="Rectangle 8"/>
          <p:cNvSpPr>
            <a:spLocks noChangeArrowheads="1"/>
          </p:cNvSpPr>
          <p:nvPr/>
        </p:nvSpPr>
        <p:spPr bwMode="auto">
          <a:xfrm>
            <a:off x="180120" y="3047469"/>
            <a:ext cx="5472000" cy="3477875"/>
          </a:xfrm>
          <a:prstGeom prst="rect">
            <a:avLst/>
          </a:prstGeom>
          <a:solidFill>
            <a:schemeClr val="bg1"/>
          </a:solidFill>
          <a:ln>
            <a:noFill/>
          </a:ln>
          <a:effectLst/>
          <a:extLst/>
        </p:spPr>
        <p:txBody>
          <a:bodyPr wrap="square" anchor="ctr">
            <a:spAutoFit/>
          </a:bodyPr>
          <a:lstStyle/>
          <a:p>
            <a:pPr indent="533400" algn="just">
              <a:defRPr/>
            </a:pPr>
            <a:r>
              <a:rPr lang="en-US" sz="2200" b="1"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Криптотаҳлил</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жараёнида</a:t>
            </a:r>
            <a:r>
              <a:rPr lang="ru-RU" sz="2200" dirty="0" smtClean="0">
                <a:solidFill>
                  <a:srgbClr val="000000"/>
                </a:solidFill>
                <a:effectLst>
                  <a:outerShdw blurRad="38100" dist="38100" dir="2700000" algn="tl">
                    <a:srgbClr val="FFFFFF"/>
                  </a:outerShdw>
                </a:effectLst>
                <a:latin typeface="Times New Roman" pitchFamily="18" charset="0"/>
              </a:rPr>
              <a:t> калит </a:t>
            </a:r>
            <a:r>
              <a:rPr lang="uz-Cyrl-UZ" sz="2200" dirty="0" smtClean="0">
                <a:solidFill>
                  <a:srgbClr val="000000"/>
                </a:solidFill>
                <a:effectLst>
                  <a:outerShdw blurRad="38100" dist="38100" dir="2700000" algn="tl">
                    <a:srgbClr val="FFFFFF"/>
                  </a:outerShdw>
                </a:effectLst>
                <a:latin typeface="Times New Roman" pitchFamily="18" charset="0"/>
              </a:rPr>
              <a:t>қўшиш</a:t>
            </a:r>
            <a:r>
              <a:rPr lang="en-US" sz="2200" dirty="0" smtClean="0">
                <a:solidFill>
                  <a:srgbClr val="000000"/>
                </a:solidFill>
                <a:effectLst>
                  <a:outerShdw blurRad="38100" dist="38100" dir="2700000" algn="tl">
                    <a:srgbClr val="FFFFFF"/>
                  </a:outerShdw>
                </a:effectLst>
                <a:latin typeface="Times New Roman" pitchFamily="18" charset="0"/>
              </a:rPr>
              <a:t> </a:t>
            </a:r>
            <a:r>
              <a:rPr lang="ru-RU" sz="2200" dirty="0" smtClean="0">
                <a:solidFill>
                  <a:srgbClr val="000000"/>
                </a:solidFill>
                <a:effectLst>
                  <a:outerShdw blurRad="38100" dist="38100" dir="2700000" algn="tl">
                    <a:srgbClr val="FFFFFF"/>
                  </a:outerShdw>
                </a:effectLst>
                <a:latin typeface="Times New Roman" pitchFamily="18" charset="0"/>
              </a:rPr>
              <a:t>блоки </a:t>
            </a:r>
            <a:r>
              <a:rPr lang="ru-RU" sz="2200" dirty="0" err="1">
                <a:solidFill>
                  <a:srgbClr val="000000"/>
                </a:solidFill>
                <a:effectLst>
                  <a:outerShdw blurRad="38100" dist="38100" dir="2700000" algn="tl">
                    <a:srgbClr val="FFFFFF"/>
                  </a:outerShdw>
                </a:effectLst>
                <a:latin typeface="Times New Roman" pitchFamily="18" charset="0"/>
              </a:rPr>
              <a:t>эътиборга</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олинмайди</a:t>
            </a:r>
            <a:r>
              <a:rPr lang="ru-RU" sz="2200" dirty="0">
                <a:solidFill>
                  <a:srgbClr val="000000"/>
                </a:solidFill>
                <a:effectLst>
                  <a:outerShdw blurRad="38100" dist="38100" dir="2700000" algn="tl">
                    <a:srgbClr val="FFFFFF"/>
                  </a:outerShdw>
                </a:effectLst>
                <a:latin typeface="Times New Roman" pitchFamily="18" charset="0"/>
              </a:rPr>
              <a:t>. </a:t>
            </a:r>
            <a:r>
              <a:rPr lang="ru-RU" sz="2200" b="1" dirty="0" err="1">
                <a:solidFill>
                  <a:srgbClr val="000000"/>
                </a:solidFill>
                <a:effectLst>
                  <a:outerShdw blurRad="38100" dist="38100" dir="2700000" algn="tl">
                    <a:srgbClr val="FFFFFF"/>
                  </a:outerShdw>
                </a:effectLst>
                <a:latin typeface="Times New Roman" pitchFamily="18" charset="0"/>
              </a:rPr>
              <a:t>Аммо</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қаралаётган</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мазкур</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мисолда</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криптотаҳлил</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smtClean="0">
                <a:solidFill>
                  <a:srgbClr val="000000"/>
                </a:solidFill>
                <a:effectLst>
                  <a:outerShdw blurRad="38100" dist="38100" dir="2700000" algn="tl">
                    <a:srgbClr val="FFFFFF"/>
                  </a:outerShdw>
                </a:effectLst>
                <a:latin typeface="Times New Roman" pitchFamily="18" charset="0"/>
              </a:rPr>
              <a:t>сўнггида</a:t>
            </a:r>
            <a:r>
              <a:rPr lang="ru-RU" sz="2200" dirty="0" smtClean="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аниқланувчи</a:t>
            </a:r>
            <a:r>
              <a:rPr lang="ru-RU" sz="2200" dirty="0">
                <a:solidFill>
                  <a:srgbClr val="000000"/>
                </a:solidFill>
                <a:effectLst>
                  <a:outerShdw blurRad="38100" dist="38100" dir="2700000" algn="tl">
                    <a:srgbClr val="FFFFFF"/>
                  </a:outerShdw>
                </a:effectLst>
                <a:latin typeface="Times New Roman" pitchFamily="18" charset="0"/>
              </a:rPr>
              <a:t> калит </a:t>
            </a:r>
            <a:r>
              <a:rPr lang="ru-RU" sz="2200" dirty="0" err="1">
                <a:solidFill>
                  <a:srgbClr val="000000"/>
                </a:solidFill>
                <a:effectLst>
                  <a:outerShdw blurRad="38100" dist="38100" dir="2700000" algn="tl">
                    <a:srgbClr val="FFFFFF"/>
                  </a:outerShdw>
                </a:effectLst>
                <a:latin typeface="Times New Roman" pitchFamily="18" charset="0"/>
              </a:rPr>
              <a:t>билан</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солиштириш</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мақсадида</a:t>
            </a:r>
            <a:r>
              <a:rPr lang="ru-RU" sz="2200" dirty="0">
                <a:solidFill>
                  <a:srgbClr val="000000"/>
                </a:solidFill>
                <a:effectLst>
                  <a:outerShdw blurRad="38100" dist="38100" dir="2700000" algn="tl">
                    <a:srgbClr val="FFFFFF"/>
                  </a:outerShdw>
                </a:effectLst>
                <a:latin typeface="Times New Roman" pitchFamily="18" charset="0"/>
              </a:rPr>
              <a:t>, калит </a:t>
            </a:r>
            <a:r>
              <a:rPr lang="ru-RU" sz="2200" dirty="0" err="1">
                <a:solidFill>
                  <a:srgbClr val="000000"/>
                </a:solidFill>
                <a:effectLst>
                  <a:outerShdw blurRad="38100" dist="38100" dir="2700000" algn="tl">
                    <a:srgbClr val="FFFFFF"/>
                  </a:outerShdw>
                </a:effectLst>
                <a:latin typeface="Times New Roman" pitchFamily="18" charset="0"/>
              </a:rPr>
              <a:t>қўшиш</a:t>
            </a:r>
            <a:r>
              <a:rPr lang="ru-RU" sz="2200" dirty="0">
                <a:solidFill>
                  <a:srgbClr val="000000"/>
                </a:solidFill>
                <a:effectLst>
                  <a:outerShdw blurRad="38100" dist="38100" dir="2700000" algn="tl">
                    <a:srgbClr val="FFFFFF"/>
                  </a:outerShdw>
                </a:effectLst>
                <a:latin typeface="Times New Roman" pitchFamily="18" charset="0"/>
              </a:rPr>
              <a:t> блоки </a:t>
            </a:r>
            <a:r>
              <a:rPr lang="ru-RU" sz="2200" dirty="0" err="1">
                <a:solidFill>
                  <a:srgbClr val="000000"/>
                </a:solidFill>
                <a:effectLst>
                  <a:outerShdw blurRad="38100" dist="38100" dir="2700000" algn="tl">
                    <a:srgbClr val="FFFFFF"/>
                  </a:outerShdw>
                </a:effectLst>
                <a:latin typeface="Times New Roman" pitchFamily="18" charset="0"/>
              </a:rPr>
              <a:t>ҳам</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киритилди</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Шунга</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кўра</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айтайлик</a:t>
            </a:r>
            <a:r>
              <a:rPr lang="ru-RU" sz="2200" dirty="0">
                <a:solidFill>
                  <a:srgbClr val="000000"/>
                </a:solidFill>
                <a:effectLst>
                  <a:outerShdw blurRad="38100" dist="38100" dir="2700000" algn="tl">
                    <a:srgbClr val="FFFFFF"/>
                  </a:outerShdw>
                </a:effectLst>
                <a:latin typeface="Times New Roman" pitchFamily="18" charset="0"/>
              </a:rPr>
              <a:t> </a:t>
            </a:r>
            <a:r>
              <a:rPr lang="ru-RU" sz="2200" dirty="0" err="1">
                <a:solidFill>
                  <a:srgbClr val="000000"/>
                </a:solidFill>
                <a:effectLst>
                  <a:outerShdw blurRad="38100" dist="38100" dir="2700000" algn="tl">
                    <a:srgbClr val="FFFFFF"/>
                  </a:outerShdw>
                </a:effectLst>
                <a:latin typeface="Times New Roman" pitchFamily="18" charset="0"/>
              </a:rPr>
              <a:t>қаралаётган</a:t>
            </a:r>
            <a:r>
              <a:rPr lang="ru-RU" sz="2200" dirty="0">
                <a:solidFill>
                  <a:srgbClr val="000000"/>
                </a:solidFill>
                <a:effectLst>
                  <a:outerShdw blurRad="38100" dist="38100" dir="2700000" algn="tl">
                    <a:srgbClr val="FFFFFF"/>
                  </a:outerShdw>
                </a:effectLst>
                <a:latin typeface="Times New Roman" pitchFamily="18" charset="0"/>
              </a:rPr>
              <a:t> </a:t>
            </a:r>
            <a:r>
              <a:rPr lang="ru-RU" sz="2200" b="1" dirty="0" err="1">
                <a:solidFill>
                  <a:srgbClr val="000000"/>
                </a:solidFill>
                <a:effectLst>
                  <a:outerShdw blurRad="38100" dist="38100" dir="2700000" algn="tl">
                    <a:srgbClr val="FFFFFF"/>
                  </a:outerShdw>
                </a:effectLst>
                <a:latin typeface="Times New Roman" pitchFamily="18" charset="0"/>
              </a:rPr>
              <a:t>шифрлаш</a:t>
            </a:r>
            <a:r>
              <a:rPr lang="ru-RU" sz="2200" b="1" dirty="0">
                <a:solidFill>
                  <a:srgbClr val="000000"/>
                </a:solidFill>
                <a:effectLst>
                  <a:outerShdw blurRad="38100" dist="38100" dir="2700000" algn="tl">
                    <a:srgbClr val="FFFFFF"/>
                  </a:outerShdw>
                </a:effectLst>
                <a:latin typeface="Times New Roman" pitchFamily="18" charset="0"/>
              </a:rPr>
              <a:t> </a:t>
            </a:r>
            <a:r>
              <a:rPr lang="ru-RU" sz="2200" b="1" dirty="0" err="1">
                <a:solidFill>
                  <a:srgbClr val="000000"/>
                </a:solidFill>
                <a:effectLst>
                  <a:outerShdw blurRad="38100" dist="38100" dir="2700000" algn="tl">
                    <a:srgbClr val="FFFFFF"/>
                  </a:outerShdw>
                </a:effectLst>
                <a:latin typeface="Times New Roman" pitchFamily="18" charset="0"/>
              </a:rPr>
              <a:t>алгоритмида</a:t>
            </a:r>
            <a:r>
              <a:rPr lang="ru-RU" sz="2200" b="1" dirty="0">
                <a:solidFill>
                  <a:srgbClr val="000000"/>
                </a:solidFill>
                <a:effectLst>
                  <a:outerShdw blurRad="38100" dist="38100" dir="2700000" algn="tl">
                    <a:srgbClr val="FFFFFF"/>
                  </a:outerShdw>
                </a:effectLst>
                <a:latin typeface="Times New Roman" pitchFamily="18" charset="0"/>
              </a:rPr>
              <a:t> </a:t>
            </a:r>
            <a:r>
              <a:rPr lang="ru-RU" sz="2200" b="1" dirty="0" err="1">
                <a:solidFill>
                  <a:srgbClr val="000000"/>
                </a:solidFill>
                <a:effectLst>
                  <a:outerShdw blurRad="38100" dist="38100" dir="2700000" algn="tl">
                    <a:srgbClr val="FFFFFF"/>
                  </a:outerShdw>
                </a:effectLst>
                <a:latin typeface="Times New Roman" pitchFamily="18" charset="0"/>
              </a:rPr>
              <a:t>ҳар</a:t>
            </a:r>
            <a:r>
              <a:rPr lang="ru-RU" sz="2200" b="1" dirty="0">
                <a:solidFill>
                  <a:srgbClr val="000000"/>
                </a:solidFill>
                <a:effectLst>
                  <a:outerShdw blurRad="38100" dist="38100" dir="2700000" algn="tl">
                    <a:srgbClr val="FFFFFF"/>
                  </a:outerShdw>
                </a:effectLst>
                <a:latin typeface="Times New Roman" pitchFamily="18" charset="0"/>
              </a:rPr>
              <a:t> </a:t>
            </a:r>
            <a:r>
              <a:rPr lang="ru-RU" sz="2200" b="1" dirty="0" err="1">
                <a:solidFill>
                  <a:srgbClr val="000000"/>
                </a:solidFill>
                <a:effectLst>
                  <a:outerShdw blurRad="38100" dist="38100" dir="2700000" algn="tl">
                    <a:srgbClr val="FFFFFF"/>
                  </a:outerShdw>
                </a:effectLst>
                <a:latin typeface="Times New Roman" pitchFamily="18" charset="0"/>
              </a:rPr>
              <a:t>бир</a:t>
            </a:r>
            <a:r>
              <a:rPr lang="ru-RU" sz="2200" b="1" dirty="0">
                <a:solidFill>
                  <a:srgbClr val="000000"/>
                </a:solidFill>
                <a:effectLst>
                  <a:outerShdw blurRad="38100" dist="38100" dir="2700000" algn="tl">
                    <a:srgbClr val="FFFFFF"/>
                  </a:outerShdw>
                </a:effectLst>
                <a:latin typeface="Times New Roman" pitchFamily="18" charset="0"/>
              </a:rPr>
              <a:t> раунд </a:t>
            </a:r>
            <a:r>
              <a:rPr lang="ru-RU" sz="2200" b="1" dirty="0" err="1">
                <a:solidFill>
                  <a:srgbClr val="000000"/>
                </a:solidFill>
                <a:effectLst>
                  <a:outerShdw blurRad="38100" dist="38100" dir="2700000" algn="tl">
                    <a:srgbClr val="FFFFFF"/>
                  </a:outerShdw>
                </a:effectLst>
                <a:latin typeface="Times New Roman" pitchFamily="18" charset="0"/>
              </a:rPr>
              <a:t>калити</a:t>
            </a:r>
            <a:r>
              <a:rPr lang="ru-RU" sz="2200" b="1" dirty="0">
                <a:solidFill>
                  <a:srgbClr val="000000"/>
                </a:solidFill>
                <a:effectLst>
                  <a:outerShdw blurRad="38100" dist="38100" dir="2700000" algn="tl">
                    <a:srgbClr val="FFFFFF"/>
                  </a:outerShdw>
                </a:effectLst>
                <a:latin typeface="Times New Roman" pitchFamily="18" charset="0"/>
              </a:rPr>
              <a:t> </a:t>
            </a:r>
            <a:r>
              <a:rPr lang="ru-RU" sz="2200" b="1" dirty="0" err="1">
                <a:solidFill>
                  <a:srgbClr val="000000"/>
                </a:solidFill>
                <a:effectLst>
                  <a:outerShdw blurRad="38100" dist="38100" dir="2700000" algn="tl">
                    <a:srgbClr val="FFFFFF"/>
                  </a:outerShdw>
                </a:effectLst>
                <a:latin typeface="Times New Roman" pitchFamily="18" charset="0"/>
              </a:rPr>
              <a:t>бир</a:t>
            </a:r>
            <a:r>
              <a:rPr lang="ru-RU" sz="2200" b="1" dirty="0">
                <a:solidFill>
                  <a:srgbClr val="000000"/>
                </a:solidFill>
                <a:effectLst>
                  <a:outerShdw blurRad="38100" dist="38100" dir="2700000" algn="tl">
                    <a:srgbClr val="FFFFFF"/>
                  </a:outerShdw>
                </a:effectLst>
                <a:latin typeface="Times New Roman" pitchFamily="18" charset="0"/>
              </a:rPr>
              <a:t> хил </a:t>
            </a:r>
            <a:r>
              <a:rPr lang="ru-RU" sz="2200" b="1" dirty="0" err="1">
                <a:solidFill>
                  <a:srgbClr val="000000"/>
                </a:solidFill>
                <a:effectLst>
                  <a:outerShdw blurRad="38100" dist="38100" dir="2700000" algn="tl">
                    <a:srgbClr val="FFFFFF"/>
                  </a:outerShdw>
                </a:effectLst>
                <a:latin typeface="Times New Roman" pitchFamily="18" charset="0"/>
              </a:rPr>
              <a:t>бўлиб</a:t>
            </a:r>
            <a:r>
              <a:rPr lang="ru-RU" sz="2200" b="1" dirty="0">
                <a:solidFill>
                  <a:srgbClr val="000000"/>
                </a:solidFill>
                <a:effectLst>
                  <a:outerShdw blurRad="38100" dist="38100" dir="2700000" algn="tl">
                    <a:srgbClr val="FFFFFF"/>
                  </a:outerShdw>
                </a:effectLst>
                <a:latin typeface="Times New Roman" pitchFamily="18" charset="0"/>
              </a:rPr>
              <a:t>, </a:t>
            </a:r>
            <a:r>
              <a:rPr lang="ru-RU" sz="2200" b="1" dirty="0" err="1">
                <a:solidFill>
                  <a:srgbClr val="000000"/>
                </a:solidFill>
                <a:effectLst>
                  <a:outerShdw blurRad="38100" dist="38100" dir="2700000" algn="tl">
                    <a:srgbClr val="FFFFFF"/>
                  </a:outerShdw>
                </a:effectLst>
                <a:latin typeface="Times New Roman" pitchFamily="18" charset="0"/>
              </a:rPr>
              <a:t>унинг</a:t>
            </a:r>
            <a:r>
              <a:rPr lang="ru-RU" sz="2200" b="1" dirty="0">
                <a:solidFill>
                  <a:srgbClr val="000000"/>
                </a:solidFill>
                <a:effectLst>
                  <a:outerShdw blurRad="38100" dist="38100" dir="2700000" algn="tl">
                    <a:srgbClr val="FFFFFF"/>
                  </a:outerShdw>
                </a:effectLst>
                <a:latin typeface="Times New Roman" pitchFamily="18" charset="0"/>
              </a:rPr>
              <a:t> </a:t>
            </a:r>
            <a:r>
              <a:rPr lang="ru-RU" sz="2200" b="1" dirty="0" err="1">
                <a:solidFill>
                  <a:srgbClr val="000000"/>
                </a:solidFill>
                <a:effectLst>
                  <a:outerShdw blurRad="38100" dist="38100" dir="2700000" algn="tl">
                    <a:srgbClr val="FFFFFF"/>
                  </a:outerShdw>
                </a:effectLst>
                <a:latin typeface="Times New Roman" pitchFamily="18" charset="0"/>
              </a:rPr>
              <a:t>қиймати</a:t>
            </a:r>
            <a:r>
              <a:rPr lang="ru-RU" sz="2200" b="1" dirty="0">
                <a:solidFill>
                  <a:srgbClr val="000000"/>
                </a:solidFill>
                <a:effectLst>
                  <a:outerShdw blurRad="38100" dist="38100" dir="2700000" algn="tl">
                    <a:srgbClr val="FFFFFF"/>
                  </a:outerShdw>
                </a:effectLst>
                <a:latin typeface="Times New Roman" pitchFamily="18" charset="0"/>
              </a:rPr>
              <a:t> </a:t>
            </a:r>
            <a:r>
              <a:rPr lang="ru-RU" sz="2200" b="1" dirty="0" err="1">
                <a:solidFill>
                  <a:srgbClr val="000000"/>
                </a:solidFill>
                <a:effectLst>
                  <a:outerShdw blurRad="38100" dist="38100" dir="2700000" algn="tl">
                    <a:srgbClr val="FFFFFF"/>
                  </a:outerShdw>
                </a:effectLst>
                <a:latin typeface="Times New Roman" pitchFamily="18" charset="0"/>
              </a:rPr>
              <a:t>қуйидагича</a:t>
            </a:r>
            <a:r>
              <a:rPr lang="ru-RU" sz="2200" b="1" dirty="0">
                <a:solidFill>
                  <a:srgbClr val="000000"/>
                </a:solidFill>
                <a:effectLst>
                  <a:outerShdw blurRad="38100" dist="38100" dir="2700000" algn="tl">
                    <a:srgbClr val="FFFFFF"/>
                  </a:outerShdw>
                </a:effectLst>
                <a:latin typeface="Times New Roman" pitchFamily="18" charset="0"/>
              </a:rPr>
              <a:t> </a:t>
            </a:r>
            <a:r>
              <a:rPr lang="ru-RU" sz="2200" b="1" dirty="0" err="1">
                <a:solidFill>
                  <a:srgbClr val="000000"/>
                </a:solidFill>
                <a:effectLst>
                  <a:outerShdw blurRad="38100" dist="38100" dir="2700000" algn="tl">
                    <a:srgbClr val="FFFFFF"/>
                  </a:outerShdw>
                </a:effectLst>
                <a:latin typeface="Times New Roman" pitchFamily="18" charset="0"/>
              </a:rPr>
              <a:t>бўлсин</a:t>
            </a:r>
            <a:r>
              <a:rPr lang="ru-RU" sz="2200" b="1" dirty="0">
                <a:solidFill>
                  <a:srgbClr val="000000"/>
                </a:solidFill>
                <a:effectLst>
                  <a:outerShdw blurRad="38100" dist="38100" dir="2700000" algn="tl">
                    <a:srgbClr val="FFFFFF"/>
                  </a:outerShdw>
                </a:effectLst>
                <a:latin typeface="Times New Roman" pitchFamily="18" charset="0"/>
              </a:rPr>
              <a:t>:</a:t>
            </a:r>
            <a:r>
              <a:rPr lang="ru-RU" sz="2200" dirty="0">
                <a:solidFill>
                  <a:srgbClr val="000000"/>
                </a:solidFill>
                <a:effectLst>
                  <a:outerShdw blurRad="38100" dist="38100" dir="2700000" algn="tl">
                    <a:srgbClr val="FFFFFF"/>
                  </a:outerShdw>
                </a:effectLst>
                <a:latin typeface="Times New Roman" pitchFamily="18" charset="0"/>
              </a:rPr>
              <a:t> </a:t>
            </a:r>
            <a:r>
              <a:rPr lang="ru-RU" sz="2200" b="1" dirty="0">
                <a:solidFill>
                  <a:srgbClr val="000000"/>
                </a:solidFill>
                <a:effectLst>
                  <a:outerShdw blurRad="38100" dist="38100" dir="2700000" algn="tl">
                    <a:srgbClr val="FFFFFF"/>
                  </a:outerShdw>
                </a:effectLst>
                <a:latin typeface="Times New Roman" pitchFamily="18" charset="0"/>
              </a:rPr>
              <a:t>К=1010 0011 1111 0100. </a:t>
            </a:r>
            <a:endParaRPr kumimoji="1" lang="ru-RU" sz="2200" b="1" dirty="0">
              <a:solidFill>
                <a:srgbClr val="000000"/>
              </a:solidFill>
              <a:effectLst>
                <a:outerShdw blurRad="38100" dist="38100" dir="2700000" algn="tl">
                  <a:srgbClr val="FFFFFF"/>
                </a:outerShdw>
              </a:effectLst>
              <a:latin typeface="Times New Roman" pitchFamily="18" charset="0"/>
            </a:endParaRPr>
          </a:p>
        </p:txBody>
      </p:sp>
    </p:spTree>
    <p:extLst>
      <p:ext uri="{BB962C8B-B14F-4D97-AF65-F5344CB8AC3E}">
        <p14:creationId xmlns:p14="http://schemas.microsoft.com/office/powerpoint/2010/main" val="27852718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07504" y="116632"/>
            <a:ext cx="8686800" cy="738664"/>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algn="just"/>
            <a:r>
              <a:rPr lang="uz-Cyrl-UZ" sz="2400" dirty="0" smtClean="0">
                <a:latin typeface="Times New Roman" pitchFamily="18" charset="0"/>
                <a:cs typeface="Times New Roman" pitchFamily="18" charset="0"/>
              </a:rPr>
              <a:t>Кузатилаётган тўпламнинг 1-раунд акслантиришларидан кейинги ўзгаришлари қуйидагича:</a:t>
            </a:r>
            <a:endParaRPr lang="ru-RU" sz="2400" dirty="0">
              <a:latin typeface="Times New Roman" pitchFamily="18" charset="0"/>
              <a:cs typeface="Times New Roman" pitchFamily="18" charset="0"/>
            </a:endParaRPr>
          </a:p>
        </p:txBody>
      </p:sp>
      <p:graphicFrame>
        <p:nvGraphicFramePr>
          <p:cNvPr id="3" name="Таблица 2"/>
          <p:cNvGraphicFramePr>
            <a:graphicFrameLocks noGrp="1"/>
          </p:cNvGraphicFramePr>
          <p:nvPr>
            <p:extLst>
              <p:ext uri="{D42A27DB-BD31-4B8C-83A1-F6EECF244321}">
                <p14:modId xmlns:p14="http://schemas.microsoft.com/office/powerpoint/2010/main" val="854843031"/>
              </p:ext>
            </p:extLst>
          </p:nvPr>
        </p:nvGraphicFramePr>
        <p:xfrm>
          <a:off x="178500" y="1124744"/>
          <a:ext cx="8762999" cy="5535168"/>
        </p:xfrm>
        <a:graphic>
          <a:graphicData uri="http://schemas.openxmlformats.org/drawingml/2006/table">
            <a:tbl>
              <a:tblPr>
                <a:solidFill>
                  <a:srgbClr val="FFFFCC"/>
                </a:solidFill>
              </a:tblPr>
              <a:tblGrid>
                <a:gridCol w="1077191"/>
                <a:gridCol w="1921452"/>
                <a:gridCol w="1921452"/>
                <a:gridCol w="1921452"/>
                <a:gridCol w="1921452"/>
              </a:tblGrid>
              <a:tr h="232548">
                <a:tc gridSpan="5">
                  <a:txBody>
                    <a:bodyPr/>
                    <a:lstStyle/>
                    <a:p>
                      <a:pPr algn="ctr">
                        <a:lnSpc>
                          <a:spcPct val="100000"/>
                        </a:lnSpc>
                        <a:spcBef>
                          <a:spcPts val="0"/>
                        </a:spcBef>
                        <a:spcAft>
                          <a:spcPts val="0"/>
                        </a:spcAft>
                        <a:tabLst>
                          <a:tab pos="457200" algn="l"/>
                          <a:tab pos="630555" algn="l"/>
                        </a:tabLst>
                      </a:pPr>
                      <a:r>
                        <a:rPr lang="uz-Cyrl-UZ" sz="1600" b="1" dirty="0" smtClean="0">
                          <a:solidFill>
                            <a:srgbClr val="C00000"/>
                          </a:solidFill>
                          <a:effectLst/>
                          <a:latin typeface="Times New Roman" pitchFamily="18" charset="0"/>
                          <a:ea typeface="Times New Roman"/>
                          <a:cs typeface="Times New Roman" pitchFamily="18" charset="0"/>
                        </a:rPr>
                        <a:t>1 – </a:t>
                      </a:r>
                      <a:r>
                        <a:rPr lang="ru-RU" sz="1600" b="1" dirty="0" smtClean="0">
                          <a:solidFill>
                            <a:srgbClr val="C00000"/>
                          </a:solidFill>
                          <a:effectLst/>
                          <a:latin typeface="Times New Roman" pitchFamily="18" charset="0"/>
                          <a:ea typeface="Times New Roman"/>
                          <a:cs typeface="Times New Roman" pitchFamily="18" charset="0"/>
                        </a:rPr>
                        <a:t>РАУНД</a:t>
                      </a:r>
                      <a:endParaRPr lang="en-US" sz="1600" b="1" dirty="0" smtClean="0">
                        <a:solidFill>
                          <a:srgbClr val="C00000"/>
                        </a:solidFill>
                        <a:effectLst/>
                        <a:latin typeface="Times New Roman" pitchFamily="18" charset="0"/>
                        <a:ea typeface="Times New Roman"/>
                        <a:cs typeface="Times New Roman" pitchFamily="18" charset="0"/>
                      </a:endParaRPr>
                    </a:p>
                    <a:p>
                      <a:pPr algn="ctr">
                        <a:lnSpc>
                          <a:spcPct val="100000"/>
                        </a:lnSpc>
                        <a:spcBef>
                          <a:spcPts val="0"/>
                        </a:spcBef>
                        <a:spcAft>
                          <a:spcPts val="0"/>
                        </a:spcAft>
                        <a:tabLst>
                          <a:tab pos="457200" algn="l"/>
                          <a:tab pos="630555" algn="l"/>
                        </a:tabLst>
                      </a:pPr>
                      <a:endParaRPr lang="ru-RU" sz="1600" b="1" dirty="0">
                        <a:solidFill>
                          <a:srgbClr val="C00000"/>
                        </a:solidFill>
                        <a:effectLst/>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232548">
                <a:tc>
                  <a:txBody>
                    <a:bodyPr/>
                    <a:lstStyle/>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Акс</a:t>
                      </a:r>
                      <a:r>
                        <a:rPr lang="ru-RU" sz="1600" b="1" dirty="0">
                          <a:latin typeface="Times New Roman" pitchFamily="18" charset="0"/>
                          <a:ea typeface="Times New Roman"/>
                          <a:cs typeface="Times New Roman" pitchFamily="18" charset="0"/>
                        </a:rPr>
                        <a:t>-ш</a:t>
                      </a: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NibbleSub</a:t>
                      </a:r>
                      <a:endParaRPr lang="ru-RU" sz="1600" b="1" dirty="0">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ShiftRow</a:t>
                      </a:r>
                      <a:endParaRPr lang="ru-RU" sz="1600" b="1" dirty="0">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MixColumn</a:t>
                      </a:r>
                      <a:endParaRPr lang="ru-RU" sz="1600" b="1" dirty="0">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AddRoundKey</a:t>
                      </a:r>
                      <a:endParaRPr lang="ru-RU" sz="1600" b="1" dirty="0">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r>
              <a:tr h="4024761">
                <a:tc>
                  <a:txBody>
                    <a:bodyPr/>
                    <a:lstStyle/>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1-блок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2-блок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3-блок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4-блок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5-блок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6-блок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7-блок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8-блок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9-блок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10-блок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11-блок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12-блок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13-блок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14-блок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15-блок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16-блок</a:t>
                      </a:r>
                      <a:endParaRPr lang="ru-RU" sz="1600" b="1" dirty="0">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1110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0100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1101</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0001</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0010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1011</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0011</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1010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0110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1100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0101</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1001</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0111</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1110</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b="0" dirty="0" smtClean="0">
                          <a:solidFill>
                            <a:srgbClr val="00B050"/>
                          </a:solidFill>
                          <a:latin typeface="Times New Roman" pitchFamily="18" charset="0"/>
                          <a:ea typeface="Times New Roman"/>
                          <a:cs typeface="Times New Roman" pitchFamily="18" charset="0"/>
                        </a:rPr>
                        <a:t>1111</a:t>
                      </a:r>
                      <a:endParaRPr lang="ru-RU" sz="1600" b="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0100</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1101</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0001</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0010</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1011</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solidFill>
                            <a:schemeClr val="tx1"/>
                          </a:solidFill>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1000</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dirty="0" smtClean="0">
                          <a:solidFill>
                            <a:srgbClr val="FF0000"/>
                          </a:solidFill>
                          <a:latin typeface="Times New Roman" pitchFamily="18" charset="0"/>
                          <a:ea typeface="Times New Roman"/>
                          <a:cs typeface="Times New Roman" pitchFamily="18" charset="0"/>
                        </a:rPr>
                        <a:t>0011</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1010</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0110</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1100</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0101</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1001</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0111</a:t>
                      </a:r>
                      <a:r>
                        <a:rPr lang="uz-Cyrl-UZ" sz="1600" dirty="0" smtClean="0">
                          <a:latin typeface="Times New Roman" pitchFamily="18" charset="0"/>
                          <a:ea typeface="Times New Roman"/>
                          <a:cs typeface="Times New Roman" pitchFamily="18" charset="0"/>
                        </a:rPr>
                        <a:t>|0111|</a:t>
                      </a:r>
                      <a:r>
                        <a:rPr lang="uz-Cyrl-UZ" sz="1600" dirty="0" smtClean="0">
                          <a:solidFill>
                            <a:srgbClr val="C00000"/>
                          </a:solidFill>
                          <a:latin typeface="Times New Roman" pitchFamily="18" charset="0"/>
                          <a:ea typeface="Times New Roman"/>
                          <a:cs typeface="Times New Roman" pitchFamily="18" charset="0"/>
                        </a:rPr>
                        <a:t>0000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1111</a:t>
                      </a:r>
                      <a:endParaRPr lang="ru-RU" sz="1600" dirty="0">
                        <a:solidFill>
                          <a:srgbClr val="00B050"/>
                        </a:solidFill>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1111</a:t>
                      </a:r>
                      <a:r>
                        <a:rPr lang="uz-Cyrl-UZ" sz="1600" b="0" dirty="0" smtClean="0">
                          <a:latin typeface="Times New Roman" pitchFamily="18" charset="0"/>
                          <a:ea typeface="Times New Roman"/>
                          <a:cs typeface="Times New Roman" pitchFamily="18" charset="0"/>
                        </a:rPr>
                        <a:t>|</a:t>
                      </a:r>
                      <a:r>
                        <a:rPr lang="uz-Cyrl-UZ" sz="1600" b="1" dirty="0" smtClean="0">
                          <a:solidFill>
                            <a:srgbClr val="FF0066"/>
                          </a:solidFill>
                          <a:latin typeface="Times New Roman" pitchFamily="18" charset="0"/>
                          <a:ea typeface="Times New Roman"/>
                          <a:cs typeface="Times New Roman" pitchFamily="18" charset="0"/>
                        </a:rPr>
                        <a:t>0110</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1101</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0010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0001</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1101</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1010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0000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1101</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1101</a:t>
                      </a:r>
                      <a:r>
                        <a:rPr lang="uz-Cyrl-UZ" sz="1600" b="0" dirty="0">
                          <a:latin typeface="Times New Roman" pitchFamily="18" charset="0"/>
                          <a:ea typeface="Times New Roman"/>
                          <a:cs typeface="Times New Roman" pitchFamily="18" charset="0"/>
                        </a:rPr>
                        <a:t>|</a:t>
                      </a:r>
                      <a:r>
                        <a:rPr lang="uz-Cyrl-UZ" sz="1600" b="1" dirty="0" smtClean="0">
                          <a:solidFill>
                            <a:srgbClr val="FF0066"/>
                          </a:solidFill>
                          <a:latin typeface="Times New Roman" pitchFamily="18" charset="0"/>
                          <a:ea typeface="Times New Roman"/>
                          <a:cs typeface="Times New Roman" pitchFamily="18" charset="0"/>
                        </a:rPr>
                        <a:t>1011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1101|</a:t>
                      </a:r>
                      <a:r>
                        <a:rPr lang="uz-Cyrl-UZ" sz="1600" dirty="0" smtClean="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1000</a:t>
                      </a:r>
                      <a:r>
                        <a:rPr lang="uz-Cyrl-UZ" sz="1600" b="0" dirty="0" smtClean="0">
                          <a:latin typeface="Times New Roman" pitchFamily="18" charset="0"/>
                          <a:ea typeface="Times New Roman"/>
                          <a:cs typeface="Times New Roman" pitchFamily="18" charset="0"/>
                        </a:rPr>
                        <a:t>|</a:t>
                      </a:r>
                      <a:r>
                        <a:rPr lang="uz-Cyrl-UZ" sz="1600" b="1" dirty="0" smtClean="0">
                          <a:solidFill>
                            <a:srgbClr val="FF0066"/>
                          </a:solidFill>
                          <a:latin typeface="Times New Roman" pitchFamily="18" charset="0"/>
                          <a:ea typeface="Times New Roman"/>
                          <a:cs typeface="Times New Roman" pitchFamily="18" charset="0"/>
                        </a:rPr>
                        <a:t>1101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1101</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1100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0100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1101</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0000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1100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1101</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0101</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1010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1101</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1011</a:t>
                      </a:r>
                      <a:r>
                        <a:rPr lang="uz-Cyrl-UZ" sz="1600" b="0" dirty="0" smtClean="0">
                          <a:latin typeface="Times New Roman" pitchFamily="18" charset="0"/>
                          <a:ea typeface="Times New Roman"/>
                          <a:cs typeface="Times New Roman" pitchFamily="18" charset="0"/>
                        </a:rPr>
                        <a:t>|</a:t>
                      </a:r>
                      <a:r>
                        <a:rPr lang="uz-Cyrl-UZ" sz="1600" b="1" dirty="0" smtClean="0">
                          <a:solidFill>
                            <a:srgbClr val="FF0066"/>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1101</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0011</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1110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1101|</a:t>
                      </a:r>
                      <a:r>
                        <a:rPr lang="uz-Cyrl-UZ" sz="1600" dirty="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0100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0101</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1101</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1001</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1101</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0001</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0011</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1101</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0110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1000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1101</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1110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1001</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1101</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0111</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0111</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1101</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0010</a:t>
                      </a:r>
                      <a:endParaRPr lang="ru-RU" sz="1600" dirty="0">
                        <a:solidFill>
                          <a:srgbClr val="00B050"/>
                        </a:solidFill>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0101</a:t>
                      </a:r>
                      <a:r>
                        <a:rPr lang="uz-Cyrl-UZ" sz="160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0101</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1000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0000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0011</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0111</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1000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0010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1110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0110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0111</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1010</a:t>
                      </a:r>
                      <a:r>
                        <a:rPr lang="uz-Cyrl-UZ" sz="1600" b="0" dirty="0" smtClean="0">
                          <a:latin typeface="Times New Roman" pitchFamily="18" charset="0"/>
                          <a:ea typeface="Times New Roman"/>
                          <a:cs typeface="Times New Roman" pitchFamily="18" charset="0"/>
                        </a:rPr>
                        <a:t>|</a:t>
                      </a:r>
                      <a:r>
                        <a:rPr lang="uz-Cyrl-UZ" sz="1600" b="1" dirty="0" smtClean="0">
                          <a:solidFill>
                            <a:srgbClr val="FF0066"/>
                          </a:solidFill>
                          <a:latin typeface="Times New Roman" pitchFamily="18" charset="0"/>
                          <a:ea typeface="Times New Roman"/>
                          <a:cs typeface="Times New Roman" pitchFamily="18" charset="0"/>
                        </a:rPr>
                        <a:t>1111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0010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rgbClr val="FF0000"/>
                          </a:solidFill>
                          <a:latin typeface="Times New Roman" pitchFamily="18" charset="0"/>
                          <a:ea typeface="Times New Roman"/>
                          <a:cs typeface="Times New Roman" pitchFamily="18" charset="0"/>
                        </a:rPr>
                        <a:t>1111</a:t>
                      </a:r>
                      <a:r>
                        <a:rPr lang="uz-Cyrl-UZ" sz="1600" b="0" dirty="0" smtClean="0">
                          <a:latin typeface="Times New Roman" pitchFamily="18" charset="0"/>
                          <a:ea typeface="Times New Roman"/>
                          <a:cs typeface="Times New Roman" pitchFamily="18" charset="0"/>
                        </a:rPr>
                        <a:t>|</a:t>
                      </a:r>
                      <a:r>
                        <a:rPr lang="uz-Cyrl-UZ" sz="1600" b="1" dirty="0" smtClean="0">
                          <a:solidFill>
                            <a:srgbClr val="FF0066"/>
                          </a:solidFill>
                          <a:latin typeface="Times New Roman" pitchFamily="18" charset="0"/>
                          <a:ea typeface="Times New Roman"/>
                          <a:cs typeface="Times New Roman" pitchFamily="18" charset="0"/>
                        </a:rPr>
                        <a:t>1001</a:t>
                      </a:r>
                      <a:r>
                        <a:rPr lang="uz-Cyrl-UZ" sz="1600" dirty="0" smtClean="0">
                          <a:latin typeface="Times New Roman" pitchFamily="18" charset="0"/>
                          <a:ea typeface="Times New Roman"/>
                          <a:cs typeface="Times New Roman" pitchFamily="18" charset="0"/>
                        </a:rPr>
                        <a:t>|</a:t>
                      </a:r>
                      <a:r>
                        <a:rPr lang="uz-Cyrl-UZ" sz="1600" dirty="0" smtClean="0">
                          <a:solidFill>
                            <a:srgbClr val="C00000"/>
                          </a:solidFill>
                          <a:latin typeface="Times New Roman" pitchFamily="18" charset="0"/>
                          <a:ea typeface="Times New Roman"/>
                          <a:cs typeface="Times New Roman" pitchFamily="18" charset="0"/>
                        </a:rPr>
                        <a:t>0010</a:t>
                      </a:r>
                      <a:r>
                        <a:rPr lang="uz-Cyrl-UZ" sz="1600" dirty="0" smtClean="0">
                          <a:latin typeface="Times New Roman" pitchFamily="18" charset="0"/>
                          <a:ea typeface="Times New Roman"/>
                          <a:cs typeface="Times New Roman" pitchFamily="18" charset="0"/>
                        </a:rPr>
                        <a:t>|</a:t>
                      </a:r>
                      <a:r>
                        <a:rPr lang="uz-Cyrl-UZ" sz="1600" dirty="0" smtClean="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0001</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1100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1001</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1101</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1110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0110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0011</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0001</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1011</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0000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1100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1011</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0100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1010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1101</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0100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0010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0110</a:t>
                      </a:r>
                      <a:endParaRPr lang="ru-RU" sz="1600" dirty="0">
                        <a:solidFill>
                          <a:srgbClr val="00B050"/>
                        </a:solidFill>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r>
              <a:tr h="232548">
                <a:tc>
                  <a:txBody>
                    <a:bodyPr/>
                    <a:lstStyle/>
                    <a:p>
                      <a:pPr algn="ctr">
                        <a:lnSpc>
                          <a:spcPct val="115000"/>
                        </a:lnSpc>
                        <a:spcAft>
                          <a:spcPts val="0"/>
                        </a:spcAft>
                        <a:tabLst>
                          <a:tab pos="457200" algn="l"/>
                          <a:tab pos="630555" algn="l"/>
                        </a:tabLst>
                      </a:pPr>
                      <a:r>
                        <a:rPr lang="uz-Cyrl-UZ" sz="1600" b="1" dirty="0" smtClean="0">
                          <a:latin typeface="Times New Roman" panose="02020603050405020304" pitchFamily="18" charset="0"/>
                          <a:cs typeface="Times New Roman" panose="02020603050405020304" pitchFamily="18" charset="0"/>
                        </a:rPr>
                        <a:t>∑⊕</a:t>
                      </a:r>
                      <a:r>
                        <a:rPr lang="en-US" sz="1600" b="1" dirty="0" smtClean="0">
                          <a:latin typeface="Times New Roman" pitchFamily="18" charset="0"/>
                          <a:ea typeface="Times New Roman"/>
                          <a:cs typeface="Times New Roman" pitchFamily="18" charset="0"/>
                        </a:rPr>
                        <a:t>=</a:t>
                      </a:r>
                      <a:endParaRPr lang="ru-RU" sz="1600" b="1" dirty="0">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a:solidFill>
                            <a:srgbClr val="FF0000"/>
                          </a:solidFill>
                          <a:latin typeface="Times New Roman" pitchFamily="18" charset="0"/>
                          <a:ea typeface="Times New Roman"/>
                          <a:cs typeface="Times New Roman" pitchFamily="18" charset="0"/>
                        </a:rPr>
                        <a:t>0000|</a:t>
                      </a:r>
                      <a:r>
                        <a:rPr lang="uz-Cyrl-UZ" sz="1600" dirty="0">
                          <a:solidFill>
                            <a:srgbClr val="00B050"/>
                          </a:solidFill>
                          <a:latin typeface="Times New Roman" pitchFamily="18" charset="0"/>
                          <a:ea typeface="Times New Roman"/>
                          <a:cs typeface="Times New Roman" pitchFamily="18" charset="0"/>
                        </a:rPr>
                        <a:t>0000</a:t>
                      </a:r>
                      <a:r>
                        <a:rPr lang="uz-Cyrl-UZ" sz="1600" dirty="0">
                          <a:solidFill>
                            <a:srgbClr val="C00000"/>
                          </a:solidFill>
                          <a:latin typeface="Times New Roman" pitchFamily="18" charset="0"/>
                          <a:ea typeface="Times New Roman"/>
                          <a:cs typeface="Times New Roman" pitchFamily="18" charset="0"/>
                        </a:rPr>
                        <a:t>|0000</a:t>
                      </a:r>
                      <a:r>
                        <a:rPr lang="uz-Cyrl-UZ" sz="1600" dirty="0">
                          <a:latin typeface="Times New Roman" pitchFamily="18" charset="0"/>
                          <a:ea typeface="Times New Roman"/>
                          <a:cs typeface="Times New Roman" pitchFamily="18" charset="0"/>
                        </a:rPr>
                        <a:t>|0000</a:t>
                      </a:r>
                      <a:endParaRPr lang="ru-RU" sz="1600" dirty="0">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nSpc>
                          <a:spcPct val="115000"/>
                        </a:lnSpc>
                        <a:spcAft>
                          <a:spcPts val="0"/>
                        </a:spcAft>
                      </a:pPr>
                      <a:r>
                        <a:rPr lang="uz-Cyrl-UZ" sz="1600" b="1" dirty="0">
                          <a:solidFill>
                            <a:srgbClr val="FF0000"/>
                          </a:solidFill>
                          <a:latin typeface="Times New Roman" pitchFamily="18" charset="0"/>
                          <a:ea typeface="Times New Roman"/>
                          <a:cs typeface="Times New Roman" pitchFamily="18" charset="0"/>
                        </a:rPr>
                        <a:t>0000</a:t>
                      </a:r>
                      <a:r>
                        <a:rPr lang="uz-Cyrl-UZ" sz="1600" dirty="0">
                          <a:latin typeface="Times New Roman" pitchFamily="18" charset="0"/>
                          <a:ea typeface="Times New Roman"/>
                          <a:cs typeface="Times New Roman" pitchFamily="18" charset="0"/>
                        </a:rPr>
                        <a:t>|0000|</a:t>
                      </a:r>
                      <a:r>
                        <a:rPr lang="uz-Cyrl-UZ" sz="1600" dirty="0">
                          <a:solidFill>
                            <a:srgbClr val="C00000"/>
                          </a:solidFill>
                          <a:latin typeface="Times New Roman" pitchFamily="18" charset="0"/>
                          <a:ea typeface="Times New Roman"/>
                          <a:cs typeface="Times New Roman" pitchFamily="18" charset="0"/>
                        </a:rPr>
                        <a:t>0000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0000</a:t>
                      </a:r>
                      <a:endParaRPr lang="ru-RU" sz="1600" dirty="0">
                        <a:solidFill>
                          <a:srgbClr val="00B050"/>
                        </a:solidFill>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nSpc>
                          <a:spcPct val="115000"/>
                        </a:lnSpc>
                        <a:spcAft>
                          <a:spcPts val="0"/>
                        </a:spcAft>
                      </a:pPr>
                      <a:r>
                        <a:rPr lang="uz-Cyrl-UZ" sz="1600" b="1" dirty="0">
                          <a:solidFill>
                            <a:srgbClr val="FF0000"/>
                          </a:solidFill>
                          <a:latin typeface="Times New Roman" pitchFamily="18" charset="0"/>
                          <a:ea typeface="Times New Roman"/>
                          <a:cs typeface="Times New Roman" pitchFamily="18" charset="0"/>
                        </a:rPr>
                        <a:t>0000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0000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0000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0000</a:t>
                      </a:r>
                      <a:endParaRPr lang="ru-RU" sz="1600" dirty="0">
                        <a:solidFill>
                          <a:srgbClr val="00B050"/>
                        </a:solidFill>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nSpc>
                          <a:spcPct val="115000"/>
                        </a:lnSpc>
                        <a:spcAft>
                          <a:spcPts val="0"/>
                        </a:spcAft>
                      </a:pPr>
                      <a:r>
                        <a:rPr lang="uz-Cyrl-UZ" sz="1600" b="1" dirty="0">
                          <a:solidFill>
                            <a:srgbClr val="FF0000"/>
                          </a:solidFill>
                          <a:latin typeface="Times New Roman" pitchFamily="18" charset="0"/>
                          <a:ea typeface="Times New Roman"/>
                          <a:cs typeface="Times New Roman" pitchFamily="18" charset="0"/>
                        </a:rPr>
                        <a:t>0000</a:t>
                      </a:r>
                      <a:r>
                        <a:rPr lang="uz-Cyrl-UZ" sz="1600" b="0" dirty="0">
                          <a:latin typeface="Times New Roman" pitchFamily="18" charset="0"/>
                          <a:ea typeface="Times New Roman"/>
                          <a:cs typeface="Times New Roman" pitchFamily="18" charset="0"/>
                        </a:rPr>
                        <a:t>|</a:t>
                      </a:r>
                      <a:r>
                        <a:rPr lang="uz-Cyrl-UZ" sz="1600" b="1" dirty="0">
                          <a:solidFill>
                            <a:srgbClr val="FF0066"/>
                          </a:solidFill>
                          <a:latin typeface="Times New Roman" pitchFamily="18" charset="0"/>
                          <a:ea typeface="Times New Roman"/>
                          <a:cs typeface="Times New Roman" pitchFamily="18" charset="0"/>
                        </a:rPr>
                        <a:t>0000</a:t>
                      </a:r>
                      <a:r>
                        <a:rPr lang="uz-Cyrl-UZ" sz="1600" dirty="0">
                          <a:latin typeface="Times New Roman" pitchFamily="18" charset="0"/>
                          <a:ea typeface="Times New Roman"/>
                          <a:cs typeface="Times New Roman" pitchFamily="18" charset="0"/>
                        </a:rPr>
                        <a:t>|</a:t>
                      </a:r>
                      <a:r>
                        <a:rPr lang="uz-Cyrl-UZ" sz="1600" dirty="0">
                          <a:solidFill>
                            <a:srgbClr val="C00000"/>
                          </a:solidFill>
                          <a:latin typeface="Times New Roman" pitchFamily="18" charset="0"/>
                          <a:ea typeface="Times New Roman"/>
                          <a:cs typeface="Times New Roman" pitchFamily="18" charset="0"/>
                        </a:rPr>
                        <a:t>0000</a:t>
                      </a:r>
                      <a:r>
                        <a:rPr lang="uz-Cyrl-UZ" sz="1600" dirty="0">
                          <a:latin typeface="Times New Roman" pitchFamily="18" charset="0"/>
                          <a:ea typeface="Times New Roman"/>
                          <a:cs typeface="Times New Roman" pitchFamily="18" charset="0"/>
                        </a:rPr>
                        <a:t>|</a:t>
                      </a:r>
                      <a:r>
                        <a:rPr lang="uz-Cyrl-UZ" sz="1600" dirty="0">
                          <a:solidFill>
                            <a:srgbClr val="00B050"/>
                          </a:solidFill>
                          <a:latin typeface="Times New Roman" pitchFamily="18" charset="0"/>
                          <a:ea typeface="Times New Roman"/>
                          <a:cs typeface="Times New Roman" pitchFamily="18" charset="0"/>
                        </a:rPr>
                        <a:t>0000</a:t>
                      </a:r>
                      <a:endParaRPr lang="ru-RU" sz="1600" dirty="0">
                        <a:solidFill>
                          <a:srgbClr val="00B050"/>
                        </a:solidFill>
                        <a:latin typeface="Times New Roman" pitchFamily="18" charset="0"/>
                        <a:ea typeface="Times New Roman"/>
                        <a:cs typeface="Times New Roman" pitchFamily="18" charset="0"/>
                      </a:endParaRPr>
                    </a:p>
                  </a:txBody>
                  <a:tcPr marL="65024" marR="65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r>
            </a:tbl>
          </a:graphicData>
        </a:graphic>
      </p:graphicFrame>
    </p:spTree>
    <p:extLst>
      <p:ext uri="{BB962C8B-B14F-4D97-AF65-F5344CB8AC3E}">
        <p14:creationId xmlns:p14="http://schemas.microsoft.com/office/powerpoint/2010/main" val="3829634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937742342"/>
              </p:ext>
            </p:extLst>
          </p:nvPr>
        </p:nvGraphicFramePr>
        <p:xfrm>
          <a:off x="166468" y="1088740"/>
          <a:ext cx="8762999" cy="5608320"/>
        </p:xfrm>
        <a:graphic>
          <a:graphicData uri="http://schemas.openxmlformats.org/drawingml/2006/table">
            <a:tbl>
              <a:tblPr/>
              <a:tblGrid>
                <a:gridCol w="1074643"/>
                <a:gridCol w="1937638"/>
                <a:gridCol w="1916906"/>
                <a:gridCol w="1916906"/>
                <a:gridCol w="1916906"/>
              </a:tblGrid>
              <a:tr h="178932">
                <a:tc gridSpan="5">
                  <a:txBody>
                    <a:bodyPr/>
                    <a:lstStyle/>
                    <a:p>
                      <a:pPr algn="ctr">
                        <a:lnSpc>
                          <a:spcPct val="115000"/>
                        </a:lnSpc>
                        <a:spcAft>
                          <a:spcPts val="0"/>
                        </a:spcAft>
                        <a:tabLst>
                          <a:tab pos="457200" algn="l"/>
                          <a:tab pos="630555" algn="l"/>
                        </a:tabLst>
                      </a:pPr>
                      <a:r>
                        <a:rPr lang="en-US" sz="1600" b="1" dirty="0" smtClean="0">
                          <a:latin typeface="Times New Roman"/>
                          <a:ea typeface="Times New Roman"/>
                          <a:cs typeface="Times New Roman"/>
                        </a:rPr>
                        <a:t>2</a:t>
                      </a:r>
                      <a:r>
                        <a:rPr lang="ru-RU" sz="1600" b="1" dirty="0" smtClean="0">
                          <a:latin typeface="Times New Roman"/>
                          <a:ea typeface="Times New Roman"/>
                          <a:cs typeface="Times New Roman"/>
                        </a:rPr>
                        <a:t> </a:t>
                      </a:r>
                      <a:r>
                        <a:rPr lang="uz-Cyrl-UZ" sz="1600" b="1" dirty="0" smtClean="0">
                          <a:latin typeface="Times New Roman"/>
                          <a:ea typeface="Times New Roman"/>
                          <a:cs typeface="Times New Roman"/>
                        </a:rPr>
                        <a:t>– РАУНД</a:t>
                      </a:r>
                    </a:p>
                    <a:p>
                      <a:pPr algn="ctr">
                        <a:lnSpc>
                          <a:spcPct val="115000"/>
                        </a:lnSpc>
                        <a:spcAft>
                          <a:spcPts val="0"/>
                        </a:spcAft>
                        <a:tabLst>
                          <a:tab pos="457200" algn="l"/>
                          <a:tab pos="630555" algn="l"/>
                        </a:tabLst>
                      </a:pP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178932">
                <a:tc>
                  <a:txBody>
                    <a:bodyPr/>
                    <a:lstStyle/>
                    <a:p>
                      <a:pPr algn="ctr">
                        <a:lnSpc>
                          <a:spcPct val="115000"/>
                        </a:lnSpc>
                        <a:spcAft>
                          <a:spcPts val="0"/>
                        </a:spcAft>
                        <a:tabLst>
                          <a:tab pos="457200" algn="l"/>
                          <a:tab pos="630555" algn="l"/>
                        </a:tabLst>
                      </a:pPr>
                      <a:r>
                        <a:rPr lang="uz-Cyrl-UZ" sz="1600" b="1" dirty="0">
                          <a:latin typeface="Times New Roman"/>
                          <a:ea typeface="Times New Roman"/>
                          <a:cs typeface="Times New Roman"/>
                        </a:rPr>
                        <a:t>Акс</a:t>
                      </a:r>
                      <a:r>
                        <a:rPr lang="ru-RU" sz="1600" b="1" dirty="0">
                          <a:latin typeface="Times New Roman"/>
                          <a:ea typeface="Times New Roman"/>
                          <a:cs typeface="Times New Roman"/>
                        </a:rPr>
                        <a:t>-ш</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15000"/>
                        </a:lnSpc>
                        <a:spcAft>
                          <a:spcPts val="0"/>
                        </a:spcAft>
                        <a:tabLst>
                          <a:tab pos="457200" algn="l"/>
                          <a:tab pos="630555" algn="l"/>
                        </a:tabLst>
                      </a:pPr>
                      <a:r>
                        <a:rPr lang="uz-Cyrl-UZ" sz="1600" b="1" dirty="0">
                          <a:latin typeface="Times New Roman"/>
                          <a:ea typeface="Times New Roman"/>
                          <a:cs typeface="Times New Roman"/>
                        </a:rPr>
                        <a:t>NibbleSub</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a:lnSpc>
                          <a:spcPct val="115000"/>
                        </a:lnSpc>
                        <a:spcAft>
                          <a:spcPts val="0"/>
                        </a:spcAft>
                        <a:tabLst>
                          <a:tab pos="457200" algn="l"/>
                          <a:tab pos="630555" algn="l"/>
                        </a:tabLst>
                      </a:pPr>
                      <a:r>
                        <a:rPr lang="uz-Cyrl-UZ" sz="1600" b="1" dirty="0">
                          <a:latin typeface="Times New Roman"/>
                          <a:ea typeface="Times New Roman"/>
                          <a:cs typeface="Times New Roman"/>
                        </a:rPr>
                        <a:t>ShiftRow</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a:lnSpc>
                          <a:spcPct val="115000"/>
                        </a:lnSpc>
                        <a:spcAft>
                          <a:spcPts val="0"/>
                        </a:spcAft>
                        <a:tabLst>
                          <a:tab pos="457200" algn="l"/>
                          <a:tab pos="630555" algn="l"/>
                        </a:tabLst>
                      </a:pPr>
                      <a:r>
                        <a:rPr lang="uz-Cyrl-UZ" sz="1600" b="1" dirty="0">
                          <a:latin typeface="Times New Roman"/>
                          <a:ea typeface="Times New Roman"/>
                          <a:cs typeface="Times New Roman"/>
                        </a:rPr>
                        <a:t>MixColumn</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a:lnSpc>
                          <a:spcPct val="115000"/>
                        </a:lnSpc>
                        <a:spcAft>
                          <a:spcPts val="0"/>
                        </a:spcAft>
                        <a:tabLst>
                          <a:tab pos="457200" algn="l"/>
                          <a:tab pos="630555" algn="l"/>
                        </a:tabLst>
                      </a:pPr>
                      <a:r>
                        <a:rPr lang="uz-Cyrl-UZ" sz="1600" b="1" dirty="0">
                          <a:latin typeface="Times New Roman"/>
                          <a:ea typeface="Times New Roman"/>
                          <a:cs typeface="Times New Roman"/>
                        </a:rPr>
                        <a:t>AddRoundKey</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r>
              <a:tr h="3044605">
                <a:tc>
                  <a:txBody>
                    <a:bodyPr/>
                    <a:lstStyle/>
                    <a:p>
                      <a:pPr algn="ctr">
                        <a:lnSpc>
                          <a:spcPct val="115000"/>
                        </a:lnSpc>
                        <a:spcAft>
                          <a:spcPts val="0"/>
                        </a:spcAft>
                        <a:tabLst>
                          <a:tab pos="530225" algn="l"/>
                          <a:tab pos="630555" algn="l"/>
                        </a:tabLst>
                      </a:pPr>
                      <a:r>
                        <a:rPr lang="uz-Cyrl-UZ" sz="1600" b="1" dirty="0">
                          <a:latin typeface="Times New Roman"/>
                          <a:ea typeface="Times New Roman"/>
                          <a:cs typeface="Times New Roman"/>
                        </a:rPr>
                        <a:t>1-блок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2-блок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3-блок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4-блок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5-блок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6-блок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7-блок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8-блок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9-блок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10-блок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11-блок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12-блок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13-блок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14-блок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15-блок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16-блок</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smtClean="0">
                          <a:solidFill>
                            <a:srgbClr val="FF0000"/>
                          </a:solidFill>
                          <a:latin typeface="Times New Roman"/>
                          <a:ea typeface="Times New Roman"/>
                          <a:cs typeface="Times New Roman"/>
                        </a:rPr>
                        <a:t>1111</a:t>
                      </a:r>
                      <a:r>
                        <a:rPr lang="uz-Cyrl-UZ" sz="1600" b="0" dirty="0" smtClean="0">
                          <a:latin typeface="Times New Roman"/>
                          <a:ea typeface="Times New Roman"/>
                          <a:cs typeface="Times New Roman"/>
                        </a:rPr>
                        <a:t>|</a:t>
                      </a:r>
                      <a:r>
                        <a:rPr lang="uz-Cyrl-UZ" sz="1600" b="1" dirty="0" smtClean="0">
                          <a:solidFill>
                            <a:srgbClr val="FF0066"/>
                          </a:solidFill>
                          <a:latin typeface="Times New Roman"/>
                          <a:ea typeface="Times New Roman"/>
                          <a:cs typeface="Times New Roman"/>
                        </a:rPr>
                        <a:t>1111</a:t>
                      </a:r>
                      <a:r>
                        <a:rPr lang="uz-Cyrl-UZ" sz="1600" dirty="0" smtClean="0">
                          <a:latin typeface="Times New Roman"/>
                          <a:ea typeface="Times New Roman"/>
                          <a:cs typeface="Times New Roman"/>
                        </a:rPr>
                        <a:t>|</a:t>
                      </a:r>
                      <a:r>
                        <a:rPr lang="uz-Cyrl-UZ" sz="1600" dirty="0" smtClean="0">
                          <a:solidFill>
                            <a:srgbClr val="C00000"/>
                          </a:solidFill>
                          <a:latin typeface="Times New Roman"/>
                          <a:ea typeface="Times New Roman"/>
                          <a:cs typeface="Times New Roman"/>
                        </a:rPr>
                        <a:t>1101</a:t>
                      </a:r>
                      <a:r>
                        <a:rPr lang="uz-Cyrl-UZ" sz="1600" dirty="0" smtClean="0">
                          <a:latin typeface="Times New Roman"/>
                          <a:ea typeface="Times New Roman"/>
                          <a:cs typeface="Times New Roman"/>
                        </a:rPr>
                        <a:t>|</a:t>
                      </a:r>
                      <a:r>
                        <a:rPr lang="uz-Cyrl-UZ" sz="1600" dirty="0" smtClean="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0011</a:t>
                      </a:r>
                      <a:r>
                        <a:rPr lang="uz-Cyrl-UZ" sz="1600" b="1"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1110</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0001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1000</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1101</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0000</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1011</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1000</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0110</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0111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0111</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1010</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0100</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0101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1010</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1001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0000</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0001</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0100</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1100</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1110</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0101</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1100</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0010</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0110</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1001</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0010</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endParaRPr lang="ru-RU" sz="1600" dirty="0">
                        <a:solidFill>
                          <a:srgbClr val="00B050"/>
                        </a:solidFill>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smtClean="0">
                          <a:solidFill>
                            <a:srgbClr val="FF0000"/>
                          </a:solidFill>
                          <a:latin typeface="Times New Roman"/>
                          <a:ea typeface="Times New Roman"/>
                          <a:cs typeface="Times New Roman"/>
                        </a:rPr>
                        <a:t>1111</a:t>
                      </a:r>
                      <a:r>
                        <a:rPr lang="uz-Cyrl-UZ" sz="1600" dirty="0" smtClean="0">
                          <a:latin typeface="Times New Roman"/>
                          <a:ea typeface="Times New Roman"/>
                          <a:cs typeface="Times New Roman"/>
                        </a:rPr>
                        <a:t>|</a:t>
                      </a:r>
                      <a:r>
                        <a:rPr lang="uz-Cyrl-UZ" sz="1600" dirty="0" smtClean="0">
                          <a:solidFill>
                            <a:srgbClr val="00B050"/>
                          </a:solidFill>
                          <a:latin typeface="Times New Roman"/>
                          <a:ea typeface="Times New Roman"/>
                          <a:cs typeface="Times New Roman"/>
                        </a:rPr>
                        <a:t>1011</a:t>
                      </a:r>
                      <a:r>
                        <a:rPr lang="uz-Cyrl-UZ" sz="1600" dirty="0" smtClean="0">
                          <a:latin typeface="Times New Roman"/>
                          <a:ea typeface="Times New Roman"/>
                          <a:cs typeface="Times New Roman"/>
                        </a:rPr>
                        <a:t>|</a:t>
                      </a:r>
                      <a:r>
                        <a:rPr lang="uz-Cyrl-UZ" sz="1600" dirty="0" smtClean="0">
                          <a:solidFill>
                            <a:srgbClr val="C00000"/>
                          </a:solidFill>
                          <a:latin typeface="Times New Roman"/>
                          <a:ea typeface="Times New Roman"/>
                          <a:cs typeface="Times New Roman"/>
                        </a:rPr>
                        <a:t>1101</a:t>
                      </a:r>
                      <a:r>
                        <a:rPr lang="uz-Cyrl-UZ" sz="1600" dirty="0" smtClean="0">
                          <a:latin typeface="Times New Roman"/>
                          <a:ea typeface="Times New Roman"/>
                          <a:cs typeface="Times New Roman"/>
                        </a:rPr>
                        <a:t>|</a:t>
                      </a:r>
                      <a:r>
                        <a:rPr lang="uz-Cyrl-UZ" sz="1600" b="1" dirty="0" smtClean="0">
                          <a:solidFill>
                            <a:srgbClr val="FF0066"/>
                          </a:solidFill>
                          <a:latin typeface="Times New Roman"/>
                          <a:ea typeface="Times New Roman"/>
                          <a:cs typeface="Times New Roman"/>
                        </a:rPr>
                        <a:t>1111</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0011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1101</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1110</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0001</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1000</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0011</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0000</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1000</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0110</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0111</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0111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1010</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0100</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0101</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1010</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1001</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0000</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1011</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0100</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1100</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1110</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0101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1100</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0010</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0110</a:t>
                      </a:r>
                      <a:endParaRPr lang="ru-RU" sz="1600" b="1" dirty="0">
                        <a:solidFill>
                          <a:srgbClr val="FF0066"/>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1001</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1011</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1101</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0010</a:t>
                      </a:r>
                      <a:endParaRPr lang="ru-RU" sz="1600" b="1" dirty="0">
                        <a:solidFill>
                          <a:srgbClr val="FF0066"/>
                        </a:solidFill>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0111</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0011</a:t>
                      </a:r>
                      <a:r>
                        <a:rPr lang="uz-Cyrl-UZ" sz="1600" b="1" dirty="0">
                          <a:solidFill>
                            <a:srgbClr val="FF3399"/>
                          </a:solidFill>
                          <a:latin typeface="Times New Roman"/>
                          <a:ea typeface="Times New Roman"/>
                          <a:cs typeface="Times New Roman"/>
                        </a:rPr>
                        <a:t>|1001|</a:t>
                      </a:r>
                      <a:r>
                        <a:rPr lang="uz-Cyrl-UZ" sz="1600" b="1" dirty="0">
                          <a:solidFill>
                            <a:srgbClr val="F080E0"/>
                          </a:solidFill>
                          <a:latin typeface="Times New Roman"/>
                          <a:ea typeface="Times New Roman"/>
                          <a:cs typeface="Times New Roman"/>
                        </a:rPr>
                        <a:t>1011</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0000</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1000</a:t>
                      </a:r>
                      <a:r>
                        <a:rPr lang="uz-Cyrl-UZ" sz="1600" b="1" dirty="0">
                          <a:solidFill>
                            <a:srgbClr val="FF3399"/>
                          </a:solidFill>
                          <a:latin typeface="Times New Roman"/>
                          <a:ea typeface="Times New Roman"/>
                          <a:cs typeface="Times New Roman"/>
                        </a:rPr>
                        <a:t>|1101|</a:t>
                      </a:r>
                      <a:r>
                        <a:rPr lang="uz-Cyrl-UZ" sz="1600" b="1" dirty="0">
                          <a:solidFill>
                            <a:srgbClr val="F080E0"/>
                          </a:solidFill>
                          <a:latin typeface="Times New Roman"/>
                          <a:ea typeface="Times New Roman"/>
                          <a:cs typeface="Times New Roman"/>
                        </a:rPr>
                        <a:t>1101</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0100</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0001</a:t>
                      </a:r>
                      <a:r>
                        <a:rPr lang="uz-Cyrl-UZ" sz="1600" b="1" dirty="0">
                          <a:solidFill>
                            <a:srgbClr val="FF3399"/>
                          </a:solidFill>
                          <a:latin typeface="Times New Roman"/>
                          <a:ea typeface="Times New Roman"/>
                          <a:cs typeface="Times New Roman"/>
                        </a:rPr>
                        <a:t>|0110|</a:t>
                      </a:r>
                      <a:r>
                        <a:rPr lang="uz-Cyrl-UZ" sz="1600" b="1" dirty="0">
                          <a:solidFill>
                            <a:srgbClr val="F080E0"/>
                          </a:solidFill>
                          <a:latin typeface="Times New Roman"/>
                          <a:ea typeface="Times New Roman"/>
                          <a:cs typeface="Times New Roman"/>
                        </a:rPr>
                        <a:t>1010</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1110</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1101</a:t>
                      </a:r>
                      <a:r>
                        <a:rPr lang="uz-Cyrl-UZ" sz="1600" b="1" dirty="0">
                          <a:solidFill>
                            <a:srgbClr val="FF3399"/>
                          </a:solidFill>
                          <a:latin typeface="Times New Roman"/>
                          <a:ea typeface="Times New Roman"/>
                          <a:cs typeface="Times New Roman"/>
                        </a:rPr>
                        <a:t>|0010|</a:t>
                      </a:r>
                      <a:r>
                        <a:rPr lang="uz-Cyrl-UZ" sz="1600" b="1" dirty="0">
                          <a:solidFill>
                            <a:srgbClr val="F080E0"/>
                          </a:solidFill>
                          <a:latin typeface="Times New Roman"/>
                          <a:ea typeface="Times New Roman"/>
                          <a:cs typeface="Times New Roman"/>
                        </a:rPr>
                        <a:t>1100</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0001</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0111</a:t>
                      </a:r>
                      <a:r>
                        <a:rPr lang="uz-Cyrl-UZ" sz="1600" b="1" dirty="0">
                          <a:solidFill>
                            <a:srgbClr val="FF3399"/>
                          </a:solidFill>
                          <a:latin typeface="Times New Roman"/>
                          <a:ea typeface="Times New Roman"/>
                          <a:cs typeface="Times New Roman"/>
                        </a:rPr>
                        <a:t>|0100|</a:t>
                      </a:r>
                      <a:r>
                        <a:rPr lang="uz-Cyrl-UZ" sz="1600" b="1" dirty="0">
                          <a:solidFill>
                            <a:srgbClr val="F080E0"/>
                          </a:solidFill>
                          <a:latin typeface="Times New Roman"/>
                          <a:ea typeface="Times New Roman"/>
                          <a:cs typeface="Times New Roman"/>
                        </a:rPr>
                        <a:t>1001</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1011</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1011</a:t>
                      </a:r>
                      <a:r>
                        <a:rPr lang="uz-Cyrl-UZ" sz="1600" b="1" dirty="0">
                          <a:solidFill>
                            <a:srgbClr val="FF3399"/>
                          </a:solidFill>
                          <a:latin typeface="Times New Roman"/>
                          <a:ea typeface="Times New Roman"/>
                          <a:cs typeface="Times New Roman"/>
                        </a:rPr>
                        <a:t>|0111|</a:t>
                      </a:r>
                      <a:r>
                        <a:rPr lang="uz-Cyrl-UZ" sz="1600" b="1" dirty="0">
                          <a:solidFill>
                            <a:srgbClr val="F080E0"/>
                          </a:solidFill>
                          <a:latin typeface="Times New Roman"/>
                          <a:ea typeface="Times New Roman"/>
                          <a:cs typeface="Times New Roman"/>
                        </a:rPr>
                        <a:t>0010</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rgbClr val="FF0000"/>
                          </a:solidFill>
                          <a:latin typeface="Times New Roman"/>
                          <a:ea typeface="Times New Roman"/>
                          <a:cs typeface="Times New Roman"/>
                        </a:rPr>
                        <a:t>1111</a:t>
                      </a:r>
                      <a:r>
                        <a:rPr lang="uz-Cyrl-UZ" sz="1600" b="1" dirty="0" smtClean="0">
                          <a:solidFill>
                            <a:srgbClr val="FF3399"/>
                          </a:solidFill>
                          <a:latin typeface="Times New Roman"/>
                          <a:ea typeface="Times New Roman"/>
                          <a:cs typeface="Times New Roman"/>
                        </a:rPr>
                        <a:t>|</a:t>
                      </a:r>
                      <a:r>
                        <a:rPr lang="uz-Cyrl-UZ" sz="1600" b="1" dirty="0" smtClean="0">
                          <a:solidFill>
                            <a:srgbClr val="F64C58"/>
                          </a:solidFill>
                          <a:latin typeface="Times New Roman"/>
                          <a:ea typeface="Times New Roman"/>
                          <a:cs typeface="Times New Roman"/>
                        </a:rPr>
                        <a:t>0010</a:t>
                      </a:r>
                      <a:r>
                        <a:rPr lang="uz-Cyrl-UZ" sz="1600" b="1" dirty="0" smtClean="0">
                          <a:solidFill>
                            <a:srgbClr val="FF3399"/>
                          </a:solidFill>
                          <a:latin typeface="Times New Roman"/>
                          <a:ea typeface="Times New Roman"/>
                          <a:cs typeface="Times New Roman"/>
                        </a:rPr>
                        <a:t>|1010|</a:t>
                      </a:r>
                      <a:r>
                        <a:rPr lang="uz-Cyrl-UZ" sz="1600" b="1" dirty="0" smtClean="0">
                          <a:solidFill>
                            <a:srgbClr val="F080E0"/>
                          </a:solidFill>
                          <a:latin typeface="Times New Roman"/>
                          <a:ea typeface="Times New Roman"/>
                          <a:cs typeface="Times New Roman"/>
                        </a:rPr>
                        <a:t>0000</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1100</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0000</a:t>
                      </a:r>
                      <a:r>
                        <a:rPr lang="uz-Cyrl-UZ" sz="1600" b="1" dirty="0">
                          <a:solidFill>
                            <a:srgbClr val="FF3399"/>
                          </a:solidFill>
                          <a:latin typeface="Times New Roman"/>
                          <a:ea typeface="Times New Roman"/>
                          <a:cs typeface="Times New Roman"/>
                        </a:rPr>
                        <a:t>|0011|</a:t>
                      </a:r>
                      <a:r>
                        <a:rPr lang="uz-Cyrl-UZ" sz="1600" b="1" dirty="0">
                          <a:solidFill>
                            <a:srgbClr val="F080E0"/>
                          </a:solidFill>
                          <a:latin typeface="Times New Roman"/>
                          <a:ea typeface="Times New Roman"/>
                          <a:cs typeface="Times New Roman"/>
                        </a:rPr>
                        <a:t>0100</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1001</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0110</a:t>
                      </a:r>
                      <a:r>
                        <a:rPr lang="uz-Cyrl-UZ" sz="1600" b="1" dirty="0">
                          <a:solidFill>
                            <a:srgbClr val="FF3399"/>
                          </a:solidFill>
                          <a:latin typeface="Times New Roman"/>
                          <a:ea typeface="Times New Roman"/>
                          <a:cs typeface="Times New Roman"/>
                        </a:rPr>
                        <a:t>|1110|</a:t>
                      </a:r>
                      <a:r>
                        <a:rPr lang="uz-Cyrl-UZ" sz="1600" b="1" dirty="0">
                          <a:solidFill>
                            <a:srgbClr val="F080E0"/>
                          </a:solidFill>
                          <a:latin typeface="Times New Roman"/>
                          <a:ea typeface="Times New Roman"/>
                          <a:cs typeface="Times New Roman"/>
                        </a:rPr>
                        <a:t>0110</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1000</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1001</a:t>
                      </a:r>
                      <a:r>
                        <a:rPr lang="uz-Cyrl-UZ" sz="1600" b="1" dirty="0">
                          <a:solidFill>
                            <a:srgbClr val="FF3399"/>
                          </a:solidFill>
                          <a:latin typeface="Times New Roman"/>
                          <a:ea typeface="Times New Roman"/>
                          <a:cs typeface="Times New Roman"/>
                        </a:rPr>
                        <a:t>|0101|</a:t>
                      </a:r>
                      <a:r>
                        <a:rPr lang="uz-Cyrl-UZ" sz="1600" b="1" dirty="0">
                          <a:solidFill>
                            <a:srgbClr val="F080E0"/>
                          </a:solidFill>
                          <a:latin typeface="Times New Roman"/>
                          <a:ea typeface="Times New Roman"/>
                          <a:cs typeface="Times New Roman"/>
                        </a:rPr>
                        <a:t>0001</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0101</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1110</a:t>
                      </a:r>
                      <a:r>
                        <a:rPr lang="uz-Cyrl-UZ" sz="1600" b="1" dirty="0">
                          <a:solidFill>
                            <a:srgbClr val="FF3399"/>
                          </a:solidFill>
                          <a:latin typeface="Times New Roman"/>
                          <a:ea typeface="Times New Roman"/>
                          <a:cs typeface="Times New Roman"/>
                        </a:rPr>
                        <a:t>|0001|</a:t>
                      </a:r>
                      <a:r>
                        <a:rPr lang="uz-Cyrl-UZ" sz="1600" b="1" dirty="0">
                          <a:solidFill>
                            <a:srgbClr val="F080E0"/>
                          </a:solidFill>
                          <a:latin typeface="Times New Roman"/>
                          <a:ea typeface="Times New Roman"/>
                          <a:cs typeface="Times New Roman"/>
                        </a:rPr>
                        <a:t>0111</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0110</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1100</a:t>
                      </a:r>
                      <a:r>
                        <a:rPr lang="uz-Cyrl-UZ" sz="1600" b="1" dirty="0">
                          <a:solidFill>
                            <a:srgbClr val="FF3399"/>
                          </a:solidFill>
                          <a:latin typeface="Times New Roman"/>
                          <a:ea typeface="Times New Roman"/>
                          <a:cs typeface="Times New Roman"/>
                        </a:rPr>
                        <a:t>|1100|</a:t>
                      </a:r>
                      <a:r>
                        <a:rPr lang="uz-Cyrl-UZ" sz="1600" b="1" dirty="0">
                          <a:solidFill>
                            <a:srgbClr val="F080E0"/>
                          </a:solidFill>
                          <a:latin typeface="Times New Roman"/>
                          <a:ea typeface="Times New Roman"/>
                          <a:cs typeface="Times New Roman"/>
                        </a:rPr>
                        <a:t>0101</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0010</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0101</a:t>
                      </a:r>
                      <a:r>
                        <a:rPr lang="uz-Cyrl-UZ" sz="1600" b="1" dirty="0">
                          <a:solidFill>
                            <a:srgbClr val="FF3399"/>
                          </a:solidFill>
                          <a:latin typeface="Times New Roman"/>
                          <a:ea typeface="Times New Roman"/>
                          <a:cs typeface="Times New Roman"/>
                        </a:rPr>
                        <a:t>|1011|</a:t>
                      </a:r>
                      <a:r>
                        <a:rPr lang="uz-Cyrl-UZ" sz="1600" b="1" dirty="0">
                          <a:solidFill>
                            <a:srgbClr val="F080E0"/>
                          </a:solidFill>
                          <a:latin typeface="Times New Roman"/>
                          <a:ea typeface="Times New Roman"/>
                          <a:cs typeface="Times New Roman"/>
                        </a:rPr>
                        <a:t>1000</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rgbClr val="FF0000"/>
                          </a:solidFill>
                          <a:latin typeface="Times New Roman"/>
                          <a:ea typeface="Times New Roman"/>
                          <a:cs typeface="Times New Roman"/>
                        </a:rPr>
                        <a:t>1010</a:t>
                      </a:r>
                      <a:r>
                        <a:rPr lang="uz-Cyrl-UZ" sz="1600" b="1" dirty="0" smtClean="0">
                          <a:solidFill>
                            <a:srgbClr val="FF3399"/>
                          </a:solidFill>
                          <a:latin typeface="Times New Roman"/>
                          <a:ea typeface="Times New Roman"/>
                          <a:cs typeface="Times New Roman"/>
                        </a:rPr>
                        <a:t>|</a:t>
                      </a:r>
                      <a:r>
                        <a:rPr lang="uz-Cyrl-UZ" sz="1600" b="1" dirty="0" smtClean="0">
                          <a:solidFill>
                            <a:srgbClr val="F64C58"/>
                          </a:solidFill>
                          <a:latin typeface="Times New Roman"/>
                          <a:ea typeface="Times New Roman"/>
                          <a:cs typeface="Times New Roman"/>
                        </a:rPr>
                        <a:t>0100</a:t>
                      </a:r>
                      <a:r>
                        <a:rPr lang="uz-Cyrl-UZ" sz="1600" b="1" dirty="0" smtClean="0">
                          <a:solidFill>
                            <a:srgbClr val="FF3399"/>
                          </a:solidFill>
                          <a:latin typeface="Times New Roman"/>
                          <a:ea typeface="Times New Roman"/>
                          <a:cs typeface="Times New Roman"/>
                        </a:rPr>
                        <a:t>|1111|</a:t>
                      </a:r>
                      <a:r>
                        <a:rPr lang="uz-Cyrl-UZ" sz="1600" b="1" dirty="0" smtClean="0">
                          <a:solidFill>
                            <a:srgbClr val="F080E0"/>
                          </a:solidFill>
                          <a:latin typeface="Times New Roman"/>
                          <a:ea typeface="Times New Roman"/>
                          <a:cs typeface="Times New Roman"/>
                        </a:rPr>
                        <a:t>1110</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0011</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1010</a:t>
                      </a:r>
                      <a:r>
                        <a:rPr lang="uz-Cyrl-UZ" sz="1600" b="1" dirty="0">
                          <a:solidFill>
                            <a:srgbClr val="FF3399"/>
                          </a:solidFill>
                          <a:latin typeface="Times New Roman"/>
                          <a:ea typeface="Times New Roman"/>
                          <a:cs typeface="Times New Roman"/>
                        </a:rPr>
                        <a:t>|1000|</a:t>
                      </a:r>
                      <a:r>
                        <a:rPr lang="uz-Cyrl-UZ" sz="1600" b="1" dirty="0">
                          <a:solidFill>
                            <a:srgbClr val="F080E0"/>
                          </a:solidFill>
                          <a:latin typeface="Times New Roman"/>
                          <a:ea typeface="Times New Roman"/>
                          <a:cs typeface="Times New Roman"/>
                        </a:rPr>
                        <a:t>0011</a:t>
                      </a:r>
                      <a:endParaRPr lang="ru-RU" sz="1600" b="1" dirty="0">
                        <a:solidFill>
                          <a:srgbClr val="F080E0"/>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rgbClr val="FF0000"/>
                          </a:solidFill>
                          <a:latin typeface="Times New Roman"/>
                          <a:ea typeface="Times New Roman"/>
                          <a:cs typeface="Times New Roman"/>
                        </a:rPr>
                        <a:t>1101</a:t>
                      </a:r>
                      <a:r>
                        <a:rPr lang="uz-Cyrl-UZ" sz="1600" b="1" dirty="0" smtClean="0">
                          <a:solidFill>
                            <a:srgbClr val="FF3399"/>
                          </a:solidFill>
                          <a:latin typeface="Times New Roman"/>
                          <a:ea typeface="Times New Roman"/>
                          <a:cs typeface="Times New Roman"/>
                        </a:rPr>
                        <a:t>|</a:t>
                      </a:r>
                      <a:r>
                        <a:rPr lang="uz-Cyrl-UZ" sz="1600" b="1" dirty="0" smtClean="0">
                          <a:solidFill>
                            <a:srgbClr val="F64C58"/>
                          </a:solidFill>
                          <a:latin typeface="Times New Roman"/>
                          <a:ea typeface="Times New Roman"/>
                          <a:cs typeface="Times New Roman"/>
                        </a:rPr>
                        <a:t>1111</a:t>
                      </a:r>
                      <a:r>
                        <a:rPr lang="uz-Cyrl-UZ" sz="1600" b="1" dirty="0" smtClean="0">
                          <a:solidFill>
                            <a:srgbClr val="FF3399"/>
                          </a:solidFill>
                          <a:latin typeface="Times New Roman"/>
                          <a:ea typeface="Times New Roman"/>
                          <a:cs typeface="Times New Roman"/>
                        </a:rPr>
                        <a:t>|0000|</a:t>
                      </a:r>
                      <a:r>
                        <a:rPr lang="uz-Cyrl-UZ" sz="1600" b="1" dirty="0" smtClean="0">
                          <a:solidFill>
                            <a:srgbClr val="F080E0"/>
                          </a:solidFill>
                          <a:latin typeface="Times New Roman"/>
                          <a:ea typeface="Times New Roman"/>
                          <a:cs typeface="Times New Roman"/>
                        </a:rPr>
                        <a:t>1111</a:t>
                      </a:r>
                      <a:endParaRPr lang="ru-RU" sz="1600" b="1" dirty="0">
                        <a:solidFill>
                          <a:srgbClr val="F080E0"/>
                        </a:solidFill>
                        <a:latin typeface="Calibri"/>
                        <a:ea typeface="Times New Roman"/>
                        <a:cs typeface="Times New Roman"/>
                      </a:endParaRPr>
                    </a:p>
                  </a:txBody>
                  <a:tcPr marL="64928" marR="649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smtClean="0">
                          <a:solidFill>
                            <a:srgbClr val="F64C58"/>
                          </a:solidFill>
                          <a:latin typeface="Times New Roman"/>
                          <a:ea typeface="Times New Roman"/>
                          <a:cs typeface="Times New Roman"/>
                        </a:rPr>
                        <a:t>1101|0000|0110|1111</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64C58"/>
                          </a:solidFill>
                          <a:latin typeface="Times New Roman"/>
                          <a:ea typeface="Times New Roman"/>
                          <a:cs typeface="Times New Roman"/>
                        </a:rPr>
                        <a:t>1010|1011|0010|1001</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64C58"/>
                          </a:solidFill>
                          <a:latin typeface="Times New Roman"/>
                          <a:ea typeface="Times New Roman"/>
                          <a:cs typeface="Times New Roman"/>
                        </a:rPr>
                        <a:t>1110|0010|1001|1110</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64C58"/>
                          </a:solidFill>
                          <a:latin typeface="Times New Roman"/>
                          <a:ea typeface="Times New Roman"/>
                          <a:cs typeface="Times New Roman"/>
                        </a:rPr>
                        <a:t>0100|1110|1101|1000</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64C58"/>
                          </a:solidFill>
                          <a:latin typeface="Times New Roman"/>
                          <a:ea typeface="Times New Roman"/>
                          <a:cs typeface="Times New Roman"/>
                        </a:rPr>
                        <a:t>1011|0100|1011|1101</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64C58"/>
                          </a:solidFill>
                          <a:latin typeface="Times New Roman"/>
                          <a:ea typeface="Times New Roman"/>
                          <a:cs typeface="Times New Roman"/>
                        </a:rPr>
                        <a:t>0001|1000|1000|0110</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64C58"/>
                          </a:solidFill>
                          <a:latin typeface="Times New Roman"/>
                          <a:ea typeface="Times New Roman"/>
                          <a:cs typeface="Times New Roman"/>
                        </a:rPr>
                        <a:t>0101|0001|0101|0100</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64C58"/>
                          </a:solidFill>
                          <a:latin typeface="Times New Roman"/>
                          <a:ea typeface="Times New Roman"/>
                          <a:cs typeface="Times New Roman"/>
                        </a:rPr>
                        <a:t>0110|0011|1100|0000</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64C58"/>
                          </a:solidFill>
                          <a:latin typeface="Times New Roman"/>
                          <a:ea typeface="Times New Roman"/>
                          <a:cs typeface="Times New Roman"/>
                        </a:rPr>
                        <a:t>0011|0101|0001|0010</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64C58"/>
                          </a:solidFill>
                          <a:latin typeface="Times New Roman"/>
                          <a:ea typeface="Times New Roman"/>
                          <a:cs typeface="Times New Roman"/>
                        </a:rPr>
                        <a:t>0010|1010|1010|0101</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rgbClr val="F64C58"/>
                          </a:solidFill>
                          <a:latin typeface="Times New Roman"/>
                          <a:ea typeface="Times New Roman"/>
                          <a:cs typeface="Times New Roman"/>
                        </a:rPr>
                        <a:t>1111|1101|1110|0011</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rgbClr val="F64C58"/>
                          </a:solidFill>
                          <a:latin typeface="Times New Roman"/>
                          <a:ea typeface="Times New Roman"/>
                          <a:cs typeface="Times New Roman"/>
                        </a:rPr>
                        <a:t>1100|1111|0011|0001</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64C58"/>
                          </a:solidFill>
                          <a:latin typeface="Times New Roman"/>
                          <a:ea typeface="Times New Roman"/>
                          <a:cs typeface="Times New Roman"/>
                        </a:rPr>
                        <a:t>1000|0110|0100|1100</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64C58"/>
                          </a:solidFill>
                          <a:latin typeface="Times New Roman"/>
                          <a:ea typeface="Times New Roman"/>
                          <a:cs typeface="Times New Roman"/>
                        </a:rPr>
                        <a:t>0000|0111|0000|1010</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rgbClr val="F64C58"/>
                          </a:solidFill>
                          <a:latin typeface="Times New Roman"/>
                          <a:ea typeface="Times New Roman"/>
                          <a:cs typeface="Times New Roman"/>
                        </a:rPr>
                        <a:t>1001|1001|0111|0111</a:t>
                      </a:r>
                      <a:endParaRPr lang="ru-RU" sz="1600" b="1" dirty="0">
                        <a:solidFill>
                          <a:srgbClr val="F64C58"/>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rgbClr val="F64C58"/>
                          </a:solidFill>
                          <a:latin typeface="Times New Roman"/>
                          <a:ea typeface="Times New Roman"/>
                          <a:cs typeface="Times New Roman"/>
                        </a:rPr>
                        <a:t>0111|1100|1111|1011</a:t>
                      </a:r>
                      <a:endParaRPr lang="ru-RU" sz="1600" b="1" dirty="0">
                        <a:solidFill>
                          <a:srgbClr val="F64C58"/>
                        </a:solidFill>
                        <a:latin typeface="Calibri"/>
                        <a:ea typeface="Times New Roman"/>
                        <a:cs typeface="Times New Roman"/>
                      </a:endParaRPr>
                    </a:p>
                  </a:txBody>
                  <a:tcPr marL="64928" marR="649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r>
              <a:tr h="178932">
                <a:tc>
                  <a:txBody>
                    <a:bodyPr/>
                    <a:lstStyle/>
                    <a:p>
                      <a:pPr algn="ctr">
                        <a:lnSpc>
                          <a:spcPct val="115000"/>
                        </a:lnSpc>
                        <a:spcAft>
                          <a:spcPts val="0"/>
                        </a:spcAft>
                        <a:tabLst>
                          <a:tab pos="457200" algn="l"/>
                          <a:tab pos="630555" algn="l"/>
                        </a:tabLst>
                      </a:pPr>
                      <a:r>
                        <a:rPr lang="uz-Cyrl-UZ" sz="1600" b="1" dirty="0" smtClean="0">
                          <a:latin typeface="Times New Roman" panose="02020603050405020304" pitchFamily="18" charset="0"/>
                          <a:cs typeface="Times New Roman" panose="02020603050405020304" pitchFamily="18" charset="0"/>
                        </a:rPr>
                        <a:t>∑⊕</a:t>
                      </a:r>
                      <a:r>
                        <a:rPr lang="en-US" sz="1600" b="1" dirty="0" smtClean="0">
                          <a:latin typeface="Times New Roman"/>
                          <a:ea typeface="Times New Roman"/>
                          <a:cs typeface="Times New Roman"/>
                        </a:rPr>
                        <a:t>=</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a:solidFill>
                            <a:srgbClr val="FF0000"/>
                          </a:solidFill>
                          <a:latin typeface="Times New Roman"/>
                          <a:ea typeface="Times New Roman"/>
                          <a:cs typeface="Times New Roman"/>
                        </a:rPr>
                        <a:t>0000</a:t>
                      </a:r>
                      <a:r>
                        <a:rPr lang="uz-Cyrl-UZ" sz="1600" b="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0000</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0000</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0000</a:t>
                      </a:r>
                      <a:endParaRPr lang="ru-RU" sz="1600" dirty="0">
                        <a:solidFill>
                          <a:srgbClr val="00B050"/>
                        </a:solidFill>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nSpc>
                          <a:spcPct val="115000"/>
                        </a:lnSpc>
                        <a:spcAft>
                          <a:spcPts val="0"/>
                        </a:spcAft>
                      </a:pPr>
                      <a:r>
                        <a:rPr lang="uz-Cyrl-UZ" sz="1600" b="1" dirty="0">
                          <a:solidFill>
                            <a:srgbClr val="FF0000"/>
                          </a:solidFill>
                          <a:latin typeface="Times New Roman"/>
                          <a:ea typeface="Times New Roman"/>
                          <a:cs typeface="Times New Roman"/>
                        </a:rPr>
                        <a:t>0000</a:t>
                      </a:r>
                      <a:r>
                        <a:rPr lang="uz-Cyrl-UZ" sz="1600" dirty="0">
                          <a:latin typeface="Times New Roman"/>
                          <a:ea typeface="Times New Roman"/>
                          <a:cs typeface="Times New Roman"/>
                        </a:rPr>
                        <a:t>|</a:t>
                      </a:r>
                      <a:r>
                        <a:rPr lang="uz-Cyrl-UZ" sz="1600" dirty="0">
                          <a:solidFill>
                            <a:srgbClr val="00B050"/>
                          </a:solidFill>
                          <a:latin typeface="Times New Roman"/>
                          <a:ea typeface="Times New Roman"/>
                          <a:cs typeface="Times New Roman"/>
                        </a:rPr>
                        <a:t>0000</a:t>
                      </a:r>
                      <a:r>
                        <a:rPr lang="uz-Cyrl-UZ" sz="1600" dirty="0">
                          <a:latin typeface="Times New Roman"/>
                          <a:ea typeface="Times New Roman"/>
                          <a:cs typeface="Times New Roman"/>
                        </a:rPr>
                        <a:t>|</a:t>
                      </a:r>
                      <a:r>
                        <a:rPr lang="uz-Cyrl-UZ" sz="1600" dirty="0">
                          <a:solidFill>
                            <a:srgbClr val="C00000"/>
                          </a:solidFill>
                          <a:latin typeface="Times New Roman"/>
                          <a:ea typeface="Times New Roman"/>
                          <a:cs typeface="Times New Roman"/>
                        </a:rPr>
                        <a:t>0000</a:t>
                      </a:r>
                      <a:r>
                        <a:rPr lang="uz-Cyrl-UZ" sz="1600" dirty="0">
                          <a:latin typeface="Times New Roman"/>
                          <a:ea typeface="Times New Roman"/>
                          <a:cs typeface="Times New Roman"/>
                        </a:rPr>
                        <a:t>|</a:t>
                      </a:r>
                      <a:r>
                        <a:rPr lang="uz-Cyrl-UZ" sz="1600" b="1" dirty="0">
                          <a:solidFill>
                            <a:srgbClr val="FF0066"/>
                          </a:solidFill>
                          <a:latin typeface="Times New Roman"/>
                          <a:ea typeface="Times New Roman"/>
                          <a:cs typeface="Times New Roman"/>
                        </a:rPr>
                        <a:t>0000</a:t>
                      </a:r>
                      <a:endParaRPr lang="ru-RU" sz="1600" b="1" dirty="0">
                        <a:solidFill>
                          <a:srgbClr val="FF0066"/>
                        </a:solidFill>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nSpc>
                          <a:spcPct val="115000"/>
                        </a:lnSpc>
                        <a:spcAft>
                          <a:spcPts val="0"/>
                        </a:spcAft>
                      </a:pPr>
                      <a:r>
                        <a:rPr lang="uz-Cyrl-UZ" sz="1600" b="1" dirty="0">
                          <a:solidFill>
                            <a:srgbClr val="FF0000"/>
                          </a:solidFill>
                          <a:latin typeface="Times New Roman"/>
                          <a:ea typeface="Times New Roman"/>
                          <a:cs typeface="Times New Roman"/>
                        </a:rPr>
                        <a:t>0000</a:t>
                      </a:r>
                      <a:r>
                        <a:rPr lang="uz-Cyrl-UZ" sz="1600" b="1" dirty="0">
                          <a:solidFill>
                            <a:srgbClr val="FF3399"/>
                          </a:solidFill>
                          <a:latin typeface="Times New Roman"/>
                          <a:ea typeface="Times New Roman"/>
                          <a:cs typeface="Times New Roman"/>
                        </a:rPr>
                        <a:t>|</a:t>
                      </a:r>
                      <a:r>
                        <a:rPr lang="uz-Cyrl-UZ" sz="1600" b="1" dirty="0">
                          <a:solidFill>
                            <a:srgbClr val="F64C58"/>
                          </a:solidFill>
                          <a:latin typeface="Times New Roman"/>
                          <a:ea typeface="Times New Roman"/>
                          <a:cs typeface="Times New Roman"/>
                        </a:rPr>
                        <a:t>0000</a:t>
                      </a:r>
                      <a:r>
                        <a:rPr lang="uz-Cyrl-UZ" sz="1600" b="1" dirty="0">
                          <a:solidFill>
                            <a:srgbClr val="FF3399"/>
                          </a:solidFill>
                          <a:latin typeface="Times New Roman"/>
                          <a:ea typeface="Times New Roman"/>
                          <a:cs typeface="Times New Roman"/>
                        </a:rPr>
                        <a:t>|0000|</a:t>
                      </a:r>
                      <a:r>
                        <a:rPr lang="uz-Cyrl-UZ" sz="1600" b="1" dirty="0">
                          <a:solidFill>
                            <a:srgbClr val="F080E0"/>
                          </a:solidFill>
                          <a:latin typeface="Times New Roman"/>
                          <a:ea typeface="Times New Roman"/>
                          <a:cs typeface="Times New Roman"/>
                        </a:rPr>
                        <a:t>0000</a:t>
                      </a:r>
                      <a:endParaRPr lang="ru-RU" sz="1600" b="1" dirty="0">
                        <a:solidFill>
                          <a:srgbClr val="F080E0"/>
                        </a:solidFill>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nSpc>
                          <a:spcPct val="115000"/>
                        </a:lnSpc>
                        <a:spcAft>
                          <a:spcPts val="0"/>
                        </a:spcAft>
                      </a:pPr>
                      <a:r>
                        <a:rPr lang="uz-Cyrl-UZ" sz="1600" b="1" dirty="0">
                          <a:solidFill>
                            <a:srgbClr val="F64C58"/>
                          </a:solidFill>
                          <a:latin typeface="Times New Roman"/>
                          <a:ea typeface="Times New Roman"/>
                          <a:cs typeface="Times New Roman"/>
                        </a:rPr>
                        <a:t>0000|0000|0000|0000</a:t>
                      </a:r>
                      <a:endParaRPr lang="ru-RU" sz="1600" b="1" dirty="0">
                        <a:solidFill>
                          <a:srgbClr val="F64C58"/>
                        </a:solidFill>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r>
            </a:tbl>
          </a:graphicData>
        </a:graphic>
      </p:graphicFrame>
      <p:sp>
        <p:nvSpPr>
          <p:cNvPr id="3" name="Прямоугольник 2"/>
          <p:cNvSpPr/>
          <p:nvPr/>
        </p:nvSpPr>
        <p:spPr>
          <a:xfrm>
            <a:off x="198700" y="152400"/>
            <a:ext cx="8763000" cy="830997"/>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wrap="square">
            <a:spAutoFit/>
          </a:bodyPr>
          <a:lstStyle/>
          <a:p>
            <a:pPr algn="just"/>
            <a:r>
              <a:rPr lang="uz-Cyrl-UZ" sz="2400" dirty="0">
                <a:latin typeface="Times New Roman" pitchFamily="18" charset="0"/>
                <a:cs typeface="Times New Roman" pitchFamily="18" charset="0"/>
              </a:rPr>
              <a:t>Кузатилаётган тўпламнинг </a:t>
            </a:r>
            <a:r>
              <a:rPr lang="uz-Cyrl-UZ" sz="2400" dirty="0" smtClean="0">
                <a:latin typeface="Times New Roman" pitchFamily="18" charset="0"/>
                <a:cs typeface="Times New Roman" pitchFamily="18" charset="0"/>
              </a:rPr>
              <a:t>2-раунд </a:t>
            </a:r>
            <a:r>
              <a:rPr lang="uz-Cyrl-UZ" sz="2400" dirty="0">
                <a:latin typeface="Times New Roman" pitchFamily="18" charset="0"/>
                <a:cs typeface="Times New Roman" pitchFamily="18" charset="0"/>
              </a:rPr>
              <a:t>акслантиришларидан кейинги ўзгаришлари қуйидагича:</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1294699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2334422511"/>
              </p:ext>
            </p:extLst>
          </p:nvPr>
        </p:nvGraphicFramePr>
        <p:xfrm>
          <a:off x="201488" y="1113554"/>
          <a:ext cx="8763000" cy="5608320"/>
        </p:xfrm>
        <a:graphic>
          <a:graphicData uri="http://schemas.openxmlformats.org/drawingml/2006/table">
            <a:tbl>
              <a:tblPr/>
              <a:tblGrid>
                <a:gridCol w="1074643"/>
                <a:gridCol w="1937639"/>
                <a:gridCol w="1916906"/>
                <a:gridCol w="1916906"/>
                <a:gridCol w="1916906"/>
              </a:tblGrid>
              <a:tr h="94872">
                <a:tc gridSpan="5">
                  <a:txBody>
                    <a:bodyPr/>
                    <a:lstStyle/>
                    <a:p>
                      <a:pPr algn="ctr">
                        <a:lnSpc>
                          <a:spcPct val="115000"/>
                        </a:lnSpc>
                        <a:spcAft>
                          <a:spcPts val="0"/>
                        </a:spcAft>
                        <a:tabLst>
                          <a:tab pos="457200" algn="l"/>
                          <a:tab pos="630555" algn="l"/>
                        </a:tabLst>
                      </a:pPr>
                      <a:r>
                        <a:rPr lang="en-US" sz="1600" b="1" dirty="0">
                          <a:latin typeface="Times New Roman"/>
                          <a:ea typeface="Times New Roman"/>
                          <a:cs typeface="Times New Roman"/>
                        </a:rPr>
                        <a:t>3</a:t>
                      </a:r>
                      <a:r>
                        <a:rPr lang="uz-Cyrl-UZ" sz="1600" b="1" dirty="0" smtClean="0">
                          <a:latin typeface="Times New Roman"/>
                          <a:ea typeface="Times New Roman"/>
                          <a:cs typeface="Times New Roman"/>
                        </a:rPr>
                        <a:t>-РАУНД</a:t>
                      </a:r>
                    </a:p>
                    <a:p>
                      <a:pPr algn="ctr">
                        <a:lnSpc>
                          <a:spcPct val="115000"/>
                        </a:lnSpc>
                        <a:spcAft>
                          <a:spcPts val="0"/>
                        </a:spcAft>
                        <a:tabLst>
                          <a:tab pos="457200" algn="l"/>
                          <a:tab pos="630555" algn="l"/>
                        </a:tabLst>
                      </a:pP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94872">
                <a:tc>
                  <a:txBody>
                    <a:bodyPr/>
                    <a:lstStyle/>
                    <a:p>
                      <a:pPr algn="ctr">
                        <a:lnSpc>
                          <a:spcPct val="115000"/>
                        </a:lnSpc>
                        <a:spcAft>
                          <a:spcPts val="0"/>
                        </a:spcAft>
                        <a:tabLst>
                          <a:tab pos="457200" algn="l"/>
                          <a:tab pos="630555" algn="l"/>
                        </a:tabLst>
                      </a:pPr>
                      <a:r>
                        <a:rPr lang="uz-Cyrl-UZ" sz="1600" b="1" dirty="0">
                          <a:latin typeface="Times New Roman"/>
                          <a:ea typeface="Times New Roman"/>
                          <a:cs typeface="Times New Roman"/>
                        </a:rPr>
                        <a:t>Акс</a:t>
                      </a:r>
                      <a:r>
                        <a:rPr lang="ru-RU" sz="1600" b="1" dirty="0">
                          <a:latin typeface="Times New Roman"/>
                          <a:ea typeface="Times New Roman"/>
                          <a:cs typeface="Times New Roman"/>
                        </a:rPr>
                        <a:t>-ш</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15000"/>
                        </a:lnSpc>
                        <a:spcAft>
                          <a:spcPts val="0"/>
                        </a:spcAft>
                        <a:tabLst>
                          <a:tab pos="457200" algn="l"/>
                          <a:tab pos="630555" algn="l"/>
                        </a:tabLst>
                      </a:pPr>
                      <a:r>
                        <a:rPr lang="uz-Cyrl-UZ" sz="1600" b="1" dirty="0">
                          <a:latin typeface="Times New Roman"/>
                          <a:ea typeface="Times New Roman"/>
                          <a:cs typeface="Times New Roman"/>
                        </a:rPr>
                        <a:t>NibbleSub</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a:lnSpc>
                          <a:spcPct val="115000"/>
                        </a:lnSpc>
                        <a:spcAft>
                          <a:spcPts val="0"/>
                        </a:spcAft>
                        <a:tabLst>
                          <a:tab pos="457200" algn="l"/>
                          <a:tab pos="630555" algn="l"/>
                        </a:tabLst>
                      </a:pPr>
                      <a:r>
                        <a:rPr lang="uz-Cyrl-UZ" sz="1600" b="1" dirty="0">
                          <a:latin typeface="Times New Roman"/>
                          <a:ea typeface="Times New Roman"/>
                          <a:cs typeface="Times New Roman"/>
                        </a:rPr>
                        <a:t>ShiftRow</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a:lnSpc>
                          <a:spcPct val="115000"/>
                        </a:lnSpc>
                        <a:spcAft>
                          <a:spcPts val="0"/>
                        </a:spcAft>
                        <a:tabLst>
                          <a:tab pos="457200" algn="l"/>
                          <a:tab pos="630555" algn="l"/>
                        </a:tabLst>
                      </a:pPr>
                      <a:r>
                        <a:rPr lang="uz-Cyrl-UZ" sz="1600" b="1" dirty="0">
                          <a:latin typeface="Times New Roman"/>
                          <a:ea typeface="Times New Roman"/>
                          <a:cs typeface="Times New Roman"/>
                        </a:rPr>
                        <a:t>MixColumn</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a:lnSpc>
                          <a:spcPct val="115000"/>
                        </a:lnSpc>
                        <a:spcAft>
                          <a:spcPts val="0"/>
                        </a:spcAft>
                        <a:tabLst>
                          <a:tab pos="457200" algn="l"/>
                          <a:tab pos="630555" algn="l"/>
                        </a:tabLst>
                      </a:pPr>
                      <a:r>
                        <a:rPr lang="uz-Cyrl-UZ" sz="1600" b="1" dirty="0">
                          <a:latin typeface="Times New Roman"/>
                          <a:ea typeface="Times New Roman"/>
                          <a:cs typeface="Times New Roman"/>
                        </a:rPr>
                        <a:t>AddRoundKey</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r>
              <a:tr h="1614289">
                <a:tc>
                  <a:txBody>
                    <a:bodyPr/>
                    <a:lstStyle/>
                    <a:p>
                      <a:pPr algn="ctr">
                        <a:lnSpc>
                          <a:spcPct val="115000"/>
                        </a:lnSpc>
                        <a:spcAft>
                          <a:spcPts val="0"/>
                        </a:spcAft>
                        <a:tabLst>
                          <a:tab pos="530225" algn="l"/>
                          <a:tab pos="630555" algn="l"/>
                        </a:tabLst>
                      </a:pPr>
                      <a:r>
                        <a:rPr lang="uz-Cyrl-UZ" sz="1600" b="1" dirty="0">
                          <a:latin typeface="Times New Roman"/>
                          <a:ea typeface="Times New Roman"/>
                          <a:cs typeface="Times New Roman"/>
                        </a:rPr>
                        <a:t>1-блок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2-блок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3-блок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4-блок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5-блок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6-блок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7-блок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8-блок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9-блок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10-блок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11-блок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12-блок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13-блок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14-блок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15-блок</a:t>
                      </a:r>
                      <a:endParaRPr lang="ru-RU" sz="1600" b="1" dirty="0">
                        <a:latin typeface="Calibri"/>
                        <a:ea typeface="Times New Roman"/>
                        <a:cs typeface="Times New Roman"/>
                      </a:endParaRPr>
                    </a:p>
                    <a:p>
                      <a:pPr algn="ctr">
                        <a:lnSpc>
                          <a:spcPct val="115000"/>
                        </a:lnSpc>
                        <a:spcAft>
                          <a:spcPts val="0"/>
                        </a:spcAft>
                        <a:tabLst>
                          <a:tab pos="530225" algn="l"/>
                          <a:tab pos="630555" algn="l"/>
                        </a:tabLst>
                      </a:pPr>
                      <a:r>
                        <a:rPr lang="uz-Cyrl-UZ" sz="1600" b="1" dirty="0">
                          <a:latin typeface="Times New Roman"/>
                          <a:ea typeface="Times New Roman"/>
                          <a:cs typeface="Times New Roman"/>
                        </a:rPr>
                        <a:t>16-блок</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1001|1110|1011|0111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0110|1100|1101|1010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0000|1101|1010|0000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0010|0000|1001|0011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1100|0010|1100|1001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0100|0011|0011|1011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chemeClr val="accent2">
                              <a:lumMod val="50000"/>
                            </a:schemeClr>
                          </a:solidFill>
                          <a:latin typeface="Times New Roman"/>
                          <a:ea typeface="Times New Roman"/>
                          <a:cs typeface="Times New Roman"/>
                        </a:rPr>
                        <a:t>1111|0100|1111|0010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1011|0001|0101|1110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chemeClr val="accent2">
                              <a:lumMod val="50000"/>
                            </a:schemeClr>
                          </a:solidFill>
                          <a:latin typeface="Times New Roman"/>
                          <a:ea typeface="Times New Roman"/>
                          <a:cs typeface="Times New Roman"/>
                        </a:rPr>
                        <a:t>0001|1111|0100|1101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chemeClr val="accent2">
                              <a:lumMod val="50000"/>
                            </a:schemeClr>
                          </a:solidFill>
                          <a:latin typeface="Times New Roman"/>
                          <a:ea typeface="Times New Roman"/>
                          <a:cs typeface="Times New Roman"/>
                        </a:rPr>
                        <a:t>1101|0110|0110|1111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0111|1001|0000|0001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0101|0111|0001|0100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0011|1011|0010|0101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1110|1000|1110|0110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1010|1010|1000|1000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1000|0101|0111|1100</a:t>
                      </a:r>
                      <a:endParaRPr lang="ru-RU" sz="1600" b="1" dirty="0">
                        <a:solidFill>
                          <a:schemeClr val="accent2">
                            <a:lumMod val="50000"/>
                          </a:schemeClr>
                        </a:solidFill>
                        <a:latin typeface="Calibri"/>
                        <a:ea typeface="Times New Roman"/>
                        <a:cs typeface="Times New Roman"/>
                      </a:endParaRPr>
                    </a:p>
                  </a:txBody>
                  <a:tcPr marL="64928" marR="649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1001|0111|1011|1110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0110|1010|1101|1100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0000|0000|1010|1101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0010|0011|1001|0000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1100|1001|1100|0010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0100|1011|0011|0011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chemeClr val="accent2">
                              <a:lumMod val="50000"/>
                            </a:schemeClr>
                          </a:solidFill>
                          <a:latin typeface="Times New Roman"/>
                          <a:ea typeface="Times New Roman"/>
                          <a:cs typeface="Times New Roman"/>
                        </a:rPr>
                        <a:t>1111|0010|1111|0100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1011|1110|0101|0001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chemeClr val="accent2">
                              <a:lumMod val="50000"/>
                            </a:schemeClr>
                          </a:solidFill>
                          <a:latin typeface="Times New Roman"/>
                          <a:ea typeface="Times New Roman"/>
                          <a:cs typeface="Times New Roman"/>
                        </a:rPr>
                        <a:t>0001|1101|0100|1111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chemeClr val="accent2">
                              <a:lumMod val="50000"/>
                            </a:schemeClr>
                          </a:solidFill>
                          <a:latin typeface="Times New Roman"/>
                          <a:ea typeface="Times New Roman"/>
                          <a:cs typeface="Times New Roman"/>
                        </a:rPr>
                        <a:t>1101|1111|0110|0110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0111|0001|0000|1001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0101|0100|0001|0111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0011|0101|0010|1011</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1110|0110|1110|1000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1010|1000|1000|1010</a:t>
                      </a:r>
                      <a:endParaRPr lang="ru-RU" sz="1600" b="1" dirty="0">
                        <a:solidFill>
                          <a:schemeClr val="accent2">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1000|1100|0111|0101</a:t>
                      </a:r>
                      <a:endParaRPr lang="ru-RU" sz="1600" b="1" dirty="0">
                        <a:solidFill>
                          <a:schemeClr val="accent2">
                            <a:lumMod val="50000"/>
                          </a:schemeClr>
                        </a:solidFill>
                        <a:latin typeface="Calibri"/>
                        <a:ea typeface="Times New Roman"/>
                        <a:cs typeface="Times New Roman"/>
                      </a:endParaRPr>
                    </a:p>
                  </a:txBody>
                  <a:tcPr marL="64928" marR="649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0110|1000|0001|0100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chemeClr val="accent6">
                              <a:lumMod val="50000"/>
                            </a:schemeClr>
                          </a:solidFill>
                          <a:latin typeface="Times New Roman"/>
                          <a:ea typeface="Times New Roman"/>
                          <a:cs typeface="Times New Roman"/>
                        </a:rPr>
                        <a:t>1101|0001|1111|1110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0000|0000|0100|0011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0000|0001|1000|0001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0110|0011|0011|1101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1001|0110|0011|0011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0110|1011|1010|0001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0001|0100|1101|1001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1010|0110|0001|1010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1001|1011|0110|0110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1011|1101|0001|1000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0111|0110|1101|1011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chemeClr val="accent6">
                              <a:lumMod val="50000"/>
                            </a:schemeClr>
                          </a:solidFill>
                          <a:latin typeface="Times New Roman"/>
                          <a:ea typeface="Times New Roman"/>
                          <a:cs typeface="Times New Roman"/>
                        </a:rPr>
                        <a:t>1111|1001|0011|1010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1101|0101|0010|0100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1110|1100|1100|1110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0000|0100|0011|0001</a:t>
                      </a:r>
                      <a:endParaRPr lang="ru-RU" sz="1600" b="1" dirty="0">
                        <a:solidFill>
                          <a:schemeClr val="accent6">
                            <a:lumMod val="50000"/>
                          </a:schemeClr>
                        </a:solidFill>
                        <a:latin typeface="Calibri"/>
                        <a:ea typeface="Times New Roman"/>
                        <a:cs typeface="Times New Roman"/>
                      </a:endParaRPr>
                    </a:p>
                  </a:txBody>
                  <a:tcPr marL="64928" marR="649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1100|1011|1110|0000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0111|0010|0000|1010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1010|0011|1011|0111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1010|0010|0111|0101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1100|0000|1100|1001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0011|0101|1100|0111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1100|1000|0101|0101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1011|0111|0010|1101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0000|0101|1110|1110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0011|1000|1001|0010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0001|1110|1110|1100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chemeClr val="accent6">
                              <a:lumMod val="50000"/>
                            </a:schemeClr>
                          </a:solidFill>
                          <a:latin typeface="Times New Roman"/>
                          <a:ea typeface="Times New Roman"/>
                          <a:cs typeface="Times New Roman"/>
                        </a:rPr>
                        <a:t>1101|0101|0010|1111</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0101|1010|1100|1110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0111|0110|1101|0000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smtClean="0">
                          <a:solidFill>
                            <a:schemeClr val="accent6">
                              <a:lumMod val="50000"/>
                            </a:schemeClr>
                          </a:solidFill>
                          <a:latin typeface="Times New Roman"/>
                          <a:ea typeface="Times New Roman"/>
                          <a:cs typeface="Times New Roman"/>
                        </a:rPr>
                        <a:t>0100|1111|0011|1010</a:t>
                      </a:r>
                      <a:endParaRPr lang="ru-RU" sz="1600" b="1" dirty="0">
                        <a:solidFill>
                          <a:schemeClr val="accent6">
                            <a:lumMod val="50000"/>
                          </a:schemeClr>
                        </a:solidFill>
                        <a:latin typeface="Calibri"/>
                        <a:ea typeface="Times New Roman"/>
                        <a:cs typeface="Times New Roman"/>
                      </a:endParaRPr>
                    </a:p>
                    <a:p>
                      <a:pPr algn="just">
                        <a:lnSpc>
                          <a:spcPct val="115000"/>
                        </a:lnSpc>
                        <a:spcAft>
                          <a:spcPts val="0"/>
                        </a:spcAft>
                        <a:tabLst>
                          <a:tab pos="457200" algn="l"/>
                          <a:tab pos="630555" algn="l"/>
                        </a:tabLst>
                      </a:pPr>
                      <a:r>
                        <a:rPr lang="uz-Cyrl-UZ" sz="1600" b="1" dirty="0">
                          <a:solidFill>
                            <a:schemeClr val="accent6">
                              <a:lumMod val="50000"/>
                            </a:schemeClr>
                          </a:solidFill>
                          <a:latin typeface="Times New Roman"/>
                          <a:ea typeface="Times New Roman"/>
                          <a:cs typeface="Times New Roman"/>
                        </a:rPr>
                        <a:t>1010|0111|1100|0101</a:t>
                      </a:r>
                      <a:endParaRPr lang="ru-RU" sz="1600" b="1" dirty="0">
                        <a:solidFill>
                          <a:schemeClr val="accent6">
                            <a:lumMod val="50000"/>
                          </a:schemeClr>
                        </a:solidFill>
                        <a:latin typeface="Calibri"/>
                        <a:ea typeface="Times New Roman"/>
                        <a:cs typeface="Times New Roman"/>
                      </a:endParaRPr>
                    </a:p>
                  </a:txBody>
                  <a:tcPr marL="64928" marR="649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r>
              <a:tr h="94872">
                <a:tc>
                  <a:txBody>
                    <a:bodyPr/>
                    <a:lstStyle/>
                    <a:p>
                      <a:pPr algn="ctr">
                        <a:lnSpc>
                          <a:spcPct val="115000"/>
                        </a:lnSpc>
                        <a:spcAft>
                          <a:spcPts val="0"/>
                        </a:spcAft>
                        <a:tabLst>
                          <a:tab pos="457200" algn="l"/>
                          <a:tab pos="630555" algn="l"/>
                        </a:tabLst>
                      </a:pPr>
                      <a:r>
                        <a:rPr lang="uz-Cyrl-UZ" sz="1600" b="1" dirty="0" smtClean="0">
                          <a:latin typeface="Times New Roman" panose="02020603050405020304" pitchFamily="18" charset="0"/>
                          <a:cs typeface="Times New Roman" panose="02020603050405020304" pitchFamily="18" charset="0"/>
                        </a:rPr>
                        <a:t>∑⊕</a:t>
                      </a:r>
                      <a:r>
                        <a:rPr lang="en-US" sz="1600" b="1" dirty="0" smtClean="0">
                          <a:latin typeface="Times New Roman"/>
                          <a:ea typeface="Times New Roman"/>
                          <a:cs typeface="Times New Roman"/>
                        </a:rPr>
                        <a:t>=</a:t>
                      </a:r>
                      <a:endParaRPr lang="ru-RU" sz="1600" b="1" dirty="0">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a:solidFill>
                            <a:schemeClr val="accent2">
                              <a:lumMod val="50000"/>
                            </a:schemeClr>
                          </a:solidFill>
                          <a:latin typeface="Times New Roman"/>
                          <a:ea typeface="Times New Roman"/>
                          <a:cs typeface="Times New Roman"/>
                        </a:rPr>
                        <a:t>0000|0000|0000|0000</a:t>
                      </a:r>
                      <a:endParaRPr lang="ru-RU" sz="1600" dirty="0">
                        <a:solidFill>
                          <a:schemeClr val="accent2">
                            <a:lumMod val="50000"/>
                          </a:schemeClr>
                        </a:solidFill>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nSpc>
                          <a:spcPct val="115000"/>
                        </a:lnSpc>
                        <a:spcAft>
                          <a:spcPts val="0"/>
                        </a:spcAft>
                      </a:pPr>
                      <a:r>
                        <a:rPr lang="uz-Cyrl-UZ" sz="1600" b="1" dirty="0">
                          <a:solidFill>
                            <a:schemeClr val="accent2">
                              <a:lumMod val="50000"/>
                            </a:schemeClr>
                          </a:solidFill>
                          <a:latin typeface="Times New Roman"/>
                          <a:ea typeface="Times New Roman"/>
                          <a:cs typeface="Times New Roman"/>
                        </a:rPr>
                        <a:t>0000|0000|0000|0000</a:t>
                      </a:r>
                      <a:endParaRPr lang="ru-RU" sz="1600" dirty="0">
                        <a:solidFill>
                          <a:schemeClr val="accent2">
                            <a:lumMod val="50000"/>
                          </a:schemeClr>
                        </a:solidFill>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nSpc>
                          <a:spcPct val="115000"/>
                        </a:lnSpc>
                        <a:spcAft>
                          <a:spcPts val="0"/>
                        </a:spcAft>
                      </a:pPr>
                      <a:r>
                        <a:rPr lang="uz-Cyrl-UZ" sz="1600" b="1" dirty="0">
                          <a:solidFill>
                            <a:schemeClr val="accent6">
                              <a:lumMod val="50000"/>
                            </a:schemeClr>
                          </a:solidFill>
                          <a:latin typeface="Times New Roman"/>
                          <a:ea typeface="Times New Roman"/>
                          <a:cs typeface="Times New Roman"/>
                        </a:rPr>
                        <a:t>0000|0000|0000|0000</a:t>
                      </a:r>
                      <a:endParaRPr lang="ru-RU" sz="1600" b="1" dirty="0">
                        <a:solidFill>
                          <a:schemeClr val="accent6">
                            <a:lumMod val="50000"/>
                          </a:schemeClr>
                        </a:solidFill>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nSpc>
                          <a:spcPct val="115000"/>
                        </a:lnSpc>
                        <a:spcAft>
                          <a:spcPts val="0"/>
                        </a:spcAft>
                      </a:pPr>
                      <a:r>
                        <a:rPr lang="uz-Cyrl-UZ" sz="1600" b="1" dirty="0">
                          <a:solidFill>
                            <a:schemeClr val="accent6">
                              <a:lumMod val="50000"/>
                            </a:schemeClr>
                          </a:solidFill>
                          <a:latin typeface="Times New Roman"/>
                          <a:ea typeface="Times New Roman"/>
                          <a:cs typeface="Times New Roman"/>
                        </a:rPr>
                        <a:t>0000|0000|0000|0000</a:t>
                      </a:r>
                      <a:endParaRPr lang="ru-RU" sz="1600" b="1" dirty="0">
                        <a:solidFill>
                          <a:schemeClr val="accent6">
                            <a:lumMod val="50000"/>
                          </a:schemeClr>
                        </a:solidFill>
                        <a:latin typeface="Calibri"/>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r>
            </a:tbl>
          </a:graphicData>
        </a:graphic>
      </p:graphicFrame>
      <p:sp>
        <p:nvSpPr>
          <p:cNvPr id="4" name="Прямоугольник 3"/>
          <p:cNvSpPr/>
          <p:nvPr/>
        </p:nvSpPr>
        <p:spPr>
          <a:xfrm>
            <a:off x="107504" y="80628"/>
            <a:ext cx="8686800" cy="830997"/>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wrap="square">
            <a:spAutoFit/>
          </a:bodyPr>
          <a:lstStyle/>
          <a:p>
            <a:pPr algn="just"/>
            <a:r>
              <a:rPr lang="uz-Cyrl-UZ" sz="2400" dirty="0">
                <a:latin typeface="Times New Roman" pitchFamily="18" charset="0"/>
                <a:cs typeface="Times New Roman" pitchFamily="18" charset="0"/>
              </a:rPr>
              <a:t>Кузатилаётган тўпламнинг </a:t>
            </a:r>
            <a:r>
              <a:rPr lang="uz-Cyrl-UZ" sz="2400" dirty="0" smtClean="0">
                <a:latin typeface="Times New Roman" pitchFamily="18" charset="0"/>
                <a:cs typeface="Times New Roman" pitchFamily="18" charset="0"/>
              </a:rPr>
              <a:t>3-раунд </a:t>
            </a:r>
            <a:r>
              <a:rPr lang="uz-Cyrl-UZ" sz="2400" dirty="0">
                <a:latin typeface="Times New Roman" pitchFamily="18" charset="0"/>
                <a:cs typeface="Times New Roman" pitchFamily="18" charset="0"/>
              </a:rPr>
              <a:t>акслантиришларидан кейинги ўзгаришлари қуйидагича:</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36699627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3109362048"/>
              </p:ext>
            </p:extLst>
          </p:nvPr>
        </p:nvGraphicFramePr>
        <p:xfrm>
          <a:off x="216568" y="1155527"/>
          <a:ext cx="8763000" cy="5608320"/>
        </p:xfrm>
        <a:graphic>
          <a:graphicData uri="http://schemas.openxmlformats.org/drawingml/2006/table">
            <a:tbl>
              <a:tblPr/>
              <a:tblGrid>
                <a:gridCol w="1074643"/>
                <a:gridCol w="1937639"/>
                <a:gridCol w="1916906"/>
                <a:gridCol w="1916906"/>
                <a:gridCol w="1916906"/>
              </a:tblGrid>
              <a:tr h="229976">
                <a:tc gridSpan="5">
                  <a:txBody>
                    <a:bodyPr/>
                    <a:lstStyle/>
                    <a:p>
                      <a:pPr algn="ctr">
                        <a:lnSpc>
                          <a:spcPct val="115000"/>
                        </a:lnSpc>
                        <a:spcAft>
                          <a:spcPts val="0"/>
                        </a:spcAft>
                        <a:tabLst>
                          <a:tab pos="457200" algn="l"/>
                          <a:tab pos="630555" algn="l"/>
                        </a:tabLst>
                      </a:pPr>
                      <a:r>
                        <a:rPr lang="uz-Cyrl-UZ" sz="1600" b="1" dirty="0" smtClean="0">
                          <a:latin typeface="Times New Roman" pitchFamily="18" charset="0"/>
                          <a:ea typeface="Times New Roman"/>
                          <a:cs typeface="Times New Roman" pitchFamily="18" charset="0"/>
                        </a:rPr>
                        <a:t>4-РАУНД</a:t>
                      </a:r>
                    </a:p>
                    <a:p>
                      <a:pPr algn="ctr">
                        <a:lnSpc>
                          <a:spcPct val="115000"/>
                        </a:lnSpc>
                        <a:spcAft>
                          <a:spcPts val="0"/>
                        </a:spcAft>
                        <a:tabLst>
                          <a:tab pos="457200" algn="l"/>
                          <a:tab pos="630555" algn="l"/>
                        </a:tabLst>
                      </a:pPr>
                      <a:endParaRPr lang="ru-RU" sz="1600" b="1" dirty="0">
                        <a:latin typeface="Times New Roman" pitchFamily="18" charset="0"/>
                        <a:ea typeface="Times New Roman"/>
                        <a:cs typeface="Times New Roman" pitchFamily="18" charset="0"/>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229976">
                <a:tc>
                  <a:txBody>
                    <a:bodyPr/>
                    <a:lstStyle/>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Акс</a:t>
                      </a:r>
                      <a:r>
                        <a:rPr lang="ru-RU" sz="1600" b="1" dirty="0">
                          <a:latin typeface="Times New Roman" pitchFamily="18" charset="0"/>
                          <a:ea typeface="Times New Roman"/>
                          <a:cs typeface="Times New Roman" pitchFamily="18" charset="0"/>
                        </a:rPr>
                        <a:t>-ш</a:t>
                      </a: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NibbleSub</a:t>
                      </a:r>
                      <a:endParaRPr lang="ru-RU" sz="1600" b="1" dirty="0">
                        <a:latin typeface="Times New Roman" pitchFamily="18" charset="0"/>
                        <a:ea typeface="Times New Roman"/>
                        <a:cs typeface="Times New Roman" pitchFamily="18" charset="0"/>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ShiftRow</a:t>
                      </a:r>
                      <a:endParaRPr lang="ru-RU" sz="1600" b="1" dirty="0">
                        <a:latin typeface="Times New Roman" pitchFamily="18" charset="0"/>
                        <a:ea typeface="Times New Roman"/>
                        <a:cs typeface="Times New Roman" pitchFamily="18" charset="0"/>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MixColumn</a:t>
                      </a:r>
                      <a:endParaRPr lang="ru-RU" sz="1600" b="1" dirty="0">
                        <a:latin typeface="Times New Roman" pitchFamily="18" charset="0"/>
                        <a:ea typeface="Times New Roman"/>
                        <a:cs typeface="Times New Roman" pitchFamily="18" charset="0"/>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a:lnSpc>
                          <a:spcPct val="115000"/>
                        </a:lnSpc>
                        <a:spcAft>
                          <a:spcPts val="0"/>
                        </a:spcAft>
                        <a:tabLst>
                          <a:tab pos="457200" algn="l"/>
                          <a:tab pos="630555" algn="l"/>
                        </a:tabLst>
                      </a:pPr>
                      <a:r>
                        <a:rPr lang="uz-Cyrl-UZ" sz="1600" b="1" dirty="0">
                          <a:latin typeface="Times New Roman" pitchFamily="18" charset="0"/>
                          <a:ea typeface="Times New Roman"/>
                          <a:cs typeface="Times New Roman" pitchFamily="18" charset="0"/>
                        </a:rPr>
                        <a:t>AddRoundKey</a:t>
                      </a:r>
                      <a:endParaRPr lang="ru-RU" sz="1600" b="1" dirty="0">
                        <a:latin typeface="Times New Roman" pitchFamily="18" charset="0"/>
                        <a:ea typeface="Times New Roman"/>
                        <a:cs typeface="Times New Roman" pitchFamily="18" charset="0"/>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r>
              <a:tr h="3980247">
                <a:tc>
                  <a:txBody>
                    <a:bodyPr/>
                    <a:lstStyle/>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1-блок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2-блок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3-блок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4-блок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5-блок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6-блок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7-блок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8-блок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9-блок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10-блок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11-блок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12-блок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13-блок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14-блок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15-блок</a:t>
                      </a:r>
                      <a:endParaRPr lang="ru-RU" sz="1600" b="1" dirty="0">
                        <a:latin typeface="Times New Roman" pitchFamily="18" charset="0"/>
                        <a:ea typeface="Times New Roman"/>
                        <a:cs typeface="Times New Roman" pitchFamily="18" charset="0"/>
                      </a:endParaRPr>
                    </a:p>
                    <a:p>
                      <a:pPr algn="ctr">
                        <a:lnSpc>
                          <a:spcPct val="115000"/>
                        </a:lnSpc>
                        <a:spcAft>
                          <a:spcPts val="0"/>
                        </a:spcAft>
                        <a:tabLst>
                          <a:tab pos="530225" algn="l"/>
                          <a:tab pos="630555" algn="l"/>
                        </a:tabLst>
                      </a:pPr>
                      <a:r>
                        <a:rPr lang="uz-Cyrl-UZ" sz="1600" b="1" dirty="0">
                          <a:latin typeface="Times New Roman" pitchFamily="18" charset="0"/>
                          <a:ea typeface="Times New Roman"/>
                          <a:cs typeface="Times New Roman" pitchFamily="18" charset="0"/>
                        </a:rPr>
                        <a:t>16-блок</a:t>
                      </a:r>
                      <a:endParaRPr lang="ru-RU" sz="1600" b="1" dirty="0">
                        <a:latin typeface="Times New Roman" pitchFamily="18" charset="0"/>
                        <a:ea typeface="Times New Roman"/>
                        <a:cs typeface="Times New Roman" pitchFamily="18" charset="0"/>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0101|1100|0000|1110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1000|1101|1110|0110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0110|0001|1100|1000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0110|1101|1000|1111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0101|1110|0101|1010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0001|1111|0101|1000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0101|0011|1111|1111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1100|1000|1101|1001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1110|1111|0000|0000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0001|0011|1010|1101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0100|0000|0000|0101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1001|1111|1101|0111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1111|0110|0101|0000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1000|1011|1001|1110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0010|0111|0001|0110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0110|1000|0101|1111</a:t>
                      </a:r>
                      <a:endParaRPr lang="ru-RU" sz="1600" b="1" dirty="0">
                        <a:solidFill>
                          <a:schemeClr val="bg2">
                            <a:lumMod val="25000"/>
                          </a:schemeClr>
                        </a:solidFill>
                        <a:latin typeface="Times New Roman" pitchFamily="18" charset="0"/>
                        <a:ea typeface="Times New Roman"/>
                        <a:cs typeface="Times New Roman" pitchFamily="18" charset="0"/>
                      </a:endParaRPr>
                    </a:p>
                  </a:txBody>
                  <a:tcPr marL="64928" marR="649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0101|1110|0000|1100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1000|0110|1110|1101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0110|1000|1100|0001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0110|1111|1000|1101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0101|1010|0101|1110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0001|1000|0101|1111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0101|1111|1111|0011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1100|1001|1101|1000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1110|0000|0000|1111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0001|1101|1010|0011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0100|0101|0000|0000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1001|0111|1101|1111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1111|0000|0101|0110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1000|1110|1001|1011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0010|0110|0001|0111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0110|1111|0101|1000</a:t>
                      </a:r>
                      <a:endParaRPr lang="ru-RU" sz="1600" b="1" dirty="0">
                        <a:solidFill>
                          <a:schemeClr val="bg2">
                            <a:lumMod val="25000"/>
                          </a:schemeClr>
                        </a:solidFill>
                        <a:latin typeface="Times New Roman" pitchFamily="18" charset="0"/>
                        <a:ea typeface="Times New Roman"/>
                        <a:cs typeface="Times New Roman" pitchFamily="18" charset="0"/>
                      </a:endParaRPr>
                    </a:p>
                  </a:txBody>
                  <a:tcPr marL="64928" marR="649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endParaRPr lang="uz-Cyrl-UZ" sz="1600" dirty="0">
                        <a:latin typeface="Times New Roman" pitchFamily="18" charset="0"/>
                        <a:ea typeface="Times New Roman"/>
                        <a:cs typeface="Times New Roman" pitchFamily="18" charset="0"/>
                      </a:endParaRPr>
                    </a:p>
                  </a:txBody>
                  <a:tcPr marL="64928" marR="649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1111|1101|1111|1000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0010|0101|0001|1001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1100|1011|0011|0101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1100|1100|0111|1001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1111|1001|1010|1010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1011|1011|1010|1011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1111|1100|0000|0111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0110|1010|0010|1100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0100|0011|1111|1011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1011|1110|0101|0111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1110|0110|1111|0100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0011|0100|0010|1011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0101|0011|1010|0010</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smtClean="0">
                          <a:solidFill>
                            <a:schemeClr val="bg2">
                              <a:lumMod val="25000"/>
                            </a:schemeClr>
                          </a:solidFill>
                          <a:latin typeface="Times New Roman" pitchFamily="18" charset="0"/>
                          <a:ea typeface="Times New Roman"/>
                          <a:cs typeface="Times New Roman" pitchFamily="18" charset="0"/>
                        </a:rPr>
                        <a:t>0010|1101|0110|1111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1000|0101|1110|0011</a:t>
                      </a:r>
                      <a:endParaRPr lang="ru-RU" sz="1600" b="1" dirty="0">
                        <a:solidFill>
                          <a:schemeClr val="bg2">
                            <a:lumMod val="25000"/>
                          </a:schemeClr>
                        </a:solidFill>
                        <a:latin typeface="Times New Roman" pitchFamily="18" charset="0"/>
                        <a:ea typeface="Times New Roman"/>
                        <a:cs typeface="Times New Roman" pitchFamily="18" charset="0"/>
                      </a:endParaRPr>
                    </a:p>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1100|1100|1010|1100</a:t>
                      </a:r>
                      <a:endParaRPr lang="ru-RU" sz="1600" b="1" dirty="0">
                        <a:solidFill>
                          <a:schemeClr val="bg2">
                            <a:lumMod val="25000"/>
                          </a:schemeClr>
                        </a:solidFill>
                        <a:latin typeface="Times New Roman" pitchFamily="18" charset="0"/>
                        <a:ea typeface="Times New Roman"/>
                        <a:cs typeface="Times New Roman" pitchFamily="18" charset="0"/>
                      </a:endParaRPr>
                    </a:p>
                  </a:txBody>
                  <a:tcPr marL="64928" marR="649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r>
              <a:tr h="229976">
                <a:tc>
                  <a:txBody>
                    <a:bodyPr/>
                    <a:lstStyle/>
                    <a:p>
                      <a:pPr algn="ctr">
                        <a:lnSpc>
                          <a:spcPct val="115000"/>
                        </a:lnSpc>
                        <a:spcAft>
                          <a:spcPts val="0"/>
                        </a:spcAft>
                        <a:tabLst>
                          <a:tab pos="457200" algn="l"/>
                          <a:tab pos="630555" algn="l"/>
                        </a:tabLst>
                      </a:pPr>
                      <a:r>
                        <a:rPr lang="uz-Cyrl-UZ" sz="1600" b="1" dirty="0" smtClean="0">
                          <a:latin typeface="Times New Roman" panose="02020603050405020304" pitchFamily="18" charset="0"/>
                          <a:cs typeface="Times New Roman" panose="02020603050405020304" pitchFamily="18" charset="0"/>
                        </a:rPr>
                        <a:t>∑⊕</a:t>
                      </a:r>
                      <a:r>
                        <a:rPr lang="en-US" sz="1600" b="1" dirty="0" smtClean="0">
                          <a:latin typeface="Times New Roman"/>
                          <a:ea typeface="Times New Roman"/>
                          <a:cs typeface="Times New Roman"/>
                        </a:rPr>
                        <a:t>=</a:t>
                      </a:r>
                      <a:endParaRPr lang="ru-RU" sz="1600" b="1" dirty="0">
                        <a:latin typeface="+mn-lt"/>
                        <a:ea typeface="Times New Roman"/>
                        <a:cs typeface="Times New Roman"/>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tabLst>
                          <a:tab pos="457200" algn="l"/>
                          <a:tab pos="630555" algn="l"/>
                        </a:tabLst>
                      </a:pPr>
                      <a:r>
                        <a:rPr lang="uz-Cyrl-UZ" sz="1600" b="1" dirty="0">
                          <a:solidFill>
                            <a:schemeClr val="bg2">
                              <a:lumMod val="25000"/>
                            </a:schemeClr>
                          </a:solidFill>
                          <a:latin typeface="Times New Roman" pitchFamily="18" charset="0"/>
                          <a:ea typeface="Times New Roman"/>
                          <a:cs typeface="Times New Roman" pitchFamily="18" charset="0"/>
                        </a:rPr>
                        <a:t>0001|0110|0111|0011</a:t>
                      </a:r>
                      <a:endParaRPr lang="ru-RU" sz="1600" b="1" dirty="0">
                        <a:solidFill>
                          <a:schemeClr val="bg2">
                            <a:lumMod val="25000"/>
                          </a:schemeClr>
                        </a:solidFill>
                        <a:latin typeface="Times New Roman" pitchFamily="18" charset="0"/>
                        <a:ea typeface="Times New Roman"/>
                        <a:cs typeface="Times New Roman" pitchFamily="18" charset="0"/>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nSpc>
                          <a:spcPct val="115000"/>
                        </a:lnSpc>
                        <a:spcAft>
                          <a:spcPts val="0"/>
                        </a:spcAft>
                      </a:pPr>
                      <a:r>
                        <a:rPr lang="uz-Cyrl-UZ" sz="1600" b="1" dirty="0">
                          <a:solidFill>
                            <a:schemeClr val="bg2">
                              <a:lumMod val="25000"/>
                            </a:schemeClr>
                          </a:solidFill>
                          <a:latin typeface="Times New Roman" pitchFamily="18" charset="0"/>
                          <a:ea typeface="Times New Roman"/>
                          <a:cs typeface="Times New Roman" pitchFamily="18" charset="0"/>
                        </a:rPr>
                        <a:t>0001|0011|0111|0110</a:t>
                      </a:r>
                      <a:endParaRPr lang="ru-RU" sz="1600" b="1" dirty="0">
                        <a:solidFill>
                          <a:schemeClr val="bg2">
                            <a:lumMod val="25000"/>
                          </a:schemeClr>
                        </a:solidFill>
                        <a:latin typeface="Times New Roman" pitchFamily="18" charset="0"/>
                        <a:ea typeface="Times New Roman"/>
                        <a:cs typeface="Times New Roman" pitchFamily="18" charset="0"/>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nSpc>
                          <a:spcPct val="115000"/>
                        </a:lnSpc>
                        <a:spcAft>
                          <a:spcPts val="0"/>
                        </a:spcAft>
                      </a:pPr>
                      <a:endParaRPr lang="ru-RU" sz="1600">
                        <a:latin typeface="Times New Roman" pitchFamily="18" charset="0"/>
                        <a:ea typeface="Times New Roman"/>
                        <a:cs typeface="Times New Roman" pitchFamily="18" charset="0"/>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nSpc>
                          <a:spcPct val="115000"/>
                        </a:lnSpc>
                        <a:spcAft>
                          <a:spcPts val="0"/>
                        </a:spcAft>
                      </a:pPr>
                      <a:r>
                        <a:rPr lang="uz-Cyrl-UZ" sz="1600" b="1" dirty="0">
                          <a:solidFill>
                            <a:schemeClr val="bg2">
                              <a:lumMod val="25000"/>
                            </a:schemeClr>
                          </a:solidFill>
                          <a:latin typeface="Times New Roman" pitchFamily="18" charset="0"/>
                          <a:ea typeface="Times New Roman"/>
                          <a:cs typeface="Times New Roman" pitchFamily="18" charset="0"/>
                        </a:rPr>
                        <a:t>0001|0011|0111|0110</a:t>
                      </a:r>
                      <a:endParaRPr lang="ru-RU" sz="1600" b="1" dirty="0">
                        <a:solidFill>
                          <a:schemeClr val="bg2">
                            <a:lumMod val="25000"/>
                          </a:schemeClr>
                        </a:solidFill>
                        <a:latin typeface="Times New Roman" pitchFamily="18" charset="0"/>
                        <a:ea typeface="Times New Roman"/>
                        <a:cs typeface="Times New Roman" pitchFamily="18" charset="0"/>
                      </a:endParaRPr>
                    </a:p>
                  </a:txBody>
                  <a:tcPr marL="64928" marR="649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r>
            </a:tbl>
          </a:graphicData>
        </a:graphic>
      </p:graphicFrame>
      <p:sp>
        <p:nvSpPr>
          <p:cNvPr id="3" name="Прямоугольник 2"/>
          <p:cNvSpPr/>
          <p:nvPr/>
        </p:nvSpPr>
        <p:spPr>
          <a:xfrm>
            <a:off x="193075" y="104975"/>
            <a:ext cx="8686800" cy="830997"/>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wrap="square">
            <a:spAutoFit/>
          </a:bodyPr>
          <a:lstStyle/>
          <a:p>
            <a:pPr algn="just"/>
            <a:r>
              <a:rPr lang="uz-Cyrl-UZ" sz="2400" dirty="0">
                <a:latin typeface="Times New Roman" pitchFamily="18" charset="0"/>
                <a:cs typeface="Times New Roman" pitchFamily="18" charset="0"/>
              </a:rPr>
              <a:t>Кузатилаётган тўпламнинг </a:t>
            </a:r>
            <a:r>
              <a:rPr lang="uz-Cyrl-UZ" sz="2400" dirty="0" smtClean="0">
                <a:latin typeface="Times New Roman" pitchFamily="18" charset="0"/>
                <a:cs typeface="Times New Roman" pitchFamily="18" charset="0"/>
              </a:rPr>
              <a:t>4-раунд </a:t>
            </a:r>
            <a:r>
              <a:rPr lang="uz-Cyrl-UZ" sz="2400" dirty="0">
                <a:latin typeface="Times New Roman" pitchFamily="18" charset="0"/>
                <a:cs typeface="Times New Roman" pitchFamily="18" charset="0"/>
              </a:rPr>
              <a:t>акслантиришларидан кейинги ўзгаришлари қуйидагича:</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36933795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3" name="Rectangle 1"/>
          <p:cNvSpPr>
            <a:spLocks noChangeArrowheads="1"/>
          </p:cNvSpPr>
          <p:nvPr/>
        </p:nvSpPr>
        <p:spPr bwMode="auto">
          <a:xfrm>
            <a:off x="25660" y="87015"/>
            <a:ext cx="8208000" cy="461665"/>
          </a:xfrm>
          <a:prstGeom prst="rect">
            <a:avLst/>
          </a:prstGeom>
          <a:solidFill>
            <a:schemeClr val="bg2">
              <a:lumMod val="90000"/>
            </a:schemeClr>
          </a:solidFill>
          <a:ln>
            <a:headEnd/>
            <a:tailEnd/>
          </a:ln>
        </p:spPr>
        <p:style>
          <a:lnRef idx="2">
            <a:schemeClr val="dk1"/>
          </a:lnRef>
          <a:fillRef idx="1002">
            <a:schemeClr val="lt2"/>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R="0" lvl="0" indent="88900" defTabSz="914400" rtl="0" eaLnBrk="0" fontAlgn="base" latinLnBrk="0" hangingPunct="0">
              <a:lnSpc>
                <a:spcPct val="100000"/>
              </a:lnSpc>
              <a:spcBef>
                <a:spcPct val="0"/>
              </a:spcBef>
              <a:spcAft>
                <a:spcPct val="0"/>
              </a:spcAft>
              <a:buClrTx/>
              <a:buSzTx/>
              <a:buFontTx/>
              <a:buNone/>
              <a:tabLst/>
            </a:pPr>
            <a:r>
              <a:rPr kumimoji="0" lang="uz-Cyrl-UZ"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Сўнгги раундда фойдаланилган </a:t>
            </a:r>
            <a:r>
              <a:rPr lang="en-US" sz="2400" b="1" dirty="0" smtClean="0">
                <a:solidFill>
                  <a:schemeClr val="tx1"/>
                </a:solidFill>
                <a:latin typeface="Times New Roman" pitchFamily="18" charset="0"/>
                <a:ea typeface="Times New Roman" pitchFamily="18" charset="0"/>
                <a:cs typeface="Times New Roman" pitchFamily="18" charset="0"/>
              </a:rPr>
              <a:t>K(4)</a:t>
            </a:r>
            <a:r>
              <a:rPr lang="en-US" sz="2400" b="1" baseline="-25000" dirty="0" smtClean="0">
                <a:solidFill>
                  <a:schemeClr val="tx1"/>
                </a:solidFill>
                <a:latin typeface="Times New Roman" pitchFamily="18" charset="0"/>
                <a:ea typeface="Times New Roman" pitchFamily="18" charset="0"/>
                <a:cs typeface="Times New Roman" pitchFamily="18" charset="0"/>
              </a:rPr>
              <a:t>1</a:t>
            </a:r>
            <a:r>
              <a:rPr lang="en-US" sz="2400" dirty="0" smtClean="0">
                <a:solidFill>
                  <a:schemeClr val="tx1"/>
                </a:solidFill>
                <a:latin typeface="Times New Roman" pitchFamily="18" charset="0"/>
                <a:ea typeface="Times New Roman" pitchFamily="18" charset="0"/>
                <a:cs typeface="Times New Roman" pitchFamily="18" charset="0"/>
              </a:rPr>
              <a:t> – </a:t>
            </a:r>
            <a:r>
              <a:rPr kumimoji="0" lang="uz-Cyrl-UZ"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калитни аниқлаш</a:t>
            </a:r>
            <a:endParaRPr kumimoji="0" lang="ru-RU"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 name="Прямоугольник 4"/>
          <p:cNvSpPr/>
          <p:nvPr/>
        </p:nvSpPr>
        <p:spPr>
          <a:xfrm>
            <a:off x="107504" y="933102"/>
            <a:ext cx="3348000" cy="5232202"/>
          </a:xfrm>
          <a:prstGeom prst="rect">
            <a:avLst/>
          </a:prstGeom>
        </p:spPr>
        <p:style>
          <a:lnRef idx="2">
            <a:schemeClr val="dk1"/>
          </a:lnRef>
          <a:fillRef idx="1001">
            <a:schemeClr val="lt2"/>
          </a:fillRef>
          <a:effectRef idx="0">
            <a:schemeClr val="dk1"/>
          </a:effectRef>
          <a:fontRef idx="minor">
            <a:schemeClr val="dk1"/>
          </a:fontRef>
        </p:style>
        <p:txBody>
          <a:bodyPr wrap="square" lIns="0" tIns="0" rIns="0" bIns="0">
            <a:spAutoFit/>
          </a:bodyPr>
          <a:lstStyle/>
          <a:p>
            <a:pPr lvl="0" defTabSz="1022350" eaLnBrk="0" fontAlgn="base" hangingPunct="0">
              <a:spcBef>
                <a:spcPct val="0"/>
              </a:spcBef>
              <a:spcAft>
                <a:spcPct val="0"/>
              </a:spcAft>
            </a:pPr>
            <a:r>
              <a:rPr lang="uz-Cyrl-UZ" sz="2000" b="1" dirty="0" smtClean="0">
                <a:latin typeface="Times New Roman" pitchFamily="18" charset="0"/>
                <a:ea typeface="Times New Roman" pitchFamily="18" charset="0"/>
                <a:cs typeface="Times New Roman" pitchFamily="18" charset="0"/>
              </a:rPr>
              <a:t> Шифр матнлар тўплами:</a:t>
            </a:r>
          </a:p>
          <a:p>
            <a:pPr marL="84138" lvl="0" indent="254000"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0</a:t>
            </a:r>
            <a:r>
              <a:rPr lang="uz-Cyrl-UZ" sz="2000" dirty="0" smtClean="0">
                <a:latin typeface="Times New Roman" pitchFamily="18" charset="0"/>
                <a:ea typeface="Times New Roman" pitchFamily="18" charset="0"/>
                <a:cs typeface="Times New Roman" pitchFamily="18" charset="0"/>
              </a:rPr>
              <a:t>=1111 1101 1111 1000.</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1</a:t>
            </a:r>
            <a:r>
              <a:rPr lang="uz-Cyrl-UZ" sz="2000" dirty="0" smtClean="0">
                <a:latin typeface="Times New Roman" pitchFamily="18" charset="0"/>
                <a:ea typeface="Times New Roman" pitchFamily="18" charset="0"/>
                <a:cs typeface="Times New Roman" pitchFamily="18" charset="0"/>
              </a:rPr>
              <a:t>=0010 0101 0001 1001.</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2</a:t>
            </a:r>
            <a:r>
              <a:rPr lang="uz-Cyrl-UZ" sz="2000" dirty="0" smtClean="0">
                <a:latin typeface="Times New Roman" pitchFamily="18" charset="0"/>
                <a:ea typeface="Times New Roman" pitchFamily="18" charset="0"/>
                <a:cs typeface="Times New Roman" pitchFamily="18" charset="0"/>
              </a:rPr>
              <a:t>=1100 1011 0011 0101.</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3</a:t>
            </a:r>
            <a:r>
              <a:rPr lang="uz-Cyrl-UZ" sz="2000" dirty="0" smtClean="0">
                <a:latin typeface="Times New Roman" pitchFamily="18" charset="0"/>
                <a:ea typeface="Times New Roman" pitchFamily="18" charset="0"/>
                <a:cs typeface="Times New Roman" pitchFamily="18" charset="0"/>
              </a:rPr>
              <a:t>=1100 1100 0111 1001.</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4</a:t>
            </a:r>
            <a:r>
              <a:rPr lang="uz-Cyrl-UZ" sz="2000" dirty="0" smtClean="0">
                <a:latin typeface="Times New Roman" pitchFamily="18" charset="0"/>
                <a:ea typeface="Times New Roman" pitchFamily="18" charset="0"/>
                <a:cs typeface="Times New Roman" pitchFamily="18" charset="0"/>
              </a:rPr>
              <a:t>=1111 1001 1010 1010.</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5</a:t>
            </a:r>
            <a:r>
              <a:rPr lang="uz-Cyrl-UZ" sz="2000" dirty="0" smtClean="0">
                <a:latin typeface="Times New Roman" pitchFamily="18" charset="0"/>
                <a:ea typeface="Times New Roman" pitchFamily="18" charset="0"/>
                <a:cs typeface="Times New Roman" pitchFamily="18" charset="0"/>
              </a:rPr>
              <a:t>=1011 1011 1010 1011.</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6</a:t>
            </a:r>
            <a:r>
              <a:rPr lang="uz-Cyrl-UZ" sz="2000" dirty="0" smtClean="0">
                <a:latin typeface="Times New Roman" pitchFamily="18" charset="0"/>
                <a:ea typeface="Times New Roman" pitchFamily="18" charset="0"/>
                <a:cs typeface="Times New Roman" pitchFamily="18" charset="0"/>
              </a:rPr>
              <a:t>=1111 1100 0000 0111.</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7</a:t>
            </a:r>
            <a:r>
              <a:rPr lang="uz-Cyrl-UZ" sz="2000" dirty="0" smtClean="0">
                <a:latin typeface="Times New Roman" pitchFamily="18" charset="0"/>
                <a:ea typeface="Times New Roman" pitchFamily="18" charset="0"/>
                <a:cs typeface="Times New Roman" pitchFamily="18" charset="0"/>
              </a:rPr>
              <a:t>=0110 1010 0010 1100.</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8</a:t>
            </a:r>
            <a:r>
              <a:rPr lang="uz-Cyrl-UZ" sz="2000" dirty="0" smtClean="0">
                <a:latin typeface="Times New Roman" pitchFamily="18" charset="0"/>
                <a:ea typeface="Times New Roman" pitchFamily="18" charset="0"/>
                <a:cs typeface="Times New Roman" pitchFamily="18" charset="0"/>
              </a:rPr>
              <a:t>=0100 0011 1111 1011.</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9</a:t>
            </a:r>
            <a:r>
              <a:rPr lang="uz-Cyrl-UZ" sz="2000" dirty="0" smtClean="0">
                <a:latin typeface="Times New Roman" pitchFamily="18" charset="0"/>
                <a:ea typeface="Times New Roman" pitchFamily="18" charset="0"/>
                <a:cs typeface="Times New Roman" pitchFamily="18" charset="0"/>
              </a:rPr>
              <a:t>=1011 1110 0101 0111.</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10</a:t>
            </a:r>
            <a:r>
              <a:rPr lang="uz-Cyrl-UZ" sz="2000" dirty="0" smtClean="0">
                <a:latin typeface="Times New Roman" pitchFamily="18" charset="0"/>
                <a:ea typeface="Times New Roman" pitchFamily="18" charset="0"/>
                <a:cs typeface="Times New Roman" pitchFamily="18" charset="0"/>
              </a:rPr>
              <a:t>=1110 0110 1111 0100.</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11</a:t>
            </a:r>
            <a:r>
              <a:rPr lang="uz-Cyrl-UZ" sz="2000" dirty="0" smtClean="0">
                <a:latin typeface="Times New Roman" pitchFamily="18" charset="0"/>
                <a:ea typeface="Times New Roman" pitchFamily="18" charset="0"/>
                <a:cs typeface="Times New Roman" pitchFamily="18" charset="0"/>
              </a:rPr>
              <a:t>=0011 0100 0010 1011.</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12</a:t>
            </a:r>
            <a:r>
              <a:rPr lang="uz-Cyrl-UZ" sz="2000" dirty="0" smtClean="0">
                <a:latin typeface="Times New Roman" pitchFamily="18" charset="0"/>
                <a:ea typeface="Times New Roman" pitchFamily="18" charset="0"/>
                <a:cs typeface="Times New Roman" pitchFamily="18" charset="0"/>
              </a:rPr>
              <a:t>=0101 0011 1010 0010.</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13</a:t>
            </a:r>
            <a:r>
              <a:rPr lang="uz-Cyrl-UZ" sz="2000" dirty="0" smtClean="0">
                <a:latin typeface="Times New Roman" pitchFamily="18" charset="0"/>
                <a:ea typeface="Times New Roman" pitchFamily="18" charset="0"/>
                <a:cs typeface="Times New Roman" pitchFamily="18" charset="0"/>
              </a:rPr>
              <a:t>=0010 1101 0110 1111.</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14</a:t>
            </a:r>
            <a:r>
              <a:rPr lang="uz-Cyrl-UZ" sz="2000" dirty="0" smtClean="0">
                <a:latin typeface="Times New Roman" pitchFamily="18" charset="0"/>
                <a:ea typeface="Times New Roman" pitchFamily="18" charset="0"/>
                <a:cs typeface="Times New Roman" pitchFamily="18" charset="0"/>
              </a:rPr>
              <a:t>=1000 0101 1110 0011.</a:t>
            </a:r>
            <a:endParaRPr lang="ru-RU" sz="2000" dirty="0" smtClean="0">
              <a:latin typeface="Times New Roman" pitchFamily="18" charset="0"/>
              <a:cs typeface="Times New Roman" pitchFamily="18" charset="0"/>
            </a:endParaRPr>
          </a:p>
          <a:p>
            <a:pPr lvl="0" indent="338138"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Т</a:t>
            </a:r>
            <a:r>
              <a:rPr lang="uz-Cyrl-UZ" sz="2000" baseline="-30000" dirty="0" smtClean="0">
                <a:latin typeface="Times New Roman" pitchFamily="18" charset="0"/>
                <a:ea typeface="Times New Roman" pitchFamily="18" charset="0"/>
                <a:cs typeface="Times New Roman" pitchFamily="18" charset="0"/>
              </a:rPr>
              <a:t>15</a:t>
            </a:r>
            <a:r>
              <a:rPr lang="uz-Cyrl-UZ" sz="2000" dirty="0" smtClean="0">
                <a:latin typeface="Times New Roman" pitchFamily="18" charset="0"/>
                <a:ea typeface="Times New Roman" pitchFamily="18" charset="0"/>
                <a:cs typeface="Times New Roman" pitchFamily="18" charset="0"/>
              </a:rPr>
              <a:t>=1100 1100 1010 1100.</a:t>
            </a:r>
            <a:endParaRPr lang="uz-Cyrl-UZ" sz="2000" dirty="0" smtClean="0">
              <a:latin typeface="Times New Roman" pitchFamily="18" charset="0"/>
              <a:cs typeface="Times New Roman" pitchFamily="18" charset="0"/>
            </a:endParaRPr>
          </a:p>
        </p:txBody>
      </p:sp>
      <p:sp>
        <p:nvSpPr>
          <p:cNvPr id="28674" name="Rectangle 2"/>
          <p:cNvSpPr>
            <a:spLocks noChangeArrowheads="1"/>
          </p:cNvSpPr>
          <p:nvPr/>
        </p:nvSpPr>
        <p:spPr bwMode="auto">
          <a:xfrm>
            <a:off x="3636488" y="1612540"/>
            <a:ext cx="5328000" cy="923330"/>
          </a:xfrm>
          <a:prstGeom prst="rect">
            <a:avLst/>
          </a:prstGeom>
          <a:ln>
            <a:headEnd/>
            <a:tailEnd/>
          </a:ln>
        </p:spPr>
        <p:style>
          <a:lnRef idx="2">
            <a:schemeClr val="dk1"/>
          </a:lnRef>
          <a:fillRef idx="1001">
            <a:schemeClr val="lt2"/>
          </a:fillRef>
          <a:effectRef idx="0">
            <a:schemeClr val="dk1"/>
          </a:effectRef>
          <a:fontRef idx="minor">
            <a:schemeClr val="dk1"/>
          </a:fontRef>
        </p:style>
        <p:txBody>
          <a:bodyPr vert="horz" wrap="square" lIns="91440" tIns="0" rIns="91440" bIns="0" numCol="1" anchor="ctr" anchorCtr="0" compatLnSpc="1">
            <a:prstTxWarp prst="textNoShape">
              <a:avLst/>
            </a:prstTxWarp>
            <a:spAutoFit/>
          </a:bodyPr>
          <a:lstStyle/>
          <a:p>
            <a:pPr marL="0" marR="0" lvl="0" indent="338138" algn="just" defTabSz="914400" rtl="0" eaLnBrk="1" fontAlgn="base" latinLnBrk="0" hangingPunct="1">
              <a:lnSpc>
                <a:spcPct val="100000"/>
              </a:lnSpc>
              <a:spcBef>
                <a:spcPct val="0"/>
              </a:spcBef>
              <a:spcAft>
                <a:spcPct val="0"/>
              </a:spcAft>
              <a:buClrTx/>
              <a:buSzTx/>
              <a:buFontTx/>
              <a:buNone/>
              <a:tabLst/>
            </a:pPr>
            <a:r>
              <a:rPr kumimoji="0" lang="uz-Cyrl-UZ"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Мумкин бўлган қисм калитлар тўплами:</a:t>
            </a:r>
            <a:r>
              <a:rPr kumimoji="0" lang="uz-Cyrl-UZ" sz="2000" b="1" i="0" u="none" strike="noStrike" cap="none" normalizeH="0" dirty="0" smtClean="0">
                <a:ln>
                  <a:noFill/>
                </a:ln>
                <a:solidFill>
                  <a:schemeClr val="tx1"/>
                </a:solidFill>
                <a:effectLst/>
                <a:latin typeface="Times New Roman" pitchFamily="18" charset="0"/>
                <a:ea typeface="Times New Roman" pitchFamily="18" charset="0"/>
                <a:cs typeface="Times New Roman" pitchFamily="18" charset="0"/>
              </a:rPr>
              <a:t> </a:t>
            </a: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К(</a:t>
            </a:r>
            <a:r>
              <a:rPr kumimoji="0" lang="uz-Cyrl-UZ" sz="2000" b="0" i="0" u="none" strike="noStrike" cap="none" normalizeH="0" dirty="0" smtClean="0">
                <a:ln>
                  <a:noFill/>
                </a:ln>
                <a:solidFill>
                  <a:schemeClr val="tx1"/>
                </a:solidFill>
                <a:effectLst/>
                <a:latin typeface="Times New Roman" pitchFamily="18" charset="0"/>
                <a:ea typeface="Times New Roman" pitchFamily="18" charset="0"/>
                <a:cs typeface="Times New Roman" pitchFamily="18" charset="0"/>
              </a:rPr>
              <a:t>4)</a:t>
            </a:r>
            <a:r>
              <a:rPr kumimoji="0" lang="uz-Cyrl-UZ" sz="2000" b="0" i="0" u="none" strike="noStrike" cap="none" normalizeH="0" baseline="-25000" dirty="0" smtClean="0">
                <a:ln>
                  <a:noFill/>
                </a:ln>
                <a:solidFill>
                  <a:schemeClr val="tx1"/>
                </a:solidFill>
                <a:effectLst/>
                <a:latin typeface="Times New Roman" pitchFamily="18" charset="0"/>
                <a:ea typeface="Times New Roman" pitchFamily="18" charset="0"/>
                <a:cs typeface="Times New Roman" pitchFamily="18" charset="0"/>
              </a:rPr>
              <a:t>1</a:t>
            </a: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={0000,0001,0010,0011,0100,0101,0110,0111,1000,1001,1010,1011,1100,1101,1110,1111}</a:t>
            </a:r>
            <a:endParaRPr kumimoji="0" lang="uz-Cyrl-UZ" sz="2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39300472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3507" y="304800"/>
            <a:ext cx="8892000" cy="1216025"/>
          </a:xfrm>
        </p:spPr>
        <p:style>
          <a:lnRef idx="2">
            <a:schemeClr val="accent2"/>
          </a:lnRef>
          <a:fillRef idx="1">
            <a:schemeClr val="lt1"/>
          </a:fillRef>
          <a:effectRef idx="0">
            <a:schemeClr val="accent2"/>
          </a:effectRef>
          <a:fontRef idx="minor">
            <a:schemeClr val="dk1"/>
          </a:fontRef>
        </p:style>
        <p:txBody>
          <a:bodyPr/>
          <a:lstStyle/>
          <a:p>
            <a:r>
              <a:rPr lang="uz-Cyrl-UZ" i="1" dirty="0">
                <a:latin typeface="Times New Roman" pitchFamily="18" charset="0"/>
                <a:cs typeface="Times New Roman" pitchFamily="18" charset="0"/>
              </a:rPr>
              <a:t>К</a:t>
            </a:r>
            <a:r>
              <a:rPr lang="uz-Cyrl-UZ" dirty="0">
                <a:latin typeface="Times New Roman" pitchFamily="18" charset="0"/>
                <a:cs typeface="Times New Roman" pitchFamily="18" charset="0"/>
              </a:rPr>
              <a:t>(4)</a:t>
            </a:r>
            <a:r>
              <a:rPr lang="uz-Cyrl-UZ" baseline="-25000" dirty="0">
                <a:latin typeface="Times New Roman" pitchFamily="18" charset="0"/>
                <a:cs typeface="Times New Roman" pitchFamily="18" charset="0"/>
              </a:rPr>
              <a:t>1</a:t>
            </a:r>
            <a:r>
              <a:rPr lang="uz-Cyrl-UZ" dirty="0">
                <a:latin typeface="Times New Roman" pitchFamily="18" charset="0"/>
                <a:cs typeface="Times New Roman" pitchFamily="18" charset="0"/>
              </a:rPr>
              <a:t>=0001 учун </a:t>
            </a:r>
            <a:r>
              <a:rPr lang="uz-Cyrl-UZ" dirty="0" smtClean="0">
                <a:latin typeface="Times New Roman" pitchFamily="18" charset="0"/>
                <a:cs typeface="Times New Roman" pitchFamily="18" charset="0"/>
              </a:rPr>
              <a:t>бир </a:t>
            </a:r>
            <a:r>
              <a:rPr lang="uz-Cyrl-UZ" dirty="0">
                <a:latin typeface="Times New Roman" pitchFamily="18" charset="0"/>
                <a:cs typeface="Times New Roman" pitchFamily="18" charset="0"/>
              </a:rPr>
              <a:t>раундга дешифрлаш </a:t>
            </a:r>
            <a:r>
              <a:rPr lang="uz-Cyrl-UZ" dirty="0" smtClean="0">
                <a:latin typeface="Times New Roman" pitchFamily="18" charset="0"/>
                <a:cs typeface="Times New Roman" pitchFamily="18" charset="0"/>
              </a:rPr>
              <a:t>жараёни:</a:t>
            </a:r>
            <a:endParaRPr lang="ru-RU" dirty="0">
              <a:latin typeface="Times New Roman" pitchFamily="18" charset="0"/>
              <a:cs typeface="Times New Roman" pitchFamily="18" charset="0"/>
            </a:endParaRPr>
          </a:p>
        </p:txBody>
      </p:sp>
      <p:graphicFrame>
        <p:nvGraphicFramePr>
          <p:cNvPr id="8" name="Объект 7"/>
          <p:cNvGraphicFramePr>
            <a:graphicFrameLocks noChangeAspect="1"/>
          </p:cNvGraphicFramePr>
          <p:nvPr>
            <p:extLst>
              <p:ext uri="{D42A27DB-BD31-4B8C-83A1-F6EECF244321}">
                <p14:modId xmlns:p14="http://schemas.microsoft.com/office/powerpoint/2010/main" val="1046052213"/>
              </p:ext>
            </p:extLst>
          </p:nvPr>
        </p:nvGraphicFramePr>
        <p:xfrm>
          <a:off x="-1224644" y="1613635"/>
          <a:ext cx="9108000" cy="5163737"/>
        </p:xfrm>
        <a:graphic>
          <a:graphicData uri="http://schemas.openxmlformats.org/presentationml/2006/ole">
            <mc:AlternateContent xmlns:mc="http://schemas.openxmlformats.org/markup-compatibility/2006">
              <mc:Choice xmlns:v="urn:schemas-microsoft-com:vml" Requires="v">
                <p:oleObj spid="_x0000_s68624" name="Документ" r:id="rId4" imgW="6077602" imgH="3440592" progId="Word.Document.12">
                  <p:embed/>
                </p:oleObj>
              </mc:Choice>
              <mc:Fallback>
                <p:oleObj name="Документ" r:id="rId4" imgW="6077602" imgH="3440592" progId="Word.Document.12">
                  <p:embed/>
                  <p:pic>
                    <p:nvPicPr>
                      <p:cNvPr id="0" name=""/>
                      <p:cNvPicPr/>
                      <p:nvPr/>
                    </p:nvPicPr>
                    <p:blipFill>
                      <a:blip r:embed="rId5"/>
                      <a:stretch>
                        <a:fillRect/>
                      </a:stretch>
                    </p:blipFill>
                    <p:spPr>
                      <a:xfrm>
                        <a:off x="-1224644" y="1613635"/>
                        <a:ext cx="9108000" cy="5163737"/>
                      </a:xfrm>
                      <a:prstGeom prst="rect">
                        <a:avLst/>
                      </a:prstGeom>
                    </p:spPr>
                  </p:pic>
                </p:oleObj>
              </mc:Fallback>
            </mc:AlternateContent>
          </a:graphicData>
        </a:graphic>
      </p:graphicFrame>
      <p:sp>
        <p:nvSpPr>
          <p:cNvPr id="10" name="TextBox 9"/>
          <p:cNvSpPr txBox="1"/>
          <p:nvPr/>
        </p:nvSpPr>
        <p:spPr>
          <a:xfrm>
            <a:off x="6185892" y="6129300"/>
            <a:ext cx="1332148" cy="369332"/>
          </a:xfrm>
          <a:prstGeom prst="rect">
            <a:avLst/>
          </a:prstGeom>
          <a:noFill/>
        </p:spPr>
        <p:txBody>
          <a:bodyPr wrap="square" rtlCol="0">
            <a:spAutoFit/>
          </a:bodyPr>
          <a:lstStyle/>
          <a:p>
            <a:r>
              <a:rPr lang="ru-RU" b="1" dirty="0" smtClean="0">
                <a:solidFill>
                  <a:srgbClr val="C00000"/>
                </a:solidFill>
              </a:rPr>
              <a:t> ≠ 0000</a:t>
            </a:r>
            <a:endParaRPr lang="ru-RU" b="1" dirty="0">
              <a:solidFill>
                <a:srgbClr val="C00000"/>
              </a:solidFill>
            </a:endParaRPr>
          </a:p>
        </p:txBody>
      </p:sp>
      <p:sp>
        <p:nvSpPr>
          <p:cNvPr id="11" name="Прямоугольная выноска 10"/>
          <p:cNvSpPr/>
          <p:nvPr/>
        </p:nvSpPr>
        <p:spPr>
          <a:xfrm>
            <a:off x="6889706" y="2852936"/>
            <a:ext cx="1960358" cy="2612268"/>
          </a:xfrm>
          <a:prstGeom prst="wedgeRectCallout">
            <a:avLst>
              <a:gd name="adj1" fmla="val -70069"/>
              <a:gd name="adj2" fmla="val 75627"/>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uz-Cyrl-UZ" sz="2400" b="1" u="sng" dirty="0" smtClean="0">
                <a:solidFill>
                  <a:schemeClr val="tx1"/>
                </a:solidFill>
                <a:latin typeface="Times New Roman" pitchFamily="18" charset="0"/>
                <a:cs typeface="Times New Roman" pitchFamily="18" charset="0"/>
              </a:rPr>
              <a:t>Натижа</a:t>
            </a:r>
            <a:r>
              <a:rPr lang="uz-Cyrl-UZ" sz="2400" dirty="0" smtClean="0">
                <a:solidFill>
                  <a:schemeClr val="tx1"/>
                </a:solidFill>
                <a:latin typeface="Times New Roman" pitchFamily="18" charset="0"/>
                <a:cs typeface="Times New Roman" pitchFamily="18" charset="0"/>
              </a:rPr>
              <a:t>:</a:t>
            </a:r>
          </a:p>
          <a:p>
            <a:endParaRPr lang="uz-Cyrl-UZ" sz="2400" dirty="0" smtClean="0">
              <a:solidFill>
                <a:schemeClr val="tx1"/>
              </a:solidFill>
              <a:latin typeface="Times New Roman" pitchFamily="18" charset="0"/>
              <a:cs typeface="Times New Roman" pitchFamily="18" charset="0"/>
            </a:endParaRPr>
          </a:p>
          <a:p>
            <a:pPr algn="ctr"/>
            <a:r>
              <a:rPr lang="uz-Cyrl-UZ" sz="2400" i="1" dirty="0" smtClean="0">
                <a:solidFill>
                  <a:schemeClr val="tx1"/>
                </a:solidFill>
                <a:latin typeface="Times New Roman" pitchFamily="18" charset="0"/>
                <a:cs typeface="Times New Roman" pitchFamily="18" charset="0"/>
              </a:rPr>
              <a:t>К</a:t>
            </a:r>
            <a:r>
              <a:rPr lang="uz-Cyrl-UZ" sz="2400" dirty="0" smtClean="0">
                <a:solidFill>
                  <a:schemeClr val="tx1"/>
                </a:solidFill>
                <a:latin typeface="Times New Roman" pitchFamily="18" charset="0"/>
                <a:cs typeface="Times New Roman" pitchFamily="18" charset="0"/>
              </a:rPr>
              <a:t>(4)</a:t>
            </a:r>
            <a:r>
              <a:rPr lang="uz-Cyrl-UZ" sz="2400" baseline="-25000" dirty="0" smtClean="0">
                <a:solidFill>
                  <a:schemeClr val="tx1"/>
                </a:solidFill>
                <a:latin typeface="Times New Roman" pitchFamily="18" charset="0"/>
                <a:cs typeface="Times New Roman" pitchFamily="18" charset="0"/>
              </a:rPr>
              <a:t>1</a:t>
            </a:r>
            <a:r>
              <a:rPr lang="uz-Cyrl-UZ" sz="2400" dirty="0" smtClean="0">
                <a:solidFill>
                  <a:schemeClr val="tx1"/>
                </a:solidFill>
                <a:latin typeface="Times New Roman" pitchFamily="18" charset="0"/>
                <a:cs typeface="Times New Roman" pitchFamily="18" charset="0"/>
              </a:rPr>
              <a:t>=0001 – ҳақиқий калит эмас.</a:t>
            </a:r>
          </a:p>
          <a:p>
            <a:pPr algn="ctr"/>
            <a:endParaRPr lang="ru-RU" sz="24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928459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1500" y="80628"/>
            <a:ext cx="9036000" cy="400110"/>
          </a:xfrm>
          <a:prstGeom prst="rect">
            <a:avLst/>
          </a:prstGeom>
          <a:solidFill>
            <a:schemeClr val="bg2">
              <a:lumMod val="90000"/>
            </a:schemeClr>
          </a:solidFill>
        </p:spPr>
        <p:style>
          <a:lnRef idx="2">
            <a:schemeClr val="dk1"/>
          </a:lnRef>
          <a:fillRef idx="1002">
            <a:schemeClr val="lt2"/>
          </a:fillRef>
          <a:effectRef idx="0">
            <a:schemeClr val="dk1"/>
          </a:effectRef>
          <a:fontRef idx="minor">
            <a:schemeClr val="dk1"/>
          </a:fontRef>
        </p:style>
        <p:txBody>
          <a:bodyPr wrap="square">
            <a:spAutoFit/>
          </a:bodyPr>
          <a:lstStyle/>
          <a:p>
            <a:pPr lvl="0" algn="just" eaLnBrk="0" fontAlgn="base" hangingPunct="0">
              <a:spcBef>
                <a:spcPct val="0"/>
              </a:spcBef>
              <a:spcAft>
                <a:spcPct val="0"/>
              </a:spcAft>
            </a:pPr>
            <a:r>
              <a:rPr lang="uz-Cyrl-UZ" sz="2000" b="1" dirty="0">
                <a:solidFill>
                  <a:schemeClr val="tx1"/>
                </a:solidFill>
                <a:latin typeface="Times New Roman" pitchFamily="18" charset="0"/>
                <a:ea typeface="Times New Roman" pitchFamily="18" charset="0"/>
                <a:cs typeface="Times New Roman" pitchFamily="18" charset="0"/>
              </a:rPr>
              <a:t>1</a:t>
            </a:r>
            <a:r>
              <a:rPr lang="ru-RU" sz="2000" b="1" dirty="0">
                <a:solidFill>
                  <a:schemeClr val="tx1"/>
                </a:solidFill>
                <a:latin typeface="Times New Roman" pitchFamily="18" charset="0"/>
                <a:ea typeface="Times New Roman" pitchFamily="18" charset="0"/>
                <a:cs typeface="Times New Roman" pitchFamily="18" charset="0"/>
              </a:rPr>
              <a:t>-</a:t>
            </a:r>
            <a:r>
              <a:rPr lang="uz-Cyrl-UZ" sz="2000" b="1" dirty="0">
                <a:solidFill>
                  <a:schemeClr val="tx1"/>
                </a:solidFill>
                <a:latin typeface="Times New Roman" pitchFamily="18" charset="0"/>
                <a:ea typeface="Times New Roman" pitchFamily="18" charset="0"/>
                <a:cs typeface="Times New Roman" pitchFamily="18" charset="0"/>
              </a:rPr>
              <a:t>қисм </a:t>
            </a:r>
            <a:r>
              <a:rPr lang="uz-Cyrl-UZ" sz="2000" b="1" dirty="0" smtClean="0">
                <a:solidFill>
                  <a:schemeClr val="tx1"/>
                </a:solidFill>
                <a:latin typeface="Times New Roman" pitchFamily="18" charset="0"/>
                <a:ea typeface="Times New Roman" pitchFamily="18" charset="0"/>
                <a:cs typeface="Times New Roman" pitchFamily="18" charset="0"/>
              </a:rPr>
              <a:t>калитни </a:t>
            </a:r>
            <a:r>
              <a:rPr lang="uz-Cyrl-UZ" sz="2000" b="1" dirty="0">
                <a:solidFill>
                  <a:schemeClr val="tx1"/>
                </a:solidFill>
                <a:latin typeface="Times New Roman" pitchFamily="18" charset="0"/>
                <a:ea typeface="Times New Roman" pitchFamily="18" charset="0"/>
                <a:cs typeface="Times New Roman" pitchFamily="18" charset="0"/>
              </a:rPr>
              <a:t>топиш жараёни қўйидагича амалга </a:t>
            </a:r>
            <a:r>
              <a:rPr lang="uz-Cyrl-UZ" sz="2000" b="1" dirty="0" smtClean="0">
                <a:solidFill>
                  <a:schemeClr val="tx1"/>
                </a:solidFill>
                <a:latin typeface="Times New Roman" pitchFamily="18" charset="0"/>
                <a:ea typeface="Times New Roman" pitchFamily="18" charset="0"/>
                <a:cs typeface="Times New Roman" pitchFamily="18" charset="0"/>
              </a:rPr>
              <a:t>оширилади</a:t>
            </a:r>
            <a:endParaRPr lang="ru-RU" sz="2000" b="1" dirty="0">
              <a:solidFill>
                <a:schemeClr val="tx1"/>
              </a:solidFill>
              <a:latin typeface="Times New Roman" pitchFamily="18" charset="0"/>
              <a:cs typeface="Times New Roman" pitchFamily="18" charset="0"/>
            </a:endParaRPr>
          </a:p>
        </p:txBody>
      </p:sp>
      <p:graphicFrame>
        <p:nvGraphicFramePr>
          <p:cNvPr id="5" name="Таблица 4"/>
          <p:cNvGraphicFramePr>
            <a:graphicFrameLocks noGrp="1"/>
          </p:cNvGraphicFramePr>
          <p:nvPr>
            <p:extLst>
              <p:ext uri="{D42A27DB-BD31-4B8C-83A1-F6EECF244321}">
                <p14:modId xmlns:p14="http://schemas.microsoft.com/office/powerpoint/2010/main" val="2569231475"/>
              </p:ext>
            </p:extLst>
          </p:nvPr>
        </p:nvGraphicFramePr>
        <p:xfrm>
          <a:off x="228600" y="731516"/>
          <a:ext cx="8686797" cy="6022848"/>
        </p:xfrm>
        <a:graphic>
          <a:graphicData uri="http://schemas.openxmlformats.org/drawingml/2006/table">
            <a:tbl>
              <a:tblPr/>
              <a:tblGrid>
                <a:gridCol w="871197"/>
                <a:gridCol w="488475"/>
                <a:gridCol w="488475"/>
                <a:gridCol w="488475"/>
                <a:gridCol w="488475"/>
                <a:gridCol w="488475"/>
                <a:gridCol w="488475"/>
                <a:gridCol w="488475"/>
                <a:gridCol w="488475"/>
                <a:gridCol w="488475"/>
                <a:gridCol w="488475"/>
                <a:gridCol w="488475"/>
                <a:gridCol w="488475"/>
                <a:gridCol w="488475"/>
                <a:gridCol w="488475"/>
                <a:gridCol w="488475"/>
                <a:gridCol w="488475"/>
              </a:tblGrid>
              <a:tr h="188511">
                <a:tc rowSpan="3">
                  <a:txBody>
                    <a:bodyPr/>
                    <a:lstStyle/>
                    <a:p>
                      <a:pPr algn="ctr">
                        <a:lnSpc>
                          <a:spcPct val="100000"/>
                        </a:lnSpc>
                        <a:spcAft>
                          <a:spcPts val="0"/>
                        </a:spcAft>
                      </a:pPr>
                      <a:r>
                        <a:rPr lang="uz-Cyrl-UZ" sz="1600" dirty="0">
                          <a:latin typeface="Times New Roman" pitchFamily="18" charset="0"/>
                          <a:ea typeface="Times New Roman"/>
                          <a:cs typeface="Times New Roman" pitchFamily="18" charset="0"/>
                        </a:rPr>
                        <a:t>Ярим</a:t>
                      </a:r>
                      <a:endParaRPr lang="ru-RU" sz="1600" dirty="0">
                        <a:latin typeface="Times New Roman" pitchFamily="18" charset="0"/>
                        <a:ea typeface="Times New Roman"/>
                        <a:cs typeface="Times New Roman" pitchFamily="18" charset="0"/>
                      </a:endParaRPr>
                    </a:p>
                    <a:p>
                      <a:pPr algn="ctr">
                        <a:lnSpc>
                          <a:spcPct val="100000"/>
                        </a:lnSpc>
                        <a:spcAft>
                          <a:spcPts val="0"/>
                        </a:spcAft>
                      </a:pPr>
                      <a:r>
                        <a:rPr lang="uz-Cyrl-UZ" sz="1600" dirty="0">
                          <a:latin typeface="Times New Roman" pitchFamily="18" charset="0"/>
                          <a:ea typeface="Times New Roman"/>
                          <a:cs typeface="Times New Roman" pitchFamily="18" charset="0"/>
                        </a:rPr>
                        <a:t>байт шифр матн</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gridSpan="16">
                  <a:txBody>
                    <a:bodyPr/>
                    <a:lstStyle/>
                    <a:p>
                      <a:pPr algn="ctr">
                        <a:spcAft>
                          <a:spcPts val="0"/>
                        </a:spcAft>
                      </a:pPr>
                      <a:r>
                        <a:rPr lang="uz-Cyrl-UZ" sz="1600" b="1" dirty="0">
                          <a:latin typeface="Times New Roman" pitchFamily="18" charset="0"/>
                          <a:ea typeface="Times New Roman"/>
                          <a:cs typeface="Times New Roman" pitchFamily="18" charset="0"/>
                        </a:rPr>
                        <a:t>Мумкин бўлган қисм калитлар тўплами</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188511">
                <a:tc vMerge="1">
                  <a:txBody>
                    <a:bodyPr/>
                    <a:lstStyle/>
                    <a:p>
                      <a:endParaRPr lang="ru-RU"/>
                    </a:p>
                  </a:txBody>
                  <a:tcPr/>
                </a:tc>
                <a:tc>
                  <a:txBody>
                    <a:bodyPr/>
                    <a:lstStyle/>
                    <a:p>
                      <a:pPr algn="ctr">
                        <a:spcAft>
                          <a:spcPts val="0"/>
                        </a:spcAft>
                      </a:pPr>
                      <a:r>
                        <a:rPr lang="uz-Cyrl-UZ" sz="1600" b="1"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uz-Cyrl-UZ" sz="1600" b="1"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uz-Cyrl-UZ" sz="1600" b="1"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uz-Cyrl-UZ" sz="1600" b="1"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uz-Cyrl-UZ" sz="1600" b="1"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uz-Cyrl-UZ" sz="1600" b="1"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uz-Cyrl-UZ" sz="1600" b="1"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uz-Cyrl-UZ" sz="1600" b="1"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uz-Cyrl-UZ" sz="1600" b="1"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uz-Cyrl-UZ" sz="1600" b="1" kern="1200">
                          <a:solidFill>
                            <a:srgbClr val="000000"/>
                          </a:solidFill>
                          <a:latin typeface="Times New Roman" pitchFamily="18" charset="0"/>
                          <a:ea typeface="Times New Roman"/>
                          <a:cs typeface="Times New Roman" pitchFamily="18" charset="0"/>
                        </a:rPr>
                        <a:t>10</a:t>
                      </a:r>
                      <a:r>
                        <a:rPr lang="en-US" sz="1600" b="1" kern="1200">
                          <a:solidFill>
                            <a:srgbClr val="000000"/>
                          </a:solidFill>
                          <a:latin typeface="Times New Roman" pitchFamily="18" charset="0"/>
                          <a:ea typeface="Times New Roman"/>
                          <a:cs typeface="Times New Roman" pitchFamily="18" charset="0"/>
                        </a:rPr>
                        <a:t>01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b="1" kern="1200" dirty="0">
                          <a:solidFill>
                            <a:srgbClr val="000000"/>
                          </a:solidFill>
                          <a:latin typeface="Times New Roman" pitchFamily="18" charset="0"/>
                          <a:ea typeface="Times New Roman"/>
                          <a:cs typeface="Times New Roman" pitchFamily="18" charset="0"/>
                        </a:rPr>
                        <a:t>1010</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b="1"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b="1" kern="1200">
                          <a:solidFill>
                            <a:srgbClr val="000000"/>
                          </a:solidFill>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b="1"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b="1"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b="1"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377021">
                <a:tc vMerge="1">
                  <a:txBody>
                    <a:bodyPr/>
                    <a:lstStyle/>
                    <a:p>
                      <a:endParaRPr lang="ru-RU"/>
                    </a:p>
                  </a:txBody>
                  <a:tcPr/>
                </a:tc>
                <a:tc gridSpan="16">
                  <a:txBody>
                    <a:bodyPr/>
                    <a:lstStyle/>
                    <a:p>
                      <a:pPr algn="ctr">
                        <a:lnSpc>
                          <a:spcPct val="115000"/>
                        </a:lnSpc>
                        <a:spcAft>
                          <a:spcPts val="0"/>
                        </a:spcAft>
                      </a:pPr>
                      <a:r>
                        <a:rPr lang="en-US" sz="1800" b="1" dirty="0">
                          <a:latin typeface="Times New Roman" pitchFamily="18" charset="0"/>
                          <a:ea typeface="Times New Roman"/>
                          <a:cs typeface="Times New Roman" pitchFamily="18" charset="0"/>
                        </a:rPr>
                        <a:t>Inv</a:t>
                      </a:r>
                      <a:r>
                        <a:rPr lang="uz-Cyrl-UZ" sz="1800" b="1" dirty="0">
                          <a:latin typeface="Times New Roman" pitchFamily="18" charset="0"/>
                          <a:ea typeface="Times New Roman"/>
                          <a:cs typeface="Times New Roman" pitchFamily="18" charset="0"/>
                        </a:rPr>
                        <a:t>NibbleSub(</a:t>
                      </a:r>
                      <a:r>
                        <a:rPr lang="en-US" sz="1800" b="1" dirty="0">
                          <a:latin typeface="Times New Roman" pitchFamily="18" charset="0"/>
                          <a:ea typeface="Times New Roman"/>
                          <a:cs typeface="Times New Roman" pitchFamily="18" charset="0"/>
                        </a:rPr>
                        <a:t>Inv</a:t>
                      </a:r>
                      <a:r>
                        <a:rPr lang="uz-Cyrl-UZ" sz="1800" b="1" dirty="0">
                          <a:latin typeface="Times New Roman" pitchFamily="18" charset="0"/>
                          <a:ea typeface="Times New Roman"/>
                          <a:cs typeface="Times New Roman" pitchFamily="18" charset="0"/>
                        </a:rPr>
                        <a:t>ShiftRow(</a:t>
                      </a:r>
                      <a:r>
                        <a:rPr lang="en-US" sz="1800" b="1" dirty="0">
                          <a:latin typeface="Times New Roman" pitchFamily="18" charset="0"/>
                          <a:ea typeface="Times New Roman"/>
                          <a:cs typeface="Times New Roman" pitchFamily="18" charset="0"/>
                        </a:rPr>
                        <a:t>Inv</a:t>
                      </a:r>
                      <a:r>
                        <a:rPr lang="uz-Cyrl-UZ" sz="1800" b="1" dirty="0">
                          <a:latin typeface="Times New Roman" pitchFamily="18" charset="0"/>
                          <a:ea typeface="Times New Roman"/>
                          <a:cs typeface="Times New Roman" pitchFamily="18" charset="0"/>
                        </a:rPr>
                        <a:t>KeyAddition</a:t>
                      </a:r>
                      <a:r>
                        <a:rPr lang="en-US" sz="1800" b="1" dirty="0" smtClean="0">
                          <a:latin typeface="Times New Roman" pitchFamily="18" charset="0"/>
                          <a:ea typeface="Times New Roman"/>
                          <a:cs typeface="Times New Roman" pitchFamily="18" charset="0"/>
                        </a:rPr>
                        <a:t>(</a:t>
                      </a:r>
                      <a:r>
                        <a:rPr lang="uz-Cyrl-UZ" sz="1800" b="1" i="1" kern="1200" dirty="0" smtClean="0">
                          <a:solidFill>
                            <a:schemeClr val="tx1"/>
                          </a:solidFill>
                          <a:effectLst/>
                          <a:latin typeface="Times New Roman" pitchFamily="18" charset="0"/>
                          <a:ea typeface="+mn-ea"/>
                          <a:cs typeface="Times New Roman" pitchFamily="18" charset="0"/>
                        </a:rPr>
                        <a:t>t</a:t>
                      </a:r>
                      <a:r>
                        <a:rPr lang="uz-Cyrl-UZ" sz="1800" b="1" i="1" kern="1200" baseline="-25000" dirty="0" smtClean="0">
                          <a:solidFill>
                            <a:schemeClr val="tx1"/>
                          </a:solidFill>
                          <a:effectLst/>
                          <a:latin typeface="Times New Roman" pitchFamily="18" charset="0"/>
                          <a:ea typeface="+mn-ea"/>
                          <a:cs typeface="Times New Roman" pitchFamily="18" charset="0"/>
                        </a:rPr>
                        <a:t>i,</a:t>
                      </a:r>
                      <a:r>
                        <a:rPr lang="uz-Cyrl-UZ" sz="1800" b="1" kern="1200" baseline="-25000" dirty="0" smtClean="0">
                          <a:solidFill>
                            <a:schemeClr val="tx1"/>
                          </a:solidFill>
                          <a:effectLst/>
                          <a:latin typeface="Times New Roman" pitchFamily="18" charset="0"/>
                          <a:ea typeface="+mn-ea"/>
                          <a:cs typeface="Times New Roman" pitchFamily="18" charset="0"/>
                        </a:rPr>
                        <a:t>1</a:t>
                      </a:r>
                      <a:r>
                        <a:rPr lang="uz-Cyrl-UZ" sz="1800" b="1" kern="1200" dirty="0" smtClean="0">
                          <a:solidFill>
                            <a:schemeClr val="tx1"/>
                          </a:solidFill>
                          <a:effectLst/>
                          <a:latin typeface="Times New Roman" pitchFamily="18" charset="0"/>
                          <a:ea typeface="+mn-ea"/>
                          <a:cs typeface="Times New Roman" pitchFamily="18" charset="0"/>
                        </a:rPr>
                        <a:t>,</a:t>
                      </a:r>
                      <a:r>
                        <a:rPr lang="en-US" sz="1800" b="1" i="1" kern="1200" dirty="0" smtClean="0">
                          <a:solidFill>
                            <a:schemeClr val="tx1"/>
                          </a:solidFill>
                          <a:effectLst/>
                          <a:latin typeface="Times New Roman" pitchFamily="18" charset="0"/>
                          <a:ea typeface="+mn-ea"/>
                          <a:cs typeface="Times New Roman" pitchFamily="18" charset="0"/>
                        </a:rPr>
                        <a:t>k</a:t>
                      </a:r>
                      <a:r>
                        <a:rPr lang="en-US" sz="1800" b="1" dirty="0" smtClean="0">
                          <a:latin typeface="Times New Roman" pitchFamily="18" charset="0"/>
                          <a:ea typeface="Times New Roman"/>
                          <a:cs typeface="Times New Roman" pitchFamily="18" charset="0"/>
                        </a:rPr>
                        <a:t>)</a:t>
                      </a:r>
                      <a:r>
                        <a:rPr lang="uz-Cyrl-UZ" sz="1800" b="1" dirty="0">
                          <a:latin typeface="Times New Roman" pitchFamily="18" charset="0"/>
                          <a:ea typeface="Times New Roman"/>
                          <a:cs typeface="Times New Roman" pitchFamily="18" charset="0"/>
                        </a:rPr>
                        <a:t>))</a:t>
                      </a:r>
                      <a:endParaRPr lang="ru-RU" sz="1800" b="1"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r h="199409">
                <a:tc>
                  <a:txBody>
                    <a:bodyPr/>
                    <a:lstStyle/>
                    <a:p>
                      <a:pPr algn="ctr">
                        <a:lnSpc>
                          <a:spcPct val="115000"/>
                        </a:lnSpc>
                        <a:spcAft>
                          <a:spcPts val="0"/>
                        </a:spcAft>
                      </a:pPr>
                      <a:r>
                        <a:rPr lang="ru-RU" sz="1600" b="1" dirty="0" smtClean="0">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1100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0011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dirty="0">
                          <a:latin typeface="Times New Roman" pitchFamily="18" charset="0"/>
                          <a:ea typeface="Times New Roman"/>
                          <a:cs typeface="Times New Roman" pitchFamily="18" charset="0"/>
                        </a:rPr>
                        <a:t>0010</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0001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1100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1010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1010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dirty="0" smtClean="0">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1100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dirty="0">
                          <a:latin typeface="Times New Roman" pitchFamily="18" charset="0"/>
                          <a:ea typeface="Times New Roman"/>
                          <a:cs typeface="Times New Roman" pitchFamily="18" charset="0"/>
                        </a:rPr>
                        <a:t>1011</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0011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dirty="0" smtClean="0">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1100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1011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0010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0000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0101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1011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0011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1110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0001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1100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1101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0101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0000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0100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0001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dirty="0">
                          <a:solidFill>
                            <a:srgbClr val="000000"/>
                          </a:solidFill>
                          <a:latin typeface="Times New Roman" pitchFamily="18" charset="0"/>
                          <a:ea typeface="Times New Roman"/>
                          <a:cs typeface="Times New Roman" pitchFamily="18" charset="0"/>
                        </a:rPr>
                        <a:t>1010</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spcAft>
                          <a:spcPts val="0"/>
                        </a:spcAft>
                      </a:pPr>
                      <a:r>
                        <a:rPr lang="en-US" sz="1600" kern="1200" dirty="0" smtClean="0">
                          <a:solidFill>
                            <a:srgbClr val="000000"/>
                          </a:solidFill>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1110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0100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spcAft>
                          <a:spcPts val="0"/>
                        </a:spcAft>
                      </a:pPr>
                      <a:r>
                        <a:rPr lang="en-US" sz="1600" kern="1200">
                          <a:solidFill>
                            <a:srgbClr val="000000"/>
                          </a:solidFill>
                          <a:latin typeface="Times New Roman" pitchFamily="18" charset="0"/>
                          <a:ea typeface="Times New Roman"/>
                          <a:cs typeface="Times New Roman" pitchFamily="18" charset="0"/>
                        </a:rPr>
                        <a:t>1000</a:t>
                      </a:r>
                      <a:endParaRPr lang="ru-RU" sz="1600">
                        <a:latin typeface="Times New Roman" pitchFamily="18" charset="0"/>
                        <a:ea typeface="Times New Roman"/>
                        <a:cs typeface="Times New Roman" pitchFamily="18" charset="0"/>
                      </a:endParaRPr>
                    </a:p>
                  </a:txBody>
                  <a:tcPr marL="33581" marR="335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r">
                        <a:lnSpc>
                          <a:spcPct val="115000"/>
                        </a:lnSpc>
                        <a:spcAft>
                          <a:spcPts val="0"/>
                        </a:spcAft>
                      </a:pPr>
                      <a:r>
                        <a:rPr lang="uz-Cyrl-UZ" sz="1600" dirty="0" smtClean="0">
                          <a:latin typeface="Times New Roman" panose="02020603050405020304" pitchFamily="18" charset="0"/>
                          <a:cs typeface="Times New Roman" panose="02020603050405020304" pitchFamily="18" charset="0"/>
                        </a:rPr>
                        <a:t>∑⊕</a:t>
                      </a:r>
                      <a:r>
                        <a:rPr lang="en-US" sz="1500" b="1" dirty="0" smtClean="0">
                          <a:latin typeface="Times New Roman" pitchFamily="18" charset="0"/>
                          <a:ea typeface="Times New Roman"/>
                          <a:cs typeface="Times New Roman" pitchFamily="18" charset="0"/>
                        </a:rPr>
                        <a:t>=</a:t>
                      </a:r>
                      <a:endParaRPr lang="ru-RU" sz="15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0110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1100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dirty="0" smtClean="0">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1101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0111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dirty="0" smtClean="0">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dirty="0">
                          <a:latin typeface="Times New Roman" pitchFamily="18" charset="0"/>
                          <a:ea typeface="Times New Roman"/>
                          <a:cs typeface="Times New Roman" pitchFamily="18" charset="0"/>
                        </a:rPr>
                        <a:t>0000</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1010</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0101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dirty="0" smtClean="0">
                          <a:latin typeface="Times New Roman" pitchFamily="18" charset="0"/>
                          <a:ea typeface="Times New Roman"/>
                          <a:cs typeface="Times New Roman" pitchFamily="18" charset="0"/>
                        </a:rPr>
                        <a:t>1111</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1001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a:lnSpc>
                          <a:spcPct val="115000"/>
                        </a:lnSpc>
                        <a:spcAft>
                          <a:spcPts val="0"/>
                        </a:spcAft>
                      </a:pPr>
                      <a:r>
                        <a:rPr lang="ru-RU" sz="1600" b="1">
                          <a:latin typeface="Times New Roman" pitchFamily="18" charset="0"/>
                          <a:ea typeface="Times New Roman"/>
                          <a:cs typeface="Times New Roman" pitchFamily="18" charset="0"/>
                        </a:rPr>
                        <a:t>0011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r>
              <a:tr h="199409">
                <a:tc>
                  <a:txBody>
                    <a:bodyPr/>
                    <a:lstStyle/>
                    <a:p>
                      <a:pPr algn="ctr">
                        <a:lnSpc>
                          <a:spcPct val="115000"/>
                        </a:lnSpc>
                        <a:spcAft>
                          <a:spcPts val="0"/>
                        </a:spcAft>
                      </a:pPr>
                      <a:r>
                        <a:rPr lang="uz-Cyrl-UZ" sz="1600" b="1">
                          <a:latin typeface="Times New Roman" pitchFamily="18" charset="0"/>
                          <a:ea typeface="Times New Roman"/>
                          <a:cs typeface="Times New Roman" pitchFamily="18" charset="0"/>
                        </a:rPr>
                        <a:t>Key</a:t>
                      </a:r>
                      <a:r>
                        <a:rPr lang="en-US" sz="1600" b="1">
                          <a:latin typeface="Times New Roman" pitchFamily="18" charset="0"/>
                          <a:ea typeface="Times New Roman"/>
                          <a:cs typeface="Times New Roman" pitchFamily="18" charset="0"/>
                        </a:rPr>
                        <a:t>[1]</a:t>
                      </a:r>
                      <a:endParaRPr lang="ru-RU" sz="160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gridSpan="16">
                  <a:txBody>
                    <a:bodyPr/>
                    <a:lstStyle/>
                    <a:p>
                      <a:pPr algn="ctr">
                        <a:lnSpc>
                          <a:spcPct val="115000"/>
                        </a:lnSpc>
                        <a:spcAft>
                          <a:spcPts val="0"/>
                        </a:spcAft>
                      </a:pPr>
                      <a:r>
                        <a:rPr lang="uz-Cyrl-UZ" sz="1600" b="1" dirty="0">
                          <a:latin typeface="Times New Roman" pitchFamily="18" charset="0"/>
                          <a:ea typeface="Times New Roman"/>
                          <a:cs typeface="Times New Roman" pitchFamily="18" charset="0"/>
                        </a:rPr>
                        <a:t>1010</a:t>
                      </a:r>
                      <a:endParaRPr lang="ru-RU" sz="1600" dirty="0">
                        <a:latin typeface="Times New Roman" pitchFamily="18" charset="0"/>
                        <a:ea typeface="Times New Roman"/>
                        <a:cs typeface="Times New Roman" pitchFamily="18" charset="0"/>
                      </a:endParaRPr>
                    </a:p>
                  </a:txBody>
                  <a:tcPr marL="33581" marR="33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20000"/>
                        <a:lumOff val="80000"/>
                      </a:schemeClr>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r>
            </a:tbl>
          </a:graphicData>
        </a:graphic>
      </p:graphicFrame>
    </p:spTree>
    <p:extLst>
      <p:ext uri="{BB962C8B-B14F-4D97-AF65-F5344CB8AC3E}">
        <p14:creationId xmlns:p14="http://schemas.microsoft.com/office/powerpoint/2010/main" val="34490952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Process 9"/>
          <p:cNvSpPr/>
          <p:nvPr/>
        </p:nvSpPr>
        <p:spPr>
          <a:xfrm>
            <a:off x="214282" y="214290"/>
            <a:ext cx="8721900" cy="6429420"/>
          </a:xfrm>
          <a:prstGeom prst="flowChartProcess">
            <a:avLst/>
          </a:prstGeom>
          <a:noFill/>
          <a:ln w="57150">
            <a:solidFill>
              <a:srgbClr val="002060"/>
            </a:solidFill>
          </a:ln>
          <a:effectLst>
            <a:glow rad="2286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ru-RU"/>
          </a:p>
        </p:txBody>
      </p:sp>
      <p:sp>
        <p:nvSpPr>
          <p:cNvPr id="12309" name="Text Box 21"/>
          <p:cNvSpPr txBox="1">
            <a:spLocks noChangeArrowheads="1"/>
          </p:cNvSpPr>
          <p:nvPr/>
        </p:nvSpPr>
        <p:spPr bwMode="auto">
          <a:xfrm>
            <a:off x="538163" y="581025"/>
            <a:ext cx="8086725" cy="430213"/>
          </a:xfrm>
          <a:prstGeom prst="rect">
            <a:avLst/>
          </a:prstGeom>
          <a:solidFill>
            <a:schemeClr val="bg1"/>
          </a:solidFill>
          <a:ln w="9525">
            <a:noFill/>
            <a:miter lim="800000"/>
            <a:headEnd/>
            <a:tailEnd/>
          </a:ln>
          <a:effectLst>
            <a:prstShdw prst="shdw17" dist="17961" dir="2700000">
              <a:schemeClr val="bg1">
                <a:gamma/>
                <a:shade val="60000"/>
                <a:invGamma/>
                <a:alpha val="50000"/>
              </a:schemeClr>
            </a:prstShdw>
          </a:effectLst>
        </p:spPr>
        <p:txBody>
          <a:bodyPr wrap="none">
            <a:spAutoFit/>
          </a:bodyPr>
          <a:lstStyle/>
          <a:p>
            <a:pPr algn="ctr">
              <a:defRPr/>
            </a:pPr>
            <a:r>
              <a:rPr lang="ru-RU" sz="2200" b="1" dirty="0" err="1">
                <a:solidFill>
                  <a:srgbClr val="800000"/>
                </a:solidFill>
                <a:latin typeface="Times New Roman" pitchFamily="18" charset="0"/>
              </a:rPr>
              <a:t>Радиоэлектрон</a:t>
            </a:r>
            <a:r>
              <a:rPr lang="ru-RU" sz="2200" b="1" dirty="0">
                <a:solidFill>
                  <a:srgbClr val="800000"/>
                </a:solidFill>
                <a:latin typeface="Times New Roman" pitchFamily="18" charset="0"/>
              </a:rPr>
              <a:t> </a:t>
            </a:r>
            <a:r>
              <a:rPr lang="ru-RU" sz="2200" b="1" dirty="0" err="1">
                <a:solidFill>
                  <a:srgbClr val="800000"/>
                </a:solidFill>
                <a:latin typeface="Times New Roman" pitchFamily="18" charset="0"/>
              </a:rPr>
              <a:t>тизимлар</a:t>
            </a:r>
            <a:r>
              <a:rPr lang="ru-RU" sz="2200" b="1" dirty="0">
                <a:solidFill>
                  <a:srgbClr val="800000"/>
                </a:solidFill>
                <a:latin typeface="Times New Roman" pitchFamily="18" charset="0"/>
              </a:rPr>
              <a:t> </a:t>
            </a:r>
            <a:r>
              <a:rPr lang="ru-RU" sz="2200" b="1" dirty="0" err="1">
                <a:solidFill>
                  <a:srgbClr val="800000"/>
                </a:solidFill>
                <a:latin typeface="Times New Roman" pitchFamily="18" charset="0"/>
              </a:rPr>
              <a:t>ва</a:t>
            </a:r>
            <a:r>
              <a:rPr lang="ru-RU" sz="2200" b="1" dirty="0">
                <a:solidFill>
                  <a:srgbClr val="800000"/>
                </a:solidFill>
                <a:latin typeface="Times New Roman" pitchFamily="18" charset="0"/>
              </a:rPr>
              <a:t> а</a:t>
            </a:r>
            <a:r>
              <a:rPr lang="uz-Cyrl-UZ" sz="2200" b="1" dirty="0">
                <a:solidFill>
                  <a:srgbClr val="800000"/>
                </a:solidFill>
                <a:latin typeface="Times New Roman" pitchFamily="18" charset="0"/>
              </a:rPr>
              <a:t>хборот технологиялари маркази</a:t>
            </a:r>
            <a:endParaRPr lang="ru-RU" sz="2200" b="1" dirty="0">
              <a:solidFill>
                <a:srgbClr val="800000"/>
              </a:solidFill>
              <a:latin typeface="Times New Roman" pitchFamily="18" charset="0"/>
            </a:endParaRPr>
          </a:p>
        </p:txBody>
      </p:sp>
      <p:sp>
        <p:nvSpPr>
          <p:cNvPr id="12310" name="Text Box 22"/>
          <p:cNvSpPr txBox="1">
            <a:spLocks noChangeArrowheads="1"/>
          </p:cNvSpPr>
          <p:nvPr/>
        </p:nvSpPr>
        <p:spPr bwMode="auto">
          <a:xfrm>
            <a:off x="3487738" y="6148388"/>
            <a:ext cx="1944687" cy="396875"/>
          </a:xfrm>
          <a:prstGeom prst="rect">
            <a:avLst/>
          </a:prstGeom>
          <a:noFill/>
          <a:ln w="9525">
            <a:noFill/>
            <a:miter lim="800000"/>
            <a:headEnd/>
            <a:tailEnd/>
          </a:ln>
          <a:effectLst>
            <a:prstShdw prst="shdw17" dist="17961" dir="2700000">
              <a:schemeClr val="bg1">
                <a:gamma/>
                <a:shade val="60000"/>
                <a:invGamma/>
                <a:alpha val="50000"/>
              </a:schemeClr>
            </a:prstShdw>
          </a:effectLst>
        </p:spPr>
        <p:txBody>
          <a:bodyPr>
            <a:spAutoFit/>
          </a:bodyPr>
          <a:lstStyle/>
          <a:p>
            <a:pPr algn="ctr">
              <a:defRPr/>
            </a:pPr>
            <a:r>
              <a:rPr lang="uz-Cyrl-UZ" sz="2000" b="1" dirty="0">
                <a:latin typeface="Times New Roman" pitchFamily="18" charset="0"/>
              </a:rPr>
              <a:t>Тошкент - </a:t>
            </a:r>
            <a:r>
              <a:rPr lang="uz-Cyrl-UZ" sz="2000" b="1" dirty="0" smtClean="0">
                <a:latin typeface="Times New Roman" pitchFamily="18" charset="0"/>
              </a:rPr>
              <a:t>201</a:t>
            </a:r>
            <a:r>
              <a:rPr lang="en-US" sz="2000" b="1" dirty="0" smtClean="0">
                <a:latin typeface="Times New Roman" pitchFamily="18" charset="0"/>
              </a:rPr>
              <a:t>9</a:t>
            </a:r>
            <a:endParaRPr lang="ru-RU" sz="2000" b="1" dirty="0">
              <a:latin typeface="Times New Roman" pitchFamily="18" charset="0"/>
            </a:endParaRPr>
          </a:p>
        </p:txBody>
      </p:sp>
      <p:sp>
        <p:nvSpPr>
          <p:cNvPr id="12311" name="Rectangle 23"/>
          <p:cNvSpPr>
            <a:spLocks noChangeArrowheads="1"/>
          </p:cNvSpPr>
          <p:nvPr/>
        </p:nvSpPr>
        <p:spPr bwMode="auto">
          <a:xfrm>
            <a:off x="538164" y="2252889"/>
            <a:ext cx="8086724" cy="2252924"/>
          </a:xfrm>
          <a:prstGeom prst="rect">
            <a:avLst/>
          </a:prstGeom>
          <a:noFill/>
          <a:ln w="9525">
            <a:noFill/>
            <a:miter lim="800000"/>
            <a:headEnd/>
            <a:tailEnd/>
          </a:ln>
          <a:effectLst>
            <a:prstShdw prst="shdw17" dist="17961" dir="2700000">
              <a:schemeClr val="accent1">
                <a:gamma/>
                <a:shade val="60000"/>
                <a:invGamma/>
                <a:alpha val="50000"/>
              </a:schemeClr>
            </a:prstShdw>
          </a:effectLst>
        </p:spPr>
        <p:txBody>
          <a:bodyPr wrap="square" anchor="ctr">
            <a:spAutoFit/>
          </a:bodyPr>
          <a:lstStyle/>
          <a:p>
            <a:pPr algn="ctr" eaLnBrk="0" hangingPunct="0">
              <a:lnSpc>
                <a:spcPct val="130000"/>
              </a:lnSpc>
              <a:defRPr/>
            </a:pPr>
            <a:r>
              <a:rPr lang="uz-Cyrl-UZ" sz="2800" b="1" u="sng" dirty="0" smtClean="0">
                <a:latin typeface="Times New Roman" pitchFamily="18" charset="0"/>
              </a:rPr>
              <a:t>Мавзу</a:t>
            </a:r>
            <a:r>
              <a:rPr lang="uz-Cyrl-UZ" sz="2800" b="1" dirty="0" smtClean="0">
                <a:latin typeface="Times New Roman" pitchFamily="18" charset="0"/>
              </a:rPr>
              <a:t>: </a:t>
            </a:r>
            <a:r>
              <a:rPr lang="en-US" sz="2800" b="1" dirty="0" smtClean="0">
                <a:latin typeface="Times New Roman" pitchFamily="18" charset="0"/>
              </a:rPr>
              <a:t>SP </a:t>
            </a:r>
            <a:r>
              <a:rPr lang="uz-Cyrl-UZ" sz="2800" b="1" dirty="0">
                <a:latin typeface="Times New Roman" pitchFamily="18" charset="0"/>
              </a:rPr>
              <a:t>тармоғига асосланган шифрлаш </a:t>
            </a:r>
            <a:r>
              <a:rPr lang="uz-Cyrl-UZ" sz="2800" b="1" dirty="0" smtClean="0">
                <a:latin typeface="Times New Roman" pitchFamily="18" charset="0"/>
              </a:rPr>
              <a:t>алгоритмларига интеграл криптотаҳлил усулини қўллаш</a:t>
            </a:r>
          </a:p>
          <a:p>
            <a:pPr algn="ctr" eaLnBrk="0" hangingPunct="0">
              <a:lnSpc>
                <a:spcPct val="130000"/>
              </a:lnSpc>
              <a:defRPr/>
            </a:pPr>
            <a:r>
              <a:rPr lang="uz-Cyrl-UZ" sz="2000" dirty="0" smtClean="0">
                <a:latin typeface="Times New Roman" pitchFamily="18" charset="0"/>
              </a:rPr>
              <a:t>(</a:t>
            </a:r>
            <a:r>
              <a:rPr lang="en-US" sz="2000" dirty="0" smtClean="0">
                <a:latin typeface="Times New Roman" pitchFamily="18" charset="0"/>
              </a:rPr>
              <a:t>AES: 2</a:t>
            </a:r>
            <a:r>
              <a:rPr lang="uz-Cyrl-UZ" sz="2000" dirty="0" smtClean="0">
                <a:latin typeface="Times New Roman" pitchFamily="18" charset="0"/>
              </a:rPr>
              <a:t>-қисм)</a:t>
            </a:r>
            <a:endParaRPr lang="uz-Cyrl-UZ" dirty="0">
              <a:latin typeface="Times New Roman" pitchFamily="18" charset="0"/>
            </a:endParaRPr>
          </a:p>
        </p:txBody>
      </p:sp>
      <p:sp>
        <p:nvSpPr>
          <p:cNvPr id="3080" name="Text Box 25"/>
          <p:cNvSpPr txBox="1">
            <a:spLocks noChangeArrowheads="1"/>
          </p:cNvSpPr>
          <p:nvPr/>
        </p:nvSpPr>
        <p:spPr bwMode="auto">
          <a:xfrm>
            <a:off x="2849200" y="1052513"/>
            <a:ext cx="3410677" cy="461665"/>
          </a:xfrm>
          <a:prstGeom prst="rect">
            <a:avLst/>
          </a:prstGeom>
          <a:noFill/>
          <a:ln>
            <a:noFill/>
          </a:ln>
          <a:effectLst>
            <a:prstShdw prst="shdw17" dist="17961" dir="2700000">
              <a:srgbClr val="737373">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itchFamily="34" charset="0"/>
              </a:defRPr>
            </a:lvl1pPr>
            <a:lvl2pPr marL="742950" indent="-285750" eaLnBrk="0" hangingPunct="0">
              <a:defRPr>
                <a:solidFill>
                  <a:schemeClr val="tx1"/>
                </a:solidFill>
                <a:latin typeface="Verdana" pitchFamily="34" charset="0"/>
              </a:defRPr>
            </a:lvl2pPr>
            <a:lvl3pPr marL="1143000" indent="-228600" eaLnBrk="0" hangingPunct="0">
              <a:defRPr>
                <a:solidFill>
                  <a:schemeClr val="tx1"/>
                </a:solidFill>
                <a:latin typeface="Verdana" pitchFamily="34" charset="0"/>
              </a:defRPr>
            </a:lvl3pPr>
            <a:lvl4pPr marL="1600200" indent="-228600" eaLnBrk="0" hangingPunct="0">
              <a:defRPr>
                <a:solidFill>
                  <a:schemeClr val="tx1"/>
                </a:solidFill>
                <a:latin typeface="Verdana" pitchFamily="34" charset="0"/>
              </a:defRPr>
            </a:lvl4pPr>
            <a:lvl5pPr marL="2057400" indent="-228600" eaLnBrk="0" hangingPunct="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eaLnBrk="1" hangingPunct="1"/>
            <a:r>
              <a:rPr lang="uz-Cyrl-UZ" sz="2400" b="1" i="1" u="sng" dirty="0">
                <a:latin typeface="Times New Roman" pitchFamily="18" charset="0"/>
              </a:rPr>
              <a:t>Амалий </a:t>
            </a:r>
            <a:r>
              <a:rPr lang="uz-Cyrl-UZ" sz="2400" b="1" i="1" u="sng" dirty="0" smtClean="0">
                <a:latin typeface="Times New Roman" pitchFamily="18" charset="0"/>
              </a:rPr>
              <a:t>криптотаҳлил</a:t>
            </a:r>
            <a:endParaRPr lang="ru-RU" sz="2400" b="1" i="1" u="sng" dirty="0">
              <a:latin typeface="Times New Roman" pitchFamily="18" charset="0"/>
            </a:endParaRPr>
          </a:p>
        </p:txBody>
      </p:sp>
    </p:spTree>
    <p:extLst>
      <p:ext uri="{BB962C8B-B14F-4D97-AF65-F5344CB8AC3E}">
        <p14:creationId xmlns:p14="http://schemas.microsoft.com/office/powerpoint/2010/main" val="2545383962"/>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1"/>
          <p:cNvSpPr txBox="1">
            <a:spLocks/>
          </p:cNvSpPr>
          <p:nvPr/>
        </p:nvSpPr>
        <p:spPr>
          <a:xfrm>
            <a:off x="228600" y="87415"/>
            <a:ext cx="8686800" cy="441160"/>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tIns="0" bIns="0" anchor="ctr"/>
          <a:lstStyle/>
          <a:p>
            <a:pPr indent="357188" algn="ctr" defTabSz="755650">
              <a:lnSpc>
                <a:spcPct val="90000"/>
              </a:lnSpc>
              <a:spcBef>
                <a:spcPct val="15000"/>
              </a:spcBef>
              <a:spcAft>
                <a:spcPct val="50000"/>
              </a:spcAft>
              <a:buSzPct val="130000"/>
              <a:tabLst>
                <a:tab pos="446088" algn="l"/>
              </a:tabLst>
              <a:defRPr/>
            </a:pPr>
            <a:r>
              <a:rPr lang="uz-Cyrl-UZ" sz="2100" b="1" dirty="0" smtClean="0">
                <a:solidFill>
                  <a:schemeClr val="tx1"/>
                </a:solidFill>
                <a:latin typeface="Times New Roman" pitchFamily="18" charset="0"/>
                <a:cs typeface="Times New Roman" pitchFamily="18" charset="0"/>
              </a:rPr>
              <a:t>AES шифрлаш алгоритми учун интеграл криптотаҳлил усули</a:t>
            </a:r>
            <a:endParaRPr lang="ru-RU" sz="2100" b="1" dirty="0">
              <a:solidFill>
                <a:schemeClr val="tx1"/>
              </a:solidFill>
              <a:latin typeface="Times New Roman" pitchFamily="18" charset="0"/>
              <a:cs typeface="Times New Roman" pitchFamily="18" charset="0"/>
            </a:endParaRPr>
          </a:p>
        </p:txBody>
      </p:sp>
      <p:sp>
        <p:nvSpPr>
          <p:cNvPr id="4" name="Объект 3"/>
          <p:cNvSpPr txBox="1">
            <a:spLocks/>
          </p:cNvSpPr>
          <p:nvPr/>
        </p:nvSpPr>
        <p:spPr>
          <a:xfrm>
            <a:off x="1223628" y="692696"/>
            <a:ext cx="7056784" cy="3816424"/>
          </a:xfrm>
          <a:prstGeom prst="rect">
            <a:avLst/>
          </a:prstGeom>
        </p:spPr>
        <p:style>
          <a:lnRef idx="2">
            <a:schemeClr val="dk1"/>
          </a:lnRef>
          <a:fillRef idx="1001">
            <a:schemeClr val="lt2"/>
          </a:fillRef>
          <a:effectRef idx="0">
            <a:schemeClr val="dk1"/>
          </a:effectRef>
          <a:fontRef idx="minor">
            <a:schemeClr val="dk1"/>
          </a:fontRef>
        </p:style>
        <p:txBody>
          <a:bodyPr>
            <a:noAutofit/>
          </a:bodyPr>
          <a:lstStyle/>
          <a:p>
            <a:pPr marL="1588" marR="0" lvl="0" indent="355600" algn="just" defTabSz="914400" rtl="0" eaLnBrk="1" fontAlgn="auto" latinLnBrk="0" hangingPunct="1">
              <a:lnSpc>
                <a:spcPct val="100000"/>
              </a:lnSpc>
              <a:spcBef>
                <a:spcPct val="20000"/>
              </a:spcBef>
              <a:spcAft>
                <a:spcPts val="0"/>
              </a:spcAft>
              <a:buClr>
                <a:schemeClr val="bg1"/>
              </a:buClr>
              <a:buSzTx/>
              <a:buFont typeface="Arial" pitchFamily="34" charset="0"/>
              <a:buNone/>
              <a:tabLst/>
              <a:defRPr/>
            </a:pPr>
            <a:r>
              <a:rPr kumimoji="0" lang="uz-Cyrl-UZ" sz="2000" b="1" i="0" u="sng" strike="noStrike" kern="1200" cap="none" spc="0" normalizeH="0" baseline="0" noProof="0" dirty="0" smtClean="0">
                <a:ln>
                  <a:noFill/>
                </a:ln>
                <a:solidFill>
                  <a:schemeClr val="tx1"/>
                </a:solidFill>
                <a:effectLst/>
                <a:uLnTx/>
                <a:uFillTx/>
                <a:latin typeface="Times New Roman" panose="02020603050405020304" pitchFamily="18" charset="0"/>
                <a:cs typeface="Times New Roman" panose="02020603050405020304" pitchFamily="18" charset="0"/>
              </a:rPr>
              <a:t>AES симметрик шифрлаш алгоритми:</a:t>
            </a:r>
            <a:endParaRPr kumimoji="0" lang="ru-RU" sz="2000" b="1" i="1" u="sng"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ndParaRPr>
          </a:p>
          <a:p>
            <a:pPr marL="92075" marR="0" lvl="0" indent="266700" algn="just" defTabSz="914400" rtl="0" eaLnBrk="1" fontAlgn="auto" latinLnBrk="0" hangingPunct="1">
              <a:lnSpc>
                <a:spcPct val="100000"/>
              </a:lnSpc>
              <a:spcBef>
                <a:spcPct val="20000"/>
              </a:spcBef>
              <a:spcAft>
                <a:spcPts val="0"/>
              </a:spcAft>
              <a:buClr>
                <a:schemeClr val="tx2"/>
              </a:buClr>
              <a:buSzTx/>
              <a:buFont typeface="Wingdings" pitchFamily="2" charset="2"/>
              <a:buChar char="Ш"/>
              <a:tabLst/>
              <a:defRPr/>
            </a:pPr>
            <a:r>
              <a:rPr kumimoji="0" lang="ru-RU" sz="2000" b="0" i="1" u="none" strike="noStrike" kern="1200" cap="none" spc="0" normalizeH="0" baseline="0" noProof="0" dirty="0" smtClean="0">
                <a:ln>
                  <a:noFill/>
                </a:ln>
                <a:solidFill>
                  <a:schemeClr val="tx1"/>
                </a:solidFill>
                <a:effectLst/>
                <a:uLnTx/>
                <a:uFillTx/>
                <a:latin typeface="Times New Roman" pitchFamily="18" charset="0"/>
              </a:rPr>
              <a:t>итерация </a:t>
            </a:r>
            <a:r>
              <a:rPr kumimoji="0" lang="ru-RU" sz="2000" b="0" i="1" u="none" strike="noStrike" kern="1200" cap="none" spc="0" normalizeH="0" baseline="0" noProof="0" dirty="0" err="1" smtClean="0">
                <a:ln>
                  <a:noFill/>
                </a:ln>
                <a:solidFill>
                  <a:schemeClr val="tx1"/>
                </a:solidFill>
                <a:effectLst/>
                <a:uLnTx/>
                <a:uFillTx/>
                <a:latin typeface="Times New Roman" pitchFamily="18" charset="0"/>
              </a:rPr>
              <a:t>тармо</a:t>
            </a:r>
            <a:r>
              <a:rPr kumimoji="0" lang="uz-Cyrl-UZ" sz="2000" b="0" i="1" u="none" strike="noStrike" kern="1200" cap="none" spc="0" normalizeH="0" baseline="0" noProof="0" dirty="0" smtClean="0">
                <a:ln>
                  <a:noFill/>
                </a:ln>
                <a:solidFill>
                  <a:schemeClr val="tx1"/>
                </a:solidFill>
                <a:effectLst/>
                <a:uLnTx/>
                <a:uFillTx/>
                <a:latin typeface="Times New Roman" pitchFamily="18" charset="0"/>
              </a:rPr>
              <a:t>ғи  </a:t>
            </a:r>
            <a:r>
              <a:rPr kumimoji="0" lang="en-US" sz="2000" b="0" i="1" u="none" strike="noStrike" kern="1200" cap="none" spc="0" normalizeH="0" baseline="0" noProof="0" dirty="0" smtClean="0">
                <a:ln>
                  <a:noFill/>
                </a:ln>
                <a:solidFill>
                  <a:schemeClr val="tx1"/>
                </a:solidFill>
                <a:effectLst/>
                <a:uLnTx/>
                <a:uFillTx/>
                <a:latin typeface="Times New Roman" pitchFamily="18" charset="0"/>
              </a:rPr>
              <a:t>- </a:t>
            </a:r>
            <a:r>
              <a:rPr kumimoji="0" lang="en-US" sz="2000" b="0" i="1" u="none" strike="noStrike" kern="1200" cap="none" spc="0" normalizeH="0" baseline="0" noProof="0" dirty="0" smtClean="0">
                <a:ln>
                  <a:noFill/>
                </a:ln>
                <a:solidFill>
                  <a:srgbClr val="C00000"/>
                </a:solidFill>
                <a:effectLst/>
                <a:uLnTx/>
                <a:uFillTx/>
                <a:latin typeface="Times New Roman" pitchFamily="18" charset="0"/>
              </a:rPr>
              <a:t>SP</a:t>
            </a:r>
            <a:r>
              <a:rPr kumimoji="0" lang="en-US" sz="2000" b="0" i="1" u="none" strike="noStrike" kern="1200" cap="none" spc="0" normalizeH="0" baseline="0" noProof="0" dirty="0" smtClean="0">
                <a:ln>
                  <a:noFill/>
                </a:ln>
                <a:solidFill>
                  <a:schemeClr val="tx1"/>
                </a:solidFill>
                <a:effectLst/>
                <a:uLnTx/>
                <a:uFillTx/>
                <a:latin typeface="Times New Roman" pitchFamily="18" charset="0"/>
              </a:rPr>
              <a:t>; </a:t>
            </a:r>
            <a:endParaRPr kumimoji="0" lang="ru-RU" sz="2000" b="0" i="1" u="none" strike="noStrike" kern="1200" cap="none" spc="0" normalizeH="0" baseline="0" noProof="0" dirty="0" smtClean="0">
              <a:ln>
                <a:noFill/>
              </a:ln>
              <a:solidFill>
                <a:schemeClr val="tx1"/>
              </a:solidFill>
              <a:effectLst/>
              <a:uLnTx/>
              <a:uFillTx/>
              <a:latin typeface="Times New Roman" pitchFamily="18" charset="0"/>
            </a:endParaRPr>
          </a:p>
          <a:p>
            <a:pPr marL="92075" marR="0" lvl="0" indent="266700" algn="just" defTabSz="914400" rtl="0" eaLnBrk="1" fontAlgn="auto" latinLnBrk="0" hangingPunct="1">
              <a:lnSpc>
                <a:spcPct val="100000"/>
              </a:lnSpc>
              <a:spcBef>
                <a:spcPct val="20000"/>
              </a:spcBef>
              <a:spcAft>
                <a:spcPts val="0"/>
              </a:spcAft>
              <a:buClr>
                <a:schemeClr val="tx2"/>
              </a:buClr>
              <a:buSzTx/>
              <a:buFont typeface="Wingdings" pitchFamily="2" charset="2"/>
              <a:buChar char="Ш"/>
              <a:tabLst/>
              <a:defRPr/>
            </a:pPr>
            <a:r>
              <a:rPr kumimoji="0" lang="ru-RU" sz="2000" b="0" i="1" u="none" strike="noStrike" kern="1200" cap="none" spc="0" normalizeH="0" baseline="0" noProof="0" dirty="0" err="1" smtClean="0">
                <a:ln>
                  <a:noFill/>
                </a:ln>
                <a:solidFill>
                  <a:schemeClr val="tx1"/>
                </a:solidFill>
                <a:effectLst/>
                <a:uLnTx/>
                <a:uFillTx/>
                <a:latin typeface="Times New Roman" pitchFamily="18" charset="0"/>
              </a:rPr>
              <a:t>кириш</a:t>
            </a:r>
            <a:r>
              <a:rPr kumimoji="0" lang="ru-RU" sz="2000" b="0" i="1" u="none" strike="noStrike" kern="1200" cap="none" spc="0" normalizeH="0" baseline="0" noProof="0" dirty="0" smtClean="0">
                <a:ln>
                  <a:noFill/>
                </a:ln>
                <a:solidFill>
                  <a:schemeClr val="tx1"/>
                </a:solidFill>
                <a:effectLst/>
                <a:uLnTx/>
                <a:uFillTx/>
                <a:latin typeface="Times New Roman" pitchFamily="18" charset="0"/>
              </a:rPr>
              <a:t> </a:t>
            </a:r>
            <a:r>
              <a:rPr kumimoji="0" lang="uz-Cyrl-UZ" sz="2000" b="0" i="1" u="none" strike="noStrike" kern="1200" cap="none" spc="0" normalizeH="0" baseline="0" noProof="0" dirty="0" smtClean="0">
                <a:ln>
                  <a:noFill/>
                </a:ln>
                <a:solidFill>
                  <a:schemeClr val="tx1"/>
                </a:solidFill>
                <a:effectLst/>
                <a:uLnTx/>
                <a:uFillTx/>
                <a:latin typeface="Times New Roman" pitchFamily="18" charset="0"/>
              </a:rPr>
              <a:t>блок</a:t>
            </a:r>
            <a:r>
              <a:rPr kumimoji="0" lang="uz-Cyrl-UZ" sz="2000" b="0" i="0" u="none" strike="noStrike" kern="1200" cap="none" spc="0" normalizeH="0" baseline="0" noProof="0" dirty="0" smtClean="0">
                <a:ln>
                  <a:noFill/>
                </a:ln>
                <a:solidFill>
                  <a:schemeClr val="tx1"/>
                </a:solidFill>
                <a:effectLst/>
                <a:uLnTx/>
                <a:uFillTx/>
                <a:latin typeface="Times New Roman" pitchFamily="18" charset="0"/>
              </a:rPr>
              <a:t> </a:t>
            </a:r>
            <a:r>
              <a:rPr kumimoji="0" lang="uz-Cyrl-UZ" sz="2000" b="0" i="1" u="none" strike="noStrike" kern="1200" cap="none" spc="0" normalizeH="0" baseline="0" noProof="0" dirty="0" smtClean="0">
                <a:ln>
                  <a:noFill/>
                </a:ln>
                <a:solidFill>
                  <a:schemeClr val="tx1"/>
                </a:solidFill>
                <a:effectLst/>
                <a:uLnTx/>
                <a:uFillTx/>
                <a:latin typeface="Times New Roman" pitchFamily="18" charset="0"/>
              </a:rPr>
              <a:t>узунлиги – </a:t>
            </a:r>
            <a:r>
              <a:rPr kumimoji="0" lang="uz-Cyrl-UZ" sz="2000" b="0" i="1" u="none" strike="noStrike" kern="1200" cap="none" spc="0" normalizeH="0" baseline="0" noProof="0" dirty="0" smtClean="0">
                <a:ln>
                  <a:noFill/>
                </a:ln>
                <a:solidFill>
                  <a:srgbClr val="C00000"/>
                </a:solidFill>
                <a:effectLst/>
                <a:uLnTx/>
                <a:uFillTx/>
                <a:latin typeface="Times New Roman" pitchFamily="18" charset="0"/>
              </a:rPr>
              <a:t>128 бит</a:t>
            </a:r>
            <a:r>
              <a:rPr kumimoji="0" lang="en-US" sz="2000" b="0" i="1" u="none" strike="noStrike" kern="1200" cap="none" spc="0" normalizeH="0" baseline="0" noProof="0" dirty="0" smtClean="0">
                <a:ln>
                  <a:noFill/>
                </a:ln>
                <a:solidFill>
                  <a:schemeClr val="tx1"/>
                </a:solidFill>
                <a:effectLst/>
                <a:uLnTx/>
                <a:uFillTx/>
                <a:latin typeface="Times New Roman" pitchFamily="18" charset="0"/>
              </a:rPr>
              <a:t>;</a:t>
            </a:r>
            <a:r>
              <a:rPr kumimoji="0" lang="uz-Cyrl-UZ" sz="2000" b="0" i="1" u="none" strike="noStrike" kern="1200" cap="none" spc="0" normalizeH="0" baseline="0" noProof="0" dirty="0" smtClean="0">
                <a:ln>
                  <a:noFill/>
                </a:ln>
                <a:solidFill>
                  <a:schemeClr val="tx1"/>
                </a:solidFill>
                <a:effectLst/>
                <a:uLnTx/>
                <a:uFillTx/>
                <a:latin typeface="Times New Roman" pitchFamily="18" charset="0"/>
              </a:rPr>
              <a:t> </a:t>
            </a:r>
            <a:endParaRPr kumimoji="0" lang="en-US" sz="2000" b="0" i="1" u="none" strike="noStrike" kern="1200" cap="none" spc="0" normalizeH="0" baseline="0" noProof="0" dirty="0" smtClean="0">
              <a:ln>
                <a:noFill/>
              </a:ln>
              <a:solidFill>
                <a:schemeClr val="tx1"/>
              </a:solidFill>
              <a:effectLst/>
              <a:uLnTx/>
              <a:uFillTx/>
              <a:latin typeface="Times New Roman" pitchFamily="18" charset="0"/>
            </a:endParaRPr>
          </a:p>
          <a:p>
            <a:pPr marL="92075" marR="0" lvl="0" indent="266700" algn="l" defTabSz="914400" rtl="0" eaLnBrk="1" fontAlgn="auto" latinLnBrk="0" hangingPunct="1">
              <a:lnSpc>
                <a:spcPct val="100000"/>
              </a:lnSpc>
              <a:spcBef>
                <a:spcPct val="20000"/>
              </a:spcBef>
              <a:spcAft>
                <a:spcPts val="0"/>
              </a:spcAft>
              <a:buClr>
                <a:schemeClr val="tx2"/>
              </a:buClr>
              <a:buSzTx/>
              <a:buFont typeface="Wingdings" pitchFamily="2" charset="2"/>
              <a:buChar char="Ш"/>
              <a:tabLst/>
              <a:defRPr/>
            </a:pPr>
            <a:r>
              <a:rPr kumimoji="0" lang="uz-Cyrl-UZ" sz="2000" b="0" i="1" u="none" strike="noStrike" kern="1200" cap="none" spc="0" normalizeH="0" baseline="0" noProof="0" dirty="0" smtClean="0">
                <a:ln>
                  <a:noFill/>
                </a:ln>
                <a:solidFill>
                  <a:schemeClr val="tx1"/>
                </a:solidFill>
                <a:effectLst/>
                <a:uLnTx/>
                <a:uFillTx/>
                <a:latin typeface="Times New Roman" pitchFamily="18" charset="0"/>
              </a:rPr>
              <a:t>фойдаланилган акслантиришлар</a:t>
            </a:r>
            <a:r>
              <a:rPr kumimoji="0" lang="en-US" sz="2000" b="0" i="1" u="none" strike="noStrike" kern="1200" cap="none" spc="0" normalizeH="0" baseline="0" noProof="0" dirty="0" smtClean="0">
                <a:ln>
                  <a:noFill/>
                </a:ln>
                <a:solidFill>
                  <a:schemeClr val="tx1"/>
                </a:solidFill>
                <a:effectLst/>
                <a:uLnTx/>
                <a:uFillTx/>
                <a:latin typeface="Times New Roman" pitchFamily="18" charset="0"/>
              </a:rPr>
              <a:t>:</a:t>
            </a:r>
            <a:endParaRPr kumimoji="0" lang="uz-Cyrl-UZ" sz="2000" b="0" i="1" u="none" strike="noStrike" kern="1200" cap="none" spc="0" normalizeH="0" baseline="0" noProof="0" dirty="0" smtClean="0">
              <a:ln>
                <a:noFill/>
              </a:ln>
              <a:solidFill>
                <a:schemeClr val="tx1"/>
              </a:solidFill>
              <a:effectLst/>
              <a:uLnTx/>
              <a:uFillTx/>
              <a:latin typeface="Times New Roman" pitchFamily="18" charset="0"/>
            </a:endParaRPr>
          </a:p>
          <a:p>
            <a:pPr marL="892175" lvl="2" indent="266700">
              <a:spcBef>
                <a:spcPct val="20000"/>
              </a:spcBef>
              <a:buClr>
                <a:schemeClr val="tx2"/>
              </a:buClr>
              <a:buFont typeface="Courier New" pitchFamily="49" charset="0"/>
              <a:buChar char="o"/>
            </a:pPr>
            <a:r>
              <a:rPr lang="uz-Cyrl-UZ" sz="2000" i="1" dirty="0" smtClean="0">
                <a:solidFill>
                  <a:srgbClr val="C00000"/>
                </a:solidFill>
                <a:latin typeface="Times New Roman" panose="02020603050405020304" pitchFamily="18" charset="0"/>
                <a:cs typeface="Times New Roman" panose="02020603050405020304" pitchFamily="18" charset="0"/>
              </a:rPr>
              <a:t>SubBytes</a:t>
            </a:r>
            <a:r>
              <a:rPr kumimoji="0" lang="en-US" sz="2000" b="0" i="1" u="none" strike="noStrike" kern="1200" cap="none" spc="0" normalizeH="0" baseline="0" noProof="0" dirty="0" smtClean="0">
                <a:ln>
                  <a:noFill/>
                </a:ln>
                <a:solidFill>
                  <a:schemeClr val="tx1"/>
                </a:solidFill>
                <a:effectLst/>
                <a:uLnTx/>
                <a:uFillTx/>
                <a:latin typeface="Times New Roman" panose="02020603050405020304" pitchFamily="18" charset="0"/>
                <a:cs typeface="Times New Roman" panose="02020603050405020304" pitchFamily="18" charset="0"/>
              </a:rPr>
              <a:t>,</a:t>
            </a:r>
            <a:r>
              <a:rPr kumimoji="0" lang="en-US" sz="2000" b="0" i="1" u="none" strike="noStrike" kern="1200" cap="none" spc="0" normalizeH="0" baseline="0" noProof="0" dirty="0" smtClean="0">
                <a:ln>
                  <a:noFill/>
                </a:ln>
                <a:solidFill>
                  <a:srgbClr val="C00000"/>
                </a:solidFill>
                <a:effectLst/>
                <a:uLnTx/>
                <a:uFillTx/>
                <a:latin typeface="Times New Roman" panose="02020603050405020304" pitchFamily="18" charset="0"/>
                <a:cs typeface="Times New Roman" panose="02020603050405020304" pitchFamily="18" charset="0"/>
              </a:rPr>
              <a:t> </a:t>
            </a:r>
            <a:endParaRPr kumimoji="0" lang="uz-Cyrl-UZ" sz="2000" b="0" i="1" u="none" strike="noStrike" kern="1200" cap="none" spc="0" normalizeH="0" baseline="0" noProof="0" dirty="0" smtClean="0">
              <a:ln>
                <a:noFill/>
              </a:ln>
              <a:solidFill>
                <a:srgbClr val="C00000"/>
              </a:solidFill>
              <a:effectLst/>
              <a:uLnTx/>
              <a:uFillTx/>
              <a:latin typeface="Times New Roman" panose="02020603050405020304" pitchFamily="18" charset="0"/>
              <a:cs typeface="Times New Roman" panose="02020603050405020304" pitchFamily="18" charset="0"/>
            </a:endParaRPr>
          </a:p>
          <a:p>
            <a:pPr marL="892175" marR="0" lvl="2" indent="266700" algn="l" defTabSz="914400" rtl="0" eaLnBrk="1" fontAlgn="auto" latinLnBrk="0" hangingPunct="1">
              <a:lnSpc>
                <a:spcPct val="100000"/>
              </a:lnSpc>
              <a:spcBef>
                <a:spcPct val="20000"/>
              </a:spcBef>
              <a:spcAft>
                <a:spcPts val="0"/>
              </a:spcAft>
              <a:buClr>
                <a:schemeClr val="tx2"/>
              </a:buClr>
              <a:buSzTx/>
              <a:buFont typeface="Courier New" pitchFamily="49" charset="0"/>
              <a:buChar char="o"/>
              <a:tabLst/>
              <a:defRPr/>
            </a:pPr>
            <a:r>
              <a:rPr kumimoji="0" lang="uz-Cyrl-UZ" sz="2000" b="0" i="1" u="none" strike="noStrike" kern="1200" cap="none" spc="0" normalizeH="0" baseline="0" noProof="0" dirty="0" smtClean="0">
                <a:ln>
                  <a:noFill/>
                </a:ln>
                <a:solidFill>
                  <a:srgbClr val="C00000"/>
                </a:solidFill>
                <a:effectLst/>
                <a:uLnTx/>
                <a:uFillTx/>
                <a:latin typeface="Times New Roman" panose="02020603050405020304" pitchFamily="18" charset="0"/>
                <a:cs typeface="Times New Roman" panose="02020603050405020304" pitchFamily="18" charset="0"/>
              </a:rPr>
              <a:t>ShiftRow</a:t>
            </a:r>
            <a:r>
              <a:rPr kumimoji="0" lang="en-US" sz="2000" b="0" i="1" u="none" strike="noStrike" kern="1200" cap="none" spc="0" normalizeH="0" baseline="0" noProof="0" dirty="0" smtClean="0">
                <a:ln>
                  <a:noFill/>
                </a:ln>
                <a:solidFill>
                  <a:srgbClr val="C00000"/>
                </a:solidFill>
                <a:effectLst/>
                <a:uLnTx/>
                <a:uFillTx/>
                <a:latin typeface="Times New Roman" panose="02020603050405020304" pitchFamily="18" charset="0"/>
                <a:cs typeface="Times New Roman" panose="02020603050405020304" pitchFamily="18" charset="0"/>
              </a:rPr>
              <a:t>s</a:t>
            </a:r>
            <a:r>
              <a:rPr kumimoji="0" lang="en-US" sz="2000" b="0" i="1" u="none" strike="noStrike" kern="1200" cap="none" spc="0" normalizeH="0" baseline="0" noProof="0" dirty="0" smtClean="0">
                <a:ln>
                  <a:noFill/>
                </a:ln>
                <a:solidFill>
                  <a:schemeClr val="tx1"/>
                </a:solidFill>
                <a:effectLst/>
                <a:uLnTx/>
                <a:uFillTx/>
                <a:latin typeface="Times New Roman" panose="02020603050405020304" pitchFamily="18" charset="0"/>
                <a:cs typeface="Times New Roman" panose="02020603050405020304" pitchFamily="18" charset="0"/>
              </a:rPr>
              <a:t>,</a:t>
            </a:r>
            <a:r>
              <a:rPr kumimoji="0" lang="en-US" sz="2000" b="0" i="1" u="none" strike="noStrike" kern="1200" cap="none" spc="0" normalizeH="0" baseline="0" noProof="0" dirty="0" smtClean="0">
                <a:ln>
                  <a:noFill/>
                </a:ln>
                <a:solidFill>
                  <a:srgbClr val="C00000"/>
                </a:solidFill>
                <a:effectLst/>
                <a:uLnTx/>
                <a:uFillTx/>
                <a:latin typeface="Times New Roman" panose="02020603050405020304" pitchFamily="18" charset="0"/>
                <a:cs typeface="Times New Roman" panose="02020603050405020304" pitchFamily="18" charset="0"/>
              </a:rPr>
              <a:t> </a:t>
            </a:r>
            <a:endParaRPr kumimoji="0" lang="uz-Cyrl-UZ" sz="2000" b="0" i="1" u="none" strike="noStrike" kern="1200" cap="none" spc="0" normalizeH="0" baseline="0" noProof="0" dirty="0" smtClean="0">
              <a:ln>
                <a:noFill/>
              </a:ln>
              <a:solidFill>
                <a:srgbClr val="C00000"/>
              </a:solidFill>
              <a:effectLst/>
              <a:uLnTx/>
              <a:uFillTx/>
              <a:latin typeface="Times New Roman" panose="02020603050405020304" pitchFamily="18" charset="0"/>
              <a:cs typeface="Times New Roman" panose="02020603050405020304" pitchFamily="18" charset="0"/>
            </a:endParaRPr>
          </a:p>
          <a:p>
            <a:pPr marL="892175" marR="0" lvl="2" indent="266700" algn="l" defTabSz="914400" rtl="0" eaLnBrk="1" fontAlgn="auto" latinLnBrk="0" hangingPunct="1">
              <a:lnSpc>
                <a:spcPct val="100000"/>
              </a:lnSpc>
              <a:spcBef>
                <a:spcPct val="20000"/>
              </a:spcBef>
              <a:spcAft>
                <a:spcPts val="0"/>
              </a:spcAft>
              <a:buClr>
                <a:schemeClr val="tx2"/>
              </a:buClr>
              <a:buSzTx/>
              <a:buFont typeface="Courier New" pitchFamily="49" charset="0"/>
              <a:buChar char="o"/>
              <a:tabLst/>
              <a:defRPr/>
            </a:pPr>
            <a:r>
              <a:rPr kumimoji="0" lang="uz-Cyrl-UZ" sz="2000" b="0" i="1" u="none" strike="noStrike" kern="1200" cap="none" spc="0" normalizeH="0" baseline="0" noProof="0" dirty="0" smtClean="0">
                <a:ln>
                  <a:noFill/>
                </a:ln>
                <a:solidFill>
                  <a:srgbClr val="C00000"/>
                </a:solidFill>
                <a:effectLst/>
                <a:uLnTx/>
                <a:uFillTx/>
                <a:latin typeface="Times New Roman" panose="02020603050405020304" pitchFamily="18" charset="0"/>
                <a:cs typeface="Times New Roman" panose="02020603050405020304" pitchFamily="18" charset="0"/>
              </a:rPr>
              <a:t>MixColumns</a:t>
            </a:r>
            <a:r>
              <a:rPr kumimoji="0" lang="en-US" sz="2000" b="0" i="1" u="none" strike="noStrike" kern="1200" cap="none" spc="0" normalizeH="0" baseline="0" noProof="0" dirty="0" smtClean="0">
                <a:ln>
                  <a:noFill/>
                </a:ln>
                <a:solidFill>
                  <a:schemeClr val="tx1"/>
                </a:solidFill>
                <a:effectLst/>
                <a:uLnTx/>
                <a:uFillTx/>
                <a:latin typeface="Times New Roman" panose="02020603050405020304" pitchFamily="18" charset="0"/>
                <a:cs typeface="Times New Roman" panose="02020603050405020304" pitchFamily="18" charset="0"/>
              </a:rPr>
              <a:t>,</a:t>
            </a:r>
            <a:r>
              <a:rPr kumimoji="0" lang="en-US" sz="2000" b="0" i="1" u="none" strike="noStrike" kern="1200" cap="none" spc="0" normalizeH="0" baseline="0" noProof="0" dirty="0" smtClean="0">
                <a:ln>
                  <a:noFill/>
                </a:ln>
                <a:solidFill>
                  <a:srgbClr val="C00000"/>
                </a:solidFill>
                <a:effectLst/>
                <a:uLnTx/>
                <a:uFillTx/>
                <a:latin typeface="Times New Roman" panose="02020603050405020304" pitchFamily="18" charset="0"/>
                <a:cs typeface="Times New Roman" panose="02020603050405020304" pitchFamily="18" charset="0"/>
              </a:rPr>
              <a:t> </a:t>
            </a:r>
            <a:endParaRPr kumimoji="0" lang="uz-Cyrl-UZ" sz="2000" b="0" i="1" u="none" strike="noStrike" kern="1200" cap="none" spc="0" normalizeH="0" baseline="0" noProof="0" dirty="0" smtClean="0">
              <a:ln>
                <a:noFill/>
              </a:ln>
              <a:solidFill>
                <a:srgbClr val="C00000"/>
              </a:solidFill>
              <a:effectLst/>
              <a:uLnTx/>
              <a:uFillTx/>
              <a:latin typeface="Times New Roman" panose="02020603050405020304" pitchFamily="18" charset="0"/>
              <a:cs typeface="Times New Roman" panose="02020603050405020304" pitchFamily="18" charset="0"/>
            </a:endParaRPr>
          </a:p>
          <a:p>
            <a:pPr marL="892175" marR="0" lvl="2" indent="266700" algn="l" defTabSz="914400" rtl="0" eaLnBrk="1" fontAlgn="auto" latinLnBrk="0" hangingPunct="1">
              <a:lnSpc>
                <a:spcPct val="100000"/>
              </a:lnSpc>
              <a:spcBef>
                <a:spcPct val="20000"/>
              </a:spcBef>
              <a:spcAft>
                <a:spcPts val="0"/>
              </a:spcAft>
              <a:buClr>
                <a:schemeClr val="tx2"/>
              </a:buClr>
              <a:buSzTx/>
              <a:buFont typeface="Courier New" pitchFamily="49" charset="0"/>
              <a:buChar char="o"/>
              <a:tabLst/>
              <a:defRPr/>
            </a:pPr>
            <a:r>
              <a:rPr kumimoji="0" lang="uz-Cyrl-UZ" sz="2000" b="0" i="1" u="none" strike="noStrike" kern="1200" cap="none" spc="0" normalizeH="0" baseline="0" noProof="0" dirty="0" smtClean="0">
                <a:ln>
                  <a:noFill/>
                </a:ln>
                <a:solidFill>
                  <a:srgbClr val="C00000"/>
                </a:solidFill>
                <a:effectLst/>
                <a:uLnTx/>
                <a:uFillTx/>
                <a:latin typeface="Times New Roman" panose="02020603050405020304" pitchFamily="18" charset="0"/>
                <a:cs typeface="Times New Roman" panose="02020603050405020304" pitchFamily="18" charset="0"/>
              </a:rPr>
              <a:t>AddRоundKey</a:t>
            </a:r>
            <a:r>
              <a:rPr kumimoji="0" lang="en-US" sz="2000" b="0" i="1" u="none" strike="noStrike" kern="1200" cap="none" spc="0" normalizeH="0" baseline="0" noProof="0" dirty="0" smtClean="0">
                <a:ln>
                  <a:noFill/>
                </a:ln>
                <a:solidFill>
                  <a:schemeClr val="tx1"/>
                </a:solidFill>
                <a:effectLst/>
                <a:uLnTx/>
                <a:uFillTx/>
                <a:latin typeface="Times New Roman" panose="02020603050405020304" pitchFamily="18" charset="0"/>
                <a:cs typeface="Times New Roman" panose="02020603050405020304" pitchFamily="18" charset="0"/>
              </a:rPr>
              <a:t>;</a:t>
            </a:r>
            <a:r>
              <a:rPr kumimoji="0" lang="uz-Cyrl-UZ" sz="2000" b="0" i="1" u="none" strike="noStrike" kern="1200" cap="none" spc="0" normalizeH="0" baseline="0" noProof="0" dirty="0" smtClean="0">
                <a:ln>
                  <a:noFill/>
                </a:ln>
                <a:solidFill>
                  <a:schemeClr val="tx1"/>
                </a:solidFill>
                <a:effectLst/>
                <a:uLnTx/>
                <a:uFillTx/>
                <a:latin typeface="Times New Roman" panose="02020603050405020304" pitchFamily="18" charset="0"/>
                <a:cs typeface="Times New Roman" panose="02020603050405020304" pitchFamily="18" charset="0"/>
              </a:rPr>
              <a:t> </a:t>
            </a:r>
            <a:endParaRPr kumimoji="0" lang="uz-Cyrl-UZ" sz="2000" b="0" i="1" u="none" strike="noStrike" kern="1200" cap="none" spc="0" normalizeH="0" baseline="0" noProof="0" dirty="0" smtClean="0">
              <a:ln>
                <a:noFill/>
              </a:ln>
              <a:solidFill>
                <a:schemeClr val="tx1"/>
              </a:solidFill>
              <a:effectLst/>
              <a:uLnTx/>
              <a:uFillTx/>
              <a:latin typeface="Times New Roman" pitchFamily="18" charset="0"/>
            </a:endParaRPr>
          </a:p>
          <a:p>
            <a:pPr marL="92075" marR="0" lvl="0" indent="266700" algn="just" defTabSz="914400" rtl="0" eaLnBrk="1" fontAlgn="auto" latinLnBrk="0" hangingPunct="1">
              <a:lnSpc>
                <a:spcPct val="100000"/>
              </a:lnSpc>
              <a:spcBef>
                <a:spcPct val="20000"/>
              </a:spcBef>
              <a:spcAft>
                <a:spcPts val="0"/>
              </a:spcAft>
              <a:buClr>
                <a:schemeClr val="tx2"/>
              </a:buClr>
              <a:buSzTx/>
              <a:buFont typeface="Wingdings" pitchFamily="2" charset="2"/>
              <a:buChar char="Ш"/>
              <a:tabLst/>
              <a:defRPr/>
            </a:pPr>
            <a:r>
              <a:rPr kumimoji="0" lang="uz-Cyrl-UZ" sz="2000" b="0" i="1" u="none" strike="noStrike" kern="1200" cap="none" spc="0" normalizeH="0" baseline="0" noProof="0" dirty="0" smtClean="0">
                <a:ln>
                  <a:noFill/>
                </a:ln>
                <a:solidFill>
                  <a:schemeClr val="tx1"/>
                </a:solidFill>
                <a:effectLst/>
                <a:uLnTx/>
                <a:uFillTx/>
                <a:latin typeface="Times New Roman" pitchFamily="18" charset="0"/>
              </a:rPr>
              <a:t>акслантириш обекти – </a:t>
            </a:r>
          </a:p>
          <a:p>
            <a:pPr marL="92075" marR="0" lvl="0" indent="266700" algn="just" defTabSz="914400" rtl="0" eaLnBrk="1" fontAlgn="auto" latinLnBrk="0" hangingPunct="1">
              <a:lnSpc>
                <a:spcPct val="100000"/>
              </a:lnSpc>
              <a:spcBef>
                <a:spcPct val="20000"/>
              </a:spcBef>
              <a:spcAft>
                <a:spcPts val="0"/>
              </a:spcAft>
              <a:buClr>
                <a:schemeClr val="tx2"/>
              </a:buClr>
              <a:buSzTx/>
              <a:buFont typeface="Arial" pitchFamily="34" charset="0"/>
              <a:buNone/>
              <a:tabLst/>
              <a:defRPr/>
            </a:pPr>
            <a:r>
              <a:rPr kumimoji="0" lang="uz-Cyrl-UZ" sz="2000" b="0" i="1" u="none" strike="noStrike" kern="1200" cap="none" spc="0" normalizeH="0" baseline="0" noProof="0" dirty="0" smtClean="0">
                <a:ln>
                  <a:noFill/>
                </a:ln>
                <a:solidFill>
                  <a:srgbClr val="C00000"/>
                </a:solidFill>
                <a:effectLst/>
                <a:uLnTx/>
                <a:uFillTx/>
                <a:latin typeface="Times New Roman" pitchFamily="18" charset="0"/>
              </a:rPr>
              <a:t>	4</a:t>
            </a:r>
            <a:r>
              <a:rPr kumimoji="0" lang="en-US" sz="2000" b="0" i="1" u="none" strike="noStrike" kern="1200" cap="none" spc="0" normalizeH="0" baseline="0" noProof="0" dirty="0" smtClean="0">
                <a:ln>
                  <a:noFill/>
                </a:ln>
                <a:solidFill>
                  <a:srgbClr val="C00000"/>
                </a:solidFill>
                <a:effectLst/>
                <a:uLnTx/>
                <a:uFillTx/>
                <a:latin typeface="Times New Roman" pitchFamily="18" charset="0"/>
              </a:rPr>
              <a:t>x</a:t>
            </a:r>
            <a:r>
              <a:rPr kumimoji="0" lang="ru-RU" sz="2000" b="0" i="1" u="none" strike="noStrike" kern="1200" cap="none" spc="0" normalizeH="0" baseline="0" noProof="0" dirty="0" smtClean="0">
                <a:ln>
                  <a:noFill/>
                </a:ln>
                <a:solidFill>
                  <a:srgbClr val="C00000"/>
                </a:solidFill>
                <a:effectLst/>
                <a:uLnTx/>
                <a:uFillTx/>
                <a:latin typeface="Times New Roman" pitchFamily="18" charset="0"/>
              </a:rPr>
              <a:t>4</a:t>
            </a:r>
            <a:r>
              <a:rPr kumimoji="0" lang="en-US" sz="2000" b="0" i="1" u="none" strike="noStrike" kern="1200" cap="none" spc="0" normalizeH="0" baseline="0" noProof="0" dirty="0" smtClean="0">
                <a:ln>
                  <a:noFill/>
                </a:ln>
                <a:solidFill>
                  <a:srgbClr val="C00000"/>
                </a:solidFill>
                <a:effectLst/>
                <a:uLnTx/>
                <a:uFillTx/>
                <a:latin typeface="Times New Roman" pitchFamily="18" charset="0"/>
              </a:rPr>
              <a:t> </a:t>
            </a:r>
            <a:r>
              <a:rPr kumimoji="0" lang="uz-Cyrl-UZ" sz="2000" b="0" i="1" u="none" strike="noStrike" kern="1200" cap="none" spc="0" normalizeH="0" baseline="0" noProof="0" dirty="0" smtClean="0">
                <a:ln>
                  <a:noFill/>
                </a:ln>
                <a:solidFill>
                  <a:srgbClr val="C00000"/>
                </a:solidFill>
                <a:effectLst/>
                <a:uLnTx/>
                <a:uFillTx/>
                <a:latin typeface="Times New Roman" pitchFamily="18" charset="0"/>
              </a:rPr>
              <a:t>ўлчамли ҳолат жадвали</a:t>
            </a:r>
            <a:r>
              <a:rPr kumimoji="0" lang="en-US" sz="2000" b="0" i="1" u="none" strike="noStrike" kern="1200" cap="none" spc="0" normalizeH="0" baseline="0" noProof="0" dirty="0" smtClean="0">
                <a:ln>
                  <a:noFill/>
                </a:ln>
                <a:solidFill>
                  <a:schemeClr val="tx1"/>
                </a:solidFill>
                <a:effectLst/>
                <a:uLnTx/>
                <a:uFillTx/>
                <a:latin typeface="Times New Roman" pitchFamily="18" charset="0"/>
              </a:rPr>
              <a:t>;</a:t>
            </a:r>
            <a:endParaRPr kumimoji="0" lang="uz-Cyrl-UZ" sz="2000" b="0" i="1" u="none" strike="noStrike" kern="1200" cap="none" spc="0" normalizeH="0" baseline="0" noProof="0" dirty="0" smtClean="0">
              <a:ln>
                <a:noFill/>
              </a:ln>
              <a:solidFill>
                <a:schemeClr val="tx1"/>
              </a:solidFill>
              <a:effectLst/>
              <a:uLnTx/>
              <a:uFillTx/>
              <a:latin typeface="Times New Roman" pitchFamily="18" charset="0"/>
            </a:endParaRPr>
          </a:p>
        </p:txBody>
      </p:sp>
      <p:sp>
        <p:nvSpPr>
          <p:cNvPr id="7" name="Прямоугольник 6"/>
          <p:cNvSpPr/>
          <p:nvPr/>
        </p:nvSpPr>
        <p:spPr>
          <a:xfrm>
            <a:off x="123056" y="4797152"/>
            <a:ext cx="8897888" cy="1569660"/>
          </a:xfrm>
          <a:prstGeom prst="rect">
            <a:avLst/>
          </a:prstGeom>
        </p:spPr>
        <p:style>
          <a:lnRef idx="2">
            <a:schemeClr val="dk1"/>
          </a:lnRef>
          <a:fillRef idx="1001">
            <a:schemeClr val="lt2"/>
          </a:fillRef>
          <a:effectRef idx="0">
            <a:schemeClr val="dk1"/>
          </a:effectRef>
          <a:fontRef idx="minor">
            <a:schemeClr val="dk1"/>
          </a:fontRef>
        </p:style>
        <p:txBody>
          <a:bodyPr wrap="square">
            <a:spAutoFit/>
          </a:bodyPr>
          <a:lstStyle/>
          <a:p>
            <a:pPr indent="360363" algn="just"/>
            <a:r>
              <a:rPr lang="uz-Cyrl-UZ" sz="2400" dirty="0" smtClean="0">
                <a:latin typeface="Times New Roman" pitchFamily="18" charset="0"/>
                <a:ea typeface="Times New Roman" pitchFamily="18" charset="0"/>
                <a:cs typeface="Times New Roman" pitchFamily="18" charset="0"/>
              </a:rPr>
              <a:t>Криптотаҳлил жараёнининг асосида, танлаб олинган тўплам хусусиятини шифрлаш алгоритми раундларидан ўтганда қандай ўзгаришини (</a:t>
            </a:r>
            <a:r>
              <a:rPr lang="uz-Cyrl-UZ" sz="2400" b="1" dirty="0" smtClean="0">
                <a:latin typeface="Times New Roman" pitchFamily="18" charset="0"/>
                <a:ea typeface="Times New Roman" pitchFamily="18" charset="0"/>
                <a:cs typeface="Times New Roman" pitchFamily="18" charset="0"/>
              </a:rPr>
              <a:t>актив</a:t>
            </a:r>
            <a:r>
              <a:rPr lang="uz-Cyrl-UZ" sz="2400" dirty="0" smtClean="0">
                <a:latin typeface="Times New Roman" pitchFamily="18" charset="0"/>
                <a:ea typeface="Times New Roman" pitchFamily="18" charset="0"/>
                <a:cs typeface="Times New Roman" pitchFamily="18" charset="0"/>
              </a:rPr>
              <a:t>, </a:t>
            </a:r>
            <a:r>
              <a:rPr lang="uz-Cyrl-UZ" sz="2400" b="1" dirty="0" smtClean="0">
                <a:latin typeface="Times New Roman" pitchFamily="18" charset="0"/>
                <a:ea typeface="Times New Roman" pitchFamily="18" charset="0"/>
                <a:cs typeface="Times New Roman" pitchFamily="18" charset="0"/>
              </a:rPr>
              <a:t>пассив</a:t>
            </a:r>
            <a:r>
              <a:rPr lang="uz-Cyrl-UZ" sz="2400" dirty="0" smtClean="0">
                <a:latin typeface="Times New Roman" pitchFamily="18" charset="0"/>
                <a:ea typeface="Times New Roman" pitchFamily="18" charset="0"/>
                <a:cs typeface="Times New Roman" pitchFamily="18" charset="0"/>
              </a:rPr>
              <a:t>, </a:t>
            </a:r>
            <a:r>
              <a:rPr lang="uz-Cyrl-UZ" sz="2400" b="1" dirty="0" smtClean="0">
                <a:latin typeface="Times New Roman" pitchFamily="18" charset="0"/>
                <a:ea typeface="Times New Roman" pitchFamily="18" charset="0"/>
                <a:cs typeface="Times New Roman" pitchFamily="18" charset="0"/>
              </a:rPr>
              <a:t>аралаш </a:t>
            </a:r>
            <a:r>
              <a:rPr lang="uz-Cyrl-UZ" sz="2400" dirty="0" smtClean="0">
                <a:latin typeface="Times New Roman" pitchFamily="18" charset="0"/>
                <a:ea typeface="Times New Roman" pitchFamily="18" charset="0"/>
                <a:cs typeface="Times New Roman" pitchFamily="18" charset="0"/>
              </a:rPr>
              <a:t>(актив ҳам эмас пассив ҳам эмас)) аниқлаш ётади.</a:t>
            </a:r>
            <a:endParaRPr lang="ru-RU" sz="2400" dirty="0"/>
          </a:p>
        </p:txBody>
      </p:sp>
    </p:spTree>
    <p:extLst>
      <p:ext uri="{BB962C8B-B14F-4D97-AF65-F5344CB8AC3E}">
        <p14:creationId xmlns:p14="http://schemas.microsoft.com/office/powerpoint/2010/main" val="16084845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61292" y="188640"/>
            <a:ext cx="8839200" cy="2308324"/>
          </a:xfrm>
          <a:prstGeom prst="rect">
            <a:avLst/>
          </a:prstGeom>
          <a:ln>
            <a:headEnd/>
            <a:tailEnd/>
          </a:ln>
        </p:spPr>
        <p:style>
          <a:lnRef idx="2">
            <a:schemeClr val="dk1"/>
          </a:lnRef>
          <a:fillRef idx="1001">
            <a:schemeClr val="lt2"/>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R="0" lvl="0" indent="358775" algn="just" defTabSz="914400" rtl="0" eaLnBrk="0" fontAlgn="base" latinLnBrk="0" hangingPunct="0">
              <a:lnSpc>
                <a:spcPct val="100000"/>
              </a:lnSpc>
              <a:spcBef>
                <a:spcPct val="0"/>
              </a:spcBef>
              <a:spcAft>
                <a:spcPct val="0"/>
              </a:spcAft>
              <a:buClrTx/>
              <a:buSzTx/>
              <a:buFontTx/>
              <a:buNone/>
              <a:tabLst/>
            </a:pPr>
            <a:r>
              <a:rPr kumimoji="0" lang="uz-Cyrl-UZ" sz="2400"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n</a:t>
            </a:r>
            <a:r>
              <a:rPr kumimoji="0" lang="uz-Cyrl-UZ"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раундли AES шифрлаш алгоритмига интеграл криптотаҳлил усулини қўллаб </a:t>
            </a:r>
            <a:r>
              <a:rPr kumimoji="0" lang="en-US" sz="2400"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n</a:t>
            </a:r>
            <a:r>
              <a:rPr kumimoji="0" lang="uz-Cyrl-UZ"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-раунд калитини аниқлашда, энг аввало, таҳлил қилинаётган </a:t>
            </a:r>
            <a:r>
              <a:rPr kumimoji="0" lang="en-US" sz="2400" b="1"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n</a:t>
            </a:r>
            <a:r>
              <a:rPr kumimoji="0" lang="uz-Cyrl-UZ" sz="2400" b="1"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-раундга киришда баланслашган</a:t>
            </a:r>
            <a:r>
              <a:rPr kumimoji="0" lang="uz-Cyrl-UZ"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ва </a:t>
            </a:r>
            <a:r>
              <a:rPr kumimoji="0" lang="en-US" sz="2400" b="1"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n</a:t>
            </a:r>
            <a:r>
              <a:rPr kumimoji="0" lang="uz-Cyrl-UZ" sz="2400" b="1"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-раунддан чиқишда</a:t>
            </a:r>
            <a:r>
              <a:rPr kumimoji="0" lang="uz-Cyrl-UZ"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uz-Cyrl-UZ" sz="2400" b="1"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баланслашмаган</a:t>
            </a:r>
            <a:r>
              <a:rPr kumimoji="0" lang="uz-Cyrl-UZ"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uz-Cyrl-UZ"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тўплам хосил бўлишини таъминлаб берувчи </a:t>
            </a:r>
            <a:r>
              <a:rPr kumimoji="0" lang="uz-Cyrl-UZ" sz="2400" b="0" i="0" u="sng"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очиқ матнлар тўпламини танлаш масаласи</a:t>
            </a:r>
            <a:r>
              <a:rPr kumimoji="0" lang="uz-Cyrl-UZ"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хал этилиши лозим. </a:t>
            </a:r>
            <a:endParaRPr kumimoji="0" lang="ru-RU"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8" name="Прямоугольник 7"/>
          <p:cNvSpPr/>
          <p:nvPr/>
        </p:nvSpPr>
        <p:spPr>
          <a:xfrm>
            <a:off x="165360" y="5381925"/>
            <a:ext cx="8839200" cy="1323439"/>
          </a:xfrm>
          <a:prstGeom prst="rect">
            <a:avLst/>
          </a:prstGeom>
        </p:spPr>
        <p:style>
          <a:lnRef idx="2">
            <a:schemeClr val="dk1"/>
          </a:lnRef>
          <a:fillRef idx="1001">
            <a:schemeClr val="lt2"/>
          </a:fillRef>
          <a:effectRef idx="0">
            <a:schemeClr val="dk1"/>
          </a:effectRef>
          <a:fontRef idx="minor">
            <a:schemeClr val="dk1"/>
          </a:fontRef>
        </p:style>
        <p:txBody>
          <a:bodyPr wrap="square">
            <a:spAutoFit/>
          </a:bodyPr>
          <a:lstStyle/>
          <a:p>
            <a:pPr lvl="0" indent="358775" algn="just" eaLnBrk="0" fontAlgn="base" hangingPunct="0">
              <a:spcBef>
                <a:spcPct val="0"/>
              </a:spcBef>
              <a:spcAft>
                <a:spcPct val="0"/>
              </a:spcAft>
            </a:pPr>
            <a:r>
              <a:rPr lang="uz-Cyrl-UZ" sz="2000" dirty="0" smtClean="0">
                <a:latin typeface="Times New Roman" pitchFamily="18" charset="0"/>
                <a:ea typeface="Times New Roman" pitchFamily="18" charset="0"/>
                <a:cs typeface="Times New Roman" pitchFamily="18" charset="0"/>
              </a:rPr>
              <a:t>AES шифрлаш алгоритмига нисбатан ушбу масалани хал этиш учун, дастлаб алгоритмнинг ҳар бир акслантириши хусусиятларини кўриб чиқиш мақсадга мувофиқ. Шунга кўра қуйида, AES акслантиришларининг турли хил кирувчи тўплам элементларини қандай ўзгартириши келтириб ўтилади.</a:t>
            </a:r>
            <a:endParaRPr lang="uz-Cyrl-UZ" sz="2000" dirty="0" smtClean="0">
              <a:latin typeface="Times New Roman" pitchFamily="18" charset="0"/>
              <a:cs typeface="Times New Roman" pitchFamily="18" charset="0"/>
            </a:endParaRPr>
          </a:p>
        </p:txBody>
      </p:sp>
      <p:sp>
        <p:nvSpPr>
          <p:cNvPr id="2" name="Прямоугольник 1"/>
          <p:cNvSpPr/>
          <p:nvPr/>
        </p:nvSpPr>
        <p:spPr>
          <a:xfrm>
            <a:off x="3059832" y="3645024"/>
            <a:ext cx="2628292"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N - </a:t>
            </a:r>
            <a:r>
              <a:rPr lang="uz-Cyrl-UZ" b="1" dirty="0" smtClean="0">
                <a:solidFill>
                  <a:schemeClr val="tx1"/>
                </a:solidFill>
              </a:rPr>
              <a:t>раунд</a:t>
            </a:r>
            <a:endParaRPr lang="uz-Cyrl-UZ" b="1" dirty="0">
              <a:solidFill>
                <a:schemeClr val="tx1"/>
              </a:solidFill>
            </a:endParaRPr>
          </a:p>
        </p:txBody>
      </p:sp>
      <p:cxnSp>
        <p:nvCxnSpPr>
          <p:cNvPr id="6" name="Прямая со стрелкой 5"/>
          <p:cNvCxnSpPr/>
          <p:nvPr/>
        </p:nvCxnSpPr>
        <p:spPr>
          <a:xfrm>
            <a:off x="4373978" y="3183260"/>
            <a:ext cx="0" cy="468000"/>
          </a:xfrm>
          <a:prstGeom prst="straightConnector1">
            <a:avLst/>
          </a:prstGeom>
          <a:ln w="57150">
            <a:tailEnd type="arrow"/>
          </a:ln>
        </p:spPr>
        <p:style>
          <a:lnRef idx="3">
            <a:schemeClr val="dk1"/>
          </a:lnRef>
          <a:fillRef idx="0">
            <a:schemeClr val="dk1"/>
          </a:fillRef>
          <a:effectRef idx="2">
            <a:schemeClr val="dk1"/>
          </a:effectRef>
          <a:fontRef idx="minor">
            <a:schemeClr val="tx1"/>
          </a:fontRef>
        </p:style>
      </p:cxnSp>
      <p:sp>
        <p:nvSpPr>
          <p:cNvPr id="10" name="Прямоугольник 9"/>
          <p:cNvSpPr/>
          <p:nvPr/>
        </p:nvSpPr>
        <p:spPr>
          <a:xfrm>
            <a:off x="3110632" y="2672916"/>
            <a:ext cx="2628292" cy="5040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2400" b="1" dirty="0" smtClean="0">
                <a:solidFill>
                  <a:schemeClr val="tx1"/>
                </a:solidFill>
              </a:rPr>
              <a:t>Д</a:t>
            </a:r>
            <a:r>
              <a:rPr lang="uz-Cyrl-UZ" sz="2400" b="1" baseline="-25000" dirty="0" smtClean="0">
                <a:solidFill>
                  <a:schemeClr val="tx1"/>
                </a:solidFill>
              </a:rPr>
              <a:t>0</a:t>
            </a:r>
            <a:endParaRPr lang="uz-Cyrl-UZ" sz="2000" b="1" baseline="-25000" dirty="0">
              <a:solidFill>
                <a:schemeClr val="tx1"/>
              </a:solidFill>
            </a:endParaRPr>
          </a:p>
        </p:txBody>
      </p:sp>
      <p:sp>
        <p:nvSpPr>
          <p:cNvPr id="11" name="Прямоугольник 10"/>
          <p:cNvSpPr/>
          <p:nvPr/>
        </p:nvSpPr>
        <p:spPr>
          <a:xfrm>
            <a:off x="3110632" y="4568428"/>
            <a:ext cx="2628292" cy="5040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z-Cyrl-UZ" sz="2400" b="1" dirty="0" smtClean="0">
                <a:solidFill>
                  <a:schemeClr val="tx1"/>
                </a:solidFill>
              </a:rPr>
              <a:t>Д</a:t>
            </a:r>
            <a:r>
              <a:rPr lang="uz-Cyrl-UZ" sz="2400" b="1" baseline="-25000" dirty="0" smtClean="0">
                <a:solidFill>
                  <a:schemeClr val="tx1"/>
                </a:solidFill>
              </a:rPr>
              <a:t>1</a:t>
            </a:r>
            <a:endParaRPr lang="uz-Cyrl-UZ" sz="2400" b="1" baseline="-25000" dirty="0">
              <a:solidFill>
                <a:schemeClr val="tx1"/>
              </a:solidFill>
            </a:endParaRPr>
          </a:p>
        </p:txBody>
      </p:sp>
      <p:cxnSp>
        <p:nvCxnSpPr>
          <p:cNvPr id="12" name="Прямая со стрелкой 11"/>
          <p:cNvCxnSpPr/>
          <p:nvPr/>
        </p:nvCxnSpPr>
        <p:spPr>
          <a:xfrm>
            <a:off x="4373978" y="4149080"/>
            <a:ext cx="0" cy="468000"/>
          </a:xfrm>
          <a:prstGeom prst="straightConnector1">
            <a:avLst/>
          </a:prstGeom>
          <a:ln w="57150">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8248181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ChangeArrowheads="1"/>
          </p:cNvSpPr>
          <p:nvPr/>
        </p:nvSpPr>
        <p:spPr bwMode="auto">
          <a:xfrm>
            <a:off x="152400" y="714179"/>
            <a:ext cx="8839200" cy="2246769"/>
          </a:xfrm>
          <a:prstGeom prst="rect">
            <a:avLst/>
          </a:prstGeom>
          <a:ln>
            <a:headEnd/>
            <a:tailEnd/>
          </a:ln>
        </p:spPr>
        <p:style>
          <a:lnRef idx="2">
            <a:schemeClr val="dk1"/>
          </a:lnRef>
          <a:fillRef idx="1001">
            <a:schemeClr val="lt2"/>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449263" algn="just" defTabSz="914400" rtl="0" eaLnBrk="1" fontAlgn="base" latinLnBrk="0" hangingPunct="1">
              <a:lnSpc>
                <a:spcPct val="100000"/>
              </a:lnSpc>
              <a:spcBef>
                <a:spcPct val="0"/>
              </a:spcBef>
              <a:spcAft>
                <a:spcPct val="0"/>
              </a:spcAft>
              <a:buClrTx/>
              <a:buSzTx/>
              <a:buFontTx/>
              <a:buNone/>
              <a:tabLst/>
            </a:pPr>
            <a:r>
              <a:rPr kumimoji="0" lang="uz-Cyrl-UZ" sz="2000" b="1"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SubBytes </a:t>
            </a:r>
            <a:r>
              <a:rPr lang="en-US" sz="2000" dirty="0" smtClean="0">
                <a:solidFill>
                  <a:schemeClr val="tx1"/>
                </a:solidFill>
                <a:latin typeface="Times New Roman" pitchFamily="18" charset="0"/>
                <a:ea typeface="Times New Roman" pitchFamily="18" charset="0"/>
                <a:cs typeface="Times New Roman" pitchFamily="18" charset="0"/>
              </a:rPr>
              <a:t>– </a:t>
            </a: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холат массиви элементларини (байт) бир-бирига боғлиқсиз тарзда акслантиришни амалга оширади. Криптотаҳлил жараёнида кузатилаётган тўпламга нисбатан холат массивининг ҳар бир элементи ёки </a:t>
            </a:r>
            <a:r>
              <a:rPr kumimoji="0" lang="uz-Cyrl-UZ"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А</a:t>
            </a: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 актив (А</a:t>
            </a:r>
            <a:r>
              <a:rPr kumimoji="0" lang="uz-Cyrl-UZ" sz="2000" b="0" i="0" u="none" strike="noStrike" cap="none" normalizeH="0" baseline="-30000" dirty="0" smtClean="0">
                <a:ln>
                  <a:noFill/>
                </a:ln>
                <a:solidFill>
                  <a:schemeClr val="tx1"/>
                </a:solidFill>
                <a:effectLst/>
                <a:latin typeface="Times New Roman" pitchFamily="18" charset="0"/>
                <a:ea typeface="Times New Roman" pitchFamily="18" charset="0"/>
                <a:cs typeface="Times New Roman" pitchFamily="18" charset="0"/>
              </a:rPr>
              <a:t>i</a:t>
            </a:r>
            <a:r>
              <a:rPr kumimoji="0" lang="uz-Cyrl-UZ"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агар ташкил этувчилари турли тартибда жойлашган бўлса) ёки </a:t>
            </a:r>
            <a:r>
              <a:rPr kumimoji="0" lang="uz-Cyrl-UZ"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П</a:t>
            </a: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 пассив ёки </a:t>
            </a:r>
            <a:r>
              <a:rPr kumimoji="0" lang="uz-Cyrl-UZ"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Д</a:t>
            </a: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 аралаш (Д</a:t>
            </a:r>
            <a:r>
              <a:rPr kumimoji="0" lang="uz-Cyrl-UZ" sz="2000" b="0" i="0" u="none" strike="noStrike" cap="none" normalizeH="0" baseline="-30000" dirty="0" smtClean="0">
                <a:ln>
                  <a:noFill/>
                </a:ln>
                <a:solidFill>
                  <a:schemeClr val="tx1"/>
                </a:solidFill>
                <a:effectLst/>
                <a:latin typeface="Times New Roman" pitchFamily="18" charset="0"/>
                <a:ea typeface="Times New Roman" pitchFamily="18" charset="0"/>
                <a:cs typeface="Times New Roman" pitchFamily="18" charset="0"/>
              </a:rPr>
              <a:t>0 </a:t>
            </a: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баланслашган бўлса, Д</a:t>
            </a:r>
            <a:r>
              <a:rPr kumimoji="0" lang="uz-Cyrl-UZ" sz="2000" b="0" i="0" u="none" strike="noStrike" cap="none" normalizeH="0" baseline="-30000" dirty="0" smtClean="0">
                <a:ln>
                  <a:noFill/>
                </a:ln>
                <a:solidFill>
                  <a:schemeClr val="tx1"/>
                </a:solidFill>
                <a:effectLst/>
                <a:latin typeface="Times New Roman" pitchFamily="18" charset="0"/>
                <a:ea typeface="Times New Roman" pitchFamily="18" charset="0"/>
                <a:cs typeface="Times New Roman" pitchFamily="18" charset="0"/>
              </a:rPr>
              <a:t>1 </a:t>
            </a: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баланслашмаган бўлса)</a:t>
            </a:r>
            <a:r>
              <a:rPr kumimoji="0" lang="uz-Cyrl-UZ"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элемент бўлади. Шунга кўра, тўплам элементининг ҳар бир холати учун </a:t>
            </a:r>
            <a:r>
              <a:rPr kumimoji="0" lang="uz-Cyrl-UZ" sz="2000"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SubBytes</a:t>
            </a: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акслантириши таъсирини қуйидагича кўриш мумкин:</a:t>
            </a:r>
            <a:endParaRPr kumimoji="0" lang="uz-Cyrl-UZ" sz="28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 name="Заголовок 1"/>
          <p:cNvSpPr txBox="1">
            <a:spLocks/>
          </p:cNvSpPr>
          <p:nvPr/>
        </p:nvSpPr>
        <p:spPr>
          <a:xfrm>
            <a:off x="228600" y="168440"/>
            <a:ext cx="8686800" cy="441160"/>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a:lstStyle/>
          <a:p>
            <a:pPr indent="357188" algn="ctr" defTabSz="755650">
              <a:lnSpc>
                <a:spcPct val="90000"/>
              </a:lnSpc>
              <a:spcBef>
                <a:spcPct val="15000"/>
              </a:spcBef>
              <a:spcAft>
                <a:spcPct val="50000"/>
              </a:spcAft>
              <a:buSzPct val="130000"/>
              <a:tabLst>
                <a:tab pos="446088" algn="l"/>
              </a:tabLst>
              <a:defRPr/>
            </a:pPr>
            <a:r>
              <a:rPr lang="uz-Cyrl-UZ" sz="2400" b="1" dirty="0" smtClean="0">
                <a:solidFill>
                  <a:schemeClr val="tx1"/>
                </a:solidFill>
                <a:latin typeface="Times New Roman" pitchFamily="18" charset="0"/>
                <a:ea typeface="Times New Roman" pitchFamily="18" charset="0"/>
                <a:cs typeface="Times New Roman" pitchFamily="18" charset="0"/>
              </a:rPr>
              <a:t>SubBytes </a:t>
            </a:r>
            <a:r>
              <a:rPr lang="en-US" sz="2400" b="1" dirty="0" smtClean="0">
                <a:solidFill>
                  <a:schemeClr val="tx1"/>
                </a:solidFill>
                <a:latin typeface="Times New Roman" pitchFamily="18" charset="0"/>
                <a:ea typeface="Times New Roman" pitchFamily="18" charset="0"/>
                <a:cs typeface="Times New Roman" pitchFamily="18" charset="0"/>
              </a:rPr>
              <a:t>– </a:t>
            </a:r>
            <a:r>
              <a:rPr lang="uz-Cyrl-UZ" sz="2400" b="1" dirty="0" smtClean="0">
                <a:solidFill>
                  <a:schemeClr val="tx1"/>
                </a:solidFill>
                <a:latin typeface="Times New Roman" pitchFamily="18" charset="0"/>
                <a:ea typeface="Times New Roman" pitchFamily="18" charset="0"/>
                <a:cs typeface="Times New Roman" pitchFamily="18" charset="0"/>
              </a:rPr>
              <a:t>акслантириш таҳлили</a:t>
            </a:r>
            <a:endParaRPr lang="ru-RU" sz="2400" b="1" dirty="0">
              <a:solidFill>
                <a:schemeClr val="accent1">
                  <a:lumMod val="50000"/>
                </a:schemeClr>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cstate="print"/>
          <a:srcRect/>
          <a:stretch>
            <a:fillRect/>
          </a:stretch>
        </p:blipFill>
        <p:spPr bwMode="auto">
          <a:xfrm>
            <a:off x="2179059" y="3249296"/>
            <a:ext cx="4785881" cy="2844000"/>
          </a:xfrm>
          <a:prstGeom prst="rect">
            <a:avLst/>
          </a:prstGeom>
          <a:noFill/>
          <a:ln w="9525">
            <a:noFill/>
            <a:miter lim="800000"/>
            <a:headEnd/>
            <a:tailEnd/>
          </a:ln>
        </p:spPr>
      </p:pic>
    </p:spTree>
    <p:extLst>
      <p:ext uri="{BB962C8B-B14F-4D97-AF65-F5344CB8AC3E}">
        <p14:creationId xmlns:p14="http://schemas.microsoft.com/office/powerpoint/2010/main" val="37704227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69" name="Rectangle 1"/>
          <p:cNvSpPr>
            <a:spLocks noChangeArrowheads="1"/>
          </p:cNvSpPr>
          <p:nvPr/>
        </p:nvSpPr>
        <p:spPr bwMode="auto">
          <a:xfrm>
            <a:off x="152400" y="728700"/>
            <a:ext cx="8839200" cy="923330"/>
          </a:xfrm>
          <a:prstGeom prst="rect">
            <a:avLst/>
          </a:prstGeom>
          <a:ln>
            <a:headEnd/>
            <a:tailEnd/>
          </a:ln>
        </p:spPr>
        <p:style>
          <a:lnRef idx="2">
            <a:schemeClr val="dk1"/>
          </a:lnRef>
          <a:fillRef idx="1001">
            <a:schemeClr val="lt2"/>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lvl="0" indent="449263" algn="just" fontAlgn="base">
              <a:spcBef>
                <a:spcPct val="0"/>
              </a:spcBef>
              <a:spcAft>
                <a:spcPct val="0"/>
              </a:spcAft>
            </a:pPr>
            <a:r>
              <a:rPr lang="uz-Cyrl-UZ" b="1" i="1" dirty="0" smtClean="0">
                <a:latin typeface="Times New Roman" panose="02020603050405020304" pitchFamily="18" charset="0"/>
                <a:cs typeface="Times New Roman" panose="02020603050405020304" pitchFamily="18" charset="0"/>
              </a:rPr>
              <a:t>ShiftRows </a:t>
            </a:r>
            <a:r>
              <a:rPr lang="uz-Cyrl-UZ" i="1" dirty="0">
                <a:latin typeface="Times New Roman" panose="02020603050405020304" pitchFamily="18" charset="0"/>
                <a:cs typeface="Times New Roman" panose="02020603050405020304" pitchFamily="18" charset="0"/>
              </a:rPr>
              <a:t>– </a:t>
            </a:r>
            <a:r>
              <a:rPr lang="uz-Cyrl-UZ" dirty="0" smtClean="0">
                <a:latin typeface="Times New Roman" panose="02020603050405020304" pitchFamily="18" charset="0"/>
                <a:cs typeface="Times New Roman" panose="02020603050405020304" pitchFamily="18" charset="0"/>
              </a:rPr>
              <a:t>ҳолат </a:t>
            </a:r>
            <a:r>
              <a:rPr lang="uz-Cyrl-UZ" dirty="0">
                <a:latin typeface="Times New Roman" panose="02020603050405020304" pitchFamily="18" charset="0"/>
                <a:cs typeface="Times New Roman" panose="02020603050405020304" pitchFamily="18" charset="0"/>
              </a:rPr>
              <a:t>массиви сатрларининг турли циклик сурилишини амалга оширади. Ушбу акслантиришни ҳам, криптотаҳлил жараёнида кузатилаётган турли хилдаги тўпламга нисбатан холат массивига таъсирини қуйидагича кўриш мумкин:</a:t>
            </a:r>
            <a:endParaRPr kumimoji="0" lang="uz-Cyrl-UZ"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 name="Заголовок 1"/>
          <p:cNvSpPr txBox="1">
            <a:spLocks/>
          </p:cNvSpPr>
          <p:nvPr/>
        </p:nvSpPr>
        <p:spPr>
          <a:xfrm>
            <a:off x="228600" y="168440"/>
            <a:ext cx="8686800" cy="441160"/>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a:lstStyle/>
          <a:p>
            <a:pPr indent="357188" algn="ctr" defTabSz="755650">
              <a:lnSpc>
                <a:spcPct val="90000"/>
              </a:lnSpc>
              <a:spcBef>
                <a:spcPct val="15000"/>
              </a:spcBef>
              <a:spcAft>
                <a:spcPct val="50000"/>
              </a:spcAft>
              <a:buSzPct val="130000"/>
              <a:tabLst>
                <a:tab pos="446088" algn="l"/>
              </a:tabLst>
              <a:defRPr/>
            </a:pPr>
            <a:r>
              <a:rPr lang="uz-Cyrl-UZ" sz="2400" b="1" dirty="0" smtClean="0">
                <a:solidFill>
                  <a:schemeClr val="tx1"/>
                </a:solidFill>
                <a:latin typeface="Times New Roman" pitchFamily="18" charset="0"/>
                <a:ea typeface="Times New Roman" pitchFamily="18" charset="0"/>
                <a:cs typeface="Times New Roman" pitchFamily="18" charset="0"/>
              </a:rPr>
              <a:t>ShiftRows </a:t>
            </a:r>
            <a:r>
              <a:rPr lang="en-US" sz="2400" b="1" dirty="0" smtClean="0">
                <a:solidFill>
                  <a:schemeClr val="tx1"/>
                </a:solidFill>
                <a:latin typeface="Times New Roman" pitchFamily="18" charset="0"/>
                <a:ea typeface="Times New Roman" pitchFamily="18" charset="0"/>
                <a:cs typeface="Times New Roman" pitchFamily="18" charset="0"/>
              </a:rPr>
              <a:t>– </a:t>
            </a:r>
            <a:r>
              <a:rPr lang="uz-Cyrl-UZ" sz="2400" b="1" dirty="0" smtClean="0">
                <a:solidFill>
                  <a:schemeClr val="tx1"/>
                </a:solidFill>
                <a:latin typeface="Times New Roman" pitchFamily="18" charset="0"/>
                <a:ea typeface="Times New Roman" pitchFamily="18" charset="0"/>
                <a:cs typeface="Times New Roman" pitchFamily="18" charset="0"/>
              </a:rPr>
              <a:t>акслантириш таҳлили</a:t>
            </a:r>
            <a:endParaRPr lang="ru-RU" sz="2400" b="1" dirty="0">
              <a:solidFill>
                <a:schemeClr val="tx1"/>
              </a:solidFill>
              <a:latin typeface="Times New Roman" pitchFamily="18" charset="0"/>
              <a:ea typeface="Times New Roman" pitchFamily="18" charset="0"/>
              <a:cs typeface="Times New Roman" pitchFamily="18" charset="0"/>
            </a:endParaRPr>
          </a:p>
        </p:txBody>
      </p:sp>
      <p:pic>
        <p:nvPicPr>
          <p:cNvPr id="2050" name="Picture 2"/>
          <p:cNvPicPr>
            <a:picLocks noChangeAspect="1" noChangeArrowheads="1"/>
          </p:cNvPicPr>
          <p:nvPr/>
        </p:nvPicPr>
        <p:blipFill>
          <a:blip r:embed="rId2" cstate="print"/>
          <a:srcRect/>
          <a:stretch>
            <a:fillRect/>
          </a:stretch>
        </p:blipFill>
        <p:spPr bwMode="auto">
          <a:xfrm>
            <a:off x="145368" y="1916832"/>
            <a:ext cx="4572000" cy="1035604"/>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4103948" y="3104964"/>
            <a:ext cx="4572000" cy="1043275"/>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153876" y="4365104"/>
            <a:ext cx="4572000" cy="1027933"/>
          </a:xfrm>
          <a:prstGeom prst="rect">
            <a:avLst/>
          </a:prstGeom>
          <a:noFill/>
          <a:ln w="9525">
            <a:noFill/>
            <a:miter lim="800000"/>
            <a:headEnd/>
            <a:tailEnd/>
          </a:ln>
        </p:spPr>
      </p:pic>
      <p:pic>
        <p:nvPicPr>
          <p:cNvPr id="2053" name="Picture 5"/>
          <p:cNvPicPr>
            <a:picLocks noChangeAspect="1" noChangeArrowheads="1"/>
          </p:cNvPicPr>
          <p:nvPr/>
        </p:nvPicPr>
        <p:blipFill>
          <a:blip r:embed="rId5" cstate="print"/>
          <a:srcRect/>
          <a:stretch>
            <a:fillRect/>
          </a:stretch>
        </p:blipFill>
        <p:spPr bwMode="auto">
          <a:xfrm>
            <a:off x="4356484" y="5589240"/>
            <a:ext cx="4572000" cy="1027933"/>
          </a:xfrm>
          <a:prstGeom prst="rect">
            <a:avLst/>
          </a:prstGeom>
          <a:noFill/>
          <a:ln w="9525">
            <a:noFill/>
            <a:miter lim="800000"/>
            <a:headEnd/>
            <a:tailEnd/>
          </a:ln>
        </p:spPr>
      </p:pic>
    </p:spTree>
    <p:extLst>
      <p:ext uri="{BB962C8B-B14F-4D97-AF65-F5344CB8AC3E}">
        <p14:creationId xmlns:p14="http://schemas.microsoft.com/office/powerpoint/2010/main" val="9199101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ChangeArrowheads="1"/>
          </p:cNvSpPr>
          <p:nvPr/>
        </p:nvSpPr>
        <p:spPr bwMode="auto">
          <a:xfrm>
            <a:off x="152400" y="853479"/>
            <a:ext cx="8839200" cy="1200329"/>
          </a:xfrm>
          <a:prstGeom prst="rect">
            <a:avLst/>
          </a:prstGeom>
          <a:ln>
            <a:headEnd/>
            <a:tailEnd/>
          </a:ln>
        </p:spPr>
        <p:style>
          <a:lnRef idx="2">
            <a:schemeClr val="dk1"/>
          </a:lnRef>
          <a:fillRef idx="1001">
            <a:schemeClr val="lt2"/>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indent="365125" algn="just"/>
            <a:r>
              <a:rPr lang="uz-Cyrl-UZ" b="1" i="1" dirty="0" smtClean="0">
                <a:latin typeface="Times New Roman" panose="02020603050405020304" pitchFamily="18" charset="0"/>
                <a:cs typeface="Times New Roman" panose="02020603050405020304" pitchFamily="18" charset="0"/>
              </a:rPr>
              <a:t>MixColumns</a:t>
            </a:r>
            <a:r>
              <a:rPr lang="uz-Cyrl-UZ" i="1" dirty="0" smtClean="0">
                <a:latin typeface="Times New Roman" panose="02020603050405020304" pitchFamily="18" charset="0"/>
                <a:cs typeface="Times New Roman" panose="02020603050405020304" pitchFamily="18" charset="0"/>
              </a:rPr>
              <a:t> – </a:t>
            </a:r>
            <a:r>
              <a:rPr lang="uz-Cyrl-UZ" dirty="0" smtClean="0">
                <a:latin typeface="Times New Roman" panose="02020603050405020304" pitchFamily="18" charset="0"/>
                <a:cs typeface="Times New Roman" panose="02020603050405020304" pitchFamily="18" charset="0"/>
              </a:rPr>
              <a:t>холат </a:t>
            </a:r>
            <a:r>
              <a:rPr lang="uz-Cyrl-UZ" dirty="0">
                <a:latin typeface="Times New Roman" panose="02020603050405020304" pitchFamily="18" charset="0"/>
                <a:cs typeface="Times New Roman" panose="02020603050405020304" pitchFamily="18" charset="0"/>
              </a:rPr>
              <a:t>массивининг алгоритмда</a:t>
            </a:r>
            <a:r>
              <a:rPr lang="uz-Cyrl-UZ" i="1" dirty="0">
                <a:latin typeface="Times New Roman" panose="02020603050405020304" pitchFamily="18" charset="0"/>
                <a:cs typeface="Times New Roman" panose="02020603050405020304" pitchFamily="18" charset="0"/>
              </a:rPr>
              <a:t> </a:t>
            </a:r>
            <a:r>
              <a:rPr lang="uz-Cyrl-UZ" dirty="0">
                <a:latin typeface="Times New Roman" panose="02020603050405020304" pitchFamily="18" charset="0"/>
                <a:cs typeface="Times New Roman" panose="02020603050405020304" pitchFamily="18" charset="0"/>
              </a:rPr>
              <a:t>қайд этилган матрицага кўпайтириш асосидаги акслантиришни амалга оширади. Ушбу акслантиришни ҳам, криптотаҳлил жараёнида кузатилаётган турли хилдаги тўпламга нисбатан холат массивига таъсирини қуйидагича кўриш мумкин:</a:t>
            </a:r>
            <a:endParaRPr lang="ru-RU" dirty="0">
              <a:latin typeface="Times New Roman" panose="02020603050405020304" pitchFamily="18" charset="0"/>
              <a:cs typeface="Times New Roman" panose="02020603050405020304" pitchFamily="18" charset="0"/>
            </a:endParaRPr>
          </a:p>
        </p:txBody>
      </p:sp>
      <p:sp>
        <p:nvSpPr>
          <p:cNvPr id="3" name="Заголовок 1"/>
          <p:cNvSpPr txBox="1">
            <a:spLocks/>
          </p:cNvSpPr>
          <p:nvPr/>
        </p:nvSpPr>
        <p:spPr>
          <a:xfrm>
            <a:off x="228600" y="210644"/>
            <a:ext cx="8686800" cy="441160"/>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a:lstStyle/>
          <a:p>
            <a:pPr indent="357188" algn="ctr" defTabSz="755650">
              <a:lnSpc>
                <a:spcPct val="90000"/>
              </a:lnSpc>
              <a:spcBef>
                <a:spcPct val="15000"/>
              </a:spcBef>
              <a:spcAft>
                <a:spcPct val="50000"/>
              </a:spcAft>
              <a:buSzPct val="130000"/>
              <a:tabLst>
                <a:tab pos="446088" algn="l"/>
              </a:tabLst>
              <a:defRPr/>
            </a:pPr>
            <a:r>
              <a:rPr lang="uz-Cyrl-UZ" sz="2400" b="1" dirty="0" smtClean="0">
                <a:solidFill>
                  <a:schemeClr val="tx1"/>
                </a:solidFill>
                <a:latin typeface="Times New Roman" pitchFamily="18" charset="0"/>
                <a:ea typeface="Times New Roman" pitchFamily="18" charset="0"/>
                <a:cs typeface="Times New Roman" pitchFamily="18" charset="0"/>
              </a:rPr>
              <a:t>MixColumns </a:t>
            </a:r>
            <a:r>
              <a:rPr lang="en-US" sz="2400" b="1" dirty="0">
                <a:solidFill>
                  <a:schemeClr val="tx1"/>
                </a:solidFill>
                <a:latin typeface="Times New Roman" pitchFamily="18" charset="0"/>
                <a:ea typeface="Times New Roman" pitchFamily="18" charset="0"/>
                <a:cs typeface="Times New Roman" pitchFamily="18" charset="0"/>
              </a:rPr>
              <a:t>– </a:t>
            </a:r>
            <a:r>
              <a:rPr lang="uz-Cyrl-UZ" sz="2400" b="1" dirty="0">
                <a:solidFill>
                  <a:schemeClr val="tx1"/>
                </a:solidFill>
                <a:latin typeface="Times New Roman" pitchFamily="18" charset="0"/>
                <a:ea typeface="Times New Roman" pitchFamily="18" charset="0"/>
                <a:cs typeface="Times New Roman" pitchFamily="18" charset="0"/>
              </a:rPr>
              <a:t>акслантириш таҳлили</a:t>
            </a:r>
            <a:endParaRPr lang="ru-RU" sz="2400" b="1" dirty="0">
              <a:solidFill>
                <a:schemeClr val="tx1"/>
              </a:solidFill>
              <a:latin typeface="Times New Roman" pitchFamily="18" charset="0"/>
              <a:ea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246924" y="2282760"/>
            <a:ext cx="4248876" cy="953684"/>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228599" y="4474576"/>
            <a:ext cx="4267201" cy="973723"/>
          </a:xfrm>
          <a:prstGeom prst="rect">
            <a:avLst/>
          </a:prstGeom>
          <a:noFill/>
          <a:ln w="9525">
            <a:noFill/>
            <a:miter lim="800000"/>
            <a:headEnd/>
            <a:tailEnd/>
          </a:ln>
        </p:spPr>
      </p:pic>
      <p:pic>
        <p:nvPicPr>
          <p:cNvPr id="1029" name="Picture 5"/>
          <p:cNvPicPr>
            <a:picLocks noChangeAspect="1" noChangeArrowheads="1"/>
          </p:cNvPicPr>
          <p:nvPr/>
        </p:nvPicPr>
        <p:blipFill>
          <a:blip r:embed="rId4" cstate="print"/>
          <a:srcRect/>
          <a:stretch>
            <a:fillRect/>
          </a:stretch>
        </p:blipFill>
        <p:spPr bwMode="auto">
          <a:xfrm>
            <a:off x="228600" y="5661248"/>
            <a:ext cx="4267200" cy="964945"/>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4607326" y="3359550"/>
            <a:ext cx="4372700" cy="955859"/>
          </a:xfrm>
          <a:prstGeom prst="rect">
            <a:avLst/>
          </a:prstGeom>
          <a:noFill/>
          <a:ln w="9525">
            <a:noFill/>
            <a:miter lim="800000"/>
            <a:headEnd/>
            <a:tailEnd/>
          </a:ln>
        </p:spPr>
      </p:pic>
      <p:pic>
        <p:nvPicPr>
          <p:cNvPr id="1031" name="Picture 7"/>
          <p:cNvPicPr>
            <a:picLocks noChangeAspect="1" noChangeArrowheads="1"/>
          </p:cNvPicPr>
          <p:nvPr/>
        </p:nvPicPr>
        <p:blipFill>
          <a:blip r:embed="rId6" cstate="print"/>
          <a:srcRect/>
          <a:stretch>
            <a:fillRect/>
          </a:stretch>
        </p:blipFill>
        <p:spPr bwMode="auto">
          <a:xfrm>
            <a:off x="4572000" y="4457701"/>
            <a:ext cx="4419600" cy="957340"/>
          </a:xfrm>
          <a:prstGeom prst="rect">
            <a:avLst/>
          </a:prstGeom>
          <a:noFill/>
          <a:ln w="9525">
            <a:noFill/>
            <a:miter lim="800000"/>
            <a:headEnd/>
            <a:tailEnd/>
          </a:ln>
        </p:spPr>
      </p:pic>
      <p:pic>
        <p:nvPicPr>
          <p:cNvPr id="1032" name="Picture 8"/>
          <p:cNvPicPr>
            <a:picLocks noChangeAspect="1" noChangeArrowheads="1"/>
          </p:cNvPicPr>
          <p:nvPr/>
        </p:nvPicPr>
        <p:blipFill>
          <a:blip r:embed="rId7" cstate="print"/>
          <a:srcRect/>
          <a:stretch>
            <a:fillRect/>
          </a:stretch>
        </p:blipFill>
        <p:spPr bwMode="auto">
          <a:xfrm>
            <a:off x="4572000" y="5667598"/>
            <a:ext cx="4419600" cy="967690"/>
          </a:xfrm>
          <a:prstGeom prst="rect">
            <a:avLst/>
          </a:prstGeom>
          <a:noFill/>
          <a:ln w="9525">
            <a:noFill/>
            <a:miter lim="800000"/>
            <a:headEnd/>
            <a:tailEnd/>
          </a:ln>
        </p:spPr>
      </p:pic>
      <p:pic>
        <p:nvPicPr>
          <p:cNvPr id="1034" name="Picture 10"/>
          <p:cNvPicPr>
            <a:picLocks noChangeAspect="1" noChangeArrowheads="1"/>
          </p:cNvPicPr>
          <p:nvPr/>
        </p:nvPicPr>
        <p:blipFill>
          <a:blip r:embed="rId8" cstate="print"/>
          <a:srcRect/>
          <a:stretch>
            <a:fillRect/>
          </a:stretch>
        </p:blipFill>
        <p:spPr bwMode="auto">
          <a:xfrm>
            <a:off x="4606726" y="2276872"/>
            <a:ext cx="4343400" cy="977437"/>
          </a:xfrm>
          <a:prstGeom prst="rect">
            <a:avLst/>
          </a:prstGeom>
          <a:noFill/>
          <a:ln w="9525">
            <a:noFill/>
            <a:miter lim="800000"/>
            <a:headEnd/>
            <a:tailEnd/>
          </a:ln>
        </p:spPr>
      </p:pic>
      <p:pic>
        <p:nvPicPr>
          <p:cNvPr id="19457" name="Picture 1"/>
          <p:cNvPicPr>
            <a:picLocks noChangeAspect="1" noChangeArrowheads="1"/>
          </p:cNvPicPr>
          <p:nvPr/>
        </p:nvPicPr>
        <p:blipFill>
          <a:blip r:embed="rId9" cstate="print"/>
          <a:srcRect/>
          <a:stretch>
            <a:fillRect/>
          </a:stretch>
        </p:blipFill>
        <p:spPr bwMode="auto">
          <a:xfrm>
            <a:off x="228370" y="3356992"/>
            <a:ext cx="4260047" cy="959406"/>
          </a:xfrm>
          <a:prstGeom prst="rect">
            <a:avLst/>
          </a:prstGeom>
          <a:noFill/>
          <a:ln w="9525">
            <a:noFill/>
            <a:miter lim="800000"/>
            <a:headEnd/>
            <a:tailEnd/>
          </a:ln>
        </p:spPr>
      </p:pic>
    </p:spTree>
    <p:extLst>
      <p:ext uri="{BB962C8B-B14F-4D97-AF65-F5344CB8AC3E}">
        <p14:creationId xmlns:p14="http://schemas.microsoft.com/office/powerpoint/2010/main" val="40298163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339525" y="320184"/>
            <a:ext cx="8382000" cy="6077113"/>
          </a:xfrm>
          <a:prstGeom prst="rect">
            <a:avLst/>
          </a:prstGeom>
        </p:spPr>
        <p:style>
          <a:lnRef idx="2">
            <a:schemeClr val="dk1"/>
          </a:lnRef>
          <a:fillRef idx="1001">
            <a:schemeClr val="lt2"/>
          </a:fillRef>
          <a:effectRef idx="0">
            <a:schemeClr val="dk1"/>
          </a:effectRef>
          <a:fontRef idx="minor">
            <a:schemeClr val="dk1"/>
          </a:fontRef>
        </p:style>
        <p:txBody>
          <a:bodyPr wrap="square">
            <a:spAutoFit/>
          </a:bodyPr>
          <a:lstStyle/>
          <a:p>
            <a:pPr indent="450215" algn="just">
              <a:lnSpc>
                <a:spcPct val="140000"/>
              </a:lnSpc>
              <a:spcAft>
                <a:spcPts val="0"/>
              </a:spcAft>
            </a:pPr>
            <a:r>
              <a:rPr lang="uz-Cyrl-UZ" sz="2000" b="1" i="1" dirty="0">
                <a:latin typeface="Times New Roman" panose="02020603050405020304" pitchFamily="18" charset="0"/>
                <a:ea typeface="Times New Roman" panose="02020603050405020304" pitchFamily="18" charset="0"/>
                <a:cs typeface="Times New Roman" panose="02020603050405020304" pitchFamily="18" charset="0"/>
              </a:rPr>
              <a:t>MixColumns</a:t>
            </a:r>
            <a:r>
              <a:rPr lang="uz-Cyrl-UZ" sz="2000" b="1" dirty="0">
                <a:latin typeface="Times New Roman" panose="02020603050405020304" pitchFamily="18" charset="0"/>
                <a:ea typeface="Times New Roman" panose="02020603050405020304" pitchFamily="18" charset="0"/>
                <a:cs typeface="Times New Roman" panose="02020603050405020304" pitchFamily="18" charset="0"/>
              </a:rPr>
              <a:t> акслантиришининг ушбу ўзгартиришларига кўра қуйидаги хулосалар ўринли:</a:t>
            </a:r>
            <a:endParaRPr lang="ru-RU"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40000"/>
              </a:lnSpc>
              <a:spcAft>
                <a:spcPts val="0"/>
              </a:spcAft>
              <a:buFont typeface="Wingdings" panose="05000000000000000000" pitchFamily="2" charset="2"/>
              <a:buChar char="v"/>
            </a:pPr>
            <a:r>
              <a:rPr lang="uz-Cyrl-UZ" sz="2000" dirty="0">
                <a:latin typeface="Times New Roman" panose="02020603050405020304" pitchFamily="18" charset="0"/>
                <a:ea typeface="Times New Roman" panose="02020603050405020304" pitchFamily="18" charset="0"/>
                <a:cs typeface="Times New Roman" panose="02020603050405020304" pitchFamily="18" charset="0"/>
              </a:rPr>
              <a:t>агар кирувчи холат массивининг бирор устунида битта ёки бир хил тартибга эга бўлган тўртта актив байт бўлса, чиқувчи массивнинг ушбу устунидаги барча байтлари актив байт бўлади;</a:t>
            </a:r>
            <a:endParaRPr lang="ru-RU"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40000"/>
              </a:lnSpc>
              <a:spcAft>
                <a:spcPts val="0"/>
              </a:spcAft>
              <a:buFont typeface="Wingdings" panose="05000000000000000000" pitchFamily="2" charset="2"/>
              <a:buChar char="v"/>
            </a:pPr>
            <a:r>
              <a:rPr lang="uz-Cyrl-UZ" sz="2000" dirty="0">
                <a:latin typeface="Times New Roman" panose="02020603050405020304" pitchFamily="18" charset="0"/>
                <a:ea typeface="Times New Roman" panose="02020603050405020304" pitchFamily="18" charset="0"/>
                <a:cs typeface="Times New Roman" panose="02020603050405020304" pitchFamily="18" charset="0"/>
              </a:rPr>
              <a:t>агар кирувчи холат массивининг бирор устунида бир хил тартибга эга бўлган иккита актив байт бўлса, чиқувчи массивнинг ушбу устунида учта актив ва битта пассив байт хосил бўлади;</a:t>
            </a:r>
            <a:endParaRPr lang="ru-RU"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40000"/>
              </a:lnSpc>
              <a:spcAft>
                <a:spcPts val="0"/>
              </a:spcAft>
              <a:buFont typeface="Wingdings" panose="05000000000000000000" pitchFamily="2" charset="2"/>
              <a:buChar char="v"/>
            </a:pPr>
            <a:r>
              <a:rPr lang="uz-Cyrl-UZ" sz="2000" dirty="0">
                <a:latin typeface="Times New Roman" panose="02020603050405020304" pitchFamily="18" charset="0"/>
                <a:ea typeface="Times New Roman" panose="02020603050405020304" pitchFamily="18" charset="0"/>
                <a:cs typeface="Times New Roman" panose="02020603050405020304" pitchFamily="18" charset="0"/>
              </a:rPr>
              <a:t>агар кирувчи холат массивининг бирор устунида бир хил тартибга эга бўлган учта актив байт бўлса, чиқувчи массивнинг ушбу устунида иккита актив ва иккита пассив байт хосил </a:t>
            </a:r>
            <a:r>
              <a:rPr lang="uz-Cyrl-UZ" sz="2000" dirty="0" smtClean="0">
                <a:latin typeface="Times New Roman" panose="02020603050405020304" pitchFamily="18" charset="0"/>
                <a:ea typeface="Times New Roman" panose="02020603050405020304" pitchFamily="18" charset="0"/>
                <a:cs typeface="Times New Roman" panose="02020603050405020304" pitchFamily="18" charset="0"/>
              </a:rPr>
              <a:t>бўлади;</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40000"/>
              </a:lnSpc>
              <a:spcAft>
                <a:spcPts val="0"/>
              </a:spcAft>
              <a:buFont typeface="Wingdings" panose="05000000000000000000" pitchFamily="2" charset="2"/>
              <a:buChar char="v"/>
            </a:pPr>
            <a:r>
              <a:rPr lang="uz-Cyrl-UZ" sz="2000" dirty="0" smtClean="0">
                <a:latin typeface="Times New Roman" panose="02020603050405020304" pitchFamily="18" charset="0"/>
                <a:ea typeface="Times New Roman" panose="02020603050405020304" pitchFamily="18" charset="0"/>
                <a:cs typeface="Times New Roman" panose="02020603050405020304" pitchFamily="18" charset="0"/>
              </a:rPr>
              <a:t>агар </a:t>
            </a:r>
            <a:r>
              <a:rPr lang="uz-Cyrl-UZ" sz="2000" dirty="0">
                <a:latin typeface="Times New Roman" panose="02020603050405020304" pitchFamily="18" charset="0"/>
                <a:ea typeface="Times New Roman" panose="02020603050405020304" pitchFamily="18" charset="0"/>
                <a:cs typeface="Times New Roman" panose="02020603050405020304" pitchFamily="18" charset="0"/>
              </a:rPr>
              <a:t>кирувчи холат массивининг бирор устунида турли хил тартибга эга бўлган иккита ва ундан кўп актив байт бўлса, чиқувчи массивнинг ушбу устунида тўртта баланслашган аралаш байт хосил бўлади.</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77647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ChangeArrowheads="1"/>
          </p:cNvSpPr>
          <p:nvPr/>
        </p:nvSpPr>
        <p:spPr bwMode="auto">
          <a:xfrm>
            <a:off x="152400" y="919370"/>
            <a:ext cx="8839200" cy="923330"/>
          </a:xfrm>
          <a:prstGeom prst="rect">
            <a:avLst/>
          </a:prstGeom>
          <a:ln>
            <a:headEnd/>
            <a:tailEnd/>
          </a:ln>
        </p:spPr>
        <p:style>
          <a:lnRef idx="2">
            <a:schemeClr val="dk1"/>
          </a:lnRef>
          <a:fillRef idx="1001">
            <a:schemeClr val="lt2"/>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indent="365125" algn="just"/>
            <a:r>
              <a:rPr lang="uz-Cyrl-UZ" b="1" i="1" dirty="0" smtClean="0">
                <a:latin typeface="Times New Roman" panose="02020603050405020304" pitchFamily="18" charset="0"/>
                <a:cs typeface="Times New Roman" panose="02020603050405020304" pitchFamily="18" charset="0"/>
              </a:rPr>
              <a:t>AddRoundKey </a:t>
            </a:r>
            <a:r>
              <a:rPr lang="uz-Cyrl-UZ" i="1" dirty="0" smtClean="0">
                <a:latin typeface="Times New Roman" panose="02020603050405020304" pitchFamily="18" charset="0"/>
                <a:cs typeface="Times New Roman" panose="02020603050405020304" pitchFamily="18" charset="0"/>
              </a:rPr>
              <a:t>– </a:t>
            </a:r>
            <a:r>
              <a:rPr lang="uz-Cyrl-UZ" dirty="0" smtClean="0">
                <a:latin typeface="Times New Roman" panose="02020603050405020304" pitchFamily="18" charset="0"/>
                <a:cs typeface="Times New Roman" panose="02020603050405020304" pitchFamily="18" charset="0"/>
              </a:rPr>
              <a:t>раунд </a:t>
            </a:r>
            <a:r>
              <a:rPr lang="uz-Cyrl-UZ" dirty="0">
                <a:latin typeface="Times New Roman" panose="02020603050405020304" pitchFamily="18" charset="0"/>
                <a:cs typeface="Times New Roman" panose="02020603050405020304" pitchFamily="18" charset="0"/>
              </a:rPr>
              <a:t>калитлари массивини холат массивига модул 2 бўйича қўшишни амалга оширади. Шунга кўра, тўплам элементининг ҳар бир холати учун ушбу</a:t>
            </a:r>
            <a:r>
              <a:rPr lang="uz-Cyrl-UZ" i="1" dirty="0">
                <a:latin typeface="Times New Roman" panose="02020603050405020304" pitchFamily="18" charset="0"/>
                <a:cs typeface="Times New Roman" panose="02020603050405020304" pitchFamily="18" charset="0"/>
              </a:rPr>
              <a:t> </a:t>
            </a:r>
            <a:r>
              <a:rPr lang="uz-Cyrl-UZ" dirty="0">
                <a:latin typeface="Times New Roman" panose="02020603050405020304" pitchFamily="18" charset="0"/>
                <a:cs typeface="Times New Roman" panose="02020603050405020304" pitchFamily="18" charset="0"/>
              </a:rPr>
              <a:t>акслантириш таъсирини қуйидагича кўриш мумкин:</a:t>
            </a:r>
            <a:endParaRPr lang="ru-RU" dirty="0">
              <a:latin typeface="Times New Roman" panose="02020603050405020304" pitchFamily="18" charset="0"/>
              <a:cs typeface="Times New Roman" panose="02020603050405020304" pitchFamily="18" charset="0"/>
            </a:endParaRPr>
          </a:p>
        </p:txBody>
      </p:sp>
      <p:sp>
        <p:nvSpPr>
          <p:cNvPr id="3" name="Заголовок 1"/>
          <p:cNvSpPr txBox="1">
            <a:spLocks/>
          </p:cNvSpPr>
          <p:nvPr/>
        </p:nvSpPr>
        <p:spPr>
          <a:xfrm>
            <a:off x="228600" y="224712"/>
            <a:ext cx="8686800" cy="441160"/>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a:lstStyle/>
          <a:p>
            <a:pPr indent="357188" algn="ctr" defTabSz="755650">
              <a:lnSpc>
                <a:spcPct val="90000"/>
              </a:lnSpc>
              <a:spcBef>
                <a:spcPct val="15000"/>
              </a:spcBef>
              <a:spcAft>
                <a:spcPct val="50000"/>
              </a:spcAft>
              <a:buSzPct val="130000"/>
              <a:tabLst>
                <a:tab pos="446088" algn="l"/>
              </a:tabLst>
              <a:defRPr/>
            </a:pPr>
            <a:r>
              <a:rPr lang="uz-Cyrl-UZ" sz="2400" b="1" dirty="0" smtClean="0">
                <a:solidFill>
                  <a:schemeClr val="tx1"/>
                </a:solidFill>
                <a:latin typeface="Times New Roman" pitchFamily="18" charset="0"/>
                <a:ea typeface="Times New Roman" pitchFamily="18" charset="0"/>
                <a:cs typeface="Times New Roman" pitchFamily="18" charset="0"/>
              </a:rPr>
              <a:t>AddRoundKey </a:t>
            </a:r>
            <a:r>
              <a:rPr lang="en-US" sz="2400" b="1" dirty="0">
                <a:solidFill>
                  <a:schemeClr val="tx1"/>
                </a:solidFill>
                <a:latin typeface="Times New Roman" pitchFamily="18" charset="0"/>
                <a:ea typeface="Times New Roman" pitchFamily="18" charset="0"/>
                <a:cs typeface="Times New Roman" pitchFamily="18" charset="0"/>
              </a:rPr>
              <a:t>– </a:t>
            </a:r>
            <a:r>
              <a:rPr lang="uz-Cyrl-UZ" sz="2400" b="1" dirty="0">
                <a:solidFill>
                  <a:schemeClr val="tx1"/>
                </a:solidFill>
                <a:latin typeface="Times New Roman" pitchFamily="18" charset="0"/>
                <a:ea typeface="Times New Roman" pitchFamily="18" charset="0"/>
                <a:cs typeface="Times New Roman" pitchFamily="18" charset="0"/>
              </a:rPr>
              <a:t>акслантириш таҳлили</a:t>
            </a:r>
            <a:endParaRPr lang="ru-RU" sz="2400" b="1" dirty="0">
              <a:solidFill>
                <a:schemeClr val="tx1"/>
              </a:solidFill>
              <a:latin typeface="Times New Roman" pitchFamily="18" charset="0"/>
              <a:ea typeface="Times New Roman" pitchFamily="18" charset="0"/>
              <a:cs typeface="Times New Roman" pitchFamily="18" charset="0"/>
            </a:endParaRPr>
          </a:p>
        </p:txBody>
      </p:sp>
      <p:sp>
        <p:nvSpPr>
          <p:cNvPr id="6" name="Прямоугольник 5"/>
          <p:cNvSpPr/>
          <p:nvPr/>
        </p:nvSpPr>
        <p:spPr>
          <a:xfrm>
            <a:off x="152400" y="4622356"/>
            <a:ext cx="8839200" cy="1938992"/>
          </a:xfrm>
          <a:prstGeom prst="rect">
            <a:avLst/>
          </a:prstGeom>
        </p:spPr>
        <p:style>
          <a:lnRef idx="2">
            <a:schemeClr val="dk1"/>
          </a:lnRef>
          <a:fillRef idx="1001">
            <a:schemeClr val="lt2"/>
          </a:fillRef>
          <a:effectRef idx="0">
            <a:schemeClr val="dk1"/>
          </a:effectRef>
          <a:fontRef idx="minor">
            <a:schemeClr val="dk1"/>
          </a:fontRef>
        </p:style>
        <p:txBody>
          <a:bodyPr wrap="square">
            <a:spAutoFit/>
          </a:bodyPr>
          <a:lstStyle/>
          <a:p>
            <a:pPr indent="365125" algn="just"/>
            <a:r>
              <a:rPr lang="ru-RU" sz="2000" b="1" dirty="0" err="1">
                <a:latin typeface="Times New Roman" panose="02020603050405020304" pitchFamily="18" charset="0"/>
                <a:ea typeface="Times New Roman" panose="02020603050405020304" pitchFamily="18" charset="0"/>
                <a:cs typeface="Calibri" panose="020F0502020204030204" pitchFamily="34" charset="0"/>
              </a:rPr>
              <a:t>Хулоса</a:t>
            </a:r>
            <a:r>
              <a:rPr lang="ru-RU" sz="2000" b="1" dirty="0">
                <a:latin typeface="Times New Roman" panose="02020603050405020304" pitchFamily="18" charset="0"/>
                <a:ea typeface="Times New Roman" panose="02020603050405020304" pitchFamily="18" charset="0"/>
                <a:cs typeface="Calibri" panose="020F0502020204030204" pitchFamily="34" charset="0"/>
              </a:rPr>
              <a:t>: </a:t>
            </a:r>
          </a:p>
          <a:p>
            <a:pPr indent="365125" algn="just">
              <a:spcAft>
                <a:spcPts val="0"/>
              </a:spcAft>
            </a:pPr>
            <a:r>
              <a:rPr lang="uz-Cyrl-UZ" sz="2000" dirty="0" smtClean="0">
                <a:latin typeface="Times New Roman" panose="02020603050405020304" pitchFamily="18" charset="0"/>
                <a:ea typeface="Times New Roman" panose="02020603050405020304" pitchFamily="18" charset="0"/>
                <a:cs typeface="Calibri" panose="020F0502020204030204" pitchFamily="34" charset="0"/>
              </a:rPr>
              <a:t>- кузатилаётган </a:t>
            </a:r>
            <a:r>
              <a:rPr lang="uz-Cyrl-UZ" sz="2000" dirty="0">
                <a:latin typeface="Times New Roman" panose="02020603050405020304" pitchFamily="18" charset="0"/>
                <a:ea typeface="Times New Roman" panose="02020603050405020304" pitchFamily="18" charset="0"/>
                <a:cs typeface="Calibri" panose="020F0502020204030204" pitchFamily="34" charset="0"/>
              </a:rPr>
              <a:t>тўплам элементлари қандай хусусятга эга бўлишидан қатъий назар, </a:t>
            </a:r>
            <a:r>
              <a:rPr lang="uz-Cyrl-UZ" sz="2000" i="1" dirty="0">
                <a:latin typeface="Times New Roman" panose="02020603050405020304" pitchFamily="18" charset="0"/>
                <a:ea typeface="Times New Roman" panose="02020603050405020304" pitchFamily="18" charset="0"/>
                <a:cs typeface="Calibri" panose="020F0502020204030204" pitchFamily="34" charset="0"/>
              </a:rPr>
              <a:t>AddRoundKey </a:t>
            </a:r>
            <a:r>
              <a:rPr lang="uz-Cyrl-UZ" sz="2000" dirty="0">
                <a:latin typeface="Times New Roman" panose="02020603050405020304" pitchFamily="18" charset="0"/>
                <a:ea typeface="Times New Roman" panose="02020603050405020304" pitchFamily="18" charset="0"/>
                <a:cs typeface="Calibri" panose="020F0502020204030204" pitchFamily="34" charset="0"/>
              </a:rPr>
              <a:t>акслантириши уларнинг хусусиятини ўзгартирмайди. </a:t>
            </a:r>
            <a:r>
              <a:rPr lang="uz-Cyrl-UZ" sz="2000" dirty="0" smtClean="0">
                <a:latin typeface="Times New Roman" panose="02020603050405020304" pitchFamily="18" charset="0"/>
                <a:ea typeface="Times New Roman" panose="02020603050405020304" pitchFamily="18" charset="0"/>
                <a:cs typeface="Calibri" panose="020F0502020204030204" pitchFamily="34" charset="0"/>
              </a:rPr>
              <a:t>Шифрлаш </a:t>
            </a:r>
            <a:r>
              <a:rPr lang="uz-Cyrl-UZ" sz="2000" dirty="0">
                <a:latin typeface="Times New Roman" panose="02020603050405020304" pitchFamily="18" charset="0"/>
                <a:ea typeface="Times New Roman" panose="02020603050405020304" pitchFamily="18" charset="0"/>
                <a:cs typeface="Calibri" panose="020F0502020204030204" pitchFamily="34" charset="0"/>
              </a:rPr>
              <a:t>алгоритмларининг Интеграл криптотаҳлилга бўлган асосий камчилиги ҳам айнан калит қўшиш акслантиришларининг ушбу хусусияти ҳисобланади.</a:t>
            </a:r>
            <a:endParaRPr lang="ru-RU" sz="1600" dirty="0">
              <a:effectLst/>
              <a:latin typeface="Calibri" panose="020F0502020204030204" pitchFamily="34" charset="0"/>
              <a:ea typeface="Times New Roman" panose="02020603050405020304" pitchFamily="18" charset="0"/>
              <a:cs typeface="Calibri" panose="020F0502020204030204" pitchFamily="34" charset="0"/>
            </a:endParaRPr>
          </a:p>
        </p:txBody>
      </p:sp>
      <p:pic>
        <p:nvPicPr>
          <p:cNvPr id="8194" name="Picture 2"/>
          <p:cNvPicPr>
            <a:picLocks noChangeAspect="1" noChangeArrowheads="1"/>
          </p:cNvPicPr>
          <p:nvPr/>
        </p:nvPicPr>
        <p:blipFill>
          <a:blip r:embed="rId2" cstate="print"/>
          <a:srcRect/>
          <a:stretch>
            <a:fillRect/>
          </a:stretch>
        </p:blipFill>
        <p:spPr bwMode="auto">
          <a:xfrm>
            <a:off x="2015716" y="2276872"/>
            <a:ext cx="4709741" cy="1836000"/>
          </a:xfrm>
          <a:prstGeom prst="rect">
            <a:avLst/>
          </a:prstGeom>
          <a:noFill/>
          <a:ln w="9525">
            <a:noFill/>
            <a:miter lim="800000"/>
            <a:headEnd/>
            <a:tailEnd/>
          </a:ln>
        </p:spPr>
      </p:pic>
    </p:spTree>
    <p:extLst>
      <p:ext uri="{BB962C8B-B14F-4D97-AF65-F5344CB8AC3E}">
        <p14:creationId xmlns:p14="http://schemas.microsoft.com/office/powerpoint/2010/main" val="9151870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Прямоугольник 1"/>
          <p:cNvSpPr/>
          <p:nvPr/>
        </p:nvSpPr>
        <p:spPr>
          <a:xfrm>
            <a:off x="152400" y="1040007"/>
            <a:ext cx="8839200" cy="830997"/>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spcAft>
                <a:spcPts val="0"/>
              </a:spcAft>
            </a:pPr>
            <a:r>
              <a:rPr lang="uz-Cyrl-UZ" b="1" dirty="0" smtClean="0">
                <a:latin typeface="Times New Roman" panose="02020603050405020304" pitchFamily="18" charset="0"/>
                <a:ea typeface="Times New Roman" panose="02020603050405020304" pitchFamily="18" charset="0"/>
                <a:cs typeface="Calibri" panose="020F0502020204030204" pitchFamily="34" charset="0"/>
              </a:rPr>
              <a:t>1</a:t>
            </a:r>
            <a:r>
              <a:rPr lang="uz-Cyrl-UZ" b="1" baseline="30000" dirty="0" smtClean="0">
                <a:latin typeface="Times New Roman" panose="02020603050405020304" pitchFamily="18" charset="0"/>
                <a:ea typeface="Times New Roman" panose="02020603050405020304" pitchFamily="18" charset="0"/>
                <a:cs typeface="Calibri" panose="020F0502020204030204" pitchFamily="34" charset="0"/>
              </a:rPr>
              <a:t>о</a:t>
            </a:r>
            <a:r>
              <a:rPr lang="uz-Cyrl-UZ" b="1" dirty="0">
                <a:latin typeface="Times New Roman" panose="02020603050405020304" pitchFamily="18" charset="0"/>
                <a:ea typeface="Times New Roman" panose="02020603050405020304" pitchFamily="18" charset="0"/>
                <a:cs typeface="Calibri" panose="020F0502020204030204" pitchFamily="34" charset="0"/>
              </a:rPr>
              <a:t>.</a:t>
            </a:r>
            <a:r>
              <a:rPr lang="uz-Cyrl-UZ" dirty="0">
                <a:latin typeface="Times New Roman" panose="02020603050405020304" pitchFamily="18" charset="0"/>
                <a:ea typeface="Times New Roman" panose="02020603050405020304" pitchFamily="18" charset="0"/>
                <a:cs typeface="Calibri" panose="020F0502020204030204" pitchFamily="34" charset="0"/>
              </a:rPr>
              <a:t> Барча элементлари бир хил тартибга эга актив байт бўлган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smtClean="0">
                <a:latin typeface="Times New Roman" panose="02020603050405020304" pitchFamily="18" charset="0"/>
                <a:ea typeface="Times New Roman" panose="02020603050405020304" pitchFamily="18" charset="0"/>
                <a:cs typeface="Calibri" panose="020F0502020204030204" pitchFamily="34" charset="0"/>
              </a:rPr>
              <a:t>8</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 та матнлар тўпламини 2 </a:t>
            </a:r>
            <a:r>
              <a:rPr lang="uz-Cyrl-UZ" dirty="0">
                <a:latin typeface="Times New Roman" panose="02020603050405020304" pitchFamily="18" charset="0"/>
                <a:ea typeface="Times New Roman" panose="02020603050405020304" pitchFamily="18" charset="0"/>
                <a:cs typeface="Calibri" panose="020F0502020204030204" pitchFamily="34" charset="0"/>
              </a:rPr>
              <a:t>раундли AES</a:t>
            </a:r>
            <a:r>
              <a:rPr lang="uz-Cyrl-UZ" b="1" dirty="0">
                <a:latin typeface="Times New Roman" panose="02020603050405020304" pitchFamily="18" charset="0"/>
                <a:ea typeface="Times New Roman" panose="02020603050405020304" pitchFamily="18" charset="0"/>
                <a:cs typeface="Calibri" panose="020F0502020204030204" pitchFamily="34" charset="0"/>
              </a:rPr>
              <a:t> </a:t>
            </a:r>
            <a:r>
              <a:rPr lang="uz-Cyrl-UZ" dirty="0">
                <a:latin typeface="Times New Roman" panose="02020603050405020304" pitchFamily="18" charset="0"/>
                <a:ea typeface="Times New Roman" panose="02020603050405020304" pitchFamily="18" charset="0"/>
                <a:cs typeface="Calibri" panose="020F0502020204030204" pitchFamily="34" charset="0"/>
              </a:rPr>
              <a:t>алгоритми орқали шифрлаш натижасида, барча элементлари баланслашган аралаш байт бўлган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тўплам </a:t>
            </a:r>
            <a:r>
              <a:rPr lang="uz-Cyrl-UZ" dirty="0">
                <a:latin typeface="Times New Roman" panose="02020603050405020304" pitchFamily="18" charset="0"/>
                <a:ea typeface="Times New Roman" panose="02020603050405020304" pitchFamily="18" charset="0"/>
                <a:cs typeface="Calibri" panose="020F0502020204030204" pitchFamily="34" charset="0"/>
              </a:rPr>
              <a:t>ҳосил бўлади. Яъни:</a:t>
            </a:r>
            <a:endParaRPr lang="ru-RU" sz="14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4" name="Прямоугольник 3"/>
          <p:cNvSpPr/>
          <p:nvPr/>
        </p:nvSpPr>
        <p:spPr>
          <a:xfrm>
            <a:off x="166468" y="2874667"/>
            <a:ext cx="8825132" cy="830997"/>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spcAft>
                <a:spcPts val="0"/>
              </a:spcAft>
            </a:pPr>
            <a:r>
              <a:rPr lang="uz-Cyrl-UZ" b="1"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1" baseline="30000" dirty="0" smtClean="0">
                <a:latin typeface="Times New Roman" panose="02020603050405020304" pitchFamily="18" charset="0"/>
                <a:ea typeface="Times New Roman" panose="02020603050405020304" pitchFamily="18" charset="0"/>
                <a:cs typeface="Calibri" panose="020F0502020204030204" pitchFamily="34" charset="0"/>
              </a:rPr>
              <a:t>о</a:t>
            </a:r>
            <a:r>
              <a:rPr lang="uz-Cyrl-UZ" b="1" dirty="0" smtClean="0">
                <a:latin typeface="Times New Roman" panose="02020603050405020304" pitchFamily="18" charset="0"/>
                <a:ea typeface="Times New Roman" panose="02020603050405020304" pitchFamily="18" charset="0"/>
                <a:cs typeface="Calibri" panose="020F0502020204030204" pitchFamily="34" charset="0"/>
              </a:rPr>
              <a:t>. </a:t>
            </a:r>
            <a:r>
              <a:rPr lang="uz-Cyrl-UZ" dirty="0">
                <a:latin typeface="Times New Roman" panose="02020603050405020304" pitchFamily="18" charset="0"/>
                <a:ea typeface="Times New Roman" panose="02020603050405020304" pitchFamily="18" charset="0"/>
                <a:cs typeface="Calibri" panose="020F0502020204030204" pitchFamily="34" charset="0"/>
              </a:rPr>
              <a:t>Дастлабки элементи актив, қолган элементни пассив байт бўлган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smtClean="0">
                <a:latin typeface="Times New Roman" panose="02020603050405020304" pitchFamily="18" charset="0"/>
                <a:ea typeface="Times New Roman" panose="02020603050405020304" pitchFamily="18" charset="0"/>
                <a:cs typeface="Calibri" panose="020F0502020204030204" pitchFamily="34" charset="0"/>
              </a:rPr>
              <a:t>8</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 та матнлар тўпламини </a:t>
            </a:r>
            <a:r>
              <a:rPr lang="uz-Cyrl-UZ" dirty="0">
                <a:latin typeface="Times New Roman" panose="02020603050405020304" pitchFamily="18" charset="0"/>
                <a:ea typeface="Times New Roman" panose="02020603050405020304" pitchFamily="18" charset="0"/>
                <a:cs typeface="Calibri" panose="020F0502020204030204" pitchFamily="34" charset="0"/>
              </a:rPr>
              <a:t>3 раундли AES</a:t>
            </a:r>
            <a:r>
              <a:rPr lang="uz-Cyrl-UZ" b="1" dirty="0">
                <a:latin typeface="Times New Roman" panose="02020603050405020304" pitchFamily="18" charset="0"/>
                <a:ea typeface="Times New Roman" panose="02020603050405020304" pitchFamily="18" charset="0"/>
                <a:cs typeface="Calibri" panose="020F0502020204030204" pitchFamily="34" charset="0"/>
              </a:rPr>
              <a:t> </a:t>
            </a:r>
            <a:r>
              <a:rPr lang="uz-Cyrl-UZ" dirty="0">
                <a:latin typeface="Times New Roman" panose="02020603050405020304" pitchFamily="18" charset="0"/>
                <a:ea typeface="Times New Roman" panose="02020603050405020304" pitchFamily="18" charset="0"/>
                <a:cs typeface="Calibri" panose="020F0502020204030204" pitchFamily="34" charset="0"/>
              </a:rPr>
              <a:t>алгоритми орқали шифрлаш натижасида, барча элементлари баланслашган аралаш байт бўлган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тўплам </a:t>
            </a:r>
            <a:r>
              <a:rPr lang="uz-Cyrl-UZ" dirty="0">
                <a:latin typeface="Times New Roman" panose="02020603050405020304" pitchFamily="18" charset="0"/>
                <a:ea typeface="Times New Roman" panose="02020603050405020304" pitchFamily="18" charset="0"/>
                <a:cs typeface="Calibri" panose="020F0502020204030204" pitchFamily="34" charset="0"/>
              </a:rPr>
              <a:t>ҳосил бўлади. Яъни:</a:t>
            </a:r>
            <a:endParaRPr lang="ru-RU" sz="14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6" name="Прямоугольник 5"/>
          <p:cNvSpPr/>
          <p:nvPr/>
        </p:nvSpPr>
        <p:spPr>
          <a:xfrm>
            <a:off x="208672" y="4706354"/>
            <a:ext cx="8763000" cy="1107996"/>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algn="just">
              <a:spcAft>
                <a:spcPts val="0"/>
              </a:spcAft>
            </a:pPr>
            <a:r>
              <a:rPr lang="uz-Cyrl-UZ" b="1" dirty="0" smtClean="0">
                <a:latin typeface="Times New Roman" panose="02020603050405020304" pitchFamily="18" charset="0"/>
                <a:ea typeface="Times New Roman" panose="02020603050405020304" pitchFamily="18" charset="0"/>
                <a:cs typeface="Calibri" panose="020F0502020204030204" pitchFamily="34" charset="0"/>
              </a:rPr>
              <a:t>3</a:t>
            </a:r>
            <a:r>
              <a:rPr lang="uz-Cyrl-UZ" b="1" baseline="30000" dirty="0" smtClean="0">
                <a:latin typeface="Times New Roman" panose="02020603050405020304" pitchFamily="18" charset="0"/>
                <a:ea typeface="Times New Roman" panose="02020603050405020304" pitchFamily="18" charset="0"/>
                <a:cs typeface="Calibri" panose="020F0502020204030204" pitchFamily="34" charset="0"/>
              </a:rPr>
              <a:t>о</a:t>
            </a:r>
            <a:r>
              <a:rPr lang="uz-Cyrl-UZ" b="1" dirty="0" smtClean="0">
                <a:latin typeface="Times New Roman" panose="02020603050405020304" pitchFamily="18" charset="0"/>
                <a:ea typeface="Times New Roman" panose="02020603050405020304" pitchFamily="18" charset="0"/>
                <a:cs typeface="Calibri" panose="020F0502020204030204" pitchFamily="34" charset="0"/>
              </a:rPr>
              <a:t>. </a:t>
            </a:r>
            <a:r>
              <a:rPr lang="uz-Cyrl-UZ" dirty="0">
                <a:latin typeface="Times New Roman" panose="02020603050405020304" pitchFamily="18" charset="0"/>
                <a:ea typeface="Times New Roman" panose="02020603050405020304" pitchFamily="18" charset="0"/>
                <a:cs typeface="Calibri" panose="020F0502020204030204" pitchFamily="34" charset="0"/>
              </a:rPr>
              <a:t>Бир-биридан ҳолат массивининг бош диоганал байтлари билан фарқ қилувчи ва ушбу байтлари турли хил актив байт бўлган 2</a:t>
            </a:r>
            <a:r>
              <a:rPr lang="uz-Cyrl-UZ" baseline="30000" dirty="0">
                <a:latin typeface="Times New Roman" panose="02020603050405020304" pitchFamily="18" charset="0"/>
                <a:ea typeface="Times New Roman" panose="02020603050405020304" pitchFamily="18" charset="0"/>
                <a:cs typeface="Calibri" panose="020F0502020204030204" pitchFamily="34" charset="0"/>
              </a:rPr>
              <a:t>32</a:t>
            </a:r>
            <a:r>
              <a:rPr lang="uz-Cyrl-UZ" dirty="0">
                <a:latin typeface="Times New Roman" panose="02020603050405020304" pitchFamily="18" charset="0"/>
                <a:ea typeface="Times New Roman" panose="02020603050405020304" pitchFamily="18" charset="0"/>
                <a:cs typeface="Calibri" panose="020F0502020204030204" pitchFamily="34" charset="0"/>
              </a:rPr>
              <a:t> та матнлар тўпламини тўрт раундли AES</a:t>
            </a:r>
            <a:r>
              <a:rPr lang="uz-Cyrl-UZ" b="1" dirty="0">
                <a:latin typeface="Times New Roman" panose="02020603050405020304" pitchFamily="18" charset="0"/>
                <a:ea typeface="Times New Roman" panose="02020603050405020304" pitchFamily="18" charset="0"/>
                <a:cs typeface="Calibri" panose="020F0502020204030204" pitchFamily="34" charset="0"/>
              </a:rPr>
              <a:t> </a:t>
            </a:r>
            <a:r>
              <a:rPr lang="uz-Cyrl-UZ" dirty="0">
                <a:latin typeface="Times New Roman" panose="02020603050405020304" pitchFamily="18" charset="0"/>
                <a:ea typeface="Times New Roman" panose="02020603050405020304" pitchFamily="18" charset="0"/>
                <a:cs typeface="Calibri" panose="020F0502020204030204" pitchFamily="34" charset="0"/>
              </a:rPr>
              <a:t>алгоритми орқали шифрлаш натижасида, барча элементлари баланслашган аралаш байт бўлган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тўплам </a:t>
            </a:r>
            <a:r>
              <a:rPr lang="uz-Cyrl-UZ" dirty="0">
                <a:latin typeface="Times New Roman" panose="02020603050405020304" pitchFamily="18" charset="0"/>
                <a:ea typeface="Times New Roman" panose="02020603050405020304" pitchFamily="18" charset="0"/>
                <a:cs typeface="Calibri" panose="020F0502020204030204" pitchFamily="34" charset="0"/>
              </a:rPr>
              <a:t>ҳосил бўлади. Яъни:</a:t>
            </a:r>
            <a:endParaRPr lang="ru-RU" sz="14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7" name="Прямоугольник 6"/>
          <p:cNvSpPr/>
          <p:nvPr/>
        </p:nvSpPr>
        <p:spPr>
          <a:xfrm>
            <a:off x="172328" y="152400"/>
            <a:ext cx="8819272" cy="830997"/>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wrap="square" tIns="0" bIns="0">
            <a:spAutoFit/>
          </a:bodyPr>
          <a:lstStyle/>
          <a:p>
            <a:pPr indent="365125" algn="just">
              <a:spcAft>
                <a:spcPts val="0"/>
              </a:spcAft>
            </a:pPr>
            <a:r>
              <a:rPr lang="uz-Cyrl-UZ" b="1" dirty="0">
                <a:latin typeface="Times New Roman" panose="02020603050405020304" pitchFamily="18" charset="0"/>
                <a:ea typeface="Times New Roman" panose="02020603050405020304" pitchFamily="18" charset="0"/>
                <a:cs typeface="Calibri" panose="020F0502020204030204" pitchFamily="34" charset="0"/>
              </a:rPr>
              <a:t>Алгоритм акслантиришларининг мазкур хусусиятлари натижасига кўра, ушбу алгоритмнинг айрим раундларига нисбатан қуйидаги хулосаларни келтиришимиз мумкин:</a:t>
            </a:r>
            <a:endParaRPr lang="ru-RU" sz="1400" b="1" dirty="0">
              <a:latin typeface="Calibri" panose="020F0502020204030204" pitchFamily="34" charset="0"/>
              <a:ea typeface="Times New Roman" panose="02020603050405020304" pitchFamily="18" charset="0"/>
              <a:cs typeface="Calibri" panose="020F0502020204030204" pitchFamily="34" charset="0"/>
            </a:endParaRPr>
          </a:p>
        </p:txBody>
      </p:sp>
      <p:pic>
        <p:nvPicPr>
          <p:cNvPr id="7170" name="Picture 2"/>
          <p:cNvPicPr>
            <a:picLocks noChangeAspect="1" noChangeArrowheads="1"/>
          </p:cNvPicPr>
          <p:nvPr/>
        </p:nvPicPr>
        <p:blipFill>
          <a:blip r:embed="rId2" cstate="print"/>
          <a:srcRect/>
          <a:stretch>
            <a:fillRect/>
          </a:stretch>
        </p:blipFill>
        <p:spPr bwMode="auto">
          <a:xfrm>
            <a:off x="1892450" y="5860650"/>
            <a:ext cx="5334000" cy="923840"/>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2057400" y="3747545"/>
            <a:ext cx="4267200" cy="904754"/>
          </a:xfrm>
          <a:prstGeom prst="rect">
            <a:avLst/>
          </a:prstGeom>
          <a:noFill/>
          <a:ln w="9525">
            <a:noFill/>
            <a:miter lim="800000"/>
            <a:headEnd/>
            <a:tailEnd/>
          </a:ln>
        </p:spPr>
      </p:pic>
      <p:pic>
        <p:nvPicPr>
          <p:cNvPr id="7172" name="Picture 4"/>
          <p:cNvPicPr>
            <a:picLocks noChangeAspect="1" noChangeArrowheads="1"/>
          </p:cNvPicPr>
          <p:nvPr/>
        </p:nvPicPr>
        <p:blipFill>
          <a:blip r:embed="rId4" cstate="print"/>
          <a:srcRect/>
          <a:stretch>
            <a:fillRect/>
          </a:stretch>
        </p:blipFill>
        <p:spPr bwMode="auto">
          <a:xfrm>
            <a:off x="2075725" y="1916575"/>
            <a:ext cx="4257675" cy="910913"/>
          </a:xfrm>
          <a:prstGeom prst="rect">
            <a:avLst/>
          </a:prstGeom>
          <a:noFill/>
          <a:ln w="9525">
            <a:noFill/>
            <a:miter lim="800000"/>
            <a:headEnd/>
            <a:tailEnd/>
          </a:ln>
        </p:spPr>
      </p:pic>
    </p:spTree>
    <p:extLst>
      <p:ext uri="{BB962C8B-B14F-4D97-AF65-F5344CB8AC3E}">
        <p14:creationId xmlns:p14="http://schemas.microsoft.com/office/powerpoint/2010/main" val="36486350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p:cNvSpPr txBox="1">
            <a:spLocks/>
          </p:cNvSpPr>
          <p:nvPr/>
        </p:nvSpPr>
        <p:spPr>
          <a:xfrm>
            <a:off x="228600" y="168440"/>
            <a:ext cx="8686800" cy="441160"/>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a:lstStyle/>
          <a:p>
            <a:pPr algn="ctr" defTabSz="755650">
              <a:lnSpc>
                <a:spcPct val="90000"/>
              </a:lnSpc>
              <a:spcBef>
                <a:spcPct val="15000"/>
              </a:spcBef>
              <a:spcAft>
                <a:spcPct val="50000"/>
              </a:spcAft>
              <a:buSzPct val="130000"/>
              <a:tabLst>
                <a:tab pos="446088" algn="l"/>
              </a:tabLst>
              <a:defRPr/>
            </a:pPr>
            <a:r>
              <a:rPr lang="uz-Cyrl-UZ" sz="2100" b="1" dirty="0">
                <a:latin typeface="Times New Roman" panose="02020603050405020304" pitchFamily="18" charset="0"/>
                <a:cs typeface="Times New Roman" panose="02020603050405020304" pitchFamily="18" charset="0"/>
              </a:rPr>
              <a:t>Уч раундли AES алгоритми учун очиқ матнлар тўпламини танлаш</a:t>
            </a:r>
            <a:endParaRPr lang="ru-RU" sz="2100" b="1" dirty="0">
              <a:solidFill>
                <a:schemeClr val="tx1"/>
              </a:solidFill>
              <a:latin typeface="Times New Roman" pitchFamily="18" charset="0"/>
              <a:ea typeface="Times New Roman" pitchFamily="18" charset="0"/>
              <a:cs typeface="Times New Roman" pitchFamily="18" charset="0"/>
            </a:endParaRPr>
          </a:p>
        </p:txBody>
      </p:sp>
      <p:sp>
        <p:nvSpPr>
          <p:cNvPr id="4" name="Прямоугольник 3"/>
          <p:cNvSpPr/>
          <p:nvPr/>
        </p:nvSpPr>
        <p:spPr>
          <a:xfrm>
            <a:off x="180536" y="762000"/>
            <a:ext cx="8763000" cy="630942"/>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spcAft>
                <a:spcPts val="600"/>
              </a:spcAft>
            </a:pPr>
            <a:r>
              <a:rPr lang="uz-Cyrl-UZ" b="1" dirty="0" smtClean="0">
                <a:latin typeface="Times New Roman" panose="02020603050405020304" pitchFamily="18" charset="0"/>
                <a:ea typeface="Times New Roman" panose="02020603050405020304" pitchFamily="18" charset="0"/>
              </a:rPr>
              <a:t>Тўплам кўриниши:</a:t>
            </a:r>
            <a:r>
              <a:rPr lang="uz-Cyrl-UZ" dirty="0" smtClean="0">
                <a:latin typeface="Times New Roman" panose="02020603050405020304" pitchFamily="18" charset="0"/>
                <a:ea typeface="Times New Roman" panose="02020603050405020304" pitchFamily="18" charset="0"/>
              </a:rPr>
              <a:t>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ҳолат </a:t>
            </a:r>
            <a:r>
              <a:rPr lang="uz-Cyrl-UZ" dirty="0">
                <a:latin typeface="Times New Roman" panose="02020603050405020304" pitchFamily="18" charset="0"/>
                <a:ea typeface="Times New Roman" panose="02020603050405020304" pitchFamily="18" charset="0"/>
                <a:cs typeface="Calibri" panose="020F0502020204030204" pitchFamily="34" charset="0"/>
              </a:rPr>
              <a:t>массивининг барча элементлари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актив.</a:t>
            </a:r>
          </a:p>
          <a:p>
            <a:pPr indent="365125" algn="just"/>
            <a:r>
              <a:rPr lang="uz-Cyrl-UZ" b="1" dirty="0" smtClean="0">
                <a:latin typeface="Times New Roman" panose="02020603050405020304" pitchFamily="18" charset="0"/>
                <a:ea typeface="Times New Roman" panose="02020603050405020304" pitchFamily="18" charset="0"/>
                <a:cs typeface="Calibri" panose="020F0502020204030204" pitchFamily="34" charset="0"/>
              </a:rPr>
              <a:t>Матнлар сони: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smtClean="0">
                <a:latin typeface="Times New Roman" panose="02020603050405020304" pitchFamily="18" charset="0"/>
                <a:ea typeface="Times New Roman" panose="02020603050405020304" pitchFamily="18" charset="0"/>
                <a:cs typeface="Calibri" panose="020F0502020204030204" pitchFamily="34" charset="0"/>
              </a:rPr>
              <a:t>8</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a:t>
            </a:r>
            <a:endParaRPr lang="ru-RU" dirty="0"/>
          </a:p>
        </p:txBody>
      </p:sp>
      <p:sp>
        <p:nvSpPr>
          <p:cNvPr id="6" name="Прямоугольник 3"/>
          <p:cNvSpPr/>
          <p:nvPr/>
        </p:nvSpPr>
        <p:spPr>
          <a:xfrm>
            <a:off x="210670" y="1483660"/>
            <a:ext cx="8763000" cy="553998"/>
          </a:xfrm>
          <a:prstGeom prst="rect">
            <a:avLst/>
          </a:prstGeom>
          <a:ln/>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r>
              <a:rPr lang="uz-Cyrl-UZ" dirty="0" smtClean="0">
                <a:latin typeface="Times New Roman" panose="02020603050405020304" pitchFamily="18" charset="0"/>
                <a:ea typeface="Times New Roman" panose="02020603050405020304" pitchFamily="18" charset="0"/>
                <a:cs typeface="Calibri" panose="020F0502020204030204" pitchFamily="34" charset="0"/>
              </a:rPr>
              <a:t>Қуйида ушбу тўпламни 3 раундли </a:t>
            </a:r>
            <a:r>
              <a:rPr lang="uz-Cyrl-UZ" dirty="0" smtClean="0">
                <a:latin typeface="Times New Roman" panose="02020603050405020304" pitchFamily="18" charset="0"/>
                <a:ea typeface="Times New Roman" panose="02020603050405020304" pitchFamily="18" charset="0"/>
              </a:rPr>
              <a:t>AES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алгоритми орқали </a:t>
            </a:r>
            <a:r>
              <a:rPr lang="uz-Cyrl-UZ" dirty="0" smtClean="0">
                <a:latin typeface="Times New Roman" panose="02020603050405020304" pitchFamily="18" charset="0"/>
                <a:ea typeface="Times New Roman" panose="02020603050405020304" pitchFamily="18" charset="0"/>
              </a:rPr>
              <a:t>шифрлаш жараёнида массив элементларининг ўзгариш схемаси келтирилган:</a:t>
            </a:r>
            <a:endParaRPr lang="ru-RU" dirty="0"/>
          </a:p>
        </p:txBody>
      </p:sp>
      <p:sp>
        <p:nvSpPr>
          <p:cNvPr id="7" name="Прямоугольник 6"/>
          <p:cNvSpPr/>
          <p:nvPr/>
        </p:nvSpPr>
        <p:spPr>
          <a:xfrm>
            <a:off x="175550" y="6001475"/>
            <a:ext cx="8763000" cy="769441"/>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algn="just">
              <a:spcAft>
                <a:spcPts val="0"/>
              </a:spcAft>
            </a:pPr>
            <a:r>
              <a:rPr lang="uz-Cyrl-UZ" b="1" dirty="0" smtClean="0">
                <a:latin typeface="Times New Roman" panose="02020603050405020304" pitchFamily="18" charset="0"/>
                <a:ea typeface="Times New Roman" panose="02020603050405020304" pitchFamily="18" charset="0"/>
                <a:cs typeface="Calibri" panose="020F0502020204030204" pitchFamily="34" charset="0"/>
              </a:rPr>
              <a:t>сўнгги раунд калитини аниқлаш қийинчилиги: </a:t>
            </a:r>
          </a:p>
          <a:p>
            <a:pPr algn="ctr">
              <a:spcAft>
                <a:spcPts val="0"/>
              </a:spcAft>
            </a:pP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smtClean="0">
                <a:latin typeface="Times New Roman" panose="02020603050405020304" pitchFamily="18" charset="0"/>
                <a:ea typeface="Times New Roman" panose="02020603050405020304" pitchFamily="18" charset="0"/>
                <a:cs typeface="Calibri" panose="020F0502020204030204" pitchFamily="34" charset="0"/>
              </a:rPr>
              <a:t>12</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 </a:t>
            </a:r>
            <a:r>
              <a:rPr lang="uz-Cyrl-UZ" dirty="0">
                <a:latin typeface="Times New Roman" panose="02020603050405020304" pitchFamily="18" charset="0"/>
                <a:ea typeface="Times New Roman" panose="02020603050405020304" pitchFamily="18" charset="0"/>
                <a:cs typeface="Calibri" panose="020F0502020204030204" pitchFamily="34" charset="0"/>
              </a:rPr>
              <a:t>(16*2</a:t>
            </a:r>
            <a:r>
              <a:rPr lang="uz-Cyrl-UZ" baseline="30000" dirty="0">
                <a:latin typeface="Times New Roman" panose="02020603050405020304" pitchFamily="18" charset="0"/>
                <a:ea typeface="Times New Roman" panose="02020603050405020304" pitchFamily="18" charset="0"/>
                <a:cs typeface="Calibri" panose="020F0502020204030204" pitchFamily="34" charset="0"/>
              </a:rPr>
              <a:t>8</a:t>
            </a:r>
            <a:r>
              <a:rPr lang="uz-Cyrl-UZ" dirty="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a:latin typeface="Times New Roman" panose="02020603050405020304" pitchFamily="18" charset="0"/>
                <a:ea typeface="Times New Roman" panose="02020603050405020304" pitchFamily="18" charset="0"/>
                <a:cs typeface="Calibri" panose="020F0502020204030204" pitchFamily="34" charset="0"/>
              </a:rPr>
              <a:t>12</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 та вариант.</a:t>
            </a:r>
          </a:p>
          <a:p>
            <a:pPr algn="ctr">
              <a:spcAft>
                <a:spcPts val="0"/>
              </a:spcAft>
            </a:pPr>
            <a:endParaRPr lang="ru-RU" sz="1400" dirty="0">
              <a:effectLst/>
              <a:latin typeface="Calibri" panose="020F0502020204030204" pitchFamily="34" charset="0"/>
              <a:ea typeface="Times New Roman" panose="02020603050405020304" pitchFamily="18" charset="0"/>
              <a:cs typeface="Calibri" panose="020F0502020204030204" pitchFamily="34" charset="0"/>
            </a:endParaRPr>
          </a:p>
        </p:txBody>
      </p:sp>
      <p:pic>
        <p:nvPicPr>
          <p:cNvPr id="4098" name="Picture 2"/>
          <p:cNvPicPr>
            <a:picLocks noChangeAspect="1" noChangeArrowheads="1"/>
          </p:cNvPicPr>
          <p:nvPr/>
        </p:nvPicPr>
        <p:blipFill>
          <a:blip r:embed="rId2" cstate="print"/>
          <a:srcRect/>
          <a:stretch>
            <a:fillRect/>
          </a:stretch>
        </p:blipFill>
        <p:spPr bwMode="auto">
          <a:xfrm>
            <a:off x="248548" y="2126850"/>
            <a:ext cx="8537602" cy="3790950"/>
          </a:xfrm>
          <a:prstGeom prst="rect">
            <a:avLst/>
          </a:prstGeom>
          <a:noFill/>
          <a:ln w="9525">
            <a:noFill/>
            <a:miter lim="800000"/>
            <a:headEnd/>
            <a:tailEnd/>
          </a:ln>
        </p:spPr>
      </p:pic>
    </p:spTree>
    <p:extLst>
      <p:ext uri="{BB962C8B-B14F-4D97-AF65-F5344CB8AC3E}">
        <p14:creationId xmlns:p14="http://schemas.microsoft.com/office/powerpoint/2010/main" val="2192240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1"/>
          <p:cNvSpPr txBox="1">
            <a:spLocks/>
          </p:cNvSpPr>
          <p:nvPr/>
        </p:nvSpPr>
        <p:spPr>
          <a:xfrm>
            <a:off x="228600" y="168440"/>
            <a:ext cx="8686800" cy="441160"/>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a:lstStyle/>
          <a:p>
            <a:pPr algn="ctr" defTabSz="755650">
              <a:lnSpc>
                <a:spcPct val="90000"/>
              </a:lnSpc>
              <a:spcBef>
                <a:spcPct val="15000"/>
              </a:spcBef>
              <a:spcAft>
                <a:spcPct val="50000"/>
              </a:spcAft>
              <a:buSzPct val="130000"/>
              <a:tabLst>
                <a:tab pos="446088" algn="l"/>
              </a:tabLst>
              <a:defRPr/>
            </a:pPr>
            <a:r>
              <a:rPr lang="uz-Cyrl-UZ" sz="2100" b="1" dirty="0">
                <a:latin typeface="Times New Roman" panose="02020603050405020304" pitchFamily="18" charset="0"/>
                <a:cs typeface="Times New Roman" panose="02020603050405020304" pitchFamily="18" charset="0"/>
              </a:rPr>
              <a:t>Тўрт раундли AES алгоритми учун очиқ матнлар тўпламини танлаш</a:t>
            </a:r>
            <a:endParaRPr lang="ru-RU" sz="2100" b="1" dirty="0">
              <a:solidFill>
                <a:schemeClr val="tx1"/>
              </a:solidFill>
              <a:latin typeface="Times New Roman" pitchFamily="18" charset="0"/>
              <a:ea typeface="Times New Roman" pitchFamily="18" charset="0"/>
              <a:cs typeface="Times New Roman" pitchFamily="18" charset="0"/>
            </a:endParaRPr>
          </a:p>
        </p:txBody>
      </p:sp>
      <p:sp>
        <p:nvSpPr>
          <p:cNvPr id="4" name="Прямоугольник 3"/>
          <p:cNvSpPr/>
          <p:nvPr/>
        </p:nvSpPr>
        <p:spPr>
          <a:xfrm>
            <a:off x="191382" y="1609502"/>
            <a:ext cx="8763000" cy="553998"/>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r>
              <a:rPr lang="uz-Cyrl-UZ" dirty="0" smtClean="0">
                <a:latin typeface="Times New Roman" panose="02020603050405020304" pitchFamily="18" charset="0"/>
                <a:cs typeface="Times New Roman" panose="02020603050405020304" pitchFamily="18" charset="0"/>
              </a:rPr>
              <a:t>Ушбу тўпламни </a:t>
            </a:r>
            <a:r>
              <a:rPr lang="uz-Cyrl-UZ" dirty="0">
                <a:latin typeface="Times New Roman" panose="02020603050405020304" pitchFamily="18" charset="0"/>
                <a:cs typeface="Times New Roman" panose="02020603050405020304" pitchFamily="18" charset="0"/>
              </a:rPr>
              <a:t>4 раундли AES алгоритми орқали шифрлаш жараёнида массив элементларининг ўзгариш схемаси келтирилган.</a:t>
            </a:r>
            <a:endParaRPr lang="ru-RU" dirty="0">
              <a:latin typeface="Times New Roman" panose="02020603050405020304" pitchFamily="18" charset="0"/>
              <a:cs typeface="Times New Roman" panose="02020603050405020304" pitchFamily="18" charset="0"/>
            </a:endParaRPr>
          </a:p>
        </p:txBody>
      </p:sp>
      <p:sp>
        <p:nvSpPr>
          <p:cNvPr id="6" name="Прямоугольник 5"/>
          <p:cNvSpPr/>
          <p:nvPr/>
        </p:nvSpPr>
        <p:spPr>
          <a:xfrm>
            <a:off x="180536" y="719796"/>
            <a:ext cx="8763000" cy="830997"/>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r>
              <a:rPr lang="uz-Cyrl-UZ" b="1" dirty="0" smtClean="0">
                <a:latin typeface="Times New Roman" panose="02020603050405020304" pitchFamily="18" charset="0"/>
                <a:ea typeface="Times New Roman" panose="02020603050405020304" pitchFamily="18" charset="0"/>
              </a:rPr>
              <a:t>Тўплам кўриниши:</a:t>
            </a:r>
            <a:r>
              <a:rPr lang="uz-Cyrl-UZ" dirty="0" smtClean="0">
                <a:latin typeface="Times New Roman" panose="02020603050405020304" pitchFamily="18" charset="0"/>
                <a:ea typeface="Times New Roman" panose="02020603050405020304" pitchFamily="18" charset="0"/>
              </a:rPr>
              <a:t> </a:t>
            </a:r>
            <a:r>
              <a:rPr lang="uz-Cyrl-UZ" dirty="0">
                <a:latin typeface="Times New Roman" panose="02020603050405020304" pitchFamily="18" charset="0"/>
                <a:cs typeface="Times New Roman" panose="02020603050405020304" pitchFamily="18" charset="0"/>
              </a:rPr>
              <a:t>ҳолат массивининг дастлабки элементи актив, қолган барча элементлари </a:t>
            </a:r>
            <a:r>
              <a:rPr lang="uz-Cyrl-UZ" dirty="0" smtClean="0">
                <a:latin typeface="Times New Roman" panose="02020603050405020304" pitchFamily="18" charset="0"/>
                <a:cs typeface="Times New Roman" panose="02020603050405020304" pitchFamily="18" charset="0"/>
              </a:rPr>
              <a:t>пассив</a:t>
            </a:r>
            <a:r>
              <a:rPr lang="uz-Cyrl-UZ" dirty="0" smtClean="0">
                <a:latin typeface="Times New Roman" panose="02020603050405020304" pitchFamily="18" charset="0"/>
                <a:ea typeface="Times New Roman" panose="02020603050405020304" pitchFamily="18" charset="0"/>
                <a:cs typeface="Times New Roman" panose="02020603050405020304" pitchFamily="18" charset="0"/>
              </a:rPr>
              <a:t>.</a:t>
            </a:r>
          </a:p>
          <a:p>
            <a:pPr indent="365125" algn="just"/>
            <a:r>
              <a:rPr lang="uz-Cyrl-UZ" b="1" dirty="0" smtClean="0">
                <a:latin typeface="Times New Roman" panose="02020603050405020304" pitchFamily="18" charset="0"/>
                <a:ea typeface="Times New Roman" panose="02020603050405020304" pitchFamily="18" charset="0"/>
                <a:cs typeface="Calibri" panose="020F0502020204030204" pitchFamily="34" charset="0"/>
              </a:rPr>
              <a:t>Матнлар сони: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smtClean="0">
                <a:latin typeface="Times New Roman" panose="02020603050405020304" pitchFamily="18" charset="0"/>
                <a:ea typeface="Times New Roman" panose="02020603050405020304" pitchFamily="18" charset="0"/>
                <a:cs typeface="Calibri" panose="020F0502020204030204" pitchFamily="34" charset="0"/>
              </a:rPr>
              <a:t>8</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a:t>
            </a:r>
            <a:endParaRPr lang="ru-RU" dirty="0"/>
          </a:p>
        </p:txBody>
      </p:sp>
      <p:sp>
        <p:nvSpPr>
          <p:cNvPr id="8" name="Прямоугольник 7"/>
          <p:cNvSpPr/>
          <p:nvPr/>
        </p:nvSpPr>
        <p:spPr>
          <a:xfrm>
            <a:off x="6945775" y="2279250"/>
            <a:ext cx="2057400" cy="1661993"/>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algn="ctr">
              <a:spcAft>
                <a:spcPts val="0"/>
              </a:spcAft>
            </a:pPr>
            <a:r>
              <a:rPr lang="uz-Cyrl-UZ" b="1" dirty="0" smtClean="0">
                <a:latin typeface="Times New Roman" panose="02020603050405020304" pitchFamily="18" charset="0"/>
                <a:ea typeface="Times New Roman" panose="02020603050405020304" pitchFamily="18" charset="0"/>
                <a:cs typeface="Calibri" panose="020F0502020204030204" pitchFamily="34" charset="0"/>
              </a:rPr>
              <a:t>сўнгги раунд калитини аниқлаш қийинчилиги: </a:t>
            </a:r>
          </a:p>
          <a:p>
            <a:pPr algn="ctr">
              <a:spcAft>
                <a:spcPts val="0"/>
              </a:spcAft>
            </a:pP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smtClean="0">
                <a:latin typeface="Times New Roman" panose="02020603050405020304" pitchFamily="18" charset="0"/>
                <a:ea typeface="Times New Roman" panose="02020603050405020304" pitchFamily="18" charset="0"/>
                <a:cs typeface="Calibri" panose="020F0502020204030204" pitchFamily="34" charset="0"/>
              </a:rPr>
              <a:t>12</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 </a:t>
            </a:r>
            <a:r>
              <a:rPr lang="uz-Cyrl-UZ" dirty="0">
                <a:latin typeface="Times New Roman" panose="02020603050405020304" pitchFamily="18" charset="0"/>
                <a:ea typeface="Times New Roman" panose="02020603050405020304" pitchFamily="18" charset="0"/>
                <a:cs typeface="Calibri" panose="020F0502020204030204" pitchFamily="34" charset="0"/>
              </a:rPr>
              <a:t>(16*2</a:t>
            </a:r>
            <a:r>
              <a:rPr lang="uz-Cyrl-UZ" baseline="30000" dirty="0">
                <a:latin typeface="Times New Roman" panose="02020603050405020304" pitchFamily="18" charset="0"/>
                <a:ea typeface="Times New Roman" panose="02020603050405020304" pitchFamily="18" charset="0"/>
                <a:cs typeface="Calibri" panose="020F0502020204030204" pitchFamily="34" charset="0"/>
              </a:rPr>
              <a:t>8</a:t>
            </a:r>
            <a:r>
              <a:rPr lang="uz-Cyrl-UZ" dirty="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a:latin typeface="Times New Roman" panose="02020603050405020304" pitchFamily="18" charset="0"/>
                <a:ea typeface="Times New Roman" panose="02020603050405020304" pitchFamily="18" charset="0"/>
                <a:cs typeface="Calibri" panose="020F0502020204030204" pitchFamily="34" charset="0"/>
              </a:rPr>
              <a:t>12</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 та вариант.</a:t>
            </a:r>
          </a:p>
        </p:txBody>
      </p:sp>
      <p:pic>
        <p:nvPicPr>
          <p:cNvPr id="5122" name="Picture 2"/>
          <p:cNvPicPr>
            <a:picLocks noChangeAspect="1" noChangeArrowheads="1"/>
          </p:cNvPicPr>
          <p:nvPr/>
        </p:nvPicPr>
        <p:blipFill>
          <a:blip r:embed="rId2" cstate="print"/>
          <a:srcRect/>
          <a:stretch>
            <a:fillRect/>
          </a:stretch>
        </p:blipFill>
        <p:spPr bwMode="auto">
          <a:xfrm>
            <a:off x="181350" y="2260925"/>
            <a:ext cx="6676650" cy="4495800"/>
          </a:xfrm>
          <a:prstGeom prst="rect">
            <a:avLst/>
          </a:prstGeom>
          <a:noFill/>
          <a:ln w="9525">
            <a:noFill/>
            <a:miter lim="800000"/>
            <a:headEnd/>
            <a:tailEnd/>
          </a:ln>
        </p:spPr>
      </p:pic>
    </p:spTree>
    <p:extLst>
      <p:ext uri="{BB962C8B-B14F-4D97-AF65-F5344CB8AC3E}">
        <p14:creationId xmlns:p14="http://schemas.microsoft.com/office/powerpoint/2010/main" val="29586935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p:cNvSpPr txBox="1">
            <a:spLocks/>
          </p:cNvSpPr>
          <p:nvPr/>
        </p:nvSpPr>
        <p:spPr>
          <a:xfrm>
            <a:off x="228600" y="168440"/>
            <a:ext cx="8686800" cy="441160"/>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a:lstStyle/>
          <a:p>
            <a:pPr algn="ctr" defTabSz="755650">
              <a:buSzPct val="130000"/>
              <a:tabLst>
                <a:tab pos="446088" algn="l"/>
              </a:tabLst>
              <a:defRPr/>
            </a:pPr>
            <a:r>
              <a:rPr lang="uz-Cyrl-UZ" sz="2100" b="1" dirty="0">
                <a:latin typeface="Times New Roman" panose="02020603050405020304" pitchFamily="18" charset="0"/>
                <a:cs typeface="Times New Roman" panose="02020603050405020304" pitchFamily="18" charset="0"/>
              </a:rPr>
              <a:t>Беш раундли AES алгоритми учун очиқ матнлар тўпламини танлаш</a:t>
            </a:r>
            <a:endParaRPr lang="ru-RU" sz="2100" b="1" dirty="0">
              <a:solidFill>
                <a:schemeClr val="tx1"/>
              </a:solidFill>
              <a:latin typeface="Times New Roman" pitchFamily="18" charset="0"/>
              <a:ea typeface="Times New Roman" pitchFamily="18" charset="0"/>
              <a:cs typeface="Times New Roman" pitchFamily="18" charset="0"/>
            </a:endParaRPr>
          </a:p>
        </p:txBody>
      </p:sp>
      <p:sp>
        <p:nvSpPr>
          <p:cNvPr id="6" name="Прямоугольник 5"/>
          <p:cNvSpPr/>
          <p:nvPr/>
        </p:nvSpPr>
        <p:spPr>
          <a:xfrm>
            <a:off x="179807" y="1557326"/>
            <a:ext cx="8763000" cy="553998"/>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r>
              <a:rPr lang="uz-Cyrl-UZ" dirty="0" smtClean="0">
                <a:latin typeface="Times New Roman" panose="02020603050405020304" pitchFamily="18" charset="0"/>
                <a:cs typeface="Times New Roman" panose="02020603050405020304" pitchFamily="18" charset="0"/>
              </a:rPr>
              <a:t>Ушбу тўпламни 5 </a:t>
            </a:r>
            <a:r>
              <a:rPr lang="uz-Cyrl-UZ" dirty="0">
                <a:latin typeface="Times New Roman" panose="02020603050405020304" pitchFamily="18" charset="0"/>
                <a:cs typeface="Times New Roman" panose="02020603050405020304" pitchFamily="18" charset="0"/>
              </a:rPr>
              <a:t>раундли AES алгоритми орқали шифрлаш жараёнида массив элементларининг ўзгариш схемаси келтирилган.</a:t>
            </a:r>
            <a:endParaRPr lang="ru-RU" dirty="0">
              <a:latin typeface="Times New Roman" panose="02020603050405020304" pitchFamily="18" charset="0"/>
              <a:cs typeface="Times New Roman" panose="02020603050405020304" pitchFamily="18" charset="0"/>
            </a:endParaRPr>
          </a:p>
        </p:txBody>
      </p:sp>
      <p:sp>
        <p:nvSpPr>
          <p:cNvPr id="8" name="Прямоугольник 7"/>
          <p:cNvSpPr/>
          <p:nvPr/>
        </p:nvSpPr>
        <p:spPr>
          <a:xfrm>
            <a:off x="180536" y="677592"/>
            <a:ext cx="8763000" cy="830997"/>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r>
              <a:rPr lang="uz-Cyrl-UZ" b="1" dirty="0" smtClean="0">
                <a:latin typeface="Times New Roman" panose="02020603050405020304" pitchFamily="18" charset="0"/>
                <a:ea typeface="Times New Roman" panose="02020603050405020304" pitchFamily="18" charset="0"/>
              </a:rPr>
              <a:t>Тўплам кўриниши:</a:t>
            </a:r>
            <a:r>
              <a:rPr lang="uz-Cyrl-UZ" dirty="0" smtClean="0">
                <a:latin typeface="Times New Roman" panose="02020603050405020304" pitchFamily="18" charset="0"/>
                <a:ea typeface="Times New Roman" panose="02020603050405020304" pitchFamily="18" charset="0"/>
              </a:rPr>
              <a:t> </a:t>
            </a:r>
            <a:r>
              <a:rPr lang="uz-Cyrl-UZ" dirty="0">
                <a:latin typeface="Times New Roman" panose="02020603050405020304" pitchFamily="18" charset="0"/>
                <a:cs typeface="Times New Roman" panose="02020603050405020304" pitchFamily="18" charset="0"/>
              </a:rPr>
              <a:t>ҳолат массивининг диоганал элементи турли хил актив, қолган барча элементлари </a:t>
            </a:r>
            <a:r>
              <a:rPr lang="uz-Cyrl-UZ" dirty="0" smtClean="0">
                <a:latin typeface="Times New Roman" panose="02020603050405020304" pitchFamily="18" charset="0"/>
                <a:cs typeface="Times New Roman" panose="02020603050405020304" pitchFamily="18" charset="0"/>
              </a:rPr>
              <a:t>пассив</a:t>
            </a:r>
          </a:p>
          <a:p>
            <a:pPr indent="365125" algn="just"/>
            <a:r>
              <a:rPr lang="uz-Cyrl-UZ" b="1" dirty="0" smtClean="0">
                <a:latin typeface="Times New Roman" panose="02020603050405020304" pitchFamily="18" charset="0"/>
                <a:ea typeface="Times New Roman" panose="02020603050405020304" pitchFamily="18" charset="0"/>
                <a:cs typeface="Calibri" panose="020F0502020204030204" pitchFamily="34" charset="0"/>
              </a:rPr>
              <a:t>Матнлар сони: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smtClean="0">
                <a:latin typeface="Times New Roman" panose="02020603050405020304" pitchFamily="18" charset="0"/>
                <a:ea typeface="Times New Roman" panose="02020603050405020304" pitchFamily="18" charset="0"/>
                <a:cs typeface="Calibri" panose="020F0502020204030204" pitchFamily="34" charset="0"/>
              </a:rPr>
              <a:t>32</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a:t>
            </a:r>
            <a:endParaRPr lang="ru-RU" dirty="0"/>
          </a:p>
        </p:txBody>
      </p:sp>
      <p:sp>
        <p:nvSpPr>
          <p:cNvPr id="9" name="Прямоугольник 8"/>
          <p:cNvSpPr/>
          <p:nvPr/>
        </p:nvSpPr>
        <p:spPr>
          <a:xfrm>
            <a:off x="6400800" y="2209800"/>
            <a:ext cx="2514600" cy="1877437"/>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534988" algn="just">
              <a:spcAft>
                <a:spcPts val="0"/>
              </a:spcAft>
            </a:pPr>
            <a:r>
              <a:rPr lang="uz-Cyrl-UZ" b="1" dirty="0" smtClean="0">
                <a:latin typeface="Times New Roman" panose="02020603050405020304" pitchFamily="18" charset="0"/>
                <a:ea typeface="Times New Roman" panose="02020603050405020304" pitchFamily="18" charset="0"/>
                <a:cs typeface="Calibri" panose="020F0502020204030204" pitchFamily="34" charset="0"/>
              </a:rPr>
              <a:t>сўнгги раунд калитини аниқлаш қийинчилиги: </a:t>
            </a:r>
          </a:p>
          <a:p>
            <a:pPr algn="ctr">
              <a:spcAft>
                <a:spcPts val="0"/>
              </a:spcAft>
            </a:pPr>
            <a:endParaRPr lang="uz-Cyrl-UZ" dirty="0" smtClean="0">
              <a:latin typeface="Times New Roman" panose="02020603050405020304" pitchFamily="18" charset="0"/>
              <a:ea typeface="Times New Roman" panose="02020603050405020304" pitchFamily="18" charset="0"/>
              <a:cs typeface="Calibri" panose="020F0502020204030204" pitchFamily="34" charset="0"/>
            </a:endParaRPr>
          </a:p>
          <a:p>
            <a:pPr algn="ctr">
              <a:spcAft>
                <a:spcPts val="0"/>
              </a:spcAft>
            </a:pP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smtClean="0">
                <a:latin typeface="Times New Roman" panose="02020603050405020304" pitchFamily="18" charset="0"/>
                <a:ea typeface="Times New Roman" panose="02020603050405020304" pitchFamily="18" charset="0"/>
                <a:cs typeface="Calibri" panose="020F0502020204030204" pitchFamily="34" charset="0"/>
              </a:rPr>
              <a:t>12</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 </a:t>
            </a:r>
            <a:r>
              <a:rPr lang="uz-Cyrl-UZ" dirty="0">
                <a:latin typeface="Times New Roman" panose="02020603050405020304" pitchFamily="18" charset="0"/>
                <a:ea typeface="Times New Roman" panose="02020603050405020304" pitchFamily="18" charset="0"/>
                <a:cs typeface="Calibri" panose="020F0502020204030204" pitchFamily="34" charset="0"/>
              </a:rPr>
              <a:t>(16*2</a:t>
            </a:r>
            <a:r>
              <a:rPr lang="uz-Cyrl-UZ" baseline="30000" dirty="0">
                <a:latin typeface="Times New Roman" panose="02020603050405020304" pitchFamily="18" charset="0"/>
                <a:ea typeface="Times New Roman" panose="02020603050405020304" pitchFamily="18" charset="0"/>
                <a:cs typeface="Calibri" panose="020F0502020204030204" pitchFamily="34" charset="0"/>
              </a:rPr>
              <a:t>8</a:t>
            </a:r>
            <a:r>
              <a:rPr lang="uz-Cyrl-UZ" dirty="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a:latin typeface="Times New Roman" panose="02020603050405020304" pitchFamily="18" charset="0"/>
                <a:ea typeface="Times New Roman" panose="02020603050405020304" pitchFamily="18" charset="0"/>
                <a:cs typeface="Calibri" panose="020F0502020204030204" pitchFamily="34" charset="0"/>
              </a:rPr>
              <a:t>12</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 та вариант.</a:t>
            </a:r>
          </a:p>
          <a:p>
            <a:pPr algn="ctr">
              <a:spcAft>
                <a:spcPts val="0"/>
              </a:spcAft>
            </a:pPr>
            <a:endParaRPr lang="ru-RU" sz="1400" dirty="0">
              <a:effectLst/>
              <a:latin typeface="Calibri" panose="020F0502020204030204" pitchFamily="34" charset="0"/>
              <a:ea typeface="Times New Roman" panose="02020603050405020304" pitchFamily="18" charset="0"/>
              <a:cs typeface="Calibri" panose="020F0502020204030204" pitchFamily="34" charset="0"/>
            </a:endParaRPr>
          </a:p>
        </p:txBody>
      </p:sp>
      <p:pic>
        <p:nvPicPr>
          <p:cNvPr id="6146" name="Picture 2"/>
          <p:cNvPicPr>
            <a:picLocks noChangeAspect="1" noChangeArrowheads="1"/>
          </p:cNvPicPr>
          <p:nvPr/>
        </p:nvPicPr>
        <p:blipFill>
          <a:blip r:embed="rId2" cstate="print"/>
          <a:srcRect/>
          <a:stretch>
            <a:fillRect/>
          </a:stretch>
        </p:blipFill>
        <p:spPr bwMode="auto">
          <a:xfrm>
            <a:off x="159150" y="2133599"/>
            <a:ext cx="6195350" cy="4570847"/>
          </a:xfrm>
          <a:prstGeom prst="rect">
            <a:avLst/>
          </a:prstGeom>
          <a:noFill/>
          <a:ln w="9525">
            <a:noFill/>
            <a:miter lim="800000"/>
            <a:headEnd/>
            <a:tailEnd/>
          </a:ln>
        </p:spPr>
      </p:pic>
    </p:spTree>
    <p:extLst>
      <p:ext uri="{BB962C8B-B14F-4D97-AF65-F5344CB8AC3E}">
        <p14:creationId xmlns:p14="http://schemas.microsoft.com/office/powerpoint/2010/main" val="896021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29480" y="88214"/>
            <a:ext cx="8907016" cy="1384995"/>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58775" algn="just"/>
            <a:r>
              <a:rPr lang="uz-Cyrl-UZ" b="1" dirty="0" smtClean="0">
                <a:latin typeface="Times New Roman" pitchFamily="18" charset="0"/>
                <a:cs typeface="Times New Roman" pitchFamily="18" charset="0"/>
              </a:rPr>
              <a:t>2-усулда</a:t>
            </a:r>
            <a:r>
              <a:rPr lang="uz-Cyrl-UZ" dirty="0" smtClean="0">
                <a:latin typeface="Times New Roman" pitchFamily="18" charset="0"/>
                <a:cs typeface="Times New Roman" pitchFamily="18" charset="0"/>
              </a:rPr>
              <a:t> 5, 6 ва 7 раундли AES алгоритмларида сўнгги раунд калитини топишда фойдаланилади. Ушбу усул 1-усулга таянган ҳолда амалга оширилади. Биринчи усулда сўнгги раун киришида баласлашганликка таянган ҳолда сўнгги раунд калити топилган бўлса, бу усулда сўнгги раунддан олдинги раунднинг киришидаги балансланганликка таянган ҳолда сўнгги икки раунднинг раунд калитлари бараварига топилади. </a:t>
            </a:r>
            <a:endParaRPr lang="ru-RU" dirty="0">
              <a:latin typeface="Times New Roman" pitchFamily="18" charset="0"/>
              <a:cs typeface="Times New Roman" pitchFamily="18" charset="0"/>
            </a:endParaRPr>
          </a:p>
        </p:txBody>
      </p:sp>
      <p:pic>
        <p:nvPicPr>
          <p:cNvPr id="3" name="Picture 2">
            <a:hlinkClick r:id="rId3" action="ppaction://hlinksldjump"/>
          </p:cNvPr>
          <p:cNvPicPr>
            <a:picLocks noChangeAspect="1" noChangeArrowheads="1"/>
          </p:cNvPicPr>
          <p:nvPr/>
        </p:nvPicPr>
        <p:blipFill>
          <a:blip r:embed="rId4" cstate="print"/>
          <a:srcRect/>
          <a:stretch>
            <a:fillRect/>
          </a:stretch>
        </p:blipFill>
        <p:spPr bwMode="auto">
          <a:xfrm>
            <a:off x="4427984" y="2420888"/>
            <a:ext cx="4601483" cy="4367484"/>
          </a:xfrm>
          <a:prstGeom prst="rect">
            <a:avLst/>
          </a:prstGeom>
          <a:noFill/>
          <a:ln w="9525">
            <a:noFill/>
            <a:miter lim="800000"/>
            <a:headEnd/>
            <a:tailEnd/>
          </a:ln>
        </p:spPr>
      </p:pic>
      <p:sp>
        <p:nvSpPr>
          <p:cNvPr id="1028" name="Rectangle 4"/>
          <p:cNvSpPr>
            <a:spLocks noChangeArrowheads="1"/>
          </p:cNvSpPr>
          <p:nvPr/>
        </p:nvSpPr>
        <p:spPr bwMode="auto">
          <a:xfrm>
            <a:off x="142229" y="1522468"/>
            <a:ext cx="8892000" cy="830997"/>
          </a:xfrm>
          <a:prstGeom prst="rect">
            <a:avLst/>
          </a:prstGeom>
          <a:ln>
            <a:headEnd/>
            <a:tailEnd/>
          </a:ln>
        </p:spPr>
        <p:style>
          <a:lnRef idx="2">
            <a:schemeClr val="dk1"/>
          </a:lnRef>
          <a:fillRef idx="1001">
            <a:schemeClr val="lt2"/>
          </a:fillRef>
          <a:effectRef idx="0">
            <a:schemeClr val="dk1"/>
          </a:effectRef>
          <a:fontRef idx="minor">
            <a:schemeClr val="dk1"/>
          </a:fontRef>
        </p:style>
        <p:txBody>
          <a:bodyPr vert="horz" wrap="square" lIns="91440" tIns="0" rIns="91440" bIns="0" numCol="1" anchor="ctr" anchorCtr="0" compatLnSpc="1">
            <a:prstTxWarp prst="textNoShape">
              <a:avLst/>
            </a:prstTxWarp>
            <a:spAutoFit/>
          </a:bodyPr>
          <a:lstStyle/>
          <a:p>
            <a:pPr marR="0" lvl="0" indent="358775" algn="just" defTabSz="914400" rtl="0" eaLnBrk="1" fontAlgn="base" latinLnBrk="0" hangingPunct="1">
              <a:lnSpc>
                <a:spcPct val="100000"/>
              </a:lnSpc>
              <a:spcBef>
                <a:spcPct val="0"/>
              </a:spcBef>
              <a:spcAft>
                <a:spcPct val="0"/>
              </a:spcAft>
              <a:buClrTx/>
              <a:buSzTx/>
              <a:buFontTx/>
              <a:buNone/>
              <a:tabLst/>
            </a:pPr>
            <a:r>
              <a:rPr kumimoji="0" lang="uz-Cyrl-UZ"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Иккинчи усулда AES алгоритмларидаги дешифрлаш раунд акслантиришлари тартибига </a:t>
            </a:r>
            <a:r>
              <a:rPr kumimoji="0" lang="uz-Cyrl-UZ" b="1"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MixColumns </a:t>
            </a:r>
            <a:r>
              <a:rPr kumimoji="0" lang="uz-Cyrl-UZ"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акслантиришининг</a:t>
            </a:r>
            <a:endPar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algn="just" fontAlgn="base">
              <a:spcBef>
                <a:spcPct val="0"/>
              </a:spcBef>
              <a:spcAft>
                <a:spcPct val="0"/>
              </a:spcAft>
            </a:pPr>
            <a:r>
              <a:rPr lang="uz-Cyrl-UZ" dirty="0" smtClean="0">
                <a:solidFill>
                  <a:schemeClr val="tx1"/>
                </a:solidFill>
                <a:latin typeface="Times New Roman" pitchFamily="18" charset="0"/>
                <a:ea typeface="Calibri" pitchFamily="34" charset="0"/>
                <a:cs typeface="Times New Roman" pitchFamily="18" charset="0"/>
              </a:rPr>
              <a:t>хусусиятидан келиб чиққан ҳолда бироз ўзгартириш киритилади</a:t>
            </a:r>
            <a:r>
              <a:rPr lang="en-US" dirty="0" smtClean="0">
                <a:solidFill>
                  <a:schemeClr val="tx1"/>
                </a:solidFill>
                <a:latin typeface="Times New Roman" pitchFamily="18" charset="0"/>
                <a:ea typeface="Calibri" pitchFamily="34" charset="0"/>
                <a:cs typeface="Times New Roman" pitchFamily="18" charset="0"/>
              </a:rPr>
              <a:t>, </a:t>
            </a:r>
            <a:r>
              <a:rPr lang="uz-Cyrl-UZ" dirty="0" smtClean="0">
                <a:solidFill>
                  <a:schemeClr val="tx1"/>
                </a:solidFill>
                <a:latin typeface="Times New Roman" pitchFamily="18" charset="0"/>
                <a:ea typeface="Calibri" pitchFamily="34" charset="0"/>
                <a:cs typeface="Times New Roman" pitchFamily="18" charset="0"/>
              </a:rPr>
              <a:t>яъни:</a:t>
            </a:r>
            <a:endParaRPr lang="uz-Cyrl-UZ" sz="2400" dirty="0" smtClean="0">
              <a:solidFill>
                <a:schemeClr val="tx1"/>
              </a:solidFill>
              <a:latin typeface="Arial" pitchFamily="34" charset="0"/>
              <a:cs typeface="Arial" pitchFamily="34" charset="0"/>
            </a:endParaRPr>
          </a:p>
        </p:txBody>
      </p:sp>
      <p:pic>
        <p:nvPicPr>
          <p:cNvPr id="1027" name="Picture 3"/>
          <p:cNvPicPr>
            <a:picLocks noChangeAspect="1" noChangeArrowheads="1"/>
          </p:cNvPicPr>
          <p:nvPr/>
        </p:nvPicPr>
        <p:blipFill>
          <a:blip r:embed="rId5" cstate="print">
            <a:clrChange>
              <a:clrFrom>
                <a:srgbClr val="FFFFFF"/>
              </a:clrFrom>
              <a:clrTo>
                <a:srgbClr val="FFFFFF">
                  <a:alpha val="0"/>
                </a:srgbClr>
              </a:clrTo>
            </a:clrChange>
            <a:lum bright="-10000"/>
          </a:blip>
          <a:srcRect/>
          <a:stretch>
            <a:fillRect/>
          </a:stretch>
        </p:blipFill>
        <p:spPr bwMode="auto">
          <a:xfrm>
            <a:off x="4572000" y="1844824"/>
            <a:ext cx="4357902" cy="288031"/>
          </a:xfrm>
          <a:prstGeom prst="rect">
            <a:avLst/>
          </a:prstGeom>
          <a:noFill/>
        </p:spPr>
      </p:pic>
      <p:pic>
        <p:nvPicPr>
          <p:cNvPr id="1030" name="Picture 6"/>
          <p:cNvPicPr>
            <a:picLocks noChangeAspect="1" noChangeArrowheads="1"/>
          </p:cNvPicPr>
          <p:nvPr/>
        </p:nvPicPr>
        <p:blipFill>
          <a:blip r:embed="rId6" cstate="print"/>
          <a:srcRect/>
          <a:stretch>
            <a:fillRect/>
          </a:stretch>
        </p:blipFill>
        <p:spPr bwMode="auto">
          <a:xfrm>
            <a:off x="104175" y="2420888"/>
            <a:ext cx="4312234" cy="1080120"/>
          </a:xfrm>
          <a:prstGeom prst="rect">
            <a:avLst/>
          </a:prstGeom>
          <a:noFill/>
          <a:ln w="9525">
            <a:noFill/>
            <a:miter lim="800000"/>
            <a:headEnd/>
            <a:tailEnd/>
          </a:ln>
        </p:spPr>
      </p:pic>
      <p:sp>
        <p:nvSpPr>
          <p:cNvPr id="10" name="Прямоугольник 9"/>
          <p:cNvSpPr/>
          <p:nvPr/>
        </p:nvSpPr>
        <p:spPr>
          <a:xfrm>
            <a:off x="107504" y="3573016"/>
            <a:ext cx="4248472" cy="1200329"/>
          </a:xfrm>
          <a:prstGeom prst="rect">
            <a:avLst/>
          </a:prstGeom>
        </p:spPr>
        <p:style>
          <a:lnRef idx="2">
            <a:schemeClr val="dk1"/>
          </a:lnRef>
          <a:fillRef idx="1001">
            <a:schemeClr val="lt2"/>
          </a:fillRef>
          <a:effectRef idx="0">
            <a:schemeClr val="dk1"/>
          </a:effectRef>
          <a:fontRef idx="minor">
            <a:schemeClr val="dk1"/>
          </a:fontRef>
        </p:style>
        <p:txBody>
          <a:bodyPr wrap="square">
            <a:spAutoFit/>
          </a:bodyPr>
          <a:lstStyle/>
          <a:p>
            <a:pPr indent="358775" algn="just"/>
            <a:r>
              <a:rPr lang="uz-Cyrl-UZ" dirty="0" smtClean="0">
                <a:latin typeface="Times New Roman" pitchFamily="18" charset="0"/>
                <a:cs typeface="Times New Roman" pitchFamily="18" charset="0"/>
              </a:rPr>
              <a:t>Бу ҳолатда </a:t>
            </a:r>
            <a:r>
              <a:rPr lang="uz-Cyrl-UZ" b="1" i="1" dirty="0" smtClean="0">
                <a:latin typeface="Times New Roman" pitchFamily="18" charset="0"/>
                <a:cs typeface="Times New Roman" pitchFamily="18" charset="0"/>
              </a:rPr>
              <a:t>K=MixColumns(K*) </a:t>
            </a:r>
            <a:r>
              <a:rPr lang="uz-Cyrl-UZ" dirty="0" smtClean="0">
                <a:latin typeface="Times New Roman" pitchFamily="18" charset="0"/>
                <a:cs typeface="Times New Roman" pitchFamily="18" charset="0"/>
              </a:rPr>
              <a:t>бўлади. Бу узгартириш интеграл криптотаҳлил жараёнида “переборлар” сонин камайишига ёрдам беради.</a:t>
            </a:r>
            <a:endParaRPr lang="ru-RU" dirty="0">
              <a:latin typeface="Times New Roman" pitchFamily="18" charset="0"/>
              <a:cs typeface="Times New Roman" pitchFamily="18" charset="0"/>
            </a:endParaRPr>
          </a:p>
        </p:txBody>
      </p:sp>
      <p:sp>
        <p:nvSpPr>
          <p:cNvPr id="1031" name="Rectangle 7"/>
          <p:cNvSpPr>
            <a:spLocks noChangeArrowheads="1"/>
          </p:cNvSpPr>
          <p:nvPr/>
        </p:nvSpPr>
        <p:spPr bwMode="auto">
          <a:xfrm>
            <a:off x="107504" y="4840706"/>
            <a:ext cx="4248472" cy="1938992"/>
          </a:xfrm>
          <a:prstGeom prst="rect">
            <a:avLst/>
          </a:prstGeom>
          <a:ln>
            <a:headEnd/>
            <a:tailEnd/>
          </a:ln>
        </p:spPr>
        <p:style>
          <a:lnRef idx="2">
            <a:schemeClr val="dk1"/>
          </a:lnRef>
          <a:fillRef idx="1001">
            <a:schemeClr val="lt2"/>
          </a:fillRef>
          <a:effectRef idx="0">
            <a:schemeClr val="dk1"/>
          </a:effectRef>
          <a:fontRef idx="minor">
            <a:schemeClr val="dk1"/>
          </a:fontRef>
        </p:style>
        <p:txBody>
          <a:bodyPr vert="horz" wrap="square" lIns="91440" tIns="0" rIns="91440" bIns="0" numCol="1" anchor="ctr" anchorCtr="0" compatLnSpc="1">
            <a:prstTxWarp prst="textNoShape">
              <a:avLst/>
            </a:prstTxWarp>
            <a:spAutoFit/>
          </a:bodyPr>
          <a:lstStyle/>
          <a:p>
            <a:pPr marL="0" marR="0" lvl="0" indent="450850" algn="just" defTabSz="914400" rtl="0" eaLnBrk="1" fontAlgn="base" latinLnBrk="0" hangingPunct="1">
              <a:lnSpc>
                <a:spcPct val="100000"/>
              </a:lnSpc>
              <a:spcBef>
                <a:spcPct val="0"/>
              </a:spcBef>
              <a:spcAft>
                <a:spcPct val="0"/>
              </a:spcAft>
              <a:buClrTx/>
              <a:buSzTx/>
              <a:buFontTx/>
              <a:buNone/>
              <a:tabLst/>
            </a:pPr>
            <a:r>
              <a:rPr kumimoji="0" lang="uz-Cyrl-UZ"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Ушбу схема асосида 5, 6 ва 7 раундли AESалгоритмига қўллаш учун очиқ матнлар тўпламини ва улардаги очиқ матнлар сонини ҳамда очиқ матнлардаги актив ва пассив байтларини жойлашишини аниқ танлаш муҳим ҳисобланади. </a:t>
            </a:r>
            <a:endParaRPr kumimoji="0" lang="uz-Cyrl-UZ"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1268967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1"/>
          <p:cNvSpPr txBox="1">
            <a:spLocks/>
          </p:cNvSpPr>
          <p:nvPr/>
        </p:nvSpPr>
        <p:spPr>
          <a:xfrm>
            <a:off x="228600" y="168440"/>
            <a:ext cx="8686800" cy="441160"/>
          </a:xfrm>
          <a:prstGeom prst="rect">
            <a:avLst/>
          </a:prstGeom>
          <a:solidFill>
            <a:schemeClr val="bg2">
              <a:lumMod val="90000"/>
            </a:schemeClr>
          </a:solidFill>
        </p:spPr>
        <p:style>
          <a:lnRef idx="2">
            <a:schemeClr val="dk1"/>
          </a:lnRef>
          <a:fillRef idx="1002">
            <a:schemeClr val="lt2"/>
          </a:fillRef>
          <a:effectRef idx="0">
            <a:schemeClr val="dk1"/>
          </a:effectRef>
          <a:fontRef idx="minor">
            <a:schemeClr val="dk1"/>
          </a:fontRef>
        </p:style>
        <p:txBody>
          <a:bodyPr/>
          <a:lstStyle/>
          <a:p>
            <a:pPr algn="ctr" defTabSz="755650">
              <a:buSzPct val="130000"/>
              <a:tabLst>
                <a:tab pos="446088" algn="l"/>
              </a:tabLst>
              <a:defRPr/>
            </a:pPr>
            <a:r>
              <a:rPr lang="uz-Cyrl-UZ" sz="2100" b="1" dirty="0">
                <a:latin typeface="Times New Roman" panose="02020603050405020304" pitchFamily="18" charset="0"/>
                <a:cs typeface="Times New Roman" panose="02020603050405020304" pitchFamily="18" charset="0"/>
              </a:rPr>
              <a:t>Беш раундли AES алгоритми учун очиқ матнлар тўпламини танлаш</a:t>
            </a:r>
            <a:endParaRPr lang="ru-RU" sz="2100" b="1" dirty="0">
              <a:solidFill>
                <a:schemeClr val="tx1"/>
              </a:solidFill>
              <a:latin typeface="Times New Roman" pitchFamily="18" charset="0"/>
              <a:ea typeface="Times New Roman" pitchFamily="18" charset="0"/>
              <a:cs typeface="Times New Roman" pitchFamily="18" charset="0"/>
            </a:endParaRPr>
          </a:p>
        </p:txBody>
      </p:sp>
      <p:sp>
        <p:nvSpPr>
          <p:cNvPr id="6" name="Прямоугольник 5"/>
          <p:cNvSpPr/>
          <p:nvPr/>
        </p:nvSpPr>
        <p:spPr>
          <a:xfrm>
            <a:off x="191382" y="1557326"/>
            <a:ext cx="8763000" cy="553998"/>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r>
              <a:rPr lang="uz-Cyrl-UZ" dirty="0" smtClean="0">
                <a:latin typeface="Times New Roman" panose="02020603050405020304" pitchFamily="18" charset="0"/>
                <a:cs typeface="Times New Roman" panose="02020603050405020304" pitchFamily="18" charset="0"/>
              </a:rPr>
              <a:t>Ушбу тўпламни 5 </a:t>
            </a:r>
            <a:r>
              <a:rPr lang="uz-Cyrl-UZ" dirty="0">
                <a:latin typeface="Times New Roman" panose="02020603050405020304" pitchFamily="18" charset="0"/>
                <a:cs typeface="Times New Roman" panose="02020603050405020304" pitchFamily="18" charset="0"/>
              </a:rPr>
              <a:t>раундли AES алгоритми орқали шифрлаш жараёнида массив элементларининг ўзгариш схемаси келтирилган.</a:t>
            </a:r>
            <a:endParaRPr lang="ru-RU" dirty="0">
              <a:latin typeface="Times New Roman" panose="02020603050405020304" pitchFamily="18" charset="0"/>
              <a:cs typeface="Times New Roman" panose="02020603050405020304" pitchFamily="18" charset="0"/>
            </a:endParaRPr>
          </a:p>
        </p:txBody>
      </p:sp>
      <p:sp>
        <p:nvSpPr>
          <p:cNvPr id="8" name="Прямоугольник 7"/>
          <p:cNvSpPr/>
          <p:nvPr/>
        </p:nvSpPr>
        <p:spPr>
          <a:xfrm>
            <a:off x="180536" y="677592"/>
            <a:ext cx="8763000" cy="830997"/>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r>
              <a:rPr lang="uz-Cyrl-UZ" b="1" dirty="0" smtClean="0">
                <a:latin typeface="Times New Roman" panose="02020603050405020304" pitchFamily="18" charset="0"/>
                <a:ea typeface="Times New Roman" panose="02020603050405020304" pitchFamily="18" charset="0"/>
              </a:rPr>
              <a:t>Тўплам кўриниши:</a:t>
            </a:r>
            <a:r>
              <a:rPr lang="uz-Cyrl-UZ" dirty="0" smtClean="0">
                <a:latin typeface="Times New Roman" panose="02020603050405020304" pitchFamily="18" charset="0"/>
                <a:ea typeface="Times New Roman" panose="02020603050405020304" pitchFamily="18" charset="0"/>
              </a:rPr>
              <a:t> </a:t>
            </a:r>
            <a:r>
              <a:rPr lang="uz-Cyrl-UZ" dirty="0">
                <a:latin typeface="Times New Roman" panose="02020603050405020304" pitchFamily="18" charset="0"/>
                <a:cs typeface="Times New Roman" panose="02020603050405020304" pitchFamily="18" charset="0"/>
              </a:rPr>
              <a:t>ҳолат массивининг дастлабки элементи актив, қолган барча элементлари </a:t>
            </a:r>
            <a:r>
              <a:rPr lang="uz-Cyrl-UZ" dirty="0" smtClean="0">
                <a:latin typeface="Times New Roman" panose="02020603050405020304" pitchFamily="18" charset="0"/>
                <a:cs typeface="Times New Roman" panose="02020603050405020304" pitchFamily="18" charset="0"/>
              </a:rPr>
              <a:t>пассив</a:t>
            </a:r>
            <a:r>
              <a:rPr lang="uz-Cyrl-UZ" dirty="0" smtClean="0">
                <a:latin typeface="Times New Roman" panose="02020603050405020304" pitchFamily="18" charset="0"/>
                <a:ea typeface="Times New Roman" panose="02020603050405020304" pitchFamily="18" charset="0"/>
                <a:cs typeface="Times New Roman" panose="02020603050405020304" pitchFamily="18" charset="0"/>
              </a:rPr>
              <a:t>.</a:t>
            </a:r>
          </a:p>
          <a:p>
            <a:pPr indent="365125" algn="just"/>
            <a:r>
              <a:rPr lang="uz-Cyrl-UZ" b="1" dirty="0" smtClean="0">
                <a:latin typeface="Times New Roman" panose="02020603050405020304" pitchFamily="18" charset="0"/>
                <a:ea typeface="Times New Roman" panose="02020603050405020304" pitchFamily="18" charset="0"/>
                <a:cs typeface="Calibri" panose="020F0502020204030204" pitchFamily="34" charset="0"/>
              </a:rPr>
              <a:t>Матнлар сони: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smtClean="0">
                <a:latin typeface="Times New Roman" panose="02020603050405020304" pitchFamily="18" charset="0"/>
                <a:ea typeface="Times New Roman" panose="02020603050405020304" pitchFamily="18" charset="0"/>
                <a:cs typeface="Calibri" panose="020F0502020204030204" pitchFamily="34" charset="0"/>
              </a:rPr>
              <a:t>8</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a:t>
            </a:r>
            <a:endParaRPr lang="ru-RU" dirty="0"/>
          </a:p>
        </p:txBody>
      </p:sp>
      <p:sp>
        <p:nvSpPr>
          <p:cNvPr id="9" name="Прямоугольник 8"/>
          <p:cNvSpPr/>
          <p:nvPr/>
        </p:nvSpPr>
        <p:spPr>
          <a:xfrm>
            <a:off x="6400800" y="2209800"/>
            <a:ext cx="2514600" cy="1600438"/>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534988" algn="just">
              <a:spcAft>
                <a:spcPts val="0"/>
              </a:spcAft>
            </a:pPr>
            <a:r>
              <a:rPr lang="uz-Cyrl-UZ" b="1" dirty="0" smtClean="0">
                <a:latin typeface="Times New Roman" panose="02020603050405020304" pitchFamily="18" charset="0"/>
                <a:ea typeface="Times New Roman" panose="02020603050405020304" pitchFamily="18" charset="0"/>
                <a:cs typeface="Calibri" panose="020F0502020204030204" pitchFamily="34" charset="0"/>
              </a:rPr>
              <a:t>сўнгги раунд калитини аниқлаш қийинчилиги: </a:t>
            </a:r>
          </a:p>
          <a:p>
            <a:pPr algn="ctr">
              <a:spcAft>
                <a:spcPts val="0"/>
              </a:spcAft>
            </a:pPr>
            <a:endParaRPr lang="uz-Cyrl-UZ" dirty="0" smtClean="0">
              <a:latin typeface="Times New Roman" panose="02020603050405020304" pitchFamily="18" charset="0"/>
              <a:ea typeface="Times New Roman" panose="02020603050405020304" pitchFamily="18" charset="0"/>
              <a:cs typeface="Calibri" panose="020F0502020204030204" pitchFamily="34" charset="0"/>
            </a:endParaRPr>
          </a:p>
          <a:p>
            <a:pPr algn="ctr">
              <a:spcAft>
                <a:spcPts val="0"/>
              </a:spcAft>
            </a:pP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smtClean="0">
                <a:latin typeface="Times New Roman" panose="02020603050405020304" pitchFamily="18" charset="0"/>
                <a:ea typeface="Times New Roman" panose="02020603050405020304" pitchFamily="18" charset="0"/>
                <a:cs typeface="Calibri" panose="020F0502020204030204" pitchFamily="34" charset="0"/>
              </a:rPr>
              <a:t>4</a:t>
            </a:r>
            <a:r>
              <a:rPr lang="en-US" baseline="30000" dirty="0" smtClean="0">
                <a:latin typeface="Times New Roman" panose="02020603050405020304" pitchFamily="18" charset="0"/>
                <a:ea typeface="Times New Roman" panose="02020603050405020304" pitchFamily="18" charset="0"/>
                <a:cs typeface="Calibri" panose="020F0502020204030204" pitchFamily="34" charset="0"/>
              </a:rPr>
              <a:t>4</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 та вариант.</a:t>
            </a:r>
          </a:p>
          <a:p>
            <a:pPr algn="ctr">
              <a:spcAft>
                <a:spcPts val="0"/>
              </a:spcAft>
            </a:pPr>
            <a:endParaRPr lang="ru-RU" sz="1400" dirty="0">
              <a:effectLst/>
              <a:latin typeface="Calibri" panose="020F0502020204030204" pitchFamily="34" charset="0"/>
              <a:ea typeface="Times New Roman" panose="02020603050405020304" pitchFamily="18" charset="0"/>
              <a:cs typeface="Calibri" panose="020F0502020204030204" pitchFamily="34" charset="0"/>
            </a:endParaRPr>
          </a:p>
        </p:txBody>
      </p:sp>
      <p:pic>
        <p:nvPicPr>
          <p:cNvPr id="10241" name="Picture 1"/>
          <p:cNvPicPr>
            <a:picLocks noChangeAspect="1" noChangeArrowheads="1"/>
          </p:cNvPicPr>
          <p:nvPr/>
        </p:nvPicPr>
        <p:blipFill>
          <a:blip r:embed="rId2" cstate="print"/>
          <a:srcRect/>
          <a:stretch>
            <a:fillRect/>
          </a:stretch>
        </p:blipFill>
        <p:spPr bwMode="auto">
          <a:xfrm>
            <a:off x="175610" y="2167581"/>
            <a:ext cx="6124581" cy="4608512"/>
          </a:xfrm>
          <a:prstGeom prst="rect">
            <a:avLst/>
          </a:prstGeom>
          <a:noFill/>
          <a:ln w="9525">
            <a:noFill/>
            <a:miter lim="800000"/>
            <a:headEnd/>
            <a:tailEnd/>
          </a:ln>
        </p:spPr>
      </p:pic>
    </p:spTree>
    <p:extLst>
      <p:ext uri="{BB962C8B-B14F-4D97-AF65-F5344CB8AC3E}">
        <p14:creationId xmlns:p14="http://schemas.microsoft.com/office/powerpoint/2010/main" val="3416179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1"/>
          <p:cNvSpPr txBox="1">
            <a:spLocks/>
          </p:cNvSpPr>
          <p:nvPr/>
        </p:nvSpPr>
        <p:spPr>
          <a:xfrm>
            <a:off x="228600" y="108072"/>
            <a:ext cx="8686800" cy="364960"/>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tIns="0" bIns="0"/>
          <a:lstStyle/>
          <a:p>
            <a:pPr algn="ctr" defTabSz="755650">
              <a:buSzPct val="130000"/>
              <a:tabLst>
                <a:tab pos="446088" algn="l"/>
              </a:tabLst>
              <a:defRPr/>
            </a:pPr>
            <a:r>
              <a:rPr lang="uz-Cyrl-UZ" sz="2100" b="1" dirty="0">
                <a:latin typeface="Times New Roman" panose="02020603050405020304" pitchFamily="18" charset="0"/>
                <a:cs typeface="Times New Roman" panose="02020603050405020304" pitchFamily="18" charset="0"/>
              </a:rPr>
              <a:t>Олти раундли AES алгоритми учун очиқ матнлар тўпламини танлаш</a:t>
            </a:r>
            <a:endParaRPr lang="ru-RU" sz="2100" b="1" dirty="0">
              <a:solidFill>
                <a:schemeClr val="tx1"/>
              </a:solidFill>
              <a:latin typeface="Times New Roman" pitchFamily="18" charset="0"/>
              <a:ea typeface="Times New Roman" pitchFamily="18" charset="0"/>
              <a:cs typeface="Times New Roman" pitchFamily="18" charset="0"/>
            </a:endParaRPr>
          </a:p>
        </p:txBody>
      </p:sp>
      <p:sp>
        <p:nvSpPr>
          <p:cNvPr id="6" name="Прямоугольник 5"/>
          <p:cNvSpPr/>
          <p:nvPr/>
        </p:nvSpPr>
        <p:spPr>
          <a:xfrm>
            <a:off x="131014" y="1475995"/>
            <a:ext cx="2771336" cy="1661993"/>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r>
              <a:rPr lang="uz-Cyrl-UZ" dirty="0" smtClean="0">
                <a:latin typeface="Times New Roman" panose="02020603050405020304" pitchFamily="18" charset="0"/>
                <a:cs typeface="Times New Roman" panose="02020603050405020304" pitchFamily="18" charset="0"/>
              </a:rPr>
              <a:t>Ушбу тўпламни 6 </a:t>
            </a:r>
            <a:r>
              <a:rPr lang="uz-Cyrl-UZ" dirty="0">
                <a:latin typeface="Times New Roman" panose="02020603050405020304" pitchFamily="18" charset="0"/>
                <a:cs typeface="Times New Roman" panose="02020603050405020304" pitchFamily="18" charset="0"/>
              </a:rPr>
              <a:t>раундли AES алгоритми орқали шифрлаш жараёнида массив элементларининг ўзгариш схемаси келтирилган.</a:t>
            </a:r>
            <a:endParaRPr lang="ru-RU" dirty="0">
              <a:latin typeface="Times New Roman" panose="02020603050405020304" pitchFamily="18" charset="0"/>
              <a:cs typeface="Times New Roman" panose="02020603050405020304" pitchFamily="18" charset="0"/>
            </a:endParaRPr>
          </a:p>
        </p:txBody>
      </p:sp>
      <p:sp>
        <p:nvSpPr>
          <p:cNvPr id="8" name="Прямоугольник 7"/>
          <p:cNvSpPr/>
          <p:nvPr/>
        </p:nvSpPr>
        <p:spPr>
          <a:xfrm>
            <a:off x="194604" y="561536"/>
            <a:ext cx="8763000" cy="830997"/>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r>
              <a:rPr lang="uz-Cyrl-UZ" b="1" dirty="0" smtClean="0">
                <a:latin typeface="Times New Roman" panose="02020603050405020304" pitchFamily="18" charset="0"/>
                <a:ea typeface="Times New Roman" panose="02020603050405020304" pitchFamily="18" charset="0"/>
              </a:rPr>
              <a:t>Тўплам кўриниши:</a:t>
            </a:r>
            <a:r>
              <a:rPr lang="uz-Cyrl-UZ" dirty="0" smtClean="0">
                <a:latin typeface="Times New Roman" panose="02020603050405020304" pitchFamily="18" charset="0"/>
                <a:ea typeface="Times New Roman" panose="02020603050405020304" pitchFamily="18" charset="0"/>
              </a:rPr>
              <a:t> </a:t>
            </a:r>
            <a:r>
              <a:rPr lang="uz-Cyrl-UZ" dirty="0">
                <a:latin typeface="Times New Roman" panose="02020603050405020304" pitchFamily="18" charset="0"/>
                <a:cs typeface="Times New Roman" panose="02020603050405020304" pitchFamily="18" charset="0"/>
              </a:rPr>
              <a:t>ҳолат массивининг диоганал элементи турли хил актив, қолган барча элементлари </a:t>
            </a:r>
            <a:r>
              <a:rPr lang="uz-Cyrl-UZ" dirty="0" smtClean="0">
                <a:latin typeface="Times New Roman" panose="02020603050405020304" pitchFamily="18" charset="0"/>
                <a:cs typeface="Times New Roman" panose="02020603050405020304" pitchFamily="18" charset="0"/>
              </a:rPr>
              <a:t>пассив</a:t>
            </a:r>
            <a:r>
              <a:rPr lang="uz-Cyrl-UZ" dirty="0" smtClean="0">
                <a:latin typeface="Times New Roman" panose="02020603050405020304" pitchFamily="18" charset="0"/>
                <a:ea typeface="Times New Roman" panose="02020603050405020304" pitchFamily="18" charset="0"/>
                <a:cs typeface="Times New Roman" panose="02020603050405020304" pitchFamily="18" charset="0"/>
              </a:rPr>
              <a:t>.</a:t>
            </a:r>
          </a:p>
          <a:p>
            <a:pPr indent="365125" algn="just"/>
            <a:r>
              <a:rPr lang="uz-Cyrl-UZ" b="1" dirty="0" smtClean="0">
                <a:latin typeface="Times New Roman" panose="02020603050405020304" pitchFamily="18" charset="0"/>
                <a:ea typeface="Times New Roman" panose="02020603050405020304" pitchFamily="18" charset="0"/>
                <a:cs typeface="Calibri" panose="020F0502020204030204" pitchFamily="34" charset="0"/>
              </a:rPr>
              <a:t>Матнлар сони: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en-US" baseline="30000" dirty="0" smtClean="0">
                <a:latin typeface="Times New Roman" panose="02020603050405020304" pitchFamily="18" charset="0"/>
                <a:ea typeface="Times New Roman" panose="02020603050405020304" pitchFamily="18" charset="0"/>
                <a:cs typeface="Calibri" panose="020F0502020204030204" pitchFamily="34" charset="0"/>
              </a:rPr>
              <a:t>32</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a:t>
            </a:r>
            <a:endParaRPr lang="ru-RU" dirty="0"/>
          </a:p>
        </p:txBody>
      </p:sp>
      <p:sp>
        <p:nvSpPr>
          <p:cNvPr id="9" name="Прямоугольник 8"/>
          <p:cNvSpPr/>
          <p:nvPr/>
        </p:nvSpPr>
        <p:spPr>
          <a:xfrm>
            <a:off x="163975" y="3327725"/>
            <a:ext cx="2743200" cy="1600438"/>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534988" algn="just">
              <a:spcAft>
                <a:spcPts val="0"/>
              </a:spcAft>
            </a:pPr>
            <a:r>
              <a:rPr lang="uz-Cyrl-UZ" b="1" dirty="0" smtClean="0">
                <a:latin typeface="Times New Roman" panose="02020603050405020304" pitchFamily="18" charset="0"/>
                <a:ea typeface="Times New Roman" panose="02020603050405020304" pitchFamily="18" charset="0"/>
                <a:cs typeface="Calibri" panose="020F0502020204030204" pitchFamily="34" charset="0"/>
              </a:rPr>
              <a:t>сўнгги раунд калитини аниқлаш қийинчилиги: </a:t>
            </a:r>
          </a:p>
          <a:p>
            <a:pPr algn="ctr">
              <a:spcAft>
                <a:spcPts val="0"/>
              </a:spcAft>
            </a:pPr>
            <a:endParaRPr lang="uz-Cyrl-UZ" dirty="0" smtClean="0">
              <a:latin typeface="Times New Roman" panose="02020603050405020304" pitchFamily="18" charset="0"/>
              <a:ea typeface="Times New Roman" panose="02020603050405020304" pitchFamily="18" charset="0"/>
              <a:cs typeface="Calibri" panose="020F0502020204030204" pitchFamily="34" charset="0"/>
            </a:endParaRPr>
          </a:p>
          <a:p>
            <a:pPr algn="ctr">
              <a:spcAft>
                <a:spcPts val="0"/>
              </a:spcAft>
            </a:pP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smtClean="0">
                <a:latin typeface="Times New Roman" panose="02020603050405020304" pitchFamily="18" charset="0"/>
                <a:ea typeface="Times New Roman" panose="02020603050405020304" pitchFamily="18" charset="0"/>
                <a:cs typeface="Calibri" panose="020F0502020204030204" pitchFamily="34" charset="0"/>
              </a:rPr>
              <a:t>4</a:t>
            </a:r>
            <a:r>
              <a:rPr lang="en-US" baseline="30000" dirty="0" smtClean="0">
                <a:latin typeface="Times New Roman" panose="02020603050405020304" pitchFamily="18" charset="0"/>
                <a:ea typeface="Times New Roman" panose="02020603050405020304" pitchFamily="18" charset="0"/>
                <a:cs typeface="Calibri" panose="020F0502020204030204" pitchFamily="34" charset="0"/>
              </a:rPr>
              <a:t>4</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 та вариант.</a:t>
            </a:r>
          </a:p>
          <a:p>
            <a:pPr algn="ctr">
              <a:spcAft>
                <a:spcPts val="0"/>
              </a:spcAft>
            </a:pPr>
            <a:endParaRPr lang="ru-RU" sz="1400" dirty="0">
              <a:effectLst/>
              <a:latin typeface="Calibri" panose="020F0502020204030204" pitchFamily="34" charset="0"/>
              <a:ea typeface="Times New Roman" panose="02020603050405020304" pitchFamily="18" charset="0"/>
              <a:cs typeface="Calibri" panose="020F0502020204030204" pitchFamily="34" charset="0"/>
            </a:endParaRPr>
          </a:p>
        </p:txBody>
      </p:sp>
      <p:pic>
        <p:nvPicPr>
          <p:cNvPr id="9217" name="Picture 1"/>
          <p:cNvPicPr>
            <a:picLocks noChangeAspect="1" noChangeArrowheads="1"/>
          </p:cNvPicPr>
          <p:nvPr/>
        </p:nvPicPr>
        <p:blipFill>
          <a:blip r:embed="rId2" cstate="print"/>
          <a:srcRect/>
          <a:stretch>
            <a:fillRect/>
          </a:stretch>
        </p:blipFill>
        <p:spPr bwMode="auto">
          <a:xfrm>
            <a:off x="2964672" y="1438483"/>
            <a:ext cx="5999815" cy="5358912"/>
          </a:xfrm>
          <a:prstGeom prst="rect">
            <a:avLst/>
          </a:prstGeom>
          <a:noFill/>
          <a:ln w="9525">
            <a:noFill/>
            <a:miter lim="800000"/>
            <a:headEnd/>
            <a:tailEnd/>
          </a:ln>
        </p:spPr>
      </p:pic>
    </p:spTree>
    <p:extLst>
      <p:ext uri="{BB962C8B-B14F-4D97-AF65-F5344CB8AC3E}">
        <p14:creationId xmlns:p14="http://schemas.microsoft.com/office/powerpoint/2010/main" val="4320274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Заголовок 1"/>
          <p:cNvSpPr txBox="1">
            <a:spLocks/>
          </p:cNvSpPr>
          <p:nvPr/>
        </p:nvSpPr>
        <p:spPr>
          <a:xfrm>
            <a:off x="228600" y="108072"/>
            <a:ext cx="8686800" cy="364960"/>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tIns="0" bIns="0"/>
          <a:lstStyle/>
          <a:p>
            <a:pPr algn="ctr" defTabSz="755650">
              <a:buSzPct val="130000"/>
              <a:tabLst>
                <a:tab pos="446088" algn="l"/>
              </a:tabLst>
              <a:defRPr/>
            </a:pPr>
            <a:r>
              <a:rPr lang="uz-Cyrl-UZ" sz="2100" b="1" dirty="0" smtClean="0">
                <a:latin typeface="Times New Roman" panose="02020603050405020304" pitchFamily="18" charset="0"/>
                <a:cs typeface="Times New Roman" panose="02020603050405020304" pitchFamily="18" charset="0"/>
              </a:rPr>
              <a:t>Етти </a:t>
            </a:r>
            <a:r>
              <a:rPr lang="uz-Cyrl-UZ" sz="2100" b="1" dirty="0">
                <a:latin typeface="Times New Roman" panose="02020603050405020304" pitchFamily="18" charset="0"/>
                <a:cs typeface="Times New Roman" panose="02020603050405020304" pitchFamily="18" charset="0"/>
              </a:rPr>
              <a:t>раундли AES алгоритми учун очиқ матнлар тўпламини танлаш</a:t>
            </a:r>
            <a:endParaRPr lang="ru-RU" sz="2100" b="1" dirty="0">
              <a:solidFill>
                <a:schemeClr val="tx1"/>
              </a:solidFill>
              <a:latin typeface="Times New Roman" pitchFamily="18" charset="0"/>
              <a:ea typeface="Times New Roman" pitchFamily="18" charset="0"/>
              <a:cs typeface="Times New Roman" pitchFamily="18" charset="0"/>
            </a:endParaRPr>
          </a:p>
        </p:txBody>
      </p:sp>
      <p:sp>
        <p:nvSpPr>
          <p:cNvPr id="6" name="Прямоугольник 5"/>
          <p:cNvSpPr/>
          <p:nvPr/>
        </p:nvSpPr>
        <p:spPr>
          <a:xfrm>
            <a:off x="211517" y="3421870"/>
            <a:ext cx="2771336" cy="1661993"/>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r>
              <a:rPr lang="uz-Cyrl-UZ" dirty="0" smtClean="0">
                <a:latin typeface="Times New Roman" panose="02020603050405020304" pitchFamily="18" charset="0"/>
                <a:cs typeface="Times New Roman" panose="02020603050405020304" pitchFamily="18" charset="0"/>
              </a:rPr>
              <a:t>Ушбу тўпламни </a:t>
            </a:r>
            <a:r>
              <a:rPr lang="en-US" dirty="0" smtClean="0">
                <a:latin typeface="Times New Roman" panose="02020603050405020304" pitchFamily="18" charset="0"/>
                <a:cs typeface="Times New Roman" panose="02020603050405020304" pitchFamily="18" charset="0"/>
              </a:rPr>
              <a:t>7</a:t>
            </a:r>
            <a:r>
              <a:rPr lang="uz-Cyrl-UZ" dirty="0" smtClean="0">
                <a:latin typeface="Times New Roman" panose="02020603050405020304" pitchFamily="18" charset="0"/>
                <a:cs typeface="Times New Roman" panose="02020603050405020304" pitchFamily="18" charset="0"/>
              </a:rPr>
              <a:t> </a:t>
            </a:r>
            <a:r>
              <a:rPr lang="uz-Cyrl-UZ" dirty="0">
                <a:latin typeface="Times New Roman" panose="02020603050405020304" pitchFamily="18" charset="0"/>
                <a:cs typeface="Times New Roman" panose="02020603050405020304" pitchFamily="18" charset="0"/>
              </a:rPr>
              <a:t>раундли AES алгоритми орқали шифрлаш жараёнида массив элементларининг ўзгариш схемаси келтирилган.</a:t>
            </a:r>
            <a:endParaRPr lang="ru-RU" dirty="0">
              <a:latin typeface="Times New Roman" panose="02020603050405020304" pitchFamily="18" charset="0"/>
              <a:cs typeface="Times New Roman" panose="02020603050405020304" pitchFamily="18" charset="0"/>
            </a:endParaRPr>
          </a:p>
        </p:txBody>
      </p:sp>
      <p:sp>
        <p:nvSpPr>
          <p:cNvPr id="8" name="Прямоугольник 7"/>
          <p:cNvSpPr/>
          <p:nvPr/>
        </p:nvSpPr>
        <p:spPr>
          <a:xfrm>
            <a:off x="194603" y="561536"/>
            <a:ext cx="2788249" cy="2769989"/>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indent="365125" algn="just"/>
            <a:r>
              <a:rPr lang="uz-Cyrl-UZ" b="1" dirty="0" smtClean="0">
                <a:latin typeface="Times New Roman" panose="02020603050405020304" pitchFamily="18" charset="0"/>
                <a:ea typeface="Times New Roman" panose="02020603050405020304" pitchFamily="18" charset="0"/>
              </a:rPr>
              <a:t>Тўплам кўриниши:</a:t>
            </a:r>
            <a:r>
              <a:rPr lang="uz-Cyrl-UZ" dirty="0" smtClean="0">
                <a:latin typeface="Times New Roman" panose="02020603050405020304" pitchFamily="18" charset="0"/>
                <a:ea typeface="Times New Roman" panose="02020603050405020304" pitchFamily="18" charset="0"/>
              </a:rPr>
              <a:t> </a:t>
            </a:r>
            <a:r>
              <a:rPr lang="uz-Cyrl-UZ" dirty="0">
                <a:latin typeface="Times New Roman" panose="02020603050405020304" pitchFamily="18" charset="0"/>
                <a:cs typeface="Times New Roman" panose="02020603050405020304" pitchFamily="18" charset="0"/>
              </a:rPr>
              <a:t>ҳолат массивининг диоганал элементи ва ундан юқорида жойлашган 3 та элементи ҳамда пастки қатордаги биринчи элемент турли хил актив, қолган барча </a:t>
            </a:r>
            <a:r>
              <a:rPr lang="uz-Cyrl-UZ" dirty="0" smtClean="0">
                <a:latin typeface="Times New Roman" panose="02020603050405020304" pitchFamily="18" charset="0"/>
                <a:cs typeface="Times New Roman" panose="02020603050405020304" pitchFamily="18" charset="0"/>
              </a:rPr>
              <a:t>элемент-лари пассив</a:t>
            </a:r>
            <a:r>
              <a:rPr lang="uz-Cyrl-UZ" dirty="0" smtClean="0">
                <a:latin typeface="Times New Roman" panose="02020603050405020304" pitchFamily="18" charset="0"/>
                <a:ea typeface="Times New Roman" panose="02020603050405020304" pitchFamily="18" charset="0"/>
                <a:cs typeface="Times New Roman" panose="02020603050405020304" pitchFamily="18" charset="0"/>
              </a:rPr>
              <a:t>.</a:t>
            </a:r>
          </a:p>
          <a:p>
            <a:pPr indent="365125" algn="just"/>
            <a:r>
              <a:rPr lang="uz-Cyrl-UZ" b="1" dirty="0" smtClean="0">
                <a:latin typeface="Times New Roman" panose="02020603050405020304" pitchFamily="18" charset="0"/>
                <a:ea typeface="Times New Roman" panose="02020603050405020304" pitchFamily="18" charset="0"/>
                <a:cs typeface="Calibri" panose="020F0502020204030204" pitchFamily="34" charset="0"/>
              </a:rPr>
              <a:t>Матнлар сони</a:t>
            </a:r>
            <a:r>
              <a:rPr lang="uz-Cyrl-UZ" b="1" smtClean="0">
                <a:latin typeface="Times New Roman" panose="02020603050405020304" pitchFamily="18" charset="0"/>
                <a:ea typeface="Times New Roman" panose="02020603050405020304" pitchFamily="18" charset="0"/>
                <a:cs typeface="Calibri" panose="020F0502020204030204" pitchFamily="34" charset="0"/>
              </a:rPr>
              <a:t>: </a:t>
            </a:r>
            <a:r>
              <a:rPr lang="uz-Cyrl-UZ"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smtClean="0">
                <a:latin typeface="Times New Roman" panose="02020603050405020304" pitchFamily="18" charset="0"/>
                <a:ea typeface="Times New Roman" panose="02020603050405020304" pitchFamily="18" charset="0"/>
                <a:cs typeface="Calibri" panose="020F0502020204030204" pitchFamily="34" charset="0"/>
              </a:rPr>
              <a:t>64</a:t>
            </a:r>
            <a:r>
              <a:rPr lang="uz-Cyrl-UZ" smtClean="0">
                <a:latin typeface="Times New Roman" panose="02020603050405020304" pitchFamily="18" charset="0"/>
                <a:ea typeface="Times New Roman" panose="02020603050405020304" pitchFamily="18" charset="0"/>
                <a:cs typeface="Calibri" panose="020F0502020204030204" pitchFamily="34" charset="0"/>
              </a:rPr>
              <a:t>.</a:t>
            </a:r>
            <a:endParaRPr lang="ru-RU" dirty="0"/>
          </a:p>
        </p:txBody>
      </p:sp>
      <p:sp>
        <p:nvSpPr>
          <p:cNvPr id="9" name="Прямоугольник 8"/>
          <p:cNvSpPr/>
          <p:nvPr/>
        </p:nvSpPr>
        <p:spPr>
          <a:xfrm>
            <a:off x="203630" y="5139177"/>
            <a:ext cx="2743200" cy="1600438"/>
          </a:xfrm>
          <a:prstGeom prst="rect">
            <a:avLst/>
          </a:prstGeom>
        </p:spPr>
        <p:style>
          <a:lnRef idx="2">
            <a:schemeClr val="dk1"/>
          </a:lnRef>
          <a:fillRef idx="1001">
            <a:schemeClr val="lt2"/>
          </a:fillRef>
          <a:effectRef idx="0">
            <a:schemeClr val="dk1"/>
          </a:effectRef>
          <a:fontRef idx="minor">
            <a:schemeClr val="dk1"/>
          </a:fontRef>
        </p:style>
        <p:txBody>
          <a:bodyPr wrap="square" tIns="0" bIns="0">
            <a:spAutoFit/>
          </a:bodyPr>
          <a:lstStyle/>
          <a:p>
            <a:pPr algn="just"/>
            <a:r>
              <a:rPr lang="uz-Cyrl-UZ" b="1" dirty="0" smtClean="0">
                <a:latin typeface="Times New Roman" panose="02020603050405020304" pitchFamily="18" charset="0"/>
                <a:ea typeface="Times New Roman" panose="02020603050405020304" pitchFamily="18" charset="0"/>
                <a:cs typeface="Calibri" panose="020F0502020204030204" pitchFamily="34" charset="0"/>
              </a:rPr>
              <a:t>сўнгги </a:t>
            </a:r>
            <a:r>
              <a:rPr lang="uz-Cyrl-UZ" b="1" dirty="0">
                <a:latin typeface="Times New Roman" panose="02020603050405020304" pitchFamily="18" charset="0"/>
                <a:ea typeface="Times New Roman" panose="02020603050405020304" pitchFamily="18" charset="0"/>
                <a:cs typeface="Calibri" panose="020F0502020204030204" pitchFamily="34" charset="0"/>
              </a:rPr>
              <a:t>раунд калитини аниқлашда калитларни танлашлар сони: </a:t>
            </a:r>
          </a:p>
          <a:p>
            <a:pPr algn="ctr">
              <a:spcAft>
                <a:spcPts val="0"/>
              </a:spcAft>
            </a:pPr>
            <a:endParaRPr lang="uz-Cyrl-UZ" dirty="0" smtClean="0">
              <a:latin typeface="Times New Roman" panose="02020603050405020304" pitchFamily="18" charset="0"/>
              <a:ea typeface="Times New Roman" panose="02020603050405020304" pitchFamily="18" charset="0"/>
              <a:cs typeface="Calibri" panose="020F0502020204030204" pitchFamily="34" charset="0"/>
            </a:endParaRPr>
          </a:p>
          <a:p>
            <a:pPr algn="ctr">
              <a:spcAft>
                <a:spcPts val="0"/>
              </a:spcAft>
            </a:pPr>
            <a:r>
              <a:rPr lang="uz-Cyrl-UZ" dirty="0" smtClean="0">
                <a:latin typeface="Times New Roman" panose="02020603050405020304" pitchFamily="18" charset="0"/>
                <a:ea typeface="Times New Roman" panose="02020603050405020304" pitchFamily="18" charset="0"/>
                <a:cs typeface="Calibri" panose="020F0502020204030204" pitchFamily="34" charset="0"/>
              </a:rPr>
              <a:t>2</a:t>
            </a:r>
            <a:r>
              <a:rPr lang="uz-Cyrl-UZ" baseline="30000" dirty="0" smtClean="0">
                <a:latin typeface="Times New Roman" panose="02020603050405020304" pitchFamily="18" charset="0"/>
                <a:ea typeface="Times New Roman" panose="02020603050405020304" pitchFamily="18" charset="0"/>
                <a:cs typeface="Calibri" panose="020F0502020204030204" pitchFamily="34" charset="0"/>
              </a:rPr>
              <a:t>44</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 </a:t>
            </a:r>
            <a:r>
              <a:rPr lang="en-US" dirty="0" smtClean="0">
                <a:latin typeface="Times New Roman" panose="02020603050405020304" pitchFamily="18" charset="0"/>
                <a:ea typeface="Times New Roman" panose="02020603050405020304" pitchFamily="18" charset="0"/>
                <a:cs typeface="Calibri" panose="020F0502020204030204" pitchFamily="34" charset="0"/>
              </a:rPr>
              <a:t>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та вариант.</a:t>
            </a:r>
          </a:p>
          <a:p>
            <a:pPr algn="ctr">
              <a:spcAft>
                <a:spcPts val="0"/>
              </a:spcAft>
            </a:pPr>
            <a:endParaRPr lang="ru-RU" sz="1400" dirty="0">
              <a:effectLst/>
              <a:latin typeface="Calibri" panose="020F0502020204030204" pitchFamily="34" charset="0"/>
              <a:ea typeface="Times New Roman" panose="02020603050405020304" pitchFamily="18" charset="0"/>
              <a:cs typeface="Calibri" panose="020F0502020204030204"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6796" y="573410"/>
            <a:ext cx="5840318" cy="6203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1959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Прямоугольник 1"/>
          <p:cNvSpPr/>
          <p:nvPr/>
        </p:nvSpPr>
        <p:spPr>
          <a:xfrm>
            <a:off x="76200" y="76200"/>
            <a:ext cx="4343400" cy="1107996"/>
          </a:xfrm>
          <a:prstGeom prst="rect">
            <a:avLst/>
          </a:prstGeom>
          <a:solidFill>
            <a:schemeClr val="bg2">
              <a:lumMod val="90000"/>
            </a:schemeClr>
          </a:solidFill>
        </p:spPr>
        <p:style>
          <a:lnRef idx="2">
            <a:schemeClr val="dk1"/>
          </a:lnRef>
          <a:fillRef idx="1003">
            <a:schemeClr val="lt2"/>
          </a:fillRef>
          <a:effectRef idx="0">
            <a:schemeClr val="dk1"/>
          </a:effectRef>
          <a:fontRef idx="minor">
            <a:schemeClr val="dk1"/>
          </a:fontRef>
        </p:style>
        <p:txBody>
          <a:bodyPr wrap="square" tIns="0" bIns="0">
            <a:spAutoFit/>
          </a:bodyPr>
          <a:lstStyle/>
          <a:p>
            <a:pPr indent="365125" algn="just"/>
            <a:r>
              <a:rPr lang="uz-Cyrl-UZ" dirty="0">
                <a:latin typeface="Times New Roman" panose="02020603050405020304" pitchFamily="18" charset="0"/>
                <a:ea typeface="Times New Roman" panose="02020603050405020304" pitchFamily="18" charset="0"/>
                <a:cs typeface="Calibri" panose="020F0502020204030204" pitchFamily="34" charset="0"/>
              </a:rPr>
              <a:t>Умумий ҳолда, АES шифрлаш алгоритмига интеграл криптотаҳлил усулини қўллаш блок схемаси қуйидагича </a:t>
            </a:r>
            <a:r>
              <a:rPr lang="uz-Cyrl-UZ" dirty="0" smtClean="0">
                <a:latin typeface="Times New Roman" panose="02020603050405020304" pitchFamily="18" charset="0"/>
                <a:ea typeface="Times New Roman" panose="02020603050405020304" pitchFamily="18" charset="0"/>
                <a:cs typeface="Calibri" panose="020F0502020204030204" pitchFamily="34" charset="0"/>
              </a:rPr>
              <a:t>тасвирлаш </a:t>
            </a:r>
            <a:r>
              <a:rPr lang="uz-Cyrl-UZ" dirty="0">
                <a:latin typeface="Times New Roman" panose="02020603050405020304" pitchFamily="18" charset="0"/>
                <a:ea typeface="Times New Roman" panose="02020603050405020304" pitchFamily="18" charset="0"/>
                <a:cs typeface="Calibri" panose="020F0502020204030204" pitchFamily="34" charset="0"/>
              </a:rPr>
              <a:t>мумкин.</a:t>
            </a:r>
            <a:endParaRPr lang="ru-RU" dirty="0"/>
          </a:p>
        </p:txBody>
      </p:sp>
      <p:pic>
        <p:nvPicPr>
          <p:cNvPr id="1027" name="Picture 3"/>
          <p:cNvPicPr>
            <a:picLocks noChangeAspect="1" noChangeArrowheads="1"/>
          </p:cNvPicPr>
          <p:nvPr/>
        </p:nvPicPr>
        <p:blipFill>
          <a:blip r:embed="rId2" cstate="print"/>
          <a:srcRect/>
          <a:stretch>
            <a:fillRect/>
          </a:stretch>
        </p:blipFill>
        <p:spPr bwMode="auto">
          <a:xfrm>
            <a:off x="96256" y="1224025"/>
            <a:ext cx="4343400" cy="5633975"/>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4523872" y="28072"/>
            <a:ext cx="4572000" cy="6781800"/>
          </a:xfrm>
          <a:prstGeom prst="rect">
            <a:avLst/>
          </a:prstGeom>
          <a:noFill/>
          <a:ln w="9525">
            <a:noFill/>
            <a:miter lim="800000"/>
            <a:headEnd/>
            <a:tailEnd/>
          </a:ln>
        </p:spPr>
      </p:pic>
    </p:spTree>
    <p:extLst>
      <p:ext uri="{BB962C8B-B14F-4D97-AF65-F5344CB8AC3E}">
        <p14:creationId xmlns:p14="http://schemas.microsoft.com/office/powerpoint/2010/main" val="1941508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2" name="Rectangle 22"/>
          <p:cNvSpPr>
            <a:spLocks noChangeArrowheads="1"/>
          </p:cNvSpPr>
          <p:nvPr/>
        </p:nvSpPr>
        <p:spPr bwMode="auto">
          <a:xfrm>
            <a:off x="0" y="981075"/>
            <a:ext cx="9144000" cy="549275"/>
          </a:xfrm>
          <a:prstGeom prst="rect">
            <a:avLst/>
          </a:prstGeom>
          <a:solidFill>
            <a:schemeClr val="bg1"/>
          </a:solidFill>
          <a:ln w="9525">
            <a:noFill/>
            <a:miter lim="800000"/>
            <a:headEnd/>
            <a:tailEnd/>
          </a:ln>
          <a:effectLst>
            <a:prstShdw prst="shdw17" dist="17961" dir="2700000">
              <a:schemeClr val="bg1">
                <a:gamma/>
                <a:shade val="60000"/>
                <a:invGamma/>
                <a:alpha val="50000"/>
              </a:schemeClr>
            </a:prstShdw>
          </a:effectLst>
        </p:spPr>
        <p:txBody>
          <a:bodyPr anchor="ctr">
            <a:spAutoFit/>
          </a:bodyPr>
          <a:lstStyle/>
          <a:p>
            <a:pPr eaLnBrk="0" hangingPunct="0">
              <a:defRPr/>
            </a:pPr>
            <a:r>
              <a:rPr lang="uz-Cyrl-UZ" sz="2600" b="1">
                <a:latin typeface="Times New Roman" pitchFamily="18" charset="0"/>
              </a:rPr>
              <a:t> </a:t>
            </a:r>
            <a:r>
              <a:rPr lang="uz-Cyrl-UZ" sz="3000" b="1">
                <a:latin typeface="Times New Roman" pitchFamily="18" charset="0"/>
              </a:rPr>
              <a:t>Маъруза тамом</a:t>
            </a:r>
          </a:p>
        </p:txBody>
      </p:sp>
      <p:sp>
        <p:nvSpPr>
          <p:cNvPr id="27652" name="Line 16"/>
          <p:cNvSpPr>
            <a:spLocks noChangeShapeType="1"/>
          </p:cNvSpPr>
          <p:nvPr/>
        </p:nvSpPr>
        <p:spPr bwMode="auto">
          <a:xfrm>
            <a:off x="74613" y="116632"/>
            <a:ext cx="8997950" cy="0"/>
          </a:xfrm>
          <a:prstGeom prst="line">
            <a:avLst/>
          </a:prstGeom>
          <a:noFill/>
          <a:ln w="63500">
            <a:pattFill prst="dkHorz">
              <a:fgClr>
                <a:schemeClr val="tx1"/>
              </a:fgClr>
              <a:bgClr>
                <a:srgbClr val="FFFFFF"/>
              </a:bgClr>
            </a:pattFill>
            <a:round/>
            <a:headEnd/>
            <a:tailEnd/>
          </a:ln>
          <a:effectLst>
            <a:prstShdw prst="shdw17" dist="17961" dir="2700000">
              <a:srgbClr val="000000"/>
            </a:prstShdw>
          </a:effectLst>
          <a:extLst>
            <a:ext uri="{909E8E84-426E-40DD-AFC4-6F175D3DCCD1}">
              <a14:hiddenFill xmlns:a14="http://schemas.microsoft.com/office/drawing/2010/main">
                <a:noFill/>
              </a14:hiddenFill>
            </a:ext>
          </a:extLst>
        </p:spPr>
        <p:txBody>
          <a:bodyPr/>
          <a:lstStyle/>
          <a:p>
            <a:endParaRPr lang="ru-RU"/>
          </a:p>
        </p:txBody>
      </p:sp>
      <p:sp>
        <p:nvSpPr>
          <p:cNvPr id="6" name="Rectangle 7"/>
          <p:cNvSpPr>
            <a:spLocks noChangeArrowheads="1"/>
          </p:cNvSpPr>
          <p:nvPr/>
        </p:nvSpPr>
        <p:spPr bwMode="auto">
          <a:xfrm>
            <a:off x="71500" y="2024844"/>
            <a:ext cx="8839017" cy="3770263"/>
          </a:xfrm>
          <a:prstGeom prst="rect">
            <a:avLst/>
          </a:prstGeom>
          <a:solidFill>
            <a:schemeClr val="bg1">
              <a:alpha val="86000"/>
            </a:schemeClr>
          </a:solidFill>
          <a:ln w="25400" algn="ctr">
            <a:noFill/>
            <a:miter lim="800000"/>
            <a:headEnd/>
            <a:tailEnd/>
          </a:ln>
          <a:effectLst/>
          <a:extLst/>
        </p:spPr>
        <p:txBody>
          <a:bodyPr wrap="square" anchor="ctr">
            <a:spAutoFit/>
          </a:bodyPr>
          <a:lstStyle/>
          <a:p>
            <a:pPr algn="ctr">
              <a:spcAft>
                <a:spcPts val="600"/>
              </a:spcAft>
            </a:pPr>
            <a:r>
              <a:rPr lang="uz-Cyrl-UZ" sz="23900" b="1" dirty="0">
                <a:latin typeface="Times New Roman" pitchFamily="18" charset="0"/>
                <a:cs typeface="Times New Roman" pitchFamily="18" charset="0"/>
              </a:rPr>
              <a:t>?</a:t>
            </a:r>
            <a:endParaRPr lang="ru-RU" sz="23900" b="1" dirty="0">
              <a:latin typeface="Times New Roman" pitchFamily="18" charset="0"/>
              <a:cs typeface="Times New Roman" pitchFamily="18" charset="0"/>
            </a:endParaRPr>
          </a:p>
        </p:txBody>
      </p:sp>
      <p:sp>
        <p:nvSpPr>
          <p:cNvPr id="7" name="Line 16"/>
          <p:cNvSpPr>
            <a:spLocks noChangeShapeType="1"/>
          </p:cNvSpPr>
          <p:nvPr/>
        </p:nvSpPr>
        <p:spPr bwMode="auto">
          <a:xfrm>
            <a:off x="61913" y="6633356"/>
            <a:ext cx="8997950" cy="0"/>
          </a:xfrm>
          <a:prstGeom prst="line">
            <a:avLst/>
          </a:prstGeom>
          <a:noFill/>
          <a:ln w="63500">
            <a:pattFill prst="dkHorz">
              <a:fgClr>
                <a:schemeClr val="tx1"/>
              </a:fgClr>
              <a:bgClr>
                <a:srgbClr val="FFFFFF"/>
              </a:bgClr>
            </a:pattFill>
            <a:round/>
            <a:headEnd/>
            <a:tailEnd/>
          </a:ln>
          <a:effectLst>
            <a:prstShdw prst="shdw17" dist="17961" dir="2700000">
              <a:srgbClr val="000000"/>
            </a:prstShdw>
          </a:effectLst>
          <a:extLst>
            <a:ext uri="{909E8E84-426E-40DD-AFC4-6F175D3DCCD1}">
              <a14:hiddenFill xmlns:a14="http://schemas.microsoft.com/office/drawing/2010/main">
                <a:noFill/>
              </a14:hiddenFill>
            </a:ext>
          </a:extLst>
        </p:spPr>
        <p:txBody>
          <a:bodyPr/>
          <a:lstStyle/>
          <a:p>
            <a:endParaRPr lang="ru-RU"/>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Профиль">
  <a:themeElements>
    <a:clrScheme name="Профиль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Профиль">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Профиль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Профиль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Профиль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Профиль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Профиль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Профиль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Профиль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Профиль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Профиль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Profile</Template>
  <TotalTime>5941</TotalTime>
  <Words>3292</Words>
  <Application>Microsoft Office PowerPoint</Application>
  <PresentationFormat>Экран (4:3)</PresentationFormat>
  <Paragraphs>939</Paragraphs>
  <Slides>42</Slides>
  <Notes>3</Notes>
  <HiddenSlides>0</HiddenSlides>
  <MMClips>0</MMClips>
  <ScaleCrop>false</ScaleCrop>
  <HeadingPairs>
    <vt:vector size="6" baseType="variant">
      <vt:variant>
        <vt:lpstr>Тема</vt:lpstr>
      </vt:variant>
      <vt:variant>
        <vt:i4>1</vt:i4>
      </vt:variant>
      <vt:variant>
        <vt:lpstr>Внедренные серверы OLE</vt:lpstr>
      </vt:variant>
      <vt:variant>
        <vt:i4>2</vt:i4>
      </vt:variant>
      <vt:variant>
        <vt:lpstr>Заголовки слайдов</vt:lpstr>
      </vt:variant>
      <vt:variant>
        <vt:i4>42</vt:i4>
      </vt:variant>
    </vt:vector>
  </HeadingPairs>
  <TitlesOfParts>
    <vt:vector size="45" baseType="lpstr">
      <vt:lpstr>Профиль</vt:lpstr>
      <vt:lpstr>Формула</vt:lpstr>
      <vt:lpstr>Документ</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К(4)1=0001 учун бир раундга дешифрлаш жараёни: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Тошкент - 2009</dc:title>
  <dc:creator>USER</dc:creator>
  <cp:lastModifiedBy>Microsoft Office</cp:lastModifiedBy>
  <cp:revision>1009</cp:revision>
  <dcterms:created xsi:type="dcterms:W3CDTF">2010-10-01T16:11:11Z</dcterms:created>
  <dcterms:modified xsi:type="dcterms:W3CDTF">2019-08-22T05:22:39Z</dcterms:modified>
</cp:coreProperties>
</file>