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1"/>
  </p:notesMasterIdLst>
  <p:sldIdLst>
    <p:sldId id="256" r:id="rId2"/>
    <p:sldId id="381" r:id="rId3"/>
    <p:sldId id="382" r:id="rId4"/>
    <p:sldId id="349" r:id="rId5"/>
    <p:sldId id="350" r:id="rId6"/>
    <p:sldId id="356" r:id="rId7"/>
    <p:sldId id="357" r:id="rId8"/>
    <p:sldId id="353" r:id="rId9"/>
    <p:sldId id="354" r:id="rId10"/>
    <p:sldId id="358" r:id="rId11"/>
    <p:sldId id="359" r:id="rId12"/>
    <p:sldId id="360" r:id="rId13"/>
    <p:sldId id="361" r:id="rId14"/>
    <p:sldId id="362" r:id="rId15"/>
    <p:sldId id="373" r:id="rId16"/>
    <p:sldId id="372" r:id="rId17"/>
    <p:sldId id="380" r:id="rId18"/>
    <p:sldId id="332" r:id="rId19"/>
    <p:sldId id="378" r:id="rId20"/>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E59F"/>
    <a:srgbClr val="AAC3EC"/>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269D01E-BC32-4049-B463-5C60D7B0CCD2}" styleName="Стиль из темы 2 - акцент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C083E6E3-FA7D-4D7B-A595-EF9225AFEA82}" styleName="Светлый стиль 1 - акцент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7292A2E-F333-43FB-9621-5CBBE7FDCDCB}" styleName="Светлый стиль 2 — акцент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Средний стиль 4 — акцент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F1AB2-1976-4502-BF36-3FF5EA218861}" styleName="Средний стиль 4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05" autoAdjust="0"/>
    <p:restoredTop sz="94101" autoAdjust="0"/>
  </p:normalViewPr>
  <p:slideViewPr>
    <p:cSldViewPr>
      <p:cViewPr varScale="1">
        <p:scale>
          <a:sx n="106" d="100"/>
          <a:sy n="106" d="100"/>
        </p:scale>
        <p:origin x="-17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8CC340-DF05-4655-B95D-DA3187C58B4D}"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ru-RU"/>
        </a:p>
      </dgm:t>
    </dgm:pt>
    <dgm:pt modelId="{51DF2FF1-9760-4A78-B0CC-B8D26D11F956}">
      <dgm:prSet phldrT="[Текст]" custT="1"/>
      <dgm:spPr>
        <a:solidFill>
          <a:schemeClr val="accent1">
            <a:lumMod val="20000"/>
            <a:lumOff val="80000"/>
          </a:schemeClr>
        </a:solidFill>
      </dgm:spPr>
      <dgm:t>
        <a:bodyPr/>
        <a:lstStyle/>
        <a:p>
          <a:r>
            <a:rPr lang="uz-Cyrl-UZ" sz="1800" b="1" dirty="0" smtClean="0">
              <a:solidFill>
                <a:schemeClr val="tx1"/>
              </a:solidFill>
            </a:rPr>
            <a:t>Рухсат этилмаган маълумотларни ҳимоялаш масаласининг асосий йўналишлари</a:t>
          </a:r>
          <a:endParaRPr lang="ru-RU" sz="1800" b="1" dirty="0">
            <a:solidFill>
              <a:schemeClr val="tx1"/>
            </a:solidFill>
          </a:endParaRPr>
        </a:p>
      </dgm:t>
    </dgm:pt>
    <dgm:pt modelId="{53FCBC74-4D7C-46FF-BA74-42FA4504D249}" type="parTrans" cxnId="{CA59A80D-57F4-4673-8B49-5FFF444F2C5B}">
      <dgm:prSet/>
      <dgm:spPr/>
      <dgm:t>
        <a:bodyPr/>
        <a:lstStyle/>
        <a:p>
          <a:endParaRPr lang="ru-RU"/>
        </a:p>
      </dgm:t>
    </dgm:pt>
    <dgm:pt modelId="{71AF29C0-0873-44F1-9B72-EE317A003183}" type="sibTrans" cxnId="{CA59A80D-57F4-4673-8B49-5FFF444F2C5B}">
      <dgm:prSet/>
      <dgm:spPr/>
      <dgm:t>
        <a:bodyPr/>
        <a:lstStyle/>
        <a:p>
          <a:endParaRPr lang="ru-RU"/>
        </a:p>
      </dgm:t>
    </dgm:pt>
    <dgm:pt modelId="{36EC29F6-F63A-47D4-99BD-FEFF240D6F77}">
      <dgm:prSet phldrT="[Текст]" custT="1"/>
      <dgm:spPr>
        <a:solidFill>
          <a:schemeClr val="tx2">
            <a:lumMod val="10000"/>
            <a:lumOff val="90000"/>
          </a:schemeClr>
        </a:solidFill>
      </dgm:spPr>
      <dgm:t>
        <a:bodyPr/>
        <a:lstStyle/>
        <a:p>
          <a:r>
            <a:rPr lang="uz-Cyrl-UZ" sz="1800" b="1" dirty="0" smtClean="0">
              <a:solidFill>
                <a:schemeClr val="tx1"/>
              </a:solidFill>
            </a:rPr>
            <a:t>Криптография</a:t>
          </a:r>
          <a:endParaRPr lang="ru-RU" sz="1800" b="1" dirty="0">
            <a:solidFill>
              <a:schemeClr val="tx1"/>
            </a:solidFill>
          </a:endParaRPr>
        </a:p>
      </dgm:t>
    </dgm:pt>
    <dgm:pt modelId="{6B4585FA-8472-4F20-8AE0-2129187412A1}" type="parTrans" cxnId="{30CB6F8D-8E74-4075-A90F-8052778177E1}">
      <dgm:prSet/>
      <dgm:spPr/>
      <dgm:t>
        <a:bodyPr/>
        <a:lstStyle/>
        <a:p>
          <a:endParaRPr lang="ru-RU"/>
        </a:p>
      </dgm:t>
    </dgm:pt>
    <dgm:pt modelId="{D1FB4CCD-DBDA-4C6B-8E78-882AA882E646}" type="sibTrans" cxnId="{30CB6F8D-8E74-4075-A90F-8052778177E1}">
      <dgm:prSet/>
      <dgm:spPr/>
      <dgm:t>
        <a:bodyPr/>
        <a:lstStyle/>
        <a:p>
          <a:endParaRPr lang="ru-RU"/>
        </a:p>
      </dgm:t>
    </dgm:pt>
    <dgm:pt modelId="{B2D256B7-B650-4BDF-A080-73565A892E65}">
      <dgm:prSet phldrT="[Текст]" custT="1"/>
      <dgm:spPr/>
      <dgm:t>
        <a:bodyPr/>
        <a:lstStyle/>
        <a:p>
          <a:r>
            <a:rPr lang="uz-Cyrl-UZ" sz="1400" b="1" dirty="0" smtClean="0">
              <a:latin typeface="Arial" pitchFamily="34" charset="0"/>
              <a:cs typeface="Arial" pitchFamily="34" charset="0"/>
            </a:rPr>
            <a:t>шифрлаш усуллари ёрдамида махфий маълумотни тегишли шифрбелгиларга акслантириш орқали ҳимоялаш</a:t>
          </a:r>
          <a:endParaRPr lang="ru-RU" sz="1400" b="1" dirty="0">
            <a:latin typeface="Arial" pitchFamily="34" charset="0"/>
            <a:cs typeface="Arial" pitchFamily="34" charset="0"/>
          </a:endParaRPr>
        </a:p>
      </dgm:t>
    </dgm:pt>
    <dgm:pt modelId="{D010F6B0-1188-4064-97EA-2FFFA970380C}" type="parTrans" cxnId="{F834174A-67C6-4EBC-B901-825F5CB87EA3}">
      <dgm:prSet/>
      <dgm:spPr/>
      <dgm:t>
        <a:bodyPr/>
        <a:lstStyle/>
        <a:p>
          <a:endParaRPr lang="ru-RU"/>
        </a:p>
      </dgm:t>
    </dgm:pt>
    <dgm:pt modelId="{03A0AC9B-F5AA-4C6A-89E6-A0117B2BB62E}" type="sibTrans" cxnId="{F834174A-67C6-4EBC-B901-825F5CB87EA3}">
      <dgm:prSet/>
      <dgm:spPr/>
      <dgm:t>
        <a:bodyPr/>
        <a:lstStyle/>
        <a:p>
          <a:endParaRPr lang="ru-RU"/>
        </a:p>
      </dgm:t>
    </dgm:pt>
    <dgm:pt modelId="{DFCDFAC2-F158-49ED-BCEB-EBBA7FB9D6A7}">
      <dgm:prSet phldrT="[Текст]" custT="1"/>
      <dgm:spPr>
        <a:solidFill>
          <a:schemeClr val="accent5">
            <a:lumMod val="20000"/>
            <a:lumOff val="80000"/>
          </a:schemeClr>
        </a:solidFill>
      </dgm:spPr>
      <dgm:t>
        <a:bodyPr/>
        <a:lstStyle/>
        <a:p>
          <a:r>
            <a:rPr lang="uz-Cyrl-UZ" sz="1800" b="1" dirty="0" smtClean="0">
              <a:solidFill>
                <a:schemeClr val="tx1"/>
              </a:solidFill>
            </a:rPr>
            <a:t>Стеганография</a:t>
          </a:r>
          <a:endParaRPr lang="ru-RU" sz="1800" b="1" dirty="0">
            <a:solidFill>
              <a:schemeClr val="tx1"/>
            </a:solidFill>
          </a:endParaRPr>
        </a:p>
      </dgm:t>
    </dgm:pt>
    <dgm:pt modelId="{EB231F30-579F-49C2-8FB9-8C9ACB48B019}" type="parTrans" cxnId="{EE37F19E-011B-4784-A9E2-5F7BA5896FC9}">
      <dgm:prSet/>
      <dgm:spPr/>
      <dgm:t>
        <a:bodyPr/>
        <a:lstStyle/>
        <a:p>
          <a:endParaRPr lang="ru-RU"/>
        </a:p>
      </dgm:t>
    </dgm:pt>
    <dgm:pt modelId="{0F1B5571-4CB6-42F0-961B-5DDFAF4CDC58}" type="sibTrans" cxnId="{EE37F19E-011B-4784-A9E2-5F7BA5896FC9}">
      <dgm:prSet/>
      <dgm:spPr/>
      <dgm:t>
        <a:bodyPr/>
        <a:lstStyle/>
        <a:p>
          <a:endParaRPr lang="ru-RU"/>
        </a:p>
      </dgm:t>
    </dgm:pt>
    <dgm:pt modelId="{0727C154-7F6A-4196-8B3C-99B7296D49BF}">
      <dgm:prSet phldrT="[Текст]" custT="1"/>
      <dgm:spPr/>
      <dgm:t>
        <a:bodyPr/>
        <a:lstStyle/>
        <a:p>
          <a:r>
            <a:rPr lang="uz-Cyrl-UZ" sz="1400" b="1" dirty="0" smtClean="0">
              <a:latin typeface="Arial" pitchFamily="34" charset="0"/>
              <a:cs typeface="Arial" pitchFamily="34" charset="0"/>
            </a:rPr>
            <a:t>махфий хабарларни бошқа ахборот ичига яшириш</a:t>
          </a:r>
          <a:endParaRPr lang="ru-RU" sz="1400" b="1" dirty="0">
            <a:latin typeface="Arial" pitchFamily="34" charset="0"/>
            <a:cs typeface="Arial" pitchFamily="34" charset="0"/>
          </a:endParaRPr>
        </a:p>
      </dgm:t>
    </dgm:pt>
    <dgm:pt modelId="{BC4FA7FE-863A-4BC1-80CB-66645F62D522}" type="parTrans" cxnId="{7BF2BB28-92EB-4D55-8A63-5DA42C1AA679}">
      <dgm:prSet/>
      <dgm:spPr/>
      <dgm:t>
        <a:bodyPr/>
        <a:lstStyle/>
        <a:p>
          <a:endParaRPr lang="ru-RU"/>
        </a:p>
      </dgm:t>
    </dgm:pt>
    <dgm:pt modelId="{A034A9F5-AC05-4850-A83F-10F55D93D226}" type="sibTrans" cxnId="{7BF2BB28-92EB-4D55-8A63-5DA42C1AA679}">
      <dgm:prSet/>
      <dgm:spPr/>
      <dgm:t>
        <a:bodyPr/>
        <a:lstStyle/>
        <a:p>
          <a:endParaRPr lang="ru-RU"/>
        </a:p>
      </dgm:t>
    </dgm:pt>
    <dgm:pt modelId="{06A512D6-3495-4877-93D1-DD3FCD59400A}" type="pres">
      <dgm:prSet presAssocID="{0F8CC340-DF05-4655-B95D-DA3187C58B4D}" presName="diagram" presStyleCnt="0">
        <dgm:presLayoutVars>
          <dgm:chPref val="1"/>
          <dgm:dir/>
          <dgm:animOne val="branch"/>
          <dgm:animLvl val="lvl"/>
          <dgm:resizeHandles val="exact"/>
        </dgm:presLayoutVars>
      </dgm:prSet>
      <dgm:spPr/>
      <dgm:t>
        <a:bodyPr/>
        <a:lstStyle/>
        <a:p>
          <a:endParaRPr lang="ru-RU"/>
        </a:p>
      </dgm:t>
    </dgm:pt>
    <dgm:pt modelId="{74789303-7630-472C-AAB3-1BA79E0F5CED}" type="pres">
      <dgm:prSet presAssocID="{51DF2FF1-9760-4A78-B0CC-B8D26D11F956}" presName="root1" presStyleCnt="0"/>
      <dgm:spPr/>
    </dgm:pt>
    <dgm:pt modelId="{19045FE4-DE3B-4711-9E03-80EA0AAFFB76}" type="pres">
      <dgm:prSet presAssocID="{51DF2FF1-9760-4A78-B0CC-B8D26D11F956}" presName="LevelOneTextNode" presStyleLbl="node0" presStyleIdx="0" presStyleCnt="1" custScaleX="119370" custScaleY="194684" custLinFactNeighborX="3205" custLinFactNeighborY="3359">
        <dgm:presLayoutVars>
          <dgm:chPref val="3"/>
        </dgm:presLayoutVars>
      </dgm:prSet>
      <dgm:spPr/>
      <dgm:t>
        <a:bodyPr/>
        <a:lstStyle/>
        <a:p>
          <a:endParaRPr lang="ru-RU"/>
        </a:p>
      </dgm:t>
    </dgm:pt>
    <dgm:pt modelId="{77741085-7571-45AB-98A1-C8543D63F80E}" type="pres">
      <dgm:prSet presAssocID="{51DF2FF1-9760-4A78-B0CC-B8D26D11F956}" presName="level2hierChild" presStyleCnt="0"/>
      <dgm:spPr/>
    </dgm:pt>
    <dgm:pt modelId="{FF7A7621-02B0-4842-90B4-A084E1AF1698}" type="pres">
      <dgm:prSet presAssocID="{6B4585FA-8472-4F20-8AE0-2129187412A1}" presName="conn2-1" presStyleLbl="parChTrans1D2" presStyleIdx="0" presStyleCnt="2"/>
      <dgm:spPr/>
      <dgm:t>
        <a:bodyPr/>
        <a:lstStyle/>
        <a:p>
          <a:endParaRPr lang="ru-RU"/>
        </a:p>
      </dgm:t>
    </dgm:pt>
    <dgm:pt modelId="{E0C6DDC4-7E55-4F32-8BD7-7973BA2A7AAF}" type="pres">
      <dgm:prSet presAssocID="{6B4585FA-8472-4F20-8AE0-2129187412A1}" presName="connTx" presStyleLbl="parChTrans1D2" presStyleIdx="0" presStyleCnt="2"/>
      <dgm:spPr/>
      <dgm:t>
        <a:bodyPr/>
        <a:lstStyle/>
        <a:p>
          <a:endParaRPr lang="ru-RU"/>
        </a:p>
      </dgm:t>
    </dgm:pt>
    <dgm:pt modelId="{22EDC010-C611-452C-8FD5-8FC134DE75B6}" type="pres">
      <dgm:prSet presAssocID="{36EC29F6-F63A-47D4-99BD-FEFF240D6F77}" presName="root2" presStyleCnt="0"/>
      <dgm:spPr/>
    </dgm:pt>
    <dgm:pt modelId="{21FADDCB-02C3-46A6-9FBE-EAA1CF768795}" type="pres">
      <dgm:prSet presAssocID="{36EC29F6-F63A-47D4-99BD-FEFF240D6F77}" presName="LevelTwoTextNode" presStyleLbl="node2" presStyleIdx="0" presStyleCnt="2" custLinFactNeighborX="10289" custLinFactNeighborY="1456">
        <dgm:presLayoutVars>
          <dgm:chPref val="3"/>
        </dgm:presLayoutVars>
      </dgm:prSet>
      <dgm:spPr/>
      <dgm:t>
        <a:bodyPr/>
        <a:lstStyle/>
        <a:p>
          <a:endParaRPr lang="ru-RU"/>
        </a:p>
      </dgm:t>
    </dgm:pt>
    <dgm:pt modelId="{EAD99054-6AD6-48C7-B4FE-75A48EB4A317}" type="pres">
      <dgm:prSet presAssocID="{36EC29F6-F63A-47D4-99BD-FEFF240D6F77}" presName="level3hierChild" presStyleCnt="0"/>
      <dgm:spPr/>
    </dgm:pt>
    <dgm:pt modelId="{280B2C36-E2B9-489C-AC35-06379EA731E6}" type="pres">
      <dgm:prSet presAssocID="{D010F6B0-1188-4064-97EA-2FFFA970380C}" presName="conn2-1" presStyleLbl="parChTrans1D3" presStyleIdx="0" presStyleCnt="2"/>
      <dgm:spPr/>
      <dgm:t>
        <a:bodyPr/>
        <a:lstStyle/>
        <a:p>
          <a:endParaRPr lang="ru-RU"/>
        </a:p>
      </dgm:t>
    </dgm:pt>
    <dgm:pt modelId="{2FCD625A-DF28-438C-8DC3-1F14EF26CBCC}" type="pres">
      <dgm:prSet presAssocID="{D010F6B0-1188-4064-97EA-2FFFA970380C}" presName="connTx" presStyleLbl="parChTrans1D3" presStyleIdx="0" presStyleCnt="2"/>
      <dgm:spPr/>
      <dgm:t>
        <a:bodyPr/>
        <a:lstStyle/>
        <a:p>
          <a:endParaRPr lang="ru-RU"/>
        </a:p>
      </dgm:t>
    </dgm:pt>
    <dgm:pt modelId="{F930E942-DA51-42CE-A7B7-B17A9D7EE8A1}" type="pres">
      <dgm:prSet presAssocID="{B2D256B7-B650-4BDF-A080-73565A892E65}" presName="root2" presStyleCnt="0"/>
      <dgm:spPr/>
    </dgm:pt>
    <dgm:pt modelId="{86479A8B-D11F-461E-BC36-77131B683DE8}" type="pres">
      <dgm:prSet presAssocID="{B2D256B7-B650-4BDF-A080-73565A892E65}" presName="LevelTwoTextNode" presStyleLbl="node3" presStyleIdx="0" presStyleCnt="2" custScaleX="150392" custLinFactNeighborX="-9170" custLinFactNeighborY="2501">
        <dgm:presLayoutVars>
          <dgm:chPref val="3"/>
        </dgm:presLayoutVars>
      </dgm:prSet>
      <dgm:spPr/>
      <dgm:t>
        <a:bodyPr/>
        <a:lstStyle/>
        <a:p>
          <a:endParaRPr lang="ru-RU"/>
        </a:p>
      </dgm:t>
    </dgm:pt>
    <dgm:pt modelId="{FB5B42A7-EA6E-40A2-B022-7D929D79F0F6}" type="pres">
      <dgm:prSet presAssocID="{B2D256B7-B650-4BDF-A080-73565A892E65}" presName="level3hierChild" presStyleCnt="0"/>
      <dgm:spPr/>
    </dgm:pt>
    <dgm:pt modelId="{47E8AE7B-5A24-4A41-A612-A3D9CB4AE78E}" type="pres">
      <dgm:prSet presAssocID="{EB231F30-579F-49C2-8FB9-8C9ACB48B019}" presName="conn2-1" presStyleLbl="parChTrans1D2" presStyleIdx="1" presStyleCnt="2"/>
      <dgm:spPr/>
      <dgm:t>
        <a:bodyPr/>
        <a:lstStyle/>
        <a:p>
          <a:endParaRPr lang="ru-RU"/>
        </a:p>
      </dgm:t>
    </dgm:pt>
    <dgm:pt modelId="{B45A6C61-FBE0-4506-A8A9-9FBDEBAC0AEF}" type="pres">
      <dgm:prSet presAssocID="{EB231F30-579F-49C2-8FB9-8C9ACB48B019}" presName="connTx" presStyleLbl="parChTrans1D2" presStyleIdx="1" presStyleCnt="2"/>
      <dgm:spPr/>
      <dgm:t>
        <a:bodyPr/>
        <a:lstStyle/>
        <a:p>
          <a:endParaRPr lang="ru-RU"/>
        </a:p>
      </dgm:t>
    </dgm:pt>
    <dgm:pt modelId="{C2A01833-831F-4C46-99BB-E907F0F11F13}" type="pres">
      <dgm:prSet presAssocID="{DFCDFAC2-F158-49ED-BCEB-EBBA7FB9D6A7}" presName="root2" presStyleCnt="0"/>
      <dgm:spPr/>
    </dgm:pt>
    <dgm:pt modelId="{08404A2C-A2B5-43EB-8907-EA68733CFC42}" type="pres">
      <dgm:prSet presAssocID="{DFCDFAC2-F158-49ED-BCEB-EBBA7FB9D6A7}" presName="LevelTwoTextNode" presStyleLbl="node2" presStyleIdx="1" presStyleCnt="2" custLinFactNeighborX="10289" custLinFactNeighborY="1456">
        <dgm:presLayoutVars>
          <dgm:chPref val="3"/>
        </dgm:presLayoutVars>
      </dgm:prSet>
      <dgm:spPr/>
      <dgm:t>
        <a:bodyPr/>
        <a:lstStyle/>
        <a:p>
          <a:endParaRPr lang="ru-RU"/>
        </a:p>
      </dgm:t>
    </dgm:pt>
    <dgm:pt modelId="{A68B49FE-7FAD-486C-8E62-5D96C579A43B}" type="pres">
      <dgm:prSet presAssocID="{DFCDFAC2-F158-49ED-BCEB-EBBA7FB9D6A7}" presName="level3hierChild" presStyleCnt="0"/>
      <dgm:spPr/>
    </dgm:pt>
    <dgm:pt modelId="{8E98DEB9-F71C-4622-81A7-5DCB39A8420B}" type="pres">
      <dgm:prSet presAssocID="{BC4FA7FE-863A-4BC1-80CB-66645F62D522}" presName="conn2-1" presStyleLbl="parChTrans1D3" presStyleIdx="1" presStyleCnt="2"/>
      <dgm:spPr/>
      <dgm:t>
        <a:bodyPr/>
        <a:lstStyle/>
        <a:p>
          <a:endParaRPr lang="ru-RU"/>
        </a:p>
      </dgm:t>
    </dgm:pt>
    <dgm:pt modelId="{5CB6860B-9C0F-4D85-A30D-72B8DEEC2BD0}" type="pres">
      <dgm:prSet presAssocID="{BC4FA7FE-863A-4BC1-80CB-66645F62D522}" presName="connTx" presStyleLbl="parChTrans1D3" presStyleIdx="1" presStyleCnt="2"/>
      <dgm:spPr/>
      <dgm:t>
        <a:bodyPr/>
        <a:lstStyle/>
        <a:p>
          <a:endParaRPr lang="ru-RU"/>
        </a:p>
      </dgm:t>
    </dgm:pt>
    <dgm:pt modelId="{11FF87A7-24D4-4073-9350-3FFE0408B93A}" type="pres">
      <dgm:prSet presAssocID="{0727C154-7F6A-4196-8B3C-99B7296D49BF}" presName="root2" presStyleCnt="0"/>
      <dgm:spPr/>
    </dgm:pt>
    <dgm:pt modelId="{3F1C47AA-C613-4147-BF6D-5522ED083983}" type="pres">
      <dgm:prSet presAssocID="{0727C154-7F6A-4196-8B3C-99B7296D49BF}" presName="LevelTwoTextNode" presStyleLbl="node3" presStyleIdx="1" presStyleCnt="2" custScaleX="150663" custLinFactNeighborX="-9170" custLinFactNeighborY="-2510">
        <dgm:presLayoutVars>
          <dgm:chPref val="3"/>
        </dgm:presLayoutVars>
      </dgm:prSet>
      <dgm:spPr/>
      <dgm:t>
        <a:bodyPr/>
        <a:lstStyle/>
        <a:p>
          <a:endParaRPr lang="ru-RU"/>
        </a:p>
      </dgm:t>
    </dgm:pt>
    <dgm:pt modelId="{50D66B09-74D8-464D-A104-FC6BC23DB362}" type="pres">
      <dgm:prSet presAssocID="{0727C154-7F6A-4196-8B3C-99B7296D49BF}" presName="level3hierChild" presStyleCnt="0"/>
      <dgm:spPr/>
    </dgm:pt>
  </dgm:ptLst>
  <dgm:cxnLst>
    <dgm:cxn modelId="{9D64042F-DB43-4F72-8CDA-B5B3A30AA76C}" type="presOf" srcId="{EB231F30-579F-49C2-8FB9-8C9ACB48B019}" destId="{47E8AE7B-5A24-4A41-A612-A3D9CB4AE78E}" srcOrd="0" destOrd="0" presId="urn:microsoft.com/office/officeart/2005/8/layout/hierarchy2"/>
    <dgm:cxn modelId="{30CB6F8D-8E74-4075-A90F-8052778177E1}" srcId="{51DF2FF1-9760-4A78-B0CC-B8D26D11F956}" destId="{36EC29F6-F63A-47D4-99BD-FEFF240D6F77}" srcOrd="0" destOrd="0" parTransId="{6B4585FA-8472-4F20-8AE0-2129187412A1}" sibTransId="{D1FB4CCD-DBDA-4C6B-8E78-882AA882E646}"/>
    <dgm:cxn modelId="{70005E3A-3E58-4A9C-82E8-FB6348728AB0}" type="presOf" srcId="{0727C154-7F6A-4196-8B3C-99B7296D49BF}" destId="{3F1C47AA-C613-4147-BF6D-5522ED083983}" srcOrd="0" destOrd="0" presId="urn:microsoft.com/office/officeart/2005/8/layout/hierarchy2"/>
    <dgm:cxn modelId="{CA59A80D-57F4-4673-8B49-5FFF444F2C5B}" srcId="{0F8CC340-DF05-4655-B95D-DA3187C58B4D}" destId="{51DF2FF1-9760-4A78-B0CC-B8D26D11F956}" srcOrd="0" destOrd="0" parTransId="{53FCBC74-4D7C-46FF-BA74-42FA4504D249}" sibTransId="{71AF29C0-0873-44F1-9B72-EE317A003183}"/>
    <dgm:cxn modelId="{6AAD289E-BC31-4172-BDB4-979DC7124255}" type="presOf" srcId="{6B4585FA-8472-4F20-8AE0-2129187412A1}" destId="{FF7A7621-02B0-4842-90B4-A084E1AF1698}" srcOrd="0" destOrd="0" presId="urn:microsoft.com/office/officeart/2005/8/layout/hierarchy2"/>
    <dgm:cxn modelId="{398B7E77-B0EE-433E-B3BB-80955FB49E49}" type="presOf" srcId="{DFCDFAC2-F158-49ED-BCEB-EBBA7FB9D6A7}" destId="{08404A2C-A2B5-43EB-8907-EA68733CFC42}" srcOrd="0" destOrd="0" presId="urn:microsoft.com/office/officeart/2005/8/layout/hierarchy2"/>
    <dgm:cxn modelId="{EE37F19E-011B-4784-A9E2-5F7BA5896FC9}" srcId="{51DF2FF1-9760-4A78-B0CC-B8D26D11F956}" destId="{DFCDFAC2-F158-49ED-BCEB-EBBA7FB9D6A7}" srcOrd="1" destOrd="0" parTransId="{EB231F30-579F-49C2-8FB9-8C9ACB48B019}" sibTransId="{0F1B5571-4CB6-42F0-961B-5DDFAF4CDC58}"/>
    <dgm:cxn modelId="{F834174A-67C6-4EBC-B901-825F5CB87EA3}" srcId="{36EC29F6-F63A-47D4-99BD-FEFF240D6F77}" destId="{B2D256B7-B650-4BDF-A080-73565A892E65}" srcOrd="0" destOrd="0" parTransId="{D010F6B0-1188-4064-97EA-2FFFA970380C}" sibTransId="{03A0AC9B-F5AA-4C6A-89E6-A0117B2BB62E}"/>
    <dgm:cxn modelId="{7FEBEFB7-8DFD-45E0-B4A8-99CA85B9A6C6}" type="presOf" srcId="{D010F6B0-1188-4064-97EA-2FFFA970380C}" destId="{280B2C36-E2B9-489C-AC35-06379EA731E6}" srcOrd="0" destOrd="0" presId="urn:microsoft.com/office/officeart/2005/8/layout/hierarchy2"/>
    <dgm:cxn modelId="{E606574B-7B0D-474B-8EFA-55AC5CBF2F94}" type="presOf" srcId="{BC4FA7FE-863A-4BC1-80CB-66645F62D522}" destId="{5CB6860B-9C0F-4D85-A30D-72B8DEEC2BD0}" srcOrd="1" destOrd="0" presId="urn:microsoft.com/office/officeart/2005/8/layout/hierarchy2"/>
    <dgm:cxn modelId="{EE41BFA9-DEAF-4A3C-AFF2-F4D8FFB6E25C}" type="presOf" srcId="{D010F6B0-1188-4064-97EA-2FFFA970380C}" destId="{2FCD625A-DF28-438C-8DC3-1F14EF26CBCC}" srcOrd="1" destOrd="0" presId="urn:microsoft.com/office/officeart/2005/8/layout/hierarchy2"/>
    <dgm:cxn modelId="{B5FF0E13-65EC-4E39-A132-838F15F098F2}" type="presOf" srcId="{6B4585FA-8472-4F20-8AE0-2129187412A1}" destId="{E0C6DDC4-7E55-4F32-8BD7-7973BA2A7AAF}" srcOrd="1" destOrd="0" presId="urn:microsoft.com/office/officeart/2005/8/layout/hierarchy2"/>
    <dgm:cxn modelId="{D6DC9C69-059F-4497-BC17-E7A1D2BAE1A3}" type="presOf" srcId="{0F8CC340-DF05-4655-B95D-DA3187C58B4D}" destId="{06A512D6-3495-4877-93D1-DD3FCD59400A}" srcOrd="0" destOrd="0" presId="urn:microsoft.com/office/officeart/2005/8/layout/hierarchy2"/>
    <dgm:cxn modelId="{7BF2BB28-92EB-4D55-8A63-5DA42C1AA679}" srcId="{DFCDFAC2-F158-49ED-BCEB-EBBA7FB9D6A7}" destId="{0727C154-7F6A-4196-8B3C-99B7296D49BF}" srcOrd="0" destOrd="0" parTransId="{BC4FA7FE-863A-4BC1-80CB-66645F62D522}" sibTransId="{A034A9F5-AC05-4850-A83F-10F55D93D226}"/>
    <dgm:cxn modelId="{609FB15F-C8C3-4AD7-9861-33D76DBDD16E}" type="presOf" srcId="{B2D256B7-B650-4BDF-A080-73565A892E65}" destId="{86479A8B-D11F-461E-BC36-77131B683DE8}" srcOrd="0" destOrd="0" presId="urn:microsoft.com/office/officeart/2005/8/layout/hierarchy2"/>
    <dgm:cxn modelId="{2166EABF-D975-4DC4-92D0-008180E1D43A}" type="presOf" srcId="{BC4FA7FE-863A-4BC1-80CB-66645F62D522}" destId="{8E98DEB9-F71C-4622-81A7-5DCB39A8420B}" srcOrd="0" destOrd="0" presId="urn:microsoft.com/office/officeart/2005/8/layout/hierarchy2"/>
    <dgm:cxn modelId="{E60B0A32-216F-497F-8D79-384054114D7A}" type="presOf" srcId="{EB231F30-579F-49C2-8FB9-8C9ACB48B019}" destId="{B45A6C61-FBE0-4506-A8A9-9FBDEBAC0AEF}" srcOrd="1" destOrd="0" presId="urn:microsoft.com/office/officeart/2005/8/layout/hierarchy2"/>
    <dgm:cxn modelId="{DF7E05D4-A604-4D8D-AFB6-AFA12DC76FE5}" type="presOf" srcId="{51DF2FF1-9760-4A78-B0CC-B8D26D11F956}" destId="{19045FE4-DE3B-4711-9E03-80EA0AAFFB76}" srcOrd="0" destOrd="0" presId="urn:microsoft.com/office/officeart/2005/8/layout/hierarchy2"/>
    <dgm:cxn modelId="{BD8411F2-A7BC-4B85-8EFA-075E5C4CB93A}" type="presOf" srcId="{36EC29F6-F63A-47D4-99BD-FEFF240D6F77}" destId="{21FADDCB-02C3-46A6-9FBE-EAA1CF768795}" srcOrd="0" destOrd="0" presId="urn:microsoft.com/office/officeart/2005/8/layout/hierarchy2"/>
    <dgm:cxn modelId="{6C1676E1-0856-4D6D-A3FE-70493C99D490}" type="presParOf" srcId="{06A512D6-3495-4877-93D1-DD3FCD59400A}" destId="{74789303-7630-472C-AAB3-1BA79E0F5CED}" srcOrd="0" destOrd="0" presId="urn:microsoft.com/office/officeart/2005/8/layout/hierarchy2"/>
    <dgm:cxn modelId="{35E3882B-A39A-40A2-92FF-35E0BFB0FE5E}" type="presParOf" srcId="{74789303-7630-472C-AAB3-1BA79E0F5CED}" destId="{19045FE4-DE3B-4711-9E03-80EA0AAFFB76}" srcOrd="0" destOrd="0" presId="urn:microsoft.com/office/officeart/2005/8/layout/hierarchy2"/>
    <dgm:cxn modelId="{71914727-2E06-4D7B-8E3B-119AC954160A}" type="presParOf" srcId="{74789303-7630-472C-AAB3-1BA79E0F5CED}" destId="{77741085-7571-45AB-98A1-C8543D63F80E}" srcOrd="1" destOrd="0" presId="urn:microsoft.com/office/officeart/2005/8/layout/hierarchy2"/>
    <dgm:cxn modelId="{3972A82B-D697-46A5-9B60-88977AB47B6A}" type="presParOf" srcId="{77741085-7571-45AB-98A1-C8543D63F80E}" destId="{FF7A7621-02B0-4842-90B4-A084E1AF1698}" srcOrd="0" destOrd="0" presId="urn:microsoft.com/office/officeart/2005/8/layout/hierarchy2"/>
    <dgm:cxn modelId="{41CDB243-7E88-408B-82FC-B3B6076E2BCE}" type="presParOf" srcId="{FF7A7621-02B0-4842-90B4-A084E1AF1698}" destId="{E0C6DDC4-7E55-4F32-8BD7-7973BA2A7AAF}" srcOrd="0" destOrd="0" presId="urn:microsoft.com/office/officeart/2005/8/layout/hierarchy2"/>
    <dgm:cxn modelId="{27E10150-2B72-4C0C-ABE3-2BF647477600}" type="presParOf" srcId="{77741085-7571-45AB-98A1-C8543D63F80E}" destId="{22EDC010-C611-452C-8FD5-8FC134DE75B6}" srcOrd="1" destOrd="0" presId="urn:microsoft.com/office/officeart/2005/8/layout/hierarchy2"/>
    <dgm:cxn modelId="{E94C8336-839B-4B51-AB78-D3E6B5C79A6A}" type="presParOf" srcId="{22EDC010-C611-452C-8FD5-8FC134DE75B6}" destId="{21FADDCB-02C3-46A6-9FBE-EAA1CF768795}" srcOrd="0" destOrd="0" presId="urn:microsoft.com/office/officeart/2005/8/layout/hierarchy2"/>
    <dgm:cxn modelId="{3E9817C2-8959-4EA1-9730-AA91A1F45B7D}" type="presParOf" srcId="{22EDC010-C611-452C-8FD5-8FC134DE75B6}" destId="{EAD99054-6AD6-48C7-B4FE-75A48EB4A317}" srcOrd="1" destOrd="0" presId="urn:microsoft.com/office/officeart/2005/8/layout/hierarchy2"/>
    <dgm:cxn modelId="{3171C45F-825D-410C-89D0-312415B10001}" type="presParOf" srcId="{EAD99054-6AD6-48C7-B4FE-75A48EB4A317}" destId="{280B2C36-E2B9-489C-AC35-06379EA731E6}" srcOrd="0" destOrd="0" presId="urn:microsoft.com/office/officeart/2005/8/layout/hierarchy2"/>
    <dgm:cxn modelId="{E873E961-204B-4B55-8C86-63AA351D5526}" type="presParOf" srcId="{280B2C36-E2B9-489C-AC35-06379EA731E6}" destId="{2FCD625A-DF28-438C-8DC3-1F14EF26CBCC}" srcOrd="0" destOrd="0" presId="urn:microsoft.com/office/officeart/2005/8/layout/hierarchy2"/>
    <dgm:cxn modelId="{23ADF017-E37D-4D29-BB96-D2743B709A25}" type="presParOf" srcId="{EAD99054-6AD6-48C7-B4FE-75A48EB4A317}" destId="{F930E942-DA51-42CE-A7B7-B17A9D7EE8A1}" srcOrd="1" destOrd="0" presId="urn:microsoft.com/office/officeart/2005/8/layout/hierarchy2"/>
    <dgm:cxn modelId="{EA8A604E-4456-42B4-A8E3-547A300CBCCB}" type="presParOf" srcId="{F930E942-DA51-42CE-A7B7-B17A9D7EE8A1}" destId="{86479A8B-D11F-461E-BC36-77131B683DE8}" srcOrd="0" destOrd="0" presId="urn:microsoft.com/office/officeart/2005/8/layout/hierarchy2"/>
    <dgm:cxn modelId="{AC13471E-55B0-47FB-BA41-9D2FDBFB3463}" type="presParOf" srcId="{F930E942-DA51-42CE-A7B7-B17A9D7EE8A1}" destId="{FB5B42A7-EA6E-40A2-B022-7D929D79F0F6}" srcOrd="1" destOrd="0" presId="urn:microsoft.com/office/officeart/2005/8/layout/hierarchy2"/>
    <dgm:cxn modelId="{FCF40A36-6612-412A-B0E6-E485BE27FF5A}" type="presParOf" srcId="{77741085-7571-45AB-98A1-C8543D63F80E}" destId="{47E8AE7B-5A24-4A41-A612-A3D9CB4AE78E}" srcOrd="2" destOrd="0" presId="urn:microsoft.com/office/officeart/2005/8/layout/hierarchy2"/>
    <dgm:cxn modelId="{B029A1EA-9389-4CEE-B312-BE1EF7CFBC9E}" type="presParOf" srcId="{47E8AE7B-5A24-4A41-A612-A3D9CB4AE78E}" destId="{B45A6C61-FBE0-4506-A8A9-9FBDEBAC0AEF}" srcOrd="0" destOrd="0" presId="urn:microsoft.com/office/officeart/2005/8/layout/hierarchy2"/>
    <dgm:cxn modelId="{6876662B-106B-4427-BC46-34D8994DCEEB}" type="presParOf" srcId="{77741085-7571-45AB-98A1-C8543D63F80E}" destId="{C2A01833-831F-4C46-99BB-E907F0F11F13}" srcOrd="3" destOrd="0" presId="urn:microsoft.com/office/officeart/2005/8/layout/hierarchy2"/>
    <dgm:cxn modelId="{15195949-939E-4D4D-B750-E3C95F02DD37}" type="presParOf" srcId="{C2A01833-831F-4C46-99BB-E907F0F11F13}" destId="{08404A2C-A2B5-43EB-8907-EA68733CFC42}" srcOrd="0" destOrd="0" presId="urn:microsoft.com/office/officeart/2005/8/layout/hierarchy2"/>
    <dgm:cxn modelId="{7AE11D7C-B659-4010-9275-A920C99F8D9A}" type="presParOf" srcId="{C2A01833-831F-4C46-99BB-E907F0F11F13}" destId="{A68B49FE-7FAD-486C-8E62-5D96C579A43B}" srcOrd="1" destOrd="0" presId="urn:microsoft.com/office/officeart/2005/8/layout/hierarchy2"/>
    <dgm:cxn modelId="{C5C4AB36-A655-4CD4-B1D2-F4E4D68619FE}" type="presParOf" srcId="{A68B49FE-7FAD-486C-8E62-5D96C579A43B}" destId="{8E98DEB9-F71C-4622-81A7-5DCB39A8420B}" srcOrd="0" destOrd="0" presId="urn:microsoft.com/office/officeart/2005/8/layout/hierarchy2"/>
    <dgm:cxn modelId="{5B629FA7-2B15-47EC-8B6E-E73CD2F8E1A2}" type="presParOf" srcId="{8E98DEB9-F71C-4622-81A7-5DCB39A8420B}" destId="{5CB6860B-9C0F-4D85-A30D-72B8DEEC2BD0}" srcOrd="0" destOrd="0" presId="urn:microsoft.com/office/officeart/2005/8/layout/hierarchy2"/>
    <dgm:cxn modelId="{BFB4447F-9DF2-4019-B88F-B801AA5991ED}" type="presParOf" srcId="{A68B49FE-7FAD-486C-8E62-5D96C579A43B}" destId="{11FF87A7-24D4-4073-9350-3FFE0408B93A}" srcOrd="1" destOrd="0" presId="urn:microsoft.com/office/officeart/2005/8/layout/hierarchy2"/>
    <dgm:cxn modelId="{95D21F30-F17B-4A22-800F-3457AF5ABE90}" type="presParOf" srcId="{11FF87A7-24D4-4073-9350-3FFE0408B93A}" destId="{3F1C47AA-C613-4147-BF6D-5522ED083983}" srcOrd="0" destOrd="0" presId="urn:microsoft.com/office/officeart/2005/8/layout/hierarchy2"/>
    <dgm:cxn modelId="{548EF230-F579-471C-9413-03921E92A262}" type="presParOf" srcId="{11FF87A7-24D4-4073-9350-3FFE0408B93A}" destId="{50D66B09-74D8-464D-A104-FC6BC23DB362}" srcOrd="1" destOrd="0" presId="urn:microsoft.com/office/officeart/2005/8/layout/hierarchy2"/>
  </dgm:cxnLst>
  <dgm:bg>
    <a:solidFill>
      <a:schemeClr val="accent3">
        <a:lumMod val="20000"/>
        <a:lumOff val="80000"/>
      </a:schemeClr>
    </a:solid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045FE4-DE3B-4711-9E03-80EA0AAFFB76}">
      <dsp:nvSpPr>
        <dsp:cNvPr id="0" name=""/>
        <dsp:cNvSpPr/>
      </dsp:nvSpPr>
      <dsp:spPr>
        <a:xfrm>
          <a:off x="68443" y="395290"/>
          <a:ext cx="2288274" cy="1866006"/>
        </a:xfrm>
        <a:prstGeom prst="roundRect">
          <a:avLst>
            <a:gd name="adj" fmla="val 10000"/>
          </a:avLst>
        </a:prstGeom>
        <a:solidFill>
          <a:schemeClr val="accent1">
            <a:lumMod val="20000"/>
            <a:lumOff val="80000"/>
          </a:schemeClr>
        </a:solidFill>
        <a:ln w="222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uz-Cyrl-UZ" sz="1800" b="1" kern="1200" dirty="0" smtClean="0">
              <a:solidFill>
                <a:schemeClr val="tx1"/>
              </a:solidFill>
            </a:rPr>
            <a:t>Рухсат этилмаган маълумотларни ҳимоялаш масаласининг асосий йўналишлари</a:t>
          </a:r>
          <a:endParaRPr lang="ru-RU" sz="1800" b="1" kern="1200" dirty="0">
            <a:solidFill>
              <a:schemeClr val="tx1"/>
            </a:solidFill>
          </a:endParaRPr>
        </a:p>
      </dsp:txBody>
      <dsp:txXfrm>
        <a:off x="123096" y="449943"/>
        <a:ext cx="2178968" cy="1756700"/>
      </dsp:txXfrm>
    </dsp:sp>
    <dsp:sp modelId="{FF7A7621-02B0-4842-90B4-A084E1AF1698}">
      <dsp:nvSpPr>
        <dsp:cNvPr id="0" name=""/>
        <dsp:cNvSpPr/>
      </dsp:nvSpPr>
      <dsp:spPr>
        <a:xfrm rot="19665329">
          <a:off x="2274428" y="1010332"/>
          <a:ext cx="1067159" cy="66556"/>
        </a:xfrm>
        <a:custGeom>
          <a:avLst/>
          <a:gdLst/>
          <a:ahLst/>
          <a:cxnLst/>
          <a:rect l="0" t="0" r="0" b="0"/>
          <a:pathLst>
            <a:path>
              <a:moveTo>
                <a:pt x="0" y="33278"/>
              </a:moveTo>
              <a:lnTo>
                <a:pt x="1067159" y="33278"/>
              </a:lnTo>
            </a:path>
          </a:pathLst>
        </a:custGeom>
        <a:noFill/>
        <a:ln w="2222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ru-RU" sz="500" kern="1200"/>
        </a:p>
      </dsp:txBody>
      <dsp:txXfrm>
        <a:off x="2781329" y="1016931"/>
        <a:ext cx="53357" cy="53357"/>
      </dsp:txXfrm>
    </dsp:sp>
    <dsp:sp modelId="{21FADDCB-02C3-46A6-9FBE-EAA1CF768795}">
      <dsp:nvSpPr>
        <dsp:cNvPr id="0" name=""/>
        <dsp:cNvSpPr/>
      </dsp:nvSpPr>
      <dsp:spPr>
        <a:xfrm>
          <a:off x="3259299" y="279688"/>
          <a:ext cx="1916959" cy="958479"/>
        </a:xfrm>
        <a:prstGeom prst="roundRect">
          <a:avLst>
            <a:gd name="adj" fmla="val 10000"/>
          </a:avLst>
        </a:prstGeom>
        <a:solidFill>
          <a:schemeClr val="tx2">
            <a:lumMod val="10000"/>
            <a:lumOff val="90000"/>
          </a:schemeClr>
        </a:solidFill>
        <a:ln w="222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uz-Cyrl-UZ" sz="1800" b="1" kern="1200" dirty="0" smtClean="0">
              <a:solidFill>
                <a:schemeClr val="tx1"/>
              </a:solidFill>
            </a:rPr>
            <a:t>Криптография</a:t>
          </a:r>
          <a:endParaRPr lang="ru-RU" sz="1800" b="1" kern="1200" dirty="0">
            <a:solidFill>
              <a:schemeClr val="tx1"/>
            </a:solidFill>
          </a:endParaRPr>
        </a:p>
      </dsp:txBody>
      <dsp:txXfrm>
        <a:off x="3287372" y="307761"/>
        <a:ext cx="1860813" cy="902333"/>
      </dsp:txXfrm>
    </dsp:sp>
    <dsp:sp modelId="{280B2C36-E2B9-489C-AC35-06379EA731E6}">
      <dsp:nvSpPr>
        <dsp:cNvPr id="0" name=""/>
        <dsp:cNvSpPr/>
      </dsp:nvSpPr>
      <dsp:spPr>
        <a:xfrm rot="87427">
          <a:off x="5176194" y="730658"/>
          <a:ext cx="393890" cy="66556"/>
        </a:xfrm>
        <a:custGeom>
          <a:avLst/>
          <a:gdLst/>
          <a:ahLst/>
          <a:cxnLst/>
          <a:rect l="0" t="0" r="0" b="0"/>
          <a:pathLst>
            <a:path>
              <a:moveTo>
                <a:pt x="0" y="33278"/>
              </a:moveTo>
              <a:lnTo>
                <a:pt x="393890" y="33278"/>
              </a:lnTo>
            </a:path>
          </a:pathLst>
        </a:custGeom>
        <a:noFill/>
        <a:ln w="222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ru-RU" sz="500" kern="1200"/>
        </a:p>
      </dsp:txBody>
      <dsp:txXfrm>
        <a:off x="5363292" y="754088"/>
        <a:ext cx="19694" cy="19694"/>
      </dsp:txXfrm>
    </dsp:sp>
    <dsp:sp modelId="{86479A8B-D11F-461E-BC36-77131B683DE8}">
      <dsp:nvSpPr>
        <dsp:cNvPr id="0" name=""/>
        <dsp:cNvSpPr/>
      </dsp:nvSpPr>
      <dsp:spPr>
        <a:xfrm>
          <a:off x="5570021" y="289704"/>
          <a:ext cx="2882953" cy="958479"/>
        </a:xfrm>
        <a:prstGeom prst="roundRect">
          <a:avLst>
            <a:gd name="adj" fmla="val 10000"/>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uz-Cyrl-UZ" sz="1400" b="1" kern="1200" dirty="0" smtClean="0">
              <a:latin typeface="Arial" pitchFamily="34" charset="0"/>
              <a:cs typeface="Arial" pitchFamily="34" charset="0"/>
            </a:rPr>
            <a:t>шифрлаш усуллари ёрдамида махфий маълумотни тегишли шифрбелгиларга акслантириш орқали ҳимоялаш</a:t>
          </a:r>
          <a:endParaRPr lang="ru-RU" sz="1400" b="1" kern="1200" dirty="0">
            <a:latin typeface="Arial" pitchFamily="34" charset="0"/>
            <a:cs typeface="Arial" pitchFamily="34" charset="0"/>
          </a:endParaRPr>
        </a:p>
      </dsp:txBody>
      <dsp:txXfrm>
        <a:off x="5598094" y="317777"/>
        <a:ext cx="2826807" cy="902333"/>
      </dsp:txXfrm>
    </dsp:sp>
    <dsp:sp modelId="{47E8AE7B-5A24-4A41-A612-A3D9CB4AE78E}">
      <dsp:nvSpPr>
        <dsp:cNvPr id="0" name=""/>
        <dsp:cNvSpPr/>
      </dsp:nvSpPr>
      <dsp:spPr>
        <a:xfrm rot="1833462">
          <a:off x="2283933" y="1561458"/>
          <a:ext cx="1048150" cy="66556"/>
        </a:xfrm>
        <a:custGeom>
          <a:avLst/>
          <a:gdLst/>
          <a:ahLst/>
          <a:cxnLst/>
          <a:rect l="0" t="0" r="0" b="0"/>
          <a:pathLst>
            <a:path>
              <a:moveTo>
                <a:pt x="0" y="33278"/>
              </a:moveTo>
              <a:lnTo>
                <a:pt x="1048150" y="33278"/>
              </a:lnTo>
            </a:path>
          </a:pathLst>
        </a:custGeom>
        <a:noFill/>
        <a:ln w="2222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ru-RU" sz="500" kern="1200"/>
        </a:p>
      </dsp:txBody>
      <dsp:txXfrm>
        <a:off x="2781804" y="1568533"/>
        <a:ext cx="52407" cy="52407"/>
      </dsp:txXfrm>
    </dsp:sp>
    <dsp:sp modelId="{08404A2C-A2B5-43EB-8907-EA68733CFC42}">
      <dsp:nvSpPr>
        <dsp:cNvPr id="0" name=""/>
        <dsp:cNvSpPr/>
      </dsp:nvSpPr>
      <dsp:spPr>
        <a:xfrm>
          <a:off x="3259299" y="1381939"/>
          <a:ext cx="1916959" cy="958479"/>
        </a:xfrm>
        <a:prstGeom prst="roundRect">
          <a:avLst>
            <a:gd name="adj" fmla="val 10000"/>
          </a:avLst>
        </a:prstGeom>
        <a:solidFill>
          <a:schemeClr val="accent5">
            <a:lumMod val="20000"/>
            <a:lumOff val="80000"/>
          </a:schemeClr>
        </a:solidFill>
        <a:ln w="222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uz-Cyrl-UZ" sz="1800" b="1" kern="1200" dirty="0" smtClean="0">
              <a:solidFill>
                <a:schemeClr val="tx1"/>
              </a:solidFill>
            </a:rPr>
            <a:t>Стеганография</a:t>
          </a:r>
          <a:endParaRPr lang="ru-RU" sz="1800" b="1" kern="1200" dirty="0">
            <a:solidFill>
              <a:schemeClr val="tx1"/>
            </a:solidFill>
          </a:endParaRPr>
        </a:p>
      </dsp:txBody>
      <dsp:txXfrm>
        <a:off x="3287372" y="1410012"/>
        <a:ext cx="1860813" cy="902333"/>
      </dsp:txXfrm>
    </dsp:sp>
    <dsp:sp modelId="{8E98DEB9-F71C-4622-81A7-5DCB39A8420B}">
      <dsp:nvSpPr>
        <dsp:cNvPr id="0" name=""/>
        <dsp:cNvSpPr/>
      </dsp:nvSpPr>
      <dsp:spPr>
        <a:xfrm rot="21269150">
          <a:off x="5175343" y="1808895"/>
          <a:ext cx="395593" cy="66556"/>
        </a:xfrm>
        <a:custGeom>
          <a:avLst/>
          <a:gdLst/>
          <a:ahLst/>
          <a:cxnLst/>
          <a:rect l="0" t="0" r="0" b="0"/>
          <a:pathLst>
            <a:path>
              <a:moveTo>
                <a:pt x="0" y="33278"/>
              </a:moveTo>
              <a:lnTo>
                <a:pt x="395593" y="33278"/>
              </a:lnTo>
            </a:path>
          </a:pathLst>
        </a:custGeom>
        <a:noFill/>
        <a:ln w="2222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ru-RU" sz="500" kern="1200"/>
        </a:p>
      </dsp:txBody>
      <dsp:txXfrm>
        <a:off x="5363250" y="1832283"/>
        <a:ext cx="19779" cy="19779"/>
      </dsp:txXfrm>
    </dsp:sp>
    <dsp:sp modelId="{3F1C47AA-C613-4147-BF6D-5522ED083983}">
      <dsp:nvSpPr>
        <dsp:cNvPr id="0" name=""/>
        <dsp:cNvSpPr/>
      </dsp:nvSpPr>
      <dsp:spPr>
        <a:xfrm>
          <a:off x="5570021" y="1343926"/>
          <a:ext cx="2888148" cy="958479"/>
        </a:xfrm>
        <a:prstGeom prst="roundRect">
          <a:avLst>
            <a:gd name="adj" fmla="val 10000"/>
          </a:avLst>
        </a:prstGeom>
        <a:solidFill>
          <a:schemeClr val="accent1">
            <a:hueOff val="0"/>
            <a:satOff val="0"/>
            <a:lumOff val="0"/>
            <a:alphaOff val="0"/>
          </a:schemeClr>
        </a:solidFill>
        <a:ln w="222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uz-Cyrl-UZ" sz="1400" b="1" kern="1200" dirty="0" smtClean="0">
              <a:latin typeface="Arial" pitchFamily="34" charset="0"/>
              <a:cs typeface="Arial" pitchFamily="34" charset="0"/>
            </a:rPr>
            <a:t>махфий хабарларни бошқа ахборот ичига яшириш</a:t>
          </a:r>
          <a:endParaRPr lang="ru-RU" sz="1400" b="1" kern="1200" dirty="0">
            <a:latin typeface="Arial" pitchFamily="34" charset="0"/>
            <a:cs typeface="Arial" pitchFamily="34" charset="0"/>
          </a:endParaRPr>
        </a:p>
      </dsp:txBody>
      <dsp:txXfrm>
        <a:off x="5598094" y="1371999"/>
        <a:ext cx="2832002" cy="90233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ADE84E-6F94-4553-B72A-D825EB980F20}" type="datetimeFigureOut">
              <a:rPr lang="ru-RU" smtClean="0"/>
              <a:t>24.11.2020</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6DA513-32A8-44F6-99A2-44F4114E588F}" type="slidenum">
              <a:rPr lang="ru-RU" smtClean="0"/>
              <a:t>‹#›</a:t>
            </a:fld>
            <a:endParaRPr lang="ru-RU"/>
          </a:p>
        </p:txBody>
      </p:sp>
    </p:spTree>
    <p:extLst>
      <p:ext uri="{BB962C8B-B14F-4D97-AF65-F5344CB8AC3E}">
        <p14:creationId xmlns:p14="http://schemas.microsoft.com/office/powerpoint/2010/main" val="1435653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1</a:t>
            </a:fld>
            <a:endParaRPr lang="ru-RU"/>
          </a:p>
        </p:txBody>
      </p:sp>
    </p:spTree>
    <p:extLst>
      <p:ext uri="{BB962C8B-B14F-4D97-AF65-F5344CB8AC3E}">
        <p14:creationId xmlns:p14="http://schemas.microsoft.com/office/powerpoint/2010/main" val="1389098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2</a:t>
            </a:fld>
            <a:endParaRPr lang="ru-RU"/>
          </a:p>
        </p:txBody>
      </p:sp>
    </p:spTree>
    <p:extLst>
      <p:ext uri="{BB962C8B-B14F-4D97-AF65-F5344CB8AC3E}">
        <p14:creationId xmlns:p14="http://schemas.microsoft.com/office/powerpoint/2010/main" val="2851922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3</a:t>
            </a:fld>
            <a:endParaRPr lang="ru-RU"/>
          </a:p>
        </p:txBody>
      </p:sp>
    </p:spTree>
    <p:extLst>
      <p:ext uri="{BB962C8B-B14F-4D97-AF65-F5344CB8AC3E}">
        <p14:creationId xmlns:p14="http://schemas.microsoft.com/office/powerpoint/2010/main" val="2851922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4</a:t>
            </a:fld>
            <a:endParaRPr lang="ru-RU"/>
          </a:p>
        </p:txBody>
      </p:sp>
    </p:spTree>
    <p:extLst>
      <p:ext uri="{BB962C8B-B14F-4D97-AF65-F5344CB8AC3E}">
        <p14:creationId xmlns:p14="http://schemas.microsoft.com/office/powerpoint/2010/main" val="2040671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5</a:t>
            </a:fld>
            <a:endParaRPr lang="ru-RU"/>
          </a:p>
        </p:txBody>
      </p:sp>
    </p:spTree>
    <p:extLst>
      <p:ext uri="{BB962C8B-B14F-4D97-AF65-F5344CB8AC3E}">
        <p14:creationId xmlns:p14="http://schemas.microsoft.com/office/powerpoint/2010/main" val="2673882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6</a:t>
            </a:fld>
            <a:endParaRPr lang="ru-RU"/>
          </a:p>
        </p:txBody>
      </p:sp>
    </p:spTree>
    <p:extLst>
      <p:ext uri="{BB962C8B-B14F-4D97-AF65-F5344CB8AC3E}">
        <p14:creationId xmlns:p14="http://schemas.microsoft.com/office/powerpoint/2010/main" val="1193802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7</a:t>
            </a:fld>
            <a:endParaRPr lang="ru-RU"/>
          </a:p>
        </p:txBody>
      </p:sp>
    </p:spTree>
    <p:extLst>
      <p:ext uri="{BB962C8B-B14F-4D97-AF65-F5344CB8AC3E}">
        <p14:creationId xmlns:p14="http://schemas.microsoft.com/office/powerpoint/2010/main" val="2692557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8</a:t>
            </a:fld>
            <a:endParaRPr lang="ru-RU"/>
          </a:p>
        </p:txBody>
      </p:sp>
    </p:spTree>
    <p:extLst>
      <p:ext uri="{BB962C8B-B14F-4D97-AF65-F5344CB8AC3E}">
        <p14:creationId xmlns:p14="http://schemas.microsoft.com/office/powerpoint/2010/main" val="708395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9</a:t>
            </a:fld>
            <a:endParaRPr lang="ru-RU"/>
          </a:p>
        </p:txBody>
      </p:sp>
    </p:spTree>
    <p:extLst>
      <p:ext uri="{BB962C8B-B14F-4D97-AF65-F5344CB8AC3E}">
        <p14:creationId xmlns:p14="http://schemas.microsoft.com/office/powerpoint/2010/main" val="37717499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10</a:t>
            </a:fld>
            <a:endParaRPr lang="ru-RU"/>
          </a:p>
        </p:txBody>
      </p:sp>
    </p:spTree>
    <p:extLst>
      <p:ext uri="{BB962C8B-B14F-4D97-AF65-F5344CB8AC3E}">
        <p14:creationId xmlns:p14="http://schemas.microsoft.com/office/powerpoint/2010/main" val="63264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11</a:t>
            </a:fld>
            <a:endParaRPr lang="ru-RU"/>
          </a:p>
        </p:txBody>
      </p:sp>
    </p:spTree>
    <p:extLst>
      <p:ext uri="{BB962C8B-B14F-4D97-AF65-F5344CB8AC3E}">
        <p14:creationId xmlns:p14="http://schemas.microsoft.com/office/powerpoint/2010/main" val="523158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12</a:t>
            </a:fld>
            <a:endParaRPr lang="ru-RU"/>
          </a:p>
        </p:txBody>
      </p:sp>
    </p:spTree>
    <p:extLst>
      <p:ext uri="{BB962C8B-B14F-4D97-AF65-F5344CB8AC3E}">
        <p14:creationId xmlns:p14="http://schemas.microsoft.com/office/powerpoint/2010/main" val="3625125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13</a:t>
            </a:fld>
            <a:endParaRPr lang="ru-RU"/>
          </a:p>
        </p:txBody>
      </p:sp>
    </p:spTree>
    <p:extLst>
      <p:ext uri="{BB962C8B-B14F-4D97-AF65-F5344CB8AC3E}">
        <p14:creationId xmlns:p14="http://schemas.microsoft.com/office/powerpoint/2010/main" val="2235362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14</a:t>
            </a:fld>
            <a:endParaRPr lang="ru-RU"/>
          </a:p>
        </p:txBody>
      </p:sp>
    </p:spTree>
    <p:extLst>
      <p:ext uri="{BB962C8B-B14F-4D97-AF65-F5344CB8AC3E}">
        <p14:creationId xmlns:p14="http://schemas.microsoft.com/office/powerpoint/2010/main" val="3126017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15</a:t>
            </a:fld>
            <a:endParaRPr lang="ru-RU"/>
          </a:p>
        </p:txBody>
      </p:sp>
    </p:spTree>
    <p:extLst>
      <p:ext uri="{BB962C8B-B14F-4D97-AF65-F5344CB8AC3E}">
        <p14:creationId xmlns:p14="http://schemas.microsoft.com/office/powerpoint/2010/main" val="34451583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16</a:t>
            </a:fld>
            <a:endParaRPr lang="ru-RU"/>
          </a:p>
        </p:txBody>
      </p:sp>
    </p:spTree>
    <p:extLst>
      <p:ext uri="{BB962C8B-B14F-4D97-AF65-F5344CB8AC3E}">
        <p14:creationId xmlns:p14="http://schemas.microsoft.com/office/powerpoint/2010/main" val="1726672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17</a:t>
            </a:fld>
            <a:endParaRPr lang="ru-RU"/>
          </a:p>
        </p:txBody>
      </p:sp>
    </p:spTree>
    <p:extLst>
      <p:ext uri="{BB962C8B-B14F-4D97-AF65-F5344CB8AC3E}">
        <p14:creationId xmlns:p14="http://schemas.microsoft.com/office/powerpoint/2010/main" val="1990389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18</a:t>
            </a:fld>
            <a:endParaRPr lang="ru-RU"/>
          </a:p>
        </p:txBody>
      </p:sp>
    </p:spTree>
    <p:extLst>
      <p:ext uri="{BB962C8B-B14F-4D97-AF65-F5344CB8AC3E}">
        <p14:creationId xmlns:p14="http://schemas.microsoft.com/office/powerpoint/2010/main" val="8347555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346DA513-32A8-44F6-99A2-44F4114E588F}" type="slidenum">
              <a:rPr lang="ru-RU" smtClean="0"/>
              <a:t>19</a:t>
            </a:fld>
            <a:endParaRPr lang="ru-RU"/>
          </a:p>
        </p:txBody>
      </p:sp>
    </p:spTree>
    <p:extLst>
      <p:ext uri="{BB962C8B-B14F-4D97-AF65-F5344CB8AC3E}">
        <p14:creationId xmlns:p14="http://schemas.microsoft.com/office/powerpoint/2010/main" val="1579550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8" name="Rectangle 7"/>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62000" y="3200400"/>
            <a:ext cx="7543800" cy="1524000"/>
          </a:xfrm>
        </p:spPr>
        <p:txBody>
          <a:bodyPr>
            <a:noAutofit/>
          </a:bodyPr>
          <a:lstStyle>
            <a:lvl1pPr>
              <a:defRPr sz="8000"/>
            </a:lvl1pPr>
          </a:lstStyle>
          <a:p>
            <a:r>
              <a:rPr lang="ru-RU" smtClean="0"/>
              <a:t>Образец заголовка</a:t>
            </a:r>
            <a:endParaRPr lang="en-US" dirty="0"/>
          </a:p>
        </p:txBody>
      </p:sp>
      <p:sp>
        <p:nvSpPr>
          <p:cNvPr id="3" name="Subtitle 2"/>
          <p:cNvSpPr>
            <a:spLocks noGrp="1"/>
          </p:cNvSpPr>
          <p:nvPr>
            <p:ph type="subTitle" idx="1"/>
          </p:nvPr>
        </p:nvSpPr>
        <p:spPr>
          <a:xfrm>
            <a:off x="762000" y="4724400"/>
            <a:ext cx="6858000" cy="990600"/>
          </a:xfrm>
        </p:spPr>
        <p:txBody>
          <a:bodyPr anchor="t" anchorCtr="0">
            <a:normAutofit/>
          </a:bodyPr>
          <a:lstStyle>
            <a:lvl1pPr marL="0" indent="0" algn="l">
              <a:buNone/>
              <a:defRPr sz="2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8B6F0E88-1F7F-4E50-BE81-A2A5DF4C1A93}" type="datetime1">
              <a:rPr lang="ru-RU" smtClean="0"/>
              <a:t>24.11.2020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CE6A5D1-E7E2-43D2-949B-5B1765105237}" type="slidenum">
              <a:rPr lang="ru-RU" smtClean="0"/>
              <a:t>‹#›</a:t>
            </a:fld>
            <a:endParaRPr lang="ru-RU"/>
          </a:p>
        </p:txBody>
      </p:sp>
      <p:sp>
        <p:nvSpPr>
          <p:cNvPr id="7" name="Rectangle 6"/>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0CB28617-7C70-4748-B9A9-0092786D023D}" type="datetime1">
              <a:rPr lang="ru-RU" smtClean="0"/>
              <a:t>24.11.2020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CE6A5D1-E7E2-43D2-949B-5B1765105237}"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7" name="Rectangle 6"/>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2000" y="3276600"/>
            <a:ext cx="7543800" cy="1676400"/>
          </a:xfrm>
        </p:spPr>
        <p:txBody>
          <a:bodyPr anchor="b" anchorCtr="0"/>
          <a:lstStyle>
            <a:lvl1pPr algn="l">
              <a:defRPr sz="5400" b="0" cap="all"/>
            </a:lvl1pPr>
          </a:lstStyle>
          <a:p>
            <a:r>
              <a:rPr lang="ru-RU" smtClean="0"/>
              <a:t>Образец заголовка</a:t>
            </a:r>
            <a:endParaRPr lang="en-US" dirty="0"/>
          </a:p>
        </p:txBody>
      </p:sp>
      <p:sp>
        <p:nvSpPr>
          <p:cNvPr id="3" name="Text Placeholder 2"/>
          <p:cNvSpPr>
            <a:spLocks noGrp="1"/>
          </p:cNvSpPr>
          <p:nvPr>
            <p:ph type="body" idx="1"/>
          </p:nvPr>
        </p:nvSpPr>
        <p:spPr>
          <a:xfrm>
            <a:off x="762000" y="4953000"/>
            <a:ext cx="6858000" cy="914400"/>
          </a:xfrm>
        </p:spPr>
        <p:txBody>
          <a:bodyPr anchor="t" anchorCtr="0">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AD8C5D30-3F29-48F5-BF3E-874A12C8C9A6}" type="datetime1">
              <a:rPr lang="ru-RU" smtClean="0"/>
              <a:t>24.11.2020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CE6A5D1-E7E2-43D2-949B-5B1765105237}" type="slidenum">
              <a:rPr lang="ru-RU" smtClean="0"/>
              <a:t>‹#›</a:t>
            </a:fld>
            <a:endParaRPr lang="ru-RU"/>
          </a:p>
        </p:txBody>
      </p:sp>
      <p:sp>
        <p:nvSpPr>
          <p:cNvPr id="8" name="Rectangle 7"/>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sz="half" idx="1"/>
          </p:nvPr>
        </p:nvSpPr>
        <p:spPr>
          <a:xfrm>
            <a:off x="7620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46482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Date Placeholder 4"/>
          <p:cNvSpPr>
            <a:spLocks noGrp="1"/>
          </p:cNvSpPr>
          <p:nvPr>
            <p:ph type="dt" sz="half" idx="10"/>
          </p:nvPr>
        </p:nvSpPr>
        <p:spPr/>
        <p:txBody>
          <a:bodyPr/>
          <a:lstStyle/>
          <a:p>
            <a:fld id="{8DC6D3B1-BCD4-4236-B277-89E37D8BDE9F}" type="datetime1">
              <a:rPr lang="ru-RU" smtClean="0"/>
              <a:t>24.11.2020</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CE6A5D1-E7E2-43D2-949B-5B1765105237}"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7589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7589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51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1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Date Placeholder 6"/>
          <p:cNvSpPr>
            <a:spLocks noGrp="1"/>
          </p:cNvSpPr>
          <p:nvPr>
            <p:ph type="dt" sz="half" idx="10"/>
          </p:nvPr>
        </p:nvSpPr>
        <p:spPr/>
        <p:txBody>
          <a:bodyPr/>
          <a:lstStyle/>
          <a:p>
            <a:fld id="{FD2B62AF-37EE-4078-8D3D-24EA756F9DB8}" type="datetime1">
              <a:rPr lang="ru-RU" smtClean="0"/>
              <a:t>24.11.2020</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DCE6A5D1-E7E2-43D2-949B-5B1765105237}" type="slidenum">
              <a:rPr lang="ru-RU" smtClean="0"/>
              <a:t>‹#›</a:t>
            </a:fld>
            <a:endParaRPr lang="ru-RU"/>
          </a:p>
        </p:txBody>
      </p:sp>
      <p:cxnSp>
        <p:nvCxnSpPr>
          <p:cNvPr id="11" name="Straight Connector 10"/>
          <p:cNvCxnSpPr/>
          <p:nvPr/>
        </p:nvCxnSpPr>
        <p:spPr>
          <a:xfrm>
            <a:off x="7589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6451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05BA354D-F6D2-4F60-829E-AC8F03F3C3CD}" type="datetime1">
              <a:rPr lang="ru-RU" smtClean="0"/>
              <a:t>24.11.2020</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DCE6A5D1-E7E2-43D2-949B-5B1765105237}"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4624D9-DED9-44BA-84D2-43EB0899B37E}" type="datetime1">
              <a:rPr lang="ru-RU" smtClean="0"/>
              <a:t>24.11.2020</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DCE6A5D1-E7E2-43D2-949B-5B1765105237}"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0"/>
            <a:ext cx="6784848" cy="1600200"/>
          </a:xfrm>
        </p:spPr>
        <p:txBody>
          <a:bodyPr anchor="b">
            <a:normAutofit/>
          </a:bodyPr>
          <a:lstStyle>
            <a:lvl1pPr algn="l">
              <a:defRPr sz="5400" b="0"/>
            </a:lvl1pPr>
          </a:lstStyle>
          <a:p>
            <a:r>
              <a:rPr lang="ru-RU" smtClean="0"/>
              <a:t>Образец заголовка</a:t>
            </a:r>
            <a:endParaRPr lang="en-US"/>
          </a:p>
        </p:txBody>
      </p:sp>
      <p:sp>
        <p:nvSpPr>
          <p:cNvPr id="3" name="Content Placeholder 2"/>
          <p:cNvSpPr>
            <a:spLocks noGrp="1"/>
          </p:cNvSpPr>
          <p:nvPr>
            <p:ph idx="1"/>
          </p:nvPr>
        </p:nvSpPr>
        <p:spPr>
          <a:xfrm>
            <a:off x="3710866" y="457200"/>
            <a:ext cx="4594934" cy="41147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762001" y="457200"/>
            <a:ext cx="2673657" cy="4114800"/>
          </a:xfrm>
        </p:spPr>
        <p:txBody>
          <a:bodyPr>
            <a:normAutofit/>
          </a:bodyPr>
          <a:lstStyle>
            <a:lvl1pPr marL="0" indent="0">
              <a:buNone/>
              <a:defRPr sz="21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552C7E90-D6EF-4C12-B5F8-94BFCD19ED77}" type="datetime1">
              <a:rPr lang="ru-RU" smtClean="0"/>
              <a:t>24.11.2020</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CE6A5D1-E7E2-43D2-949B-5B1765105237}" type="slidenum">
              <a:rPr lang="ru-RU" smtClean="0"/>
              <a:t>‹#›</a:t>
            </a:fld>
            <a:endParaRPr lang="ru-RU"/>
          </a:p>
        </p:txBody>
      </p:sp>
      <p:cxnSp>
        <p:nvCxnSpPr>
          <p:cNvPr id="10" name="Straight Connector 9"/>
          <p:cNvCxnSpPr/>
          <p:nvPr/>
        </p:nvCxnSpPr>
        <p:spPr>
          <a:xfrm rot="5400000">
            <a:off x="1677194" y="2514600"/>
            <a:ext cx="3810000" cy="1588"/>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758952" y="4572000"/>
            <a:ext cx="6784848" cy="1600200"/>
          </a:xfrm>
        </p:spPr>
        <p:txBody>
          <a:bodyPr anchor="b">
            <a:normAutofit/>
          </a:bodyPr>
          <a:lstStyle>
            <a:lvl1pPr algn="l">
              <a:defRPr sz="5400" b="0"/>
            </a:lvl1pPr>
          </a:lstStyle>
          <a:p>
            <a:r>
              <a:rPr lang="ru-RU" smtClean="0"/>
              <a:t>Образец заголовка</a:t>
            </a:r>
            <a:endParaRPr lang="en-US" dirty="0"/>
          </a:p>
        </p:txBody>
      </p:sp>
      <p:sp>
        <p:nvSpPr>
          <p:cNvPr id="3" name="Picture Placeholder 2"/>
          <p:cNvSpPr>
            <a:spLocks noGrp="1"/>
          </p:cNvSpPr>
          <p:nvPr>
            <p:ph type="pic" idx="1"/>
          </p:nvPr>
        </p:nvSpPr>
        <p:spPr>
          <a:xfrm>
            <a:off x="777240" y="457200"/>
            <a:ext cx="7543800" cy="2895600"/>
          </a:xfrm>
          <a:ln w="6350">
            <a:solidFill>
              <a:schemeClr val="tx2"/>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a:p>
        </p:txBody>
      </p:sp>
      <p:sp>
        <p:nvSpPr>
          <p:cNvPr id="4" name="Text Placeholder 3"/>
          <p:cNvSpPr>
            <a:spLocks noGrp="1"/>
          </p:cNvSpPr>
          <p:nvPr>
            <p:ph type="body" sz="half" idx="2"/>
          </p:nvPr>
        </p:nvSpPr>
        <p:spPr>
          <a:xfrm>
            <a:off x="850392" y="3505200"/>
            <a:ext cx="7391400" cy="804862"/>
          </a:xfrm>
        </p:spPr>
        <p:txBody>
          <a:bodyPr anchor="t" anchorCtr="0">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6371B7C6-E445-4A52-A411-AB42A7D40158}" type="datetime1">
              <a:rPr lang="ru-RU" smtClean="0"/>
              <a:t>24.11.2020</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CE6A5D1-E7E2-43D2-949B-5B1765105237}"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914400" y="685800"/>
            <a:ext cx="7239000" cy="3886200"/>
          </a:xfrm>
        </p:spPr>
        <p:txBody>
          <a:bodyPr vert="eaVert" anchor="t" anchorCtr="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7C286350-D45F-4270-AE6B-00C9ED1BB0C5}" type="datetime1">
              <a:rPr lang="ru-RU" smtClean="0"/>
              <a:t>24.11.2020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CE6A5D1-E7E2-43D2-949B-5B1765105237}"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2000" y="685801"/>
            <a:ext cx="1828800" cy="5410199"/>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2590800" y="685801"/>
            <a:ext cx="5715000" cy="4876800"/>
          </a:xfrm>
        </p:spPr>
        <p:txBody>
          <a:bodyPr vert="eaVert" anchor="t" anchorCtr="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DE65EE65-445B-4749-B241-814BDA5915ED}" type="datetime1">
              <a:rPr lang="ru-RU" smtClean="0"/>
              <a:t>24.11.2020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CE6A5D1-E7E2-43D2-949B-5B1765105237}"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572000"/>
            <a:ext cx="6781800" cy="1600200"/>
          </a:xfrm>
          <a:prstGeom prst="rect">
            <a:avLst/>
          </a:prstGeom>
        </p:spPr>
        <p:txBody>
          <a:bodyPr vert="horz" lIns="91440" tIns="45720" rIns="91440" bIns="45720" rtlCol="0" anchor="b" anchorCtr="0">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762000" y="685800"/>
            <a:ext cx="7543800" cy="3886200"/>
          </a:xfrm>
          <a:prstGeom prst="rect">
            <a:avLst/>
          </a:prstGeom>
        </p:spPr>
        <p:txBody>
          <a:bodyPr vert="horz" lIns="91440" tIns="45720" rIns="91440" bIns="45720" rtlCol="0" anchor="ctr" anchorCtr="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6248400" y="6208776"/>
            <a:ext cx="2133600" cy="365125"/>
          </a:xfrm>
          <a:prstGeom prst="rect">
            <a:avLst/>
          </a:prstGeom>
        </p:spPr>
        <p:txBody>
          <a:bodyPr vert="horz" lIns="91440" tIns="45720" rIns="91440" bIns="45720" rtlCol="0" anchor="ctr"/>
          <a:lstStyle>
            <a:lvl1pPr algn="r">
              <a:defRPr sz="1200" b="1">
                <a:solidFill>
                  <a:schemeClr val="tx2">
                    <a:lumMod val="90000"/>
                    <a:lumOff val="10000"/>
                  </a:schemeClr>
                </a:solidFill>
                <a:latin typeface="+mn-lt"/>
              </a:defRPr>
            </a:lvl1pPr>
          </a:lstStyle>
          <a:p>
            <a:fld id="{B4A4550A-C518-44A1-AA21-4E1E6C0176E3}" type="datetime1">
              <a:rPr lang="ru-RU" smtClean="0"/>
              <a:t>24.11.2020</a:t>
            </a:fld>
            <a:endParaRPr lang="ru-RU"/>
          </a:p>
        </p:txBody>
      </p:sp>
      <p:sp>
        <p:nvSpPr>
          <p:cNvPr id="5" name="Footer Placeholder 4"/>
          <p:cNvSpPr>
            <a:spLocks noGrp="1"/>
          </p:cNvSpPr>
          <p:nvPr>
            <p:ph type="ftr" sz="quarter" idx="3"/>
          </p:nvPr>
        </p:nvSpPr>
        <p:spPr>
          <a:xfrm>
            <a:off x="761999" y="6208776"/>
            <a:ext cx="4873869" cy="365125"/>
          </a:xfrm>
          <a:prstGeom prst="rect">
            <a:avLst/>
          </a:prstGeom>
        </p:spPr>
        <p:txBody>
          <a:bodyPr vert="horz" lIns="91440" tIns="45720" rIns="91440" bIns="45720" rtlCol="0" anchor="ctr"/>
          <a:lstStyle>
            <a:lvl1pPr algn="l">
              <a:defRPr sz="1200" b="1">
                <a:solidFill>
                  <a:schemeClr val="tx2">
                    <a:lumMod val="90000"/>
                    <a:lumOff val="10000"/>
                  </a:schemeClr>
                </a:solidFill>
              </a:defRPr>
            </a:lvl1pPr>
          </a:lstStyle>
          <a:p>
            <a:endParaRPr lang="ru-RU"/>
          </a:p>
        </p:txBody>
      </p:sp>
      <p:sp>
        <p:nvSpPr>
          <p:cNvPr id="6" name="Slide Number Placeholder 5"/>
          <p:cNvSpPr>
            <a:spLocks noGrp="1"/>
          </p:cNvSpPr>
          <p:nvPr>
            <p:ph type="sldNum" sz="quarter" idx="4"/>
          </p:nvPr>
        </p:nvSpPr>
        <p:spPr>
          <a:xfrm>
            <a:off x="7620000" y="5687568"/>
            <a:ext cx="762000" cy="365125"/>
          </a:xfrm>
          <a:prstGeom prst="rect">
            <a:avLst/>
          </a:prstGeom>
        </p:spPr>
        <p:txBody>
          <a:bodyPr vert="horz" lIns="91440" tIns="45720" rIns="91440" bIns="45720" rtlCol="0" anchor="ctr"/>
          <a:lstStyle>
            <a:lvl1pPr algn="r">
              <a:defRPr sz="2400">
                <a:solidFill>
                  <a:schemeClr val="tx1">
                    <a:lumMod val="85000"/>
                    <a:lumOff val="15000"/>
                  </a:schemeClr>
                </a:solidFill>
                <a:latin typeface="+mj-lt"/>
              </a:defRPr>
            </a:lvl1pPr>
          </a:lstStyle>
          <a:p>
            <a:fld id="{DCE6A5D1-E7E2-43D2-949B-5B1765105237}" type="slidenum">
              <a:rPr lang="ru-RU" smtClean="0"/>
              <a:t>‹#›</a:t>
            </a:fld>
            <a:endParaRPr lang="ru-RU"/>
          </a:p>
        </p:txBody>
      </p:sp>
      <p:sp>
        <p:nvSpPr>
          <p:cNvPr id="8" name="Rectangle 7"/>
          <p:cNvSpPr/>
          <p:nvPr/>
        </p:nvSpPr>
        <p:spPr>
          <a:xfrm>
            <a:off x="777240" y="0"/>
            <a:ext cx="7543800"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9144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594360" indent="-274320" algn="l" defTabSz="914400" rtl="0" eaLnBrk="1" latinLnBrk="0" hangingPunct="1">
        <a:spcBef>
          <a:spcPct val="20000"/>
        </a:spcBef>
        <a:buClr>
          <a:schemeClr val="accent1"/>
        </a:buClr>
        <a:buFont typeface="Arial" pitchFamily="34" charset="0"/>
        <a:buChar char="•"/>
        <a:defRPr sz="2200" kern="1200">
          <a:solidFill>
            <a:schemeClr val="tx2"/>
          </a:solidFill>
          <a:latin typeface="+mn-lt"/>
          <a:ea typeface="+mn-ea"/>
          <a:cs typeface="+mn-cs"/>
        </a:defRPr>
      </a:lvl2pPr>
      <a:lvl3pPr marL="868680" indent="-228600" algn="l" defTabSz="914400" rtl="0" eaLnBrk="1" latinLnBrk="0" hangingPunct="1">
        <a:spcBef>
          <a:spcPct val="20000"/>
        </a:spcBef>
        <a:buClr>
          <a:schemeClr val="accent1"/>
        </a:buClr>
        <a:buFont typeface="Arial" pitchFamily="34" charset="0"/>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Font typeface="Arial" pitchFamily="34" charset="0"/>
        <a:buChar char="•"/>
        <a:defRPr sz="1800" kern="1200">
          <a:solidFill>
            <a:schemeClr val="tx2"/>
          </a:solidFill>
          <a:latin typeface="+mn-lt"/>
          <a:ea typeface="+mn-ea"/>
          <a:cs typeface="+mn-cs"/>
        </a:defRPr>
      </a:lvl4pPr>
      <a:lvl5pPr marL="1371600" indent="-228600" algn="l" defTabSz="914400" rtl="0" eaLnBrk="1" latinLnBrk="0" hangingPunct="1">
        <a:spcBef>
          <a:spcPct val="20000"/>
        </a:spcBef>
        <a:buClr>
          <a:schemeClr val="accent1"/>
        </a:buClr>
        <a:buFont typeface="Arial" pitchFamily="34" charset="0"/>
        <a:buChar char="•"/>
        <a:defRPr sz="1800" kern="1200" baseline="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QuickStyle" Target="../diagrams/quickStyle1.xml"/><Relationship Id="rId11" Type="http://schemas.openxmlformats.org/officeDocument/2006/relationships/image" Target="../media/image5.png"/><Relationship Id="rId5" Type="http://schemas.openxmlformats.org/officeDocument/2006/relationships/diagramLayout" Target="../diagrams/layout1.xml"/><Relationship Id="rId10" Type="http://schemas.openxmlformats.org/officeDocument/2006/relationships/image" Target="../media/image4.png"/><Relationship Id="rId4" Type="http://schemas.openxmlformats.org/officeDocument/2006/relationships/diagramData" Target="../diagrams/data1.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2.png"/><Relationship Id="rId7" Type="http://schemas.openxmlformats.org/officeDocument/2006/relationships/image" Target="../media/image12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image" Target="../media/image100.png"/><Relationship Id="rId4" Type="http://schemas.openxmlformats.org/officeDocument/2006/relationships/image" Target="../media/image90.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0.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13.e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package" Target="../embeddings/_________Microsoft_Word1.docx"/><Relationship Id="rId5" Type="http://schemas.openxmlformats.org/officeDocument/2006/relationships/image" Target="../media/image200.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4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1.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0.emf"/><Relationship Id="rId4" Type="http://schemas.openxmlformats.org/officeDocument/2006/relationships/image" Target="../media/image29.emf"/></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11560" y="3284984"/>
            <a:ext cx="7992888" cy="1884040"/>
          </a:xfrm>
        </p:spPr>
        <p:txBody>
          <a:bodyPr/>
          <a:lstStyle/>
          <a:p>
            <a:r>
              <a:rPr lang="ru-RU" sz="4000" b="1" dirty="0" err="1">
                <a:latin typeface="Cambria" pitchFamily="18" charset="0"/>
              </a:rPr>
              <a:t>Маълумотларни</a:t>
            </a:r>
            <a:r>
              <a:rPr lang="ru-RU" sz="4000" b="1" dirty="0">
                <a:latin typeface="Cambria" pitchFamily="18" charset="0"/>
              </a:rPr>
              <a:t> </a:t>
            </a:r>
            <a:r>
              <a:rPr lang="ru-RU" sz="4000" b="1" dirty="0" err="1" smtClean="0">
                <a:latin typeface="Cambria" pitchFamily="18" charset="0"/>
              </a:rPr>
              <a:t>стеганографик</a:t>
            </a:r>
            <a:r>
              <a:rPr lang="ru-RU" sz="4000" b="1" dirty="0" smtClean="0">
                <a:latin typeface="Cambria" pitchFamily="18" charset="0"/>
              </a:rPr>
              <a:t> </a:t>
            </a:r>
            <a:r>
              <a:rPr lang="ru-RU" sz="4000" b="1" dirty="0" err="1">
                <a:latin typeface="Cambria" pitchFamily="18" charset="0"/>
              </a:rPr>
              <a:t>ҳимоялаш</a:t>
            </a:r>
            <a:r>
              <a:rPr lang="ru-RU" sz="4000" b="1" dirty="0">
                <a:latin typeface="Cambria" pitchFamily="18" charset="0"/>
              </a:rPr>
              <a:t> </a:t>
            </a:r>
            <a:r>
              <a:rPr lang="ru-RU" sz="4000" b="1" dirty="0" err="1" smtClean="0">
                <a:latin typeface="Cambria" pitchFamily="18" charset="0"/>
              </a:rPr>
              <a:t>усуллари</a:t>
            </a:r>
            <a:endParaRPr lang="ru-RU" sz="4000" b="1" dirty="0">
              <a:latin typeface="Cambria" pitchFamily="18" charset="0"/>
            </a:endParaRPr>
          </a:p>
        </p:txBody>
      </p:sp>
      <p:sp>
        <p:nvSpPr>
          <p:cNvPr id="4" name="TextBox 3"/>
          <p:cNvSpPr txBox="1"/>
          <p:nvPr/>
        </p:nvSpPr>
        <p:spPr>
          <a:xfrm>
            <a:off x="2843808" y="6309320"/>
            <a:ext cx="2736304" cy="369332"/>
          </a:xfrm>
          <a:prstGeom prst="rect">
            <a:avLst/>
          </a:prstGeom>
          <a:noFill/>
        </p:spPr>
        <p:txBody>
          <a:bodyPr wrap="square" rtlCol="0">
            <a:spAutoFit/>
          </a:bodyPr>
          <a:lstStyle/>
          <a:p>
            <a:pPr algn="ctr"/>
            <a:r>
              <a:rPr lang="uz-Cyrl-UZ" dirty="0" smtClean="0"/>
              <a:t>Тошкент - 201</a:t>
            </a:r>
            <a:r>
              <a:rPr lang="en-US" dirty="0" smtClean="0"/>
              <a:t>9</a:t>
            </a:r>
            <a:endParaRPr lang="ru-RU" dirty="0"/>
          </a:p>
        </p:txBody>
      </p:sp>
      <p:sp>
        <p:nvSpPr>
          <p:cNvPr id="5" name="Прямоугольник 4"/>
          <p:cNvSpPr/>
          <p:nvPr/>
        </p:nvSpPr>
        <p:spPr>
          <a:xfrm>
            <a:off x="1113950" y="188640"/>
            <a:ext cx="6984776" cy="144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6"/>
          <p:cNvSpPr/>
          <p:nvPr/>
        </p:nvSpPr>
        <p:spPr>
          <a:xfrm>
            <a:off x="1074302" y="1561535"/>
            <a:ext cx="6984776" cy="1163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p:cNvSpPr txBox="1"/>
          <p:nvPr/>
        </p:nvSpPr>
        <p:spPr>
          <a:xfrm>
            <a:off x="2099807" y="397634"/>
            <a:ext cx="4975080" cy="646331"/>
          </a:xfrm>
          <a:prstGeom prst="rect">
            <a:avLst/>
          </a:prstGeom>
          <a:noFill/>
        </p:spPr>
        <p:txBody>
          <a:bodyPr wrap="none" rtlCol="0">
            <a:spAutoFit/>
          </a:bodyPr>
          <a:lstStyle/>
          <a:p>
            <a:pPr algn="ctr"/>
            <a:r>
              <a:rPr lang="uz-Cyrl-UZ" b="1" dirty="0" smtClean="0">
                <a:solidFill>
                  <a:schemeClr val="bg1"/>
                </a:solidFill>
                <a:latin typeface="Times New Roman" pitchFamily="18" charset="0"/>
                <a:cs typeface="Times New Roman" pitchFamily="18" charset="0"/>
              </a:rPr>
              <a:t>РАДИОЭЛЕКТРОН </a:t>
            </a:r>
            <a:r>
              <a:rPr lang="uz-Cyrl-UZ" b="1" dirty="0">
                <a:solidFill>
                  <a:schemeClr val="bg1"/>
                </a:solidFill>
                <a:latin typeface="Times New Roman" pitchFamily="18" charset="0"/>
                <a:cs typeface="Times New Roman" pitchFamily="18" charset="0"/>
              </a:rPr>
              <a:t>ТИЗИМЛАР </a:t>
            </a:r>
            <a:r>
              <a:rPr lang="uz-Cyrl-UZ" b="1" dirty="0" smtClean="0">
                <a:solidFill>
                  <a:schemeClr val="bg1"/>
                </a:solidFill>
                <a:latin typeface="Times New Roman" pitchFamily="18" charset="0"/>
                <a:cs typeface="Times New Roman" pitchFamily="18" charset="0"/>
              </a:rPr>
              <a:t>ВА</a:t>
            </a:r>
          </a:p>
          <a:p>
            <a:pPr algn="ctr"/>
            <a:r>
              <a:rPr lang="uz-Cyrl-UZ" b="1" dirty="0" smtClean="0">
                <a:solidFill>
                  <a:schemeClr val="bg1"/>
                </a:solidFill>
                <a:latin typeface="Times New Roman" pitchFamily="18" charset="0"/>
                <a:cs typeface="Times New Roman" pitchFamily="18" charset="0"/>
              </a:rPr>
              <a:t> </a:t>
            </a:r>
            <a:r>
              <a:rPr lang="uz-Cyrl-UZ" b="1" dirty="0">
                <a:solidFill>
                  <a:schemeClr val="bg1"/>
                </a:solidFill>
                <a:latin typeface="Times New Roman" pitchFamily="18" charset="0"/>
                <a:cs typeface="Times New Roman" pitchFamily="18" charset="0"/>
              </a:rPr>
              <a:t>АХБОРОТ ТЕХНОЛОГИЯЛАРИ </a:t>
            </a:r>
            <a:r>
              <a:rPr lang="uz-Cyrl-UZ" b="1" dirty="0" smtClean="0">
                <a:solidFill>
                  <a:schemeClr val="bg1"/>
                </a:solidFill>
                <a:latin typeface="Times New Roman" pitchFamily="18" charset="0"/>
                <a:cs typeface="Times New Roman" pitchFamily="18" charset="0"/>
              </a:rPr>
              <a:t>МАРКАЗИ</a:t>
            </a:r>
            <a:endParaRPr lang="ru-RU"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4274779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75320" y="649940"/>
            <a:ext cx="8717160" cy="4979825"/>
          </a:xfrm>
        </p:spPr>
        <p:txBody>
          <a:bodyPr>
            <a:spAutoFit/>
          </a:bodyPr>
          <a:lstStyle/>
          <a:p>
            <a:pPr algn="just">
              <a:spcAft>
                <a:spcPts val="1200"/>
              </a:spcAft>
            </a:pPr>
            <a:r>
              <a:rPr lang="uz-Cyrl-UZ" b="1" dirty="0"/>
              <a:t>«Стеганография» </a:t>
            </a:r>
            <a:r>
              <a:rPr lang="uz-Cyrl-UZ" dirty="0"/>
              <a:t>сўзи грекчадан «</a:t>
            </a:r>
            <a:r>
              <a:rPr lang="uz-Cyrl-UZ" dirty="0">
                <a:solidFill>
                  <a:srgbClr val="C00000"/>
                </a:solidFill>
              </a:rPr>
              <a:t>сирли хат</a:t>
            </a:r>
            <a:r>
              <a:rPr lang="uz-Cyrl-UZ" dirty="0"/>
              <a:t>» маъносини билдиради. Тарихан, стеганография терминини 1499 йилда Иоганн Тритемий ўзининг «Стеганография» (Steganographia) трактатида </a:t>
            </a:r>
            <a:r>
              <a:rPr lang="uz-Cyrl-UZ" dirty="0" smtClean="0"/>
              <a:t>ишлатган. </a:t>
            </a:r>
            <a:r>
              <a:rPr lang="uz-Cyrl-UZ" dirty="0"/>
              <a:t>Стеганографиянинг қўлланилиши бўйича дастлабки маълумот эрамизгача 440 йилда ёзилган юнон олими Гередотнинг “Тарих” трактатида </a:t>
            </a:r>
            <a:r>
              <a:rPr lang="uz-Cyrl-UZ" dirty="0" smtClean="0"/>
              <a:t>учрайди</a:t>
            </a:r>
            <a:r>
              <a:rPr lang="en-US" dirty="0" smtClean="0"/>
              <a:t> (</a:t>
            </a:r>
            <a:r>
              <a:rPr lang="uz-Cyrl-UZ" dirty="0"/>
              <a:t>Трактат-бирор муаммога бағишланган илмий асар</a:t>
            </a:r>
            <a:r>
              <a:rPr lang="en-US" dirty="0" smtClean="0"/>
              <a:t>)</a:t>
            </a:r>
            <a:r>
              <a:rPr lang="uz-Cyrl-UZ" dirty="0" smtClean="0"/>
              <a:t>. </a:t>
            </a:r>
            <a:endParaRPr lang="uz-Cyrl-UZ" dirty="0"/>
          </a:p>
          <a:p>
            <a:pPr algn="just">
              <a:spcAft>
                <a:spcPts val="1200"/>
              </a:spcAft>
            </a:pPr>
            <a:r>
              <a:rPr lang="uz-Cyrl-UZ" u="sng" dirty="0"/>
              <a:t>Қадимий стеганографик алгоритмларга</a:t>
            </a:r>
            <a:r>
              <a:rPr lang="uz-Cyrl-UZ" dirty="0"/>
              <a:t>: чўплар, ўралган асалари муми, гугурт қутилари, пиширилган тухум ва қул калласидан фойдаланишларни мисол қилиб келтириш мумкин. </a:t>
            </a:r>
          </a:p>
          <a:p>
            <a:pPr algn="just">
              <a:spcAft>
                <a:spcPts val="1200"/>
              </a:spcAft>
            </a:pPr>
            <a:r>
              <a:rPr lang="uz-Cyrl-UZ" dirty="0"/>
              <a:t>Маълумотни етказишнинг бу усули бўйича дастлабки маълумот Гередот хикояларида учрайди</a:t>
            </a:r>
            <a:r>
              <a:rPr lang="uz-Cyrl-UZ" dirty="0" smtClean="0"/>
              <a:t>.</a:t>
            </a:r>
            <a:endParaRPr lang="uz-Cyrl-UZ" dirty="0"/>
          </a:p>
        </p:txBody>
      </p:sp>
      <p:sp>
        <p:nvSpPr>
          <p:cNvPr id="4" name="Номер слайда 3"/>
          <p:cNvSpPr>
            <a:spLocks noGrp="1"/>
          </p:cNvSpPr>
          <p:nvPr>
            <p:ph type="sldNum" sz="quarter" idx="12"/>
          </p:nvPr>
        </p:nvSpPr>
        <p:spPr/>
        <p:txBody>
          <a:bodyPr/>
          <a:lstStyle/>
          <a:p>
            <a:fld id="{DCE6A5D1-E7E2-43D2-949B-5B1765105237}" type="slidenum">
              <a:rPr lang="ru-RU" smtClean="0"/>
              <a:t>2</a:t>
            </a:fld>
            <a:endParaRPr lang="ru-RU"/>
          </a:p>
        </p:txBody>
      </p:sp>
    </p:spTree>
    <p:extLst>
      <p:ext uri="{BB962C8B-B14F-4D97-AF65-F5344CB8AC3E}">
        <p14:creationId xmlns:p14="http://schemas.microsoft.com/office/powerpoint/2010/main" val="5851340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75320" y="987582"/>
            <a:ext cx="8717160" cy="4610493"/>
          </a:xfrm>
        </p:spPr>
        <p:txBody>
          <a:bodyPr>
            <a:spAutoFit/>
          </a:bodyPr>
          <a:lstStyle/>
          <a:p>
            <a:pPr algn="just">
              <a:spcAft>
                <a:spcPts val="1200"/>
              </a:spcAft>
            </a:pPr>
            <a:r>
              <a:rPr lang="uz-Cyrl-UZ" dirty="0"/>
              <a:t>Ўтган асрда </a:t>
            </a:r>
            <a:r>
              <a:rPr lang="uz-Cyrl-UZ" b="1" dirty="0" smtClean="0"/>
              <a:t>симпатик</a:t>
            </a:r>
            <a:r>
              <a:rPr lang="en-US" b="1" dirty="0" smtClean="0"/>
              <a:t> </a:t>
            </a:r>
            <a:r>
              <a:rPr lang="uz-Cyrl-UZ" b="1" dirty="0" smtClean="0"/>
              <a:t>сиёҳ</a:t>
            </a:r>
            <a:r>
              <a:rPr lang="uz-Cyrl-UZ" dirty="0" smtClean="0"/>
              <a:t>дан </a:t>
            </a:r>
            <a:r>
              <a:rPr lang="en-US" dirty="0" smtClean="0"/>
              <a:t>(</a:t>
            </a:r>
            <a:r>
              <a:rPr lang="uz-Cyrl-UZ" dirty="0"/>
              <a:t>қиздирилгандан ёки махсус модда билан  ҳўллангандан кейин кўринадиган рангсиз сиёҳ</a:t>
            </a:r>
            <a:r>
              <a:rPr lang="en-US" dirty="0" smtClean="0"/>
              <a:t>) </a:t>
            </a:r>
            <a:r>
              <a:rPr lang="uz-Cyrl-UZ" dirty="0" smtClean="0"/>
              <a:t>фойдаланила </a:t>
            </a:r>
            <a:r>
              <a:rPr lang="uz-Cyrl-UZ" dirty="0"/>
              <a:t>бошланди. Махфий хабар оддий сўзлар таркибидаги ҳарфлар жойлашуви орқали ҳам яширилган. Қартанинг ўзаро терилиши ҳам стеганографияга бир мисол. </a:t>
            </a:r>
            <a:endParaRPr lang="en-US" dirty="0" smtClean="0"/>
          </a:p>
          <a:p>
            <a:pPr algn="just">
              <a:spcAft>
                <a:spcPts val="1200"/>
              </a:spcAft>
            </a:pPr>
            <a:r>
              <a:rPr lang="uz-Cyrl-UZ" dirty="0" smtClean="0"/>
              <a:t>Фотографиянинг </a:t>
            </a:r>
            <a:r>
              <a:rPr lang="uz-Cyrl-UZ" dirty="0"/>
              <a:t>пайдо бўлиши билан, иккинчи жаҳон урушида Германияда микрофототасвирлар усулидан фойдаланиш йўлга қўйилди. Шундан сўнг маълумотни “контейнер” усулида яшириш вужудга келди. </a:t>
            </a:r>
            <a:endParaRPr lang="en-US" dirty="0" smtClean="0"/>
          </a:p>
          <a:p>
            <a:pPr algn="just">
              <a:spcAft>
                <a:spcPts val="1200"/>
              </a:spcAft>
            </a:pPr>
            <a:r>
              <a:rPr lang="uz-Cyrl-UZ" dirty="0" smtClean="0"/>
              <a:t>Мазкур </a:t>
            </a:r>
            <a:r>
              <a:rPr lang="uz-Cyrl-UZ" dirty="0"/>
              <a:t>усул учинчи томон яшириш методини билмаганлиги сабабли ҳам муваффақиятли қўлланилиб келинган. </a:t>
            </a:r>
          </a:p>
        </p:txBody>
      </p:sp>
      <p:sp>
        <p:nvSpPr>
          <p:cNvPr id="4" name="Номер слайда 3"/>
          <p:cNvSpPr>
            <a:spLocks noGrp="1"/>
          </p:cNvSpPr>
          <p:nvPr>
            <p:ph type="sldNum" sz="quarter" idx="12"/>
          </p:nvPr>
        </p:nvSpPr>
        <p:spPr/>
        <p:txBody>
          <a:bodyPr/>
          <a:lstStyle/>
          <a:p>
            <a:fld id="{DCE6A5D1-E7E2-43D2-949B-5B1765105237}" type="slidenum">
              <a:rPr lang="ru-RU" smtClean="0"/>
              <a:t>3</a:t>
            </a:fld>
            <a:endParaRPr lang="ru-RU"/>
          </a:p>
        </p:txBody>
      </p:sp>
    </p:spTree>
    <p:extLst>
      <p:ext uri="{BB962C8B-B14F-4D97-AF65-F5344CB8AC3E}">
        <p14:creationId xmlns:p14="http://schemas.microsoft.com/office/powerpoint/2010/main" val="12807475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MasterDocs\расм\f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p:cNvSpPr/>
          <p:nvPr/>
        </p:nvSpPr>
        <p:spPr>
          <a:xfrm>
            <a:off x="697976" y="-49065"/>
            <a:ext cx="7560840" cy="461665"/>
          </a:xfrm>
          <a:prstGeom prst="rect">
            <a:avLst/>
          </a:prstGeom>
          <a:solidFill>
            <a:schemeClr val="accent1">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uz-Cyrl-UZ" sz="2400" b="1" dirty="0" smtClean="0">
                <a:solidFill>
                  <a:schemeClr val="tx1"/>
                </a:solidFill>
              </a:rPr>
              <a:t>Стеганография янги соҳа сифатида...</a:t>
            </a:r>
            <a:endParaRPr lang="ru-RU" sz="2400" b="1" dirty="0">
              <a:solidFill>
                <a:schemeClr val="tx1"/>
              </a:solidFill>
            </a:endParaRPr>
          </a:p>
        </p:txBody>
      </p:sp>
      <p:graphicFrame>
        <p:nvGraphicFramePr>
          <p:cNvPr id="5" name="Схема 4"/>
          <p:cNvGraphicFramePr/>
          <p:nvPr>
            <p:extLst>
              <p:ext uri="{D42A27DB-BD31-4B8C-83A1-F6EECF244321}">
                <p14:modId xmlns:p14="http://schemas.microsoft.com/office/powerpoint/2010/main" val="4127559860"/>
              </p:ext>
            </p:extLst>
          </p:nvPr>
        </p:nvGraphicFramePr>
        <p:xfrm>
          <a:off x="273413" y="996782"/>
          <a:ext cx="8640960" cy="259219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Номер слайда 3"/>
          <p:cNvSpPr>
            <a:spLocks noGrp="1"/>
          </p:cNvSpPr>
          <p:nvPr>
            <p:ph type="sldNum" sz="quarter" idx="12"/>
          </p:nvPr>
        </p:nvSpPr>
        <p:spPr>
          <a:xfrm>
            <a:off x="8382000" y="6499299"/>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4</a:t>
            </a:fld>
            <a:endParaRPr lang="ru-RU" dirty="0"/>
          </a:p>
        </p:txBody>
      </p:sp>
      <p:pic>
        <p:nvPicPr>
          <p:cNvPr id="7" name="Рисунок 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43608" y="3649311"/>
            <a:ext cx="7523391" cy="2581017"/>
          </a:xfrm>
          <a:prstGeom prst="rect">
            <a:avLst/>
          </a:prstGeom>
        </p:spPr>
      </p:pic>
      <p:pic>
        <p:nvPicPr>
          <p:cNvPr id="8" name="Рисунок 7"/>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17857" y="5229200"/>
            <a:ext cx="622373" cy="768814"/>
          </a:xfrm>
          <a:prstGeom prst="rect">
            <a:avLst/>
          </a:prstGeom>
        </p:spPr>
      </p:pic>
      <p:pic>
        <p:nvPicPr>
          <p:cNvPr id="9" name="Рисунок 8"/>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87624" y="3789040"/>
            <a:ext cx="652881" cy="817627"/>
          </a:xfrm>
          <a:prstGeom prst="rect">
            <a:avLst/>
          </a:prstGeom>
        </p:spPr>
      </p:pic>
      <p:pic>
        <p:nvPicPr>
          <p:cNvPr id="10" name="Рисунок 9"/>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178994" y="4425481"/>
            <a:ext cx="622373" cy="768814"/>
          </a:xfrm>
          <a:prstGeom prst="rect">
            <a:avLst/>
          </a:prstGeom>
        </p:spPr>
      </p:pic>
      <p:sp>
        <p:nvSpPr>
          <p:cNvPr id="12" name="TextBox 11"/>
          <p:cNvSpPr txBox="1"/>
          <p:nvPr/>
        </p:nvSpPr>
        <p:spPr>
          <a:xfrm>
            <a:off x="3419872" y="3745804"/>
            <a:ext cx="300082"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uz-Cyrl-UZ" dirty="0" smtClean="0"/>
              <a:t>1</a:t>
            </a:r>
            <a:endParaRPr lang="ru-RU" dirty="0"/>
          </a:p>
        </p:txBody>
      </p:sp>
      <p:sp>
        <p:nvSpPr>
          <p:cNvPr id="13" name="TextBox 12"/>
          <p:cNvSpPr txBox="1"/>
          <p:nvPr/>
        </p:nvSpPr>
        <p:spPr>
          <a:xfrm>
            <a:off x="4593893" y="5860996"/>
            <a:ext cx="300082"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uz-Cyrl-UZ" dirty="0"/>
              <a:t>2</a:t>
            </a:r>
            <a:endParaRPr lang="ru-RU" dirty="0"/>
          </a:p>
        </p:txBody>
      </p:sp>
      <p:sp>
        <p:nvSpPr>
          <p:cNvPr id="14" name="TextBox 13"/>
          <p:cNvSpPr txBox="1"/>
          <p:nvPr/>
        </p:nvSpPr>
        <p:spPr>
          <a:xfrm>
            <a:off x="5880861" y="3734810"/>
            <a:ext cx="300082"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uz-Cyrl-UZ" dirty="0" smtClean="0"/>
              <a:t>3</a:t>
            </a:r>
            <a:endParaRPr lang="ru-RU" dirty="0"/>
          </a:p>
        </p:txBody>
      </p:sp>
    </p:spTree>
    <p:extLst>
      <p:ext uri="{BB962C8B-B14F-4D97-AF65-F5344CB8AC3E}">
        <p14:creationId xmlns:p14="http://schemas.microsoft.com/office/powerpoint/2010/main" val="3239007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nodeType="clickEffect">
                                  <p:stCondLst>
                                    <p:cond delay="0"/>
                                  </p:stCondLst>
                                  <p:childTnLst>
                                    <p:animMotion origin="layout" path="M -1.38889E-6 -2.30627E-6 L 0.1849 0.09785 " pathEditMode="relative" rAng="0" ptsTypes="AA">
                                      <p:cBhvr>
                                        <p:cTn id="13" dur="2000" fill="hold"/>
                                        <p:tgtEl>
                                          <p:spTgt spid="9"/>
                                        </p:tgtEl>
                                        <p:attrNameLst>
                                          <p:attrName>ppt_x</p:attrName>
                                          <p:attrName>ppt_y</p:attrName>
                                        </p:attrNameLst>
                                      </p:cBhvr>
                                      <p:rCtr x="9236" y="4881"/>
                                    </p:animMotion>
                                  </p:childTnLst>
                                </p:cTn>
                              </p:par>
                            </p:childTnLst>
                          </p:cTn>
                        </p:par>
                        <p:par>
                          <p:cTn id="14" fill="hold">
                            <p:stCondLst>
                              <p:cond delay="2000"/>
                            </p:stCondLst>
                            <p:childTnLst>
                              <p:par>
                                <p:cTn id="15" presetID="42" presetClass="path" presetSubtype="0" accel="50000" decel="50000" fill="hold" nodeType="afterEffect">
                                  <p:stCondLst>
                                    <p:cond delay="0"/>
                                  </p:stCondLst>
                                  <p:childTnLst>
                                    <p:animMotion origin="layout" path="M 2.5E-6 -4.9734E-7 L 0.17534 -0.10849 " pathEditMode="relative" rAng="0" ptsTypes="AA">
                                      <p:cBhvr>
                                        <p:cTn id="16" dur="2000" fill="hold"/>
                                        <p:tgtEl>
                                          <p:spTgt spid="8"/>
                                        </p:tgtEl>
                                        <p:attrNameLst>
                                          <p:attrName>ppt_x</p:attrName>
                                          <p:attrName>ppt_y</p:attrName>
                                        </p:attrNameLst>
                                      </p:cBhvr>
                                      <p:rCtr x="8767" y="-5436"/>
                                    </p:animMotion>
                                  </p:childTnLst>
                                </p:cTn>
                              </p:par>
                            </p:childTnLst>
                          </p:cTn>
                        </p:par>
                        <p:par>
                          <p:cTn id="17" fill="hold">
                            <p:stCondLst>
                              <p:cond delay="4000"/>
                            </p:stCondLst>
                            <p:childTnLst>
                              <p:par>
                                <p:cTn id="18" presetID="1" presetClass="exit" presetSubtype="0" fill="hold" nodeType="afterEffect">
                                  <p:stCondLst>
                                    <p:cond delay="0"/>
                                  </p:stCondLst>
                                  <p:childTnLst>
                                    <p:set>
                                      <p:cBhvr>
                                        <p:cTn id="19" dur="1" fill="hold">
                                          <p:stCondLst>
                                            <p:cond delay="0"/>
                                          </p:stCondLst>
                                        </p:cTn>
                                        <p:tgtEl>
                                          <p:spTgt spid="8"/>
                                        </p:tgtEl>
                                        <p:attrNameLst>
                                          <p:attrName>style.visibility</p:attrName>
                                        </p:attrNameLst>
                                      </p:cBhvr>
                                      <p:to>
                                        <p:strVal val="hidden"/>
                                      </p:to>
                                    </p:set>
                                  </p:childTnLst>
                                </p:cTn>
                              </p:par>
                            </p:childTnLst>
                          </p:cTn>
                        </p:par>
                        <p:par>
                          <p:cTn id="20" fill="hold">
                            <p:stCondLst>
                              <p:cond delay="4000"/>
                            </p:stCondLst>
                            <p:childTnLst>
                              <p:par>
                                <p:cTn id="21" presetID="42" presetClass="path" presetSubtype="0" accel="50000" decel="50000" fill="hold" nodeType="afterEffect">
                                  <p:stCondLst>
                                    <p:cond delay="0"/>
                                  </p:stCondLst>
                                  <p:childTnLst>
                                    <p:animMotion origin="layout" path="M 0.1849 0.09785 L 0.51563 0.08744 " pathEditMode="relative" rAng="0" ptsTypes="AA">
                                      <p:cBhvr>
                                        <p:cTn id="22" dur="2000" fill="hold"/>
                                        <p:tgtEl>
                                          <p:spTgt spid="9"/>
                                        </p:tgtEl>
                                        <p:attrNameLst>
                                          <p:attrName>ppt_x</p:attrName>
                                          <p:attrName>ppt_y</p:attrName>
                                        </p:attrNameLst>
                                      </p:cBhvr>
                                      <p:rCtr x="16528" y="-532"/>
                                    </p:animMotion>
                                  </p:childTnLst>
                                </p:cTn>
                              </p:par>
                            </p:childTnLst>
                          </p:cTn>
                        </p:par>
                        <p:par>
                          <p:cTn id="23" fill="hold">
                            <p:stCondLst>
                              <p:cond delay="6000"/>
                            </p:stCondLst>
                            <p:childTnLst>
                              <p:par>
                                <p:cTn id="24" presetID="1" presetClass="entr" presetSubtype="0"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par>
                          <p:cTn id="26" fill="hold">
                            <p:stCondLst>
                              <p:cond delay="6000"/>
                            </p:stCondLst>
                            <p:childTnLst>
                              <p:par>
                                <p:cTn id="27" presetID="42" presetClass="path" presetSubtype="0" accel="50000" decel="50000" fill="hold" nodeType="afterEffect">
                                  <p:stCondLst>
                                    <p:cond delay="0"/>
                                  </p:stCondLst>
                                  <p:childTnLst>
                                    <p:animMotion origin="layout" path="M -0.0026 0.0007 L 0.17605 0.12723 " pathEditMode="relative" rAng="0" ptsTypes="AA">
                                      <p:cBhvr>
                                        <p:cTn id="28" dur="2000" fill="hold"/>
                                        <p:tgtEl>
                                          <p:spTgt spid="10"/>
                                        </p:tgtEl>
                                        <p:attrNameLst>
                                          <p:attrName>ppt_x</p:attrName>
                                          <p:attrName>ppt_y</p:attrName>
                                        </p:attrNameLst>
                                      </p:cBhvr>
                                      <p:rCtr x="8924" y="6315"/>
                                    </p:animMotion>
                                  </p:childTnLst>
                                </p:cTn>
                              </p:par>
                              <p:par>
                                <p:cTn id="29" presetID="42" presetClass="path" presetSubtype="0" accel="50000" decel="50000" fill="hold" nodeType="withEffect">
                                  <p:stCondLst>
                                    <p:cond delay="0"/>
                                  </p:stCondLst>
                                  <p:childTnLst>
                                    <p:animMotion origin="layout" path="M 0.51563 0.08744 L 0.72049 0.00347 " pathEditMode="relative" rAng="0" ptsTypes="AA">
                                      <p:cBhvr>
                                        <p:cTn id="30" dur="2000" fill="hold"/>
                                        <p:tgtEl>
                                          <p:spTgt spid="9"/>
                                        </p:tgtEl>
                                        <p:attrNameLst>
                                          <p:attrName>ppt_x</p:attrName>
                                          <p:attrName>ppt_y</p:attrName>
                                        </p:attrNameLst>
                                      </p:cBhvr>
                                      <p:rCtr x="10243" y="-421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MasterDocs\расм\f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p:cNvSpPr/>
          <p:nvPr/>
        </p:nvSpPr>
        <p:spPr>
          <a:xfrm>
            <a:off x="574932" y="-57001"/>
            <a:ext cx="7885500" cy="461665"/>
          </a:xfrm>
          <a:prstGeom prst="rect">
            <a:avLst/>
          </a:prstGeom>
          <a:solidFill>
            <a:schemeClr val="accent1">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uz-Cyrl-UZ" sz="2400" b="1" dirty="0" smtClean="0">
                <a:solidFill>
                  <a:schemeClr val="tx1"/>
                </a:solidFill>
              </a:rPr>
              <a:t>Стеганография </a:t>
            </a:r>
            <a:r>
              <a:rPr lang="uz-Cyrl-UZ" sz="2400" b="1" dirty="0">
                <a:solidFill>
                  <a:schemeClr val="tx1"/>
                </a:solidFill>
              </a:rPr>
              <a:t>терминологияси</a:t>
            </a:r>
            <a:endParaRPr lang="ru-RU" sz="2400" b="1" dirty="0">
              <a:solidFill>
                <a:schemeClr val="tx1"/>
              </a:solidFill>
            </a:endParaRPr>
          </a:p>
        </p:txBody>
      </p:sp>
      <p:sp>
        <p:nvSpPr>
          <p:cNvPr id="5" name="Номер слайда 4"/>
          <p:cNvSpPr>
            <a:spLocks noGrp="1"/>
          </p:cNvSpPr>
          <p:nvPr>
            <p:ph type="sldNum" sz="quarter" idx="12"/>
          </p:nvPr>
        </p:nvSpPr>
        <p:spPr>
          <a:xfrm>
            <a:off x="8382000" y="6514816"/>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5</a:t>
            </a:fld>
            <a:endParaRPr lang="ru-RU" dirty="0"/>
          </a:p>
        </p:txBody>
      </p:sp>
      <p:sp>
        <p:nvSpPr>
          <p:cNvPr id="6" name="Прямоугольник с двумя вырезанными противолежащими углами 5"/>
          <p:cNvSpPr/>
          <p:nvPr/>
        </p:nvSpPr>
        <p:spPr>
          <a:xfrm>
            <a:off x="539552" y="1166870"/>
            <a:ext cx="3024336" cy="504056"/>
          </a:xfrm>
          <a:prstGeom prst="snip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i="1" dirty="0"/>
              <a:t>Стеганографик тизим</a:t>
            </a:r>
            <a:endParaRPr lang="ru-RU" dirty="0"/>
          </a:p>
        </p:txBody>
      </p:sp>
      <p:sp>
        <p:nvSpPr>
          <p:cNvPr id="7" name="Прямоугольник с двумя вырезанными противолежащими углами 6"/>
          <p:cNvSpPr/>
          <p:nvPr/>
        </p:nvSpPr>
        <p:spPr>
          <a:xfrm>
            <a:off x="539552" y="1975317"/>
            <a:ext cx="3024336" cy="504056"/>
          </a:xfrm>
          <a:prstGeom prst="snip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i="1" dirty="0"/>
              <a:t>Хабар</a:t>
            </a:r>
            <a:endParaRPr lang="ru-RU" dirty="0"/>
          </a:p>
        </p:txBody>
      </p:sp>
      <p:sp>
        <p:nvSpPr>
          <p:cNvPr id="8" name="Прямоугольник с двумя вырезанными противолежащими углами 7"/>
          <p:cNvSpPr/>
          <p:nvPr/>
        </p:nvSpPr>
        <p:spPr>
          <a:xfrm>
            <a:off x="574932" y="2780928"/>
            <a:ext cx="3024336" cy="504056"/>
          </a:xfrm>
          <a:prstGeom prst="snip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i="1" dirty="0"/>
              <a:t>Контейнер</a:t>
            </a:r>
            <a:endParaRPr lang="ru-RU" dirty="0"/>
          </a:p>
        </p:txBody>
      </p:sp>
      <p:sp>
        <p:nvSpPr>
          <p:cNvPr id="11" name="Прямоугольник с двумя вырезанными противолежащими углами 10"/>
          <p:cNvSpPr/>
          <p:nvPr/>
        </p:nvSpPr>
        <p:spPr>
          <a:xfrm>
            <a:off x="538928" y="5135519"/>
            <a:ext cx="3096344" cy="504056"/>
          </a:xfrm>
          <a:prstGeom prst="snip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i="1" dirty="0" err="1"/>
              <a:t>Стеганографик</a:t>
            </a:r>
            <a:r>
              <a:rPr lang="ru-RU" b="1" i="1" dirty="0"/>
              <a:t> канал</a:t>
            </a:r>
            <a:endParaRPr lang="ru-RU" dirty="0"/>
          </a:p>
        </p:txBody>
      </p:sp>
      <p:sp>
        <p:nvSpPr>
          <p:cNvPr id="12" name="Прямоугольник с двумя вырезанными противолежащими углами 11"/>
          <p:cNvSpPr/>
          <p:nvPr/>
        </p:nvSpPr>
        <p:spPr>
          <a:xfrm>
            <a:off x="574932" y="4295724"/>
            <a:ext cx="3024336" cy="504056"/>
          </a:xfrm>
          <a:prstGeom prst="snip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b="1" i="1" dirty="0"/>
              <a:t>Калит</a:t>
            </a:r>
            <a:endParaRPr lang="ru-RU" dirty="0"/>
          </a:p>
        </p:txBody>
      </p:sp>
      <p:sp>
        <p:nvSpPr>
          <p:cNvPr id="4" name="Прямоугольник 3"/>
          <p:cNvSpPr/>
          <p:nvPr/>
        </p:nvSpPr>
        <p:spPr>
          <a:xfrm>
            <a:off x="3707904" y="971909"/>
            <a:ext cx="5112568" cy="89397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uz-Cyrl-UZ" dirty="0"/>
              <a:t>ахборотни узатишнинг яширин каналини шакллантириш учун фойдаланиладиган усул ва воситалари мажмуаси. </a:t>
            </a:r>
            <a:endParaRPr lang="ru-RU" dirty="0"/>
          </a:p>
        </p:txBody>
      </p:sp>
      <p:sp>
        <p:nvSpPr>
          <p:cNvPr id="13" name="Прямоугольник 12"/>
          <p:cNvSpPr/>
          <p:nvPr/>
        </p:nvSpPr>
        <p:spPr>
          <a:xfrm>
            <a:off x="3710960" y="1972250"/>
            <a:ext cx="5112568" cy="6041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uz-Cyrl-UZ" dirty="0"/>
              <a:t>яширин ёзилган ва узатиладиган хабарни умумий номи учун ишлатиладиган термин</a:t>
            </a:r>
            <a:endParaRPr lang="ru-RU" dirty="0"/>
          </a:p>
        </p:txBody>
      </p:sp>
      <p:sp>
        <p:nvSpPr>
          <p:cNvPr id="14" name="Прямоугольник 13"/>
          <p:cNvSpPr/>
          <p:nvPr/>
        </p:nvSpPr>
        <p:spPr>
          <a:xfrm>
            <a:off x="3710960" y="2730902"/>
            <a:ext cx="5112568" cy="141817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uz-Cyrl-UZ" dirty="0"/>
              <a:t>махфий хабарни яшириш учун ишлатиладиган ихтиёрий маълумот</a:t>
            </a:r>
            <a:r>
              <a:rPr lang="ru-RU" dirty="0"/>
              <a:t>. </a:t>
            </a:r>
            <a:r>
              <a:rPr lang="uz-Cyrl-UZ" dirty="0"/>
              <a:t>Бўш </a:t>
            </a:r>
            <a:r>
              <a:rPr lang="ru-RU" dirty="0"/>
              <a:t>контейнер –</a:t>
            </a:r>
            <a:r>
              <a:rPr lang="uz-Cyrl-UZ" dirty="0"/>
              <a:t>махфий хабар мавжуд бўлмаган контейнер, тўла </a:t>
            </a:r>
            <a:r>
              <a:rPr lang="ru-RU" dirty="0"/>
              <a:t>контейнер (</a:t>
            </a:r>
            <a:r>
              <a:rPr lang="ru-RU" dirty="0" err="1"/>
              <a:t>стеганоконтейнер</a:t>
            </a:r>
            <a:r>
              <a:rPr lang="ru-RU" dirty="0"/>
              <a:t>) – </a:t>
            </a:r>
            <a:r>
              <a:rPr lang="uz-Cyrl-UZ" dirty="0"/>
              <a:t>махфий хабар яширилган </a:t>
            </a:r>
            <a:r>
              <a:rPr lang="ru-RU" dirty="0"/>
              <a:t>контейнер</a:t>
            </a:r>
          </a:p>
        </p:txBody>
      </p:sp>
      <p:sp>
        <p:nvSpPr>
          <p:cNvPr id="15" name="Прямоугольник 14"/>
          <p:cNvSpPr/>
          <p:nvPr/>
        </p:nvSpPr>
        <p:spPr>
          <a:xfrm>
            <a:off x="3710960" y="4295724"/>
            <a:ext cx="5112568" cy="6041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uz-Cyrl-UZ" dirty="0"/>
              <a:t>стеганоконтейнерга яшириш учун зарур бўладиган махфий калит</a:t>
            </a:r>
            <a:endParaRPr lang="ru-RU" dirty="0"/>
          </a:p>
        </p:txBody>
      </p:sp>
      <p:sp>
        <p:nvSpPr>
          <p:cNvPr id="16" name="Прямоугольник 15"/>
          <p:cNvSpPr/>
          <p:nvPr/>
        </p:nvSpPr>
        <p:spPr>
          <a:xfrm>
            <a:off x="3710960" y="5085493"/>
            <a:ext cx="5112568" cy="6041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ru-RU" dirty="0" err="1"/>
              <a:t>стеганоконтейнер</a:t>
            </a:r>
            <a:r>
              <a:rPr lang="uz-Cyrl-UZ" dirty="0"/>
              <a:t>ни узатиш канали</a:t>
            </a:r>
            <a:endParaRPr lang="ru-RU" dirty="0"/>
          </a:p>
        </p:txBody>
      </p:sp>
    </p:spTree>
    <p:extLst>
      <p:ext uri="{BB962C8B-B14F-4D97-AF65-F5344CB8AC3E}">
        <p14:creationId xmlns:p14="http://schemas.microsoft.com/office/powerpoint/2010/main" val="11557925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MasterDocs\расм\f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p:cNvSpPr/>
          <p:nvPr/>
        </p:nvSpPr>
        <p:spPr>
          <a:xfrm>
            <a:off x="755576" y="-27384"/>
            <a:ext cx="7560840" cy="461665"/>
          </a:xfrm>
          <a:prstGeom prst="rect">
            <a:avLst/>
          </a:prstGeom>
          <a:solidFill>
            <a:schemeClr val="accent1">
              <a:lumMod val="20000"/>
              <a:lumOff val="80000"/>
            </a:schemeClr>
          </a:solidFill>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uz-Cyrl-UZ" sz="2400" b="1" dirty="0" smtClean="0">
                <a:solidFill>
                  <a:schemeClr val="tx1"/>
                </a:solidFill>
              </a:rPr>
              <a:t>Стеганография усуллари синфланиши</a:t>
            </a:r>
            <a:endParaRPr lang="ru-RU" sz="2400" b="1" dirty="0">
              <a:solidFill>
                <a:schemeClr val="tx1"/>
              </a:solidFill>
            </a:endParaRPr>
          </a:p>
        </p:txBody>
      </p:sp>
      <p:sp>
        <p:nvSpPr>
          <p:cNvPr id="5" name="Номер слайда 4"/>
          <p:cNvSpPr>
            <a:spLocks noGrp="1"/>
          </p:cNvSpPr>
          <p:nvPr>
            <p:ph type="sldNum" sz="quarter" idx="12"/>
          </p:nvPr>
        </p:nvSpPr>
        <p:spPr>
          <a:xfrm>
            <a:off x="8382000" y="6514816"/>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6</a:t>
            </a:fld>
            <a:endParaRPr lang="ru-RU" dirty="0"/>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3375" y="1109663"/>
            <a:ext cx="5937250" cy="463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06445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MasterDocs\расм\f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p:cNvSpPr/>
          <p:nvPr/>
        </p:nvSpPr>
        <p:spPr>
          <a:xfrm>
            <a:off x="755576" y="-57001"/>
            <a:ext cx="7560840" cy="461665"/>
          </a:xfrm>
          <a:prstGeom prst="rect">
            <a:avLst/>
          </a:prstGeom>
          <a:solidFill>
            <a:schemeClr val="accent1">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uz-Cyrl-UZ" sz="2400" b="1" dirty="0" smtClean="0"/>
              <a:t>Стеганография усуллари</a:t>
            </a:r>
            <a:endParaRPr lang="ru-RU" sz="2400" b="1" dirty="0"/>
          </a:p>
        </p:txBody>
      </p:sp>
      <p:sp>
        <p:nvSpPr>
          <p:cNvPr id="5" name="Номер слайда 4"/>
          <p:cNvSpPr>
            <a:spLocks noGrp="1"/>
          </p:cNvSpPr>
          <p:nvPr>
            <p:ph type="sldNum" sz="quarter" idx="12"/>
          </p:nvPr>
        </p:nvSpPr>
        <p:spPr>
          <a:xfrm>
            <a:off x="8382000" y="6492875"/>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7</a:t>
            </a:fld>
            <a:endParaRPr lang="ru-RU" dirty="0"/>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93" y="1052737"/>
            <a:ext cx="8608532"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87836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MasterDocs\расм\f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pic>
        <p:nvPicPr>
          <p:cNvPr id="5" name="Рисунок 4" descr="E:\MasterDocs\расм\ataka.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8213" y="1029528"/>
            <a:ext cx="7083556" cy="5207784"/>
          </a:xfrm>
          <a:prstGeom prst="rect">
            <a:avLst/>
          </a:prstGeom>
          <a:noFill/>
          <a:ln>
            <a:noFill/>
          </a:ln>
        </p:spPr>
      </p:pic>
      <p:sp>
        <p:nvSpPr>
          <p:cNvPr id="6" name="Прямоугольник 5"/>
          <p:cNvSpPr/>
          <p:nvPr/>
        </p:nvSpPr>
        <p:spPr>
          <a:xfrm>
            <a:off x="755576" y="-57001"/>
            <a:ext cx="7632848" cy="461665"/>
          </a:xfrm>
          <a:prstGeom prst="rect">
            <a:avLst/>
          </a:prstGeom>
          <a:solidFill>
            <a:schemeClr val="accent1">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uz-Cyrl-UZ" sz="2400" b="1" dirty="0" smtClean="0"/>
              <a:t>Стеганотизим модели</a:t>
            </a:r>
            <a:endParaRPr lang="ru-RU" sz="2400" dirty="0"/>
          </a:p>
        </p:txBody>
      </p:sp>
      <p:sp>
        <p:nvSpPr>
          <p:cNvPr id="3" name="Номер слайда 2"/>
          <p:cNvSpPr>
            <a:spLocks noGrp="1"/>
          </p:cNvSpPr>
          <p:nvPr>
            <p:ph type="sldNum" sz="quarter" idx="12"/>
          </p:nvPr>
        </p:nvSpPr>
        <p:spPr>
          <a:xfrm>
            <a:off x="8382000" y="6535911"/>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8</a:t>
            </a:fld>
            <a:endParaRPr lang="ru-RU" dirty="0"/>
          </a:p>
        </p:txBody>
      </p:sp>
    </p:spTree>
    <p:extLst>
      <p:ext uri="{BB962C8B-B14F-4D97-AF65-F5344CB8AC3E}">
        <p14:creationId xmlns:p14="http://schemas.microsoft.com/office/powerpoint/2010/main" val="34074543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E:\MasterDocs\расм\f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395536" y="14292"/>
            <a:ext cx="8136904" cy="461665"/>
          </a:xfrm>
          <a:prstGeom prst="rect">
            <a:avLst/>
          </a:prstGeom>
          <a:solidFill>
            <a:schemeClr val="accent1">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uz-Cyrl-UZ" sz="2400" b="1" dirty="0" smtClean="0"/>
              <a:t>Мавжуд </a:t>
            </a:r>
            <a:r>
              <a:rPr lang="uz-Cyrl-UZ" sz="2400" b="1" dirty="0"/>
              <a:t>стеганографик дастурий таъминотлар таҳлили</a:t>
            </a:r>
            <a:endParaRPr lang="ru-RU" sz="2400" dirty="0"/>
          </a:p>
        </p:txBody>
      </p:sp>
      <p:grpSp>
        <p:nvGrpSpPr>
          <p:cNvPr id="15" name="Группа 14"/>
          <p:cNvGrpSpPr/>
          <p:nvPr/>
        </p:nvGrpSpPr>
        <p:grpSpPr>
          <a:xfrm>
            <a:off x="476874" y="1124744"/>
            <a:ext cx="8487614" cy="5040560"/>
            <a:chOff x="476874" y="1124744"/>
            <a:chExt cx="8487614" cy="5040560"/>
          </a:xfrm>
        </p:grpSpPr>
        <p:pic>
          <p:nvPicPr>
            <p:cNvPr id="5" name="Рисунок 4"/>
            <p:cNvPicPr/>
            <p:nvPr/>
          </p:nvPicPr>
          <p:blipFill>
            <a:blip r:embed="rId4"/>
            <a:stretch>
              <a:fillRect/>
            </a:stretch>
          </p:blipFill>
          <p:spPr>
            <a:xfrm>
              <a:off x="476874" y="1124744"/>
              <a:ext cx="3600400" cy="2037206"/>
            </a:xfrm>
            <a:prstGeom prst="rect">
              <a:avLst/>
            </a:prstGeom>
          </p:spPr>
        </p:pic>
        <p:sp>
          <p:nvSpPr>
            <p:cNvPr id="7" name="Прямоугольник 6"/>
            <p:cNvSpPr/>
            <p:nvPr/>
          </p:nvSpPr>
          <p:spPr>
            <a:xfrm>
              <a:off x="4139952" y="1124744"/>
              <a:ext cx="4824536" cy="1938992"/>
            </a:xfrm>
            <a:prstGeom prst="rect">
              <a:avLst/>
            </a:prstGeom>
          </p:spPr>
          <p:txBody>
            <a:bodyPr wrap="square">
              <a:spAutoFit/>
            </a:bodyPr>
            <a:lstStyle/>
            <a:p>
              <a:pPr algn="just"/>
              <a:r>
                <a:rPr lang="uz-Cyrl-UZ" sz="1500" b="1" dirty="0" smtClean="0"/>
                <a:t>ImageStego </a:t>
              </a:r>
              <a:r>
                <a:rPr lang="uz-Cyrl-UZ" sz="1500" dirty="0" smtClean="0"/>
                <a:t>имкониятлари:</a:t>
              </a:r>
              <a:endParaRPr lang="ru-RU" sz="1500" dirty="0"/>
            </a:p>
            <a:p>
              <a:pPr marL="342900" lvl="0" indent="-342900" algn="just">
                <a:buFont typeface="+mj-lt"/>
                <a:buAutoNum type="arabicParenR"/>
              </a:pPr>
              <a:r>
                <a:rPr lang="uz-Cyrl-UZ" sz="1500" dirty="0"/>
                <a:t>Текис бир </a:t>
              </a:r>
              <a:r>
                <a:rPr lang="uz-Cyrl-UZ" sz="1500" dirty="0" smtClean="0"/>
                <a:t>рангли </a:t>
              </a:r>
              <a:r>
                <a:rPr lang="uz-Cyrl-UZ" sz="1500" dirty="0"/>
                <a:t>соҳаларни ўзгартиришсиз </a:t>
              </a:r>
              <a:r>
                <a:rPr lang="uz-Cyrl-UZ" sz="1500" dirty="0" smtClean="0"/>
                <a:t>сақлаш</a:t>
              </a:r>
              <a:r>
                <a:rPr lang="ru-RU" sz="1500" dirty="0" smtClean="0"/>
                <a:t>;</a:t>
              </a:r>
            </a:p>
            <a:p>
              <a:pPr marL="342900" lvl="0" indent="-342900" algn="just">
                <a:buFont typeface="+mj-lt"/>
                <a:buAutoNum type="arabicParenR"/>
              </a:pPr>
              <a:r>
                <a:rPr lang="uz-Cyrl-UZ" sz="1500" dirty="0" smtClean="0"/>
                <a:t>хабарни сиқиш амали</a:t>
              </a:r>
              <a:r>
                <a:rPr lang="ru-RU" sz="1500" dirty="0" smtClean="0"/>
                <a:t>;</a:t>
              </a:r>
            </a:p>
            <a:p>
              <a:pPr marL="342900" lvl="0" indent="-342900" algn="just">
                <a:buFont typeface="+mj-lt"/>
                <a:buAutoNum type="arabicParenR"/>
              </a:pPr>
              <a:r>
                <a:rPr lang="uz-Cyrl-UZ" sz="1500" dirty="0" smtClean="0"/>
                <a:t>хабар(рангли </a:t>
              </a:r>
              <a:r>
                <a:rPr lang="uz-Cyrl-UZ" sz="1500" dirty="0"/>
                <a:t>шовқин)ни </a:t>
              </a:r>
              <a:r>
                <a:rPr lang="uz-Cyrl-UZ" sz="1500" dirty="0" smtClean="0"/>
                <a:t>сочиш</a:t>
              </a:r>
              <a:r>
                <a:rPr lang="ru-RU" sz="1500" dirty="0" smtClean="0"/>
                <a:t>;</a:t>
              </a:r>
            </a:p>
            <a:p>
              <a:pPr marL="342900" lvl="0" indent="-342900" algn="just">
                <a:buFont typeface="+mj-lt"/>
                <a:buAutoNum type="arabicParenR"/>
              </a:pPr>
              <a:r>
                <a:rPr lang="uz-Cyrl-UZ" sz="1500" dirty="0" smtClean="0"/>
                <a:t>фойдаланувчи </a:t>
              </a:r>
              <a:r>
                <a:rPr lang="uz-Cyrl-UZ" sz="1500" dirty="0"/>
                <a:t>пароли билан </a:t>
              </a:r>
              <a:r>
                <a:rPr lang="uz-Cyrl-UZ" sz="1500" dirty="0" smtClean="0"/>
                <a:t>ҳимоялаш</a:t>
              </a:r>
              <a:r>
                <a:rPr lang="ru-RU" sz="1500" dirty="0" smtClean="0"/>
                <a:t>;</a:t>
              </a:r>
            </a:p>
            <a:p>
              <a:pPr marL="342900" lvl="0" indent="-342900" algn="just">
                <a:buFont typeface="+mj-lt"/>
                <a:buAutoNum type="arabicParenR"/>
              </a:pPr>
              <a:r>
                <a:rPr lang="uz-Cyrl-UZ" sz="1500" dirty="0" smtClean="0"/>
                <a:t>стандарт </a:t>
              </a:r>
              <a:r>
                <a:rPr lang="uz-Cyrl-UZ" sz="1500" dirty="0"/>
                <a:t>график файлларни </a:t>
              </a:r>
              <a:r>
                <a:rPr lang="uz-Cyrl-UZ" sz="1500" dirty="0" smtClean="0"/>
                <a:t>яратиш</a:t>
              </a:r>
              <a:r>
                <a:rPr lang="ru-RU" sz="1500" dirty="0" smtClean="0"/>
                <a:t>;</a:t>
              </a:r>
            </a:p>
            <a:p>
              <a:pPr marL="342900" lvl="0" indent="-342900" algn="just">
                <a:buFont typeface="+mj-lt"/>
                <a:buAutoNum type="arabicParenR"/>
              </a:pPr>
              <a:r>
                <a:rPr lang="ru-RU" sz="1500" dirty="0" smtClean="0"/>
                <a:t>Г</a:t>
              </a:r>
              <a:r>
                <a:rPr lang="uz-Cyrl-UZ" sz="1500" dirty="0"/>
                <a:t>рафик форматларни </a:t>
              </a:r>
              <a:r>
                <a:rPr lang="uz-Cyrl-UZ" sz="1500" dirty="0" smtClean="0"/>
                <a:t>қўллаб-қувватлаши</a:t>
              </a:r>
              <a:r>
                <a:rPr lang="ru-RU" sz="1500" dirty="0" smtClean="0"/>
                <a:t>.</a:t>
              </a:r>
              <a:endParaRPr lang="ru-RU" sz="1500" dirty="0"/>
            </a:p>
            <a:p>
              <a:pPr algn="just"/>
              <a:r>
                <a:rPr lang="uz-Cyrl-UZ" sz="1500" dirty="0"/>
                <a:t> </a:t>
              </a:r>
              <a:endParaRPr lang="ru-RU" sz="1500" dirty="0"/>
            </a:p>
          </p:txBody>
        </p:sp>
        <p:pic>
          <p:nvPicPr>
            <p:cNvPr id="8" name="Рисунок 7" descr="E:\MasterDocs\Stegonagrafiya\ДТ\HideSenf_files\hns_2.PNG"/>
            <p:cNvPicPr/>
            <p:nvPr/>
          </p:nvPicPr>
          <p:blipFill>
            <a:blip r:embed="rId5">
              <a:extLst>
                <a:ext uri="{28A0092B-C50C-407E-A947-70E740481C1C}">
                  <a14:useLocalDpi xmlns:a14="http://schemas.microsoft.com/office/drawing/2010/main" val="0"/>
                </a:ext>
              </a:extLst>
            </a:blip>
            <a:srcRect/>
            <a:stretch>
              <a:fillRect/>
            </a:stretch>
          </p:blipFill>
          <p:spPr bwMode="auto">
            <a:xfrm>
              <a:off x="498578" y="3284984"/>
              <a:ext cx="3053886" cy="2880320"/>
            </a:xfrm>
            <a:prstGeom prst="rect">
              <a:avLst/>
            </a:prstGeom>
            <a:noFill/>
            <a:ln>
              <a:noFill/>
            </a:ln>
          </p:spPr>
        </p:pic>
        <p:sp>
          <p:nvSpPr>
            <p:cNvPr id="9" name="Прямоугольник 8"/>
            <p:cNvSpPr/>
            <p:nvPr/>
          </p:nvSpPr>
          <p:spPr>
            <a:xfrm>
              <a:off x="3707904" y="3294926"/>
              <a:ext cx="5256584" cy="2169825"/>
            </a:xfrm>
            <a:prstGeom prst="rect">
              <a:avLst/>
            </a:prstGeom>
          </p:spPr>
          <p:txBody>
            <a:bodyPr wrap="square">
              <a:spAutoFit/>
            </a:bodyPr>
            <a:lstStyle/>
            <a:p>
              <a:r>
                <a:rPr lang="uz-Cyrl-UZ" sz="1500" b="1" dirty="0"/>
                <a:t>«Hide’N’Send»</a:t>
              </a:r>
              <a:r>
                <a:rPr lang="uz-Cyrl-UZ" sz="1500" dirty="0"/>
                <a:t> -хабарни JPEG  форматдаги тасвирга шифрлаш орқали яширадиган дастур</a:t>
              </a:r>
              <a:r>
                <a:rPr lang="uz-Cyrl-UZ" sz="1500" i="1" dirty="0"/>
                <a:t>. </a:t>
              </a:r>
              <a:r>
                <a:rPr lang="uz-Cyrl-UZ" sz="1500" dirty="0"/>
                <a:t>Бу дастур стеганографиянинг энг замонавий </a:t>
              </a:r>
              <a:r>
                <a:rPr lang="uz-Cyrl-UZ" sz="1500" dirty="0" smtClean="0"/>
                <a:t>алгоритмларидан фойдаланиб, алоҳида </a:t>
              </a:r>
              <a:r>
                <a:rPr lang="uz-Cyrl-UZ" sz="1500" dirty="0"/>
                <a:t>натижавий файл ташкил қилмасдан, тасвирни ўзига яширади. Шифрлаш учун AES, RC4, RC2 алгоритмларидан </a:t>
              </a:r>
              <a:r>
                <a:rPr lang="uz-Cyrl-UZ" sz="1500" dirty="0" smtClean="0"/>
                <a:t>фойдаланади. Шифрлаш </a:t>
              </a:r>
              <a:r>
                <a:rPr lang="uz-Cyrl-UZ" sz="1500" dirty="0"/>
                <a:t>калит фойдаланувчи паролидан </a:t>
              </a:r>
              <a:r>
                <a:rPr lang="uz-Cyrl-UZ" sz="1500" dirty="0" smtClean="0"/>
                <a:t>хэшлаш </a:t>
              </a:r>
              <a:r>
                <a:rPr lang="uz-Cyrl-UZ" sz="1500" dirty="0"/>
                <a:t>алгоритмларини қўллаган ҳолда ҳосил қилинади. Дастурни </a:t>
              </a:r>
              <a:r>
                <a:rPr lang="ru-RU" sz="1500" i="1" dirty="0" err="1"/>
                <a:t>Windows</a:t>
              </a:r>
              <a:r>
                <a:rPr lang="ru-RU" sz="1500" i="1" dirty="0"/>
                <a:t> 7/</a:t>
              </a:r>
              <a:r>
                <a:rPr lang="ru-RU" sz="1500" i="1" dirty="0" err="1"/>
                <a:t>Vista</a:t>
              </a:r>
              <a:r>
                <a:rPr lang="ru-RU" sz="1500" i="1" dirty="0"/>
                <a:t>/XP </a:t>
              </a:r>
              <a:r>
                <a:rPr lang="uz-Cyrl-UZ" sz="1500" dirty="0"/>
                <a:t>операцион тизимларида ишлайди.</a:t>
              </a:r>
              <a:endParaRPr lang="ru-RU" sz="1500" dirty="0"/>
            </a:p>
          </p:txBody>
        </p:sp>
      </p:grpSp>
      <p:grpSp>
        <p:nvGrpSpPr>
          <p:cNvPr id="14" name="Группа 13"/>
          <p:cNvGrpSpPr/>
          <p:nvPr/>
        </p:nvGrpSpPr>
        <p:grpSpPr>
          <a:xfrm>
            <a:off x="9302786" y="1124744"/>
            <a:ext cx="8532440" cy="5173540"/>
            <a:chOff x="9302786" y="1124744"/>
            <a:chExt cx="8532440" cy="5173540"/>
          </a:xfrm>
        </p:grpSpPr>
        <p:pic>
          <p:nvPicPr>
            <p:cNvPr id="10" name="Рисунок 9"/>
            <p:cNvPicPr/>
            <p:nvPr/>
          </p:nvPicPr>
          <p:blipFill>
            <a:blip r:embed="rId6"/>
            <a:stretch>
              <a:fillRect/>
            </a:stretch>
          </p:blipFill>
          <p:spPr>
            <a:xfrm>
              <a:off x="9302786" y="1124744"/>
              <a:ext cx="3829050" cy="2563495"/>
            </a:xfrm>
            <a:prstGeom prst="rect">
              <a:avLst/>
            </a:prstGeom>
          </p:spPr>
        </p:pic>
        <p:sp>
          <p:nvSpPr>
            <p:cNvPr id="11" name="Прямоугольник 10"/>
            <p:cNvSpPr/>
            <p:nvPr/>
          </p:nvSpPr>
          <p:spPr>
            <a:xfrm>
              <a:off x="13263226" y="1153277"/>
              <a:ext cx="4572000" cy="1938992"/>
            </a:xfrm>
            <a:prstGeom prst="rect">
              <a:avLst/>
            </a:prstGeom>
          </p:spPr>
          <p:txBody>
            <a:bodyPr>
              <a:spAutoFit/>
            </a:bodyPr>
            <a:lstStyle/>
            <a:p>
              <a:pPr algn="just"/>
              <a:r>
                <a:rPr lang="uz-Cyrl-UZ" sz="1500" dirty="0"/>
                <a:t>Яшириладиган хабар олдиндан хэшланадиган фойдаланувчи пароли билан ҳимояланади. Хабар дастлаб сиқилади ва потокли шифрлаш криптоалгоритми билан шифрланади. Хабарни контейнердан ажратиб олишда контейнерда махфий хабар </a:t>
              </a:r>
              <a:r>
                <a:rPr lang="uz-Cyrl-UZ" sz="1500" dirty="0" smtClean="0"/>
                <a:t>бор-йўқлиги, архивнинг тўғрилиги </a:t>
              </a:r>
              <a:r>
                <a:rPr lang="uz-Cyrl-UZ" sz="1500" dirty="0"/>
                <a:t>ва бутунлиги, назорат йиғиндисини санаш орқали паролнинг тўғрилиги текширилади. </a:t>
              </a:r>
              <a:endParaRPr lang="ru-RU" sz="1500" dirty="0"/>
            </a:p>
          </p:txBody>
        </p:sp>
        <p:pic>
          <p:nvPicPr>
            <p:cNvPr id="12" name="Рисунок 11"/>
            <p:cNvPicPr/>
            <p:nvPr/>
          </p:nvPicPr>
          <p:blipFill>
            <a:blip r:embed="rId7">
              <a:extLst>
                <a:ext uri="{28A0092B-C50C-407E-A947-70E740481C1C}">
                  <a14:useLocalDpi xmlns:a14="http://schemas.microsoft.com/office/drawing/2010/main" val="0"/>
                </a:ext>
              </a:extLst>
            </a:blip>
            <a:stretch>
              <a:fillRect/>
            </a:stretch>
          </p:blipFill>
          <p:spPr>
            <a:xfrm>
              <a:off x="9712614" y="3738599"/>
              <a:ext cx="2743200" cy="2559685"/>
            </a:xfrm>
            <a:prstGeom prst="rect">
              <a:avLst/>
            </a:prstGeom>
          </p:spPr>
        </p:pic>
        <p:sp>
          <p:nvSpPr>
            <p:cNvPr id="13" name="Прямоугольник 12"/>
            <p:cNvSpPr/>
            <p:nvPr/>
          </p:nvSpPr>
          <p:spPr>
            <a:xfrm>
              <a:off x="12687162" y="3747525"/>
              <a:ext cx="5148064" cy="1938992"/>
            </a:xfrm>
            <a:prstGeom prst="rect">
              <a:avLst/>
            </a:prstGeom>
          </p:spPr>
          <p:txBody>
            <a:bodyPr wrap="square">
              <a:spAutoFit/>
            </a:bodyPr>
            <a:lstStyle/>
            <a:p>
              <a:pPr algn="just"/>
              <a:r>
                <a:rPr lang="uz-Cyrl-UZ" sz="1500" dirty="0"/>
                <a:t>ImageSpyer G2 да замонавий стеганографик алгоритмлар билан бирга хабарни икки қатламли криптографик ҳимояси (Дастурчи 20 га яқин блокли ва потокли шифрлаш қўллаганлиги айтиб ўтган) қўлланилган. Дастур киришида JPEG тасвирлар кирса, чиқишида BMP форматдаги тўла контейнер ҳосил қилинади.Тасвир контейнернинг рухсат этилган ҳажми самарали сиқиш алгоритми қўлланилганлиги туфайли сезиларли ошган. </a:t>
              </a:r>
              <a:endParaRPr lang="ru-RU" sz="1500" dirty="0"/>
            </a:p>
          </p:txBody>
        </p:sp>
      </p:grpSp>
      <p:sp>
        <p:nvSpPr>
          <p:cNvPr id="2" name="Номер слайда 1"/>
          <p:cNvSpPr>
            <a:spLocks noGrp="1"/>
          </p:cNvSpPr>
          <p:nvPr>
            <p:ph type="sldNum" sz="quarter" idx="12"/>
          </p:nvPr>
        </p:nvSpPr>
        <p:spPr>
          <a:xfrm>
            <a:off x="8382000" y="6513004"/>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9</a:t>
            </a:fld>
            <a:endParaRPr lang="ru-RU" dirty="0"/>
          </a:p>
        </p:txBody>
      </p:sp>
    </p:spTree>
    <p:extLst>
      <p:ext uri="{BB962C8B-B14F-4D97-AF65-F5344CB8AC3E}">
        <p14:creationId xmlns:p14="http://schemas.microsoft.com/office/powerpoint/2010/main" val="1703702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1.38889E-6 -3.7037E-6 L -1.07882 0.0007 " pathEditMode="relative" rAng="0" ptsTypes="AA">
                                      <p:cBhvr>
                                        <p:cTn id="6" dur="2000" fill="hold"/>
                                        <p:tgtEl>
                                          <p:spTgt spid="15"/>
                                        </p:tgtEl>
                                        <p:attrNameLst>
                                          <p:attrName>ppt_x</p:attrName>
                                          <p:attrName>ppt_y</p:attrName>
                                        </p:attrNameLst>
                                      </p:cBhvr>
                                      <p:rCtr x="-53941" y="23"/>
                                    </p:animMotion>
                                  </p:childTnLst>
                                </p:cTn>
                              </p:par>
                              <p:par>
                                <p:cTn id="7" presetID="35" presetClass="path" presetSubtype="0" accel="50000" decel="50000" fill="hold" nodeType="withEffect">
                                  <p:stCondLst>
                                    <p:cond delay="0"/>
                                  </p:stCondLst>
                                  <p:childTnLst>
                                    <p:animMotion origin="layout" path="M -4.16667E-6 -3.7037E-6 L -0.99965 -3.7037E-6 " pathEditMode="relative" rAng="0" ptsTypes="AA">
                                      <p:cBhvr>
                                        <p:cTn id="8" dur="2000" fill="hold"/>
                                        <p:tgtEl>
                                          <p:spTgt spid="14"/>
                                        </p:tgtEl>
                                        <p:attrNameLst>
                                          <p:attrName>ppt_x</p:attrName>
                                          <p:attrName>ppt_y</p:attrName>
                                        </p:attrNameLst>
                                      </p:cBhvr>
                                      <p:rCtr x="-4998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MasterDocs\расм\f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sp>
        <p:nvSpPr>
          <p:cNvPr id="3" name="Номер слайда 2"/>
          <p:cNvSpPr>
            <a:spLocks noGrp="1"/>
          </p:cNvSpPr>
          <p:nvPr>
            <p:ph type="sldNum" sz="quarter" idx="12"/>
          </p:nvPr>
        </p:nvSpPr>
        <p:spPr>
          <a:xfrm>
            <a:off x="8385922" y="6492875"/>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10</a:t>
            </a:fld>
            <a:endParaRPr lang="ru-RU" dirty="0"/>
          </a:p>
        </p:txBody>
      </p:sp>
      <p:sp>
        <p:nvSpPr>
          <p:cNvPr id="5" name="Прямоугольник 4"/>
          <p:cNvSpPr/>
          <p:nvPr/>
        </p:nvSpPr>
        <p:spPr>
          <a:xfrm>
            <a:off x="755576" y="0"/>
            <a:ext cx="7560840" cy="461665"/>
          </a:xfrm>
          <a:prstGeom prst="rect">
            <a:avLst/>
          </a:prstGeom>
          <a:solidFill>
            <a:schemeClr val="accent1">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uz-Cyrl-UZ" sz="2400" b="1" dirty="0"/>
              <a:t>Энг кичик мазмунли бит (ЭКМБ)ни алмаштириш</a:t>
            </a:r>
            <a:endParaRPr lang="ru-RU" sz="2400" dirty="0"/>
          </a:p>
        </p:txBody>
      </p:sp>
      <mc:AlternateContent xmlns:mc="http://schemas.openxmlformats.org/markup-compatibility/2006" xmlns:a14="http://schemas.microsoft.com/office/drawing/2010/main">
        <mc:Choice Requires="a14">
          <p:graphicFrame>
            <p:nvGraphicFramePr>
              <p:cNvPr id="4" name="Таблица 3"/>
              <p:cNvGraphicFramePr>
                <a:graphicFrameLocks noGrp="1"/>
              </p:cNvGraphicFramePr>
              <p:nvPr>
                <p:extLst>
                  <p:ext uri="{D42A27DB-BD31-4B8C-83A1-F6EECF244321}">
                    <p14:modId xmlns:p14="http://schemas.microsoft.com/office/powerpoint/2010/main" val="573215441"/>
                  </p:ext>
                </p:extLst>
              </p:nvPr>
            </p:nvGraphicFramePr>
            <p:xfrm>
              <a:off x="1403648" y="2348880"/>
              <a:ext cx="2138589" cy="3332480"/>
            </p:xfrm>
            <a:graphic>
              <a:graphicData uri="http://schemas.openxmlformats.org/drawingml/2006/table">
                <a:tbl>
                  <a:tblPr firstRow="1" bandRow="1">
                    <a:tableStyleId>{2D5ABB26-0587-4C30-8999-92F81FD0307C}</a:tableStyleId>
                  </a:tblPr>
                  <a:tblGrid>
                    <a:gridCol w="864096"/>
                    <a:gridCol w="1274493"/>
                  </a:tblGrid>
                  <a:tr h="370840">
                    <a:tc>
                      <a:txBody>
                        <a:bodyPr/>
                        <a:lstStyle/>
                        <a:p>
                          <a:r>
                            <a:rPr lang="en-US" dirty="0" smtClean="0"/>
                            <a:t>C</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err="1" smtClean="0"/>
                            <a:t>Битларда</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9240">
                    <a:tc>
                      <a:txBody>
                        <a:bodyPr/>
                        <a:lstStyle/>
                        <a:p>
                          <a:r>
                            <a:rPr lang="uz-Cyrl-UZ" dirty="0" smtClean="0"/>
                            <a:t>С</a:t>
                          </a:r>
                          <a:r>
                            <a:rPr lang="en-US" dirty="0" smtClean="0"/>
                            <a:t>=65</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US" sz="1800" smtClean="0">
                                    <a:latin typeface="Cambria Math"/>
                                  </a:rPr>
                                  <m:t>01000001</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=66</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010000</m:t>
                                </m:r>
                                <m:r>
                                  <a:rPr lang="uz-Cyrl-UZ" sz="1800" b="0" i="0" smtClean="0">
                                    <a:latin typeface="Cambria Math"/>
                                  </a:rPr>
                                  <m:t>1</m:t>
                                </m:r>
                                <m:r>
                                  <a:rPr lang="en-US" sz="1800" smtClean="0">
                                    <a:latin typeface="Cambria Math"/>
                                  </a:rPr>
                                  <m:t>0</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=67</a:t>
                          </a:r>
                          <a:endParaRPr lang="ru-RU"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010000</m:t>
                                </m:r>
                                <m:r>
                                  <a:rPr lang="uz-Cyrl-UZ" sz="1800" b="0" i="0" smtClean="0">
                                    <a:latin typeface="Cambria Math"/>
                                  </a:rPr>
                                  <m:t>1</m:t>
                                </m:r>
                                <m:r>
                                  <a:rPr lang="en-US" sz="1800" smtClean="0">
                                    <a:latin typeface="Cambria Math"/>
                                  </a:rPr>
                                  <m:t>1</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=68</a:t>
                          </a:r>
                          <a:endParaRPr lang="ru-RU"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m:t>
                                </m:r>
                                <m:r>
                                  <a:rPr lang="en-US" sz="1800" smtClean="0">
                                    <a:latin typeface="Cambria Math"/>
                                  </a:rPr>
                                  <m:t>00</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=69</a:t>
                          </a:r>
                          <a:endParaRPr lang="ru-RU"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m:t>
                                </m:r>
                                <m:r>
                                  <a:rPr lang="en-US" sz="1800" smtClean="0">
                                    <a:latin typeface="Cambria Math"/>
                                  </a:rPr>
                                  <m:t>01</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=70</a:t>
                          </a:r>
                          <a:endParaRPr lang="ru-RU"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m:t>
                                </m:r>
                                <m:r>
                                  <a:rPr lang="en-US" sz="1800" smtClean="0">
                                    <a:latin typeface="Cambria Math"/>
                                  </a:rPr>
                                  <m:t>1</m:t>
                                </m:r>
                                <m:r>
                                  <a:rPr lang="uz-Cyrl-UZ" sz="1800" b="0" i="0" smtClean="0">
                                    <a:latin typeface="Cambria Math"/>
                                  </a:rPr>
                                  <m:t>0</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=71</a:t>
                          </a:r>
                          <a:endParaRPr lang="ru-RU"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11</m:t>
                                </m:r>
                                <m:r>
                                  <a:rPr lang="en-US" sz="1800" smtClean="0">
                                    <a:latin typeface="Cambria Math"/>
                                  </a:rPr>
                                  <m:t>1</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=72</a:t>
                          </a:r>
                          <a:endParaRPr lang="ru-RU"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800" smtClean="0">
                                  <a:latin typeface="Cambria Math"/>
                                </a:rPr>
                                <m:t>0100</m:t>
                              </m:r>
                              <m:r>
                                <a:rPr lang="uz-Cyrl-UZ" sz="1800" b="0" i="0" smtClean="0">
                                  <a:latin typeface="Cambria Math"/>
                                </a:rPr>
                                <m:t>1</m:t>
                              </m:r>
                              <m:r>
                                <a:rPr lang="en-US" sz="1800" smtClean="0">
                                  <a:latin typeface="Cambria Math"/>
                                </a:rPr>
                                <m:t>00</m:t>
                              </m:r>
                            </m:oMath>
                          </a14:m>
                          <a:r>
                            <a:rPr lang="ru-RU"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4" name="Таблица 3"/>
              <p:cNvGraphicFramePr>
                <a:graphicFrameLocks noGrp="1"/>
              </p:cNvGraphicFramePr>
              <p:nvPr>
                <p:extLst>
                  <p:ext uri="{D42A27DB-BD31-4B8C-83A1-F6EECF244321}">
                    <p14:modId xmlns:p14="http://schemas.microsoft.com/office/powerpoint/2010/main" val="2912315076"/>
                  </p:ext>
                </p:extLst>
              </p:nvPr>
            </p:nvGraphicFramePr>
            <p:xfrm>
              <a:off x="1403648" y="2348880"/>
              <a:ext cx="2138589" cy="3332480"/>
            </p:xfrm>
            <a:graphic>
              <a:graphicData uri="http://schemas.openxmlformats.org/drawingml/2006/table">
                <a:tbl>
                  <a:tblPr firstRow="1" bandRow="1">
                    <a:tableStyleId>{2D5ABB26-0587-4C30-8999-92F81FD0307C}</a:tableStyleId>
                  </a:tblPr>
                  <a:tblGrid>
                    <a:gridCol w="864096"/>
                    <a:gridCol w="1274493"/>
                  </a:tblGrid>
                  <a:tr h="370840">
                    <a:tc>
                      <a:txBody>
                        <a:bodyPr/>
                        <a:lstStyle/>
                        <a:p>
                          <a:r>
                            <a:rPr lang="en-US" dirty="0" smtClean="0"/>
                            <a:t>C</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err="1" smtClean="0"/>
                            <a:t>Битларда</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5760">
                    <a:tc>
                      <a:txBody>
                        <a:bodyPr/>
                        <a:lstStyle/>
                        <a:p>
                          <a:r>
                            <a:rPr lang="uz-Cyrl-UZ" dirty="0" smtClean="0"/>
                            <a:t>С</a:t>
                          </a:r>
                          <a:r>
                            <a:rPr lang="en-US" dirty="0" smtClean="0"/>
                            <a:t>=65</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67943" t="-110000" r="-478" b="-735000"/>
                          </a:stretch>
                        </a:blip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=66</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67943" t="-206557" r="-478" b="-622951"/>
                          </a:stretch>
                        </a:blip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=67</a:t>
                          </a:r>
                          <a:endParaRPr lang="ru-RU"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67943" t="-306557" r="-478" b="-522951"/>
                          </a:stretch>
                        </a:blip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=68</a:t>
                          </a:r>
                          <a:endParaRPr lang="ru-RU"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67943" t="-406557" r="-478" b="-422951"/>
                          </a:stretch>
                        </a:blip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=69</a:t>
                          </a:r>
                          <a:endParaRPr lang="ru-RU"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67943" t="-515000" r="-478" b="-330000"/>
                          </a:stretch>
                        </a:blip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=70</a:t>
                          </a:r>
                          <a:endParaRPr lang="ru-RU"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67943" t="-604918" r="-478" b="-224590"/>
                          </a:stretch>
                        </a:blip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=71</a:t>
                          </a:r>
                          <a:endParaRPr lang="ru-RU"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67943" t="-704918" r="-478" b="-124590"/>
                          </a:stretch>
                        </a:blip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uz-Cyrl-UZ" dirty="0" smtClean="0"/>
                            <a:t>С</a:t>
                          </a:r>
                          <a:r>
                            <a:rPr lang="en-US" dirty="0" smtClean="0"/>
                            <a:t>=72</a:t>
                          </a:r>
                          <a:endParaRPr lang="ru-RU"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67943" t="-804918" r="-478" b="-24590"/>
                          </a:stretch>
                        </a:blipFill>
                      </a:tcPr>
                    </a:tc>
                  </a:tr>
                </a:tbl>
              </a:graphicData>
            </a:graphic>
          </p:graphicFrame>
        </mc:Fallback>
      </mc:AlternateContent>
      <p:graphicFrame>
        <p:nvGraphicFramePr>
          <p:cNvPr id="6" name="Таблица 5"/>
          <p:cNvGraphicFramePr>
            <a:graphicFrameLocks noGrp="1"/>
          </p:cNvGraphicFramePr>
          <p:nvPr>
            <p:extLst>
              <p:ext uri="{D42A27DB-BD31-4B8C-83A1-F6EECF244321}">
                <p14:modId xmlns:p14="http://schemas.microsoft.com/office/powerpoint/2010/main" val="3100368961"/>
              </p:ext>
            </p:extLst>
          </p:nvPr>
        </p:nvGraphicFramePr>
        <p:xfrm>
          <a:off x="3995936" y="2348880"/>
          <a:ext cx="648072" cy="3337560"/>
        </p:xfrm>
        <a:graphic>
          <a:graphicData uri="http://schemas.openxmlformats.org/drawingml/2006/table">
            <a:tbl>
              <a:tblPr firstRow="1" bandRow="1">
                <a:tableStyleId>{2D5ABB26-0587-4C30-8999-92F81FD0307C}</a:tableStyleId>
              </a:tblPr>
              <a:tblGrid>
                <a:gridCol w="648072"/>
              </a:tblGrid>
              <a:tr h="370840">
                <a:tc>
                  <a:txBody>
                    <a:bodyPr/>
                    <a:lstStyle/>
                    <a:p>
                      <a:r>
                        <a:rPr lang="uz-Cyrl-UZ" dirty="0" smtClean="0"/>
                        <a:t>М</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graphicFrame>
            <p:nvGraphicFramePr>
              <p:cNvPr id="7" name="Таблица 6"/>
              <p:cNvGraphicFramePr>
                <a:graphicFrameLocks noGrp="1"/>
              </p:cNvGraphicFramePr>
              <p:nvPr>
                <p:extLst>
                  <p:ext uri="{D42A27DB-BD31-4B8C-83A1-F6EECF244321}">
                    <p14:modId xmlns:p14="http://schemas.microsoft.com/office/powerpoint/2010/main" val="169000003"/>
                  </p:ext>
                </p:extLst>
              </p:nvPr>
            </p:nvGraphicFramePr>
            <p:xfrm>
              <a:off x="5164564" y="2348880"/>
              <a:ext cx="3151852" cy="3337560"/>
            </p:xfrm>
            <a:graphic>
              <a:graphicData uri="http://schemas.openxmlformats.org/drawingml/2006/table">
                <a:tbl>
                  <a:tblPr firstRow="1" bandRow="1">
                    <a:tableStyleId>{2D5ABB26-0587-4C30-8999-92F81FD0307C}</a:tableStyleId>
                  </a:tblPr>
                  <a:tblGrid>
                    <a:gridCol w="1656184"/>
                    <a:gridCol w="1495668"/>
                  </a:tblGrid>
                  <a:tr h="370840">
                    <a:tc>
                      <a:txBody>
                        <a:bodyPr/>
                        <a:lstStyle/>
                        <a:p>
                          <a:pPr algn="ctr"/>
                          <a:r>
                            <a:rPr lang="uz-Cyrl-UZ" dirty="0" smtClean="0"/>
                            <a:t>Контейнер</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S</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14:m>
                            <m:oMath xmlns:m="http://schemas.openxmlformats.org/officeDocument/2006/math">
                              <m:r>
                                <a:rPr lang="en-US" sz="1800" smtClean="0">
                                  <a:latin typeface="Cambria Math"/>
                                </a:rPr>
                                <m:t>0100000</m:t>
                              </m:r>
                            </m:oMath>
                          </a14:m>
                          <a:r>
                            <a:rPr lang="ru-RU"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64</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010000</m:t>
                                </m:r>
                                <m:r>
                                  <a:rPr lang="uz-Cyrl-UZ" sz="1800" b="0" i="0" smtClean="0">
                                    <a:latin typeface="Cambria Math"/>
                                  </a:rPr>
                                  <m:t>1</m:t>
                                </m:r>
                                <m:r>
                                  <a:rPr lang="en-US" sz="1800" b="0" i="0" smtClean="0">
                                    <a:latin typeface="Cambria Math"/>
                                  </a:rPr>
                                  <m:t>1</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67</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010000</m:t>
                                </m:r>
                                <m:r>
                                  <a:rPr lang="uz-Cyrl-UZ" sz="1800" b="0" i="0" smtClean="0">
                                    <a:latin typeface="Cambria Math"/>
                                  </a:rPr>
                                  <m:t>10</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66</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m:t>
                                </m:r>
                                <m:r>
                                  <a:rPr lang="en-US" sz="1800" smtClean="0">
                                    <a:latin typeface="Cambria Math"/>
                                  </a:rPr>
                                  <m:t>00</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68</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m:t>
                                </m:r>
                                <m:r>
                                  <a:rPr lang="en-US" sz="1800" smtClean="0">
                                    <a:latin typeface="Cambria Math"/>
                                  </a:rPr>
                                  <m:t>01</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69</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m:t>
                                </m:r>
                                <m:r>
                                  <a:rPr lang="en-US" sz="1800" smtClean="0">
                                    <a:latin typeface="Cambria Math"/>
                                  </a:rPr>
                                  <m:t>1</m:t>
                                </m:r>
                                <m:r>
                                  <a:rPr lang="uz-Cyrl-UZ" sz="1800" b="0" i="0" smtClean="0">
                                    <a:latin typeface="Cambria Math"/>
                                  </a:rPr>
                                  <m:t>0</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70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110</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70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m:t>
                                </m:r>
                                <m:r>
                                  <a:rPr lang="uz-Cyrl-UZ" sz="1800" b="0" i="0" smtClean="0">
                                    <a:latin typeface="Cambria Math"/>
                                  </a:rPr>
                                  <m:t>1</m:t>
                                </m:r>
                                <m:r>
                                  <a:rPr lang="en-US" sz="1800" smtClean="0">
                                    <a:latin typeface="Cambria Math"/>
                                  </a:rPr>
                                  <m:t>00</m:t>
                                </m:r>
                                <m:r>
                                  <a:rPr lang="uz-Cyrl-UZ" sz="1800" b="0" i="0" smtClean="0">
                                    <a:latin typeface="Cambria Math"/>
                                  </a:rPr>
                                  <m:t>1</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73</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7" name="Таблица 6"/>
              <p:cNvGraphicFramePr>
                <a:graphicFrameLocks noGrp="1"/>
              </p:cNvGraphicFramePr>
              <p:nvPr>
                <p:extLst>
                  <p:ext uri="{D42A27DB-BD31-4B8C-83A1-F6EECF244321}">
                    <p14:modId xmlns:p14="http://schemas.microsoft.com/office/powerpoint/2010/main" val="1701037714"/>
                  </p:ext>
                </p:extLst>
              </p:nvPr>
            </p:nvGraphicFramePr>
            <p:xfrm>
              <a:off x="5164564" y="2348880"/>
              <a:ext cx="3151852" cy="3337560"/>
            </p:xfrm>
            <a:graphic>
              <a:graphicData uri="http://schemas.openxmlformats.org/drawingml/2006/table">
                <a:tbl>
                  <a:tblPr firstRow="1" bandRow="1">
                    <a:tableStyleId>{2D5ABB26-0587-4C30-8999-92F81FD0307C}</a:tableStyleId>
                  </a:tblPr>
                  <a:tblGrid>
                    <a:gridCol w="1656184"/>
                    <a:gridCol w="1495668"/>
                  </a:tblGrid>
                  <a:tr h="370840">
                    <a:tc>
                      <a:txBody>
                        <a:bodyPr/>
                        <a:lstStyle/>
                        <a:p>
                          <a:pPr algn="ctr"/>
                          <a:r>
                            <a:rPr lang="uz-Cyrl-UZ" dirty="0" smtClean="0"/>
                            <a:t>Контейнер</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S</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108197" r="-90441" b="-722951"/>
                          </a:stretch>
                        </a:blipFill>
                      </a:tcPr>
                    </a:tc>
                    <a:tc>
                      <a:txBody>
                        <a:bodyPr/>
                        <a:lstStyle/>
                        <a:p>
                          <a:pPr algn="ctr"/>
                          <a:r>
                            <a:rPr lang="en-US" dirty="0" smtClean="0"/>
                            <a:t>64</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208197" r="-90441" b="-622951"/>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67</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308197" r="-90441" b="-522951"/>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66</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415000" r="-90441" b="-431667"/>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68</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506557" r="-90441" b="-324590"/>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69</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606557" r="-90441" b="-224590"/>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70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706557" r="-90441" b="-124590"/>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70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806557" r="-90441" b="-24590"/>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73</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mc:AlternateContent xmlns:mc="http://schemas.openxmlformats.org/markup-compatibility/2006" xmlns:a14="http://schemas.microsoft.com/office/drawing/2010/main">
        <mc:Choice Requires="a14">
          <p:sp>
            <p:nvSpPr>
              <p:cNvPr id="9" name="Прямоугольник 8"/>
              <p:cNvSpPr/>
              <p:nvPr/>
            </p:nvSpPr>
            <p:spPr>
              <a:xfrm>
                <a:off x="323528" y="1146358"/>
                <a:ext cx="8496944" cy="965392"/>
              </a:xfrm>
              <a:prstGeom prst="rect">
                <a:avLst/>
              </a:prstGeom>
            </p:spPr>
            <p:txBody>
              <a:bodyPr wrap="square">
                <a:spAutoFit/>
              </a:bodyPr>
              <a:lstStyle/>
              <a:p>
                <a:r>
                  <a:rPr lang="uz-Cyrl-UZ" dirty="0"/>
                  <a:t>Мисол: С= {65,66,67,68,69,70,71,72}- 8 байт ҳажмдаги контейнерга М= “I”={73} ни яшириш. </a:t>
                </a:r>
                <a:endParaRPr lang="ru-RU" dirty="0"/>
              </a:p>
              <a:p>
                <a14:m>
                  <m:oMath xmlns:m="http://schemas.openxmlformats.org/officeDocument/2006/math">
                    <m:r>
                      <a:rPr lang="uz-Cyrl-UZ" i="1">
                        <a:latin typeface="Cambria Math"/>
                      </a:rPr>
                      <m:t>𝜇</m:t>
                    </m:r>
                    <m:r>
                      <a:rPr lang="ru-RU" i="1">
                        <a:latin typeface="Cambria Math"/>
                      </a:rPr>
                      <m:t>=</m:t>
                    </m:r>
                    <m:r>
                      <a:rPr lang="en-US" i="1">
                        <a:latin typeface="Cambria Math"/>
                      </a:rPr>
                      <m:t>𝑙𝑒𝑛</m:t>
                    </m:r>
                    <m:d>
                      <m:dPr>
                        <m:ctrlPr>
                          <a:rPr lang="ru-RU" i="1">
                            <a:latin typeface="Cambria Math"/>
                          </a:rPr>
                        </m:ctrlPr>
                      </m:dPr>
                      <m:e>
                        <m:r>
                          <a:rPr lang="en-US" i="1">
                            <a:latin typeface="Cambria Math"/>
                          </a:rPr>
                          <m:t>𝑀</m:t>
                        </m:r>
                      </m:e>
                    </m:d>
                    <m:r>
                      <a:rPr lang="ru-RU" i="1">
                        <a:latin typeface="Cambria Math"/>
                      </a:rPr>
                      <m:t>=1</m:t>
                    </m:r>
                  </m:oMath>
                </a14:m>
                <a:r>
                  <a:rPr lang="ru-RU" i="1" dirty="0"/>
                  <a:t> </a:t>
                </a:r>
                <a:r>
                  <a:rPr lang="ru-RU" dirty="0"/>
                  <a:t>га </a:t>
                </a:r>
                <a:r>
                  <a:rPr lang="ru-RU" dirty="0" err="1"/>
                  <a:t>тенг</a:t>
                </a:r>
                <a:r>
                  <a:rPr lang="ru-RU" dirty="0"/>
                  <a:t>. </a:t>
                </a:r>
                <a:r>
                  <a:rPr lang="ru-RU" dirty="0" err="1"/>
                  <a:t>Демак</a:t>
                </a:r>
                <a:r>
                  <a:rPr lang="ru-RU" dirty="0"/>
                  <a:t>, </a:t>
                </a:r>
                <a14:m>
                  <m:oMath xmlns:m="http://schemas.openxmlformats.org/officeDocument/2006/math">
                    <m:r>
                      <a:rPr lang="uz-Cyrl-UZ" i="1">
                        <a:latin typeface="Cambria Math"/>
                      </a:rPr>
                      <m:t>𝑏</m:t>
                    </m:r>
                    <m:r>
                      <a:rPr lang="uz-Cyrl-UZ" i="1">
                        <a:latin typeface="Cambria Math"/>
                      </a:rPr>
                      <m:t>=</m:t>
                    </m:r>
                    <m:r>
                      <a:rPr lang="uz-Cyrl-UZ" i="1">
                        <a:latin typeface="Cambria Math"/>
                      </a:rPr>
                      <m:t>𝐷𝑒𝑐𝑡𝑜𝐵𝑖𝑛</m:t>
                    </m:r>
                    <m:d>
                      <m:dPr>
                        <m:ctrlPr>
                          <a:rPr lang="ru-RU" i="1">
                            <a:latin typeface="Cambria Math"/>
                          </a:rPr>
                        </m:ctrlPr>
                      </m:dPr>
                      <m:e>
                        <m:sSub>
                          <m:sSubPr>
                            <m:ctrlPr>
                              <a:rPr lang="ru-RU" i="1">
                                <a:latin typeface="Cambria Math"/>
                              </a:rPr>
                            </m:ctrlPr>
                          </m:sSubPr>
                          <m:e>
                            <m:r>
                              <a:rPr lang="uz-Cyrl-UZ" i="1">
                                <a:latin typeface="Cambria Math"/>
                              </a:rPr>
                              <m:t>𝑀</m:t>
                            </m:r>
                          </m:e>
                          <m:sub>
                            <m:r>
                              <a:rPr lang="uz-Cyrl-UZ" i="1">
                                <a:latin typeface="Cambria Math"/>
                              </a:rPr>
                              <m:t>𝜇</m:t>
                            </m:r>
                          </m:sub>
                        </m:sSub>
                      </m:e>
                    </m:d>
                    <m:r>
                      <a:rPr lang="uz-Cyrl-UZ" i="1">
                        <a:latin typeface="Cambria Math"/>
                      </a:rPr>
                      <m:t>=</m:t>
                    </m:r>
                    <m:sSub>
                      <m:sSubPr>
                        <m:ctrlPr>
                          <a:rPr lang="ru-RU" i="1">
                            <a:latin typeface="Cambria Math"/>
                          </a:rPr>
                        </m:ctrlPr>
                      </m:sSubPr>
                      <m:e>
                        <m:r>
                          <a:rPr lang="uz-Cyrl-UZ" i="1">
                            <a:latin typeface="Cambria Math"/>
                          </a:rPr>
                          <m:t>73</m:t>
                        </m:r>
                      </m:e>
                      <m:sub>
                        <m:r>
                          <a:rPr lang="uz-Cyrl-UZ" i="1">
                            <a:latin typeface="Cambria Math"/>
                          </a:rPr>
                          <m:t>10</m:t>
                        </m:r>
                      </m:sub>
                    </m:sSub>
                    <m:r>
                      <a:rPr lang="uz-Cyrl-UZ" i="1">
                        <a:latin typeface="Cambria Math"/>
                      </a:rPr>
                      <m:t>=</m:t>
                    </m:r>
                    <m:sSub>
                      <m:sSubPr>
                        <m:ctrlPr>
                          <a:rPr lang="ru-RU" i="1">
                            <a:latin typeface="Cambria Math"/>
                          </a:rPr>
                        </m:ctrlPr>
                      </m:sSubPr>
                      <m:e>
                        <m:r>
                          <a:rPr lang="uz-Cyrl-UZ" i="1">
                            <a:latin typeface="Cambria Math"/>
                          </a:rPr>
                          <m:t>01001001</m:t>
                        </m:r>
                      </m:e>
                      <m:sub>
                        <m:r>
                          <a:rPr lang="uz-Cyrl-UZ" i="1">
                            <a:latin typeface="Cambria Math"/>
                          </a:rPr>
                          <m:t>2</m:t>
                        </m:r>
                      </m:sub>
                    </m:sSub>
                  </m:oMath>
                </a14:m>
                <a:endParaRPr lang="ru-RU" dirty="0"/>
              </a:p>
            </p:txBody>
          </p:sp>
        </mc:Choice>
        <mc:Fallback xmlns="">
          <p:sp>
            <p:nvSpPr>
              <p:cNvPr id="9" name="Прямоугольник 8"/>
              <p:cNvSpPr>
                <a:spLocks noRot="1" noChangeAspect="1" noMove="1" noResize="1" noEditPoints="1" noAdjustHandles="1" noChangeArrowheads="1" noChangeShapeType="1" noTextEdit="1"/>
              </p:cNvSpPr>
              <p:nvPr/>
            </p:nvSpPr>
            <p:spPr>
              <a:xfrm>
                <a:off x="323528" y="1146358"/>
                <a:ext cx="8496944" cy="965392"/>
              </a:xfrm>
              <a:prstGeom prst="rect">
                <a:avLst/>
              </a:prstGeom>
              <a:blipFill rotWithShape="1">
                <a:blip r:embed="rId6"/>
                <a:stretch>
                  <a:fillRect l="-574" t="-3165" b="-6962"/>
                </a:stretch>
              </a:blipFill>
            </p:spPr>
            <p:txBody>
              <a:bodyPr/>
              <a:lstStyle/>
              <a:p>
                <a:r>
                  <a:rPr lang="ru-RU">
                    <a:noFill/>
                  </a:rPr>
                  <a:t> </a:t>
                </a:r>
              </a:p>
            </p:txBody>
          </p:sp>
        </mc:Fallback>
      </mc:AlternateContent>
      <p:sp>
        <p:nvSpPr>
          <p:cNvPr id="10" name="Стрелка вправо 9"/>
          <p:cNvSpPr/>
          <p:nvPr/>
        </p:nvSpPr>
        <p:spPr>
          <a:xfrm>
            <a:off x="3635896" y="3789040"/>
            <a:ext cx="216024"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Равно 10"/>
          <p:cNvSpPr/>
          <p:nvPr/>
        </p:nvSpPr>
        <p:spPr>
          <a:xfrm>
            <a:off x="4716016" y="3789040"/>
            <a:ext cx="288032" cy="432048"/>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2" name="Прямоугольник 11"/>
          <p:cNvSpPr/>
          <p:nvPr/>
        </p:nvSpPr>
        <p:spPr>
          <a:xfrm>
            <a:off x="539552" y="5805264"/>
            <a:ext cx="2914580" cy="369332"/>
          </a:xfrm>
          <a:prstGeom prst="rect">
            <a:avLst/>
          </a:prstGeom>
        </p:spPr>
        <p:txBody>
          <a:bodyPr wrap="none">
            <a:spAutoFit/>
          </a:bodyPr>
          <a:lstStyle/>
          <a:p>
            <a:r>
              <a:rPr lang="en-US" dirty="0"/>
              <a:t>S={64,67,66,68,69,70,70,73}</a:t>
            </a:r>
            <a:endParaRPr lang="ru-RU" dirty="0"/>
          </a:p>
        </p:txBody>
      </p:sp>
      <p:graphicFrame>
        <p:nvGraphicFramePr>
          <p:cNvPr id="13" name="Таблица 12"/>
          <p:cNvGraphicFramePr>
            <a:graphicFrameLocks noGrp="1"/>
          </p:cNvGraphicFramePr>
          <p:nvPr>
            <p:extLst>
              <p:ext uri="{D42A27DB-BD31-4B8C-83A1-F6EECF244321}">
                <p14:modId xmlns:p14="http://schemas.microsoft.com/office/powerpoint/2010/main" val="3790939281"/>
              </p:ext>
            </p:extLst>
          </p:nvPr>
        </p:nvGraphicFramePr>
        <p:xfrm>
          <a:off x="1411233" y="2336284"/>
          <a:ext cx="576064" cy="3337560"/>
        </p:xfrm>
        <a:graphic>
          <a:graphicData uri="http://schemas.openxmlformats.org/drawingml/2006/table">
            <a:tbl>
              <a:tblPr firstRow="1" bandRow="1">
                <a:tableStyleId>{2D5ABB26-0587-4C30-8999-92F81FD0307C}</a:tableStyleId>
              </a:tblPr>
              <a:tblGrid>
                <a:gridCol w="576064"/>
              </a:tblGrid>
              <a:tr h="370840">
                <a:tc>
                  <a:txBody>
                    <a:bodyPr/>
                    <a:lstStyle/>
                    <a:p>
                      <a:r>
                        <a:rPr lang="en-US" dirty="0" smtClean="0"/>
                        <a:t>S</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dirty="0" smtClean="0"/>
                        <a:t>64</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67</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66</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68</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69</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70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70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73</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graphicFrame>
            <p:nvGraphicFramePr>
              <p:cNvPr id="14" name="Таблица 13"/>
              <p:cNvGraphicFramePr>
                <a:graphicFrameLocks noGrp="1"/>
              </p:cNvGraphicFramePr>
              <p:nvPr>
                <p:extLst>
                  <p:ext uri="{D42A27DB-BD31-4B8C-83A1-F6EECF244321}">
                    <p14:modId xmlns:p14="http://schemas.microsoft.com/office/powerpoint/2010/main" val="3281215676"/>
                  </p:ext>
                </p:extLst>
              </p:nvPr>
            </p:nvGraphicFramePr>
            <p:xfrm>
              <a:off x="2141765" y="2336284"/>
              <a:ext cx="1524000" cy="3337560"/>
            </p:xfrm>
            <a:graphic>
              <a:graphicData uri="http://schemas.openxmlformats.org/drawingml/2006/table">
                <a:tbl>
                  <a:tblPr firstRow="1" bandRow="1">
                    <a:tableStyleId>{2D5ABB26-0587-4C30-8999-92F81FD0307C}</a:tableStyleId>
                  </a:tblPr>
                  <a:tblGrid>
                    <a:gridCol w="1524000"/>
                  </a:tblGrid>
                  <a:tr h="370840">
                    <a:tc>
                      <a:txBody>
                        <a:bodyPr/>
                        <a:lstStyle/>
                        <a:p>
                          <a:pPr algn="ctr"/>
                          <a:r>
                            <a:rPr lang="ru-RU" dirty="0" err="1" smtClean="0"/>
                            <a:t>Битларда</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14:m>
                            <m:oMath xmlns:m="http://schemas.openxmlformats.org/officeDocument/2006/math">
                              <m:r>
                                <a:rPr lang="en-US" sz="1800" smtClean="0">
                                  <a:latin typeface="Cambria Math"/>
                                </a:rPr>
                                <m:t>0100000</m:t>
                              </m:r>
                            </m:oMath>
                          </a14:m>
                          <a:r>
                            <a:rPr lang="ru-RU"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010000</m:t>
                                </m:r>
                                <m:r>
                                  <a:rPr lang="uz-Cyrl-UZ" sz="1800" b="0" i="0" smtClean="0">
                                    <a:latin typeface="Cambria Math"/>
                                  </a:rPr>
                                  <m:t>1</m:t>
                                </m:r>
                                <m:r>
                                  <a:rPr lang="en-US" sz="1800" b="0" i="0" smtClean="0">
                                    <a:latin typeface="Cambria Math"/>
                                  </a:rPr>
                                  <m:t>1</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010000</m:t>
                                </m:r>
                                <m:r>
                                  <a:rPr lang="uz-Cyrl-UZ" sz="1800" b="0" i="0" smtClean="0">
                                    <a:latin typeface="Cambria Math"/>
                                  </a:rPr>
                                  <m:t>10</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m:t>
                                </m:r>
                                <m:r>
                                  <a:rPr lang="en-US" sz="1800" smtClean="0">
                                    <a:latin typeface="Cambria Math"/>
                                  </a:rPr>
                                  <m:t>00</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m:t>
                                </m:r>
                                <m:r>
                                  <a:rPr lang="en-US" sz="1800" smtClean="0">
                                    <a:latin typeface="Cambria Math"/>
                                  </a:rPr>
                                  <m:t>01</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m:t>
                                </m:r>
                                <m:r>
                                  <a:rPr lang="en-US" sz="1800" smtClean="0">
                                    <a:latin typeface="Cambria Math"/>
                                  </a:rPr>
                                  <m:t>1</m:t>
                                </m:r>
                                <m:r>
                                  <a:rPr lang="uz-Cyrl-UZ" sz="1800" b="0" i="0" smtClean="0">
                                    <a:latin typeface="Cambria Math"/>
                                  </a:rPr>
                                  <m:t>0</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110</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m:t>
                                </m:r>
                                <m:r>
                                  <a:rPr lang="uz-Cyrl-UZ" sz="1800" b="0" i="0" smtClean="0">
                                    <a:latin typeface="Cambria Math"/>
                                  </a:rPr>
                                  <m:t>1</m:t>
                                </m:r>
                                <m:r>
                                  <a:rPr lang="en-US" sz="1800" smtClean="0">
                                    <a:latin typeface="Cambria Math"/>
                                  </a:rPr>
                                  <m:t>00</m:t>
                                </m:r>
                                <m:r>
                                  <a:rPr lang="uz-Cyrl-UZ" sz="1800" b="0" i="0" smtClean="0">
                                    <a:latin typeface="Cambria Math"/>
                                  </a:rPr>
                                  <m:t>1</m:t>
                                </m:r>
                              </m:oMath>
                            </m:oMathPara>
                          </a14:m>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14" name="Таблица 13"/>
              <p:cNvGraphicFramePr>
                <a:graphicFrameLocks noGrp="1"/>
              </p:cNvGraphicFramePr>
              <p:nvPr>
                <p:extLst>
                  <p:ext uri="{D42A27DB-BD31-4B8C-83A1-F6EECF244321}">
                    <p14:modId xmlns:p14="http://schemas.microsoft.com/office/powerpoint/2010/main" val="3887115378"/>
                  </p:ext>
                </p:extLst>
              </p:nvPr>
            </p:nvGraphicFramePr>
            <p:xfrm>
              <a:off x="2141765" y="2336284"/>
              <a:ext cx="1524000" cy="3337560"/>
            </p:xfrm>
            <a:graphic>
              <a:graphicData uri="http://schemas.openxmlformats.org/drawingml/2006/table">
                <a:tbl>
                  <a:tblPr firstRow="1" bandRow="1">
                    <a:tableStyleId>{2D5ABB26-0587-4C30-8999-92F81FD0307C}</a:tableStyleId>
                  </a:tblPr>
                  <a:tblGrid>
                    <a:gridCol w="1524000"/>
                  </a:tblGrid>
                  <a:tr h="370840">
                    <a:tc>
                      <a:txBody>
                        <a:bodyPr/>
                        <a:lstStyle/>
                        <a:p>
                          <a:pPr algn="ctr"/>
                          <a:r>
                            <a:rPr lang="ru-RU" dirty="0" err="1" smtClean="0"/>
                            <a:t>Битларда</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7"/>
                          <a:stretch>
                            <a:fillRect t="-108197" r="-400" b="-698361"/>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7"/>
                          <a:stretch>
                            <a:fillRect t="-208197" r="-400" b="-598361"/>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7"/>
                          <a:stretch>
                            <a:fillRect t="-308197" r="-400" b="-498361"/>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7"/>
                          <a:stretch>
                            <a:fillRect t="-415000" r="-400" b="-406667"/>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7"/>
                          <a:stretch>
                            <a:fillRect t="-506557" r="-400" b="-300000"/>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7"/>
                          <a:stretch>
                            <a:fillRect t="-606557" r="-400" b="-200000"/>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7"/>
                          <a:stretch>
                            <a:fillRect t="-706557" r="-400" b="-100000"/>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7"/>
                          <a:stretch>
                            <a:fillRect t="-806557" r="-400"/>
                          </a:stretch>
                        </a:blip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5" name="Таблица 14"/>
              <p:cNvGraphicFramePr>
                <a:graphicFrameLocks noGrp="1"/>
              </p:cNvGraphicFramePr>
              <p:nvPr>
                <p:extLst>
                  <p:ext uri="{D42A27DB-BD31-4B8C-83A1-F6EECF244321}">
                    <p14:modId xmlns:p14="http://schemas.microsoft.com/office/powerpoint/2010/main" val="366806560"/>
                  </p:ext>
                </p:extLst>
              </p:nvPr>
            </p:nvGraphicFramePr>
            <p:xfrm>
              <a:off x="2111896" y="2336284"/>
              <a:ext cx="1524000" cy="3337560"/>
            </p:xfrm>
            <a:graphic>
              <a:graphicData uri="http://schemas.openxmlformats.org/drawingml/2006/table">
                <a:tbl>
                  <a:tblPr firstRow="1" bandRow="1">
                    <a:tableStyleId>{2D5ABB26-0587-4C30-8999-92F81FD0307C}</a:tableStyleId>
                  </a:tblPr>
                  <a:tblGrid>
                    <a:gridCol w="1524000"/>
                  </a:tblGrid>
                  <a:tr h="370840">
                    <a:tc>
                      <a:txBody>
                        <a:bodyPr/>
                        <a:lstStyle/>
                        <a:p>
                          <a:pPr algn="ctr"/>
                          <a:r>
                            <a:rPr lang="ru-RU" dirty="0" err="1" smtClean="0"/>
                            <a:t>Битларда</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14:m>
                            <m:oMath xmlns:m="http://schemas.openxmlformats.org/officeDocument/2006/math">
                              <m:r>
                                <a:rPr lang="en-US" sz="1800" smtClean="0">
                                  <a:latin typeface="Cambria Math"/>
                                </a:rPr>
                                <m:t>0100000</m:t>
                              </m:r>
                            </m:oMath>
                          </a14:m>
                          <a:r>
                            <a:rPr lang="ru-RU" b="1" dirty="0" smtClean="0"/>
                            <a:t>0</a:t>
                          </a:r>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010000</m:t>
                                </m:r>
                                <m:r>
                                  <a:rPr lang="uz-Cyrl-UZ" sz="1800" b="0" i="0" smtClean="0">
                                    <a:latin typeface="Cambria Math"/>
                                  </a:rPr>
                                  <m:t>1</m:t>
                                </m:r>
                                <m:r>
                                  <a:rPr lang="en-US" sz="1800" b="1" i="0" smtClean="0">
                                    <a:latin typeface="Cambria Math"/>
                                  </a:rPr>
                                  <m:t>𝟏</m:t>
                                </m:r>
                              </m:oMath>
                            </m:oMathPara>
                          </a14:m>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010000</m:t>
                                </m:r>
                                <m:r>
                                  <a:rPr lang="uz-Cyrl-UZ" sz="1800" b="0" i="0" smtClean="0">
                                    <a:latin typeface="Cambria Math"/>
                                  </a:rPr>
                                  <m:t>1</m:t>
                                </m:r>
                                <m:r>
                                  <a:rPr lang="uz-Cyrl-UZ" sz="1800" b="1" i="0" smtClean="0">
                                    <a:latin typeface="Cambria Math"/>
                                  </a:rPr>
                                  <m:t>𝟎</m:t>
                                </m:r>
                              </m:oMath>
                            </m:oMathPara>
                          </a14:m>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m:t>
                                </m:r>
                                <m:r>
                                  <a:rPr lang="en-US" sz="1800" smtClean="0">
                                    <a:latin typeface="Cambria Math"/>
                                  </a:rPr>
                                  <m:t>0</m:t>
                                </m:r>
                                <m:r>
                                  <a:rPr lang="en-US" sz="1800" b="1" i="1" smtClean="0">
                                    <a:latin typeface="Cambria Math"/>
                                  </a:rPr>
                                  <m:t>𝟎</m:t>
                                </m:r>
                              </m:oMath>
                            </m:oMathPara>
                          </a14:m>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m:t>
                                </m:r>
                                <m:r>
                                  <a:rPr lang="en-US" sz="1800" smtClean="0">
                                    <a:latin typeface="Cambria Math"/>
                                  </a:rPr>
                                  <m:t>0</m:t>
                                </m:r>
                                <m:r>
                                  <a:rPr lang="en-US" sz="1800" b="1" i="1" smtClean="0">
                                    <a:latin typeface="Cambria Math"/>
                                  </a:rPr>
                                  <m:t>𝟏</m:t>
                                </m:r>
                              </m:oMath>
                            </m:oMathPara>
                          </a14:m>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m:t>
                                </m:r>
                                <m:r>
                                  <a:rPr lang="en-US" sz="1800" smtClean="0">
                                    <a:latin typeface="Cambria Math"/>
                                  </a:rPr>
                                  <m:t>1</m:t>
                                </m:r>
                                <m:r>
                                  <a:rPr lang="uz-Cyrl-UZ" sz="1800" b="1" i="0" smtClean="0">
                                    <a:latin typeface="Cambria Math"/>
                                  </a:rPr>
                                  <m:t>𝟎</m:t>
                                </m:r>
                              </m:oMath>
                            </m:oMathPara>
                          </a14:m>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01000</m:t>
                                </m:r>
                                <m:r>
                                  <a:rPr lang="uz-Cyrl-UZ" sz="1800" b="0" i="0" smtClean="0">
                                    <a:latin typeface="Cambria Math"/>
                                  </a:rPr>
                                  <m:t>11</m:t>
                                </m:r>
                                <m:r>
                                  <a:rPr lang="uz-Cyrl-UZ" sz="1800" b="1" i="0" smtClean="0">
                                    <a:latin typeface="Cambria Math"/>
                                  </a:rPr>
                                  <m:t>𝟎</m:t>
                                </m:r>
                              </m:oMath>
                            </m:oMathPara>
                          </a14:m>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smtClean="0">
                                    <a:latin typeface="Cambria Math"/>
                                  </a:rPr>
                                  <m:t>0100</m:t>
                                </m:r>
                                <m:r>
                                  <a:rPr lang="uz-Cyrl-UZ" sz="1800" b="0" i="0" smtClean="0">
                                    <a:latin typeface="Cambria Math"/>
                                  </a:rPr>
                                  <m:t>1</m:t>
                                </m:r>
                                <m:r>
                                  <a:rPr lang="en-US" sz="1800" smtClean="0">
                                    <a:latin typeface="Cambria Math"/>
                                  </a:rPr>
                                  <m:t>00</m:t>
                                </m:r>
                                <m:r>
                                  <a:rPr lang="uz-Cyrl-UZ" sz="1800" b="1" i="0" smtClean="0">
                                    <a:latin typeface="Cambria Math"/>
                                  </a:rPr>
                                  <m:t>𝟏</m:t>
                                </m:r>
                              </m:oMath>
                            </m:oMathPara>
                          </a14:m>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15" name="Таблица 14"/>
              <p:cNvGraphicFramePr>
                <a:graphicFrameLocks noGrp="1"/>
              </p:cNvGraphicFramePr>
              <p:nvPr>
                <p:extLst>
                  <p:ext uri="{D42A27DB-BD31-4B8C-83A1-F6EECF244321}">
                    <p14:modId xmlns:p14="http://schemas.microsoft.com/office/powerpoint/2010/main" val="2932072259"/>
                  </p:ext>
                </p:extLst>
              </p:nvPr>
            </p:nvGraphicFramePr>
            <p:xfrm>
              <a:off x="2111896" y="2336284"/>
              <a:ext cx="1524000" cy="3337560"/>
            </p:xfrm>
            <a:graphic>
              <a:graphicData uri="http://schemas.openxmlformats.org/drawingml/2006/table">
                <a:tbl>
                  <a:tblPr firstRow="1" bandRow="1">
                    <a:tableStyleId>{2D5ABB26-0587-4C30-8999-92F81FD0307C}</a:tableStyleId>
                  </a:tblPr>
                  <a:tblGrid>
                    <a:gridCol w="1524000"/>
                  </a:tblGrid>
                  <a:tr h="370840">
                    <a:tc>
                      <a:txBody>
                        <a:bodyPr/>
                        <a:lstStyle/>
                        <a:p>
                          <a:pPr algn="ctr"/>
                          <a:r>
                            <a:rPr lang="ru-RU" dirty="0" err="1" smtClean="0"/>
                            <a:t>Битларда</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8"/>
                          <a:stretch>
                            <a:fillRect t="-108197" r="-400" b="-698361"/>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8"/>
                          <a:stretch>
                            <a:fillRect t="-208197" r="-400" b="-598361"/>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8"/>
                          <a:stretch>
                            <a:fillRect t="-308197" r="-400" b="-498361"/>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8"/>
                          <a:stretch>
                            <a:fillRect t="-415000" r="-400" b="-406667"/>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8"/>
                          <a:stretch>
                            <a:fillRect t="-506557" r="-400" b="-300000"/>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8"/>
                          <a:stretch>
                            <a:fillRect t="-606557" r="-400" b="-200000"/>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8"/>
                          <a:stretch>
                            <a:fillRect t="-706557" r="-400" b="-100000"/>
                          </a:stretch>
                        </a:blipFill>
                      </a:tcPr>
                    </a:tc>
                  </a:tr>
                  <a:tr h="370840">
                    <a:tc>
                      <a:txBody>
                        <a:bodyPr/>
                        <a:lstStyle/>
                        <a:p>
                          <a:endParaRPr lang="ru-R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8"/>
                          <a:stretch>
                            <a:fillRect t="-806557" r="-400"/>
                          </a:stretch>
                        </a:blipFill>
                      </a:tcPr>
                    </a:tc>
                  </a:tr>
                </a:tbl>
              </a:graphicData>
            </a:graphic>
          </p:graphicFrame>
        </mc:Fallback>
      </mc:AlternateContent>
      <p:graphicFrame>
        <p:nvGraphicFramePr>
          <p:cNvPr id="16" name="Таблица 15"/>
          <p:cNvGraphicFramePr>
            <a:graphicFrameLocks noGrp="1"/>
          </p:cNvGraphicFramePr>
          <p:nvPr>
            <p:extLst>
              <p:ext uri="{D42A27DB-BD31-4B8C-83A1-F6EECF244321}">
                <p14:modId xmlns:p14="http://schemas.microsoft.com/office/powerpoint/2010/main" val="3683257899"/>
              </p:ext>
            </p:extLst>
          </p:nvPr>
        </p:nvGraphicFramePr>
        <p:xfrm>
          <a:off x="3995936" y="2348880"/>
          <a:ext cx="648072" cy="3337560"/>
        </p:xfrm>
        <a:graphic>
          <a:graphicData uri="http://schemas.openxmlformats.org/drawingml/2006/table">
            <a:tbl>
              <a:tblPr firstRow="1" bandRow="1">
                <a:tableStyleId>{2D5ABB26-0587-4C30-8999-92F81FD0307C}</a:tableStyleId>
              </a:tblPr>
              <a:tblGrid>
                <a:gridCol w="648072"/>
              </a:tblGrid>
              <a:tr h="370840">
                <a:tc>
                  <a:txBody>
                    <a:bodyPr/>
                    <a:lstStyle/>
                    <a:p>
                      <a:r>
                        <a:rPr lang="uz-Cyrl-UZ" dirty="0" smtClean="0"/>
                        <a:t>М</a:t>
                      </a:r>
                      <a:r>
                        <a:rPr lang="en-US" dirty="0" smtClean="0"/>
                        <a:t>’</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uz-Cyrl-UZ"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7" name="Стрелка вправо 16"/>
          <p:cNvSpPr/>
          <p:nvPr/>
        </p:nvSpPr>
        <p:spPr>
          <a:xfrm>
            <a:off x="3635896" y="3789040"/>
            <a:ext cx="288032"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90166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nodeType="clickEffect">
                                  <p:stCondLst>
                                    <p:cond delay="0"/>
                                  </p:stCondLst>
                                  <p:childTnLst>
                                    <p:anim calcmode="lin" valueType="num">
                                      <p:cBhvr additive="base">
                                        <p:cTn id="31" dur="500"/>
                                        <p:tgtEl>
                                          <p:spTgt spid="4"/>
                                        </p:tgtEl>
                                        <p:attrNameLst>
                                          <p:attrName>ppt_x</p:attrName>
                                        </p:attrNameLst>
                                      </p:cBhvr>
                                      <p:tavLst>
                                        <p:tav tm="0">
                                          <p:val>
                                            <p:strVal val="ppt_x"/>
                                          </p:val>
                                        </p:tav>
                                        <p:tav tm="100000">
                                          <p:val>
                                            <p:strVal val="ppt_x"/>
                                          </p:val>
                                        </p:tav>
                                      </p:tavLst>
                                    </p:anim>
                                    <p:anim calcmode="lin" valueType="num">
                                      <p:cBhvr additive="base">
                                        <p:cTn id="32" dur="500"/>
                                        <p:tgtEl>
                                          <p:spTgt spid="4"/>
                                        </p:tgtEl>
                                        <p:attrNameLst>
                                          <p:attrName>ppt_y</p:attrName>
                                        </p:attrNameLst>
                                      </p:cBhvr>
                                      <p:tavLst>
                                        <p:tav tm="0">
                                          <p:val>
                                            <p:strVal val="ppt_y"/>
                                          </p:val>
                                        </p:tav>
                                        <p:tav tm="100000">
                                          <p:val>
                                            <p:strVal val="1+ppt_h/2"/>
                                          </p:val>
                                        </p:tav>
                                      </p:tavLst>
                                    </p:anim>
                                    <p:set>
                                      <p:cBhvr>
                                        <p:cTn id="33" dur="1" fill="hold">
                                          <p:stCondLst>
                                            <p:cond delay="499"/>
                                          </p:stCondLst>
                                        </p:cTn>
                                        <p:tgtEl>
                                          <p:spTgt spid="4"/>
                                        </p:tgtEl>
                                        <p:attrNameLst>
                                          <p:attrName>style.visibility</p:attrName>
                                        </p:attrNameLst>
                                      </p:cBhvr>
                                      <p:to>
                                        <p:strVal val="hidden"/>
                                      </p:to>
                                    </p:set>
                                  </p:childTnLst>
                                </p:cTn>
                              </p:par>
                              <p:par>
                                <p:cTn id="34" presetID="2" presetClass="exit" presetSubtype="4" fill="hold" grpId="1" nodeType="withEffect">
                                  <p:stCondLst>
                                    <p:cond delay="0"/>
                                  </p:stCondLst>
                                  <p:childTnLst>
                                    <p:anim calcmode="lin" valueType="num">
                                      <p:cBhvr additive="base">
                                        <p:cTn id="35" dur="500"/>
                                        <p:tgtEl>
                                          <p:spTgt spid="10"/>
                                        </p:tgtEl>
                                        <p:attrNameLst>
                                          <p:attrName>ppt_x</p:attrName>
                                        </p:attrNameLst>
                                      </p:cBhvr>
                                      <p:tavLst>
                                        <p:tav tm="0">
                                          <p:val>
                                            <p:strVal val="ppt_x"/>
                                          </p:val>
                                        </p:tav>
                                        <p:tav tm="100000">
                                          <p:val>
                                            <p:strVal val="ppt_x"/>
                                          </p:val>
                                        </p:tav>
                                      </p:tavLst>
                                    </p:anim>
                                    <p:anim calcmode="lin" valueType="num">
                                      <p:cBhvr additive="base">
                                        <p:cTn id="36" dur="500"/>
                                        <p:tgtEl>
                                          <p:spTgt spid="10"/>
                                        </p:tgtEl>
                                        <p:attrNameLst>
                                          <p:attrName>ppt_y</p:attrName>
                                        </p:attrNameLst>
                                      </p:cBhvr>
                                      <p:tavLst>
                                        <p:tav tm="0">
                                          <p:val>
                                            <p:strVal val="ppt_y"/>
                                          </p:val>
                                        </p:tav>
                                        <p:tav tm="100000">
                                          <p:val>
                                            <p:strVal val="1+ppt_h/2"/>
                                          </p:val>
                                        </p:tav>
                                      </p:tavLst>
                                    </p:anim>
                                    <p:set>
                                      <p:cBhvr>
                                        <p:cTn id="37" dur="1" fill="hold">
                                          <p:stCondLst>
                                            <p:cond delay="499"/>
                                          </p:stCondLst>
                                        </p:cTn>
                                        <p:tgtEl>
                                          <p:spTgt spid="10"/>
                                        </p:tgtEl>
                                        <p:attrNameLst>
                                          <p:attrName>style.visibility</p:attrName>
                                        </p:attrNameLst>
                                      </p:cBhvr>
                                      <p:to>
                                        <p:strVal val="hidden"/>
                                      </p:to>
                                    </p:set>
                                  </p:childTnLst>
                                </p:cTn>
                              </p:par>
                              <p:par>
                                <p:cTn id="38" presetID="2" presetClass="exit" presetSubtype="4" fill="hold" nodeType="withEffect">
                                  <p:stCondLst>
                                    <p:cond delay="0"/>
                                  </p:stCondLst>
                                  <p:childTnLst>
                                    <p:anim calcmode="lin" valueType="num">
                                      <p:cBhvr additive="base">
                                        <p:cTn id="39" dur="500"/>
                                        <p:tgtEl>
                                          <p:spTgt spid="6"/>
                                        </p:tgtEl>
                                        <p:attrNameLst>
                                          <p:attrName>ppt_x</p:attrName>
                                        </p:attrNameLst>
                                      </p:cBhvr>
                                      <p:tavLst>
                                        <p:tav tm="0">
                                          <p:val>
                                            <p:strVal val="ppt_x"/>
                                          </p:val>
                                        </p:tav>
                                        <p:tav tm="100000">
                                          <p:val>
                                            <p:strVal val="ppt_x"/>
                                          </p:val>
                                        </p:tav>
                                      </p:tavLst>
                                    </p:anim>
                                    <p:anim calcmode="lin" valueType="num">
                                      <p:cBhvr additive="base">
                                        <p:cTn id="40" dur="500"/>
                                        <p:tgtEl>
                                          <p:spTgt spid="6"/>
                                        </p:tgtEl>
                                        <p:attrNameLst>
                                          <p:attrName>ppt_y</p:attrName>
                                        </p:attrNameLst>
                                      </p:cBhvr>
                                      <p:tavLst>
                                        <p:tav tm="0">
                                          <p:val>
                                            <p:strVal val="ppt_y"/>
                                          </p:val>
                                        </p:tav>
                                        <p:tav tm="100000">
                                          <p:val>
                                            <p:strVal val="1+ppt_h/2"/>
                                          </p:val>
                                        </p:tav>
                                      </p:tavLst>
                                    </p:anim>
                                    <p:set>
                                      <p:cBhvr>
                                        <p:cTn id="41" dur="1" fill="hold">
                                          <p:stCondLst>
                                            <p:cond delay="499"/>
                                          </p:stCondLst>
                                        </p:cTn>
                                        <p:tgtEl>
                                          <p:spTgt spid="6"/>
                                        </p:tgtEl>
                                        <p:attrNameLst>
                                          <p:attrName>style.visibility</p:attrName>
                                        </p:attrNameLst>
                                      </p:cBhvr>
                                      <p:to>
                                        <p:strVal val="hidden"/>
                                      </p:to>
                                    </p:set>
                                  </p:childTnLst>
                                </p:cTn>
                              </p:par>
                              <p:par>
                                <p:cTn id="42" presetID="2" presetClass="exit" presetSubtype="4" fill="hold" grpId="1" nodeType="withEffect">
                                  <p:stCondLst>
                                    <p:cond delay="0"/>
                                  </p:stCondLst>
                                  <p:childTnLst>
                                    <p:anim calcmode="lin" valueType="num">
                                      <p:cBhvr additive="base">
                                        <p:cTn id="43" dur="500"/>
                                        <p:tgtEl>
                                          <p:spTgt spid="11"/>
                                        </p:tgtEl>
                                        <p:attrNameLst>
                                          <p:attrName>ppt_x</p:attrName>
                                        </p:attrNameLst>
                                      </p:cBhvr>
                                      <p:tavLst>
                                        <p:tav tm="0">
                                          <p:val>
                                            <p:strVal val="ppt_x"/>
                                          </p:val>
                                        </p:tav>
                                        <p:tav tm="100000">
                                          <p:val>
                                            <p:strVal val="ppt_x"/>
                                          </p:val>
                                        </p:tav>
                                      </p:tavLst>
                                    </p:anim>
                                    <p:anim calcmode="lin" valueType="num">
                                      <p:cBhvr additive="base">
                                        <p:cTn id="44" dur="500"/>
                                        <p:tgtEl>
                                          <p:spTgt spid="11"/>
                                        </p:tgtEl>
                                        <p:attrNameLst>
                                          <p:attrName>ppt_y</p:attrName>
                                        </p:attrNameLst>
                                      </p:cBhvr>
                                      <p:tavLst>
                                        <p:tav tm="0">
                                          <p:val>
                                            <p:strVal val="ppt_y"/>
                                          </p:val>
                                        </p:tav>
                                        <p:tav tm="100000">
                                          <p:val>
                                            <p:strVal val="1+ppt_h/2"/>
                                          </p:val>
                                        </p:tav>
                                      </p:tavLst>
                                    </p:anim>
                                    <p:set>
                                      <p:cBhvr>
                                        <p:cTn id="45" dur="1" fill="hold">
                                          <p:stCondLst>
                                            <p:cond delay="499"/>
                                          </p:stCondLst>
                                        </p:cTn>
                                        <p:tgtEl>
                                          <p:spTgt spid="11"/>
                                        </p:tgtEl>
                                        <p:attrNameLst>
                                          <p:attrName>style.visibility</p:attrName>
                                        </p:attrNameLst>
                                      </p:cBhvr>
                                      <p:to>
                                        <p:strVal val="hidden"/>
                                      </p:to>
                                    </p:set>
                                  </p:childTnLst>
                                </p:cTn>
                              </p:par>
                              <p:par>
                                <p:cTn id="46" presetID="2" presetClass="exit" presetSubtype="4" fill="hold" nodeType="withEffect">
                                  <p:stCondLst>
                                    <p:cond delay="0"/>
                                  </p:stCondLst>
                                  <p:childTnLst>
                                    <p:anim calcmode="lin" valueType="num">
                                      <p:cBhvr additive="base">
                                        <p:cTn id="47" dur="500"/>
                                        <p:tgtEl>
                                          <p:spTgt spid="7"/>
                                        </p:tgtEl>
                                        <p:attrNameLst>
                                          <p:attrName>ppt_x</p:attrName>
                                        </p:attrNameLst>
                                      </p:cBhvr>
                                      <p:tavLst>
                                        <p:tav tm="0">
                                          <p:val>
                                            <p:strVal val="ppt_x"/>
                                          </p:val>
                                        </p:tav>
                                        <p:tav tm="100000">
                                          <p:val>
                                            <p:strVal val="ppt_x"/>
                                          </p:val>
                                        </p:tav>
                                      </p:tavLst>
                                    </p:anim>
                                    <p:anim calcmode="lin" valueType="num">
                                      <p:cBhvr additive="base">
                                        <p:cTn id="48" dur="500"/>
                                        <p:tgtEl>
                                          <p:spTgt spid="7"/>
                                        </p:tgtEl>
                                        <p:attrNameLst>
                                          <p:attrName>ppt_y</p:attrName>
                                        </p:attrNameLst>
                                      </p:cBhvr>
                                      <p:tavLst>
                                        <p:tav tm="0">
                                          <p:val>
                                            <p:strVal val="ppt_y"/>
                                          </p:val>
                                        </p:tav>
                                        <p:tav tm="100000">
                                          <p:val>
                                            <p:strVal val="1+ppt_h/2"/>
                                          </p:val>
                                        </p:tav>
                                      </p:tavLst>
                                    </p:anim>
                                    <p:set>
                                      <p:cBhvr>
                                        <p:cTn id="49" dur="1" fill="hold">
                                          <p:stCondLst>
                                            <p:cond delay="499"/>
                                          </p:stCondLst>
                                        </p:cTn>
                                        <p:tgtEl>
                                          <p:spTgt spid="7"/>
                                        </p:tgtEl>
                                        <p:attrNameLst>
                                          <p:attrName>style.visibility</p:attrName>
                                        </p:attrNameLst>
                                      </p:cBhvr>
                                      <p:to>
                                        <p:strVal val="hidden"/>
                                      </p:to>
                                    </p:set>
                                  </p:childTnLst>
                                </p:cTn>
                              </p:par>
                              <p:par>
                                <p:cTn id="50" presetID="2" presetClass="exit" presetSubtype="4" fill="hold" grpId="1" nodeType="withEffect">
                                  <p:stCondLst>
                                    <p:cond delay="0"/>
                                  </p:stCondLst>
                                  <p:childTnLst>
                                    <p:anim calcmode="lin" valueType="num">
                                      <p:cBhvr additive="base">
                                        <p:cTn id="51" dur="500"/>
                                        <p:tgtEl>
                                          <p:spTgt spid="12"/>
                                        </p:tgtEl>
                                        <p:attrNameLst>
                                          <p:attrName>ppt_x</p:attrName>
                                        </p:attrNameLst>
                                      </p:cBhvr>
                                      <p:tavLst>
                                        <p:tav tm="0">
                                          <p:val>
                                            <p:strVal val="ppt_x"/>
                                          </p:val>
                                        </p:tav>
                                        <p:tav tm="100000">
                                          <p:val>
                                            <p:strVal val="ppt_x"/>
                                          </p:val>
                                        </p:tav>
                                      </p:tavLst>
                                    </p:anim>
                                    <p:anim calcmode="lin" valueType="num">
                                      <p:cBhvr additive="base">
                                        <p:cTn id="52" dur="500"/>
                                        <p:tgtEl>
                                          <p:spTgt spid="12"/>
                                        </p:tgtEl>
                                        <p:attrNameLst>
                                          <p:attrName>ppt_y</p:attrName>
                                        </p:attrNameLst>
                                      </p:cBhvr>
                                      <p:tavLst>
                                        <p:tav tm="0">
                                          <p:val>
                                            <p:strVal val="ppt_y"/>
                                          </p:val>
                                        </p:tav>
                                        <p:tav tm="100000">
                                          <p:val>
                                            <p:strVal val="1+ppt_h/2"/>
                                          </p:val>
                                        </p:tav>
                                      </p:tavLst>
                                    </p:anim>
                                    <p:set>
                                      <p:cBhvr>
                                        <p:cTn id="53" dur="1" fill="hold">
                                          <p:stCondLst>
                                            <p:cond delay="499"/>
                                          </p:stCondLst>
                                        </p:cTn>
                                        <p:tgtEl>
                                          <p:spTgt spid="12"/>
                                        </p:tgtEl>
                                        <p:attrNameLst>
                                          <p:attrName>style.visibility</p:attrName>
                                        </p:attrNameLst>
                                      </p:cBhvr>
                                      <p:to>
                                        <p:strVal val="hidden"/>
                                      </p:to>
                                    </p:set>
                                  </p:childTnLst>
                                </p:cTn>
                              </p:par>
                            </p:childTnLst>
                          </p:cTn>
                        </p:par>
                        <p:par>
                          <p:cTn id="54" fill="hold">
                            <p:stCondLst>
                              <p:cond delay="500"/>
                            </p:stCondLst>
                            <p:childTnLst>
                              <p:par>
                                <p:cTn id="55" presetID="10" presetClass="entr" presetSubtype="0" fill="hold" nodeType="after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par>
                                <p:cTn id="58" presetID="10" presetClass="entr" presetSubtype="0" fill="hold"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childTnLst>
                                </p:cTn>
                              </p:par>
                            </p:childTnLst>
                          </p:cTn>
                        </p:par>
                        <p:par>
                          <p:cTn id="61" fill="hold">
                            <p:stCondLst>
                              <p:cond delay="1000"/>
                            </p:stCondLst>
                            <p:childTnLst>
                              <p:par>
                                <p:cTn id="62" presetID="10" presetClass="exit" presetSubtype="0" fill="hold" nodeType="afterEffect">
                                  <p:stCondLst>
                                    <p:cond delay="0"/>
                                  </p:stCondLst>
                                  <p:childTnLst>
                                    <p:animEffect transition="out" filter="fade">
                                      <p:cBhvr>
                                        <p:cTn id="63" dur="500"/>
                                        <p:tgtEl>
                                          <p:spTgt spid="14"/>
                                        </p:tgtEl>
                                      </p:cBhvr>
                                    </p:animEffect>
                                    <p:set>
                                      <p:cBhvr>
                                        <p:cTn id="64" dur="1" fill="hold">
                                          <p:stCondLst>
                                            <p:cond delay="499"/>
                                          </p:stCondLst>
                                        </p:cTn>
                                        <p:tgtEl>
                                          <p:spTgt spid="14"/>
                                        </p:tgtEl>
                                        <p:attrNameLst>
                                          <p:attrName>style.visibility</p:attrName>
                                        </p:attrNameLst>
                                      </p:cBhvr>
                                      <p:to>
                                        <p:strVal val="hidden"/>
                                      </p:to>
                                    </p:set>
                                  </p:childTnLst>
                                </p:cTn>
                              </p:par>
                            </p:childTnLst>
                          </p:cTn>
                        </p:par>
                        <p:par>
                          <p:cTn id="65" fill="hold">
                            <p:stCondLst>
                              <p:cond delay="1500"/>
                            </p:stCondLst>
                            <p:childTnLst>
                              <p:par>
                                <p:cTn id="66" presetID="10" presetClass="entr" presetSubtype="0" fill="hold" nodeType="after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500"/>
                                        <p:tgtEl>
                                          <p:spTgt spid="15"/>
                                        </p:tgtEl>
                                      </p:cBhvr>
                                    </p:animEffect>
                                  </p:childTnLst>
                                </p:cTn>
                              </p:par>
                            </p:childTnLst>
                          </p:cTn>
                        </p:par>
                        <p:par>
                          <p:cTn id="69" fill="hold">
                            <p:stCondLst>
                              <p:cond delay="2000"/>
                            </p:stCondLst>
                            <p:childTnLst>
                              <p:par>
                                <p:cTn id="70" presetID="10" presetClass="entr" presetSubtype="0" fill="hold" nodeType="after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500"/>
                                        <p:tgtEl>
                                          <p:spTgt spid="1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p:bldP spid="12" grpId="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MasterDocs\расм\f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sp>
        <p:nvSpPr>
          <p:cNvPr id="3" name="Номер слайда 2"/>
          <p:cNvSpPr>
            <a:spLocks noGrp="1"/>
          </p:cNvSpPr>
          <p:nvPr>
            <p:ph type="sldNum" sz="quarter" idx="12"/>
          </p:nvPr>
        </p:nvSpPr>
        <p:spPr>
          <a:xfrm>
            <a:off x="8385922" y="6492875"/>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11</a:t>
            </a:fld>
            <a:endParaRPr lang="ru-RU" dirty="0"/>
          </a:p>
        </p:txBody>
      </p:sp>
      <p:sp>
        <p:nvSpPr>
          <p:cNvPr id="5" name="Прямоугольник 4"/>
          <p:cNvSpPr/>
          <p:nvPr/>
        </p:nvSpPr>
        <p:spPr>
          <a:xfrm>
            <a:off x="755576" y="0"/>
            <a:ext cx="7560840" cy="4616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uz-Cyrl-UZ" sz="2400" b="1" dirty="0" smtClean="0">
                <a:solidFill>
                  <a:schemeClr val="tx1"/>
                </a:solidFill>
              </a:rPr>
              <a:t>Псевдотасодифий </a:t>
            </a:r>
            <a:r>
              <a:rPr lang="uz-Cyrl-UZ" sz="2400" b="1" dirty="0">
                <a:solidFill>
                  <a:schemeClr val="tx1"/>
                </a:solidFill>
              </a:rPr>
              <a:t>интерваллар усули</a:t>
            </a:r>
            <a:endParaRPr lang="ru-RU" sz="2400" dirty="0">
              <a:solidFill>
                <a:schemeClr val="tx1"/>
              </a:solidFill>
            </a:endParaRPr>
          </a:p>
        </p:txBody>
      </p:sp>
      <p:sp>
        <p:nvSpPr>
          <p:cNvPr id="6" name="Прямоугольник 5"/>
          <p:cNvSpPr/>
          <p:nvPr/>
        </p:nvSpPr>
        <p:spPr>
          <a:xfrm>
            <a:off x="1042895" y="1194802"/>
            <a:ext cx="4087791" cy="1323439"/>
          </a:xfrm>
          <a:prstGeom prst="rect">
            <a:avLst/>
          </a:prstGeo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wrap="square">
            <a:spAutoFit/>
          </a:bodyPr>
          <a:lstStyle/>
          <a:p>
            <a:r>
              <a:rPr lang="ru-RU" sz="1600" dirty="0"/>
              <a:t>66   67     68    69    70   71     72    73    74    75    </a:t>
            </a:r>
            <a:r>
              <a:rPr lang="ru-RU" sz="1600" dirty="0" smtClean="0"/>
              <a:t>76   77   </a:t>
            </a:r>
            <a:r>
              <a:rPr lang="ru-RU" sz="1600" dirty="0"/>
              <a:t>78    79     80    81    82    83    84    85    86    </a:t>
            </a:r>
            <a:r>
              <a:rPr lang="ru-RU" sz="1600" dirty="0" smtClean="0"/>
              <a:t>87    88   </a:t>
            </a:r>
            <a:r>
              <a:rPr lang="ru-RU" sz="1600" dirty="0"/>
              <a:t>89     90    91    92    93    94    95    96    97    98  </a:t>
            </a:r>
            <a:r>
              <a:rPr lang="ru-RU" sz="1600" dirty="0" smtClean="0"/>
              <a:t> 99   </a:t>
            </a:r>
            <a:r>
              <a:rPr lang="ru-RU" sz="1600" dirty="0"/>
              <a:t>100  101  102  103  104  105  106  107  108  </a:t>
            </a:r>
            <a:r>
              <a:rPr lang="ru-RU" sz="1600" dirty="0" smtClean="0"/>
              <a:t>109 110  </a:t>
            </a:r>
            <a:r>
              <a:rPr lang="ru-RU" sz="1600" dirty="0"/>
              <a:t>111  112  113  114  </a:t>
            </a:r>
            <a:r>
              <a:rPr lang="ru-RU" sz="1600" dirty="0" smtClean="0"/>
              <a:t>115</a:t>
            </a:r>
            <a:endParaRPr lang="ru-RU" sz="1600" dirty="0"/>
          </a:p>
        </p:txBody>
      </p:sp>
      <p:sp>
        <p:nvSpPr>
          <p:cNvPr id="7" name="TextBox 6"/>
          <p:cNvSpPr txBox="1"/>
          <p:nvPr/>
        </p:nvSpPr>
        <p:spPr>
          <a:xfrm>
            <a:off x="521377" y="1605142"/>
            <a:ext cx="468398" cy="369332"/>
          </a:xfrm>
          <a:prstGeom prst="rect">
            <a:avLst/>
          </a:prstGeom>
          <a:noFill/>
        </p:spPr>
        <p:txBody>
          <a:bodyPr wrap="none" rtlCol="0">
            <a:spAutoFit/>
          </a:bodyPr>
          <a:lstStyle/>
          <a:p>
            <a:r>
              <a:rPr lang="ru-RU" dirty="0" smtClean="0"/>
              <a:t>С=</a:t>
            </a:r>
            <a:endParaRPr lang="ru-RU" dirty="0"/>
          </a:p>
        </p:txBody>
      </p:sp>
      <mc:AlternateContent xmlns:mc="http://schemas.openxmlformats.org/markup-compatibility/2006" xmlns:a14="http://schemas.microsoft.com/office/drawing/2010/main">
        <mc:Choice Requires="a14">
          <p:sp>
            <p:nvSpPr>
              <p:cNvPr id="11" name="TextBox 10"/>
              <p:cNvSpPr txBox="1"/>
              <p:nvPr/>
            </p:nvSpPr>
            <p:spPr>
              <a:xfrm>
                <a:off x="5397079" y="1181827"/>
                <a:ext cx="3423393" cy="1477328"/>
              </a:xfrm>
              <a:prstGeom prst="rect">
                <a:avLst/>
              </a:prstGeom>
              <a:solidFill>
                <a:srgbClr val="CCFF99"/>
              </a:solidFill>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uz-Cyrl-UZ" dirty="0" smtClean="0"/>
                  <a:t>М</a:t>
                </a:r>
                <a:r>
                  <a:rPr lang="ru-RU" dirty="0"/>
                  <a:t>={73</a:t>
                </a:r>
                <a:r>
                  <a:rPr lang="ru-RU" dirty="0" smtClean="0"/>
                  <a:t>}</a:t>
                </a:r>
                <a:endParaRPr lang="ru-RU" i="1" dirty="0"/>
              </a:p>
              <a:p>
                <a:pPr/>
                <a14:m>
                  <m:oMathPara xmlns:m="http://schemas.openxmlformats.org/officeDocument/2006/math">
                    <m:oMathParaPr>
                      <m:jc m:val="left"/>
                    </m:oMathParaPr>
                    <m:oMath xmlns:m="http://schemas.openxmlformats.org/officeDocument/2006/math">
                      <m:sSub>
                        <m:sSubPr>
                          <m:ctrlPr>
                            <a:rPr lang="ru-RU" i="1">
                              <a:latin typeface="Cambria Math"/>
                            </a:rPr>
                          </m:ctrlPr>
                        </m:sSubPr>
                        <m:e>
                          <m:r>
                            <a:rPr lang="ru-RU" i="1">
                              <a:latin typeface="Cambria Math"/>
                            </a:rPr>
                            <m:t>𝜇</m:t>
                          </m:r>
                        </m:e>
                        <m:sub>
                          <m:r>
                            <a:rPr lang="ru-RU" i="1">
                              <a:latin typeface="Cambria Math"/>
                            </a:rPr>
                            <m:t>𝑠</m:t>
                          </m:r>
                        </m:sub>
                      </m:sSub>
                      <m:r>
                        <a:rPr lang="ru-RU" i="1">
                          <a:latin typeface="Cambria Math"/>
                        </a:rPr>
                        <m:t>=1</m:t>
                      </m:r>
                      <m:r>
                        <a:rPr lang="ru-RU" b="0" i="1" smtClean="0">
                          <a:latin typeface="Cambria Math"/>
                        </a:rPr>
                        <m:t>;  </m:t>
                      </m:r>
                      <m:r>
                        <a:rPr lang="ru-RU" i="1">
                          <a:latin typeface="Cambria Math"/>
                        </a:rPr>
                        <m:t>𝑘</m:t>
                      </m:r>
                      <m:r>
                        <a:rPr lang="ru-RU" i="1">
                          <a:latin typeface="Cambria Math"/>
                        </a:rPr>
                        <m:t>=2</m:t>
                      </m:r>
                    </m:oMath>
                  </m:oMathPara>
                </a14:m>
                <a:endParaRPr lang="ru-RU" dirty="0"/>
              </a:p>
              <a:p>
                <a14:m>
                  <m:oMath xmlns:m="http://schemas.openxmlformats.org/officeDocument/2006/math">
                    <m:r>
                      <a:rPr lang="uz-Cyrl-UZ" i="1">
                        <a:latin typeface="Cambria Math"/>
                      </a:rPr>
                      <m:t>𝜇</m:t>
                    </m:r>
                    <m:r>
                      <a:rPr lang="ru-RU" i="1">
                        <a:latin typeface="Cambria Math"/>
                      </a:rPr>
                      <m:t>=</m:t>
                    </m:r>
                    <m:r>
                      <a:rPr lang="en-US" i="1">
                        <a:latin typeface="Cambria Math"/>
                      </a:rPr>
                      <m:t>𝑙𝑒𝑛</m:t>
                    </m:r>
                    <m:d>
                      <m:dPr>
                        <m:ctrlPr>
                          <a:rPr lang="ru-RU" i="1">
                            <a:latin typeface="Cambria Math"/>
                          </a:rPr>
                        </m:ctrlPr>
                      </m:dPr>
                      <m:e>
                        <m:r>
                          <a:rPr lang="en-US" i="1">
                            <a:latin typeface="Cambria Math"/>
                          </a:rPr>
                          <m:t>𝑀</m:t>
                        </m:r>
                      </m:e>
                    </m:d>
                    <m:r>
                      <a:rPr lang="ru-RU" i="1">
                        <a:latin typeface="Cambria Math"/>
                      </a:rPr>
                      <m:t>=2</m:t>
                    </m:r>
                  </m:oMath>
                </a14:m>
                <a:r>
                  <a:rPr lang="ru-RU" dirty="0" smtClean="0"/>
                  <a:t>1</a:t>
                </a:r>
                <a:endParaRPr lang="ru-RU" dirty="0"/>
              </a:p>
              <a:p>
                <a:r>
                  <a:rPr lang="en-US" dirty="0"/>
                  <a:t>Mg</a:t>
                </a:r>
                <a:r>
                  <a:rPr lang="ru-RU" dirty="0"/>
                  <a:t>=</a:t>
                </a:r>
                <a14:m>
                  <m:oMath xmlns:m="http://schemas.openxmlformats.org/officeDocument/2006/math">
                    <m:r>
                      <a:rPr lang="ru-RU" i="1">
                        <a:latin typeface="Cambria Math"/>
                      </a:rPr>
                      <m:t> </m:t>
                    </m:r>
                    <m:r>
                      <a:rPr lang="en-US" i="1">
                        <a:latin typeface="Cambria Math"/>
                      </a:rPr>
                      <m:t>𝑀</m:t>
                    </m:r>
                  </m:oMath>
                </a14:m>
                <a:r>
                  <a:rPr lang="ru-RU" dirty="0"/>
                  <a:t>={</a:t>
                </a:r>
                <a:r>
                  <a:rPr lang="ru-RU" dirty="0" smtClean="0"/>
                  <a:t>73}</a:t>
                </a:r>
              </a:p>
              <a:p>
                <a:pPr/>
                <a14:m>
                  <m:oMathPara xmlns:m="http://schemas.openxmlformats.org/officeDocument/2006/math">
                    <m:oMathParaPr>
                      <m:jc m:val="left"/>
                    </m:oMathParaPr>
                    <m:oMath xmlns:m="http://schemas.openxmlformats.org/officeDocument/2006/math">
                      <m:r>
                        <a:rPr lang="uz-Cyrl-UZ" i="1">
                          <a:latin typeface="Cambria Math"/>
                        </a:rPr>
                        <m:t>𝑏</m:t>
                      </m:r>
                      <m:r>
                        <a:rPr lang="uz-Cyrl-UZ" i="1">
                          <a:latin typeface="Cambria Math"/>
                        </a:rPr>
                        <m:t>=</m:t>
                      </m:r>
                      <m:sSub>
                        <m:sSubPr>
                          <m:ctrlPr>
                            <a:rPr lang="ru-RU" i="1">
                              <a:latin typeface="Cambria Math"/>
                            </a:rPr>
                          </m:ctrlPr>
                        </m:sSubPr>
                        <m:e>
                          <m:r>
                            <a:rPr lang="uz-Cyrl-UZ" i="1">
                              <a:latin typeface="Cambria Math"/>
                            </a:rPr>
                            <m:t>01001001</m:t>
                          </m:r>
                        </m:e>
                        <m:sub>
                          <m:r>
                            <a:rPr lang="uz-Cyrl-UZ" i="1" smtClean="0">
                              <a:latin typeface="Cambria Math"/>
                            </a:rPr>
                            <m:t>2</m:t>
                          </m:r>
                        </m:sub>
                      </m:sSub>
                    </m:oMath>
                  </m:oMathPara>
                </a14:m>
                <a:endParaRPr lang="ru-RU" dirty="0"/>
              </a:p>
            </p:txBody>
          </p:sp>
        </mc:Choice>
        <mc:Fallback xmlns="">
          <p:sp>
            <p:nvSpPr>
              <p:cNvPr id="11" name="TextBox 10"/>
              <p:cNvSpPr txBox="1">
                <a:spLocks noRot="1" noChangeAspect="1" noMove="1" noResize="1" noEditPoints="1" noAdjustHandles="1" noChangeArrowheads="1" noChangeShapeType="1" noTextEdit="1"/>
              </p:cNvSpPr>
              <p:nvPr/>
            </p:nvSpPr>
            <p:spPr>
              <a:xfrm>
                <a:off x="5397079" y="1181827"/>
                <a:ext cx="3423393" cy="1477328"/>
              </a:xfrm>
              <a:prstGeom prst="rect">
                <a:avLst/>
              </a:prstGeom>
              <a:blipFill rotWithShape="1">
                <a:blip r:embed="rId4"/>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2" name="Прямоугольник 11"/>
              <p:cNvSpPr/>
              <p:nvPr/>
            </p:nvSpPr>
            <p:spPr>
              <a:xfrm>
                <a:off x="477712" y="3760831"/>
                <a:ext cx="2789546" cy="8832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uz-Cyrl-UZ" i="1" smtClean="0">
                          <a:latin typeface="Cambria Math"/>
                        </a:rPr>
                        <m:t>𝑠𝑡𝑒𝑝</m:t>
                      </m:r>
                      <m:d>
                        <m:dPr>
                          <m:ctrlPr>
                            <a:rPr lang="ru-RU" i="1">
                              <a:latin typeface="Cambria Math"/>
                            </a:rPr>
                          </m:ctrlPr>
                        </m:dPr>
                        <m:e>
                          <m:r>
                            <a:rPr lang="ru-RU" b="0" i="1" smtClean="0">
                              <a:latin typeface="Cambria Math"/>
                            </a:rPr>
                            <m:t>  </m:t>
                          </m:r>
                          <m:r>
                            <a:rPr lang="en-US" b="0" i="1" smtClean="0">
                              <a:latin typeface="Cambria Math"/>
                            </a:rPr>
                            <m:t>   </m:t>
                          </m:r>
                          <m:r>
                            <a:rPr lang="ru-RU" b="0" i="1" smtClean="0">
                              <a:latin typeface="Cambria Math"/>
                            </a:rPr>
                            <m:t> </m:t>
                          </m:r>
                        </m:e>
                      </m:d>
                      <m:r>
                        <a:rPr lang="uz-Cyrl-UZ" i="1">
                          <a:latin typeface="Cambria Math"/>
                        </a:rPr>
                        <m:t>=</m:t>
                      </m:r>
                      <m:r>
                        <a:rPr lang="en-US" b="0" i="1" smtClean="0">
                          <a:latin typeface="Cambria Math"/>
                        </a:rPr>
                        <m:t>𝑧</m:t>
                      </m:r>
                      <m:r>
                        <a:rPr lang="en-US" b="0" i="1" smtClean="0">
                          <a:latin typeface="Cambria Math"/>
                        </a:rPr>
                        <m:t>+</m:t>
                      </m:r>
                      <m:r>
                        <a:rPr lang="uz-Cyrl-UZ" i="1" smtClean="0">
                          <a:latin typeface="Cambria Math"/>
                        </a:rPr>
                        <m:t>𝐾</m:t>
                      </m:r>
                      <m:nary>
                        <m:naryPr>
                          <m:chr m:val="∑"/>
                          <m:ctrlPr>
                            <a:rPr lang="ru-RU" i="1">
                              <a:latin typeface="Cambria Math"/>
                            </a:rPr>
                          </m:ctrlPr>
                        </m:naryPr>
                        <m:sub>
                          <m:r>
                            <a:rPr lang="uz-Cyrl-UZ" i="1">
                              <a:latin typeface="Cambria Math"/>
                            </a:rPr>
                            <m:t>𝑖</m:t>
                          </m:r>
                          <m:r>
                            <a:rPr lang="pt-BR" i="1">
                              <a:latin typeface="Cambria Math"/>
                            </a:rPr>
                            <m:t>=0</m:t>
                          </m:r>
                        </m:sub>
                        <m:sup>
                          <m:r>
                            <a:rPr lang="pt-BR" i="1">
                              <a:latin typeface="Cambria Math"/>
                            </a:rPr>
                            <m:t>𝑙𝑒𝑛</m:t>
                          </m:r>
                          <m:r>
                            <a:rPr lang="pt-BR" i="1">
                              <a:latin typeface="Cambria Math"/>
                            </a:rPr>
                            <m:t>(</m:t>
                          </m:r>
                          <m:r>
                            <a:rPr lang="pt-BR" i="1">
                              <a:latin typeface="Cambria Math"/>
                            </a:rPr>
                            <m:t>𝑥</m:t>
                          </m:r>
                          <m:r>
                            <a:rPr lang="pt-BR" i="1">
                              <a:latin typeface="Cambria Math"/>
                            </a:rPr>
                            <m:t>)</m:t>
                          </m:r>
                        </m:sup>
                        <m:e/>
                      </m:nary>
                    </m:oMath>
                  </m:oMathPara>
                </a14:m>
                <a:endParaRPr lang="ru-RU" dirty="0"/>
              </a:p>
            </p:txBody>
          </p:sp>
        </mc:Choice>
        <mc:Fallback xmlns="">
          <p:sp>
            <p:nvSpPr>
              <p:cNvPr id="12" name="Прямоугольник 11"/>
              <p:cNvSpPr>
                <a:spLocks noRot="1" noChangeAspect="1" noMove="1" noResize="1" noEditPoints="1" noAdjustHandles="1" noChangeArrowheads="1" noChangeShapeType="1" noTextEdit="1"/>
              </p:cNvSpPr>
              <p:nvPr/>
            </p:nvSpPr>
            <p:spPr>
              <a:xfrm>
                <a:off x="477712" y="3760831"/>
                <a:ext cx="2789546" cy="883255"/>
              </a:xfrm>
              <a:prstGeom prst="rect">
                <a:avLst/>
              </a:prstGeom>
              <a:blipFill rotWithShape="1">
                <a:blip r:embed="rId5"/>
                <a:stretch>
                  <a:fillRect/>
                </a:stretch>
              </a:blipFill>
            </p:spPr>
            <p:txBody>
              <a:bodyPr/>
              <a:lstStyle/>
              <a:p>
                <a:r>
                  <a:rPr lang="ru-RU">
                    <a:noFill/>
                  </a:rPr>
                  <a:t> </a:t>
                </a:r>
              </a:p>
            </p:txBody>
          </p:sp>
        </mc:Fallback>
      </mc:AlternateContent>
      <p:sp>
        <p:nvSpPr>
          <p:cNvPr id="13" name="TextBox 12"/>
          <p:cNvSpPr txBox="1"/>
          <p:nvPr/>
        </p:nvSpPr>
        <p:spPr>
          <a:xfrm>
            <a:off x="4941504" y="2831633"/>
            <a:ext cx="487381" cy="369332"/>
          </a:xfrm>
          <a:prstGeom prst="rect">
            <a:avLst/>
          </a:prstGeom>
          <a:noFill/>
        </p:spPr>
        <p:txBody>
          <a:bodyPr wrap="square" rtlCol="0">
            <a:spAutoFit/>
          </a:bodyPr>
          <a:lstStyle/>
          <a:p>
            <a:r>
              <a:rPr lang="en-US" dirty="0" smtClean="0"/>
              <a:t>Z</a:t>
            </a:r>
            <a:r>
              <a:rPr lang="ru-RU" dirty="0" smtClean="0"/>
              <a:t>=</a:t>
            </a:r>
            <a:endParaRPr lang="ru-RU" dirty="0"/>
          </a:p>
        </p:txBody>
      </p:sp>
      <mc:AlternateContent xmlns:mc="http://schemas.openxmlformats.org/markup-compatibility/2006" xmlns:a14="http://schemas.microsoft.com/office/drawing/2010/main">
        <mc:Choice Requires="a14">
          <p:sp>
            <p:nvSpPr>
              <p:cNvPr id="16" name="Прямоугольник 15"/>
              <p:cNvSpPr/>
              <p:nvPr/>
            </p:nvSpPr>
            <p:spPr>
              <a:xfrm>
                <a:off x="518171" y="2818229"/>
                <a:ext cx="2593723" cy="8832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uz-Cyrl-UZ" i="1" smtClean="0">
                          <a:latin typeface="Cambria Math"/>
                        </a:rPr>
                        <m:t>𝑠𝑡𝑒𝑝</m:t>
                      </m:r>
                      <m:d>
                        <m:dPr>
                          <m:ctrlPr>
                            <a:rPr lang="ru-RU" i="1">
                              <a:latin typeface="Cambria Math"/>
                            </a:rPr>
                          </m:ctrlPr>
                        </m:dPr>
                        <m:e>
                          <m:r>
                            <a:rPr lang="uz-Cyrl-UZ" i="1">
                              <a:latin typeface="Cambria Math"/>
                            </a:rPr>
                            <m:t>𝑥</m:t>
                          </m:r>
                        </m:e>
                      </m:d>
                      <m:r>
                        <a:rPr lang="uz-Cyrl-UZ" i="1">
                          <a:latin typeface="Cambria Math"/>
                        </a:rPr>
                        <m:t>=</m:t>
                      </m:r>
                      <m:r>
                        <a:rPr lang="en-US" b="0" i="1" smtClean="0">
                          <a:latin typeface="Cambria Math"/>
                        </a:rPr>
                        <m:t>𝑥</m:t>
                      </m:r>
                      <m:r>
                        <a:rPr lang="en-US" b="0" i="1" smtClean="0">
                          <a:latin typeface="Cambria Math"/>
                        </a:rPr>
                        <m:t>+</m:t>
                      </m:r>
                      <m:r>
                        <a:rPr lang="uz-Cyrl-UZ" i="1">
                          <a:latin typeface="Cambria Math"/>
                        </a:rPr>
                        <m:t>𝐾</m:t>
                      </m:r>
                      <m:nary>
                        <m:naryPr>
                          <m:chr m:val="∑"/>
                          <m:ctrlPr>
                            <a:rPr lang="ru-RU" i="1">
                              <a:latin typeface="Cambria Math"/>
                            </a:rPr>
                          </m:ctrlPr>
                        </m:naryPr>
                        <m:sub>
                          <m:r>
                            <a:rPr lang="uz-Cyrl-UZ" i="1">
                              <a:latin typeface="Cambria Math"/>
                            </a:rPr>
                            <m:t>𝑖</m:t>
                          </m:r>
                          <m:r>
                            <a:rPr lang="pt-BR" i="1">
                              <a:latin typeface="Cambria Math"/>
                            </a:rPr>
                            <m:t>=0</m:t>
                          </m:r>
                        </m:sub>
                        <m:sup>
                          <m:r>
                            <a:rPr lang="pt-BR" i="1">
                              <a:latin typeface="Cambria Math"/>
                            </a:rPr>
                            <m:t>𝑙𝑒𝑛</m:t>
                          </m:r>
                          <m:r>
                            <a:rPr lang="pt-BR" i="1">
                              <a:latin typeface="Cambria Math"/>
                            </a:rPr>
                            <m:t>(</m:t>
                          </m:r>
                          <m:r>
                            <a:rPr lang="pt-BR" i="1">
                              <a:latin typeface="Cambria Math"/>
                            </a:rPr>
                            <m:t>𝑥</m:t>
                          </m:r>
                          <m:r>
                            <a:rPr lang="pt-BR" i="1">
                              <a:latin typeface="Cambria Math"/>
                            </a:rPr>
                            <m:t>)</m:t>
                          </m:r>
                        </m:sup>
                        <m:e>
                          <m:sSub>
                            <m:sSubPr>
                              <m:ctrlPr>
                                <a:rPr lang="ru-RU" i="1">
                                  <a:latin typeface="Cambria Math"/>
                                </a:rPr>
                              </m:ctrlPr>
                            </m:sSubPr>
                            <m:e>
                              <m:r>
                                <a:rPr lang="uz-Cyrl-UZ" i="1">
                                  <a:latin typeface="Cambria Math"/>
                                </a:rPr>
                                <m:t>𝑥</m:t>
                              </m:r>
                            </m:e>
                            <m:sub>
                              <m:r>
                                <a:rPr lang="uz-Cyrl-UZ" i="1">
                                  <a:latin typeface="Cambria Math"/>
                                </a:rPr>
                                <m:t>𝑖</m:t>
                              </m:r>
                            </m:sub>
                          </m:sSub>
                        </m:e>
                      </m:nary>
                    </m:oMath>
                  </m:oMathPara>
                </a14:m>
                <a:endParaRPr lang="ru-RU" dirty="0"/>
              </a:p>
            </p:txBody>
          </p:sp>
        </mc:Choice>
        <mc:Fallback xmlns="">
          <p:sp>
            <p:nvSpPr>
              <p:cNvPr id="16" name="Прямоугольник 15"/>
              <p:cNvSpPr>
                <a:spLocks noRot="1" noChangeAspect="1" noMove="1" noResize="1" noEditPoints="1" noAdjustHandles="1" noChangeArrowheads="1" noChangeShapeType="1" noTextEdit="1"/>
              </p:cNvSpPr>
              <p:nvPr/>
            </p:nvSpPr>
            <p:spPr>
              <a:xfrm>
                <a:off x="518171" y="2818229"/>
                <a:ext cx="2593723" cy="883255"/>
              </a:xfrm>
              <a:prstGeom prst="rect">
                <a:avLst/>
              </a:prstGeom>
              <a:blipFill rotWithShape="1">
                <a:blip r:embed="rId6"/>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149793" y="4068022"/>
                <a:ext cx="288032"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ru-RU" sz="1600" i="1">
                          <a:latin typeface="Cambria Math"/>
                        </a:rPr>
                        <m:t>1</m:t>
                      </m:r>
                    </m:oMath>
                  </m:oMathPara>
                </a14:m>
                <a:endParaRPr lang="ru-RU" sz="1600" i="1" dirty="0"/>
              </a:p>
            </p:txBody>
          </p:sp>
        </mc:Choice>
        <mc:Fallback xmlns="">
          <p:sp>
            <p:nvSpPr>
              <p:cNvPr id="18" name="TextBox 17"/>
              <p:cNvSpPr txBox="1">
                <a:spLocks noRot="1" noChangeAspect="1" noMove="1" noResize="1" noEditPoints="1" noAdjustHandles="1" noChangeArrowheads="1" noChangeShapeType="1" noTextEdit="1"/>
              </p:cNvSpPr>
              <p:nvPr/>
            </p:nvSpPr>
            <p:spPr>
              <a:xfrm>
                <a:off x="1149793" y="4068022"/>
                <a:ext cx="288032" cy="338554"/>
              </a:xfrm>
              <a:prstGeom prst="rect">
                <a:avLst/>
              </a:prstGeom>
              <a:blipFill rotWithShape="1">
                <a:blip r:embed="rId7"/>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2733968" y="4033181"/>
                <a:ext cx="2134457" cy="338554"/>
              </a:xfrm>
              <a:prstGeom prst="rect">
                <a:avLst/>
              </a:prstGeom>
              <a:noFill/>
            </p:spPr>
            <p:txBody>
              <a:bodyPr wrap="square" rtlCol="0">
                <a:spAutoFit/>
              </a:bodyPr>
              <a:lstStyle/>
              <a:p>
                <a14:m>
                  <m:oMath xmlns:m="http://schemas.openxmlformats.org/officeDocument/2006/math">
                    <m:r>
                      <a:rPr lang="en-US" sz="1600" b="0" i="1" smtClean="0">
                        <a:latin typeface="Cambria Math"/>
                      </a:rPr>
                      <m:t>0000000</m:t>
                    </m:r>
                    <m:r>
                      <a:rPr lang="ru-RU" sz="1600" i="1">
                        <a:latin typeface="Cambria Math"/>
                      </a:rPr>
                      <m:t>1</m:t>
                    </m:r>
                    <m:r>
                      <a:rPr lang="en-US" sz="1600" b="0" i="1" smtClean="0">
                        <a:latin typeface="Cambria Math"/>
                      </a:rPr>
                      <m:t>=</m:t>
                    </m:r>
                  </m:oMath>
                </a14:m>
                <a:r>
                  <a:rPr lang="en-US" sz="1600" i="1" dirty="0" smtClean="0"/>
                  <a:t>1+2*1=3</a:t>
                </a:r>
                <a:endParaRPr lang="ru-RU" sz="1600" i="1" dirty="0"/>
              </a:p>
            </p:txBody>
          </p:sp>
        </mc:Choice>
        <mc:Fallback xmlns="">
          <p:sp>
            <p:nvSpPr>
              <p:cNvPr id="19" name="TextBox 18"/>
              <p:cNvSpPr txBox="1">
                <a:spLocks noRot="1" noChangeAspect="1" noMove="1" noResize="1" noEditPoints="1" noAdjustHandles="1" noChangeArrowheads="1" noChangeShapeType="1" noTextEdit="1"/>
              </p:cNvSpPr>
              <p:nvPr/>
            </p:nvSpPr>
            <p:spPr>
              <a:xfrm>
                <a:off x="2733968" y="4033181"/>
                <a:ext cx="2134457" cy="338554"/>
              </a:xfrm>
              <a:prstGeom prst="rect">
                <a:avLst/>
              </a:prstGeom>
              <a:blipFill rotWithShape="1">
                <a:blip r:embed="rId8"/>
                <a:stretch>
                  <a:fillRect t="-5455" b="-23636"/>
                </a:stretch>
              </a:blipFill>
            </p:spPr>
            <p:txBody>
              <a:bodyPr/>
              <a:lstStyle/>
              <a:p>
                <a:r>
                  <a:rPr lang="ru-RU">
                    <a:noFill/>
                  </a:rPr>
                  <a:t> </a:t>
                </a:r>
              </a:p>
            </p:txBody>
          </p:sp>
        </mc:Fallback>
      </mc:AlternateContent>
      <p:sp>
        <p:nvSpPr>
          <p:cNvPr id="21" name="Прямоугольник 20"/>
          <p:cNvSpPr/>
          <p:nvPr/>
        </p:nvSpPr>
        <p:spPr>
          <a:xfrm>
            <a:off x="5397079" y="2831633"/>
            <a:ext cx="3423393" cy="2249547"/>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TextBox 21"/>
          <p:cNvSpPr txBox="1"/>
          <p:nvPr/>
        </p:nvSpPr>
        <p:spPr>
          <a:xfrm>
            <a:off x="5494136" y="2854514"/>
            <a:ext cx="3199979" cy="353943"/>
          </a:xfrm>
          <a:prstGeom prst="rect">
            <a:avLst/>
          </a:prstGeom>
          <a:noFill/>
        </p:spPr>
        <p:txBody>
          <a:bodyPr wrap="square" rtlCol="0">
            <a:spAutoFit/>
          </a:bodyPr>
          <a:lstStyle/>
          <a:p>
            <a:r>
              <a:rPr lang="en-US" sz="1700" dirty="0" smtClean="0"/>
              <a:t>69=01000101&lt;=0=01000100=68</a:t>
            </a:r>
            <a:endParaRPr lang="ru-RU" sz="1700" dirty="0"/>
          </a:p>
        </p:txBody>
      </p:sp>
      <mc:AlternateContent xmlns:mc="http://schemas.openxmlformats.org/markup-compatibility/2006" xmlns:a14="http://schemas.microsoft.com/office/drawing/2010/main">
        <mc:Choice Requires="a14">
          <p:sp>
            <p:nvSpPr>
              <p:cNvPr id="23" name="TextBox 22"/>
              <p:cNvSpPr txBox="1"/>
              <p:nvPr/>
            </p:nvSpPr>
            <p:spPr>
              <a:xfrm>
                <a:off x="1115616" y="4065783"/>
                <a:ext cx="288032"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a:rPr>
                        <m:t>13</m:t>
                      </m:r>
                    </m:oMath>
                  </m:oMathPara>
                </a14:m>
                <a:endParaRPr lang="ru-RU" sz="1600" i="1" dirty="0"/>
              </a:p>
            </p:txBody>
          </p:sp>
        </mc:Choice>
        <mc:Fallback xmlns="">
          <p:sp>
            <p:nvSpPr>
              <p:cNvPr id="23" name="TextBox 22"/>
              <p:cNvSpPr txBox="1">
                <a:spLocks noRot="1" noChangeAspect="1" noMove="1" noResize="1" noEditPoints="1" noAdjustHandles="1" noChangeArrowheads="1" noChangeShapeType="1" noTextEdit="1"/>
              </p:cNvSpPr>
              <p:nvPr/>
            </p:nvSpPr>
            <p:spPr>
              <a:xfrm>
                <a:off x="1115616" y="4065783"/>
                <a:ext cx="288032" cy="338554"/>
              </a:xfrm>
              <a:prstGeom prst="rect">
                <a:avLst/>
              </a:prstGeom>
              <a:blipFill rotWithShape="1">
                <a:blip r:embed="rId9"/>
                <a:stretch>
                  <a:fillRect r="-34043"/>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2822146" y="4034092"/>
                <a:ext cx="2376435" cy="338554"/>
              </a:xfrm>
              <a:prstGeom prst="rect">
                <a:avLst/>
              </a:prstGeom>
              <a:noFill/>
            </p:spPr>
            <p:txBody>
              <a:bodyPr wrap="square" rtlCol="0">
                <a:spAutoFit/>
              </a:bodyPr>
              <a:lstStyle/>
              <a:p>
                <a14:m>
                  <m:oMath xmlns:m="http://schemas.openxmlformats.org/officeDocument/2006/math">
                    <m:r>
                      <a:rPr lang="en-US" sz="1600" b="0" i="1" smtClean="0">
                        <a:latin typeface="Cambria Math"/>
                      </a:rPr>
                      <m:t>0000000</m:t>
                    </m:r>
                    <m:r>
                      <a:rPr lang="ru-RU" sz="1600" i="1">
                        <a:latin typeface="Cambria Math"/>
                      </a:rPr>
                      <m:t>1</m:t>
                    </m:r>
                    <m:r>
                      <a:rPr lang="en-US" sz="1600" b="0" i="1" smtClean="0">
                        <a:latin typeface="Cambria Math"/>
                      </a:rPr>
                      <m:t>00000011=</m:t>
                    </m:r>
                  </m:oMath>
                </a14:m>
                <a:r>
                  <a:rPr lang="en-US" sz="1600" i="1" dirty="0" smtClean="0"/>
                  <a:t>7</a:t>
                </a:r>
                <a:endParaRPr lang="ru-RU" sz="1600" i="1" dirty="0"/>
              </a:p>
            </p:txBody>
          </p:sp>
        </mc:Choice>
        <mc:Fallback xmlns="">
          <p:sp>
            <p:nvSpPr>
              <p:cNvPr id="24" name="TextBox 23"/>
              <p:cNvSpPr txBox="1">
                <a:spLocks noRot="1" noChangeAspect="1" noMove="1" noResize="1" noEditPoints="1" noAdjustHandles="1" noChangeArrowheads="1" noChangeShapeType="1" noTextEdit="1"/>
              </p:cNvSpPr>
              <p:nvPr/>
            </p:nvSpPr>
            <p:spPr>
              <a:xfrm>
                <a:off x="2822146" y="4034092"/>
                <a:ext cx="2376435" cy="338554"/>
              </a:xfrm>
              <a:prstGeom prst="rect">
                <a:avLst/>
              </a:prstGeom>
              <a:blipFill rotWithShape="1">
                <a:blip r:embed="rId10"/>
                <a:stretch>
                  <a:fillRect t="-5455" b="-23636"/>
                </a:stretch>
              </a:blipFill>
            </p:spPr>
            <p:txBody>
              <a:bodyPr/>
              <a:lstStyle/>
              <a:p>
                <a:r>
                  <a:rPr lang="ru-RU">
                    <a:noFill/>
                  </a:rPr>
                  <a:t> </a:t>
                </a:r>
              </a:p>
            </p:txBody>
          </p:sp>
        </mc:Fallback>
      </mc:AlternateContent>
      <p:sp>
        <p:nvSpPr>
          <p:cNvPr id="25" name="TextBox 24"/>
          <p:cNvSpPr txBox="1"/>
          <p:nvPr/>
        </p:nvSpPr>
        <p:spPr>
          <a:xfrm>
            <a:off x="5494136" y="3223846"/>
            <a:ext cx="3199979" cy="353943"/>
          </a:xfrm>
          <a:prstGeom prst="rect">
            <a:avLst/>
          </a:prstGeom>
          <a:noFill/>
        </p:spPr>
        <p:txBody>
          <a:bodyPr wrap="square" rtlCol="0">
            <a:spAutoFit/>
          </a:bodyPr>
          <a:lstStyle/>
          <a:p>
            <a:r>
              <a:rPr lang="en-US" sz="1700" dirty="0" smtClean="0"/>
              <a:t>73=01001001&lt;=1=01001001=73</a:t>
            </a:r>
            <a:endParaRPr lang="ru-RU" sz="1700" dirty="0"/>
          </a:p>
        </p:txBody>
      </p:sp>
      <p:sp>
        <p:nvSpPr>
          <p:cNvPr id="4" name="Прямоугольник 3"/>
          <p:cNvSpPr/>
          <p:nvPr/>
        </p:nvSpPr>
        <p:spPr>
          <a:xfrm>
            <a:off x="1042895" y="1124744"/>
            <a:ext cx="3825530" cy="146355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ru-RU" sz="1600" dirty="0" smtClean="0"/>
              <a:t>66  </a:t>
            </a:r>
            <a:r>
              <a:rPr lang="en-US" sz="1600" dirty="0" smtClean="0"/>
              <a:t>67   </a:t>
            </a:r>
            <a:r>
              <a:rPr lang="en-US" sz="1600" dirty="0"/>
              <a:t>68   </a:t>
            </a:r>
            <a:r>
              <a:rPr lang="en-US" sz="1600" b="1" dirty="0"/>
              <a:t>68</a:t>
            </a:r>
            <a:r>
              <a:rPr lang="en-US" sz="1600" dirty="0"/>
              <a:t>  </a:t>
            </a:r>
            <a:r>
              <a:rPr lang="ru-RU" sz="1600" dirty="0" smtClean="0"/>
              <a:t> </a:t>
            </a:r>
            <a:r>
              <a:rPr lang="en-US" sz="1600" dirty="0" smtClean="0"/>
              <a:t> </a:t>
            </a:r>
            <a:r>
              <a:rPr lang="en-US" sz="1600" dirty="0"/>
              <a:t>70   71   72   </a:t>
            </a:r>
            <a:r>
              <a:rPr lang="en-US" sz="1600" b="1" dirty="0"/>
              <a:t>73</a:t>
            </a:r>
            <a:r>
              <a:rPr lang="en-US" sz="1600" dirty="0"/>
              <a:t>    74    75   </a:t>
            </a:r>
            <a:r>
              <a:rPr lang="en-US" sz="1600" dirty="0" smtClean="0"/>
              <a:t> 76</a:t>
            </a:r>
            <a:r>
              <a:rPr lang="ru-RU" sz="1600" dirty="0" smtClean="0"/>
              <a:t>  </a:t>
            </a:r>
            <a:r>
              <a:rPr lang="en-US" sz="1600" dirty="0" smtClean="0"/>
              <a:t>77   </a:t>
            </a:r>
            <a:r>
              <a:rPr lang="en-US" sz="1600" dirty="0"/>
              <a:t>78   </a:t>
            </a:r>
            <a:r>
              <a:rPr lang="en-US" sz="1600" b="1" dirty="0"/>
              <a:t>78</a:t>
            </a:r>
            <a:r>
              <a:rPr lang="en-US" sz="1600" dirty="0"/>
              <a:t>   80   81   82   83   84    </a:t>
            </a:r>
            <a:r>
              <a:rPr lang="en-US" sz="1600" b="1" dirty="0"/>
              <a:t>84</a:t>
            </a:r>
            <a:r>
              <a:rPr lang="en-US" sz="1600" dirty="0"/>
              <a:t> </a:t>
            </a:r>
            <a:endParaRPr lang="ru-RU" sz="1600" dirty="0" smtClean="0"/>
          </a:p>
          <a:p>
            <a:pPr algn="ctr"/>
            <a:r>
              <a:rPr lang="en-US" sz="1600" dirty="0" smtClean="0"/>
              <a:t>86   87</a:t>
            </a:r>
            <a:r>
              <a:rPr lang="ru-RU" sz="1600" dirty="0" smtClean="0"/>
              <a:t>   </a:t>
            </a:r>
            <a:r>
              <a:rPr lang="en-US" sz="1600" dirty="0" smtClean="0"/>
              <a:t>88   </a:t>
            </a:r>
            <a:r>
              <a:rPr lang="en-US" sz="1600" dirty="0"/>
              <a:t>89   90   </a:t>
            </a:r>
            <a:r>
              <a:rPr lang="en-US" sz="1600" b="1" dirty="0"/>
              <a:t>91</a:t>
            </a:r>
            <a:r>
              <a:rPr lang="en-US" sz="1600" dirty="0"/>
              <a:t>   92   93   94   95    96    </a:t>
            </a:r>
            <a:r>
              <a:rPr lang="en-US" sz="1600" b="1" dirty="0"/>
              <a:t>96</a:t>
            </a:r>
            <a:r>
              <a:rPr lang="en-US" sz="1600" dirty="0"/>
              <a:t>   </a:t>
            </a:r>
            <a:r>
              <a:rPr lang="en-US" sz="1600" dirty="0" smtClean="0"/>
              <a:t>98</a:t>
            </a:r>
            <a:r>
              <a:rPr lang="ru-RU" sz="1600" dirty="0" smtClean="0"/>
              <a:t>  </a:t>
            </a:r>
            <a:r>
              <a:rPr lang="en-US" sz="1600" dirty="0" smtClean="0"/>
              <a:t>99 </a:t>
            </a:r>
            <a:r>
              <a:rPr lang="ru-RU" sz="1600" dirty="0" smtClean="0"/>
              <a:t> </a:t>
            </a:r>
            <a:r>
              <a:rPr lang="en-US" sz="1600" dirty="0" smtClean="0"/>
              <a:t>100 </a:t>
            </a:r>
            <a:r>
              <a:rPr lang="ru-RU" sz="1600" dirty="0" smtClean="0"/>
              <a:t> </a:t>
            </a:r>
            <a:r>
              <a:rPr lang="en-US" sz="1600" dirty="0" smtClean="0"/>
              <a:t>101 </a:t>
            </a:r>
            <a:r>
              <a:rPr lang="en-US" sz="1600" dirty="0"/>
              <a:t>102 103 104 105 106 </a:t>
            </a:r>
            <a:r>
              <a:rPr lang="ru-RU" sz="1600" dirty="0" smtClean="0"/>
              <a:t> </a:t>
            </a:r>
            <a:r>
              <a:rPr lang="en-US" sz="1600" b="1" dirty="0" smtClean="0"/>
              <a:t>106</a:t>
            </a:r>
            <a:r>
              <a:rPr lang="en-US" sz="1600" dirty="0" smtClean="0"/>
              <a:t> </a:t>
            </a:r>
            <a:r>
              <a:rPr lang="en-US" sz="1600" dirty="0"/>
              <a:t>108 </a:t>
            </a:r>
            <a:r>
              <a:rPr lang="en-US" sz="1600" dirty="0" smtClean="0"/>
              <a:t>109</a:t>
            </a:r>
            <a:r>
              <a:rPr lang="ru-RU" sz="1600" dirty="0" smtClean="0"/>
              <a:t> </a:t>
            </a:r>
            <a:r>
              <a:rPr lang="en-US" sz="1600" dirty="0" smtClean="0"/>
              <a:t>110 </a:t>
            </a:r>
            <a:r>
              <a:rPr lang="en-US" sz="1600" dirty="0"/>
              <a:t>111 112</a:t>
            </a:r>
            <a:r>
              <a:rPr lang="en-US" sz="1600" b="1" dirty="0"/>
              <a:t> </a:t>
            </a:r>
            <a:r>
              <a:rPr lang="ru-RU" sz="1600" b="1" dirty="0" smtClean="0"/>
              <a:t> </a:t>
            </a:r>
            <a:r>
              <a:rPr lang="en-US" sz="1600" b="1" dirty="0" smtClean="0"/>
              <a:t>113</a:t>
            </a:r>
            <a:r>
              <a:rPr lang="en-US" sz="1600" dirty="0" smtClean="0"/>
              <a:t> 114 115</a:t>
            </a:r>
            <a:endParaRPr lang="ru-RU" sz="1600" dirty="0"/>
          </a:p>
        </p:txBody>
      </p:sp>
      <p:sp>
        <p:nvSpPr>
          <p:cNvPr id="8" name="TextBox 7"/>
          <p:cNvSpPr txBox="1"/>
          <p:nvPr/>
        </p:nvSpPr>
        <p:spPr>
          <a:xfrm>
            <a:off x="518171" y="1780322"/>
            <a:ext cx="471603" cy="369332"/>
          </a:xfrm>
          <a:prstGeom prst="rect">
            <a:avLst/>
          </a:prstGeom>
          <a:noFill/>
        </p:spPr>
        <p:txBody>
          <a:bodyPr wrap="square" rtlCol="0">
            <a:spAutoFit/>
          </a:bodyPr>
          <a:lstStyle/>
          <a:p>
            <a:r>
              <a:rPr lang="en-US" dirty="0" smtClean="0"/>
              <a:t>S=</a:t>
            </a:r>
            <a:endParaRPr lang="ru-RU" dirty="0"/>
          </a:p>
        </p:txBody>
      </p:sp>
      <p:sp>
        <p:nvSpPr>
          <p:cNvPr id="9" name="Скругленная прямоугольная выноска 8"/>
          <p:cNvSpPr/>
          <p:nvPr/>
        </p:nvSpPr>
        <p:spPr>
          <a:xfrm>
            <a:off x="1754642" y="4203369"/>
            <a:ext cx="2664296" cy="1159479"/>
          </a:xfrm>
          <a:prstGeom prst="wedgeRoundRectCallout">
            <a:avLst>
              <a:gd name="adj1" fmla="val -12976"/>
              <a:gd name="adj2" fmla="val -104325"/>
              <a:gd name="adj3" fmla="val 16667"/>
            </a:avLst>
          </a:prstGeom>
          <a:gradFill>
            <a:gsLst>
              <a:gs pos="0">
                <a:schemeClr val="accent1">
                  <a:tint val="37000"/>
                  <a:hueMod val="100000"/>
                  <a:satMod val="200000"/>
                  <a:lumMod val="88000"/>
                </a:schemeClr>
              </a:gs>
              <a:gs pos="100000">
                <a:schemeClr val="accent6">
                  <a:lumMod val="20000"/>
                  <a:lumOff val="80000"/>
                </a:schemeClr>
              </a:gs>
            </a:gsLst>
          </a:gradFill>
        </p:spPr>
        <p:style>
          <a:lnRef idx="1">
            <a:schemeClr val="accent1"/>
          </a:lnRef>
          <a:fillRef idx="2">
            <a:schemeClr val="accent1"/>
          </a:fillRef>
          <a:effectRef idx="1">
            <a:schemeClr val="accent1"/>
          </a:effectRef>
          <a:fontRef idx="minor">
            <a:schemeClr val="dk1"/>
          </a:fontRef>
        </p:style>
        <p:txBody>
          <a:bodyPr rtlCol="0" anchor="ctr"/>
          <a:lstStyle/>
          <a:p>
            <a:pPr algn="ctr"/>
            <a:r>
              <a:rPr lang="uz-Cyrl-UZ" dirty="0" smtClean="0"/>
              <a:t>Кирувчи байтнинг битлар қаторида учрайдиган “1” лар сони</a:t>
            </a:r>
            <a:endParaRPr lang="ru-RU" dirty="0"/>
          </a:p>
        </p:txBody>
      </p:sp>
    </p:spTree>
    <p:extLst>
      <p:ext uri="{BB962C8B-B14F-4D97-AF65-F5344CB8AC3E}">
        <p14:creationId xmlns:p14="http://schemas.microsoft.com/office/powerpoint/2010/main" val="308941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par>
                          <p:cTn id="27" fill="hold">
                            <p:stCondLst>
                              <p:cond delay="2500"/>
                            </p:stCondLst>
                            <p:childTnLst>
                              <p:par>
                                <p:cTn id="28" presetID="1"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9"/>
                                        </p:tgtEl>
                                      </p:cBhvr>
                                    </p:animEffect>
                                    <p:set>
                                      <p:cBhvr>
                                        <p:cTn id="34" dur="1" fill="hold">
                                          <p:stCondLst>
                                            <p:cond delay="499"/>
                                          </p:stCondLst>
                                        </p:cTn>
                                        <p:tgtEl>
                                          <p:spTgt spid="9"/>
                                        </p:tgtEl>
                                        <p:attrNameLst>
                                          <p:attrName>style.visibility</p:attrName>
                                        </p:attrNameLst>
                                      </p:cBhvr>
                                      <p:to>
                                        <p:strVal val="hidden"/>
                                      </p:to>
                                    </p:set>
                                  </p:childTnLst>
                                </p:cTn>
                              </p:par>
                            </p:childTnLst>
                          </p:cTn>
                        </p:par>
                        <p:par>
                          <p:cTn id="35" fill="hold">
                            <p:stCondLst>
                              <p:cond delay="500"/>
                            </p:stCondLst>
                            <p:childTnLst>
                              <p:par>
                                <p:cTn id="36" presetID="10" presetClass="exit" presetSubtype="0" fill="hold" grpId="1" nodeType="afterEffect">
                                  <p:stCondLst>
                                    <p:cond delay="0"/>
                                  </p:stCondLst>
                                  <p:childTnLst>
                                    <p:animEffect transition="out" filter="fade">
                                      <p:cBhvr>
                                        <p:cTn id="37" dur="500"/>
                                        <p:tgtEl>
                                          <p:spTgt spid="16"/>
                                        </p:tgtEl>
                                      </p:cBhvr>
                                    </p:animEffect>
                                    <p:set>
                                      <p:cBhvr>
                                        <p:cTn id="38" dur="1" fill="hold">
                                          <p:stCondLst>
                                            <p:cond delay="499"/>
                                          </p:stCondLst>
                                        </p:cTn>
                                        <p:tgtEl>
                                          <p:spTgt spid="16"/>
                                        </p:tgtEl>
                                        <p:attrNameLst>
                                          <p:attrName>style.visibility</p:attrName>
                                        </p:attrNameLst>
                                      </p:cBhvr>
                                      <p:to>
                                        <p:strVal val="hidden"/>
                                      </p:to>
                                    </p:set>
                                  </p:childTnLst>
                                </p:cTn>
                              </p:par>
                            </p:childTnLst>
                          </p:cTn>
                        </p:par>
                        <p:par>
                          <p:cTn id="39" fill="hold">
                            <p:stCondLst>
                              <p:cond delay="100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par>
                          <p:cTn id="43" fill="hold">
                            <p:stCondLst>
                              <p:cond delay="1500"/>
                            </p:stCondLst>
                            <p:childTnLst>
                              <p:par>
                                <p:cTn id="44" presetID="10" presetClass="entr" presetSubtype="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childTnLst>
                          </p:cTn>
                        </p:par>
                        <p:par>
                          <p:cTn id="50" fill="hold">
                            <p:stCondLst>
                              <p:cond delay="2000"/>
                            </p:stCondLst>
                            <p:childTnLst>
                              <p:par>
                                <p:cTn id="51" presetID="10" presetClass="entr" presetSubtype="0"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childTnLst>
                          </p:cTn>
                        </p:par>
                        <p:par>
                          <p:cTn id="54" fill="hold">
                            <p:stCondLst>
                              <p:cond delay="2500"/>
                            </p:stCondLst>
                            <p:childTnLst>
                              <p:par>
                                <p:cTn id="55" presetID="10" presetClass="exit" presetSubtype="0" fill="hold" grpId="1" nodeType="afterEffect">
                                  <p:stCondLst>
                                    <p:cond delay="0"/>
                                  </p:stCondLst>
                                  <p:childTnLst>
                                    <p:animEffect transition="out" filter="fade">
                                      <p:cBhvr>
                                        <p:cTn id="56" dur="500"/>
                                        <p:tgtEl>
                                          <p:spTgt spid="18"/>
                                        </p:tgtEl>
                                      </p:cBhvr>
                                    </p:animEffect>
                                    <p:set>
                                      <p:cBhvr>
                                        <p:cTn id="57" dur="1" fill="hold">
                                          <p:stCondLst>
                                            <p:cond delay="499"/>
                                          </p:stCondLst>
                                        </p:cTn>
                                        <p:tgtEl>
                                          <p:spTgt spid="18"/>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19"/>
                                        </p:tgtEl>
                                      </p:cBhvr>
                                    </p:animEffect>
                                    <p:set>
                                      <p:cBhvr>
                                        <p:cTn id="60" dur="1" fill="hold">
                                          <p:stCondLst>
                                            <p:cond delay="499"/>
                                          </p:stCondLst>
                                        </p:cTn>
                                        <p:tgtEl>
                                          <p:spTgt spid="19"/>
                                        </p:tgtEl>
                                        <p:attrNameLst>
                                          <p:attrName>style.visibility</p:attrName>
                                        </p:attrNameLst>
                                      </p:cBhvr>
                                      <p:to>
                                        <p:strVal val="hidden"/>
                                      </p:to>
                                    </p:set>
                                  </p:childTnLst>
                                </p:cTn>
                              </p:par>
                            </p:childTnLst>
                          </p:cTn>
                        </p:par>
                        <p:par>
                          <p:cTn id="61" fill="hold">
                            <p:stCondLst>
                              <p:cond delay="3000"/>
                            </p:stCondLst>
                            <p:childTnLst>
                              <p:par>
                                <p:cTn id="62" presetID="10" presetClass="entr" presetSubtype="0" fill="hold" grpId="0" nodeType="after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childTnLst>
                          </p:cTn>
                        </p:par>
                        <p:par>
                          <p:cTn id="68" fill="hold">
                            <p:stCondLst>
                              <p:cond delay="3500"/>
                            </p:stCondLst>
                            <p:childTnLst>
                              <p:par>
                                <p:cTn id="69" presetID="10" presetClass="entr" presetSubtype="0" fill="hold" grpId="0" nodeType="after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childTnLst>
                          </p:cTn>
                        </p:par>
                        <p:par>
                          <p:cTn id="72" fill="hold">
                            <p:stCondLst>
                              <p:cond delay="4000"/>
                            </p:stCondLst>
                            <p:childTnLst>
                              <p:par>
                                <p:cTn id="73" presetID="10" presetClass="exit" presetSubtype="0" fill="hold" grpId="1" nodeType="afterEffect">
                                  <p:stCondLst>
                                    <p:cond delay="0"/>
                                  </p:stCondLst>
                                  <p:childTnLst>
                                    <p:animEffect transition="out" filter="fade">
                                      <p:cBhvr>
                                        <p:cTn id="74" dur="500"/>
                                        <p:tgtEl>
                                          <p:spTgt spid="7"/>
                                        </p:tgtEl>
                                      </p:cBhvr>
                                    </p:animEffect>
                                    <p:set>
                                      <p:cBhvr>
                                        <p:cTn id="75" dur="1" fill="hold">
                                          <p:stCondLst>
                                            <p:cond delay="499"/>
                                          </p:stCondLst>
                                        </p:cTn>
                                        <p:tgtEl>
                                          <p:spTgt spid="7"/>
                                        </p:tgtEl>
                                        <p:attrNameLst>
                                          <p:attrName>style.visibility</p:attrName>
                                        </p:attrNameLst>
                                      </p:cBhvr>
                                      <p:to>
                                        <p:strVal val="hidden"/>
                                      </p:to>
                                    </p:set>
                                  </p:childTnLst>
                                </p:cTn>
                              </p:par>
                              <p:par>
                                <p:cTn id="76" presetID="10" presetClass="exit" presetSubtype="0" fill="hold" grpId="1" nodeType="withEffect">
                                  <p:stCondLst>
                                    <p:cond delay="0"/>
                                  </p:stCondLst>
                                  <p:childTnLst>
                                    <p:animEffect transition="out" filter="fade">
                                      <p:cBhvr>
                                        <p:cTn id="77" dur="500"/>
                                        <p:tgtEl>
                                          <p:spTgt spid="6"/>
                                        </p:tgtEl>
                                      </p:cBhvr>
                                    </p:animEffect>
                                    <p:set>
                                      <p:cBhvr>
                                        <p:cTn id="78" dur="1" fill="hold">
                                          <p:stCondLst>
                                            <p:cond delay="499"/>
                                          </p:stCondLst>
                                        </p:cTn>
                                        <p:tgtEl>
                                          <p:spTgt spid="6"/>
                                        </p:tgtEl>
                                        <p:attrNameLst>
                                          <p:attrName>style.visibility</p:attrName>
                                        </p:attrNameLst>
                                      </p:cBhvr>
                                      <p:to>
                                        <p:strVal val="hidden"/>
                                      </p:to>
                                    </p:set>
                                  </p:childTnLst>
                                </p:cTn>
                              </p:par>
                            </p:childTnLst>
                          </p:cTn>
                        </p:par>
                        <p:par>
                          <p:cTn id="79" fill="hold">
                            <p:stCondLst>
                              <p:cond delay="4500"/>
                            </p:stCondLst>
                            <p:childTnLst>
                              <p:par>
                                <p:cTn id="80" presetID="10" presetClass="entr" presetSubtype="0" fill="hold" grpId="0" nodeType="after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fade">
                                      <p:cBhvr>
                                        <p:cTn id="82" dur="500"/>
                                        <p:tgtEl>
                                          <p:spTgt spid="8"/>
                                        </p:tgtEl>
                                      </p:cBhvr>
                                    </p:animEffect>
                                  </p:childTnLst>
                                </p:cTn>
                              </p:par>
                            </p:childTnLst>
                          </p:cTn>
                        </p:par>
                        <p:par>
                          <p:cTn id="83" fill="hold">
                            <p:stCondLst>
                              <p:cond delay="5000"/>
                            </p:stCondLst>
                            <p:childTnLst>
                              <p:par>
                                <p:cTn id="84" presetID="10" presetClass="exit" presetSubtype="0" fill="hold" grpId="1" nodeType="afterEffect">
                                  <p:stCondLst>
                                    <p:cond delay="0"/>
                                  </p:stCondLst>
                                  <p:childTnLst>
                                    <p:animEffect transition="out" filter="fade">
                                      <p:cBhvr>
                                        <p:cTn id="85" dur="500"/>
                                        <p:tgtEl>
                                          <p:spTgt spid="13"/>
                                        </p:tgtEl>
                                      </p:cBhvr>
                                    </p:animEffect>
                                    <p:set>
                                      <p:cBhvr>
                                        <p:cTn id="86" dur="1" fill="hold">
                                          <p:stCondLst>
                                            <p:cond delay="499"/>
                                          </p:stCondLst>
                                        </p:cTn>
                                        <p:tgtEl>
                                          <p:spTgt spid="13"/>
                                        </p:tgtEl>
                                        <p:attrNameLst>
                                          <p:attrName>style.visibility</p:attrName>
                                        </p:attrNameLst>
                                      </p:cBhvr>
                                      <p:to>
                                        <p:strVal val="hidden"/>
                                      </p:to>
                                    </p:set>
                                  </p:childTnLst>
                                </p:cTn>
                              </p:par>
                              <p:par>
                                <p:cTn id="87" presetID="10" presetClass="exit" presetSubtype="0" fill="hold" grpId="1" nodeType="withEffect">
                                  <p:stCondLst>
                                    <p:cond delay="0"/>
                                  </p:stCondLst>
                                  <p:childTnLst>
                                    <p:animEffect transition="out" filter="fade">
                                      <p:cBhvr>
                                        <p:cTn id="88" dur="500"/>
                                        <p:tgtEl>
                                          <p:spTgt spid="21"/>
                                        </p:tgtEl>
                                      </p:cBhvr>
                                    </p:animEffect>
                                    <p:set>
                                      <p:cBhvr>
                                        <p:cTn id="89" dur="1" fill="hold">
                                          <p:stCondLst>
                                            <p:cond delay="499"/>
                                          </p:stCondLst>
                                        </p:cTn>
                                        <p:tgtEl>
                                          <p:spTgt spid="21"/>
                                        </p:tgtEl>
                                        <p:attrNameLst>
                                          <p:attrName>style.visibility</p:attrName>
                                        </p:attrNameLst>
                                      </p:cBhvr>
                                      <p:to>
                                        <p:strVal val="hidden"/>
                                      </p:to>
                                    </p:set>
                                  </p:childTnLst>
                                </p:cTn>
                              </p:par>
                              <p:par>
                                <p:cTn id="90" presetID="10" presetClass="exit" presetSubtype="0" fill="hold" grpId="1" nodeType="withEffect">
                                  <p:stCondLst>
                                    <p:cond delay="0"/>
                                  </p:stCondLst>
                                  <p:childTnLst>
                                    <p:animEffect transition="out" filter="fade">
                                      <p:cBhvr>
                                        <p:cTn id="91" dur="500"/>
                                        <p:tgtEl>
                                          <p:spTgt spid="24"/>
                                        </p:tgtEl>
                                      </p:cBhvr>
                                    </p:animEffect>
                                    <p:set>
                                      <p:cBhvr>
                                        <p:cTn id="92" dur="1" fill="hold">
                                          <p:stCondLst>
                                            <p:cond delay="499"/>
                                          </p:stCondLst>
                                        </p:cTn>
                                        <p:tgtEl>
                                          <p:spTgt spid="24"/>
                                        </p:tgtEl>
                                        <p:attrNameLst>
                                          <p:attrName>style.visibility</p:attrName>
                                        </p:attrNameLst>
                                      </p:cBhvr>
                                      <p:to>
                                        <p:strVal val="hidden"/>
                                      </p:to>
                                    </p:set>
                                  </p:childTnLst>
                                </p:cTn>
                              </p:par>
                              <p:par>
                                <p:cTn id="93" presetID="10" presetClass="exit" presetSubtype="0" fill="hold" grpId="1" nodeType="withEffect">
                                  <p:stCondLst>
                                    <p:cond delay="0"/>
                                  </p:stCondLst>
                                  <p:childTnLst>
                                    <p:animEffect transition="out" filter="fade">
                                      <p:cBhvr>
                                        <p:cTn id="94" dur="500"/>
                                        <p:tgtEl>
                                          <p:spTgt spid="22"/>
                                        </p:tgtEl>
                                      </p:cBhvr>
                                    </p:animEffect>
                                    <p:set>
                                      <p:cBhvr>
                                        <p:cTn id="95" dur="1" fill="hold">
                                          <p:stCondLst>
                                            <p:cond delay="499"/>
                                          </p:stCondLst>
                                        </p:cTn>
                                        <p:tgtEl>
                                          <p:spTgt spid="22"/>
                                        </p:tgtEl>
                                        <p:attrNameLst>
                                          <p:attrName>style.visibility</p:attrName>
                                        </p:attrNameLst>
                                      </p:cBhvr>
                                      <p:to>
                                        <p:strVal val="hidden"/>
                                      </p:to>
                                    </p:set>
                                  </p:childTnLst>
                                </p:cTn>
                              </p:par>
                              <p:par>
                                <p:cTn id="96" presetID="10" presetClass="exit" presetSubtype="0" fill="hold" grpId="1" nodeType="withEffect">
                                  <p:stCondLst>
                                    <p:cond delay="0"/>
                                  </p:stCondLst>
                                  <p:childTnLst>
                                    <p:animEffect transition="out" filter="fade">
                                      <p:cBhvr>
                                        <p:cTn id="97" dur="500"/>
                                        <p:tgtEl>
                                          <p:spTgt spid="25"/>
                                        </p:tgtEl>
                                      </p:cBhvr>
                                    </p:animEffect>
                                    <p:set>
                                      <p:cBhvr>
                                        <p:cTn id="98" dur="1" fill="hold">
                                          <p:stCondLst>
                                            <p:cond delay="499"/>
                                          </p:stCondLst>
                                        </p:cTn>
                                        <p:tgtEl>
                                          <p:spTgt spid="25"/>
                                        </p:tgtEl>
                                        <p:attrNameLst>
                                          <p:attrName>style.visibility</p:attrName>
                                        </p:attrNameLst>
                                      </p:cBhvr>
                                      <p:to>
                                        <p:strVal val="hidden"/>
                                      </p:to>
                                    </p:set>
                                  </p:childTnLst>
                                </p:cTn>
                              </p:par>
                              <p:par>
                                <p:cTn id="99" presetID="10" presetClass="exit" presetSubtype="0" fill="hold" grpId="2" nodeType="withEffect">
                                  <p:stCondLst>
                                    <p:cond delay="0"/>
                                  </p:stCondLst>
                                  <p:childTnLst>
                                    <p:animEffect transition="out" filter="fade">
                                      <p:cBhvr>
                                        <p:cTn id="100" dur="500"/>
                                        <p:tgtEl>
                                          <p:spTgt spid="18"/>
                                        </p:tgtEl>
                                      </p:cBhvr>
                                    </p:animEffect>
                                    <p:set>
                                      <p:cBhvr>
                                        <p:cTn id="101" dur="1" fill="hold">
                                          <p:stCondLst>
                                            <p:cond delay="499"/>
                                          </p:stCondLst>
                                        </p:cTn>
                                        <p:tgtEl>
                                          <p:spTgt spid="18"/>
                                        </p:tgtEl>
                                        <p:attrNameLst>
                                          <p:attrName>style.visibility</p:attrName>
                                        </p:attrNameLst>
                                      </p:cBhvr>
                                      <p:to>
                                        <p:strVal val="hidden"/>
                                      </p:to>
                                    </p:set>
                                  </p:childTnLst>
                                </p:cTn>
                              </p:par>
                              <p:par>
                                <p:cTn id="102" presetID="10" presetClass="exit" presetSubtype="0" fill="hold" grpId="2" nodeType="withEffect">
                                  <p:stCondLst>
                                    <p:cond delay="0"/>
                                  </p:stCondLst>
                                  <p:childTnLst>
                                    <p:animEffect transition="out" filter="fade">
                                      <p:cBhvr>
                                        <p:cTn id="103" dur="500"/>
                                        <p:tgtEl>
                                          <p:spTgt spid="19"/>
                                        </p:tgtEl>
                                      </p:cBhvr>
                                    </p:animEffect>
                                    <p:set>
                                      <p:cBhvr>
                                        <p:cTn id="104" dur="1" fill="hold">
                                          <p:stCondLst>
                                            <p:cond delay="499"/>
                                          </p:stCondLst>
                                        </p:cTn>
                                        <p:tgtEl>
                                          <p:spTgt spid="19"/>
                                        </p:tgtEl>
                                        <p:attrNameLst>
                                          <p:attrName>style.visibility</p:attrName>
                                        </p:attrNameLst>
                                      </p:cBhvr>
                                      <p:to>
                                        <p:strVal val="hidden"/>
                                      </p:to>
                                    </p:set>
                                  </p:childTnLst>
                                </p:cTn>
                              </p:par>
                              <p:par>
                                <p:cTn id="105" presetID="10" presetClass="exit" presetSubtype="0" fill="hold" grpId="1" nodeType="withEffect">
                                  <p:stCondLst>
                                    <p:cond delay="0"/>
                                  </p:stCondLst>
                                  <p:childTnLst>
                                    <p:animEffect transition="out" filter="fade">
                                      <p:cBhvr>
                                        <p:cTn id="106" dur="500"/>
                                        <p:tgtEl>
                                          <p:spTgt spid="23"/>
                                        </p:tgtEl>
                                      </p:cBhvr>
                                    </p:animEffect>
                                    <p:set>
                                      <p:cBhvr>
                                        <p:cTn id="107" dur="1" fill="hold">
                                          <p:stCondLst>
                                            <p:cond delay="499"/>
                                          </p:stCondLst>
                                        </p:cTn>
                                        <p:tgtEl>
                                          <p:spTgt spid="23"/>
                                        </p:tgtEl>
                                        <p:attrNameLst>
                                          <p:attrName>style.visibility</p:attrName>
                                        </p:attrNameLst>
                                      </p:cBhvr>
                                      <p:to>
                                        <p:strVal val="hidden"/>
                                      </p:to>
                                    </p:set>
                                  </p:childTnLst>
                                </p:cTn>
                              </p:par>
                            </p:childTnLst>
                          </p:cTn>
                        </p:par>
                        <p:par>
                          <p:cTn id="108" fill="hold">
                            <p:stCondLst>
                              <p:cond delay="5500"/>
                            </p:stCondLst>
                            <p:childTnLst>
                              <p:par>
                                <p:cTn id="109" presetID="1" presetClass="exit" presetSubtype="0" fill="hold" grpId="1" nodeType="afterEffect">
                                  <p:stCondLst>
                                    <p:cond delay="0"/>
                                  </p:stCondLst>
                                  <p:childTnLst>
                                    <p:set>
                                      <p:cBhvr>
                                        <p:cTn id="110" dur="1" fill="hold">
                                          <p:stCondLst>
                                            <p:cond delay="0"/>
                                          </p:stCondLst>
                                        </p:cTn>
                                        <p:tgtEl>
                                          <p:spTgt spid="12"/>
                                        </p:tgtEl>
                                        <p:attrNameLst>
                                          <p:attrName>style.visibility</p:attrName>
                                        </p:attrNameLst>
                                      </p:cBhvr>
                                      <p:to>
                                        <p:strVal val="hidden"/>
                                      </p:to>
                                    </p:set>
                                  </p:childTnLst>
                                </p:cTn>
                              </p:par>
                              <p:par>
                                <p:cTn id="111" presetID="10" presetClass="entr" presetSubtype="0" fill="hold" grpId="0" nodeType="withEffect">
                                  <p:stCondLst>
                                    <p:cond delay="0"/>
                                  </p:stCondLst>
                                  <p:childTnLst>
                                    <p:set>
                                      <p:cBhvr>
                                        <p:cTn id="112" dur="1" fill="hold">
                                          <p:stCondLst>
                                            <p:cond delay="0"/>
                                          </p:stCondLst>
                                        </p:cTn>
                                        <p:tgtEl>
                                          <p:spTgt spid="4"/>
                                        </p:tgtEl>
                                        <p:attrNameLst>
                                          <p:attrName>style.visibility</p:attrName>
                                        </p:attrNameLst>
                                      </p:cBhvr>
                                      <p:to>
                                        <p:strVal val="visible"/>
                                      </p:to>
                                    </p:set>
                                    <p:animEffect transition="in" filter="fade">
                                      <p:cBhvr>
                                        <p:cTn id="1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p:bldP spid="7" grpId="1"/>
      <p:bldP spid="11" grpId="0" animBg="1"/>
      <p:bldP spid="12" grpId="0"/>
      <p:bldP spid="12" grpId="1"/>
      <p:bldP spid="13" grpId="0"/>
      <p:bldP spid="13" grpId="1"/>
      <p:bldP spid="16" grpId="0"/>
      <p:bldP spid="16" grpId="1"/>
      <p:bldP spid="18" grpId="0"/>
      <p:bldP spid="18" grpId="1"/>
      <p:bldP spid="18" grpId="2"/>
      <p:bldP spid="19" grpId="0"/>
      <p:bldP spid="19" grpId="1"/>
      <p:bldP spid="19" grpId="2"/>
      <p:bldP spid="21" grpId="0" animBg="1"/>
      <p:bldP spid="21" grpId="1" animBg="1"/>
      <p:bldP spid="22" grpId="0"/>
      <p:bldP spid="22" grpId="1"/>
      <p:bldP spid="23" grpId="0"/>
      <p:bldP spid="23" grpId="1"/>
      <p:bldP spid="24" grpId="0"/>
      <p:bldP spid="24" grpId="1"/>
      <p:bldP spid="25" grpId="0"/>
      <p:bldP spid="25" grpId="1"/>
      <p:bldP spid="4" grpId="0" animBg="1"/>
      <p:bldP spid="8" grpId="0"/>
      <p:bldP spid="9" grpId="0" animBg="1"/>
      <p:bldP spid="9"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MasterDocs\расм\f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sp>
        <p:nvSpPr>
          <p:cNvPr id="3" name="Номер слайда 2"/>
          <p:cNvSpPr>
            <a:spLocks noGrp="1"/>
          </p:cNvSpPr>
          <p:nvPr>
            <p:ph type="sldNum" sz="quarter" idx="12"/>
          </p:nvPr>
        </p:nvSpPr>
        <p:spPr>
          <a:xfrm>
            <a:off x="8385922" y="6492875"/>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12</a:t>
            </a:fld>
            <a:endParaRPr lang="ru-RU" dirty="0"/>
          </a:p>
        </p:txBody>
      </p:sp>
      <p:sp>
        <p:nvSpPr>
          <p:cNvPr id="5" name="Прямоугольник 4"/>
          <p:cNvSpPr/>
          <p:nvPr/>
        </p:nvSpPr>
        <p:spPr>
          <a:xfrm>
            <a:off x="755576" y="0"/>
            <a:ext cx="7560840" cy="461665"/>
          </a:xfrm>
          <a:prstGeom prst="rect">
            <a:avLst/>
          </a:prstGeom>
          <a:solidFill>
            <a:schemeClr val="accent1">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uz-Cyrl-UZ" sz="2400" b="1" dirty="0" smtClean="0"/>
              <a:t>Псевдотасодифий </a:t>
            </a:r>
            <a:r>
              <a:rPr lang="uz-Cyrl-UZ" sz="2400" b="1" dirty="0"/>
              <a:t>ўрин алмаштиришлар усули</a:t>
            </a:r>
            <a:endParaRPr lang="ru-RU" sz="2400" dirty="0"/>
          </a:p>
        </p:txBody>
      </p:sp>
      <p:grpSp>
        <p:nvGrpSpPr>
          <p:cNvPr id="9" name="Группа 8"/>
          <p:cNvGrpSpPr/>
          <p:nvPr/>
        </p:nvGrpSpPr>
        <p:grpSpPr>
          <a:xfrm>
            <a:off x="237409" y="989385"/>
            <a:ext cx="15063783" cy="648707"/>
            <a:chOff x="237409" y="989385"/>
            <a:chExt cx="15063783" cy="648707"/>
          </a:xfrm>
        </p:grpSpPr>
        <p:sp>
          <p:nvSpPr>
            <p:cNvPr id="6" name="Прямоугольник 5"/>
            <p:cNvSpPr/>
            <p:nvPr/>
          </p:nvSpPr>
          <p:spPr>
            <a:xfrm>
              <a:off x="9252520" y="1268760"/>
              <a:ext cx="6048672" cy="369332"/>
            </a:xfrm>
            <a:prstGeom prst="rect">
              <a:avLst/>
            </a:prstGeom>
          </p:spPr>
          <p:txBody>
            <a:bodyPr wrap="square">
              <a:spAutoFit/>
            </a:bodyPr>
            <a:lstStyle/>
            <a:p>
              <a:endParaRPr lang="ru-RU" dirty="0"/>
            </a:p>
          </p:txBody>
        </p:sp>
        <p:sp>
          <p:nvSpPr>
            <p:cNvPr id="8" name="Прямоугольник 7"/>
            <p:cNvSpPr/>
            <p:nvPr/>
          </p:nvSpPr>
          <p:spPr>
            <a:xfrm>
              <a:off x="237409" y="989385"/>
              <a:ext cx="8712968" cy="369332"/>
            </a:xfrm>
            <a:prstGeom prst="rect">
              <a:avLst/>
            </a:prstGeom>
          </p:spPr>
          <p:txBody>
            <a:bodyPr wrap="square">
              <a:spAutoFit/>
            </a:bodyPr>
            <a:lstStyle/>
            <a:p>
              <a:endParaRPr lang="ru-RU" dirty="0"/>
            </a:p>
          </p:txBody>
        </p:sp>
      </p:grpSp>
      <mc:AlternateContent xmlns:mc="http://schemas.openxmlformats.org/markup-compatibility/2006" xmlns:a14="http://schemas.microsoft.com/office/drawing/2010/main">
        <mc:Choice Requires="a14">
          <p:sp>
            <p:nvSpPr>
              <p:cNvPr id="7" name="Прямоугольник 6"/>
              <p:cNvSpPr/>
              <p:nvPr/>
            </p:nvSpPr>
            <p:spPr>
              <a:xfrm>
                <a:off x="388482" y="1334959"/>
                <a:ext cx="8561895" cy="166199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uz-Cyrl-UZ" i="1" smtClean="0">
                          <a:latin typeface="Cambria Math"/>
                        </a:rPr>
                        <m:t>𝑦</m:t>
                      </m:r>
                      <m:r>
                        <a:rPr lang="uz-Cyrl-UZ" i="1" smtClean="0">
                          <a:latin typeface="Cambria Math"/>
                        </a:rPr>
                        <m:t>=</m:t>
                      </m:r>
                      <m:r>
                        <a:rPr lang="uz-Cyrl-UZ" i="1" smtClean="0">
                          <a:latin typeface="Cambria Math"/>
                        </a:rPr>
                        <m:t>𝑏</m:t>
                      </m:r>
                      <m:r>
                        <a:rPr lang="uz-Cyrl-UZ" i="1" smtClean="0">
                          <a:latin typeface="Cambria Math"/>
                        </a:rPr>
                        <m:t>∙</m:t>
                      </m:r>
                      <m:r>
                        <a:rPr lang="uz-Cyrl-UZ" i="1" smtClean="0">
                          <a:latin typeface="Cambria Math"/>
                        </a:rPr>
                        <m:t>𝑥</m:t>
                      </m:r>
                      <m:r>
                        <a:rPr lang="uz-Cyrl-UZ" i="1" smtClean="0">
                          <a:latin typeface="Cambria Math"/>
                        </a:rPr>
                        <m:t>∙</m:t>
                      </m:r>
                      <m:r>
                        <a:rPr lang="uz-Cyrl-UZ" i="1" smtClean="0">
                          <a:latin typeface="Cambria Math"/>
                        </a:rPr>
                        <m:t>𝑥</m:t>
                      </m:r>
                      <m:r>
                        <a:rPr lang="uz-Cyrl-UZ" i="1" smtClean="0">
                          <a:latin typeface="Cambria Math"/>
                        </a:rPr>
                        <m:t>+с </m:t>
                      </m:r>
                      <m:r>
                        <a:rPr lang="uz-Cyrl-UZ" i="1" smtClean="0">
                          <a:latin typeface="Cambria Math"/>
                        </a:rPr>
                        <m:t>𝑚𝑜𝑑</m:t>
                      </m:r>
                      <m:r>
                        <a:rPr lang="uz-Cyrl-UZ" i="1" smtClean="0">
                          <a:latin typeface="Cambria Math"/>
                        </a:rPr>
                        <m:t> </m:t>
                      </m:r>
                      <m:r>
                        <a:rPr lang="uz-Cyrl-UZ" i="1" smtClean="0">
                          <a:latin typeface="Cambria Math"/>
                        </a:rPr>
                        <m:t>𝑁</m:t>
                      </m:r>
                      <m:r>
                        <a:rPr lang="uz-Cyrl-UZ" i="1" smtClean="0">
                          <a:latin typeface="Cambria Math"/>
                        </a:rPr>
                        <m:t>= </m:t>
                      </m:r>
                    </m:oMath>
                  </m:oMathPara>
                </a14:m>
                <a:endParaRPr lang="ru-RU" dirty="0"/>
              </a:p>
              <a:p>
                <a:pPr algn="just"/>
                <a14:m>
                  <m:oMathPara xmlns:m="http://schemas.openxmlformats.org/officeDocument/2006/math">
                    <m:oMathParaPr>
                      <m:jc m:val="centerGroup"/>
                    </m:oMathParaPr>
                    <m:oMath xmlns:m="http://schemas.openxmlformats.org/officeDocument/2006/math">
                      <m:r>
                        <a:rPr lang="uz-Cyrl-UZ" sz="1400" i="1">
                          <a:latin typeface="Cambria Math"/>
                        </a:rPr>
                        <m:t>{</m:t>
                      </m:r>
                      <m:r>
                        <a:rPr lang="uz-Cyrl-UZ" sz="1400" smtClean="0">
                          <a:latin typeface="Cambria Math"/>
                        </a:rPr>
                        <m:t>3,9,27,57,99,153,219,46,136,238,101,227,114,13,175,98,33,231,190,161,</m:t>
                      </m:r>
                      <m:r>
                        <a:rPr lang="uz-Cyrl-UZ" sz="1400">
                          <a:latin typeface="Cambria Math"/>
                        </a:rPr>
                        <m:t>144,139,146,165,</m:t>
                      </m:r>
                    </m:oMath>
                  </m:oMathPara>
                </a14:m>
                <a:endParaRPr lang="en-US" sz="1400" dirty="0" smtClean="0">
                  <a:latin typeface="Cambria Math"/>
                </a:endParaRPr>
              </a:p>
              <a:p>
                <a:pPr algn="just"/>
                <a14:m>
                  <m:oMathPara xmlns:m="http://schemas.openxmlformats.org/officeDocument/2006/math">
                    <m:oMathParaPr>
                      <m:jc m:val="centerGroup"/>
                    </m:oMathParaPr>
                    <m:oMath xmlns:m="http://schemas.openxmlformats.org/officeDocument/2006/math">
                      <m:r>
                        <a:rPr lang="uz-Cyrl-UZ" sz="1400">
                          <a:latin typeface="Cambria Math"/>
                        </a:rPr>
                        <m:t>196,239,43,110,189,29,132,247,123,11,162,74,249,185,133,93,65,49,45,53,73,105,149,205,</m:t>
                      </m:r>
                    </m:oMath>
                  </m:oMathPara>
                </a14:m>
                <a:endParaRPr lang="en-US" sz="1400" dirty="0" smtClean="0">
                  <a:latin typeface="Cambria Math"/>
                </a:endParaRPr>
              </a:p>
              <a:p>
                <a:pPr algn="just"/>
                <a14:m>
                  <m:oMathPara xmlns:m="http://schemas.openxmlformats.org/officeDocument/2006/math">
                    <m:oMathParaPr>
                      <m:jc m:val="centerGroup"/>
                    </m:oMathParaPr>
                    <m:oMath xmlns:m="http://schemas.openxmlformats.org/officeDocument/2006/math">
                      <m:r>
                        <a:rPr lang="uz-Cyrl-UZ" sz="1400">
                          <a:latin typeface="Cambria Math"/>
                        </a:rPr>
                        <m:t>22,102,194,47,163,40,180,81,245,170,107,56,17,241,226,223,232,2,35,80,137,206,36,129,</m:t>
                      </m:r>
                    </m:oMath>
                  </m:oMathPara>
                </a14:m>
                <a:endParaRPr lang="en-US" sz="1400" dirty="0" smtClean="0">
                  <a:latin typeface="Cambria Math"/>
                </a:endParaRPr>
              </a:p>
              <a:p>
                <a:pPr algn="just"/>
                <a14:m>
                  <m:oMathPara xmlns:m="http://schemas.openxmlformats.org/officeDocument/2006/math">
                    <m:oMathParaPr>
                      <m:jc m:val="centerGroup"/>
                    </m:oMathParaPr>
                    <m:oMath xmlns:m="http://schemas.openxmlformats.org/officeDocument/2006/math">
                      <m:r>
                        <a:rPr lang="uz-Cyrl-UZ" sz="1400">
                          <a:latin typeface="Cambria Math"/>
                        </a:rPr>
                        <m:t>234,100,229,119,21,186,112,50,0,213,187,173,171,181,203,237,32,90,160,242,85,191,58,</m:t>
                      </m:r>
                    </m:oMath>
                  </m:oMathPara>
                </a14:m>
                <a:endParaRPr lang="en-US" sz="1400" dirty="0" smtClean="0">
                  <a:latin typeface="Cambria Math"/>
                </a:endParaRPr>
              </a:p>
              <a:p>
                <a:pPr algn="just"/>
                <a14:m>
                  <m:oMathPara xmlns:m="http://schemas.openxmlformats.org/officeDocument/2006/math">
                    <m:oMathParaPr>
                      <m:jc m:val="centerGroup"/>
                    </m:oMathParaPr>
                    <m:oMath xmlns:m="http://schemas.openxmlformats.org/officeDocument/2006/math">
                      <m:r>
                        <a:rPr lang="uz-Cyrl-UZ" sz="1400">
                          <a:latin typeface="Cambria Math"/>
                        </a:rPr>
                        <m:t>188,79,233,148,75,14,216,179,154,141,140,151,174,209,5,64,135,218,62,169,37,168,60,215,</m:t>
                      </m:r>
                    </m:oMath>
                  </m:oMathPara>
                </a14:m>
                <a:endParaRPr lang="en-US" sz="1400" dirty="0" smtClean="0">
                  <a:latin typeface="Cambria Math"/>
                </a:endParaRPr>
              </a:p>
              <a:p>
                <a:pPr algn="just"/>
                <a14:m>
                  <m:oMathPara xmlns:m="http://schemas.openxmlformats.org/officeDocument/2006/math">
                    <m:oMathParaPr>
                      <m:jc m:val="centerGroup"/>
                    </m:oMathParaPr>
                    <m:oMath xmlns:m="http://schemas.openxmlformats.org/officeDocument/2006/math">
                      <m:r>
                        <a:rPr lang="uz-Cyrl-UZ" sz="1400">
                          <a:latin typeface="Cambria Math"/>
                        </a:rPr>
                        <m:t>131,59,250,202,166,142,130</m:t>
                      </m:r>
                      <m:r>
                        <a:rPr lang="uz-Cyrl-UZ" sz="1400" i="1">
                          <a:latin typeface="Cambria Math"/>
                        </a:rPr>
                        <m:t>}</m:t>
                      </m:r>
                    </m:oMath>
                  </m:oMathPara>
                </a14:m>
                <a:endParaRPr lang="ru-RU" sz="1400" dirty="0" smtClean="0"/>
              </a:p>
            </p:txBody>
          </p:sp>
        </mc:Choice>
        <mc:Fallback xmlns="">
          <p:sp>
            <p:nvSpPr>
              <p:cNvPr id="7" name="Прямоугольник 6"/>
              <p:cNvSpPr>
                <a:spLocks noRot="1" noChangeAspect="1" noMove="1" noResize="1" noEditPoints="1" noAdjustHandles="1" noChangeArrowheads="1" noChangeShapeType="1" noTextEdit="1"/>
              </p:cNvSpPr>
              <p:nvPr/>
            </p:nvSpPr>
            <p:spPr>
              <a:xfrm>
                <a:off x="388482" y="1334959"/>
                <a:ext cx="8561895" cy="1661993"/>
              </a:xfrm>
              <a:prstGeom prst="rect">
                <a:avLst/>
              </a:prstGeom>
              <a:blipFill rotWithShape="1">
                <a:blip r:embed="rId5"/>
                <a:stretch>
                  <a:fillRect b="-733"/>
                </a:stretch>
              </a:blipFill>
            </p:spPr>
            <p:txBody>
              <a:bodyPr/>
              <a:lstStyle/>
              <a:p>
                <a:r>
                  <a:rPr lang="ru-RU">
                    <a:noFill/>
                  </a:rPr>
                  <a:t> </a:t>
                </a:r>
              </a:p>
            </p:txBody>
          </p:sp>
        </mc:Fallback>
      </mc:AlternateContent>
      <p:sp>
        <p:nvSpPr>
          <p:cNvPr id="12" name="Прямоугольник 11"/>
          <p:cNvSpPr/>
          <p:nvPr/>
        </p:nvSpPr>
        <p:spPr>
          <a:xfrm>
            <a:off x="15517216" y="2963813"/>
            <a:ext cx="2160240" cy="3046988"/>
          </a:xfrm>
          <a:prstGeom prst="rect">
            <a:avLst/>
          </a:prstGeom>
        </p:spPr>
        <p:txBody>
          <a:bodyPr wrap="square">
            <a:spAutoFit/>
          </a:bodyPr>
          <a:lstStyle/>
          <a:p>
            <a:pPr algn="just"/>
            <a:r>
              <a:rPr lang="uz-Cyrl-UZ" sz="1600" dirty="0"/>
              <a:t>Маълумот битлари:</a:t>
            </a:r>
            <a:endParaRPr lang="ru-RU" sz="1600" dirty="0"/>
          </a:p>
          <a:p>
            <a:pPr algn="just"/>
            <a:r>
              <a:rPr lang="uz-Cyrl-UZ" sz="1600" dirty="0"/>
              <a:t>М</a:t>
            </a:r>
            <a:r>
              <a:rPr lang="ru-RU" sz="1600" dirty="0"/>
              <a:t>={0,0,1,0,0,1,0,0,0,0,0,0,0,1,0,0,1,0,1,0,1,1</a:t>
            </a:r>
            <a:r>
              <a:rPr lang="ru-RU" sz="1600" dirty="0" smtClean="0"/>
              <a:t>,</a:t>
            </a:r>
            <a:r>
              <a:rPr lang="en-US" sz="1600" dirty="0" smtClean="0"/>
              <a:t> </a:t>
            </a:r>
            <a:r>
              <a:rPr lang="ru-RU" sz="1600" dirty="0" smtClean="0"/>
              <a:t>1,0,0,0,0,0,1,0,0,0,1,0,</a:t>
            </a:r>
            <a:r>
              <a:rPr lang="en-US" sz="1600" dirty="0" smtClean="0"/>
              <a:t> </a:t>
            </a:r>
            <a:r>
              <a:rPr lang="ru-RU" sz="1600" dirty="0" smtClean="0"/>
              <a:t>1,1,0,1,1,0,0,0,1,0,1,0,</a:t>
            </a:r>
            <a:r>
              <a:rPr lang="en-US" sz="1600" dirty="0" smtClean="0"/>
              <a:t> </a:t>
            </a:r>
            <a:r>
              <a:rPr lang="ru-RU" sz="1600" dirty="0" smtClean="0"/>
              <a:t>1,1,1,1,1,0,1,1,1,1,1,0,</a:t>
            </a:r>
            <a:r>
              <a:rPr lang="en-US" sz="1600" dirty="0" smtClean="0"/>
              <a:t> </a:t>
            </a:r>
            <a:r>
              <a:rPr lang="ru-RU" sz="1600" dirty="0" smtClean="0"/>
              <a:t>1,0,0,1,0,1,1,1,1,1,0,0,</a:t>
            </a:r>
            <a:r>
              <a:rPr lang="en-US" sz="1600" dirty="0" smtClean="0"/>
              <a:t> </a:t>
            </a:r>
            <a:r>
              <a:rPr lang="ru-RU" sz="1600" dirty="0" smtClean="0"/>
              <a:t>1,1,1,1,0,0,1,1,1,1,1,0,</a:t>
            </a:r>
            <a:r>
              <a:rPr lang="en-US" sz="1600" dirty="0" smtClean="0"/>
              <a:t> </a:t>
            </a:r>
            <a:r>
              <a:rPr lang="ru-RU" sz="1600" dirty="0" smtClean="0"/>
              <a:t>0,1,0,1,0,0,1,1,0,0,0,0,</a:t>
            </a:r>
            <a:r>
              <a:rPr lang="en-US" sz="1600" dirty="0" smtClean="0"/>
              <a:t> </a:t>
            </a:r>
            <a:r>
              <a:rPr lang="ru-RU" sz="1600" dirty="0" smtClean="0"/>
              <a:t>1,0,0,0,1,1,1,0,0,0,0,1,</a:t>
            </a:r>
            <a:r>
              <a:rPr lang="en-US" sz="1600" dirty="0" smtClean="0"/>
              <a:t> </a:t>
            </a:r>
            <a:r>
              <a:rPr lang="ru-RU" sz="1600" dirty="0" smtClean="0"/>
              <a:t>1,0,1,0,1,0,0,1,1,0,0,0,</a:t>
            </a:r>
            <a:r>
              <a:rPr lang="en-US" sz="1600" dirty="0" smtClean="0"/>
              <a:t> </a:t>
            </a:r>
            <a:r>
              <a:rPr lang="ru-RU" sz="1600" dirty="0" smtClean="0"/>
              <a:t>0,0,1,0,1,0,0,1</a:t>
            </a:r>
            <a:r>
              <a:rPr lang="ru-RU" sz="1600" dirty="0"/>
              <a:t>}=</a:t>
            </a:r>
            <a:r>
              <a:rPr lang="ru-RU" sz="1600" dirty="0" smtClean="0"/>
              <a:t>126</a:t>
            </a:r>
            <a:endParaRPr lang="ru-RU" sz="1600" dirty="0"/>
          </a:p>
        </p:txBody>
      </p:sp>
      <p:grpSp>
        <p:nvGrpSpPr>
          <p:cNvPr id="15" name="Группа 14"/>
          <p:cNvGrpSpPr/>
          <p:nvPr/>
        </p:nvGrpSpPr>
        <p:grpSpPr>
          <a:xfrm>
            <a:off x="10237584" y="2996952"/>
            <a:ext cx="5034536" cy="3046988"/>
            <a:chOff x="10237584" y="2996952"/>
            <a:chExt cx="5034536" cy="3046988"/>
          </a:xfrm>
        </p:grpSpPr>
        <p:sp>
          <p:nvSpPr>
            <p:cNvPr id="11" name="Прямоугольник 10"/>
            <p:cNvSpPr/>
            <p:nvPr/>
          </p:nvSpPr>
          <p:spPr>
            <a:xfrm>
              <a:off x="10813221" y="2996952"/>
              <a:ext cx="4458899" cy="3046988"/>
            </a:xfrm>
            <a:prstGeom prst="rect">
              <a:avLst/>
            </a:prstGeom>
          </p:spPr>
          <p:txBody>
            <a:bodyPr wrap="square">
              <a:spAutoFit/>
            </a:bodyPr>
            <a:lstStyle/>
            <a:p>
              <a:r>
                <a:rPr lang="ru-RU" sz="1200" dirty="0"/>
                <a:t>0     1      2    3    4      5     6     7     8     9    10   11   12   13   14   15</a:t>
              </a:r>
            </a:p>
            <a:p>
              <a:r>
                <a:rPr lang="ru-RU" sz="1200" dirty="0"/>
                <a:t>16   17   18   19   20   21   22   23   24   25   26   27   28   29   30   31</a:t>
              </a:r>
            </a:p>
            <a:p>
              <a:r>
                <a:rPr lang="ru-RU" sz="1200" dirty="0"/>
                <a:t>32   33   34   35   36   37   38   39   40   41   42   43   44   45   46   47</a:t>
              </a:r>
            </a:p>
            <a:p>
              <a:r>
                <a:rPr lang="ru-RU" sz="1200" dirty="0"/>
                <a:t>48   49   50   51   52   53   54   55   56   57   58   59   60   61   62   63</a:t>
              </a:r>
            </a:p>
            <a:p>
              <a:r>
                <a:rPr lang="ru-RU" sz="1200" dirty="0"/>
                <a:t>64   65   66   67   68   69   70   71   72   73   74   75   76   77   78   79</a:t>
              </a:r>
            </a:p>
            <a:p>
              <a:r>
                <a:rPr lang="ru-RU" sz="1200" dirty="0"/>
                <a:t>80   81   82   83  84    85   86   87   88   89   90   91   92   93   94   95</a:t>
              </a:r>
            </a:p>
            <a:p>
              <a:r>
                <a:rPr lang="ru-RU" sz="1200" dirty="0"/>
                <a:t>96   97   98   99   100 101 102 103 104 105 106 107 108 109 110 111</a:t>
              </a:r>
            </a:p>
            <a:p>
              <a:r>
                <a:rPr lang="ru-RU" sz="1200" dirty="0"/>
                <a:t>112 113 114 115 116 117 118 119 120 121 122 123 124 125 126 127</a:t>
              </a:r>
            </a:p>
            <a:p>
              <a:r>
                <a:rPr lang="ru-RU" sz="1200" dirty="0"/>
                <a:t>128 129 130 131 132 133 134 135 136 137 138 139 140 141 142 143</a:t>
              </a:r>
            </a:p>
            <a:p>
              <a:r>
                <a:rPr lang="ru-RU" sz="1200" dirty="0"/>
                <a:t>144 145 146 147 148 149 150 151 152 153 154 155 156 157 158 159</a:t>
              </a:r>
            </a:p>
            <a:p>
              <a:r>
                <a:rPr lang="ru-RU" sz="1200" dirty="0"/>
                <a:t>160 161 162 163 164 165 166 167 168 169 170 171 172 173 174 175</a:t>
              </a:r>
            </a:p>
            <a:p>
              <a:r>
                <a:rPr lang="ru-RU" sz="1200" dirty="0"/>
                <a:t>176 177 178 179 180 181 182 183 184 185 186 187 188 189 190 191</a:t>
              </a:r>
            </a:p>
            <a:p>
              <a:r>
                <a:rPr lang="ru-RU" sz="1200" dirty="0"/>
                <a:t>192 193 194 195 196 197 198 199 200 201 202 203 204 205 206 207</a:t>
              </a:r>
            </a:p>
            <a:p>
              <a:r>
                <a:rPr lang="ru-RU" sz="1200" dirty="0"/>
                <a:t>208 209 210 211 212 213 214 215 216 217 218 219 220 221 222 223</a:t>
              </a:r>
            </a:p>
            <a:p>
              <a:r>
                <a:rPr lang="ru-RU" sz="1200" dirty="0"/>
                <a:t>224 225 226 227 228 229 230 231 232 233 234 235 236 237 238 239</a:t>
              </a:r>
            </a:p>
            <a:p>
              <a:r>
                <a:rPr lang="ru-RU" sz="1200" dirty="0"/>
                <a:t>240 241 242 243 244 245 246 247 248 249 250 251 252 253 254 255</a:t>
              </a:r>
            </a:p>
          </p:txBody>
        </p:sp>
        <p:sp>
          <p:nvSpPr>
            <p:cNvPr id="14" name="Прямоугольник 13"/>
            <p:cNvSpPr/>
            <p:nvPr/>
          </p:nvSpPr>
          <p:spPr>
            <a:xfrm>
              <a:off x="10237584" y="3059668"/>
              <a:ext cx="468398" cy="369332"/>
            </a:xfrm>
            <a:prstGeom prst="rect">
              <a:avLst/>
            </a:prstGeom>
          </p:spPr>
          <p:txBody>
            <a:bodyPr wrap="none">
              <a:spAutoFit/>
            </a:bodyPr>
            <a:lstStyle/>
            <a:p>
              <a:pPr algn="just"/>
              <a:r>
                <a:rPr lang="uz-Cyrl-UZ" dirty="0" smtClean="0"/>
                <a:t>С</a:t>
              </a:r>
              <a:r>
                <a:rPr lang="en-US" dirty="0"/>
                <a:t>=</a:t>
              </a:r>
              <a:endParaRPr lang="ru-RU" dirty="0"/>
            </a:p>
          </p:txBody>
        </p:sp>
      </p:grpSp>
      <p:graphicFrame>
        <p:nvGraphicFramePr>
          <p:cNvPr id="20" name="Объект 19"/>
          <p:cNvGraphicFramePr>
            <a:graphicFrameLocks noChangeAspect="1"/>
          </p:cNvGraphicFramePr>
          <p:nvPr>
            <p:extLst>
              <p:ext uri="{D42A27DB-BD31-4B8C-83A1-F6EECF244321}">
                <p14:modId xmlns:p14="http://schemas.microsoft.com/office/powerpoint/2010/main" val="3874589529"/>
              </p:ext>
            </p:extLst>
          </p:nvPr>
        </p:nvGraphicFramePr>
        <p:xfrm>
          <a:off x="1079612" y="3351738"/>
          <a:ext cx="5832648" cy="2659063"/>
        </p:xfrm>
        <a:graphic>
          <a:graphicData uri="http://schemas.openxmlformats.org/presentationml/2006/ole">
            <mc:AlternateContent xmlns:mc="http://schemas.openxmlformats.org/markup-compatibility/2006">
              <mc:Choice xmlns:v="urn:schemas-microsoft-com:vml" Requires="v">
                <p:oleObj spid="_x0000_s1066" name="Документ" r:id="rId6" imgW="5915489" imgH="2659776" progId="Word.Document.12">
                  <p:embed/>
                </p:oleObj>
              </mc:Choice>
              <mc:Fallback>
                <p:oleObj name="Документ" r:id="rId6" imgW="5915489" imgH="2659776" progId="Word.Document.12">
                  <p:embed/>
                  <p:pic>
                    <p:nvPicPr>
                      <p:cNvPr id="0" name=""/>
                      <p:cNvPicPr/>
                      <p:nvPr/>
                    </p:nvPicPr>
                    <p:blipFill>
                      <a:blip r:embed="rId7"/>
                      <a:stretch>
                        <a:fillRect/>
                      </a:stretch>
                    </p:blipFill>
                    <p:spPr>
                      <a:xfrm>
                        <a:off x="1079612" y="3351738"/>
                        <a:ext cx="5832648" cy="2659063"/>
                      </a:xfrm>
                      <a:prstGeom prst="rect">
                        <a:avLst/>
                      </a:prstGeom>
                    </p:spPr>
                  </p:pic>
                </p:oleObj>
              </mc:Fallback>
            </mc:AlternateContent>
          </a:graphicData>
        </a:graphic>
      </p:graphicFrame>
      <p:sp>
        <p:nvSpPr>
          <p:cNvPr id="21" name="TextBox 20"/>
          <p:cNvSpPr txBox="1"/>
          <p:nvPr/>
        </p:nvSpPr>
        <p:spPr>
          <a:xfrm>
            <a:off x="431540" y="4575874"/>
            <a:ext cx="648072" cy="369332"/>
          </a:xfrm>
          <a:prstGeom prst="rect">
            <a:avLst/>
          </a:prstGeom>
          <a:noFill/>
        </p:spPr>
        <p:txBody>
          <a:bodyPr wrap="square" rtlCol="0">
            <a:spAutoFit/>
          </a:bodyPr>
          <a:lstStyle/>
          <a:p>
            <a:r>
              <a:rPr lang="en-US" dirty="0" smtClean="0"/>
              <a:t>S=</a:t>
            </a:r>
            <a:endParaRPr lang="ru-RU" dirty="0"/>
          </a:p>
        </p:txBody>
      </p:sp>
    </p:spTree>
    <p:extLst>
      <p:ext uri="{BB962C8B-B14F-4D97-AF65-F5344CB8AC3E}">
        <p14:creationId xmlns:p14="http://schemas.microsoft.com/office/powerpoint/2010/main" val="419582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grpId="0" nodeType="withEffect">
                                  <p:stCondLst>
                                    <p:cond delay="0"/>
                                  </p:stCondLst>
                                  <p:childTnLst>
                                    <p:animMotion origin="layout" path="M -4.16667E-6 3.33333E-6 L -1.03941 3.33333E-6 " pathEditMode="relative" rAng="0" ptsTypes="AA">
                                      <p:cBhvr>
                                        <p:cTn id="6" dur="2000" fill="hold"/>
                                        <p:tgtEl>
                                          <p:spTgt spid="12"/>
                                        </p:tgtEl>
                                        <p:attrNameLst>
                                          <p:attrName>ppt_x</p:attrName>
                                          <p:attrName>ppt_y</p:attrName>
                                        </p:attrNameLst>
                                      </p:cBhvr>
                                      <p:rCtr x="-51979" y="0"/>
                                    </p:animMotion>
                                  </p:childTnLst>
                                </p:cTn>
                              </p:par>
                              <p:par>
                                <p:cTn id="7" presetID="35" presetClass="path" presetSubtype="0" accel="50000" decel="50000" fill="hold" nodeType="withEffect">
                                  <p:stCondLst>
                                    <p:cond delay="0"/>
                                  </p:stCondLst>
                                  <p:childTnLst>
                                    <p:animMotion origin="layout" path="M -1.66667E-6 2.22222E-6 L -1.03646 2.22222E-6 " pathEditMode="relative" rAng="0" ptsTypes="AA">
                                      <p:cBhvr>
                                        <p:cTn id="8" dur="2000" fill="hold"/>
                                        <p:tgtEl>
                                          <p:spTgt spid="15"/>
                                        </p:tgtEl>
                                        <p:attrNameLst>
                                          <p:attrName>ppt_x</p:attrName>
                                          <p:attrName>ppt_y</p:attrName>
                                        </p:attrNameLst>
                                      </p:cBhvr>
                                      <p:rCtr x="-51823" y="0"/>
                                    </p:animMotion>
                                  </p:childTnLst>
                                </p:cTn>
                              </p:par>
                            </p:childTnLst>
                          </p:cTn>
                        </p:par>
                        <p:par>
                          <p:cTn id="9" fill="hold">
                            <p:stCondLst>
                              <p:cond delay="2000"/>
                            </p:stCondLst>
                            <p:childTnLst>
                              <p:par>
                                <p:cTn id="10" presetID="10" presetClass="exit" presetSubtype="0" fill="hold" nodeType="afterEffect">
                                  <p:stCondLst>
                                    <p:cond delay="0"/>
                                  </p:stCondLst>
                                  <p:childTnLst>
                                    <p:animEffect transition="out" filter="fade">
                                      <p:cBhvr>
                                        <p:cTn id="11" dur="500"/>
                                        <p:tgtEl>
                                          <p:spTgt spid="15"/>
                                        </p:tgtEl>
                                      </p:cBhvr>
                                    </p:animEffect>
                                    <p:set>
                                      <p:cBhvr>
                                        <p:cTn id="12" dur="1" fill="hold">
                                          <p:stCondLst>
                                            <p:cond delay="499"/>
                                          </p:stCondLst>
                                        </p:cTn>
                                        <p:tgtEl>
                                          <p:spTgt spid="15"/>
                                        </p:tgtEl>
                                        <p:attrNameLst>
                                          <p:attrName>style.visibility</p:attrName>
                                        </p:attrNameLst>
                                      </p:cBhvr>
                                      <p:to>
                                        <p:strVal val="hidden"/>
                                      </p:to>
                                    </p:set>
                                  </p:childTnLst>
                                </p:cTn>
                              </p:par>
                            </p:childTnLst>
                          </p:cTn>
                        </p:par>
                        <p:par>
                          <p:cTn id="13" fill="hold">
                            <p:stCondLst>
                              <p:cond delay="2500"/>
                            </p:stCondLst>
                            <p:childTnLst>
                              <p:par>
                                <p:cTn id="14" presetID="10" presetClass="entr" presetSubtype="0" fill="hold" grpId="0" nodeType="after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childTnLst>
                          </p:cTn>
                        </p:par>
                        <p:par>
                          <p:cTn id="17" fill="hold">
                            <p:stCondLst>
                              <p:cond delay="3000"/>
                            </p:stCondLst>
                            <p:childTnLst>
                              <p:par>
                                <p:cTn id="18" presetID="10" presetClass="entr" presetSubtype="0"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MasterDocs\расм\f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sp>
        <p:nvSpPr>
          <p:cNvPr id="3" name="Номер слайда 2"/>
          <p:cNvSpPr>
            <a:spLocks noGrp="1"/>
          </p:cNvSpPr>
          <p:nvPr>
            <p:ph type="sldNum" sz="quarter" idx="12"/>
          </p:nvPr>
        </p:nvSpPr>
        <p:spPr>
          <a:xfrm>
            <a:off x="8385922" y="6492875"/>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13</a:t>
            </a:fld>
            <a:endParaRPr lang="ru-RU" dirty="0"/>
          </a:p>
        </p:txBody>
      </p:sp>
      <p:sp>
        <p:nvSpPr>
          <p:cNvPr id="5" name="Прямоугольник 4"/>
          <p:cNvSpPr/>
          <p:nvPr/>
        </p:nvSpPr>
        <p:spPr>
          <a:xfrm>
            <a:off x="755576" y="0"/>
            <a:ext cx="7560840" cy="461665"/>
          </a:xfrm>
          <a:prstGeom prst="rect">
            <a:avLst/>
          </a:prstGeom>
          <a:solidFill>
            <a:schemeClr val="accent1">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uz-Cyrl-UZ" sz="2400" b="1" dirty="0" smtClean="0"/>
              <a:t>Блокли </a:t>
            </a:r>
            <a:r>
              <a:rPr lang="uz-Cyrl-UZ" sz="2400" b="1" dirty="0"/>
              <a:t>яшириш усули</a:t>
            </a:r>
            <a:endParaRPr lang="ru-RU" sz="2400" dirty="0"/>
          </a:p>
        </p:txBody>
      </p:sp>
      <p:grpSp>
        <p:nvGrpSpPr>
          <p:cNvPr id="9" name="Группа 8"/>
          <p:cNvGrpSpPr/>
          <p:nvPr/>
        </p:nvGrpSpPr>
        <p:grpSpPr>
          <a:xfrm>
            <a:off x="237409" y="989385"/>
            <a:ext cx="15063783" cy="648707"/>
            <a:chOff x="237409" y="989385"/>
            <a:chExt cx="15063783" cy="648707"/>
          </a:xfrm>
        </p:grpSpPr>
        <p:sp>
          <p:nvSpPr>
            <p:cNvPr id="6" name="Прямоугольник 5"/>
            <p:cNvSpPr/>
            <p:nvPr/>
          </p:nvSpPr>
          <p:spPr>
            <a:xfrm>
              <a:off x="9252520" y="1268760"/>
              <a:ext cx="6048672" cy="369332"/>
            </a:xfrm>
            <a:prstGeom prst="rect">
              <a:avLst/>
            </a:prstGeom>
          </p:spPr>
          <p:txBody>
            <a:bodyPr wrap="square">
              <a:spAutoFit/>
            </a:bodyPr>
            <a:lstStyle/>
            <a:p>
              <a:endParaRPr lang="ru-RU" dirty="0"/>
            </a:p>
          </p:txBody>
        </p:sp>
        <p:sp>
          <p:nvSpPr>
            <p:cNvPr id="8" name="Прямоугольник 7"/>
            <p:cNvSpPr/>
            <p:nvPr/>
          </p:nvSpPr>
          <p:spPr>
            <a:xfrm>
              <a:off x="237409" y="989385"/>
              <a:ext cx="8712968" cy="369332"/>
            </a:xfrm>
            <a:prstGeom prst="rect">
              <a:avLst/>
            </a:prstGeom>
          </p:spPr>
          <p:txBody>
            <a:bodyPr wrap="square">
              <a:spAutoFit/>
            </a:bodyPr>
            <a:lstStyle/>
            <a:p>
              <a:endParaRPr lang="ru-RU" dirty="0"/>
            </a:p>
          </p:txBody>
        </p:sp>
      </p:grpSp>
      <p:sp>
        <p:nvSpPr>
          <p:cNvPr id="4" name="Прямоугольник 3"/>
          <p:cNvSpPr/>
          <p:nvPr/>
        </p:nvSpPr>
        <p:spPr>
          <a:xfrm>
            <a:off x="388481" y="1202265"/>
            <a:ext cx="8410824" cy="369332"/>
          </a:xfrm>
          <a:prstGeom prst="rect">
            <a:avLst/>
          </a:prstGeom>
        </p:spPr>
        <p:txBody>
          <a:bodyPr wrap="square">
            <a:spAutoFit/>
          </a:bodyPr>
          <a:lstStyle/>
          <a:p>
            <a:pPr algn="just"/>
            <a:endParaRPr lang="ru-RU" dirty="0"/>
          </a:p>
        </p:txBody>
      </p:sp>
      <mc:AlternateContent xmlns:mc="http://schemas.openxmlformats.org/markup-compatibility/2006" xmlns:a14="http://schemas.microsoft.com/office/drawing/2010/main">
        <mc:Choice Requires="a14">
          <p:sp>
            <p:nvSpPr>
              <p:cNvPr id="12" name="TextBox 11"/>
              <p:cNvSpPr txBox="1"/>
              <p:nvPr/>
            </p:nvSpPr>
            <p:spPr>
              <a:xfrm>
                <a:off x="370880" y="1167611"/>
                <a:ext cx="8561896" cy="1477328"/>
              </a:xfrm>
              <a:prstGeom prst="rect">
                <a:avLst/>
              </a:prstGeom>
              <a:noFill/>
            </p:spPr>
            <p:txBody>
              <a:bodyPr wrap="square" rtlCol="0">
                <a:spAutoFit/>
              </a:bodyPr>
              <a:lstStyle/>
              <a:p>
                <a:r>
                  <a:rPr lang="uz-Cyrl-UZ" dirty="0" smtClean="0"/>
                  <a:t>Усулда контейнер массиви блокларга ажратилган ҳолда ЭКМБ усули қўлланилади.</a:t>
                </a:r>
              </a:p>
              <a:p>
                <a:r>
                  <a:rPr lang="uz-Cyrl-UZ" dirty="0" smtClean="0"/>
                  <a:t>Мисол, </a:t>
                </a:r>
                <a14:m>
                  <m:oMath xmlns:m="http://schemas.openxmlformats.org/officeDocument/2006/math">
                    <m:r>
                      <a:rPr lang="uz-Cyrl-UZ" i="1">
                        <a:latin typeface="Cambria Math"/>
                      </a:rPr>
                      <m:t>𝑀</m:t>
                    </m:r>
                    <m:r>
                      <a:rPr lang="uz-Cyrl-UZ" i="1">
                        <a:latin typeface="Cambria Math"/>
                      </a:rPr>
                      <m:t>=</m:t>
                    </m:r>
                    <m:d>
                      <m:dPr>
                        <m:begChr m:val="{"/>
                        <m:endChr m:val="}"/>
                        <m:ctrlPr>
                          <a:rPr lang="ru-RU" i="1">
                            <a:latin typeface="Cambria Math"/>
                          </a:rPr>
                        </m:ctrlPr>
                      </m:dPr>
                      <m:e>
                        <m:r>
                          <a:rPr lang="uz-Cyrl-UZ" i="1">
                            <a:latin typeface="Cambria Math"/>
                          </a:rPr>
                          <m:t>73</m:t>
                        </m:r>
                      </m:e>
                    </m:d>
                    <m:r>
                      <a:rPr lang="uz-Cyrl-UZ" i="1">
                        <a:latin typeface="Cambria Math"/>
                      </a:rPr>
                      <m:t>=</m:t>
                    </m:r>
                    <m:sSub>
                      <m:sSubPr>
                        <m:ctrlPr>
                          <a:rPr lang="ru-RU" i="1">
                            <a:latin typeface="Cambria Math"/>
                          </a:rPr>
                        </m:ctrlPr>
                      </m:sSubPr>
                      <m:e>
                        <m:r>
                          <a:rPr lang="uz-Cyrl-UZ" i="1" smtClean="0">
                            <a:solidFill>
                              <a:srgbClr val="FF0000"/>
                            </a:solidFill>
                            <a:latin typeface="Cambria Math"/>
                          </a:rPr>
                          <m:t>01001001</m:t>
                        </m:r>
                      </m:e>
                      <m:sub>
                        <m:r>
                          <a:rPr lang="uz-Cyrl-UZ" i="1">
                            <a:latin typeface="Cambria Math"/>
                          </a:rPr>
                          <m:t>2</m:t>
                        </m:r>
                      </m:sub>
                    </m:sSub>
                  </m:oMath>
                </a14:m>
                <a:r>
                  <a:rPr lang="ru-RU" dirty="0"/>
                  <a:t>. </a:t>
                </a:r>
              </a:p>
              <a:p>
                <a:r>
                  <a:rPr lang="uz-Cyrl-UZ" dirty="0"/>
                  <a:t>Контейнер кўриниши 2.3.а – расмда келтирилган. </a:t>
                </a:r>
                <a14:m>
                  <m:oMath xmlns:m="http://schemas.openxmlformats.org/officeDocument/2006/math">
                    <m:sSub>
                      <m:sSubPr>
                        <m:ctrlPr>
                          <a:rPr lang="ru-RU" i="1">
                            <a:latin typeface="Cambria Math"/>
                          </a:rPr>
                        </m:ctrlPr>
                      </m:sSubPr>
                      <m:e>
                        <m:r>
                          <a:rPr lang="uz-Cyrl-UZ" i="1">
                            <a:latin typeface="Cambria Math"/>
                          </a:rPr>
                          <m:t>𝐿</m:t>
                        </m:r>
                      </m:e>
                      <m:sub>
                        <m:r>
                          <a:rPr lang="uz-Cyrl-UZ" i="1">
                            <a:latin typeface="Cambria Math"/>
                          </a:rPr>
                          <m:t>𝑀</m:t>
                        </m:r>
                      </m:sub>
                    </m:sSub>
                    <m:r>
                      <a:rPr lang="uz-Cyrl-UZ" i="1">
                        <a:latin typeface="Cambria Math"/>
                      </a:rPr>
                      <m:t>&lt;</m:t>
                    </m:r>
                    <m:r>
                      <a:rPr lang="uz-Cyrl-UZ" i="1">
                        <a:latin typeface="Cambria Math"/>
                      </a:rPr>
                      <m:t>𝑌</m:t>
                    </m:r>
                  </m:oMath>
                </a14:m>
                <a:r>
                  <a:rPr lang="uz-Cyrl-UZ" dirty="0"/>
                  <a:t> бўлган учун, </a:t>
                </a:r>
                <a:endParaRPr lang="uz-Cyrl-UZ" dirty="0" smtClean="0"/>
              </a:p>
              <a:p>
                <a14:m>
                  <m:oMath xmlns:m="http://schemas.openxmlformats.org/officeDocument/2006/math">
                    <m:r>
                      <a:rPr lang="uz-Cyrl-UZ" i="1">
                        <a:latin typeface="Cambria Math"/>
                      </a:rPr>
                      <m:t>𝜃</m:t>
                    </m:r>
                    <m:r>
                      <a:rPr lang="uz-Cyrl-UZ" i="1">
                        <a:latin typeface="Cambria Math"/>
                      </a:rPr>
                      <m:t>=</m:t>
                    </m:r>
                    <m:r>
                      <a:rPr lang="uz-Cyrl-UZ" i="1">
                        <a:latin typeface="Cambria Math"/>
                      </a:rPr>
                      <m:t>𝑐𝑒𝑖𝑙</m:t>
                    </m:r>
                    <m:d>
                      <m:dPr>
                        <m:ctrlPr>
                          <a:rPr lang="ru-RU" i="1">
                            <a:latin typeface="Cambria Math"/>
                          </a:rPr>
                        </m:ctrlPr>
                      </m:dPr>
                      <m:e>
                        <m:sSub>
                          <m:sSubPr>
                            <m:ctrlPr>
                              <a:rPr lang="ru-RU" i="1">
                                <a:latin typeface="Cambria Math"/>
                              </a:rPr>
                            </m:ctrlPr>
                          </m:sSubPr>
                          <m:e>
                            <m:r>
                              <a:rPr lang="uz-Cyrl-UZ" i="1">
                                <a:latin typeface="Cambria Math"/>
                              </a:rPr>
                              <m:t>𝑙</m:t>
                            </m:r>
                          </m:e>
                          <m:sub>
                            <m:r>
                              <a:rPr lang="uz-Cyrl-UZ" i="1">
                                <a:latin typeface="Cambria Math"/>
                              </a:rPr>
                              <m:t>𝑚</m:t>
                            </m:r>
                          </m:sub>
                        </m:sSub>
                        <m:r>
                          <a:rPr lang="uz-Cyrl-UZ" i="1">
                            <a:latin typeface="Cambria Math"/>
                          </a:rPr>
                          <m:t>÷</m:t>
                        </m:r>
                        <m:r>
                          <a:rPr lang="uz-Cyrl-UZ" i="1">
                            <a:latin typeface="Cambria Math"/>
                          </a:rPr>
                          <m:t>𝑌</m:t>
                        </m:r>
                      </m:e>
                    </m:d>
                    <m:r>
                      <a:rPr lang="ru-RU" i="1">
                        <a:latin typeface="Cambria Math"/>
                      </a:rPr>
                      <m:t>=8:4=2</m:t>
                    </m:r>
                  </m:oMath>
                </a14:m>
                <a:r>
                  <a:rPr lang="uz-Cyrl-UZ" dirty="0"/>
                  <a:t>. Демак, контейнер массиви қуйидагича бўлинади:</a:t>
                </a:r>
                <a:endParaRPr lang="ru-RU" dirty="0"/>
              </a:p>
              <a:p>
                <a:endParaRPr lang="ru-RU" dirty="0"/>
              </a:p>
            </p:txBody>
          </p:sp>
        </mc:Choice>
        <mc:Fallback xmlns="">
          <p:sp>
            <p:nvSpPr>
              <p:cNvPr id="12" name="TextBox 11"/>
              <p:cNvSpPr txBox="1">
                <a:spLocks noRot="1" noChangeAspect="1" noMove="1" noResize="1" noEditPoints="1" noAdjustHandles="1" noChangeArrowheads="1" noChangeShapeType="1" noTextEdit="1"/>
              </p:cNvSpPr>
              <p:nvPr/>
            </p:nvSpPr>
            <p:spPr>
              <a:xfrm>
                <a:off x="370880" y="1167611"/>
                <a:ext cx="8561896" cy="1477328"/>
              </a:xfrm>
              <a:prstGeom prst="rect">
                <a:avLst/>
              </a:prstGeom>
              <a:blipFill rotWithShape="1">
                <a:blip r:embed="rId4"/>
                <a:stretch>
                  <a:fillRect l="-641" t="-2066"/>
                </a:stretch>
              </a:blipFill>
            </p:spPr>
            <p:txBody>
              <a:bodyPr/>
              <a:lstStyle/>
              <a:p>
                <a:r>
                  <a:rPr lang="ru-RU">
                    <a:noFill/>
                  </a:rPr>
                  <a:t> </a:t>
                </a:r>
              </a:p>
            </p:txBody>
          </p:sp>
        </mc:Fallback>
      </mc:AlternateContent>
      <p:graphicFrame>
        <p:nvGraphicFramePr>
          <p:cNvPr id="7" name="Таблица 6"/>
          <p:cNvGraphicFramePr>
            <a:graphicFrameLocks noGrp="1"/>
          </p:cNvGraphicFramePr>
          <p:nvPr>
            <p:extLst>
              <p:ext uri="{D42A27DB-BD31-4B8C-83A1-F6EECF244321}">
                <p14:modId xmlns:p14="http://schemas.microsoft.com/office/powerpoint/2010/main" val="2365897051"/>
              </p:ext>
            </p:extLst>
          </p:nvPr>
        </p:nvGraphicFramePr>
        <p:xfrm>
          <a:off x="971600" y="3241955"/>
          <a:ext cx="1944215" cy="1483360"/>
        </p:xfrm>
        <a:graphic>
          <a:graphicData uri="http://schemas.openxmlformats.org/drawingml/2006/table">
            <a:tbl>
              <a:tblPr firstRow="1" bandRow="1">
                <a:tableStyleId>{2D5ABB26-0587-4C30-8999-92F81FD0307C}</a:tableStyleId>
              </a:tblPr>
              <a:tblGrid>
                <a:gridCol w="511636"/>
                <a:gridCol w="460472"/>
                <a:gridCol w="460472"/>
                <a:gridCol w="511635"/>
              </a:tblGrid>
              <a:tr h="370840">
                <a:tc>
                  <a:txBody>
                    <a:bodyPr/>
                    <a:lstStyle/>
                    <a:p>
                      <a:pPr algn="ctr"/>
                      <a:r>
                        <a:rPr lang="ru-RU"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5</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9</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13</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2</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6</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14</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3</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7</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15</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4</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8</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12</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16</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0" name="Таблица 9"/>
          <p:cNvGraphicFramePr>
            <a:graphicFrameLocks noGrp="1"/>
          </p:cNvGraphicFramePr>
          <p:nvPr>
            <p:extLst>
              <p:ext uri="{D42A27DB-BD31-4B8C-83A1-F6EECF244321}">
                <p14:modId xmlns:p14="http://schemas.microsoft.com/office/powerpoint/2010/main" val="4284811303"/>
              </p:ext>
            </p:extLst>
          </p:nvPr>
        </p:nvGraphicFramePr>
        <p:xfrm>
          <a:off x="3679241" y="3232476"/>
          <a:ext cx="511636" cy="741680"/>
        </p:xfrm>
        <a:graphic>
          <a:graphicData uri="http://schemas.openxmlformats.org/drawingml/2006/table">
            <a:tbl>
              <a:tblPr firstRow="1" bandRow="1">
                <a:tableStyleId>{2D5ABB26-0587-4C30-8999-92F81FD0307C}</a:tableStyleId>
              </a:tblPr>
              <a:tblGrid>
                <a:gridCol w="511636"/>
              </a:tblGrid>
              <a:tr h="370840">
                <a:tc>
                  <a:txBody>
                    <a:bodyPr/>
                    <a:lstStyle/>
                    <a:p>
                      <a:pPr algn="ctr"/>
                      <a:r>
                        <a:rPr lang="ru-RU"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2</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1" name="Таблица 10"/>
          <p:cNvGraphicFramePr>
            <a:graphicFrameLocks noGrp="1"/>
          </p:cNvGraphicFramePr>
          <p:nvPr>
            <p:extLst>
              <p:ext uri="{D42A27DB-BD31-4B8C-83A1-F6EECF244321}">
                <p14:modId xmlns:p14="http://schemas.microsoft.com/office/powerpoint/2010/main" val="2842739692"/>
              </p:ext>
            </p:extLst>
          </p:nvPr>
        </p:nvGraphicFramePr>
        <p:xfrm>
          <a:off x="3674451" y="3972313"/>
          <a:ext cx="511636" cy="741680"/>
        </p:xfrm>
        <a:graphic>
          <a:graphicData uri="http://schemas.openxmlformats.org/drawingml/2006/table">
            <a:tbl>
              <a:tblPr firstRow="1" bandRow="1">
                <a:tableStyleId>{2D5ABB26-0587-4C30-8999-92F81FD0307C}</a:tableStyleId>
              </a:tblPr>
              <a:tblGrid>
                <a:gridCol w="511636"/>
              </a:tblGrid>
              <a:tr h="370840">
                <a:tc>
                  <a:txBody>
                    <a:bodyPr/>
                    <a:lstStyle/>
                    <a:p>
                      <a:pPr algn="ctr"/>
                      <a:r>
                        <a:rPr lang="ru-RU" dirty="0" smtClean="0"/>
                        <a:t>3</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4</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7" name="Таблица 16"/>
          <p:cNvGraphicFramePr>
            <a:graphicFrameLocks noGrp="1"/>
          </p:cNvGraphicFramePr>
          <p:nvPr>
            <p:extLst>
              <p:ext uri="{D42A27DB-BD31-4B8C-83A1-F6EECF244321}">
                <p14:modId xmlns:p14="http://schemas.microsoft.com/office/powerpoint/2010/main" val="622539873"/>
              </p:ext>
            </p:extLst>
          </p:nvPr>
        </p:nvGraphicFramePr>
        <p:xfrm>
          <a:off x="4255305" y="3232476"/>
          <a:ext cx="460472" cy="741680"/>
        </p:xfrm>
        <a:graphic>
          <a:graphicData uri="http://schemas.openxmlformats.org/drawingml/2006/table">
            <a:tbl>
              <a:tblPr firstRow="1" bandRow="1">
                <a:tableStyleId>{2D5ABB26-0587-4C30-8999-92F81FD0307C}</a:tableStyleId>
              </a:tblPr>
              <a:tblGrid>
                <a:gridCol w="460472"/>
              </a:tblGrid>
              <a:tr h="370840">
                <a:tc>
                  <a:txBody>
                    <a:bodyPr/>
                    <a:lstStyle/>
                    <a:p>
                      <a:pPr algn="ctr"/>
                      <a:r>
                        <a:rPr lang="ru-RU" dirty="0" smtClean="0"/>
                        <a:t>5</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6</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8" name="Таблица 17"/>
          <p:cNvGraphicFramePr>
            <a:graphicFrameLocks noGrp="1"/>
          </p:cNvGraphicFramePr>
          <p:nvPr>
            <p:extLst>
              <p:ext uri="{D42A27DB-BD31-4B8C-83A1-F6EECF244321}">
                <p14:modId xmlns:p14="http://schemas.microsoft.com/office/powerpoint/2010/main" val="3896498629"/>
              </p:ext>
            </p:extLst>
          </p:nvPr>
        </p:nvGraphicFramePr>
        <p:xfrm>
          <a:off x="4250515" y="3972313"/>
          <a:ext cx="460472" cy="741680"/>
        </p:xfrm>
        <a:graphic>
          <a:graphicData uri="http://schemas.openxmlformats.org/drawingml/2006/table">
            <a:tbl>
              <a:tblPr firstRow="1" bandRow="1">
                <a:tableStyleId>{2D5ABB26-0587-4C30-8999-92F81FD0307C}</a:tableStyleId>
              </a:tblPr>
              <a:tblGrid>
                <a:gridCol w="460472"/>
              </a:tblGrid>
              <a:tr h="370840">
                <a:tc>
                  <a:txBody>
                    <a:bodyPr/>
                    <a:lstStyle/>
                    <a:p>
                      <a:pPr algn="ctr"/>
                      <a:r>
                        <a:rPr lang="ru-RU" dirty="0" smtClean="0"/>
                        <a:t>7</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8</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9" name="Таблица 18"/>
          <p:cNvGraphicFramePr>
            <a:graphicFrameLocks noGrp="1"/>
          </p:cNvGraphicFramePr>
          <p:nvPr>
            <p:extLst>
              <p:ext uri="{D42A27DB-BD31-4B8C-83A1-F6EECF244321}">
                <p14:modId xmlns:p14="http://schemas.microsoft.com/office/powerpoint/2010/main" val="1264559998"/>
              </p:ext>
            </p:extLst>
          </p:nvPr>
        </p:nvGraphicFramePr>
        <p:xfrm>
          <a:off x="4759361" y="3232476"/>
          <a:ext cx="460472" cy="741680"/>
        </p:xfrm>
        <a:graphic>
          <a:graphicData uri="http://schemas.openxmlformats.org/drawingml/2006/table">
            <a:tbl>
              <a:tblPr firstRow="1" bandRow="1">
                <a:tableStyleId>{2D5ABB26-0587-4C30-8999-92F81FD0307C}</a:tableStyleId>
              </a:tblPr>
              <a:tblGrid>
                <a:gridCol w="460472"/>
              </a:tblGrid>
              <a:tr h="370840">
                <a:tc>
                  <a:txBody>
                    <a:bodyPr/>
                    <a:lstStyle/>
                    <a:p>
                      <a:pPr algn="ctr"/>
                      <a:r>
                        <a:rPr lang="ru-RU" dirty="0" smtClean="0"/>
                        <a:t>9</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10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21" name="Таблица 20"/>
          <p:cNvGraphicFramePr>
            <a:graphicFrameLocks noGrp="1"/>
          </p:cNvGraphicFramePr>
          <p:nvPr>
            <p:extLst>
              <p:ext uri="{D42A27DB-BD31-4B8C-83A1-F6EECF244321}">
                <p14:modId xmlns:p14="http://schemas.microsoft.com/office/powerpoint/2010/main" val="3703524556"/>
              </p:ext>
            </p:extLst>
          </p:nvPr>
        </p:nvGraphicFramePr>
        <p:xfrm>
          <a:off x="4754571" y="3972313"/>
          <a:ext cx="460472" cy="741680"/>
        </p:xfrm>
        <a:graphic>
          <a:graphicData uri="http://schemas.openxmlformats.org/drawingml/2006/table">
            <a:tbl>
              <a:tblPr firstRow="1" bandRow="1">
                <a:tableStyleId>{2D5ABB26-0587-4C30-8999-92F81FD0307C}</a:tableStyleId>
              </a:tblPr>
              <a:tblGrid>
                <a:gridCol w="460472"/>
              </a:tblGrid>
              <a:tr h="370840">
                <a:tc>
                  <a:txBody>
                    <a:bodyPr/>
                    <a:lstStyle/>
                    <a:p>
                      <a:pPr algn="ctr"/>
                      <a:r>
                        <a:rPr lang="ru-RU" dirty="0" smtClean="0"/>
                        <a:t>11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12</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22" name="Таблица 21"/>
          <p:cNvGraphicFramePr>
            <a:graphicFrameLocks noGrp="1"/>
          </p:cNvGraphicFramePr>
          <p:nvPr>
            <p:extLst>
              <p:ext uri="{D42A27DB-BD31-4B8C-83A1-F6EECF244321}">
                <p14:modId xmlns:p14="http://schemas.microsoft.com/office/powerpoint/2010/main" val="4077429047"/>
              </p:ext>
            </p:extLst>
          </p:nvPr>
        </p:nvGraphicFramePr>
        <p:xfrm>
          <a:off x="5263417" y="3232476"/>
          <a:ext cx="511635" cy="741680"/>
        </p:xfrm>
        <a:graphic>
          <a:graphicData uri="http://schemas.openxmlformats.org/drawingml/2006/table">
            <a:tbl>
              <a:tblPr firstRow="1" bandRow="1">
                <a:tableStyleId>{2D5ABB26-0587-4C30-8999-92F81FD0307C}</a:tableStyleId>
              </a:tblPr>
              <a:tblGrid>
                <a:gridCol w="511635"/>
              </a:tblGrid>
              <a:tr h="370840">
                <a:tc>
                  <a:txBody>
                    <a:bodyPr/>
                    <a:lstStyle/>
                    <a:p>
                      <a:pPr algn="ctr"/>
                      <a:r>
                        <a:rPr lang="ru-RU" dirty="0" smtClean="0"/>
                        <a:t>13</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14</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23" name="Таблица 22"/>
          <p:cNvGraphicFramePr>
            <a:graphicFrameLocks noGrp="1"/>
          </p:cNvGraphicFramePr>
          <p:nvPr>
            <p:extLst>
              <p:ext uri="{D42A27DB-BD31-4B8C-83A1-F6EECF244321}">
                <p14:modId xmlns:p14="http://schemas.microsoft.com/office/powerpoint/2010/main" val="1407798486"/>
              </p:ext>
            </p:extLst>
          </p:nvPr>
        </p:nvGraphicFramePr>
        <p:xfrm>
          <a:off x="5258627" y="3972313"/>
          <a:ext cx="511635" cy="741680"/>
        </p:xfrm>
        <a:graphic>
          <a:graphicData uri="http://schemas.openxmlformats.org/drawingml/2006/table">
            <a:tbl>
              <a:tblPr firstRow="1" bandRow="1">
                <a:tableStyleId>{2D5ABB26-0587-4C30-8999-92F81FD0307C}</a:tableStyleId>
              </a:tblPr>
              <a:tblGrid>
                <a:gridCol w="511635"/>
              </a:tblGrid>
              <a:tr h="370840">
                <a:tc>
                  <a:txBody>
                    <a:bodyPr/>
                    <a:lstStyle/>
                    <a:p>
                      <a:pPr algn="ctr"/>
                      <a:r>
                        <a:rPr lang="ru-RU" dirty="0" smtClean="0"/>
                        <a:t>15</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16</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24" name="Прямоугольник 23"/>
              <p:cNvSpPr/>
              <p:nvPr/>
            </p:nvSpPr>
            <p:spPr>
              <a:xfrm>
                <a:off x="3665679" y="3614303"/>
                <a:ext cx="198644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uz-Cyrl-UZ" i="1" smtClean="0">
                          <a:solidFill>
                            <a:srgbClr val="FF0000"/>
                          </a:solidFill>
                          <a:latin typeface="Cambria Math"/>
                        </a:rPr>
                        <m:t>0</m:t>
                      </m:r>
                      <m:r>
                        <a:rPr lang="ru-RU" b="0" i="1" smtClean="0">
                          <a:solidFill>
                            <a:srgbClr val="FF0000"/>
                          </a:solidFill>
                          <a:latin typeface="Cambria Math"/>
                        </a:rPr>
                        <m:t>        </m:t>
                      </m:r>
                      <m:r>
                        <a:rPr lang="uz-Cyrl-UZ" i="1">
                          <a:solidFill>
                            <a:srgbClr val="FF0000"/>
                          </a:solidFill>
                          <a:latin typeface="Cambria Math"/>
                        </a:rPr>
                        <m:t>1</m:t>
                      </m:r>
                      <m:r>
                        <a:rPr lang="ru-RU" b="0" i="1" smtClean="0">
                          <a:solidFill>
                            <a:srgbClr val="FF0000"/>
                          </a:solidFill>
                          <a:latin typeface="Cambria Math"/>
                        </a:rPr>
                        <m:t>        </m:t>
                      </m:r>
                      <m:r>
                        <a:rPr lang="uz-Cyrl-UZ" i="1">
                          <a:solidFill>
                            <a:srgbClr val="FF0000"/>
                          </a:solidFill>
                          <a:latin typeface="Cambria Math"/>
                        </a:rPr>
                        <m:t>0</m:t>
                      </m:r>
                      <m:r>
                        <a:rPr lang="ru-RU" b="0" i="1" smtClean="0">
                          <a:solidFill>
                            <a:srgbClr val="FF0000"/>
                          </a:solidFill>
                          <a:latin typeface="Cambria Math"/>
                        </a:rPr>
                        <m:t>        </m:t>
                      </m:r>
                      <m:r>
                        <a:rPr lang="uz-Cyrl-UZ" i="1">
                          <a:solidFill>
                            <a:srgbClr val="FF0000"/>
                          </a:solidFill>
                          <a:latin typeface="Cambria Math"/>
                        </a:rPr>
                        <m:t>0</m:t>
                      </m:r>
                    </m:oMath>
                  </m:oMathPara>
                </a14:m>
                <a:endParaRPr lang="ru-RU" dirty="0">
                  <a:solidFill>
                    <a:srgbClr val="FF0000"/>
                  </a:solidFill>
                </a:endParaRPr>
              </a:p>
            </p:txBody>
          </p:sp>
        </mc:Choice>
        <mc:Fallback xmlns="">
          <p:sp>
            <p:nvSpPr>
              <p:cNvPr id="24" name="Прямоугольник 23"/>
              <p:cNvSpPr>
                <a:spLocks noRot="1" noChangeAspect="1" noMove="1" noResize="1" noEditPoints="1" noAdjustHandles="1" noChangeArrowheads="1" noChangeShapeType="1" noTextEdit="1"/>
              </p:cNvSpPr>
              <p:nvPr/>
            </p:nvSpPr>
            <p:spPr>
              <a:xfrm>
                <a:off x="3665679" y="3614303"/>
                <a:ext cx="1986441" cy="369332"/>
              </a:xfrm>
              <a:prstGeom prst="rect">
                <a:avLst/>
              </a:prstGeom>
              <a:blipFill rotWithShape="1">
                <a:blip r:embed="rId5"/>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5" name="Прямоугольник 24"/>
              <p:cNvSpPr/>
              <p:nvPr/>
            </p:nvSpPr>
            <p:spPr>
              <a:xfrm>
                <a:off x="3665679" y="3983635"/>
                <a:ext cx="193514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uz-Cyrl-UZ" i="1" smtClean="0">
                          <a:solidFill>
                            <a:srgbClr val="FF0000"/>
                          </a:solidFill>
                          <a:latin typeface="Cambria Math"/>
                        </a:rPr>
                        <m:t>1</m:t>
                      </m:r>
                      <m:r>
                        <a:rPr lang="ru-RU" b="0" i="1" smtClean="0">
                          <a:solidFill>
                            <a:srgbClr val="FF0000"/>
                          </a:solidFill>
                          <a:latin typeface="Cambria Math"/>
                        </a:rPr>
                        <m:t>         </m:t>
                      </m:r>
                      <m:r>
                        <a:rPr lang="uz-Cyrl-UZ" i="1">
                          <a:solidFill>
                            <a:srgbClr val="FF0000"/>
                          </a:solidFill>
                          <a:latin typeface="Cambria Math"/>
                        </a:rPr>
                        <m:t>0</m:t>
                      </m:r>
                      <m:r>
                        <a:rPr lang="ru-RU" b="0" i="1" smtClean="0">
                          <a:solidFill>
                            <a:srgbClr val="FF0000"/>
                          </a:solidFill>
                          <a:latin typeface="Cambria Math"/>
                        </a:rPr>
                        <m:t>       </m:t>
                      </m:r>
                      <m:r>
                        <a:rPr lang="uz-Cyrl-UZ" i="1">
                          <a:solidFill>
                            <a:srgbClr val="FF0000"/>
                          </a:solidFill>
                          <a:latin typeface="Cambria Math"/>
                        </a:rPr>
                        <m:t>0</m:t>
                      </m:r>
                      <m:r>
                        <a:rPr lang="ru-RU" b="0" i="1" smtClean="0">
                          <a:solidFill>
                            <a:srgbClr val="FF0000"/>
                          </a:solidFill>
                          <a:latin typeface="Cambria Math"/>
                        </a:rPr>
                        <m:t>       </m:t>
                      </m:r>
                      <m:r>
                        <a:rPr lang="uz-Cyrl-UZ" i="1">
                          <a:solidFill>
                            <a:srgbClr val="FF0000"/>
                          </a:solidFill>
                          <a:latin typeface="Cambria Math"/>
                        </a:rPr>
                        <m:t>1</m:t>
                      </m:r>
                    </m:oMath>
                  </m:oMathPara>
                </a14:m>
                <a:endParaRPr lang="ru-RU" dirty="0">
                  <a:solidFill>
                    <a:srgbClr val="FF0000"/>
                  </a:solidFill>
                </a:endParaRPr>
              </a:p>
            </p:txBody>
          </p:sp>
        </mc:Choice>
        <mc:Fallback xmlns="">
          <p:sp>
            <p:nvSpPr>
              <p:cNvPr id="25" name="Прямоугольник 24"/>
              <p:cNvSpPr>
                <a:spLocks noRot="1" noChangeAspect="1" noMove="1" noResize="1" noEditPoints="1" noAdjustHandles="1" noChangeArrowheads="1" noChangeShapeType="1" noTextEdit="1"/>
              </p:cNvSpPr>
              <p:nvPr/>
            </p:nvSpPr>
            <p:spPr>
              <a:xfrm>
                <a:off x="3665679" y="3983635"/>
                <a:ext cx="1935145" cy="369332"/>
              </a:xfrm>
              <a:prstGeom prst="rect">
                <a:avLst/>
              </a:prstGeom>
              <a:blipFill rotWithShape="1">
                <a:blip r:embed="rId6"/>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6" name="Прямоугольник 25"/>
              <p:cNvSpPr/>
              <p:nvPr/>
            </p:nvSpPr>
            <p:spPr>
              <a:xfrm>
                <a:off x="3736211" y="5182564"/>
                <a:ext cx="1915909" cy="369332"/>
              </a:xfrm>
              <a:prstGeom prst="rect">
                <a:avLst/>
              </a:prstGeom>
            </p:spPr>
            <p:txBody>
              <a:bodyPr wrap="none">
                <a:spAutoFit/>
              </a:bodyPr>
              <a:lstStyle/>
              <a:p>
                <a14:m>
                  <m:oMath xmlns:m="http://schemas.openxmlformats.org/officeDocument/2006/math">
                    <m:r>
                      <a:rPr lang="ru-RU" b="0" i="1" smtClean="0">
                        <a:solidFill>
                          <a:srgbClr val="0070C0"/>
                        </a:solidFill>
                        <a:latin typeface="Cambria Math"/>
                      </a:rPr>
                      <m:t>1        </m:t>
                    </m:r>
                    <m:r>
                      <a:rPr lang="uz-Cyrl-UZ" i="1">
                        <a:solidFill>
                          <a:srgbClr val="0070C0"/>
                        </a:solidFill>
                        <a:latin typeface="Cambria Math"/>
                      </a:rPr>
                      <m:t>1</m:t>
                    </m:r>
                    <m:r>
                      <a:rPr lang="ru-RU" b="0" i="1" smtClean="0">
                        <a:solidFill>
                          <a:srgbClr val="0070C0"/>
                        </a:solidFill>
                        <a:latin typeface="Cambria Math"/>
                      </a:rPr>
                      <m:t>        1        </m:t>
                    </m:r>
                  </m:oMath>
                </a14:m>
                <a:r>
                  <a:rPr lang="ru-RU" dirty="0" smtClean="0">
                    <a:solidFill>
                      <a:srgbClr val="0070C0"/>
                    </a:solidFill>
                  </a:rPr>
                  <a:t>1</a:t>
                </a:r>
                <a:endParaRPr lang="ru-RU" dirty="0">
                  <a:solidFill>
                    <a:srgbClr val="0070C0"/>
                  </a:solidFill>
                </a:endParaRPr>
              </a:p>
            </p:txBody>
          </p:sp>
        </mc:Choice>
        <mc:Fallback xmlns="">
          <p:sp>
            <p:nvSpPr>
              <p:cNvPr id="26" name="Прямоугольник 25"/>
              <p:cNvSpPr>
                <a:spLocks noRot="1" noChangeAspect="1" noMove="1" noResize="1" noEditPoints="1" noAdjustHandles="1" noChangeArrowheads="1" noChangeShapeType="1" noTextEdit="1"/>
              </p:cNvSpPr>
              <p:nvPr/>
            </p:nvSpPr>
            <p:spPr>
              <a:xfrm>
                <a:off x="3736211" y="5182564"/>
                <a:ext cx="1915909" cy="369332"/>
              </a:xfrm>
              <a:prstGeom prst="rect">
                <a:avLst/>
              </a:prstGeom>
              <a:blipFill rotWithShape="1">
                <a:blip r:embed="rId7"/>
                <a:stretch>
                  <a:fillRect t="-8197" r="-1911" b="-2459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7" name="Прямоугольник 26"/>
              <p:cNvSpPr/>
              <p:nvPr/>
            </p:nvSpPr>
            <p:spPr>
              <a:xfrm>
                <a:off x="3736211" y="2415870"/>
                <a:ext cx="1915909" cy="369332"/>
              </a:xfrm>
              <a:prstGeom prst="rect">
                <a:avLst/>
              </a:prstGeom>
            </p:spPr>
            <p:txBody>
              <a:bodyPr wrap="none">
                <a:spAutoFit/>
              </a:bodyPr>
              <a:lstStyle/>
              <a:p>
                <a14:m>
                  <m:oMath xmlns:m="http://schemas.openxmlformats.org/officeDocument/2006/math">
                    <m:r>
                      <a:rPr lang="ru-RU" b="0" i="1" smtClean="0">
                        <a:solidFill>
                          <a:srgbClr val="0070C0"/>
                        </a:solidFill>
                        <a:latin typeface="Cambria Math"/>
                      </a:rPr>
                      <m:t>1        </m:t>
                    </m:r>
                    <m:r>
                      <a:rPr lang="uz-Cyrl-UZ" i="1">
                        <a:solidFill>
                          <a:srgbClr val="0070C0"/>
                        </a:solidFill>
                        <a:latin typeface="Cambria Math"/>
                      </a:rPr>
                      <m:t>1</m:t>
                    </m:r>
                    <m:r>
                      <a:rPr lang="ru-RU" b="0" i="1" smtClean="0">
                        <a:solidFill>
                          <a:srgbClr val="0070C0"/>
                        </a:solidFill>
                        <a:latin typeface="Cambria Math"/>
                      </a:rPr>
                      <m:t>        1        </m:t>
                    </m:r>
                  </m:oMath>
                </a14:m>
                <a:r>
                  <a:rPr lang="ru-RU" dirty="0" smtClean="0">
                    <a:solidFill>
                      <a:srgbClr val="0070C0"/>
                    </a:solidFill>
                  </a:rPr>
                  <a:t>1</a:t>
                </a:r>
                <a:endParaRPr lang="ru-RU" dirty="0">
                  <a:solidFill>
                    <a:srgbClr val="0070C0"/>
                  </a:solidFill>
                </a:endParaRPr>
              </a:p>
            </p:txBody>
          </p:sp>
        </mc:Choice>
        <mc:Fallback xmlns="">
          <p:sp>
            <p:nvSpPr>
              <p:cNvPr id="27" name="Прямоугольник 26"/>
              <p:cNvSpPr>
                <a:spLocks noRot="1" noChangeAspect="1" noMove="1" noResize="1" noEditPoints="1" noAdjustHandles="1" noChangeArrowheads="1" noChangeShapeType="1" noTextEdit="1"/>
              </p:cNvSpPr>
              <p:nvPr/>
            </p:nvSpPr>
            <p:spPr>
              <a:xfrm>
                <a:off x="3736211" y="2415870"/>
                <a:ext cx="1915909" cy="369332"/>
              </a:xfrm>
              <a:prstGeom prst="rect">
                <a:avLst/>
              </a:prstGeom>
              <a:blipFill rotWithShape="1">
                <a:blip r:embed="rId8"/>
                <a:stretch>
                  <a:fillRect t="-8197" r="-1911" b="-24590"/>
                </a:stretch>
              </a:blipFill>
            </p:spPr>
            <p:txBody>
              <a:bodyPr/>
              <a:lstStyle/>
              <a:p>
                <a:r>
                  <a:rPr lang="ru-RU">
                    <a:noFill/>
                  </a:rPr>
                  <a:t> </a:t>
                </a:r>
              </a:p>
            </p:txBody>
          </p:sp>
        </mc:Fallback>
      </mc:AlternateContent>
      <p:graphicFrame>
        <p:nvGraphicFramePr>
          <p:cNvPr id="28" name="Таблица 27"/>
          <p:cNvGraphicFramePr>
            <a:graphicFrameLocks noGrp="1"/>
          </p:cNvGraphicFramePr>
          <p:nvPr>
            <p:extLst>
              <p:ext uri="{D42A27DB-BD31-4B8C-83A1-F6EECF244321}">
                <p14:modId xmlns:p14="http://schemas.microsoft.com/office/powerpoint/2010/main" val="547161329"/>
              </p:ext>
            </p:extLst>
          </p:nvPr>
        </p:nvGraphicFramePr>
        <p:xfrm>
          <a:off x="6228184" y="3197425"/>
          <a:ext cx="1944215" cy="1483360"/>
        </p:xfrm>
        <a:graphic>
          <a:graphicData uri="http://schemas.openxmlformats.org/drawingml/2006/table">
            <a:tbl>
              <a:tblPr firstRow="1" bandRow="1">
                <a:tableStyleId>{2D5ABB26-0587-4C30-8999-92F81FD0307C}</a:tableStyleId>
              </a:tblPr>
              <a:tblGrid>
                <a:gridCol w="511636"/>
                <a:gridCol w="460472"/>
                <a:gridCol w="460472"/>
                <a:gridCol w="511635"/>
              </a:tblGrid>
              <a:tr h="370840">
                <a:tc>
                  <a:txBody>
                    <a:bodyPr/>
                    <a:lstStyle/>
                    <a:p>
                      <a:pPr algn="ctr"/>
                      <a:r>
                        <a:rPr lang="ru-RU"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5</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13</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3</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6</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15</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4</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7</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12</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15</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4</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9</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12</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dirty="0" smtClean="0"/>
                        <a:t>16</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9" name="Прямоугольник 28"/>
          <p:cNvSpPr/>
          <p:nvPr/>
        </p:nvSpPr>
        <p:spPr>
          <a:xfrm>
            <a:off x="611560" y="4814863"/>
            <a:ext cx="2988062" cy="369332"/>
          </a:xfrm>
          <a:prstGeom prst="rect">
            <a:avLst/>
          </a:prstGeom>
        </p:spPr>
        <p:txBody>
          <a:bodyPr wrap="none">
            <a:spAutoFit/>
          </a:bodyPr>
          <a:lstStyle/>
          <a:p>
            <a:r>
              <a:rPr lang="uz-Cyrl-UZ" dirty="0" smtClean="0">
                <a:solidFill>
                  <a:srgbClr val="0070C0"/>
                </a:solidFill>
              </a:rPr>
              <a:t>Блоклар суммаси </a:t>
            </a:r>
            <a:r>
              <a:rPr lang="en-US" dirty="0" smtClean="0">
                <a:solidFill>
                  <a:srgbClr val="0070C0"/>
                </a:solidFill>
              </a:rPr>
              <a:t>= </a:t>
            </a:r>
            <a:r>
              <a:rPr lang="ru-RU" dirty="0" smtClean="0">
                <a:solidFill>
                  <a:srgbClr val="0070C0"/>
                </a:solidFill>
              </a:rPr>
              <a:t>11111111</a:t>
            </a:r>
            <a:endParaRPr lang="ru-RU" dirty="0">
              <a:solidFill>
                <a:srgbClr val="0070C0"/>
              </a:solidFill>
            </a:endParaRPr>
          </a:p>
        </p:txBody>
      </p:sp>
      <p:graphicFrame>
        <p:nvGraphicFramePr>
          <p:cNvPr id="38" name="Таблица 37"/>
          <p:cNvGraphicFramePr>
            <a:graphicFrameLocks noGrp="1"/>
          </p:cNvGraphicFramePr>
          <p:nvPr>
            <p:extLst>
              <p:ext uri="{D42A27DB-BD31-4B8C-83A1-F6EECF244321}">
                <p14:modId xmlns:p14="http://schemas.microsoft.com/office/powerpoint/2010/main" val="2339155113"/>
              </p:ext>
            </p:extLst>
          </p:nvPr>
        </p:nvGraphicFramePr>
        <p:xfrm>
          <a:off x="3685811" y="3228949"/>
          <a:ext cx="511636" cy="741680"/>
        </p:xfrm>
        <a:graphic>
          <a:graphicData uri="http://schemas.openxmlformats.org/drawingml/2006/table">
            <a:tbl>
              <a:tblPr firstRow="1" bandRow="1">
                <a:tableStyleId>{2D5ABB26-0587-4C30-8999-92F81FD0307C}</a:tableStyleId>
              </a:tblPr>
              <a:tblGrid>
                <a:gridCol w="511636"/>
              </a:tblGrid>
              <a:tr h="370840">
                <a:tc>
                  <a:txBody>
                    <a:bodyPr/>
                    <a:lstStyle/>
                    <a:p>
                      <a:pPr algn="ctr"/>
                      <a:r>
                        <a:rPr lang="ru-RU" dirty="0" smtClean="0"/>
                        <a:t>1</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b="1" dirty="0" smtClean="0"/>
                        <a:t>3</a:t>
                      </a:r>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39" name="Таблица 38"/>
          <p:cNvGraphicFramePr>
            <a:graphicFrameLocks noGrp="1"/>
          </p:cNvGraphicFramePr>
          <p:nvPr>
            <p:extLst>
              <p:ext uri="{D42A27DB-BD31-4B8C-83A1-F6EECF244321}">
                <p14:modId xmlns:p14="http://schemas.microsoft.com/office/powerpoint/2010/main" val="3958004299"/>
              </p:ext>
            </p:extLst>
          </p:nvPr>
        </p:nvGraphicFramePr>
        <p:xfrm>
          <a:off x="3670542" y="3961522"/>
          <a:ext cx="511636" cy="741680"/>
        </p:xfrm>
        <a:graphic>
          <a:graphicData uri="http://schemas.openxmlformats.org/drawingml/2006/table">
            <a:tbl>
              <a:tblPr firstRow="1" bandRow="1">
                <a:tableStyleId>{2D5ABB26-0587-4C30-8999-92F81FD0307C}</a:tableStyleId>
              </a:tblPr>
              <a:tblGrid>
                <a:gridCol w="511636"/>
              </a:tblGrid>
              <a:tr h="370840">
                <a:tc>
                  <a:txBody>
                    <a:bodyPr/>
                    <a:lstStyle/>
                    <a:p>
                      <a:pPr algn="ctr"/>
                      <a:r>
                        <a:rPr lang="en-US" b="1" dirty="0" smtClean="0"/>
                        <a:t>4</a:t>
                      </a:r>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4</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40" name="Таблица 39"/>
          <p:cNvGraphicFramePr>
            <a:graphicFrameLocks noGrp="1"/>
          </p:cNvGraphicFramePr>
          <p:nvPr>
            <p:extLst>
              <p:ext uri="{D42A27DB-BD31-4B8C-83A1-F6EECF244321}">
                <p14:modId xmlns:p14="http://schemas.microsoft.com/office/powerpoint/2010/main" val="1039086581"/>
              </p:ext>
            </p:extLst>
          </p:nvPr>
        </p:nvGraphicFramePr>
        <p:xfrm>
          <a:off x="4261875" y="3228949"/>
          <a:ext cx="460472" cy="741680"/>
        </p:xfrm>
        <a:graphic>
          <a:graphicData uri="http://schemas.openxmlformats.org/drawingml/2006/table">
            <a:tbl>
              <a:tblPr firstRow="1" bandRow="1">
                <a:tableStyleId>{2D5ABB26-0587-4C30-8999-92F81FD0307C}</a:tableStyleId>
              </a:tblPr>
              <a:tblGrid>
                <a:gridCol w="460472"/>
              </a:tblGrid>
              <a:tr h="370840">
                <a:tc>
                  <a:txBody>
                    <a:bodyPr/>
                    <a:lstStyle/>
                    <a:p>
                      <a:pPr algn="ctr"/>
                      <a:r>
                        <a:rPr lang="ru-RU" dirty="0" smtClean="0"/>
                        <a:t>5</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6</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41" name="Таблица 40"/>
          <p:cNvGraphicFramePr>
            <a:graphicFrameLocks noGrp="1"/>
          </p:cNvGraphicFramePr>
          <p:nvPr>
            <p:extLst>
              <p:ext uri="{D42A27DB-BD31-4B8C-83A1-F6EECF244321}">
                <p14:modId xmlns:p14="http://schemas.microsoft.com/office/powerpoint/2010/main" val="558719002"/>
              </p:ext>
            </p:extLst>
          </p:nvPr>
        </p:nvGraphicFramePr>
        <p:xfrm>
          <a:off x="4246606" y="3961522"/>
          <a:ext cx="460472" cy="741680"/>
        </p:xfrm>
        <a:graphic>
          <a:graphicData uri="http://schemas.openxmlformats.org/drawingml/2006/table">
            <a:tbl>
              <a:tblPr firstRow="1" bandRow="1">
                <a:tableStyleId>{2D5ABB26-0587-4C30-8999-92F81FD0307C}</a:tableStyleId>
              </a:tblPr>
              <a:tblGrid>
                <a:gridCol w="460472"/>
              </a:tblGrid>
              <a:tr h="370840">
                <a:tc>
                  <a:txBody>
                    <a:bodyPr/>
                    <a:lstStyle/>
                    <a:p>
                      <a:pPr algn="ctr"/>
                      <a:r>
                        <a:rPr lang="ru-RU" dirty="0" smtClean="0"/>
                        <a:t>7</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b="1" dirty="0" smtClean="0"/>
                        <a:t>9</a:t>
                      </a:r>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42" name="Таблица 41"/>
          <p:cNvGraphicFramePr>
            <a:graphicFrameLocks noGrp="1"/>
          </p:cNvGraphicFramePr>
          <p:nvPr>
            <p:extLst>
              <p:ext uri="{D42A27DB-BD31-4B8C-83A1-F6EECF244321}">
                <p14:modId xmlns:p14="http://schemas.microsoft.com/office/powerpoint/2010/main" val="1008021073"/>
              </p:ext>
            </p:extLst>
          </p:nvPr>
        </p:nvGraphicFramePr>
        <p:xfrm>
          <a:off x="4765931" y="3228949"/>
          <a:ext cx="460472" cy="741680"/>
        </p:xfrm>
        <a:graphic>
          <a:graphicData uri="http://schemas.openxmlformats.org/drawingml/2006/table">
            <a:tbl>
              <a:tblPr firstRow="1" bandRow="1">
                <a:tableStyleId>{2D5ABB26-0587-4C30-8999-92F81FD0307C}</a:tableStyleId>
              </a:tblPr>
              <a:tblGrid>
                <a:gridCol w="460472"/>
              </a:tblGrid>
              <a:tr h="370840">
                <a:tc>
                  <a:txBody>
                    <a:bodyPr/>
                    <a:lstStyle/>
                    <a:p>
                      <a:pPr algn="ctr"/>
                      <a:r>
                        <a:rPr lang="en-US" b="1" dirty="0" smtClean="0"/>
                        <a:t>10</a:t>
                      </a:r>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10</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43" name="Таблица 42"/>
          <p:cNvGraphicFramePr>
            <a:graphicFrameLocks noGrp="1"/>
          </p:cNvGraphicFramePr>
          <p:nvPr>
            <p:extLst>
              <p:ext uri="{D42A27DB-BD31-4B8C-83A1-F6EECF244321}">
                <p14:modId xmlns:p14="http://schemas.microsoft.com/office/powerpoint/2010/main" val="3020982350"/>
              </p:ext>
            </p:extLst>
          </p:nvPr>
        </p:nvGraphicFramePr>
        <p:xfrm>
          <a:off x="4750662" y="3961522"/>
          <a:ext cx="460472" cy="741680"/>
        </p:xfrm>
        <a:graphic>
          <a:graphicData uri="http://schemas.openxmlformats.org/drawingml/2006/table">
            <a:tbl>
              <a:tblPr firstRow="1" bandRow="1">
                <a:tableStyleId>{2D5ABB26-0587-4C30-8999-92F81FD0307C}</a:tableStyleId>
              </a:tblPr>
              <a:tblGrid>
                <a:gridCol w="460472"/>
              </a:tblGrid>
              <a:tr h="370840">
                <a:tc>
                  <a:txBody>
                    <a:bodyPr/>
                    <a:lstStyle/>
                    <a:p>
                      <a:pPr algn="ctr"/>
                      <a:r>
                        <a:rPr lang="ru-RU" b="1" dirty="0" smtClean="0"/>
                        <a:t>1</a:t>
                      </a:r>
                      <a:r>
                        <a:rPr lang="en-US" b="1" dirty="0" smtClean="0"/>
                        <a:t>2</a:t>
                      </a:r>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12</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44" name="Таблица 43"/>
          <p:cNvGraphicFramePr>
            <a:graphicFrameLocks noGrp="1"/>
          </p:cNvGraphicFramePr>
          <p:nvPr>
            <p:extLst>
              <p:ext uri="{D42A27DB-BD31-4B8C-83A1-F6EECF244321}">
                <p14:modId xmlns:p14="http://schemas.microsoft.com/office/powerpoint/2010/main" val="3508127744"/>
              </p:ext>
            </p:extLst>
          </p:nvPr>
        </p:nvGraphicFramePr>
        <p:xfrm>
          <a:off x="5269987" y="3228949"/>
          <a:ext cx="511635" cy="741680"/>
        </p:xfrm>
        <a:graphic>
          <a:graphicData uri="http://schemas.openxmlformats.org/drawingml/2006/table">
            <a:tbl>
              <a:tblPr firstRow="1" bandRow="1">
                <a:tableStyleId>{2D5ABB26-0587-4C30-8999-92F81FD0307C}</a:tableStyleId>
              </a:tblPr>
              <a:tblGrid>
                <a:gridCol w="511635"/>
              </a:tblGrid>
              <a:tr h="370840">
                <a:tc>
                  <a:txBody>
                    <a:bodyPr/>
                    <a:lstStyle/>
                    <a:p>
                      <a:pPr algn="ctr"/>
                      <a:r>
                        <a:rPr lang="ru-RU" dirty="0" smtClean="0"/>
                        <a:t>13</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b="1" dirty="0" smtClean="0"/>
                        <a:t>1</a:t>
                      </a:r>
                      <a:r>
                        <a:rPr lang="en-US" b="1" dirty="0" smtClean="0"/>
                        <a:t>5</a:t>
                      </a:r>
                      <a:endParaRPr lang="ru-RU"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45" name="Таблица 44"/>
          <p:cNvGraphicFramePr>
            <a:graphicFrameLocks noGrp="1"/>
          </p:cNvGraphicFramePr>
          <p:nvPr>
            <p:extLst>
              <p:ext uri="{D42A27DB-BD31-4B8C-83A1-F6EECF244321}">
                <p14:modId xmlns:p14="http://schemas.microsoft.com/office/powerpoint/2010/main" val="937700346"/>
              </p:ext>
            </p:extLst>
          </p:nvPr>
        </p:nvGraphicFramePr>
        <p:xfrm>
          <a:off x="5254718" y="3961522"/>
          <a:ext cx="511635" cy="741680"/>
        </p:xfrm>
        <a:graphic>
          <a:graphicData uri="http://schemas.openxmlformats.org/drawingml/2006/table">
            <a:tbl>
              <a:tblPr firstRow="1" bandRow="1">
                <a:tableStyleId>{2D5ABB26-0587-4C30-8999-92F81FD0307C}</a:tableStyleId>
              </a:tblPr>
              <a:tblGrid>
                <a:gridCol w="511635"/>
              </a:tblGrid>
              <a:tr h="370840">
                <a:tc>
                  <a:txBody>
                    <a:bodyPr/>
                    <a:lstStyle/>
                    <a:p>
                      <a:pPr algn="ctr"/>
                      <a:r>
                        <a:rPr lang="ru-RU" dirty="0" smtClean="0"/>
                        <a:t>15</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ru-RU" dirty="0" smtClean="0"/>
                        <a:t>16</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pSp>
        <p:nvGrpSpPr>
          <p:cNvPr id="36" name="Группа 35"/>
          <p:cNvGrpSpPr/>
          <p:nvPr/>
        </p:nvGrpSpPr>
        <p:grpSpPr>
          <a:xfrm>
            <a:off x="5652120" y="2924946"/>
            <a:ext cx="3003169" cy="2626950"/>
            <a:chOff x="5652120" y="2924946"/>
            <a:chExt cx="3003169" cy="2626950"/>
          </a:xfrm>
        </p:grpSpPr>
        <p:sp>
          <p:nvSpPr>
            <p:cNvPr id="34" name="Выноска 1 33"/>
            <p:cNvSpPr/>
            <p:nvPr/>
          </p:nvSpPr>
          <p:spPr>
            <a:xfrm>
              <a:off x="6372200" y="4682782"/>
              <a:ext cx="2283089" cy="869114"/>
            </a:xfrm>
            <a:prstGeom prst="borderCallout1">
              <a:avLst>
                <a:gd name="adj1" fmla="val 46026"/>
                <a:gd name="adj2" fmla="val -422"/>
                <a:gd name="adj3" fmla="val 72234"/>
                <a:gd name="adj4" fmla="val -3338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uz-Cyrl-UZ" dirty="0" smtClean="0"/>
                <a:t>Блокдаги энг кичик мазмунли битлар йиғиндиси</a:t>
              </a:r>
              <a:endParaRPr lang="ru-RU" dirty="0"/>
            </a:p>
          </p:txBody>
        </p:sp>
        <p:cxnSp>
          <p:nvCxnSpPr>
            <p:cNvPr id="15" name="Прямая соединительная линия 14"/>
            <p:cNvCxnSpPr>
              <a:stCxn id="34" idx="2"/>
            </p:cNvCxnSpPr>
            <p:nvPr/>
          </p:nvCxnSpPr>
          <p:spPr>
            <a:xfrm flipH="1" flipV="1">
              <a:off x="5652120" y="2924946"/>
              <a:ext cx="720080" cy="219239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37" name="Группа 36"/>
          <p:cNvGrpSpPr/>
          <p:nvPr/>
        </p:nvGrpSpPr>
        <p:grpSpPr>
          <a:xfrm>
            <a:off x="5652120" y="3614303"/>
            <a:ext cx="3147185" cy="499782"/>
            <a:chOff x="5652120" y="3614303"/>
            <a:chExt cx="3147185" cy="499782"/>
          </a:xfrm>
        </p:grpSpPr>
        <p:sp>
          <p:nvSpPr>
            <p:cNvPr id="13" name="Выноска 1 12"/>
            <p:cNvSpPr/>
            <p:nvPr/>
          </p:nvSpPr>
          <p:spPr>
            <a:xfrm>
              <a:off x="6516216" y="3614303"/>
              <a:ext cx="2283089" cy="499782"/>
            </a:xfrm>
            <a:prstGeom prst="borderCallout1">
              <a:avLst>
                <a:gd name="adj1" fmla="val 52631"/>
                <a:gd name="adj2" fmla="val -422"/>
                <a:gd name="adj3" fmla="val 112500"/>
                <a:gd name="adj4" fmla="val -3833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uz-Cyrl-UZ" dirty="0" smtClean="0"/>
                <a:t>Маълумот битлари</a:t>
              </a:r>
              <a:endParaRPr lang="ru-RU" dirty="0"/>
            </a:p>
          </p:txBody>
        </p:sp>
        <p:cxnSp>
          <p:nvCxnSpPr>
            <p:cNvPr id="20" name="Прямая соединительная линия 19"/>
            <p:cNvCxnSpPr>
              <a:endCxn id="13" idx="2"/>
            </p:cNvCxnSpPr>
            <p:nvPr/>
          </p:nvCxnSpPr>
          <p:spPr>
            <a:xfrm>
              <a:off x="5652120" y="3798970"/>
              <a:ext cx="864096" cy="65224"/>
            </a:xfrm>
            <a:prstGeom prst="line">
              <a:avLst/>
            </a:prstGeom>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6654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3.05556E-6 1.11111E-6 L 3.05556E-6 -0.06042 " pathEditMode="relative" rAng="0" ptsTypes="AA">
                                      <p:cBhvr>
                                        <p:cTn id="6" dur="2000" fill="hold"/>
                                        <p:tgtEl>
                                          <p:spTgt spid="10"/>
                                        </p:tgtEl>
                                        <p:attrNameLst>
                                          <p:attrName>ppt_x</p:attrName>
                                          <p:attrName>ppt_y</p:attrName>
                                        </p:attrNameLst>
                                      </p:cBhvr>
                                      <p:rCtr x="0" y="-3032"/>
                                    </p:animMotion>
                                  </p:childTnLst>
                                </p:cTn>
                              </p:par>
                              <p:par>
                                <p:cTn id="7" presetID="64" presetClass="path" presetSubtype="0" accel="50000" decel="50000" fill="hold" nodeType="withEffect">
                                  <p:stCondLst>
                                    <p:cond delay="0"/>
                                  </p:stCondLst>
                                  <p:childTnLst>
                                    <p:animMotion origin="layout" path="M 0 7.40741E-7 L 0 -0.06204 " pathEditMode="relative" rAng="0" ptsTypes="AA">
                                      <p:cBhvr>
                                        <p:cTn id="8" dur="2000" fill="hold"/>
                                        <p:tgtEl>
                                          <p:spTgt spid="17"/>
                                        </p:tgtEl>
                                        <p:attrNameLst>
                                          <p:attrName>ppt_x</p:attrName>
                                          <p:attrName>ppt_y</p:attrName>
                                        </p:attrNameLst>
                                      </p:cBhvr>
                                      <p:rCtr x="0" y="-3102"/>
                                    </p:animMotion>
                                  </p:childTnLst>
                                </p:cTn>
                              </p:par>
                              <p:par>
                                <p:cTn id="9" presetID="64" presetClass="path" presetSubtype="0" accel="50000" decel="50000" fill="hold" nodeType="withEffect">
                                  <p:stCondLst>
                                    <p:cond delay="0"/>
                                  </p:stCondLst>
                                  <p:childTnLst>
                                    <p:animMotion origin="layout" path="M -4.72222E-6 2.22222E-6 L -4.72222E-6 -0.06181 " pathEditMode="relative" rAng="0" ptsTypes="AA">
                                      <p:cBhvr>
                                        <p:cTn id="10" dur="2000" fill="hold"/>
                                        <p:tgtEl>
                                          <p:spTgt spid="19"/>
                                        </p:tgtEl>
                                        <p:attrNameLst>
                                          <p:attrName>ppt_x</p:attrName>
                                          <p:attrName>ppt_y</p:attrName>
                                        </p:attrNameLst>
                                      </p:cBhvr>
                                      <p:rCtr x="0" y="-3102"/>
                                    </p:animMotion>
                                  </p:childTnLst>
                                </p:cTn>
                              </p:par>
                              <p:par>
                                <p:cTn id="11" presetID="64" presetClass="path" presetSubtype="0" accel="50000" decel="50000" fill="hold" nodeType="withEffect">
                                  <p:stCondLst>
                                    <p:cond delay="0"/>
                                  </p:stCondLst>
                                  <p:childTnLst>
                                    <p:animMotion origin="layout" path="M -8.33333E-7 2.22222E-6 L -8.33333E-7 -0.06181 " pathEditMode="relative" rAng="0" ptsTypes="AA">
                                      <p:cBhvr>
                                        <p:cTn id="12" dur="2000" fill="hold"/>
                                        <p:tgtEl>
                                          <p:spTgt spid="22"/>
                                        </p:tgtEl>
                                        <p:attrNameLst>
                                          <p:attrName>ppt_x</p:attrName>
                                          <p:attrName>ppt_y</p:attrName>
                                        </p:attrNameLst>
                                      </p:cBhvr>
                                      <p:rCtr x="0" y="-3102"/>
                                    </p:animMotion>
                                  </p:childTnLst>
                                </p:cTn>
                              </p:par>
                              <p:par>
                                <p:cTn id="13" presetID="42" presetClass="path" presetSubtype="0" accel="50000" decel="50000" fill="hold" nodeType="withEffect">
                                  <p:stCondLst>
                                    <p:cond delay="0"/>
                                  </p:stCondLst>
                                  <p:childTnLst>
                                    <p:animMotion origin="layout" path="M 3.05556E-6 0.00348 L 3.05556E-6 0.05903 " pathEditMode="relative" rAng="0" ptsTypes="AA">
                                      <p:cBhvr>
                                        <p:cTn id="14" dur="2000" fill="hold"/>
                                        <p:tgtEl>
                                          <p:spTgt spid="11"/>
                                        </p:tgtEl>
                                        <p:attrNameLst>
                                          <p:attrName>ppt_x</p:attrName>
                                          <p:attrName>ppt_y</p:attrName>
                                        </p:attrNameLst>
                                      </p:cBhvr>
                                      <p:rCtr x="0" y="2778"/>
                                    </p:animMotion>
                                  </p:childTnLst>
                                </p:cTn>
                              </p:par>
                              <p:par>
                                <p:cTn id="15" presetID="42" presetClass="path" presetSubtype="0" accel="50000" decel="50000" fill="hold" nodeType="withEffect">
                                  <p:stCondLst>
                                    <p:cond delay="0"/>
                                  </p:stCondLst>
                                  <p:childTnLst>
                                    <p:animMotion origin="layout" path="M -5.55556E-7 0.00324 L -5.55556E-7 0.05718 " pathEditMode="relative" rAng="0" ptsTypes="AA">
                                      <p:cBhvr>
                                        <p:cTn id="16" dur="2000" fill="hold"/>
                                        <p:tgtEl>
                                          <p:spTgt spid="18"/>
                                        </p:tgtEl>
                                        <p:attrNameLst>
                                          <p:attrName>ppt_x</p:attrName>
                                          <p:attrName>ppt_y</p:attrName>
                                        </p:attrNameLst>
                                      </p:cBhvr>
                                      <p:rCtr x="0" y="2685"/>
                                    </p:animMotion>
                                  </p:childTnLst>
                                </p:cTn>
                              </p:par>
                              <p:par>
                                <p:cTn id="17" presetID="42" presetClass="path" presetSubtype="0" accel="50000" decel="50000" fill="hold" nodeType="withEffect">
                                  <p:stCondLst>
                                    <p:cond delay="0"/>
                                  </p:stCondLst>
                                  <p:childTnLst>
                                    <p:animMotion origin="layout" path="M 1.11111E-6 0.00301 L -0.00156 0.0581 " pathEditMode="relative" rAng="0" ptsTypes="AA">
                                      <p:cBhvr>
                                        <p:cTn id="18" dur="2000" fill="hold"/>
                                        <p:tgtEl>
                                          <p:spTgt spid="21"/>
                                        </p:tgtEl>
                                        <p:attrNameLst>
                                          <p:attrName>ppt_x</p:attrName>
                                          <p:attrName>ppt_y</p:attrName>
                                        </p:attrNameLst>
                                      </p:cBhvr>
                                      <p:rCtr x="-87" y="2755"/>
                                    </p:animMotion>
                                  </p:childTnLst>
                                </p:cTn>
                              </p:par>
                              <p:par>
                                <p:cTn id="19" presetID="42" presetClass="path" presetSubtype="0" accel="50000" decel="50000" fill="hold" nodeType="withEffect">
                                  <p:stCondLst>
                                    <p:cond delay="0"/>
                                  </p:stCondLst>
                                  <p:childTnLst>
                                    <p:animMotion origin="layout" path="M 5E-6 0.00278 L -0.0007 0.05857 " pathEditMode="relative" rAng="0" ptsTypes="AA">
                                      <p:cBhvr>
                                        <p:cTn id="20" dur="2000" fill="hold"/>
                                        <p:tgtEl>
                                          <p:spTgt spid="23"/>
                                        </p:tgtEl>
                                        <p:attrNameLst>
                                          <p:attrName>ppt_x</p:attrName>
                                          <p:attrName>ppt_y</p:attrName>
                                        </p:attrNameLst>
                                      </p:cBhvr>
                                      <p:rCtr x="-35" y="2778"/>
                                    </p:animMotion>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500"/>
                                        <p:tgtEl>
                                          <p:spTgt spid="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500"/>
                                        <p:tgtEl>
                                          <p:spTgt spid="36"/>
                                        </p:tgtEl>
                                      </p:cBhvr>
                                    </p:animEffect>
                                    <p:set>
                                      <p:cBhvr>
                                        <p:cTn id="47" dur="1" fill="hold">
                                          <p:stCondLst>
                                            <p:cond delay="499"/>
                                          </p:stCondLst>
                                        </p:cTn>
                                        <p:tgtEl>
                                          <p:spTgt spid="3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500"/>
                                        <p:tgtEl>
                                          <p:spTgt spid="37"/>
                                        </p:tgtEl>
                                      </p:cBhvr>
                                    </p:animEffect>
                                    <p:set>
                                      <p:cBhvr>
                                        <p:cTn id="52" dur="1" fill="hold">
                                          <p:stCondLst>
                                            <p:cond delay="499"/>
                                          </p:stCondLst>
                                        </p:cTn>
                                        <p:tgtEl>
                                          <p:spTgt spid="37"/>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500"/>
                                        <p:tgtEl>
                                          <p:spTgt spid="10"/>
                                        </p:tgtEl>
                                      </p:cBhvr>
                                    </p:animEffect>
                                    <p:set>
                                      <p:cBhvr>
                                        <p:cTn id="57" dur="1" fill="hold">
                                          <p:stCondLst>
                                            <p:cond delay="499"/>
                                          </p:stCondLst>
                                        </p:cTn>
                                        <p:tgtEl>
                                          <p:spTgt spid="10"/>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500"/>
                                        <p:tgtEl>
                                          <p:spTgt spid="17"/>
                                        </p:tgtEl>
                                      </p:cBhvr>
                                    </p:animEffect>
                                    <p:set>
                                      <p:cBhvr>
                                        <p:cTn id="60" dur="1" fill="hold">
                                          <p:stCondLst>
                                            <p:cond delay="499"/>
                                          </p:stCondLst>
                                        </p:cTn>
                                        <p:tgtEl>
                                          <p:spTgt spid="17"/>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500"/>
                                        <p:tgtEl>
                                          <p:spTgt spid="19"/>
                                        </p:tgtEl>
                                      </p:cBhvr>
                                    </p:animEffect>
                                    <p:set>
                                      <p:cBhvr>
                                        <p:cTn id="63" dur="1" fill="hold">
                                          <p:stCondLst>
                                            <p:cond delay="499"/>
                                          </p:stCondLst>
                                        </p:cTn>
                                        <p:tgtEl>
                                          <p:spTgt spid="19"/>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500"/>
                                        <p:tgtEl>
                                          <p:spTgt spid="22"/>
                                        </p:tgtEl>
                                      </p:cBhvr>
                                    </p:animEffect>
                                    <p:set>
                                      <p:cBhvr>
                                        <p:cTn id="66" dur="1" fill="hold">
                                          <p:stCondLst>
                                            <p:cond delay="499"/>
                                          </p:stCondLst>
                                        </p:cTn>
                                        <p:tgtEl>
                                          <p:spTgt spid="22"/>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500"/>
                                        <p:tgtEl>
                                          <p:spTgt spid="11"/>
                                        </p:tgtEl>
                                      </p:cBhvr>
                                    </p:animEffect>
                                    <p:set>
                                      <p:cBhvr>
                                        <p:cTn id="69" dur="1" fill="hold">
                                          <p:stCondLst>
                                            <p:cond delay="499"/>
                                          </p:stCondLst>
                                        </p:cTn>
                                        <p:tgtEl>
                                          <p:spTgt spid="11"/>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500"/>
                                        <p:tgtEl>
                                          <p:spTgt spid="18"/>
                                        </p:tgtEl>
                                      </p:cBhvr>
                                    </p:animEffect>
                                    <p:set>
                                      <p:cBhvr>
                                        <p:cTn id="72" dur="1" fill="hold">
                                          <p:stCondLst>
                                            <p:cond delay="499"/>
                                          </p:stCondLst>
                                        </p:cTn>
                                        <p:tgtEl>
                                          <p:spTgt spid="18"/>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500"/>
                                        <p:tgtEl>
                                          <p:spTgt spid="21"/>
                                        </p:tgtEl>
                                      </p:cBhvr>
                                    </p:animEffect>
                                    <p:set>
                                      <p:cBhvr>
                                        <p:cTn id="75" dur="1" fill="hold">
                                          <p:stCondLst>
                                            <p:cond delay="499"/>
                                          </p:stCondLst>
                                        </p:cTn>
                                        <p:tgtEl>
                                          <p:spTgt spid="21"/>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500"/>
                                        <p:tgtEl>
                                          <p:spTgt spid="23"/>
                                        </p:tgtEl>
                                      </p:cBhvr>
                                    </p:animEffect>
                                    <p:set>
                                      <p:cBhvr>
                                        <p:cTn id="78" dur="1" fill="hold">
                                          <p:stCondLst>
                                            <p:cond delay="499"/>
                                          </p:stCondLst>
                                        </p:cTn>
                                        <p:tgtEl>
                                          <p:spTgt spid="23"/>
                                        </p:tgtEl>
                                        <p:attrNameLst>
                                          <p:attrName>style.visibility</p:attrName>
                                        </p:attrNameLst>
                                      </p:cBhvr>
                                      <p:to>
                                        <p:strVal val="hidden"/>
                                      </p:to>
                                    </p:set>
                                  </p:childTnLst>
                                </p:cTn>
                              </p:par>
                              <p:par>
                                <p:cTn id="79" presetID="10" presetClass="exit" presetSubtype="0" fill="hold" grpId="1" nodeType="withEffect">
                                  <p:stCondLst>
                                    <p:cond delay="0"/>
                                  </p:stCondLst>
                                  <p:childTnLst>
                                    <p:animEffect transition="out" filter="fade">
                                      <p:cBhvr>
                                        <p:cTn id="80" dur="500"/>
                                        <p:tgtEl>
                                          <p:spTgt spid="27"/>
                                        </p:tgtEl>
                                      </p:cBhvr>
                                    </p:animEffect>
                                    <p:set>
                                      <p:cBhvr>
                                        <p:cTn id="81" dur="1" fill="hold">
                                          <p:stCondLst>
                                            <p:cond delay="499"/>
                                          </p:stCondLst>
                                        </p:cTn>
                                        <p:tgtEl>
                                          <p:spTgt spid="27"/>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500"/>
                                        <p:tgtEl>
                                          <p:spTgt spid="26"/>
                                        </p:tgtEl>
                                      </p:cBhvr>
                                    </p:animEffect>
                                    <p:set>
                                      <p:cBhvr>
                                        <p:cTn id="84" dur="1" fill="hold">
                                          <p:stCondLst>
                                            <p:cond delay="499"/>
                                          </p:stCondLst>
                                        </p:cTn>
                                        <p:tgtEl>
                                          <p:spTgt spid="26"/>
                                        </p:tgtEl>
                                        <p:attrNameLst>
                                          <p:attrName>style.visibility</p:attrName>
                                        </p:attrNameLst>
                                      </p:cBhvr>
                                      <p:to>
                                        <p:strVal val="hidden"/>
                                      </p:to>
                                    </p:set>
                                  </p:childTnLst>
                                </p:cTn>
                              </p:par>
                              <p:par>
                                <p:cTn id="85" presetID="10" presetClass="exit" presetSubtype="0" fill="hold" grpId="1" nodeType="withEffect">
                                  <p:stCondLst>
                                    <p:cond delay="0"/>
                                  </p:stCondLst>
                                  <p:childTnLst>
                                    <p:animEffect transition="out" filter="fade">
                                      <p:cBhvr>
                                        <p:cTn id="86" dur="500"/>
                                        <p:tgtEl>
                                          <p:spTgt spid="24"/>
                                        </p:tgtEl>
                                      </p:cBhvr>
                                    </p:animEffect>
                                    <p:set>
                                      <p:cBhvr>
                                        <p:cTn id="87" dur="1" fill="hold">
                                          <p:stCondLst>
                                            <p:cond delay="499"/>
                                          </p:stCondLst>
                                        </p:cTn>
                                        <p:tgtEl>
                                          <p:spTgt spid="24"/>
                                        </p:tgtEl>
                                        <p:attrNameLst>
                                          <p:attrName>style.visibility</p:attrName>
                                        </p:attrNameLst>
                                      </p:cBhvr>
                                      <p:to>
                                        <p:strVal val="hidden"/>
                                      </p:to>
                                    </p:set>
                                  </p:childTnLst>
                                </p:cTn>
                              </p:par>
                              <p:par>
                                <p:cTn id="88" presetID="10" presetClass="exit" presetSubtype="0" fill="hold" grpId="1" nodeType="withEffect">
                                  <p:stCondLst>
                                    <p:cond delay="0"/>
                                  </p:stCondLst>
                                  <p:childTnLst>
                                    <p:animEffect transition="out" filter="fade">
                                      <p:cBhvr>
                                        <p:cTn id="89" dur="500"/>
                                        <p:tgtEl>
                                          <p:spTgt spid="25"/>
                                        </p:tgtEl>
                                      </p:cBhvr>
                                    </p:animEffect>
                                    <p:set>
                                      <p:cBhvr>
                                        <p:cTn id="90" dur="1" fill="hold">
                                          <p:stCondLst>
                                            <p:cond delay="499"/>
                                          </p:stCondLst>
                                        </p:cTn>
                                        <p:tgtEl>
                                          <p:spTgt spid="25"/>
                                        </p:tgtEl>
                                        <p:attrNameLst>
                                          <p:attrName>style.visibility</p:attrName>
                                        </p:attrNameLst>
                                      </p:cBhvr>
                                      <p:to>
                                        <p:strVal val="hidden"/>
                                      </p:to>
                                    </p:set>
                                  </p:childTnLst>
                                </p:cTn>
                              </p:par>
                              <p:par>
                                <p:cTn id="91" presetID="10" presetClass="entr" presetSubtype="0" fill="hold" nodeType="with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500"/>
                                        <p:tgtEl>
                                          <p:spTgt spid="38"/>
                                        </p:tgtEl>
                                      </p:cBhvr>
                                    </p:animEffect>
                                  </p:childTnLst>
                                </p:cTn>
                              </p:par>
                              <p:par>
                                <p:cTn id="94" presetID="10" presetClass="entr" presetSubtype="0" fill="hold" nodeType="with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fade">
                                      <p:cBhvr>
                                        <p:cTn id="96" dur="500"/>
                                        <p:tgtEl>
                                          <p:spTgt spid="39"/>
                                        </p:tgtEl>
                                      </p:cBhvr>
                                    </p:animEffect>
                                  </p:childTnLst>
                                </p:cTn>
                              </p:par>
                              <p:par>
                                <p:cTn id="97" presetID="10" presetClass="entr" presetSubtype="0" fill="hold" nodeType="with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fade">
                                      <p:cBhvr>
                                        <p:cTn id="99" dur="500"/>
                                        <p:tgtEl>
                                          <p:spTgt spid="40"/>
                                        </p:tgtEl>
                                      </p:cBhvr>
                                    </p:animEffect>
                                  </p:childTnLst>
                                </p:cTn>
                              </p:par>
                              <p:par>
                                <p:cTn id="100" presetID="10" presetClass="entr" presetSubtype="0" fill="hold" nodeType="with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500"/>
                                        <p:tgtEl>
                                          <p:spTgt spid="41"/>
                                        </p:tgtEl>
                                      </p:cBhvr>
                                    </p:animEffect>
                                  </p:childTnLst>
                                </p:cTn>
                              </p:par>
                              <p:par>
                                <p:cTn id="103" presetID="10" presetClass="entr" presetSubtype="0" fill="hold" nodeType="withEffect">
                                  <p:stCondLst>
                                    <p:cond delay="0"/>
                                  </p:stCondLst>
                                  <p:childTnLst>
                                    <p:set>
                                      <p:cBhvr>
                                        <p:cTn id="104" dur="1" fill="hold">
                                          <p:stCondLst>
                                            <p:cond delay="0"/>
                                          </p:stCondLst>
                                        </p:cTn>
                                        <p:tgtEl>
                                          <p:spTgt spid="42"/>
                                        </p:tgtEl>
                                        <p:attrNameLst>
                                          <p:attrName>style.visibility</p:attrName>
                                        </p:attrNameLst>
                                      </p:cBhvr>
                                      <p:to>
                                        <p:strVal val="visible"/>
                                      </p:to>
                                    </p:set>
                                    <p:animEffect transition="in" filter="fade">
                                      <p:cBhvr>
                                        <p:cTn id="105" dur="500"/>
                                        <p:tgtEl>
                                          <p:spTgt spid="42"/>
                                        </p:tgtEl>
                                      </p:cBhvr>
                                    </p:animEffect>
                                  </p:childTnLst>
                                </p:cTn>
                              </p:par>
                              <p:par>
                                <p:cTn id="106" presetID="10" presetClass="entr" presetSubtype="0" fill="hold" nodeType="with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fade">
                                      <p:cBhvr>
                                        <p:cTn id="108" dur="500"/>
                                        <p:tgtEl>
                                          <p:spTgt spid="43"/>
                                        </p:tgtEl>
                                      </p:cBhvr>
                                    </p:animEffect>
                                  </p:childTnLst>
                                </p:cTn>
                              </p:par>
                              <p:par>
                                <p:cTn id="109" presetID="10" presetClass="entr" presetSubtype="0" fill="hold" nodeType="with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500"/>
                                        <p:tgtEl>
                                          <p:spTgt spid="44"/>
                                        </p:tgtEl>
                                      </p:cBhvr>
                                    </p:animEffect>
                                  </p:childTnLst>
                                </p:cTn>
                              </p:par>
                              <p:par>
                                <p:cTn id="112" presetID="10" presetClass="entr" presetSubtype="0" fill="hold" nodeType="withEffect">
                                  <p:stCondLst>
                                    <p:cond delay="0"/>
                                  </p:stCondLst>
                                  <p:childTnLst>
                                    <p:set>
                                      <p:cBhvr>
                                        <p:cTn id="113" dur="1" fill="hold">
                                          <p:stCondLst>
                                            <p:cond delay="0"/>
                                          </p:stCondLst>
                                        </p:cTn>
                                        <p:tgtEl>
                                          <p:spTgt spid="45"/>
                                        </p:tgtEl>
                                        <p:attrNameLst>
                                          <p:attrName>style.visibility</p:attrName>
                                        </p:attrNameLst>
                                      </p:cBhvr>
                                      <p:to>
                                        <p:strVal val="visible"/>
                                      </p:to>
                                    </p:set>
                                    <p:animEffect transition="in" filter="fade">
                                      <p:cBhvr>
                                        <p:cTn id="114" dur="500"/>
                                        <p:tgtEl>
                                          <p:spTgt spid="45"/>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xit" presetSubtype="0" fill="hold" nodeType="clickEffect">
                                  <p:stCondLst>
                                    <p:cond delay="0"/>
                                  </p:stCondLst>
                                  <p:childTnLst>
                                    <p:animEffect transition="out" filter="fade">
                                      <p:cBhvr>
                                        <p:cTn id="118" dur="500"/>
                                        <p:tgtEl>
                                          <p:spTgt spid="38"/>
                                        </p:tgtEl>
                                      </p:cBhvr>
                                    </p:animEffect>
                                    <p:set>
                                      <p:cBhvr>
                                        <p:cTn id="119" dur="1" fill="hold">
                                          <p:stCondLst>
                                            <p:cond delay="499"/>
                                          </p:stCondLst>
                                        </p:cTn>
                                        <p:tgtEl>
                                          <p:spTgt spid="38"/>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500"/>
                                        <p:tgtEl>
                                          <p:spTgt spid="39"/>
                                        </p:tgtEl>
                                      </p:cBhvr>
                                    </p:animEffect>
                                    <p:set>
                                      <p:cBhvr>
                                        <p:cTn id="122" dur="1" fill="hold">
                                          <p:stCondLst>
                                            <p:cond delay="499"/>
                                          </p:stCondLst>
                                        </p:cTn>
                                        <p:tgtEl>
                                          <p:spTgt spid="39"/>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500"/>
                                        <p:tgtEl>
                                          <p:spTgt spid="40"/>
                                        </p:tgtEl>
                                      </p:cBhvr>
                                    </p:animEffect>
                                    <p:set>
                                      <p:cBhvr>
                                        <p:cTn id="125" dur="1" fill="hold">
                                          <p:stCondLst>
                                            <p:cond delay="499"/>
                                          </p:stCondLst>
                                        </p:cTn>
                                        <p:tgtEl>
                                          <p:spTgt spid="40"/>
                                        </p:tgtEl>
                                        <p:attrNameLst>
                                          <p:attrName>style.visibility</p:attrName>
                                        </p:attrNameLst>
                                      </p:cBhvr>
                                      <p:to>
                                        <p:strVal val="hidden"/>
                                      </p:to>
                                    </p:set>
                                  </p:childTnLst>
                                </p:cTn>
                              </p:par>
                              <p:par>
                                <p:cTn id="126" presetID="10" presetClass="exit" presetSubtype="0" fill="hold" nodeType="withEffect">
                                  <p:stCondLst>
                                    <p:cond delay="0"/>
                                  </p:stCondLst>
                                  <p:childTnLst>
                                    <p:animEffect transition="out" filter="fade">
                                      <p:cBhvr>
                                        <p:cTn id="127" dur="500"/>
                                        <p:tgtEl>
                                          <p:spTgt spid="41"/>
                                        </p:tgtEl>
                                      </p:cBhvr>
                                    </p:animEffect>
                                    <p:set>
                                      <p:cBhvr>
                                        <p:cTn id="128" dur="1" fill="hold">
                                          <p:stCondLst>
                                            <p:cond delay="499"/>
                                          </p:stCondLst>
                                        </p:cTn>
                                        <p:tgtEl>
                                          <p:spTgt spid="41"/>
                                        </p:tgtEl>
                                        <p:attrNameLst>
                                          <p:attrName>style.visibility</p:attrName>
                                        </p:attrNameLst>
                                      </p:cBhvr>
                                      <p:to>
                                        <p:strVal val="hidden"/>
                                      </p:to>
                                    </p:set>
                                  </p:childTnLst>
                                </p:cTn>
                              </p:par>
                              <p:par>
                                <p:cTn id="129" presetID="10" presetClass="exit" presetSubtype="0" fill="hold" nodeType="withEffect">
                                  <p:stCondLst>
                                    <p:cond delay="0"/>
                                  </p:stCondLst>
                                  <p:childTnLst>
                                    <p:animEffect transition="out" filter="fade">
                                      <p:cBhvr>
                                        <p:cTn id="130" dur="500"/>
                                        <p:tgtEl>
                                          <p:spTgt spid="42"/>
                                        </p:tgtEl>
                                      </p:cBhvr>
                                    </p:animEffect>
                                    <p:set>
                                      <p:cBhvr>
                                        <p:cTn id="131" dur="1" fill="hold">
                                          <p:stCondLst>
                                            <p:cond delay="499"/>
                                          </p:stCondLst>
                                        </p:cTn>
                                        <p:tgtEl>
                                          <p:spTgt spid="42"/>
                                        </p:tgtEl>
                                        <p:attrNameLst>
                                          <p:attrName>style.visibility</p:attrName>
                                        </p:attrNameLst>
                                      </p:cBhvr>
                                      <p:to>
                                        <p:strVal val="hidden"/>
                                      </p:to>
                                    </p:set>
                                  </p:childTnLst>
                                </p:cTn>
                              </p:par>
                              <p:par>
                                <p:cTn id="132" presetID="10" presetClass="exit" presetSubtype="0" fill="hold" nodeType="withEffect">
                                  <p:stCondLst>
                                    <p:cond delay="0"/>
                                  </p:stCondLst>
                                  <p:childTnLst>
                                    <p:animEffect transition="out" filter="fade">
                                      <p:cBhvr>
                                        <p:cTn id="133" dur="500"/>
                                        <p:tgtEl>
                                          <p:spTgt spid="43"/>
                                        </p:tgtEl>
                                      </p:cBhvr>
                                    </p:animEffect>
                                    <p:set>
                                      <p:cBhvr>
                                        <p:cTn id="134" dur="1" fill="hold">
                                          <p:stCondLst>
                                            <p:cond delay="499"/>
                                          </p:stCondLst>
                                        </p:cTn>
                                        <p:tgtEl>
                                          <p:spTgt spid="43"/>
                                        </p:tgtEl>
                                        <p:attrNameLst>
                                          <p:attrName>style.visibility</p:attrName>
                                        </p:attrNameLst>
                                      </p:cBhvr>
                                      <p:to>
                                        <p:strVal val="hidden"/>
                                      </p:to>
                                    </p:set>
                                  </p:childTnLst>
                                </p:cTn>
                              </p:par>
                              <p:par>
                                <p:cTn id="135" presetID="10" presetClass="exit" presetSubtype="0" fill="hold" nodeType="withEffect">
                                  <p:stCondLst>
                                    <p:cond delay="0"/>
                                  </p:stCondLst>
                                  <p:childTnLst>
                                    <p:animEffect transition="out" filter="fade">
                                      <p:cBhvr>
                                        <p:cTn id="136" dur="500"/>
                                        <p:tgtEl>
                                          <p:spTgt spid="44"/>
                                        </p:tgtEl>
                                      </p:cBhvr>
                                    </p:animEffect>
                                    <p:set>
                                      <p:cBhvr>
                                        <p:cTn id="137" dur="1" fill="hold">
                                          <p:stCondLst>
                                            <p:cond delay="499"/>
                                          </p:stCondLst>
                                        </p:cTn>
                                        <p:tgtEl>
                                          <p:spTgt spid="44"/>
                                        </p:tgtEl>
                                        <p:attrNameLst>
                                          <p:attrName>style.visibility</p:attrName>
                                        </p:attrNameLst>
                                      </p:cBhvr>
                                      <p:to>
                                        <p:strVal val="hidden"/>
                                      </p:to>
                                    </p:set>
                                  </p:childTnLst>
                                </p:cTn>
                              </p:par>
                              <p:par>
                                <p:cTn id="138" presetID="10" presetClass="exit" presetSubtype="0" fill="hold" nodeType="withEffect">
                                  <p:stCondLst>
                                    <p:cond delay="0"/>
                                  </p:stCondLst>
                                  <p:childTnLst>
                                    <p:animEffect transition="out" filter="fade">
                                      <p:cBhvr>
                                        <p:cTn id="139" dur="500"/>
                                        <p:tgtEl>
                                          <p:spTgt spid="45"/>
                                        </p:tgtEl>
                                      </p:cBhvr>
                                    </p:animEffect>
                                    <p:set>
                                      <p:cBhvr>
                                        <p:cTn id="140" dur="1" fill="hold">
                                          <p:stCondLst>
                                            <p:cond delay="499"/>
                                          </p:stCondLst>
                                        </p:cTn>
                                        <p:tgtEl>
                                          <p:spTgt spid="45"/>
                                        </p:tgtEl>
                                        <p:attrNameLst>
                                          <p:attrName>style.visibility</p:attrName>
                                        </p:attrNameLst>
                                      </p:cBhvr>
                                      <p:to>
                                        <p:strVal val="hidden"/>
                                      </p:to>
                                    </p:set>
                                  </p:childTnLst>
                                </p:cTn>
                              </p:par>
                            </p:childTnLst>
                          </p:cTn>
                        </p:par>
                        <p:par>
                          <p:cTn id="141" fill="hold">
                            <p:stCondLst>
                              <p:cond delay="500"/>
                            </p:stCondLst>
                            <p:childTnLst>
                              <p:par>
                                <p:cTn id="142" presetID="10" presetClass="entr" presetSubtype="0" fill="hold" nodeType="afterEffect">
                                  <p:stCondLst>
                                    <p:cond delay="0"/>
                                  </p:stCondLst>
                                  <p:childTnLst>
                                    <p:set>
                                      <p:cBhvr>
                                        <p:cTn id="143" dur="1" fill="hold">
                                          <p:stCondLst>
                                            <p:cond delay="0"/>
                                          </p:stCondLst>
                                        </p:cTn>
                                        <p:tgtEl>
                                          <p:spTgt spid="28"/>
                                        </p:tgtEl>
                                        <p:attrNameLst>
                                          <p:attrName>style.visibility</p:attrName>
                                        </p:attrNameLst>
                                      </p:cBhvr>
                                      <p:to>
                                        <p:strVal val="visible"/>
                                      </p:to>
                                    </p:set>
                                    <p:animEffect transition="in" filter="fade">
                                      <p:cBhvr>
                                        <p:cTn id="14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4" grpId="1"/>
      <p:bldP spid="25" grpId="0"/>
      <p:bldP spid="25" grpId="1"/>
      <p:bldP spid="26" grpId="0"/>
      <p:bldP spid="26" grpId="1"/>
      <p:bldP spid="27" grpId="0"/>
      <p:bldP spid="27"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MasterDocs\расм\f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sp>
        <p:nvSpPr>
          <p:cNvPr id="3" name="Номер слайда 2"/>
          <p:cNvSpPr>
            <a:spLocks noGrp="1"/>
          </p:cNvSpPr>
          <p:nvPr>
            <p:ph type="sldNum" sz="quarter" idx="12"/>
          </p:nvPr>
        </p:nvSpPr>
        <p:spPr>
          <a:xfrm>
            <a:off x="8385922" y="6492875"/>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14</a:t>
            </a:fld>
            <a:endParaRPr lang="ru-RU" dirty="0"/>
          </a:p>
        </p:txBody>
      </p:sp>
      <p:sp>
        <p:nvSpPr>
          <p:cNvPr id="5" name="Прямоугольник 4"/>
          <p:cNvSpPr/>
          <p:nvPr/>
        </p:nvSpPr>
        <p:spPr>
          <a:xfrm>
            <a:off x="755576" y="0"/>
            <a:ext cx="7560840" cy="461665"/>
          </a:xfrm>
          <a:prstGeom prst="rect">
            <a:avLst/>
          </a:prstGeom>
          <a:solidFill>
            <a:schemeClr val="accent1">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uz-Cyrl-UZ" sz="2400" b="1" dirty="0" smtClean="0">
                <a:solidFill>
                  <a:schemeClr val="tx1"/>
                </a:solidFill>
              </a:rPr>
              <a:t>Янги “Мослашув” усули</a:t>
            </a:r>
            <a:endParaRPr lang="ru-RU" sz="2400" dirty="0">
              <a:solidFill>
                <a:schemeClr val="tx1"/>
              </a:solidFill>
            </a:endParaRPr>
          </a:p>
        </p:txBody>
      </p:sp>
      <p:grpSp>
        <p:nvGrpSpPr>
          <p:cNvPr id="9" name="Группа 8"/>
          <p:cNvGrpSpPr/>
          <p:nvPr/>
        </p:nvGrpSpPr>
        <p:grpSpPr>
          <a:xfrm>
            <a:off x="237409" y="989385"/>
            <a:ext cx="15063783" cy="648707"/>
            <a:chOff x="237409" y="989385"/>
            <a:chExt cx="15063783" cy="648707"/>
          </a:xfrm>
        </p:grpSpPr>
        <p:sp>
          <p:nvSpPr>
            <p:cNvPr id="6" name="Прямоугольник 5"/>
            <p:cNvSpPr/>
            <p:nvPr/>
          </p:nvSpPr>
          <p:spPr>
            <a:xfrm>
              <a:off x="9252520" y="1268760"/>
              <a:ext cx="6048672" cy="369332"/>
            </a:xfrm>
            <a:prstGeom prst="rect">
              <a:avLst/>
            </a:prstGeom>
          </p:spPr>
          <p:txBody>
            <a:bodyPr wrap="square">
              <a:spAutoFit/>
            </a:bodyPr>
            <a:lstStyle/>
            <a:p>
              <a:endParaRPr lang="ru-RU" dirty="0"/>
            </a:p>
          </p:txBody>
        </p:sp>
        <p:sp>
          <p:nvSpPr>
            <p:cNvPr id="8" name="Прямоугольник 7"/>
            <p:cNvSpPr/>
            <p:nvPr/>
          </p:nvSpPr>
          <p:spPr>
            <a:xfrm>
              <a:off x="237409" y="989385"/>
              <a:ext cx="8712968" cy="369332"/>
            </a:xfrm>
            <a:prstGeom prst="rect">
              <a:avLst/>
            </a:prstGeom>
          </p:spPr>
          <p:txBody>
            <a:bodyPr wrap="square">
              <a:spAutoFit/>
            </a:bodyPr>
            <a:lstStyle/>
            <a:p>
              <a:endParaRPr lang="ru-RU" dirty="0"/>
            </a:p>
          </p:txBody>
        </p:sp>
      </p:grpSp>
      <p:pic>
        <p:nvPicPr>
          <p:cNvPr id="33" name="Рисунок 32"/>
          <p:cNvPicPr/>
          <p:nvPr/>
        </p:nvPicPr>
        <p:blipFill>
          <a:blip r:embed="rId4">
            <a:extLst>
              <a:ext uri="{28A0092B-C50C-407E-A947-70E740481C1C}">
                <a14:useLocalDpi xmlns:a14="http://schemas.microsoft.com/office/drawing/2010/main" val="0"/>
              </a:ext>
            </a:extLst>
          </a:blip>
          <a:stretch>
            <a:fillRect/>
          </a:stretch>
        </p:blipFill>
        <p:spPr>
          <a:xfrm>
            <a:off x="611560" y="3614303"/>
            <a:ext cx="5265420" cy="817245"/>
          </a:xfrm>
          <a:prstGeom prst="rect">
            <a:avLst/>
          </a:prstGeom>
        </p:spPr>
      </p:pic>
      <p:sp>
        <p:nvSpPr>
          <p:cNvPr id="13" name="Прямоугольник 12"/>
          <p:cNvSpPr/>
          <p:nvPr/>
        </p:nvSpPr>
        <p:spPr>
          <a:xfrm>
            <a:off x="755576" y="1625209"/>
            <a:ext cx="4843989" cy="1754326"/>
          </a:xfrm>
          <a:prstGeom prst="rect">
            <a:avLst/>
          </a:prstGeom>
        </p:spPr>
        <p:txBody>
          <a:bodyPr wrap="square">
            <a:spAutoFit/>
          </a:bodyPr>
          <a:lstStyle/>
          <a:p>
            <a:pPr algn="just"/>
            <a:r>
              <a:rPr lang="uz-Cyrl-UZ" dirty="0"/>
              <a:t>Янги таклиф этилаётган алгоритмда ТБСР га асосланган Галуа генераторидан фойдаланилади. Галуа генератори АҚШ давлат шифрлаш стандарти AESда қўлланилган бўлиб, турли чекланган майдонларда максимал даврларга эга бўлади</a:t>
            </a:r>
            <a:endParaRPr lang="ru-RU" dirty="0"/>
          </a:p>
        </p:txBody>
      </p:sp>
      <p:pic>
        <p:nvPicPr>
          <p:cNvPr id="35" name="Рисунок 34"/>
          <p:cNvPicPr/>
          <p:nvPr/>
        </p:nvPicPr>
        <p:blipFill>
          <a:blip r:embed="rId5">
            <a:extLst>
              <a:ext uri="{28A0092B-C50C-407E-A947-70E740481C1C}">
                <a14:useLocalDpi xmlns:a14="http://schemas.microsoft.com/office/drawing/2010/main" val="0"/>
              </a:ext>
            </a:extLst>
          </a:blip>
          <a:stretch>
            <a:fillRect/>
          </a:stretch>
        </p:blipFill>
        <p:spPr>
          <a:xfrm>
            <a:off x="6230037" y="1159324"/>
            <a:ext cx="2720340" cy="4533900"/>
          </a:xfrm>
          <a:prstGeom prst="rect">
            <a:avLst/>
          </a:prstGeom>
        </p:spPr>
      </p:pic>
      <p:pic>
        <p:nvPicPr>
          <p:cNvPr id="12" name="Рисунок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9592" y="1258593"/>
            <a:ext cx="3168352" cy="4613565"/>
          </a:xfrm>
          <a:prstGeom prst="rect">
            <a:avLst/>
          </a:prstGeom>
        </p:spPr>
      </p:pic>
      <p:pic>
        <p:nvPicPr>
          <p:cNvPr id="15" name="Рисунок 1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39166" y="548680"/>
            <a:ext cx="3193267" cy="5549552"/>
          </a:xfrm>
          <a:prstGeom prst="rect">
            <a:avLst/>
          </a:prstGeom>
        </p:spPr>
      </p:pic>
    </p:spTree>
    <p:extLst>
      <p:ext uri="{BB962C8B-B14F-4D97-AF65-F5344CB8AC3E}">
        <p14:creationId xmlns:p14="http://schemas.microsoft.com/office/powerpoint/2010/main" val="2554692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33"/>
                                        </p:tgtEl>
                                      </p:cBhvr>
                                    </p:animEffect>
                                    <p:set>
                                      <p:cBhvr>
                                        <p:cTn id="10" dur="1" fill="hold">
                                          <p:stCondLst>
                                            <p:cond delay="499"/>
                                          </p:stCondLst>
                                        </p:cTn>
                                        <p:tgtEl>
                                          <p:spTgt spid="33"/>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35"/>
                                        </p:tgtEl>
                                      </p:cBhvr>
                                    </p:animEffect>
                                    <p:set>
                                      <p:cBhvr>
                                        <p:cTn id="13" dur="1" fill="hold">
                                          <p:stCondLst>
                                            <p:cond delay="499"/>
                                          </p:stCondLst>
                                        </p:cTn>
                                        <p:tgtEl>
                                          <p:spTgt spid="35"/>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2"/>
                                        </p:tgtEl>
                                      </p:cBhvr>
                                    </p:animEffect>
                                    <p:set>
                                      <p:cBhvr>
                                        <p:cTn id="16" dur="1" fill="hold">
                                          <p:stCondLst>
                                            <p:cond delay="499"/>
                                          </p:stCondLst>
                                        </p:cTn>
                                        <p:tgtEl>
                                          <p:spTgt spid="2"/>
                                        </p:tgtEl>
                                        <p:attrNameLst>
                                          <p:attrName>style.visibility</p:attrName>
                                        </p:attrNameLst>
                                      </p:cBhvr>
                                      <p:to>
                                        <p:strVal val="hidden"/>
                                      </p:to>
                                    </p:se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MasterDocs\расм\f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sp>
        <p:nvSpPr>
          <p:cNvPr id="4" name="Номер слайда 3"/>
          <p:cNvSpPr>
            <a:spLocks noGrp="1"/>
          </p:cNvSpPr>
          <p:nvPr>
            <p:ph type="sldNum" sz="quarter" idx="12"/>
          </p:nvPr>
        </p:nvSpPr>
        <p:spPr>
          <a:xfrm>
            <a:off x="8396807" y="6504437"/>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solidFill>
                  <a:schemeClr val="tx1"/>
                </a:solidFill>
              </a:rPr>
              <a:pPr algn="ctr"/>
              <a:t>15</a:t>
            </a:fld>
            <a:endParaRPr lang="ru-RU" dirty="0">
              <a:solidFill>
                <a:schemeClr val="tx1"/>
              </a:solidFill>
            </a:endParaRP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1124744"/>
            <a:ext cx="7404625" cy="424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Поле 6"/>
          <p:cNvSpPr txBox="1"/>
          <p:nvPr/>
        </p:nvSpPr>
        <p:spPr>
          <a:xfrm>
            <a:off x="1070842" y="2317933"/>
            <a:ext cx="2564765" cy="75946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228600" algn="ctr">
              <a:lnSpc>
                <a:spcPct val="115000"/>
              </a:lnSpc>
              <a:spcAft>
                <a:spcPts val="1000"/>
              </a:spcAft>
            </a:pPr>
            <a:r>
              <a:rPr lang="ru-RU" sz="1400" dirty="0" err="1">
                <a:effectLst/>
                <a:latin typeface="Times New Roman"/>
                <a:ea typeface="Calibri"/>
                <a:cs typeface="Times New Roman"/>
              </a:rPr>
              <a:t>Стеганографик</a:t>
            </a:r>
            <a:r>
              <a:rPr lang="ru-RU" sz="1400" dirty="0">
                <a:effectLst/>
                <a:latin typeface="Times New Roman"/>
                <a:ea typeface="Calibri"/>
                <a:cs typeface="Times New Roman"/>
              </a:rPr>
              <a:t> </a:t>
            </a:r>
            <a:r>
              <a:rPr lang="ru-RU" sz="1400" dirty="0" err="1">
                <a:effectLst/>
                <a:latin typeface="Times New Roman"/>
                <a:ea typeface="Calibri"/>
                <a:cs typeface="Times New Roman"/>
              </a:rPr>
              <a:t>маълумот</a:t>
            </a:r>
            <a:r>
              <a:rPr lang="ru-RU" sz="1400" dirty="0">
                <a:effectLst/>
                <a:latin typeface="Times New Roman"/>
                <a:ea typeface="Calibri"/>
                <a:cs typeface="Times New Roman"/>
              </a:rPr>
              <a:t> </a:t>
            </a:r>
            <a:r>
              <a:rPr lang="ru-RU" sz="1400" dirty="0" err="1">
                <a:effectLst/>
                <a:latin typeface="Times New Roman"/>
                <a:ea typeface="Calibri"/>
                <a:cs typeface="Times New Roman"/>
              </a:rPr>
              <a:t>алмашинишга</a:t>
            </a:r>
            <a:r>
              <a:rPr lang="ru-RU" sz="1400" dirty="0">
                <a:effectLst/>
                <a:latin typeface="Times New Roman"/>
                <a:ea typeface="Calibri"/>
                <a:cs typeface="Times New Roman"/>
              </a:rPr>
              <a:t> </a:t>
            </a:r>
            <a:r>
              <a:rPr lang="ru-RU" sz="1400" dirty="0" err="1">
                <a:effectLst/>
                <a:latin typeface="Times New Roman"/>
                <a:ea typeface="Calibri"/>
                <a:cs typeface="Times New Roman"/>
              </a:rPr>
              <a:t>қарши</a:t>
            </a:r>
            <a:r>
              <a:rPr lang="ru-RU" sz="1400" dirty="0">
                <a:effectLst/>
                <a:latin typeface="Times New Roman"/>
                <a:ea typeface="Calibri"/>
                <a:cs typeface="Times New Roman"/>
              </a:rPr>
              <a:t> </a:t>
            </a:r>
            <a:r>
              <a:rPr lang="ru-RU" sz="1400" dirty="0" err="1">
                <a:effectLst/>
                <a:latin typeface="Times New Roman"/>
                <a:ea typeface="Calibri"/>
                <a:cs typeface="Times New Roman"/>
              </a:rPr>
              <a:t>усуллар</a:t>
            </a:r>
            <a:endParaRPr lang="ru-RU" sz="1100" dirty="0">
              <a:effectLst/>
              <a:ea typeface="Calibri"/>
              <a:cs typeface="Times New Roman"/>
            </a:endParaRPr>
          </a:p>
          <a:p>
            <a:pPr algn="ctr">
              <a:lnSpc>
                <a:spcPct val="115000"/>
              </a:lnSpc>
              <a:spcAft>
                <a:spcPts val="1000"/>
              </a:spcAft>
            </a:pPr>
            <a:r>
              <a:rPr lang="ru-RU" sz="1400" dirty="0">
                <a:effectLst/>
                <a:ea typeface="Calibri"/>
                <a:cs typeface="Times New Roman"/>
              </a:rPr>
              <a:t> </a:t>
            </a:r>
            <a:endParaRPr lang="ru-RU" sz="1100" dirty="0">
              <a:effectLst/>
              <a:ea typeface="Calibri"/>
              <a:cs typeface="Times New Roman"/>
            </a:endParaRPr>
          </a:p>
        </p:txBody>
      </p:sp>
      <p:sp>
        <p:nvSpPr>
          <p:cNvPr id="10" name="Поле 11"/>
          <p:cNvSpPr txBox="1"/>
          <p:nvPr/>
        </p:nvSpPr>
        <p:spPr>
          <a:xfrm>
            <a:off x="5292080" y="2329453"/>
            <a:ext cx="2564765" cy="75946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228600" algn="ctr">
              <a:lnSpc>
                <a:spcPct val="115000"/>
              </a:lnSpc>
              <a:spcAft>
                <a:spcPts val="1000"/>
              </a:spcAft>
            </a:pPr>
            <a:r>
              <a:rPr lang="ru-RU" sz="1400" dirty="0" err="1">
                <a:effectLst/>
                <a:latin typeface="Times New Roman"/>
                <a:ea typeface="Calibri"/>
                <a:cs typeface="Times New Roman"/>
              </a:rPr>
              <a:t>Жуфт</a:t>
            </a:r>
            <a:r>
              <a:rPr lang="ru-RU" sz="1400" dirty="0">
                <a:effectLst/>
                <a:latin typeface="Times New Roman"/>
                <a:ea typeface="Calibri"/>
                <a:cs typeface="Times New Roman"/>
              </a:rPr>
              <a:t> </a:t>
            </a:r>
            <a:r>
              <a:rPr lang="ru-RU" sz="1400" dirty="0" err="1">
                <a:effectLst/>
                <a:latin typeface="Times New Roman"/>
                <a:ea typeface="Calibri"/>
                <a:cs typeface="Times New Roman"/>
              </a:rPr>
              <a:t>қийматларни</a:t>
            </a:r>
            <a:r>
              <a:rPr lang="ru-RU" sz="1400" dirty="0">
                <a:effectLst/>
                <a:latin typeface="Times New Roman"/>
                <a:ea typeface="Calibri"/>
                <a:cs typeface="Times New Roman"/>
              </a:rPr>
              <a:t> </a:t>
            </a:r>
            <a:r>
              <a:rPr lang="ru-RU" sz="1400" dirty="0" err="1">
                <a:effectLst/>
                <a:latin typeface="Times New Roman"/>
                <a:ea typeface="Calibri"/>
                <a:cs typeface="Times New Roman"/>
              </a:rPr>
              <a:t>таҳлил</a:t>
            </a:r>
            <a:r>
              <a:rPr lang="ru-RU" sz="1400" dirty="0">
                <a:effectLst/>
                <a:latin typeface="Times New Roman"/>
                <a:ea typeface="Calibri"/>
                <a:cs typeface="Times New Roman"/>
              </a:rPr>
              <a:t> </a:t>
            </a:r>
            <a:r>
              <a:rPr lang="ru-RU" sz="1400" dirty="0" err="1">
                <a:effectLst/>
                <a:latin typeface="Times New Roman"/>
                <a:ea typeface="Calibri"/>
                <a:cs typeface="Times New Roman"/>
              </a:rPr>
              <a:t>қилиш</a:t>
            </a:r>
            <a:endParaRPr lang="ru-RU" sz="1100" dirty="0">
              <a:effectLst/>
              <a:ea typeface="Calibri"/>
              <a:cs typeface="Times New Roman"/>
            </a:endParaRPr>
          </a:p>
        </p:txBody>
      </p:sp>
      <p:sp>
        <p:nvSpPr>
          <p:cNvPr id="11" name="Поле 12"/>
          <p:cNvSpPr txBox="1"/>
          <p:nvPr/>
        </p:nvSpPr>
        <p:spPr>
          <a:xfrm>
            <a:off x="5292080" y="3462022"/>
            <a:ext cx="2564765" cy="75946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228600" algn="ctr">
              <a:lnSpc>
                <a:spcPct val="115000"/>
              </a:lnSpc>
              <a:spcAft>
                <a:spcPts val="1000"/>
              </a:spcAft>
            </a:pPr>
            <a:r>
              <a:rPr lang="ru-RU" sz="1400" dirty="0" err="1">
                <a:effectLst/>
                <a:latin typeface="Times New Roman"/>
                <a:ea typeface="Calibri"/>
                <a:cs typeface="Times New Roman"/>
              </a:rPr>
              <a:t>Икки</a:t>
            </a:r>
            <a:r>
              <a:rPr lang="ru-RU" sz="1400" dirty="0">
                <a:effectLst/>
                <a:latin typeface="Times New Roman"/>
                <a:ea typeface="Calibri"/>
                <a:cs typeface="Times New Roman"/>
              </a:rPr>
              <a:t> </a:t>
            </a:r>
            <a:r>
              <a:rPr lang="ru-RU" sz="1400" dirty="0" err="1">
                <a:effectLst/>
                <a:latin typeface="Times New Roman"/>
                <a:ea typeface="Calibri"/>
                <a:cs typeface="Times New Roman"/>
              </a:rPr>
              <a:t>тарафлама</a:t>
            </a:r>
            <a:r>
              <a:rPr lang="ru-RU" sz="1400" dirty="0">
                <a:effectLst/>
                <a:latin typeface="Times New Roman"/>
                <a:ea typeface="Calibri"/>
                <a:cs typeface="Times New Roman"/>
              </a:rPr>
              <a:t> статистика </a:t>
            </a:r>
            <a:r>
              <a:rPr lang="ru-RU" sz="1400" dirty="0" err="1">
                <a:effectLst/>
                <a:latin typeface="Times New Roman"/>
                <a:ea typeface="Calibri"/>
                <a:cs typeface="Times New Roman"/>
              </a:rPr>
              <a:t>усули</a:t>
            </a:r>
            <a:endParaRPr lang="ru-RU" sz="1100" dirty="0">
              <a:effectLst/>
              <a:ea typeface="Calibri"/>
              <a:cs typeface="Times New Roman"/>
            </a:endParaRPr>
          </a:p>
        </p:txBody>
      </p:sp>
      <p:sp>
        <p:nvSpPr>
          <p:cNvPr id="12" name="Поле 14"/>
          <p:cNvSpPr txBox="1"/>
          <p:nvPr/>
        </p:nvSpPr>
        <p:spPr>
          <a:xfrm>
            <a:off x="1070842" y="3468643"/>
            <a:ext cx="2564765" cy="75946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228600" algn="ctr">
              <a:lnSpc>
                <a:spcPct val="115000"/>
              </a:lnSpc>
              <a:spcAft>
                <a:spcPts val="1000"/>
              </a:spcAft>
            </a:pPr>
            <a:r>
              <a:rPr lang="ru-RU" sz="1400" dirty="0" err="1">
                <a:effectLst/>
                <a:latin typeface="Times New Roman"/>
                <a:ea typeface="Calibri"/>
                <a:cs typeface="Times New Roman"/>
              </a:rPr>
              <a:t>Аниқланиш</a:t>
            </a:r>
            <a:r>
              <a:rPr lang="ru-RU" sz="1400" dirty="0">
                <a:effectLst/>
                <a:latin typeface="Times New Roman"/>
                <a:ea typeface="Calibri"/>
                <a:cs typeface="Times New Roman"/>
              </a:rPr>
              <a:t> </a:t>
            </a:r>
            <a:r>
              <a:rPr lang="ru-RU" sz="1400" dirty="0" err="1">
                <a:effectLst/>
                <a:latin typeface="Times New Roman"/>
                <a:ea typeface="Calibri"/>
                <a:cs typeface="Times New Roman"/>
              </a:rPr>
              <a:t>чегарасини</a:t>
            </a:r>
            <a:r>
              <a:rPr lang="ru-RU" sz="1400" dirty="0">
                <a:effectLst/>
                <a:latin typeface="Times New Roman"/>
                <a:ea typeface="Calibri"/>
                <a:cs typeface="Times New Roman"/>
              </a:rPr>
              <a:t> </a:t>
            </a:r>
            <a:r>
              <a:rPr lang="ru-RU" sz="1400" dirty="0" err="1">
                <a:effectLst/>
                <a:latin typeface="Times New Roman"/>
                <a:ea typeface="Calibri"/>
                <a:cs typeface="Times New Roman"/>
              </a:rPr>
              <a:t>топиш</a:t>
            </a:r>
            <a:endParaRPr lang="ru-RU" sz="1100" dirty="0">
              <a:effectLst/>
              <a:ea typeface="Calibri"/>
              <a:cs typeface="Times New Roman"/>
            </a:endParaRPr>
          </a:p>
          <a:p>
            <a:pPr algn="ctr">
              <a:lnSpc>
                <a:spcPct val="115000"/>
              </a:lnSpc>
              <a:spcAft>
                <a:spcPts val="1000"/>
              </a:spcAft>
            </a:pPr>
            <a:r>
              <a:rPr lang="ru-RU" sz="1400" dirty="0">
                <a:effectLst/>
                <a:ea typeface="Calibri"/>
                <a:cs typeface="Times New Roman"/>
              </a:rPr>
              <a:t> </a:t>
            </a:r>
            <a:endParaRPr lang="ru-RU" sz="1100" dirty="0">
              <a:effectLst/>
              <a:ea typeface="Calibri"/>
              <a:cs typeface="Times New Roman"/>
            </a:endParaRPr>
          </a:p>
        </p:txBody>
      </p:sp>
      <p:sp>
        <p:nvSpPr>
          <p:cNvPr id="13" name="Поле 16"/>
          <p:cNvSpPr txBox="1"/>
          <p:nvPr/>
        </p:nvSpPr>
        <p:spPr>
          <a:xfrm>
            <a:off x="5292080" y="4424955"/>
            <a:ext cx="2564765" cy="75946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228600" algn="ctr">
              <a:lnSpc>
                <a:spcPct val="115000"/>
              </a:lnSpc>
              <a:spcAft>
                <a:spcPts val="1000"/>
              </a:spcAft>
            </a:pPr>
            <a:r>
              <a:rPr lang="ru-RU" sz="1400" dirty="0" err="1">
                <a:effectLst/>
                <a:latin typeface="Times New Roman"/>
                <a:ea typeface="Calibri"/>
                <a:cs typeface="Times New Roman"/>
              </a:rPr>
              <a:t>Аудиоконтейнерларга</a:t>
            </a:r>
            <a:r>
              <a:rPr lang="ru-RU" sz="1400" dirty="0">
                <a:effectLst/>
                <a:latin typeface="Times New Roman"/>
                <a:ea typeface="Calibri"/>
                <a:cs typeface="Times New Roman"/>
              </a:rPr>
              <a:t> </a:t>
            </a:r>
            <a:r>
              <a:rPr lang="ru-RU" sz="1400" dirty="0" err="1">
                <a:effectLst/>
                <a:latin typeface="Times New Roman"/>
                <a:ea typeface="Calibri"/>
                <a:cs typeface="Times New Roman"/>
              </a:rPr>
              <a:t>стеганотаҳлил</a:t>
            </a:r>
            <a:r>
              <a:rPr lang="ru-RU" sz="1400" dirty="0">
                <a:effectLst/>
                <a:latin typeface="Times New Roman"/>
                <a:ea typeface="Calibri"/>
                <a:cs typeface="Times New Roman"/>
              </a:rPr>
              <a:t> </a:t>
            </a:r>
            <a:r>
              <a:rPr lang="ru-RU" sz="1400" dirty="0" err="1">
                <a:effectLst/>
                <a:latin typeface="Times New Roman"/>
                <a:ea typeface="Calibri"/>
                <a:cs typeface="Times New Roman"/>
              </a:rPr>
              <a:t>усуллари</a:t>
            </a:r>
            <a:endParaRPr lang="ru-RU" sz="1100" dirty="0">
              <a:effectLst/>
              <a:ea typeface="Calibri"/>
              <a:cs typeface="Times New Roman"/>
            </a:endParaRPr>
          </a:p>
        </p:txBody>
      </p:sp>
      <p:sp>
        <p:nvSpPr>
          <p:cNvPr id="14" name="Поле 17"/>
          <p:cNvSpPr txBox="1"/>
          <p:nvPr/>
        </p:nvSpPr>
        <p:spPr>
          <a:xfrm>
            <a:off x="1070842" y="4413796"/>
            <a:ext cx="2564765" cy="75946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228600" algn="ctr">
              <a:lnSpc>
                <a:spcPct val="115000"/>
              </a:lnSpc>
              <a:spcAft>
                <a:spcPts val="1000"/>
              </a:spcAft>
            </a:pPr>
            <a:r>
              <a:rPr lang="ru-RU" sz="1400" b="1" dirty="0" err="1">
                <a:effectLst/>
                <a:latin typeface="Times New Roman"/>
                <a:ea typeface="Calibri"/>
                <a:cs typeface="Times New Roman"/>
              </a:rPr>
              <a:t>Хатоликларни</a:t>
            </a:r>
            <a:r>
              <a:rPr lang="ru-RU" sz="1400" b="1" dirty="0">
                <a:effectLst/>
                <a:latin typeface="Times New Roman"/>
                <a:ea typeface="Calibri"/>
                <a:cs typeface="Times New Roman"/>
              </a:rPr>
              <a:t> </a:t>
            </a:r>
            <a:r>
              <a:rPr lang="ru-RU" sz="1400" b="1" dirty="0" err="1">
                <a:effectLst/>
                <a:latin typeface="Times New Roman"/>
                <a:ea typeface="Calibri"/>
                <a:cs typeface="Times New Roman"/>
              </a:rPr>
              <a:t>назорат</a:t>
            </a:r>
            <a:r>
              <a:rPr lang="ru-RU" sz="1400" b="1" dirty="0">
                <a:effectLst/>
                <a:latin typeface="Times New Roman"/>
                <a:ea typeface="Calibri"/>
                <a:cs typeface="Times New Roman"/>
              </a:rPr>
              <a:t> </a:t>
            </a:r>
            <a:r>
              <a:rPr lang="ru-RU" sz="1400" b="1" dirty="0" err="1">
                <a:effectLst/>
                <a:latin typeface="Times New Roman"/>
                <a:ea typeface="Calibri"/>
                <a:cs typeface="Times New Roman"/>
              </a:rPr>
              <a:t>қилиш</a:t>
            </a:r>
            <a:endParaRPr lang="ru-RU" sz="1100" dirty="0">
              <a:effectLst/>
              <a:ea typeface="Calibri"/>
              <a:cs typeface="Times New Roman"/>
            </a:endParaRPr>
          </a:p>
        </p:txBody>
      </p:sp>
      <p:sp>
        <p:nvSpPr>
          <p:cNvPr id="15" name="Поле 19"/>
          <p:cNvSpPr txBox="1"/>
          <p:nvPr/>
        </p:nvSpPr>
        <p:spPr>
          <a:xfrm>
            <a:off x="3513440" y="1268760"/>
            <a:ext cx="2160905" cy="67627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228600" algn="ctr">
              <a:lnSpc>
                <a:spcPct val="115000"/>
              </a:lnSpc>
              <a:spcAft>
                <a:spcPts val="1000"/>
              </a:spcAft>
            </a:pPr>
            <a:r>
              <a:rPr lang="ru-RU" sz="1400" b="1" dirty="0">
                <a:effectLst/>
                <a:latin typeface="Times New Roman"/>
                <a:ea typeface="Calibri"/>
                <a:cs typeface="Times New Roman"/>
              </a:rPr>
              <a:t>СТЕГАНО</a:t>
            </a:r>
            <a:r>
              <a:rPr lang="uz-Cyrl-UZ" sz="1400" b="1" dirty="0">
                <a:effectLst/>
                <a:latin typeface="Times New Roman"/>
                <a:ea typeface="Calibri"/>
                <a:cs typeface="Times New Roman"/>
              </a:rPr>
              <a:t>ТАҲЛИЛ </a:t>
            </a:r>
            <a:endParaRPr lang="ru-RU" sz="1100" dirty="0">
              <a:effectLst/>
              <a:ea typeface="Calibri"/>
              <a:cs typeface="Times New Roman"/>
            </a:endParaRPr>
          </a:p>
          <a:p>
            <a:pPr marL="228600" algn="ctr">
              <a:lnSpc>
                <a:spcPct val="115000"/>
              </a:lnSpc>
              <a:spcAft>
                <a:spcPts val="1000"/>
              </a:spcAft>
            </a:pPr>
            <a:r>
              <a:rPr lang="ru-RU" sz="1400" b="1" dirty="0">
                <a:effectLst/>
                <a:latin typeface="Times New Roman"/>
                <a:ea typeface="Calibri"/>
                <a:cs typeface="Times New Roman"/>
              </a:rPr>
              <a:t>УСУЛЛАР</a:t>
            </a:r>
            <a:r>
              <a:rPr lang="uz-Cyrl-UZ" sz="1400" b="1" dirty="0">
                <a:effectLst/>
                <a:latin typeface="Times New Roman"/>
                <a:ea typeface="Calibri"/>
                <a:cs typeface="Times New Roman"/>
              </a:rPr>
              <a:t>И</a:t>
            </a:r>
            <a:endParaRPr lang="ru-RU" sz="1100" dirty="0">
              <a:effectLst/>
              <a:ea typeface="Calibri"/>
              <a:cs typeface="Times New Roman"/>
            </a:endParaRPr>
          </a:p>
          <a:p>
            <a:pPr algn="ctr">
              <a:lnSpc>
                <a:spcPct val="115000"/>
              </a:lnSpc>
              <a:spcAft>
                <a:spcPts val="1000"/>
              </a:spcAft>
            </a:pPr>
            <a:r>
              <a:rPr lang="ru-RU" sz="1400" b="1" dirty="0">
                <a:effectLst/>
                <a:ea typeface="Calibri"/>
                <a:cs typeface="Times New Roman"/>
              </a:rPr>
              <a:t> </a:t>
            </a:r>
            <a:endParaRPr lang="ru-RU" sz="1100" dirty="0">
              <a:effectLst/>
              <a:ea typeface="Calibri"/>
              <a:cs typeface="Times New Roman"/>
            </a:endParaRPr>
          </a:p>
        </p:txBody>
      </p:sp>
      <p:sp>
        <p:nvSpPr>
          <p:cNvPr id="16" name="Прямоугольник 15"/>
          <p:cNvSpPr/>
          <p:nvPr/>
        </p:nvSpPr>
        <p:spPr>
          <a:xfrm>
            <a:off x="323528" y="-66293"/>
            <a:ext cx="8640960" cy="830997"/>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uz-Cyrl-UZ" sz="2400" b="1" dirty="0" smtClean="0">
                <a:solidFill>
                  <a:schemeClr val="tx1"/>
                </a:solidFill>
              </a:rPr>
              <a:t>Стеганографик </a:t>
            </a:r>
            <a:r>
              <a:rPr lang="uz-Cyrl-UZ" sz="2400" b="1" dirty="0">
                <a:solidFill>
                  <a:schemeClr val="tx1"/>
                </a:solidFill>
              </a:rPr>
              <a:t>алгоритмларнинг мураккаблик даражасини баҳолаш</a:t>
            </a:r>
            <a:endParaRPr lang="ru-RU" sz="2400" dirty="0">
              <a:solidFill>
                <a:schemeClr val="tx1"/>
              </a:solidFill>
            </a:endParaRPr>
          </a:p>
        </p:txBody>
      </p:sp>
    </p:spTree>
    <p:extLst>
      <p:ext uri="{BB962C8B-B14F-4D97-AF65-F5344CB8AC3E}">
        <p14:creationId xmlns:p14="http://schemas.microsoft.com/office/powerpoint/2010/main" val="2229255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MasterDocs\расм\f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p:cNvSpPr/>
          <p:nvPr/>
        </p:nvSpPr>
        <p:spPr>
          <a:xfrm>
            <a:off x="-11371" y="15007"/>
            <a:ext cx="9175033" cy="46166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uz-Cyrl-UZ" sz="2400" b="1" dirty="0" smtClean="0">
                <a:solidFill>
                  <a:schemeClr val="tx1"/>
                </a:solidFill>
              </a:rPr>
              <a:t>Хатолик кўрсаткичларига асосланган стеганотаҳлил усуллари</a:t>
            </a:r>
            <a:endParaRPr lang="ru-RU" sz="2400" dirty="0">
              <a:solidFill>
                <a:schemeClr val="tx1"/>
              </a:solidFill>
            </a:endParaRPr>
          </a:p>
        </p:txBody>
      </p:sp>
      <p:sp>
        <p:nvSpPr>
          <p:cNvPr id="7" name="Номер слайда 6"/>
          <p:cNvSpPr>
            <a:spLocks noGrp="1"/>
          </p:cNvSpPr>
          <p:nvPr>
            <p:ph type="sldNum" sz="quarter" idx="12"/>
          </p:nvPr>
        </p:nvSpPr>
        <p:spPr>
          <a:xfrm>
            <a:off x="8385921" y="6514816"/>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16</a:t>
            </a:fld>
            <a:endParaRPr lang="ru-RU" dirty="0"/>
          </a:p>
        </p:txBody>
      </p:sp>
      <p:pic>
        <p:nvPicPr>
          <p:cNvPr id="5178" name="Picture 5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2498" y="1169498"/>
            <a:ext cx="7082789" cy="521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79" name="Picture 5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63662" y="1180051"/>
            <a:ext cx="7235086" cy="5203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2946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01024 -0.00092 L -0.89531 -0.00092 " pathEditMode="relative" rAng="0" ptsTypes="AA">
                                      <p:cBhvr>
                                        <p:cTn id="6" dur="2000" fill="hold"/>
                                        <p:tgtEl>
                                          <p:spTgt spid="5179"/>
                                        </p:tgtEl>
                                        <p:attrNameLst>
                                          <p:attrName>ppt_x</p:attrName>
                                          <p:attrName>ppt_y</p:attrName>
                                        </p:attrNameLst>
                                      </p:cBhvr>
                                      <p:rCtr x="-45278" y="0"/>
                                    </p:animMotion>
                                  </p:childTnLst>
                                </p:cTn>
                              </p:par>
                              <p:par>
                                <p:cTn id="7" presetID="35" presetClass="path" presetSubtype="0" accel="50000" decel="50000" fill="hold" nodeType="withEffect">
                                  <p:stCondLst>
                                    <p:cond delay="0"/>
                                  </p:stCondLst>
                                  <p:childTnLst>
                                    <p:animMotion origin="layout" path="M -5.55556E-7 -2.96296E-6 L -0.95521 -2.96296E-6 " pathEditMode="relative" rAng="0" ptsTypes="AA">
                                      <p:cBhvr>
                                        <p:cTn id="8" dur="2000" fill="hold"/>
                                        <p:tgtEl>
                                          <p:spTgt spid="5178"/>
                                        </p:tgtEl>
                                        <p:attrNameLst>
                                          <p:attrName>ppt_x</p:attrName>
                                          <p:attrName>ppt_y</p:attrName>
                                        </p:attrNameLst>
                                      </p:cBhvr>
                                      <p:rCtr x="-4776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MasterDocs\расм\f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87" y="692696"/>
            <a:ext cx="9100213" cy="5843215"/>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p:cNvSpPr/>
          <p:nvPr/>
        </p:nvSpPr>
        <p:spPr>
          <a:xfrm>
            <a:off x="611560" y="-21800"/>
            <a:ext cx="7848872" cy="461665"/>
          </a:xfrm>
          <a:prstGeom prst="rect">
            <a:avLst/>
          </a:prstGeom>
          <a:solidFill>
            <a:schemeClr val="accent1">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marL="0" lvl="1" algn="ctr"/>
            <a:r>
              <a:rPr lang="uz-Cyrl-UZ" sz="2400" b="1" dirty="0" smtClean="0">
                <a:solidFill>
                  <a:schemeClr val="tx1"/>
                </a:solidFill>
              </a:rPr>
              <a:t>Дастурий таъминотнинг умумий блок схемаси</a:t>
            </a:r>
            <a:endParaRPr lang="ru-RU" sz="2400" b="1" dirty="0">
              <a:solidFill>
                <a:schemeClr val="tx1"/>
              </a:solidFill>
            </a:endParaRPr>
          </a:p>
        </p:txBody>
      </p:sp>
      <p:sp>
        <p:nvSpPr>
          <p:cNvPr id="10" name="Номер слайда 9"/>
          <p:cNvSpPr>
            <a:spLocks noGrp="1"/>
          </p:cNvSpPr>
          <p:nvPr>
            <p:ph type="sldNum" sz="quarter" idx="12"/>
          </p:nvPr>
        </p:nvSpPr>
        <p:spPr>
          <a:xfrm>
            <a:off x="8382000" y="6520259"/>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17</a:t>
            </a:fld>
            <a:endParaRPr lang="ru-RU" dirty="0"/>
          </a:p>
        </p:txBody>
      </p:sp>
      <p:sp>
        <p:nvSpPr>
          <p:cNvPr id="6" name="TextBox 5"/>
          <p:cNvSpPr txBox="1"/>
          <p:nvPr/>
        </p:nvSpPr>
        <p:spPr>
          <a:xfrm>
            <a:off x="1043608" y="5895040"/>
            <a:ext cx="2313197" cy="369332"/>
          </a:xfrm>
          <a:prstGeom prst="rect">
            <a:avLst/>
          </a:prstGeom>
          <a:noFill/>
        </p:spPr>
        <p:txBody>
          <a:bodyPr wrap="none" rtlCol="0">
            <a:spAutoFit/>
          </a:bodyPr>
          <a:lstStyle/>
          <a:p>
            <a:r>
              <a:rPr lang="ru-RU" dirty="0" err="1" smtClean="0"/>
              <a:t>Контейнерга</a:t>
            </a:r>
            <a:r>
              <a:rPr lang="ru-RU" dirty="0" smtClean="0"/>
              <a:t> </a:t>
            </a:r>
            <a:r>
              <a:rPr lang="ru-RU" dirty="0" err="1" smtClean="0"/>
              <a:t>яшириш</a:t>
            </a:r>
            <a:endParaRPr lang="ru-RU" dirty="0"/>
          </a:p>
        </p:txBody>
      </p:sp>
      <p:sp>
        <p:nvSpPr>
          <p:cNvPr id="12" name="TextBox 11"/>
          <p:cNvSpPr txBox="1"/>
          <p:nvPr/>
        </p:nvSpPr>
        <p:spPr>
          <a:xfrm>
            <a:off x="4712371" y="5895040"/>
            <a:ext cx="4290918" cy="369332"/>
          </a:xfrm>
          <a:prstGeom prst="rect">
            <a:avLst/>
          </a:prstGeom>
          <a:noFill/>
        </p:spPr>
        <p:txBody>
          <a:bodyPr wrap="none" rtlCol="0">
            <a:spAutoFit/>
          </a:bodyPr>
          <a:lstStyle/>
          <a:p>
            <a:r>
              <a:rPr lang="ru-RU" dirty="0" err="1" smtClean="0"/>
              <a:t>Контейнердан</a:t>
            </a:r>
            <a:r>
              <a:rPr lang="ru-RU" dirty="0" smtClean="0"/>
              <a:t> </a:t>
            </a:r>
            <a:r>
              <a:rPr lang="ru-RU" dirty="0" err="1" smtClean="0"/>
              <a:t>маълумотни</a:t>
            </a:r>
            <a:r>
              <a:rPr lang="ru-RU" dirty="0" smtClean="0"/>
              <a:t> </a:t>
            </a:r>
            <a:r>
              <a:rPr lang="ru-RU" dirty="0" err="1" smtClean="0"/>
              <a:t>ажратиб</a:t>
            </a:r>
            <a:r>
              <a:rPr lang="ru-RU" dirty="0" smtClean="0"/>
              <a:t> </a:t>
            </a:r>
            <a:r>
              <a:rPr lang="ru-RU" dirty="0" err="1" smtClean="0"/>
              <a:t>олиш</a:t>
            </a:r>
            <a:endParaRPr lang="ru-RU" dirty="0"/>
          </a:p>
        </p:txBody>
      </p:sp>
      <p:pic>
        <p:nvPicPr>
          <p:cNvPr id="1026" name="Picture 2" descr="E:\MasterDocs\расм\3bobBlokI.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363" y="1160060"/>
            <a:ext cx="4174578" cy="418323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E:\MasterDocs\расм\3bobBlokII.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3768" y="1200452"/>
            <a:ext cx="4579521" cy="3509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1300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a:xfrm>
            <a:off x="8382000" y="6491453"/>
            <a:ext cx="762000" cy="365125"/>
          </a:xfrm>
        </p:spPr>
        <p:style>
          <a:lnRef idx="1">
            <a:schemeClr val="accent1"/>
          </a:lnRef>
          <a:fillRef idx="2">
            <a:schemeClr val="accent1"/>
          </a:fillRef>
          <a:effectRef idx="1">
            <a:schemeClr val="accent1"/>
          </a:effectRef>
          <a:fontRef idx="minor">
            <a:schemeClr val="dk1"/>
          </a:fontRef>
        </p:style>
        <p:txBody>
          <a:bodyPr/>
          <a:lstStyle/>
          <a:p>
            <a:fld id="{DCE6A5D1-E7E2-43D2-949B-5B1765105237}" type="slidenum">
              <a:rPr lang="ru-RU" smtClean="0"/>
              <a:t>18</a:t>
            </a:fld>
            <a:endParaRPr lang="ru-RU" dirty="0"/>
          </a:p>
        </p:txBody>
      </p:sp>
      <p:graphicFrame>
        <p:nvGraphicFramePr>
          <p:cNvPr id="3" name="Таблица 2"/>
          <p:cNvGraphicFramePr>
            <a:graphicFrameLocks noGrp="1"/>
          </p:cNvGraphicFramePr>
          <p:nvPr>
            <p:extLst>
              <p:ext uri="{D42A27DB-BD31-4B8C-83A1-F6EECF244321}">
                <p14:modId xmlns:p14="http://schemas.microsoft.com/office/powerpoint/2010/main" val="1236364637"/>
              </p:ext>
            </p:extLst>
          </p:nvPr>
        </p:nvGraphicFramePr>
        <p:xfrm>
          <a:off x="179513" y="655637"/>
          <a:ext cx="8856984" cy="5330780"/>
        </p:xfrm>
        <a:graphic>
          <a:graphicData uri="http://schemas.openxmlformats.org/drawingml/2006/table">
            <a:tbl>
              <a:tblPr firstCol="1" bandRow="1">
                <a:tableStyleId>{C4B1156A-380E-4F78-BDF5-A606A8083BF9}</a:tableStyleId>
              </a:tblPr>
              <a:tblGrid>
                <a:gridCol w="432047"/>
                <a:gridCol w="1309071"/>
                <a:gridCol w="2422422"/>
                <a:gridCol w="2382972"/>
                <a:gridCol w="2310472"/>
              </a:tblGrid>
              <a:tr h="176646">
                <a:tc>
                  <a:txBody>
                    <a:bodyPr/>
                    <a:lstStyle/>
                    <a:p>
                      <a:pPr>
                        <a:lnSpc>
                          <a:spcPct val="107000"/>
                        </a:lnSpc>
                        <a:spcAft>
                          <a:spcPts val="0"/>
                        </a:spcAft>
                      </a:pPr>
                      <a:r>
                        <a:rPr lang="uz-Latn-UZ" sz="1400" dirty="0">
                          <a:effectLst/>
                        </a:rPr>
                        <a:t>№</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uz-Latn-UZ" sz="1400" b="1" dirty="0">
                          <a:effectLst/>
                        </a:rPr>
                        <a:t>Усул номи</a:t>
                      </a:r>
                      <a:endParaRPr lang="ru-RU"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uz-Latn-UZ" sz="1400" b="1" dirty="0">
                          <a:effectLst/>
                        </a:rPr>
                        <a:t>Калитдан фойдаланиш</a:t>
                      </a:r>
                      <a:endParaRPr lang="ru-RU"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uz-Latn-UZ" sz="1400" b="1" dirty="0">
                          <a:effectLst/>
                        </a:rPr>
                        <a:t>Афзаллиги</a:t>
                      </a:r>
                      <a:endParaRPr lang="ru-RU"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uz-Latn-UZ" sz="1400" b="1" dirty="0">
                          <a:effectLst/>
                        </a:rPr>
                        <a:t>Камчилиги</a:t>
                      </a:r>
                      <a:endParaRPr lang="ru-RU"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r>
              <a:tr h="672872">
                <a:tc>
                  <a:txBody>
                    <a:bodyPr/>
                    <a:lstStyle/>
                    <a:p>
                      <a:pPr marL="0" lvl="0" indent="0">
                        <a:lnSpc>
                          <a:spcPct val="107000"/>
                        </a:lnSpc>
                        <a:spcAft>
                          <a:spcPts val="0"/>
                        </a:spcAft>
                        <a:buFontTx/>
                        <a:buNone/>
                      </a:pPr>
                      <a:r>
                        <a:rPr lang="uz-Cyrl-UZ" sz="1400" dirty="0" smtClean="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lang="ru-RU"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en-US" sz="1400" b="1">
                          <a:effectLst/>
                        </a:rPr>
                        <a:t>LSB (</a:t>
                      </a:r>
                      <a:r>
                        <a:rPr lang="uz-Latn-UZ" sz="1400" b="1">
                          <a:effectLst/>
                        </a:rPr>
                        <a:t>ЭКМБ</a:t>
                      </a:r>
                      <a:r>
                        <a:rPr lang="en-US" sz="1400" b="1">
                          <a:effectLst/>
                        </a:rPr>
                        <a:t>)</a:t>
                      </a:r>
                      <a:endParaRPr lang="ru-RU" sz="1400" b="1">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uz-Latn-UZ" sz="1400">
                          <a:effectLst/>
                        </a:rPr>
                        <a:t>Бошлангич ўриндан фойдаланиш мумкин, лекин ишончсиз</a:t>
                      </a:r>
                      <a:endParaRPr lang="ru-RU" sz="140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uz-Latn-UZ" sz="1400" dirty="0">
                          <a:effectLst/>
                        </a:rPr>
                        <a:t>Катта миқдордаги маълумотни сиғдириш </a:t>
                      </a:r>
                      <a:r>
                        <a:rPr lang="uz-Latn-UZ" sz="1400" dirty="0" smtClean="0">
                          <a:effectLst/>
                        </a:rPr>
                        <a:t>мумкин</a:t>
                      </a:r>
                      <a:r>
                        <a:rPr lang="ru-RU" sz="1400" dirty="0" smtClean="0">
                          <a:effectLst/>
                        </a:rPr>
                        <a:t>. </a:t>
                      </a:r>
                      <a:r>
                        <a:rPr lang="uz-Latn-UZ" sz="1400" dirty="0" smtClean="0">
                          <a:effectLst/>
                        </a:rPr>
                        <a:t>(1/8 </a:t>
                      </a:r>
                      <a:r>
                        <a:rPr lang="uz-Latn-UZ" sz="1400" dirty="0">
                          <a:effectLst/>
                        </a:rPr>
                        <a:t>миқдорда)</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uz-Latn-UZ" sz="1400">
                          <a:effectLst/>
                        </a:rPr>
                        <a:t>Ўта бардошсиз</a:t>
                      </a:r>
                      <a:endParaRPr lang="ru-RU" sz="140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r>
              <a:tr h="765128">
                <a:tc>
                  <a:txBody>
                    <a:bodyPr/>
                    <a:lstStyle/>
                    <a:p>
                      <a:pPr marL="0" lvl="0" indent="0">
                        <a:lnSpc>
                          <a:spcPct val="107000"/>
                        </a:lnSpc>
                        <a:spcAft>
                          <a:spcPts val="0"/>
                        </a:spcAft>
                        <a:buFontTx/>
                        <a:buNone/>
                      </a:pPr>
                      <a:r>
                        <a:rPr lang="uz-Cyrl-UZ" sz="1400" dirty="0" smtClean="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lang="ru-RU"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en-US" sz="1400" b="1">
                          <a:effectLst/>
                        </a:rPr>
                        <a:t>LSB2 (</a:t>
                      </a:r>
                      <a:r>
                        <a:rPr lang="uz-Latn-UZ" sz="1400" b="1">
                          <a:effectLst/>
                        </a:rPr>
                        <a:t>ЭКМБ2</a:t>
                      </a:r>
                      <a:r>
                        <a:rPr lang="en-US" sz="1400" b="1">
                          <a:effectLst/>
                        </a:rPr>
                        <a:t>)</a:t>
                      </a:r>
                      <a:endParaRPr lang="ru-RU" sz="1400" b="1">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uz-Latn-UZ" sz="1400" dirty="0">
                          <a:effectLst/>
                        </a:rPr>
                        <a:t>Бошлангич ўриндан фойдаланиш мумкин, лекин ишончсиз</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uz-Latn-UZ" sz="1400" dirty="0">
                          <a:effectLst/>
                        </a:rPr>
                        <a:t>Катта миқдордаги маълумотни сиғдириш </a:t>
                      </a:r>
                      <a:r>
                        <a:rPr lang="uz-Latn-UZ" sz="1400" dirty="0" smtClean="0">
                          <a:effectLst/>
                        </a:rPr>
                        <a:t>мумкин</a:t>
                      </a:r>
                      <a:r>
                        <a:rPr lang="ru-RU" sz="1400" dirty="0" smtClean="0">
                          <a:effectLst/>
                        </a:rPr>
                        <a:t>. </a:t>
                      </a:r>
                      <a:r>
                        <a:rPr lang="uz-Latn-UZ" sz="1400" dirty="0" smtClean="0">
                          <a:effectLst/>
                        </a:rPr>
                        <a:t>(</a:t>
                      </a:r>
                      <a:r>
                        <a:rPr lang="uz-Latn-UZ" sz="1400" dirty="0">
                          <a:effectLst/>
                        </a:rPr>
                        <a:t>2/8 миқдорда)</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ru-RU" sz="1400" dirty="0" err="1">
                          <a:effectLst/>
                        </a:rPr>
                        <a:t>Стеганоконтейнерни</a:t>
                      </a:r>
                      <a:r>
                        <a:rPr lang="ru-RU" sz="1400" dirty="0">
                          <a:effectLst/>
                        </a:rPr>
                        <a:t> </a:t>
                      </a:r>
                      <a:r>
                        <a:rPr lang="ru-RU" sz="1400" dirty="0" err="1">
                          <a:effectLst/>
                        </a:rPr>
                        <a:t>бўш</a:t>
                      </a:r>
                      <a:r>
                        <a:rPr lang="ru-RU" sz="1400" dirty="0">
                          <a:effectLst/>
                        </a:rPr>
                        <a:t> </a:t>
                      </a:r>
                      <a:r>
                        <a:rPr lang="ru-RU" sz="1400" dirty="0" err="1">
                          <a:effectLst/>
                        </a:rPr>
                        <a:t>контейнерга</a:t>
                      </a:r>
                      <a:r>
                        <a:rPr lang="ru-RU" sz="1400" dirty="0">
                          <a:effectLst/>
                        </a:rPr>
                        <a:t> </a:t>
                      </a:r>
                      <a:r>
                        <a:rPr lang="ru-RU" sz="1400" dirty="0" err="1">
                          <a:effectLst/>
                        </a:rPr>
                        <a:t>нисбатан</a:t>
                      </a:r>
                      <a:r>
                        <a:rPr lang="ru-RU" sz="1400" dirty="0">
                          <a:effectLst/>
                        </a:rPr>
                        <a:t> </a:t>
                      </a:r>
                      <a:r>
                        <a:rPr lang="ru-RU" sz="1400" dirty="0" err="1">
                          <a:effectLst/>
                        </a:rPr>
                        <a:t>фарқи</a:t>
                      </a:r>
                      <a:r>
                        <a:rPr lang="ru-RU" sz="1400" dirty="0">
                          <a:effectLst/>
                        </a:rPr>
                        <a:t> </a:t>
                      </a:r>
                      <a:r>
                        <a:rPr lang="ru-RU" sz="1400" dirty="0" err="1">
                          <a:effectLst/>
                        </a:rPr>
                        <a:t>ошади</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r>
              <a:tr h="529937">
                <a:tc>
                  <a:txBody>
                    <a:bodyPr/>
                    <a:lstStyle/>
                    <a:p>
                      <a:pPr marL="0" lvl="0" indent="0">
                        <a:lnSpc>
                          <a:spcPct val="107000"/>
                        </a:lnSpc>
                        <a:spcAft>
                          <a:spcPts val="0"/>
                        </a:spcAft>
                        <a:buFontTx/>
                        <a:buNone/>
                      </a:pPr>
                      <a:r>
                        <a:rPr lang="uz-Cyrl-UZ" sz="1400" dirty="0" smtClean="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endParaRPr lang="ru-RU"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en-US" sz="1400" b="1">
                          <a:effectLst/>
                        </a:rPr>
                        <a:t>PRI (</a:t>
                      </a:r>
                      <a:r>
                        <a:rPr lang="uz-Latn-UZ" sz="1400" b="1">
                          <a:effectLst/>
                        </a:rPr>
                        <a:t>ПТИ</a:t>
                      </a:r>
                      <a:r>
                        <a:rPr lang="en-US" sz="1400" b="1">
                          <a:effectLst/>
                        </a:rPr>
                        <a:t>)</a:t>
                      </a:r>
                      <a:endParaRPr lang="ru-RU" sz="1400" b="1">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uz-Latn-UZ" sz="1400" dirty="0">
                          <a:effectLst/>
                        </a:rPr>
                        <a:t>Интервалларни ҳисоблашда калитдан </a:t>
                      </a:r>
                      <a:r>
                        <a:rPr lang="uz-Latn-UZ" sz="1400" dirty="0" smtClean="0">
                          <a:effectLst/>
                        </a:rPr>
                        <a:t>фойдаланилади</a:t>
                      </a:r>
                      <a:r>
                        <a:rPr lang="ru-RU" sz="1400" dirty="0" smtClean="0">
                          <a:effectLst/>
                        </a:rPr>
                        <a:t>.</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ru-RU" sz="1400" dirty="0" err="1" smtClean="0">
                          <a:effectLst/>
                        </a:rPr>
                        <a:t>Битларни</a:t>
                      </a:r>
                      <a:r>
                        <a:rPr lang="ru-RU" sz="1400" dirty="0" smtClean="0">
                          <a:effectLst/>
                        </a:rPr>
                        <a:t> </a:t>
                      </a:r>
                      <a:r>
                        <a:rPr lang="ru-RU" sz="1400" dirty="0" err="1" smtClean="0">
                          <a:effectLst/>
                        </a:rPr>
                        <a:t>маълум</a:t>
                      </a:r>
                      <a:r>
                        <a:rPr lang="ru-RU" sz="1400" baseline="0" dirty="0" smtClean="0">
                          <a:effectLst/>
                        </a:rPr>
                        <a:t> </a:t>
                      </a:r>
                      <a:r>
                        <a:rPr lang="ru-RU" sz="1400" baseline="0" dirty="0" err="1" smtClean="0">
                          <a:effectLst/>
                        </a:rPr>
                        <a:t>интервалларда</a:t>
                      </a:r>
                      <a:r>
                        <a:rPr lang="ru-RU" sz="1400" baseline="0" dirty="0" smtClean="0">
                          <a:effectLst/>
                        </a:rPr>
                        <a:t> </a:t>
                      </a:r>
                      <a:r>
                        <a:rPr lang="ru-RU" sz="1400" baseline="0" dirty="0" err="1" smtClean="0">
                          <a:effectLst/>
                        </a:rPr>
                        <a:t>сочади</a:t>
                      </a:r>
                      <a:r>
                        <a:rPr lang="ru-RU" sz="1400" baseline="0" dirty="0" smtClean="0">
                          <a:effectLst/>
                        </a:rPr>
                        <a:t>.</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ru-RU" sz="1400" dirty="0" smtClean="0">
                          <a:effectLst/>
                        </a:rPr>
                        <a:t>Интервал</a:t>
                      </a:r>
                      <a:r>
                        <a:rPr lang="ru-RU" sz="1400" baseline="0" dirty="0" smtClean="0">
                          <a:effectLst/>
                        </a:rPr>
                        <a:t> </a:t>
                      </a:r>
                      <a:r>
                        <a:rPr lang="ru-RU" sz="1400" baseline="0" dirty="0" err="1" smtClean="0">
                          <a:effectLst/>
                        </a:rPr>
                        <a:t>формуласи</a:t>
                      </a:r>
                      <a:r>
                        <a:rPr lang="ru-RU" sz="1400" baseline="0" dirty="0" smtClean="0">
                          <a:effectLst/>
                        </a:rPr>
                        <a:t> </a:t>
                      </a:r>
                      <a:r>
                        <a:rPr lang="ru-RU" sz="1400" baseline="0" dirty="0" err="1" smtClean="0">
                          <a:effectLst/>
                        </a:rPr>
                        <a:t>етарли</a:t>
                      </a:r>
                      <a:r>
                        <a:rPr lang="ru-RU" sz="1400" baseline="0" dirty="0" smtClean="0">
                          <a:effectLst/>
                        </a:rPr>
                        <a:t> </a:t>
                      </a:r>
                      <a:r>
                        <a:rPr lang="ru-RU" sz="1400" baseline="0" dirty="0" err="1" smtClean="0">
                          <a:effectLst/>
                        </a:rPr>
                        <a:t>псевдотасодифийликни</a:t>
                      </a:r>
                      <a:r>
                        <a:rPr lang="ru-RU" sz="1400" baseline="0" dirty="0" smtClean="0">
                          <a:effectLst/>
                        </a:rPr>
                        <a:t> </a:t>
                      </a:r>
                      <a:r>
                        <a:rPr lang="ru-RU" sz="1400" baseline="0" dirty="0" err="1" smtClean="0">
                          <a:effectLst/>
                        </a:rPr>
                        <a:t>таъминламайди</a:t>
                      </a:r>
                      <a:r>
                        <a:rPr lang="ru-RU" sz="1400" baseline="0" dirty="0" smtClean="0">
                          <a:effectLst/>
                        </a:rPr>
                        <a:t>.</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r>
              <a:tr h="353291">
                <a:tc>
                  <a:txBody>
                    <a:bodyPr/>
                    <a:lstStyle/>
                    <a:p>
                      <a:pPr marL="0" lvl="0" indent="0">
                        <a:lnSpc>
                          <a:spcPct val="107000"/>
                        </a:lnSpc>
                        <a:spcAft>
                          <a:spcPts val="0"/>
                        </a:spcAft>
                        <a:buFontTx/>
                        <a:buNone/>
                      </a:pPr>
                      <a:r>
                        <a:rPr lang="uz-Cyrl-UZ" sz="1400" dirty="0" smtClean="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endParaRPr lang="ru-RU"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en-US" sz="1400" b="1">
                          <a:effectLst/>
                        </a:rPr>
                        <a:t>PRP (</a:t>
                      </a:r>
                      <a:r>
                        <a:rPr lang="uz-Latn-UZ" sz="1400" b="1">
                          <a:effectLst/>
                        </a:rPr>
                        <a:t>ПТСГ</a:t>
                      </a:r>
                      <a:r>
                        <a:rPr lang="en-US" sz="1400" b="1">
                          <a:effectLst/>
                        </a:rPr>
                        <a:t>)</a:t>
                      </a:r>
                      <a:endParaRPr lang="ru-RU" sz="1400" b="1">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ru-RU" sz="1400" dirty="0">
                          <a:effectLst/>
                        </a:rPr>
                        <a:t> </a:t>
                      </a:r>
                      <a:r>
                        <a:rPr lang="ru-RU" sz="1400" dirty="0" err="1" smtClean="0">
                          <a:effectLst/>
                        </a:rPr>
                        <a:t>Тасодифийлик</a:t>
                      </a:r>
                      <a:r>
                        <a:rPr lang="ru-RU" sz="1400" dirty="0" smtClean="0">
                          <a:effectLst/>
                        </a:rPr>
                        <a:t> </a:t>
                      </a:r>
                      <a:r>
                        <a:rPr lang="ru-RU" sz="1400" dirty="0" err="1" smtClean="0">
                          <a:effectLst/>
                        </a:rPr>
                        <a:t>функцияси</a:t>
                      </a:r>
                      <a:r>
                        <a:rPr lang="ru-RU" sz="1400" baseline="0" dirty="0" smtClean="0">
                          <a:effectLst/>
                        </a:rPr>
                        <a:t> </a:t>
                      </a:r>
                      <a:r>
                        <a:rPr lang="ru-RU" sz="1400" baseline="0" dirty="0" err="1" smtClean="0">
                          <a:effectLst/>
                        </a:rPr>
                        <a:t>аргументлари</a:t>
                      </a:r>
                      <a:r>
                        <a:rPr lang="ru-RU" sz="1400" baseline="0" dirty="0" smtClean="0">
                          <a:effectLst/>
                        </a:rPr>
                        <a:t> </a:t>
                      </a:r>
                      <a:r>
                        <a:rPr lang="ru-RU" sz="1400" baseline="0" dirty="0" err="1" smtClean="0">
                          <a:effectLst/>
                        </a:rPr>
                        <a:t>билан</a:t>
                      </a:r>
                      <a:r>
                        <a:rPr lang="ru-RU" sz="1400" baseline="0" dirty="0" smtClean="0">
                          <a:effectLst/>
                        </a:rPr>
                        <a:t> </a:t>
                      </a:r>
                      <a:r>
                        <a:rPr lang="ru-RU" sz="1400" baseline="0" dirty="0" err="1" smtClean="0">
                          <a:effectLst/>
                        </a:rPr>
                        <a:t>боғлиқ</a:t>
                      </a:r>
                      <a:r>
                        <a:rPr lang="ru-RU" sz="1400" baseline="0" dirty="0" smtClean="0">
                          <a:effectLst/>
                        </a:rPr>
                        <a:t>.</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ru-RU" sz="1400" dirty="0">
                          <a:effectLst/>
                        </a:rPr>
                        <a:t> </a:t>
                      </a:r>
                      <a:r>
                        <a:rPr lang="ru-RU" sz="1400" dirty="0" err="1" smtClean="0">
                          <a:effectLst/>
                        </a:rPr>
                        <a:t>Битларни</a:t>
                      </a:r>
                      <a:r>
                        <a:rPr lang="ru-RU" sz="1400" dirty="0" smtClean="0">
                          <a:effectLst/>
                        </a:rPr>
                        <a:t> </a:t>
                      </a:r>
                      <a:r>
                        <a:rPr lang="ru-RU" sz="1400" dirty="0" err="1" smtClean="0">
                          <a:effectLst/>
                        </a:rPr>
                        <a:t>псевдотасодифий</a:t>
                      </a:r>
                      <a:r>
                        <a:rPr lang="ru-RU" sz="1400" dirty="0" smtClean="0">
                          <a:effectLst/>
                        </a:rPr>
                        <a:t> </a:t>
                      </a:r>
                      <a:r>
                        <a:rPr lang="ru-RU" sz="1400" dirty="0" err="1" smtClean="0">
                          <a:effectLst/>
                        </a:rPr>
                        <a:t>тарқалишини</a:t>
                      </a:r>
                      <a:r>
                        <a:rPr lang="ru-RU" sz="1400" dirty="0" smtClean="0">
                          <a:effectLst/>
                        </a:rPr>
                        <a:t> </a:t>
                      </a:r>
                      <a:r>
                        <a:rPr lang="ru-RU" sz="1400" dirty="0" err="1" smtClean="0">
                          <a:effectLst/>
                        </a:rPr>
                        <a:t>таъминлайди</a:t>
                      </a:r>
                      <a:r>
                        <a:rPr lang="ru-RU" sz="1400" dirty="0" smtClean="0">
                          <a:effectLst/>
                        </a:rPr>
                        <a:t>.</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ru-RU" sz="1400" dirty="0" err="1" smtClean="0">
                          <a:effectLst/>
                        </a:rPr>
                        <a:t>Даври</a:t>
                      </a:r>
                      <a:r>
                        <a:rPr lang="ru-RU" sz="1400" dirty="0" smtClean="0">
                          <a:effectLst/>
                        </a:rPr>
                        <a:t> </a:t>
                      </a:r>
                      <a:r>
                        <a:rPr lang="ru-RU" sz="1400" dirty="0" err="1" smtClean="0">
                          <a:effectLst/>
                        </a:rPr>
                        <a:t>кичик</a:t>
                      </a:r>
                      <a:r>
                        <a:rPr lang="ru-RU" sz="1400" dirty="0" smtClean="0">
                          <a:effectLst/>
                        </a:rPr>
                        <a:t> </a:t>
                      </a:r>
                      <a:r>
                        <a:rPr lang="ru-RU" sz="1400" dirty="0" err="1" smtClean="0">
                          <a:effectLst/>
                        </a:rPr>
                        <a:t>бўлиши</a:t>
                      </a:r>
                      <a:r>
                        <a:rPr lang="ru-RU" sz="1400" dirty="0" smtClean="0">
                          <a:effectLst/>
                        </a:rPr>
                        <a:t> </a:t>
                      </a:r>
                      <a:r>
                        <a:rPr lang="ru-RU" sz="1400" dirty="0" err="1" smtClean="0">
                          <a:effectLst/>
                        </a:rPr>
                        <a:t>мумкин</a:t>
                      </a:r>
                      <a:r>
                        <a:rPr lang="ru-RU" sz="1400" dirty="0" smtClean="0">
                          <a:effectLst/>
                        </a:rPr>
                        <a:t>. </a:t>
                      </a:r>
                      <a:r>
                        <a:rPr lang="ru-RU" sz="1400" dirty="0" err="1" smtClean="0">
                          <a:effectLst/>
                        </a:rPr>
                        <a:t>Функцияни</a:t>
                      </a:r>
                      <a:r>
                        <a:rPr lang="ru-RU" sz="1400" baseline="0" dirty="0" smtClean="0">
                          <a:effectLst/>
                        </a:rPr>
                        <a:t> </a:t>
                      </a:r>
                      <a:r>
                        <a:rPr lang="ru-RU" sz="1400" baseline="0" dirty="0" err="1" smtClean="0">
                          <a:effectLst/>
                        </a:rPr>
                        <a:t>билган</a:t>
                      </a:r>
                      <a:r>
                        <a:rPr lang="ru-RU" sz="1400" baseline="0" dirty="0" smtClean="0">
                          <a:effectLst/>
                        </a:rPr>
                        <a:t> </a:t>
                      </a:r>
                      <a:r>
                        <a:rPr lang="ru-RU" sz="1400" baseline="0" dirty="0" err="1" smtClean="0">
                          <a:effectLst/>
                        </a:rPr>
                        <a:t>ҳолда</a:t>
                      </a:r>
                      <a:r>
                        <a:rPr lang="ru-RU" sz="1400" baseline="0" dirty="0" smtClean="0">
                          <a:effectLst/>
                        </a:rPr>
                        <a:t> бит </a:t>
                      </a:r>
                      <a:r>
                        <a:rPr lang="ru-RU" sz="1400" baseline="0" dirty="0" err="1" smtClean="0">
                          <a:effectLst/>
                        </a:rPr>
                        <a:t>ўринларини</a:t>
                      </a:r>
                      <a:r>
                        <a:rPr lang="ru-RU" sz="1400" baseline="0" dirty="0" smtClean="0">
                          <a:effectLst/>
                        </a:rPr>
                        <a:t> </a:t>
                      </a:r>
                      <a:r>
                        <a:rPr lang="ru-RU" sz="1400" baseline="0" dirty="0" err="1" smtClean="0">
                          <a:effectLst/>
                        </a:rPr>
                        <a:t>аниқлаш</a:t>
                      </a:r>
                      <a:r>
                        <a:rPr lang="ru-RU" sz="1400" baseline="0" dirty="0" smtClean="0">
                          <a:effectLst/>
                        </a:rPr>
                        <a:t> </a:t>
                      </a:r>
                      <a:r>
                        <a:rPr lang="ru-RU" sz="1400" baseline="0" dirty="0" err="1" smtClean="0">
                          <a:effectLst/>
                        </a:rPr>
                        <a:t>мумкин</a:t>
                      </a:r>
                      <a:r>
                        <a:rPr lang="ru-RU" sz="1400" baseline="0" dirty="0" smtClean="0">
                          <a:effectLst/>
                        </a:rPr>
                        <a:t>.</a:t>
                      </a:r>
                      <a:r>
                        <a:rPr lang="ru-RU" sz="1400" dirty="0" smtClean="0">
                          <a:effectLst/>
                        </a:rPr>
                        <a:t> </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r>
              <a:tr h="353291">
                <a:tc>
                  <a:txBody>
                    <a:bodyPr/>
                    <a:lstStyle/>
                    <a:p>
                      <a:pPr marL="0" lvl="0" indent="0">
                        <a:lnSpc>
                          <a:spcPct val="107000"/>
                        </a:lnSpc>
                        <a:spcAft>
                          <a:spcPts val="0"/>
                        </a:spcAft>
                        <a:buFontTx/>
                        <a:buNone/>
                      </a:pPr>
                      <a:r>
                        <a:rPr lang="uz-Cyrl-UZ" sz="1400" dirty="0" smtClean="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a:t>
                      </a:r>
                      <a:endParaRPr lang="ru-RU"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en-US" sz="1400" b="1">
                          <a:effectLst/>
                        </a:rPr>
                        <a:t>Block (</a:t>
                      </a:r>
                      <a:r>
                        <a:rPr lang="uz-Latn-UZ" sz="1400" b="1">
                          <a:effectLst/>
                        </a:rPr>
                        <a:t>Блокли</a:t>
                      </a:r>
                      <a:r>
                        <a:rPr lang="en-US" sz="1400" b="1">
                          <a:effectLst/>
                        </a:rPr>
                        <a:t>)</a:t>
                      </a:r>
                      <a:endParaRPr lang="ru-RU" sz="1400" b="1">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ru-RU" sz="1400" dirty="0">
                          <a:effectLst/>
                        </a:rPr>
                        <a:t> </a:t>
                      </a:r>
                      <a:r>
                        <a:rPr lang="ru-RU" sz="1400" dirty="0" err="1" smtClean="0">
                          <a:effectLst/>
                        </a:rPr>
                        <a:t>Блокларни</a:t>
                      </a:r>
                      <a:r>
                        <a:rPr lang="ru-RU" sz="1400" baseline="0" dirty="0" smtClean="0">
                          <a:effectLst/>
                        </a:rPr>
                        <a:t> </a:t>
                      </a:r>
                      <a:r>
                        <a:rPr lang="ru-RU" sz="1400" baseline="0" dirty="0" err="1" smtClean="0">
                          <a:effectLst/>
                        </a:rPr>
                        <a:t>гуруҳланиши</a:t>
                      </a:r>
                      <a:r>
                        <a:rPr lang="ru-RU" sz="1400" baseline="0" dirty="0" smtClean="0">
                          <a:effectLst/>
                        </a:rPr>
                        <a:t> калит </a:t>
                      </a:r>
                      <a:r>
                        <a:rPr lang="ru-RU" sz="1400" baseline="0" dirty="0" err="1" smtClean="0">
                          <a:effectLst/>
                        </a:rPr>
                        <a:t>сифатида</a:t>
                      </a:r>
                      <a:r>
                        <a:rPr lang="ru-RU" sz="1400" baseline="0" dirty="0" smtClean="0">
                          <a:effectLst/>
                        </a:rPr>
                        <a:t> </a:t>
                      </a:r>
                      <a:r>
                        <a:rPr lang="ru-RU" sz="1400" baseline="0" dirty="0" err="1" smtClean="0">
                          <a:effectLst/>
                        </a:rPr>
                        <a:t>ишлатилиши</a:t>
                      </a:r>
                      <a:r>
                        <a:rPr lang="ru-RU" sz="1400" baseline="0" dirty="0" smtClean="0">
                          <a:effectLst/>
                        </a:rPr>
                        <a:t> </a:t>
                      </a:r>
                      <a:r>
                        <a:rPr lang="ru-RU" sz="1400" baseline="0" dirty="0" err="1" smtClean="0">
                          <a:effectLst/>
                        </a:rPr>
                        <a:t>мумкин</a:t>
                      </a:r>
                      <a:r>
                        <a:rPr lang="ru-RU" sz="1400" baseline="0" dirty="0" smtClean="0">
                          <a:effectLst/>
                        </a:rPr>
                        <a:t>.</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ru-RU" sz="1400" dirty="0" err="1" smtClean="0">
                          <a:effectLst/>
                        </a:rPr>
                        <a:t>Етарлича</a:t>
                      </a:r>
                      <a:r>
                        <a:rPr lang="ru-RU" sz="1400" dirty="0" smtClean="0">
                          <a:effectLst/>
                        </a:rPr>
                        <a:t> </a:t>
                      </a:r>
                      <a:r>
                        <a:rPr lang="ru-RU" sz="1400" dirty="0" err="1" smtClean="0">
                          <a:effectLst/>
                        </a:rPr>
                        <a:t>тасодифийлик</a:t>
                      </a:r>
                      <a:r>
                        <a:rPr lang="ru-RU" sz="1400" baseline="0" dirty="0" smtClean="0">
                          <a:effectLst/>
                        </a:rPr>
                        <a:t> </a:t>
                      </a:r>
                      <a:r>
                        <a:rPr lang="ru-RU" sz="1400" baseline="0" dirty="0" err="1" smtClean="0">
                          <a:effectLst/>
                        </a:rPr>
                        <a:t>билан</a:t>
                      </a:r>
                      <a:r>
                        <a:rPr lang="ru-RU" sz="1400" baseline="0" dirty="0" smtClean="0">
                          <a:effectLst/>
                        </a:rPr>
                        <a:t> </a:t>
                      </a:r>
                      <a:r>
                        <a:rPr lang="ru-RU" sz="1400" baseline="0" dirty="0" err="1" smtClean="0">
                          <a:effectLst/>
                        </a:rPr>
                        <a:t>битларни</a:t>
                      </a:r>
                      <a:r>
                        <a:rPr lang="ru-RU" sz="1400" baseline="0" dirty="0" smtClean="0">
                          <a:effectLst/>
                        </a:rPr>
                        <a:t> </a:t>
                      </a:r>
                      <a:r>
                        <a:rPr lang="ru-RU" sz="1400" baseline="0" dirty="0" err="1" smtClean="0">
                          <a:effectLst/>
                        </a:rPr>
                        <a:t>сочади</a:t>
                      </a:r>
                      <a:r>
                        <a:rPr lang="ru-RU" sz="1400" baseline="0" dirty="0" smtClean="0">
                          <a:effectLst/>
                        </a:rPr>
                        <a:t>.</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ru-RU" sz="1400" dirty="0" err="1" smtClean="0">
                          <a:effectLst/>
                        </a:rPr>
                        <a:t>Усулни</a:t>
                      </a:r>
                      <a:r>
                        <a:rPr lang="ru-RU" sz="1400" dirty="0" smtClean="0">
                          <a:effectLst/>
                        </a:rPr>
                        <a:t> </a:t>
                      </a:r>
                      <a:r>
                        <a:rPr lang="ru-RU" sz="1400" dirty="0" err="1" smtClean="0">
                          <a:effectLst/>
                        </a:rPr>
                        <a:t>билган</a:t>
                      </a:r>
                      <a:r>
                        <a:rPr lang="ru-RU" sz="1400" baseline="0" dirty="0" smtClean="0">
                          <a:effectLst/>
                        </a:rPr>
                        <a:t> </a:t>
                      </a:r>
                      <a:r>
                        <a:rPr lang="ru-RU" sz="1400" baseline="0" dirty="0" err="1" smtClean="0">
                          <a:effectLst/>
                        </a:rPr>
                        <a:t>ҳолда</a:t>
                      </a:r>
                      <a:r>
                        <a:rPr lang="ru-RU" sz="1400" baseline="0" dirty="0" smtClean="0">
                          <a:effectLst/>
                        </a:rPr>
                        <a:t> </a:t>
                      </a:r>
                      <a:r>
                        <a:rPr lang="ru-RU" sz="1400" baseline="0" dirty="0" err="1" smtClean="0">
                          <a:effectLst/>
                        </a:rPr>
                        <a:t>битларни</a:t>
                      </a:r>
                      <a:r>
                        <a:rPr lang="ru-RU" sz="1400" baseline="0" dirty="0" smtClean="0">
                          <a:effectLst/>
                        </a:rPr>
                        <a:t> </a:t>
                      </a:r>
                      <a:r>
                        <a:rPr lang="ru-RU" sz="1400" baseline="0" dirty="0" err="1" smtClean="0">
                          <a:effectLst/>
                        </a:rPr>
                        <a:t>аниқлаш</a:t>
                      </a:r>
                      <a:r>
                        <a:rPr lang="ru-RU" sz="1400" baseline="0" dirty="0" smtClean="0">
                          <a:effectLst/>
                        </a:rPr>
                        <a:t> </a:t>
                      </a:r>
                      <a:r>
                        <a:rPr lang="ru-RU" sz="1400" baseline="0" dirty="0" err="1" smtClean="0">
                          <a:effectLst/>
                        </a:rPr>
                        <a:t>мумкин</a:t>
                      </a:r>
                      <a:r>
                        <a:rPr lang="ru-RU" sz="1400" baseline="0" dirty="0" smtClean="0">
                          <a:effectLst/>
                        </a:rPr>
                        <a:t>.</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r>
              <a:tr h="353291">
                <a:tc>
                  <a:txBody>
                    <a:bodyPr/>
                    <a:lstStyle/>
                    <a:p>
                      <a:pPr marL="0" lvl="0" indent="0">
                        <a:lnSpc>
                          <a:spcPct val="107000"/>
                        </a:lnSpc>
                        <a:spcAft>
                          <a:spcPts val="0"/>
                        </a:spcAft>
                        <a:buFontTx/>
                        <a:buNone/>
                      </a:pPr>
                      <a:r>
                        <a:rPr lang="uz-Cyrl-UZ" sz="1400" dirty="0" smtClean="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a:t>
                      </a:r>
                      <a:endParaRPr lang="ru-RU"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en-US" sz="1400" b="1" dirty="0" smtClean="0">
                          <a:effectLst/>
                          <a:latin typeface="Calibri" panose="020F0502020204030204" pitchFamily="34" charset="0"/>
                          <a:ea typeface="Calibri" panose="020F0502020204030204" pitchFamily="34" charset="0"/>
                          <a:cs typeface="Times New Roman" panose="02020603050405020304" pitchFamily="18" charset="0"/>
                        </a:rPr>
                        <a:t>Adaptation</a:t>
                      </a:r>
                    </a:p>
                    <a:p>
                      <a:pPr>
                        <a:lnSpc>
                          <a:spcPct val="107000"/>
                        </a:lnSpc>
                        <a:spcAft>
                          <a:spcPts val="0"/>
                        </a:spcAft>
                      </a:pPr>
                      <a:r>
                        <a:rPr lang="en-US" sz="1400" b="1" dirty="0" smtClean="0">
                          <a:effectLst/>
                          <a:latin typeface="Calibri" panose="020F0502020204030204" pitchFamily="34" charset="0"/>
                          <a:ea typeface="Calibri" panose="020F0502020204030204" pitchFamily="34" charset="0"/>
                          <a:cs typeface="Times New Roman" panose="02020603050405020304" pitchFamily="18" charset="0"/>
                        </a:rPr>
                        <a:t>(</a:t>
                      </a:r>
                      <a:r>
                        <a:rPr lang="uz-Cyrl-UZ" sz="1400" b="1" dirty="0" smtClean="0">
                          <a:effectLst/>
                          <a:latin typeface="Calibri" panose="020F0502020204030204" pitchFamily="34" charset="0"/>
                          <a:ea typeface="Calibri" panose="020F0502020204030204" pitchFamily="34" charset="0"/>
                          <a:cs typeface="Times New Roman" panose="02020603050405020304" pitchFamily="18" charset="0"/>
                        </a:rPr>
                        <a:t>Мослашув</a:t>
                      </a:r>
                      <a:r>
                        <a:rPr lang="en-US" sz="1400" b="1" dirty="0" smtClean="0">
                          <a:effectLst/>
                          <a:latin typeface="Calibri" panose="020F0502020204030204" pitchFamily="34" charset="0"/>
                          <a:ea typeface="Calibri" panose="020F0502020204030204" pitchFamily="34" charset="0"/>
                          <a:cs typeface="Times New Roman" panose="02020603050405020304" pitchFamily="18" charset="0"/>
                        </a:rPr>
                        <a:t>)</a:t>
                      </a:r>
                      <a:endParaRPr lang="ru-RU"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ru-RU" sz="1400" dirty="0" smtClean="0">
                          <a:effectLst/>
                          <a:latin typeface="+mn-lt"/>
                          <a:ea typeface="Calibri" panose="020F0502020204030204" pitchFamily="34" charset="0"/>
                          <a:cs typeface="Times New Roman" panose="02020603050405020304" pitchFamily="18" charset="0"/>
                        </a:rPr>
                        <a:t>Генератор </a:t>
                      </a:r>
                      <a:r>
                        <a:rPr lang="ru-RU" sz="1400" dirty="0" err="1" smtClean="0">
                          <a:effectLst/>
                          <a:latin typeface="+mn-lt"/>
                          <a:ea typeface="Calibri" panose="020F0502020204030204" pitchFamily="34" charset="0"/>
                          <a:cs typeface="Times New Roman" panose="02020603050405020304" pitchFamily="18" charset="0"/>
                        </a:rPr>
                        <a:t>регистрининг</a:t>
                      </a:r>
                      <a:r>
                        <a:rPr lang="ru-RU" sz="1400" dirty="0" smtClean="0">
                          <a:effectLst/>
                          <a:latin typeface="+mn-lt"/>
                          <a:ea typeface="Calibri" panose="020F0502020204030204" pitchFamily="34" charset="0"/>
                          <a:cs typeface="Times New Roman" panose="02020603050405020304" pitchFamily="18" charset="0"/>
                        </a:rPr>
                        <a:t> </a:t>
                      </a:r>
                      <a:r>
                        <a:rPr lang="ru-RU" sz="1400" dirty="0" err="1" smtClean="0">
                          <a:effectLst/>
                          <a:latin typeface="+mn-lt"/>
                          <a:ea typeface="Calibri" panose="020F0502020204030204" pitchFamily="34" charset="0"/>
                          <a:cs typeface="Times New Roman" panose="02020603050405020304" pitchFamily="18" charset="0"/>
                        </a:rPr>
                        <a:t>дастлабки</a:t>
                      </a:r>
                      <a:r>
                        <a:rPr lang="ru-RU" sz="1400" dirty="0" smtClean="0">
                          <a:effectLst/>
                          <a:latin typeface="+mn-lt"/>
                          <a:ea typeface="Calibri" panose="020F0502020204030204" pitchFamily="34" charset="0"/>
                          <a:cs typeface="Times New Roman" panose="02020603050405020304" pitchFamily="18" charset="0"/>
                        </a:rPr>
                        <a:t> </a:t>
                      </a:r>
                      <a:r>
                        <a:rPr lang="ru-RU" sz="1400" dirty="0" err="1" smtClean="0">
                          <a:effectLst/>
                          <a:latin typeface="+mn-lt"/>
                          <a:ea typeface="Calibri" panose="020F0502020204030204" pitchFamily="34" charset="0"/>
                          <a:cs typeface="Times New Roman" panose="02020603050405020304" pitchFamily="18" charset="0"/>
                        </a:rPr>
                        <a:t>ҳолати</a:t>
                      </a:r>
                      <a:r>
                        <a:rPr lang="ru-RU" sz="1400" dirty="0" smtClean="0">
                          <a:effectLst/>
                          <a:latin typeface="+mn-lt"/>
                          <a:ea typeface="Calibri" panose="020F0502020204030204" pitchFamily="34" charset="0"/>
                          <a:cs typeface="Times New Roman" panose="02020603050405020304" pitchFamily="18" charset="0"/>
                        </a:rPr>
                        <a:t> </a:t>
                      </a:r>
                      <a:r>
                        <a:rPr lang="en-US" sz="1400" dirty="0" smtClean="0">
                          <a:effectLst/>
                          <a:latin typeface="+mn-lt"/>
                          <a:ea typeface="Calibri" panose="020F0502020204030204" pitchFamily="34" charset="0"/>
                          <a:cs typeface="Times New Roman" panose="02020603050405020304" pitchFamily="18" charset="0"/>
                        </a:rPr>
                        <a:t>IV, </a:t>
                      </a:r>
                      <a:r>
                        <a:rPr lang="uz-Cyrl-UZ" sz="1400" dirty="0" smtClean="0">
                          <a:effectLst/>
                          <a:latin typeface="+mn-lt"/>
                          <a:ea typeface="Calibri" panose="020F0502020204030204" pitchFamily="34" charset="0"/>
                          <a:cs typeface="Times New Roman" panose="02020603050405020304" pitchFamily="18" charset="0"/>
                        </a:rPr>
                        <a:t>чиқувчи қийматга таъсир</a:t>
                      </a:r>
                      <a:r>
                        <a:rPr lang="uz-Cyrl-UZ" sz="1400" baseline="0" dirty="0" smtClean="0">
                          <a:effectLst/>
                          <a:latin typeface="+mn-lt"/>
                          <a:ea typeface="Calibri" panose="020F0502020204030204" pitchFamily="34" charset="0"/>
                          <a:cs typeface="Times New Roman" panose="02020603050405020304" pitchFamily="18" charset="0"/>
                        </a:rPr>
                        <a:t> этувчи калит К, ва мослашув процедураси қабул қиладиган битлар тартиб рақами</a:t>
                      </a:r>
                      <a:endParaRPr lang="ru-RU" sz="1400" dirty="0">
                        <a:effectLst/>
                        <a:latin typeface="+mn-lt"/>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uz-Cyrl-UZ" sz="1400" dirty="0" smtClean="0">
                          <a:effectLst/>
                          <a:latin typeface="+mn-lt"/>
                          <a:ea typeface="Calibri" panose="020F0502020204030204" pitchFamily="34" charset="0"/>
                          <a:cs typeface="Times New Roman" panose="02020603050405020304" pitchFamily="18" charset="0"/>
                        </a:rPr>
                        <a:t>Генератор максимал даврга эга ва калит сифатида 3 та қийматдан фойдаланилади.</a:t>
                      </a:r>
                      <a:r>
                        <a:rPr lang="uz-Cyrl-UZ" sz="1400" baseline="0" dirty="0" smtClean="0">
                          <a:effectLst/>
                          <a:latin typeface="+mn-lt"/>
                          <a:ea typeface="Calibri" panose="020F0502020204030204" pitchFamily="34" charset="0"/>
                          <a:cs typeface="Times New Roman" panose="02020603050405020304" pitchFamily="18" charset="0"/>
                        </a:rPr>
                        <a:t>  Мослашув орқали контейнерни қийматларини сақлаб қолишга уринилади.</a:t>
                      </a:r>
                      <a:endParaRPr lang="ru-RU" sz="1400" dirty="0">
                        <a:effectLst/>
                        <a:latin typeface="+mn-lt"/>
                        <a:ea typeface="Calibri" panose="020F0502020204030204" pitchFamily="34" charset="0"/>
                        <a:cs typeface="Times New Roman" panose="02020603050405020304" pitchFamily="18" charset="0"/>
                      </a:endParaRPr>
                    </a:p>
                  </a:txBody>
                  <a:tcPr marL="67532" marR="67532" marT="0" marB="0"/>
                </a:tc>
                <a:tc>
                  <a:txBody>
                    <a:bodyPr/>
                    <a:lstStyle/>
                    <a:p>
                      <a:pPr>
                        <a:lnSpc>
                          <a:spcPct val="107000"/>
                        </a:lnSpc>
                        <a:spcAft>
                          <a:spcPts val="0"/>
                        </a:spcAft>
                      </a:pPr>
                      <a:r>
                        <a:rPr lang="uz-Cyrl-UZ" sz="1400" dirty="0" smtClean="0">
                          <a:effectLst/>
                          <a:latin typeface="+mn-lt"/>
                          <a:ea typeface="Calibri" panose="020F0502020204030204" pitchFamily="34" charset="0"/>
                          <a:cs typeface="Times New Roman" panose="02020603050405020304" pitchFamily="18" charset="0"/>
                        </a:rPr>
                        <a:t>Генератордан фойдаланган ҳолда позицияларни барча мумкин бўлган қийматларни қўйиш орқали аниқлаш мумкин. Вақт</a:t>
                      </a:r>
                      <a:r>
                        <a:rPr lang="uz-Cyrl-UZ" sz="1400" baseline="0" dirty="0" smtClean="0">
                          <a:effectLst/>
                          <a:latin typeface="+mn-lt"/>
                          <a:ea typeface="Calibri" panose="020F0502020204030204" pitchFamily="34" charset="0"/>
                          <a:cs typeface="Times New Roman" panose="02020603050405020304" pitchFamily="18" charset="0"/>
                        </a:rPr>
                        <a:t> сарфи ортади.</a:t>
                      </a:r>
                      <a:endParaRPr lang="ru-RU" sz="1400" dirty="0">
                        <a:effectLst/>
                        <a:latin typeface="+mn-lt"/>
                        <a:ea typeface="Calibri" panose="020F0502020204030204" pitchFamily="34" charset="0"/>
                        <a:cs typeface="Times New Roman" panose="02020603050405020304" pitchFamily="18" charset="0"/>
                      </a:endParaRPr>
                    </a:p>
                  </a:txBody>
                  <a:tcPr marL="67532" marR="67532" marT="0" marB="0"/>
                </a:tc>
              </a:tr>
            </a:tbl>
          </a:graphicData>
        </a:graphic>
      </p:graphicFrame>
      <p:sp>
        <p:nvSpPr>
          <p:cNvPr id="4" name="Прямоугольник 3"/>
          <p:cNvSpPr/>
          <p:nvPr/>
        </p:nvSpPr>
        <p:spPr>
          <a:xfrm>
            <a:off x="251520" y="0"/>
            <a:ext cx="8616687" cy="369332"/>
          </a:xfrm>
          <a:prstGeom prst="rect">
            <a:avLst/>
          </a:prstGeom>
          <a:solidFill>
            <a:schemeClr val="accent1">
              <a:lumMod val="20000"/>
              <a:lumOff val="80000"/>
            </a:schemeClr>
          </a:solidFill>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uz-Cyrl-UZ" b="1" dirty="0" smtClean="0"/>
              <a:t>Стеганоалгоритмларнинг таҳлили</a:t>
            </a:r>
            <a:endParaRPr lang="ru-RU" b="1" dirty="0"/>
          </a:p>
        </p:txBody>
      </p:sp>
    </p:spTree>
    <p:extLst>
      <p:ext uri="{BB962C8B-B14F-4D97-AF65-F5344CB8AC3E}">
        <p14:creationId xmlns:p14="http://schemas.microsoft.com/office/powerpoint/2010/main" val="25854645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755576" y="-57001"/>
            <a:ext cx="7632848" cy="461665"/>
          </a:xfrm>
          <a:prstGeom prst="rect">
            <a:avLst/>
          </a:prstGeom>
          <a:solidFill>
            <a:schemeClr val="accent1">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uz-Cyrl-UZ" sz="2400" b="1" dirty="0" smtClean="0"/>
              <a:t>Хорижий марказлар</a:t>
            </a:r>
            <a:endParaRPr lang="ru-RU" sz="2400" dirty="0"/>
          </a:p>
        </p:txBody>
      </p:sp>
      <p:sp>
        <p:nvSpPr>
          <p:cNvPr id="3" name="Номер слайда 2"/>
          <p:cNvSpPr>
            <a:spLocks noGrp="1"/>
          </p:cNvSpPr>
          <p:nvPr>
            <p:ph type="sldNum" sz="quarter" idx="12"/>
          </p:nvPr>
        </p:nvSpPr>
        <p:spPr>
          <a:xfrm>
            <a:off x="8382000" y="6492875"/>
            <a:ext cx="762000" cy="365125"/>
          </a:xfrm>
        </p:spPr>
        <p:style>
          <a:lnRef idx="1">
            <a:schemeClr val="accent1"/>
          </a:lnRef>
          <a:fillRef idx="2">
            <a:schemeClr val="accent1"/>
          </a:fillRef>
          <a:effectRef idx="1">
            <a:schemeClr val="accent1"/>
          </a:effectRef>
          <a:fontRef idx="minor">
            <a:schemeClr val="dk1"/>
          </a:fontRef>
        </p:style>
        <p:txBody>
          <a:bodyPr/>
          <a:lstStyle/>
          <a:p>
            <a:pPr algn="ctr"/>
            <a:fld id="{DCE6A5D1-E7E2-43D2-949B-5B1765105237}" type="slidenum">
              <a:rPr lang="ru-RU" smtClean="0"/>
              <a:pPr algn="ctr"/>
              <a:t>19</a:t>
            </a:fld>
            <a:endParaRPr lang="ru-RU" dirty="0"/>
          </a:p>
        </p:txBody>
      </p:sp>
      <p:pic>
        <p:nvPicPr>
          <p:cNvPr id="2050" name="Picture 2" descr="E:\MasterDocs\Stegonagrafiya\11-06\SARC - Backbone Security_files\SARC Logo.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750572"/>
            <a:ext cx="4320480" cy="1582301"/>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E:\MasterDocs\Stegonagrafiya\11-06\SARC - Backbone Security_files\stegalyzera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3" y="4365104"/>
            <a:ext cx="885825" cy="6953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MasterDocs\Stegonagrafiya\11-06\SARC - Backbone Security_files\stegalyzerrts.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544" y="2852936"/>
            <a:ext cx="885825" cy="695325"/>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E:\MasterDocs\Stegonagrafiya\11-06\SARC - Backbone Security_files\stegalyzerss.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7544" y="3591505"/>
            <a:ext cx="885825" cy="6953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932040" y="908720"/>
            <a:ext cx="3888432"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ru-RU" b="1" dirty="0" err="1" smtClean="0"/>
              <a:t>Стеганографик</a:t>
            </a:r>
            <a:r>
              <a:rPr lang="ru-RU" b="1" dirty="0" smtClean="0"/>
              <a:t> </a:t>
            </a:r>
            <a:r>
              <a:rPr lang="ru-RU" b="1" dirty="0" err="1" smtClean="0"/>
              <a:t>тадқиқотлар</a:t>
            </a:r>
            <a:r>
              <a:rPr lang="ru-RU" b="1" dirty="0" smtClean="0"/>
              <a:t> </a:t>
            </a:r>
            <a:r>
              <a:rPr lang="ru-RU" b="1" dirty="0" err="1" smtClean="0"/>
              <a:t>олиб</a:t>
            </a:r>
            <a:r>
              <a:rPr lang="ru-RU" b="1" dirty="0" smtClean="0"/>
              <a:t> </a:t>
            </a:r>
            <a:r>
              <a:rPr lang="ru-RU" b="1" dirty="0" err="1" smtClean="0"/>
              <a:t>бориш</a:t>
            </a:r>
            <a:r>
              <a:rPr lang="ru-RU" b="1" dirty="0" smtClean="0"/>
              <a:t>, </a:t>
            </a:r>
            <a:r>
              <a:rPr lang="ru-RU" b="1" dirty="0" err="1" smtClean="0"/>
              <a:t>стеганотаҳлил</a:t>
            </a:r>
            <a:r>
              <a:rPr lang="ru-RU" b="1" dirty="0" smtClean="0"/>
              <a:t> </a:t>
            </a:r>
            <a:r>
              <a:rPr lang="ru-RU" b="1" dirty="0" err="1" smtClean="0"/>
              <a:t>маҳсулотлари</a:t>
            </a:r>
            <a:r>
              <a:rPr lang="ru-RU" b="1" dirty="0" smtClean="0"/>
              <a:t> </a:t>
            </a:r>
            <a:r>
              <a:rPr lang="ru-RU" b="1" dirty="0" err="1" smtClean="0"/>
              <a:t>ва</a:t>
            </a:r>
            <a:r>
              <a:rPr lang="ru-RU" b="1" dirty="0" smtClean="0"/>
              <a:t> </a:t>
            </a:r>
            <a:r>
              <a:rPr lang="ru-RU" b="1" dirty="0" err="1" smtClean="0"/>
              <a:t>хизматларини</a:t>
            </a:r>
            <a:r>
              <a:rPr lang="ru-RU" b="1" dirty="0" smtClean="0"/>
              <a:t> </a:t>
            </a:r>
            <a:r>
              <a:rPr lang="ru-RU" b="1" dirty="0" err="1" smtClean="0"/>
              <a:t>ишлаб</a:t>
            </a:r>
            <a:r>
              <a:rPr lang="ru-RU" b="1" dirty="0" smtClean="0"/>
              <a:t> </a:t>
            </a:r>
            <a:r>
              <a:rPr lang="ru-RU" b="1" dirty="0" err="1" smtClean="0"/>
              <a:t>чиқиш</a:t>
            </a:r>
            <a:r>
              <a:rPr lang="ru-RU" b="1" dirty="0" smtClean="0"/>
              <a:t> </a:t>
            </a:r>
            <a:r>
              <a:rPr lang="ru-RU" b="1" dirty="0" err="1" smtClean="0"/>
              <a:t>маркази</a:t>
            </a:r>
            <a:endParaRPr lang="ru-RU" b="1" dirty="0"/>
          </a:p>
        </p:txBody>
      </p:sp>
      <p:sp>
        <p:nvSpPr>
          <p:cNvPr id="6" name="Прямоугольник 5"/>
          <p:cNvSpPr/>
          <p:nvPr/>
        </p:nvSpPr>
        <p:spPr>
          <a:xfrm>
            <a:off x="1547664" y="4365104"/>
            <a:ext cx="4025589" cy="369332"/>
          </a:xfrm>
          <a:prstGeom prst="rect">
            <a:avLst/>
          </a:prstGeom>
        </p:spPr>
        <p:txBody>
          <a:bodyPr wrap="none">
            <a:spAutoFit/>
          </a:bodyPr>
          <a:lstStyle/>
          <a:p>
            <a:r>
              <a:rPr lang="en-US" dirty="0"/>
              <a:t>Steganography Analyzer Artifact Scanner</a:t>
            </a:r>
            <a:endParaRPr lang="ru-RU" dirty="0"/>
          </a:p>
        </p:txBody>
      </p:sp>
      <p:sp>
        <p:nvSpPr>
          <p:cNvPr id="7" name="Прямоугольник 6"/>
          <p:cNvSpPr/>
          <p:nvPr/>
        </p:nvSpPr>
        <p:spPr>
          <a:xfrm>
            <a:off x="1547664" y="2871567"/>
            <a:ext cx="4299510" cy="369332"/>
          </a:xfrm>
          <a:prstGeom prst="rect">
            <a:avLst/>
          </a:prstGeom>
        </p:spPr>
        <p:txBody>
          <a:bodyPr wrap="none">
            <a:spAutoFit/>
          </a:bodyPr>
          <a:lstStyle/>
          <a:p>
            <a:r>
              <a:rPr lang="en-US" dirty="0"/>
              <a:t>Steganography Analyzer Real-Time Scanner</a:t>
            </a:r>
            <a:endParaRPr lang="ru-RU" dirty="0"/>
          </a:p>
        </p:txBody>
      </p:sp>
      <p:sp>
        <p:nvSpPr>
          <p:cNvPr id="8" name="Прямоугольник 7"/>
          <p:cNvSpPr/>
          <p:nvPr/>
        </p:nvSpPr>
        <p:spPr>
          <a:xfrm>
            <a:off x="1547664" y="3675546"/>
            <a:ext cx="4205062" cy="369332"/>
          </a:xfrm>
          <a:prstGeom prst="rect">
            <a:avLst/>
          </a:prstGeom>
        </p:spPr>
        <p:txBody>
          <a:bodyPr wrap="none">
            <a:spAutoFit/>
          </a:bodyPr>
          <a:lstStyle/>
          <a:p>
            <a:r>
              <a:rPr lang="en-US" dirty="0"/>
              <a:t>Steganography Analyzer Signature Scanner</a:t>
            </a:r>
            <a:endParaRPr lang="ru-RU" dirty="0"/>
          </a:p>
        </p:txBody>
      </p:sp>
      <p:sp>
        <p:nvSpPr>
          <p:cNvPr id="9" name="Прямоугольник 8"/>
          <p:cNvSpPr/>
          <p:nvPr/>
        </p:nvSpPr>
        <p:spPr>
          <a:xfrm>
            <a:off x="1547664" y="4737263"/>
            <a:ext cx="7416824" cy="369332"/>
          </a:xfrm>
          <a:prstGeom prst="rect">
            <a:avLst/>
          </a:prstGeom>
        </p:spPr>
        <p:txBody>
          <a:bodyPr wrap="square">
            <a:spAutoFit/>
          </a:bodyPr>
          <a:lstStyle/>
          <a:p>
            <a:r>
              <a:rPr lang="uz-Cyrl-UZ" i="1" dirty="0" smtClean="0"/>
              <a:t>Стеганографик иловалар билан боғлиқ файллар ва киришларни аниқлаш</a:t>
            </a:r>
            <a:r>
              <a:rPr lang="en-US" i="1" dirty="0" smtClean="0"/>
              <a:t>!</a:t>
            </a:r>
            <a:endParaRPr lang="ru-RU" dirty="0"/>
          </a:p>
        </p:txBody>
      </p:sp>
      <p:sp>
        <p:nvSpPr>
          <p:cNvPr id="10" name="Прямоугольник 9"/>
          <p:cNvSpPr/>
          <p:nvPr/>
        </p:nvSpPr>
        <p:spPr>
          <a:xfrm>
            <a:off x="1567246" y="3200598"/>
            <a:ext cx="7397242" cy="369332"/>
          </a:xfrm>
          <a:prstGeom prst="rect">
            <a:avLst/>
          </a:prstGeom>
        </p:spPr>
        <p:txBody>
          <a:bodyPr wrap="square">
            <a:spAutoFit/>
          </a:bodyPr>
          <a:lstStyle/>
          <a:p>
            <a:r>
              <a:rPr lang="uz-Cyrl-UZ" i="1" dirty="0" smtClean="0"/>
              <a:t>Тармоқда стеганографик артефакт ва имзоларни аниқлаш</a:t>
            </a:r>
            <a:r>
              <a:rPr lang="en-US" i="1" dirty="0" smtClean="0"/>
              <a:t>!</a:t>
            </a:r>
            <a:endParaRPr lang="ru-RU" dirty="0"/>
          </a:p>
        </p:txBody>
      </p:sp>
      <p:sp>
        <p:nvSpPr>
          <p:cNvPr id="11" name="Прямоугольник 10"/>
          <p:cNvSpPr/>
          <p:nvPr/>
        </p:nvSpPr>
        <p:spPr>
          <a:xfrm>
            <a:off x="1567246" y="3963664"/>
            <a:ext cx="7253226" cy="369332"/>
          </a:xfrm>
          <a:prstGeom prst="rect">
            <a:avLst/>
          </a:prstGeom>
        </p:spPr>
        <p:txBody>
          <a:bodyPr wrap="square">
            <a:spAutoFit/>
          </a:bodyPr>
          <a:lstStyle/>
          <a:p>
            <a:r>
              <a:rPr lang="uz-Cyrl-UZ" i="1" dirty="0" smtClean="0"/>
              <a:t>Стеганофайлларни аниқлаш ва яширилган ахборотни ажратиб олиш</a:t>
            </a:r>
            <a:r>
              <a:rPr lang="en-US" i="1" dirty="0" smtClean="0"/>
              <a:t>!</a:t>
            </a:r>
            <a:endParaRPr lang="ru-RU" dirty="0"/>
          </a:p>
        </p:txBody>
      </p:sp>
      <p:sp>
        <p:nvSpPr>
          <p:cNvPr id="12" name="Прямоугольник 11"/>
          <p:cNvSpPr/>
          <p:nvPr/>
        </p:nvSpPr>
        <p:spPr>
          <a:xfrm>
            <a:off x="755576" y="5733256"/>
            <a:ext cx="2514278" cy="369332"/>
          </a:xfrm>
          <a:prstGeom prst="rect">
            <a:avLst/>
          </a:prstGeom>
        </p:spPr>
        <p:txBody>
          <a:bodyPr wrap="none">
            <a:spAutoFit/>
          </a:bodyPr>
          <a:lstStyle/>
          <a:p>
            <a:r>
              <a:rPr lang="en-US" dirty="0"/>
              <a:t>http://www.sarc-wv.com/</a:t>
            </a:r>
            <a:endParaRPr lang="ru-RU" dirty="0"/>
          </a:p>
        </p:txBody>
      </p:sp>
      <p:sp>
        <p:nvSpPr>
          <p:cNvPr id="13" name="Прямоугольник 12"/>
          <p:cNvSpPr/>
          <p:nvPr/>
        </p:nvSpPr>
        <p:spPr>
          <a:xfrm>
            <a:off x="5463337" y="5737469"/>
            <a:ext cx="2825838" cy="369332"/>
          </a:xfrm>
          <a:prstGeom prst="rect">
            <a:avLst/>
          </a:prstGeom>
        </p:spPr>
        <p:txBody>
          <a:bodyPr wrap="none">
            <a:spAutoFit/>
          </a:bodyPr>
          <a:lstStyle/>
          <a:p>
            <a:r>
              <a:rPr lang="en-US" dirty="0"/>
              <a:t>sarc@backbonesecurity.com</a:t>
            </a:r>
            <a:endParaRPr lang="ru-RU" dirty="0"/>
          </a:p>
        </p:txBody>
      </p:sp>
    </p:spTree>
    <p:extLst>
      <p:ext uri="{BB962C8B-B14F-4D97-AF65-F5344CB8AC3E}">
        <p14:creationId xmlns:p14="http://schemas.microsoft.com/office/powerpoint/2010/main" val="422632959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wsPrint">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font script="Jpan" typeface="HGP創英角ｺﾞｼｯｸUB"/>
        <a:font script="Hang" typeface="HY견고딕"/>
        <a:font script="Hans" typeface="微软雅黑"/>
        <a:font script="Hant" typeface="微軟正黑體"/>
        <a:font script="Arab" typeface="Tahoma"/>
        <a:font script="Hebr" typeface="To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4307</TotalTime>
  <Words>1534</Words>
  <Application>Microsoft Office PowerPoint</Application>
  <PresentationFormat>Экран (4:3)</PresentationFormat>
  <Paragraphs>357</Paragraphs>
  <Slides>19</Slides>
  <Notes>19</Notes>
  <HiddenSlides>0</HiddenSlides>
  <MMClips>0</MMClips>
  <ScaleCrop>false</ScaleCrop>
  <HeadingPairs>
    <vt:vector size="6" baseType="variant">
      <vt:variant>
        <vt:lpstr>Тема</vt:lpstr>
      </vt:variant>
      <vt:variant>
        <vt:i4>1</vt:i4>
      </vt:variant>
      <vt:variant>
        <vt:lpstr>Внедренные серверы OLE</vt:lpstr>
      </vt:variant>
      <vt:variant>
        <vt:i4>1</vt:i4>
      </vt:variant>
      <vt:variant>
        <vt:lpstr>Заголовки слайдов</vt:lpstr>
      </vt:variant>
      <vt:variant>
        <vt:i4>19</vt:i4>
      </vt:variant>
    </vt:vector>
  </HeadingPairs>
  <TitlesOfParts>
    <vt:vector size="21" baseType="lpstr">
      <vt:lpstr>NewsPrint</vt:lpstr>
      <vt:lpstr>Документ</vt:lpstr>
      <vt:lpstr>Маълумотларни стеганографик ҳимоялаш усуллари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Стеганографик алгоритмлар ва уларнинг тахлили</dc:title>
  <dc:creator>Abbos</dc:creator>
  <cp:lastModifiedBy>Microsoft Office</cp:lastModifiedBy>
  <cp:revision>212</cp:revision>
  <dcterms:created xsi:type="dcterms:W3CDTF">2013-08-20T09:41:45Z</dcterms:created>
  <dcterms:modified xsi:type="dcterms:W3CDTF">2020-11-24T04:00:28Z</dcterms:modified>
</cp:coreProperties>
</file>