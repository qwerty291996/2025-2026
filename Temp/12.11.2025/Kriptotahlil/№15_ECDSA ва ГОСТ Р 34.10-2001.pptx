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68" r:id="rId4"/>
    <p:sldId id="291" r:id="rId5"/>
    <p:sldId id="290" r:id="rId6"/>
    <p:sldId id="270" r:id="rId7"/>
    <p:sldId id="271" r:id="rId8"/>
    <p:sldId id="294" r:id="rId9"/>
    <p:sldId id="292" r:id="rId10"/>
    <p:sldId id="295" r:id="rId11"/>
    <p:sldId id="293" r:id="rId12"/>
    <p:sldId id="296" r:id="rId13"/>
    <p:sldId id="302" r:id="rId14"/>
    <p:sldId id="303" r:id="rId15"/>
    <p:sldId id="304" r:id="rId16"/>
    <p:sldId id="305" r:id="rId17"/>
  </p:sldIdLst>
  <p:sldSz cx="9144000" cy="6858000" type="screen4x3"/>
  <p:notesSz cx="6742113" cy="987266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0099"/>
    <a:srgbClr val="99CCFF"/>
    <a:srgbClr val="CCCCFF"/>
    <a:srgbClr val="CCFFFF"/>
    <a:srgbClr val="CCECFF"/>
    <a:srgbClr val="FFCC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7876" autoAdjust="0"/>
  </p:normalViewPr>
  <p:slideViewPr>
    <p:cSldViewPr>
      <p:cViewPr varScale="1">
        <p:scale>
          <a:sx n="111" d="100"/>
          <a:sy n="111" d="100"/>
        </p:scale>
        <p:origin x="-153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95D3FFC-7420-48E8-AA1C-46E37B34947B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797F8DD-84FF-42BF-B4B3-F4248FD2CDC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96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35BA1B6-29B3-4C44-A790-40D16DBC3B3A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8713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688" y="4689475"/>
            <a:ext cx="5392737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EB17F3A-830B-4CB8-BAC4-5673496C31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5746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uz-Cyrl-UZ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868D474A-2E24-4E3F-A55B-3A9744152082}" type="slidenum">
              <a:rPr lang="ru-RU" smtClean="0"/>
              <a:pPr eaLnBrk="1" hangingPunct="1"/>
              <a:t>1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11998573 h 1000"/>
              <a:gd name="T6" fmla="*/ 0 w 1000"/>
              <a:gd name="T7" fmla="*/ 11998573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DD15A-50E6-444C-9B11-BBA901CF42F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9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41F344-EBBD-4CC1-8449-DF4F8484B00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09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EAB7E3-1D8F-469B-BFF9-C152245F031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20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12FE8-2FCD-45DE-89AA-FF294E41D55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63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B9FCA3-BAC3-46E9-A6F6-EB9F3719648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66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FBC8F-E31E-455A-B31F-98E6C8E2D11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321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A1F92-18C1-4744-BA22-30A8644937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42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07B96-D12D-42C6-B182-A5ECDA925A0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838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609F0-B022-426A-A8C8-2C45106BD85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96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F6A25-7F9E-4019-ADE1-79B6B90EE8D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00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9192F-A2BA-4C5D-985B-E9FACB503D7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84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AEAE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11998354 h 1000"/>
              <a:gd name="T6" fmla="*/ 0 w 1000"/>
              <a:gd name="T7" fmla="*/ 11998354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EFAFCF0-E5AA-4D36-A1B1-7DC0AD59589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11" Type="http://schemas.openxmlformats.org/officeDocument/2006/relationships/image" Target="../media/image10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214282" y="214290"/>
            <a:ext cx="8721900" cy="642942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538163" y="581025"/>
            <a:ext cx="8086725" cy="4302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Радиоэлектрон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тизимлар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latin typeface="Times New Roman" pitchFamily="18" charset="0"/>
              </a:rPr>
              <a:t>ва</a:t>
            </a:r>
            <a:r>
              <a:rPr lang="ru-RU" sz="2200" b="1" dirty="0">
                <a:solidFill>
                  <a:srgbClr val="800000"/>
                </a:solidFill>
                <a:latin typeface="Times New Roman" pitchFamily="18" charset="0"/>
              </a:rPr>
              <a:t> а</a:t>
            </a:r>
            <a:r>
              <a:rPr lang="uz-Cyrl-UZ" sz="2200" b="1" dirty="0">
                <a:solidFill>
                  <a:srgbClr val="800000"/>
                </a:solidFill>
                <a:latin typeface="Times New Roman" pitchFamily="18" charset="0"/>
              </a:rPr>
              <a:t>хборот технологиялари маркази</a:t>
            </a:r>
            <a:endParaRPr lang="ru-RU" sz="2200" b="1" dirty="0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3487738" y="6148388"/>
            <a:ext cx="19446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uz-Cyrl-UZ" sz="2000" b="1" dirty="0">
                <a:latin typeface="Times New Roman" pitchFamily="18" charset="0"/>
              </a:rPr>
              <a:t>Тошкент - </a:t>
            </a:r>
            <a:r>
              <a:rPr lang="uz-Cyrl-UZ" sz="2000" b="1" dirty="0" smtClean="0">
                <a:latin typeface="Times New Roman" pitchFamily="18" charset="0"/>
              </a:rPr>
              <a:t>201</a:t>
            </a:r>
            <a:r>
              <a:rPr lang="en-US" sz="2000" b="1" dirty="0" smtClean="0">
                <a:latin typeface="Times New Roman" pitchFamily="18" charset="0"/>
              </a:rPr>
              <a:t>9</a:t>
            </a:r>
            <a:endParaRPr lang="ru-RU" sz="2000" b="1" dirty="0">
              <a:latin typeface="Times New Roman" pitchFamily="18" charset="0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1036638" y="2682767"/>
            <a:ext cx="6931025" cy="560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anchor="ctr">
            <a:spAutoFit/>
          </a:bodyPr>
          <a:lstStyle/>
          <a:p>
            <a:pPr algn="ctr" eaLnBrk="0" hangingPunct="0">
              <a:lnSpc>
                <a:spcPct val="130000"/>
              </a:lnSpc>
              <a:defRPr/>
            </a:pPr>
            <a:r>
              <a:rPr lang="en-US" altLang="zh-CN" sz="2600" b="1" dirty="0" smtClean="0">
                <a:latin typeface="Times New Roman" pitchFamily="18" charset="0"/>
                <a:ea typeface="宋体" charset="-122"/>
              </a:rPr>
              <a:t>EC </a:t>
            </a:r>
            <a:r>
              <a:rPr lang="en-US" altLang="zh-CN" sz="2600" b="1" dirty="0">
                <a:latin typeface="Times New Roman" pitchFamily="18" charset="0"/>
                <a:ea typeface="宋体" charset="-122"/>
              </a:rPr>
              <a:t>DSA </a:t>
            </a:r>
            <a:r>
              <a:rPr lang="uz-Cyrl-UZ" altLang="zh-CN" sz="2600" b="1" dirty="0" smtClean="0">
                <a:latin typeface="Times New Roman" pitchFamily="18" charset="0"/>
                <a:ea typeface="宋体" charset="-122"/>
              </a:rPr>
              <a:t>ва ГОСТ Р 34.10-2001 </a:t>
            </a:r>
            <a:r>
              <a:rPr lang="ru-RU" altLang="zh-CN" sz="2600" b="1" dirty="0" err="1" smtClean="0">
                <a:latin typeface="Times New Roman" pitchFamily="18" charset="0"/>
              </a:rPr>
              <a:t>алгоритмлари</a:t>
            </a:r>
            <a:endParaRPr lang="uz-Cyrl-UZ" sz="2600" b="1" dirty="0">
              <a:latin typeface="Times New Roman" pitchFamily="18" charset="0"/>
            </a:endParaRPr>
          </a:p>
        </p:txBody>
      </p:sp>
      <p:sp>
        <p:nvSpPr>
          <p:cNvPr id="3080" name="Text Box 25"/>
          <p:cNvSpPr txBox="1">
            <a:spLocks noChangeArrowheads="1"/>
          </p:cNvSpPr>
          <p:nvPr/>
        </p:nvSpPr>
        <p:spPr bwMode="auto">
          <a:xfrm>
            <a:off x="2746375" y="1639888"/>
            <a:ext cx="3346450" cy="46196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737373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/>
            <a:r>
              <a:rPr lang="uz-Cyrl-UZ" sz="2400" b="1" i="1" u="sng" dirty="0">
                <a:latin typeface="Times New Roman" pitchFamily="18" charset="0"/>
              </a:rPr>
              <a:t>Амалий криптография</a:t>
            </a:r>
            <a:endParaRPr lang="ru-RU" sz="2400" b="1" i="1" u="sng" dirty="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"/>
          <p:cNvSpPr>
            <a:spLocks noChangeArrowheads="1"/>
          </p:cNvSpPr>
          <p:nvPr/>
        </p:nvSpPr>
        <p:spPr bwMode="auto">
          <a:xfrm>
            <a:off x="215900" y="1095375"/>
            <a:ext cx="8748713" cy="1292225"/>
          </a:xfrm>
          <a:prstGeom prst="rect">
            <a:avLst/>
          </a:prstGeom>
          <a:pattFill prst="dkHorz">
            <a:fgClr>
              <a:srgbClr val="EAEAEA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8C8C8C"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indent="531813" algn="just">
              <a:buClr>
                <a:schemeClr val="accent2"/>
              </a:buClr>
              <a:buFont typeface="Wingdings" pitchFamily="2" charset="2"/>
              <a:buChar char="v"/>
            </a:pPr>
            <a:r>
              <a:rPr lang="uz-Cyrl-UZ" altLang="zh-CN" sz="2600">
                <a:latin typeface="Times New Roman" pitchFamily="18" charset="0"/>
              </a:rPr>
              <a:t>Эллиптик эгри чизиқларга асосланган криптотизимлар криптографияга </a:t>
            </a:r>
            <a:r>
              <a:rPr lang="uz-Cyrl-UZ" altLang="zh-CN" sz="2600" u="sng">
                <a:latin typeface="Times New Roman" pitchFamily="18" charset="0"/>
              </a:rPr>
              <a:t>1985</a:t>
            </a:r>
            <a:r>
              <a:rPr lang="uz-Cyrl-UZ" altLang="zh-CN" sz="2600">
                <a:latin typeface="Times New Roman" pitchFamily="18" charset="0"/>
              </a:rPr>
              <a:t> йилда </a:t>
            </a:r>
            <a:r>
              <a:rPr lang="uz-Cyrl-UZ" altLang="zh-CN" sz="2600" b="1">
                <a:latin typeface="Times New Roman" pitchFamily="18" charset="0"/>
              </a:rPr>
              <a:t>В.Миллер</a:t>
            </a:r>
            <a:r>
              <a:rPr lang="uz-Cyrl-UZ" altLang="zh-CN" sz="2600">
                <a:latin typeface="Times New Roman" pitchFamily="18" charset="0"/>
              </a:rPr>
              <a:t> ва </a:t>
            </a:r>
            <a:r>
              <a:rPr lang="uz-Cyrl-UZ" altLang="zh-CN" sz="2600" b="1">
                <a:latin typeface="Times New Roman" pitchFamily="18" charset="0"/>
              </a:rPr>
              <a:t>Н.Коблиц</a:t>
            </a:r>
            <a:r>
              <a:rPr lang="uz-Cyrl-UZ" altLang="zh-CN" sz="2600">
                <a:latin typeface="Times New Roman" pitchFamily="18" charset="0"/>
              </a:rPr>
              <a:t> томонидан тадбиқ қилинган.</a:t>
            </a:r>
            <a:endParaRPr lang="uz-Cyrl-UZ" sz="260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099" name="Group 8"/>
          <p:cNvGrpSpPr>
            <a:grpSpLocks/>
          </p:cNvGrpSpPr>
          <p:nvPr/>
        </p:nvGrpSpPr>
        <p:grpSpPr bwMode="auto">
          <a:xfrm>
            <a:off x="71438" y="6453188"/>
            <a:ext cx="9001125" cy="360362"/>
            <a:chOff x="45" y="4065"/>
            <a:chExt cx="5670" cy="227"/>
          </a:xfrm>
        </p:grpSpPr>
        <p:sp>
          <p:nvSpPr>
            <p:cNvPr id="4101" name="Line 16"/>
            <p:cNvSpPr>
              <a:spLocks noChangeShapeType="1"/>
            </p:cNvSpPr>
            <p:nvPr/>
          </p:nvSpPr>
          <p:spPr bwMode="auto">
            <a:xfrm>
              <a:off x="45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4358" y="4080"/>
              <a:ext cx="13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ru-RU" sz="1600" i="1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</a:p>
          </p:txBody>
        </p:sp>
      </p:grpSp>
      <p:sp>
        <p:nvSpPr>
          <p:cNvPr id="4100" name="Rectangle 10"/>
          <p:cNvSpPr>
            <a:spLocks noChangeArrowheads="1"/>
          </p:cNvSpPr>
          <p:nvPr/>
        </p:nvSpPr>
        <p:spPr bwMode="auto">
          <a:xfrm>
            <a:off x="1042988" y="3489325"/>
            <a:ext cx="7850187" cy="1689100"/>
          </a:xfrm>
          <a:prstGeom prst="rect">
            <a:avLst/>
          </a:prstGeom>
          <a:pattFill prst="dkHorz">
            <a:fgClr>
              <a:srgbClr val="EAEAEA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rgbClr val="8C8C8C"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indent="531813" algn="just" eaLnBrk="0" hangingPunct="0">
              <a:buClr>
                <a:schemeClr val="accent2"/>
              </a:buClr>
              <a:buFont typeface="Wingdings" pitchFamily="2" charset="2"/>
              <a:buChar char="v"/>
            </a:pPr>
            <a:r>
              <a:rPr lang="uz-Cyrl-UZ" altLang="zh-CN" sz="2600">
                <a:latin typeface="Times New Roman" pitchFamily="18" charset="0"/>
              </a:rPr>
              <a:t>EC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DSA 2000 (</a:t>
            </a:r>
            <a:r>
              <a:rPr lang="uz-Cyrl-UZ" altLang="zh-CN" sz="2600">
                <a:solidFill>
                  <a:schemeClr val="accent2"/>
                </a:solidFill>
                <a:latin typeface="Times New Roman" pitchFamily="18" charset="0"/>
              </a:rPr>
              <a:t>АҚШ</a:t>
            </a:r>
            <a:r>
              <a:rPr lang="uz-Cyrl-UZ" altLang="zh-CN" sz="2600">
                <a:latin typeface="Times New Roman" pitchFamily="18" charset="0"/>
              </a:rPr>
              <a:t>)</a:t>
            </a:r>
            <a:r>
              <a:rPr lang="ru-RU" altLang="zh-CN" sz="2600">
                <a:latin typeface="Times New Roman" pitchFamily="18" charset="0"/>
              </a:rPr>
              <a:t>,</a:t>
            </a:r>
            <a:r>
              <a:rPr lang="uz-Cyrl-UZ" altLang="zh-CN" sz="2600">
                <a:latin typeface="Times New Roman" pitchFamily="18" charset="0"/>
              </a:rPr>
              <a:t> ГОСТ Р 34.10-2001 (</a:t>
            </a:r>
            <a:r>
              <a:rPr lang="uz-Cyrl-UZ" altLang="zh-CN" sz="2600">
                <a:solidFill>
                  <a:schemeClr val="accent2"/>
                </a:solidFill>
                <a:latin typeface="Times New Roman" pitchFamily="18" charset="0"/>
              </a:rPr>
              <a:t>РФ</a:t>
            </a:r>
            <a:r>
              <a:rPr lang="uz-Cyrl-UZ" altLang="zh-CN" sz="2600">
                <a:latin typeface="Times New Roman" pitchFamily="18" charset="0"/>
              </a:rPr>
              <a:t>)</a:t>
            </a:r>
            <a:r>
              <a:rPr lang="ru-RU" altLang="zh-CN" sz="2600">
                <a:latin typeface="Times New Roman" pitchFamily="18" charset="0"/>
              </a:rPr>
              <a:t>,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 </a:t>
            </a:r>
            <a:r>
              <a:rPr lang="uz-Cyrl-UZ" sz="2600">
                <a:latin typeface="Times New Roman" pitchFamily="18" charset="0"/>
              </a:rPr>
              <a:t>O</a:t>
            </a:r>
            <a:r>
              <a:rPr lang="en-US" sz="2600">
                <a:latin typeface="Times New Roman" pitchFamily="18" charset="0"/>
              </a:rPr>
              <a:t>’</a:t>
            </a:r>
            <a:r>
              <a:rPr lang="uz-Cyrl-UZ" sz="2600">
                <a:latin typeface="Times New Roman" pitchFamily="18" charset="0"/>
              </a:rPr>
              <a:t>zDSt</a:t>
            </a:r>
            <a:r>
              <a:rPr lang="en-US" sz="2600">
                <a:latin typeface="Times New Roman" pitchFamily="18" charset="0"/>
              </a:rPr>
              <a:t> </a:t>
            </a:r>
            <a:r>
              <a:rPr lang="uz-Cyrl-UZ" sz="2600">
                <a:latin typeface="Times New Roman" pitchFamily="18" charset="0"/>
              </a:rPr>
              <a:t>1092</a:t>
            </a:r>
            <a:r>
              <a:rPr lang="en-US" sz="2600">
                <a:latin typeface="Times New Roman" pitchFamily="18" charset="0"/>
              </a:rPr>
              <a:t>:</a:t>
            </a:r>
            <a:r>
              <a:rPr lang="uz-Cyrl-UZ" sz="2600">
                <a:latin typeface="Times New Roman" pitchFamily="18" charset="0"/>
              </a:rPr>
              <a:t>2009 (</a:t>
            </a:r>
            <a:r>
              <a:rPr lang="uz-Cyrl-UZ" sz="2600">
                <a:solidFill>
                  <a:schemeClr val="accent2"/>
                </a:solidFill>
                <a:latin typeface="Times New Roman" pitchFamily="18" charset="0"/>
              </a:rPr>
              <a:t>Ўзбекистон</a:t>
            </a:r>
            <a:r>
              <a:rPr lang="uz-Cyrl-UZ" sz="2600">
                <a:latin typeface="Times New Roman" pitchFamily="18" charset="0"/>
              </a:rPr>
              <a:t>)</a:t>
            </a:r>
            <a:r>
              <a:rPr lang="en-US" sz="2600">
                <a:latin typeface="Times New Roman" pitchFamily="18" charset="0"/>
              </a:rPr>
              <a:t>, </a:t>
            </a:r>
            <a:r>
              <a:rPr lang="ru-RU" sz="2600">
                <a:latin typeface="Times New Roman" pitchFamily="18" charset="0"/>
              </a:rPr>
              <a:t>ДСТУ 41.45-20</a:t>
            </a:r>
            <a:r>
              <a:rPr lang="uz-Cyrl-UZ" sz="2600">
                <a:latin typeface="Times New Roman" pitchFamily="18" charset="0"/>
              </a:rPr>
              <a:t>0</a:t>
            </a:r>
            <a:r>
              <a:rPr lang="ru-RU" sz="2600">
                <a:latin typeface="Times New Roman" pitchFamily="18" charset="0"/>
              </a:rPr>
              <a:t>2</a:t>
            </a:r>
            <a:r>
              <a:rPr lang="uz-Cyrl-UZ" sz="2600">
                <a:latin typeface="Times New Roman" pitchFamily="18" charset="0"/>
              </a:rPr>
              <a:t> (</a:t>
            </a:r>
            <a:r>
              <a:rPr lang="uz-Cyrl-UZ" sz="2600">
                <a:solidFill>
                  <a:schemeClr val="accent2"/>
                </a:solidFill>
                <a:latin typeface="Times New Roman" pitchFamily="18" charset="0"/>
              </a:rPr>
              <a:t>Украина</a:t>
            </a:r>
            <a:r>
              <a:rPr lang="uz-Cyrl-UZ" sz="2600">
                <a:latin typeface="Times New Roman" pitchFamily="18" charset="0"/>
              </a:rPr>
              <a:t>), </a:t>
            </a:r>
            <a:r>
              <a:rPr lang="ru-RU" sz="2600">
                <a:latin typeface="Times New Roman" pitchFamily="18" charset="0"/>
              </a:rPr>
              <a:t>ECGDSA</a:t>
            </a:r>
            <a:r>
              <a:rPr lang="uz-Cyrl-UZ" sz="2600">
                <a:latin typeface="Times New Roman" pitchFamily="18" charset="0"/>
              </a:rPr>
              <a:t> (</a:t>
            </a:r>
            <a:r>
              <a:rPr lang="uz-Cyrl-UZ" sz="2600">
                <a:solidFill>
                  <a:schemeClr val="accent2"/>
                </a:solidFill>
                <a:latin typeface="Times New Roman" pitchFamily="18" charset="0"/>
              </a:rPr>
              <a:t>Германия</a:t>
            </a:r>
            <a:r>
              <a:rPr lang="uz-Cyrl-UZ" sz="2600">
                <a:latin typeface="Times New Roman" pitchFamily="18" charset="0"/>
              </a:rPr>
              <a:t>), </a:t>
            </a:r>
            <a:r>
              <a:rPr lang="en-US" sz="2600">
                <a:latin typeface="Times New Roman" pitchFamily="18" charset="0"/>
              </a:rPr>
              <a:t>ECKCDSA</a:t>
            </a:r>
            <a:r>
              <a:rPr lang="uz-Cyrl-UZ" sz="2600">
                <a:latin typeface="Times New Roman" pitchFamily="18" charset="0"/>
              </a:rPr>
              <a:t> (</a:t>
            </a:r>
            <a:r>
              <a:rPr lang="uz-Cyrl-UZ" sz="2600">
                <a:solidFill>
                  <a:schemeClr val="accent2"/>
                </a:solidFill>
                <a:latin typeface="Times New Roman" pitchFamily="18" charset="0"/>
              </a:rPr>
              <a:t>Корея</a:t>
            </a:r>
            <a:r>
              <a:rPr lang="uz-Cyrl-UZ" sz="2600">
                <a:latin typeface="Times New Roman" pitchFamily="18" charset="0"/>
              </a:rPr>
              <a:t>), </a:t>
            </a:r>
            <a:r>
              <a:rPr lang="en-US" sz="2600" b="1">
                <a:latin typeface="Times Uzb Roman" pitchFamily="18" charset="0"/>
              </a:rPr>
              <a:t>…</a:t>
            </a:r>
            <a:endParaRPr lang="uz-Cyrl-UZ" sz="2600" b="1">
              <a:latin typeface="Times Uzb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250825" y="690563"/>
            <a:ext cx="8642350" cy="4659312"/>
          </a:xfrm>
          <a:prstGeom prst="rect">
            <a:avLst/>
          </a:prstGeom>
          <a:solidFill>
            <a:schemeClr val="bg1">
              <a:alpha val="86000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355600" algn="just">
              <a:buClr>
                <a:schemeClr val="accent2"/>
              </a:buClr>
              <a:buFont typeface="Wingdings" pitchFamily="2" charset="2"/>
              <a:buChar char="v"/>
              <a:defRPr/>
            </a:pPr>
            <a:r>
              <a:rPr lang="uz-Cyrl-UZ" altLang="zh-CN" sz="2800" dirty="0">
                <a:latin typeface="Times New Roman" pitchFamily="18" charset="0"/>
                <a:cs typeface="Times New Roman" pitchFamily="18" charset="0"/>
              </a:rPr>
              <a:t> ЭРИ алгоритмнинг асосий параметрлари катта туб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b="1" i="1" dirty="0">
                <a:solidFill>
                  <a:srgbClr val="8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uz-Cyrl-UZ" altLang="zh-CN" sz="2800" dirty="0">
                <a:latin typeface="Times New Roman" pitchFamily="18" charset="0"/>
                <a:cs typeface="Times New Roman" pitchFamily="18" charset="0"/>
              </a:rPr>
              <a:t>характеристикали </a:t>
            </a:r>
            <a:r>
              <a:rPr lang="en-US" altLang="zh-CN" sz="2800" b="1" i="1" dirty="0" err="1">
                <a:solidFill>
                  <a:srgbClr val="8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F</a:t>
            </a:r>
            <a:r>
              <a:rPr lang="en-US" altLang="zh-CN" sz="2800" b="1" i="1" baseline="-25000" dirty="0" err="1">
                <a:solidFill>
                  <a:srgbClr val="8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uz-Cyrl-UZ" altLang="zh-CN" sz="2800" dirty="0">
                <a:latin typeface="Times New Roman" pitchFamily="18" charset="0"/>
                <a:cs typeface="Times New Roman" pitchFamily="18" charset="0"/>
              </a:rPr>
              <a:t>майдонда аниқланган </a:t>
            </a:r>
            <a:r>
              <a:rPr lang="uz-Cyrl-UZ" altLang="zh-CN" sz="28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uz-Cyrl-UZ" altLang="zh-CN" sz="2800" dirty="0">
                <a:latin typeface="Times New Roman" pitchFamily="18" charset="0"/>
                <a:cs typeface="Times New Roman" pitchFamily="18" charset="0"/>
              </a:rPr>
              <a:t> - ЭЭЧ ва шу чизиққа тегишли катта туб тартибга эга 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            	 </a:t>
            </a:r>
            <a:r>
              <a:rPr lang="uz-Cyrl-UZ" altLang="zh-CN" sz="2800" dirty="0">
                <a:latin typeface="Times New Roman" pitchFamily="18" charset="0"/>
                <a:cs typeface="Times New Roman" pitchFamily="18" charset="0"/>
              </a:rPr>
              <a:t>     базавий нуқта ҳисобланади. </a:t>
            </a:r>
          </a:p>
          <a:p>
            <a:pPr indent="355600" algn="just">
              <a:defRPr/>
            </a:pPr>
            <a:r>
              <a:rPr lang="uz-Cyrl-UZ" altLang="zh-CN" sz="2800" dirty="0">
                <a:latin typeface="Times New Roman" pitchFamily="18" charset="0"/>
                <a:cs typeface="Times New Roman" pitchFamily="18" charset="0"/>
              </a:rPr>
              <a:t>       </a:t>
            </a:r>
          </a:p>
          <a:p>
            <a:pPr indent="355600" algn="just">
              <a:buClr>
                <a:schemeClr val="accent2"/>
              </a:buClr>
              <a:buFont typeface="Wingdings" pitchFamily="2" charset="2"/>
              <a:buChar char="v"/>
              <a:defRPr/>
            </a:pPr>
            <a:r>
              <a:rPr lang="uz-Cyrl-UZ" altLang="zh-CN" sz="2800" dirty="0">
                <a:latin typeface="Times New Roman" pitchFamily="18" charset="0"/>
                <a:cs typeface="Times New Roman" pitchFamily="18" charset="0"/>
              </a:rPr>
              <a:t> ЭЭЧ </a:t>
            </a:r>
            <a:r>
              <a:rPr lang="ru-RU" altLang="zh-CN" sz="2800" dirty="0" err="1">
                <a:latin typeface="Times New Roman" pitchFamily="18" charset="0"/>
                <a:cs typeface="Times New Roman" pitchFamily="18" charset="0"/>
              </a:rPr>
              <a:t>қуйидаги</a:t>
            </a:r>
            <a:r>
              <a:rPr lang="ru-RU" altLang="zh-C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zh-CN" sz="2800" dirty="0" err="1">
                <a:latin typeface="Times New Roman" pitchFamily="18" charset="0"/>
                <a:cs typeface="Times New Roman" pitchFamily="18" charset="0"/>
              </a:rPr>
              <a:t>тенглама</a:t>
            </a:r>
            <a:r>
              <a:rPr lang="ru-RU" altLang="zh-C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zh-CN" sz="2800" dirty="0" err="1">
                <a:latin typeface="Times New Roman" pitchFamily="18" charset="0"/>
                <a:cs typeface="Times New Roman" pitchFamily="18" charset="0"/>
              </a:rPr>
              <a:t>билан</a:t>
            </a:r>
            <a:r>
              <a:rPr lang="ru-RU" altLang="zh-C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altLang="zh-CN" sz="2800" dirty="0">
                <a:latin typeface="Times New Roman" pitchFamily="18" charset="0"/>
                <a:cs typeface="Times New Roman" pitchFamily="18" charset="0"/>
              </a:rPr>
              <a:t>берилади:</a:t>
            </a:r>
          </a:p>
          <a:p>
            <a:pPr indent="355600" algn="ctr">
              <a:defRPr/>
            </a:pPr>
            <a:endParaRPr lang="uz-Cyrl-UZ" sz="2800" dirty="0"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endParaRPr lang="uz-Cyrl-UZ" sz="2800" dirty="0">
              <a:solidFill>
                <a:srgbClr val="8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355600" algn="just">
              <a:spcBef>
                <a:spcPct val="30000"/>
              </a:spcBef>
              <a:buClr>
                <a:schemeClr val="accent2"/>
              </a:buClr>
              <a:buSzPct val="65000"/>
              <a:buFont typeface="Wingdings" pitchFamily="2" charset="2"/>
              <a:buNone/>
              <a:defRPr/>
            </a:pPr>
            <a:r>
              <a:rPr lang="ru-RU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Ушбу </a:t>
            </a:r>
            <a:r>
              <a:rPr lang="ru-RU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тенглама</a:t>
            </a:r>
            <a:r>
              <a:rPr lang="ru-RU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i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(а</a:t>
            </a:r>
            <a:r>
              <a:rPr lang="uz-Cyrl-UZ" sz="2800" b="1" i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b="1" i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800" b="1" i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uz-Cyrl-UZ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коэффициентлар орқали ёки  </a:t>
            </a:r>
            <a:r>
              <a:rPr lang="en-US" sz="2800" b="1" i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J</a:t>
            </a:r>
            <a:r>
              <a:rPr lang="uz-Cyrl-UZ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uz-Cyrl-UZ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инвариант ор</a:t>
            </a:r>
            <a:r>
              <a:rPr lang="uz-Cyrl-UZ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ru-RU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али </a:t>
            </a:r>
            <a:r>
              <a:rPr lang="uz-Cyrl-UZ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аниқланиши мумкин.</a:t>
            </a:r>
            <a:endParaRPr lang="ru-RU" sz="280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0" y="-46038"/>
            <a:ext cx="9144000" cy="519113"/>
          </a:xfrm>
          <a:prstGeom prst="rect">
            <a:avLst/>
          </a:prstGeom>
          <a:solidFill>
            <a:srgbClr val="00FF00">
              <a:alpha val="95000"/>
            </a:srgbClr>
          </a:solidFill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uz-Cyrl-UZ" altLang="zh-CN" sz="2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Бошланғич параметрлар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124" name="Group 8"/>
          <p:cNvGrpSpPr>
            <a:grpSpLocks/>
          </p:cNvGrpSpPr>
          <p:nvPr/>
        </p:nvGrpSpPr>
        <p:grpSpPr bwMode="auto">
          <a:xfrm>
            <a:off x="71438" y="6453188"/>
            <a:ext cx="9001125" cy="360362"/>
            <a:chOff x="45" y="4065"/>
            <a:chExt cx="5670" cy="227"/>
          </a:xfrm>
        </p:grpSpPr>
        <p:sp>
          <p:nvSpPr>
            <p:cNvPr id="5129" name="Line 16"/>
            <p:cNvSpPr>
              <a:spLocks noChangeShapeType="1"/>
            </p:cNvSpPr>
            <p:nvPr/>
          </p:nvSpPr>
          <p:spPr bwMode="auto">
            <a:xfrm>
              <a:off x="45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4358" y="4080"/>
              <a:ext cx="13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ru-RU" sz="1600" i="1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</a:p>
          </p:txBody>
        </p:sp>
      </p:grp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5126" name="Object 11"/>
          <p:cNvGraphicFramePr>
            <a:graphicFrameLocks noChangeAspect="1"/>
          </p:cNvGraphicFramePr>
          <p:nvPr/>
        </p:nvGraphicFramePr>
        <p:xfrm>
          <a:off x="7383463" y="1658938"/>
          <a:ext cx="133191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Формула" r:id="rId3" imgW="698500" imgH="241300" progId="Equation.3">
                  <p:embed/>
                </p:oleObj>
              </mc:Choice>
              <mc:Fallback>
                <p:oleObj name="Формула" r:id="rId3" imgW="698500" imgH="241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3463" y="1658938"/>
                        <a:ext cx="1331912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5128" name="Object 14"/>
          <p:cNvGraphicFramePr>
            <a:graphicFrameLocks noChangeAspect="1"/>
          </p:cNvGraphicFramePr>
          <p:nvPr/>
        </p:nvGraphicFramePr>
        <p:xfrm>
          <a:off x="2087563" y="3789363"/>
          <a:ext cx="48958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Формула" r:id="rId5" imgW="1524000" imgH="228600" progId="Equation.3">
                  <p:embed/>
                </p:oleObj>
              </mc:Choice>
              <mc:Fallback>
                <p:oleObj name="Формула" r:id="rId5" imgW="15240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3789363"/>
                        <a:ext cx="48958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ChangeArrowheads="1"/>
          </p:cNvSpPr>
          <p:nvPr/>
        </p:nvSpPr>
        <p:spPr bwMode="auto">
          <a:xfrm>
            <a:off x="250825" y="549275"/>
            <a:ext cx="8642350" cy="5075238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180975" lvl="1" indent="-1588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endParaRPr lang="uz-Cyrl-UZ" sz="2000">
              <a:latin typeface="Times New Roman" pitchFamily="18" charset="0"/>
            </a:endParaRPr>
          </a:p>
        </p:txBody>
      </p:sp>
      <p:graphicFrame>
        <p:nvGraphicFramePr>
          <p:cNvPr id="6147" name="Object 8"/>
          <p:cNvGraphicFramePr>
            <a:graphicFrameLocks noChangeAspect="1"/>
          </p:cNvGraphicFramePr>
          <p:nvPr/>
        </p:nvGraphicFramePr>
        <p:xfrm>
          <a:off x="2524125" y="1246188"/>
          <a:ext cx="369093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Формула" r:id="rId3" imgW="1600200" imgH="228600" progId="Equation.3">
                  <p:embed/>
                </p:oleObj>
              </mc:Choice>
              <mc:Fallback>
                <p:oleObj name="Формула" r:id="rId3" imgW="16002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5" y="1246188"/>
                        <a:ext cx="369093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004888" y="735013"/>
            <a:ext cx="69056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uz-Cyrl-UZ" altLang="zh-CN" sz="2200" i="1">
                <a:solidFill>
                  <a:srgbClr val="B83426"/>
                </a:solidFill>
                <a:latin typeface="Times New Roman" pitchFamily="18" charset="0"/>
              </a:rPr>
              <a:t>А ва В коэффицентларни </a:t>
            </a:r>
            <a:r>
              <a:rPr lang="en-US" altLang="zh-CN" sz="2200" i="1">
                <a:solidFill>
                  <a:srgbClr val="B83426"/>
                </a:solidFill>
                <a:latin typeface="Times New Roman" pitchFamily="18" charset="0"/>
                <a:ea typeface="宋体" charset="-122"/>
              </a:rPr>
              <a:t>J - </a:t>
            </a:r>
            <a:r>
              <a:rPr lang="ru-RU" altLang="zh-CN" sz="2200" i="1">
                <a:solidFill>
                  <a:srgbClr val="B83426"/>
                </a:solidFill>
                <a:latin typeface="Times New Roman" pitchFamily="18" charset="0"/>
              </a:rPr>
              <a:t>инвариант ор</a:t>
            </a:r>
            <a:r>
              <a:rPr lang="uz-Cyrl-UZ" altLang="zh-CN" sz="2200" i="1">
                <a:solidFill>
                  <a:srgbClr val="B83426"/>
                </a:solidFill>
                <a:latin typeface="Times New Roman" pitchFamily="18" charset="0"/>
              </a:rPr>
              <a:t>қ</a:t>
            </a:r>
            <a:r>
              <a:rPr lang="ru-RU" altLang="zh-CN" sz="2200" i="1">
                <a:solidFill>
                  <a:srgbClr val="B83426"/>
                </a:solidFill>
                <a:latin typeface="Times New Roman" pitchFamily="18" charset="0"/>
              </a:rPr>
              <a:t>али </a:t>
            </a:r>
            <a:r>
              <a:rPr lang="uz-Cyrl-UZ" altLang="zh-CN" sz="2200" i="1">
                <a:solidFill>
                  <a:srgbClr val="B83426"/>
                </a:solidFill>
                <a:latin typeface="Times New Roman" pitchFamily="18" charset="0"/>
              </a:rPr>
              <a:t>аниқлаш</a:t>
            </a:r>
            <a:endParaRPr lang="ru-RU" sz="2200" i="1">
              <a:solidFill>
                <a:srgbClr val="B83426"/>
              </a:solidFill>
              <a:latin typeface="Times New Roman" pitchFamily="18" charset="0"/>
            </a:endParaRPr>
          </a:p>
        </p:txBody>
      </p:sp>
      <p:graphicFrame>
        <p:nvGraphicFramePr>
          <p:cNvPr id="6149" name="Object 11"/>
          <p:cNvGraphicFramePr>
            <a:graphicFrameLocks noChangeAspect="1"/>
          </p:cNvGraphicFramePr>
          <p:nvPr/>
        </p:nvGraphicFramePr>
        <p:xfrm>
          <a:off x="2398713" y="1916113"/>
          <a:ext cx="36258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Формула" r:id="rId5" imgW="1498600" imgH="419100" progId="Equation.3">
                  <p:embed/>
                </p:oleObj>
              </mc:Choice>
              <mc:Fallback>
                <p:oleObj name="Формула" r:id="rId5" imgW="14986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1916113"/>
                        <a:ext cx="362585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Rectangle 12"/>
          <p:cNvSpPr>
            <a:spLocks noChangeArrowheads="1"/>
          </p:cNvSpPr>
          <p:nvPr/>
        </p:nvSpPr>
        <p:spPr bwMode="auto">
          <a:xfrm>
            <a:off x="1368425" y="4041775"/>
            <a:ext cx="1955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i="1">
                <a:solidFill>
                  <a:srgbClr val="000066"/>
                </a:solidFill>
                <a:latin typeface="Times New Roman" pitchFamily="18" charset="0"/>
                <a:ea typeface="宋体" charset="-122"/>
              </a:rPr>
              <a:t>A = 3k mod P </a:t>
            </a:r>
          </a:p>
          <a:p>
            <a:r>
              <a:rPr lang="en-US" altLang="zh-CN" sz="2400" i="1">
                <a:solidFill>
                  <a:srgbClr val="000066"/>
                </a:solidFill>
                <a:latin typeface="Times New Roman" pitchFamily="18" charset="0"/>
                <a:ea typeface="宋体" charset="-122"/>
              </a:rPr>
              <a:t>B = 2k mod P</a:t>
            </a:r>
            <a:endParaRPr lang="ru-RU" sz="2400" i="1">
              <a:solidFill>
                <a:srgbClr val="000066"/>
              </a:solidFill>
              <a:latin typeface="Times New Roman" pitchFamily="18" charset="0"/>
            </a:endParaRPr>
          </a:p>
        </p:txBody>
      </p:sp>
      <p:sp>
        <p:nvSpPr>
          <p:cNvPr id="6151" name="Rectangle 13"/>
          <p:cNvSpPr>
            <a:spLocks noChangeArrowheads="1"/>
          </p:cNvSpPr>
          <p:nvPr/>
        </p:nvSpPr>
        <p:spPr bwMode="auto">
          <a:xfrm>
            <a:off x="611188" y="3502025"/>
            <a:ext cx="3065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altLang="zh-CN" i="1">
                <a:solidFill>
                  <a:srgbClr val="000066"/>
                </a:solidFill>
                <a:latin typeface="Times New Roman" pitchFamily="18" charset="0"/>
              </a:rPr>
              <a:t>Коэффицентларини танлаш:</a:t>
            </a:r>
            <a:endParaRPr lang="ru-RU" i="1">
              <a:solidFill>
                <a:srgbClr val="000066"/>
              </a:solidFill>
              <a:latin typeface="Times New Roman" pitchFamily="18" charset="0"/>
            </a:endParaRPr>
          </a:p>
        </p:txBody>
      </p:sp>
      <p:grpSp>
        <p:nvGrpSpPr>
          <p:cNvPr id="6152" name="Group 15"/>
          <p:cNvGrpSpPr>
            <a:grpSpLocks/>
          </p:cNvGrpSpPr>
          <p:nvPr/>
        </p:nvGrpSpPr>
        <p:grpSpPr bwMode="auto">
          <a:xfrm>
            <a:off x="71438" y="6453188"/>
            <a:ext cx="9001125" cy="360362"/>
            <a:chOff x="45" y="4065"/>
            <a:chExt cx="5670" cy="227"/>
          </a:xfrm>
        </p:grpSpPr>
        <p:sp>
          <p:nvSpPr>
            <p:cNvPr id="6155" name="Line 16"/>
            <p:cNvSpPr>
              <a:spLocks noChangeShapeType="1"/>
            </p:cNvSpPr>
            <p:nvPr/>
          </p:nvSpPr>
          <p:spPr bwMode="auto">
            <a:xfrm>
              <a:off x="45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4358" y="4080"/>
              <a:ext cx="13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ru-RU" sz="1600" i="1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</a:p>
          </p:txBody>
        </p:sp>
      </p:grpSp>
      <p:graphicFrame>
        <p:nvGraphicFramePr>
          <p:cNvPr id="6153" name="Object 18"/>
          <p:cNvGraphicFramePr>
            <a:graphicFrameLocks noChangeAspect="1"/>
          </p:cNvGraphicFramePr>
          <p:nvPr/>
        </p:nvGraphicFramePr>
        <p:xfrm>
          <a:off x="4092575" y="3932238"/>
          <a:ext cx="2459038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Формула" r:id="rId7" imgW="1028700" imgH="419100" progId="Equation.3">
                  <p:embed/>
                </p:oleObj>
              </mc:Choice>
              <mc:Fallback>
                <p:oleObj name="Формула" r:id="rId7" imgW="1028700" imgH="4191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2575" y="3932238"/>
                        <a:ext cx="2459038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626B74">
                                  <a:alpha val="50000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19"/>
          <p:cNvSpPr>
            <a:spLocks noChangeArrowheads="1"/>
          </p:cNvSpPr>
          <p:nvPr/>
        </p:nvSpPr>
        <p:spPr bwMode="auto">
          <a:xfrm>
            <a:off x="931863" y="2241550"/>
            <a:ext cx="13731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uz-Cyrl-UZ" altLang="zh-CN" i="1">
                <a:solidFill>
                  <a:srgbClr val="000066"/>
                </a:solidFill>
                <a:latin typeface="Times New Roman" pitchFamily="18" charset="0"/>
              </a:rPr>
              <a:t>Инвариант:</a:t>
            </a:r>
            <a:endParaRPr lang="ru-RU" i="1">
              <a:solidFill>
                <a:srgbClr val="000066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ChangeArrowheads="1"/>
          </p:cNvSpPr>
          <p:nvPr/>
        </p:nvSpPr>
        <p:spPr bwMode="auto">
          <a:xfrm>
            <a:off x="0" y="-639763"/>
            <a:ext cx="184150" cy="366713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7171" name="Rectangle 9"/>
          <p:cNvSpPr>
            <a:spLocks noChangeArrowheads="1"/>
          </p:cNvSpPr>
          <p:nvPr/>
        </p:nvSpPr>
        <p:spPr bwMode="auto">
          <a:xfrm>
            <a:off x="0" y="-639763"/>
            <a:ext cx="184150" cy="366713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0" y="-492125"/>
            <a:ext cx="184150" cy="366712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7173" name="Rectangle 7"/>
          <p:cNvSpPr>
            <a:spLocks noChangeArrowheads="1"/>
          </p:cNvSpPr>
          <p:nvPr/>
        </p:nvSpPr>
        <p:spPr bwMode="auto">
          <a:xfrm>
            <a:off x="0" y="-492125"/>
            <a:ext cx="184150" cy="366712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>
              <a:latin typeface="Arial" charset="0"/>
            </a:endParaRPr>
          </a:p>
        </p:txBody>
      </p:sp>
      <p:grpSp>
        <p:nvGrpSpPr>
          <p:cNvPr id="2" name="Группа 23"/>
          <p:cNvGrpSpPr/>
          <p:nvPr/>
        </p:nvGrpSpPr>
        <p:grpSpPr>
          <a:xfrm>
            <a:off x="285720" y="693042"/>
            <a:ext cx="8572560" cy="714380"/>
            <a:chOff x="0" y="979994"/>
            <a:chExt cx="8572560" cy="858558"/>
          </a:xfrm>
          <a:solidFill>
            <a:srgbClr val="C1FCA6"/>
          </a:solidFill>
          <a:scene3d>
            <a:camera prst="orthographicFront"/>
            <a:lightRig rig="flat" dir="t"/>
          </a:scene3d>
        </p:grpSpPr>
        <p:sp>
          <p:nvSpPr>
            <p:cNvPr id="28" name="Скругленный прямоугольник 27"/>
            <p:cNvSpPr/>
            <p:nvPr/>
          </p:nvSpPr>
          <p:spPr>
            <a:xfrm>
              <a:off x="0" y="979994"/>
              <a:ext cx="8572560" cy="858558"/>
            </a:xfrm>
            <a:prstGeom prst="roundRect">
              <a:avLst>
                <a:gd name="adj" fmla="val 10000"/>
              </a:avLst>
            </a:prstGeom>
            <a:ln w="6350">
              <a:solidFill>
                <a:srgbClr val="0070C0"/>
              </a:solidFill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29" name="Скругленный прямоугольник 4"/>
            <p:cNvSpPr/>
            <p:nvPr/>
          </p:nvSpPr>
          <p:spPr>
            <a:xfrm>
              <a:off x="25146" y="1005140"/>
              <a:ext cx="8522268" cy="808266"/>
            </a:xfrm>
            <a:prstGeom prst="rect">
              <a:avLst/>
            </a:prstGeom>
            <a:ln w="6350">
              <a:noFill/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60960" tIns="60960" rIns="60960" bIns="60960" spcCol="1270" anchor="ctr"/>
            <a:lstStyle/>
            <a:p>
              <a:pPr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uz-Cyrl-UZ" sz="1600" dirty="0"/>
                <a:t>                           </a:t>
              </a:r>
              <a:r>
                <a:rPr lang="en-US" sz="1600" dirty="0"/>
                <a:t>   	</a:t>
              </a:r>
              <a:r>
                <a:rPr lang="uz-Cyrl-UZ" sz="1600" b="1" i="1" dirty="0"/>
                <a:t>           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шартининг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бажарилиши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;</a:t>
              </a:r>
              <a:endParaRPr lang="ru-RU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3" name="Группа 29"/>
          <p:cNvGrpSpPr/>
          <p:nvPr/>
        </p:nvGrpSpPr>
        <p:grpSpPr>
          <a:xfrm>
            <a:off x="285720" y="1576829"/>
            <a:ext cx="8572560" cy="785818"/>
            <a:chOff x="0" y="2058441"/>
            <a:chExt cx="8572560" cy="796993"/>
          </a:xfrm>
          <a:solidFill>
            <a:srgbClr val="C1FCA6"/>
          </a:solidFill>
          <a:scene3d>
            <a:camera prst="orthographicFront"/>
            <a:lightRig rig="flat" dir="t"/>
          </a:scene3d>
        </p:grpSpPr>
        <p:sp>
          <p:nvSpPr>
            <p:cNvPr id="31" name="Скругленный прямоугольник 30"/>
            <p:cNvSpPr/>
            <p:nvPr/>
          </p:nvSpPr>
          <p:spPr>
            <a:xfrm>
              <a:off x="0" y="2058441"/>
              <a:ext cx="8572560" cy="796993"/>
            </a:xfrm>
            <a:prstGeom prst="roundRect">
              <a:avLst>
                <a:gd name="adj" fmla="val 10000"/>
              </a:avLst>
            </a:prstGeom>
            <a:ln w="6350">
              <a:solidFill>
                <a:srgbClr val="0070C0"/>
              </a:solidFill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32" name="Скругленный прямоугольник 4"/>
            <p:cNvSpPr/>
            <p:nvPr/>
          </p:nvSpPr>
          <p:spPr>
            <a:xfrm>
              <a:off x="23343" y="2081784"/>
              <a:ext cx="8525874" cy="750307"/>
            </a:xfrm>
            <a:prstGeom prst="rect">
              <a:avLst/>
            </a:prstGeom>
            <a:ln w="6350">
              <a:noFill/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68580" tIns="68580" rIns="68580" bIns="68580" spcCol="1270" anchor="ctr"/>
            <a:lstStyle/>
            <a:p>
              <a:pPr algn="just" defTabSz="8001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uz-Cyrl-UZ" i="1" dirty="0"/>
                <a:t>	</a:t>
              </a: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G</a:t>
              </a:r>
              <a:r>
                <a:rPr lang="ru-RU" sz="2000" i="1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ru-RU" sz="2000" i="1" dirty="0" err="1">
                  <a:latin typeface="Times New Roman" pitchFamily="18" charset="0"/>
                  <a:cs typeface="Times New Roman" pitchFamily="18" charset="0"/>
                </a:rPr>
                <a:t>х,у</a:t>
              </a:r>
              <a:r>
                <a:rPr lang="ru-RU" sz="2000" i="1" dirty="0">
                  <a:latin typeface="Times New Roman" pitchFamily="18" charset="0"/>
                  <a:cs typeface="Times New Roman" pitchFamily="18" charset="0"/>
                </a:rPr>
                <a:t>)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базавий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нуқтанинг                 эгри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чизиқга тегишли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бўлиши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;</a:t>
              </a:r>
              <a:endParaRPr lang="ru-RU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" name="Группа 35"/>
          <p:cNvGrpSpPr/>
          <p:nvPr/>
        </p:nvGrpSpPr>
        <p:grpSpPr>
          <a:xfrm>
            <a:off x="285720" y="2516189"/>
            <a:ext cx="8572560" cy="714382"/>
            <a:chOff x="0" y="1117564"/>
            <a:chExt cx="8794440" cy="954137"/>
          </a:xfrm>
          <a:scene3d>
            <a:camera prst="orthographicFront"/>
            <a:lightRig rig="flat" dir="t"/>
          </a:scene3d>
        </p:grpSpPr>
        <p:sp>
          <p:nvSpPr>
            <p:cNvPr id="37" name="Скругленный прямоугольник 36"/>
            <p:cNvSpPr/>
            <p:nvPr/>
          </p:nvSpPr>
          <p:spPr>
            <a:xfrm>
              <a:off x="0" y="1117564"/>
              <a:ext cx="8794440" cy="954137"/>
            </a:xfrm>
            <a:prstGeom prst="roundRect">
              <a:avLst>
                <a:gd name="adj" fmla="val 10000"/>
              </a:avLst>
            </a:prstGeom>
            <a:ln w="6350">
              <a:solidFill>
                <a:srgbClr val="0070C0"/>
              </a:solidFill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38" name="Скругленный прямоугольник 4"/>
            <p:cNvSpPr/>
            <p:nvPr/>
          </p:nvSpPr>
          <p:spPr>
            <a:xfrm>
              <a:off x="27946" y="1145510"/>
              <a:ext cx="8738548" cy="898245"/>
            </a:xfrm>
            <a:prstGeom prst="rect">
              <a:avLst/>
            </a:prstGeom>
            <a:ln w="6350">
              <a:noFill/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60960" tIns="60960" rIns="60960" bIns="60960" spcCol="1270" anchor="ctr"/>
            <a:lstStyle/>
            <a:p>
              <a:pPr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ru-RU" sz="1600" b="1" i="1" dirty="0"/>
                <a:t>	</a:t>
              </a:r>
              <a:r>
                <a:rPr lang="en-US" sz="1600" b="1" i="1" dirty="0"/>
                <a:t>   </a:t>
              </a: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G</a:t>
              </a:r>
              <a:r>
                <a:rPr lang="ru-RU" sz="2000" i="1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ru-RU" sz="2000" i="1" dirty="0" err="1">
                  <a:latin typeface="Times New Roman" pitchFamily="18" charset="0"/>
                  <a:cs typeface="Times New Roman" pitchFamily="18" charset="0"/>
                </a:rPr>
                <a:t>х,у</a:t>
              </a:r>
              <a:r>
                <a:rPr lang="ru-RU" sz="2000" i="1" dirty="0">
                  <a:latin typeface="Times New Roman" pitchFamily="18" charset="0"/>
                  <a:cs typeface="Times New Roman" pitchFamily="18" charset="0"/>
                </a:rPr>
                <a:t>) </a:t>
              </a: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базавий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нуқтанинг тартиби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  [</a:t>
              </a: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]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G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,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) = 0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эканлиги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;</a:t>
              </a:r>
              <a:endParaRPr lang="ru-RU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" name="Группа 38"/>
          <p:cNvGrpSpPr/>
          <p:nvPr/>
        </p:nvGrpSpPr>
        <p:grpSpPr>
          <a:xfrm>
            <a:off x="285720" y="3486158"/>
            <a:ext cx="8572560" cy="785819"/>
            <a:chOff x="0" y="2058441"/>
            <a:chExt cx="8572560" cy="796993"/>
          </a:xfrm>
          <a:scene3d>
            <a:camera prst="orthographicFront"/>
            <a:lightRig rig="flat" dir="t"/>
          </a:scene3d>
        </p:grpSpPr>
        <p:sp>
          <p:nvSpPr>
            <p:cNvPr id="40" name="Скругленный прямоугольник 39"/>
            <p:cNvSpPr/>
            <p:nvPr/>
          </p:nvSpPr>
          <p:spPr>
            <a:xfrm>
              <a:off x="0" y="2058441"/>
              <a:ext cx="8572560" cy="796993"/>
            </a:xfrm>
            <a:prstGeom prst="roundRect">
              <a:avLst>
                <a:gd name="adj" fmla="val 10000"/>
              </a:avLst>
            </a:prstGeom>
            <a:ln w="6350">
              <a:solidFill>
                <a:srgbClr val="0070C0"/>
              </a:solidFill>
              <a:prstDash val="sys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41" name="Скругленный прямоугольник 4"/>
            <p:cNvSpPr/>
            <p:nvPr/>
          </p:nvSpPr>
          <p:spPr>
            <a:xfrm>
              <a:off x="23343" y="2081784"/>
              <a:ext cx="8525874" cy="750307"/>
            </a:xfrm>
            <a:prstGeom prst="rect">
              <a:avLst/>
            </a:prstGeom>
            <a:ln w="6350">
              <a:noFill/>
              <a:prstDash val="sys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68580" tIns="68580" rIns="68580" bIns="68580" spcCol="1270" anchor="ctr"/>
            <a:lstStyle/>
            <a:p>
              <a:pPr marL="812800" indent="-812800" algn="just" defTabSz="8001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uz-Cyrl-UZ" i="1"/>
                <a:t>	</a:t>
              </a:r>
              <a:r>
                <a:rPr lang="ru-RU" sz="2000">
                  <a:latin typeface="Times New Roman" pitchFamily="18" charset="0"/>
                  <a:cs typeface="Times New Roman" pitchFamily="18" charset="0"/>
                </a:rPr>
                <a:t>Базавий нуқта тартибини ифодаловчи  </a:t>
              </a:r>
              <a:r>
                <a:rPr lang="en-US" sz="2000" i="1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ru-RU" sz="2000">
                  <a:latin typeface="Times New Roman" pitchFamily="18" charset="0"/>
                  <a:cs typeface="Times New Roman" pitchFamily="18" charset="0"/>
                </a:rPr>
                <a:t> туб сони учун,  </a:t>
              </a:r>
              <a:r>
                <a:rPr lang="en-US" sz="2000" i="1">
                  <a:latin typeface="Times New Roman" pitchFamily="18" charset="0"/>
                  <a:cs typeface="Times New Roman" pitchFamily="18" charset="0"/>
                </a:rPr>
                <a:t>q</a:t>
              </a:r>
              <a:r>
                <a:rPr lang="ru-RU" sz="2000" i="1">
                  <a:latin typeface="Times New Roman" pitchFamily="18" charset="0"/>
                  <a:cs typeface="Times New Roman" pitchFamily="18" charset="0"/>
                </a:rPr>
                <a:t>-1 </a:t>
              </a:r>
              <a:r>
                <a:rPr lang="ru-RU" sz="2000">
                  <a:latin typeface="Times New Roman" pitchFamily="18" charset="0"/>
                  <a:cs typeface="Times New Roman" pitchFamily="18" charset="0"/>
                </a:rPr>
                <a:t>мураккаб     соннинг битта катта туб кўпайтувчига эга бўлиши;</a:t>
              </a:r>
              <a:endParaRPr lang="ru-RU" sz="2000" b="1" i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6" name="Группа 41"/>
          <p:cNvGrpSpPr/>
          <p:nvPr/>
        </p:nvGrpSpPr>
        <p:grpSpPr>
          <a:xfrm>
            <a:off x="285720" y="4484703"/>
            <a:ext cx="8572560" cy="785818"/>
            <a:chOff x="0" y="2058441"/>
            <a:chExt cx="8572560" cy="796993"/>
          </a:xfrm>
          <a:scene3d>
            <a:camera prst="orthographicFront"/>
            <a:lightRig rig="flat" dir="t"/>
          </a:scene3d>
        </p:grpSpPr>
        <p:sp>
          <p:nvSpPr>
            <p:cNvPr id="43" name="Скругленный прямоугольник 42"/>
            <p:cNvSpPr/>
            <p:nvPr/>
          </p:nvSpPr>
          <p:spPr>
            <a:xfrm>
              <a:off x="0" y="2058441"/>
              <a:ext cx="8572560" cy="796993"/>
            </a:xfrm>
            <a:prstGeom prst="roundRect">
              <a:avLst>
                <a:gd name="adj" fmla="val 10000"/>
              </a:avLst>
            </a:prstGeom>
            <a:ln w="6350">
              <a:solidFill>
                <a:srgbClr val="0070C0"/>
              </a:solidFill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sp>
        <p:sp>
          <p:nvSpPr>
            <p:cNvPr id="44" name="Скругленный прямоугольник 4"/>
            <p:cNvSpPr/>
            <p:nvPr/>
          </p:nvSpPr>
          <p:spPr>
            <a:xfrm>
              <a:off x="23343" y="2081784"/>
              <a:ext cx="8525874" cy="750307"/>
            </a:xfrm>
            <a:prstGeom prst="rect">
              <a:avLst/>
            </a:prstGeom>
            <a:ln w="6350">
              <a:noFill/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68580" tIns="68580" rIns="68580" bIns="68580" spcCol="1270" anchor="ctr"/>
            <a:lstStyle/>
            <a:p>
              <a:pPr marL="812800" algn="just" defTabSz="8001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Берилган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000" i="1" dirty="0">
                  <a:latin typeface="Times New Roman" pitchFamily="18" charset="0"/>
                  <a:cs typeface="Times New Roman" pitchFamily="18" charset="0"/>
                </a:rPr>
                <a:t> а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ru-RU" sz="2000" i="1" dirty="0">
                  <a:latin typeface="Times New Roman" pitchFamily="18" charset="0"/>
                  <a:cs typeface="Times New Roman" pitchFamily="18" charset="0"/>
                </a:rPr>
                <a:t>в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ru-RU" sz="2000" i="1" dirty="0" err="1">
                  <a:latin typeface="Times New Roman" pitchFamily="18" charset="0"/>
                  <a:cs typeface="Times New Roman" pitchFamily="18" charset="0"/>
                </a:rPr>
                <a:t>р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параметрлари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учун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                  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  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ва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 </a:t>
              </a:r>
              <a:endParaRPr lang="uz-Cyrl-UZ" sz="2000" dirty="0">
                <a:latin typeface="Times New Roman" pitchFamily="18" charset="0"/>
                <a:cs typeface="Times New Roman" pitchFamily="18" charset="0"/>
              </a:endParaRPr>
            </a:p>
            <a:p>
              <a:pPr marL="812800" algn="just" defTabSz="8001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шартларни</a:t>
              </a:r>
              <a:r>
                <a:rPr lang="ru-RU" sz="2000" dirty="0"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ru-RU" sz="2000" dirty="0" err="1">
                  <a:latin typeface="Times New Roman" pitchFamily="18" charset="0"/>
                  <a:cs typeface="Times New Roman" pitchFamily="18" charset="0"/>
                </a:rPr>
                <a:t>бажаришлиги</a:t>
              </a:r>
              <a:endParaRPr lang="ru-RU" sz="2000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7179" name="Object 29"/>
          <p:cNvGraphicFramePr>
            <a:graphicFrameLocks noChangeAspect="1"/>
          </p:cNvGraphicFramePr>
          <p:nvPr/>
        </p:nvGraphicFramePr>
        <p:xfrm>
          <a:off x="1030288" y="873125"/>
          <a:ext cx="2882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Формула" r:id="rId3" imgW="1524000" imgH="228600" progId="Equation.3">
                  <p:embed/>
                </p:oleObj>
              </mc:Choice>
              <mc:Fallback>
                <p:oleObj name="Формула" r:id="rId3" imgW="1524000" imgH="228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873125"/>
                        <a:ext cx="2882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30"/>
          <p:cNvGraphicFramePr>
            <a:graphicFrameLocks noChangeAspect="1"/>
          </p:cNvGraphicFramePr>
          <p:nvPr/>
        </p:nvGraphicFramePr>
        <p:xfrm>
          <a:off x="3968750" y="1776413"/>
          <a:ext cx="9239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Формула" r:id="rId5" imgW="533169" imgH="241195" progId="Equation.3">
                  <p:embed/>
                </p:oleObj>
              </mc:Choice>
              <mc:Fallback>
                <p:oleObj name="Формула" r:id="rId5" imgW="533169" imgH="241195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1776413"/>
                        <a:ext cx="92392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33"/>
          <p:cNvGraphicFramePr>
            <a:graphicFrameLocks noChangeAspect="1"/>
          </p:cNvGraphicFramePr>
          <p:nvPr/>
        </p:nvGraphicFramePr>
        <p:xfrm>
          <a:off x="5357813" y="4530725"/>
          <a:ext cx="1214437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Формула" r:id="rId7" imgW="799753" imgH="203112" progId="Equation.3">
                  <p:embed/>
                </p:oleObj>
              </mc:Choice>
              <mc:Fallback>
                <p:oleObj name="Формула" r:id="rId7" imgW="799753" imgH="203112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4530725"/>
                        <a:ext cx="1214437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35"/>
          <p:cNvGraphicFramePr>
            <a:graphicFrameLocks noChangeAspect="1"/>
          </p:cNvGraphicFramePr>
          <p:nvPr/>
        </p:nvGraphicFramePr>
        <p:xfrm>
          <a:off x="7107238" y="4545013"/>
          <a:ext cx="885825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Формула" r:id="rId9" imgW="583947" imgH="203112" progId="Equation.3">
                  <p:embed/>
                </p:oleObj>
              </mc:Choice>
              <mc:Fallback>
                <p:oleObj name="Формула" r:id="rId9" imgW="583947" imgH="203112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7238" y="4545013"/>
                        <a:ext cx="885825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3" name="Заголовок 1"/>
          <p:cNvSpPr txBox="1">
            <a:spLocks/>
          </p:cNvSpPr>
          <p:nvPr/>
        </p:nvSpPr>
        <p:spPr bwMode="auto">
          <a:xfrm>
            <a:off x="0" y="7938"/>
            <a:ext cx="9144000" cy="466725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uz-Cyrl-UZ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ЭЭЧ параметрларига қўйилган умумий талаблар</a:t>
            </a:r>
            <a:endParaRPr lang="ru-RU" sz="2400" b="1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84" name="Picture 3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908050"/>
            <a:ext cx="3238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5" name="Picture 3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790700"/>
            <a:ext cx="3238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6" name="Picture 3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708275"/>
            <a:ext cx="3238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7" name="Picture 3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3681413"/>
            <a:ext cx="3238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8" name="Picture 3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4724400"/>
            <a:ext cx="3238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9" name="Rectangle 30"/>
          <p:cNvSpPr>
            <a:spLocks noChangeArrowheads="1"/>
          </p:cNvSpPr>
          <p:nvPr/>
        </p:nvSpPr>
        <p:spPr bwMode="auto">
          <a:xfrm>
            <a:off x="4156075" y="4905375"/>
            <a:ext cx="3875088" cy="30480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2000" i="1">
                <a:latin typeface="Times New Roman" pitchFamily="18" charset="0"/>
              </a:rPr>
              <a:t>J(E)=</a:t>
            </a:r>
            <a:r>
              <a:rPr lang="uz-Cyrl-UZ" sz="2000" i="1">
                <a:latin typeface="Times New Roman" pitchFamily="18" charset="0"/>
              </a:rPr>
              <a:t>(1728(4a</a:t>
            </a:r>
            <a:r>
              <a:rPr lang="uz-Cyrl-UZ" sz="2000" i="1" baseline="30000">
                <a:latin typeface="Times New Roman" pitchFamily="18" charset="0"/>
              </a:rPr>
              <a:t>3</a:t>
            </a:r>
            <a:r>
              <a:rPr lang="uz-Cyrl-UZ" sz="2000" i="1">
                <a:latin typeface="Times New Roman" pitchFamily="18" charset="0"/>
              </a:rPr>
              <a:t>/(4a</a:t>
            </a:r>
            <a:r>
              <a:rPr lang="uz-Cyrl-UZ" sz="2000" i="1" baseline="30000">
                <a:latin typeface="Times New Roman" pitchFamily="18" charset="0"/>
              </a:rPr>
              <a:t>3</a:t>
            </a:r>
            <a:r>
              <a:rPr lang="uz-Cyrl-UZ" sz="2000" i="1">
                <a:latin typeface="Times New Roman" pitchFamily="18" charset="0"/>
              </a:rPr>
              <a:t>+27b</a:t>
            </a:r>
            <a:r>
              <a:rPr lang="uz-Cyrl-UZ" sz="2000" i="1" baseline="30000">
                <a:latin typeface="Times New Roman" pitchFamily="18" charset="0"/>
              </a:rPr>
              <a:t>2</a:t>
            </a:r>
            <a:r>
              <a:rPr lang="uz-Cyrl-UZ" sz="2000" i="1">
                <a:latin typeface="Times New Roman" pitchFamily="18" charset="0"/>
              </a:rPr>
              <a:t>))</a:t>
            </a:r>
            <a:r>
              <a:rPr lang="en-US" sz="2000" i="1">
                <a:latin typeface="Times New Roman" pitchFamily="18" charset="0"/>
              </a:rPr>
              <a:t>)</a:t>
            </a:r>
            <a:r>
              <a:rPr lang="uz-Cyrl-UZ" sz="2000" i="1">
                <a:latin typeface="Times New Roman" pitchFamily="18" charset="0"/>
              </a:rPr>
              <a:t> mod p</a:t>
            </a:r>
            <a:endParaRPr lang="en-US" sz="2000" i="1">
              <a:latin typeface="Times New Roman" pitchFamily="18" charset="0"/>
            </a:endParaRPr>
          </a:p>
        </p:txBody>
      </p:sp>
      <p:grpSp>
        <p:nvGrpSpPr>
          <p:cNvPr id="7190" name="Group 26"/>
          <p:cNvGrpSpPr>
            <a:grpSpLocks/>
          </p:cNvGrpSpPr>
          <p:nvPr/>
        </p:nvGrpSpPr>
        <p:grpSpPr bwMode="auto">
          <a:xfrm>
            <a:off x="71438" y="6453188"/>
            <a:ext cx="9001125" cy="360362"/>
            <a:chOff x="45" y="4065"/>
            <a:chExt cx="5670" cy="227"/>
          </a:xfrm>
        </p:grpSpPr>
        <p:sp>
          <p:nvSpPr>
            <p:cNvPr id="7191" name="Line 16"/>
            <p:cNvSpPr>
              <a:spLocks noChangeShapeType="1"/>
            </p:cNvSpPr>
            <p:nvPr/>
          </p:nvSpPr>
          <p:spPr bwMode="auto">
            <a:xfrm>
              <a:off x="45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4358" y="4080"/>
              <a:ext cx="13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ru-RU" sz="1600" i="1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250825" y="509588"/>
            <a:ext cx="8642350" cy="4133850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buClr>
                <a:srgbClr val="800000"/>
              </a:buClr>
              <a:buFont typeface="Wingdings" pitchFamily="2" charset="2"/>
              <a:buChar char="v"/>
            </a:pPr>
            <a:r>
              <a:rPr lang="uz-Cyrl-UZ" altLang="zh-CN" sz="2400" i="1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lang="en-US" altLang="zh-CN" sz="2400" i="1">
                <a:solidFill>
                  <a:srgbClr val="800000"/>
                </a:solidFill>
                <a:latin typeface="Times New Roman" pitchFamily="18" charset="0"/>
                <a:ea typeface="宋体" charset="-122"/>
              </a:rPr>
              <a:t>F</a:t>
            </a:r>
            <a:r>
              <a:rPr lang="en-US" altLang="zh-CN" sz="2400" i="1" baseline="-25000">
                <a:solidFill>
                  <a:srgbClr val="800000"/>
                </a:solidFill>
                <a:latin typeface="Times New Roman" pitchFamily="18" charset="0"/>
                <a:ea typeface="宋体" charset="-122"/>
              </a:rPr>
              <a:t>p</a:t>
            </a:r>
            <a:r>
              <a:rPr lang="en-US" altLang="zh-CN" sz="2400" i="1">
                <a:solidFill>
                  <a:srgbClr val="000066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– майдонда умумий тенгламаси қуйидагича</a:t>
            </a:r>
          </a:p>
          <a:p>
            <a:pPr>
              <a:buClr>
                <a:srgbClr val="800000"/>
              </a:buClr>
              <a:buFont typeface="Wingdings" pitchFamily="2" charset="2"/>
              <a:buChar char="v"/>
            </a:pPr>
            <a:endParaRPr lang="uz-Cyrl-UZ" altLang="zh-CN" sz="2400" i="1">
              <a:solidFill>
                <a:srgbClr val="000066"/>
              </a:solidFill>
              <a:latin typeface="Times New Roman" pitchFamily="18" charset="0"/>
            </a:endParaRPr>
          </a:p>
          <a:p>
            <a:pPr>
              <a:buClr>
                <a:srgbClr val="800000"/>
              </a:buClr>
              <a:buFont typeface="Wingdings" pitchFamily="2" charset="2"/>
              <a:buNone/>
            </a:pP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 </a:t>
            </a:r>
          </a:p>
          <a:p>
            <a:pPr>
              <a:buClr>
                <a:srgbClr val="800000"/>
              </a:buClr>
              <a:buFont typeface="Wingdings" pitchFamily="2" charset="2"/>
              <a:buNone/>
            </a:pP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бўлган </a:t>
            </a:r>
            <a:r>
              <a:rPr lang="uz-Cyrl-UZ" altLang="zh-CN" sz="2400" i="1">
                <a:solidFill>
                  <a:srgbClr val="800000"/>
                </a:solidFill>
                <a:latin typeface="Times New Roman" pitchFamily="18" charset="0"/>
              </a:rPr>
              <a:t>Е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 эл</a:t>
            </a:r>
            <a:r>
              <a:rPr lang="ru-RU" altLang="zh-CN" sz="2400" i="1">
                <a:solidFill>
                  <a:srgbClr val="000066"/>
                </a:solidFill>
                <a:latin typeface="Times New Roman" pitchFamily="18" charset="0"/>
              </a:rPr>
              <a:t>л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иптик эгри чизиқ аниқланган бўлсин.</a:t>
            </a:r>
            <a:r>
              <a:rPr lang="ru-RU" altLang="zh-CN" sz="2400" i="1">
                <a:solidFill>
                  <a:srgbClr val="000066"/>
                </a:solidFill>
                <a:latin typeface="Times New Roman" pitchFamily="18" charset="0"/>
              </a:rPr>
              <a:t> 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/>
            </a:r>
            <a:b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</a:br>
            <a:endParaRPr lang="uz-Cyrl-UZ" altLang="zh-CN" sz="2400" i="1">
              <a:solidFill>
                <a:srgbClr val="000066"/>
              </a:solidFill>
              <a:latin typeface="Times New Roman" pitchFamily="18" charset="0"/>
            </a:endParaRPr>
          </a:p>
          <a:p>
            <a:pPr>
              <a:buClr>
                <a:srgbClr val="800000"/>
              </a:buClr>
              <a:buFont typeface="Wingdings" pitchFamily="2" charset="2"/>
              <a:buChar char="v"/>
            </a:pP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ЭЭЧга тегишли ва тартиби		         шартни қаноат-лартирувчи тасодифий                   	</a:t>
            </a:r>
            <a:r>
              <a:rPr lang="en-US" altLang="zh-CN" sz="2400" i="1">
                <a:solidFill>
                  <a:srgbClr val="000066"/>
                </a:solidFill>
                <a:latin typeface="Times New Roman" pitchFamily="18" charset="0"/>
                <a:ea typeface="宋体" charset="-122"/>
              </a:rPr>
              <a:t>    </a:t>
            </a:r>
            <a:r>
              <a:rPr lang="ru-RU" altLang="zh-CN" sz="2400" i="1">
                <a:solidFill>
                  <a:srgbClr val="000066"/>
                </a:solidFill>
                <a:latin typeface="Times New Roman" pitchFamily="18" charset="0"/>
              </a:rPr>
              <a:t>нуқта олинган.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 </a:t>
            </a:r>
            <a:b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</a:b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/>
            </a:r>
            <a:b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</a:b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 - </a:t>
            </a:r>
            <a:r>
              <a:rPr lang="uz-Cyrl-UZ" altLang="zh-CN" sz="2400" i="1">
                <a:latin typeface="Times New Roman" pitchFamily="18" charset="0"/>
              </a:rPr>
              <a:t>Ёпиқ калит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 (</a:t>
            </a:r>
            <a:r>
              <a:rPr lang="uz-Cyrl-UZ" altLang="zh-CN" sz="2400" i="1" u="sng">
                <a:solidFill>
                  <a:srgbClr val="000066"/>
                </a:solidFill>
                <a:latin typeface="Times New Roman" pitchFamily="18" charset="0"/>
              </a:rPr>
              <a:t>имзо қўйиш калити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) – </a:t>
            </a:r>
            <a:r>
              <a:rPr lang="uz-Cyrl-UZ" altLang="zh-CN" sz="2400" i="1">
                <a:solidFill>
                  <a:srgbClr val="B83426"/>
                </a:solidFill>
                <a:latin typeface="Times New Roman" pitchFamily="18" charset="0"/>
              </a:rPr>
              <a:t>0&lt;d&lt;</a:t>
            </a:r>
            <a:r>
              <a:rPr lang="en-US" altLang="zh-CN" sz="2400" i="1">
                <a:solidFill>
                  <a:srgbClr val="B83426"/>
                </a:solidFill>
                <a:latin typeface="Times New Roman" pitchFamily="18" charset="0"/>
                <a:ea typeface="宋体" charset="-122"/>
              </a:rPr>
              <a:t>q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 оралиқдан тасоди</a:t>
            </a:r>
            <a:r>
              <a:rPr lang="ru-RU" altLang="zh-CN" sz="2400" i="1">
                <a:solidFill>
                  <a:srgbClr val="000066"/>
                </a:solidFill>
                <a:latin typeface="Times New Roman" pitchFamily="18" charset="0"/>
              </a:rPr>
              <a:t>-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фий олинган </a:t>
            </a:r>
            <a:r>
              <a:rPr lang="uz-Cyrl-UZ" altLang="zh-CN" sz="2400" i="1">
                <a:solidFill>
                  <a:srgbClr val="B83426"/>
                </a:solidFill>
                <a:latin typeface="Times New Roman" pitchFamily="18" charset="0"/>
              </a:rPr>
              <a:t>d 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сони</a:t>
            </a:r>
            <a:r>
              <a:rPr lang="en-US" altLang="zh-CN" sz="2400" i="1">
                <a:solidFill>
                  <a:srgbClr val="000066"/>
                </a:solidFill>
                <a:latin typeface="Times New Roman" pitchFamily="18" charset="0"/>
                <a:ea typeface="宋体" charset="-122"/>
              </a:rPr>
              <a:t>;</a:t>
            </a:r>
            <a:r>
              <a:rPr lang="ru-RU" altLang="zh-CN" sz="2400" i="1">
                <a:solidFill>
                  <a:srgbClr val="000066"/>
                </a:solidFill>
                <a:latin typeface="Times New Roman" pitchFamily="18" charset="0"/>
              </a:rPr>
              <a:t/>
            </a:r>
            <a:br>
              <a:rPr lang="ru-RU" altLang="zh-CN" sz="2400" i="1">
                <a:solidFill>
                  <a:srgbClr val="000066"/>
                </a:solidFill>
                <a:latin typeface="Times New Roman" pitchFamily="18" charset="0"/>
              </a:rPr>
            </a:b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 - </a:t>
            </a:r>
            <a:r>
              <a:rPr lang="ru-RU" altLang="zh-CN" sz="2400" i="1">
                <a:latin typeface="Times New Roman" pitchFamily="18" charset="0"/>
              </a:rPr>
              <a:t>О</a:t>
            </a:r>
            <a:r>
              <a:rPr lang="uz-Cyrl-UZ" altLang="zh-CN" sz="2400" i="1">
                <a:latin typeface="Times New Roman" pitchFamily="18" charset="0"/>
              </a:rPr>
              <a:t>чиқ калит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 (</a:t>
            </a:r>
            <a:r>
              <a:rPr lang="ru-RU" altLang="zh-CN" sz="2400" i="1" u="sng">
                <a:solidFill>
                  <a:srgbClr val="000066"/>
                </a:solidFill>
                <a:latin typeface="Times New Roman" pitchFamily="18" charset="0"/>
              </a:rPr>
              <a:t>имзони текшириш калити</a:t>
            </a:r>
            <a:r>
              <a:rPr lang="uz-Cyrl-UZ" altLang="zh-CN" sz="2400" i="1">
                <a:solidFill>
                  <a:srgbClr val="000066"/>
                </a:solidFill>
                <a:latin typeface="Times New Roman" pitchFamily="18" charset="0"/>
              </a:rPr>
              <a:t>) –  </a:t>
            </a:r>
            <a:r>
              <a:rPr lang="en-US" altLang="zh-CN" sz="24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Q</a:t>
            </a:r>
            <a:r>
              <a:rPr lang="ru-RU" altLang="zh-CN" sz="2400" i="1">
                <a:solidFill>
                  <a:schemeClr val="accent2"/>
                </a:solidFill>
                <a:latin typeface="Times New Roman" pitchFamily="18" charset="0"/>
              </a:rPr>
              <a:t>=[</a:t>
            </a:r>
            <a:r>
              <a:rPr lang="en-US" altLang="zh-CN" sz="24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lang="ru-RU" altLang="zh-CN" sz="2400" i="1">
                <a:solidFill>
                  <a:schemeClr val="accent2"/>
                </a:solidFill>
                <a:latin typeface="Times New Roman" pitchFamily="18" charset="0"/>
              </a:rPr>
              <a:t>]</a:t>
            </a:r>
            <a:r>
              <a:rPr lang="en-US" altLang="zh-CN" sz="24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G;</a:t>
            </a:r>
            <a:endParaRPr lang="uz-Cyrl-UZ" sz="2400" i="1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EC DSA 2000 </a:t>
            </a:r>
            <a:r>
              <a:rPr lang="ru-RU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ЭРИ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алгоритми</a:t>
            </a:r>
            <a:endParaRPr lang="ru-RU" sz="22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graphicFrame>
        <p:nvGraphicFramePr>
          <p:cNvPr id="8196" name="Object 8"/>
          <p:cNvGraphicFramePr>
            <a:graphicFrameLocks noChangeAspect="1"/>
          </p:cNvGraphicFramePr>
          <p:nvPr/>
        </p:nvGraphicFramePr>
        <p:xfrm>
          <a:off x="3021013" y="1019175"/>
          <a:ext cx="305276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Формула" r:id="rId3" imgW="1498600" imgH="228600" progId="Equation.3">
                  <p:embed/>
                </p:oleObj>
              </mc:Choice>
              <mc:Fallback>
                <p:oleObj name="Формула" r:id="rId3" imgW="14986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1019175"/>
                        <a:ext cx="3052762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9"/>
          <p:cNvGraphicFramePr>
            <a:graphicFrameLocks noChangeAspect="1"/>
          </p:cNvGraphicFramePr>
          <p:nvPr/>
        </p:nvGraphicFramePr>
        <p:xfrm>
          <a:off x="3468688" y="2744788"/>
          <a:ext cx="17510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Формула" r:id="rId5" imgW="1016000" imgH="241300" progId="Equation.3">
                  <p:embed/>
                </p:oleObj>
              </mc:Choice>
              <mc:Fallback>
                <p:oleObj name="Формула" r:id="rId5" imgW="10160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688" y="2744788"/>
                        <a:ext cx="17510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8" name="Group 10"/>
          <p:cNvGrpSpPr>
            <a:grpSpLocks/>
          </p:cNvGrpSpPr>
          <p:nvPr/>
        </p:nvGrpSpPr>
        <p:grpSpPr bwMode="auto">
          <a:xfrm>
            <a:off x="71438" y="6453188"/>
            <a:ext cx="9001125" cy="360362"/>
            <a:chOff x="45" y="4065"/>
            <a:chExt cx="5670" cy="227"/>
          </a:xfrm>
        </p:grpSpPr>
        <p:sp>
          <p:nvSpPr>
            <p:cNvPr id="8207" name="Line 16"/>
            <p:cNvSpPr>
              <a:spLocks noChangeShapeType="1"/>
            </p:cNvSpPr>
            <p:nvPr/>
          </p:nvSpPr>
          <p:spPr bwMode="auto">
            <a:xfrm>
              <a:off x="45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4358" y="4080"/>
              <a:ext cx="13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ru-RU" sz="1600" i="1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</a:p>
          </p:txBody>
        </p:sp>
      </p:grpSp>
      <p:sp>
        <p:nvSpPr>
          <p:cNvPr id="8199" name="Rectangle 5"/>
          <p:cNvSpPr>
            <a:spLocks noChangeArrowheads="1"/>
          </p:cNvSpPr>
          <p:nvPr/>
        </p:nvSpPr>
        <p:spPr bwMode="auto">
          <a:xfrm>
            <a:off x="250825" y="4602163"/>
            <a:ext cx="8642350" cy="1635125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buClr>
                <a:srgbClr val="800000"/>
              </a:buClr>
              <a:buFont typeface="Wingdings" pitchFamily="2" charset="2"/>
              <a:buChar char="v"/>
            </a:pPr>
            <a:endParaRPr lang="uz-Cyrl-UZ" sz="2400" i="1">
              <a:solidFill>
                <a:srgbClr val="000066"/>
              </a:solidFill>
              <a:latin typeface="Times New Roman" pitchFamily="18" charset="0"/>
            </a:endParaRPr>
          </a:p>
        </p:txBody>
      </p:sp>
      <p:sp>
        <p:nvSpPr>
          <p:cNvPr id="8200" name="Rectangle 29"/>
          <p:cNvSpPr>
            <a:spLocks noChangeArrowheads="1"/>
          </p:cNvSpPr>
          <p:nvPr/>
        </p:nvSpPr>
        <p:spPr bwMode="auto">
          <a:xfrm>
            <a:off x="2124075" y="5267325"/>
            <a:ext cx="228441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9900" indent="-469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000" b="1" i="1">
                <a:solidFill>
                  <a:srgbClr val="000066"/>
                </a:solidFill>
                <a:ea typeface="宋体" charset="-122"/>
              </a:rPr>
              <a:t>y = g</a:t>
            </a:r>
            <a:r>
              <a:rPr lang="en-US" altLang="zh-CN" sz="2000" b="1" i="1" baseline="30000">
                <a:solidFill>
                  <a:srgbClr val="000066"/>
                </a:solidFill>
                <a:ea typeface="宋体" charset="-122"/>
              </a:rPr>
              <a:t>x</a:t>
            </a:r>
            <a:r>
              <a:rPr lang="en-US" altLang="zh-CN" sz="2000" b="1" i="1">
                <a:solidFill>
                  <a:srgbClr val="000066"/>
                </a:solidFill>
                <a:ea typeface="宋体" charset="-122"/>
              </a:rPr>
              <a:t> (mod p)</a:t>
            </a:r>
            <a:endParaRPr lang="ru-RU" sz="2000" b="1" i="1">
              <a:solidFill>
                <a:srgbClr val="000066"/>
              </a:solidFill>
            </a:endParaRPr>
          </a:p>
        </p:txBody>
      </p:sp>
      <p:sp>
        <p:nvSpPr>
          <p:cNvPr id="8201" name="Rectangle 30"/>
          <p:cNvSpPr>
            <a:spLocks noChangeArrowheads="1"/>
          </p:cNvSpPr>
          <p:nvPr/>
        </p:nvSpPr>
        <p:spPr bwMode="auto">
          <a:xfrm>
            <a:off x="5164138" y="5251450"/>
            <a:ext cx="2009775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69900" indent="-469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100" b="1" i="1">
                <a:solidFill>
                  <a:srgbClr val="000066"/>
                </a:solidFill>
                <a:ea typeface="宋体" charset="-122"/>
              </a:rPr>
              <a:t>Q = [x] G</a:t>
            </a:r>
            <a:r>
              <a:rPr lang="ru-RU" altLang="zh-CN" sz="2100" b="1" i="1">
                <a:solidFill>
                  <a:srgbClr val="000066"/>
                </a:solidFill>
              </a:rPr>
              <a:t/>
            </a:r>
            <a:br>
              <a:rPr lang="ru-RU" altLang="zh-CN" sz="2100" b="1" i="1">
                <a:solidFill>
                  <a:srgbClr val="000066"/>
                </a:solidFill>
              </a:rPr>
            </a:br>
            <a:endParaRPr lang="ru-RU" sz="2100" b="1" i="1">
              <a:solidFill>
                <a:srgbClr val="000066"/>
              </a:solidFill>
            </a:endParaRPr>
          </a:p>
        </p:txBody>
      </p:sp>
      <p:sp>
        <p:nvSpPr>
          <p:cNvPr id="6175" name="Arc 31"/>
          <p:cNvSpPr>
            <a:spLocks/>
          </p:cNvSpPr>
          <p:nvPr/>
        </p:nvSpPr>
        <p:spPr bwMode="auto">
          <a:xfrm rot="-139657">
            <a:off x="2297113" y="4799013"/>
            <a:ext cx="3092450" cy="781050"/>
          </a:xfrm>
          <a:custGeom>
            <a:avLst/>
            <a:gdLst>
              <a:gd name="G0" fmla="+- 19621 0 0"/>
              <a:gd name="G1" fmla="+- 21600 0 0"/>
              <a:gd name="G2" fmla="+- 21600 0 0"/>
              <a:gd name="T0" fmla="*/ 0 w 40678"/>
              <a:gd name="T1" fmla="*/ 12569 h 21600"/>
              <a:gd name="T2" fmla="*/ 40678 w 40678"/>
              <a:gd name="T3" fmla="*/ 16785 h 21600"/>
              <a:gd name="T4" fmla="*/ 19621 w 4067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678" h="21600" fill="none" extrusionOk="0">
                <a:moveTo>
                  <a:pt x="-1" y="12568"/>
                </a:moveTo>
                <a:cubicBezTo>
                  <a:pt x="3525" y="4908"/>
                  <a:pt x="11187" y="-1"/>
                  <a:pt x="19621" y="0"/>
                </a:cubicBezTo>
                <a:cubicBezTo>
                  <a:pt x="29695" y="0"/>
                  <a:pt x="38431" y="6964"/>
                  <a:pt x="40677" y="16785"/>
                </a:cubicBezTo>
              </a:path>
              <a:path w="40678" h="21600" stroke="0" extrusionOk="0">
                <a:moveTo>
                  <a:pt x="-1" y="12568"/>
                </a:moveTo>
                <a:cubicBezTo>
                  <a:pt x="3525" y="4908"/>
                  <a:pt x="11187" y="-1"/>
                  <a:pt x="19621" y="0"/>
                </a:cubicBezTo>
                <a:cubicBezTo>
                  <a:pt x="29695" y="0"/>
                  <a:pt x="38431" y="6964"/>
                  <a:pt x="40677" y="16785"/>
                </a:cubicBezTo>
                <a:lnTo>
                  <a:pt x="19621" y="2160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endParaRPr lang="ru-RU">
              <a:latin typeface="Arial" pitchFamily="34" charset="0"/>
            </a:endParaRPr>
          </a:p>
        </p:txBody>
      </p:sp>
      <p:sp>
        <p:nvSpPr>
          <p:cNvPr id="6176" name="Arc 32"/>
          <p:cNvSpPr>
            <a:spLocks/>
          </p:cNvSpPr>
          <p:nvPr/>
        </p:nvSpPr>
        <p:spPr bwMode="auto">
          <a:xfrm rot="21460343" flipV="1">
            <a:off x="2825750" y="5300663"/>
            <a:ext cx="3684588" cy="796925"/>
          </a:xfrm>
          <a:custGeom>
            <a:avLst/>
            <a:gdLst>
              <a:gd name="T0" fmla="*/ 0 w 37810"/>
              <a:gd name="T1" fmla="*/ 2147483647 h 21600"/>
              <a:gd name="T2" fmla="*/ 2147483647 w 37810"/>
              <a:gd name="T3" fmla="*/ 2147483647 h 21600"/>
              <a:gd name="T4" fmla="*/ 2147483647 w 37810"/>
              <a:gd name="T5" fmla="*/ 2147483647 h 21600"/>
              <a:gd name="T6" fmla="*/ 0 60000 65536"/>
              <a:gd name="T7" fmla="*/ 0 60000 65536"/>
              <a:gd name="T8" fmla="*/ 0 60000 65536"/>
              <a:gd name="T9" fmla="*/ 0 w 37810"/>
              <a:gd name="T10" fmla="*/ 0 h 21600"/>
              <a:gd name="T11" fmla="*/ 37810 w 3781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810" h="21600" fill="none" extrusionOk="0">
                <a:moveTo>
                  <a:pt x="-1" y="12060"/>
                </a:moveTo>
                <a:cubicBezTo>
                  <a:pt x="3634" y="4676"/>
                  <a:pt x="11149" y="-1"/>
                  <a:pt x="19379" y="0"/>
                </a:cubicBezTo>
                <a:cubicBezTo>
                  <a:pt x="26904" y="0"/>
                  <a:pt x="33886" y="3916"/>
                  <a:pt x="37810" y="10337"/>
                </a:cubicBezTo>
              </a:path>
              <a:path w="37810" h="21600" stroke="0" extrusionOk="0">
                <a:moveTo>
                  <a:pt x="-1" y="12060"/>
                </a:moveTo>
                <a:cubicBezTo>
                  <a:pt x="3634" y="4676"/>
                  <a:pt x="11149" y="-1"/>
                  <a:pt x="19379" y="0"/>
                </a:cubicBezTo>
                <a:cubicBezTo>
                  <a:pt x="26904" y="0"/>
                  <a:pt x="33886" y="3916"/>
                  <a:pt x="37810" y="10337"/>
                </a:cubicBezTo>
                <a:lnTo>
                  <a:pt x="19379" y="21600"/>
                </a:lnTo>
                <a:lnTo>
                  <a:pt x="-1" y="12060"/>
                </a:lnTo>
                <a:close/>
              </a:path>
            </a:pathLst>
          </a:custGeom>
          <a:noFill/>
          <a:ln w="19050">
            <a:solidFill>
              <a:srgbClr val="0000FF"/>
            </a:solidFill>
            <a:round/>
            <a:headEnd type="oval" w="med" len="med"/>
            <a:tailEnd type="triangle" w="med" len="med"/>
          </a:ln>
          <a:effectLst>
            <a:prstShdw prst="shdw17" dist="17961" dir="2700000">
              <a:srgbClr val="0000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wrap="none" anchor="ctr"/>
          <a:lstStyle/>
          <a:p>
            <a:endParaRPr lang="uz-Cyrl-UZ"/>
          </a:p>
        </p:txBody>
      </p:sp>
      <p:sp>
        <p:nvSpPr>
          <p:cNvPr id="6177" name="Arc 33"/>
          <p:cNvSpPr>
            <a:spLocks/>
          </p:cNvSpPr>
          <p:nvPr/>
        </p:nvSpPr>
        <p:spPr bwMode="auto">
          <a:xfrm rot="-139657">
            <a:off x="3019425" y="4810125"/>
            <a:ext cx="3087688" cy="781050"/>
          </a:xfrm>
          <a:custGeom>
            <a:avLst/>
            <a:gdLst>
              <a:gd name="T0" fmla="*/ 0 w 40618"/>
              <a:gd name="T1" fmla="*/ 2147483647 h 21600"/>
              <a:gd name="T2" fmla="*/ 2147483647 w 40618"/>
              <a:gd name="T3" fmla="*/ 2147483647 h 21600"/>
              <a:gd name="T4" fmla="*/ 2147483647 w 40618"/>
              <a:gd name="T5" fmla="*/ 2147483647 h 21600"/>
              <a:gd name="T6" fmla="*/ 0 60000 65536"/>
              <a:gd name="T7" fmla="*/ 0 60000 65536"/>
              <a:gd name="T8" fmla="*/ 0 60000 65536"/>
              <a:gd name="T9" fmla="*/ 0 w 40618"/>
              <a:gd name="T10" fmla="*/ 0 h 21600"/>
              <a:gd name="T11" fmla="*/ 40618 w 4061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618" h="21600" fill="none" extrusionOk="0">
                <a:moveTo>
                  <a:pt x="0" y="12438"/>
                </a:moveTo>
                <a:cubicBezTo>
                  <a:pt x="3555" y="4848"/>
                  <a:pt x="11179" y="-1"/>
                  <a:pt x="19561" y="0"/>
                </a:cubicBezTo>
                <a:cubicBezTo>
                  <a:pt x="29635" y="0"/>
                  <a:pt x="38371" y="6964"/>
                  <a:pt x="40617" y="16785"/>
                </a:cubicBezTo>
              </a:path>
              <a:path w="40618" h="21600" stroke="0" extrusionOk="0">
                <a:moveTo>
                  <a:pt x="0" y="12438"/>
                </a:moveTo>
                <a:cubicBezTo>
                  <a:pt x="3555" y="4848"/>
                  <a:pt x="11179" y="-1"/>
                  <a:pt x="19561" y="0"/>
                </a:cubicBezTo>
                <a:cubicBezTo>
                  <a:pt x="29635" y="0"/>
                  <a:pt x="38371" y="6964"/>
                  <a:pt x="40617" y="16785"/>
                </a:cubicBezTo>
                <a:lnTo>
                  <a:pt x="19561" y="21600"/>
                </a:lnTo>
                <a:lnTo>
                  <a:pt x="0" y="12438"/>
                </a:lnTo>
                <a:close/>
              </a:path>
            </a:pathLst>
          </a:custGeom>
          <a:noFill/>
          <a:ln w="19050">
            <a:solidFill>
              <a:srgbClr val="FF6600"/>
            </a:solidFill>
            <a:round/>
            <a:headEnd type="diamond" w="med" len="med"/>
            <a:tailEnd type="triangle" w="med" len="med"/>
          </a:ln>
          <a:effectLst>
            <a:prstShdw prst="shdw17" dist="17961" dir="2700000">
              <a:srgbClr val="993D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6179" name="Rectangle 35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8206" name="Object 34"/>
          <p:cNvGraphicFramePr>
            <a:graphicFrameLocks noChangeAspect="1"/>
          </p:cNvGraphicFramePr>
          <p:nvPr/>
        </p:nvGraphicFramePr>
        <p:xfrm>
          <a:off x="4489450" y="2311400"/>
          <a:ext cx="19907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Формула" r:id="rId7" imgW="1180588" imgH="253890" progId="Equation.3">
                  <p:embed/>
                </p:oleObj>
              </mc:Choice>
              <mc:Fallback>
                <p:oleObj name="Формула" r:id="rId7" imgW="1180588" imgH="25389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450" y="2311400"/>
                        <a:ext cx="19907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6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10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6" grpId="0" animBg="1"/>
      <p:bldP spid="617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ChangeArrowheads="1"/>
          </p:cNvSpPr>
          <p:nvPr/>
        </p:nvSpPr>
        <p:spPr bwMode="auto">
          <a:xfrm>
            <a:off x="250825" y="549275"/>
            <a:ext cx="8642350" cy="5724525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180975" lvl="1" indent="-1588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endParaRPr lang="uz-Cyrl-UZ" sz="2000">
              <a:latin typeface="Times New Roman" pitchFamily="18" charset="0"/>
            </a:endParaRPr>
          </a:p>
        </p:txBody>
      </p:sp>
      <p:grpSp>
        <p:nvGrpSpPr>
          <p:cNvPr id="9219" name="Group 19"/>
          <p:cNvGrpSpPr>
            <a:grpSpLocks/>
          </p:cNvGrpSpPr>
          <p:nvPr/>
        </p:nvGrpSpPr>
        <p:grpSpPr bwMode="auto">
          <a:xfrm>
            <a:off x="71438" y="6453188"/>
            <a:ext cx="9001125" cy="360362"/>
            <a:chOff x="45" y="4065"/>
            <a:chExt cx="5670" cy="227"/>
          </a:xfrm>
        </p:grpSpPr>
        <p:sp>
          <p:nvSpPr>
            <p:cNvPr id="9224" name="Line 16"/>
            <p:cNvSpPr>
              <a:spLocks noChangeShapeType="1"/>
            </p:cNvSpPr>
            <p:nvPr/>
          </p:nvSpPr>
          <p:spPr bwMode="auto">
            <a:xfrm>
              <a:off x="45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4358" y="4080"/>
              <a:ext cx="13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ru-RU" sz="1600" i="1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</a:p>
          </p:txBody>
        </p:sp>
      </p:grpSp>
      <p:sp>
        <p:nvSpPr>
          <p:cNvPr id="7200" name="Rectangle 32"/>
          <p:cNvSpPr>
            <a:spLocks noChangeArrowheads="1"/>
          </p:cNvSpPr>
          <p:nvPr/>
        </p:nvSpPr>
        <p:spPr bwMode="auto">
          <a:xfrm>
            <a:off x="468313" y="836613"/>
            <a:ext cx="8351837" cy="485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tabLst>
                <a:tab pos="355600" algn="l"/>
              </a:tabLst>
              <a:defRPr/>
            </a:pPr>
            <a:r>
              <a:rPr lang="uz-Cyrl-UZ" altLang="zh-CN" sz="2600">
                <a:latin typeface="Times New Roman" pitchFamily="18" charset="0"/>
              </a:rPr>
              <a:t> </a:t>
            </a:r>
            <a:endParaRPr lang="en-US" altLang="zh-CN" sz="2600">
              <a:latin typeface="Times New Roman" pitchFamily="18" charset="0"/>
              <a:ea typeface="宋体" charset="-122"/>
            </a:endParaRPr>
          </a:p>
          <a:p>
            <a:pPr marL="342900" indent="-342900">
              <a:lnSpc>
                <a:spcPct val="120000"/>
              </a:lnSpc>
              <a:tabLst>
                <a:tab pos="355600" algn="l"/>
              </a:tabLst>
              <a:defRPr/>
            </a:pPr>
            <a:r>
              <a:rPr lang="uz-Cyrl-UZ" altLang="zh-CN" sz="2600" i="1">
                <a:latin typeface="Times New Roman" pitchFamily="18" charset="0"/>
              </a:rPr>
              <a:t>	</a:t>
            </a: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1.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0&lt;k&lt;q </a:t>
            </a:r>
            <a:r>
              <a:rPr lang="ru-RU" altLang="zh-CN" sz="2600">
                <a:latin typeface="Times New Roman" pitchFamily="18" charset="0"/>
              </a:rPr>
              <a:t>орали</a:t>
            </a:r>
            <a:r>
              <a:rPr lang="uz-Cyrl-UZ" altLang="zh-CN" sz="2600">
                <a:latin typeface="Times New Roman" pitchFamily="18" charset="0"/>
              </a:rPr>
              <a:t>қ</a:t>
            </a:r>
            <a:r>
              <a:rPr lang="ru-RU" altLang="zh-CN" sz="2600">
                <a:latin typeface="Times New Roman" pitchFamily="18" charset="0"/>
              </a:rPr>
              <a:t>дан </a:t>
            </a:r>
            <a:r>
              <a:rPr lang="uz-Cyrl-UZ" altLang="zh-CN" sz="2600">
                <a:latin typeface="Times New Roman" pitchFamily="18" charset="0"/>
              </a:rPr>
              <a:t>тасодифий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k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сони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танлансин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;</a:t>
            </a:r>
            <a:r>
              <a:rPr lang="uz-Cyrl-UZ" altLang="zh-CN" sz="2600" i="1">
                <a:latin typeface="Times New Roman" pitchFamily="18" charset="0"/>
              </a:rPr>
              <a:t>  </a:t>
            </a:r>
            <a:r>
              <a:rPr lang="uz-Cyrl-UZ" altLang="zh-CN" sz="2600">
                <a:latin typeface="Times New Roman" pitchFamily="18" charset="0"/>
              </a:rPr>
              <a:t> </a:t>
            </a:r>
            <a:r>
              <a:rPr lang="uz-Cyrl-UZ" altLang="zh-CN" sz="2600" i="1">
                <a:latin typeface="Times New Roman" pitchFamily="18" charset="0"/>
              </a:rPr>
              <a:t/>
            </a:r>
            <a:br>
              <a:rPr lang="uz-Cyrl-UZ" altLang="zh-CN" sz="2600" i="1">
                <a:latin typeface="Times New Roman" pitchFamily="18" charset="0"/>
              </a:rPr>
            </a:b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2.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ru-RU" altLang="zh-CN" sz="2600" i="1">
                <a:latin typeface="Times New Roman" pitchFamily="18" charset="0"/>
              </a:rPr>
              <a:t>(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x</a:t>
            </a:r>
            <a:r>
              <a:rPr lang="ru-RU" altLang="zh-CN" sz="2600" i="1">
                <a:latin typeface="Times New Roman" pitchFamily="18" charset="0"/>
              </a:rPr>
              <a:t>1,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y</a:t>
            </a:r>
            <a:r>
              <a:rPr lang="ru-RU" altLang="zh-CN" sz="2600" i="1">
                <a:latin typeface="Times New Roman" pitchFamily="18" charset="0"/>
              </a:rPr>
              <a:t>1)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=</a:t>
            </a:r>
            <a:r>
              <a:rPr lang="ru-RU" altLang="zh-CN" sz="2600" i="1">
                <a:latin typeface="Times New Roman" pitchFamily="18" charset="0"/>
              </a:rPr>
              <a:t>[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k</a:t>
            </a:r>
            <a:r>
              <a:rPr lang="ru-RU" altLang="zh-CN" sz="2600" i="1">
                <a:latin typeface="Times New Roman" pitchFamily="18" charset="0"/>
              </a:rPr>
              <a:t>]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G(x,y) </a:t>
            </a:r>
            <a:r>
              <a:rPr lang="uz-Cyrl-UZ" altLang="zh-CN" sz="2600">
                <a:latin typeface="Times New Roman" pitchFamily="18" charset="0"/>
              </a:rPr>
              <a:t>ҳисоблансин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;</a:t>
            </a:r>
            <a:br>
              <a:rPr lang="en-US" altLang="zh-CN" sz="2600">
                <a:latin typeface="Times New Roman" pitchFamily="18" charset="0"/>
                <a:ea typeface="宋体" charset="-122"/>
              </a:rPr>
            </a:b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3.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r = x1 mod q </a:t>
            </a:r>
            <a:r>
              <a:rPr lang="uz-Cyrl-UZ" altLang="zh-CN" sz="2600">
                <a:latin typeface="Times New Roman" pitchFamily="18" charset="0"/>
              </a:rPr>
              <a:t>ҳисоблансин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;</a:t>
            </a:r>
            <a:br>
              <a:rPr lang="en-US" altLang="zh-CN" sz="2600">
                <a:latin typeface="Times New Roman" pitchFamily="18" charset="0"/>
                <a:ea typeface="宋体" charset="-122"/>
              </a:rPr>
            </a:b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4.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ru-RU" altLang="zh-CN" sz="2600">
                <a:latin typeface="Times New Roman" pitchFamily="18" charset="0"/>
              </a:rPr>
              <a:t>Агар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r = 0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бўлса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1- қадамга ўтилсин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;</a:t>
            </a:r>
            <a:r>
              <a:rPr lang="uz-Cyrl-UZ" altLang="zh-CN" sz="2600">
                <a:latin typeface="Times New Roman" pitchFamily="18" charset="0"/>
              </a:rPr>
              <a:t/>
            </a:r>
            <a:br>
              <a:rPr lang="uz-Cyrl-UZ" altLang="zh-CN" sz="2600">
                <a:latin typeface="Times New Roman" pitchFamily="18" charset="0"/>
              </a:rPr>
            </a:b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5.</a:t>
            </a:r>
            <a:r>
              <a:rPr lang="uz-Cyrl-UZ" altLang="zh-CN" sz="2600" i="1">
                <a:latin typeface="Times New Roman" pitchFamily="18" charset="0"/>
              </a:rPr>
              <a:t> 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z =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k</a:t>
            </a:r>
            <a:r>
              <a:rPr lang="en-US" altLang="zh-CN" sz="2600" i="1" baseline="30000">
                <a:latin typeface="Times New Roman" pitchFamily="18" charset="0"/>
                <a:ea typeface="宋体" charset="-122"/>
              </a:rPr>
              <a:t>-1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mod q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ҳисоблансин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;</a:t>
            </a:r>
            <a:br>
              <a:rPr lang="en-US" altLang="zh-CN" sz="2600">
                <a:latin typeface="Times New Roman" pitchFamily="18" charset="0"/>
                <a:ea typeface="宋体" charset="-122"/>
              </a:rPr>
            </a:b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6.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e = h(m)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ҳисоблансин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;</a:t>
            </a:r>
            <a:br>
              <a:rPr lang="en-US" altLang="zh-CN" sz="2600" i="1">
                <a:latin typeface="Times New Roman" pitchFamily="18" charset="0"/>
                <a:ea typeface="宋体" charset="-122"/>
              </a:rPr>
            </a:b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7.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s = z(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e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+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b="1" i="1">
                <a:solidFill>
                  <a:srgbClr val="800000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r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) mod q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ҳисоблансин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; </a:t>
            </a:r>
            <a:br>
              <a:rPr lang="en-US" altLang="zh-CN" sz="2600" i="1">
                <a:latin typeface="Times New Roman" pitchFamily="18" charset="0"/>
                <a:ea typeface="宋体" charset="-122"/>
              </a:rPr>
            </a:b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8.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ru-RU" altLang="zh-CN" sz="2600">
                <a:latin typeface="Times New Roman" pitchFamily="18" charset="0"/>
              </a:rPr>
              <a:t>Агар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s = 0</a:t>
            </a:r>
            <a:r>
              <a:rPr lang="uz-Cyrl-UZ" altLang="zh-CN" sz="2600" i="1">
                <a:latin typeface="Times New Roman" pitchFamily="18" charset="0"/>
              </a:rPr>
              <a:t>  </a:t>
            </a:r>
            <a:r>
              <a:rPr lang="uz-Cyrl-UZ" altLang="zh-CN" sz="2600">
                <a:latin typeface="Times New Roman" pitchFamily="18" charset="0"/>
              </a:rPr>
              <a:t>бўлса 1- қадамга ўтилсин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;</a:t>
            </a:r>
            <a:r>
              <a:rPr lang="ru-RU" altLang="zh-CN" sz="2600">
                <a:latin typeface="Times New Roman" pitchFamily="18" charset="0"/>
              </a:rPr>
              <a:t/>
            </a:r>
            <a:br>
              <a:rPr lang="ru-RU" altLang="zh-CN" sz="2600">
                <a:latin typeface="Times New Roman" pitchFamily="18" charset="0"/>
              </a:rPr>
            </a:br>
            <a:r>
              <a:rPr lang="ru-RU" altLang="zh-CN" sz="2600" i="1">
                <a:solidFill>
                  <a:schemeClr val="accent2"/>
                </a:solidFill>
                <a:latin typeface="Times New Roman" pitchFamily="18" charset="0"/>
              </a:rPr>
              <a:t>9.</a:t>
            </a:r>
            <a:r>
              <a:rPr lang="ru-RU" altLang="zh-CN" sz="2600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ЭРИ сифатида </a:t>
            </a:r>
            <a:r>
              <a:rPr lang="ru-RU" altLang="zh-CN" sz="2600" i="1">
                <a:solidFill>
                  <a:schemeClr val="accent2"/>
                </a:solidFill>
                <a:latin typeface="Times New Roman" pitchFamily="18" charset="0"/>
              </a:rPr>
              <a:t>(</a:t>
            </a: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r</a:t>
            </a:r>
            <a:r>
              <a:rPr lang="ru-RU" altLang="zh-CN" sz="2600" i="1">
                <a:solidFill>
                  <a:schemeClr val="accent2"/>
                </a:solidFill>
                <a:latin typeface="Times New Roman" pitchFamily="18" charset="0"/>
              </a:rPr>
              <a:t>, </a:t>
            </a: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s</a:t>
            </a:r>
            <a:r>
              <a:rPr lang="ru-RU" altLang="zh-CN" sz="2600" i="1">
                <a:solidFill>
                  <a:schemeClr val="accent2"/>
                </a:solidFill>
                <a:latin typeface="Times New Roman" pitchFamily="18" charset="0"/>
              </a:rPr>
              <a:t>)</a:t>
            </a: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эълон қилинсин.</a:t>
            </a:r>
            <a:endParaRPr lang="ru-RU" sz="2600">
              <a:latin typeface="Times New Roman" pitchFamily="18" charset="0"/>
            </a:endParaRP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(r,s)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– 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имзони шакллантириш алгоритми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</a:t>
            </a:r>
            <a:r>
              <a:rPr lang="en-US" altLang="ja-JP" sz="2200" b="1" i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ＭＳ Ｐゴシック" charset="-128"/>
              </a:rPr>
              <a:t>(</a:t>
            </a:r>
            <a:r>
              <a:rPr lang="uz-Cyrl-UZ" altLang="zh-CN" sz="2200" b="1" i="1">
                <a:solidFill>
                  <a:srgbClr val="B8342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А</a:t>
            </a:r>
            <a:r>
              <a:rPr lang="en-US" altLang="zh-CN" sz="2200" b="1" i="1">
                <a:solidFill>
                  <a:srgbClr val="B8342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  <a:sym typeface="Wingdings" pitchFamily="2" charset="2"/>
              </a:rPr>
              <a:t></a:t>
            </a:r>
            <a:r>
              <a:rPr lang="uz-Cyrl-UZ" altLang="zh-CN" sz="2200" b="1" i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uz-Cyrl-UZ" altLang="zh-CN" sz="2200" b="1" i="1">
                <a:solidFill>
                  <a:srgbClr val="B8342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В</a:t>
            </a:r>
            <a:r>
              <a:rPr lang="en-US" altLang="zh-CN" sz="2200" b="1" i="1">
                <a:solidFill>
                  <a:srgbClr val="B8342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)</a:t>
            </a:r>
            <a:endParaRPr lang="ru-RU" sz="2200" b="1" i="1">
              <a:solidFill>
                <a:srgbClr val="B8342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203" name="Rectangle 35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9223" name="Text Box 36"/>
          <p:cNvSpPr txBox="1">
            <a:spLocks noChangeArrowheads="1"/>
          </p:cNvSpPr>
          <p:nvPr/>
        </p:nvSpPr>
        <p:spPr bwMode="auto">
          <a:xfrm>
            <a:off x="431800" y="715963"/>
            <a:ext cx="539750" cy="427037"/>
          </a:xfrm>
          <a:prstGeom prst="rect">
            <a:avLst/>
          </a:prstGeom>
          <a:solidFill>
            <a:srgbClr val="000099"/>
          </a:solidFill>
          <a:ln>
            <a:noFill/>
          </a:ln>
          <a:effectLst>
            <a:prstShdw prst="shdw17" dist="17961" dir="2700000">
              <a:srgbClr val="00005C"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/>
            <a:r>
              <a:rPr lang="uz-Cyrl-UZ" sz="2800" b="1">
                <a:solidFill>
                  <a:schemeClr val="bg1"/>
                </a:solidFill>
                <a:latin typeface="Times New Roman" pitchFamily="18" charset="0"/>
              </a:rPr>
              <a:t>А:</a:t>
            </a:r>
            <a:endParaRPr lang="ru-RU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ja-JP" sz="2200" b="1" i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(r,s)</a:t>
            </a:r>
            <a:r>
              <a:rPr lang="en-US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ＭＳ Ｐゴシック" charset="-128"/>
              </a:rPr>
              <a:t> – </a:t>
            </a: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имзони шакллантириш </a:t>
            </a:r>
            <a:r>
              <a:rPr lang="ru-RU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блок схемаси </a:t>
            </a:r>
            <a:r>
              <a:rPr lang="en-US" altLang="ja-JP" sz="2200" b="1" i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ＭＳ Ｐゴシック" charset="-128"/>
              </a:rPr>
              <a:t>(</a:t>
            </a:r>
            <a:r>
              <a:rPr lang="uz-Cyrl-UZ" altLang="zh-CN" sz="2200" b="1" i="1">
                <a:solidFill>
                  <a:srgbClr val="B8342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А</a:t>
            </a:r>
            <a:r>
              <a:rPr lang="en-US" altLang="zh-CN" sz="2200" b="1" i="1">
                <a:solidFill>
                  <a:srgbClr val="B8342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  <a:sym typeface="Wingdings" pitchFamily="2" charset="2"/>
              </a:rPr>
              <a:t></a:t>
            </a:r>
            <a:r>
              <a:rPr lang="uz-Cyrl-UZ" altLang="zh-CN" sz="2200" b="1" i="1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lang="uz-Cyrl-UZ" altLang="zh-CN" sz="2200" b="1" i="1">
                <a:solidFill>
                  <a:srgbClr val="B8342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В</a:t>
            </a:r>
            <a:r>
              <a:rPr lang="en-US" altLang="zh-CN" sz="2200" b="1" i="1">
                <a:solidFill>
                  <a:srgbClr val="B8342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charset="-122"/>
              </a:rPr>
              <a:t>)</a:t>
            </a:r>
            <a:endParaRPr lang="ru-RU" sz="2200" b="1" i="1">
              <a:solidFill>
                <a:srgbClr val="B8342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0244" name="Text Box 9"/>
          <p:cNvSpPr txBox="1">
            <a:spLocks noChangeArrowheads="1"/>
          </p:cNvSpPr>
          <p:nvPr/>
        </p:nvSpPr>
        <p:spPr bwMode="auto">
          <a:xfrm>
            <a:off x="431800" y="715963"/>
            <a:ext cx="539750" cy="427037"/>
          </a:xfrm>
          <a:prstGeom prst="rect">
            <a:avLst/>
          </a:prstGeom>
          <a:solidFill>
            <a:srgbClr val="000099"/>
          </a:solidFill>
          <a:ln>
            <a:noFill/>
          </a:ln>
          <a:effectLst>
            <a:prstShdw prst="shdw17" dist="17961" dir="2700000">
              <a:srgbClr val="00005C"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/>
            <a:r>
              <a:rPr lang="uz-Cyrl-UZ" sz="2800" b="1">
                <a:solidFill>
                  <a:schemeClr val="bg1"/>
                </a:solidFill>
                <a:latin typeface="Times New Roman" pitchFamily="18" charset="0"/>
              </a:rPr>
              <a:t>А:</a:t>
            </a:r>
            <a:endParaRPr lang="ru-RU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7147" name="AutoShape 43"/>
          <p:cNvSpPr>
            <a:spLocks noChangeArrowheads="1"/>
          </p:cNvSpPr>
          <p:nvPr/>
        </p:nvSpPr>
        <p:spPr bwMode="auto">
          <a:xfrm>
            <a:off x="3217863" y="1576388"/>
            <a:ext cx="2044700" cy="360362"/>
          </a:xfrm>
          <a:prstGeom prst="parallelogram">
            <a:avLst>
              <a:gd name="adj" fmla="val 14185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ru-RU">
              <a:latin typeface="Arial" pitchFamily="34" charset="0"/>
            </a:endParaRPr>
          </a:p>
        </p:txBody>
      </p:sp>
      <p:sp>
        <p:nvSpPr>
          <p:cNvPr id="47148" name="Oval 44"/>
          <p:cNvSpPr>
            <a:spLocks noChangeArrowheads="1"/>
          </p:cNvSpPr>
          <p:nvPr/>
        </p:nvSpPr>
        <p:spPr bwMode="auto">
          <a:xfrm>
            <a:off x="3543300" y="476250"/>
            <a:ext cx="1719263" cy="344488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ru-RU">
                <a:latin typeface="Arial" pitchFamily="34" charset="0"/>
              </a:rPr>
              <a:t>Бошланди</a:t>
            </a:r>
          </a:p>
        </p:txBody>
      </p:sp>
      <p:sp>
        <p:nvSpPr>
          <p:cNvPr id="47149" name="Rectangle 45"/>
          <p:cNvSpPr>
            <a:spLocks noChangeArrowheads="1"/>
          </p:cNvSpPr>
          <p:nvPr/>
        </p:nvSpPr>
        <p:spPr bwMode="auto">
          <a:xfrm>
            <a:off x="3217863" y="2171700"/>
            <a:ext cx="2152650" cy="42068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ru-RU" altLang="zh-CN">
                <a:solidFill>
                  <a:srgbClr val="000066"/>
                </a:solidFill>
                <a:latin typeface="Arial" pitchFamily="34" charset="0"/>
              </a:rPr>
              <a:t>[</a:t>
            </a: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k</a:t>
            </a:r>
            <a:r>
              <a:rPr lang="ru-RU" altLang="zh-CN">
                <a:solidFill>
                  <a:srgbClr val="000066"/>
                </a:solidFill>
                <a:latin typeface="Arial" pitchFamily="34" charset="0"/>
              </a:rPr>
              <a:t>]</a:t>
            </a: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G</a:t>
            </a:r>
            <a:r>
              <a:rPr lang="ru-RU" altLang="zh-CN">
                <a:solidFill>
                  <a:srgbClr val="000066"/>
                </a:solidFill>
                <a:latin typeface="Arial" pitchFamily="34" charset="0"/>
              </a:rPr>
              <a:t>=(</a:t>
            </a: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x</a:t>
            </a:r>
            <a:r>
              <a:rPr lang="ru-RU" altLang="zh-CN">
                <a:solidFill>
                  <a:srgbClr val="000066"/>
                </a:solidFill>
                <a:latin typeface="Arial" pitchFamily="34" charset="0"/>
              </a:rPr>
              <a:t>1, </a:t>
            </a: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y</a:t>
            </a:r>
            <a:r>
              <a:rPr lang="ru-RU" altLang="zh-CN">
                <a:solidFill>
                  <a:srgbClr val="000066"/>
                </a:solidFill>
                <a:latin typeface="Arial" pitchFamily="34" charset="0"/>
              </a:rPr>
              <a:t>1)</a:t>
            </a:r>
            <a:endParaRPr lang="ru-RU">
              <a:solidFill>
                <a:srgbClr val="000066"/>
              </a:solidFill>
              <a:latin typeface="Arial" pitchFamily="34" charset="0"/>
            </a:endParaRPr>
          </a:p>
        </p:txBody>
      </p:sp>
      <p:sp>
        <p:nvSpPr>
          <p:cNvPr id="47150" name="AutoShape 46"/>
          <p:cNvSpPr>
            <a:spLocks noChangeArrowheads="1"/>
          </p:cNvSpPr>
          <p:nvPr/>
        </p:nvSpPr>
        <p:spPr bwMode="auto">
          <a:xfrm>
            <a:off x="3351213" y="1020763"/>
            <a:ext cx="2044700" cy="360362"/>
          </a:xfrm>
          <a:prstGeom prst="parallelogram">
            <a:avLst>
              <a:gd name="adj" fmla="val 14185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ru-RU">
              <a:latin typeface="Arial" pitchFamily="34" charset="0"/>
            </a:endParaRPr>
          </a:p>
        </p:txBody>
      </p:sp>
      <p:graphicFrame>
        <p:nvGraphicFramePr>
          <p:cNvPr id="10249" name="Object 47"/>
          <p:cNvGraphicFramePr>
            <a:graphicFrameLocks noChangeAspect="1"/>
          </p:cNvGraphicFramePr>
          <p:nvPr/>
        </p:nvGraphicFramePr>
        <p:xfrm>
          <a:off x="3808413" y="1073150"/>
          <a:ext cx="108267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name="Формула" r:id="rId3" imgW="837836" imgH="203112" progId="Equation.3">
                  <p:embed/>
                </p:oleObj>
              </mc:Choice>
              <mc:Fallback>
                <p:oleObj name="Формула" r:id="rId3" imgW="837836" imgH="203112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413" y="1073150"/>
                        <a:ext cx="108267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48"/>
          <p:cNvGraphicFramePr>
            <a:graphicFrameLocks noChangeAspect="1"/>
          </p:cNvGraphicFramePr>
          <p:nvPr/>
        </p:nvGraphicFramePr>
        <p:xfrm>
          <a:off x="3692525" y="1627188"/>
          <a:ext cx="1144588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name="Формула" r:id="rId5" imgW="888614" imgH="203112" progId="Equation.3">
                  <p:embed/>
                </p:oleObj>
              </mc:Choice>
              <mc:Fallback>
                <p:oleObj name="Формула" r:id="rId5" imgW="888614" imgH="203112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1627188"/>
                        <a:ext cx="1144588" cy="26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53" name="Rectangle 49"/>
          <p:cNvSpPr>
            <a:spLocks noChangeArrowheads="1"/>
          </p:cNvSpPr>
          <p:nvPr/>
        </p:nvSpPr>
        <p:spPr bwMode="auto">
          <a:xfrm>
            <a:off x="3230563" y="2790825"/>
            <a:ext cx="2152650" cy="42068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R=x1modq</a:t>
            </a:r>
            <a:endParaRPr lang="ru-RU">
              <a:solidFill>
                <a:srgbClr val="000066"/>
              </a:solidFill>
              <a:latin typeface="Arial" pitchFamily="34" charset="0"/>
            </a:endParaRPr>
          </a:p>
        </p:txBody>
      </p:sp>
      <p:sp>
        <p:nvSpPr>
          <p:cNvPr id="47154" name="AutoShape 50"/>
          <p:cNvSpPr>
            <a:spLocks noChangeArrowheads="1"/>
          </p:cNvSpPr>
          <p:nvPr/>
        </p:nvSpPr>
        <p:spPr bwMode="auto">
          <a:xfrm>
            <a:off x="3938588" y="3411538"/>
            <a:ext cx="727075" cy="660400"/>
          </a:xfrm>
          <a:prstGeom prst="octagon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>
                <a:latin typeface="Arial" pitchFamily="34" charset="0"/>
              </a:rPr>
              <a:t>r=0</a:t>
            </a:r>
            <a:endParaRPr lang="ru-RU">
              <a:latin typeface="Arial" pitchFamily="34" charset="0"/>
            </a:endParaRPr>
          </a:p>
        </p:txBody>
      </p:sp>
      <p:sp>
        <p:nvSpPr>
          <p:cNvPr id="47155" name="Rectangle 51"/>
          <p:cNvSpPr>
            <a:spLocks noChangeArrowheads="1"/>
          </p:cNvSpPr>
          <p:nvPr/>
        </p:nvSpPr>
        <p:spPr bwMode="auto">
          <a:xfrm>
            <a:off x="3236913" y="4268788"/>
            <a:ext cx="2152650" cy="42068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Z=k</a:t>
            </a:r>
            <a:r>
              <a:rPr lang="en-US" altLang="zh-CN" baseline="30000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-1</a:t>
            </a: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modq</a:t>
            </a:r>
            <a:endParaRPr lang="ru-RU">
              <a:solidFill>
                <a:srgbClr val="000066"/>
              </a:solidFill>
              <a:latin typeface="Arial" pitchFamily="34" charset="0"/>
            </a:endParaRPr>
          </a:p>
        </p:txBody>
      </p:sp>
      <p:sp>
        <p:nvSpPr>
          <p:cNvPr id="47156" name="Rectangle 52"/>
          <p:cNvSpPr>
            <a:spLocks noChangeArrowheads="1"/>
          </p:cNvSpPr>
          <p:nvPr/>
        </p:nvSpPr>
        <p:spPr bwMode="auto">
          <a:xfrm>
            <a:off x="3268663" y="4889500"/>
            <a:ext cx="2152650" cy="42068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e=h(m)</a:t>
            </a:r>
            <a:endParaRPr lang="ru-RU">
              <a:solidFill>
                <a:srgbClr val="000066"/>
              </a:solidFill>
              <a:latin typeface="Arial" pitchFamily="34" charset="0"/>
            </a:endParaRPr>
          </a:p>
        </p:txBody>
      </p:sp>
      <p:sp>
        <p:nvSpPr>
          <p:cNvPr id="47157" name="Rectangle 53"/>
          <p:cNvSpPr>
            <a:spLocks noChangeArrowheads="1"/>
          </p:cNvSpPr>
          <p:nvPr/>
        </p:nvSpPr>
        <p:spPr bwMode="auto">
          <a:xfrm>
            <a:off x="3255963" y="5519738"/>
            <a:ext cx="2152650" cy="42068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S=z(e+dr)modq</a:t>
            </a:r>
            <a:endParaRPr lang="ru-RU">
              <a:solidFill>
                <a:srgbClr val="000066"/>
              </a:solidFill>
              <a:latin typeface="Arial" pitchFamily="34" charset="0"/>
            </a:endParaRPr>
          </a:p>
        </p:txBody>
      </p:sp>
      <p:sp>
        <p:nvSpPr>
          <p:cNvPr id="47158" name="AutoShape 54"/>
          <p:cNvSpPr>
            <a:spLocks noChangeArrowheads="1"/>
          </p:cNvSpPr>
          <p:nvPr/>
        </p:nvSpPr>
        <p:spPr bwMode="auto">
          <a:xfrm>
            <a:off x="3943350" y="6140450"/>
            <a:ext cx="752475" cy="673100"/>
          </a:xfrm>
          <a:prstGeom prst="octagon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>
                <a:latin typeface="Arial" pitchFamily="34" charset="0"/>
              </a:rPr>
              <a:t>S=0</a:t>
            </a:r>
            <a:endParaRPr lang="ru-RU">
              <a:latin typeface="Arial" pitchFamily="34" charset="0"/>
            </a:endParaRPr>
          </a:p>
        </p:txBody>
      </p:sp>
      <p:sp>
        <p:nvSpPr>
          <p:cNvPr id="47159" name="AutoShape 55"/>
          <p:cNvSpPr>
            <a:spLocks noChangeArrowheads="1"/>
          </p:cNvSpPr>
          <p:nvPr/>
        </p:nvSpPr>
        <p:spPr bwMode="auto">
          <a:xfrm>
            <a:off x="4891088" y="6251575"/>
            <a:ext cx="2044700" cy="360363"/>
          </a:xfrm>
          <a:prstGeom prst="parallelogram">
            <a:avLst>
              <a:gd name="adj" fmla="val 14185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>
                <a:latin typeface="Arial" pitchFamily="34" charset="0"/>
              </a:rPr>
              <a:t>r, s</a:t>
            </a:r>
            <a:endParaRPr lang="ru-RU">
              <a:latin typeface="Arial" pitchFamily="34" charset="0"/>
            </a:endParaRPr>
          </a:p>
        </p:txBody>
      </p:sp>
      <p:sp>
        <p:nvSpPr>
          <p:cNvPr id="47160" name="Oval 56"/>
          <p:cNvSpPr>
            <a:spLocks noChangeArrowheads="1"/>
          </p:cNvSpPr>
          <p:nvPr/>
        </p:nvSpPr>
        <p:spPr bwMode="auto">
          <a:xfrm>
            <a:off x="7137400" y="6251575"/>
            <a:ext cx="1503363" cy="420688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ru-RU">
                <a:latin typeface="Arial" pitchFamily="34" charset="0"/>
              </a:rPr>
              <a:t>Тамом</a:t>
            </a:r>
          </a:p>
        </p:txBody>
      </p:sp>
      <p:sp>
        <p:nvSpPr>
          <p:cNvPr id="10259" name="Line 57"/>
          <p:cNvSpPr>
            <a:spLocks noChangeShapeType="1"/>
          </p:cNvSpPr>
          <p:nvPr/>
        </p:nvSpPr>
        <p:spPr bwMode="auto">
          <a:xfrm>
            <a:off x="4294188" y="259238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60" name="Line 58"/>
          <p:cNvSpPr>
            <a:spLocks noChangeShapeType="1"/>
          </p:cNvSpPr>
          <p:nvPr/>
        </p:nvSpPr>
        <p:spPr bwMode="auto">
          <a:xfrm>
            <a:off x="4289425" y="1381125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61" name="Line 59"/>
          <p:cNvSpPr>
            <a:spLocks noChangeShapeType="1"/>
          </p:cNvSpPr>
          <p:nvPr/>
        </p:nvSpPr>
        <p:spPr bwMode="auto">
          <a:xfrm>
            <a:off x="4281488" y="1936750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62" name="Line 60"/>
          <p:cNvSpPr>
            <a:spLocks noChangeShapeType="1"/>
          </p:cNvSpPr>
          <p:nvPr/>
        </p:nvSpPr>
        <p:spPr bwMode="auto">
          <a:xfrm>
            <a:off x="4294188" y="3211513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63" name="Line 61"/>
          <p:cNvSpPr>
            <a:spLocks noChangeShapeType="1"/>
          </p:cNvSpPr>
          <p:nvPr/>
        </p:nvSpPr>
        <p:spPr bwMode="auto">
          <a:xfrm>
            <a:off x="4319588" y="405923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64" name="Line 62"/>
          <p:cNvSpPr>
            <a:spLocks noChangeShapeType="1"/>
          </p:cNvSpPr>
          <p:nvPr/>
        </p:nvSpPr>
        <p:spPr bwMode="auto">
          <a:xfrm>
            <a:off x="4319588" y="4689475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65" name="Line 63"/>
          <p:cNvSpPr>
            <a:spLocks noChangeShapeType="1"/>
          </p:cNvSpPr>
          <p:nvPr/>
        </p:nvSpPr>
        <p:spPr bwMode="auto">
          <a:xfrm>
            <a:off x="4319588" y="531018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66" name="Line 64"/>
          <p:cNvSpPr>
            <a:spLocks noChangeShapeType="1"/>
          </p:cNvSpPr>
          <p:nvPr/>
        </p:nvSpPr>
        <p:spPr bwMode="auto">
          <a:xfrm>
            <a:off x="4319588" y="5940425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67" name="Line 65"/>
          <p:cNvSpPr>
            <a:spLocks noChangeShapeType="1"/>
          </p:cNvSpPr>
          <p:nvPr/>
        </p:nvSpPr>
        <p:spPr bwMode="auto">
          <a:xfrm>
            <a:off x="4319588" y="82073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68" name="Line 66"/>
          <p:cNvSpPr>
            <a:spLocks noChangeShapeType="1"/>
          </p:cNvSpPr>
          <p:nvPr/>
        </p:nvSpPr>
        <p:spPr bwMode="auto">
          <a:xfrm flipV="1">
            <a:off x="4695825" y="6459538"/>
            <a:ext cx="398463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69" name="Line 67"/>
          <p:cNvSpPr>
            <a:spLocks noChangeShapeType="1"/>
          </p:cNvSpPr>
          <p:nvPr/>
        </p:nvSpPr>
        <p:spPr bwMode="auto">
          <a:xfrm flipV="1">
            <a:off x="6596063" y="6472238"/>
            <a:ext cx="538162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cxnSp>
        <p:nvCxnSpPr>
          <p:cNvPr id="10270" name="AutoShape 68"/>
          <p:cNvCxnSpPr>
            <a:cxnSpLocks noChangeShapeType="1"/>
            <a:stCxn id="47158" idx="2"/>
          </p:cNvCxnSpPr>
          <p:nvPr/>
        </p:nvCxnSpPr>
        <p:spPr bwMode="auto">
          <a:xfrm rot="10800000">
            <a:off x="2292350" y="1474788"/>
            <a:ext cx="1651000" cy="5002212"/>
          </a:xfrm>
          <a:prstGeom prst="bentConnector2">
            <a:avLst/>
          </a:prstGeom>
          <a:noFill/>
          <a:ln w="22225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1" name="AutoShape 69"/>
          <p:cNvCxnSpPr>
            <a:cxnSpLocks noChangeShapeType="1"/>
            <a:stCxn id="47154" idx="2"/>
          </p:cNvCxnSpPr>
          <p:nvPr/>
        </p:nvCxnSpPr>
        <p:spPr bwMode="auto">
          <a:xfrm flipV="1">
            <a:off x="4665663" y="1474788"/>
            <a:ext cx="1728787" cy="2266950"/>
          </a:xfrm>
          <a:prstGeom prst="bentConnector2">
            <a:avLst/>
          </a:prstGeom>
          <a:noFill/>
          <a:ln w="22225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72" name="Line 70"/>
          <p:cNvSpPr>
            <a:spLocks noChangeShapeType="1"/>
          </p:cNvSpPr>
          <p:nvPr/>
        </p:nvSpPr>
        <p:spPr bwMode="auto">
          <a:xfrm>
            <a:off x="2292350" y="1474788"/>
            <a:ext cx="1989138" cy="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73" name="Line 71"/>
          <p:cNvSpPr>
            <a:spLocks noChangeShapeType="1"/>
          </p:cNvSpPr>
          <p:nvPr/>
        </p:nvSpPr>
        <p:spPr bwMode="auto">
          <a:xfrm>
            <a:off x="4273550" y="1479550"/>
            <a:ext cx="2128838" cy="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0274" name="Text Box 72"/>
          <p:cNvSpPr txBox="1">
            <a:spLocks noChangeArrowheads="1"/>
          </p:cNvSpPr>
          <p:nvPr/>
        </p:nvSpPr>
        <p:spPr bwMode="auto">
          <a:xfrm>
            <a:off x="4695825" y="3375025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ru-RU">
                <a:latin typeface="Arial" charset="0"/>
              </a:rPr>
              <a:t>Ха</a:t>
            </a:r>
          </a:p>
        </p:txBody>
      </p:sp>
      <p:sp>
        <p:nvSpPr>
          <p:cNvPr id="10275" name="Text Box 73"/>
          <p:cNvSpPr txBox="1">
            <a:spLocks noChangeArrowheads="1"/>
          </p:cNvSpPr>
          <p:nvPr/>
        </p:nvSpPr>
        <p:spPr bwMode="auto">
          <a:xfrm>
            <a:off x="4413250" y="3875088"/>
            <a:ext cx="563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ru-RU">
                <a:latin typeface="Arial" charset="0"/>
              </a:rPr>
              <a:t>Йук</a:t>
            </a:r>
          </a:p>
        </p:txBody>
      </p:sp>
      <p:sp>
        <p:nvSpPr>
          <p:cNvPr id="10276" name="Text Box 74"/>
          <p:cNvSpPr txBox="1">
            <a:spLocks noChangeArrowheads="1"/>
          </p:cNvSpPr>
          <p:nvPr/>
        </p:nvSpPr>
        <p:spPr bwMode="auto">
          <a:xfrm>
            <a:off x="3460750" y="614045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ru-RU">
                <a:latin typeface="Arial" charset="0"/>
              </a:rPr>
              <a:t>Ха</a:t>
            </a:r>
          </a:p>
        </p:txBody>
      </p:sp>
      <p:sp>
        <p:nvSpPr>
          <p:cNvPr id="10277" name="Text Box 75"/>
          <p:cNvSpPr txBox="1">
            <a:spLocks noChangeArrowheads="1"/>
          </p:cNvSpPr>
          <p:nvPr/>
        </p:nvSpPr>
        <p:spPr bwMode="auto">
          <a:xfrm>
            <a:off x="4595813" y="6130925"/>
            <a:ext cx="563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ru-RU">
                <a:latin typeface="Arial" charset="0"/>
              </a:rPr>
              <a:t>Йук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50825" y="549275"/>
            <a:ext cx="8642350" cy="5724525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180975" lvl="1" indent="-1588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endParaRPr lang="uz-Cyrl-UZ" sz="2000">
              <a:latin typeface="Times New Roman" pitchFamily="18" charset="0"/>
            </a:endParaRPr>
          </a:p>
        </p:txBody>
      </p:sp>
      <p:grpSp>
        <p:nvGrpSpPr>
          <p:cNvPr id="11267" name="Group 3"/>
          <p:cNvGrpSpPr>
            <a:grpSpLocks/>
          </p:cNvGrpSpPr>
          <p:nvPr/>
        </p:nvGrpSpPr>
        <p:grpSpPr bwMode="auto">
          <a:xfrm>
            <a:off x="71438" y="6453188"/>
            <a:ext cx="9001125" cy="360362"/>
            <a:chOff x="45" y="4065"/>
            <a:chExt cx="5670" cy="227"/>
          </a:xfrm>
        </p:grpSpPr>
        <p:sp>
          <p:nvSpPr>
            <p:cNvPr id="11272" name="Line 16"/>
            <p:cNvSpPr>
              <a:spLocks noChangeShapeType="1"/>
            </p:cNvSpPr>
            <p:nvPr/>
          </p:nvSpPr>
          <p:spPr bwMode="auto">
            <a:xfrm>
              <a:off x="45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4358" y="4080"/>
              <a:ext cx="13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ru-RU" sz="1600" i="1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</a:p>
          </p:txBody>
        </p:sp>
      </p:grp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468313" y="836613"/>
            <a:ext cx="8351837" cy="485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tabLst>
                <a:tab pos="355600" algn="l"/>
              </a:tabLst>
              <a:defRPr/>
            </a:pPr>
            <a:r>
              <a:rPr lang="uz-Cyrl-UZ" altLang="zh-CN" sz="2600">
                <a:latin typeface="Times New Roman" pitchFamily="18" charset="0"/>
              </a:rPr>
              <a:t> </a:t>
            </a:r>
            <a:endParaRPr lang="en-US" altLang="zh-CN" sz="2600">
              <a:latin typeface="Times New Roman" pitchFamily="18" charset="0"/>
              <a:ea typeface="宋体" charset="-122"/>
            </a:endParaRPr>
          </a:p>
          <a:p>
            <a:pPr marL="342900" indent="-342900">
              <a:lnSpc>
                <a:spcPct val="120000"/>
              </a:lnSpc>
              <a:tabLst>
                <a:tab pos="355600" algn="l"/>
              </a:tabLst>
              <a:defRPr/>
            </a:pPr>
            <a:r>
              <a:rPr lang="uz-Cyrl-UZ" altLang="zh-CN" sz="2600" i="1">
                <a:latin typeface="Times New Roman" pitchFamily="18" charset="0"/>
              </a:rPr>
              <a:t>	</a:t>
            </a: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1.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Агар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0&lt;r,s&lt;q </a:t>
            </a:r>
            <a:r>
              <a:rPr lang="uz-Cyrl-UZ" altLang="zh-CN" sz="2600">
                <a:latin typeface="Times New Roman" pitchFamily="18" charset="0"/>
              </a:rPr>
              <a:t>шартлар бажарилмаса “</a:t>
            </a:r>
            <a:r>
              <a:rPr lang="uz-Cyrl-UZ" altLang="zh-CN" sz="2600" i="1" u="sng">
                <a:solidFill>
                  <a:schemeClr val="accent2"/>
                </a:solidFill>
                <a:latin typeface="Times New Roman" pitchFamily="18" charset="0"/>
              </a:rPr>
              <a:t>имзо қалбаки</a:t>
            </a:r>
            <a:r>
              <a:rPr lang="uz-Cyrl-UZ" altLang="zh-CN" sz="2600">
                <a:latin typeface="Times New Roman" pitchFamily="18" charset="0"/>
              </a:rPr>
              <a:t>” деб ҳисоблансин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;</a:t>
            </a:r>
            <a:r>
              <a:rPr lang="uz-Cyrl-UZ" altLang="zh-CN" sz="2600" i="1">
                <a:latin typeface="Times New Roman" pitchFamily="18" charset="0"/>
              </a:rPr>
              <a:t>  </a:t>
            </a:r>
            <a:r>
              <a:rPr lang="uz-Cyrl-UZ" altLang="zh-CN" sz="2600">
                <a:latin typeface="Times New Roman" pitchFamily="18" charset="0"/>
              </a:rPr>
              <a:t> </a:t>
            </a:r>
            <a:r>
              <a:rPr lang="uz-Cyrl-UZ" altLang="zh-CN" sz="2600" i="1">
                <a:latin typeface="Times New Roman" pitchFamily="18" charset="0"/>
              </a:rPr>
              <a:t/>
            </a:r>
            <a:br>
              <a:rPr lang="uz-Cyrl-UZ" altLang="zh-CN" sz="2600" i="1">
                <a:latin typeface="Times New Roman" pitchFamily="18" charset="0"/>
              </a:rPr>
            </a:b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2.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e = h(m)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ҳисоблансин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;</a:t>
            </a:r>
            <a:br>
              <a:rPr lang="en-US" altLang="zh-CN" sz="2600" i="1">
                <a:latin typeface="Times New Roman" pitchFamily="18" charset="0"/>
                <a:ea typeface="宋体" charset="-122"/>
              </a:rPr>
            </a:b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3.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w = s</a:t>
            </a:r>
            <a:r>
              <a:rPr lang="en-US" altLang="zh-CN" sz="2600" i="1" baseline="30000">
                <a:latin typeface="Times New Roman" pitchFamily="18" charset="0"/>
                <a:ea typeface="宋体" charset="-122"/>
              </a:rPr>
              <a:t>-1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mod q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uz-Cyrl-UZ" altLang="zh-CN" sz="2600">
                <a:latin typeface="Times New Roman" pitchFamily="18" charset="0"/>
              </a:rPr>
              <a:t>ҳисоблансин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;</a:t>
            </a:r>
            <a:br>
              <a:rPr lang="en-US" altLang="zh-CN" sz="2600">
                <a:latin typeface="Times New Roman" pitchFamily="18" charset="0"/>
                <a:ea typeface="宋体" charset="-122"/>
              </a:rPr>
            </a:b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4.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u1 = ew mod q</a:t>
            </a:r>
            <a:r>
              <a:rPr lang="uz-Cyrl-UZ" altLang="zh-CN" sz="2600">
                <a:latin typeface="Times New Roman" pitchFamily="18" charset="0"/>
              </a:rPr>
              <a:t> ҳисоблансин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;</a:t>
            </a:r>
            <a:br>
              <a:rPr lang="en-US" altLang="zh-CN" sz="2600">
                <a:latin typeface="Times New Roman" pitchFamily="18" charset="0"/>
                <a:ea typeface="宋体" charset="-122"/>
              </a:rPr>
            </a:b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5</a:t>
            </a: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.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u</a:t>
            </a:r>
            <a:r>
              <a:rPr lang="uz-Cyrl-UZ" altLang="zh-CN" sz="2600" i="1">
                <a:latin typeface="Times New Roman" pitchFamily="18" charset="0"/>
              </a:rPr>
              <a:t>2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= rw mod q</a:t>
            </a:r>
            <a:r>
              <a:rPr lang="uz-Cyrl-UZ" altLang="zh-CN" sz="2600">
                <a:latin typeface="Times New Roman" pitchFamily="18" charset="0"/>
              </a:rPr>
              <a:t> ҳисоблансин</a:t>
            </a:r>
            <a:r>
              <a:rPr lang="en-US" altLang="zh-CN" sz="2600">
                <a:latin typeface="Times New Roman" pitchFamily="18" charset="0"/>
                <a:ea typeface="宋体" charset="-122"/>
              </a:rPr>
              <a:t>;</a:t>
            </a:r>
            <a:br>
              <a:rPr lang="en-US" altLang="zh-CN" sz="2600">
                <a:latin typeface="Times New Roman" pitchFamily="18" charset="0"/>
                <a:ea typeface="宋体" charset="-122"/>
              </a:rPr>
            </a:b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6.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(x1, y1)=[u1]G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+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[u2]Q</a:t>
            </a:r>
            <a:r>
              <a:rPr lang="uz-Cyrl-UZ" altLang="zh-CN" sz="2600" i="1">
                <a:latin typeface="Times New Roman" pitchFamily="18" charset="0"/>
              </a:rPr>
              <a:t>  </a:t>
            </a:r>
            <a:r>
              <a:rPr lang="uz-Cyrl-UZ" altLang="zh-CN" sz="2600">
                <a:latin typeface="Times New Roman" pitchFamily="18" charset="0"/>
              </a:rPr>
              <a:t>ҳисоблансин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; </a:t>
            </a:r>
            <a:br>
              <a:rPr lang="en-US" altLang="zh-CN" sz="2600" i="1">
                <a:latin typeface="Times New Roman" pitchFamily="18" charset="0"/>
                <a:ea typeface="宋体" charset="-122"/>
              </a:rPr>
            </a:b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7</a:t>
            </a:r>
            <a:r>
              <a:rPr lang="en-US" altLang="zh-CN" sz="26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.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</a:t>
            </a:r>
            <a:r>
              <a:rPr lang="ru-RU" altLang="zh-CN" sz="2600">
                <a:latin typeface="Times New Roman" pitchFamily="18" charset="0"/>
              </a:rPr>
              <a:t>Агар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r = x1 mod q </a:t>
            </a:r>
            <a:r>
              <a:rPr lang="uz-Cyrl-UZ" altLang="zh-CN" sz="2600">
                <a:latin typeface="Times New Roman" pitchFamily="18" charset="0"/>
              </a:rPr>
              <a:t>бўлса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, </a:t>
            </a:r>
            <a:r>
              <a:rPr lang="uz-Cyrl-UZ" altLang="zh-CN" sz="2600" i="1">
                <a:latin typeface="Times New Roman" pitchFamily="18" charset="0"/>
              </a:rPr>
              <a:t>“ </a:t>
            </a:r>
            <a:r>
              <a:rPr lang="uz-Cyrl-UZ" altLang="zh-CN" sz="2600" i="1" u="sng">
                <a:solidFill>
                  <a:schemeClr val="accent2"/>
                </a:solidFill>
                <a:latin typeface="Times New Roman" pitchFamily="18" charset="0"/>
              </a:rPr>
              <a:t>имзо ҳақиқий</a:t>
            </a: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uz-Cyrl-UZ" altLang="zh-CN" sz="2600" i="1">
                <a:latin typeface="Times New Roman" pitchFamily="18" charset="0"/>
              </a:rPr>
              <a:t>” , </a:t>
            </a:r>
            <a:br>
              <a:rPr lang="uz-Cyrl-UZ" altLang="zh-CN" sz="2600" i="1">
                <a:latin typeface="Times New Roman" pitchFamily="18" charset="0"/>
              </a:rPr>
            </a:br>
            <a:r>
              <a:rPr lang="uz-Cyrl-UZ" altLang="zh-CN" sz="2600" i="1">
                <a:latin typeface="Times New Roman" pitchFamily="18" charset="0"/>
              </a:rPr>
              <a:t>                                                 акс холда “ </a:t>
            </a:r>
            <a:r>
              <a:rPr lang="uz-Cyrl-UZ" altLang="zh-CN" sz="2600" i="1" u="sng">
                <a:solidFill>
                  <a:schemeClr val="accent2"/>
                </a:solidFill>
                <a:latin typeface="Times New Roman" pitchFamily="18" charset="0"/>
              </a:rPr>
              <a:t>имзо қалбаки</a:t>
            </a:r>
            <a:r>
              <a:rPr lang="uz-Cyrl-UZ" altLang="zh-CN" sz="2600" i="1">
                <a:latin typeface="Times New Roman" pitchFamily="18" charset="0"/>
              </a:rPr>
              <a:t>”</a:t>
            </a:r>
            <a:endParaRPr lang="ru-RU" sz="2600">
              <a:latin typeface="Times New Roman" pitchFamily="18" charset="0"/>
            </a:endParaRP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Имзони текшириш алгоритми </a:t>
            </a:r>
            <a:endParaRPr lang="ru-RU" sz="2200" b="1" i="1">
              <a:solidFill>
                <a:srgbClr val="B8342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1271" name="Text Box 9"/>
          <p:cNvSpPr txBox="1">
            <a:spLocks noChangeArrowheads="1"/>
          </p:cNvSpPr>
          <p:nvPr/>
        </p:nvSpPr>
        <p:spPr bwMode="auto">
          <a:xfrm>
            <a:off x="431800" y="715963"/>
            <a:ext cx="539750" cy="427037"/>
          </a:xfrm>
          <a:prstGeom prst="rect">
            <a:avLst/>
          </a:prstGeom>
          <a:solidFill>
            <a:srgbClr val="000099"/>
          </a:solidFill>
          <a:ln>
            <a:noFill/>
          </a:ln>
          <a:effectLst>
            <a:prstShdw prst="shdw17" dist="17961" dir="2700000">
              <a:srgbClr val="00005C"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/>
            <a:r>
              <a:rPr lang="en-US" sz="2800" b="1">
                <a:solidFill>
                  <a:schemeClr val="bg1"/>
                </a:solidFill>
                <a:latin typeface="Times New Roman" pitchFamily="18" charset="0"/>
              </a:rPr>
              <a:t>B</a:t>
            </a:r>
            <a:r>
              <a:rPr lang="uz-Cyrl-UZ" sz="2800" b="1">
                <a:solidFill>
                  <a:schemeClr val="bg1"/>
                </a:solidFill>
                <a:latin typeface="Times New Roman" pitchFamily="18" charset="0"/>
              </a:rPr>
              <a:t>:</a:t>
            </a:r>
            <a:endParaRPr lang="ru-RU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3167063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Имзони текшириш</a:t>
            </a:r>
            <a:r>
              <a:rPr lang="ru-RU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б.с.</a:t>
            </a:r>
            <a:endParaRPr lang="ru-RU" sz="2200" b="1" i="1">
              <a:solidFill>
                <a:srgbClr val="B8342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2292" name="Text Box 9"/>
          <p:cNvSpPr txBox="1">
            <a:spLocks noChangeArrowheads="1"/>
          </p:cNvSpPr>
          <p:nvPr/>
        </p:nvSpPr>
        <p:spPr bwMode="auto">
          <a:xfrm>
            <a:off x="431800" y="715963"/>
            <a:ext cx="539750" cy="427037"/>
          </a:xfrm>
          <a:prstGeom prst="rect">
            <a:avLst/>
          </a:prstGeom>
          <a:solidFill>
            <a:srgbClr val="000099"/>
          </a:solidFill>
          <a:ln>
            <a:noFill/>
          </a:ln>
          <a:effectLst>
            <a:prstShdw prst="shdw17" dist="17961" dir="2700000">
              <a:srgbClr val="00005C"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/>
            <a:r>
              <a:rPr lang="en-US" sz="2800" b="1">
                <a:solidFill>
                  <a:schemeClr val="bg1"/>
                </a:solidFill>
                <a:latin typeface="Times New Roman" pitchFamily="18" charset="0"/>
              </a:rPr>
              <a:t>B</a:t>
            </a:r>
            <a:r>
              <a:rPr lang="uz-Cyrl-UZ" sz="2800" b="1">
                <a:solidFill>
                  <a:schemeClr val="bg1"/>
                </a:solidFill>
                <a:latin typeface="Times New Roman" pitchFamily="18" charset="0"/>
              </a:rPr>
              <a:t>:</a:t>
            </a:r>
            <a:endParaRPr lang="ru-RU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9162" name="Oval 10"/>
          <p:cNvSpPr>
            <a:spLocks noChangeArrowheads="1"/>
          </p:cNvSpPr>
          <p:nvPr/>
        </p:nvSpPr>
        <p:spPr bwMode="auto">
          <a:xfrm>
            <a:off x="3625850" y="115888"/>
            <a:ext cx="1719263" cy="420687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ru-RU">
                <a:latin typeface="Arial" pitchFamily="34" charset="0"/>
              </a:rPr>
              <a:t>Бошланди</a:t>
            </a:r>
          </a:p>
        </p:txBody>
      </p:sp>
      <p:sp>
        <p:nvSpPr>
          <p:cNvPr id="49163" name="AutoShape 11"/>
          <p:cNvSpPr>
            <a:spLocks noChangeArrowheads="1"/>
          </p:cNvSpPr>
          <p:nvPr/>
        </p:nvSpPr>
        <p:spPr bwMode="auto">
          <a:xfrm>
            <a:off x="3433763" y="736600"/>
            <a:ext cx="2044700" cy="360363"/>
          </a:xfrm>
          <a:prstGeom prst="parallelogram">
            <a:avLst>
              <a:gd name="adj" fmla="val 14185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>
                <a:latin typeface="Arial" pitchFamily="34" charset="0"/>
              </a:rPr>
              <a:t>r , s</a:t>
            </a:r>
            <a:endParaRPr lang="ru-RU">
              <a:latin typeface="Arial" pitchFamily="34" charset="0"/>
            </a:endParaRPr>
          </a:p>
        </p:txBody>
      </p:sp>
      <p:sp>
        <p:nvSpPr>
          <p:cNvPr id="49164" name="Rectangle 12"/>
          <p:cNvSpPr>
            <a:spLocks noChangeArrowheads="1"/>
          </p:cNvSpPr>
          <p:nvPr/>
        </p:nvSpPr>
        <p:spPr bwMode="auto">
          <a:xfrm>
            <a:off x="3338513" y="3028950"/>
            <a:ext cx="2152650" cy="42068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e=h(m)</a:t>
            </a:r>
            <a:endParaRPr lang="ru-RU">
              <a:solidFill>
                <a:srgbClr val="000066"/>
              </a:solidFill>
              <a:latin typeface="Arial" pitchFamily="34" charset="0"/>
            </a:endParaRPr>
          </a:p>
        </p:txBody>
      </p:sp>
      <p:sp>
        <p:nvSpPr>
          <p:cNvPr id="49165" name="AutoShape 13"/>
          <p:cNvSpPr>
            <a:spLocks noChangeArrowheads="1"/>
          </p:cNvSpPr>
          <p:nvPr/>
        </p:nvSpPr>
        <p:spPr bwMode="auto">
          <a:xfrm>
            <a:off x="4006850" y="1296988"/>
            <a:ext cx="727075" cy="660400"/>
          </a:xfrm>
          <a:prstGeom prst="octagon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ru-RU">
              <a:latin typeface="Arial" pitchFamily="34" charset="0"/>
            </a:endParaRPr>
          </a:p>
        </p:txBody>
      </p:sp>
      <p:sp>
        <p:nvSpPr>
          <p:cNvPr id="49166" name="Rectangle 14"/>
          <p:cNvSpPr>
            <a:spLocks noChangeArrowheads="1"/>
          </p:cNvSpPr>
          <p:nvPr/>
        </p:nvSpPr>
        <p:spPr bwMode="auto">
          <a:xfrm>
            <a:off x="3306763" y="3641725"/>
            <a:ext cx="2152650" cy="42068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w=s</a:t>
            </a:r>
            <a:r>
              <a:rPr lang="en-US" altLang="zh-CN" baseline="30000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-1</a:t>
            </a: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modq</a:t>
            </a:r>
            <a:endParaRPr lang="ru-RU">
              <a:solidFill>
                <a:srgbClr val="000066"/>
              </a:solidFill>
              <a:latin typeface="Arial" pitchFamily="34" charset="0"/>
            </a:endParaRPr>
          </a:p>
        </p:txBody>
      </p:sp>
      <p:sp>
        <p:nvSpPr>
          <p:cNvPr id="49167" name="Rectangle 15"/>
          <p:cNvSpPr>
            <a:spLocks noChangeArrowheads="1"/>
          </p:cNvSpPr>
          <p:nvPr/>
        </p:nvSpPr>
        <p:spPr bwMode="auto">
          <a:xfrm>
            <a:off x="3351213" y="4262438"/>
            <a:ext cx="2101850" cy="59848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000066"/>
                </a:solidFill>
                <a:latin typeface="Arial" pitchFamily="34" charset="0"/>
              </a:rPr>
              <a:t>u1=ew modq</a:t>
            </a:r>
          </a:p>
          <a:p>
            <a:pPr algn="ctr">
              <a:defRPr/>
            </a:pPr>
            <a:r>
              <a:rPr lang="en-US">
                <a:solidFill>
                  <a:srgbClr val="000066"/>
                </a:solidFill>
                <a:latin typeface="Arial" pitchFamily="34" charset="0"/>
              </a:rPr>
              <a:t>u2=rw modq</a:t>
            </a:r>
            <a:endParaRPr lang="ru-RU">
              <a:solidFill>
                <a:srgbClr val="000066"/>
              </a:solidFill>
              <a:latin typeface="Arial" pitchFamily="34" charset="0"/>
            </a:endParaRPr>
          </a:p>
        </p:txBody>
      </p:sp>
      <p:sp>
        <p:nvSpPr>
          <p:cNvPr id="49168" name="Rectangle 16"/>
          <p:cNvSpPr>
            <a:spLocks noChangeArrowheads="1"/>
          </p:cNvSpPr>
          <p:nvPr/>
        </p:nvSpPr>
        <p:spPr bwMode="auto">
          <a:xfrm>
            <a:off x="3051175" y="5048250"/>
            <a:ext cx="2728913" cy="42068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solidFill>
                  <a:srgbClr val="000066"/>
                </a:solidFill>
                <a:latin typeface="Arial" pitchFamily="34" charset="0"/>
                <a:ea typeface="宋体" charset="-122"/>
              </a:rPr>
              <a:t>X=[u1]G+[u2]Q=(x1,y1)</a:t>
            </a:r>
            <a:endParaRPr lang="ru-RU">
              <a:solidFill>
                <a:srgbClr val="000066"/>
              </a:solidFill>
              <a:latin typeface="Arial" pitchFamily="34" charset="0"/>
            </a:endParaRPr>
          </a:p>
        </p:txBody>
      </p:sp>
      <p:sp>
        <p:nvSpPr>
          <p:cNvPr id="49169" name="AutoShape 17"/>
          <p:cNvSpPr>
            <a:spLocks noChangeArrowheads="1"/>
          </p:cNvSpPr>
          <p:nvPr/>
        </p:nvSpPr>
        <p:spPr bwMode="auto">
          <a:xfrm>
            <a:off x="3794125" y="5668963"/>
            <a:ext cx="1216025" cy="1143000"/>
          </a:xfrm>
          <a:prstGeom prst="octagon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latin typeface="Arial" pitchFamily="34" charset="0"/>
              </a:rPr>
              <a:t>r</a:t>
            </a:r>
            <a:r>
              <a:rPr lang="ru-RU" sz="1600" b="1">
                <a:latin typeface="Arial" pitchFamily="34" charset="0"/>
              </a:rPr>
              <a:t> </a:t>
            </a:r>
            <a:r>
              <a:rPr lang="en-US" sz="1600" b="1">
                <a:latin typeface="Arial" pitchFamily="34" charset="0"/>
              </a:rPr>
              <a:t>=x1modq</a:t>
            </a:r>
            <a:endParaRPr lang="ru-RU" sz="1600" b="1">
              <a:latin typeface="Arial" pitchFamily="34" charset="0"/>
            </a:endParaRPr>
          </a:p>
        </p:txBody>
      </p:sp>
      <p:sp>
        <p:nvSpPr>
          <p:cNvPr id="49170" name="AutoShape 18"/>
          <p:cNvSpPr>
            <a:spLocks noChangeArrowheads="1"/>
          </p:cNvSpPr>
          <p:nvPr/>
        </p:nvSpPr>
        <p:spPr bwMode="auto">
          <a:xfrm>
            <a:off x="6380163" y="5424488"/>
            <a:ext cx="2044700" cy="487362"/>
          </a:xfrm>
          <a:prstGeom prst="parallelogram">
            <a:avLst>
              <a:gd name="adj" fmla="val 104886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ru-RU" sz="1400">
                <a:latin typeface="Arial" pitchFamily="34" charset="0"/>
              </a:rPr>
              <a:t>Имзо хакикий </a:t>
            </a:r>
          </a:p>
          <a:p>
            <a:pPr algn="ctr">
              <a:defRPr/>
            </a:pPr>
            <a:r>
              <a:rPr lang="ru-RU" sz="1400">
                <a:latin typeface="Arial" pitchFamily="34" charset="0"/>
              </a:rPr>
              <a:t>эмас</a:t>
            </a:r>
          </a:p>
        </p:txBody>
      </p:sp>
      <p:sp>
        <p:nvSpPr>
          <p:cNvPr id="49171" name="Oval 19"/>
          <p:cNvSpPr>
            <a:spLocks noChangeArrowheads="1"/>
          </p:cNvSpPr>
          <p:nvPr/>
        </p:nvSpPr>
        <p:spPr bwMode="auto">
          <a:xfrm>
            <a:off x="7402513" y="6105525"/>
            <a:ext cx="1503362" cy="420688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ru-RU">
                <a:latin typeface="Arial" pitchFamily="34" charset="0"/>
              </a:rPr>
              <a:t>Тамом</a:t>
            </a:r>
          </a:p>
        </p:txBody>
      </p:sp>
      <p:sp>
        <p:nvSpPr>
          <p:cNvPr id="12303" name="Line 20"/>
          <p:cNvSpPr>
            <a:spLocks noChangeShapeType="1"/>
          </p:cNvSpPr>
          <p:nvPr/>
        </p:nvSpPr>
        <p:spPr bwMode="auto">
          <a:xfrm>
            <a:off x="4383088" y="2828925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04" name="Line 21"/>
          <p:cNvSpPr>
            <a:spLocks noChangeShapeType="1"/>
          </p:cNvSpPr>
          <p:nvPr/>
        </p:nvSpPr>
        <p:spPr bwMode="auto">
          <a:xfrm>
            <a:off x="4371975" y="1096963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05" name="Line 22"/>
          <p:cNvSpPr>
            <a:spLocks noChangeShapeType="1"/>
          </p:cNvSpPr>
          <p:nvPr/>
        </p:nvSpPr>
        <p:spPr bwMode="auto">
          <a:xfrm>
            <a:off x="4402138" y="3467100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06" name="Line 23"/>
          <p:cNvSpPr>
            <a:spLocks noChangeShapeType="1"/>
          </p:cNvSpPr>
          <p:nvPr/>
        </p:nvSpPr>
        <p:spPr bwMode="auto">
          <a:xfrm>
            <a:off x="4379913" y="197643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07" name="Line 24"/>
          <p:cNvSpPr>
            <a:spLocks noChangeShapeType="1"/>
          </p:cNvSpPr>
          <p:nvPr/>
        </p:nvSpPr>
        <p:spPr bwMode="auto">
          <a:xfrm>
            <a:off x="4402138" y="4062413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08" name="Line 25"/>
          <p:cNvSpPr>
            <a:spLocks noChangeShapeType="1"/>
          </p:cNvSpPr>
          <p:nvPr/>
        </p:nvSpPr>
        <p:spPr bwMode="auto">
          <a:xfrm>
            <a:off x="4402138" y="4860925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09" name="Line 26"/>
          <p:cNvSpPr>
            <a:spLocks noChangeShapeType="1"/>
          </p:cNvSpPr>
          <p:nvPr/>
        </p:nvSpPr>
        <p:spPr bwMode="auto">
          <a:xfrm>
            <a:off x="4402138" y="5468938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10" name="Line 27"/>
          <p:cNvSpPr>
            <a:spLocks noChangeShapeType="1"/>
          </p:cNvSpPr>
          <p:nvPr/>
        </p:nvSpPr>
        <p:spPr bwMode="auto">
          <a:xfrm>
            <a:off x="4402138" y="536575"/>
            <a:ext cx="0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11" name="Line 28"/>
          <p:cNvSpPr>
            <a:spLocks noChangeShapeType="1"/>
          </p:cNvSpPr>
          <p:nvPr/>
        </p:nvSpPr>
        <p:spPr bwMode="auto">
          <a:xfrm flipV="1">
            <a:off x="5010150" y="6227763"/>
            <a:ext cx="614363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12" name="Line 29"/>
          <p:cNvSpPr>
            <a:spLocks noChangeShapeType="1"/>
          </p:cNvSpPr>
          <p:nvPr/>
        </p:nvSpPr>
        <p:spPr bwMode="auto">
          <a:xfrm flipV="1">
            <a:off x="6864350" y="6316663"/>
            <a:ext cx="538163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cxnSp>
        <p:nvCxnSpPr>
          <p:cNvPr id="12313" name="AutoShape 30"/>
          <p:cNvCxnSpPr>
            <a:cxnSpLocks noChangeShapeType="1"/>
            <a:stCxn id="49169" idx="2"/>
            <a:endCxn id="49170" idx="5"/>
          </p:cNvCxnSpPr>
          <p:nvPr/>
        </p:nvCxnSpPr>
        <p:spPr bwMode="auto">
          <a:xfrm rot="10800000" flipH="1">
            <a:off x="3794125" y="5668963"/>
            <a:ext cx="2841625" cy="571500"/>
          </a:xfrm>
          <a:prstGeom prst="bentConnector5">
            <a:avLst>
              <a:gd name="adj1" fmla="val -8046"/>
              <a:gd name="adj2" fmla="val 126667"/>
              <a:gd name="adj3" fmla="val 66926"/>
            </a:avLst>
          </a:prstGeom>
          <a:noFill/>
          <a:ln w="22225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14" name="Line 31"/>
          <p:cNvSpPr>
            <a:spLocks noChangeShapeType="1"/>
          </p:cNvSpPr>
          <p:nvPr/>
        </p:nvSpPr>
        <p:spPr bwMode="auto">
          <a:xfrm>
            <a:off x="4752975" y="2492375"/>
            <a:ext cx="2649538" cy="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15" name="Text Box 32"/>
          <p:cNvSpPr txBox="1">
            <a:spLocks noChangeArrowheads="1"/>
          </p:cNvSpPr>
          <p:nvPr/>
        </p:nvSpPr>
        <p:spPr bwMode="auto">
          <a:xfrm>
            <a:off x="4375150" y="187325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ru-RU">
                <a:latin typeface="Arial" charset="0"/>
              </a:rPr>
              <a:t>Ха</a:t>
            </a:r>
          </a:p>
        </p:txBody>
      </p:sp>
      <p:sp>
        <p:nvSpPr>
          <p:cNvPr id="12316" name="Text Box 33"/>
          <p:cNvSpPr txBox="1">
            <a:spLocks noChangeArrowheads="1"/>
          </p:cNvSpPr>
          <p:nvPr/>
        </p:nvSpPr>
        <p:spPr bwMode="auto">
          <a:xfrm>
            <a:off x="4695825" y="1238250"/>
            <a:ext cx="563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ru-RU">
                <a:latin typeface="Arial" charset="0"/>
              </a:rPr>
              <a:t>Йук</a:t>
            </a:r>
          </a:p>
        </p:txBody>
      </p:sp>
      <p:sp>
        <p:nvSpPr>
          <p:cNvPr id="12317" name="Text Box 34"/>
          <p:cNvSpPr txBox="1">
            <a:spLocks noChangeArrowheads="1"/>
          </p:cNvSpPr>
          <p:nvPr/>
        </p:nvSpPr>
        <p:spPr bwMode="auto">
          <a:xfrm>
            <a:off x="4989513" y="591185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ru-RU">
                <a:latin typeface="Arial" charset="0"/>
              </a:rPr>
              <a:t>Ха</a:t>
            </a:r>
          </a:p>
        </p:txBody>
      </p:sp>
      <p:sp>
        <p:nvSpPr>
          <p:cNvPr id="12318" name="Text Box 35"/>
          <p:cNvSpPr txBox="1">
            <a:spLocks noChangeArrowheads="1"/>
          </p:cNvSpPr>
          <p:nvPr/>
        </p:nvSpPr>
        <p:spPr bwMode="auto">
          <a:xfrm>
            <a:off x="3062288" y="5727700"/>
            <a:ext cx="563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ru-RU">
                <a:latin typeface="Arial" charset="0"/>
              </a:rPr>
              <a:t>Йук</a:t>
            </a:r>
          </a:p>
        </p:txBody>
      </p:sp>
      <p:graphicFrame>
        <p:nvGraphicFramePr>
          <p:cNvPr id="12319" name="Object 36"/>
          <p:cNvGraphicFramePr>
            <a:graphicFrameLocks noChangeAspect="1"/>
          </p:cNvGraphicFramePr>
          <p:nvPr/>
        </p:nvGraphicFramePr>
        <p:xfrm>
          <a:off x="4198938" y="1487488"/>
          <a:ext cx="500062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" name="Формула" r:id="rId3" imgW="317087" imgH="164885" progId="Equation.3">
                  <p:embed/>
                </p:oleObj>
              </mc:Choice>
              <mc:Fallback>
                <p:oleObj name="Формула" r:id="rId3" imgW="317087" imgH="164885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8938" y="1487488"/>
                        <a:ext cx="500062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9" name="AutoShape 37"/>
          <p:cNvSpPr>
            <a:spLocks noChangeArrowheads="1"/>
          </p:cNvSpPr>
          <p:nvPr/>
        </p:nvSpPr>
        <p:spPr bwMode="auto">
          <a:xfrm>
            <a:off x="4021138" y="2163763"/>
            <a:ext cx="727075" cy="660400"/>
          </a:xfrm>
          <a:prstGeom prst="octagon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ru-RU">
              <a:latin typeface="Arial" pitchFamily="34" charset="0"/>
            </a:endParaRPr>
          </a:p>
        </p:txBody>
      </p:sp>
      <p:sp>
        <p:nvSpPr>
          <p:cNvPr id="12321" name="Text Box 38"/>
          <p:cNvSpPr txBox="1">
            <a:spLocks noChangeArrowheads="1"/>
          </p:cNvSpPr>
          <p:nvPr/>
        </p:nvSpPr>
        <p:spPr bwMode="auto">
          <a:xfrm>
            <a:off x="4532313" y="2644775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ru-RU">
                <a:latin typeface="Arial" charset="0"/>
              </a:rPr>
              <a:t>Ха</a:t>
            </a:r>
          </a:p>
        </p:txBody>
      </p:sp>
      <p:sp>
        <p:nvSpPr>
          <p:cNvPr id="12322" name="Text Box 39"/>
          <p:cNvSpPr txBox="1">
            <a:spLocks noChangeArrowheads="1"/>
          </p:cNvSpPr>
          <p:nvPr/>
        </p:nvSpPr>
        <p:spPr bwMode="auto">
          <a:xfrm>
            <a:off x="4713288" y="2125663"/>
            <a:ext cx="5635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ru-RU">
                <a:latin typeface="Arial" charset="0"/>
              </a:rPr>
              <a:t>Йук</a:t>
            </a:r>
          </a:p>
        </p:txBody>
      </p:sp>
      <p:graphicFrame>
        <p:nvGraphicFramePr>
          <p:cNvPr id="12323" name="Object 40"/>
          <p:cNvGraphicFramePr>
            <a:graphicFrameLocks noChangeAspect="1"/>
          </p:cNvGraphicFramePr>
          <p:nvPr/>
        </p:nvGraphicFramePr>
        <p:xfrm>
          <a:off x="4064000" y="2370138"/>
          <a:ext cx="631825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7" name="Формула" r:id="rId5" imgW="520474" imgH="203112" progId="Equation.3">
                  <p:embed/>
                </p:oleObj>
              </mc:Choice>
              <mc:Fallback>
                <p:oleObj name="Формула" r:id="rId5" imgW="520474" imgH="203112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2370138"/>
                        <a:ext cx="631825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93" name="AutoShape 41"/>
          <p:cNvSpPr>
            <a:spLocks noChangeArrowheads="1"/>
          </p:cNvSpPr>
          <p:nvPr/>
        </p:nvSpPr>
        <p:spPr bwMode="auto">
          <a:xfrm>
            <a:off x="5273675" y="6126163"/>
            <a:ext cx="2044700" cy="360362"/>
          </a:xfrm>
          <a:prstGeom prst="parallelogram">
            <a:avLst>
              <a:gd name="adj" fmla="val 141850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ru-RU" sz="1400">
                <a:latin typeface="Arial" pitchFamily="34" charset="0"/>
              </a:rPr>
              <a:t>Имзо хакикий</a:t>
            </a:r>
          </a:p>
        </p:txBody>
      </p:sp>
      <p:sp>
        <p:nvSpPr>
          <p:cNvPr id="12325" name="Line 42"/>
          <p:cNvSpPr>
            <a:spLocks noChangeShapeType="1"/>
          </p:cNvSpPr>
          <p:nvPr/>
        </p:nvSpPr>
        <p:spPr bwMode="auto">
          <a:xfrm>
            <a:off x="7402513" y="1616075"/>
            <a:ext cx="0" cy="3808413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26" name="Line 43"/>
          <p:cNvSpPr>
            <a:spLocks noChangeShapeType="1"/>
          </p:cNvSpPr>
          <p:nvPr/>
        </p:nvSpPr>
        <p:spPr bwMode="auto">
          <a:xfrm>
            <a:off x="4740275" y="1616075"/>
            <a:ext cx="2649538" cy="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27" name="Line 44"/>
          <p:cNvSpPr>
            <a:spLocks noChangeShapeType="1"/>
          </p:cNvSpPr>
          <p:nvPr/>
        </p:nvSpPr>
        <p:spPr bwMode="auto">
          <a:xfrm>
            <a:off x="7926388" y="5924550"/>
            <a:ext cx="0" cy="193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/>
          <p:cNvSpPr>
            <a:spLocks noChangeArrowheads="1"/>
          </p:cNvSpPr>
          <p:nvPr/>
        </p:nvSpPr>
        <p:spPr bwMode="auto">
          <a:xfrm>
            <a:off x="250825" y="549275"/>
            <a:ext cx="8642350" cy="5724525"/>
          </a:xfrm>
          <a:prstGeom prst="rect">
            <a:avLst/>
          </a:prstGeom>
          <a:solidFill>
            <a:schemeClr val="bg1">
              <a:alpha val="85881"/>
            </a:schemeClr>
          </a:solidFill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marL="180975" lvl="1" indent="-1588" algn="just">
              <a:spcBef>
                <a:spcPct val="30000"/>
              </a:spcBef>
              <a:buClr>
                <a:schemeClr val="accent2"/>
              </a:buClr>
              <a:buFont typeface="Wingdings" pitchFamily="2" charset="2"/>
              <a:buChar char="Ш"/>
            </a:pPr>
            <a:endParaRPr lang="uz-Cyrl-UZ" sz="2000">
              <a:latin typeface="Times New Roman" pitchFamily="18" charset="0"/>
            </a:endParaRPr>
          </a:p>
        </p:txBody>
      </p:sp>
      <p:grpSp>
        <p:nvGrpSpPr>
          <p:cNvPr id="13315" name="Group 3"/>
          <p:cNvGrpSpPr>
            <a:grpSpLocks/>
          </p:cNvGrpSpPr>
          <p:nvPr/>
        </p:nvGrpSpPr>
        <p:grpSpPr bwMode="auto">
          <a:xfrm>
            <a:off x="71438" y="6453188"/>
            <a:ext cx="9001125" cy="360362"/>
            <a:chOff x="45" y="4065"/>
            <a:chExt cx="5670" cy="227"/>
          </a:xfrm>
        </p:grpSpPr>
        <p:sp>
          <p:nvSpPr>
            <p:cNvPr id="13338" name="Line 16"/>
            <p:cNvSpPr>
              <a:spLocks noChangeShapeType="1"/>
            </p:cNvSpPr>
            <p:nvPr/>
          </p:nvSpPr>
          <p:spPr bwMode="auto">
            <a:xfrm>
              <a:off x="45" y="4065"/>
              <a:ext cx="5668" cy="0"/>
            </a:xfrm>
            <a:prstGeom prst="line">
              <a:avLst/>
            </a:prstGeom>
            <a:noFill/>
            <a:ln w="63500">
              <a:pattFill prst="dkHorz">
                <a:fgClr>
                  <a:schemeClr val="tx1"/>
                </a:fgClr>
                <a:bgClr>
                  <a:srgbClr val="FFFFFF"/>
                </a:bgClr>
              </a:pattFill>
              <a:round/>
              <a:headEnd/>
              <a:tailEnd/>
            </a:ln>
            <a:effectLst>
              <a:prstShdw prst="shdw17" dist="17961" dir="27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13370" name="Text Box 58"/>
            <p:cNvSpPr txBox="1">
              <a:spLocks noChangeArrowheads="1"/>
            </p:cNvSpPr>
            <p:nvPr/>
          </p:nvSpPr>
          <p:spPr bwMode="auto">
            <a:xfrm>
              <a:off x="4358" y="4080"/>
              <a:ext cx="135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  <a:alpha val="50000"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 algn="r">
                <a:defRPr/>
              </a:pPr>
              <a:r>
                <a:rPr lang="ru-RU" sz="1600" i="1">
                  <a:solidFill>
                    <a:srgbClr val="6666FF"/>
                  </a:solidFill>
                  <a:latin typeface="Times New Roman" pitchFamily="18" charset="0"/>
                </a:rPr>
                <a:t>Амалий криптография</a:t>
              </a:r>
            </a:p>
          </p:txBody>
        </p:sp>
      </p:grp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468313" y="836613"/>
            <a:ext cx="8351837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tabLst>
                <a:tab pos="355600" algn="l"/>
              </a:tabLst>
              <a:defRPr/>
            </a:pPr>
            <a:endParaRPr lang="ru-RU" sz="2600">
              <a:latin typeface="Times New Roman" pitchFamily="18" charset="0"/>
            </a:endParaRP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0"/>
            <a:ext cx="9144000" cy="427038"/>
          </a:xfrm>
          <a:prstGeom prst="rect">
            <a:avLst/>
          </a:prstGeom>
          <a:solidFill>
            <a:srgbClr val="00FF00">
              <a:alpha val="95000"/>
            </a:srgbClr>
          </a:solidFill>
          <a:ln w="2857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uz-Cyrl-UZ" altLang="ja-JP" sz="22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Алгоритми корректлиги </a:t>
            </a:r>
            <a:endParaRPr lang="ru-RU" sz="2200" b="1" i="1">
              <a:solidFill>
                <a:srgbClr val="B8342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3319" name="Rectangle 10"/>
          <p:cNvSpPr>
            <a:spLocks noChangeArrowheads="1"/>
          </p:cNvSpPr>
          <p:nvPr/>
        </p:nvSpPr>
        <p:spPr bwMode="auto">
          <a:xfrm>
            <a:off x="539750" y="1135063"/>
            <a:ext cx="8207375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uz-Cyrl-UZ" altLang="zh-CN" sz="2600" i="1">
                <a:latin typeface="Times New Roman" pitchFamily="18" charset="0"/>
              </a:rPr>
              <a:t>Имзони ҳисоблаш қисмининг </a:t>
            </a: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5</a:t>
            </a:r>
            <a:r>
              <a:rPr lang="uz-Cyrl-UZ" altLang="zh-CN" sz="2600" i="1">
                <a:latin typeface="Times New Roman" pitchFamily="18" charset="0"/>
              </a:rPr>
              <a:t> ва </a:t>
            </a:r>
            <a:r>
              <a:rPr lang="uz-Cyrl-UZ" altLang="zh-CN" sz="2600" i="1">
                <a:solidFill>
                  <a:schemeClr val="accent2"/>
                </a:solidFill>
                <a:latin typeface="Times New Roman" pitchFamily="18" charset="0"/>
              </a:rPr>
              <a:t>7</a:t>
            </a:r>
            <a:r>
              <a:rPr lang="uz-Cyrl-UZ" altLang="zh-CN" sz="2600" i="1">
                <a:latin typeface="Times New Roman" pitchFamily="18" charset="0"/>
              </a:rPr>
              <a:t> қадамларидан :</a:t>
            </a:r>
            <a:br>
              <a:rPr lang="uz-Cyrl-UZ" altLang="zh-CN" sz="2600" i="1">
                <a:latin typeface="Times New Roman" pitchFamily="18" charset="0"/>
              </a:rPr>
            </a:br>
            <a:r>
              <a:rPr lang="uz-Cyrl-UZ" altLang="zh-CN" sz="2600" i="1">
                <a:latin typeface="Times New Roman" pitchFamily="18" charset="0"/>
              </a:rPr>
              <a:t>						</a:t>
            </a:r>
            <a:r>
              <a:rPr lang="ru-RU" altLang="zh-CN" sz="2600" i="1">
                <a:latin typeface="Times New Roman" pitchFamily="18" charset="0"/>
              </a:rPr>
              <a:t>(1)</a:t>
            </a:r>
            <a:br>
              <a:rPr lang="ru-RU" altLang="zh-CN" sz="2600" i="1">
                <a:latin typeface="Times New Roman" pitchFamily="18" charset="0"/>
              </a:rPr>
            </a:br>
            <a:r>
              <a:rPr lang="ru-RU" altLang="zh-CN" sz="2600" i="1">
                <a:latin typeface="Times New Roman" pitchFamily="18" charset="0"/>
              </a:rPr>
              <a:t>  </a:t>
            </a:r>
            <a:r>
              <a:rPr lang="uz-Cyrl-UZ" altLang="zh-CN" sz="2600" i="1">
                <a:latin typeface="Times New Roman" pitchFamily="18" charset="0"/>
              </a:rPr>
              <a:t>              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w</a:t>
            </a:r>
            <a:r>
              <a:rPr lang="ru-RU" altLang="zh-CN" sz="2600" i="1">
                <a:latin typeface="Times New Roman" pitchFamily="18" charset="0"/>
              </a:rPr>
              <a:t> =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s </a:t>
            </a:r>
            <a:r>
              <a:rPr lang="en-US" altLang="zh-CN" sz="2600" i="1" baseline="30000">
                <a:latin typeface="Times New Roman" pitchFamily="18" charset="0"/>
                <a:ea typeface="宋体" charset="-122"/>
              </a:rPr>
              <a:t>-1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mod q</a:t>
            </a:r>
            <a:r>
              <a:rPr lang="ru-RU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                  </a:t>
            </a:r>
            <a:r>
              <a:rPr lang="uz-Cyrl-UZ" altLang="zh-CN" sz="2600" i="1">
                <a:latin typeface="Times New Roman" pitchFamily="18" charset="0"/>
              </a:rPr>
              <a:t>	</a:t>
            </a:r>
            <a:r>
              <a:rPr lang="ru-RU" altLang="zh-CN" sz="2600" i="1">
                <a:latin typeface="Times New Roman" pitchFamily="18" charset="0"/>
              </a:rPr>
              <a:t>(</a:t>
            </a:r>
            <a:r>
              <a:rPr lang="uz-Cyrl-UZ" altLang="zh-CN" sz="2600" i="1">
                <a:latin typeface="Times New Roman" pitchFamily="18" charset="0"/>
              </a:rPr>
              <a:t>2</a:t>
            </a:r>
            <a:r>
              <a:rPr lang="ru-RU" altLang="zh-CN" sz="2600" i="1">
                <a:latin typeface="Times New Roman" pitchFamily="18" charset="0"/>
              </a:rPr>
              <a:t>)</a:t>
            </a:r>
            <a:r>
              <a:rPr lang="uz-Cyrl-UZ" altLang="zh-CN" sz="2600" i="1">
                <a:latin typeface="Times New Roman" pitchFamily="18" charset="0"/>
              </a:rPr>
              <a:t/>
            </a:r>
            <a:br>
              <a:rPr lang="uz-Cyrl-UZ" altLang="zh-CN" sz="2600" i="1">
                <a:latin typeface="Times New Roman" pitchFamily="18" charset="0"/>
              </a:rPr>
            </a:br>
            <a:r>
              <a:rPr lang="uz-Cyrl-UZ" altLang="zh-CN" sz="2600" i="1">
                <a:latin typeface="Times New Roman" pitchFamily="18" charset="0"/>
              </a:rPr>
              <a:t>(1) ва (2) </a:t>
            </a:r>
            <a:r>
              <a:rPr lang="ru-RU" altLang="zh-CN" sz="2600" i="1">
                <a:latin typeface="Times New Roman" pitchFamily="18" charset="0"/>
              </a:rPr>
              <a:t>тенгликлардан </a:t>
            </a:r>
            <a:r>
              <a:rPr lang="uz-Cyrl-UZ" altLang="zh-CN" sz="2600" i="1">
                <a:latin typeface="Times New Roman" pitchFamily="18" charset="0"/>
              </a:rPr>
              <a:t>қуйидагига эга бўламиз :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/>
            </a:r>
            <a:br>
              <a:rPr lang="en-US" altLang="zh-CN" sz="2600" i="1">
                <a:latin typeface="Times New Roman" pitchFamily="18" charset="0"/>
                <a:ea typeface="宋体" charset="-122"/>
              </a:rPr>
            </a:br>
            <a:r>
              <a:rPr lang="en-US" altLang="zh-CN" sz="2600" i="1">
                <a:latin typeface="Times New Roman" pitchFamily="18" charset="0"/>
                <a:ea typeface="宋体" charset="-122"/>
              </a:rPr>
              <a:t> </a:t>
            </a:r>
            <a:br>
              <a:rPr lang="en-US" altLang="zh-CN" sz="2600" i="1">
                <a:latin typeface="Times New Roman" pitchFamily="18" charset="0"/>
                <a:ea typeface="宋体" charset="-122"/>
              </a:rPr>
            </a:br>
            <a:r>
              <a:rPr lang="en-US" altLang="zh-CN" sz="2600" i="1">
                <a:latin typeface="Times New Roman" pitchFamily="18" charset="0"/>
                <a:ea typeface="宋体" charset="-122"/>
              </a:rPr>
              <a:t>[k]G </a:t>
            </a:r>
            <a:r>
              <a:rPr lang="ru-RU" altLang="zh-CN" sz="2600" i="1">
                <a:latin typeface="Times New Roman" pitchFamily="18" charset="0"/>
              </a:rPr>
              <a:t>ни хисоблаймиз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 :</a:t>
            </a:r>
            <a:br>
              <a:rPr lang="en-US" altLang="zh-CN" sz="2600" i="1">
                <a:latin typeface="Times New Roman" pitchFamily="18" charset="0"/>
                <a:ea typeface="宋体" charset="-122"/>
              </a:rPr>
            </a:br>
            <a:r>
              <a:rPr lang="ru-RU" altLang="zh-CN" sz="2600" i="1">
                <a:latin typeface="Times New Roman" pitchFamily="18" charset="0"/>
              </a:rPr>
              <a:t>    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[k]G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=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[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we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+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wrd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]G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=[we]G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+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[wr][d]G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=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br>
              <a:rPr lang="uz-Cyrl-UZ" altLang="zh-CN" sz="2600" i="1">
                <a:latin typeface="Times New Roman" pitchFamily="18" charset="0"/>
              </a:rPr>
            </a:br>
            <a:r>
              <a:rPr lang="en-US" altLang="zh-CN" sz="2600" i="1">
                <a:latin typeface="Times New Roman" pitchFamily="18" charset="0"/>
                <a:ea typeface="宋体" charset="-122"/>
              </a:rPr>
              <a:t>	=[we]G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+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wrQ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=</a:t>
            </a:r>
            <a:r>
              <a:rPr lang="uz-Cyrl-UZ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[u1]G</a:t>
            </a:r>
            <a:r>
              <a:rPr lang="ru-RU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+</a:t>
            </a:r>
            <a:r>
              <a:rPr lang="ru-RU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[u2]Q=</a:t>
            </a:r>
            <a:r>
              <a:rPr lang="ru-RU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X</a:t>
            </a:r>
            <a:r>
              <a:rPr lang="ru-RU" altLang="zh-CN" sz="2600" i="1">
                <a:latin typeface="Times New Roman" pitchFamily="18" charset="0"/>
              </a:rPr>
              <a:t> </a:t>
            </a:r>
            <a:r>
              <a:rPr lang="en-US" altLang="zh-CN" sz="2600" i="1">
                <a:latin typeface="Times New Roman" pitchFamily="18" charset="0"/>
                <a:ea typeface="宋体" charset="-122"/>
              </a:rPr>
              <a:t>=( x1, y1)</a:t>
            </a:r>
            <a:endParaRPr lang="en-US" sz="2600" i="1">
              <a:latin typeface="Times New Roman" pitchFamily="18" charset="0"/>
            </a:endParaRPr>
          </a:p>
        </p:txBody>
      </p:sp>
      <p:sp>
        <p:nvSpPr>
          <p:cNvPr id="1332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21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2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23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24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25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26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27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28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29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30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31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32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3333" name="Object 24"/>
          <p:cNvGraphicFramePr>
            <a:graphicFrameLocks noChangeAspect="1"/>
          </p:cNvGraphicFramePr>
          <p:nvPr/>
        </p:nvGraphicFramePr>
        <p:xfrm>
          <a:off x="1744663" y="1630363"/>
          <a:ext cx="30622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name="Формула" r:id="rId3" imgW="1155700" imgH="203200" progId="Equation.3">
                  <p:embed/>
                </p:oleObj>
              </mc:Choice>
              <mc:Fallback>
                <p:oleObj name="Формула" r:id="rId3" imgW="1155700" imgH="203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663" y="1630363"/>
                        <a:ext cx="306228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4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13335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13336" name="Object 27"/>
          <p:cNvGraphicFramePr>
            <a:graphicFrameLocks noChangeAspect="1"/>
          </p:cNvGraphicFramePr>
          <p:nvPr/>
        </p:nvGraphicFramePr>
        <p:xfrm>
          <a:off x="2635250" y="3392488"/>
          <a:ext cx="24765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Формула" r:id="rId5" imgW="1320227" imgH="203112" progId="Equation.3">
                  <p:embed/>
                </p:oleObj>
              </mc:Choice>
              <mc:Fallback>
                <p:oleObj name="Формула" r:id="rId5" imgW="1320227" imgH="203112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0" y="3392488"/>
                        <a:ext cx="24765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7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6" name="Rectangle 4"/>
          <p:cNvSpPr>
            <a:spLocks noChangeArrowheads="1"/>
          </p:cNvSpPr>
          <p:nvPr/>
        </p:nvSpPr>
        <p:spPr bwMode="auto">
          <a:xfrm>
            <a:off x="457200" y="2420938"/>
            <a:ext cx="80645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ru-RU" sz="48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ГОСТ Р 34.10-2001 </a:t>
            </a:r>
            <a:r>
              <a:rPr lang="ru-RU" sz="4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ru-RU" sz="4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sz="4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ЭРИ </a:t>
            </a:r>
            <a:r>
              <a:rPr lang="ru-RU" sz="4800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алгоритми</a:t>
            </a:r>
            <a:endParaRPr lang="ru-RU" sz="48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545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512676"/>
            <a:ext cx="8589962" cy="5549211"/>
          </a:xfrm>
          <a:solidFill>
            <a:schemeClr val="bg1"/>
          </a:solidFill>
        </p:spPr>
        <p:txBody>
          <a:bodyPr>
            <a:spAutoFit/>
          </a:bodyPr>
          <a:lstStyle/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300" dirty="0" smtClean="0">
                <a:latin typeface="Times New Roman" pitchFamily="18" charset="0"/>
                <a:cs typeface="Times New Roman" pitchFamily="18" charset="0"/>
              </a:rPr>
              <a:t>М 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очик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маълумот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эллиптик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эгри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чизикка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тегишли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очик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параметрлари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имзонинг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махфий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калити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Чикиш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имзо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r, s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Имзо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генерацияси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2300" dirty="0">
                <a:latin typeface="Times New Roman" pitchFamily="18" charset="0"/>
                <a:cs typeface="Times New Roman" pitchFamily="18" charset="0"/>
              </a:rPr>
              <a:t>.Ихтиёрий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сонини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оламиз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&lt;=k&lt;q</a:t>
            </a:r>
          </a:p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2.(x</a:t>
            </a:r>
            <a:r>
              <a:rPr lang="en-US" sz="23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,y</a:t>
            </a:r>
            <a:r>
              <a:rPr lang="en-US" sz="23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)=[k]G 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ни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хисоблаймиз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r=x</a:t>
            </a:r>
            <a:r>
              <a:rPr lang="en-US" sz="23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modq 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ни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хисоблаймиз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агарда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r=0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булиб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колса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«к» ни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бошкатдан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хисоблаймиз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Хэш-функциядан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М –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маълумотнинг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е=Н(М)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хеш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кийматини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оламиз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5.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s=(d*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r+k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*e) mod q ,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бу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ерда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d –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махфий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калит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endParaRPr lang="ru-RU" sz="2300" dirty="0">
              <a:latin typeface="Times New Roman" pitchFamily="18" charset="0"/>
              <a:cs typeface="Times New Roman" pitchFamily="18" charset="0"/>
            </a:endParaRPr>
          </a:p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[d] G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Q -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очик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калит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Агарда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s=0, 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у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холда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кадамга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кайтамиз</a:t>
            </a:r>
            <a:endParaRPr lang="ru-RU" sz="2300" dirty="0">
              <a:latin typeface="Times New Roman" pitchFamily="18" charset="0"/>
              <a:cs typeface="Times New Roman" pitchFamily="18" charset="0"/>
            </a:endParaRPr>
          </a:p>
          <a:p>
            <a:pPr marL="0" indent="365125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Чикарилган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r, s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M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очик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текстга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имзо</a:t>
            </a:r>
            <a:r>
              <a:rPr lang="ru-RU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300" dirty="0" err="1">
                <a:latin typeface="Times New Roman" pitchFamily="18" charset="0"/>
                <a:cs typeface="Times New Roman" pitchFamily="18" charset="0"/>
              </a:rPr>
              <a:t>булади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54355298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620"/>
            <a:ext cx="8229600" cy="933450"/>
          </a:xfrm>
        </p:spPr>
        <p:txBody>
          <a:bodyPr/>
          <a:lstStyle/>
          <a:p>
            <a:pPr algn="ctr"/>
            <a:r>
              <a:rPr lang="ru-RU" sz="3600" dirty="0" err="1"/>
              <a:t>Имзони</a:t>
            </a:r>
            <a:r>
              <a:rPr lang="ru-RU" sz="3600" dirty="0"/>
              <a:t> </a:t>
            </a:r>
            <a:r>
              <a:rPr lang="ru-RU" sz="3600" dirty="0" err="1"/>
              <a:t>текшириш</a:t>
            </a:r>
            <a:r>
              <a:rPr lang="ru-RU" sz="3600" dirty="0"/>
              <a:t> </a:t>
            </a:r>
            <a:r>
              <a:rPr lang="ru-RU" sz="3600" dirty="0" err="1"/>
              <a:t>алгоритми</a:t>
            </a:r>
            <a:endParaRPr lang="ru-RU" sz="3600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16732"/>
            <a:ext cx="8229600" cy="5290679"/>
          </a:xfrm>
          <a:solidFill>
            <a:schemeClr val="bg1"/>
          </a:solidFill>
        </p:spPr>
        <p:txBody>
          <a:bodyPr>
            <a:spAutoFit/>
          </a:bodyPr>
          <a:lstStyle/>
          <a:p>
            <a:pPr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Кириш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М –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очик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текст,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эллиптик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эгри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чизик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параметрлари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r, 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)-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имзо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Чикиш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Имзо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хакикий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еки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калбакилиги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хакида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хулоса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Имзони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текшириш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1.Агарда 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&lt;=r, s&lt;=q-1,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булмаса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унда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хато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яъни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«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имзо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калбаки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хулоса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булади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акс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холда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давом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этамиз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e=H(M)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хисоблаймиз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W=H(M)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q-2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ни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хисоблаймиз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=S*W mod q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хисоблаймиз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=(q - r)*W mod q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хисоблаймиз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X=[U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]*G+[U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]*Q=(x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y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хисоблаймиз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spcAft>
                <a:spcPts val="600"/>
              </a:spcAft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Агарда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х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 q=r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булса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имзо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хакикий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хисобланади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акс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холда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«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имзо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калбаки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деган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хулоса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булади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16166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25525"/>
          </a:xfrm>
        </p:spPr>
        <p:txBody>
          <a:bodyPr/>
          <a:lstStyle/>
          <a:p>
            <a:pPr algn="ctr"/>
            <a:r>
              <a:rPr lang="ru-RU" sz="3600" dirty="0" err="1"/>
              <a:t>Имзо</a:t>
            </a:r>
            <a:r>
              <a:rPr lang="ru-RU" sz="3600" dirty="0"/>
              <a:t> </a:t>
            </a:r>
            <a:r>
              <a:rPr lang="ru-RU" sz="3600" dirty="0" err="1"/>
              <a:t>алгоритмининг</a:t>
            </a:r>
            <a:r>
              <a:rPr lang="ru-RU" sz="3600" dirty="0"/>
              <a:t> </a:t>
            </a:r>
            <a:r>
              <a:rPr lang="ru-RU" sz="3600" dirty="0" err="1"/>
              <a:t>корректлиги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/>
              <a:t>ГОСТ Р34.10-2001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8572"/>
            <a:ext cx="8229600" cy="4598182"/>
          </a:xfrm>
          <a:solidFill>
            <a:schemeClr val="bg1"/>
          </a:solidFill>
        </p:spPr>
        <p:txBody>
          <a:bodyPr>
            <a:spAutoFit/>
          </a:bodyPr>
          <a:lstStyle/>
          <a:p>
            <a:pPr defTabSz="441325">
              <a:lnSpc>
                <a:spcPct val="80000"/>
              </a:lnSpc>
              <a:buFont typeface="Wingdings" pitchFamily="2" charset="2"/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ГОСТ Р 34.10-94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DSA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фарки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defTabSz="441325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DSA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да  				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400" b="1" baseline="30000" dirty="0">
                <a:latin typeface="Times New Roman" pitchFamily="18" charset="0"/>
                <a:cs typeface="Times New Roman" pitchFamily="18" charset="0"/>
              </a:rPr>
              <a:t>-1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mod q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defTabSz="441325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	ГОСТ Р 34.10-94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= 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mod q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  </a:t>
            </a:r>
          </a:p>
          <a:p>
            <a:pPr defTabSz="441325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538163" defTabSz="441325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Имзо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генерациясининг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5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кадамида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538163" defTabSz="441325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=(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mod q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булади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бундан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келиб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чикадики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marL="0" indent="538163" defTabSz="441325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(d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r+k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 –s)/q =t   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ёки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k=(q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t+s-d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r)e</a:t>
            </a:r>
            <a:r>
              <a:rPr lang="en-US" sz="2400" b="1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538163" defTabSz="441325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Бу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3 та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тенглик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 err="1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 err="1" smtClean="0">
                <a:latin typeface="Times New Roman" pitchFamily="18" charset="0"/>
                <a:cs typeface="Times New Roman" pitchFamily="18" charset="0"/>
              </a:rPr>
              <a:t>мусбат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b="1" i="1" dirty="0" err="1">
                <a:latin typeface="Times New Roman" pitchFamily="18" charset="0"/>
                <a:cs typeface="Times New Roman" pitchFamily="18" charset="0"/>
              </a:rPr>
              <a:t>бутун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 err="1">
                <a:latin typeface="Times New Roman" pitchFamily="18" charset="0"/>
                <a:cs typeface="Times New Roman" pitchFamily="18" charset="0"/>
              </a:rPr>
              <a:t>булган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 err="1">
                <a:latin typeface="Times New Roman" pitchFamily="18" charset="0"/>
                <a:cs typeface="Times New Roman" pitchFamily="18" charset="0"/>
              </a:rPr>
              <a:t>холда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эквивалентдир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Агар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 err="1">
                <a:latin typeface="Times New Roman" pitchFamily="18" charset="0"/>
                <a:cs typeface="Times New Roman" pitchFamily="18" charset="0"/>
              </a:rPr>
              <a:t>булса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538163" defTabSz="441325">
              <a:lnSpc>
                <a:spcPct val="80000"/>
              </a:lnSpc>
              <a:buFont typeface="Wingdings" pitchFamily="2" charset="2"/>
              <a:buNone/>
            </a:pP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	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400" b="1" i="1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+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ru-RU" sz="2400" b="1" i="1" baseline="30000" dirty="0">
                <a:latin typeface="Times New Roman" pitchFamily="18" charset="0"/>
                <a:cs typeface="Times New Roman" pitchFamily="18" charset="0"/>
              </a:rPr>
              <a:t>-1 </a:t>
            </a:r>
          </a:p>
          <a:p>
            <a:pPr marL="0" indent="538163" defTabSz="441325">
              <a:lnSpc>
                <a:spcPct val="80000"/>
              </a:lnSpc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Хеш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функция  0&lt;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e&lt;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–туб сон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шундан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хар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кандай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е да ЭКУБ(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)=1</a:t>
            </a:r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942418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229600" cy="5903912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Эйлер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Ферма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теоремасига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асосан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800" b="1" i="1" baseline="30000" dirty="0">
                <a:latin typeface="Times New Roman" pitchFamily="18" charset="0"/>
                <a:cs typeface="Times New Roman" pitchFamily="18" charset="0"/>
              </a:rPr>
              <a:t>-1 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                                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шу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тенгликдан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фойдаланиб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параметрни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k=s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800" b="1" i="1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+ (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q-r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800" b="1" i="1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en-US" sz="2800" b="1" i="1" baseline="30000" dirty="0">
                <a:latin typeface="Times New Roman" pitchFamily="18" charset="0"/>
                <a:cs typeface="Times New Roman" pitchFamily="18" charset="0"/>
              </a:rPr>
              <a:t>q-2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mod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+ (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q-r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800" b="1" i="1" baseline="30000" dirty="0">
                <a:latin typeface="Times New Roman" pitchFamily="18" charset="0"/>
                <a:cs typeface="Times New Roman" pitchFamily="18" charset="0"/>
              </a:rPr>
              <a:t>q-2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mod</a:t>
            </a:r>
            <a:r>
              <a:rPr lang="en-US" sz="2800" b="1" i="1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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d .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Шундан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800" b="1" i="1" baseline="30000" dirty="0">
                <a:latin typeface="Times New Roman" pitchFamily="18" charset="0"/>
                <a:cs typeface="Times New Roman" pitchFamily="18" charset="0"/>
              </a:rPr>
              <a:t>q-2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mod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=w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дан </a:t>
            </a:r>
            <a:r>
              <a:rPr lang="ru-RU" sz="2800" b="1" i="1" dirty="0" err="1">
                <a:latin typeface="Times New Roman" pitchFamily="18" charset="0"/>
                <a:cs typeface="Times New Roman" pitchFamily="18" charset="0"/>
              </a:rPr>
              <a:t>биз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+(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i="1" dirty="0" err="1">
                <a:latin typeface="Times New Roman" pitchFamily="18" charset="0"/>
                <a:cs typeface="Times New Roman" pitchFamily="18" charset="0"/>
              </a:rPr>
              <a:t>чикди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ru-RU" sz="2800" b="1" i="1" dirty="0" err="1">
                <a:latin typeface="Times New Roman" pitchFamily="18" charset="0"/>
                <a:cs typeface="Times New Roman" pitchFamily="18" charset="0"/>
              </a:rPr>
              <a:t>нуктада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тартибга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эга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булганлиги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учун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]*</a:t>
            </a:r>
            <a:r>
              <a:rPr lang="en-US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ru-RU" sz="2800" b="1" i="1" dirty="0" err="1">
                <a:latin typeface="Times New Roman" pitchFamily="18" charset="0"/>
                <a:cs typeface="Times New Roman" pitchFamily="18" charset="0"/>
              </a:rPr>
              <a:t>колган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i="1" dirty="0" err="1">
                <a:latin typeface="Times New Roman" pitchFamily="18" charset="0"/>
                <a:cs typeface="Times New Roman" pitchFamily="18" charset="0"/>
              </a:rPr>
              <a:t>ларда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US" sz="2800" b="1" i="1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    [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+ (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)*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800" b="1" i="1" dirty="0" err="1">
                <a:latin typeface="Times New Roman" pitchFamily="18" charset="0"/>
                <a:cs typeface="Times New Roman" pitchFamily="18" charset="0"/>
              </a:rPr>
              <a:t>sw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 [(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][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sz="2800" b="1" i="1" dirty="0" err="1">
                <a:latin typeface="Times New Roman" pitchFamily="18" charset="0"/>
                <a:cs typeface="Times New Roman" pitchFamily="18" charset="0"/>
              </a:rPr>
              <a:t>sw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[(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=[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1]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800" b="1" i="1" dirty="0" err="1">
                <a:latin typeface="Times New Roman" pitchFamily="18" charset="0"/>
                <a:cs typeface="Times New Roman" pitchFamily="18" charset="0"/>
              </a:rPr>
              <a:t>булади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Демак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имзони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текширишда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6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кадамда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хисобланган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Х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нукта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бошлангич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хисоблаган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[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i="1" dirty="0" err="1">
                <a:latin typeface="Times New Roman" pitchFamily="18" charset="0"/>
                <a:cs typeface="Times New Roman" pitchFamily="18" charset="0"/>
              </a:rPr>
              <a:t>нуктага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i="1" dirty="0" err="1">
                <a:latin typeface="Times New Roman" pitchFamily="18" charset="0"/>
                <a:cs typeface="Times New Roman" pitchFamily="18" charset="0"/>
              </a:rPr>
              <a:t>мос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i="1" dirty="0" err="1">
                <a:latin typeface="Times New Roman" pitchFamily="18" charset="0"/>
                <a:cs typeface="Times New Roman" pitchFamily="18" charset="0"/>
              </a:rPr>
              <a:t>тушади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3059113" y="1254125"/>
          <a:ext cx="37465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Формула" r:id="rId3" imgW="1600200" imgH="228600" progId="Equation.3">
                  <p:embed/>
                </p:oleObj>
              </mc:Choice>
              <mc:Fallback>
                <p:oleObj name="Формула" r:id="rId3" imgW="1600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254125"/>
                        <a:ext cx="37465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1476375" y="2924175"/>
          <a:ext cx="142875" cy="14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Формула" r:id="rId5" imgW="139700" imgH="139700" progId="Equation.3">
                  <p:embed/>
                </p:oleObj>
              </mc:Choice>
              <mc:Fallback>
                <p:oleObj name="Формула" r:id="rId5" imgW="139700" imgH="13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924175"/>
                        <a:ext cx="142875" cy="142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12725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5709</TotalTime>
  <Words>460</Words>
  <Application>Microsoft Office PowerPoint</Application>
  <PresentationFormat>Экран (4:3)</PresentationFormat>
  <Paragraphs>132</Paragraphs>
  <Slides>16</Slides>
  <Notes>1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Профиль</vt:lpstr>
      <vt:lpstr>Формула</vt:lpstr>
      <vt:lpstr>Microsoft Equation 3.0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Имзони текшириш алгоритми</vt:lpstr>
      <vt:lpstr>Имзо алгоритмининг корректлиги ГОСТ Р34.10-2001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Microsoft Office</cp:lastModifiedBy>
  <cp:revision>969</cp:revision>
  <cp:lastPrinted>2014-05-31T08:12:20Z</cp:lastPrinted>
  <dcterms:created xsi:type="dcterms:W3CDTF">2010-10-01T16:11:11Z</dcterms:created>
  <dcterms:modified xsi:type="dcterms:W3CDTF">2019-08-21T11:44:25Z</dcterms:modified>
</cp:coreProperties>
</file>