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08" r:id="rId3"/>
    <p:sldId id="309" r:id="rId4"/>
    <p:sldId id="310" r:id="rId5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95C6"/>
    <a:srgbClr val="153943"/>
    <a:srgbClr val="1F3651"/>
    <a:srgbClr val="09191D"/>
    <a:srgbClr val="163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99" autoAdjust="0"/>
    <p:restoredTop sz="95915" autoAdjust="0"/>
  </p:normalViewPr>
  <p:slideViewPr>
    <p:cSldViewPr>
      <p:cViewPr varScale="1">
        <p:scale>
          <a:sx n="108" d="100"/>
          <a:sy n="108" d="100"/>
        </p:scale>
        <p:origin x="153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48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0936A-18C3-47B2-95C2-0EBAC82D5DD8}" type="datetimeFigureOut">
              <a:rPr lang="ru-RU" smtClean="0"/>
              <a:pPr/>
              <a:t>22.11.2023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5B221-89C0-4458-99EA-A08D9A9203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8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5B221-89C0-4458-99EA-A08D9A9203E8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145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5B221-89C0-4458-99EA-A08D9A9203E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909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5B221-89C0-4458-99EA-A08D9A9203E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256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5B221-89C0-4458-99EA-A08D9A9203E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21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52400" y="166092"/>
            <a:ext cx="8839200" cy="6463308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3400" y="457200"/>
            <a:ext cx="815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dir="8400000" algn="ctr" rotWithShape="0">
                    <a:schemeClr val="tx1"/>
                  </a:outerShdw>
                </a:effectLst>
                <a:latin typeface="Times New Roman" pitchFamily="18" charset="0"/>
                <a:cs typeface="Times New Roman" pitchFamily="18" charset="0"/>
              </a:rPr>
              <a:t>Радиоэлектрон тизимлар ва ахборот технологиялари </a:t>
            </a:r>
            <a:r>
              <a:rPr lang="uz-Cyrl-UZ" sz="2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dir="8400000" algn="ctr" rotWithShape="0">
                    <a:schemeClr val="tx1"/>
                  </a:outerShdw>
                </a:effectLst>
                <a:latin typeface="Times New Roman" pitchFamily="18" charset="0"/>
                <a:cs typeface="Times New Roman" pitchFamily="18" charset="0"/>
              </a:rPr>
              <a:t>маркази</a:t>
            </a:r>
            <a:endParaRPr lang="ru-RU" sz="2200" dirty="0">
              <a:solidFill>
                <a:srgbClr val="002060"/>
              </a:solidFill>
              <a:effectLst>
                <a:outerShdw dir="8400000" algn="ctr" rotWithShape="0">
                  <a:schemeClr val="tx1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492368" y="1634698"/>
            <a:ext cx="8153400" cy="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7800" y="30480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411454" y="2902803"/>
            <a:ext cx="6340005" cy="1384995"/>
          </a:xfrm>
          <a:prstGeom prst="rect">
            <a:avLst/>
          </a:prstGeom>
          <a:noFill/>
          <a:ln w="38100"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b="1" dirty="0" err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Эллиптик</a:t>
            </a:r>
            <a:r>
              <a:rPr lang="ru-RU" sz="2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эгри</a:t>
            </a:r>
            <a:r>
              <a:rPr lang="ru-RU" sz="28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чизиқ</a:t>
            </a:r>
            <a:r>
              <a:rPr lang="en-US" sz="2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асос</a:t>
            </a:r>
            <a:r>
              <a:rPr lang="uz-Cyrl-UZ" sz="2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ида</a:t>
            </a:r>
            <a:endParaRPr lang="ru-RU" sz="28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err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маълумотларни</a:t>
            </a:r>
            <a:r>
              <a:rPr lang="ru-RU" sz="2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шифрлаш алгоритми</a:t>
            </a:r>
            <a:endParaRPr lang="ru-RU" sz="2800" b="1" cap="none" spc="0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8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66092"/>
            <a:ext cx="8839200" cy="6463308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  <p:sp>
        <p:nvSpPr>
          <p:cNvPr id="3" name="TextBox 2" title="Мавзунинг долзарблиги"/>
          <p:cNvSpPr txBox="1"/>
          <p:nvPr/>
        </p:nvSpPr>
        <p:spPr>
          <a:xfrm>
            <a:off x="381000" y="304800"/>
            <a:ext cx="8382000" cy="769441"/>
          </a:xfrm>
          <a:prstGeom prst="rect">
            <a:avLst/>
          </a:prstGeom>
        </p:spPr>
        <p:style>
          <a:lnRef idx="0">
            <a:schemeClr val="accent5"/>
          </a:lnRef>
          <a:fillRef idx="1001">
            <a:schemeClr val="dk2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indent="273050" algn="just"/>
            <a:r>
              <a:rPr lang="uz-Cyrl-UZ" sz="2200" b="1" dirty="0">
                <a:latin typeface="Times New Roman" pitchFamily="18" charset="0"/>
                <a:cs typeface="Times New Roman" pitchFamily="18" charset="0"/>
              </a:rPr>
              <a:t>Эллиптик эгри чизиқдан фойдаланиб шифрлаш ва дешифрлашни амалга </a:t>
            </a:r>
            <a:r>
              <a:rPr lang="uz-Cyrl-UZ" sz="2200" b="1" dirty="0" smtClean="0">
                <a:latin typeface="Times New Roman" pitchFamily="18" charset="0"/>
                <a:cs typeface="Times New Roman" pitchFamily="18" charset="0"/>
              </a:rPr>
              <a:t>ошириш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304800" y="1219200"/>
            <a:ext cx="8534400" cy="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 с двумя вырезанными противолежащими углами 9"/>
          <p:cNvSpPr/>
          <p:nvPr/>
        </p:nvSpPr>
        <p:spPr>
          <a:xfrm>
            <a:off x="381000" y="1371600"/>
            <a:ext cx="8382000" cy="5105400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Вертикальный свиток 10"/>
              <p:cNvSpPr/>
              <p:nvPr/>
            </p:nvSpPr>
            <p:spPr>
              <a:xfrm>
                <a:off x="533400" y="1524000"/>
                <a:ext cx="8001000" cy="2209800"/>
              </a:xfrm>
              <a:prstGeom prst="verticalScroll">
                <a:avLst/>
              </a:prstGeom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dk1"/>
              </a:lnRef>
              <a:fillRef idx="1001">
                <a:schemeClr val="lt2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indent="273050"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характеристикали майдонда Е: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uz-Cyrl-UZ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uz-Cyrl-UZ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uz-Cyrl-UZ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uz-Cyrl-UZ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uz-Cyrl-UZ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uz-Cyrl-UZ" i="1">
                        <a:latin typeface="Cambria Math"/>
                      </a:rPr>
                      <m:t>+</m:t>
                    </m:r>
                    <m:r>
                      <a:rPr lang="uz-Cyrl-UZ" i="1">
                        <a:latin typeface="Cambria Math"/>
                      </a:rPr>
                      <m:t>𝑎𝑥</m:t>
                    </m:r>
                    <m:r>
                      <a:rPr lang="uz-Cyrl-UZ" i="1">
                        <a:latin typeface="Cambria Math"/>
                      </a:rPr>
                      <m:t>+</m:t>
                    </m:r>
                    <m:r>
                      <a:rPr lang="uz-Cyrl-UZ" i="1">
                        <a:latin typeface="Cambria Math"/>
                      </a:rPr>
                      <m:t>𝑏</m:t>
                    </m:r>
                    <m:r>
                      <a:rPr lang="uz-Cyrl-UZ" i="1">
                        <a:latin typeface="Cambria Math"/>
                      </a:rPr>
                      <m:t>(</m:t>
                    </m:r>
                    <m:r>
                      <a:rPr lang="uz-Cyrl-UZ" i="1">
                        <a:latin typeface="Cambria Math"/>
                      </a:rPr>
                      <m:t>𝑚𝑜𝑑</m:t>
                    </m:r>
                    <m:r>
                      <a:rPr lang="uz-Cyrl-UZ" i="1">
                        <a:latin typeface="Cambria Math"/>
                      </a:rPr>
                      <m:t> </m:t>
                    </m:r>
                    <m:r>
                      <a:rPr lang="uz-Cyrl-UZ" i="1">
                        <a:latin typeface="Cambria Math"/>
                      </a:rPr>
                      <m:t>𝑝</m:t>
                    </m:r>
                    <m:r>
                      <a:rPr lang="uz-Cyrl-UZ" i="1">
                        <a:latin typeface="Cambria Math"/>
                      </a:rPr>
                      <m:t>)</m:t>
                    </m:r>
                  </m:oMath>
                </a14:m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  эллиптик чизиқ берилган. 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uz-Cyrl-UZ" i="1" dirty="0">
                    <a:latin typeface="Times New Roman" pitchFamily="18" charset="0"/>
                    <a:cs typeface="Times New Roman" pitchFamily="18" charset="0"/>
                  </a:rPr>
                  <a:t>Е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 – </a:t>
                </a:r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ч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изиқда ётувчи </a:t>
                </a:r>
                <a14:m>
                  <m:oMath xmlns:m="http://schemas.openxmlformats.org/officeDocument/2006/math">
                    <m:r>
                      <a:rPr lang="uz-Cyrl-UZ" i="1">
                        <a:latin typeface="Cambria Math"/>
                      </a:rPr>
                      <m:t>𝐺</m:t>
                    </m:r>
                    <m:r>
                      <a:rPr lang="uz-Cyrl-UZ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uz-Cyrl-UZ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uz-Cyrl-UZ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uz-Cyrl-UZ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uz-Cyrl-UZ" i="1">
                        <a:latin typeface="Cambria Math"/>
                      </a:rPr>
                      <m:t>)</m:t>
                    </m:r>
                  </m:oMath>
                </a14:m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 нуқта топилади.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Нуқта тартиби аниқланади ва қуйидагича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𝐺</m:t>
                    </m:r>
                    <m:r>
                      <a:rPr lang="uz-Cyrl-UZ" i="1">
                        <a:latin typeface="Cambria Math"/>
                      </a:rPr>
                      <m:t>=0</m:t>
                    </m:r>
                  </m:oMath>
                </a14:m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Ёпиқ калит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uz-Cyrl-UZ" i="1" dirty="0">
                    <a:latin typeface="Times New Roman" pitchFamily="18" charset="0"/>
                    <a:cs typeface="Times New Roman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uz-Cyrl-UZ" i="1">
                        <a:latin typeface="Cambria Math"/>
                      </a:rPr>
                      <m:t>0&lt;</m:t>
                    </m:r>
                    <m:r>
                      <a:rPr lang="uz-Cyrl-UZ" i="1">
                        <a:latin typeface="Cambria Math"/>
                      </a:rPr>
                      <m:t>𝑑</m:t>
                    </m:r>
                    <m:r>
                      <a:rPr lang="uz-Cyrl-UZ" i="1">
                        <a:latin typeface="Cambria Math"/>
                      </a:rPr>
                      <m:t>&lt;</m:t>
                    </m:r>
                    <m:r>
                      <a:rPr lang="uz-Cyrl-UZ" i="1">
                        <a:latin typeface="Cambria Math"/>
                      </a:rPr>
                      <m:t>𝑛</m:t>
                    </m:r>
                  </m:oMath>
                </a14:m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 шарт билан танланади</a:t>
                </a:r>
                <a:r>
                  <a:rPr lang="ru-RU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342900" lvl="0" indent="-342900" algn="just">
                  <a:buFont typeface="+mj-lt"/>
                  <a:buAutoNum type="arabicPeriod"/>
                </a:pP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Очиқ калит </a:t>
                </a:r>
                <a:r>
                  <a:rPr lang="uz-Cyrl-UZ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z-Cyrl-UZ" i="1">
                        <a:latin typeface="Cambria Math"/>
                      </a:rPr>
                      <m:t>𝑄</m:t>
                    </m:r>
                    <m:r>
                      <a:rPr lang="uz-Cyrl-UZ" i="1">
                        <a:latin typeface="Cambria Math"/>
                      </a:rPr>
                      <m:t>=[</m:t>
                    </m:r>
                    <m:r>
                      <a:rPr lang="uz-Cyrl-UZ" i="1">
                        <a:latin typeface="Cambria Math"/>
                      </a:rPr>
                      <m:t>𝑑</m:t>
                    </m:r>
                    <m:r>
                      <a:rPr lang="uz-Cyrl-UZ" i="1">
                        <a:latin typeface="Cambria Math"/>
                      </a:rPr>
                      <m:t>]</m:t>
                    </m:r>
                    <m:r>
                      <a:rPr lang="uz-Cyrl-UZ" i="1">
                        <a:latin typeface="Cambria Math"/>
                      </a:rPr>
                      <m:t>𝐺</m:t>
                    </m:r>
                  </m:oMath>
                </a14:m>
                <a:r>
                  <a:rPr lang="uz-Cyrl-UZ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тенгликдан аниқланади</a:t>
                </a:r>
                <a:r>
                  <a:rPr lang="uz-Cyrl-UZ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Вертикальный свито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524000"/>
                <a:ext cx="8001000" cy="2209800"/>
              </a:xfrm>
              <a:prstGeom prst="verticalScroll">
                <a:avLst/>
              </a:prstGeom>
              <a:blipFill rotWithShape="1">
                <a:blip r:embed="rId3"/>
                <a:stretch>
                  <a:fillRect/>
                </a:stretch>
              </a:blipFill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1447800" y="1447800"/>
            <a:ext cx="6400800" cy="381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latin typeface="Times New Roman" pitchFamily="18" charset="0"/>
                <a:cs typeface="Times New Roman" pitchFamily="18" charset="0"/>
              </a:rPr>
              <a:t>Параметрларни генерация қилиш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Вертикальный свиток 13"/>
              <p:cNvSpPr/>
              <p:nvPr/>
            </p:nvSpPr>
            <p:spPr>
              <a:xfrm>
                <a:off x="533400" y="3924300"/>
                <a:ext cx="8001000" cy="2400300"/>
              </a:xfrm>
              <a:prstGeom prst="verticalScroll">
                <a:avLst/>
              </a:prstGeom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40000" dist="20000" dir="540000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indent="273050" algn="just"/>
                <a:r>
                  <a:rPr lang="uz-Cyrl-UZ" b="1" dirty="0">
                    <a:latin typeface="Times New Roman" pitchFamily="18" charset="0"/>
                    <a:cs typeface="Times New Roman" pitchFamily="18" charset="0"/>
                  </a:rPr>
                  <a:t>Шифрлаш.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>
                  <a:buFont typeface="+mj-lt"/>
                  <a:buAutoNum type="arabicPeriod"/>
                </a:pP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k 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сони</a:t>
                </a:r>
                <a:r>
                  <a:rPr lang="uz-Cyrl-UZ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0&lt;</m:t>
                    </m:r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ru-RU" i="1">
                        <a:latin typeface="Cambria Math"/>
                      </a:rPr>
                      <m:t>&lt;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оралиқдан танланади.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uz-Cyrl-UZ" i="1">
                        <a:latin typeface="Cambria Math"/>
                      </a:rPr>
                      <m:t>𝐶</m:t>
                    </m:r>
                    <m:r>
                      <a:rPr lang="uz-Cyrl-UZ" i="1">
                        <a:latin typeface="Cambria Math"/>
                      </a:rPr>
                      <m:t>={ 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𝐺</m:t>
                    </m:r>
                    <m:r>
                      <a:rPr lang="uz-Cyrl-UZ" i="1">
                        <a:latin typeface="Cambria Math"/>
                      </a:rPr>
                      <m:t>, </m:t>
                    </m:r>
                    <m:r>
                      <a:rPr lang="uz-Cyrl-UZ" i="1">
                        <a:latin typeface="Cambria Math"/>
                      </a:rPr>
                      <m:t>𝑀</m:t>
                    </m:r>
                    <m:r>
                      <a:rPr lang="uz-Cyrl-UZ" i="1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𝑄</m:t>
                    </m:r>
                    <m:r>
                      <a:rPr lang="uz-Cyrl-UZ" i="1">
                        <a:latin typeface="Cambria Math"/>
                      </a:rPr>
                      <m:t> }</m:t>
                    </m:r>
                  </m:oMath>
                </a14:m>
                <a:r>
                  <a:rPr lang="uz-Cyrl-UZ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шифр матн ҳосил бўлади.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:r>
                  <a:rPr lang="uz-Cyrl-UZ" b="1" dirty="0">
                    <a:latin typeface="Times New Roman" pitchFamily="18" charset="0"/>
                    <a:cs typeface="Times New Roman" pitchFamily="18" charset="0"/>
                  </a:rPr>
                  <a:t>Дешифрлаш.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uz-Cyrl-UZ" i="1">
                        <a:latin typeface="Cambria Math"/>
                      </a:rPr>
                      <m:t>𝑀</m:t>
                    </m:r>
                    <m:r>
                      <a:rPr lang="uz-Cyrl-UZ" i="1">
                        <a:latin typeface="Cambria Math"/>
                      </a:rPr>
                      <m:t>=</m:t>
                    </m:r>
                    <m:r>
                      <a:rPr lang="uz-Cyrl-UZ" i="1">
                        <a:latin typeface="Cambria Math"/>
                      </a:rPr>
                      <m:t>𝑀</m:t>
                    </m:r>
                    <m:r>
                      <a:rPr lang="uz-Cyrl-UZ" i="1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𝑄</m:t>
                    </m:r>
                    <m:r>
                      <a:rPr lang="uz-Cyrl-UZ" i="1">
                        <a:latin typeface="Cambria Math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𝑑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𝐺</m:t>
                    </m:r>
                    <m:r>
                      <a:rPr lang="uz-Cyrl-UZ" i="1">
                        <a:latin typeface="Cambria Math"/>
                      </a:rPr>
                      <m:t>=</m:t>
                    </m:r>
                    <m:r>
                      <a:rPr lang="uz-Cyrl-UZ" i="1">
                        <a:latin typeface="Cambria Math"/>
                      </a:rPr>
                      <m:t>𝑀</m:t>
                    </m:r>
                    <m:r>
                      <a:rPr lang="uz-Cyrl-UZ" i="1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𝑘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𝐺</m:t>
                    </m:r>
                    <m:r>
                      <a:rPr lang="uz-Cyrl-UZ" i="1">
                        <a:latin typeface="Cambria Math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𝑑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uz-Cyrl-UZ" i="1">
                        <a:latin typeface="Cambria Math"/>
                      </a:rPr>
                      <m:t>𝐺</m:t>
                    </m:r>
                  </m:oMath>
                </a14:m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br>
                  <a:rPr lang="uz-Cyrl-UZ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uz-Cyrl-UZ" dirty="0">
                    <a:latin typeface="Times New Roman" pitchFamily="18" charset="0"/>
                    <a:cs typeface="Times New Roman" pitchFamily="18" charset="0"/>
                  </a:rPr>
                  <a:t>маълумот дешифрланади</a:t>
                </a:r>
                <a:r>
                  <a:rPr lang="uz-Cyrl-UZ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Вертикальный свито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924300"/>
                <a:ext cx="8001000" cy="2400300"/>
              </a:xfrm>
              <a:prstGeom prst="verticalScroll">
                <a:avLst/>
              </a:prstGeom>
              <a:blipFill rotWithShape="1">
                <a:blip r:embed="rId4"/>
                <a:stretch>
                  <a:fillRect/>
                </a:stretch>
              </a:blip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40000" dist="20000" dir="540000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Прямоугольник 14"/>
          <p:cNvSpPr/>
          <p:nvPr/>
        </p:nvSpPr>
        <p:spPr>
          <a:xfrm>
            <a:off x="1447800" y="3924300"/>
            <a:ext cx="640080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latin typeface="Times New Roman" pitchFamily="18" charset="0"/>
                <a:cs typeface="Times New Roman" pitchFamily="18" charset="0"/>
              </a:rPr>
              <a:t>Шифрлаш ва дешифрлаш</a:t>
            </a:r>
            <a:r>
              <a:rPr lang="uz-Cyrl-UZ" dirty="0" smtClean="0"/>
              <a:t>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5029200" cy="576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uz-Cyrl-UZ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953000"/>
            <a:ext cx="2514600" cy="288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5364000" cy="288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9290735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66092"/>
            <a:ext cx="8839200" cy="6463308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  <p:sp>
        <p:nvSpPr>
          <p:cNvPr id="3" name="TextBox 2" title="Мавзунинг долзарблиги"/>
          <p:cNvSpPr txBox="1"/>
          <p:nvPr/>
        </p:nvSpPr>
        <p:spPr>
          <a:xfrm>
            <a:off x="381000" y="304800"/>
            <a:ext cx="8382000" cy="769441"/>
          </a:xfrm>
          <a:prstGeom prst="rect">
            <a:avLst/>
          </a:prstGeom>
        </p:spPr>
        <p:style>
          <a:lnRef idx="0">
            <a:schemeClr val="accent5"/>
          </a:lnRef>
          <a:fillRef idx="1001">
            <a:schemeClr val="dk2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indent="273050" algn="just"/>
            <a:r>
              <a:rPr lang="uz-Cyrl-UZ" sz="2200" b="1" dirty="0">
                <a:latin typeface="Times New Roman" pitchFamily="18" charset="0"/>
                <a:cs typeface="Times New Roman" pitchFamily="18" charset="0"/>
              </a:rPr>
              <a:t>Эллиптик эгри чизиқдан фойдаланиб шифрлаш ва дешифрлашни амалга </a:t>
            </a:r>
            <a:r>
              <a:rPr lang="uz-Cyrl-UZ" sz="2200" b="1" dirty="0" smtClean="0">
                <a:latin typeface="Times New Roman" pitchFamily="18" charset="0"/>
                <a:cs typeface="Times New Roman" pitchFamily="18" charset="0"/>
              </a:rPr>
              <a:t>ошириш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304800" y="1219200"/>
            <a:ext cx="8534400" cy="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с двумя вырезанными противолежащими углами 5"/>
              <p:cNvSpPr/>
              <p:nvPr/>
            </p:nvSpPr>
            <p:spPr>
              <a:xfrm>
                <a:off x="381000" y="1371600"/>
                <a:ext cx="8382000" cy="5105400"/>
              </a:xfrm>
              <a:prstGeom prst="snip2DiagRect">
                <a:avLst>
                  <a:gd name="adj1" fmla="val 0"/>
                  <a:gd name="adj2" fmla="val 7355"/>
                </a:avLst>
              </a:prstGeom>
              <a:pattFill prst="wdUpDiag">
                <a:fgClr>
                  <a:schemeClr val="accent3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indent="273050" algn="just">
                  <a:spcAft>
                    <a:spcPts val="10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𝑦</m:t>
                        </m:r>
                      </m:e>
                      <m:sup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sup>
                    </m:sSup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−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+1(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𝑚𝑜𝑑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 751)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берилган бўлсин. Маълумот белгилари чизиқнинг нуқталари бўлиш шартини бажарувчи қуйидаги жадвални ташкил этади</a:t>
                </a:r>
                <a:r>
                  <a:rPr lang="uz-Cyrl-UZ" dirty="0" smtClean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 smtClean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 smtClean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 smtClean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uz-Cyrl-UZ" dirty="0" smtClean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indent="273050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ru-RU" dirty="0">
                  <a:solidFill>
                    <a:schemeClr val="tx1"/>
                  </a:solidFill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Прямоугольник с двумя вырезанными противолежащими углами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371600"/>
                <a:ext cx="8382000" cy="5105400"/>
              </a:xfrm>
              <a:prstGeom prst="snip2DiagRect">
                <a:avLst>
                  <a:gd name="adj1" fmla="val 0"/>
                  <a:gd name="adj2" fmla="val 7355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69" name="Picture 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0" b="60000"/>
          <a:stretch/>
        </p:blipFill>
        <p:spPr bwMode="auto">
          <a:xfrm>
            <a:off x="533400" y="2362200"/>
            <a:ext cx="8105634" cy="3048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0" b="8958"/>
          <a:stretch/>
        </p:blipFill>
        <p:spPr bwMode="auto">
          <a:xfrm>
            <a:off x="534988" y="2667000"/>
            <a:ext cx="8104046" cy="3474493"/>
          </a:xfrm>
          <a:prstGeom prst="rect">
            <a:avLst/>
          </a:prstGeom>
          <a:ln>
            <a:noFill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7" b="8791"/>
          <a:stretch/>
        </p:blipFill>
        <p:spPr bwMode="auto">
          <a:xfrm>
            <a:off x="533401" y="2660650"/>
            <a:ext cx="8105634" cy="348084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2700337"/>
            <a:ext cx="8104046" cy="33956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2667000"/>
            <a:ext cx="8104047" cy="27432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1143000" y="2660650"/>
            <a:ext cx="2133600" cy="2520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0706235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5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66092"/>
            <a:ext cx="8839200" cy="6463308"/>
          </a:xfrm>
          <a:prstGeom prst="rect">
            <a:avLst/>
          </a:prstGeom>
          <a:noFill/>
          <a:ln w="47625">
            <a:solidFill>
              <a:schemeClr val="tx1">
                <a:lumMod val="85000"/>
                <a:lumOff val="1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 smtClean="0"/>
          </a:p>
          <a:p>
            <a:endParaRPr lang="uz-Cyrl-UZ" dirty="0"/>
          </a:p>
        </p:txBody>
      </p:sp>
      <p:sp>
        <p:nvSpPr>
          <p:cNvPr id="3" name="TextBox 2" title="Мавзунинг долзарблиги"/>
          <p:cNvSpPr txBox="1"/>
          <p:nvPr/>
        </p:nvSpPr>
        <p:spPr>
          <a:xfrm>
            <a:off x="381000" y="304800"/>
            <a:ext cx="8382000" cy="769441"/>
          </a:xfrm>
          <a:prstGeom prst="rect">
            <a:avLst/>
          </a:prstGeom>
        </p:spPr>
        <p:style>
          <a:lnRef idx="0">
            <a:schemeClr val="accent5"/>
          </a:lnRef>
          <a:fillRef idx="1001">
            <a:schemeClr val="dk2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indent="273050" algn="just"/>
            <a:r>
              <a:rPr lang="uz-Cyrl-UZ" sz="2200" b="1" dirty="0">
                <a:latin typeface="Times New Roman" pitchFamily="18" charset="0"/>
                <a:cs typeface="Times New Roman" pitchFamily="18" charset="0"/>
              </a:rPr>
              <a:t>Эллиптик эгри чизиқдан фойдаланиб шифрлаш ва дешифрлашни амалга </a:t>
            </a:r>
            <a:r>
              <a:rPr lang="uz-Cyrl-UZ" sz="2200" b="1" dirty="0" smtClean="0">
                <a:latin typeface="Times New Roman" pitchFamily="18" charset="0"/>
                <a:cs typeface="Times New Roman" pitchFamily="18" charset="0"/>
              </a:rPr>
              <a:t>ошириш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304800" y="1219200"/>
            <a:ext cx="8534400" cy="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с двумя вырезанными противолежащими углами 14"/>
              <p:cNvSpPr/>
              <p:nvPr/>
            </p:nvSpPr>
            <p:spPr>
              <a:xfrm>
                <a:off x="381000" y="1371600"/>
                <a:ext cx="8382000" cy="5105400"/>
              </a:xfrm>
              <a:prstGeom prst="snip2DiagRect">
                <a:avLst>
                  <a:gd name="adj1" fmla="val 0"/>
                  <a:gd name="adj2" fmla="val 7355"/>
                </a:avLst>
              </a:prstGeom>
              <a:pattFill prst="wdUpDiag">
                <a:fgClr>
                  <a:schemeClr val="accent3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indent="269875" algn="just">
                  <a:spcAft>
                    <a:spcPts val="0"/>
                  </a:spcAft>
                </a:pPr>
                <a:r>
                  <a:rPr lang="uz-Cyrl-UZ" b="1" dirty="0" smtClean="0">
                    <a:solidFill>
                      <a:schemeClr val="tx1"/>
                    </a:solidFill>
                    <a:latin typeface="Times New Roman" pitchFamily="18" charset="0"/>
                    <a:ea typeface="Times New Roman"/>
                    <a:cs typeface="Times New Roman" pitchFamily="18" charset="0"/>
                  </a:rPr>
                  <a:t>1. Параметрларни генерация қилиш.</a:t>
                </a:r>
                <a:endParaRPr lang="ru-RU" b="1" dirty="0" smtClean="0">
                  <a:solidFill>
                    <a:schemeClr val="tx1"/>
                  </a:solidFill>
                  <a:latin typeface="Times New Roman" pitchFamily="18" charset="0"/>
                  <a:ea typeface="Times New Roman"/>
                  <a:cs typeface="Times New Roman" pitchFamily="18" charset="0"/>
                </a:endParaRPr>
              </a:p>
              <a:p>
                <a:pPr indent="269875"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𝑦</m:t>
                        </m:r>
                      </m:e>
                      <m:sup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𝑥</m:t>
                        </m:r>
                      </m:e>
                      <m:sup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sup>
                    </m:sSup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−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+1(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𝑚𝑜𝑑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 751)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тенглама ва шу тенгламага тегишли бўлган </a:t>
                </a:r>
                <a14:m>
                  <m:oMath xmlns:m="http://schemas.openxmlformats.org/officeDocument/2006/math"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(0,1)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базис нуқта. Нуқта бўйича чизиқ тартиби </a:t>
                </a:r>
                <a14:m>
                  <m:oMath xmlns:m="http://schemas.openxmlformats.org/officeDocument/2006/math"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𝑛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=727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га тенг. Очиқ матн лотин алифбосидаги</a:t>
                </a:r>
                <a:r>
                  <a:rPr lang="uz-Cyrl-UZ" dirty="0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lang="uz-Cyrl-UZ" b="1" i="1" dirty="0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А</a:t>
                </a:r>
                <a:r>
                  <a:rPr lang="uz-Cyrl-UZ" dirty="0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ҳарфи. Унга  мос нуқта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𝑚</m:t>
                        </m:r>
                      </m:sub>
                    </m:sSub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=(66, 552)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. </a:t>
                </a:r>
                <a:endParaRPr lang="ru-RU" sz="1400" dirty="0">
                  <a:solidFill>
                    <a:schemeClr val="tx1"/>
                  </a:solidFill>
                  <a:ea typeface="Times New Roman"/>
                  <a:cs typeface="Times New Roman"/>
                </a:endParaRPr>
              </a:p>
              <a:p>
                <a:pPr indent="269875" algn="just">
                  <a:spcAft>
                    <a:spcPts val="0"/>
                  </a:spcAft>
                </a:pPr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Ёпиқ калит </a:t>
                </a:r>
                <a14:m>
                  <m:oMath xmlns:m="http://schemas.openxmlformats.org/officeDocument/2006/math"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𝑑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=45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бўлсин.</a:t>
                </a:r>
                <a:endParaRPr lang="ru-RU" sz="1400" dirty="0">
                  <a:solidFill>
                    <a:schemeClr val="tx1"/>
                  </a:solidFill>
                  <a:ea typeface="Times New Roman"/>
                  <a:cs typeface="Times New Roman"/>
                </a:endParaRPr>
              </a:p>
              <a:p>
                <a:pPr indent="269875" algn="just">
                  <a:spcAft>
                    <a:spcPts val="1000"/>
                  </a:spcAft>
                </a:pPr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Очиқ калит </a:t>
                </a:r>
                <a14:m>
                  <m:oMath xmlns:m="http://schemas.openxmlformats.org/officeDocument/2006/math"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𝑄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Times New Roman"/>
                            <a:cs typeface="Times New Roman"/>
                          </a:rPr>
                          <m:t>𝑑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=[45]</m:t>
                    </m:r>
                    <m:r>
                      <m:rPr>
                        <m:nor/>
                      </m:rPr>
                      <a:rPr lang="uz-Cyrl-UZ">
                        <a:solidFill>
                          <a:schemeClr val="tx1"/>
                        </a:solidFill>
                        <a:effectLst/>
                        <a:latin typeface="Cambria Math"/>
                        <a:ea typeface="Times New Roman"/>
                        <a:cs typeface="Times New Roman"/>
                      </a:rPr>
                      <m:t>(0, 1)=(406, 397)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 тенг бўлади</a:t>
                </a:r>
                <a:r>
                  <a:rPr lang="uz-Cyrl-UZ" dirty="0" smtClean="0">
                    <a:solidFill>
                      <a:schemeClr val="tx1"/>
                    </a:solidFill>
                    <a:effectLst/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pPr indent="273050" algn="just"/>
                <a:r>
                  <a:rPr lang="uz-Cyrl-UZ" b="1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Шифрлаш.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0&lt;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𝑘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&lt;727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шартни қаноатлантирувчи </a:t>
                </a:r>
                <a14:m>
                  <m:oMath xmlns:m="http://schemas.openxmlformats.org/officeDocument/2006/math"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𝑘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сони танланди.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e>
                    </m:d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0, 1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= ?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ҳисобланади</a:t>
                </a:r>
                <a:r>
                  <a:rPr lang="ru-RU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0, 1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0, 1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=(188, 93)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0, 1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188, 93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uz-Cyrl-UZ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56, 419</m:t>
                    </m:r>
                  </m:oMath>
                </a14:m>
                <a:r>
                  <a:rPr lang="uz-Cyrl-UZ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𝑄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66, 552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406, 397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=(301, 734)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Шифр матн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={ 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56, 552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, (301, 734)}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indent="273050" algn="just"/>
                <a:r>
                  <a:rPr lang="uz-Cyrl-UZ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Дешифрлаш.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Ёпиқ калит ёрдамида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45</m:t>
                        </m:r>
                      </m:e>
                    </m:d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z-Cyrl-UZ" i="1">
                            <a:solidFill>
                              <a:schemeClr val="tx1"/>
                            </a:solidFill>
                            <a:latin typeface="Cambria Math"/>
                          </a:rPr>
                          <m:t>56, 419</m:t>
                        </m:r>
                      </m:e>
                    </m:d>
                    <m:r>
                      <a:rPr lang="uz-Cyrl-UZ" i="1">
                        <a:solidFill>
                          <a:schemeClr val="tx1"/>
                        </a:solidFill>
                        <a:latin typeface="Cambria Math"/>
                      </a:rPr>
                      <m:t>=(175, −192)</m:t>
                    </m:r>
                  </m:oMath>
                </a14:m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ҳисобланади. 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0" indent="273050"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𝐺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301, 734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175,−192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301, 734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175,192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/>
                          </a:rPr>
                          <m:t>66,552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={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uz-Cyrl-UZ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демак, маълумот дешифрланди.</a:t>
                </a:r>
                <a:endPara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indent="269875" algn="just">
                  <a:lnSpc>
                    <a:spcPct val="115000"/>
                  </a:lnSpc>
                  <a:spcAft>
                    <a:spcPts val="1000"/>
                  </a:spcAft>
                </a:pPr>
                <a:endParaRPr lang="ru-RU" sz="1400" dirty="0">
                  <a:solidFill>
                    <a:schemeClr val="tx1"/>
                  </a:solidFill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Прямоугольник с двумя вырезанными противолежащими углами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371600"/>
                <a:ext cx="8382000" cy="5105400"/>
              </a:xfrm>
              <a:prstGeom prst="snip2DiagRect">
                <a:avLst>
                  <a:gd name="adj1" fmla="val 0"/>
                  <a:gd name="adj2" fmla="val 7355"/>
                </a:avLst>
              </a:prstGeom>
              <a:blipFill rotWithShape="1">
                <a:blip r:embed="rId3"/>
                <a:stretch>
                  <a:fillRect t="-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5257800" y="2514600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2133600" y="3048000"/>
            <a:ext cx="3352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133600" y="5105400"/>
            <a:ext cx="2895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200400" y="6172200"/>
            <a:ext cx="160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83874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5256</TotalTime>
  <Words>72</Words>
  <Application>Microsoft Office PowerPoint</Application>
  <PresentationFormat>Экран (4:3)</PresentationFormat>
  <Paragraphs>129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Microsoft Office</cp:lastModifiedBy>
  <cp:revision>703</cp:revision>
  <dcterms:created xsi:type="dcterms:W3CDTF">2012-09-04T09:12:11Z</dcterms:created>
  <dcterms:modified xsi:type="dcterms:W3CDTF">2023-11-22T03:53:41Z</dcterms:modified>
</cp:coreProperties>
</file>