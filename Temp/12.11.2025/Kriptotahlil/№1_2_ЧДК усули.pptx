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1" r:id="rId3"/>
    <p:sldId id="269" r:id="rId4"/>
    <p:sldId id="265" r:id="rId5"/>
    <p:sldId id="266" r:id="rId6"/>
    <p:sldId id="279" r:id="rId7"/>
    <p:sldId id="280" r:id="rId8"/>
    <p:sldId id="278" r:id="rId9"/>
    <p:sldId id="282" r:id="rId10"/>
    <p:sldId id="283" r:id="rId11"/>
    <p:sldId id="284" r:id="rId12"/>
    <p:sldId id="285" r:id="rId13"/>
  </p:sldIdLst>
  <p:sldSz cx="9144000" cy="6858000" type="screen4x3"/>
  <p:notesSz cx="6669088" cy="9928225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800000"/>
    <a:srgbClr val="000099"/>
    <a:srgbClr val="CCECFF"/>
    <a:srgbClr val="CCCCFF"/>
    <a:srgbClr val="99CCFF"/>
    <a:srgbClr val="9999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82" autoAdjust="0"/>
    <p:restoredTop sz="97876" autoAdjust="0"/>
  </p:normalViewPr>
  <p:slideViewPr>
    <p:cSldViewPr>
      <p:cViewPr varScale="1">
        <p:scale>
          <a:sx n="113" d="100"/>
          <a:sy n="113" d="100"/>
        </p:scale>
        <p:origin x="-186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27"/>
        <p:guide pos="210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F77F116-6B20-42D1-9B27-5D8DB9CFAB87}" type="datetimeFigureOut">
              <a:rPr lang="ru-RU"/>
              <a:pPr>
                <a:defRPr/>
              </a:pPr>
              <a:t>22.08.2019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101CC7F-9864-4A82-97D1-41479920BD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145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B649858-20A1-4323-B446-AC6C491FCCFA}" type="datetimeFigureOut">
              <a:rPr lang="ru-RU"/>
              <a:pPr>
                <a:defRPr/>
              </a:pPr>
              <a:t>22.08.2019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C57951D-2986-4A29-9D24-C57C784D39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2256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A3665C9-42B0-46C0-92C1-1FEA14FFFA16}" type="slidenum">
              <a:rPr lang="ru-RU" smtClean="0"/>
              <a:pPr/>
              <a:t>1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ru-RU" sz="2400">
              <a:latin typeface="Times New Roman" pitchFamily="18" charset="0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4832D-862A-4B1C-B74E-A24BCCA1713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C08D7-2696-401B-941B-F7FFE7D49D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39CF83-AC18-45D3-A83C-7B61CD81E22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34070-B1E2-4996-BEA5-A8546F6CD93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4C2917-0F01-4196-9216-9F681C67033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F762B7-1919-411D-831A-DE483A64CF0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95BAD-CD41-48A2-AECC-94AD7EA419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9CBFC-1E7F-421E-8DC9-7D8B308FDC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DBA19-C2FF-46C8-A8F2-0D27D38A00C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64AF7-A129-4EB1-9BD4-07F732DE90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E8F330-5DC7-4EF5-A4D5-8A8463A42B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53252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ru-RU" sz="2400">
              <a:latin typeface="Times New Roman" pitchFamily="18" charset="0"/>
            </a:endParaRPr>
          </a:p>
        </p:txBody>
      </p:sp>
      <p:sp>
        <p:nvSpPr>
          <p:cNvPr id="53253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CA4B74-A3F2-4A30-B844-C1345EEBAE8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484563" y="6148388"/>
            <a:ext cx="2071687" cy="423862"/>
          </a:xfrm>
        </p:spPr>
        <p:txBody>
          <a:bodyPr/>
          <a:lstStyle/>
          <a:p>
            <a:pPr algn="ctr" eaLnBrk="1" hangingPunct="1">
              <a:defRPr/>
            </a:pPr>
            <a:r>
              <a:rPr lang="uz-Cyrl-UZ" sz="2000" b="1" u="sng" dirty="0" smtClean="0">
                <a:solidFill>
                  <a:schemeClr val="tx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</a:rPr>
              <a:t/>
            </a:r>
            <a:br>
              <a:rPr lang="uz-Cyrl-UZ" sz="2000" b="1" u="sng" dirty="0" smtClean="0">
                <a:solidFill>
                  <a:schemeClr val="tx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</a:rPr>
            </a:br>
            <a:r>
              <a:rPr lang="uz-Cyrl-UZ" sz="2000" b="1" dirty="0" smtClean="0">
                <a:solidFill>
                  <a:schemeClr val="tx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</a:rPr>
              <a:t>Тошкент</a:t>
            </a:r>
            <a:r>
              <a:rPr lang="ru-RU" sz="2000" b="1" dirty="0" smtClean="0">
                <a:solidFill>
                  <a:srgbClr val="000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</a:rPr>
              <a:t> - 20</a:t>
            </a:r>
            <a:r>
              <a:rPr lang="en-US" sz="2000" b="1" dirty="0" smtClean="0">
                <a:solidFill>
                  <a:srgbClr val="000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itchFamily="18" charset="0"/>
              </a:rPr>
              <a:t>19</a:t>
            </a:r>
            <a:endParaRPr lang="ru-RU" sz="2000" b="1" dirty="0" smtClean="0">
              <a:solidFill>
                <a:srgbClr val="3B0076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itchFamily="18" charset="0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502543" y="500042"/>
            <a:ext cx="8113713" cy="4270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>
              <a:defRPr/>
            </a:pPr>
            <a:r>
              <a:rPr lang="uz-Cyrl-UZ" sz="2200" b="1" dirty="0">
                <a:ln w="11430">
                  <a:solidFill>
                    <a:schemeClr val="tx1"/>
                  </a:solidFill>
                </a:ln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</a:rPr>
              <a:t>Радиоэлектрон тизимлар ва ахборот</a:t>
            </a:r>
            <a:r>
              <a:rPr lang="en-US" sz="2200" b="1" dirty="0">
                <a:ln w="11430">
                  <a:solidFill>
                    <a:schemeClr val="tx1"/>
                  </a:solidFill>
                </a:ln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>
                <a:ln w="11430">
                  <a:solidFill>
                    <a:schemeClr val="tx1"/>
                  </a:solidFill>
                </a:ln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</a:rPr>
              <a:t>т</a:t>
            </a:r>
            <a:r>
              <a:rPr lang="uz-Cyrl-UZ" sz="2200" b="1" dirty="0">
                <a:ln w="11430">
                  <a:solidFill>
                    <a:schemeClr val="tx1"/>
                  </a:solidFill>
                </a:ln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</a:rPr>
              <a:t>ехнологиялари</a:t>
            </a:r>
            <a:r>
              <a:rPr lang="en-US" sz="2200" b="1" dirty="0">
                <a:ln w="11430">
                  <a:solidFill>
                    <a:schemeClr val="tx1"/>
                  </a:solidFill>
                </a:ln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>
                <a:ln w="11430">
                  <a:solidFill>
                    <a:schemeClr val="tx1"/>
                  </a:solidFill>
                </a:ln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</a:rPr>
              <a:t>М</a:t>
            </a:r>
            <a:r>
              <a:rPr lang="uz-Cyrl-UZ" sz="2200" b="1" dirty="0">
                <a:ln w="11430">
                  <a:solidFill>
                    <a:schemeClr val="tx1"/>
                  </a:solidFill>
                </a:ln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</a:rPr>
              <a:t>аркази</a:t>
            </a:r>
            <a:endParaRPr lang="ru-RU" sz="2200" b="1" dirty="0">
              <a:ln w="11430">
                <a:solidFill>
                  <a:schemeClr val="tx1"/>
                </a:solidFill>
              </a:ln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827546" y="3060708"/>
            <a:ext cx="7445375" cy="14398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uz-Cyrl-UZ" sz="2200" dirty="0">
                <a:solidFill>
                  <a:schemeClr val="tx1"/>
                </a:solidFill>
                <a:latin typeface="Times New Roman" pitchFamily="18" charset="0"/>
              </a:rPr>
              <a:t>Фейстел тармоғига асосланган симметрик шифрлаш алгоритмлари учун чизиқли-дифференциал криптотаҳлил </a:t>
            </a: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</a:rPr>
              <a:t>усули</a:t>
            </a:r>
            <a:endParaRPr lang="ru-RU" sz="2200" b="1" dirty="0">
              <a:ln w="11430">
                <a:solidFill>
                  <a:schemeClr val="accent6">
                    <a:lumMod val="50000"/>
                  </a:schemeClr>
                </a:solidFill>
              </a:ln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0" name="Flowchart: Process 9"/>
          <p:cNvSpPr/>
          <p:nvPr/>
        </p:nvSpPr>
        <p:spPr>
          <a:xfrm>
            <a:off x="214282" y="214290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85720" y="98582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Round Same Side Corner Rectangle 2"/>
          <p:cNvSpPr/>
          <p:nvPr/>
        </p:nvSpPr>
        <p:spPr bwMode="auto">
          <a:xfrm>
            <a:off x="500063" y="239712"/>
            <a:ext cx="8143875" cy="684000"/>
          </a:xfrm>
          <a:prstGeom prst="round2SameRect">
            <a:avLst/>
          </a:prstGeom>
          <a:solidFill>
            <a:srgbClr val="003399"/>
          </a:solidFill>
          <a:effectLst>
            <a:glow rad="1397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55650">
              <a:lnSpc>
                <a:spcPct val="90000"/>
              </a:lnSpc>
              <a:spcAft>
                <a:spcPct val="35000"/>
              </a:spcAft>
              <a:tabLst>
                <a:tab pos="533400" algn="l"/>
              </a:tabLst>
              <a:defRPr/>
            </a:pPr>
            <a:r>
              <a:rPr lang="uz-Cyrl-UZ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Фейстел тармоғига асосланган симметрик шифрлаш алгоритмлари учун чизиқли </a:t>
            </a:r>
            <a:r>
              <a:rPr lang="en-US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– </a:t>
            </a:r>
            <a:r>
              <a:rPr lang="uz-Cyrl-UZ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дифференциал криптотаҳлил усули</a:t>
            </a:r>
            <a:endParaRPr lang="ru-RU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Line 16"/>
          <p:cNvSpPr>
            <a:spLocks noChangeShapeType="1"/>
          </p:cNvSpPr>
          <p:nvPr/>
        </p:nvSpPr>
        <p:spPr bwMode="auto">
          <a:xfrm>
            <a:off x="323850" y="6577013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8" name="Flowchart: Process 7"/>
          <p:cNvSpPr/>
          <p:nvPr/>
        </p:nvSpPr>
        <p:spPr>
          <a:xfrm>
            <a:off x="155544" y="130152"/>
            <a:ext cx="8813831" cy="6613548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298449" y="1092168"/>
            <a:ext cx="8496000" cy="5308632"/>
          </a:xfrm>
          <a:prstGeom prst="foldedCorner">
            <a:avLst>
              <a:gd name="adj" fmla="val 8644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algn="just" defTabSz="755650">
              <a:lnSpc>
                <a:spcPct val="90000"/>
              </a:lnSpc>
              <a:spcAft>
                <a:spcPct val="35000"/>
              </a:spcAft>
              <a:tabLst>
                <a:tab pos="533400" algn="l"/>
              </a:tabLst>
              <a:defRPr/>
            </a:pPr>
            <a:endParaRPr lang="en-US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4" name="Rectangle 1"/>
          <p:cNvSpPr>
            <a:spLocks noChangeArrowheads="1"/>
          </p:cNvSpPr>
          <p:nvPr/>
        </p:nvSpPr>
        <p:spPr bwMode="auto">
          <a:xfrm>
            <a:off x="392113" y="1104900"/>
            <a:ext cx="8294687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365125" algn="just">
              <a:buSzPct val="105000"/>
              <a:buFontTx/>
              <a:buBlip>
                <a:blip r:embed="rId2"/>
              </a:buBlip>
            </a:pP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Чизиқли – дифференциал криптотаҳлил (ЧДК) усули чизиқли ҳамда дифференциал криптотаҳлил усулларини умумлаштиришга асосланган. Яъни бирор фейстел тармоғига асосланган </a:t>
            </a:r>
            <a:r>
              <a:rPr lang="uz-Cyrl-UZ" sz="19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  раундли шифрлаш алгоритми таҳлил қилинаётган бўлса, дастлабки </a:t>
            </a:r>
            <a:r>
              <a:rPr lang="uz-Cyrl-UZ" sz="19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 раундига дифференциал, кейинги </a:t>
            </a:r>
            <a:r>
              <a:rPr lang="uz-Cyrl-UZ" sz="1900" b="1" i="1" dirty="0">
                <a:latin typeface="Times New Roman" pitchFamily="18" charset="0"/>
                <a:cs typeface="Times New Roman" pitchFamily="18" charset="0"/>
              </a:rPr>
              <a:t>n-m-1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 раундиги чизиқли криптотаҳлил усулини қўллаш ҳамда </a:t>
            </a:r>
            <a:r>
              <a:rPr lang="uz-Cyrl-UZ" sz="1900" b="1" i="1" dirty="0">
                <a:latin typeface="Times New Roman" pitchFamily="18" charset="0"/>
                <a:cs typeface="Times New Roman" pitchFamily="18" charset="0"/>
              </a:rPr>
              <a:t>n-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раундда фойдаланилган калит битларини аниқлаш </a:t>
            </a:r>
            <a:r>
              <a:rPr lang="uz-Cyrl-UZ" sz="1900" dirty="0" smtClean="0">
                <a:latin typeface="Times New Roman" pitchFamily="18" charset="0"/>
                <a:cs typeface="Times New Roman" pitchFamily="18" charset="0"/>
              </a:rPr>
              <a:t>тамо</a:t>
            </a:r>
            <a:r>
              <a:rPr lang="ru-RU" sz="1900" dirty="0" err="1" smtClean="0">
                <a:latin typeface="Times New Roman" pitchFamily="18" charset="0"/>
                <a:cs typeface="Times New Roman" pitchFamily="18" charset="0"/>
              </a:rPr>
              <a:t>й</a:t>
            </a:r>
            <a:r>
              <a:rPr lang="uz-Cyrl-UZ" sz="1900" dirty="0" smtClean="0">
                <a:latin typeface="Times New Roman" pitchFamily="18" charset="0"/>
                <a:cs typeface="Times New Roman" pitchFamily="18" charset="0"/>
              </a:rPr>
              <a:t>илиги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асосланади. </a:t>
            </a:r>
          </a:p>
          <a:p>
            <a:pPr indent="365125" algn="just">
              <a:buSzPct val="105000"/>
              <a:buFontTx/>
              <a:buBlip>
                <a:blip r:embed="rId2"/>
              </a:buBlip>
            </a:pPr>
            <a:endParaRPr lang="uz-Cyrl-UZ" sz="1200" dirty="0">
              <a:latin typeface="Times New Roman" pitchFamily="18" charset="0"/>
              <a:cs typeface="Times New Roman" pitchFamily="18" charset="0"/>
            </a:endParaRPr>
          </a:p>
          <a:p>
            <a:pPr indent="365125" algn="just">
              <a:buSzPct val="105000"/>
              <a:buFontTx/>
              <a:buBlip>
                <a:blip r:embed="rId2"/>
              </a:buBlip>
            </a:pP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Агар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 ёки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S_DES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шифрлаш алгоритми ЧДК усули орқали таҳлил қилинаётган бўлса, криптотаҳлилчига </a:t>
            </a:r>
            <a:r>
              <a:rPr lang="uz-Cyrl-UZ" sz="1900" dirty="0" smtClean="0">
                <a:latin typeface="Times New Roman" pitchFamily="18" charset="0"/>
                <a:cs typeface="Times New Roman" pitchFamily="18" charset="0"/>
              </a:rPr>
              <a:t>айирмаси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белгиланган талабларни бажарувчи очиқ матнлар жуфтлиги ҳамда уларни бир ҳил калит билан шифрланган шифр матнлар жуфтлиги м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аъ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лум </a:t>
            </a:r>
            <a:r>
              <a:rPr lang="uz-Cyrl-UZ" sz="1900" dirty="0" smtClean="0">
                <a:latin typeface="Times New Roman" pitchFamily="18" charset="0"/>
                <a:cs typeface="Times New Roman" pitchFamily="18" charset="0"/>
              </a:rPr>
              <a:t>бўлиши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лозим.</a:t>
            </a:r>
          </a:p>
          <a:p>
            <a:pPr indent="365125" algn="just">
              <a:buSzPct val="105000"/>
              <a:buFontTx/>
              <a:buBlip>
                <a:blip r:embed="rId2"/>
              </a:buBlip>
            </a:pPr>
            <a:endParaRPr lang="uz-Cyrl-UZ" sz="1200" dirty="0">
              <a:latin typeface="Times New Roman" pitchFamily="18" charset="0"/>
              <a:cs typeface="Times New Roman" pitchFamily="18" charset="0"/>
            </a:endParaRPr>
          </a:p>
          <a:p>
            <a:pPr indent="365125" algn="just">
              <a:buSzPct val="105000"/>
              <a:buFontTx/>
              <a:buBlip>
                <a:blip r:embed="rId2"/>
              </a:buBlip>
            </a:pP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Ушбу криптотаҳлил усули Мартин Хеллман ва Сьюзен Лангфорд томонидан 1994 – йилда таклиф этилган. Ғоя муаллифлари томонидан бу хужум турини қўллаб, 512 та очиқ матн ёрдамида DES шифрлаш алгоритмида фойдаланилган махфий калит 10 битини 80 % эҳтимоллик бил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н аниқлашга эришилган. Очиқ матн сонини 768 тага ошириш орқали бу эҳтимоллик қийматини 95 % гача етказиш мумкин.</a:t>
            </a:r>
            <a:endParaRPr lang="uz-Cyrl-UZ" sz="19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lgGri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85720" y="7794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84106" y="55148"/>
            <a:ext cx="8964000" cy="6732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Round Same Side Corner Rectangle 7"/>
          <p:cNvSpPr/>
          <p:nvPr/>
        </p:nvSpPr>
        <p:spPr bwMode="auto">
          <a:xfrm>
            <a:off x="500063" y="105350"/>
            <a:ext cx="8143875" cy="504000"/>
          </a:xfrm>
          <a:prstGeom prst="round2SameRect">
            <a:avLst/>
          </a:prstGeom>
          <a:solidFill>
            <a:srgbClr val="003399"/>
          </a:solidFill>
          <a:effectLst>
            <a:glow rad="1397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S_DES </a:t>
            </a:r>
            <a:r>
              <a:rPr lang="uz-Cyrl-UZ" sz="1600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шифрлаш алгоритми учун чизиқли – дифференциал криптотаҳлил </a:t>
            </a:r>
            <a:endParaRPr lang="en-US" sz="1600" b="1" spc="50" dirty="0">
              <a:ln w="12700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Times New Roman" pitchFamily="18" charset="0"/>
            </a:endParaRPr>
          </a:p>
          <a:p>
            <a:pPr algn="ctr">
              <a:defRPr/>
            </a:pPr>
            <a:r>
              <a:rPr lang="uz-Cyrl-UZ" sz="1600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усулининг қўлланишига мисол</a:t>
            </a:r>
            <a:endParaRPr lang="ru-RU" sz="1600" dirty="0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53926" y="674695"/>
            <a:ext cx="8820000" cy="6084000"/>
          </a:xfrm>
          <a:prstGeom prst="foldedCorner">
            <a:avLst>
              <a:gd name="adj" fmla="val 2474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indent="355600" algn="just">
              <a:defRPr/>
            </a:pPr>
            <a:endParaRPr lang="ru-RU" sz="1600" b="1" dirty="0">
              <a:solidFill>
                <a:srgbClr val="00206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29" name="TextBox 8"/>
          <p:cNvSpPr txBox="1">
            <a:spLocks noChangeArrowheads="1"/>
          </p:cNvSpPr>
          <p:nvPr/>
        </p:nvSpPr>
        <p:spPr bwMode="auto">
          <a:xfrm>
            <a:off x="227013" y="617538"/>
            <a:ext cx="86534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60363" algn="just">
              <a:buFontTx/>
              <a:buBlip>
                <a:blip r:embed="rId2"/>
              </a:buBlip>
            </a:pPr>
            <a:r>
              <a:rPr lang="uz-Cyrl-UZ" sz="1700">
                <a:latin typeface="Times New Roman" pitchFamily="18" charset="0"/>
                <a:cs typeface="Times New Roman" pitchFamily="18" charset="0"/>
              </a:rPr>
              <a:t>Беш раундли </a:t>
            </a:r>
            <a:r>
              <a:rPr lang="en-US" sz="1700">
                <a:latin typeface="Times New Roman" pitchFamily="18" charset="0"/>
                <a:cs typeface="Times New Roman" pitchFamily="18" charset="0"/>
              </a:rPr>
              <a:t>E/P, P</a:t>
            </a:r>
            <a:r>
              <a:rPr lang="uz-Cyrl-UZ" sz="1700">
                <a:latin typeface="Times New Roman" pitchFamily="18" charset="0"/>
                <a:cs typeface="Times New Roman" pitchFamily="18" charset="0"/>
              </a:rPr>
              <a:t> ва</a:t>
            </a:r>
            <a:r>
              <a:rPr lang="en-US" sz="1700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uz-Cyrl-UZ" sz="1700">
                <a:latin typeface="Times New Roman" pitchFamily="18" charset="0"/>
                <a:cs typeface="Times New Roman" pitchFamily="18" charset="0"/>
              </a:rPr>
              <a:t>-блок акслантиришлари қуйида берилган жадваллар асосида амалга оширилувчи ҳамда ҳар бир раунд калитлари бир ҳил бўлган, 8 бит блок узунлигига эга шифрлаш алгоритми қаралаётган бўлсин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.</a:t>
            </a:r>
            <a:endParaRPr lang="ru-RU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9230" name="Group 338"/>
          <p:cNvGrpSpPr>
            <a:grpSpLocks/>
          </p:cNvGrpSpPr>
          <p:nvPr/>
        </p:nvGrpSpPr>
        <p:grpSpPr bwMode="auto">
          <a:xfrm>
            <a:off x="263525" y="1603375"/>
            <a:ext cx="2508250" cy="2616200"/>
            <a:chOff x="226953" y="1665263"/>
            <a:chExt cx="2508308" cy="2616101"/>
          </a:xfrm>
        </p:grpSpPr>
        <p:sp>
          <p:nvSpPr>
            <p:cNvPr id="317" name="TextBox 316"/>
            <p:cNvSpPr txBox="1"/>
            <p:nvPr/>
          </p:nvSpPr>
          <p:spPr>
            <a:xfrm>
              <a:off x="226953" y="1665263"/>
              <a:ext cx="2508308" cy="2616101"/>
            </a:xfrm>
            <a:prstGeom prst="rect">
              <a:avLst/>
            </a:prstGeom>
            <a:ln>
              <a:solidFill>
                <a:srgbClr val="000099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uz-Cyrl-UZ" sz="21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r>
                <a:rPr lang="en-US" sz="1500" b="1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uz-Cyrl-UZ" sz="1500" b="1" dirty="0">
                  <a:latin typeface="Times New Roman" pitchFamily="18" charset="0"/>
                  <a:cs typeface="Times New Roman" pitchFamily="18" charset="0"/>
                </a:rPr>
                <a:t> функция блок схемаси</a:t>
              </a:r>
              <a:endParaRPr lang="ru-RU" sz="15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9246" name="Group 262"/>
            <p:cNvGrpSpPr>
              <a:grpSpLocks/>
            </p:cNvGrpSpPr>
            <p:nvPr/>
          </p:nvGrpSpPr>
          <p:grpSpPr bwMode="auto">
            <a:xfrm>
              <a:off x="314266" y="1676376"/>
              <a:ext cx="2336832" cy="2263806"/>
              <a:chOff x="4581" y="1854"/>
              <a:chExt cx="2984" cy="3060"/>
            </a:xfrm>
          </p:grpSpPr>
          <p:sp>
            <p:nvSpPr>
              <p:cNvPr id="9247" name="Line 263"/>
              <p:cNvSpPr>
                <a:spLocks noChangeShapeType="1"/>
              </p:cNvSpPr>
              <p:nvPr/>
            </p:nvSpPr>
            <p:spPr bwMode="auto">
              <a:xfrm>
                <a:off x="7564" y="1854"/>
                <a:ext cx="1" cy="28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9248" name="Group 264"/>
              <p:cNvGrpSpPr>
                <a:grpSpLocks/>
              </p:cNvGrpSpPr>
              <p:nvPr/>
            </p:nvGrpSpPr>
            <p:grpSpPr bwMode="auto">
              <a:xfrm>
                <a:off x="4581" y="1861"/>
                <a:ext cx="2977" cy="3053"/>
                <a:chOff x="4592" y="1501"/>
                <a:chExt cx="2977" cy="3053"/>
              </a:xfrm>
            </p:grpSpPr>
            <p:grpSp>
              <p:nvGrpSpPr>
                <p:cNvPr id="9249" name="Group 265"/>
                <p:cNvGrpSpPr>
                  <a:grpSpLocks/>
                </p:cNvGrpSpPr>
                <p:nvPr/>
              </p:nvGrpSpPr>
              <p:grpSpPr bwMode="auto">
                <a:xfrm>
                  <a:off x="4592" y="1501"/>
                  <a:ext cx="2977" cy="3053"/>
                  <a:chOff x="4592" y="1681"/>
                  <a:chExt cx="2977" cy="3053"/>
                </a:xfrm>
              </p:grpSpPr>
              <p:sp>
                <p:nvSpPr>
                  <p:cNvPr id="9251" name="Rectangle 266" descr="Горизонтальный кирпич"/>
                  <p:cNvSpPr>
                    <a:spLocks noChangeArrowheads="1"/>
                  </p:cNvSpPr>
                  <p:nvPr/>
                </p:nvSpPr>
                <p:spPr bwMode="auto">
                  <a:xfrm>
                    <a:off x="6936" y="2526"/>
                    <a:ext cx="310" cy="240"/>
                  </a:xfrm>
                  <a:prstGeom prst="rect">
                    <a:avLst/>
                  </a:prstGeom>
                  <a:pattFill prst="horzBrick">
                    <a:fgClr>
                      <a:srgbClr val="FFCC99"/>
                    </a:fgClr>
                    <a:bgClr>
                      <a:srgbClr val="FFFFFF"/>
                    </a:bgClr>
                  </a:patt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ctr"/>
                    <a:r>
                      <a:rPr lang="uz-Cyrl-UZ" sz="1000">
                        <a:latin typeface="Times New Roman" pitchFamily="18" charset="0"/>
                      </a:rPr>
                      <a:t>К</a:t>
                    </a:r>
                    <a:endParaRPr lang="ru-RU">
                      <a:latin typeface="Arial" charset="0"/>
                    </a:endParaRPr>
                  </a:p>
                </p:txBody>
              </p:sp>
              <p:grpSp>
                <p:nvGrpSpPr>
                  <p:cNvPr id="9252" name="Group 267"/>
                  <p:cNvGrpSpPr>
                    <a:grpSpLocks/>
                  </p:cNvGrpSpPr>
                  <p:nvPr/>
                </p:nvGrpSpPr>
                <p:grpSpPr bwMode="auto">
                  <a:xfrm>
                    <a:off x="4592" y="1681"/>
                    <a:ext cx="2977" cy="3053"/>
                    <a:chOff x="4592" y="1696"/>
                    <a:chExt cx="2977" cy="3053"/>
                  </a:xfrm>
                </p:grpSpPr>
                <p:grpSp>
                  <p:nvGrpSpPr>
                    <p:cNvPr id="9253" name="Group 26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77" y="1888"/>
                      <a:ext cx="2592" cy="2519"/>
                      <a:chOff x="2650" y="1951"/>
                      <a:chExt cx="3355" cy="2998"/>
                    </a:xfrm>
                  </p:grpSpPr>
                  <p:sp>
                    <p:nvSpPr>
                      <p:cNvPr id="9286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670" y="1951"/>
                        <a:ext cx="3288" cy="1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C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87" name="Line 27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669" y="4925"/>
                        <a:ext cx="3288" cy="1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8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88" name="Line 27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50" y="1965"/>
                        <a:ext cx="1" cy="2971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C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89" name="Line 27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004" y="1978"/>
                        <a:ext cx="1" cy="2971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800000"/>
                        </a:solidFill>
                        <a:prstDash val="dash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9254" name="Rectangle 273" descr="Горизонтальный кирпич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652" y="4014"/>
                      <a:ext cx="924" cy="240"/>
                    </a:xfrm>
                    <a:prstGeom prst="rect">
                      <a:avLst/>
                    </a:prstGeom>
                    <a:pattFill prst="horzBrick">
                      <a:fgClr>
                        <a:srgbClr val="FFCC99"/>
                      </a:fgClr>
                      <a:bgClr>
                        <a:srgbClr val="FFFFFF"/>
                      </a:bgClr>
                    </a:pattFill>
                    <a:ln w="158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/>
                      <a:r>
                        <a:rPr lang="en-US" sz="1000">
                          <a:latin typeface="Times New Roman" pitchFamily="18" charset="0"/>
                        </a:rPr>
                        <a:t>P</a:t>
                      </a:r>
                      <a:endParaRPr lang="ru-RU">
                        <a:latin typeface="Arial" charset="0"/>
                      </a:endParaRPr>
                    </a:p>
                  </p:txBody>
                </p:sp>
                <p:grpSp>
                  <p:nvGrpSpPr>
                    <p:cNvPr id="9255" name="Group 27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573" y="3658"/>
                      <a:ext cx="1094" cy="334"/>
                      <a:chOff x="5301" y="3680"/>
                      <a:chExt cx="1609" cy="600"/>
                    </a:xfrm>
                  </p:grpSpPr>
                  <p:sp>
                    <p:nvSpPr>
                      <p:cNvPr id="9280" name="Line 27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301" y="3680"/>
                        <a:ext cx="0" cy="331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81" name="Line 27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909" y="3680"/>
                        <a:ext cx="1" cy="331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82" name="Line 27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301" y="4011"/>
                        <a:ext cx="519" cy="0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83" name="Line 27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390" y="4011"/>
                        <a:ext cx="519" cy="0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84" name="Line 27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820" y="4011"/>
                        <a:ext cx="0" cy="269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85" name="Line 28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390" y="4011"/>
                        <a:ext cx="1" cy="269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9256" name="Line 28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156" y="2809"/>
                      <a:ext cx="1134" cy="0"/>
                    </a:xfrm>
                    <a:prstGeom prst="line">
                      <a:avLst/>
                    </a:pr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9257" name="AutoShape 2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71" y="2711"/>
                      <a:ext cx="173" cy="166"/>
                    </a:xfrm>
                    <a:prstGeom prst="flowChartOr">
                      <a:avLst/>
                    </a:prstGeom>
                    <a:solidFill>
                      <a:srgbClr val="993300">
                        <a:alpha val="10980"/>
                      </a:srgbClr>
                    </a:solidFill>
                    <a:ln w="158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9258" name="Line 28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962" y="2763"/>
                      <a:ext cx="1" cy="255"/>
                    </a:xfrm>
                    <a:prstGeom prst="line">
                      <a:avLst/>
                    </a:pr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9259" name="Line 2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154" y="2763"/>
                      <a:ext cx="1" cy="255"/>
                    </a:xfrm>
                    <a:prstGeom prst="line">
                      <a:avLst/>
                    </a:pr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9260" name="Line 2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540" y="3008"/>
                      <a:ext cx="420" cy="0"/>
                    </a:xfrm>
                    <a:prstGeom prst="line">
                      <a:avLst/>
                    </a:pr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9261" name="Line 28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152" y="3008"/>
                      <a:ext cx="420" cy="0"/>
                    </a:xfrm>
                    <a:prstGeom prst="line">
                      <a:avLst/>
                    </a:pr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9262" name="Line 2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582" y="2998"/>
                      <a:ext cx="1" cy="254"/>
                    </a:xfrm>
                    <a:prstGeom prst="line">
                      <a:avLst/>
                    </a:pr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9263" name="Line 2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545" y="3018"/>
                      <a:ext cx="1" cy="254"/>
                    </a:xfrm>
                    <a:prstGeom prst="line">
                      <a:avLst/>
                    </a:pr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9264" name="AutoShape 289" descr="Горизонтальный кирпич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19" y="3272"/>
                      <a:ext cx="1017" cy="369"/>
                    </a:xfrm>
                    <a:custGeom>
                      <a:avLst/>
                      <a:gdLst>
                        <a:gd name="T0" fmla="*/ 890 w 21600"/>
                        <a:gd name="T1" fmla="*/ 185 h 21600"/>
                        <a:gd name="T2" fmla="*/ 509 w 21600"/>
                        <a:gd name="T3" fmla="*/ 369 h 21600"/>
                        <a:gd name="T4" fmla="*/ 127 w 21600"/>
                        <a:gd name="T5" fmla="*/ 185 h 21600"/>
                        <a:gd name="T6" fmla="*/ 509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3 w 21600"/>
                        <a:gd name="T13" fmla="*/ 4507 h 21600"/>
                        <a:gd name="T14" fmla="*/ 17097 w 21600"/>
                        <a:gd name="T15" fmla="*/ 17093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pattFill prst="horzBrick">
                      <a:fgClr>
                        <a:srgbClr val="FFCC99"/>
                      </a:fgClr>
                      <a:bgClr>
                        <a:srgbClr val="FFFFFF"/>
                      </a:bgClr>
                    </a:patt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/>
                      <a:r>
                        <a:rPr lang="en-US" sz="1000">
                          <a:latin typeface="Times New Roman" pitchFamily="18" charset="0"/>
                        </a:rPr>
                        <a:t>S</a:t>
                      </a:r>
                      <a:r>
                        <a:rPr lang="uz-Cyrl-UZ" sz="1000" baseline="-25000">
                          <a:latin typeface="Times New Roman" pitchFamily="18" charset="0"/>
                        </a:rPr>
                        <a:t>1</a:t>
                      </a:r>
                      <a:endParaRPr lang="uz-Cyrl-UZ" sz="1000">
                        <a:latin typeface="Times New Roman" pitchFamily="18" charset="0"/>
                      </a:endParaRPr>
                    </a:p>
                    <a:p>
                      <a:endParaRPr lang="ru-RU">
                        <a:latin typeface="Arial" charset="0"/>
                      </a:endParaRPr>
                    </a:p>
                  </p:txBody>
                </p:sp>
                <p:sp>
                  <p:nvSpPr>
                    <p:cNvPr id="9265" name="Line 2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058" y="2497"/>
                      <a:ext cx="1" cy="210"/>
                    </a:xfrm>
                    <a:prstGeom prst="line">
                      <a:avLst/>
                    </a:pr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9266" name="AutoShape 291" descr="Горизонтальный кирпич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99" y="3261"/>
                      <a:ext cx="1017" cy="369"/>
                    </a:xfrm>
                    <a:custGeom>
                      <a:avLst/>
                      <a:gdLst>
                        <a:gd name="T0" fmla="*/ 890 w 21600"/>
                        <a:gd name="T1" fmla="*/ 185 h 21600"/>
                        <a:gd name="T2" fmla="*/ 509 w 21600"/>
                        <a:gd name="T3" fmla="*/ 369 h 21600"/>
                        <a:gd name="T4" fmla="*/ 127 w 21600"/>
                        <a:gd name="T5" fmla="*/ 185 h 21600"/>
                        <a:gd name="T6" fmla="*/ 509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3 w 21600"/>
                        <a:gd name="T13" fmla="*/ 4507 h 21600"/>
                        <a:gd name="T14" fmla="*/ 17097 w 21600"/>
                        <a:gd name="T15" fmla="*/ 17093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pattFill prst="horzBrick">
                      <a:fgClr>
                        <a:srgbClr val="FFCC99"/>
                      </a:fgClr>
                      <a:bgClr>
                        <a:srgbClr val="FFFFFF"/>
                      </a:bgClr>
                    </a:patt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/>
                      <a:r>
                        <a:rPr lang="en-US" sz="1000">
                          <a:latin typeface="Times New Roman" pitchFamily="18" charset="0"/>
                        </a:rPr>
                        <a:t>S</a:t>
                      </a:r>
                      <a:r>
                        <a:rPr lang="uz-Cyrl-UZ" sz="1000" baseline="-25000">
                          <a:latin typeface="Times New Roman" pitchFamily="18" charset="0"/>
                        </a:rPr>
                        <a:t>2</a:t>
                      </a:r>
                      <a:endParaRPr lang="uz-Cyrl-UZ" sz="1000">
                        <a:latin typeface="Times New Roman" pitchFamily="18" charset="0"/>
                      </a:endParaRPr>
                    </a:p>
                    <a:p>
                      <a:endParaRPr lang="ru-RU">
                        <a:latin typeface="Arial" charset="0"/>
                      </a:endParaRPr>
                    </a:p>
                  </p:txBody>
                </p:sp>
                <p:grpSp>
                  <p:nvGrpSpPr>
                    <p:cNvPr id="9267" name="Group 29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426" y="2170"/>
                      <a:ext cx="1260" cy="318"/>
                      <a:chOff x="5426" y="2170"/>
                      <a:chExt cx="1260" cy="318"/>
                    </a:xfrm>
                  </p:grpSpPr>
                  <p:sp>
                    <p:nvSpPr>
                      <p:cNvPr id="9278" name="AutoShape 293" descr="Горизонтальный кирпич"/>
                      <p:cNvSpPr>
                        <a:spLocks noChangeArrowheads="1"/>
                      </p:cNvSpPr>
                      <p:nvPr/>
                    </p:nvSpPr>
                    <p:spPr bwMode="auto">
                      <a:xfrm flipV="1">
                        <a:off x="5426" y="2170"/>
                        <a:ext cx="1260" cy="318"/>
                      </a:xfrm>
                      <a:custGeom>
                        <a:avLst/>
                        <a:gdLst>
                          <a:gd name="T0" fmla="*/ 1103 w 21600"/>
                          <a:gd name="T1" fmla="*/ 159 h 21600"/>
                          <a:gd name="T2" fmla="*/ 630 w 21600"/>
                          <a:gd name="T3" fmla="*/ 318 h 21600"/>
                          <a:gd name="T4" fmla="*/ 158 w 21600"/>
                          <a:gd name="T5" fmla="*/ 159 h 21600"/>
                          <a:gd name="T6" fmla="*/ 630 w 21600"/>
                          <a:gd name="T7" fmla="*/ 0 h 21600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4509 w 21600"/>
                          <a:gd name="T13" fmla="*/ 4483 h 21600"/>
                          <a:gd name="T14" fmla="*/ 17109 w 21600"/>
                          <a:gd name="T15" fmla="*/ 17117 h 21600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21600" h="21600">
                            <a:moveTo>
                              <a:pt x="0" y="0"/>
                            </a:moveTo>
                            <a:lnTo>
                              <a:pt x="5400" y="21600"/>
                            </a:lnTo>
                            <a:lnTo>
                              <a:pt x="16200" y="21600"/>
                            </a:lnTo>
                            <a:lnTo>
                              <a:pt x="21600" y="0"/>
                            </a:lnTo>
                            <a:close/>
                          </a:path>
                        </a:pathLst>
                      </a:custGeom>
                      <a:pattFill prst="horzBrick">
                        <a:fgClr>
                          <a:srgbClr val="FFCC99"/>
                        </a:fgClr>
                        <a:bgClr>
                          <a:srgbClr val="FFFFFF"/>
                        </a:bgClr>
                      </a:pattFill>
                      <a:ln w="158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lIns="0" tIns="0" rIns="0" bIns="0"/>
                      <a:lstStyle/>
                      <a:p>
                        <a:endParaRPr lang="uz-Cyrl-UZ" sz="1000">
                          <a:latin typeface="Times New Roman" pitchFamily="18" charset="0"/>
                        </a:endParaRPr>
                      </a:p>
                      <a:p>
                        <a:endParaRPr lang="ru-RU"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9279" name="Text Box 29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907" y="2222"/>
                        <a:ext cx="360" cy="18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lIns="0" tIns="0" rIns="0" bIns="0"/>
                      <a:lstStyle/>
                      <a:p>
                        <a:r>
                          <a:rPr lang="en-US" sz="1200">
                            <a:latin typeface="Times New Roman" pitchFamily="18" charset="0"/>
                          </a:rPr>
                          <a:t>E/P</a:t>
                        </a:r>
                        <a:endParaRPr lang="ru-RU" sz="1200">
                          <a:latin typeface="Arial" charset="0"/>
                        </a:endParaRPr>
                      </a:p>
                    </p:txBody>
                  </p:sp>
                </p:grpSp>
                <p:grpSp>
                  <p:nvGrpSpPr>
                    <p:cNvPr id="9268" name="Group 29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92" y="1696"/>
                      <a:ext cx="2977" cy="3053"/>
                      <a:chOff x="4592" y="1696"/>
                      <a:chExt cx="2977" cy="3053"/>
                    </a:xfrm>
                  </p:grpSpPr>
                  <p:sp>
                    <p:nvSpPr>
                      <p:cNvPr id="9269" name="AutoShape 2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020" y="4583"/>
                        <a:ext cx="173" cy="166"/>
                      </a:xfrm>
                      <a:prstGeom prst="flowChartOr">
                        <a:avLst/>
                      </a:prstGeom>
                      <a:solidFill>
                        <a:srgbClr val="993300">
                          <a:alpha val="10980"/>
                        </a:srgbClr>
                      </a:solidFill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70" name="Line 29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097" y="4260"/>
                        <a:ext cx="1" cy="331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71" name="Line 29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059" y="1985"/>
                        <a:ext cx="1502" cy="0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72" name="Line 29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059" y="1985"/>
                        <a:ext cx="0" cy="171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73" name="Line 30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595" y="1741"/>
                        <a:ext cx="1" cy="2914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74" name="Line 30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602" y="4654"/>
                        <a:ext cx="1412" cy="1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75" name="Line 30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568" y="1729"/>
                        <a:ext cx="1" cy="2914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 type="stealth" w="med" len="med"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76" name="Line 303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05" y="4653"/>
                        <a:ext cx="544" cy="3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000000"/>
                        </a:solidFill>
                        <a:round/>
                        <a:headEnd type="stealth" w="med" len="med"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77" name="Line 30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592" y="1696"/>
                        <a:ext cx="1" cy="283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 type="stealth" w="med" len="med"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9250" name="Text Box 305" descr="Горизонтальный кирпич"/>
                <p:cNvSpPr txBox="1">
                  <a:spLocks noChangeArrowheads="1"/>
                </p:cNvSpPr>
                <p:nvPr/>
              </p:nvSpPr>
              <p:spPr bwMode="auto">
                <a:xfrm>
                  <a:off x="4941" y="1854"/>
                  <a:ext cx="314" cy="285"/>
                </a:xfrm>
                <a:prstGeom prst="rect">
                  <a:avLst/>
                </a:prstGeom>
                <a:pattFill prst="horzBrick">
                  <a:fgClr>
                    <a:srgbClr val="FFCC99"/>
                  </a:fgClr>
                  <a:bgClr>
                    <a:srgbClr val="FFFFFF"/>
                  </a:bgClr>
                </a:patt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/>
                  <a:r>
                    <a:rPr lang="en-US" sz="1200">
                      <a:latin typeface="Times New Roman" pitchFamily="18" charset="0"/>
                    </a:rPr>
                    <a:t>F</a:t>
                  </a:r>
                  <a:r>
                    <a:rPr lang="en-US" sz="1200" baseline="-25000">
                      <a:latin typeface="Times New Roman" pitchFamily="18" charset="0"/>
                    </a:rPr>
                    <a:t>n</a:t>
                  </a:r>
                  <a:endParaRPr lang="ru-RU">
                    <a:latin typeface="Arial" charset="0"/>
                  </a:endParaRPr>
                </a:p>
              </p:txBody>
            </p:sp>
          </p:grpSp>
        </p:grpSp>
      </p:grpSp>
      <p:sp>
        <p:nvSpPr>
          <p:cNvPr id="323" name="TextBox 322"/>
          <p:cNvSpPr txBox="1"/>
          <p:nvPr/>
        </p:nvSpPr>
        <p:spPr>
          <a:xfrm>
            <a:off x="2937921" y="1457298"/>
            <a:ext cx="5868000" cy="1384995"/>
          </a:xfrm>
          <a:prstGeom prst="rect">
            <a:avLst/>
          </a:prstGeom>
          <a:solidFill>
            <a:schemeClr val="accent3"/>
          </a:solidFill>
          <a:ln>
            <a:solidFill>
              <a:srgbClr val="000099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endParaRPr lang="uz-Cyrl-UZ" sz="16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sz="16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sz="23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uz-Cyrl-UZ" sz="29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24" name="Table 323"/>
          <p:cNvGraphicFramePr>
            <a:graphicFrameLocks noGrp="1"/>
          </p:cNvGraphicFramePr>
          <p:nvPr/>
        </p:nvGraphicFramePr>
        <p:xfrm>
          <a:off x="3060700" y="1566837"/>
          <a:ext cx="211487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"/>
                <a:gridCol w="251460"/>
                <a:gridCol w="272098"/>
                <a:gridCol w="272098"/>
                <a:gridCol w="272098"/>
                <a:gridCol w="251460"/>
                <a:gridCol w="272098"/>
                <a:gridCol w="272098"/>
              </a:tblGrid>
              <a:tr h="2571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b="1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328" name="Table 327"/>
          <p:cNvGraphicFramePr>
            <a:graphicFrameLocks noGrp="1"/>
          </p:cNvGraphicFramePr>
          <p:nvPr/>
        </p:nvGraphicFramePr>
        <p:xfrm>
          <a:off x="3622662" y="2133903"/>
          <a:ext cx="1088392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098"/>
                <a:gridCol w="272098"/>
                <a:gridCol w="272098"/>
                <a:gridCol w="272098"/>
              </a:tblGrid>
              <a:tr h="2571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 smtClean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 smtClean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 smtClean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b="1" dirty="0" smtClean="0">
                          <a:ln>
                            <a:solidFill>
                              <a:srgbClr val="002060"/>
                            </a:solidFill>
                          </a:ln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 b="1" dirty="0">
                        <a:ln>
                          <a:solidFill>
                            <a:srgbClr val="002060"/>
                          </a:solidFill>
                        </a:ln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236" name="TextBox 328"/>
          <p:cNvSpPr txBox="1">
            <a:spLocks noChangeArrowheads="1"/>
          </p:cNvSpPr>
          <p:nvPr/>
        </p:nvSpPr>
        <p:spPr bwMode="auto">
          <a:xfrm>
            <a:off x="3222625" y="1824038"/>
            <a:ext cx="19351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500" b="1">
                <a:latin typeface="Times New Roman" pitchFamily="18" charset="0"/>
                <a:cs typeface="Times New Roman" pitchFamily="18" charset="0"/>
              </a:rPr>
              <a:t>E/P </a:t>
            </a:r>
            <a:r>
              <a:rPr lang="uz-Cyrl-UZ" sz="1500" b="1">
                <a:latin typeface="Times New Roman" pitchFamily="18" charset="0"/>
                <a:cs typeface="Times New Roman" pitchFamily="18" charset="0"/>
              </a:rPr>
              <a:t>- акслантириши</a:t>
            </a:r>
            <a:endParaRPr lang="ru-RU" sz="15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37" name="TextBox 329"/>
          <p:cNvSpPr txBox="1">
            <a:spLocks noChangeArrowheads="1"/>
          </p:cNvSpPr>
          <p:nvPr/>
        </p:nvSpPr>
        <p:spPr bwMode="auto">
          <a:xfrm>
            <a:off x="3184525" y="2387600"/>
            <a:ext cx="19351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500" b="1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uz-Cyrl-UZ" sz="1500" b="1">
                <a:latin typeface="Times New Roman" pitchFamily="18" charset="0"/>
                <a:cs typeface="Times New Roman" pitchFamily="18" charset="0"/>
              </a:rPr>
              <a:t>- акслантириши</a:t>
            </a:r>
            <a:endParaRPr lang="ru-RU" sz="15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1" name="TextBox 340"/>
          <p:cNvSpPr txBox="1"/>
          <p:nvPr/>
        </p:nvSpPr>
        <p:spPr>
          <a:xfrm>
            <a:off x="263466" y="4378338"/>
            <a:ext cx="3432222" cy="2246769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indent="355600" algn="just">
              <a:buFontTx/>
              <a:buBlip>
                <a:blip r:embed="rId3"/>
              </a:buBlip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Таҳлил қилинаётган очиқ ва ёпиқ матнлар жуфтлиги ҳамда уларнинг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айирмаси: </a:t>
            </a:r>
            <a:endParaRPr lang="uz-Cyrl-UZ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buFontTx/>
              <a:buBlip>
                <a:blip r:embed="rId3"/>
              </a:buBlip>
              <a:defRPr/>
            </a:pPr>
            <a:endParaRPr lang="uz-Cyrl-UZ" sz="800" dirty="0">
              <a:latin typeface="Times New Roman" pitchFamily="18" charset="0"/>
              <a:cs typeface="Times New Roman" pitchFamily="18" charset="0"/>
            </a:endParaRPr>
          </a:p>
          <a:p>
            <a:pPr indent="266700" algn="just">
              <a:defRPr/>
            </a:pPr>
            <a:r>
              <a:rPr lang="uz-Cyrl-UZ" sz="1600" b="1" dirty="0">
                <a:latin typeface="Times New Roman" pitchFamily="18" charset="0"/>
                <a:cs typeface="Times New Roman" pitchFamily="18" charset="0"/>
              </a:rPr>
              <a:t>О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uz-Cyrl-UZ" sz="1600" b="1" dirty="0">
                <a:latin typeface="Times New Roman" pitchFamily="18" charset="0"/>
                <a:cs typeface="Times New Roman" pitchFamily="18" charset="0"/>
              </a:rPr>
              <a:t>:    </a:t>
            </a:r>
            <a:r>
              <a:rPr lang="uz-Cyrl-UZ" sz="16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uz-Cyrl-UZ" sz="1600" baseline="-250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=11100111,   Х</a:t>
            </a:r>
            <a:r>
              <a:rPr lang="uz-Cyrl-UZ" sz="1600" baseline="-250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6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=00010111.</a:t>
            </a:r>
          </a:p>
          <a:p>
            <a:pPr indent="266700" algn="just">
              <a:defRPr/>
            </a:pPr>
            <a:endParaRPr lang="uz-Cyrl-UZ" sz="400" b="1" dirty="0">
              <a:latin typeface="Times New Roman" pitchFamily="18" charset="0"/>
              <a:cs typeface="Times New Roman" pitchFamily="18" charset="0"/>
            </a:endParaRPr>
          </a:p>
          <a:p>
            <a:pPr indent="266700" algn="just">
              <a:defRPr/>
            </a:pPr>
            <a:r>
              <a:rPr lang="uz-Cyrl-UZ" sz="1600" b="1" dirty="0">
                <a:latin typeface="Times New Roman" pitchFamily="18" charset="0"/>
                <a:cs typeface="Times New Roman" pitchFamily="18" charset="0"/>
              </a:rPr>
              <a:t>ШТ:  </a:t>
            </a:r>
            <a:r>
              <a:rPr lang="uz-Cyrl-UZ" sz="16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sz="1600" baseline="-250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=01010010,   Y</a:t>
            </a:r>
            <a:r>
              <a:rPr lang="uz-Cyrl-UZ" sz="1600" baseline="-250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6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=01010100.</a:t>
            </a:r>
          </a:p>
          <a:p>
            <a:pPr indent="266700" algn="just">
              <a:defRPr/>
            </a:pPr>
            <a:endParaRPr lang="uz-Cyrl-UZ" sz="400" dirty="0">
              <a:ln>
                <a:solidFill>
                  <a:srgbClr val="800000"/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sz="2000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  ∆</a:t>
            </a:r>
            <a:r>
              <a:rPr lang="uz-Cyrl-UZ" sz="2000" baseline="-25000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кир</a:t>
            </a:r>
            <a:r>
              <a:rPr lang="uz-Cyrl-UZ" sz="2000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=11110000, </a:t>
            </a:r>
          </a:p>
          <a:p>
            <a:pPr algn="ctr">
              <a:defRPr/>
            </a:pPr>
            <a:r>
              <a:rPr lang="uz-Cyrl-UZ" sz="200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defRPr/>
            </a:pPr>
            <a:r>
              <a:rPr lang="uz-Cyrl-UZ" sz="2000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  ∆</a:t>
            </a:r>
            <a:r>
              <a:rPr lang="uz-Cyrl-UZ" sz="2000" baseline="-25000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чиқ</a:t>
            </a:r>
            <a:r>
              <a:rPr lang="uz-Cyrl-UZ" sz="2000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=00000110.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uz-Cyrl-UZ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39" name="Picture 3"/>
          <p:cNvPicPr>
            <a:picLocks noChangeAspect="1" noChangeArrowheads="1"/>
          </p:cNvPicPr>
          <p:nvPr/>
        </p:nvPicPr>
        <p:blipFill>
          <a:blip r:embed="rId4"/>
          <a:srcRect l="23717" t="40277" r="31830" b="35527"/>
          <a:stretch>
            <a:fillRect/>
          </a:stretch>
        </p:blipFill>
        <p:spPr bwMode="auto">
          <a:xfrm>
            <a:off x="5521325" y="1530350"/>
            <a:ext cx="3103563" cy="127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5"/>
          <a:srcRect l="18663" t="28165" r="54395" b="16884"/>
          <a:stretch>
            <a:fillRect/>
          </a:stretch>
        </p:blipFill>
        <p:spPr bwMode="auto">
          <a:xfrm>
            <a:off x="3805238" y="2887663"/>
            <a:ext cx="2336800" cy="357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41" name="Picture 7"/>
          <p:cNvPicPr>
            <a:picLocks noChangeAspect="1" noChangeArrowheads="1"/>
          </p:cNvPicPr>
          <p:nvPr/>
        </p:nvPicPr>
        <p:blipFill>
          <a:blip r:embed="rId6"/>
          <a:srcRect l="4327" t="5429" r="66467" b="33763"/>
          <a:stretch>
            <a:fillRect/>
          </a:stretch>
        </p:blipFill>
        <p:spPr bwMode="auto">
          <a:xfrm>
            <a:off x="6350000" y="2903538"/>
            <a:ext cx="2263775" cy="353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42" name="TextBox 74"/>
          <p:cNvSpPr txBox="1">
            <a:spLocks noChangeArrowheads="1"/>
          </p:cNvSpPr>
          <p:nvPr/>
        </p:nvSpPr>
        <p:spPr bwMode="auto">
          <a:xfrm>
            <a:off x="3851275" y="6381750"/>
            <a:ext cx="4600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uz-Cyrl-UZ">
                <a:latin typeface="Times New Roman" pitchFamily="18" charset="0"/>
                <a:cs typeface="Times New Roman" pitchFamily="18" charset="0"/>
              </a:rPr>
              <a:t>Корреляцион матрица	Айирма матрица</a:t>
            </a:r>
            <a:endParaRPr lang="ru-RU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lgGri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85720" y="215856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109718" y="91170"/>
            <a:ext cx="8932682" cy="6624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17414" y="106317"/>
            <a:ext cx="8892000" cy="6516000"/>
          </a:xfrm>
          <a:prstGeom prst="foldedCorner">
            <a:avLst>
              <a:gd name="adj" fmla="val 2337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marL="342900" indent="-342900" algn="just">
              <a:spcBef>
                <a:spcPct val="15000"/>
              </a:spcBef>
              <a:spcAft>
                <a:spcPct val="50000"/>
              </a:spcAft>
              <a:buSzPct val="130000"/>
              <a:tabLst>
                <a:tab pos="631825" algn="l"/>
              </a:tabLst>
              <a:defRPr/>
            </a:pPr>
            <a:endParaRPr lang="en-US" sz="800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grpSp>
        <p:nvGrpSpPr>
          <p:cNvPr id="10249" name="Group 1"/>
          <p:cNvGrpSpPr>
            <a:grpSpLocks/>
          </p:cNvGrpSpPr>
          <p:nvPr/>
        </p:nvGrpSpPr>
        <p:grpSpPr bwMode="auto">
          <a:xfrm>
            <a:off x="5697538" y="522288"/>
            <a:ext cx="3146425" cy="4819650"/>
            <a:chOff x="3011" y="359"/>
            <a:chExt cx="5556" cy="8669"/>
          </a:xfrm>
        </p:grpSpPr>
        <p:grpSp>
          <p:nvGrpSpPr>
            <p:cNvPr id="10264" name="Group 12"/>
            <p:cNvGrpSpPr>
              <a:grpSpLocks/>
            </p:cNvGrpSpPr>
            <p:nvPr/>
          </p:nvGrpSpPr>
          <p:grpSpPr bwMode="auto">
            <a:xfrm>
              <a:off x="3011" y="359"/>
              <a:ext cx="5535" cy="6855"/>
              <a:chOff x="3011" y="359"/>
              <a:chExt cx="5535" cy="6855"/>
            </a:xfrm>
          </p:grpSpPr>
          <p:grpSp>
            <p:nvGrpSpPr>
              <p:cNvPr id="10273" name="Group 23"/>
              <p:cNvGrpSpPr>
                <a:grpSpLocks/>
              </p:cNvGrpSpPr>
              <p:nvPr/>
            </p:nvGrpSpPr>
            <p:grpSpPr bwMode="auto">
              <a:xfrm>
                <a:off x="3011" y="359"/>
                <a:ext cx="5528" cy="5040"/>
                <a:chOff x="2823" y="924"/>
                <a:chExt cx="6239" cy="7030"/>
              </a:xfrm>
            </p:grpSpPr>
            <p:sp>
              <p:nvSpPr>
                <p:cNvPr id="10282" name="Line 50"/>
                <p:cNvSpPr>
                  <a:spLocks noChangeShapeType="1"/>
                </p:cNvSpPr>
                <p:nvPr/>
              </p:nvSpPr>
              <p:spPr bwMode="auto">
                <a:xfrm>
                  <a:off x="3084" y="972"/>
                  <a:ext cx="3" cy="195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0283" name="Oval 49"/>
                <p:cNvSpPr>
                  <a:spLocks noChangeArrowheads="1"/>
                </p:cNvSpPr>
                <p:nvPr/>
              </p:nvSpPr>
              <p:spPr bwMode="auto">
                <a:xfrm>
                  <a:off x="2823" y="1869"/>
                  <a:ext cx="540" cy="539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284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2830" y="2139"/>
                  <a:ext cx="6197" cy="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0285" name="Rectangle 47"/>
                <p:cNvSpPr>
                  <a:spLocks noChangeArrowheads="1"/>
                </p:cNvSpPr>
                <p:nvPr/>
              </p:nvSpPr>
              <p:spPr bwMode="auto">
                <a:xfrm>
                  <a:off x="5696" y="1841"/>
                  <a:ext cx="720" cy="607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r>
                    <a:rPr lang="en-US" sz="1000" b="1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F</a:t>
                  </a:r>
                  <a:r>
                    <a:rPr lang="uz-Cyrl-UZ" sz="1000" b="1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  <a:endParaRPr lang="uz-Cyrl-UZ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286" name="Line 44"/>
                <p:cNvSpPr>
                  <a:spLocks noChangeShapeType="1"/>
                </p:cNvSpPr>
                <p:nvPr/>
              </p:nvSpPr>
              <p:spPr bwMode="auto">
                <a:xfrm>
                  <a:off x="9027" y="924"/>
                  <a:ext cx="3" cy="195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10287" name="Group 34"/>
                <p:cNvGrpSpPr>
                  <a:grpSpLocks/>
                </p:cNvGrpSpPr>
                <p:nvPr/>
              </p:nvGrpSpPr>
              <p:grpSpPr bwMode="auto">
                <a:xfrm>
                  <a:off x="2831" y="2874"/>
                  <a:ext cx="6207" cy="2553"/>
                  <a:chOff x="2831" y="2874"/>
                  <a:chExt cx="6207" cy="2553"/>
                </a:xfrm>
              </p:grpSpPr>
              <p:sp>
                <p:nvSpPr>
                  <p:cNvPr id="10296" name="Line 4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068" y="2907"/>
                    <a:ext cx="5954" cy="505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297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092" y="3462"/>
                    <a:ext cx="3" cy="195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298" name="Oval 41"/>
                  <p:cNvSpPr>
                    <a:spLocks noChangeArrowheads="1"/>
                  </p:cNvSpPr>
                  <p:nvPr/>
                </p:nvSpPr>
                <p:spPr bwMode="auto">
                  <a:xfrm>
                    <a:off x="2831" y="4359"/>
                    <a:ext cx="540" cy="539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 b="1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299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38" y="4629"/>
                    <a:ext cx="6197" cy="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30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5704" y="4331"/>
                    <a:ext cx="720" cy="607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/>
                    <a:r>
                      <a:rPr lang="en-US" sz="1000" b="1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F2</a:t>
                    </a:r>
                    <a:endParaRPr lang="en-US" sz="1100" b="1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 eaLnBrk="0" hangingPunct="0"/>
                    <a:endParaRPr lang="en-US" b="1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301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9035" y="3414"/>
                    <a:ext cx="3" cy="2013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302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94" y="2874"/>
                    <a:ext cx="5915" cy="573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0288" name="Group 24"/>
                <p:cNvGrpSpPr>
                  <a:grpSpLocks/>
                </p:cNvGrpSpPr>
                <p:nvPr/>
              </p:nvGrpSpPr>
              <p:grpSpPr bwMode="auto">
                <a:xfrm>
                  <a:off x="2855" y="5401"/>
                  <a:ext cx="6207" cy="2553"/>
                  <a:chOff x="2831" y="2874"/>
                  <a:chExt cx="6207" cy="2553"/>
                </a:xfrm>
              </p:grpSpPr>
              <p:sp>
                <p:nvSpPr>
                  <p:cNvPr id="10289" name="Line 3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068" y="2907"/>
                    <a:ext cx="5954" cy="505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290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3092" y="3462"/>
                    <a:ext cx="3" cy="195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291" name="Oval 31"/>
                  <p:cNvSpPr>
                    <a:spLocks noChangeArrowheads="1"/>
                  </p:cNvSpPr>
                  <p:nvPr/>
                </p:nvSpPr>
                <p:spPr bwMode="auto">
                  <a:xfrm>
                    <a:off x="2831" y="4359"/>
                    <a:ext cx="540" cy="539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 b="1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292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38" y="4629"/>
                    <a:ext cx="6197" cy="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293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5704" y="4331"/>
                    <a:ext cx="720" cy="607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/>
                    <a:r>
                      <a:rPr lang="en-US" sz="1000" b="1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F3</a:t>
                    </a:r>
                    <a:endParaRPr lang="en-US" sz="1100" b="1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 eaLnBrk="0" hangingPunct="0"/>
                    <a:endParaRPr lang="en-US" b="1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294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9035" y="3414"/>
                    <a:ext cx="3" cy="2013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295" name="Line 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94" y="2874"/>
                    <a:ext cx="5915" cy="573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0274" name="Group 13"/>
              <p:cNvGrpSpPr>
                <a:grpSpLocks/>
              </p:cNvGrpSpPr>
              <p:nvPr/>
            </p:nvGrpSpPr>
            <p:grpSpPr bwMode="auto">
              <a:xfrm>
                <a:off x="3046" y="5384"/>
                <a:ext cx="5500" cy="1830"/>
                <a:chOff x="2831" y="2874"/>
                <a:chExt cx="6207" cy="2553"/>
              </a:xfrm>
            </p:grpSpPr>
            <p:sp>
              <p:nvSpPr>
                <p:cNvPr id="10275" name="Line 22"/>
                <p:cNvSpPr>
                  <a:spLocks noChangeShapeType="1"/>
                </p:cNvSpPr>
                <p:nvPr/>
              </p:nvSpPr>
              <p:spPr bwMode="auto">
                <a:xfrm flipH="1" flipV="1">
                  <a:off x="3068" y="2907"/>
                  <a:ext cx="5954" cy="505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0276" name="Line 21"/>
                <p:cNvSpPr>
                  <a:spLocks noChangeShapeType="1"/>
                </p:cNvSpPr>
                <p:nvPr/>
              </p:nvSpPr>
              <p:spPr bwMode="auto">
                <a:xfrm>
                  <a:off x="3092" y="3462"/>
                  <a:ext cx="3" cy="195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0277" name="Oval 20"/>
                <p:cNvSpPr>
                  <a:spLocks noChangeArrowheads="1"/>
                </p:cNvSpPr>
                <p:nvPr/>
              </p:nvSpPr>
              <p:spPr bwMode="auto">
                <a:xfrm>
                  <a:off x="2831" y="4359"/>
                  <a:ext cx="540" cy="539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278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838" y="4629"/>
                  <a:ext cx="6197" cy="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0279" name="Rectangle 18"/>
                <p:cNvSpPr>
                  <a:spLocks noChangeArrowheads="1"/>
                </p:cNvSpPr>
                <p:nvPr/>
              </p:nvSpPr>
              <p:spPr bwMode="auto">
                <a:xfrm>
                  <a:off x="5704" y="4331"/>
                  <a:ext cx="720" cy="607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r>
                    <a:rPr lang="en-US" sz="1000" b="1">
                      <a:solidFill>
                        <a:srgbClr val="000000"/>
                      </a:solidFill>
                      <a:latin typeface="Times New Roman" pitchFamily="18" charset="0"/>
                      <a:cs typeface="Times New Roman" pitchFamily="18" charset="0"/>
                    </a:rPr>
                    <a:t>F4</a:t>
                  </a:r>
                  <a:endParaRPr lang="en-US" sz="1100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  <a:p>
                  <a:pPr eaLnBrk="0" hangingPunct="0"/>
                  <a:endParaRPr lang="en-US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280" name="Line 15"/>
                <p:cNvSpPr>
                  <a:spLocks noChangeShapeType="1"/>
                </p:cNvSpPr>
                <p:nvPr/>
              </p:nvSpPr>
              <p:spPr bwMode="auto">
                <a:xfrm>
                  <a:off x="9035" y="3414"/>
                  <a:ext cx="3" cy="2013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0281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094" y="2874"/>
                  <a:ext cx="5915" cy="573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grpSp>
          <p:nvGrpSpPr>
            <p:cNvPr id="10265" name="Group 2"/>
            <p:cNvGrpSpPr>
              <a:grpSpLocks/>
            </p:cNvGrpSpPr>
            <p:nvPr/>
          </p:nvGrpSpPr>
          <p:grpSpPr bwMode="auto">
            <a:xfrm>
              <a:off x="3067" y="7198"/>
              <a:ext cx="5500" cy="1830"/>
              <a:chOff x="2831" y="2874"/>
              <a:chExt cx="6207" cy="2553"/>
            </a:xfrm>
          </p:grpSpPr>
          <p:sp>
            <p:nvSpPr>
              <p:cNvPr id="10266" name="Line 11"/>
              <p:cNvSpPr>
                <a:spLocks noChangeShapeType="1"/>
              </p:cNvSpPr>
              <p:nvPr/>
            </p:nvSpPr>
            <p:spPr bwMode="auto">
              <a:xfrm flipH="1" flipV="1">
                <a:off x="3068" y="2907"/>
                <a:ext cx="5954" cy="505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0267" name="Line 10"/>
              <p:cNvSpPr>
                <a:spLocks noChangeShapeType="1"/>
              </p:cNvSpPr>
              <p:nvPr/>
            </p:nvSpPr>
            <p:spPr bwMode="auto">
              <a:xfrm>
                <a:off x="3092" y="3462"/>
                <a:ext cx="3" cy="195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0268" name="Oval 9"/>
              <p:cNvSpPr>
                <a:spLocks noChangeArrowheads="1"/>
              </p:cNvSpPr>
              <p:nvPr/>
            </p:nvSpPr>
            <p:spPr bwMode="auto">
              <a:xfrm>
                <a:off x="2831" y="4359"/>
                <a:ext cx="540" cy="539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 b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69" name="Line 8"/>
              <p:cNvSpPr>
                <a:spLocks noChangeShapeType="1"/>
              </p:cNvSpPr>
              <p:nvPr/>
            </p:nvSpPr>
            <p:spPr bwMode="auto">
              <a:xfrm flipH="1">
                <a:off x="2838" y="4629"/>
                <a:ext cx="6197" cy="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0270" name="Rectangle 7"/>
              <p:cNvSpPr>
                <a:spLocks noChangeArrowheads="1"/>
              </p:cNvSpPr>
              <p:nvPr/>
            </p:nvSpPr>
            <p:spPr bwMode="auto">
              <a:xfrm>
                <a:off x="5704" y="4331"/>
                <a:ext cx="720" cy="607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sz="1000" b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F5</a:t>
                </a:r>
                <a:endParaRPr lang="en-US" sz="1100" b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eaLnBrk="0" hangingPunct="0"/>
                <a:endParaRPr lang="en-US" b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71" name="Line 4"/>
              <p:cNvSpPr>
                <a:spLocks noChangeShapeType="1"/>
              </p:cNvSpPr>
              <p:nvPr/>
            </p:nvSpPr>
            <p:spPr bwMode="auto">
              <a:xfrm>
                <a:off x="9035" y="3414"/>
                <a:ext cx="3" cy="20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0272" name="Line 3"/>
              <p:cNvSpPr>
                <a:spLocks noChangeShapeType="1"/>
              </p:cNvSpPr>
              <p:nvPr/>
            </p:nvSpPr>
            <p:spPr bwMode="auto">
              <a:xfrm flipV="1">
                <a:off x="3094" y="2874"/>
                <a:ext cx="5915" cy="57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11321" name="Rectangle 57"/>
          <p:cNvSpPr>
            <a:spLocks noChangeArrowheads="1"/>
          </p:cNvSpPr>
          <p:nvPr/>
        </p:nvSpPr>
        <p:spPr bwMode="auto">
          <a:xfrm>
            <a:off x="5448312" y="215856"/>
            <a:ext cx="376083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∆</a:t>
            </a:r>
            <a:r>
              <a:rPr lang="uz-Cyrl-UZ" sz="1600" baseline="-300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</a:t>
            </a: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=1111                                 </a:t>
            </a:r>
            <a:r>
              <a:rPr lang="en-US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∆</a:t>
            </a:r>
            <a:r>
              <a:rPr lang="en-US" sz="1600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</a:t>
            </a: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=0000</a:t>
            </a:r>
            <a:endParaRPr lang="uz-Cyrl-UZ" sz="1600" dirty="0">
              <a:ln>
                <a:solidFill>
                  <a:srgbClr val="C00000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Rectangle 57"/>
          <p:cNvSpPr>
            <a:spLocks noChangeArrowheads="1"/>
          </p:cNvSpPr>
          <p:nvPr/>
        </p:nvSpPr>
        <p:spPr bwMode="auto">
          <a:xfrm>
            <a:off x="5557851" y="5254483"/>
            <a:ext cx="384758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∆</a:t>
            </a:r>
            <a:r>
              <a:rPr lang="uz-Cyrl-UZ" sz="1600" baseline="-300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</a:t>
            </a: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</a:t>
            </a:r>
            <a:r>
              <a:rPr lang="en-US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0000</a:t>
            </a: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</a:t>
            </a:r>
            <a:r>
              <a:rPr lang="en-US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∆</a:t>
            </a:r>
            <a:r>
              <a:rPr lang="en-US" sz="1600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</a:t>
            </a: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=0</a:t>
            </a:r>
            <a:r>
              <a:rPr lang="en-US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11</a:t>
            </a:r>
            <a:r>
              <a:rPr lang="uz-Cyrl-UZ" sz="1600" dirty="0">
                <a:ln>
                  <a:solidFill>
                    <a:srgbClr val="C0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endParaRPr lang="uz-Cyrl-UZ" sz="1600" dirty="0">
              <a:ln>
                <a:solidFill>
                  <a:srgbClr val="C00000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Rectangle 57"/>
          <p:cNvSpPr>
            <a:spLocks noChangeArrowheads="1"/>
          </p:cNvSpPr>
          <p:nvPr/>
        </p:nvSpPr>
        <p:spPr bwMode="auto">
          <a:xfrm>
            <a:off x="5554095" y="1238195"/>
            <a:ext cx="370917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0000                                  </a:t>
            </a:r>
            <a:r>
              <a:rPr lang="en-US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</a:t>
            </a:r>
            <a:r>
              <a:rPr lang="ru-RU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</a:t>
            </a:r>
            <a:r>
              <a:rPr lang="en-US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1111</a:t>
            </a:r>
            <a:endParaRPr lang="uz-Cyrl-UZ" sz="1500" dirty="0">
              <a:ln>
                <a:solidFill>
                  <a:srgbClr val="000099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Rectangle 57"/>
          <p:cNvSpPr>
            <a:spLocks noChangeArrowheads="1"/>
          </p:cNvSpPr>
          <p:nvPr/>
        </p:nvSpPr>
        <p:spPr bwMode="auto">
          <a:xfrm>
            <a:off x="5562898" y="2237759"/>
            <a:ext cx="370917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1111                                  </a:t>
            </a:r>
            <a:r>
              <a:rPr lang="en-US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</a:t>
            </a:r>
            <a:r>
              <a:rPr lang="ru-RU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</a:t>
            </a:r>
            <a:r>
              <a:rPr lang="en-US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r>
              <a:rPr lang="en-US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??</a:t>
            </a: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endParaRPr lang="uz-Cyrl-UZ" sz="1500" dirty="0">
              <a:ln>
                <a:solidFill>
                  <a:srgbClr val="000099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Rectangle 57"/>
          <p:cNvSpPr>
            <a:spLocks noChangeArrowheads="1"/>
          </p:cNvSpPr>
          <p:nvPr/>
        </p:nvSpPr>
        <p:spPr bwMode="auto">
          <a:xfrm>
            <a:off x="6470676" y="719369"/>
            <a:ext cx="191628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0000               0000</a:t>
            </a:r>
            <a:endParaRPr lang="uz-Cyrl-UZ" sz="1500" dirty="0">
              <a:ln>
                <a:solidFill>
                  <a:srgbClr val="000099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Rectangle 57"/>
          <p:cNvSpPr>
            <a:spLocks noChangeArrowheads="1"/>
          </p:cNvSpPr>
          <p:nvPr/>
        </p:nvSpPr>
        <p:spPr bwMode="auto">
          <a:xfrm>
            <a:off x="6461873" y="1708971"/>
            <a:ext cx="191628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r>
              <a:rPr lang="en-US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??</a:t>
            </a: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0               1111</a:t>
            </a:r>
            <a:endParaRPr lang="uz-Cyrl-UZ" sz="1500" dirty="0">
              <a:ln>
                <a:solidFill>
                  <a:srgbClr val="000099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Rectangle 57"/>
          <p:cNvSpPr>
            <a:spLocks noChangeArrowheads="1"/>
          </p:cNvSpPr>
          <p:nvPr/>
        </p:nvSpPr>
        <p:spPr bwMode="auto">
          <a:xfrm>
            <a:off x="6485832" y="2726283"/>
            <a:ext cx="191628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0000               0</a:t>
            </a:r>
            <a:r>
              <a:rPr lang="en-US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00</a:t>
            </a: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endParaRPr lang="uz-Cyrl-UZ" sz="1500" dirty="0">
              <a:ln>
                <a:solidFill>
                  <a:srgbClr val="000099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Rectangle 57"/>
          <p:cNvSpPr>
            <a:spLocks noChangeArrowheads="1"/>
          </p:cNvSpPr>
          <p:nvPr/>
        </p:nvSpPr>
        <p:spPr bwMode="auto">
          <a:xfrm>
            <a:off x="6475728" y="4712240"/>
            <a:ext cx="191628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4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∆</a:t>
            </a:r>
            <a:r>
              <a:rPr lang="en-US" sz="14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Y(5)              </a:t>
            </a: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0110</a:t>
            </a:r>
            <a:endParaRPr lang="uz-Cyrl-UZ" sz="1500" dirty="0">
              <a:ln>
                <a:solidFill>
                  <a:srgbClr val="000099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Rectangle 57"/>
          <p:cNvSpPr>
            <a:spLocks noChangeArrowheads="1"/>
          </p:cNvSpPr>
          <p:nvPr/>
        </p:nvSpPr>
        <p:spPr bwMode="auto">
          <a:xfrm>
            <a:off x="5559520" y="3251320"/>
            <a:ext cx="370917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500" dirty="0">
                <a:ln>
                  <a:solidFill>
                    <a:srgbClr val="FF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0000                                </a:t>
            </a:r>
            <a:r>
              <a:rPr lang="en-US" sz="1500" dirty="0">
                <a:ln>
                  <a:solidFill>
                    <a:srgbClr val="FF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lang="uz-Cyrl-UZ" sz="1500" dirty="0">
                <a:ln>
                  <a:solidFill>
                    <a:srgbClr val="FF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500" dirty="0">
                <a:ln>
                  <a:solidFill>
                    <a:srgbClr val="FF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</a:t>
            </a:r>
            <a:r>
              <a:rPr lang="ru-RU" sz="1500" dirty="0">
                <a:ln>
                  <a:solidFill>
                    <a:srgbClr val="FF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</a:t>
            </a:r>
            <a:r>
              <a:rPr lang="en-US" sz="1500" dirty="0">
                <a:ln>
                  <a:solidFill>
                    <a:srgbClr val="FF0000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1111</a:t>
            </a:r>
            <a:endParaRPr lang="uz-Cyrl-UZ" sz="1500" dirty="0">
              <a:ln>
                <a:solidFill>
                  <a:srgbClr val="FF0000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Rectangle 57"/>
          <p:cNvSpPr>
            <a:spLocks noChangeArrowheads="1"/>
          </p:cNvSpPr>
          <p:nvPr/>
        </p:nvSpPr>
        <p:spPr bwMode="auto">
          <a:xfrm>
            <a:off x="5531811" y="4264882"/>
            <a:ext cx="1495364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5208588" algn="l"/>
              </a:tabLst>
              <a:defRPr/>
            </a:pPr>
            <a:r>
              <a:rPr lang="uz-Cyrl-UZ" sz="1500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1111</a:t>
            </a:r>
            <a:endParaRPr lang="uz-Cyrl-UZ" sz="1500" dirty="0">
              <a:ln>
                <a:solidFill>
                  <a:srgbClr val="000099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90163" y="106319"/>
            <a:ext cx="5112098" cy="550920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indent="360363" algn="just">
              <a:defRPr/>
            </a:pP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Қуйидаги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кетма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кетликда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дифференциал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ва чизиқли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криптотаҳлил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усулини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қўллаб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раунддан чиқувчи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 smtClean="0">
                <a:latin typeface="Times New Roman" pitchFamily="18" charset="0"/>
                <a:cs typeface="Times New Roman" pitchFamily="18" charset="0"/>
              </a:rPr>
              <a:t>айирмани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топиш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жараёни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ифодаланган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360363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uz-Cyrl-UZ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Агар кирувчи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нол бўлса, чиқувчи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ҳам нол бўлганлиги учун: 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uz-Cyrl-UZ" baseline="-2500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0000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)=0000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uz-Cyrl-UZ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indent="360363" algn="just">
              <a:defRPr/>
            </a:pPr>
            <a:endParaRPr lang="en-US" sz="500" i="1" dirty="0">
              <a:ln>
                <a:solidFill>
                  <a:srgbClr val="800000"/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 indent="360363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uz-Cyrl-UZ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Иккинчи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раундга кирувчи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нинг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ўзгариши: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Е(1111)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11111111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&gt;&gt; 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 S</a:t>
            </a:r>
            <a:r>
              <a:rPr lang="uz-Cyrl-UZ" baseline="-2500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(1111)=00,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>
              <a:defRPr/>
            </a:pP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(1111)=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,11} &gt;&gt;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Р(00??)=0??0 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&gt;&gt; 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(1111)=0??0</a:t>
            </a:r>
            <a:r>
              <a:rPr lang="uz-Cyrl-UZ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endParaRPr lang="en-US" sz="500" i="1" dirty="0">
              <a:ln>
                <a:solidFill>
                  <a:srgbClr val="800000"/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en-US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.</a:t>
            </a:r>
            <a:r>
              <a:rPr lang="uz-Cyrl-UZ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Корреляцион матрица жадвалига кўра,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3-5 раундлар учун қуйидаги 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аппроксимация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тенгламалари ўринли: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uz-Cyrl-UZ" b="1" i="1" u="sng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( i , j ) = ( 3 , 2 )</a:t>
            </a:r>
            <a:r>
              <a:rPr lang="en-US" b="1" i="1" u="sng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:</a:t>
            </a:r>
            <a:endParaRPr lang="uz-Cyrl-UZ" b="1" i="1" u="sng" dirty="0">
              <a:ln>
                <a:solidFill>
                  <a:srgbClr val="003399"/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 algn="r">
              <a:defRPr/>
            </a:pP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Х(3)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Х(3)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Y(3)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Х(5)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Х(5)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Y(5)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=0;</a:t>
            </a:r>
          </a:p>
          <a:p>
            <a:pPr algn="r">
              <a:defRPr/>
            </a:pPr>
            <a:endParaRPr lang="uz-Cyrl-UZ" sz="200" b="1" dirty="0">
              <a:ln>
                <a:solidFill>
                  <a:schemeClr val="tx1"/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b="1" i="1" u="sng" dirty="0">
                <a:ln>
                  <a:solidFill>
                    <a:srgbClr val="003399"/>
                  </a:solidFill>
                </a:ln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( i , j ) = ( 12 , 2 ):</a:t>
            </a:r>
            <a:endParaRPr lang="en-US" b="1" u="sng" dirty="0">
              <a:ln>
                <a:solidFill>
                  <a:srgbClr val="003399"/>
                </a:solidFill>
              </a:ln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uz-Cyrl-UZ" sz="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defRPr/>
            </a:pP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Х(3)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Х(3)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Y(3)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Х(5)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Х(5)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Y(5)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=0.</a:t>
            </a:r>
          </a:p>
          <a:p>
            <a:pPr algn="just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ҳамда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∆Y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=∆Х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3L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+∆Х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∆Y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=∆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+∆Х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алмашти-ришлар ўринли эканлигидан:</a:t>
            </a:r>
          </a:p>
          <a:p>
            <a:pPr algn="ctr">
              <a:defRPr/>
            </a:pPr>
            <a:r>
              <a:rPr lang="uz-Cyrl-UZ" b="1" dirty="0">
                <a:ln>
                  <a:solidFill>
                    <a:srgbClr val="800000"/>
                  </a:solidFill>
                </a:ln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b="1" dirty="0">
                <a:ln>
                  <a:solidFill>
                    <a:srgbClr val="800000"/>
                  </a:solidFill>
                </a:ln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X(3)</a:t>
            </a:r>
            <a:r>
              <a:rPr lang="uz-Cyrl-UZ" b="1" baseline="-25000" dirty="0">
                <a:ln>
                  <a:solidFill>
                    <a:srgbClr val="800000"/>
                  </a:solidFill>
                </a:ln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=∆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X(3)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X(3)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∆C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∆C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∆C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ctr">
              <a:defRPr/>
            </a:pPr>
            <a:r>
              <a:rPr lang="uz-Cyrl-UZ" b="1" dirty="0">
                <a:ln>
                  <a:solidFill>
                    <a:srgbClr val="800000"/>
                  </a:solidFill>
                </a:ln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b="1" dirty="0">
                <a:ln>
                  <a:solidFill>
                    <a:srgbClr val="800000"/>
                  </a:solidFill>
                </a:ln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X(3)</a:t>
            </a:r>
            <a:r>
              <a:rPr lang="uz-Cyrl-UZ" b="1" baseline="-25000" dirty="0">
                <a:ln>
                  <a:solidFill>
                    <a:srgbClr val="800000"/>
                  </a:solidFill>
                </a:ln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=∆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X(3)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X(3)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∆C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∆C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b="1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∆C</a:t>
            </a:r>
            <a:r>
              <a:rPr lang="uz-Cyrl-UZ" b="1" baseline="-25000" dirty="0">
                <a:ln>
                  <a:solidFill>
                    <a:schemeClr val="tx2"/>
                  </a:solidFill>
                </a:ln>
                <a:latin typeface="Times New Roman" pitchFamily="18" charset="0"/>
                <a:cs typeface="Times New Roman" pitchFamily="18" charset="0"/>
              </a:rPr>
              <a:t>1.</a:t>
            </a:r>
            <a:endParaRPr lang="en-US" dirty="0">
              <a:ln>
                <a:solidFill>
                  <a:schemeClr val="tx2"/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63466" y="5729413"/>
            <a:ext cx="8617068" cy="830997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indent="360363" algn="just">
              <a:defRPr/>
            </a:pPr>
            <a:r>
              <a:rPr lang="en-US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Кирувчи ва чиқувчи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ларни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аввалги қадамда аниқланган тенгламага қўйиш орқали 3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раундга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кирувчи сўнгра айирма матрица орқали 3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раунддан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чиқувчи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 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аниқланди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, яъни: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>
                <a:ln>
                  <a:solidFill>
                    <a:srgbClr val="000099"/>
                  </a:solidFill>
                </a:ln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b="1" dirty="0">
                <a:ln>
                  <a:solidFill>
                    <a:srgbClr val="000099"/>
                  </a:solidFill>
                </a:ln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Y(3) = 0000 1111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332839" y="2312202"/>
            <a:ext cx="252000" cy="276999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b="1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?=</a:t>
            </a:r>
            <a:endParaRPr lang="ru-RU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8529689" y="2312202"/>
            <a:ext cx="252000" cy="276999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b="1" dirty="0">
                <a:ln>
                  <a:solidFill>
                    <a:srgbClr val="000099"/>
                  </a:solidFill>
                </a:ln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?=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6 L -0.85208 0.3900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600" y="195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-0.87205 0.4310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00" y="21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lgGri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34073" y="215855"/>
            <a:ext cx="8856000" cy="6462801"/>
          </a:xfrm>
          <a:prstGeom prst="foldedCorner">
            <a:avLst>
              <a:gd name="adj" fmla="val 3535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marL="342900" indent="-342900" algn="just">
              <a:spcBef>
                <a:spcPct val="15000"/>
              </a:spcBef>
              <a:spcAft>
                <a:spcPct val="50000"/>
              </a:spcAft>
              <a:buSzPct val="130000"/>
              <a:tabLst>
                <a:tab pos="631825" algn="l"/>
              </a:tabLst>
              <a:defRPr/>
            </a:pPr>
            <a:endParaRPr lang="en-US" sz="800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285720" y="14283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74582" y="77456"/>
            <a:ext cx="9000000" cy="6696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90440" y="288882"/>
            <a:ext cx="8712000" cy="6617196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just">
              <a:buFontTx/>
              <a:buBlip>
                <a:blip r:embed="rId2"/>
              </a:buBlip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Аниқланган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охирги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раундга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кирувчи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чап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ҳамда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ўнг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 smtClean="0">
                <a:latin typeface="Times New Roman" pitchFamily="18" charset="0"/>
                <a:cs typeface="Times New Roman" pitchFamily="18" charset="0"/>
              </a:rPr>
              <a:t>айирма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қийматидан фойдаланиб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раундда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фойдаланилган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калит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битларини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қуйидаги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кетма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кетликда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аниқланади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Blip>
                <a:blip r:embed="rId2"/>
              </a:buBlip>
              <a:defRPr/>
            </a:pPr>
            <a:endParaRPr lang="uz-Cyrl-UZ" sz="8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uz-Cyrl-UZ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Криптотаҳлилчига маълум бўлган </a:t>
            </a:r>
            <a:r>
              <a:rPr lang="uz-Cyrl-UZ" b="1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="1" baseline="-25000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=01010010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ва </a:t>
            </a:r>
            <a:r>
              <a:rPr lang="uz-Cyrl-UZ" b="1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="1" baseline="-25000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=01010100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шифр матнларни 5 – раунд функциясида қўшилиши мумкин бўлган барча </a:t>
            </a:r>
            <a:r>
              <a:rPr lang="en-US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калит қиймати учун ўзгариш жараёни: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Е(Y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1L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)=Е/Р(0010)=1000 </a:t>
            </a:r>
            <a:r>
              <a:rPr lang="uz-Cyrl-UZ" b="1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0001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Е(Y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2L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)=Е/Р(0100)=0010 </a:t>
            </a:r>
            <a:r>
              <a:rPr lang="uz-Cyrl-UZ" b="1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0010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&gt;&gt;</a:t>
            </a:r>
          </a:p>
          <a:p>
            <a:pPr indent="355600" algn="just">
              <a:defRPr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0000=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0000=0010;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0001=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0001=0011;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0001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0100=0101;			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0100=0110;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0001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0101=0100;			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0101=0111;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0001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0110=0111;			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0110=0100;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0001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0111=011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0111=0101;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000=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000=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00=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0001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1110=1111;			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1110=1100;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rgbClr val="003399"/>
                  </a:solidFill>
                </a:ln>
                <a:latin typeface="Times New Roman" pitchFamily="18" charset="0"/>
                <a:cs typeface="Times New Roman" pitchFamily="18" charset="0"/>
              </a:rPr>
              <a:t>0001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1111=1110.			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1111=1101.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34073" y="215855"/>
            <a:ext cx="8856000" cy="6462801"/>
          </a:xfrm>
          <a:prstGeom prst="foldedCorner">
            <a:avLst>
              <a:gd name="adj" fmla="val 3535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marL="342900" indent="-342900" algn="just">
              <a:spcBef>
                <a:spcPct val="15000"/>
              </a:spcBef>
              <a:spcAft>
                <a:spcPct val="50000"/>
              </a:spcAft>
              <a:buSzPct val="130000"/>
              <a:tabLst>
                <a:tab pos="631825" algn="l"/>
              </a:tabLst>
              <a:defRPr/>
            </a:pPr>
            <a:endParaRPr lang="en-US" sz="800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285720" y="14283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74582" y="77456"/>
            <a:ext cx="9000000" cy="6696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90440" y="288882"/>
            <a:ext cx="8712000" cy="637097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indent="355600" algn="just">
              <a:defRPr/>
            </a:pPr>
            <a:r>
              <a:rPr lang="en-US" b="1" i="1" dirty="0">
                <a:ln>
                  <a:solidFill>
                    <a:srgbClr val="800000"/>
                  </a:solidFill>
                </a:ln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i="1" dirty="0">
                <a:ln>
                  <a:solidFill>
                    <a:srgbClr val="800000"/>
                  </a:solidFill>
                </a:ln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uz-Cyrl-UZ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к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алит қўшилиши натижасида ҳосил бўлган барча маълумотлар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блокдан ўтказилса, қуйидаги матнлар ҳосил бўлади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(0001)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(0000)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(0011)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(0010)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(0101)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(0100)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(0111)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(0111)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(0110)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(0101)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(1001)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(1000)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(1011)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(1010)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(1101)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(1100)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(1111)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(1111)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	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1100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)=S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1110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.			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)=S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(1101)=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б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локдан чиқувчи икки битлик қиймат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ўриналмаштириш акслантиришидан сўнг иккинчи ва учинчи ўринларда ҳосил бўлади, яъни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Р(? ?Y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 = ?Y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?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355600" algn="just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5 - раунд F функциясидан чиқувчи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айирма,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охирги раундга кирувчи чап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билан mod2 бўйича қўшилиб, натижа шифр матн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айирмасини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чап қисмига тенг бўлганлиги учун қуйидаги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∆Y(5)=∆С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+∆Х(5)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L	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тенглик ўринли бўлади: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21373" y="215855"/>
            <a:ext cx="8928000" cy="6462801"/>
          </a:xfrm>
          <a:prstGeom prst="foldedCorner">
            <a:avLst>
              <a:gd name="adj" fmla="val 10019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marL="342900" indent="-342900" algn="just">
              <a:spcBef>
                <a:spcPct val="15000"/>
              </a:spcBef>
              <a:spcAft>
                <a:spcPct val="50000"/>
              </a:spcAft>
              <a:buSzPct val="130000"/>
              <a:tabLst>
                <a:tab pos="631825" algn="l"/>
              </a:tabLst>
              <a:defRPr/>
            </a:pPr>
            <a:endParaRPr lang="en-US" sz="800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285720" y="14283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74582" y="77456"/>
            <a:ext cx="9000000" cy="6696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90440" y="288882"/>
            <a:ext cx="8712000" cy="6093976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indent="355600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uz-Cyrl-UZ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Юқорида ҳосил қилинган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∆Y(5)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айирмани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берувчи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ва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матнларнинг барча 16 та қийматлари учун аввалги қадамда аниқланган тенглик бажарилишини қуйидагича кўриш мумкин:</a:t>
            </a:r>
          </a:p>
          <a:p>
            <a:pPr algn="ctr">
              <a:defRPr/>
            </a:pP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(5)=11+11≠11; 	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(5)=10+10≠11;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(5)=10+10≠11;	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(5)=11+11≠11;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(5)=01+01≠11;	</a:t>
            </a:r>
            <a:r>
              <a:rPr lang="uz-Cyrl-UZ" b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 b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(5)=00+11=11;</a:t>
            </a:r>
            <a:endParaRPr lang="ru-RU" dirty="0">
              <a:ln>
                <a:solidFill>
                  <a:srgbClr val="C00000"/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b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:  ∆Y(5)=Y</a:t>
            </a:r>
            <a:r>
              <a:rPr lang="uz-Cyrl-UZ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(5)=11+00=11;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(5)=01+01≠11;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(5)=01+01≠11;	</a:t>
            </a:r>
            <a:r>
              <a:rPr lang="uz-Cyrl-UZ" b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b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(5)=00+11=11;</a:t>
            </a:r>
            <a:endParaRPr lang="ru-RU" dirty="0">
              <a:ln>
                <a:solidFill>
                  <a:srgbClr val="C00000"/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b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b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(5)=11+00=11;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(5)=01+01≠11;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(5)=00+00≠11;	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(5)=10+10≠11;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(5)=10+10≠11;	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∆Y(5)=Y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(5)+Y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(5)=00+00≠11.</a:t>
            </a:r>
          </a:p>
          <a:p>
            <a:pPr indent="355600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Таққослаш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натижасида бажарилган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тенгликларга кўра, шифрлаш алгоритмининг 5 – раундида фойдаланилган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калит қуйидаги тўпламга тегишли бўлади: 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uz-Cyrl-UZ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{0101, 0110, 1001, 1010}.</a:t>
            </a:r>
          </a:p>
          <a:p>
            <a:pPr indent="355600" algn="just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Юқорида амалга оширилган 1 – 5 – қадамларни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- блокга кирувчи матн учун ҳам бажариб,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калитнинг қуйидаги тўпламга тегишли бўлиши аниқланди: </a:t>
            </a:r>
          </a:p>
          <a:p>
            <a:pPr algn="ctr">
              <a:defRPr/>
            </a:pPr>
            <a:r>
              <a:rPr lang="uz-Cyrl-UZ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uz-Cyrl-UZ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{0001, 0100, 0111, 100</a:t>
            </a:r>
            <a:r>
              <a:rPr lang="en-US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0, 1011, 1101, 1110</a:t>
            </a:r>
            <a:r>
              <a:rPr lang="uz-Cyrl-UZ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}.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Барча раунд калит қийматлари бир ҳил бўлганлиги учун, топилган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ва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калитдан ҳар бир раундда фойдаланилганлиги маълум. Шу боис, ҳосил бўлган калит вариантларини бевосита текшириб кўриб ишонч ҳосил қилиш мумкинки, шифрлаш жараёнида фойдаланилган ҳақиқий маҳфий калит қуйидагига тенг:</a:t>
            </a:r>
          </a:p>
          <a:p>
            <a:pPr indent="355600" algn="ctr">
              <a:defRPr/>
            </a:pPr>
            <a:r>
              <a:rPr lang="uz-Cyrl-UZ" sz="2000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sz="2000" b="1" baseline="-25000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uz-Cyrl-UZ" sz="2000" b="1" dirty="0">
                <a:ln>
                  <a:solidFill>
                    <a:srgbClr val="000099"/>
                  </a:solidFill>
                </a:ln>
                <a:latin typeface="Times New Roman" pitchFamily="18" charset="0"/>
                <a:cs typeface="Times New Roman" pitchFamily="18" charset="0"/>
              </a:rPr>
              <a:t>1110 0101</a:t>
            </a:r>
            <a:r>
              <a:rPr lang="uz-Cyrl-UZ" sz="20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227013" y="6532563"/>
            <a:ext cx="8064500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85720" y="871502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84106" y="55148"/>
            <a:ext cx="8964000" cy="6732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90440" y="909603"/>
            <a:ext cx="8785225" cy="5821397"/>
          </a:xfrm>
          <a:prstGeom prst="foldedCorner">
            <a:avLst>
              <a:gd name="adj" fmla="val 2754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algn="ctr">
              <a:defRPr/>
            </a:pPr>
            <a:endParaRPr lang="uz-Cyrl-UZ" sz="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48" name="Rectangle 9"/>
          <p:cNvSpPr>
            <a:spLocks noChangeArrowheads="1"/>
          </p:cNvSpPr>
          <p:nvPr/>
        </p:nvSpPr>
        <p:spPr bwMode="auto">
          <a:xfrm>
            <a:off x="300038" y="979488"/>
            <a:ext cx="8580437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indent="365125" algn="just">
              <a:buSzPct val="105000"/>
              <a:buFontTx/>
              <a:buBlip>
                <a:blip r:embed="rId2"/>
              </a:buBlip>
            </a:pPr>
            <a:r>
              <a:rPr lang="uz-Cyrl-UZ">
                <a:latin typeface="Times New Roman" pitchFamily="18" charset="0"/>
                <a:cs typeface="Times New Roman" pitchFamily="18" charset="0"/>
              </a:rPr>
              <a:t>Етти раундан иборат бўлган DES шифрлаш алгоритмига ЧДК усули, шифрлаш алгоритмининг даслабки 3 (1 дан 3 гача) раундига дифференциал криптотаҳлил усулини, кейинги 3 раундига (4 дан 6 гача) эса чизиқли криптотаҳлил усулини қўллаш ҳамда охирги раундда фойдаланилган калит битларини аниқлаш орқали амалга оширилади. Бошланғич IP ва охирги IP</a:t>
            </a:r>
            <a:r>
              <a:rPr lang="uz-Cyrl-UZ" baseline="3000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ўрин алмаштириш акслантиришлари шифрланган маълумотнинг криптобардошлигига таъсири йўклиги учун, уларни ташлаб ўтиш мумкин. </a:t>
            </a:r>
          </a:p>
        </p:txBody>
      </p:sp>
      <p:sp>
        <p:nvSpPr>
          <p:cNvPr id="11" name="Round Same Side Corner Rectangle 10"/>
          <p:cNvSpPr/>
          <p:nvPr/>
        </p:nvSpPr>
        <p:spPr bwMode="auto">
          <a:xfrm>
            <a:off x="500063" y="116064"/>
            <a:ext cx="8143875" cy="684000"/>
          </a:xfrm>
          <a:prstGeom prst="round2SameRect">
            <a:avLst/>
          </a:prstGeom>
          <a:solidFill>
            <a:srgbClr val="003399"/>
          </a:solidFill>
          <a:effectLst>
            <a:glow rad="1397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55650">
              <a:lnSpc>
                <a:spcPct val="90000"/>
              </a:lnSpc>
              <a:spcAft>
                <a:spcPct val="35000"/>
              </a:spcAft>
              <a:tabLst>
                <a:tab pos="533400" algn="l"/>
              </a:tabLst>
              <a:defRPr/>
            </a:pPr>
            <a:r>
              <a:rPr lang="uz-Cyrl-UZ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Етти раунддан иборат бўлган </a:t>
            </a:r>
            <a:r>
              <a:rPr lang="en-US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DES </a:t>
            </a:r>
            <a:r>
              <a:rPr lang="uz-Cyrl-UZ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шифрлаш алгоритми учун </a:t>
            </a:r>
          </a:p>
          <a:p>
            <a:pPr algn="ctr" defTabSz="755650">
              <a:lnSpc>
                <a:spcPct val="90000"/>
              </a:lnSpc>
              <a:spcAft>
                <a:spcPct val="35000"/>
              </a:spcAft>
              <a:tabLst>
                <a:tab pos="533400" algn="l"/>
              </a:tabLst>
              <a:defRPr/>
            </a:pPr>
            <a:r>
              <a:rPr lang="uz-Cyrl-UZ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чизиқли </a:t>
            </a:r>
            <a:r>
              <a:rPr lang="en-US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– </a:t>
            </a:r>
            <a:r>
              <a:rPr lang="uz-Cyrl-UZ" b="1" spc="50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Times New Roman" pitchFamily="18" charset="0"/>
              </a:rPr>
              <a:t>дифференциал криптотаҳлил усулининг қўлланилиши.</a:t>
            </a:r>
            <a:endParaRPr lang="ru-RU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99979" y="2954330"/>
            <a:ext cx="3802121" cy="215444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uz-Cyrl-UZ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∆P</a:t>
            </a:r>
            <a:r>
              <a:rPr lang="uz-Cyrl-UZ" sz="1400" baseline="-250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=60 00 00 00</a:t>
            </a:r>
            <a:r>
              <a:rPr lang="uz-Cyrl-UZ" sz="1400" baseline="-250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16 	</a:t>
            </a:r>
            <a:r>
              <a:rPr lang="uz-Cyrl-UZ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∆P</a:t>
            </a:r>
            <a:r>
              <a:rPr lang="uz-Cyrl-UZ" sz="1400" baseline="-250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=00 00 00 00</a:t>
            </a:r>
            <a:r>
              <a:rPr lang="uz-Cyrl-UZ" sz="1400" baseline="-250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endParaRPr lang="ru-RU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55792" y="3469147"/>
            <a:ext cx="2988000" cy="215444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uz-Cyrl-UZ" sz="1400" i="1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`=00 00 00 00 	</a:t>
            </a:r>
            <a:r>
              <a:rPr lang="uz-Cyrl-UZ" sz="1400" i="1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`=00 00 00 00</a:t>
            </a:r>
            <a:endParaRPr lang="ru-RU" sz="1400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65109" y="4414851"/>
            <a:ext cx="3291310" cy="4308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uz-Cyrl-UZ" sz="1400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9, 17, 23 ва 31 битлар</a:t>
            </a:r>
            <a:endParaRPr lang="ru-RU" sz="1400" dirty="0">
              <a:ln>
                <a:solidFill>
                  <a:schemeClr val="accent6">
                    <a:lumMod val="50000"/>
                  </a:schemeClr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uz-Cyrl-UZ" sz="1400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       ўзгарган.	   </a:t>
            </a:r>
            <a:r>
              <a:rPr lang="uz-Cyrl-UZ" sz="1400" i="1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b</a:t>
            </a:r>
            <a:r>
              <a:rPr lang="uz-Cyrl-UZ" sz="1400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`=60 00 00 00</a:t>
            </a:r>
            <a:endParaRPr lang="ru-RU" sz="1400" dirty="0">
              <a:ln>
                <a:solidFill>
                  <a:schemeClr val="accent6">
                    <a:lumMod val="50000"/>
                  </a:schemeClr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2083" y="5557657"/>
            <a:ext cx="3291310" cy="646331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uz-Cyrl-UZ" sz="1400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7, 9, 12, 17, 22, 23, 31	     9, 17, 23 ва 31</a:t>
            </a:r>
          </a:p>
          <a:p>
            <a:pPr>
              <a:defRPr/>
            </a:pPr>
            <a:r>
              <a:rPr lang="uz-Cyrl-UZ" sz="1400" dirty="0">
                <a:ln>
                  <a:solidFill>
                    <a:schemeClr val="accent6">
                      <a:lumMod val="50000"/>
                    </a:schemeClr>
                  </a:solidFill>
                </a:ln>
                <a:latin typeface="Times New Roman" pitchFamily="18" charset="0"/>
                <a:cs typeface="Times New Roman" pitchFamily="18" charset="0"/>
              </a:rPr>
              <a:t>       32 ўзгармаган	    битлар ўзгарган.	</a:t>
            </a:r>
            <a:endParaRPr lang="ru-RU" sz="1400" dirty="0">
              <a:ln>
                <a:solidFill>
                  <a:schemeClr val="accent6">
                    <a:lumMod val="50000"/>
                  </a:schemeClr>
                </a:solidFill>
              </a:ln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354" name="Group 38"/>
          <p:cNvGrpSpPr>
            <a:grpSpLocks/>
          </p:cNvGrpSpPr>
          <p:nvPr/>
        </p:nvGrpSpPr>
        <p:grpSpPr bwMode="auto">
          <a:xfrm>
            <a:off x="331788" y="3186113"/>
            <a:ext cx="3802062" cy="3416300"/>
            <a:chOff x="331723" y="3186153"/>
            <a:chExt cx="3802121" cy="3415844"/>
          </a:xfrm>
        </p:grpSpPr>
        <p:grpSp>
          <p:nvGrpSpPr>
            <p:cNvPr id="14361" name="Group 104"/>
            <p:cNvGrpSpPr>
              <a:grpSpLocks/>
            </p:cNvGrpSpPr>
            <p:nvPr/>
          </p:nvGrpSpPr>
          <p:grpSpPr bwMode="auto">
            <a:xfrm>
              <a:off x="433385" y="3186153"/>
              <a:ext cx="3510924" cy="3200400"/>
              <a:chOff x="433385" y="3186153"/>
              <a:chExt cx="3510924" cy="3200400"/>
            </a:xfrm>
          </p:grpSpPr>
          <p:sp>
            <p:nvSpPr>
              <p:cNvPr id="14363" name="Line 4"/>
              <p:cNvSpPr>
                <a:spLocks noChangeShapeType="1"/>
              </p:cNvSpPr>
              <p:nvPr/>
            </p:nvSpPr>
            <p:spPr bwMode="auto">
              <a:xfrm flipH="1">
                <a:off x="437324" y="3726536"/>
                <a:ext cx="3487289" cy="273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4364" name="Group 103"/>
              <p:cNvGrpSpPr>
                <a:grpSpLocks/>
              </p:cNvGrpSpPr>
              <p:nvPr/>
            </p:nvGrpSpPr>
            <p:grpSpPr bwMode="auto">
              <a:xfrm>
                <a:off x="433385" y="3186153"/>
                <a:ext cx="3510924" cy="3200400"/>
                <a:chOff x="433385" y="3173409"/>
                <a:chExt cx="3510924" cy="3200400"/>
              </a:xfrm>
            </p:grpSpPr>
            <p:sp>
              <p:nvSpPr>
                <p:cNvPr id="14365" name="Line 2"/>
                <p:cNvSpPr>
                  <a:spLocks noChangeShapeType="1"/>
                </p:cNvSpPr>
                <p:nvPr/>
              </p:nvSpPr>
              <p:spPr bwMode="auto">
                <a:xfrm>
                  <a:off x="580260" y="3195261"/>
                  <a:ext cx="1688" cy="89046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6" name="Oval 3"/>
                <p:cNvSpPr>
                  <a:spLocks noChangeArrowheads="1"/>
                </p:cNvSpPr>
                <p:nvPr/>
              </p:nvSpPr>
              <p:spPr bwMode="auto">
                <a:xfrm>
                  <a:off x="433385" y="3603619"/>
                  <a:ext cx="303879" cy="245379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4367" name="Rectangle 5"/>
                <p:cNvSpPr>
                  <a:spLocks noChangeArrowheads="1"/>
                </p:cNvSpPr>
                <p:nvPr/>
              </p:nvSpPr>
              <p:spPr bwMode="auto">
                <a:xfrm>
                  <a:off x="2050132" y="3590872"/>
                  <a:ext cx="405172" cy="276336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r>
                    <a:rPr lang="en-US" sz="1200" b="1">
                      <a:latin typeface="Times New Roman" pitchFamily="18" charset="0"/>
                    </a:rPr>
                    <a:t>F</a:t>
                  </a:r>
                  <a:r>
                    <a:rPr lang="uz-Cyrl-UZ" sz="1200" b="1">
                      <a:latin typeface="Times New Roman" pitchFamily="18" charset="0"/>
                    </a:rPr>
                    <a:t>1</a:t>
                  </a:r>
                  <a:endParaRPr lang="ru-RU">
                    <a:latin typeface="Arial" charset="0"/>
                  </a:endParaRPr>
                </a:p>
              </p:txBody>
            </p:sp>
            <p:sp>
              <p:nvSpPr>
                <p:cNvPr id="14368" name="Line 8"/>
                <p:cNvSpPr>
                  <a:spLocks noChangeShapeType="1"/>
                </p:cNvSpPr>
                <p:nvPr/>
              </p:nvSpPr>
              <p:spPr bwMode="auto">
                <a:xfrm>
                  <a:off x="3924613" y="3173409"/>
                  <a:ext cx="1688" cy="89046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14369" name="Group 9"/>
                <p:cNvGrpSpPr>
                  <a:grpSpLocks/>
                </p:cNvGrpSpPr>
                <p:nvPr/>
              </p:nvGrpSpPr>
              <p:grpSpPr bwMode="auto">
                <a:xfrm>
                  <a:off x="437887" y="4061144"/>
                  <a:ext cx="3492916" cy="1162251"/>
                  <a:chOff x="2831" y="2874"/>
                  <a:chExt cx="6207" cy="2553"/>
                </a:xfrm>
              </p:grpSpPr>
              <p:sp>
                <p:nvSpPr>
                  <p:cNvPr id="14378" name="Line 1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068" y="2907"/>
                    <a:ext cx="5954" cy="505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79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3092" y="3462"/>
                    <a:ext cx="3" cy="195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0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831" y="4359"/>
                    <a:ext cx="540" cy="539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1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38" y="4629"/>
                    <a:ext cx="6197" cy="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5704" y="4331"/>
                    <a:ext cx="720" cy="607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/>
                    <a:r>
                      <a:rPr lang="en-US" sz="1200" b="1">
                        <a:latin typeface="Times New Roman" pitchFamily="18" charset="0"/>
                      </a:rPr>
                      <a:t>F</a:t>
                    </a:r>
                    <a:r>
                      <a:rPr lang="ru-RU" sz="1200" b="1">
                        <a:latin typeface="Times New Roman" pitchFamily="18" charset="0"/>
                      </a:rPr>
                      <a:t>2</a:t>
                    </a:r>
                  </a:p>
                  <a:p>
                    <a:endParaRPr lang="ru-RU">
                      <a:latin typeface="Arial" charset="0"/>
                    </a:endParaRPr>
                  </a:p>
                </p:txBody>
              </p:sp>
              <p:sp>
                <p:nvSpPr>
                  <p:cNvPr id="14383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9035" y="3414"/>
                    <a:ext cx="3" cy="2013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84" name="Line 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94" y="2874"/>
                    <a:ext cx="5915" cy="573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4370" name="Group 19"/>
                <p:cNvGrpSpPr>
                  <a:grpSpLocks/>
                </p:cNvGrpSpPr>
                <p:nvPr/>
              </p:nvGrpSpPr>
              <p:grpSpPr bwMode="auto">
                <a:xfrm>
                  <a:off x="451393" y="5211558"/>
                  <a:ext cx="3492916" cy="1162251"/>
                  <a:chOff x="2831" y="2874"/>
                  <a:chExt cx="6207" cy="2553"/>
                </a:xfrm>
              </p:grpSpPr>
              <p:sp>
                <p:nvSpPr>
                  <p:cNvPr id="14371" name="Line 2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068" y="2907"/>
                    <a:ext cx="5954" cy="505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72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3092" y="3462"/>
                    <a:ext cx="3" cy="195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73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2831" y="4359"/>
                    <a:ext cx="540" cy="539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74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38" y="4629"/>
                    <a:ext cx="6197" cy="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75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5704" y="4331"/>
                    <a:ext cx="720" cy="607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/>
                    <a:r>
                      <a:rPr lang="en-US" sz="1200" b="1">
                        <a:latin typeface="Times New Roman" pitchFamily="18" charset="0"/>
                      </a:rPr>
                      <a:t>F</a:t>
                    </a:r>
                    <a:r>
                      <a:rPr lang="ru-RU" sz="1200" b="1">
                        <a:latin typeface="Times New Roman" pitchFamily="18" charset="0"/>
                      </a:rPr>
                      <a:t>3</a:t>
                    </a:r>
                  </a:p>
                  <a:p>
                    <a:endParaRPr lang="ru-RU">
                      <a:latin typeface="Arial" charset="0"/>
                    </a:endParaRPr>
                  </a:p>
                </p:txBody>
              </p:sp>
              <p:sp>
                <p:nvSpPr>
                  <p:cNvPr id="14376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9035" y="3414"/>
                    <a:ext cx="3" cy="2013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4377" name="Line 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94" y="2874"/>
                    <a:ext cx="5915" cy="573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  <p:sp>
          <p:nvSpPr>
            <p:cNvPr id="38" name="TextBox 37"/>
            <p:cNvSpPr txBox="1"/>
            <p:nvPr/>
          </p:nvSpPr>
          <p:spPr>
            <a:xfrm>
              <a:off x="331723" y="6386553"/>
              <a:ext cx="3802121" cy="215444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sz="14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DES </a:t>
              </a:r>
              <a:r>
                <a:rPr lang="uz-Cyrl-UZ" sz="14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алгоритмининг дастлабки 3 раунд хусусияти</a:t>
              </a:r>
              <a:endParaRPr lang="ru-RU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4133845" y="2735253"/>
            <a:ext cx="4768856" cy="387798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indent="365125" algn="just">
              <a:buSzPct val="105000"/>
              <a:buFontTx/>
              <a:buBlip>
                <a:blip r:embed="rId3"/>
              </a:buBlip>
              <a:defRPr/>
            </a:pP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Криптотаҳлил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жараёни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қуйидаги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қадамларни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ўз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ичига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u="sng" dirty="0">
                <a:latin typeface="Times New Roman" pitchFamily="18" charset="0"/>
                <a:cs typeface="Times New Roman" pitchFamily="18" charset="0"/>
              </a:rPr>
              <a:t>олади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indent="365125" algn="just">
              <a:buSzPct val="105000"/>
              <a:defRPr/>
            </a:pPr>
            <a:r>
              <a:rPr lang="uz-Cyrl-UZ" b="1" i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Кирувчи нол айирма чиқишда ҳам доимо нол айирмадан иборат бўлганлиги учун, 2 – раунд </a:t>
            </a:r>
            <a:r>
              <a:rPr lang="uz-Cyrl-UZ" b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функция киришига 1 – раундга кирувчи айирманинг чап қисми берилади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  <a:endParaRPr lang="uz-Cyrl-UZ" dirty="0">
              <a:latin typeface="Times New Roman" pitchFamily="18" charset="0"/>
              <a:cs typeface="Times New Roman" pitchFamily="18" charset="0"/>
            </a:endParaRPr>
          </a:p>
          <a:p>
            <a:pPr indent="365125" algn="just">
              <a:buSzPct val="105000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 –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раундга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кирувчи ўнг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айирма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функция E, S, P  акслантиришларидан сўнг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9, 17, 23 ҳамда 31 битлари номаълум ва қолган битлари ноллардан иборат айирмага аксланади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indent="365125" algn="just">
              <a:buSzPct val="105000"/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раундга кирувчи ўнг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айирма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функция акслантиришларидан сўнг, 7, 9, 12, 17, 22, 23, 31 ҳамда 32 битлари нол ва қолган битлари номаълум бўлган айирмага аксланади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  <a:endParaRPr lang="uz-Cyrl-UZ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Action Button: Forward or Next 40">
            <a:hlinkClick r:id="" action="ppaction://hlinkshowjump?jump=nextslide" highlightClick="1"/>
          </p:cNvPr>
          <p:cNvSpPr/>
          <p:nvPr/>
        </p:nvSpPr>
        <p:spPr>
          <a:xfrm>
            <a:off x="8040688" y="5270500"/>
            <a:ext cx="323850" cy="152400"/>
          </a:xfrm>
          <a:prstGeom prst="actionButtonForwardNex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3" name="Action Button: Forward or Next 42">
            <a:hlinkClick r:id="rId4" action="ppaction://hlinksldjump" highlightClick="1"/>
          </p:cNvPr>
          <p:cNvSpPr/>
          <p:nvPr/>
        </p:nvSpPr>
        <p:spPr>
          <a:xfrm>
            <a:off x="8004175" y="6373813"/>
            <a:ext cx="323850" cy="153987"/>
          </a:xfrm>
          <a:prstGeom prst="actionButtonForwardNex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2" name="Action Button: Forward or Next 41">
            <a:hlinkClick r:id="rId5" action="ppaction://hlinksldjump" highlightClick="1"/>
          </p:cNvPr>
          <p:cNvSpPr/>
          <p:nvPr/>
        </p:nvSpPr>
        <p:spPr>
          <a:xfrm>
            <a:off x="8442378" y="6386553"/>
            <a:ext cx="360000" cy="180000"/>
          </a:xfrm>
          <a:prstGeom prst="actionButtonForwardNex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34073" y="215855"/>
            <a:ext cx="8856000" cy="6462801"/>
          </a:xfrm>
          <a:prstGeom prst="foldedCorner">
            <a:avLst>
              <a:gd name="adj" fmla="val 3535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marL="342900" indent="-342900" algn="just">
              <a:spcBef>
                <a:spcPct val="15000"/>
              </a:spcBef>
              <a:spcAft>
                <a:spcPct val="50000"/>
              </a:spcAft>
              <a:buSzPct val="130000"/>
              <a:tabLst>
                <a:tab pos="631825" algn="l"/>
              </a:tabLst>
              <a:defRPr/>
            </a:pPr>
            <a:endParaRPr lang="en-US" sz="800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285720" y="14283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74582" y="77456"/>
            <a:ext cx="9000000" cy="6696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369" name="Text Box 136"/>
          <p:cNvSpPr txBox="1">
            <a:spLocks noChangeArrowheads="1"/>
          </p:cNvSpPr>
          <p:nvPr/>
        </p:nvSpPr>
        <p:spPr bwMode="auto">
          <a:xfrm>
            <a:off x="773113" y="236538"/>
            <a:ext cx="7632700" cy="307975"/>
          </a:xfrm>
          <a:prstGeom prst="rect">
            <a:avLst/>
          </a:prstGeom>
          <a:solidFill>
            <a:srgbClr val="FF0000">
              <a:alpha val="58038"/>
            </a:srgb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uz-Cyrl-UZ" sz="2000" b="1">
                <a:latin typeface="Times New Roman" pitchFamily="18" charset="0"/>
              </a:rPr>
              <a:t>2 – раунд функциясига кирувчи айирма</a:t>
            </a:r>
            <a:endParaRPr lang="ru-RU" sz="2000" b="1">
              <a:latin typeface="Times New Roman" pitchFamily="18" charset="0"/>
            </a:endParaRPr>
          </a:p>
        </p:txBody>
      </p:sp>
      <p:grpSp>
        <p:nvGrpSpPr>
          <p:cNvPr id="15370" name="Group 149"/>
          <p:cNvGrpSpPr>
            <a:grpSpLocks/>
          </p:cNvGrpSpPr>
          <p:nvPr/>
        </p:nvGrpSpPr>
        <p:grpSpPr bwMode="auto">
          <a:xfrm>
            <a:off x="139700" y="492125"/>
            <a:ext cx="8680450" cy="5868988"/>
            <a:chOff x="88" y="310"/>
            <a:chExt cx="5468" cy="3697"/>
          </a:xfrm>
        </p:grpSpPr>
        <p:grpSp>
          <p:nvGrpSpPr>
            <p:cNvPr id="15373" name="Group 135"/>
            <p:cNvGrpSpPr>
              <a:grpSpLocks/>
            </p:cNvGrpSpPr>
            <p:nvPr/>
          </p:nvGrpSpPr>
          <p:grpSpPr bwMode="auto">
            <a:xfrm>
              <a:off x="88" y="473"/>
              <a:ext cx="5468" cy="3378"/>
              <a:chOff x="88" y="596"/>
              <a:chExt cx="5468" cy="3378"/>
            </a:xfrm>
          </p:grpSpPr>
          <p:grpSp>
            <p:nvGrpSpPr>
              <p:cNvPr id="15380" name="Group 132"/>
              <p:cNvGrpSpPr>
                <a:grpSpLocks/>
              </p:cNvGrpSpPr>
              <p:nvPr/>
            </p:nvGrpSpPr>
            <p:grpSpPr bwMode="auto">
              <a:xfrm>
                <a:off x="177" y="596"/>
                <a:ext cx="5379" cy="3378"/>
                <a:chOff x="177" y="188"/>
                <a:chExt cx="5379" cy="3378"/>
              </a:xfrm>
            </p:grpSpPr>
            <p:grpSp>
              <p:nvGrpSpPr>
                <p:cNvPr id="15382" name="Group 122"/>
                <p:cNvGrpSpPr>
                  <a:grpSpLocks/>
                </p:cNvGrpSpPr>
                <p:nvPr/>
              </p:nvGrpSpPr>
              <p:grpSpPr bwMode="auto">
                <a:xfrm>
                  <a:off x="177" y="188"/>
                  <a:ext cx="5379" cy="3378"/>
                  <a:chOff x="177" y="119"/>
                  <a:chExt cx="5379" cy="3378"/>
                </a:xfrm>
              </p:grpSpPr>
              <p:sp>
                <p:nvSpPr>
                  <p:cNvPr id="30" name="Rectangle 4"/>
                  <p:cNvSpPr>
                    <a:spLocks noChangeArrowheads="1"/>
                  </p:cNvSpPr>
                  <p:nvPr/>
                </p:nvSpPr>
                <p:spPr bwMode="auto">
                  <a:xfrm>
                    <a:off x="189" y="539"/>
                    <a:ext cx="5367" cy="2510"/>
                  </a:xfrm>
                  <a:prstGeom prst="rect">
                    <a:avLst/>
                  </a:prstGeom>
                  <a:ln>
                    <a:headEnd/>
                    <a:tailEnd/>
                  </a:ln>
                  <a:effectLst>
                    <a:glow rad="101600">
                      <a:schemeClr val="accent4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wrap="none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sp>
                <p:nvSpPr>
                  <p:cNvPr id="15395" name="Text Box 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0" y="119"/>
                    <a:ext cx="4382" cy="287"/>
                  </a:xfrm>
                  <a:prstGeom prst="rect">
                    <a:avLst/>
                  </a:prstGeom>
                  <a:solidFill>
                    <a:srgbClr val="CCFFFF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200">
                        <a:latin typeface="Times New Roman" pitchFamily="18" charset="0"/>
                      </a:rPr>
                      <a:t>0 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1 1 </a:t>
                    </a:r>
                    <a:r>
                      <a:rPr lang="en-US" sz="2200">
                        <a:latin typeface="Times New Roman" pitchFamily="18" charset="0"/>
                      </a:rPr>
                      <a:t>0 0 0 0 0 0 0 0 0 0 0 0 0 0 0 0 0 0 0 0 0 0 0 0 0 0 0 0 0</a:t>
                    </a:r>
                    <a:endParaRPr lang="ru-RU" sz="2200">
                      <a:latin typeface="Times New Roman" pitchFamily="18" charset="0"/>
                    </a:endParaRPr>
                  </a:p>
                </p:txBody>
              </p:sp>
              <p:grpSp>
                <p:nvGrpSpPr>
                  <p:cNvPr id="15396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1156" y="407"/>
                    <a:ext cx="3472" cy="271"/>
                    <a:chOff x="1156" y="407"/>
                    <a:chExt cx="3472" cy="141"/>
                  </a:xfrm>
                </p:grpSpPr>
                <p:sp>
                  <p:nvSpPr>
                    <p:cNvPr id="15474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6" y="412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5475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14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5476" name="Line 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28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5477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9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5478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34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5397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36" y="659"/>
                    <a:ext cx="3704" cy="281"/>
                  </a:xfrm>
                  <a:prstGeom prst="rect">
                    <a:avLst/>
                  </a:prstGeom>
                  <a:solidFill>
                    <a:srgbClr val="CCFFCC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200" b="1">
                        <a:latin typeface="Times New Roman" pitchFamily="18" charset="0"/>
                      </a:rPr>
                      <a:t>E(</a:t>
                    </a:r>
                    <a:r>
                      <a:rPr lang="en-US" sz="2200">
                        <a:latin typeface="Times New Roman" pitchFamily="18" charset="0"/>
                      </a:rPr>
                      <a:t>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11</a:t>
                    </a:r>
                    <a:r>
                      <a:rPr lang="en-US" sz="2200">
                        <a:latin typeface="Times New Roman" pitchFamily="18" charset="0"/>
                      </a:rPr>
                      <a:t>00000000000000000000000000000</a:t>
                    </a:r>
                    <a:r>
                      <a:rPr lang="en-US" sz="2200" b="1">
                        <a:latin typeface="Times New Roman" pitchFamily="18" charset="0"/>
                      </a:rPr>
                      <a:t>)</a:t>
                    </a:r>
                    <a:endParaRPr lang="ru-RU" sz="2200" b="1">
                      <a:latin typeface="Times New Roman" pitchFamily="18" charset="0"/>
                    </a:endParaRPr>
                  </a:p>
                </p:txBody>
              </p:sp>
              <p:grpSp>
                <p:nvGrpSpPr>
                  <p:cNvPr id="15398" name="Group 20"/>
                  <p:cNvGrpSpPr>
                    <a:grpSpLocks/>
                  </p:cNvGrpSpPr>
                  <p:nvPr/>
                </p:nvGrpSpPr>
                <p:grpSpPr bwMode="auto">
                  <a:xfrm>
                    <a:off x="1156" y="944"/>
                    <a:ext cx="3472" cy="148"/>
                    <a:chOff x="1156" y="407"/>
                    <a:chExt cx="3472" cy="141"/>
                  </a:xfrm>
                </p:grpSpPr>
                <p:sp>
                  <p:nvSpPr>
                    <p:cNvPr id="15469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6" y="412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5470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14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5471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28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5472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9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5473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34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5399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9" y="1080"/>
                    <a:ext cx="4400" cy="281"/>
                  </a:xfrm>
                  <a:prstGeom prst="rect">
                    <a:avLst/>
                  </a:prstGeom>
                  <a:solidFill>
                    <a:srgbClr val="DDDDDD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200">
                        <a:latin typeface="Times New Roman" pitchFamily="18" charset="0"/>
                      </a:rPr>
                      <a:t>00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11</a:t>
                    </a:r>
                    <a:r>
                      <a:rPr lang="en-US" sz="2200">
                        <a:latin typeface="Times New Roman" pitchFamily="18" charset="0"/>
                      </a:rPr>
                      <a:t>00000000000000000000000000000000000000000000</a:t>
                    </a:r>
                    <a:endParaRPr lang="ru-RU" sz="2200" b="1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5400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" y="1474"/>
                    <a:ext cx="5126" cy="1059"/>
                  </a:xfrm>
                  <a:prstGeom prst="rect">
                    <a:avLst/>
                  </a:prstGeom>
                  <a:solidFill>
                    <a:srgbClr val="CCFFCC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en-US" sz="2200" b="1">
                      <a:latin typeface="Times New Roman" pitchFamily="18" charset="0"/>
                    </a:endParaRPr>
                  </a:p>
                  <a:p>
                    <a:pPr algn="ctr">
                      <a:spcBef>
                        <a:spcPct val="50000"/>
                      </a:spcBef>
                    </a:pPr>
                    <a:endParaRPr lang="en-US" sz="1000" b="1">
                      <a:latin typeface="Times New Roman" pitchFamily="18" charset="0"/>
                    </a:endParaRPr>
                  </a:p>
                  <a:p>
                    <a:pPr algn="ctr">
                      <a:spcBef>
                        <a:spcPct val="50000"/>
                      </a:spcBef>
                    </a:pPr>
                    <a:endParaRPr lang="en-US" sz="2200" b="1">
                      <a:latin typeface="Times New Roman" pitchFamily="18" charset="0"/>
                    </a:endParaRPr>
                  </a:p>
                  <a:p>
                    <a:pPr algn="ctr">
                      <a:spcBef>
                        <a:spcPct val="50000"/>
                      </a:spcBef>
                    </a:pPr>
                    <a:endParaRPr lang="ru-RU" sz="2200" b="1">
                      <a:latin typeface="Times New Roman" pitchFamily="18" charset="0"/>
                    </a:endParaRPr>
                  </a:p>
                </p:txBody>
              </p:sp>
              <p:grpSp>
                <p:nvGrpSpPr>
                  <p:cNvPr id="15401" name="Group 118"/>
                  <p:cNvGrpSpPr>
                    <a:grpSpLocks/>
                  </p:cNvGrpSpPr>
                  <p:nvPr/>
                </p:nvGrpSpPr>
                <p:grpSpPr bwMode="auto">
                  <a:xfrm>
                    <a:off x="385" y="1364"/>
                    <a:ext cx="4990" cy="2133"/>
                    <a:chOff x="385" y="1356"/>
                    <a:chExt cx="4990" cy="2133"/>
                  </a:xfrm>
                </p:grpSpPr>
                <p:grpSp>
                  <p:nvGrpSpPr>
                    <p:cNvPr id="15404" name="Group 11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5" y="1356"/>
                      <a:ext cx="4990" cy="737"/>
                      <a:chOff x="385" y="1359"/>
                      <a:chExt cx="4990" cy="737"/>
                    </a:xfrm>
                  </p:grpSpPr>
                  <p:grpSp>
                    <p:nvGrpSpPr>
                      <p:cNvPr id="15432" name="Group 4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7" y="1915"/>
                        <a:ext cx="4914" cy="181"/>
                        <a:chOff x="415" y="1661"/>
                        <a:chExt cx="4914" cy="181"/>
                      </a:xfrm>
                    </p:grpSpPr>
                    <p:sp>
                      <p:nvSpPr>
                        <p:cNvPr id="15461" name="Rectangle 3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15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S1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5462" name="Rectangle 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042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S2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5463" name="Rectangle 3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669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S3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5464" name="Rectangle 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290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S4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5465" name="Rectangle 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5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S5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5466" name="Rectangle 3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60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S6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5467" name="Rectangle 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195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S7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5468" name="Rectangle 4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830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S8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</p:grpSp>
                  <p:grpSp>
                    <p:nvGrpSpPr>
                      <p:cNvPr id="15433" name="Group 6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57" y="1823"/>
                        <a:ext cx="4419" cy="110"/>
                        <a:chOff x="657" y="1877"/>
                        <a:chExt cx="4419" cy="110"/>
                      </a:xfrm>
                    </p:grpSpPr>
                    <p:sp>
                      <p:nvSpPr>
                        <p:cNvPr id="15453" name="Line 5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657" y="1877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454" name="Line 5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290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455" name="Line 5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176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456" name="Line 5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925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457" name="Line 5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41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458" name="Line 5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819" y="1877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459" name="Line 5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438" y="1877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460" name="Line 5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076" y="1888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grpSp>
                    <p:nvGrpSpPr>
                      <p:cNvPr id="15434" name="Group 11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85" y="1359"/>
                        <a:ext cx="4990" cy="499"/>
                        <a:chOff x="385" y="1359"/>
                        <a:chExt cx="4990" cy="499"/>
                      </a:xfrm>
                    </p:grpSpPr>
                    <p:sp>
                      <p:nvSpPr>
                        <p:cNvPr id="15435" name="Text Box 5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85" y="1627"/>
                          <a:ext cx="4990" cy="231"/>
                        </a:xfrm>
                        <a:prstGeom prst="rect">
                          <a:avLst/>
                        </a:prstGeom>
                        <a:solidFill>
                          <a:srgbClr val="CCFFCC">
                            <a:alpha val="65097"/>
                          </a:srgbClr>
                        </a:solidFill>
                        <a:ln w="19050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>
                          <a:spAutoFit/>
                        </a:bodyPr>
                        <a:lstStyle/>
                        <a:p>
                          <a:pPr algn="just">
                            <a:spcBef>
                              <a:spcPct val="50000"/>
                            </a:spcBef>
                          </a:pPr>
                          <a:r>
                            <a:rPr lang="en-US">
                              <a:latin typeface="Times New Roman" pitchFamily="18" charset="0"/>
                            </a:rPr>
                            <a:t>00</a:t>
                          </a:r>
                          <a:r>
                            <a:rPr lang="en-US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11</a:t>
                          </a:r>
                          <a:r>
                            <a:rPr lang="en-US">
                              <a:latin typeface="Times New Roman" pitchFamily="18" charset="0"/>
                            </a:rPr>
                            <a:t>00     000000      000000     000000      000000      000000     000000     000000</a:t>
                          </a:r>
                          <a:endParaRPr lang="ru-RU" b="1">
                            <a:latin typeface="Times New Roman" pitchFamily="18" charset="0"/>
                          </a:endParaRPr>
                        </a:p>
                      </p:txBody>
                    </p:sp>
                    <p:grpSp>
                      <p:nvGrpSpPr>
                        <p:cNvPr id="15436" name="Group 11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644" y="1359"/>
                          <a:ext cx="4446" cy="312"/>
                          <a:chOff x="644" y="1359"/>
                          <a:chExt cx="4446" cy="312"/>
                        </a:xfrm>
                      </p:grpSpPr>
                      <p:grpSp>
                        <p:nvGrpSpPr>
                          <p:cNvPr id="15437" name="Group 28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111" y="1359"/>
                            <a:ext cx="3472" cy="210"/>
                            <a:chOff x="1156" y="407"/>
                            <a:chExt cx="3472" cy="141"/>
                          </a:xfrm>
                        </p:grpSpPr>
                        <p:sp>
                          <p:nvSpPr>
                            <p:cNvPr id="15448" name="Line 2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1156" y="412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49" name="Line 30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1914" y="407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50" name="Line 31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4628" y="407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51" name="Line 3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789" y="407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52" name="Line 3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734" y="407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</p:grpSp>
                      <p:sp>
                        <p:nvSpPr>
                          <p:cNvPr id="15438" name="Line 4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644" y="1566"/>
                            <a:ext cx="4446" cy="0"/>
                          </a:xfrm>
                          <a:prstGeom prst="line">
                            <a:avLst/>
                          </a:prstGeom>
                          <a:noFill/>
                          <a:ln w="222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grpSp>
                        <p:nvGrpSpPr>
                          <p:cNvPr id="15439" name="Group 61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655" y="1561"/>
                            <a:ext cx="4419" cy="110"/>
                            <a:chOff x="657" y="1877"/>
                            <a:chExt cx="4419" cy="110"/>
                          </a:xfrm>
                        </p:grpSpPr>
                        <p:sp>
                          <p:nvSpPr>
                            <p:cNvPr id="15440" name="Line 6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657" y="1877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41" name="Line 6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1290" y="1881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42" name="Line 64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176" y="1881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43" name="Line 65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1925" y="1881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44" name="Line 66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541" y="1881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45" name="Line 67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819" y="1877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46" name="Line 68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4438" y="1877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5447" name="Line 6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5076" y="1888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5405" name="Group 1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9" y="2127"/>
                      <a:ext cx="4904" cy="1362"/>
                      <a:chOff x="449" y="2127"/>
                      <a:chExt cx="4904" cy="1362"/>
                    </a:xfrm>
                  </p:grpSpPr>
                  <p:sp>
                    <p:nvSpPr>
                      <p:cNvPr id="15406" name="Text Box 7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49" y="2127"/>
                        <a:ext cx="4904" cy="231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algn="just">
                          <a:spcBef>
                            <a:spcPct val="50000"/>
                          </a:spcBef>
                        </a:pP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111</a:t>
                        </a:r>
                        <a:r>
                          <a:rPr lang="en-US">
                            <a:latin typeface="Times New Roman" pitchFamily="18" charset="0"/>
                          </a:rPr>
                          <a:t>0          0000         0000         0000          0000          0000         0000          0000</a:t>
                        </a:r>
                        <a:endParaRPr lang="ru-RU">
                          <a:latin typeface="Times New Roman" pitchFamily="18" charset="0"/>
                        </a:endParaRPr>
                      </a:p>
                    </p:txBody>
                  </p:sp>
                  <p:grpSp>
                    <p:nvGrpSpPr>
                      <p:cNvPr id="15407" name="Group 11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36" y="2322"/>
                        <a:ext cx="4446" cy="1167"/>
                        <a:chOff x="636" y="2322"/>
                        <a:chExt cx="4446" cy="1167"/>
                      </a:xfrm>
                    </p:grpSpPr>
                    <p:sp>
                      <p:nvSpPr>
                        <p:cNvPr id="15408" name="Text Box 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00" y="3202"/>
                          <a:ext cx="4382" cy="287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857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>
                          <a:spAutoFit/>
                        </a:bodyPr>
                        <a:lstStyle/>
                        <a:p>
                          <a:pPr algn="ctr">
                            <a:spcBef>
                              <a:spcPct val="50000"/>
                            </a:spcBef>
                          </a:pPr>
                          <a:r>
                            <a:rPr lang="en-US" sz="2200">
                              <a:latin typeface="Times New Roman" pitchFamily="18" charset="0"/>
                            </a:rPr>
                            <a:t>0 0 0 0 0 0 0 0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 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0 0 0 0 0 0 0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 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0 0 0 0 0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 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0 0 0 0 0 0 0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0 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</a:t>
                          </a:r>
                          <a:endParaRPr lang="ru-RU" sz="2200">
                            <a:latin typeface="Times New Roman" pitchFamily="18" charset="0"/>
                          </a:endParaRPr>
                        </a:p>
                      </p:txBody>
                    </p:sp>
                    <p:grpSp>
                      <p:nvGrpSpPr>
                        <p:cNvPr id="15409" name="Group 1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177" y="2897"/>
                          <a:ext cx="3472" cy="306"/>
                          <a:chOff x="1156" y="407"/>
                          <a:chExt cx="3472" cy="141"/>
                        </a:xfrm>
                      </p:grpSpPr>
                      <p:sp>
                        <p:nvSpPr>
                          <p:cNvPr id="15427" name="Line 1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156" y="412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28" name="Line 1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914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29" name="Line 1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628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30" name="Line 1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789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31" name="Line 1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734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  <p:sp>
                      <p:nvSpPr>
                        <p:cNvPr id="15410" name="Line 8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636" y="2416"/>
                          <a:ext cx="4446" cy="0"/>
                        </a:xfrm>
                        <a:prstGeom prst="line">
                          <a:avLst/>
                        </a:prstGeom>
                        <a:noFill/>
                        <a:ln w="222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grpSp>
                      <p:nvGrpSpPr>
                        <p:cNvPr id="15411" name="Group 82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647" y="2322"/>
                          <a:ext cx="4419" cy="110"/>
                          <a:chOff x="657" y="1877"/>
                          <a:chExt cx="4419" cy="110"/>
                        </a:xfrm>
                      </p:grpSpPr>
                      <p:sp>
                        <p:nvSpPr>
                          <p:cNvPr id="15419" name="Line 8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657" y="1877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20" name="Line 8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290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21" name="Line 8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176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22" name="Line 8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925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23" name="Line 8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541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24" name="Line 8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819" y="1877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25" name="Line 8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438" y="1877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26" name="Line 9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076" y="1888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  <p:sp>
                      <p:nvSpPr>
                        <p:cNvPr id="15412" name="Text Box 9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996" y="2631"/>
                          <a:ext cx="3704" cy="281"/>
                        </a:xfrm>
                        <a:prstGeom prst="rect">
                          <a:avLst/>
                        </a:prstGeom>
                        <a:solidFill>
                          <a:srgbClr val="FFCC99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>
                          <a:spAutoFit/>
                        </a:bodyPr>
                        <a:lstStyle/>
                        <a:p>
                          <a:pPr algn="ctr">
                            <a:spcBef>
                              <a:spcPct val="50000"/>
                            </a:spcBef>
                          </a:pPr>
                          <a:r>
                            <a:rPr lang="en-US" sz="2200" b="1">
                              <a:latin typeface="Times New Roman" pitchFamily="18" charset="0"/>
                            </a:rPr>
                            <a:t>P(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1110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0000000000000000000000000000</a:t>
                          </a:r>
                          <a:r>
                            <a:rPr lang="en-US" sz="2200" b="1">
                              <a:latin typeface="Times New Roman" pitchFamily="18" charset="0"/>
                            </a:rPr>
                            <a:t>)</a:t>
                          </a:r>
                          <a:endParaRPr lang="ru-RU" sz="2200" b="1">
                            <a:latin typeface="Times New Roman" pitchFamily="18" charset="0"/>
                          </a:endParaRPr>
                        </a:p>
                      </p:txBody>
                    </p:sp>
                    <p:grpSp>
                      <p:nvGrpSpPr>
                        <p:cNvPr id="15413" name="Group 102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64" y="2389"/>
                          <a:ext cx="2519" cy="218"/>
                          <a:chOff x="1564" y="2371"/>
                          <a:chExt cx="2519" cy="103"/>
                        </a:xfrm>
                      </p:grpSpPr>
                      <p:sp>
                        <p:nvSpPr>
                          <p:cNvPr id="15414" name="Line 9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564" y="237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15" name="Line 9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197" y="2375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16" name="Line 9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083" y="2375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17" name="Line 9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832" y="2375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5418" name="Line 9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448" y="2375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</p:grpSp>
                </p:grpSp>
              </p:grpSp>
              <p:sp>
                <p:nvSpPr>
                  <p:cNvPr id="15402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7" y="490"/>
                    <a:ext cx="435" cy="32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endParaRPr lang="ru-RU" sz="2800" b="1" i="1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5403" name="Line 1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8" y="539"/>
                    <a:ext cx="588" cy="399"/>
                  </a:xfrm>
                  <a:prstGeom prst="line">
                    <a:avLst/>
                  </a:prstGeom>
                  <a:noFill/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5383" name="Group 123"/>
                <p:cNvGrpSpPr>
                  <a:grpSpLocks/>
                </p:cNvGrpSpPr>
                <p:nvPr/>
              </p:nvGrpSpPr>
              <p:grpSpPr bwMode="auto">
                <a:xfrm>
                  <a:off x="657" y="2168"/>
                  <a:ext cx="4419" cy="110"/>
                  <a:chOff x="657" y="1877"/>
                  <a:chExt cx="4419" cy="110"/>
                </a:xfrm>
              </p:grpSpPr>
              <p:sp>
                <p:nvSpPr>
                  <p:cNvPr id="15384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657" y="1877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5385" name="Line 125"/>
                  <p:cNvSpPr>
                    <a:spLocks noChangeShapeType="1"/>
                  </p:cNvSpPr>
                  <p:nvPr/>
                </p:nvSpPr>
                <p:spPr bwMode="auto">
                  <a:xfrm>
                    <a:off x="1290" y="1881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5386" name="Line 126"/>
                  <p:cNvSpPr>
                    <a:spLocks noChangeShapeType="1"/>
                  </p:cNvSpPr>
                  <p:nvPr/>
                </p:nvSpPr>
                <p:spPr bwMode="auto">
                  <a:xfrm>
                    <a:off x="3176" y="1881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5387" name="Line 127"/>
                  <p:cNvSpPr>
                    <a:spLocks noChangeShapeType="1"/>
                  </p:cNvSpPr>
                  <p:nvPr/>
                </p:nvSpPr>
                <p:spPr bwMode="auto">
                  <a:xfrm>
                    <a:off x="1925" y="1881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5388" name="Line 128"/>
                  <p:cNvSpPr>
                    <a:spLocks noChangeShapeType="1"/>
                  </p:cNvSpPr>
                  <p:nvPr/>
                </p:nvSpPr>
                <p:spPr bwMode="auto">
                  <a:xfrm>
                    <a:off x="2541" y="1881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5389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3819" y="1877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5390" name="Line 130"/>
                  <p:cNvSpPr>
                    <a:spLocks noChangeShapeType="1"/>
                  </p:cNvSpPr>
                  <p:nvPr/>
                </p:nvSpPr>
                <p:spPr bwMode="auto">
                  <a:xfrm>
                    <a:off x="4438" y="1877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5391" name="Line 131"/>
                  <p:cNvSpPr>
                    <a:spLocks noChangeShapeType="1"/>
                  </p:cNvSpPr>
                  <p:nvPr/>
                </p:nvSpPr>
                <p:spPr bwMode="auto">
                  <a:xfrm>
                    <a:off x="5076" y="1888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sp>
            <p:nvSpPr>
              <p:cNvPr id="15381" name="Text Box 134"/>
              <p:cNvSpPr txBox="1">
                <a:spLocks noChangeArrowheads="1"/>
              </p:cNvSpPr>
              <p:nvPr/>
            </p:nvSpPr>
            <p:spPr bwMode="auto">
              <a:xfrm>
                <a:off x="88" y="599"/>
                <a:ext cx="71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2000" b="1" i="1">
                    <a:latin typeface="Times New Roman" pitchFamily="18" charset="0"/>
                    <a:cs typeface="Arial" charset="0"/>
                  </a:rPr>
                  <a:t>∆</a:t>
                </a:r>
                <a:r>
                  <a:rPr lang="en-US" sz="2000" b="1" i="1">
                    <a:latin typeface="Times New Roman" pitchFamily="18" charset="0"/>
                    <a:cs typeface="Arial" charset="0"/>
                  </a:rPr>
                  <a:t>X(2)</a:t>
                </a:r>
                <a:r>
                  <a:rPr lang="en-US" sz="2000" b="1" i="1" baseline="-25000">
                    <a:latin typeface="Times New Roman" pitchFamily="18" charset="0"/>
                    <a:cs typeface="Arial" charset="0"/>
                  </a:rPr>
                  <a:t>L</a:t>
                </a:r>
                <a:r>
                  <a:rPr lang="en-US" sz="2000" b="1" i="1">
                    <a:latin typeface="Times New Roman" pitchFamily="18" charset="0"/>
                    <a:cs typeface="Arial" charset="0"/>
                  </a:rPr>
                  <a:t>=</a:t>
                </a:r>
                <a:endParaRPr lang="ru-RU" sz="2000" b="1" i="1" baseline="-25000">
                  <a:latin typeface="Times New Roman" pitchFamily="18" charset="0"/>
                  <a:cs typeface="Arial" charset="0"/>
                </a:endParaRPr>
              </a:p>
            </p:txBody>
          </p:sp>
        </p:grpSp>
        <p:grpSp>
          <p:nvGrpSpPr>
            <p:cNvPr id="15374" name="Group 140"/>
            <p:cNvGrpSpPr>
              <a:grpSpLocks/>
            </p:cNvGrpSpPr>
            <p:nvPr/>
          </p:nvGrpSpPr>
          <p:grpSpPr bwMode="auto">
            <a:xfrm>
              <a:off x="1882" y="310"/>
              <a:ext cx="2132" cy="181"/>
              <a:chOff x="1882" y="346"/>
              <a:chExt cx="2132" cy="227"/>
            </a:xfrm>
          </p:grpSpPr>
          <p:sp>
            <p:nvSpPr>
              <p:cNvPr id="15378" name="Line 137"/>
              <p:cNvSpPr>
                <a:spLocks noChangeShapeType="1"/>
              </p:cNvSpPr>
              <p:nvPr/>
            </p:nvSpPr>
            <p:spPr bwMode="auto">
              <a:xfrm>
                <a:off x="1882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79" name="Line 138"/>
              <p:cNvSpPr>
                <a:spLocks noChangeShapeType="1"/>
              </p:cNvSpPr>
              <p:nvPr/>
            </p:nvSpPr>
            <p:spPr bwMode="auto">
              <a:xfrm>
                <a:off x="4014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5375" name="Group 144"/>
            <p:cNvGrpSpPr>
              <a:grpSpLocks/>
            </p:cNvGrpSpPr>
            <p:nvPr/>
          </p:nvGrpSpPr>
          <p:grpSpPr bwMode="auto">
            <a:xfrm>
              <a:off x="1909" y="3848"/>
              <a:ext cx="2132" cy="159"/>
              <a:chOff x="1882" y="346"/>
              <a:chExt cx="2132" cy="227"/>
            </a:xfrm>
          </p:grpSpPr>
          <p:sp>
            <p:nvSpPr>
              <p:cNvPr id="15376" name="Line 145"/>
              <p:cNvSpPr>
                <a:spLocks noChangeShapeType="1"/>
              </p:cNvSpPr>
              <p:nvPr/>
            </p:nvSpPr>
            <p:spPr bwMode="auto">
              <a:xfrm>
                <a:off x="1882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377" name="Line 146"/>
              <p:cNvSpPr>
                <a:spLocks noChangeShapeType="1"/>
              </p:cNvSpPr>
              <p:nvPr/>
            </p:nvSpPr>
            <p:spPr bwMode="auto">
              <a:xfrm>
                <a:off x="4014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15371" name="Text Box 148"/>
          <p:cNvSpPr txBox="1">
            <a:spLocks noChangeArrowheads="1"/>
          </p:cNvSpPr>
          <p:nvPr/>
        </p:nvSpPr>
        <p:spPr bwMode="auto">
          <a:xfrm>
            <a:off x="771525" y="6350000"/>
            <a:ext cx="7632700" cy="307975"/>
          </a:xfrm>
          <a:prstGeom prst="rect">
            <a:avLst/>
          </a:prstGeom>
          <a:solidFill>
            <a:srgbClr val="FF0000">
              <a:alpha val="58038"/>
            </a:srgb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uz-Cyrl-UZ" sz="2000" b="1">
                <a:latin typeface="Times New Roman" pitchFamily="18" charset="0"/>
              </a:rPr>
              <a:t>2 – раунд функциясидан чиқувчи айирма</a:t>
            </a:r>
            <a:endParaRPr lang="ru-RU" sz="2000" b="1">
              <a:latin typeface="Times New Roman" pitchFamily="18" charset="0"/>
            </a:endParaRPr>
          </a:p>
        </p:txBody>
      </p:sp>
      <p:sp>
        <p:nvSpPr>
          <p:cNvPr id="117" name="AutoShape 15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2813" y="765175"/>
            <a:ext cx="325437" cy="360363"/>
          </a:xfrm>
          <a:prstGeom prst="actionButtonHom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34073" y="215855"/>
            <a:ext cx="8856000" cy="6462801"/>
          </a:xfrm>
          <a:prstGeom prst="foldedCorner">
            <a:avLst>
              <a:gd name="adj" fmla="val 3535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marL="342900" indent="-342900" algn="just">
              <a:spcBef>
                <a:spcPct val="15000"/>
              </a:spcBef>
              <a:spcAft>
                <a:spcPct val="50000"/>
              </a:spcAft>
              <a:buSzPct val="130000"/>
              <a:tabLst>
                <a:tab pos="631825" algn="l"/>
              </a:tabLst>
              <a:defRPr/>
            </a:pPr>
            <a:endParaRPr lang="en-US" sz="800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285720" y="14283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74582" y="77456"/>
            <a:ext cx="9000000" cy="6696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6393" name="Text Box 3"/>
          <p:cNvSpPr txBox="1">
            <a:spLocks noChangeArrowheads="1"/>
          </p:cNvSpPr>
          <p:nvPr/>
        </p:nvSpPr>
        <p:spPr bwMode="auto">
          <a:xfrm>
            <a:off x="774700" y="252413"/>
            <a:ext cx="7632700" cy="307975"/>
          </a:xfrm>
          <a:prstGeom prst="rect">
            <a:avLst/>
          </a:prstGeom>
          <a:solidFill>
            <a:srgbClr val="FF0000">
              <a:alpha val="58038"/>
            </a:srgb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3</a:t>
            </a:r>
            <a:r>
              <a:rPr lang="uz-Cyrl-UZ" sz="2000" b="1">
                <a:latin typeface="Times New Roman" pitchFamily="18" charset="0"/>
              </a:rPr>
              <a:t> – раунд функциясига кирувчи айирма</a:t>
            </a:r>
            <a:endParaRPr lang="ru-RU" sz="2000" b="1">
              <a:latin typeface="Times New Roman" pitchFamily="18" charset="0"/>
            </a:endParaRPr>
          </a:p>
        </p:txBody>
      </p:sp>
      <p:grpSp>
        <p:nvGrpSpPr>
          <p:cNvPr id="16394" name="Group 4"/>
          <p:cNvGrpSpPr>
            <a:grpSpLocks/>
          </p:cNvGrpSpPr>
          <p:nvPr/>
        </p:nvGrpSpPr>
        <p:grpSpPr bwMode="auto">
          <a:xfrm>
            <a:off x="139700" y="492125"/>
            <a:ext cx="8680450" cy="5868988"/>
            <a:chOff x="88" y="310"/>
            <a:chExt cx="5468" cy="3697"/>
          </a:xfrm>
        </p:grpSpPr>
        <p:grpSp>
          <p:nvGrpSpPr>
            <p:cNvPr id="16397" name="Group 5"/>
            <p:cNvGrpSpPr>
              <a:grpSpLocks/>
            </p:cNvGrpSpPr>
            <p:nvPr/>
          </p:nvGrpSpPr>
          <p:grpSpPr bwMode="auto">
            <a:xfrm>
              <a:off x="88" y="473"/>
              <a:ext cx="5468" cy="3378"/>
              <a:chOff x="88" y="596"/>
              <a:chExt cx="5468" cy="3378"/>
            </a:xfrm>
          </p:grpSpPr>
          <p:grpSp>
            <p:nvGrpSpPr>
              <p:cNvPr id="16404" name="Group 6"/>
              <p:cNvGrpSpPr>
                <a:grpSpLocks/>
              </p:cNvGrpSpPr>
              <p:nvPr/>
            </p:nvGrpSpPr>
            <p:grpSpPr bwMode="auto">
              <a:xfrm>
                <a:off x="177" y="596"/>
                <a:ext cx="5379" cy="3378"/>
                <a:chOff x="177" y="188"/>
                <a:chExt cx="5379" cy="3378"/>
              </a:xfrm>
            </p:grpSpPr>
            <p:grpSp>
              <p:nvGrpSpPr>
                <p:cNvPr id="16406" name="Group 7"/>
                <p:cNvGrpSpPr>
                  <a:grpSpLocks/>
                </p:cNvGrpSpPr>
                <p:nvPr/>
              </p:nvGrpSpPr>
              <p:grpSpPr bwMode="auto">
                <a:xfrm>
                  <a:off x="177" y="188"/>
                  <a:ext cx="5379" cy="3378"/>
                  <a:chOff x="177" y="119"/>
                  <a:chExt cx="5379" cy="3378"/>
                </a:xfrm>
              </p:grpSpPr>
              <p:sp>
                <p:nvSpPr>
                  <p:cNvPr id="30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89" y="539"/>
                    <a:ext cx="5367" cy="2510"/>
                  </a:xfrm>
                  <a:prstGeom prst="rect">
                    <a:avLst/>
                  </a:prstGeom>
                  <a:ln>
                    <a:headEnd/>
                    <a:tailEnd/>
                  </a:ln>
                  <a:effectLst>
                    <a:glow rad="101600">
                      <a:schemeClr val="accent4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wrap="none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sp>
                <p:nvSpPr>
                  <p:cNvPr id="16419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0" y="119"/>
                    <a:ext cx="4382" cy="287"/>
                  </a:xfrm>
                  <a:prstGeom prst="rect">
                    <a:avLst/>
                  </a:prstGeom>
                  <a:solidFill>
                    <a:srgbClr val="CCFFFF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200">
                        <a:latin typeface="Times New Roman" pitchFamily="18" charset="0"/>
                      </a:rPr>
                      <a:t>0 0 0 0 0 0 0 0 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 </a:t>
                    </a:r>
                    <a:r>
                      <a:rPr lang="en-US" sz="2200">
                        <a:latin typeface="Times New Roman" pitchFamily="18" charset="0"/>
                      </a:rPr>
                      <a:t>0 0 0 0 0 0 0 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 </a:t>
                    </a:r>
                    <a:r>
                      <a:rPr lang="en-US" sz="2200">
                        <a:latin typeface="Times New Roman" pitchFamily="18" charset="0"/>
                      </a:rPr>
                      <a:t>0 0 0 0 0 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 </a:t>
                    </a:r>
                    <a:r>
                      <a:rPr lang="en-US" sz="2200">
                        <a:latin typeface="Times New Roman" pitchFamily="18" charset="0"/>
                      </a:rPr>
                      <a:t>0 0 0 0 0 0 0 0 0</a:t>
                    </a:r>
                    <a:endParaRPr lang="ru-RU" sz="2200">
                      <a:latin typeface="Times New Roman" pitchFamily="18" charset="0"/>
                    </a:endParaRPr>
                  </a:p>
                </p:txBody>
              </p:sp>
              <p:grpSp>
                <p:nvGrpSpPr>
                  <p:cNvPr id="16420" name="Group 10"/>
                  <p:cNvGrpSpPr>
                    <a:grpSpLocks/>
                  </p:cNvGrpSpPr>
                  <p:nvPr/>
                </p:nvGrpSpPr>
                <p:grpSpPr bwMode="auto">
                  <a:xfrm>
                    <a:off x="1156" y="407"/>
                    <a:ext cx="3472" cy="271"/>
                    <a:chOff x="1156" y="407"/>
                    <a:chExt cx="3472" cy="141"/>
                  </a:xfrm>
                </p:grpSpPr>
                <p:sp>
                  <p:nvSpPr>
                    <p:cNvPr id="16498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6" y="412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99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14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0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28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1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9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502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34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21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36" y="659"/>
                    <a:ext cx="3704" cy="281"/>
                  </a:xfrm>
                  <a:prstGeom prst="rect">
                    <a:avLst/>
                  </a:prstGeom>
                  <a:solidFill>
                    <a:srgbClr val="CCFFCC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200" b="1">
                        <a:latin typeface="Times New Roman" pitchFamily="18" charset="0"/>
                      </a:rPr>
                      <a:t>E(</a:t>
                    </a:r>
                    <a:r>
                      <a:rPr lang="en-US" sz="2200">
                        <a:latin typeface="Times New Roman" pitchFamily="18" charset="0"/>
                      </a:rPr>
                      <a:t>00000000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</a:t>
                    </a:r>
                    <a:r>
                      <a:rPr lang="en-US" sz="2200">
                        <a:latin typeface="Times New Roman" pitchFamily="18" charset="0"/>
                      </a:rPr>
                      <a:t>0000000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</a:t>
                    </a:r>
                    <a:r>
                      <a:rPr lang="en-US" sz="2200">
                        <a:latin typeface="Times New Roman" pitchFamily="18" charset="0"/>
                      </a:rPr>
                      <a:t>00000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</a:t>
                    </a:r>
                    <a:r>
                      <a:rPr lang="en-US" sz="2200">
                        <a:latin typeface="Times New Roman" pitchFamily="18" charset="0"/>
                      </a:rPr>
                      <a:t>000000000</a:t>
                    </a:r>
                    <a:r>
                      <a:rPr lang="en-US" sz="2200" b="1">
                        <a:latin typeface="Times New Roman" pitchFamily="18" charset="0"/>
                      </a:rPr>
                      <a:t>)</a:t>
                    </a:r>
                    <a:endParaRPr lang="ru-RU" sz="2200" b="1">
                      <a:latin typeface="Times New Roman" pitchFamily="18" charset="0"/>
                    </a:endParaRPr>
                  </a:p>
                </p:txBody>
              </p:sp>
              <p:grpSp>
                <p:nvGrpSpPr>
                  <p:cNvPr id="16422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1156" y="944"/>
                    <a:ext cx="3472" cy="148"/>
                    <a:chOff x="1156" y="407"/>
                    <a:chExt cx="3472" cy="141"/>
                  </a:xfrm>
                </p:grpSpPr>
                <p:sp>
                  <p:nvSpPr>
                    <p:cNvPr id="16493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6" y="412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94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14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95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28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96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9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6497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34" y="407"/>
                      <a:ext cx="0" cy="13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16423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9" y="1080"/>
                    <a:ext cx="4400" cy="281"/>
                  </a:xfrm>
                  <a:prstGeom prst="rect">
                    <a:avLst/>
                  </a:prstGeom>
                  <a:solidFill>
                    <a:srgbClr val="DDDDDD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200">
                        <a:latin typeface="Times New Roman" pitchFamily="18" charset="0"/>
                      </a:rPr>
                      <a:t>00000000000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</a:t>
                    </a:r>
                    <a:r>
                      <a:rPr lang="en-US" sz="2200">
                        <a:latin typeface="Times New Roman" pitchFamily="18" charset="0"/>
                      </a:rPr>
                      <a:t>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</a:t>
                    </a:r>
                    <a:r>
                      <a:rPr lang="en-US" sz="2200">
                        <a:latin typeface="Times New Roman" pitchFamily="18" charset="0"/>
                      </a:rPr>
                      <a:t>000000000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</a:t>
                    </a:r>
                    <a:r>
                      <a:rPr lang="en-US" sz="2200">
                        <a:latin typeface="Times New Roman" pitchFamily="18" charset="0"/>
                      </a:rPr>
                      <a:t>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</a:t>
                    </a:r>
                    <a:r>
                      <a:rPr lang="en-US" sz="2200">
                        <a:latin typeface="Times New Roman" pitchFamily="18" charset="0"/>
                      </a:rPr>
                      <a:t>0000000</a:t>
                    </a:r>
                    <a:r>
                      <a:rPr lang="en-US" sz="2200" b="1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1</a:t>
                    </a:r>
                    <a:r>
                      <a:rPr lang="en-US" sz="2200">
                        <a:latin typeface="Times New Roman" pitchFamily="18" charset="0"/>
                      </a:rPr>
                      <a:t>00000000000000</a:t>
                    </a:r>
                    <a:endParaRPr lang="ru-RU" sz="220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6424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" y="1474"/>
                    <a:ext cx="5126" cy="1059"/>
                  </a:xfrm>
                  <a:prstGeom prst="rect">
                    <a:avLst/>
                  </a:prstGeom>
                  <a:solidFill>
                    <a:srgbClr val="CCFFCC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en-US" sz="2200" b="1">
                      <a:latin typeface="Times New Roman" pitchFamily="18" charset="0"/>
                    </a:endParaRPr>
                  </a:p>
                  <a:p>
                    <a:pPr algn="ctr">
                      <a:spcBef>
                        <a:spcPct val="50000"/>
                      </a:spcBef>
                    </a:pPr>
                    <a:endParaRPr lang="en-US" sz="1000" b="1">
                      <a:latin typeface="Times New Roman" pitchFamily="18" charset="0"/>
                    </a:endParaRPr>
                  </a:p>
                  <a:p>
                    <a:pPr algn="ctr">
                      <a:spcBef>
                        <a:spcPct val="50000"/>
                      </a:spcBef>
                    </a:pPr>
                    <a:endParaRPr lang="en-US" sz="2200" b="1">
                      <a:latin typeface="Times New Roman" pitchFamily="18" charset="0"/>
                    </a:endParaRPr>
                  </a:p>
                  <a:p>
                    <a:pPr algn="ctr">
                      <a:spcBef>
                        <a:spcPct val="50000"/>
                      </a:spcBef>
                    </a:pPr>
                    <a:endParaRPr lang="ru-RU" sz="2200" b="1">
                      <a:latin typeface="Times New Roman" pitchFamily="18" charset="0"/>
                    </a:endParaRPr>
                  </a:p>
                </p:txBody>
              </p:sp>
              <p:grpSp>
                <p:nvGrpSpPr>
                  <p:cNvPr id="16425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385" y="1364"/>
                    <a:ext cx="4990" cy="2133"/>
                    <a:chOff x="385" y="1356"/>
                    <a:chExt cx="4990" cy="2133"/>
                  </a:xfrm>
                </p:grpSpPr>
                <p:grpSp>
                  <p:nvGrpSpPr>
                    <p:cNvPr id="16428" name="Group 2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5" y="1356"/>
                      <a:ext cx="4990" cy="737"/>
                      <a:chOff x="385" y="1359"/>
                      <a:chExt cx="4990" cy="737"/>
                    </a:xfrm>
                  </p:grpSpPr>
                  <p:grpSp>
                    <p:nvGrpSpPr>
                      <p:cNvPr id="16456" name="Group 2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7" y="1915"/>
                        <a:ext cx="4914" cy="181"/>
                        <a:chOff x="415" y="1661"/>
                        <a:chExt cx="4914" cy="181"/>
                      </a:xfrm>
                    </p:grpSpPr>
                    <p:sp>
                      <p:nvSpPr>
                        <p:cNvPr id="16485" name="Rectangle 2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15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S1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6486" name="Rectangle 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042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S2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6487" name="Rectangle 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669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S3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6488" name="Rectangle 3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290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S4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6489" name="Rectangle 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5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S5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6490" name="Rectangle 3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60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S6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6491" name="Rectangle 3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195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S7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  <p:sp>
                      <p:nvSpPr>
                        <p:cNvPr id="16492" name="Rectangle 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830" y="1661"/>
                          <a:ext cx="499" cy="1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ctr"/>
                          <a:r>
                            <a:rPr lang="en-US">
                              <a:latin typeface="Times New Roman" pitchFamily="18" charset="0"/>
                            </a:rPr>
                            <a:t>S8</a:t>
                          </a:r>
                          <a:endParaRPr lang="ru-RU">
                            <a:latin typeface="Times New Roman" pitchFamily="18" charset="0"/>
                          </a:endParaRPr>
                        </a:p>
                      </p:txBody>
                    </p:sp>
                  </p:grpSp>
                  <p:grpSp>
                    <p:nvGrpSpPr>
                      <p:cNvPr id="16457" name="Group 3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57" y="1823"/>
                        <a:ext cx="4419" cy="110"/>
                        <a:chOff x="657" y="1877"/>
                        <a:chExt cx="4419" cy="110"/>
                      </a:xfrm>
                    </p:grpSpPr>
                    <p:sp>
                      <p:nvSpPr>
                        <p:cNvPr id="16477" name="Line 3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657" y="1877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478" name="Line 3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290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479" name="Line 3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176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480" name="Line 4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925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481" name="Line 4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41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482" name="Line 4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819" y="1877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483" name="Line 4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438" y="1877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484" name="Line 4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076" y="1888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grpSp>
                    <p:nvGrpSpPr>
                      <p:cNvPr id="16458" name="Group 4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85" y="1359"/>
                        <a:ext cx="4990" cy="499"/>
                        <a:chOff x="385" y="1359"/>
                        <a:chExt cx="4990" cy="499"/>
                      </a:xfrm>
                    </p:grpSpPr>
                    <p:sp>
                      <p:nvSpPr>
                        <p:cNvPr id="16459" name="Text Box 46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85" y="1627"/>
                          <a:ext cx="4990" cy="231"/>
                        </a:xfrm>
                        <a:prstGeom prst="rect">
                          <a:avLst/>
                        </a:prstGeom>
                        <a:solidFill>
                          <a:srgbClr val="CCFFCC">
                            <a:alpha val="65097"/>
                          </a:srgbClr>
                        </a:solidFill>
                        <a:ln w="19050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>
                          <a:spAutoFit/>
                        </a:bodyPr>
                        <a:lstStyle/>
                        <a:p>
                          <a:pPr algn="just">
                            <a:spcBef>
                              <a:spcPct val="50000"/>
                            </a:spcBef>
                          </a:pPr>
                          <a:r>
                            <a:rPr lang="en-US">
                              <a:latin typeface="Times New Roman" pitchFamily="18" charset="0"/>
                            </a:rPr>
                            <a:t>000000     00000</a:t>
                          </a:r>
                          <a:r>
                            <a:rPr lang="en-US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>
                              <a:latin typeface="Times New Roman" pitchFamily="18" charset="0"/>
                            </a:rPr>
                            <a:t>      0</a:t>
                          </a:r>
                          <a:r>
                            <a:rPr lang="en-US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>
                              <a:latin typeface="Times New Roman" pitchFamily="18" charset="0"/>
                            </a:rPr>
                            <a:t>0000     00000</a:t>
                          </a:r>
                          <a:r>
                            <a:rPr lang="en-US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>
                              <a:latin typeface="Times New Roman" pitchFamily="18" charset="0"/>
                            </a:rPr>
                            <a:t>      0</a:t>
                          </a:r>
                          <a:r>
                            <a:rPr lang="en-US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>
                              <a:latin typeface="Times New Roman" pitchFamily="18" charset="0"/>
                            </a:rPr>
                            <a:t>0000      000</a:t>
                          </a:r>
                          <a:r>
                            <a:rPr lang="en-US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>
                              <a:latin typeface="Times New Roman" pitchFamily="18" charset="0"/>
                            </a:rPr>
                            <a:t>00     000000     000000</a:t>
                          </a:r>
                          <a:endParaRPr lang="ru-RU" b="1">
                            <a:latin typeface="Times New Roman" pitchFamily="18" charset="0"/>
                          </a:endParaRPr>
                        </a:p>
                      </p:txBody>
                    </p:sp>
                    <p:grpSp>
                      <p:nvGrpSpPr>
                        <p:cNvPr id="16460" name="Group 4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644" y="1359"/>
                          <a:ext cx="4446" cy="312"/>
                          <a:chOff x="644" y="1359"/>
                          <a:chExt cx="4446" cy="312"/>
                        </a:xfrm>
                      </p:grpSpPr>
                      <p:grpSp>
                        <p:nvGrpSpPr>
                          <p:cNvPr id="16461" name="Group 48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111" y="1359"/>
                            <a:ext cx="3472" cy="210"/>
                            <a:chOff x="1156" y="407"/>
                            <a:chExt cx="3472" cy="141"/>
                          </a:xfrm>
                        </p:grpSpPr>
                        <p:sp>
                          <p:nvSpPr>
                            <p:cNvPr id="16472" name="Line 4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1156" y="412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73" name="Line 50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1914" y="407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74" name="Line 51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4628" y="407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75" name="Line 5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789" y="407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76" name="Line 5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734" y="407"/>
                              <a:ext cx="0" cy="136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</p:grpSp>
                      <p:sp>
                        <p:nvSpPr>
                          <p:cNvPr id="16462" name="Line 5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644" y="1566"/>
                            <a:ext cx="4446" cy="0"/>
                          </a:xfrm>
                          <a:prstGeom prst="line">
                            <a:avLst/>
                          </a:prstGeom>
                          <a:noFill/>
                          <a:ln w="222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grpSp>
                        <p:nvGrpSpPr>
                          <p:cNvPr id="16463" name="Group 55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655" y="1561"/>
                            <a:ext cx="4419" cy="110"/>
                            <a:chOff x="657" y="1877"/>
                            <a:chExt cx="4419" cy="110"/>
                          </a:xfrm>
                        </p:grpSpPr>
                        <p:sp>
                          <p:nvSpPr>
                            <p:cNvPr id="16464" name="Line 56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657" y="1877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65" name="Line 57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1290" y="1881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66" name="Line 58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176" y="1881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67" name="Line 5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1925" y="1881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68" name="Line 60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541" y="1881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69" name="Line 61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819" y="1877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70" name="Line 6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4438" y="1877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16471" name="Line 6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5076" y="1888"/>
                              <a:ext cx="0" cy="99"/>
                            </a:xfrm>
                            <a:prstGeom prst="line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round/>
                              <a:headEnd/>
                              <a:tailEnd type="stealth" w="med" len="me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6429" name="Group 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9" y="2127"/>
                      <a:ext cx="4904" cy="1362"/>
                      <a:chOff x="449" y="2127"/>
                      <a:chExt cx="4904" cy="1362"/>
                    </a:xfrm>
                  </p:grpSpPr>
                  <p:sp>
                    <p:nvSpPr>
                      <p:cNvPr id="16430" name="Text Box 6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49" y="2127"/>
                        <a:ext cx="4904" cy="231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algn="just">
                          <a:spcBef>
                            <a:spcPct val="50000"/>
                          </a:spcBef>
                        </a:pPr>
                        <a:r>
                          <a:rPr lang="en-US">
                            <a:latin typeface="Times New Roman" pitchFamily="18" charset="0"/>
                          </a:rPr>
                          <a:t>0000          </a:t>
                        </a: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en-US">
                            <a:latin typeface="Times New Roman" pitchFamily="18" charset="0"/>
                          </a:rPr>
                          <a:t>00</a:t>
                        </a: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en-US">
                            <a:latin typeface="Times New Roman" pitchFamily="18" charset="0"/>
                          </a:rPr>
                          <a:t>         </a:t>
                        </a: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11</a:t>
                        </a:r>
                        <a:r>
                          <a:rPr lang="en-US">
                            <a:latin typeface="Times New Roman" pitchFamily="18" charset="0"/>
                          </a:rPr>
                          <a:t>0</a:t>
                        </a: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en-US">
                            <a:latin typeface="Times New Roman" pitchFamily="18" charset="0"/>
                          </a:rPr>
                          <a:t>         0</a:t>
                        </a: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en-US">
                            <a:latin typeface="Times New Roman" pitchFamily="18" charset="0"/>
                          </a:rPr>
                          <a:t>0</a:t>
                        </a: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en-US" b="1">
                            <a:latin typeface="Times New Roman" pitchFamily="18" charset="0"/>
                          </a:rPr>
                          <a:t>*</a:t>
                        </a:r>
                        <a:r>
                          <a:rPr lang="en-US">
                            <a:latin typeface="Times New Roman" pitchFamily="18" charset="0"/>
                          </a:rPr>
                          <a:t>        0</a:t>
                        </a: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111</a:t>
                        </a:r>
                        <a:r>
                          <a:rPr lang="en-US" b="1">
                            <a:latin typeface="Times New Roman" pitchFamily="18" charset="0"/>
                          </a:rPr>
                          <a:t>*</a:t>
                        </a:r>
                        <a:r>
                          <a:rPr lang="en-US">
                            <a:latin typeface="Times New Roman" pitchFamily="18" charset="0"/>
                          </a:rPr>
                          <a:t>         </a:t>
                        </a: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en-US">
                            <a:latin typeface="Times New Roman" pitchFamily="18" charset="0"/>
                          </a:rPr>
                          <a:t>0</a:t>
                        </a:r>
                        <a:r>
                          <a:rPr lang="en-US" b="1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11</a:t>
                        </a:r>
                        <a:r>
                          <a:rPr lang="en-US" b="1">
                            <a:latin typeface="Times New Roman" pitchFamily="18" charset="0"/>
                          </a:rPr>
                          <a:t>*</a:t>
                        </a:r>
                        <a:r>
                          <a:rPr lang="en-US">
                            <a:latin typeface="Times New Roman" pitchFamily="18" charset="0"/>
                          </a:rPr>
                          <a:t>        0000          0000</a:t>
                        </a:r>
                        <a:endParaRPr lang="ru-RU" b="1">
                          <a:latin typeface="Times New Roman" pitchFamily="18" charset="0"/>
                        </a:endParaRPr>
                      </a:p>
                    </p:txBody>
                  </p:sp>
                  <p:grpSp>
                    <p:nvGrpSpPr>
                      <p:cNvPr id="16431" name="Group 6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36" y="2322"/>
                        <a:ext cx="4446" cy="1167"/>
                        <a:chOff x="636" y="2322"/>
                        <a:chExt cx="4446" cy="1167"/>
                      </a:xfrm>
                    </p:grpSpPr>
                    <p:sp>
                      <p:nvSpPr>
                        <p:cNvPr id="16432" name="Text Box 67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00" y="3202"/>
                          <a:ext cx="4382" cy="287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857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>
                          <a:spAutoFit/>
                        </a:bodyPr>
                        <a:lstStyle/>
                        <a:p>
                          <a:pPr algn="ctr">
                            <a:spcBef>
                              <a:spcPct val="50000"/>
                            </a:spcBef>
                          </a:pP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1 1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 0 0 0 0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1 1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1 1 1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 0 0 0 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1 1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 0 0 0 0 0 0 0</a:t>
                          </a:r>
                          <a:endParaRPr lang="ru-RU" sz="2200">
                            <a:latin typeface="Times New Roman" pitchFamily="18" charset="0"/>
                          </a:endParaRPr>
                        </a:p>
                      </p:txBody>
                    </p:sp>
                    <p:grpSp>
                      <p:nvGrpSpPr>
                        <p:cNvPr id="16433" name="Group 6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177" y="2897"/>
                          <a:ext cx="3472" cy="306"/>
                          <a:chOff x="1156" y="407"/>
                          <a:chExt cx="3472" cy="141"/>
                        </a:xfrm>
                      </p:grpSpPr>
                      <p:sp>
                        <p:nvSpPr>
                          <p:cNvPr id="16451" name="Line 6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156" y="412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52" name="Line 7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914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53" name="Line 7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628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54" name="Line 7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789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55" name="Line 7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734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  <p:sp>
                      <p:nvSpPr>
                        <p:cNvPr id="16434" name="Line 7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636" y="2416"/>
                          <a:ext cx="4446" cy="0"/>
                        </a:xfrm>
                        <a:prstGeom prst="line">
                          <a:avLst/>
                        </a:prstGeom>
                        <a:noFill/>
                        <a:ln w="222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grpSp>
                      <p:nvGrpSpPr>
                        <p:cNvPr id="16435" name="Group 7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647" y="2322"/>
                          <a:ext cx="4419" cy="110"/>
                          <a:chOff x="657" y="1877"/>
                          <a:chExt cx="4419" cy="110"/>
                        </a:xfrm>
                      </p:grpSpPr>
                      <p:sp>
                        <p:nvSpPr>
                          <p:cNvPr id="16443" name="Line 7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657" y="1877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44" name="Line 7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290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45" name="Line 7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176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46" name="Line 7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925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47" name="Line 8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541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48" name="Line 8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819" y="1877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49" name="Line 8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438" y="1877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50" name="Line 8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076" y="1888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  <p:sp>
                      <p:nvSpPr>
                        <p:cNvPr id="16436" name="Text Box 84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996" y="2631"/>
                          <a:ext cx="3704" cy="281"/>
                        </a:xfrm>
                        <a:prstGeom prst="rect">
                          <a:avLst/>
                        </a:prstGeom>
                        <a:solidFill>
                          <a:srgbClr val="FFCC99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>
                          <a:spAutoFit/>
                        </a:bodyPr>
                        <a:lstStyle/>
                        <a:p>
                          <a:pPr algn="ctr">
                            <a:spcBef>
                              <a:spcPct val="50000"/>
                            </a:spcBef>
                          </a:pPr>
                          <a:r>
                            <a:rPr lang="en-US" sz="2200" b="1">
                              <a:latin typeface="Times New Roman" pitchFamily="18" charset="0"/>
                            </a:rPr>
                            <a:t>P(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0000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00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111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1111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</a:t>
                          </a:r>
                          <a:r>
                            <a:rPr lang="en-US" sz="2200" b="1">
                              <a:solidFill>
                                <a:srgbClr val="FF0000"/>
                              </a:solidFill>
                              <a:latin typeface="Times New Roman" pitchFamily="18" charset="0"/>
                            </a:rPr>
                            <a:t>11</a:t>
                          </a:r>
                          <a:r>
                            <a:rPr lang="en-US" sz="2200">
                              <a:latin typeface="Times New Roman" pitchFamily="18" charset="0"/>
                            </a:rPr>
                            <a:t>00000000</a:t>
                          </a:r>
                          <a:r>
                            <a:rPr lang="en-US" sz="2200" b="1">
                              <a:latin typeface="Times New Roman" pitchFamily="18" charset="0"/>
                            </a:rPr>
                            <a:t>)</a:t>
                          </a:r>
                          <a:endParaRPr lang="ru-RU" sz="2200" b="1">
                            <a:latin typeface="Times New Roman" pitchFamily="18" charset="0"/>
                          </a:endParaRPr>
                        </a:p>
                      </p:txBody>
                    </p:sp>
                    <p:grpSp>
                      <p:nvGrpSpPr>
                        <p:cNvPr id="16437" name="Group 8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64" y="2389"/>
                          <a:ext cx="2519" cy="218"/>
                          <a:chOff x="1564" y="2371"/>
                          <a:chExt cx="2519" cy="103"/>
                        </a:xfrm>
                      </p:grpSpPr>
                      <p:sp>
                        <p:nvSpPr>
                          <p:cNvPr id="16438" name="Line 8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564" y="237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39" name="Line 8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197" y="2375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40" name="Line 8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083" y="2375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41" name="Line 8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832" y="2375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16442" name="Line 9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448" y="2375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</p:grpSp>
                </p:grpSp>
              </p:grpSp>
              <p:sp>
                <p:nvSpPr>
                  <p:cNvPr id="16426" name="Text Box 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7" y="490"/>
                    <a:ext cx="435" cy="32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endParaRPr lang="ru-RU" sz="2800" b="1" i="1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6427" name="Line 9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8" y="539"/>
                    <a:ext cx="588" cy="399"/>
                  </a:xfrm>
                  <a:prstGeom prst="line">
                    <a:avLst/>
                  </a:prstGeom>
                  <a:noFill/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6407" name="Group 93"/>
                <p:cNvGrpSpPr>
                  <a:grpSpLocks/>
                </p:cNvGrpSpPr>
                <p:nvPr/>
              </p:nvGrpSpPr>
              <p:grpSpPr bwMode="auto">
                <a:xfrm>
                  <a:off x="657" y="2168"/>
                  <a:ext cx="4419" cy="110"/>
                  <a:chOff x="657" y="1877"/>
                  <a:chExt cx="4419" cy="110"/>
                </a:xfrm>
              </p:grpSpPr>
              <p:sp>
                <p:nvSpPr>
                  <p:cNvPr id="16408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657" y="1877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09" name="Line 95"/>
                  <p:cNvSpPr>
                    <a:spLocks noChangeShapeType="1"/>
                  </p:cNvSpPr>
                  <p:nvPr/>
                </p:nvSpPr>
                <p:spPr bwMode="auto">
                  <a:xfrm>
                    <a:off x="1290" y="1881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0" name="Line 96"/>
                  <p:cNvSpPr>
                    <a:spLocks noChangeShapeType="1"/>
                  </p:cNvSpPr>
                  <p:nvPr/>
                </p:nvSpPr>
                <p:spPr bwMode="auto">
                  <a:xfrm>
                    <a:off x="3176" y="1881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1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1925" y="1881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2" name="Line 98"/>
                  <p:cNvSpPr>
                    <a:spLocks noChangeShapeType="1"/>
                  </p:cNvSpPr>
                  <p:nvPr/>
                </p:nvSpPr>
                <p:spPr bwMode="auto">
                  <a:xfrm>
                    <a:off x="2541" y="1881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3" name="Line 99"/>
                  <p:cNvSpPr>
                    <a:spLocks noChangeShapeType="1"/>
                  </p:cNvSpPr>
                  <p:nvPr/>
                </p:nvSpPr>
                <p:spPr bwMode="auto">
                  <a:xfrm>
                    <a:off x="3819" y="1877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4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4438" y="1877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6415" name="Line 101"/>
                  <p:cNvSpPr>
                    <a:spLocks noChangeShapeType="1"/>
                  </p:cNvSpPr>
                  <p:nvPr/>
                </p:nvSpPr>
                <p:spPr bwMode="auto">
                  <a:xfrm>
                    <a:off x="5076" y="1888"/>
                    <a:ext cx="0" cy="9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sp>
            <p:nvSpPr>
              <p:cNvPr id="16405" name="Text Box 102"/>
              <p:cNvSpPr txBox="1">
                <a:spLocks noChangeArrowheads="1"/>
              </p:cNvSpPr>
              <p:nvPr/>
            </p:nvSpPr>
            <p:spPr bwMode="auto">
              <a:xfrm>
                <a:off x="88" y="599"/>
                <a:ext cx="71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sz="2000" b="1" i="1">
                    <a:latin typeface="Times New Roman" pitchFamily="18" charset="0"/>
                    <a:cs typeface="Arial" charset="0"/>
                  </a:rPr>
                  <a:t>∆</a:t>
                </a:r>
                <a:r>
                  <a:rPr lang="en-US" sz="2000" b="1" i="1">
                    <a:latin typeface="Times New Roman" pitchFamily="18" charset="0"/>
                    <a:cs typeface="Arial" charset="0"/>
                  </a:rPr>
                  <a:t>X(3)</a:t>
                </a:r>
                <a:r>
                  <a:rPr lang="en-US" sz="2000" b="1" i="1" baseline="-25000">
                    <a:latin typeface="Times New Roman" pitchFamily="18" charset="0"/>
                    <a:cs typeface="Arial" charset="0"/>
                  </a:rPr>
                  <a:t>L</a:t>
                </a:r>
                <a:r>
                  <a:rPr lang="en-US" sz="2000" b="1" i="1">
                    <a:latin typeface="Times New Roman" pitchFamily="18" charset="0"/>
                    <a:cs typeface="Arial" charset="0"/>
                  </a:rPr>
                  <a:t>=</a:t>
                </a:r>
                <a:endParaRPr lang="ru-RU" sz="2000" b="1" i="1" baseline="-25000">
                  <a:latin typeface="Times New Roman" pitchFamily="18" charset="0"/>
                  <a:cs typeface="Arial" charset="0"/>
                </a:endParaRPr>
              </a:p>
            </p:txBody>
          </p:sp>
        </p:grpSp>
        <p:grpSp>
          <p:nvGrpSpPr>
            <p:cNvPr id="16398" name="Group 103"/>
            <p:cNvGrpSpPr>
              <a:grpSpLocks/>
            </p:cNvGrpSpPr>
            <p:nvPr/>
          </p:nvGrpSpPr>
          <p:grpSpPr bwMode="auto">
            <a:xfrm>
              <a:off x="1882" y="310"/>
              <a:ext cx="2132" cy="181"/>
              <a:chOff x="1882" y="346"/>
              <a:chExt cx="2132" cy="227"/>
            </a:xfrm>
          </p:grpSpPr>
          <p:sp>
            <p:nvSpPr>
              <p:cNvPr id="16402" name="Line 104"/>
              <p:cNvSpPr>
                <a:spLocks noChangeShapeType="1"/>
              </p:cNvSpPr>
              <p:nvPr/>
            </p:nvSpPr>
            <p:spPr bwMode="auto">
              <a:xfrm>
                <a:off x="1882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3" name="Line 105"/>
              <p:cNvSpPr>
                <a:spLocks noChangeShapeType="1"/>
              </p:cNvSpPr>
              <p:nvPr/>
            </p:nvSpPr>
            <p:spPr bwMode="auto">
              <a:xfrm>
                <a:off x="4014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6399" name="Group 106"/>
            <p:cNvGrpSpPr>
              <a:grpSpLocks/>
            </p:cNvGrpSpPr>
            <p:nvPr/>
          </p:nvGrpSpPr>
          <p:grpSpPr bwMode="auto">
            <a:xfrm>
              <a:off x="1909" y="3848"/>
              <a:ext cx="2132" cy="159"/>
              <a:chOff x="1882" y="346"/>
              <a:chExt cx="2132" cy="227"/>
            </a:xfrm>
          </p:grpSpPr>
          <p:sp>
            <p:nvSpPr>
              <p:cNvPr id="16400" name="Line 107"/>
              <p:cNvSpPr>
                <a:spLocks noChangeShapeType="1"/>
              </p:cNvSpPr>
              <p:nvPr/>
            </p:nvSpPr>
            <p:spPr bwMode="auto">
              <a:xfrm>
                <a:off x="1882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6401" name="Line 108"/>
              <p:cNvSpPr>
                <a:spLocks noChangeShapeType="1"/>
              </p:cNvSpPr>
              <p:nvPr/>
            </p:nvSpPr>
            <p:spPr bwMode="auto">
              <a:xfrm>
                <a:off x="4014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16395" name="Text Box 110"/>
          <p:cNvSpPr txBox="1">
            <a:spLocks noChangeArrowheads="1"/>
          </p:cNvSpPr>
          <p:nvPr/>
        </p:nvSpPr>
        <p:spPr bwMode="auto">
          <a:xfrm>
            <a:off x="773113" y="6351588"/>
            <a:ext cx="7632700" cy="307975"/>
          </a:xfrm>
          <a:prstGeom prst="rect">
            <a:avLst/>
          </a:prstGeom>
          <a:solidFill>
            <a:srgbClr val="FF0000">
              <a:alpha val="58038"/>
            </a:srgbClr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3</a:t>
            </a:r>
            <a:r>
              <a:rPr lang="uz-Cyrl-UZ" sz="2000" b="1">
                <a:latin typeface="Times New Roman" pitchFamily="18" charset="0"/>
              </a:rPr>
              <a:t> – раунд функциясидан чиқувчи айирма</a:t>
            </a:r>
            <a:endParaRPr lang="ru-RU" sz="2000" b="1">
              <a:latin typeface="Times New Roman" pitchFamily="18" charset="0"/>
            </a:endParaRPr>
          </a:p>
        </p:txBody>
      </p:sp>
      <p:sp>
        <p:nvSpPr>
          <p:cNvPr id="118" name="AutoShape 15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2813" y="765175"/>
            <a:ext cx="325437" cy="360363"/>
          </a:xfrm>
          <a:prstGeom prst="actionButtonHom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34073" y="215855"/>
            <a:ext cx="8856000" cy="6462801"/>
          </a:xfrm>
          <a:prstGeom prst="foldedCorner">
            <a:avLst>
              <a:gd name="adj" fmla="val 3535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marL="342900" indent="-342900" algn="just">
              <a:spcBef>
                <a:spcPct val="15000"/>
              </a:spcBef>
              <a:spcAft>
                <a:spcPct val="50000"/>
              </a:spcAft>
              <a:buSzPct val="130000"/>
              <a:tabLst>
                <a:tab pos="631825" algn="l"/>
              </a:tabLst>
              <a:defRPr/>
            </a:pPr>
            <a:endParaRPr lang="en-US" sz="800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285720" y="14283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74582" y="77456"/>
            <a:ext cx="9000000" cy="6696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90500" y="190874"/>
            <a:ext cx="8724900" cy="6540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365125" algn="just">
              <a:defRPr/>
            </a:pPr>
            <a:r>
              <a:rPr lang="en-US" sz="1900" b="1" i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900" b="1" i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uz-Cyrl-UZ" sz="19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Таҳлилнинг кейинги қисмида навбатдаги 3 раундга чизиқли криптотаҳлил усулини қўллаб, S</a:t>
            </a:r>
            <a:r>
              <a:rPr lang="uz-Cyrl-UZ" sz="1900" baseline="-30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</a:t>
            </a:r>
            <a:r>
              <a:rPr lang="uz-Cyrl-UZ" sz="19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– блок учун </a:t>
            </a:r>
            <a:r>
              <a:rPr lang="uz-Cyrl-UZ" sz="19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р=0.0928</a:t>
            </a:r>
            <a:r>
              <a:rPr lang="uz-Cyrl-UZ" sz="19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эҳтимоллик билан бажарилувчи қуйидаги 3 раунд </a:t>
            </a:r>
            <a:r>
              <a:rPr lang="uz-Cyrl-UZ" sz="19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аппроксимация </a:t>
            </a:r>
            <a:r>
              <a:rPr lang="uz-Cyrl-UZ" sz="19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тенгламасига эга бўлинади:</a:t>
            </a:r>
          </a:p>
          <a:p>
            <a:pPr indent="365125" algn="just">
              <a:defRPr/>
            </a:pPr>
            <a:endParaRPr lang="uz-Cyrl-UZ" sz="1000" dirty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∆X(4)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25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+∆X(6)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+∆Y(6)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+∆Y(6)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+∆Y(6)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+∆Y(6)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25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=0.</a:t>
            </a:r>
          </a:p>
          <a:p>
            <a:pPr indent="355600" algn="just">
              <a:defRPr/>
            </a:pPr>
            <a:endParaRPr lang="uz-Cyrl-UZ" sz="10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Дифференциал криптотаҳлил усулини қўллаш натижасида аниқланган 4 – раундга кирувчи ва чиқувчи айирмалар ҳамда шифр матн айирмалари қийматига кўра ∆X(4)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17,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∆Y(4)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, ∆Y(4)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, ∆Y(4)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, ∆Y(4)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25,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∆Y(6)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, ∆Y(6)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, ∆Y(6)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 ва ∆Y(6)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25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ифода қийматлари маълум. Бунга кўра юқорида аниқланган тенглама битта </a:t>
            </a:r>
            <a:r>
              <a:rPr lang="uz-Cyrl-UZ" sz="1900" b="1" dirty="0">
                <a:latin typeface="Times New Roman" pitchFamily="18" charset="0"/>
                <a:cs typeface="Times New Roman" pitchFamily="18" charset="0"/>
              </a:rPr>
              <a:t>∆Х(6)</a:t>
            </a:r>
            <a:r>
              <a:rPr lang="uz-Cyrl-UZ" sz="1900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 номаълумга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боғлиқ бўлган тенгламани ифодалагани учун, унинг қийматини аниқлаш мумкин.</a:t>
            </a:r>
          </a:p>
          <a:p>
            <a:pPr indent="355600" algn="just">
              <a:defRPr/>
            </a:pPr>
            <a:endParaRPr lang="uz-Cyrl-UZ" sz="1000" b="1" i="1" dirty="0">
              <a:ln>
                <a:solidFill>
                  <a:srgbClr val="C00000"/>
                </a:solidFill>
              </a:ln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sz="1900" b="1" i="1" dirty="0">
                <a:ln>
                  <a:solidFill>
                    <a:srgbClr val="C00000"/>
                  </a:solidFill>
                </a:ln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uz-Cyrl-UZ" sz="1900" b="1" dirty="0">
                <a:latin typeface="Times New Roman" pitchFamily="18" charset="0"/>
                <a:cs typeface="Times New Roman" pitchFamily="18" charset="0"/>
              </a:rPr>
              <a:t>∆Х(6)</a:t>
            </a:r>
            <a:r>
              <a:rPr lang="uz-Cyrl-UZ" sz="1900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 қийматини mod2 бўйича чиқувчи айирма(шифр матн) чап қисми 17 – бити билан қўшиш натижасида 7 – шифрлаш раунд F функциясидан чиқувчи айирманинг 17 – бити аниқланганлиги сабабли, қуйидаги тенглик ўринли бўлади: </a:t>
            </a:r>
          </a:p>
          <a:p>
            <a:pPr algn="ctr">
              <a:defRPr/>
            </a:pPr>
            <a:endParaRPr lang="uz-Cyrl-UZ" sz="1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uz-Cyrl-UZ" sz="1900" b="1" dirty="0">
                <a:latin typeface="Times New Roman" pitchFamily="18" charset="0"/>
                <a:cs typeface="Times New Roman" pitchFamily="18" charset="0"/>
              </a:rPr>
              <a:t>∆Y(7)</a:t>
            </a:r>
            <a:r>
              <a:rPr lang="uz-Cyrl-UZ" sz="1900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sz="1900" b="1" dirty="0">
                <a:latin typeface="Times New Roman" pitchFamily="18" charset="0"/>
                <a:cs typeface="Times New Roman" pitchFamily="18" charset="0"/>
              </a:rPr>
              <a:t>=∆С</a:t>
            </a:r>
            <a:r>
              <a:rPr lang="uz-Cyrl-UZ" sz="1900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sz="1900" b="1" dirty="0">
                <a:latin typeface="Times New Roman" pitchFamily="18" charset="0"/>
                <a:cs typeface="Times New Roman" pitchFamily="18" charset="0"/>
              </a:rPr>
              <a:t>+∆Х(7)</a:t>
            </a:r>
            <a:r>
              <a:rPr lang="en-US" sz="1900" b="1" baseline="-25000" dirty="0">
                <a:latin typeface="Times New Roman" pitchFamily="18" charset="0"/>
                <a:cs typeface="Times New Roman" pitchFamily="18" charset="0"/>
              </a:rPr>
              <a:t>(L)</a:t>
            </a:r>
            <a:r>
              <a:rPr lang="uz-Cyrl-UZ" sz="1900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endParaRPr lang="en-US" sz="1900" b="1" baseline="-250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endParaRPr lang="uz-Cyrl-UZ" sz="10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Демак S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 акслантириш блокини киришига берилувчи айирмани ҳамда F функциясидан чиқувчи айирманинг 17 – битини билган ҳолда, дифференциал криптотаҳлил усулини қўллаб, S</a:t>
            </a:r>
            <a:r>
              <a:rPr lang="uz-Cyrl-UZ" sz="19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блокка кирувчи 6 бит маълумот билан қўшилувчи калит битларини аниқлаш мумкин. Бу таҳлил жараёнини кейинги қадамлар кетма – кетлигида амалга оширилади.</a:t>
            </a:r>
            <a:endParaRPr lang="uz-Cyrl-UZ" sz="19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34073" y="215855"/>
            <a:ext cx="8856000" cy="6462801"/>
          </a:xfrm>
          <a:prstGeom prst="foldedCorner">
            <a:avLst>
              <a:gd name="adj" fmla="val 3535"/>
            </a:avLst>
          </a:prstGeom>
          <a:pattFill prst="dashHorz">
            <a:fgClr>
              <a:schemeClr val="bg2">
                <a:alpha val="89999"/>
              </a:schemeClr>
            </a:fgClr>
            <a:bgClr>
              <a:srgbClr val="FFFFFF">
                <a:alpha val="89999"/>
              </a:srgbClr>
            </a:bgClr>
          </a:pattFill>
          <a:ln w="25400">
            <a:solidFill>
              <a:srgbClr val="000080"/>
            </a:solidFill>
            <a:round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lIns="198000" tIns="198000" rIns="198000" bIns="198000" anchor="ctr"/>
          <a:lstStyle/>
          <a:p>
            <a:pPr marL="342900" indent="-342900" algn="just">
              <a:spcBef>
                <a:spcPct val="15000"/>
              </a:spcBef>
              <a:spcAft>
                <a:spcPct val="50000"/>
              </a:spcAft>
              <a:buSzPct val="130000"/>
              <a:tabLst>
                <a:tab pos="631825" algn="l"/>
              </a:tabLst>
              <a:defRPr/>
            </a:pPr>
            <a:endParaRPr lang="en-US" sz="800" dirty="0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>
            <a:off x="285720" y="14283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74582" y="77456"/>
            <a:ext cx="9000000" cy="6696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90500" y="252369"/>
            <a:ext cx="8724900" cy="6382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 anchor="ctr">
            <a:spAutoFit/>
          </a:bodyPr>
          <a:lstStyle/>
          <a:p>
            <a:pPr indent="355600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N дона айирмаси  (∆X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, ∆X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)=(60 00 00 00, 00 00 00 00) га тенг бўлган очиқ матн жуфтлиги танлансин.</a:t>
            </a:r>
          </a:p>
          <a:p>
            <a:pPr indent="355600" algn="just">
              <a:defRPr/>
            </a:pPr>
            <a:endParaRPr lang="ru-RU" sz="8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Ушбу очиқ матнларга мос равишда ягона махфий калит ёрдамида шифрланган шифрматнлар ҳосил қилинсин.</a:t>
            </a:r>
          </a:p>
          <a:p>
            <a:pPr indent="355600" algn="just">
              <a:defRPr/>
            </a:pPr>
            <a:endParaRPr lang="ru-RU" sz="8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64 та ҳисоблагичдан иборат бўлган массив ҳосил қилинсин ва уларнинг бошланғич қийматлари нолга тенглансин.</a:t>
            </a:r>
          </a:p>
          <a:p>
            <a:pPr indent="355600" algn="just">
              <a:defRPr/>
            </a:pPr>
            <a:endParaRPr lang="ru-RU" sz="8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Ҳар бир шифрматн жуфтлиги устида қуйидаги амаллар бажарилсин:</a:t>
            </a:r>
          </a:p>
          <a:p>
            <a:pPr indent="355600" algn="just">
              <a:defRPr/>
            </a:pPr>
            <a:endParaRPr lang="ru-RU" sz="7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охирги раунд 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блок киришига бериладиган маълумот билан қўшилувчи 6 битли К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қисмкалитнинг барча 64 та қиймати аниқлансин.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аниқланган қисм калитнинг барча қиймати учун 7 - шифрлаш раундининг 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блокидан чиқувчи жуфтлик аниқлансин (Y ва Y</a:t>
            </a:r>
            <a:r>
              <a:rPr lang="uz-Cyrl-UZ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маълумот жуфтликлари орқали).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∆X(7)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қийматини аниқлаш учун S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блокнинг иккинчи чиқиш X(7)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ва X</a:t>
            </a:r>
            <a:r>
              <a:rPr lang="uz-Cyrl-UZ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(7)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битлари модул икки бўйича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қўшилсин.</a:t>
            </a:r>
            <a:endParaRPr lang="uz-Cyrl-UZ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∆Х(7)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=∆Х(4)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+∆Y(4)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24+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∆Y(7)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+∆Y(7)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+∆Y(7)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+∆Y(7)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24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тенгликдан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∆Х(7)</a:t>
            </a:r>
            <a:r>
              <a:rPr lang="uz-Cyrl-UZ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қиймати аниқлансин.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агар ∆Х(6)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+∆Х(7)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йиғинди ∆Y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айирмани 17 – битига тенг бўлса мазкур қисмкалитга мос келувчи ҳисоблагич қиймати бирга оширилсин (K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– қисмкалитга мос бўлган ҳисоблагич A[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] ҳисобланади).</a:t>
            </a:r>
          </a:p>
          <a:p>
            <a:pPr indent="355600" algn="just">
              <a:defRPr/>
            </a:pPr>
            <a:endParaRPr lang="ru-RU" sz="8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defRPr/>
            </a:pPr>
            <a:r>
              <a:rPr lang="uz-Cyrl-UZ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5.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Энг катта қийматга эга бўлган ҳисоблагич индекси </a:t>
            </a:r>
            <a:r>
              <a:rPr lang="uz-Cyrl-UZ" b="1" i="1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i="1" baseline="-25000" dirty="0">
                <a:ln>
                  <a:solidFill>
                    <a:srgbClr val="800000"/>
                  </a:solidFill>
                </a:ln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қисмкалит индексини (қийматини) англатади.</a:t>
            </a:r>
            <a:endParaRPr lang="uz-Cyrl-UZ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4629</TotalTime>
  <Words>1626</Words>
  <Application>Microsoft Office PowerPoint</Application>
  <PresentationFormat>Экран (4:3)</PresentationFormat>
  <Paragraphs>226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Профиль</vt:lpstr>
      <vt:lpstr> Тошкент - 2019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Тошкент - 2009</dc:title>
  <dc:creator>USER</dc:creator>
  <cp:lastModifiedBy>Microsoft Office</cp:lastModifiedBy>
  <cp:revision>834</cp:revision>
  <dcterms:created xsi:type="dcterms:W3CDTF">2010-10-01T16:11:11Z</dcterms:created>
  <dcterms:modified xsi:type="dcterms:W3CDTF">2019-08-22T05:21:33Z</dcterms:modified>
</cp:coreProperties>
</file>