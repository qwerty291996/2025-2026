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57" r:id="rId3"/>
    <p:sldId id="262" r:id="rId4"/>
    <p:sldId id="287" r:id="rId5"/>
    <p:sldId id="263" r:id="rId6"/>
    <p:sldId id="279" r:id="rId7"/>
    <p:sldId id="264" r:id="rId8"/>
    <p:sldId id="322" r:id="rId9"/>
    <p:sldId id="323" r:id="rId10"/>
    <p:sldId id="266" r:id="rId11"/>
    <p:sldId id="277" r:id="rId12"/>
    <p:sldId id="288" r:id="rId13"/>
    <p:sldId id="301" r:id="rId14"/>
    <p:sldId id="302" r:id="rId15"/>
    <p:sldId id="291" r:id="rId16"/>
    <p:sldId id="292" r:id="rId17"/>
    <p:sldId id="295" r:id="rId18"/>
    <p:sldId id="296" r:id="rId19"/>
    <p:sldId id="297" r:id="rId20"/>
    <p:sldId id="299" r:id="rId21"/>
    <p:sldId id="305" r:id="rId22"/>
    <p:sldId id="306" r:id="rId23"/>
    <p:sldId id="307" r:id="rId24"/>
    <p:sldId id="308" r:id="rId25"/>
    <p:sldId id="309" r:id="rId26"/>
    <p:sldId id="310" r:id="rId27"/>
    <p:sldId id="314" r:id="rId28"/>
    <p:sldId id="315" r:id="rId29"/>
    <p:sldId id="316" r:id="rId30"/>
    <p:sldId id="317" r:id="rId31"/>
    <p:sldId id="318" r:id="rId32"/>
    <p:sldId id="319" r:id="rId33"/>
    <p:sldId id="320" r:id="rId3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B97"/>
    <a:srgbClr val="FF33CC"/>
    <a:srgbClr val="AA8DE5"/>
    <a:srgbClr val="BFE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51" autoAdjust="0"/>
    <p:restoredTop sz="94501" autoAdjust="0"/>
  </p:normalViewPr>
  <p:slideViewPr>
    <p:cSldViewPr>
      <p:cViewPr>
        <p:scale>
          <a:sx n="74" d="100"/>
          <a:sy n="74" d="100"/>
        </p:scale>
        <p:origin x="-2610" y="-942"/>
      </p:cViewPr>
      <p:guideLst>
        <p:guide orient="horz" pos="2160"/>
        <p:guide pos="2880"/>
      </p:guideLst>
    </p:cSldViewPr>
  </p:slideViewPr>
  <p:notesTextViewPr>
    <p:cViewPr>
      <p:scale>
        <a:sx n="1" d="1"/>
        <a:sy n="1" d="1"/>
      </p:scale>
      <p:origin x="0" y="0"/>
    </p:cViewPr>
  </p:notesTextViewPr>
  <p:sorterViewPr>
    <p:cViewPr>
      <p:scale>
        <a:sx n="100" d="100"/>
        <a:sy n="100" d="100"/>
      </p:scale>
      <p:origin x="0" y="1092"/>
    </p:cViewPr>
  </p:sorterViewPr>
  <p:notesViewPr>
    <p:cSldViewPr>
      <p:cViewPr varScale="1">
        <p:scale>
          <a:sx n="66" d="100"/>
          <a:sy n="66" d="100"/>
        </p:scale>
        <p:origin x="-2820"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0C5604-0B94-407B-8A19-5BFD9AA887E3}" type="datetimeFigureOut">
              <a:rPr lang="ru-RU" smtClean="0"/>
              <a:t>22.08.2019</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67452BA-9FF1-48B5-B285-866654BF6446}" type="slidenum">
              <a:rPr lang="ru-RU" smtClean="0"/>
              <a:t>‹#›</a:t>
            </a:fld>
            <a:endParaRPr lang="ru-RU"/>
          </a:p>
        </p:txBody>
      </p:sp>
    </p:spTree>
    <p:extLst>
      <p:ext uri="{BB962C8B-B14F-4D97-AF65-F5344CB8AC3E}">
        <p14:creationId xmlns:p14="http://schemas.microsoft.com/office/powerpoint/2010/main" val="4238809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60190E-94C7-4D0B-AEEF-8FB6120B3238}" type="datetimeFigureOut">
              <a:rPr lang="ru-RU" smtClean="0"/>
              <a:t>22.08.2019</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95369E-F0FE-4BFD-B376-7B3720CDA0D1}" type="slidenum">
              <a:rPr lang="ru-RU" smtClean="0"/>
              <a:t>‹#›</a:t>
            </a:fld>
            <a:endParaRPr lang="ru-RU"/>
          </a:p>
        </p:txBody>
      </p:sp>
    </p:spTree>
    <p:extLst>
      <p:ext uri="{BB962C8B-B14F-4D97-AF65-F5344CB8AC3E}">
        <p14:creationId xmlns:p14="http://schemas.microsoft.com/office/powerpoint/2010/main" val="3907229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3</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4</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5</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6</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7</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8</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9</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10</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11</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12</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13</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14</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15</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16</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17</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18</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19</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20</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21</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22</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23</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24</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25</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26</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27</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28</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29</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30</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31</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32</a:t>
            </a:fld>
            <a:endParaRPr lang="ru-RU"/>
          </a:p>
        </p:txBody>
      </p:sp>
    </p:spTree>
    <p:extLst>
      <p:ext uri="{BB962C8B-B14F-4D97-AF65-F5344CB8AC3E}">
        <p14:creationId xmlns:p14="http://schemas.microsoft.com/office/powerpoint/2010/main" val="702786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595369E-F0FE-4BFD-B376-7B3720CDA0D1}" type="slidenum">
              <a:rPr lang="ru-RU" smtClean="0"/>
              <a:t>33</a:t>
            </a:fld>
            <a:endParaRPr lang="ru-RU"/>
          </a:p>
        </p:txBody>
      </p:sp>
    </p:spTree>
    <p:extLst>
      <p:ext uri="{BB962C8B-B14F-4D97-AF65-F5344CB8AC3E}">
        <p14:creationId xmlns:p14="http://schemas.microsoft.com/office/powerpoint/2010/main" val="702786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3125352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3597594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173963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DC0E77A-0E48-49A4-BD4A-9BD28DC4709C}" type="datetimeFigureOut">
              <a:rPr lang="ru-RU" smtClean="0"/>
              <a:t>22.08.2019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4151975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DC0E77A-0E48-49A4-BD4A-9BD28DC4709C}" type="datetimeFigureOut">
              <a:rPr lang="ru-RU" smtClean="0"/>
              <a:t>22.08.2019</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4056062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DC0E77A-0E48-49A4-BD4A-9BD28DC4709C}" type="datetimeFigureOut">
              <a:rPr lang="ru-RU" smtClean="0"/>
              <a:t>22.08.2019</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3197459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DC0E77A-0E48-49A4-BD4A-9BD28DC4709C}" type="datetimeFigureOut">
              <a:rPr lang="ru-RU" smtClean="0"/>
              <a:t>22.08.2019</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2172532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DC0E77A-0E48-49A4-BD4A-9BD28DC4709C}" type="datetimeFigureOut">
              <a:rPr lang="ru-RU" smtClean="0"/>
              <a:t>22.08.2019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2816961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DC0E77A-0E48-49A4-BD4A-9BD28DC4709C}" type="datetimeFigureOut">
              <a:rPr lang="ru-RU" smtClean="0"/>
              <a:t>22.08.2019</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192715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680773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305B737-1809-4689-A498-81B55CC8B2A5}" type="slidenum">
              <a:rPr lang="ru-RU" smtClean="0"/>
              <a:t>‹#›</a:t>
            </a:fld>
            <a:endParaRPr lang="ru-RU"/>
          </a:p>
        </p:txBody>
      </p:sp>
    </p:spTree>
    <p:extLst>
      <p:ext uri="{BB962C8B-B14F-4D97-AF65-F5344CB8AC3E}">
        <p14:creationId xmlns:p14="http://schemas.microsoft.com/office/powerpoint/2010/main" val="46865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C0E77A-0E48-49A4-BD4A-9BD28DC4709C}" type="datetimeFigureOut">
              <a:rPr lang="ru-RU" smtClean="0"/>
              <a:t>22.08.2019</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5B737-1809-4689-A498-81B55CC8B2A5}" type="slidenum">
              <a:rPr lang="ru-RU" smtClean="0"/>
              <a:t>‹#›</a:t>
            </a:fld>
            <a:endParaRPr lang="ru-RU"/>
          </a:p>
        </p:txBody>
      </p:sp>
    </p:spTree>
    <p:extLst>
      <p:ext uri="{BB962C8B-B14F-4D97-AF65-F5344CB8AC3E}">
        <p14:creationId xmlns:p14="http://schemas.microsoft.com/office/powerpoint/2010/main" val="1901738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6.png"/><Relationship Id="rId7"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4.png"/><Relationship Id="rId4" Type="http://schemas.openxmlformats.org/officeDocument/2006/relationships/image" Target="../media/image310.png"/><Relationship Id="rId9" Type="http://schemas.openxmlformats.org/officeDocument/2006/relationships/image" Target="../media/image8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323528" y="296652"/>
            <a:ext cx="8568952" cy="6264696"/>
          </a:xfrm>
          <a:prstGeom prst="snip2DiagRect">
            <a:avLst>
              <a:gd name="adj1" fmla="val 0"/>
              <a:gd name="adj2" fmla="val 8959"/>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defRPr/>
            </a:pPr>
            <a:endParaRPr lang="ru-RU"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cxnSp>
        <p:nvCxnSpPr>
          <p:cNvPr id="17" name="Прямая соединительная линия 16"/>
          <p:cNvCxnSpPr/>
          <p:nvPr/>
        </p:nvCxnSpPr>
        <p:spPr>
          <a:xfrm>
            <a:off x="1043608" y="836712"/>
            <a:ext cx="7200800" cy="0"/>
          </a:xfrm>
          <a:prstGeom prst="line">
            <a:avLst/>
          </a:prstGeom>
          <a:ln w="2222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8" name="Прямоугольник 17"/>
          <p:cNvSpPr/>
          <p:nvPr/>
        </p:nvSpPr>
        <p:spPr>
          <a:xfrm>
            <a:off x="713954" y="404664"/>
            <a:ext cx="7890494" cy="432048"/>
          </a:xfrm>
          <a:prstGeom prst="rect">
            <a:avLst/>
          </a:prstGeom>
          <a:solidFill>
            <a:schemeClr val="accent1">
              <a:alpha val="0"/>
            </a:schemeClr>
          </a:solidFill>
          <a:ln w="0">
            <a:noFill/>
          </a:ln>
          <a:effectLst>
            <a:glow>
              <a:schemeClr val="bg1">
                <a:alpha val="56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1">
                    <a:lumMod val="75000"/>
                  </a:schemeClr>
                </a:solidFill>
                <a:latin typeface="Times New Roman" pitchFamily="18" charset="0"/>
              </a:rPr>
              <a:t>Радиоэлектрон тизимлар ва ахборот</a:t>
            </a:r>
            <a:r>
              <a:rPr lang="en-US" b="1" dirty="0" smtClean="0">
                <a:solidFill>
                  <a:schemeClr val="accent1">
                    <a:lumMod val="75000"/>
                  </a:schemeClr>
                </a:solidFill>
                <a:latin typeface="Times New Roman" pitchFamily="18" charset="0"/>
              </a:rPr>
              <a:t> </a:t>
            </a:r>
            <a:r>
              <a:rPr lang="ru-RU" b="1" dirty="0" smtClean="0">
                <a:solidFill>
                  <a:schemeClr val="accent1">
                    <a:lumMod val="75000"/>
                  </a:schemeClr>
                </a:solidFill>
                <a:latin typeface="Times New Roman" pitchFamily="18" charset="0"/>
              </a:rPr>
              <a:t>т</a:t>
            </a:r>
            <a:r>
              <a:rPr lang="uz-Cyrl-UZ" b="1" dirty="0" smtClean="0">
                <a:solidFill>
                  <a:schemeClr val="accent1">
                    <a:lumMod val="75000"/>
                  </a:schemeClr>
                </a:solidFill>
                <a:latin typeface="Times New Roman" pitchFamily="18" charset="0"/>
              </a:rPr>
              <a:t>ехнологиялари</a:t>
            </a:r>
            <a:r>
              <a:rPr lang="en-US" b="1" dirty="0" smtClean="0">
                <a:solidFill>
                  <a:schemeClr val="accent1">
                    <a:lumMod val="75000"/>
                  </a:schemeClr>
                </a:solidFill>
                <a:latin typeface="Times New Roman" pitchFamily="18" charset="0"/>
              </a:rPr>
              <a:t> </a:t>
            </a:r>
            <a:r>
              <a:rPr lang="ru-RU" b="1" dirty="0" smtClean="0">
                <a:solidFill>
                  <a:schemeClr val="accent1">
                    <a:lumMod val="75000"/>
                  </a:schemeClr>
                </a:solidFill>
                <a:latin typeface="Times New Roman" pitchFamily="18" charset="0"/>
              </a:rPr>
              <a:t>м</a:t>
            </a:r>
            <a:r>
              <a:rPr lang="uz-Cyrl-UZ" b="1" dirty="0" smtClean="0">
                <a:solidFill>
                  <a:schemeClr val="accent1">
                    <a:lumMod val="75000"/>
                  </a:schemeClr>
                </a:solidFill>
                <a:latin typeface="Times New Roman" pitchFamily="18" charset="0"/>
              </a:rPr>
              <a:t>аркази   </a:t>
            </a:r>
            <a:endParaRPr lang="ru-RU" b="1" dirty="0" smtClean="0">
              <a:ln w="18000">
                <a:solidFill>
                  <a:schemeClr val="accent2">
                    <a:satMod val="140000"/>
                  </a:schemeClr>
                </a:solidFill>
                <a:prstDash val="solid"/>
                <a:miter lim="800000"/>
              </a:ln>
              <a:solidFill>
                <a:schemeClr val="accent1">
                  <a:lumMod val="75000"/>
                </a:schemeClr>
              </a:solidFill>
              <a:effectLst>
                <a:outerShdw blurRad="25500" dist="23000" dir="7020000" algn="tl">
                  <a:srgbClr val="000000">
                    <a:alpha val="50000"/>
                  </a:srgbClr>
                </a:outerShdw>
              </a:effectLst>
            </a:endParaRPr>
          </a:p>
        </p:txBody>
      </p:sp>
      <p:sp>
        <p:nvSpPr>
          <p:cNvPr id="12" name="Прямоугольник 11"/>
          <p:cNvSpPr/>
          <p:nvPr/>
        </p:nvSpPr>
        <p:spPr>
          <a:xfrm>
            <a:off x="3752551" y="5877272"/>
            <a:ext cx="1816203" cy="400110"/>
          </a:xfrm>
          <a:prstGeom prst="rect">
            <a:avLst/>
          </a:prstGeom>
        </p:spPr>
        <p:txBody>
          <a:bodyPr wrap="none">
            <a:spAutoFit/>
          </a:bodyPr>
          <a:lstStyle/>
          <a:p>
            <a:pPr algn="ctr" fontAlgn="auto">
              <a:spcBef>
                <a:spcPts val="0"/>
              </a:spcBef>
              <a:spcAft>
                <a:spcPts val="0"/>
              </a:spcAft>
              <a:defRPr/>
            </a:pPr>
            <a:r>
              <a:rPr lang="uz-Cyrl-UZ" sz="2000" b="1" dirty="0" smtClean="0">
                <a:ln w="1905"/>
                <a:solidFill>
                  <a:schemeClr val="accent5">
                    <a:lumMod val="50000"/>
                  </a:schemeClr>
                </a:solidFill>
                <a:effectLst>
                  <a:innerShdw blurRad="69850" dist="43180" dir="5400000">
                    <a:srgbClr val="000000">
                      <a:alpha val="65000"/>
                    </a:srgbClr>
                  </a:innerShdw>
                </a:effectLst>
                <a:latin typeface="Times New Roman" pitchFamily="18" charset="0"/>
                <a:cs typeface="Times New Roman" pitchFamily="18" charset="0"/>
              </a:rPr>
              <a:t>Тошкент-201</a:t>
            </a:r>
            <a:r>
              <a:rPr lang="en-US" sz="2000" b="1" dirty="0" smtClean="0">
                <a:ln w="1905"/>
                <a:solidFill>
                  <a:schemeClr val="accent5">
                    <a:lumMod val="50000"/>
                  </a:schemeClr>
                </a:solidFill>
                <a:effectLst>
                  <a:innerShdw blurRad="69850" dist="43180" dir="5400000">
                    <a:srgbClr val="000000">
                      <a:alpha val="65000"/>
                    </a:srgbClr>
                  </a:innerShdw>
                </a:effectLst>
                <a:latin typeface="Times New Roman" pitchFamily="18" charset="0"/>
                <a:cs typeface="Times New Roman" pitchFamily="18" charset="0"/>
              </a:rPr>
              <a:t>9</a:t>
            </a:r>
            <a:endParaRPr lang="ru-RU" sz="2000" b="1" dirty="0">
              <a:ln w="1905"/>
              <a:solidFill>
                <a:schemeClr val="accent5">
                  <a:lumMod val="50000"/>
                </a:schemeClr>
              </a:solidFill>
              <a:effectLst>
                <a:innerShdw blurRad="69850" dist="43180" dir="5400000">
                  <a:srgbClr val="000000">
                    <a:alpha val="65000"/>
                  </a:srgbClr>
                </a:innerShdw>
              </a:effectLst>
              <a:latin typeface="Times New Roman" pitchFamily="18" charset="0"/>
              <a:cs typeface="Times New Roman" pitchFamily="18" charset="0"/>
            </a:endParaRPr>
          </a:p>
        </p:txBody>
      </p:sp>
      <p:sp>
        <p:nvSpPr>
          <p:cNvPr id="13" name="Прямоугольник с двумя вырезанными противолежащими углами 12"/>
          <p:cNvSpPr/>
          <p:nvPr/>
        </p:nvSpPr>
        <p:spPr>
          <a:xfrm>
            <a:off x="697707" y="2852936"/>
            <a:ext cx="7827968" cy="998654"/>
          </a:xfrm>
          <a:prstGeom prst="snip2DiagRect">
            <a:avLst>
              <a:gd name="adj1" fmla="val 0"/>
              <a:gd name="adj2" fmla="val 0"/>
            </a:avLst>
          </a:prstGeom>
          <a:solidFill>
            <a:schemeClr val="bg1"/>
          </a:solidFill>
          <a:ln w="19050"/>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900" b="1" dirty="0">
                <a:solidFill>
                  <a:schemeClr val="tx1"/>
                </a:solidFill>
                <a:latin typeface="Times New Roman" pitchFamily="18" charset="0"/>
                <a:cs typeface="Times New Roman" pitchFamily="18" charset="0"/>
              </a:rPr>
              <a:t>Узлуксиз шифрлаш алгоритмларини таҳлил қилиш усуллари. Коррелиацион усули мисолида.</a:t>
            </a:r>
            <a:endParaRPr lang="ru-RU" sz="1900" b="1"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56566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82875"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t>                                                                                                                                                                                                                                                                                                                            </a:t>
            </a:r>
            <a:endParaRPr lang="ru-RU" dirty="0"/>
          </a:p>
        </p:txBody>
      </p:sp>
      <p:sp>
        <p:nvSpPr>
          <p:cNvPr id="3" name="Лента лицом вниз 2"/>
          <p:cNvSpPr/>
          <p:nvPr/>
        </p:nvSpPr>
        <p:spPr>
          <a:xfrm>
            <a:off x="461966" y="4221088"/>
            <a:ext cx="725658" cy="432048"/>
          </a:xfrm>
          <a:prstGeom prst="ribbon">
            <a:avLst>
              <a:gd name="adj1" fmla="val 9108"/>
              <a:gd name="adj2" fmla="val 50000"/>
            </a:avLst>
          </a:prstGeom>
          <a:solidFill>
            <a:srgbClr val="0070C0">
              <a:alpha val="81000"/>
            </a:srgbClr>
          </a:solidFill>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a:t>3</a:t>
            </a:r>
            <a:endParaRPr lang="ru-RU" dirty="0"/>
          </a:p>
        </p:txBody>
      </p:sp>
      <p:sp>
        <p:nvSpPr>
          <p:cNvPr id="12" name="Лента лицом вниз 11"/>
          <p:cNvSpPr/>
          <p:nvPr/>
        </p:nvSpPr>
        <p:spPr>
          <a:xfrm>
            <a:off x="387421" y="5373216"/>
            <a:ext cx="725659" cy="432048"/>
          </a:xfrm>
          <a:prstGeom prst="ribbon">
            <a:avLst>
              <a:gd name="adj1" fmla="val 9108"/>
              <a:gd name="adj2" fmla="val 50000"/>
            </a:avLst>
          </a:prstGeom>
          <a:solidFill>
            <a:srgbClr val="0070C0">
              <a:alpha val="81000"/>
            </a:srgbClr>
          </a:solidFill>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a:t>4</a:t>
            </a:r>
            <a:endParaRPr lang="ru-RU" dirty="0"/>
          </a:p>
        </p:txBody>
      </p:sp>
      <p:sp>
        <p:nvSpPr>
          <p:cNvPr id="9" name="Лента лицом вниз 8"/>
          <p:cNvSpPr/>
          <p:nvPr/>
        </p:nvSpPr>
        <p:spPr>
          <a:xfrm>
            <a:off x="461966" y="1628800"/>
            <a:ext cx="725658" cy="432048"/>
          </a:xfrm>
          <a:prstGeom prst="ribbon">
            <a:avLst>
              <a:gd name="adj1" fmla="val 9108"/>
              <a:gd name="adj2" fmla="val 50000"/>
            </a:avLst>
          </a:prstGeom>
          <a:solidFill>
            <a:srgbClr val="0070C0">
              <a:alpha val="81000"/>
            </a:srgbClr>
          </a:solidFill>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t>1</a:t>
            </a:r>
            <a:endParaRPr lang="ru-RU" dirty="0"/>
          </a:p>
        </p:txBody>
      </p:sp>
      <p:sp>
        <p:nvSpPr>
          <p:cNvPr id="16" name="Лента лицом вниз 15"/>
          <p:cNvSpPr/>
          <p:nvPr/>
        </p:nvSpPr>
        <p:spPr>
          <a:xfrm>
            <a:off x="461965" y="2996952"/>
            <a:ext cx="725659" cy="432048"/>
          </a:xfrm>
          <a:prstGeom prst="ribbon">
            <a:avLst>
              <a:gd name="adj1" fmla="val 9108"/>
              <a:gd name="adj2" fmla="val 50000"/>
            </a:avLst>
          </a:prstGeom>
          <a:solidFill>
            <a:srgbClr val="0070C0">
              <a:alpha val="81000"/>
            </a:srgbClr>
          </a:solidFill>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a:t>2</a:t>
            </a:r>
            <a:endParaRPr lang="ru-RU" dirty="0"/>
          </a:p>
        </p:txBody>
      </p:sp>
      <p:sp>
        <p:nvSpPr>
          <p:cNvPr id="17" name="Скругленный прямоугольник 16"/>
          <p:cNvSpPr/>
          <p:nvPr/>
        </p:nvSpPr>
        <p:spPr>
          <a:xfrm>
            <a:off x="899592" y="366158"/>
            <a:ext cx="7517067"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Манбалар</a:t>
            </a:r>
            <a:endParaRPr lang="ru-RU" sz="2000" b="1" dirty="0">
              <a:solidFill>
                <a:schemeClr val="tx1"/>
              </a:solidFill>
              <a:latin typeface="Times New Roman" pitchFamily="18" charset="0"/>
              <a:cs typeface="Times New Roman" pitchFamily="18" charset="0"/>
            </a:endParaRPr>
          </a:p>
        </p:txBody>
      </p:sp>
      <p:sp>
        <p:nvSpPr>
          <p:cNvPr id="18" name="Горизонтальный свиток 17"/>
          <p:cNvSpPr/>
          <p:nvPr/>
        </p:nvSpPr>
        <p:spPr>
          <a:xfrm>
            <a:off x="1376753" y="2600908"/>
            <a:ext cx="7197150" cy="1332148"/>
          </a:xfrm>
          <a:prstGeom prst="horizontalScroll">
            <a:avLst>
              <a:gd name="adj" fmla="val 766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600" dirty="0" smtClean="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cs typeface="Times New Roman" pitchFamily="18" charset="0"/>
              </a:rPr>
              <a:t>2009</a:t>
            </a:r>
            <a:r>
              <a:rPr lang="ru-RU" sz="1600" dirty="0">
                <a:solidFill>
                  <a:schemeClr val="tx1"/>
                </a:solidFill>
                <a:latin typeface="Times New Roman" pitchFamily="18" charset="0"/>
                <a:cs typeface="Times New Roman" pitchFamily="18" charset="0"/>
              </a:rPr>
              <a:t> </a:t>
            </a:r>
            <a:r>
              <a:rPr lang="uz-Cyrl-UZ" sz="1600" dirty="0" smtClean="0">
                <a:solidFill>
                  <a:schemeClr val="tx1"/>
                </a:solidFill>
                <a:latin typeface="Times New Roman" pitchFamily="18" charset="0"/>
                <a:cs typeface="Times New Roman" pitchFamily="18" charset="0"/>
              </a:rPr>
              <a:t>йилда Л.К. Бабенко ва Е.А. Ишукова томонидан “Узлуксиз шифрларнинг дифференциал криптотаҳлили” мавзусидаги мақоласи чоп этилган. Ушбу мақолада А5/1 алгоритмига дифференциал криптотаҳлил усули ўтказиш билан боғлиқ масалалар баён қилинган. </a:t>
            </a:r>
            <a:endParaRPr lang="ru-RU" sz="1600" dirty="0">
              <a:solidFill>
                <a:schemeClr val="tx1"/>
              </a:solidFill>
              <a:latin typeface="Times New Roman" pitchFamily="18" charset="0"/>
              <a:cs typeface="Times New Roman" pitchFamily="18" charset="0"/>
            </a:endParaRPr>
          </a:p>
        </p:txBody>
      </p:sp>
      <p:sp>
        <p:nvSpPr>
          <p:cNvPr id="19" name="Горизонтальный свиток 18"/>
          <p:cNvSpPr/>
          <p:nvPr/>
        </p:nvSpPr>
        <p:spPr>
          <a:xfrm>
            <a:off x="1376753" y="1162117"/>
            <a:ext cx="7197150" cy="1402787"/>
          </a:xfrm>
          <a:prstGeom prst="horizontalScroll">
            <a:avLst>
              <a:gd name="adj" fmla="val 68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600" dirty="0" smtClean="0">
                <a:solidFill>
                  <a:schemeClr val="tx1"/>
                </a:solidFill>
                <a:latin typeface="Times New Roman" pitchFamily="18" charset="0"/>
                <a:cs typeface="Times New Roman" pitchFamily="18" charset="0"/>
              </a:rPr>
              <a:t>       Ю.В. Стасевнинг “Узлуксиз шифрлар криптотаҳлил усулларини тадқиқ қилиш” деб номланган мақоласида Чеп</a:t>
            </a:r>
            <a:r>
              <a:rPr lang="uz-Cyrl-UZ" sz="1600" dirty="0">
                <a:solidFill>
                  <a:schemeClr val="tx1"/>
                </a:solidFill>
                <a:latin typeface="Times New Roman" pitchFamily="18" charset="0"/>
                <a:cs typeface="Times New Roman" pitchFamily="18" charset="0"/>
              </a:rPr>
              <a:t>и</a:t>
            </a:r>
            <a:r>
              <a:rPr lang="uz-Cyrl-UZ" sz="1600" dirty="0" smtClean="0">
                <a:solidFill>
                  <a:schemeClr val="tx1"/>
                </a:solidFill>
                <a:latin typeface="Times New Roman" pitchFamily="18" charset="0"/>
                <a:cs typeface="Times New Roman" pitchFamily="18" charset="0"/>
              </a:rPr>
              <a:t>жев, Зигенталер, Штаффелбах, Форрелар томонидан узлуксиз шифрларга корреляцион ҳужумни ўтказиш бўйича илмий ишлар олиб борилгани келтирилган. </a:t>
            </a:r>
            <a:endParaRPr lang="ru-RU" sz="1600" dirty="0">
              <a:solidFill>
                <a:schemeClr val="tx1"/>
              </a:solidFill>
              <a:latin typeface="Times New Roman" pitchFamily="18" charset="0"/>
              <a:cs typeface="Times New Roman" pitchFamily="18" charset="0"/>
            </a:endParaRPr>
          </a:p>
        </p:txBody>
      </p:sp>
      <p:sp>
        <p:nvSpPr>
          <p:cNvPr id="13" name="Горизонтальный свиток 12"/>
          <p:cNvSpPr/>
          <p:nvPr/>
        </p:nvSpPr>
        <p:spPr>
          <a:xfrm>
            <a:off x="1378562" y="3933056"/>
            <a:ext cx="7184641" cy="1080119"/>
          </a:xfrm>
          <a:prstGeom prst="horizontalScroll">
            <a:avLst>
              <a:gd name="adj" fmla="val 959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600" dirty="0" smtClean="0">
                <a:solidFill>
                  <a:schemeClr val="tx1"/>
                </a:solidFill>
                <a:latin typeface="Times New Roman" pitchFamily="18" charset="0"/>
                <a:cs typeface="Times New Roman" pitchFamily="18" charset="0"/>
              </a:rPr>
              <a:t>        2008 йил А.И</a:t>
            </a:r>
            <a:r>
              <a:rPr lang="uz-Cyrl-UZ" sz="1600" dirty="0">
                <a:solidFill>
                  <a:schemeClr val="tx1"/>
                </a:solidFill>
                <a:latin typeface="Times New Roman" pitchFamily="18" charset="0"/>
                <a:cs typeface="Times New Roman" pitchFamily="18" charset="0"/>
              </a:rPr>
              <a:t>. Мусаев томонидан </a:t>
            </a:r>
            <a:r>
              <a:rPr lang="uz-Cyrl-UZ" sz="1600" dirty="0" smtClean="0">
                <a:solidFill>
                  <a:schemeClr val="tx1"/>
                </a:solidFill>
                <a:latin typeface="Times New Roman" pitchFamily="18" charset="0"/>
                <a:cs typeface="Times New Roman" pitchFamily="18" charset="0"/>
              </a:rPr>
              <a:t>“Мавжуд узлуксиз шифрлаш алгоритмлари асосларини тадқиқ қилиш ва янги криптобардошли алгоритмлар яратиш” мавзусида магистрлик иши бажарилган. </a:t>
            </a:r>
            <a:endParaRPr lang="ru-RU" sz="1600" dirty="0">
              <a:solidFill>
                <a:schemeClr val="tx1"/>
              </a:solidFill>
              <a:latin typeface="Times New Roman" pitchFamily="18" charset="0"/>
              <a:cs typeface="Times New Roman" pitchFamily="18" charset="0"/>
            </a:endParaRPr>
          </a:p>
        </p:txBody>
      </p:sp>
      <p:sp>
        <p:nvSpPr>
          <p:cNvPr id="14" name="Горизонтальный свиток 13"/>
          <p:cNvSpPr/>
          <p:nvPr/>
        </p:nvSpPr>
        <p:spPr>
          <a:xfrm>
            <a:off x="1378563" y="5013176"/>
            <a:ext cx="7197150" cy="1390904"/>
          </a:xfrm>
          <a:prstGeom prst="horizontalScroll">
            <a:avLst>
              <a:gd name="adj" fmla="val 681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600" dirty="0" smtClean="0">
                <a:solidFill>
                  <a:schemeClr val="tx1"/>
                </a:solidFill>
                <a:latin typeface="Times New Roman" pitchFamily="18" charset="0"/>
                <a:cs typeface="Times New Roman" pitchFamily="18" charset="0"/>
              </a:rPr>
              <a:t>        2008 йил Б.К</a:t>
            </a:r>
            <a:r>
              <a:rPr lang="uz-Cyrl-UZ" sz="1600" dirty="0">
                <a:solidFill>
                  <a:schemeClr val="tx1"/>
                </a:solidFill>
                <a:latin typeface="Times New Roman" pitchFamily="18" charset="0"/>
                <a:cs typeface="Times New Roman" pitchFamily="18" charset="0"/>
              </a:rPr>
              <a:t>. Ўрмонов томонидан </a:t>
            </a:r>
            <a:r>
              <a:rPr lang="uz-Cyrl-UZ" sz="1600" dirty="0" smtClean="0">
                <a:solidFill>
                  <a:schemeClr val="tx1"/>
                </a:solidFill>
                <a:latin typeface="Times New Roman" pitchFamily="18" charset="0"/>
                <a:cs typeface="Times New Roman" pitchFamily="18" charset="0"/>
              </a:rPr>
              <a:t>“</a:t>
            </a:r>
            <a:r>
              <a:rPr lang="uz-Cyrl-UZ" sz="1600" dirty="0">
                <a:solidFill>
                  <a:schemeClr val="tx1"/>
                </a:solidFill>
                <a:latin typeface="Times New Roman" pitchFamily="18" charset="0"/>
                <a:cs typeface="Times New Roman" pitchFamily="18" charset="0"/>
              </a:rPr>
              <a:t>Блокли шифрлаш алгоритмлари учун бардошли калитлар ишлаб чиқиш</a:t>
            </a:r>
            <a:r>
              <a:rPr lang="uz-Cyrl-UZ" sz="1600" dirty="0" smtClean="0">
                <a:solidFill>
                  <a:schemeClr val="tx1"/>
                </a:solidFill>
                <a:latin typeface="Times New Roman" pitchFamily="18" charset="0"/>
                <a:cs typeface="Times New Roman" pitchFamily="18" charset="0"/>
              </a:rPr>
              <a:t>”  </a:t>
            </a:r>
            <a:r>
              <a:rPr lang="uz-Cyrl-UZ" sz="1600" dirty="0">
                <a:solidFill>
                  <a:schemeClr val="tx1"/>
                </a:solidFill>
                <a:latin typeface="Times New Roman" pitchFamily="18" charset="0"/>
                <a:cs typeface="Times New Roman" pitchFamily="18" charset="0"/>
              </a:rPr>
              <a:t>мавзусида магистрлик иши </a:t>
            </a:r>
            <a:r>
              <a:rPr lang="uz-Cyrl-UZ" sz="1600" dirty="0" smtClean="0">
                <a:solidFill>
                  <a:schemeClr val="tx1"/>
                </a:solidFill>
                <a:latin typeface="Times New Roman" pitchFamily="18" charset="0"/>
                <a:cs typeface="Times New Roman" pitchFamily="18" charset="0"/>
              </a:rPr>
              <a:t>бажарилган бўлиб, калитларни тасодифийлик</a:t>
            </a:r>
            <a:r>
              <a:rPr lang="uz-Cyrl-UZ" sz="1600" dirty="0">
                <a:solidFill>
                  <a:schemeClr val="tx1"/>
                </a:solidFill>
                <a:latin typeface="Times New Roman" pitchFamily="18" charset="0"/>
                <a:cs typeface="Times New Roman" pitchFamily="18" charset="0"/>
              </a:rPr>
              <a:t>к</a:t>
            </a:r>
            <a:r>
              <a:rPr lang="uz-Cyrl-UZ" sz="1600" dirty="0" smtClean="0">
                <a:solidFill>
                  <a:schemeClr val="tx1"/>
                </a:solidFill>
                <a:latin typeface="Times New Roman" pitchFamily="18" charset="0"/>
                <a:cs typeface="Times New Roman" pitchFamily="18" charset="0"/>
              </a:rPr>
              <a:t>а </a:t>
            </a:r>
            <a:r>
              <a:rPr lang="uz-Cyrl-UZ" sz="1600" dirty="0">
                <a:solidFill>
                  <a:schemeClr val="tx1"/>
                </a:solidFill>
                <a:latin typeface="Times New Roman" pitchFamily="18" charset="0"/>
                <a:cs typeface="Times New Roman" pitchFamily="18" charset="0"/>
              </a:rPr>
              <a:t>текширувчи </a:t>
            </a:r>
            <a:r>
              <a:rPr lang="uz-Cyrl-UZ" sz="1600" dirty="0" smtClean="0">
                <a:solidFill>
                  <a:schemeClr val="tx1"/>
                </a:solidFill>
                <a:latin typeface="Times New Roman" pitchFamily="18" charset="0"/>
                <a:cs typeface="Times New Roman" pitchFamily="18" charset="0"/>
              </a:rPr>
              <a:t>тестлар </a:t>
            </a:r>
            <a:r>
              <a:rPr lang="uz-Cyrl-UZ" sz="1600" dirty="0">
                <a:solidFill>
                  <a:schemeClr val="tx1"/>
                </a:solidFill>
                <a:latin typeface="Times New Roman" pitchFamily="18" charset="0"/>
                <a:cs typeface="Times New Roman" pitchFamily="18" charset="0"/>
              </a:rPr>
              <a:t>таҳлил </a:t>
            </a:r>
            <a:r>
              <a:rPr lang="uz-Cyrl-UZ" sz="1600" dirty="0" smtClean="0">
                <a:solidFill>
                  <a:schemeClr val="tx1"/>
                </a:solidFill>
                <a:latin typeface="Times New Roman" pitchFamily="18" charset="0"/>
                <a:cs typeface="Times New Roman" pitchFamily="18" charset="0"/>
              </a:rPr>
              <a:t>қилинган.</a:t>
            </a:r>
            <a:endParaRPr lang="ru-RU" sz="1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0412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750"/>
                                        <p:tgtEl>
                                          <p:spTgt spid="9"/>
                                        </p:tgtEl>
                                      </p:cBhvr>
                                    </p:animEffect>
                                    <p:anim calcmode="lin" valueType="num">
                                      <p:cBhvr>
                                        <p:cTn id="12" dur="750" fill="hold"/>
                                        <p:tgtEl>
                                          <p:spTgt spid="9"/>
                                        </p:tgtEl>
                                        <p:attrNameLst>
                                          <p:attrName>ppt_x</p:attrName>
                                        </p:attrNameLst>
                                      </p:cBhvr>
                                      <p:tavLst>
                                        <p:tav tm="0">
                                          <p:val>
                                            <p:strVal val="#ppt_x"/>
                                          </p:val>
                                        </p:tav>
                                        <p:tav tm="100000">
                                          <p:val>
                                            <p:strVal val="#ppt_x"/>
                                          </p:val>
                                        </p:tav>
                                      </p:tavLst>
                                    </p:anim>
                                    <p:anim calcmode="lin" valueType="num">
                                      <p:cBhvr>
                                        <p:cTn id="13" dur="750" fill="hold"/>
                                        <p:tgtEl>
                                          <p:spTgt spid="9"/>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750"/>
                                        <p:tgtEl>
                                          <p:spTgt spid="16"/>
                                        </p:tgtEl>
                                      </p:cBhvr>
                                    </p:animEffect>
                                    <p:anim calcmode="lin" valueType="num">
                                      <p:cBhvr>
                                        <p:cTn id="17" dur="750" fill="hold"/>
                                        <p:tgtEl>
                                          <p:spTgt spid="16"/>
                                        </p:tgtEl>
                                        <p:attrNameLst>
                                          <p:attrName>ppt_x</p:attrName>
                                        </p:attrNameLst>
                                      </p:cBhvr>
                                      <p:tavLst>
                                        <p:tav tm="0">
                                          <p:val>
                                            <p:strVal val="#ppt_x"/>
                                          </p:val>
                                        </p:tav>
                                        <p:tav tm="100000">
                                          <p:val>
                                            <p:strVal val="#ppt_x"/>
                                          </p:val>
                                        </p:tav>
                                      </p:tavLst>
                                    </p:anim>
                                    <p:anim calcmode="lin" valueType="num">
                                      <p:cBhvr>
                                        <p:cTn id="18" dur="750" fill="hold"/>
                                        <p:tgtEl>
                                          <p:spTgt spid="1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750"/>
                                        <p:tgtEl>
                                          <p:spTgt spid="3"/>
                                        </p:tgtEl>
                                      </p:cBhvr>
                                    </p:animEffect>
                                    <p:anim calcmode="lin" valueType="num">
                                      <p:cBhvr>
                                        <p:cTn id="22" dur="750" fill="hold"/>
                                        <p:tgtEl>
                                          <p:spTgt spid="3"/>
                                        </p:tgtEl>
                                        <p:attrNameLst>
                                          <p:attrName>ppt_x</p:attrName>
                                        </p:attrNameLst>
                                      </p:cBhvr>
                                      <p:tavLst>
                                        <p:tav tm="0">
                                          <p:val>
                                            <p:strVal val="#ppt_x"/>
                                          </p:val>
                                        </p:tav>
                                        <p:tav tm="100000">
                                          <p:val>
                                            <p:strVal val="#ppt_x"/>
                                          </p:val>
                                        </p:tav>
                                      </p:tavLst>
                                    </p:anim>
                                    <p:anim calcmode="lin" valueType="num">
                                      <p:cBhvr>
                                        <p:cTn id="23" dur="75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750"/>
                                        <p:tgtEl>
                                          <p:spTgt spid="12"/>
                                        </p:tgtEl>
                                      </p:cBhvr>
                                    </p:animEffect>
                                    <p:anim calcmode="lin" valueType="num">
                                      <p:cBhvr>
                                        <p:cTn id="27" dur="750" fill="hold"/>
                                        <p:tgtEl>
                                          <p:spTgt spid="12"/>
                                        </p:tgtEl>
                                        <p:attrNameLst>
                                          <p:attrName>ppt_x</p:attrName>
                                        </p:attrNameLst>
                                      </p:cBhvr>
                                      <p:tavLst>
                                        <p:tav tm="0">
                                          <p:val>
                                            <p:strVal val="#ppt_x"/>
                                          </p:val>
                                        </p:tav>
                                        <p:tav tm="100000">
                                          <p:val>
                                            <p:strVal val="#ppt_x"/>
                                          </p:val>
                                        </p:tav>
                                      </p:tavLst>
                                    </p:anim>
                                    <p:anim calcmode="lin" valueType="num">
                                      <p:cBhvr>
                                        <p:cTn id="28" dur="750" fill="hold"/>
                                        <p:tgtEl>
                                          <p:spTgt spid="12"/>
                                        </p:tgtEl>
                                        <p:attrNameLst>
                                          <p:attrName>ppt_y</p:attrName>
                                        </p:attrNameLst>
                                      </p:cBhvr>
                                      <p:tavLst>
                                        <p:tav tm="0">
                                          <p:val>
                                            <p:strVal val="#ppt_y+.1"/>
                                          </p:val>
                                        </p:tav>
                                        <p:tav tm="100000">
                                          <p:val>
                                            <p:strVal val="#ppt_y"/>
                                          </p:val>
                                        </p:tav>
                                      </p:tavLst>
                                    </p:anim>
                                  </p:childTnLst>
                                </p:cTn>
                              </p:par>
                              <p:par>
                                <p:cTn id="29" presetID="14"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randombar(horizontal)">
                                      <p:cBhvr>
                                        <p:cTn id="31" dur="750"/>
                                        <p:tgtEl>
                                          <p:spTgt spid="1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randombar(horizontal)">
                                      <p:cBhvr>
                                        <p:cTn id="34" dur="750"/>
                                        <p:tgtEl>
                                          <p:spTgt spid="18"/>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randombar(horizontal)">
                                      <p:cBhvr>
                                        <p:cTn id="37" dur="1000"/>
                                        <p:tgtEl>
                                          <p:spTgt spid="13"/>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randombar(horizontal)">
                                      <p:cBhvr>
                                        <p:cTn id="4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9" grpId="0" animBg="1"/>
      <p:bldP spid="16" grpId="0" animBg="1"/>
      <p:bldP spid="17" grpId="0" animBg="1"/>
      <p:bldP spid="18" grpId="0" animBg="1"/>
      <p:bldP spid="19"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Содержимое 2"/>
          <p:cNvSpPr txBox="1">
            <a:spLocks/>
          </p:cNvSpPr>
          <p:nvPr/>
        </p:nvSpPr>
        <p:spPr bwMode="auto">
          <a:xfrm>
            <a:off x="549069" y="1124744"/>
            <a:ext cx="8147255" cy="3313906"/>
          </a:xfrm>
          <a:prstGeom prst="foldedCorner">
            <a:avLst>
              <a:gd name="adj" fmla="val 19931"/>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spcAft>
                <a:spcPts val="600"/>
              </a:spcAft>
            </a:pPr>
            <a:r>
              <a:rPr lang="uz-Cyrl-UZ" dirty="0" smtClean="0">
                <a:latin typeface="Times New Roman" pitchFamily="18" charset="0"/>
                <a:cs typeface="Times New Roman" pitchFamily="18" charset="0"/>
              </a:rPr>
              <a:t>         Узлуксиз </a:t>
            </a:r>
            <a:r>
              <a:rPr lang="uz-Cyrl-UZ" dirty="0">
                <a:latin typeface="Times New Roman" pitchFamily="18" charset="0"/>
                <a:cs typeface="Times New Roman" pitchFamily="18" charset="0"/>
              </a:rPr>
              <a:t>шифрлаш алгоритмлари гаммалашга асосланган </a:t>
            </a:r>
            <a:r>
              <a:rPr lang="uz-Cyrl-UZ" dirty="0" smtClean="0">
                <a:latin typeface="Times New Roman" pitchFamily="18" charset="0"/>
                <a:cs typeface="Times New Roman" pitchFamily="18" charset="0"/>
              </a:rPr>
              <a:t>шифрлар бўлиб, </a:t>
            </a:r>
            <a:r>
              <a:rPr lang="uz-Cyrl-UZ" dirty="0">
                <a:latin typeface="Times New Roman" pitchFamily="18" charset="0"/>
                <a:cs typeface="Times New Roman" pitchFamily="18" charset="0"/>
              </a:rPr>
              <a:t>очиқ матннинг кетма-кет келувчи хар бир </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p</a:t>
            </a:r>
            <a:r>
              <a:rPr lang="uz-Cyrl-UZ" b="1" i="1" baseline="-25000" dirty="0">
                <a:latin typeface="Times New Roman" pitchFamily="18" charset="0"/>
                <a:cs typeface="Times New Roman" pitchFamily="18" charset="0"/>
              </a:rPr>
              <a:t>i</a:t>
            </a:r>
            <a:r>
              <a:rPr lang="uz-Cyrl-UZ" b="1" dirty="0">
                <a:latin typeface="Times New Roman" pitchFamily="18" charset="0"/>
                <a:cs typeface="Times New Roman" pitchFamily="18" charset="0"/>
              </a:rPr>
              <a:t>)</a:t>
            </a:r>
            <a:r>
              <a:rPr lang="uz-Cyrl-UZ" dirty="0">
                <a:latin typeface="Times New Roman" pitchFamily="18" charset="0"/>
                <a:cs typeface="Times New Roman" pitchFamily="18" charset="0"/>
              </a:rPr>
              <a:t> 1 бит (1 байт)ини генератордан чиққан мос 1 бит (1 байт) гамма </a:t>
            </a:r>
            <a:r>
              <a:rPr lang="uz-Cyrl-UZ" dirty="0" smtClean="0">
                <a:latin typeface="Times New Roman" pitchFamily="18" charset="0"/>
                <a:cs typeface="Times New Roman" pitchFamily="18" charset="0"/>
              </a:rPr>
              <a:t>калит </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k</a:t>
            </a:r>
            <a:r>
              <a:rPr lang="uz-Cyrl-UZ" b="1" i="1" baseline="-25000" dirty="0" smtClean="0">
                <a:latin typeface="Times New Roman" pitchFamily="18" charset="0"/>
                <a:cs typeface="Times New Roman" pitchFamily="18" charset="0"/>
              </a:rPr>
              <a:t>i</a:t>
            </a:r>
            <a:r>
              <a:rPr lang="uz-Cyrl-UZ" b="1" dirty="0" smtClean="0">
                <a:latin typeface="Times New Roman" pitchFamily="18" charset="0"/>
                <a:cs typeface="Times New Roman" pitchFamily="18" charset="0"/>
              </a:rPr>
              <a:t>)</a:t>
            </a:r>
            <a:r>
              <a:rPr lang="uz-Cyrl-UZ" dirty="0" smtClean="0">
                <a:latin typeface="Times New Roman" pitchFamily="18" charset="0"/>
                <a:cs typeface="Times New Roman" pitchFamily="18" charset="0"/>
              </a:rPr>
              <a:t>га </a:t>
            </a:r>
            <a:r>
              <a:rPr lang="uz-Cyrl-UZ" dirty="0">
                <a:latin typeface="Times New Roman" pitchFamily="18" charset="0"/>
                <a:cs typeface="Times New Roman" pitchFamily="18" charset="0"/>
              </a:rPr>
              <a:t>XOR </a:t>
            </a:r>
            <a:r>
              <a:rPr lang="uz-Cyrl-UZ" dirty="0" smtClean="0">
                <a:latin typeface="Times New Roman" pitchFamily="18" charset="0"/>
                <a:cs typeface="Times New Roman" pitchFamily="18" charset="0"/>
              </a:rPr>
              <a:t>амали </a:t>
            </a:r>
            <a:r>
              <a:rPr lang="uz-Cyrl-UZ" dirty="0">
                <a:latin typeface="Times New Roman" pitchFamily="18" charset="0"/>
                <a:cs typeface="Times New Roman" pitchFamily="18" charset="0"/>
              </a:rPr>
              <a:t>билан қўшиш орқали </a:t>
            </a:r>
            <a:r>
              <a:rPr lang="uz-Cyrl-UZ" dirty="0" smtClean="0">
                <a:latin typeface="Times New Roman" pitchFamily="18" charset="0"/>
                <a:cs typeface="Times New Roman" pitchFamily="18" charset="0"/>
              </a:rPr>
              <a:t>шифрматн</a:t>
            </a:r>
            <a:r>
              <a:rPr lang="uz-Cyrl-UZ" b="1" dirty="0" smtClean="0">
                <a:latin typeface="Times New Roman" pitchFamily="18" charset="0"/>
                <a:cs typeface="Times New Roman" pitchFamily="18" charset="0"/>
              </a:rPr>
              <a:t> (</a:t>
            </a:r>
            <a:r>
              <a:rPr lang="uz-Cyrl-UZ" b="1" i="1" dirty="0">
                <a:latin typeface="Times New Roman" pitchFamily="18" charset="0"/>
                <a:cs typeface="Times New Roman" pitchFamily="18" charset="0"/>
              </a:rPr>
              <a:t>c</a:t>
            </a:r>
            <a:r>
              <a:rPr lang="uz-Cyrl-UZ" b="1" i="1" baseline="-25000" dirty="0">
                <a:latin typeface="Times New Roman" pitchFamily="18" charset="0"/>
                <a:cs typeface="Times New Roman" pitchFamily="18" charset="0"/>
              </a:rPr>
              <a:t>i</a:t>
            </a:r>
            <a:r>
              <a:rPr lang="uz-Cyrl-UZ" b="1" dirty="0" smtClean="0">
                <a:latin typeface="Times New Roman" pitchFamily="18" charset="0"/>
                <a:cs typeface="Times New Roman" pitchFamily="18" charset="0"/>
              </a:rPr>
              <a:t>)</a:t>
            </a:r>
            <a:r>
              <a:rPr lang="uz-Cyrl-UZ" dirty="0" smtClean="0">
                <a:latin typeface="Times New Roman" pitchFamily="18" charset="0"/>
                <a:cs typeface="Times New Roman" pitchFamily="18" charset="0"/>
              </a:rPr>
              <a:t>га </a:t>
            </a:r>
            <a:r>
              <a:rPr lang="uz-Cyrl-UZ" dirty="0">
                <a:latin typeface="Times New Roman" pitchFamily="18" charset="0"/>
                <a:cs typeface="Times New Roman" pitchFamily="18" charset="0"/>
              </a:rPr>
              <a:t>айлантиради. </a:t>
            </a:r>
            <a:endParaRPr lang="ru-RU" dirty="0">
              <a:latin typeface="Times New Roman" pitchFamily="18" charset="0"/>
              <a:cs typeface="Times New Roman" pitchFamily="18" charset="0"/>
            </a:endParaRPr>
          </a:p>
          <a:p>
            <a:pPr algn="ctr">
              <a:spcAft>
                <a:spcPts val="600"/>
              </a:spcAft>
            </a:pPr>
            <a:r>
              <a:rPr lang="uz-Cyrl-UZ" sz="2200" b="1" i="1" dirty="0" smtClean="0">
                <a:effectLst>
                  <a:outerShdw blurRad="38100" dist="38100" dir="2700000" algn="tl">
                    <a:srgbClr val="000000">
                      <a:alpha val="43137"/>
                    </a:srgbClr>
                  </a:outerShdw>
                </a:effectLst>
                <a:latin typeface="Times New Roman" pitchFamily="18" charset="0"/>
                <a:cs typeface="Times New Roman" pitchFamily="18" charset="0"/>
              </a:rPr>
              <a:t>c</a:t>
            </a:r>
            <a:r>
              <a:rPr lang="uz-Cyrl-UZ" sz="2200" b="1" i="1" baseline="-25000" dirty="0" smtClean="0">
                <a:effectLst>
                  <a:outerShdw blurRad="38100" dist="38100" dir="2700000" algn="tl">
                    <a:srgbClr val="000000">
                      <a:alpha val="43137"/>
                    </a:srgbClr>
                  </a:outerShdw>
                </a:effectLst>
                <a:latin typeface="Times New Roman" pitchFamily="18" charset="0"/>
                <a:cs typeface="Times New Roman" pitchFamily="18" charset="0"/>
              </a:rPr>
              <a:t>i</a:t>
            </a:r>
            <a:r>
              <a:rPr lang="uz-Cyrl-UZ" sz="2200"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uz-Cyrl-UZ" sz="2200" b="1" dirty="0">
                <a:effectLst>
                  <a:outerShdw blurRad="38100" dist="38100" dir="2700000" algn="tl">
                    <a:srgbClr val="000000">
                      <a:alpha val="43137"/>
                    </a:srgbClr>
                  </a:outerShdw>
                </a:effectLst>
                <a:latin typeface="Times New Roman" pitchFamily="18" charset="0"/>
                <a:cs typeface="Times New Roman" pitchFamily="18" charset="0"/>
              </a:rPr>
              <a:t>= </a:t>
            </a:r>
            <a:r>
              <a:rPr lang="uz-Cyrl-UZ" sz="2200" b="1" i="1" dirty="0">
                <a:effectLst>
                  <a:outerShdw blurRad="38100" dist="38100" dir="2700000" algn="tl">
                    <a:srgbClr val="000000">
                      <a:alpha val="43137"/>
                    </a:srgbClr>
                  </a:outerShdw>
                </a:effectLst>
                <a:latin typeface="Times New Roman" pitchFamily="18" charset="0"/>
                <a:cs typeface="Times New Roman" pitchFamily="18" charset="0"/>
              </a:rPr>
              <a:t>p</a:t>
            </a:r>
            <a:r>
              <a:rPr lang="uz-Cyrl-UZ" sz="2200" b="1" i="1" baseline="-25000" dirty="0">
                <a:effectLst>
                  <a:outerShdw blurRad="38100" dist="38100" dir="2700000" algn="tl">
                    <a:srgbClr val="000000">
                      <a:alpha val="43137"/>
                    </a:srgbClr>
                  </a:outerShdw>
                </a:effectLst>
                <a:latin typeface="Times New Roman" pitchFamily="18" charset="0"/>
                <a:cs typeface="Times New Roman" pitchFamily="18" charset="0"/>
              </a:rPr>
              <a:t>i</a:t>
            </a:r>
            <a:r>
              <a:rPr lang="uz-Cyrl-UZ"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dirty="0">
                <a:effectLst>
                  <a:outerShdw blurRad="38100" dist="38100" dir="2700000" algn="tl">
                    <a:srgbClr val="000000">
                      <a:alpha val="43137"/>
                    </a:srgbClr>
                  </a:outerShdw>
                </a:effectLst>
                <a:latin typeface="Times New Roman" pitchFamily="18" charset="0"/>
                <a:cs typeface="Times New Roman" pitchFamily="18" charset="0"/>
                <a:sym typeface="Symbol"/>
              </a:rPr>
              <a:t></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uz-Cyrl-UZ" sz="2200" b="1" i="1" dirty="0">
                <a:effectLst>
                  <a:outerShdw blurRad="38100" dist="38100" dir="2700000" algn="tl">
                    <a:srgbClr val="000000">
                      <a:alpha val="43137"/>
                    </a:srgbClr>
                  </a:outerShdw>
                </a:effectLst>
                <a:latin typeface="Times New Roman" pitchFamily="18" charset="0"/>
                <a:cs typeface="Times New Roman" pitchFamily="18" charset="0"/>
              </a:rPr>
              <a:t>k</a:t>
            </a:r>
            <a:r>
              <a:rPr lang="uz-Cyrl-UZ" sz="2200" b="1" i="1" baseline="-25000" dirty="0">
                <a:effectLst>
                  <a:outerShdw blurRad="38100" dist="38100" dir="2700000" algn="tl">
                    <a:srgbClr val="000000">
                      <a:alpha val="43137"/>
                    </a:srgbClr>
                  </a:outerShdw>
                </a:effectLst>
                <a:latin typeface="Times New Roman" pitchFamily="18" charset="0"/>
                <a:cs typeface="Times New Roman" pitchFamily="18" charset="0"/>
              </a:rPr>
              <a:t>i</a:t>
            </a:r>
            <a:r>
              <a:rPr lang="uz-Cyrl-UZ" sz="2200" b="1" dirty="0">
                <a:effectLst>
                  <a:outerShdw blurRad="38100" dist="38100" dir="2700000" algn="tl">
                    <a:srgbClr val="000000">
                      <a:alpha val="43137"/>
                    </a:srgbClr>
                  </a:outerShdw>
                </a:effectLst>
                <a:latin typeface="Times New Roman" pitchFamily="18" charset="0"/>
                <a:cs typeface="Times New Roman" pitchFamily="18" charset="0"/>
              </a:rPr>
              <a:t>     </a:t>
            </a:r>
            <a:r>
              <a:rPr lang="uz-Cyrl-UZ" b="1" dirty="0">
                <a:latin typeface="Times New Roman" pitchFamily="18" charset="0"/>
                <a:cs typeface="Times New Roman" pitchFamily="18" charset="0"/>
              </a:rPr>
              <a:t>                 </a:t>
            </a:r>
            <a:endParaRPr lang="ru-RU" b="1" dirty="0">
              <a:latin typeface="Times New Roman" pitchFamily="18" charset="0"/>
              <a:cs typeface="Times New Roman" pitchFamily="18" charset="0"/>
            </a:endParaRPr>
          </a:p>
          <a:p>
            <a:pPr algn="just">
              <a:spcAft>
                <a:spcPts val="600"/>
              </a:spcAft>
            </a:pPr>
            <a:r>
              <a:rPr lang="uz-Cyrl-UZ" dirty="0">
                <a:latin typeface="Times New Roman" pitchFamily="18" charset="0"/>
                <a:cs typeface="Times New Roman" pitchFamily="18" charset="0"/>
              </a:rPr>
              <a:t>         </a:t>
            </a:r>
            <a:r>
              <a:rPr lang="uz-Cyrl-UZ" dirty="0" smtClean="0">
                <a:latin typeface="Times New Roman" pitchFamily="18" charset="0"/>
                <a:cs typeface="Times New Roman" pitchFamily="18" charset="0"/>
              </a:rPr>
              <a:t>Дешифрлашда шифрматнни  </a:t>
            </a:r>
            <a:r>
              <a:rPr lang="uz-Cyrl-UZ" dirty="0">
                <a:latin typeface="Times New Roman" pitchFamily="18" charset="0"/>
                <a:cs typeface="Times New Roman" pitchFamily="18" charset="0"/>
              </a:rPr>
              <a:t>худди шу генератор </a:t>
            </a:r>
            <a:r>
              <a:rPr lang="uz-Cyrl-UZ" dirty="0" smtClean="0">
                <a:latin typeface="Times New Roman" pitchFamily="18" charset="0"/>
                <a:cs typeface="Times New Roman" pitchFamily="18" charset="0"/>
              </a:rPr>
              <a:t>ёрдамида </a:t>
            </a:r>
            <a:r>
              <a:rPr lang="uz-Cyrl-UZ" dirty="0">
                <a:latin typeface="Times New Roman" pitchFamily="18" charset="0"/>
                <a:cs typeface="Times New Roman" pitchFamily="18" charset="0"/>
              </a:rPr>
              <a:t>фақат ахборот алмашинувчи абонентларгагина маълум бўлган махфий симметрик калитдан фойдаланиб ҳосил қилинган мос 1 бит (1 байт) гаммага қайтадан XOR </a:t>
            </a:r>
            <a:r>
              <a:rPr lang="uz-Cyrl-UZ" dirty="0" smtClean="0">
                <a:latin typeface="Times New Roman" pitchFamily="18" charset="0"/>
                <a:cs typeface="Times New Roman" pitchFamily="18" charset="0"/>
              </a:rPr>
              <a:t>амали </a:t>
            </a:r>
            <a:r>
              <a:rPr lang="uz-Cyrl-UZ" dirty="0">
                <a:latin typeface="Times New Roman" pitchFamily="18" charset="0"/>
                <a:cs typeface="Times New Roman" pitchFamily="18" charset="0"/>
              </a:rPr>
              <a:t>билан қўшиш натижасида очиқ </a:t>
            </a:r>
            <a:r>
              <a:rPr lang="uz-Cyrl-UZ" dirty="0" smtClean="0">
                <a:latin typeface="Times New Roman" pitchFamily="18" charset="0"/>
                <a:cs typeface="Times New Roman" pitchFamily="18" charset="0"/>
              </a:rPr>
              <a:t>матн қайта тикланади.</a:t>
            </a:r>
            <a:endParaRPr lang="ru-RU" dirty="0">
              <a:latin typeface="Times New Roman" pitchFamily="18" charset="0"/>
              <a:cs typeface="Times New Roman" pitchFamily="18" charset="0"/>
            </a:endParaRPr>
          </a:p>
          <a:p>
            <a:pPr algn="ctr"/>
            <a:r>
              <a:rPr lang="en-US" sz="2200" b="1" i="1" dirty="0">
                <a:effectLst>
                  <a:outerShdw blurRad="38100" dist="38100" dir="2700000" algn="tl">
                    <a:srgbClr val="000000">
                      <a:alpha val="43137"/>
                    </a:srgbClr>
                  </a:outerShdw>
                </a:effectLst>
                <a:latin typeface="Times New Roman" pitchFamily="18" charset="0"/>
                <a:cs typeface="Times New Roman" pitchFamily="18" charset="0"/>
              </a:rPr>
              <a:t>c</a:t>
            </a:r>
            <a:r>
              <a:rPr lang="en-US" sz="2200" b="1" i="1" baseline="-25000" dirty="0">
                <a:effectLst>
                  <a:outerShdw blurRad="38100" dist="38100" dir="2700000" algn="tl">
                    <a:srgbClr val="000000">
                      <a:alpha val="43137"/>
                    </a:srgbClr>
                  </a:outerShdw>
                </a:effectLst>
                <a:latin typeface="Times New Roman" pitchFamily="18" charset="0"/>
                <a:cs typeface="Times New Roman" pitchFamily="18" charset="0"/>
              </a:rPr>
              <a:t>i</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dirty="0">
                <a:effectLst>
                  <a:outerShdw blurRad="38100" dist="38100" dir="2700000" algn="tl">
                    <a:srgbClr val="000000">
                      <a:alpha val="43137"/>
                    </a:srgbClr>
                  </a:outerShdw>
                </a:effectLst>
                <a:latin typeface="Times New Roman" pitchFamily="18" charset="0"/>
                <a:cs typeface="Times New Roman" pitchFamily="18" charset="0"/>
                <a:sym typeface="Symbol"/>
              </a:rPr>
              <a:t></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i="1" dirty="0" err="1">
                <a:effectLst>
                  <a:outerShdw blurRad="38100" dist="38100" dir="2700000" algn="tl">
                    <a:srgbClr val="000000">
                      <a:alpha val="43137"/>
                    </a:srgbClr>
                  </a:outerShdw>
                </a:effectLst>
                <a:latin typeface="Times New Roman" pitchFamily="18" charset="0"/>
                <a:cs typeface="Times New Roman" pitchFamily="18" charset="0"/>
              </a:rPr>
              <a:t>k</a:t>
            </a:r>
            <a:r>
              <a:rPr lang="en-US" sz="2200" b="1" i="1" baseline="-25000" dirty="0" err="1">
                <a:effectLst>
                  <a:outerShdw blurRad="38100" dist="38100" dir="2700000" algn="tl">
                    <a:srgbClr val="000000">
                      <a:alpha val="43137"/>
                    </a:srgbClr>
                  </a:outerShdw>
                </a:effectLst>
                <a:latin typeface="Times New Roman" pitchFamily="18" charset="0"/>
                <a:cs typeface="Times New Roman" pitchFamily="18" charset="0"/>
              </a:rPr>
              <a:t>i</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 </a:t>
            </a:r>
            <a:r>
              <a:rPr lang="en-US" sz="2200" b="1" i="1" dirty="0">
                <a:effectLst>
                  <a:outerShdw blurRad="38100" dist="38100" dir="2700000" algn="tl">
                    <a:srgbClr val="000000">
                      <a:alpha val="43137"/>
                    </a:srgbClr>
                  </a:outerShdw>
                </a:effectLst>
                <a:latin typeface="Times New Roman" pitchFamily="18" charset="0"/>
                <a:cs typeface="Times New Roman" pitchFamily="18" charset="0"/>
              </a:rPr>
              <a:t>p</a:t>
            </a:r>
            <a:r>
              <a:rPr lang="en-US" sz="2200" b="1" i="1" baseline="-25000" dirty="0">
                <a:effectLst>
                  <a:outerShdw blurRad="38100" dist="38100" dir="2700000" algn="tl">
                    <a:srgbClr val="000000">
                      <a:alpha val="43137"/>
                    </a:srgbClr>
                  </a:outerShdw>
                </a:effectLst>
                <a:latin typeface="Times New Roman" pitchFamily="18" charset="0"/>
                <a:cs typeface="Times New Roman" pitchFamily="18" charset="0"/>
              </a:rPr>
              <a:t>i</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dirty="0">
                <a:effectLst>
                  <a:outerShdw blurRad="38100" dist="38100" dir="2700000" algn="tl">
                    <a:srgbClr val="000000">
                      <a:alpha val="43137"/>
                    </a:srgbClr>
                  </a:outerShdw>
                </a:effectLst>
                <a:latin typeface="Times New Roman" pitchFamily="18" charset="0"/>
                <a:cs typeface="Times New Roman" pitchFamily="18" charset="0"/>
                <a:sym typeface="Symbol"/>
              </a:rPr>
              <a:t></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i="1" dirty="0" err="1">
                <a:effectLst>
                  <a:outerShdw blurRad="38100" dist="38100" dir="2700000" algn="tl">
                    <a:srgbClr val="000000">
                      <a:alpha val="43137"/>
                    </a:srgbClr>
                  </a:outerShdw>
                </a:effectLst>
                <a:latin typeface="Times New Roman" pitchFamily="18" charset="0"/>
                <a:cs typeface="Times New Roman" pitchFamily="18" charset="0"/>
              </a:rPr>
              <a:t>k</a:t>
            </a:r>
            <a:r>
              <a:rPr lang="en-US" sz="2200" b="1" i="1" baseline="-25000" dirty="0" err="1">
                <a:effectLst>
                  <a:outerShdw blurRad="38100" dist="38100" dir="2700000" algn="tl">
                    <a:srgbClr val="000000">
                      <a:alpha val="43137"/>
                    </a:srgbClr>
                  </a:outerShdw>
                </a:effectLst>
                <a:latin typeface="Times New Roman" pitchFamily="18" charset="0"/>
                <a:cs typeface="Times New Roman" pitchFamily="18" charset="0"/>
              </a:rPr>
              <a:t>i</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dirty="0">
                <a:effectLst>
                  <a:outerShdw blurRad="38100" dist="38100" dir="2700000" algn="tl">
                    <a:srgbClr val="000000">
                      <a:alpha val="43137"/>
                    </a:srgbClr>
                  </a:outerShdw>
                </a:effectLst>
                <a:latin typeface="Times New Roman" pitchFamily="18" charset="0"/>
                <a:cs typeface="Times New Roman" pitchFamily="18" charset="0"/>
                <a:sym typeface="Symbol"/>
              </a:rPr>
              <a:t></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a:t>
            </a:r>
            <a:r>
              <a:rPr lang="en-US" sz="2200" b="1" i="1" dirty="0" err="1">
                <a:effectLst>
                  <a:outerShdw blurRad="38100" dist="38100" dir="2700000" algn="tl">
                    <a:srgbClr val="000000">
                      <a:alpha val="43137"/>
                    </a:srgbClr>
                  </a:outerShdw>
                </a:effectLst>
                <a:latin typeface="Times New Roman" pitchFamily="18" charset="0"/>
                <a:cs typeface="Times New Roman" pitchFamily="18" charset="0"/>
              </a:rPr>
              <a:t>k</a:t>
            </a:r>
            <a:r>
              <a:rPr lang="en-US" sz="2200" b="1" i="1" baseline="-25000" dirty="0" err="1">
                <a:effectLst>
                  <a:outerShdw blurRad="38100" dist="38100" dir="2700000" algn="tl">
                    <a:srgbClr val="000000">
                      <a:alpha val="43137"/>
                    </a:srgbClr>
                  </a:outerShdw>
                </a:effectLst>
                <a:latin typeface="Times New Roman" pitchFamily="18" charset="0"/>
                <a:cs typeface="Times New Roman" pitchFamily="18" charset="0"/>
              </a:rPr>
              <a:t>i</a:t>
            </a:r>
            <a:r>
              <a:rPr lang="en-US" sz="2200" b="1" dirty="0">
                <a:effectLst>
                  <a:outerShdw blurRad="38100" dist="38100" dir="2700000" algn="tl">
                    <a:srgbClr val="000000">
                      <a:alpha val="43137"/>
                    </a:srgbClr>
                  </a:outerShdw>
                </a:effectLst>
                <a:latin typeface="Times New Roman" pitchFamily="18" charset="0"/>
                <a:cs typeface="Times New Roman" pitchFamily="18" charset="0"/>
              </a:rPr>
              <a:t> = </a:t>
            </a:r>
            <a:r>
              <a:rPr lang="en-US" sz="2200" b="1" i="1" dirty="0">
                <a:effectLst>
                  <a:outerShdw blurRad="38100" dist="38100" dir="2700000" algn="tl">
                    <a:srgbClr val="000000">
                      <a:alpha val="43137"/>
                    </a:srgbClr>
                  </a:outerShdw>
                </a:effectLst>
                <a:latin typeface="Times New Roman" pitchFamily="18" charset="0"/>
                <a:cs typeface="Times New Roman" pitchFamily="18" charset="0"/>
              </a:rPr>
              <a:t>p</a:t>
            </a:r>
            <a:r>
              <a:rPr lang="en-US" sz="2200" b="1" i="1" baseline="-25000" dirty="0">
                <a:effectLst>
                  <a:outerShdw blurRad="38100" dist="38100" dir="2700000" algn="tl">
                    <a:srgbClr val="000000">
                      <a:alpha val="43137"/>
                    </a:srgbClr>
                  </a:outerShdw>
                </a:effectLst>
                <a:latin typeface="Times New Roman" pitchFamily="18" charset="0"/>
                <a:cs typeface="Times New Roman" pitchFamily="18" charset="0"/>
              </a:rPr>
              <a:t>i </a:t>
            </a:r>
            <a:endParaRPr lang="ru-RU" sz="22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Блок-схема: ИЛИ 2"/>
          <p:cNvSpPr/>
          <p:nvPr/>
        </p:nvSpPr>
        <p:spPr>
          <a:xfrm>
            <a:off x="4103914" y="5155941"/>
            <a:ext cx="324070" cy="360040"/>
          </a:xfrm>
          <a:prstGeom prst="flowChartOr">
            <a:avLst/>
          </a:prstGeom>
          <a:solidFill>
            <a:schemeClr val="bg1">
              <a:alpha val="0"/>
            </a:schemeClr>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2" name="Таблица 11"/>
          <p:cNvGraphicFramePr>
            <a:graphicFrameLocks noGrp="1"/>
          </p:cNvGraphicFramePr>
          <p:nvPr>
            <p:extLst>
              <p:ext uri="{D42A27DB-BD31-4B8C-83A1-F6EECF244321}">
                <p14:modId xmlns:p14="http://schemas.microsoft.com/office/powerpoint/2010/main" val="2749329285"/>
              </p:ext>
            </p:extLst>
          </p:nvPr>
        </p:nvGraphicFramePr>
        <p:xfrm>
          <a:off x="971599" y="5155941"/>
          <a:ext cx="2448275" cy="365760"/>
        </p:xfrm>
        <a:graphic>
          <a:graphicData uri="http://schemas.openxmlformats.org/drawingml/2006/table">
            <a:tbl>
              <a:tblPr firstRow="1" bandRow="1">
                <a:tableStyleId>{5C22544A-7EE6-4342-B048-85BDC9FD1C3A}</a:tableStyleId>
              </a:tblPr>
              <a:tblGrid>
                <a:gridCol w="1368153"/>
                <a:gridCol w="360040"/>
                <a:gridCol w="360040"/>
                <a:gridCol w="360042"/>
              </a:tblGrid>
              <a:tr h="360040">
                <a:tc>
                  <a:txBody>
                    <a:bodyPr/>
                    <a:lstStyle/>
                    <a:p>
                      <a:r>
                        <a:rPr lang="uz-Cyrl-UZ" b="0" dirty="0" smtClean="0">
                          <a:solidFill>
                            <a:schemeClr val="tx1"/>
                          </a:solidFill>
                        </a:rPr>
                        <a:t>Шифр матн</a:t>
                      </a:r>
                      <a:endParaRPr lang="ru-RU" b="0" dirty="0">
                        <a:solidFill>
                          <a:schemeClr val="tx1"/>
                        </a:solidFill>
                      </a:endParaRPr>
                    </a:p>
                  </a:txBody>
                  <a:tcPr>
                    <a:blipFill>
                      <a:blip r:embed="rId3"/>
                      <a:tile tx="0" ty="0" sx="100000" sy="100000" flip="none" algn="tl"/>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solidFill>
                            <a:schemeClr val="tx1"/>
                          </a:solidFill>
                        </a:rPr>
                        <a:t>1</a:t>
                      </a:r>
                      <a:endParaRPr lang="ru-RU" b="0" dirty="0">
                        <a:solidFill>
                          <a:schemeClr val="tx1"/>
                        </a:solidFill>
                      </a:endParaRPr>
                    </a:p>
                  </a:txBody>
                  <a:tcPr>
                    <a:solidFill>
                      <a:schemeClr val="accent2">
                        <a:lumMod val="40000"/>
                        <a:lumOff val="60000"/>
                      </a:schemeClr>
                    </a:solidFill>
                  </a:tcPr>
                </a:tc>
                <a:tc>
                  <a:txBody>
                    <a:bodyPr/>
                    <a:lstStyle/>
                    <a:p>
                      <a:r>
                        <a:rPr lang="en-US" b="0" dirty="0" smtClean="0">
                          <a:solidFill>
                            <a:schemeClr val="tx1"/>
                          </a:solidFill>
                        </a:rPr>
                        <a:t>0</a:t>
                      </a:r>
                      <a:endParaRPr lang="ru-RU" b="0" dirty="0">
                        <a:solidFill>
                          <a:schemeClr val="tx1"/>
                        </a:solidFill>
                      </a:endParaRPr>
                    </a:p>
                  </a:txBody>
                  <a:tcPr>
                    <a:solidFill>
                      <a:schemeClr val="accent2">
                        <a:lumMod val="40000"/>
                        <a:lumOff val="60000"/>
                      </a:schemeClr>
                    </a:solidFill>
                  </a:tcPr>
                </a:tc>
                <a:tc>
                  <a:txBody>
                    <a:bodyPr/>
                    <a:lstStyle/>
                    <a:p>
                      <a:r>
                        <a:rPr lang="en-US" b="0" dirty="0" smtClean="0">
                          <a:solidFill>
                            <a:schemeClr val="tx1"/>
                          </a:solidFill>
                        </a:rPr>
                        <a:t>0</a:t>
                      </a:r>
                      <a:endParaRPr lang="ru-RU" b="0" dirty="0">
                        <a:solidFill>
                          <a:schemeClr val="tx1"/>
                        </a:solidFill>
                      </a:endParaRPr>
                    </a:p>
                  </a:txBody>
                  <a:tcPr>
                    <a:solidFill>
                      <a:schemeClr val="accent2">
                        <a:lumMod val="40000"/>
                        <a:lumOff val="60000"/>
                      </a:schemeClr>
                    </a:solidFill>
                  </a:tcPr>
                </a:tc>
              </a:tr>
            </a:tbl>
          </a:graphicData>
        </a:graphic>
      </p:graphicFrame>
      <p:cxnSp>
        <p:nvCxnSpPr>
          <p:cNvPr id="14" name="Прямая соединительная линия 13"/>
          <p:cNvCxnSpPr/>
          <p:nvPr/>
        </p:nvCxnSpPr>
        <p:spPr>
          <a:xfrm flipH="1">
            <a:off x="4265949" y="4797152"/>
            <a:ext cx="670485"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p:nvPr/>
        </p:nvCxnSpPr>
        <p:spPr>
          <a:xfrm>
            <a:off x="4265949" y="4797152"/>
            <a:ext cx="0" cy="358789"/>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a:stCxn id="43" idx="1"/>
          </p:cNvCxnSpPr>
          <p:nvPr/>
        </p:nvCxnSpPr>
        <p:spPr>
          <a:xfrm flipH="1">
            <a:off x="4265950" y="5871952"/>
            <a:ext cx="694032" cy="532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p:nvPr/>
        </p:nvCxnSpPr>
        <p:spPr>
          <a:xfrm flipV="1">
            <a:off x="4265949" y="5515981"/>
            <a:ext cx="0" cy="361291"/>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3" idx="2"/>
          </p:cNvCxnSpPr>
          <p:nvPr/>
        </p:nvCxnSpPr>
        <p:spPr>
          <a:xfrm flipH="1">
            <a:off x="3419872" y="5335961"/>
            <a:ext cx="684042"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aphicFrame>
        <p:nvGraphicFramePr>
          <p:cNvPr id="37" name="Таблица 36"/>
          <p:cNvGraphicFramePr>
            <a:graphicFrameLocks noGrp="1"/>
          </p:cNvGraphicFramePr>
          <p:nvPr>
            <p:extLst>
              <p:ext uri="{D42A27DB-BD31-4B8C-83A1-F6EECF244321}">
                <p14:modId xmlns:p14="http://schemas.microsoft.com/office/powerpoint/2010/main" val="1717092905"/>
              </p:ext>
            </p:extLst>
          </p:nvPr>
        </p:nvGraphicFramePr>
        <p:xfrm>
          <a:off x="4936434" y="4638904"/>
          <a:ext cx="2371872" cy="365760"/>
        </p:xfrm>
        <a:graphic>
          <a:graphicData uri="http://schemas.openxmlformats.org/drawingml/2006/table">
            <a:tbl>
              <a:tblPr firstRow="1" bandRow="1">
                <a:tableStyleId>{5C22544A-7EE6-4342-B048-85BDC9FD1C3A}</a:tableStyleId>
              </a:tblPr>
              <a:tblGrid>
                <a:gridCol w="355646"/>
                <a:gridCol w="360040"/>
                <a:gridCol w="360040"/>
                <a:gridCol w="1296146"/>
              </a:tblGrid>
              <a:tr h="360040">
                <a:tc>
                  <a:txBody>
                    <a:bodyPr/>
                    <a:lstStyle/>
                    <a:p>
                      <a:pPr algn="ctr"/>
                      <a:r>
                        <a:rPr lang="uz-Cyrl-UZ" b="0" dirty="0" smtClean="0">
                          <a:solidFill>
                            <a:schemeClr val="tx1"/>
                          </a:solidFill>
                        </a:rPr>
                        <a:t>1</a:t>
                      </a:r>
                      <a:endParaRPr lang="ru-RU" b="0" dirty="0">
                        <a:solidFill>
                          <a:schemeClr val="tx1"/>
                        </a:solidFill>
                      </a:endParaRPr>
                    </a:p>
                  </a:txBody>
                  <a:tcPr>
                    <a:solidFill>
                      <a:schemeClr val="accent2">
                        <a:lumMod val="40000"/>
                        <a:lumOff val="60000"/>
                      </a:schemeClr>
                    </a:solidFill>
                  </a:tcPr>
                </a:tc>
                <a:tc>
                  <a:txBody>
                    <a:bodyPr/>
                    <a:lstStyle/>
                    <a:p>
                      <a:pPr algn="ctr"/>
                      <a:r>
                        <a:rPr lang="uz-Cyrl-UZ" b="0" dirty="0" smtClean="0">
                          <a:solidFill>
                            <a:schemeClr val="tx1"/>
                          </a:solidFill>
                        </a:rPr>
                        <a:t>0</a:t>
                      </a:r>
                      <a:endParaRPr lang="ru-RU" b="0" dirty="0">
                        <a:solidFill>
                          <a:schemeClr val="tx1"/>
                        </a:solidFill>
                      </a:endParaRPr>
                    </a:p>
                  </a:txBody>
                  <a:tcPr>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uz-Cyrl-UZ" b="0" dirty="0" smtClean="0">
                          <a:solidFill>
                            <a:schemeClr val="tx1"/>
                          </a:solidFill>
                        </a:rPr>
                        <a:t>1</a:t>
                      </a:r>
                      <a:endParaRPr lang="ru-RU" b="0" dirty="0">
                        <a:solidFill>
                          <a:schemeClr val="tx1"/>
                        </a:solidFill>
                      </a:endParaRPr>
                    </a:p>
                  </a:txBody>
                  <a:tcPr>
                    <a:solidFill>
                      <a:schemeClr val="accent2">
                        <a:lumMod val="40000"/>
                        <a:lumOff val="60000"/>
                      </a:schemeClr>
                    </a:solidFill>
                  </a:tcPr>
                </a:tc>
                <a:tc>
                  <a:txBody>
                    <a:bodyPr/>
                    <a:lstStyle/>
                    <a:p>
                      <a:r>
                        <a:rPr lang="uz-Cyrl-UZ" b="0" dirty="0" smtClean="0">
                          <a:solidFill>
                            <a:schemeClr val="tx1"/>
                          </a:solidFill>
                        </a:rPr>
                        <a:t>Гамма</a:t>
                      </a:r>
                      <a:endParaRPr lang="ru-RU" b="0" dirty="0">
                        <a:solidFill>
                          <a:schemeClr val="tx1"/>
                        </a:solidFill>
                      </a:endParaRPr>
                    </a:p>
                  </a:txBody>
                  <a:tcPr>
                    <a:blipFill>
                      <a:blip r:embed="rId3"/>
                      <a:tile tx="0" ty="0" sx="100000" sy="100000" flip="none" algn="tl"/>
                    </a:blipFill>
                  </a:tcPr>
                </a:tc>
              </a:tr>
            </a:tbl>
          </a:graphicData>
        </a:graphic>
      </p:graphicFrame>
      <p:graphicFrame>
        <p:nvGraphicFramePr>
          <p:cNvPr id="43" name="Таблица 42"/>
          <p:cNvGraphicFramePr>
            <a:graphicFrameLocks noGrp="1"/>
          </p:cNvGraphicFramePr>
          <p:nvPr>
            <p:extLst>
              <p:ext uri="{D42A27DB-BD31-4B8C-83A1-F6EECF244321}">
                <p14:modId xmlns:p14="http://schemas.microsoft.com/office/powerpoint/2010/main" val="885048330"/>
              </p:ext>
            </p:extLst>
          </p:nvPr>
        </p:nvGraphicFramePr>
        <p:xfrm>
          <a:off x="4959982" y="5689072"/>
          <a:ext cx="2348322" cy="365760"/>
        </p:xfrm>
        <a:graphic>
          <a:graphicData uri="http://schemas.openxmlformats.org/drawingml/2006/table">
            <a:tbl>
              <a:tblPr firstRow="1" bandRow="1">
                <a:tableStyleId>{5C22544A-7EE6-4342-B048-85BDC9FD1C3A}</a:tableStyleId>
              </a:tblPr>
              <a:tblGrid>
                <a:gridCol w="332098"/>
                <a:gridCol w="360040"/>
                <a:gridCol w="360040"/>
                <a:gridCol w="1296144"/>
              </a:tblGrid>
              <a:tr h="360040">
                <a:tc>
                  <a:txBody>
                    <a:bodyPr/>
                    <a:lstStyle/>
                    <a:p>
                      <a:pPr algn="ctr"/>
                      <a:r>
                        <a:rPr lang="uz-Cyrl-UZ" b="0" i="0" dirty="0" smtClean="0">
                          <a:solidFill>
                            <a:schemeClr val="tx1"/>
                          </a:solidFill>
                        </a:rPr>
                        <a:t>0</a:t>
                      </a:r>
                      <a:endParaRPr lang="ru-RU" b="0" i="0" dirty="0">
                        <a:solidFill>
                          <a:schemeClr val="tx1"/>
                        </a:solidFill>
                      </a:endParaRPr>
                    </a:p>
                  </a:txBody>
                  <a:tcPr>
                    <a:solidFill>
                      <a:schemeClr val="accent2">
                        <a:lumMod val="40000"/>
                        <a:lumOff val="60000"/>
                      </a:schemeClr>
                    </a:solidFill>
                  </a:tcPr>
                </a:tc>
                <a:tc>
                  <a:txBody>
                    <a:bodyPr/>
                    <a:lstStyle/>
                    <a:p>
                      <a:pPr algn="ctr"/>
                      <a:r>
                        <a:rPr lang="uz-Cyrl-UZ" b="0" dirty="0" smtClean="0">
                          <a:solidFill>
                            <a:schemeClr val="tx1"/>
                          </a:solidFill>
                        </a:rPr>
                        <a:t>0</a:t>
                      </a:r>
                      <a:endParaRPr lang="ru-RU" b="0" dirty="0">
                        <a:solidFill>
                          <a:schemeClr val="tx1"/>
                        </a:solidFill>
                      </a:endParaRPr>
                    </a:p>
                  </a:txBody>
                  <a:tcPr>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uz-Cyrl-UZ" b="0" dirty="0" smtClean="0">
                          <a:solidFill>
                            <a:schemeClr val="tx1"/>
                          </a:solidFill>
                        </a:rPr>
                        <a:t>1</a:t>
                      </a:r>
                      <a:endParaRPr lang="ru-RU" b="0" dirty="0">
                        <a:solidFill>
                          <a:schemeClr val="tx1"/>
                        </a:solidFill>
                      </a:endParaRPr>
                    </a:p>
                  </a:txBody>
                  <a:tcPr>
                    <a:solidFill>
                      <a:schemeClr val="accent2">
                        <a:lumMod val="40000"/>
                        <a:lumOff val="60000"/>
                      </a:schemeClr>
                    </a:solidFill>
                  </a:tcPr>
                </a:tc>
                <a:tc>
                  <a:txBody>
                    <a:bodyPr/>
                    <a:lstStyle/>
                    <a:p>
                      <a:r>
                        <a:rPr lang="uz-Cyrl-UZ" b="0" dirty="0" smtClean="0">
                          <a:solidFill>
                            <a:schemeClr val="tx1"/>
                          </a:solidFill>
                        </a:rPr>
                        <a:t>Очиқ</a:t>
                      </a:r>
                      <a:r>
                        <a:rPr lang="uz-Cyrl-UZ" b="0" baseline="0" dirty="0" smtClean="0">
                          <a:solidFill>
                            <a:schemeClr val="tx1"/>
                          </a:solidFill>
                        </a:rPr>
                        <a:t> матн</a:t>
                      </a:r>
                      <a:endParaRPr lang="ru-RU" b="0" dirty="0">
                        <a:solidFill>
                          <a:schemeClr val="tx1"/>
                        </a:solidFill>
                      </a:endParaRPr>
                    </a:p>
                  </a:txBody>
                  <a:tcPr>
                    <a:blipFill>
                      <a:blip r:embed="rId3"/>
                      <a:tile tx="0" ty="0" sx="100000" sy="100000" flip="none" algn="tl"/>
                    </a:blipFill>
                  </a:tcPr>
                </a:tc>
              </a:tr>
            </a:tbl>
          </a:graphicData>
        </a:graphic>
      </p:graphicFrame>
      <p:sp>
        <p:nvSpPr>
          <p:cNvPr id="21" name="Скругленный прямоугольник 20"/>
          <p:cNvSpPr/>
          <p:nvPr/>
        </p:nvSpPr>
        <p:spPr>
          <a:xfrm>
            <a:off x="899592" y="404664"/>
            <a:ext cx="7416824"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p>
          <a:p>
            <a:pPr algn="ctr"/>
            <a:r>
              <a:rPr lang="uz-Cyrl-UZ" b="1" dirty="0" smtClean="0">
                <a:solidFill>
                  <a:schemeClr val="tx1"/>
                </a:solidFill>
                <a:latin typeface="Times New Roman" pitchFamily="18" charset="0"/>
                <a:cs typeface="Times New Roman" pitchFamily="18" charset="0"/>
              </a:rPr>
              <a:t>Узлуксиз </a:t>
            </a:r>
            <a:r>
              <a:rPr lang="uz-Cyrl-UZ" b="1" dirty="0">
                <a:solidFill>
                  <a:schemeClr val="tx1"/>
                </a:solidFill>
                <a:latin typeface="Times New Roman" pitchFamily="18" charset="0"/>
                <a:cs typeface="Times New Roman" pitchFamily="18" charset="0"/>
              </a:rPr>
              <a:t>шифрлаш алгоритмларининг яратилиш асослари</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0860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p:cTn id="22" dur="500" fill="hold"/>
                                        <p:tgtEl>
                                          <p:spTgt spid="22"/>
                                        </p:tgtEl>
                                        <p:attrNameLst>
                                          <p:attrName>ppt_w</p:attrName>
                                        </p:attrNameLst>
                                      </p:cBhvr>
                                      <p:tavLst>
                                        <p:tav tm="0">
                                          <p:val>
                                            <p:fltVal val="0"/>
                                          </p:val>
                                        </p:tav>
                                        <p:tav tm="100000">
                                          <p:val>
                                            <p:strVal val="#ppt_w"/>
                                          </p:val>
                                        </p:tav>
                                      </p:tavLst>
                                    </p:anim>
                                    <p:anim calcmode="lin" valueType="num">
                                      <p:cBhvr>
                                        <p:cTn id="23" dur="500" fill="hold"/>
                                        <p:tgtEl>
                                          <p:spTgt spid="22"/>
                                        </p:tgtEl>
                                        <p:attrNameLst>
                                          <p:attrName>ppt_h</p:attrName>
                                        </p:attrNameLst>
                                      </p:cBhvr>
                                      <p:tavLst>
                                        <p:tav tm="0">
                                          <p:val>
                                            <p:fltVal val="0"/>
                                          </p:val>
                                        </p:tav>
                                        <p:tav tm="100000">
                                          <p:val>
                                            <p:strVal val="#ppt_h"/>
                                          </p:val>
                                        </p:tav>
                                      </p:tavLst>
                                    </p:anim>
                                    <p:animEffect transition="in" filter="fade">
                                      <p:cBhvr>
                                        <p:cTn id="24" dur="500"/>
                                        <p:tgtEl>
                                          <p:spTgt spid="2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animEffect transition="in" filter="fade">
                                      <p:cBhvr>
                                        <p:cTn id="29" dur="500"/>
                                        <p:tgtEl>
                                          <p:spTgt spid="3"/>
                                        </p:tgtEl>
                                      </p:cBhvr>
                                    </p:animEffect>
                                  </p:childTnLst>
                                </p:cTn>
                              </p:par>
                              <p:par>
                                <p:cTn id="30" presetID="5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par>
                                <p:cTn id="35" presetID="53" presetClass="entr" presetSubtype="16"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par>
                                <p:cTn id="40" presetID="53" presetClass="entr" presetSubtype="16"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p:cTn id="42" dur="500" fill="hold"/>
                                        <p:tgtEl>
                                          <p:spTgt spid="20"/>
                                        </p:tgtEl>
                                        <p:attrNameLst>
                                          <p:attrName>ppt_w</p:attrName>
                                        </p:attrNameLst>
                                      </p:cBhvr>
                                      <p:tavLst>
                                        <p:tav tm="0">
                                          <p:val>
                                            <p:fltVal val="0"/>
                                          </p:val>
                                        </p:tav>
                                        <p:tav tm="100000">
                                          <p:val>
                                            <p:strVal val="#ppt_w"/>
                                          </p:val>
                                        </p:tav>
                                      </p:tavLst>
                                    </p:anim>
                                    <p:anim calcmode="lin" valueType="num">
                                      <p:cBhvr>
                                        <p:cTn id="43" dur="500" fill="hold"/>
                                        <p:tgtEl>
                                          <p:spTgt spid="20"/>
                                        </p:tgtEl>
                                        <p:attrNameLst>
                                          <p:attrName>ppt_h</p:attrName>
                                        </p:attrNameLst>
                                      </p:cBhvr>
                                      <p:tavLst>
                                        <p:tav tm="0">
                                          <p:val>
                                            <p:fltVal val="0"/>
                                          </p:val>
                                        </p:tav>
                                        <p:tav tm="100000">
                                          <p:val>
                                            <p:strVal val="#ppt_h"/>
                                          </p:val>
                                        </p:tav>
                                      </p:tavLst>
                                    </p:anim>
                                    <p:animEffect transition="in" filter="fade">
                                      <p:cBhvr>
                                        <p:cTn id="44" dur="500"/>
                                        <p:tgtEl>
                                          <p:spTgt spid="20"/>
                                        </p:tgtEl>
                                      </p:cBhvr>
                                    </p:animEffect>
                                  </p:childTnLst>
                                </p:cTn>
                              </p:par>
                              <p:par>
                                <p:cTn id="45" presetID="53" presetClass="entr" presetSubtype="16"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nodeType="with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p:cTn id="52" dur="500" fill="hold"/>
                                        <p:tgtEl>
                                          <p:spTgt spid="37"/>
                                        </p:tgtEl>
                                        <p:attrNameLst>
                                          <p:attrName>ppt_w</p:attrName>
                                        </p:attrNameLst>
                                      </p:cBhvr>
                                      <p:tavLst>
                                        <p:tav tm="0">
                                          <p:val>
                                            <p:fltVal val="0"/>
                                          </p:val>
                                        </p:tav>
                                        <p:tav tm="100000">
                                          <p:val>
                                            <p:strVal val="#ppt_w"/>
                                          </p:val>
                                        </p:tav>
                                      </p:tavLst>
                                    </p:anim>
                                    <p:anim calcmode="lin" valueType="num">
                                      <p:cBhvr>
                                        <p:cTn id="53" dur="500" fill="hold"/>
                                        <p:tgtEl>
                                          <p:spTgt spid="37"/>
                                        </p:tgtEl>
                                        <p:attrNameLst>
                                          <p:attrName>ppt_h</p:attrName>
                                        </p:attrNameLst>
                                      </p:cBhvr>
                                      <p:tavLst>
                                        <p:tav tm="0">
                                          <p:val>
                                            <p:fltVal val="0"/>
                                          </p:val>
                                        </p:tav>
                                        <p:tav tm="100000">
                                          <p:val>
                                            <p:strVal val="#ppt_h"/>
                                          </p:val>
                                        </p:tav>
                                      </p:tavLst>
                                    </p:anim>
                                    <p:animEffect transition="in" filter="fade">
                                      <p:cBhvr>
                                        <p:cTn id="54" dur="500"/>
                                        <p:tgtEl>
                                          <p:spTgt spid="37"/>
                                        </p:tgtEl>
                                      </p:cBhvr>
                                    </p:animEffect>
                                  </p:childTnLst>
                                </p:cTn>
                              </p:par>
                              <p:par>
                                <p:cTn id="55" presetID="53" presetClass="entr" presetSubtype="16"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p:cTn id="57" dur="500" fill="hold"/>
                                        <p:tgtEl>
                                          <p:spTgt spid="43"/>
                                        </p:tgtEl>
                                        <p:attrNameLst>
                                          <p:attrName>ppt_w</p:attrName>
                                        </p:attrNameLst>
                                      </p:cBhvr>
                                      <p:tavLst>
                                        <p:tav tm="0">
                                          <p:val>
                                            <p:fltVal val="0"/>
                                          </p:val>
                                        </p:tav>
                                        <p:tav tm="100000">
                                          <p:val>
                                            <p:strVal val="#ppt_w"/>
                                          </p:val>
                                        </p:tav>
                                      </p:tavLst>
                                    </p:anim>
                                    <p:anim calcmode="lin" valueType="num">
                                      <p:cBhvr>
                                        <p:cTn id="58" dur="500" fill="hold"/>
                                        <p:tgtEl>
                                          <p:spTgt spid="43"/>
                                        </p:tgtEl>
                                        <p:attrNameLst>
                                          <p:attrName>ppt_h</p:attrName>
                                        </p:attrNameLst>
                                      </p:cBhvr>
                                      <p:tavLst>
                                        <p:tav tm="0">
                                          <p:val>
                                            <p:fltVal val="0"/>
                                          </p:val>
                                        </p:tav>
                                        <p:tav tm="100000">
                                          <p:val>
                                            <p:strVal val="#ppt_h"/>
                                          </p:val>
                                        </p:tav>
                                      </p:tavLst>
                                    </p:anim>
                                    <p:animEffect transition="in" filter="fade">
                                      <p:cBhvr>
                                        <p:cTn id="5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Скругленный прямоугольник 8"/>
          <p:cNvSpPr/>
          <p:nvPr/>
        </p:nvSpPr>
        <p:spPr>
          <a:xfrm>
            <a:off x="912890" y="404664"/>
            <a:ext cx="7517067"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Псевдотасодифий кетма-кетликлар генераторлари</a:t>
            </a:r>
            <a:endParaRPr lang="ru-RU" b="1" dirty="0">
              <a:solidFill>
                <a:schemeClr val="tx1"/>
              </a:solidFill>
              <a:latin typeface="Times New Roman" pitchFamily="18" charset="0"/>
              <a:cs typeface="Times New Roman" pitchFamily="18" charset="0"/>
            </a:endParaRPr>
          </a:p>
        </p:txBody>
      </p:sp>
      <p:sp>
        <p:nvSpPr>
          <p:cNvPr id="96" name="Прямоугольник 95"/>
          <p:cNvSpPr/>
          <p:nvPr/>
        </p:nvSpPr>
        <p:spPr>
          <a:xfrm>
            <a:off x="4499994" y="4869160"/>
            <a:ext cx="1944214" cy="151216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ANSI X9.17</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FIPS 186</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Yarrow – 160</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WAKE</a:t>
            </a:r>
            <a:endParaRPr lang="ru-RU" sz="1600" dirty="0">
              <a:solidFill>
                <a:schemeClr val="tx1"/>
              </a:solidFill>
              <a:latin typeface="Times New Roman" pitchFamily="18" charset="0"/>
              <a:cs typeface="Times New Roman" pitchFamily="18" charset="0"/>
            </a:endParaRPr>
          </a:p>
        </p:txBody>
      </p:sp>
      <p:sp>
        <p:nvSpPr>
          <p:cNvPr id="97" name="Прямоугольник 96"/>
          <p:cNvSpPr/>
          <p:nvPr/>
        </p:nvSpPr>
        <p:spPr>
          <a:xfrm>
            <a:off x="6612295" y="4869160"/>
            <a:ext cx="2136169" cy="151216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RC4</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SEAL</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ISAAC</a:t>
            </a:r>
            <a:endParaRPr lang="ru-RU" sz="1600" dirty="0">
              <a:solidFill>
                <a:schemeClr val="tx1"/>
              </a:solidFill>
              <a:latin typeface="Times New Roman" pitchFamily="18" charset="0"/>
              <a:cs typeface="Times New Roman" pitchFamily="18" charset="0"/>
            </a:endParaRPr>
          </a:p>
        </p:txBody>
      </p:sp>
      <p:cxnSp>
        <p:nvCxnSpPr>
          <p:cNvPr id="98" name="Прямая со стрелкой 97"/>
          <p:cNvCxnSpPr/>
          <p:nvPr/>
        </p:nvCxnSpPr>
        <p:spPr>
          <a:xfrm>
            <a:off x="4602386" y="1556792"/>
            <a:ext cx="869715" cy="472658"/>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Прямая со стрелкой 98"/>
          <p:cNvCxnSpPr/>
          <p:nvPr/>
        </p:nvCxnSpPr>
        <p:spPr>
          <a:xfrm>
            <a:off x="4788024" y="1556792"/>
            <a:ext cx="2892355" cy="472658"/>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Прямая со стрелкой 99"/>
          <p:cNvCxnSpPr/>
          <p:nvPr/>
        </p:nvCxnSpPr>
        <p:spPr>
          <a:xfrm flipH="1">
            <a:off x="3321136" y="1556792"/>
            <a:ext cx="1053392" cy="475972"/>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Прямая со стрелкой 100"/>
          <p:cNvCxnSpPr/>
          <p:nvPr/>
        </p:nvCxnSpPr>
        <p:spPr>
          <a:xfrm flipH="1">
            <a:off x="1248740" y="1556792"/>
            <a:ext cx="2968669" cy="479286"/>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Прямая со стрелкой 101"/>
          <p:cNvCxnSpPr/>
          <p:nvPr/>
        </p:nvCxnSpPr>
        <p:spPr>
          <a:xfrm>
            <a:off x="3291538" y="3134764"/>
            <a:ext cx="0" cy="303807"/>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Прямая со стрелкой 102"/>
          <p:cNvCxnSpPr/>
          <p:nvPr/>
        </p:nvCxnSpPr>
        <p:spPr>
          <a:xfrm>
            <a:off x="1228255" y="3134764"/>
            <a:ext cx="0" cy="294236"/>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Прямая со стрелкой 103"/>
          <p:cNvCxnSpPr/>
          <p:nvPr/>
        </p:nvCxnSpPr>
        <p:spPr>
          <a:xfrm>
            <a:off x="3307141" y="4632054"/>
            <a:ext cx="0" cy="226367"/>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p:cNvCxnSpPr/>
          <p:nvPr/>
        </p:nvCxnSpPr>
        <p:spPr>
          <a:xfrm flipH="1">
            <a:off x="1248742" y="4645248"/>
            <a:ext cx="1454" cy="223912"/>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Прямая со стрелкой 105"/>
          <p:cNvCxnSpPr>
            <a:endCxn id="96" idx="0"/>
          </p:cNvCxnSpPr>
          <p:nvPr/>
        </p:nvCxnSpPr>
        <p:spPr>
          <a:xfrm>
            <a:off x="5472101" y="3150306"/>
            <a:ext cx="0" cy="1718854"/>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Прямая со стрелкой 106"/>
          <p:cNvCxnSpPr/>
          <p:nvPr/>
        </p:nvCxnSpPr>
        <p:spPr>
          <a:xfrm>
            <a:off x="7658236" y="3150306"/>
            <a:ext cx="0" cy="1708115"/>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Прямоугольник 107"/>
          <p:cNvSpPr/>
          <p:nvPr/>
        </p:nvSpPr>
        <p:spPr>
          <a:xfrm>
            <a:off x="414085" y="4869160"/>
            <a:ext cx="1706421" cy="151216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GOAL </a:t>
            </a:r>
            <a:r>
              <a:rPr lang="uz-Cyrl-UZ" sz="1600" dirty="0" smtClean="0">
                <a:solidFill>
                  <a:schemeClr val="tx1"/>
                </a:solidFill>
                <a:latin typeface="Times New Roman" pitchFamily="18" charset="0"/>
                <a:cs typeface="Times New Roman" pitchFamily="18" charset="0"/>
              </a:rPr>
              <a:t>гннератори</a:t>
            </a:r>
            <a:endParaRPr lang="ru-RU" sz="1600" dirty="0">
              <a:solidFill>
                <a:schemeClr val="tx1"/>
              </a:solidFill>
              <a:latin typeface="Times New Roman" pitchFamily="18" charset="0"/>
              <a:cs typeface="Times New Roman" pitchFamily="18" charset="0"/>
            </a:endParaRPr>
          </a:p>
        </p:txBody>
      </p:sp>
      <p:sp>
        <p:nvSpPr>
          <p:cNvPr id="109" name="Прямоугольник 108"/>
          <p:cNvSpPr/>
          <p:nvPr/>
        </p:nvSpPr>
        <p:spPr>
          <a:xfrm>
            <a:off x="2286296" y="4869160"/>
            <a:ext cx="2088234" cy="151216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Гиффорд генератори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Фиббоначи генератори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Галуа генератори</a:t>
            </a:r>
            <a:endParaRPr lang="ru-RU" sz="1600" dirty="0">
              <a:solidFill>
                <a:schemeClr val="tx1"/>
              </a:solidFill>
              <a:latin typeface="Times New Roman" pitchFamily="18" charset="0"/>
              <a:cs typeface="Times New Roman" pitchFamily="18" charset="0"/>
            </a:endParaRPr>
          </a:p>
        </p:txBody>
      </p:sp>
      <p:sp>
        <p:nvSpPr>
          <p:cNvPr id="110" name="Прямоугольник 109"/>
          <p:cNvSpPr/>
          <p:nvPr/>
        </p:nvSpPr>
        <p:spPr>
          <a:xfrm>
            <a:off x="990154" y="1065458"/>
            <a:ext cx="7344816" cy="50405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Тизимли – назарий ёндашув асосида</a:t>
            </a:r>
            <a:endParaRPr lang="ru-RU" b="1" dirty="0">
              <a:solidFill>
                <a:schemeClr val="tx1"/>
              </a:solidFill>
              <a:latin typeface="Times New Roman" pitchFamily="18" charset="0"/>
              <a:cs typeface="Times New Roman" pitchFamily="18" charset="0"/>
            </a:endParaRPr>
          </a:p>
        </p:txBody>
      </p:sp>
      <p:sp>
        <p:nvSpPr>
          <p:cNvPr id="111" name="Прямоугольник 110"/>
          <p:cNvSpPr/>
          <p:nvPr/>
        </p:nvSpPr>
        <p:spPr>
          <a:xfrm>
            <a:off x="414083" y="2048800"/>
            <a:ext cx="1706421" cy="109868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Элементар рекуррент генераторлар </a:t>
            </a:r>
            <a:endParaRPr lang="ru-RU" sz="1600" dirty="0">
              <a:solidFill>
                <a:schemeClr val="tx1"/>
              </a:solidFill>
              <a:latin typeface="Times New Roman" pitchFamily="18" charset="0"/>
              <a:cs typeface="Times New Roman" pitchFamily="18" charset="0"/>
            </a:endParaRPr>
          </a:p>
        </p:txBody>
      </p:sp>
      <p:sp>
        <p:nvSpPr>
          <p:cNvPr id="112" name="Прямоугольник 111"/>
          <p:cNvSpPr/>
          <p:nvPr/>
        </p:nvSpPr>
        <p:spPr>
          <a:xfrm>
            <a:off x="2304850" y="2045486"/>
            <a:ext cx="2069680" cy="1102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Силжитиш регистрларига асосланган генераторлар</a:t>
            </a:r>
            <a:endParaRPr lang="ru-RU" sz="1600" dirty="0">
              <a:solidFill>
                <a:schemeClr val="tx1"/>
              </a:solidFill>
              <a:latin typeface="Times New Roman" pitchFamily="18" charset="0"/>
              <a:cs typeface="Times New Roman" pitchFamily="18" charset="0"/>
            </a:endParaRPr>
          </a:p>
        </p:txBody>
      </p:sp>
      <p:sp>
        <p:nvSpPr>
          <p:cNvPr id="113" name="Прямоугольник 112"/>
          <p:cNvSpPr/>
          <p:nvPr/>
        </p:nvSpPr>
        <p:spPr>
          <a:xfrm>
            <a:off x="4518548" y="2042172"/>
            <a:ext cx="2003446" cy="109868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Бир томонлама функцияларга асосланган генераторлар</a:t>
            </a:r>
            <a:endParaRPr lang="ru-RU" sz="1600" dirty="0">
              <a:solidFill>
                <a:schemeClr val="tx1"/>
              </a:solidFill>
              <a:latin typeface="Times New Roman" pitchFamily="18" charset="0"/>
              <a:cs typeface="Times New Roman" pitchFamily="18" charset="0"/>
            </a:endParaRPr>
          </a:p>
        </p:txBody>
      </p:sp>
      <p:sp>
        <p:nvSpPr>
          <p:cNvPr id="114" name="Прямоугольник 113"/>
          <p:cNvSpPr/>
          <p:nvPr/>
        </p:nvSpPr>
        <p:spPr>
          <a:xfrm>
            <a:off x="6654108" y="2042172"/>
            <a:ext cx="2160240" cy="1102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Байтлар ва битлар блокларининг ўрнини боғлиқсиз алмашти-ришга асосланган   </a:t>
            </a:r>
            <a:endParaRPr lang="ru-RU" sz="1600" dirty="0">
              <a:solidFill>
                <a:schemeClr val="tx1"/>
              </a:solidFill>
              <a:latin typeface="Times New Roman" pitchFamily="18" charset="0"/>
              <a:cs typeface="Times New Roman" pitchFamily="18" charset="0"/>
            </a:endParaRPr>
          </a:p>
        </p:txBody>
      </p:sp>
      <p:sp>
        <p:nvSpPr>
          <p:cNvPr id="115" name="Прямоугольник 114"/>
          <p:cNvSpPr/>
          <p:nvPr/>
        </p:nvSpPr>
        <p:spPr>
          <a:xfrm>
            <a:off x="418483" y="3441722"/>
            <a:ext cx="1706421" cy="36004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Мультипликатив</a:t>
            </a:r>
            <a:endParaRPr lang="ru-RU" sz="1600" dirty="0">
              <a:solidFill>
                <a:schemeClr val="tx1"/>
              </a:solidFill>
              <a:latin typeface="Times New Roman" pitchFamily="18" charset="0"/>
              <a:cs typeface="Times New Roman" pitchFamily="18" charset="0"/>
            </a:endParaRPr>
          </a:p>
        </p:txBody>
      </p:sp>
      <p:sp>
        <p:nvSpPr>
          <p:cNvPr id="116" name="Прямоугольник 115"/>
          <p:cNvSpPr/>
          <p:nvPr/>
        </p:nvSpPr>
        <p:spPr>
          <a:xfrm>
            <a:off x="414082" y="3874513"/>
            <a:ext cx="1706421" cy="36004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Чизиқли</a:t>
            </a:r>
            <a:endParaRPr lang="ru-RU" sz="1600" dirty="0">
              <a:solidFill>
                <a:schemeClr val="tx1"/>
              </a:solidFill>
              <a:latin typeface="Times New Roman" pitchFamily="18" charset="0"/>
              <a:cs typeface="Times New Roman" pitchFamily="18" charset="0"/>
            </a:endParaRPr>
          </a:p>
        </p:txBody>
      </p:sp>
      <p:sp>
        <p:nvSpPr>
          <p:cNvPr id="117" name="Прямоугольник 116"/>
          <p:cNvSpPr/>
          <p:nvPr/>
        </p:nvSpPr>
        <p:spPr>
          <a:xfrm>
            <a:off x="414084" y="4295475"/>
            <a:ext cx="1706421" cy="36004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Чизиқсиз</a:t>
            </a:r>
            <a:endParaRPr lang="ru-RU" sz="1600" dirty="0">
              <a:solidFill>
                <a:schemeClr val="tx1"/>
              </a:solidFill>
              <a:latin typeface="Times New Roman" pitchFamily="18" charset="0"/>
              <a:cs typeface="Times New Roman" pitchFamily="18" charset="0"/>
            </a:endParaRPr>
          </a:p>
        </p:txBody>
      </p:sp>
      <p:sp>
        <p:nvSpPr>
          <p:cNvPr id="118" name="Прямоугольник 117"/>
          <p:cNvSpPr/>
          <p:nvPr/>
        </p:nvSpPr>
        <p:spPr>
          <a:xfrm>
            <a:off x="2293897" y="3441722"/>
            <a:ext cx="2080633" cy="5525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Чизиқли тескари боғланишли</a:t>
            </a:r>
            <a:endParaRPr lang="ru-RU" sz="1600" dirty="0">
              <a:solidFill>
                <a:schemeClr val="tx1"/>
              </a:solidFill>
              <a:latin typeface="Times New Roman" pitchFamily="18" charset="0"/>
              <a:cs typeface="Times New Roman" pitchFamily="18" charset="0"/>
            </a:endParaRPr>
          </a:p>
        </p:txBody>
      </p:sp>
      <p:sp>
        <p:nvSpPr>
          <p:cNvPr id="119" name="Прямоугольник 118"/>
          <p:cNvSpPr/>
          <p:nvPr/>
        </p:nvSpPr>
        <p:spPr>
          <a:xfrm>
            <a:off x="2293897" y="4086637"/>
            <a:ext cx="2080633" cy="55861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Чизиқсиз тескари боғланишли</a:t>
            </a:r>
            <a:endParaRPr lang="ru-RU" sz="1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6978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blinds(horizontal)">
                                      <p:cBhvr>
                                        <p:cTn id="11" dur="750"/>
                                        <p:tgtEl>
                                          <p:spTgt spid="110"/>
                                        </p:tgtEl>
                                      </p:cBhvr>
                                    </p:animEffect>
                                  </p:childTnLst>
                                </p:cTn>
                              </p:par>
                            </p:childTnLst>
                          </p:cTn>
                        </p:par>
                        <p:par>
                          <p:cTn id="12" fill="hold">
                            <p:stCondLst>
                              <p:cond delay="1250"/>
                            </p:stCondLst>
                            <p:childTnLst>
                              <p:par>
                                <p:cTn id="13" presetID="23" presetClass="entr" presetSubtype="16" fill="hold" nodeType="afterEffect">
                                  <p:stCondLst>
                                    <p:cond delay="0"/>
                                  </p:stCondLst>
                                  <p:childTnLst>
                                    <p:set>
                                      <p:cBhvr>
                                        <p:cTn id="14" dur="1" fill="hold">
                                          <p:stCondLst>
                                            <p:cond delay="0"/>
                                          </p:stCondLst>
                                        </p:cTn>
                                        <p:tgtEl>
                                          <p:spTgt spid="101"/>
                                        </p:tgtEl>
                                        <p:attrNameLst>
                                          <p:attrName>style.visibility</p:attrName>
                                        </p:attrNameLst>
                                      </p:cBhvr>
                                      <p:to>
                                        <p:strVal val="visible"/>
                                      </p:to>
                                    </p:set>
                                    <p:anim calcmode="lin" valueType="num">
                                      <p:cBhvr>
                                        <p:cTn id="15" dur="500" fill="hold"/>
                                        <p:tgtEl>
                                          <p:spTgt spid="101"/>
                                        </p:tgtEl>
                                        <p:attrNameLst>
                                          <p:attrName>ppt_w</p:attrName>
                                        </p:attrNameLst>
                                      </p:cBhvr>
                                      <p:tavLst>
                                        <p:tav tm="0">
                                          <p:val>
                                            <p:fltVal val="0"/>
                                          </p:val>
                                        </p:tav>
                                        <p:tav tm="100000">
                                          <p:val>
                                            <p:strVal val="#ppt_w"/>
                                          </p:val>
                                        </p:tav>
                                      </p:tavLst>
                                    </p:anim>
                                    <p:anim calcmode="lin" valueType="num">
                                      <p:cBhvr>
                                        <p:cTn id="16" dur="500" fill="hold"/>
                                        <p:tgtEl>
                                          <p:spTgt spid="101"/>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anim calcmode="lin" valueType="num">
                                      <p:cBhvr>
                                        <p:cTn id="19" dur="500" fill="hold"/>
                                        <p:tgtEl>
                                          <p:spTgt spid="100"/>
                                        </p:tgtEl>
                                        <p:attrNameLst>
                                          <p:attrName>ppt_w</p:attrName>
                                        </p:attrNameLst>
                                      </p:cBhvr>
                                      <p:tavLst>
                                        <p:tav tm="0">
                                          <p:val>
                                            <p:fltVal val="0"/>
                                          </p:val>
                                        </p:tav>
                                        <p:tav tm="100000">
                                          <p:val>
                                            <p:strVal val="#ppt_w"/>
                                          </p:val>
                                        </p:tav>
                                      </p:tavLst>
                                    </p:anim>
                                    <p:anim calcmode="lin" valueType="num">
                                      <p:cBhvr>
                                        <p:cTn id="20" dur="500" fill="hold"/>
                                        <p:tgtEl>
                                          <p:spTgt spid="100"/>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98"/>
                                        </p:tgtEl>
                                        <p:attrNameLst>
                                          <p:attrName>style.visibility</p:attrName>
                                        </p:attrNameLst>
                                      </p:cBhvr>
                                      <p:to>
                                        <p:strVal val="visible"/>
                                      </p:to>
                                    </p:set>
                                    <p:anim calcmode="lin" valueType="num">
                                      <p:cBhvr>
                                        <p:cTn id="23" dur="500" fill="hold"/>
                                        <p:tgtEl>
                                          <p:spTgt spid="98"/>
                                        </p:tgtEl>
                                        <p:attrNameLst>
                                          <p:attrName>ppt_w</p:attrName>
                                        </p:attrNameLst>
                                      </p:cBhvr>
                                      <p:tavLst>
                                        <p:tav tm="0">
                                          <p:val>
                                            <p:fltVal val="0"/>
                                          </p:val>
                                        </p:tav>
                                        <p:tav tm="100000">
                                          <p:val>
                                            <p:strVal val="#ppt_w"/>
                                          </p:val>
                                        </p:tav>
                                      </p:tavLst>
                                    </p:anim>
                                    <p:anim calcmode="lin" valueType="num">
                                      <p:cBhvr>
                                        <p:cTn id="24" dur="500" fill="hold"/>
                                        <p:tgtEl>
                                          <p:spTgt spid="98"/>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99"/>
                                        </p:tgtEl>
                                        <p:attrNameLst>
                                          <p:attrName>style.visibility</p:attrName>
                                        </p:attrNameLst>
                                      </p:cBhvr>
                                      <p:to>
                                        <p:strVal val="visible"/>
                                      </p:to>
                                    </p:set>
                                    <p:anim calcmode="lin" valueType="num">
                                      <p:cBhvr>
                                        <p:cTn id="27" dur="500" fill="hold"/>
                                        <p:tgtEl>
                                          <p:spTgt spid="99"/>
                                        </p:tgtEl>
                                        <p:attrNameLst>
                                          <p:attrName>ppt_w</p:attrName>
                                        </p:attrNameLst>
                                      </p:cBhvr>
                                      <p:tavLst>
                                        <p:tav tm="0">
                                          <p:val>
                                            <p:fltVal val="0"/>
                                          </p:val>
                                        </p:tav>
                                        <p:tav tm="100000">
                                          <p:val>
                                            <p:strVal val="#ppt_w"/>
                                          </p:val>
                                        </p:tav>
                                      </p:tavLst>
                                    </p:anim>
                                    <p:anim calcmode="lin" valueType="num">
                                      <p:cBhvr>
                                        <p:cTn id="28" dur="500" fill="hold"/>
                                        <p:tgtEl>
                                          <p:spTgt spid="99"/>
                                        </p:tgtEl>
                                        <p:attrNameLst>
                                          <p:attrName>ppt_h</p:attrName>
                                        </p:attrNameLst>
                                      </p:cBhvr>
                                      <p:tavLst>
                                        <p:tav tm="0">
                                          <p:val>
                                            <p:fltVal val="0"/>
                                          </p:val>
                                        </p:tav>
                                        <p:tav tm="100000">
                                          <p:val>
                                            <p:strVal val="#ppt_h"/>
                                          </p:val>
                                        </p:tav>
                                      </p:tavLst>
                                    </p:anim>
                                  </p:childTnLst>
                                </p:cTn>
                              </p:par>
                            </p:childTnLst>
                          </p:cTn>
                        </p:par>
                        <p:par>
                          <p:cTn id="29" fill="hold">
                            <p:stCondLst>
                              <p:cond delay="1750"/>
                            </p:stCondLst>
                            <p:childTnLst>
                              <p:par>
                                <p:cTn id="30" presetID="3" presetClass="entr" presetSubtype="10" fill="hold" grpId="0" nodeType="after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blinds(horizontal)">
                                      <p:cBhvr>
                                        <p:cTn id="32" dur="750"/>
                                        <p:tgtEl>
                                          <p:spTgt spid="11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blinds(horizontal)">
                                      <p:cBhvr>
                                        <p:cTn id="35" dur="750"/>
                                        <p:tgtEl>
                                          <p:spTgt spid="11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13"/>
                                        </p:tgtEl>
                                        <p:attrNameLst>
                                          <p:attrName>style.visibility</p:attrName>
                                        </p:attrNameLst>
                                      </p:cBhvr>
                                      <p:to>
                                        <p:strVal val="visible"/>
                                      </p:to>
                                    </p:set>
                                    <p:animEffect transition="in" filter="blinds(horizontal)">
                                      <p:cBhvr>
                                        <p:cTn id="38" dur="750"/>
                                        <p:tgtEl>
                                          <p:spTgt spid="11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14"/>
                                        </p:tgtEl>
                                        <p:attrNameLst>
                                          <p:attrName>style.visibility</p:attrName>
                                        </p:attrNameLst>
                                      </p:cBhvr>
                                      <p:to>
                                        <p:strVal val="visible"/>
                                      </p:to>
                                    </p:set>
                                    <p:animEffect transition="in" filter="blinds(horizontal)">
                                      <p:cBhvr>
                                        <p:cTn id="41" dur="750"/>
                                        <p:tgtEl>
                                          <p:spTgt spid="114"/>
                                        </p:tgtEl>
                                      </p:cBhvr>
                                    </p:animEffect>
                                  </p:childTnLst>
                                </p:cTn>
                              </p:par>
                            </p:childTnLst>
                          </p:cTn>
                        </p:par>
                        <p:par>
                          <p:cTn id="42" fill="hold">
                            <p:stCondLst>
                              <p:cond delay="2500"/>
                            </p:stCondLst>
                            <p:childTnLst>
                              <p:par>
                                <p:cTn id="43" presetID="23" presetClass="entr" presetSubtype="16" fill="hold" nodeType="afterEffect">
                                  <p:stCondLst>
                                    <p:cond delay="0"/>
                                  </p:stCondLst>
                                  <p:childTnLst>
                                    <p:set>
                                      <p:cBhvr>
                                        <p:cTn id="44" dur="1" fill="hold">
                                          <p:stCondLst>
                                            <p:cond delay="0"/>
                                          </p:stCondLst>
                                        </p:cTn>
                                        <p:tgtEl>
                                          <p:spTgt spid="103"/>
                                        </p:tgtEl>
                                        <p:attrNameLst>
                                          <p:attrName>style.visibility</p:attrName>
                                        </p:attrNameLst>
                                      </p:cBhvr>
                                      <p:to>
                                        <p:strVal val="visible"/>
                                      </p:to>
                                    </p:set>
                                    <p:anim calcmode="lin" valueType="num">
                                      <p:cBhvr>
                                        <p:cTn id="45" dur="500" fill="hold"/>
                                        <p:tgtEl>
                                          <p:spTgt spid="103"/>
                                        </p:tgtEl>
                                        <p:attrNameLst>
                                          <p:attrName>ppt_w</p:attrName>
                                        </p:attrNameLst>
                                      </p:cBhvr>
                                      <p:tavLst>
                                        <p:tav tm="0">
                                          <p:val>
                                            <p:fltVal val="0"/>
                                          </p:val>
                                        </p:tav>
                                        <p:tav tm="100000">
                                          <p:val>
                                            <p:strVal val="#ppt_w"/>
                                          </p:val>
                                        </p:tav>
                                      </p:tavLst>
                                    </p:anim>
                                    <p:anim calcmode="lin" valueType="num">
                                      <p:cBhvr>
                                        <p:cTn id="46" dur="500" fill="hold"/>
                                        <p:tgtEl>
                                          <p:spTgt spid="103"/>
                                        </p:tgtEl>
                                        <p:attrNameLst>
                                          <p:attrName>ppt_h</p:attrName>
                                        </p:attrNameLst>
                                      </p:cBhvr>
                                      <p:tavLst>
                                        <p:tav tm="0">
                                          <p:val>
                                            <p:fltVal val="0"/>
                                          </p:val>
                                        </p:tav>
                                        <p:tav tm="100000">
                                          <p:val>
                                            <p:strVal val="#ppt_h"/>
                                          </p:val>
                                        </p:tav>
                                      </p:tavLst>
                                    </p:anim>
                                  </p:childTnLst>
                                </p:cTn>
                              </p:par>
                            </p:childTnLst>
                          </p:cTn>
                        </p:par>
                        <p:par>
                          <p:cTn id="47" fill="hold">
                            <p:stCondLst>
                              <p:cond delay="3000"/>
                            </p:stCondLst>
                            <p:childTnLst>
                              <p:par>
                                <p:cTn id="48" presetID="3" presetClass="entr" presetSubtype="10" fill="hold" grpId="0" nodeType="afterEffect">
                                  <p:stCondLst>
                                    <p:cond delay="0"/>
                                  </p:stCondLst>
                                  <p:childTnLst>
                                    <p:set>
                                      <p:cBhvr>
                                        <p:cTn id="49" dur="1" fill="hold">
                                          <p:stCondLst>
                                            <p:cond delay="0"/>
                                          </p:stCondLst>
                                        </p:cTn>
                                        <p:tgtEl>
                                          <p:spTgt spid="115"/>
                                        </p:tgtEl>
                                        <p:attrNameLst>
                                          <p:attrName>style.visibility</p:attrName>
                                        </p:attrNameLst>
                                      </p:cBhvr>
                                      <p:to>
                                        <p:strVal val="visible"/>
                                      </p:to>
                                    </p:set>
                                    <p:animEffect transition="in" filter="blinds(horizontal)">
                                      <p:cBhvr>
                                        <p:cTn id="50" dur="750"/>
                                        <p:tgtEl>
                                          <p:spTgt spid="115"/>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blinds(horizontal)">
                                      <p:cBhvr>
                                        <p:cTn id="53" dur="750"/>
                                        <p:tgtEl>
                                          <p:spTgt spid="116"/>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17"/>
                                        </p:tgtEl>
                                        <p:attrNameLst>
                                          <p:attrName>style.visibility</p:attrName>
                                        </p:attrNameLst>
                                      </p:cBhvr>
                                      <p:to>
                                        <p:strVal val="visible"/>
                                      </p:to>
                                    </p:set>
                                    <p:animEffect transition="in" filter="blinds(horizontal)">
                                      <p:cBhvr>
                                        <p:cTn id="56" dur="750"/>
                                        <p:tgtEl>
                                          <p:spTgt spid="117"/>
                                        </p:tgtEl>
                                      </p:cBhvr>
                                    </p:animEffect>
                                  </p:childTnLst>
                                </p:cTn>
                              </p:par>
                            </p:childTnLst>
                          </p:cTn>
                        </p:par>
                        <p:par>
                          <p:cTn id="57" fill="hold">
                            <p:stCondLst>
                              <p:cond delay="3750"/>
                            </p:stCondLst>
                            <p:childTnLst>
                              <p:par>
                                <p:cTn id="58" presetID="23" presetClass="entr" presetSubtype="16" fill="hold" nodeType="afterEffect">
                                  <p:stCondLst>
                                    <p:cond delay="0"/>
                                  </p:stCondLst>
                                  <p:childTnLst>
                                    <p:set>
                                      <p:cBhvr>
                                        <p:cTn id="59" dur="1" fill="hold">
                                          <p:stCondLst>
                                            <p:cond delay="0"/>
                                          </p:stCondLst>
                                        </p:cTn>
                                        <p:tgtEl>
                                          <p:spTgt spid="102"/>
                                        </p:tgtEl>
                                        <p:attrNameLst>
                                          <p:attrName>style.visibility</p:attrName>
                                        </p:attrNameLst>
                                      </p:cBhvr>
                                      <p:to>
                                        <p:strVal val="visible"/>
                                      </p:to>
                                    </p:set>
                                    <p:anim calcmode="lin" valueType="num">
                                      <p:cBhvr>
                                        <p:cTn id="60" dur="500" fill="hold"/>
                                        <p:tgtEl>
                                          <p:spTgt spid="102"/>
                                        </p:tgtEl>
                                        <p:attrNameLst>
                                          <p:attrName>ppt_w</p:attrName>
                                        </p:attrNameLst>
                                      </p:cBhvr>
                                      <p:tavLst>
                                        <p:tav tm="0">
                                          <p:val>
                                            <p:fltVal val="0"/>
                                          </p:val>
                                        </p:tav>
                                        <p:tav tm="100000">
                                          <p:val>
                                            <p:strVal val="#ppt_w"/>
                                          </p:val>
                                        </p:tav>
                                      </p:tavLst>
                                    </p:anim>
                                    <p:anim calcmode="lin" valueType="num">
                                      <p:cBhvr>
                                        <p:cTn id="61" dur="500" fill="hold"/>
                                        <p:tgtEl>
                                          <p:spTgt spid="102"/>
                                        </p:tgtEl>
                                        <p:attrNameLst>
                                          <p:attrName>ppt_h</p:attrName>
                                        </p:attrNameLst>
                                      </p:cBhvr>
                                      <p:tavLst>
                                        <p:tav tm="0">
                                          <p:val>
                                            <p:fltVal val="0"/>
                                          </p:val>
                                        </p:tav>
                                        <p:tav tm="100000">
                                          <p:val>
                                            <p:strVal val="#ppt_h"/>
                                          </p:val>
                                        </p:tav>
                                      </p:tavLst>
                                    </p:anim>
                                  </p:childTnLst>
                                </p:cTn>
                              </p:par>
                            </p:childTnLst>
                          </p:cTn>
                        </p:par>
                        <p:par>
                          <p:cTn id="62" fill="hold">
                            <p:stCondLst>
                              <p:cond delay="4250"/>
                            </p:stCondLst>
                            <p:childTnLst>
                              <p:par>
                                <p:cTn id="63" presetID="3" presetClass="entr" presetSubtype="10" fill="hold" grpId="0" nodeType="after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blinds(horizontal)">
                                      <p:cBhvr>
                                        <p:cTn id="65" dur="750"/>
                                        <p:tgtEl>
                                          <p:spTgt spid="11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19"/>
                                        </p:tgtEl>
                                        <p:attrNameLst>
                                          <p:attrName>style.visibility</p:attrName>
                                        </p:attrNameLst>
                                      </p:cBhvr>
                                      <p:to>
                                        <p:strVal val="visible"/>
                                      </p:to>
                                    </p:set>
                                    <p:animEffect transition="in" filter="blinds(horizontal)">
                                      <p:cBhvr>
                                        <p:cTn id="68" dur="750"/>
                                        <p:tgtEl>
                                          <p:spTgt spid="119"/>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105"/>
                                        </p:tgtEl>
                                        <p:attrNameLst>
                                          <p:attrName>style.visibility</p:attrName>
                                        </p:attrNameLst>
                                      </p:cBhvr>
                                      <p:to>
                                        <p:strVal val="visible"/>
                                      </p:to>
                                    </p:set>
                                    <p:anim calcmode="lin" valueType="num">
                                      <p:cBhvr>
                                        <p:cTn id="73" dur="500" fill="hold"/>
                                        <p:tgtEl>
                                          <p:spTgt spid="105"/>
                                        </p:tgtEl>
                                        <p:attrNameLst>
                                          <p:attrName>ppt_w</p:attrName>
                                        </p:attrNameLst>
                                      </p:cBhvr>
                                      <p:tavLst>
                                        <p:tav tm="0">
                                          <p:val>
                                            <p:fltVal val="0"/>
                                          </p:val>
                                        </p:tav>
                                        <p:tav tm="100000">
                                          <p:val>
                                            <p:strVal val="#ppt_w"/>
                                          </p:val>
                                        </p:tav>
                                      </p:tavLst>
                                    </p:anim>
                                    <p:anim calcmode="lin" valueType="num">
                                      <p:cBhvr>
                                        <p:cTn id="74" dur="500" fill="hold"/>
                                        <p:tgtEl>
                                          <p:spTgt spid="105"/>
                                        </p:tgtEl>
                                        <p:attrNameLst>
                                          <p:attrName>ppt_h</p:attrName>
                                        </p:attrNameLst>
                                      </p:cBhvr>
                                      <p:tavLst>
                                        <p:tav tm="0">
                                          <p:val>
                                            <p:fltVal val="0"/>
                                          </p:val>
                                        </p:tav>
                                        <p:tav tm="100000">
                                          <p:val>
                                            <p:strVal val="#ppt_h"/>
                                          </p:val>
                                        </p:tav>
                                      </p:tavLst>
                                    </p:anim>
                                  </p:childTnLst>
                                </p:cTn>
                              </p:par>
                              <p:par>
                                <p:cTn id="75" presetID="23" presetClass="entr" presetSubtype="16" fill="hold" nodeType="withEffect">
                                  <p:stCondLst>
                                    <p:cond delay="0"/>
                                  </p:stCondLst>
                                  <p:childTnLst>
                                    <p:set>
                                      <p:cBhvr>
                                        <p:cTn id="76" dur="1" fill="hold">
                                          <p:stCondLst>
                                            <p:cond delay="0"/>
                                          </p:stCondLst>
                                        </p:cTn>
                                        <p:tgtEl>
                                          <p:spTgt spid="104"/>
                                        </p:tgtEl>
                                        <p:attrNameLst>
                                          <p:attrName>style.visibility</p:attrName>
                                        </p:attrNameLst>
                                      </p:cBhvr>
                                      <p:to>
                                        <p:strVal val="visible"/>
                                      </p:to>
                                    </p:set>
                                    <p:anim calcmode="lin" valueType="num">
                                      <p:cBhvr>
                                        <p:cTn id="77" dur="500" fill="hold"/>
                                        <p:tgtEl>
                                          <p:spTgt spid="104"/>
                                        </p:tgtEl>
                                        <p:attrNameLst>
                                          <p:attrName>ppt_w</p:attrName>
                                        </p:attrNameLst>
                                      </p:cBhvr>
                                      <p:tavLst>
                                        <p:tav tm="0">
                                          <p:val>
                                            <p:fltVal val="0"/>
                                          </p:val>
                                        </p:tav>
                                        <p:tav tm="100000">
                                          <p:val>
                                            <p:strVal val="#ppt_w"/>
                                          </p:val>
                                        </p:tav>
                                      </p:tavLst>
                                    </p:anim>
                                    <p:anim calcmode="lin" valueType="num">
                                      <p:cBhvr>
                                        <p:cTn id="78" dur="500" fill="hold"/>
                                        <p:tgtEl>
                                          <p:spTgt spid="104"/>
                                        </p:tgtEl>
                                        <p:attrNameLst>
                                          <p:attrName>ppt_h</p:attrName>
                                        </p:attrNameLst>
                                      </p:cBhvr>
                                      <p:tavLst>
                                        <p:tav tm="0">
                                          <p:val>
                                            <p:fltVal val="0"/>
                                          </p:val>
                                        </p:tav>
                                        <p:tav tm="100000">
                                          <p:val>
                                            <p:strVal val="#ppt_h"/>
                                          </p:val>
                                        </p:tav>
                                      </p:tavLst>
                                    </p:anim>
                                  </p:childTnLst>
                                </p:cTn>
                              </p:par>
                              <p:par>
                                <p:cTn id="79" presetID="23" presetClass="entr" presetSubtype="16" fill="hold" nodeType="withEffect">
                                  <p:stCondLst>
                                    <p:cond delay="0"/>
                                  </p:stCondLst>
                                  <p:childTnLst>
                                    <p:set>
                                      <p:cBhvr>
                                        <p:cTn id="80" dur="1" fill="hold">
                                          <p:stCondLst>
                                            <p:cond delay="0"/>
                                          </p:stCondLst>
                                        </p:cTn>
                                        <p:tgtEl>
                                          <p:spTgt spid="106"/>
                                        </p:tgtEl>
                                        <p:attrNameLst>
                                          <p:attrName>style.visibility</p:attrName>
                                        </p:attrNameLst>
                                      </p:cBhvr>
                                      <p:to>
                                        <p:strVal val="visible"/>
                                      </p:to>
                                    </p:set>
                                    <p:anim calcmode="lin" valueType="num">
                                      <p:cBhvr>
                                        <p:cTn id="81" dur="500" fill="hold"/>
                                        <p:tgtEl>
                                          <p:spTgt spid="106"/>
                                        </p:tgtEl>
                                        <p:attrNameLst>
                                          <p:attrName>ppt_w</p:attrName>
                                        </p:attrNameLst>
                                      </p:cBhvr>
                                      <p:tavLst>
                                        <p:tav tm="0">
                                          <p:val>
                                            <p:fltVal val="0"/>
                                          </p:val>
                                        </p:tav>
                                        <p:tav tm="100000">
                                          <p:val>
                                            <p:strVal val="#ppt_w"/>
                                          </p:val>
                                        </p:tav>
                                      </p:tavLst>
                                    </p:anim>
                                    <p:anim calcmode="lin" valueType="num">
                                      <p:cBhvr>
                                        <p:cTn id="82" dur="500" fill="hold"/>
                                        <p:tgtEl>
                                          <p:spTgt spid="106"/>
                                        </p:tgtEl>
                                        <p:attrNameLst>
                                          <p:attrName>ppt_h</p:attrName>
                                        </p:attrNameLst>
                                      </p:cBhvr>
                                      <p:tavLst>
                                        <p:tav tm="0">
                                          <p:val>
                                            <p:fltVal val="0"/>
                                          </p:val>
                                        </p:tav>
                                        <p:tav tm="100000">
                                          <p:val>
                                            <p:strVal val="#ppt_h"/>
                                          </p:val>
                                        </p:tav>
                                      </p:tavLst>
                                    </p:anim>
                                  </p:childTnLst>
                                </p:cTn>
                              </p:par>
                              <p:par>
                                <p:cTn id="83" presetID="23" presetClass="entr" presetSubtype="16" fill="hold" nodeType="withEffect">
                                  <p:stCondLst>
                                    <p:cond delay="0"/>
                                  </p:stCondLst>
                                  <p:childTnLst>
                                    <p:set>
                                      <p:cBhvr>
                                        <p:cTn id="84" dur="1" fill="hold">
                                          <p:stCondLst>
                                            <p:cond delay="0"/>
                                          </p:stCondLst>
                                        </p:cTn>
                                        <p:tgtEl>
                                          <p:spTgt spid="107"/>
                                        </p:tgtEl>
                                        <p:attrNameLst>
                                          <p:attrName>style.visibility</p:attrName>
                                        </p:attrNameLst>
                                      </p:cBhvr>
                                      <p:to>
                                        <p:strVal val="visible"/>
                                      </p:to>
                                    </p:set>
                                    <p:anim calcmode="lin" valueType="num">
                                      <p:cBhvr>
                                        <p:cTn id="85" dur="500" fill="hold"/>
                                        <p:tgtEl>
                                          <p:spTgt spid="107"/>
                                        </p:tgtEl>
                                        <p:attrNameLst>
                                          <p:attrName>ppt_w</p:attrName>
                                        </p:attrNameLst>
                                      </p:cBhvr>
                                      <p:tavLst>
                                        <p:tav tm="0">
                                          <p:val>
                                            <p:fltVal val="0"/>
                                          </p:val>
                                        </p:tav>
                                        <p:tav tm="100000">
                                          <p:val>
                                            <p:strVal val="#ppt_w"/>
                                          </p:val>
                                        </p:tav>
                                      </p:tavLst>
                                    </p:anim>
                                    <p:anim calcmode="lin" valueType="num">
                                      <p:cBhvr>
                                        <p:cTn id="86" dur="500" fill="hold"/>
                                        <p:tgtEl>
                                          <p:spTgt spid="107"/>
                                        </p:tgtEl>
                                        <p:attrNameLst>
                                          <p:attrName>ppt_h</p:attrName>
                                        </p:attrNameLst>
                                      </p:cBhvr>
                                      <p:tavLst>
                                        <p:tav tm="0">
                                          <p:val>
                                            <p:fltVal val="0"/>
                                          </p:val>
                                        </p:tav>
                                        <p:tav tm="100000">
                                          <p:val>
                                            <p:strVal val="#ppt_h"/>
                                          </p:val>
                                        </p:tav>
                                      </p:tavLst>
                                    </p:anim>
                                  </p:childTnLst>
                                </p:cTn>
                              </p:par>
                            </p:childTnLst>
                          </p:cTn>
                        </p:par>
                        <p:par>
                          <p:cTn id="87" fill="hold">
                            <p:stCondLst>
                              <p:cond delay="500"/>
                            </p:stCondLst>
                            <p:childTnLst>
                              <p:par>
                                <p:cTn id="88" presetID="3" presetClass="entr" presetSubtype="10" fill="hold" grpId="0" nodeType="afterEffect">
                                  <p:stCondLst>
                                    <p:cond delay="0"/>
                                  </p:stCondLst>
                                  <p:childTnLst>
                                    <p:set>
                                      <p:cBhvr>
                                        <p:cTn id="89" dur="1" fill="hold">
                                          <p:stCondLst>
                                            <p:cond delay="0"/>
                                          </p:stCondLst>
                                        </p:cTn>
                                        <p:tgtEl>
                                          <p:spTgt spid="108"/>
                                        </p:tgtEl>
                                        <p:attrNameLst>
                                          <p:attrName>style.visibility</p:attrName>
                                        </p:attrNameLst>
                                      </p:cBhvr>
                                      <p:to>
                                        <p:strVal val="visible"/>
                                      </p:to>
                                    </p:set>
                                    <p:animEffect transition="in" filter="blinds(horizontal)">
                                      <p:cBhvr>
                                        <p:cTn id="90" dur="750"/>
                                        <p:tgtEl>
                                          <p:spTgt spid="108"/>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109"/>
                                        </p:tgtEl>
                                        <p:attrNameLst>
                                          <p:attrName>style.visibility</p:attrName>
                                        </p:attrNameLst>
                                      </p:cBhvr>
                                      <p:to>
                                        <p:strVal val="visible"/>
                                      </p:to>
                                    </p:set>
                                    <p:animEffect transition="in" filter="blinds(horizontal)">
                                      <p:cBhvr>
                                        <p:cTn id="93" dur="750"/>
                                        <p:tgtEl>
                                          <p:spTgt spid="109"/>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96"/>
                                        </p:tgtEl>
                                        <p:attrNameLst>
                                          <p:attrName>style.visibility</p:attrName>
                                        </p:attrNameLst>
                                      </p:cBhvr>
                                      <p:to>
                                        <p:strVal val="visible"/>
                                      </p:to>
                                    </p:set>
                                    <p:animEffect transition="in" filter="blinds(horizontal)">
                                      <p:cBhvr>
                                        <p:cTn id="96" dur="750"/>
                                        <p:tgtEl>
                                          <p:spTgt spid="96"/>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animEffect transition="in" filter="blinds(horizontal)">
                                      <p:cBhvr>
                                        <p:cTn id="99" dur="75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6" grpId="0" animBg="1"/>
      <p:bldP spid="9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89675" y="108925"/>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ый прямоугольник 9"/>
          <p:cNvSpPr/>
          <p:nvPr/>
        </p:nvSpPr>
        <p:spPr>
          <a:xfrm>
            <a:off x="827583" y="404664"/>
            <a:ext cx="7628550"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Псевдотасодифий кетма-кетликлар генераторлари</a:t>
            </a:r>
            <a:endParaRPr lang="ru-RU" b="1" dirty="0">
              <a:solidFill>
                <a:schemeClr val="tx1"/>
              </a:solidFill>
              <a:latin typeface="Times New Roman" pitchFamily="18" charset="0"/>
              <a:cs typeface="Times New Roman" pitchFamily="18" charset="0"/>
            </a:endParaRPr>
          </a:p>
        </p:txBody>
      </p:sp>
      <p:sp>
        <p:nvSpPr>
          <p:cNvPr id="14" name="Прямоугольник 13"/>
          <p:cNvSpPr/>
          <p:nvPr/>
        </p:nvSpPr>
        <p:spPr>
          <a:xfrm>
            <a:off x="389380" y="2107298"/>
            <a:ext cx="1728194" cy="139292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Катта сонларни туб кўпайтувчи-ларга ажратиш қийинчилигига асосланган </a:t>
            </a:r>
            <a:endParaRPr lang="ru-RU" sz="1600" dirty="0">
              <a:solidFill>
                <a:schemeClr val="tx1"/>
              </a:solidFill>
              <a:latin typeface="Times New Roman" pitchFamily="18" charset="0"/>
              <a:cs typeface="Times New Roman" pitchFamily="18" charset="0"/>
            </a:endParaRPr>
          </a:p>
        </p:txBody>
      </p:sp>
      <p:sp>
        <p:nvSpPr>
          <p:cNvPr id="15" name="Прямоугольник 14"/>
          <p:cNvSpPr/>
          <p:nvPr/>
        </p:nvSpPr>
        <p:spPr>
          <a:xfrm>
            <a:off x="2290463" y="2109867"/>
            <a:ext cx="1728192" cy="139035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Дискрет логарифмлаш қийинчилигига асосланган</a:t>
            </a:r>
            <a:endParaRPr lang="ru-RU" sz="1600" dirty="0">
              <a:solidFill>
                <a:schemeClr val="tx1"/>
              </a:solidFill>
              <a:latin typeface="Times New Roman" pitchFamily="18" charset="0"/>
              <a:cs typeface="Times New Roman" pitchFamily="18" charset="0"/>
            </a:endParaRPr>
          </a:p>
        </p:txBody>
      </p:sp>
      <p:sp>
        <p:nvSpPr>
          <p:cNvPr id="16" name="Прямоугольник 15"/>
          <p:cNvSpPr/>
          <p:nvPr/>
        </p:nvSpPr>
        <p:spPr>
          <a:xfrm>
            <a:off x="7092280" y="2109868"/>
            <a:ext cx="1656184" cy="139035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Полиномиал комбинация-лашган генераторлар</a:t>
            </a:r>
            <a:endParaRPr lang="ru-RU" sz="1600" dirty="0">
              <a:solidFill>
                <a:schemeClr val="tx1"/>
              </a:solidFill>
              <a:latin typeface="Times New Roman" pitchFamily="18" charset="0"/>
              <a:cs typeface="Times New Roman" pitchFamily="18" charset="0"/>
            </a:endParaRPr>
          </a:p>
        </p:txBody>
      </p:sp>
      <p:sp>
        <p:nvSpPr>
          <p:cNvPr id="17" name="Прямоугольник 16"/>
          <p:cNvSpPr/>
          <p:nvPr/>
        </p:nvSpPr>
        <p:spPr>
          <a:xfrm>
            <a:off x="5590746" y="2109868"/>
            <a:ext cx="1372452" cy="139035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Тасодифий параметрли генераторлар</a:t>
            </a:r>
            <a:endParaRPr lang="ru-RU" sz="1600" dirty="0">
              <a:solidFill>
                <a:schemeClr val="tx1"/>
              </a:solidFill>
              <a:latin typeface="Times New Roman" pitchFamily="18" charset="0"/>
              <a:cs typeface="Times New Roman" pitchFamily="18" charset="0"/>
            </a:endParaRPr>
          </a:p>
        </p:txBody>
      </p:sp>
      <p:sp>
        <p:nvSpPr>
          <p:cNvPr id="18" name="Прямоугольник 17"/>
          <p:cNvSpPr/>
          <p:nvPr/>
        </p:nvSpPr>
        <p:spPr>
          <a:xfrm>
            <a:off x="4174254" y="2109868"/>
            <a:ext cx="1285528" cy="139035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Макларен – Мерсали усули</a:t>
            </a:r>
            <a:endParaRPr lang="ru-RU" sz="1600" dirty="0">
              <a:solidFill>
                <a:schemeClr val="tx1"/>
              </a:solidFill>
              <a:latin typeface="Times New Roman" pitchFamily="18" charset="0"/>
              <a:cs typeface="Times New Roman" pitchFamily="18" charset="0"/>
            </a:endParaRPr>
          </a:p>
        </p:txBody>
      </p:sp>
      <p:sp>
        <p:nvSpPr>
          <p:cNvPr id="19" name="Прямоугольник 18"/>
          <p:cNvSpPr/>
          <p:nvPr/>
        </p:nvSpPr>
        <p:spPr>
          <a:xfrm>
            <a:off x="395536" y="4941168"/>
            <a:ext cx="1728194" cy="144015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endParaRPr lang="uz-Cyrl-UZ" sz="1600" dirty="0" smtClean="0">
              <a:solidFill>
                <a:schemeClr val="tx1"/>
              </a:solidFill>
              <a:latin typeface="Times New Roman" pitchFamily="18" charset="0"/>
              <a:cs typeface="Times New Roman" pitchFamily="18" charset="0"/>
            </a:endParaRP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RSA</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BBS</a:t>
            </a:r>
            <a:endParaRPr lang="uz-Cyrl-UZ" sz="1600" dirty="0" smtClean="0">
              <a:solidFill>
                <a:schemeClr val="tx1"/>
              </a:solidFill>
              <a:latin typeface="Times New Roman" pitchFamily="18" charset="0"/>
              <a:cs typeface="Times New Roman" pitchFamily="18" charset="0"/>
            </a:endParaRP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Квадрат чегирма генератори</a:t>
            </a:r>
            <a:endParaRPr lang="en-US" sz="1600" dirty="0" smtClean="0">
              <a:solidFill>
                <a:schemeClr val="tx1"/>
              </a:solidFill>
              <a:latin typeface="Times New Roman" pitchFamily="18" charset="0"/>
              <a:cs typeface="Times New Roman" pitchFamily="18" charset="0"/>
            </a:endParaRPr>
          </a:p>
          <a:p>
            <a:pPr algn="ctr"/>
            <a:endParaRPr lang="ru-RU" sz="1600" dirty="0">
              <a:solidFill>
                <a:schemeClr val="tx1"/>
              </a:solidFill>
              <a:latin typeface="Times New Roman" pitchFamily="18" charset="0"/>
              <a:cs typeface="Times New Roman" pitchFamily="18" charset="0"/>
            </a:endParaRPr>
          </a:p>
        </p:txBody>
      </p:sp>
      <p:sp>
        <p:nvSpPr>
          <p:cNvPr id="20" name="Прямоугольник 19"/>
          <p:cNvSpPr/>
          <p:nvPr/>
        </p:nvSpPr>
        <p:spPr>
          <a:xfrm>
            <a:off x="2290463" y="4941167"/>
            <a:ext cx="1705474" cy="144015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dirty="0" smtClean="0">
                <a:solidFill>
                  <a:schemeClr val="tx1"/>
                </a:solidFill>
                <a:latin typeface="Times New Roman" pitchFamily="18" charset="0"/>
                <a:cs typeface="Times New Roman" pitchFamily="18" charset="0"/>
              </a:rPr>
              <a:t>Блюм-Микали алгоритми </a:t>
            </a:r>
            <a:endParaRPr lang="ru-RU" sz="1600" dirty="0">
              <a:solidFill>
                <a:schemeClr val="tx1"/>
              </a:solidFill>
              <a:latin typeface="Times New Roman" pitchFamily="18" charset="0"/>
              <a:cs typeface="Times New Roman" pitchFamily="18" charset="0"/>
            </a:endParaRPr>
          </a:p>
        </p:txBody>
      </p:sp>
      <p:sp>
        <p:nvSpPr>
          <p:cNvPr id="21" name="Прямоугольник 20"/>
          <p:cNvSpPr/>
          <p:nvPr/>
        </p:nvSpPr>
        <p:spPr>
          <a:xfrm>
            <a:off x="5940152" y="3786469"/>
            <a:ext cx="2808312" cy="259485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u="sng" dirty="0" smtClean="0">
              <a:solidFill>
                <a:schemeClr val="tx1"/>
              </a:solidFill>
              <a:latin typeface="Times New Roman" pitchFamily="18" charset="0"/>
              <a:cs typeface="Times New Roman" pitchFamily="18" charset="0"/>
            </a:endParaRPr>
          </a:p>
          <a:p>
            <a:pPr algn="ctr"/>
            <a:endParaRPr lang="en-US" sz="1600" u="sng" dirty="0">
              <a:solidFill>
                <a:schemeClr val="tx1"/>
              </a:solidFill>
              <a:latin typeface="Times New Roman" pitchFamily="18" charset="0"/>
              <a:cs typeface="Times New Roman" pitchFamily="18" charset="0"/>
            </a:endParaRPr>
          </a:p>
          <a:p>
            <a:pPr algn="ctr"/>
            <a:r>
              <a:rPr lang="uz-Cyrl-UZ" sz="1600" u="sng" dirty="0" smtClean="0">
                <a:solidFill>
                  <a:schemeClr val="tx1"/>
                </a:solidFill>
                <a:latin typeface="Times New Roman" pitchFamily="18" charset="0"/>
                <a:cs typeface="Times New Roman" pitchFamily="18" charset="0"/>
              </a:rPr>
              <a:t>Силжитиш регистрлари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А5 </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Йиғилувчи генератор</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Голлманн каскади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Чегаравий генератор</a:t>
            </a:r>
          </a:p>
          <a:p>
            <a:pPr marL="285750" indent="-285750">
              <a:buFont typeface="Arial" pitchFamily="34" charset="0"/>
              <a:buChar char="•"/>
            </a:pPr>
            <a:r>
              <a:rPr lang="ru-RU" sz="1600" dirty="0" smtClean="0">
                <a:solidFill>
                  <a:schemeClr val="tx1"/>
                </a:solidFill>
                <a:latin typeface="Times New Roman" pitchFamily="18" charset="0"/>
                <a:cs typeface="Times New Roman" pitchFamily="18" charset="0"/>
              </a:rPr>
              <a:t>«</a:t>
            </a:r>
            <a:r>
              <a:rPr lang="uz-Cyrl-UZ" sz="1600" dirty="0" smtClean="0">
                <a:solidFill>
                  <a:schemeClr val="tx1"/>
                </a:solidFill>
                <a:latin typeface="Times New Roman" pitchFamily="18" charset="0"/>
                <a:cs typeface="Times New Roman" pitchFamily="18" charset="0"/>
              </a:rPr>
              <a:t>Старт-стоп</a:t>
            </a:r>
            <a:r>
              <a:rPr lang="ru-RU" sz="1600" dirty="0" smtClean="0">
                <a:solidFill>
                  <a:schemeClr val="tx1"/>
                </a:solidFill>
                <a:latin typeface="Times New Roman" pitchFamily="18" charset="0"/>
                <a:cs typeface="Times New Roman" pitchFamily="18" charset="0"/>
              </a:rPr>
              <a:t>»</a:t>
            </a:r>
            <a:r>
              <a:rPr lang="uz-Cyrl-UZ" sz="1600" dirty="0" smtClean="0">
                <a:solidFill>
                  <a:schemeClr val="tx1"/>
                </a:solidFill>
                <a:latin typeface="Times New Roman" pitchFamily="18" charset="0"/>
                <a:cs typeface="Times New Roman" pitchFamily="18" charset="0"/>
              </a:rPr>
              <a:t> генератори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Геффе генератори</a:t>
            </a:r>
          </a:p>
          <a:p>
            <a:pPr marL="285750" indent="-285750">
              <a:buFont typeface="Arial" pitchFamily="34" charset="0"/>
              <a:buChar char="•"/>
            </a:pPr>
            <a:r>
              <a:rPr lang="uz-Cyrl-UZ" sz="1600" dirty="0" smtClean="0">
                <a:solidFill>
                  <a:schemeClr val="tx1"/>
                </a:solidFill>
                <a:latin typeface="Times New Roman" pitchFamily="18" charset="0"/>
                <a:cs typeface="Times New Roman" pitchFamily="18" charset="0"/>
              </a:rPr>
              <a:t>Аддитив генератор</a:t>
            </a: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PIKE</a:t>
            </a:r>
            <a:r>
              <a:rPr lang="ru-RU" sz="1600" dirty="0" smtClean="0">
                <a:solidFill>
                  <a:schemeClr val="tx1"/>
                </a:solidFill>
                <a:latin typeface="Times New Roman" pitchFamily="18" charset="0"/>
                <a:cs typeface="Times New Roman" pitchFamily="18" charset="0"/>
              </a:rPr>
              <a:t> </a:t>
            </a:r>
            <a:r>
              <a:rPr lang="ru-RU" sz="1600" dirty="0" err="1" smtClean="0">
                <a:solidFill>
                  <a:schemeClr val="tx1"/>
                </a:solidFill>
                <a:latin typeface="Times New Roman" pitchFamily="18" charset="0"/>
                <a:cs typeface="Times New Roman" pitchFamily="18" charset="0"/>
              </a:rPr>
              <a:t>генератори</a:t>
            </a:r>
            <a:endParaRPr lang="en-US" sz="1600" dirty="0" smtClean="0">
              <a:solidFill>
                <a:schemeClr val="tx1"/>
              </a:solidFill>
              <a:latin typeface="Times New Roman" pitchFamily="18" charset="0"/>
              <a:cs typeface="Times New Roman" pitchFamily="18" charset="0"/>
            </a:endParaRPr>
          </a:p>
          <a:p>
            <a:pPr marL="285750" indent="-285750">
              <a:buFont typeface="Arial" pitchFamily="34" charset="0"/>
              <a:buChar char="•"/>
            </a:pPr>
            <a:r>
              <a:rPr lang="en-US" sz="1600" dirty="0" smtClean="0">
                <a:solidFill>
                  <a:schemeClr val="tx1"/>
                </a:solidFill>
                <a:latin typeface="Times New Roman" pitchFamily="18" charset="0"/>
                <a:cs typeface="Times New Roman" pitchFamily="18" charset="0"/>
              </a:rPr>
              <a:t>ORYX</a:t>
            </a:r>
            <a:r>
              <a:rPr lang="ru-RU" sz="1600" dirty="0" smtClean="0">
                <a:solidFill>
                  <a:schemeClr val="tx1"/>
                </a:solidFill>
                <a:latin typeface="Times New Roman" pitchFamily="18" charset="0"/>
                <a:cs typeface="Times New Roman" pitchFamily="18" charset="0"/>
              </a:rPr>
              <a:t> </a:t>
            </a:r>
            <a:r>
              <a:rPr lang="ru-RU" sz="1600" dirty="0" err="1" smtClean="0">
                <a:solidFill>
                  <a:schemeClr val="tx1"/>
                </a:solidFill>
                <a:latin typeface="Times New Roman" pitchFamily="18" charset="0"/>
                <a:cs typeface="Times New Roman" pitchFamily="18" charset="0"/>
              </a:rPr>
              <a:t>генератори</a:t>
            </a:r>
            <a:endParaRPr lang="uz-Cyrl-UZ" sz="1600" dirty="0" smtClean="0">
              <a:solidFill>
                <a:schemeClr val="tx1"/>
              </a:solidFill>
              <a:latin typeface="Times New Roman" pitchFamily="18" charset="0"/>
              <a:cs typeface="Times New Roman" pitchFamily="18" charset="0"/>
            </a:endParaRPr>
          </a:p>
          <a:p>
            <a:endParaRPr lang="uz-Cyrl-UZ" sz="1600" dirty="0" smtClean="0">
              <a:solidFill>
                <a:schemeClr val="tx1"/>
              </a:solidFill>
              <a:latin typeface="Times New Roman" pitchFamily="18" charset="0"/>
              <a:cs typeface="Times New Roman" pitchFamily="18" charset="0"/>
            </a:endParaRPr>
          </a:p>
          <a:p>
            <a:pPr algn="ctr"/>
            <a:endParaRPr lang="ru-RU" sz="1600" dirty="0">
              <a:solidFill>
                <a:schemeClr val="tx1"/>
              </a:solidFill>
              <a:latin typeface="Times New Roman" pitchFamily="18" charset="0"/>
              <a:cs typeface="Times New Roman" pitchFamily="18" charset="0"/>
            </a:endParaRPr>
          </a:p>
        </p:txBody>
      </p:sp>
      <p:sp>
        <p:nvSpPr>
          <p:cNvPr id="22" name="Прямоугольник 21"/>
          <p:cNvSpPr/>
          <p:nvPr/>
        </p:nvSpPr>
        <p:spPr>
          <a:xfrm>
            <a:off x="4150568" y="4941166"/>
            <a:ext cx="1626773" cy="144015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Chameleon </a:t>
            </a:r>
            <a:r>
              <a:rPr lang="uz-Cyrl-UZ" sz="1600" dirty="0" smtClean="0">
                <a:solidFill>
                  <a:schemeClr val="tx1"/>
                </a:solidFill>
                <a:latin typeface="Times New Roman" pitchFamily="18" charset="0"/>
                <a:cs typeface="Times New Roman" pitchFamily="18" charset="0"/>
              </a:rPr>
              <a:t>алгоритми</a:t>
            </a:r>
            <a:endParaRPr lang="ru-RU" sz="1600" dirty="0">
              <a:solidFill>
                <a:schemeClr val="tx1"/>
              </a:solidFill>
              <a:latin typeface="Times New Roman" pitchFamily="18" charset="0"/>
              <a:cs typeface="Times New Roman" pitchFamily="18" charset="0"/>
            </a:endParaRPr>
          </a:p>
        </p:txBody>
      </p:sp>
      <p:cxnSp>
        <p:nvCxnSpPr>
          <p:cNvPr id="23" name="Прямая со стрелкой 22"/>
          <p:cNvCxnSpPr>
            <a:stCxn id="14" idx="2"/>
            <a:endCxn id="19" idx="0"/>
          </p:cNvCxnSpPr>
          <p:nvPr/>
        </p:nvCxnSpPr>
        <p:spPr>
          <a:xfrm>
            <a:off x="1253477" y="3500220"/>
            <a:ext cx="6156" cy="1440948"/>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p:nvPr/>
        </p:nvCxnSpPr>
        <p:spPr>
          <a:xfrm>
            <a:off x="3131841" y="3500220"/>
            <a:ext cx="0" cy="1440948"/>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p:nvPr/>
        </p:nvCxnSpPr>
        <p:spPr>
          <a:xfrm>
            <a:off x="4860032" y="3500220"/>
            <a:ext cx="0" cy="1433241"/>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p:nvPr/>
        </p:nvCxnSpPr>
        <p:spPr>
          <a:xfrm>
            <a:off x="7920372" y="3500220"/>
            <a:ext cx="0" cy="286249"/>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p:nvPr/>
        </p:nvCxnSpPr>
        <p:spPr>
          <a:xfrm>
            <a:off x="2411760" y="1700808"/>
            <a:ext cx="742799" cy="406490"/>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p:nvPr/>
        </p:nvCxnSpPr>
        <p:spPr>
          <a:xfrm flipH="1">
            <a:off x="1253477" y="1700808"/>
            <a:ext cx="1158283" cy="406490"/>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p:nvPr/>
        </p:nvCxnSpPr>
        <p:spPr>
          <a:xfrm>
            <a:off x="6804248" y="1735267"/>
            <a:ext cx="1116124" cy="372031"/>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p:cNvCxnSpPr>
            <a:endCxn id="17" idx="0"/>
          </p:cNvCxnSpPr>
          <p:nvPr/>
        </p:nvCxnSpPr>
        <p:spPr>
          <a:xfrm flipH="1">
            <a:off x="6276972" y="1735267"/>
            <a:ext cx="311252" cy="374601"/>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34"/>
          <p:cNvCxnSpPr/>
          <p:nvPr/>
        </p:nvCxnSpPr>
        <p:spPr>
          <a:xfrm flipH="1">
            <a:off x="4817018" y="1735267"/>
            <a:ext cx="1661433" cy="372031"/>
          </a:xfrm>
          <a:prstGeom prst="straightConnector1">
            <a:avLst/>
          </a:prstGeom>
          <a:ln w="28575">
            <a:solidFill>
              <a:schemeClr val="accent4">
                <a:lumMod val="75000"/>
                <a:alpha val="92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Прямоугольник 72"/>
          <p:cNvSpPr/>
          <p:nvPr/>
        </p:nvSpPr>
        <p:spPr>
          <a:xfrm>
            <a:off x="611561" y="1015187"/>
            <a:ext cx="3888432" cy="717464"/>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Мураккабликка асосланган назарий ёндашув асосида</a:t>
            </a:r>
            <a:endParaRPr lang="ru-RU" b="1" dirty="0">
              <a:solidFill>
                <a:schemeClr val="tx1"/>
              </a:solidFill>
              <a:latin typeface="Times New Roman" pitchFamily="18" charset="0"/>
              <a:cs typeface="Times New Roman" pitchFamily="18" charset="0"/>
            </a:endParaRPr>
          </a:p>
        </p:txBody>
      </p:sp>
      <p:sp>
        <p:nvSpPr>
          <p:cNvPr id="78" name="Прямоугольник 77"/>
          <p:cNvSpPr/>
          <p:nvPr/>
        </p:nvSpPr>
        <p:spPr>
          <a:xfrm>
            <a:off x="4803538" y="1015187"/>
            <a:ext cx="3820724" cy="72008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scene3d>
            <a:camera prst="orthographicFront"/>
            <a:lightRig rig="threePt" dir="t"/>
          </a:scene3d>
          <a:sp3d>
            <a:bevelT w="190500" h="38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Генераторларни комбинациялаш асосида</a:t>
            </a:r>
            <a:endParaRPr lang="ru-RU"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451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linds(horizontal)">
                                      <p:cBhvr>
                                        <p:cTn id="11" dur="750"/>
                                        <p:tgtEl>
                                          <p:spTgt spid="73"/>
                                        </p:tgtEl>
                                      </p:cBhvr>
                                    </p:animEffect>
                                  </p:childTnLst>
                                </p:cTn>
                              </p:par>
                            </p:childTnLst>
                          </p:cTn>
                        </p:par>
                        <p:par>
                          <p:cTn id="12" fill="hold">
                            <p:stCondLst>
                              <p:cond delay="1250"/>
                            </p:stCondLst>
                            <p:childTnLst>
                              <p:par>
                                <p:cTn id="13" presetID="23" presetClass="entr" presetSubtype="16"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p:cTn id="15" dur="500" fill="hold"/>
                                        <p:tgtEl>
                                          <p:spTgt spid="28"/>
                                        </p:tgtEl>
                                        <p:attrNameLst>
                                          <p:attrName>ppt_w</p:attrName>
                                        </p:attrNameLst>
                                      </p:cBhvr>
                                      <p:tavLst>
                                        <p:tav tm="0">
                                          <p:val>
                                            <p:fltVal val="0"/>
                                          </p:val>
                                        </p:tav>
                                        <p:tav tm="100000">
                                          <p:val>
                                            <p:strVal val="#ppt_w"/>
                                          </p:val>
                                        </p:tav>
                                      </p:tavLst>
                                    </p:anim>
                                    <p:anim calcmode="lin" valueType="num">
                                      <p:cBhvr>
                                        <p:cTn id="16" dur="500" fill="hold"/>
                                        <p:tgtEl>
                                          <p:spTgt spid="28"/>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childTnLst>
                                </p:cTn>
                              </p:par>
                            </p:childTnLst>
                          </p:cTn>
                        </p:par>
                        <p:par>
                          <p:cTn id="21" fill="hold">
                            <p:stCondLst>
                              <p:cond delay="1750"/>
                            </p:stCondLst>
                            <p:childTnLst>
                              <p:par>
                                <p:cTn id="22" presetID="3" presetClass="entr" presetSubtype="1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750"/>
                                        <p:tgtEl>
                                          <p:spTgt spid="1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750"/>
                                        <p:tgtEl>
                                          <p:spTgt spid="15"/>
                                        </p:tgtEl>
                                      </p:cBhvr>
                                    </p:animEffect>
                                  </p:childTnLst>
                                </p:cTn>
                              </p:par>
                            </p:childTnLst>
                          </p:cTn>
                        </p:par>
                        <p:par>
                          <p:cTn id="28" fill="hold">
                            <p:stCondLst>
                              <p:cond delay="2500"/>
                            </p:stCondLst>
                            <p:childTnLst>
                              <p:par>
                                <p:cTn id="29" presetID="3" presetClass="entr" presetSubtype="10" fill="hold" grpId="0" nodeType="afterEffect">
                                  <p:stCondLst>
                                    <p:cond delay="0"/>
                                  </p:stCondLst>
                                  <p:childTnLst>
                                    <p:set>
                                      <p:cBhvr>
                                        <p:cTn id="30" dur="1" fill="hold">
                                          <p:stCondLst>
                                            <p:cond delay="0"/>
                                          </p:stCondLst>
                                        </p:cTn>
                                        <p:tgtEl>
                                          <p:spTgt spid="78"/>
                                        </p:tgtEl>
                                        <p:attrNameLst>
                                          <p:attrName>style.visibility</p:attrName>
                                        </p:attrNameLst>
                                      </p:cBhvr>
                                      <p:to>
                                        <p:strVal val="visible"/>
                                      </p:to>
                                    </p:set>
                                    <p:animEffect transition="in" filter="blinds(horizontal)">
                                      <p:cBhvr>
                                        <p:cTn id="31" dur="750"/>
                                        <p:tgtEl>
                                          <p:spTgt spid="78"/>
                                        </p:tgtEl>
                                      </p:cBhvr>
                                    </p:animEffect>
                                  </p:childTnLst>
                                </p:cTn>
                              </p:par>
                            </p:childTnLst>
                          </p:cTn>
                        </p:par>
                        <p:par>
                          <p:cTn id="32" fill="hold">
                            <p:stCondLst>
                              <p:cond delay="3250"/>
                            </p:stCondLst>
                            <p:childTnLst>
                              <p:par>
                                <p:cTn id="33" presetID="23" presetClass="entr" presetSubtype="16"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p:cTn id="35" dur="500" fill="hold"/>
                                        <p:tgtEl>
                                          <p:spTgt spid="35"/>
                                        </p:tgtEl>
                                        <p:attrNameLst>
                                          <p:attrName>ppt_w</p:attrName>
                                        </p:attrNameLst>
                                      </p:cBhvr>
                                      <p:tavLst>
                                        <p:tav tm="0">
                                          <p:val>
                                            <p:fltVal val="0"/>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p:cTn id="39" dur="500" fill="hold"/>
                                        <p:tgtEl>
                                          <p:spTgt spid="33"/>
                                        </p:tgtEl>
                                        <p:attrNameLst>
                                          <p:attrName>ppt_w</p:attrName>
                                        </p:attrNameLst>
                                      </p:cBhvr>
                                      <p:tavLst>
                                        <p:tav tm="0">
                                          <p:val>
                                            <p:fltVal val="0"/>
                                          </p:val>
                                        </p:tav>
                                        <p:tav tm="100000">
                                          <p:val>
                                            <p:strVal val="#ppt_w"/>
                                          </p:val>
                                        </p:tav>
                                      </p:tavLst>
                                    </p:anim>
                                    <p:anim calcmode="lin" valueType="num">
                                      <p:cBhvr>
                                        <p:cTn id="40" dur="500" fill="hold"/>
                                        <p:tgtEl>
                                          <p:spTgt spid="33"/>
                                        </p:tgtEl>
                                        <p:attrNameLst>
                                          <p:attrName>ppt_h</p:attrName>
                                        </p:attrNameLst>
                                      </p:cBhvr>
                                      <p:tavLst>
                                        <p:tav tm="0">
                                          <p:val>
                                            <p:fltVal val="0"/>
                                          </p:val>
                                        </p:tav>
                                        <p:tav tm="100000">
                                          <p:val>
                                            <p:strVal val="#ppt_h"/>
                                          </p:val>
                                        </p:tav>
                                      </p:tavLst>
                                    </p:anim>
                                  </p:childTnLst>
                                </p:cTn>
                              </p:par>
                              <p:par>
                                <p:cTn id="41" presetID="23" presetClass="entr" presetSubtype="16"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fltVal val="0"/>
                                          </p:val>
                                        </p:tav>
                                        <p:tav tm="100000">
                                          <p:val>
                                            <p:strVal val="#ppt_w"/>
                                          </p:val>
                                        </p:tav>
                                      </p:tavLst>
                                    </p:anim>
                                    <p:anim calcmode="lin" valueType="num">
                                      <p:cBhvr>
                                        <p:cTn id="44" dur="500" fill="hold"/>
                                        <p:tgtEl>
                                          <p:spTgt spid="31"/>
                                        </p:tgtEl>
                                        <p:attrNameLst>
                                          <p:attrName>ppt_h</p:attrName>
                                        </p:attrNameLst>
                                      </p:cBhvr>
                                      <p:tavLst>
                                        <p:tav tm="0">
                                          <p:val>
                                            <p:fltVal val="0"/>
                                          </p:val>
                                        </p:tav>
                                        <p:tav tm="100000">
                                          <p:val>
                                            <p:strVal val="#ppt_h"/>
                                          </p:val>
                                        </p:tav>
                                      </p:tavLst>
                                    </p:anim>
                                  </p:childTnLst>
                                </p:cTn>
                              </p:par>
                            </p:childTnLst>
                          </p:cTn>
                        </p:par>
                        <p:par>
                          <p:cTn id="45" fill="hold">
                            <p:stCondLst>
                              <p:cond delay="3750"/>
                            </p:stCondLst>
                            <p:childTnLst>
                              <p:par>
                                <p:cTn id="46" presetID="3" presetClass="entr" presetSubtype="1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linds(horizontal)">
                                      <p:cBhvr>
                                        <p:cTn id="48" dur="750"/>
                                        <p:tgtEl>
                                          <p:spTgt spid="1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blinds(horizontal)">
                                      <p:cBhvr>
                                        <p:cTn id="51" dur="750"/>
                                        <p:tgtEl>
                                          <p:spTgt spid="1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linds(horizontal)">
                                      <p:cBhvr>
                                        <p:cTn id="54" dur="75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p:cTn id="59" dur="500" fill="hold"/>
                                        <p:tgtEl>
                                          <p:spTgt spid="23"/>
                                        </p:tgtEl>
                                        <p:attrNameLst>
                                          <p:attrName>ppt_w</p:attrName>
                                        </p:attrNameLst>
                                      </p:cBhvr>
                                      <p:tavLst>
                                        <p:tav tm="0">
                                          <p:val>
                                            <p:fltVal val="0"/>
                                          </p:val>
                                        </p:tav>
                                        <p:tav tm="100000">
                                          <p:val>
                                            <p:strVal val="#ppt_w"/>
                                          </p:val>
                                        </p:tav>
                                      </p:tavLst>
                                    </p:anim>
                                    <p:anim calcmode="lin" valueType="num">
                                      <p:cBhvr>
                                        <p:cTn id="60" dur="500" fill="hold"/>
                                        <p:tgtEl>
                                          <p:spTgt spid="23"/>
                                        </p:tgtEl>
                                        <p:attrNameLst>
                                          <p:attrName>ppt_h</p:attrName>
                                        </p:attrNameLst>
                                      </p:cBhvr>
                                      <p:tavLst>
                                        <p:tav tm="0">
                                          <p:val>
                                            <p:fltVal val="0"/>
                                          </p:val>
                                        </p:tav>
                                        <p:tav tm="100000">
                                          <p:val>
                                            <p:strVal val="#ppt_h"/>
                                          </p:val>
                                        </p:tav>
                                      </p:tavLst>
                                    </p:anim>
                                  </p:childTnLst>
                                </p:cTn>
                              </p:par>
                              <p:par>
                                <p:cTn id="61" presetID="23" presetClass="entr" presetSubtype="16"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p:cTn id="63" dur="500" fill="hold"/>
                                        <p:tgtEl>
                                          <p:spTgt spid="24"/>
                                        </p:tgtEl>
                                        <p:attrNameLst>
                                          <p:attrName>ppt_w</p:attrName>
                                        </p:attrNameLst>
                                      </p:cBhvr>
                                      <p:tavLst>
                                        <p:tav tm="0">
                                          <p:val>
                                            <p:fltVal val="0"/>
                                          </p:val>
                                        </p:tav>
                                        <p:tav tm="100000">
                                          <p:val>
                                            <p:strVal val="#ppt_w"/>
                                          </p:val>
                                        </p:tav>
                                      </p:tavLst>
                                    </p:anim>
                                    <p:anim calcmode="lin" valueType="num">
                                      <p:cBhvr>
                                        <p:cTn id="64" dur="500" fill="hold"/>
                                        <p:tgtEl>
                                          <p:spTgt spid="24"/>
                                        </p:tgtEl>
                                        <p:attrNameLst>
                                          <p:attrName>ppt_h</p:attrName>
                                        </p:attrNameLst>
                                      </p:cBhvr>
                                      <p:tavLst>
                                        <p:tav tm="0">
                                          <p:val>
                                            <p:fltVal val="0"/>
                                          </p:val>
                                        </p:tav>
                                        <p:tav tm="100000">
                                          <p:val>
                                            <p:strVal val="#ppt_h"/>
                                          </p:val>
                                        </p:tav>
                                      </p:tavLst>
                                    </p:anim>
                                  </p:childTnLst>
                                </p:cTn>
                              </p:par>
                              <p:par>
                                <p:cTn id="65" presetID="23" presetClass="entr" presetSubtype="16"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p:cTn id="67" dur="500" fill="hold"/>
                                        <p:tgtEl>
                                          <p:spTgt spid="25"/>
                                        </p:tgtEl>
                                        <p:attrNameLst>
                                          <p:attrName>ppt_w</p:attrName>
                                        </p:attrNameLst>
                                      </p:cBhvr>
                                      <p:tavLst>
                                        <p:tav tm="0">
                                          <p:val>
                                            <p:fltVal val="0"/>
                                          </p:val>
                                        </p:tav>
                                        <p:tav tm="100000">
                                          <p:val>
                                            <p:strVal val="#ppt_w"/>
                                          </p:val>
                                        </p:tav>
                                      </p:tavLst>
                                    </p:anim>
                                    <p:anim calcmode="lin" valueType="num">
                                      <p:cBhvr>
                                        <p:cTn id="68" dur="500" fill="hold"/>
                                        <p:tgtEl>
                                          <p:spTgt spid="25"/>
                                        </p:tgtEl>
                                        <p:attrNameLst>
                                          <p:attrName>ppt_h</p:attrName>
                                        </p:attrNameLst>
                                      </p:cBhvr>
                                      <p:tavLst>
                                        <p:tav tm="0">
                                          <p:val>
                                            <p:flt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p:cTn id="71" dur="500" fill="hold"/>
                                        <p:tgtEl>
                                          <p:spTgt spid="26"/>
                                        </p:tgtEl>
                                        <p:attrNameLst>
                                          <p:attrName>ppt_w</p:attrName>
                                        </p:attrNameLst>
                                      </p:cBhvr>
                                      <p:tavLst>
                                        <p:tav tm="0">
                                          <p:val>
                                            <p:fltVal val="0"/>
                                          </p:val>
                                        </p:tav>
                                        <p:tav tm="100000">
                                          <p:val>
                                            <p:strVal val="#ppt_w"/>
                                          </p:val>
                                        </p:tav>
                                      </p:tavLst>
                                    </p:anim>
                                    <p:anim calcmode="lin" valueType="num">
                                      <p:cBhvr>
                                        <p:cTn id="72" dur="500" fill="hold"/>
                                        <p:tgtEl>
                                          <p:spTgt spid="26"/>
                                        </p:tgtEl>
                                        <p:attrNameLst>
                                          <p:attrName>ppt_h</p:attrName>
                                        </p:attrNameLst>
                                      </p:cBhvr>
                                      <p:tavLst>
                                        <p:tav tm="0">
                                          <p:val>
                                            <p:fltVal val="0"/>
                                          </p:val>
                                        </p:tav>
                                        <p:tav tm="100000">
                                          <p:val>
                                            <p:strVal val="#ppt_h"/>
                                          </p:val>
                                        </p:tav>
                                      </p:tavLst>
                                    </p:anim>
                                  </p:childTnLst>
                                </p:cTn>
                              </p:par>
                            </p:childTnLst>
                          </p:cTn>
                        </p:par>
                        <p:par>
                          <p:cTn id="73" fill="hold">
                            <p:stCondLst>
                              <p:cond delay="500"/>
                            </p:stCondLst>
                            <p:childTnLst>
                              <p:par>
                                <p:cTn id="74" presetID="3" presetClass="entr" presetSubtype="10" fill="hold" grpId="0"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750"/>
                                        <p:tgtEl>
                                          <p:spTgt spid="19"/>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blinds(horizontal)">
                                      <p:cBhvr>
                                        <p:cTn id="79" dur="750"/>
                                        <p:tgtEl>
                                          <p:spTgt spid="20"/>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blinds(horizontal)">
                                      <p:cBhvr>
                                        <p:cTn id="82" dur="750"/>
                                        <p:tgtEl>
                                          <p:spTgt spid="22"/>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blinds(horizontal)">
                                      <p:cBhvr>
                                        <p:cTn id="85"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animBg="1"/>
      <p:bldP spid="18" grpId="0" animBg="1"/>
      <p:bldP spid="19" grpId="0" animBg="1"/>
      <p:bldP spid="20" grpId="0" animBg="1"/>
      <p:bldP spid="21" grpId="0" animBg="1"/>
      <p:bldP spid="22" grpId="0" animBg="1"/>
      <p:bldP spid="73" grpId="0" animBg="1"/>
      <p:bldP spid="7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кругленный прямоугольник 25"/>
          <p:cNvSpPr/>
          <p:nvPr/>
        </p:nvSpPr>
        <p:spPr>
          <a:xfrm>
            <a:off x="827584" y="404664"/>
            <a:ext cx="7517067"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sz="2000" b="1" dirty="0">
                <a:solidFill>
                  <a:schemeClr val="tx1"/>
                </a:solidFill>
                <a:latin typeface="Times New Roman" pitchFamily="18" charset="0"/>
                <a:cs typeface="Times New Roman" pitchFamily="18" charset="0"/>
              </a:rPr>
              <a:t>Узлуксиз шифрлаш алгоритмларига қўйилган </a:t>
            </a:r>
            <a:r>
              <a:rPr lang="uz-Cyrl-UZ" sz="2000" b="1" dirty="0" smtClean="0">
                <a:solidFill>
                  <a:schemeClr val="tx1"/>
                </a:solidFill>
                <a:latin typeface="Times New Roman" pitchFamily="18" charset="0"/>
                <a:cs typeface="Times New Roman" pitchFamily="18" charset="0"/>
              </a:rPr>
              <a:t>талаблар</a:t>
            </a:r>
            <a:endParaRPr lang="ru-RU" sz="2000" b="1" dirty="0">
              <a:solidFill>
                <a:schemeClr val="tx1"/>
              </a:solidFill>
              <a:latin typeface="Times New Roman" pitchFamily="18" charset="0"/>
              <a:cs typeface="Times New Roman" pitchFamily="18" charset="0"/>
            </a:endParaRPr>
          </a:p>
        </p:txBody>
      </p:sp>
      <p:sp>
        <p:nvSpPr>
          <p:cNvPr id="27" name="Содержимое 2"/>
          <p:cNvSpPr txBox="1">
            <a:spLocks/>
          </p:cNvSpPr>
          <p:nvPr/>
        </p:nvSpPr>
        <p:spPr bwMode="auto">
          <a:xfrm>
            <a:off x="799350" y="1196752"/>
            <a:ext cx="7589074" cy="4968552"/>
          </a:xfrm>
          <a:prstGeom prst="foldedCorner">
            <a:avLst>
              <a:gd name="adj" fmla="val 969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spcAft>
                <a:spcPts val="1200"/>
              </a:spcAft>
            </a:pPr>
            <a:r>
              <a:rPr lang="en-US" b="1" i="1" dirty="0" smtClean="0">
                <a:solidFill>
                  <a:srgbClr val="FF0000"/>
                </a:solidFill>
                <a:latin typeface="Times New Roman" pitchFamily="18" charset="0"/>
                <a:cs typeface="Times New Roman" pitchFamily="18" charset="0"/>
              </a:rPr>
              <a:t>1.</a:t>
            </a:r>
            <a:r>
              <a:rPr lang="en-US" b="1"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Алгоритм </a:t>
            </a:r>
            <a:r>
              <a:rPr lang="uz-Cyrl-UZ" dirty="0">
                <a:latin typeface="Times New Roman" pitchFamily="18" charset="0"/>
                <a:cs typeface="Times New Roman" pitchFamily="18" charset="0"/>
              </a:rPr>
              <a:t>асосидаги генератор етарлича  узун даврга эга бўлган </a:t>
            </a:r>
            <a:r>
              <a:rPr lang="uz-Cyrl-UZ" dirty="0" smtClean="0">
                <a:latin typeface="Times New Roman" pitchFamily="18" charset="0"/>
                <a:cs typeface="Times New Roman" pitchFamily="18" charset="0"/>
              </a:rPr>
              <a:t>кетма-кетлик </a:t>
            </a:r>
            <a:r>
              <a:rPr lang="uz-Cyrl-UZ" dirty="0">
                <a:latin typeface="Times New Roman" pitchFamily="18" charset="0"/>
                <a:cs typeface="Times New Roman" pitchFamily="18" charset="0"/>
              </a:rPr>
              <a:t>ишлаб чи</a:t>
            </a:r>
            <a:r>
              <a:rPr lang="ru-RU" dirty="0">
                <a:latin typeface="Times New Roman" pitchFamily="18" charset="0"/>
                <a:cs typeface="Times New Roman" pitchFamily="18" charset="0"/>
              </a:rPr>
              <a:t>қ</a:t>
            </a:r>
            <a:r>
              <a:rPr lang="uz-Cyrl-UZ" dirty="0">
                <a:latin typeface="Times New Roman" pitchFamily="18" charset="0"/>
                <a:cs typeface="Times New Roman" pitchFamily="18" charset="0"/>
              </a:rPr>
              <a:t>иши</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spcAft>
                <a:spcPts val="1200"/>
              </a:spcAft>
            </a:pPr>
            <a:r>
              <a:rPr lang="en-US" sz="2000" b="1" i="1" dirty="0" smtClean="0">
                <a:solidFill>
                  <a:srgbClr val="FF0000"/>
                </a:solidFill>
                <a:latin typeface="Times New Roman" pitchFamily="18" charset="0"/>
                <a:cs typeface="Times New Roman" pitchFamily="18" charset="0"/>
              </a:rPr>
              <a:t>2.</a:t>
            </a:r>
            <a:r>
              <a:rPr lang="en-US" sz="2000" b="1"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Генераторнинг </a:t>
            </a:r>
            <a:r>
              <a:rPr lang="uz-Cyrl-UZ" sz="2000" dirty="0">
                <a:latin typeface="Times New Roman" pitchFamily="18" charset="0"/>
                <a:cs typeface="Times New Roman" pitchFamily="18" charset="0"/>
              </a:rPr>
              <a:t>чизи</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сиз мураккаблик даражаси ю</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ори бўлиши</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spcAft>
                <a:spcPts val="1200"/>
              </a:spcAft>
            </a:pPr>
            <a:r>
              <a:rPr lang="en-US" sz="2000" b="1" i="1" dirty="0" smtClean="0">
                <a:solidFill>
                  <a:srgbClr val="FF0000"/>
                </a:solidFill>
                <a:latin typeface="Times New Roman" pitchFamily="18" charset="0"/>
                <a:cs typeface="Times New Roman" pitchFamily="18" charset="0"/>
              </a:rPr>
              <a:t>3.  </a:t>
            </a:r>
            <a:r>
              <a:rPr lang="uz-Cyrl-UZ" sz="2000" dirty="0" smtClean="0">
                <a:latin typeface="Times New Roman" pitchFamily="18" charset="0"/>
                <a:cs typeface="Times New Roman" pitchFamily="18" charset="0"/>
              </a:rPr>
              <a:t>Ишлаб   </a:t>
            </a:r>
            <a:r>
              <a:rPr lang="uz-Cyrl-UZ" sz="2000" dirty="0">
                <a:latin typeface="Times New Roman" pitchFamily="18" charset="0"/>
                <a:cs typeface="Times New Roman" pitchFamily="18" charset="0"/>
              </a:rPr>
              <a:t>чиқилган    псевдотасодифий   кетма  -  кетлик  текис  статистик  тақсимот  кўрсаткичига эга  бўлиши</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spcAft>
                <a:spcPts val="1200"/>
              </a:spcAft>
            </a:pPr>
            <a:r>
              <a:rPr lang="en-US" sz="2000" b="1" i="1" dirty="0" smtClean="0">
                <a:solidFill>
                  <a:srgbClr val="FF0000"/>
                </a:solidFill>
                <a:latin typeface="Times New Roman" pitchFamily="18" charset="0"/>
                <a:cs typeface="Times New Roman" pitchFamily="18" charset="0"/>
              </a:rPr>
              <a:t>4.  </a:t>
            </a:r>
            <a:r>
              <a:rPr lang="uz-Cyrl-UZ" sz="2000" dirty="0" smtClean="0">
                <a:latin typeface="Times New Roman" pitchFamily="18" charset="0"/>
                <a:cs typeface="Times New Roman" pitchFamily="18" charset="0"/>
              </a:rPr>
              <a:t>Псевдотасодифий  </a:t>
            </a:r>
            <a:r>
              <a:rPr lang="uz-Cyrl-UZ" sz="2000" dirty="0">
                <a:latin typeface="Times New Roman" pitchFamily="18" charset="0"/>
                <a:cs typeface="Times New Roman" pitchFamily="18" charset="0"/>
              </a:rPr>
              <a:t>кетма-кетликнинг  гамма элементлари (бит, байт,   қисм   </a:t>
            </a:r>
            <a:r>
              <a:rPr lang="uz-Cyrl-UZ" sz="2000" dirty="0" smtClean="0">
                <a:latin typeface="Times New Roman" pitchFamily="18" charset="0"/>
                <a:cs typeface="Times New Roman" pitchFamily="18" charset="0"/>
              </a:rPr>
              <a:t>блоклари)   </a:t>
            </a:r>
            <a:r>
              <a:rPr lang="uz-Cyrl-UZ" sz="2000" dirty="0">
                <a:latin typeface="Times New Roman" pitchFamily="18" charset="0"/>
                <a:cs typeface="Times New Roman" pitchFamily="18" charset="0"/>
              </a:rPr>
              <a:t>барча   бошқа   элементлари  ҳиссаси ор</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али ҳосил </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илиниши – аралашиш самарали бўлиши</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spcAft>
                <a:spcPts val="1200"/>
              </a:spcAft>
            </a:pPr>
            <a:r>
              <a:rPr lang="en-US" sz="2000" b="1" i="1" dirty="0" smtClean="0">
                <a:solidFill>
                  <a:srgbClr val="FF0000"/>
                </a:solidFill>
                <a:latin typeface="Times New Roman" pitchFamily="18" charset="0"/>
                <a:cs typeface="Times New Roman" pitchFamily="18" charset="0"/>
              </a:rPr>
              <a:t>5. </a:t>
            </a:r>
            <a:r>
              <a:rPr lang="uz-Cyrl-UZ" sz="2000" dirty="0" smtClean="0">
                <a:latin typeface="Times New Roman" pitchFamily="18" charset="0"/>
                <a:cs typeface="Times New Roman" pitchFamily="18" charset="0"/>
              </a:rPr>
              <a:t>Псевдотасодифий </a:t>
            </a:r>
            <a:r>
              <a:rPr lang="uz-Cyrl-UZ" sz="2000" dirty="0">
                <a:latin typeface="Times New Roman" pitchFamily="18" charset="0"/>
                <a:cs typeface="Times New Roman" pitchFamily="18" charset="0"/>
              </a:rPr>
              <a:t>кетма - кетликнинг гамма элементларининг кескин ўзгариши – тар</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алиш самарали бўлиши;</a:t>
            </a:r>
            <a:endParaRPr lang="ru-RU" sz="2000" dirty="0">
              <a:latin typeface="Times New Roman" pitchFamily="18" charset="0"/>
              <a:cs typeface="Times New Roman" pitchFamily="18" charset="0"/>
            </a:endParaRPr>
          </a:p>
          <a:p>
            <a:pPr lvl="0" algn="just">
              <a:spcAft>
                <a:spcPts val="1200"/>
              </a:spcAft>
            </a:pPr>
            <a:r>
              <a:rPr lang="en-US" sz="2000" b="1" i="1" dirty="0" smtClean="0">
                <a:solidFill>
                  <a:srgbClr val="FF0000"/>
                </a:solidFill>
                <a:latin typeface="Times New Roman" pitchFamily="18" charset="0"/>
                <a:cs typeface="Times New Roman" pitchFamily="18" charset="0"/>
              </a:rPr>
              <a:t>6.  </a:t>
            </a:r>
            <a:r>
              <a:rPr lang="uz-Cyrl-UZ" sz="2000" dirty="0" smtClean="0">
                <a:latin typeface="Times New Roman" pitchFamily="18" charset="0"/>
                <a:cs typeface="Times New Roman" pitchFamily="18" charset="0"/>
              </a:rPr>
              <a:t>Алгоритм акслантиришлари бул функцияларининг </a:t>
            </a:r>
            <a:r>
              <a:rPr lang="uz-Cyrl-UZ" sz="2000" dirty="0">
                <a:latin typeface="Times New Roman" pitchFamily="18" charset="0"/>
                <a:cs typeface="Times New Roman" pitchFamily="18" charset="0"/>
              </a:rPr>
              <a:t>чизи</a:t>
            </a:r>
            <a:r>
              <a:rPr lang="ru-RU" sz="2000" dirty="0">
                <a:latin typeface="Times New Roman" pitchFamily="18" charset="0"/>
                <a:cs typeface="Times New Roman" pitchFamily="18" charset="0"/>
              </a:rPr>
              <a:t>қ</a:t>
            </a:r>
            <a:r>
              <a:rPr lang="uz-Cyrl-UZ" sz="2000" dirty="0">
                <a:latin typeface="Times New Roman" pitchFamily="18" charset="0"/>
                <a:cs typeface="Times New Roman" pitchFamily="18" charset="0"/>
              </a:rPr>
              <a:t>сизлик  шартини бажариши – хамда  жадал  самара (лавинный эффект) беришини таъминлаши.</a:t>
            </a:r>
            <a:endParaRPr lang="ru-RU" sz="2000" dirty="0">
              <a:latin typeface="Times New Roman" pitchFamily="18" charset="0"/>
              <a:cs typeface="Times New Roman" pitchFamily="18" charset="0"/>
            </a:endParaRPr>
          </a:p>
          <a:p>
            <a:pPr algn="just"/>
            <a:endParaRPr lang="ru-RU" sz="2000" b="1" dirty="0" smtClean="0">
              <a:latin typeface="Times New Roman" pitchFamily="18" charset="0"/>
              <a:cs typeface="Times New Roman" pitchFamily="18" charset="0"/>
            </a:endParaRPr>
          </a:p>
          <a:p>
            <a:pPr algn="just"/>
            <a:endParaRPr lang="ru-RU" sz="2000" b="1" dirty="0">
              <a:latin typeface="Times New Roman" pitchFamily="18" charset="0"/>
              <a:cs typeface="Times New Roman" pitchFamily="18" charset="0"/>
            </a:endParaRPr>
          </a:p>
          <a:p>
            <a:pPr algn="just"/>
            <a:endParaRPr lang="ru-RU" sz="2000" b="1" dirty="0">
              <a:latin typeface="Times New Roman" pitchFamily="18" charset="0"/>
              <a:cs typeface="Times New Roman" pitchFamily="18" charset="0"/>
            </a:endParaRPr>
          </a:p>
          <a:p>
            <a:pPr algn="just"/>
            <a:endParaRPr lang="ru-RU"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303376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1000"/>
                                        <p:tgtEl>
                                          <p:spTgt spid="27"/>
                                        </p:tgtEl>
                                      </p:cBhvr>
                                    </p:animEffect>
                                    <p:anim calcmode="lin" valueType="num">
                                      <p:cBhvr>
                                        <p:cTn id="12" dur="1000" fill="hold"/>
                                        <p:tgtEl>
                                          <p:spTgt spid="27"/>
                                        </p:tgtEl>
                                        <p:attrNameLst>
                                          <p:attrName>ppt_x</p:attrName>
                                        </p:attrNameLst>
                                      </p:cBhvr>
                                      <p:tavLst>
                                        <p:tav tm="0">
                                          <p:val>
                                            <p:strVal val="#ppt_x"/>
                                          </p:val>
                                        </p:tav>
                                        <p:tav tm="100000">
                                          <p:val>
                                            <p:strVal val="#ppt_x"/>
                                          </p:val>
                                        </p:tav>
                                      </p:tavLst>
                                    </p:anim>
                                    <p:anim calcmode="lin" valueType="num">
                                      <p:cBhvr>
                                        <p:cTn id="1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1310"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Скругленный прямоугольник 7"/>
          <p:cNvSpPr/>
          <p:nvPr/>
        </p:nvSpPr>
        <p:spPr>
          <a:xfrm>
            <a:off x="2547187" y="1033509"/>
            <a:ext cx="4248472" cy="411211"/>
          </a:xfrm>
          <a:prstGeom prst="roundRect">
            <a:avLst>
              <a:gd name="adj" fmla="val 29456"/>
            </a:avLst>
          </a:prstGeom>
          <a:solidFill>
            <a:schemeClr val="tx2">
              <a:lumMod val="20000"/>
              <a:lumOff val="80000"/>
            </a:schemeClr>
          </a:solidFill>
          <a:ln w="12700">
            <a:solidFill>
              <a:schemeClr val="accent1">
                <a:shade val="50000"/>
              </a:schemeClr>
            </a:solidFill>
          </a:ln>
          <a:effectLst>
            <a:glow rad="139700">
              <a:schemeClr val="accent1">
                <a:satMod val="175000"/>
                <a:alpha val="40000"/>
              </a:schemeClr>
            </a:glow>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nvex"/>
          </a:sp3d>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uz-Cyrl-UZ" sz="2000" b="1" dirty="0" smtClean="0">
              <a:effectLst>
                <a:outerShdw blurRad="38100" dist="38100" dir="2700000" algn="tl">
                  <a:srgbClr val="000000">
                    <a:alpha val="43137"/>
                  </a:srgbClr>
                </a:outerShdw>
              </a:effectLst>
            </a:endParaRPr>
          </a:p>
          <a:p>
            <a:pPr algn="ctr">
              <a:defRPr/>
            </a:pPr>
            <a:r>
              <a:rPr lang="uz-Cyrl-UZ" sz="2000" b="1" dirty="0" smtClean="0">
                <a:solidFill>
                  <a:schemeClr val="tx1"/>
                </a:solidFill>
              </a:rPr>
              <a:t>Узлуксиз шифрлар</a:t>
            </a:r>
            <a:endParaRPr lang="ru-RU" sz="2000" b="1" dirty="0">
              <a:solidFill>
                <a:schemeClr val="tx1"/>
              </a:solidFill>
            </a:endParaRPr>
          </a:p>
          <a:p>
            <a:pPr algn="ctr">
              <a:defRPr/>
            </a:pPr>
            <a:endParaRPr lang="ru-RU" dirty="0"/>
          </a:p>
        </p:txBody>
      </p:sp>
      <p:sp>
        <p:nvSpPr>
          <p:cNvPr id="18" name="Скругленный прямоугольник 17"/>
          <p:cNvSpPr/>
          <p:nvPr/>
        </p:nvSpPr>
        <p:spPr>
          <a:xfrm>
            <a:off x="912890" y="260648"/>
            <a:ext cx="7517067"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Синхрон </a:t>
            </a:r>
            <a:r>
              <a:rPr lang="uz-Cyrl-UZ" b="1" dirty="0">
                <a:solidFill>
                  <a:schemeClr val="tx1"/>
                </a:solidFill>
                <a:latin typeface="Times New Roman" pitchFamily="18" charset="0"/>
                <a:cs typeface="Times New Roman" pitchFamily="18" charset="0"/>
              </a:rPr>
              <a:t>ва ўз-ўзидан синхронланувчи  узлуксиз шифрлаш алгоритмлари </a:t>
            </a:r>
            <a:r>
              <a:rPr lang="uz-Cyrl-UZ" b="1" dirty="0" smtClean="0">
                <a:solidFill>
                  <a:schemeClr val="tx1"/>
                </a:solidFill>
                <a:latin typeface="Times New Roman" pitchFamily="18" charset="0"/>
                <a:cs typeface="Times New Roman" pitchFamily="18" charset="0"/>
              </a:rPr>
              <a:t>таҳлили </a:t>
            </a:r>
            <a:endParaRPr lang="ru-RU" b="1" dirty="0">
              <a:solidFill>
                <a:schemeClr val="tx1"/>
              </a:solidFill>
              <a:latin typeface="Times New Roman" pitchFamily="18" charset="0"/>
              <a:cs typeface="Times New Roman" pitchFamily="18" charset="0"/>
            </a:endParaRPr>
          </a:p>
        </p:txBody>
      </p:sp>
      <p:grpSp>
        <p:nvGrpSpPr>
          <p:cNvPr id="15" name="Группа 14"/>
          <p:cNvGrpSpPr/>
          <p:nvPr/>
        </p:nvGrpSpPr>
        <p:grpSpPr>
          <a:xfrm>
            <a:off x="778547" y="4981331"/>
            <a:ext cx="3649437" cy="1399997"/>
            <a:chOff x="4652344" y="1308923"/>
            <a:chExt cx="3642153" cy="1399997"/>
          </a:xfrm>
          <a:pattFill prst="openDmnd">
            <a:fgClr>
              <a:schemeClr val="tx2">
                <a:lumMod val="20000"/>
                <a:lumOff val="80000"/>
              </a:schemeClr>
            </a:fgClr>
            <a:bgClr>
              <a:schemeClr val="bg1"/>
            </a:bgClr>
          </a:pattFill>
        </p:grpSpPr>
        <p:sp>
          <p:nvSpPr>
            <p:cNvPr id="16" name="Скругленный прямоугольник 15"/>
            <p:cNvSpPr/>
            <p:nvPr/>
          </p:nvSpPr>
          <p:spPr>
            <a:xfrm>
              <a:off x="5993584" y="1308923"/>
              <a:ext cx="1368152" cy="576064"/>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rPr>
                <a:t>Генератор</a:t>
              </a:r>
              <a:endParaRPr lang="ru-RU" b="1" dirty="0">
                <a:solidFill>
                  <a:schemeClr val="tx1"/>
                </a:solidFill>
              </a:endParaRPr>
            </a:p>
          </p:txBody>
        </p:sp>
        <p:sp>
          <p:nvSpPr>
            <p:cNvPr id="17" name="Скругленный прямоугольник 16"/>
            <p:cNvSpPr/>
            <p:nvPr/>
          </p:nvSpPr>
          <p:spPr>
            <a:xfrm>
              <a:off x="4652344" y="1447528"/>
              <a:ext cx="1044945"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Калит</a:t>
              </a:r>
              <a:endParaRPr lang="ru-RU" sz="1600" b="1" dirty="0">
                <a:solidFill>
                  <a:schemeClr val="tx1"/>
                </a:solidFill>
              </a:endParaRPr>
            </a:p>
          </p:txBody>
        </p:sp>
        <p:sp>
          <p:nvSpPr>
            <p:cNvPr id="19" name="Скругленный прямоугольник 18"/>
            <p:cNvSpPr/>
            <p:nvPr/>
          </p:nvSpPr>
          <p:spPr>
            <a:xfrm>
              <a:off x="4692159" y="2420888"/>
              <a:ext cx="1220724"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Очиқ матн</a:t>
              </a:r>
              <a:endParaRPr lang="ru-RU" sz="1600" b="1" dirty="0">
                <a:solidFill>
                  <a:schemeClr val="tx1"/>
                </a:solidFill>
              </a:endParaRPr>
            </a:p>
          </p:txBody>
        </p:sp>
        <p:sp>
          <p:nvSpPr>
            <p:cNvPr id="20" name="Скругленный прямоугольник 19"/>
            <p:cNvSpPr/>
            <p:nvPr/>
          </p:nvSpPr>
          <p:spPr>
            <a:xfrm>
              <a:off x="6990847" y="2420888"/>
              <a:ext cx="1303650"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Шифр матн</a:t>
              </a:r>
              <a:endParaRPr lang="ru-RU" sz="1600" b="1" dirty="0">
                <a:solidFill>
                  <a:schemeClr val="tx1"/>
                </a:solidFill>
              </a:endParaRPr>
            </a:p>
          </p:txBody>
        </p:sp>
        <p:cxnSp>
          <p:nvCxnSpPr>
            <p:cNvPr id="21" name="Прямая со стрелкой 20"/>
            <p:cNvCxnSpPr/>
            <p:nvPr/>
          </p:nvCxnSpPr>
          <p:spPr>
            <a:xfrm flipV="1">
              <a:off x="5697289" y="1591544"/>
              <a:ext cx="279696" cy="8758"/>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sp>
          <p:nvSpPr>
            <p:cNvPr id="22" name="Блок-схема: ИЛИ 21"/>
            <p:cNvSpPr/>
            <p:nvPr/>
          </p:nvSpPr>
          <p:spPr>
            <a:xfrm>
              <a:off x="6449276" y="2432653"/>
              <a:ext cx="282964" cy="276267"/>
            </a:xfrm>
            <a:prstGeom prst="flowChartOr">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3" name="Прямая со стрелкой 22"/>
            <p:cNvCxnSpPr>
              <a:stCxn id="19" idx="3"/>
            </p:cNvCxnSpPr>
            <p:nvPr/>
          </p:nvCxnSpPr>
          <p:spPr>
            <a:xfrm>
              <a:off x="5912883" y="2564904"/>
              <a:ext cx="536393" cy="0"/>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p:nvPr/>
          </p:nvCxnSpPr>
          <p:spPr>
            <a:xfrm flipV="1">
              <a:off x="6732240" y="2570786"/>
              <a:ext cx="258607" cy="2"/>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p:nvPr/>
          </p:nvCxnSpPr>
          <p:spPr>
            <a:xfrm>
              <a:off x="6590146" y="1891682"/>
              <a:ext cx="0" cy="541312"/>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sp>
          <p:nvSpPr>
            <p:cNvPr id="28" name="Скругленный прямоугольник 27"/>
            <p:cNvSpPr/>
            <p:nvPr/>
          </p:nvSpPr>
          <p:spPr>
            <a:xfrm>
              <a:off x="6606226" y="1997288"/>
              <a:ext cx="833519" cy="288032"/>
            </a:xfrm>
            <a:prstGeom prst="round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Гамма</a:t>
              </a:r>
              <a:endParaRPr lang="ru-RU" sz="1600" b="1" dirty="0">
                <a:solidFill>
                  <a:schemeClr val="tx1"/>
                </a:solidFill>
              </a:endParaRPr>
            </a:p>
          </p:txBody>
        </p:sp>
      </p:grpSp>
      <p:grpSp>
        <p:nvGrpSpPr>
          <p:cNvPr id="29" name="Группа 28"/>
          <p:cNvGrpSpPr/>
          <p:nvPr/>
        </p:nvGrpSpPr>
        <p:grpSpPr>
          <a:xfrm>
            <a:off x="4893303" y="4988026"/>
            <a:ext cx="3855161" cy="1389584"/>
            <a:chOff x="4749288" y="4766658"/>
            <a:chExt cx="3855161" cy="1389584"/>
          </a:xfrm>
        </p:grpSpPr>
        <p:sp>
          <p:nvSpPr>
            <p:cNvPr id="31" name="Скругленный прямоугольник 30"/>
            <p:cNvSpPr/>
            <p:nvPr/>
          </p:nvSpPr>
          <p:spPr>
            <a:xfrm>
              <a:off x="6849289" y="5450152"/>
              <a:ext cx="871415" cy="288032"/>
            </a:xfrm>
            <a:prstGeom prst="roundRect">
              <a:avLst/>
            </a:prstGeom>
            <a:solidFill>
              <a:schemeClr val="tx2">
                <a:lumMod val="40000"/>
                <a:lumOff val="60000"/>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Гамма</a:t>
              </a:r>
              <a:endParaRPr lang="ru-RU" sz="1600" b="1" dirty="0">
                <a:solidFill>
                  <a:schemeClr val="tx1"/>
                </a:solidFill>
              </a:endParaRPr>
            </a:p>
          </p:txBody>
        </p:sp>
        <p:grpSp>
          <p:nvGrpSpPr>
            <p:cNvPr id="32" name="Группа 31"/>
            <p:cNvGrpSpPr/>
            <p:nvPr/>
          </p:nvGrpSpPr>
          <p:grpSpPr>
            <a:xfrm>
              <a:off x="4749288" y="4766658"/>
              <a:ext cx="3855161" cy="1389584"/>
              <a:chOff x="4983978" y="4897152"/>
              <a:chExt cx="3767750" cy="1389584"/>
            </a:xfrm>
            <a:pattFill prst="openDmnd">
              <a:fgClr>
                <a:schemeClr val="tx2">
                  <a:lumMod val="20000"/>
                  <a:lumOff val="80000"/>
                </a:schemeClr>
              </a:fgClr>
              <a:bgClr>
                <a:schemeClr val="bg1"/>
              </a:bgClr>
            </a:pattFill>
          </p:grpSpPr>
          <p:sp>
            <p:nvSpPr>
              <p:cNvPr id="33" name="Скругленный прямоугольник 32"/>
              <p:cNvSpPr/>
              <p:nvPr/>
            </p:nvSpPr>
            <p:spPr>
              <a:xfrm>
                <a:off x="4983978" y="4914798"/>
                <a:ext cx="1093490"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Калит</a:t>
                </a:r>
                <a:endParaRPr lang="ru-RU" sz="1600" b="1" dirty="0">
                  <a:solidFill>
                    <a:schemeClr val="tx1"/>
                  </a:solidFill>
                </a:endParaRPr>
              </a:p>
            </p:txBody>
          </p:sp>
          <p:sp>
            <p:nvSpPr>
              <p:cNvPr id="34" name="Скругленный прямоугольник 33"/>
              <p:cNvSpPr/>
              <p:nvPr/>
            </p:nvSpPr>
            <p:spPr>
              <a:xfrm>
                <a:off x="6372200" y="4897152"/>
                <a:ext cx="1368152" cy="576064"/>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rPr>
                  <a:t>Генератор</a:t>
                </a:r>
                <a:endParaRPr lang="ru-RU" b="1" dirty="0">
                  <a:solidFill>
                    <a:schemeClr val="tx1"/>
                  </a:solidFill>
                </a:endParaRPr>
              </a:p>
            </p:txBody>
          </p:sp>
          <p:cxnSp>
            <p:nvCxnSpPr>
              <p:cNvPr id="35" name="Прямая со стрелкой 34"/>
              <p:cNvCxnSpPr/>
              <p:nvPr/>
            </p:nvCxnSpPr>
            <p:spPr>
              <a:xfrm>
                <a:off x="6071405" y="5058814"/>
                <a:ext cx="300795" cy="0"/>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sp>
            <p:nvSpPr>
              <p:cNvPr id="36" name="Блок-схема: ИЛИ 35"/>
              <p:cNvSpPr/>
              <p:nvPr/>
            </p:nvSpPr>
            <p:spPr>
              <a:xfrm>
                <a:off x="6912260" y="5998703"/>
                <a:ext cx="300609" cy="276267"/>
              </a:xfrm>
              <a:prstGeom prst="flowChartOr">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Скругленный прямоугольник 37"/>
              <p:cNvSpPr/>
              <p:nvPr/>
            </p:nvSpPr>
            <p:spPr>
              <a:xfrm>
                <a:off x="4994082" y="5998704"/>
                <a:ext cx="1224136"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Очиқ матн</a:t>
                </a:r>
                <a:endParaRPr lang="ru-RU" sz="1600" b="1" dirty="0">
                  <a:solidFill>
                    <a:schemeClr val="tx1"/>
                  </a:solidFill>
                </a:endParaRPr>
              </a:p>
            </p:txBody>
          </p:sp>
          <p:cxnSp>
            <p:nvCxnSpPr>
              <p:cNvPr id="39" name="Прямая со стрелкой 38"/>
              <p:cNvCxnSpPr/>
              <p:nvPr/>
            </p:nvCxnSpPr>
            <p:spPr>
              <a:xfrm>
                <a:off x="7056276" y="5473216"/>
                <a:ext cx="0" cy="525487"/>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p:nvPr/>
            </p:nvCxnSpPr>
            <p:spPr>
              <a:xfrm flipV="1">
                <a:off x="6221802" y="6136837"/>
                <a:ext cx="690458" cy="5883"/>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sp>
            <p:nvSpPr>
              <p:cNvPr id="41" name="Скругленный прямоугольник 40"/>
              <p:cNvSpPr/>
              <p:nvPr/>
            </p:nvSpPr>
            <p:spPr>
              <a:xfrm>
                <a:off x="7484974" y="5986938"/>
                <a:ext cx="1266754" cy="288032"/>
              </a:xfrm>
              <a:prstGeom prst="roundRect">
                <a:avLst/>
              </a:prstGeom>
              <a:pattFill prst="openDmnd">
                <a:fgClr>
                  <a:schemeClr val="tx2">
                    <a:lumMod val="20000"/>
                    <a:lumOff val="80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rPr>
                  <a:t>Шифр матн</a:t>
                </a:r>
                <a:endParaRPr lang="ru-RU" sz="1600" b="1" dirty="0">
                  <a:solidFill>
                    <a:schemeClr val="tx1"/>
                  </a:solidFill>
                </a:endParaRPr>
              </a:p>
            </p:txBody>
          </p:sp>
          <p:cxnSp>
            <p:nvCxnSpPr>
              <p:cNvPr id="42" name="Прямая со стрелкой 41"/>
              <p:cNvCxnSpPr>
                <a:endCxn id="41" idx="1"/>
              </p:cNvCxnSpPr>
              <p:nvPr/>
            </p:nvCxnSpPr>
            <p:spPr>
              <a:xfrm>
                <a:off x="7212869" y="6127911"/>
                <a:ext cx="272104" cy="3043"/>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endCxn id="34" idx="3"/>
              </p:cNvCxnSpPr>
              <p:nvPr/>
            </p:nvCxnSpPr>
            <p:spPr>
              <a:xfrm flipH="1">
                <a:off x="7740352" y="5185184"/>
                <a:ext cx="518749" cy="0"/>
              </a:xfrm>
              <a:prstGeom prst="straightConnector1">
                <a:avLst/>
              </a:prstGeom>
              <a:grpFill/>
              <a:ln w="28575">
                <a:tailEnd type="arrow"/>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8259101" y="5173078"/>
                <a:ext cx="0" cy="813860"/>
              </a:xfrm>
              <a:prstGeom prst="line">
                <a:avLst/>
              </a:prstGeom>
              <a:grpFill/>
              <a:ln w="28575"/>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a:off x="5648946" y="5317094"/>
                <a:ext cx="6269" cy="681609"/>
              </a:xfrm>
              <a:prstGeom prst="line">
                <a:avLst/>
              </a:prstGeom>
              <a:grpFill/>
              <a:ln w="28575">
                <a:prstDash val="sysDash"/>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p:nvPr/>
            </p:nvCxnSpPr>
            <p:spPr>
              <a:xfrm>
                <a:off x="5648946" y="5317094"/>
                <a:ext cx="723254" cy="0"/>
              </a:xfrm>
              <a:prstGeom prst="straightConnector1">
                <a:avLst/>
              </a:prstGeom>
              <a:grpFill/>
              <a:ln w="28575">
                <a:prstDash val="sysDash"/>
                <a:tailEnd type="arrow"/>
              </a:ln>
            </p:spPr>
            <p:style>
              <a:lnRef idx="1">
                <a:schemeClr val="accent1"/>
              </a:lnRef>
              <a:fillRef idx="0">
                <a:schemeClr val="accent1"/>
              </a:fillRef>
              <a:effectRef idx="0">
                <a:schemeClr val="accent1"/>
              </a:effectRef>
              <a:fontRef idx="minor">
                <a:schemeClr val="tx1"/>
              </a:fontRef>
            </p:style>
          </p:cxnSp>
        </p:grpSp>
      </p:grpSp>
      <p:cxnSp>
        <p:nvCxnSpPr>
          <p:cNvPr id="49" name="Прямая со стрелкой 48"/>
          <p:cNvCxnSpPr/>
          <p:nvPr/>
        </p:nvCxnSpPr>
        <p:spPr>
          <a:xfrm>
            <a:off x="4680016" y="1444720"/>
            <a:ext cx="0" cy="112072"/>
          </a:xfrm>
          <a:prstGeom prst="straightConnector1">
            <a:avLst/>
          </a:prstGeom>
          <a:pattFill prst="openDmnd">
            <a:fgClr>
              <a:schemeClr val="tx2">
                <a:lumMod val="20000"/>
                <a:lumOff val="80000"/>
              </a:schemeClr>
            </a:fgClr>
            <a:bgClr>
              <a:schemeClr val="bg1"/>
            </a:bgClr>
          </a:pattFill>
          <a:ln w="28575">
            <a:tailEnd type="non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p:nvPr/>
        </p:nvCxnSpPr>
        <p:spPr>
          <a:xfrm>
            <a:off x="2807913" y="1556792"/>
            <a:ext cx="4058407" cy="0"/>
          </a:xfrm>
          <a:prstGeom prst="straightConnector1">
            <a:avLst/>
          </a:prstGeom>
          <a:pattFill prst="openDmnd">
            <a:fgClr>
              <a:schemeClr val="tx2">
                <a:lumMod val="20000"/>
                <a:lumOff val="80000"/>
              </a:schemeClr>
            </a:fgClr>
            <a:bgClr>
              <a:schemeClr val="bg1"/>
            </a:bgClr>
          </a:pattFill>
          <a:ln w="28575">
            <a:tailEnd type="none"/>
          </a:ln>
        </p:spPr>
        <p:style>
          <a:lnRef idx="1">
            <a:schemeClr val="accent1"/>
          </a:lnRef>
          <a:fillRef idx="0">
            <a:schemeClr val="accent1"/>
          </a:fillRef>
          <a:effectRef idx="0">
            <a:schemeClr val="accent1"/>
          </a:effectRef>
          <a:fontRef idx="minor">
            <a:schemeClr val="tx1"/>
          </a:fontRef>
        </p:style>
      </p:cxnSp>
      <p:sp>
        <p:nvSpPr>
          <p:cNvPr id="55" name="Скругленный прямоугольник 54"/>
          <p:cNvSpPr/>
          <p:nvPr/>
        </p:nvSpPr>
        <p:spPr>
          <a:xfrm>
            <a:off x="738367" y="1772816"/>
            <a:ext cx="3761625" cy="411211"/>
          </a:xfrm>
          <a:prstGeom prst="roundRect">
            <a:avLst>
              <a:gd name="adj" fmla="val 3599"/>
            </a:avLst>
          </a:prstGeom>
          <a:solidFill>
            <a:schemeClr val="tx2">
              <a:lumMod val="20000"/>
              <a:lumOff val="80000"/>
            </a:schemeClr>
          </a:solidFill>
          <a:ln w="12700">
            <a:solidFill>
              <a:schemeClr val="accent1">
                <a:shade val="50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nvex"/>
          </a:sp3d>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uz-Cyrl-UZ" sz="2000" b="1" dirty="0" smtClean="0">
              <a:effectLst>
                <a:outerShdw blurRad="38100" dist="38100" dir="2700000" algn="tl">
                  <a:srgbClr val="000000">
                    <a:alpha val="43137"/>
                  </a:srgbClr>
                </a:outerShdw>
              </a:effectLst>
            </a:endParaRPr>
          </a:p>
          <a:p>
            <a:pPr algn="ctr">
              <a:defRPr/>
            </a:pPr>
            <a:r>
              <a:rPr lang="uz-Cyrl-UZ" sz="2000" b="1" dirty="0" smtClean="0">
                <a:solidFill>
                  <a:schemeClr val="tx1"/>
                </a:solidFill>
              </a:rPr>
              <a:t>Синхрон</a:t>
            </a:r>
            <a:endParaRPr lang="ru-RU" sz="2000" b="1" dirty="0">
              <a:solidFill>
                <a:schemeClr val="tx1"/>
              </a:solidFill>
            </a:endParaRPr>
          </a:p>
          <a:p>
            <a:pPr algn="ctr">
              <a:defRPr/>
            </a:pPr>
            <a:endParaRPr lang="ru-RU" dirty="0"/>
          </a:p>
        </p:txBody>
      </p:sp>
      <p:sp>
        <p:nvSpPr>
          <p:cNvPr id="56" name="Скругленный прямоугольник 55"/>
          <p:cNvSpPr/>
          <p:nvPr/>
        </p:nvSpPr>
        <p:spPr>
          <a:xfrm>
            <a:off x="4804779" y="1789270"/>
            <a:ext cx="3761625" cy="411211"/>
          </a:xfrm>
          <a:prstGeom prst="roundRect">
            <a:avLst>
              <a:gd name="adj" fmla="val 3599"/>
            </a:avLst>
          </a:prstGeom>
          <a:solidFill>
            <a:schemeClr val="tx2">
              <a:lumMod val="20000"/>
              <a:lumOff val="80000"/>
            </a:schemeClr>
          </a:solidFill>
          <a:ln w="12700">
            <a:solidFill>
              <a:schemeClr val="accent1">
                <a:shade val="50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nvex"/>
          </a:sp3d>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uz-Cyrl-UZ" sz="2000" b="1" dirty="0" smtClean="0">
              <a:effectLst>
                <a:outerShdw blurRad="38100" dist="38100" dir="2700000" algn="tl">
                  <a:srgbClr val="000000">
                    <a:alpha val="43137"/>
                  </a:srgbClr>
                </a:outerShdw>
              </a:effectLst>
            </a:endParaRPr>
          </a:p>
          <a:p>
            <a:pPr algn="ctr">
              <a:defRPr/>
            </a:pPr>
            <a:r>
              <a:rPr lang="uz-Cyrl-UZ" sz="2000" b="1" dirty="0" smtClean="0">
                <a:solidFill>
                  <a:schemeClr val="tx1"/>
                </a:solidFill>
              </a:rPr>
              <a:t>Ўз-ўзидан синхронланувчи</a:t>
            </a:r>
            <a:endParaRPr lang="ru-RU" sz="2000" b="1" dirty="0">
              <a:solidFill>
                <a:schemeClr val="tx1"/>
              </a:solidFill>
            </a:endParaRPr>
          </a:p>
          <a:p>
            <a:pPr algn="ctr">
              <a:defRPr/>
            </a:pPr>
            <a:endParaRPr lang="ru-RU" dirty="0"/>
          </a:p>
        </p:txBody>
      </p:sp>
      <p:sp>
        <p:nvSpPr>
          <p:cNvPr id="62" name="Прямоугольник 61"/>
          <p:cNvSpPr/>
          <p:nvPr/>
        </p:nvSpPr>
        <p:spPr>
          <a:xfrm>
            <a:off x="746971" y="2185864"/>
            <a:ext cx="3744416" cy="2668679"/>
          </a:xfrm>
          <a:prstGeom prst="rect">
            <a:avLst/>
          </a:prstGeom>
          <a:pattFill prst="dotGrid">
            <a:fgClr>
              <a:schemeClr val="tx2">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700" dirty="0">
                <a:solidFill>
                  <a:schemeClr val="tx1"/>
                </a:solidFill>
                <a:latin typeface="Times New Roman" pitchFamily="18" charset="0"/>
                <a:cs typeface="Times New Roman" pitchFamily="18" charset="0"/>
              </a:rPr>
              <a:t> </a:t>
            </a:r>
            <a:r>
              <a:rPr lang="uz-Cyrl-UZ" sz="1700" dirty="0" smtClean="0">
                <a:solidFill>
                  <a:schemeClr val="tx1"/>
                </a:solidFill>
                <a:latin typeface="Times New Roman" pitchFamily="18" charset="0"/>
                <a:cs typeface="Times New Roman" pitchFamily="18" charset="0"/>
              </a:rPr>
              <a:t>      Синхрон </a:t>
            </a:r>
            <a:r>
              <a:rPr lang="uz-Cyrl-UZ" sz="1700" dirty="0">
                <a:solidFill>
                  <a:schemeClr val="tx1"/>
                </a:solidFill>
                <a:latin typeface="Times New Roman" pitchFamily="18" charset="0"/>
                <a:cs typeface="Times New Roman" pitchFamily="18" charset="0"/>
              </a:rPr>
              <a:t>узлуксиз шифрларда  генерация қилинган гамма кетма-кетлик шифрланувчи очиқ матнга боғлиқ </a:t>
            </a:r>
            <a:r>
              <a:rPr lang="uz-Cyrl-UZ" sz="1700" dirty="0" smtClean="0">
                <a:solidFill>
                  <a:schemeClr val="tx1"/>
                </a:solidFill>
                <a:latin typeface="Times New Roman" pitchFamily="18" charset="0"/>
                <a:cs typeface="Times New Roman" pitchFamily="18" charset="0"/>
              </a:rPr>
              <a:t>бўлмайди.</a:t>
            </a:r>
            <a:endParaRPr lang="uz-Cyrl-UZ" sz="1700" dirty="0">
              <a:solidFill>
                <a:schemeClr val="tx1"/>
              </a:solidFill>
              <a:latin typeface="Times New Roman" pitchFamily="18" charset="0"/>
              <a:cs typeface="Times New Roman" pitchFamily="18" charset="0"/>
            </a:endParaRPr>
          </a:p>
          <a:p>
            <a:pPr algn="just"/>
            <a:r>
              <a:rPr lang="uz-Cyrl-UZ" sz="1700" dirty="0">
                <a:solidFill>
                  <a:schemeClr val="tx1"/>
                </a:solidFill>
                <a:latin typeface="Times New Roman" pitchFamily="18" charset="0"/>
                <a:cs typeface="Times New Roman" pitchFamily="18" charset="0"/>
              </a:rPr>
              <a:t>       Синхрон узлуксиз шифрларда ҳосил қилинган шифрматнни узатиш ва қабул қилиш оралиғида бирор бит нотўғри қабул қилинса, бу хатолик бошқа битларга таъсир </a:t>
            </a:r>
            <a:r>
              <a:rPr lang="uz-Cyrl-UZ" sz="1700" dirty="0" smtClean="0">
                <a:solidFill>
                  <a:schemeClr val="tx1"/>
                </a:solidFill>
                <a:latin typeface="Times New Roman" pitchFamily="18" charset="0"/>
                <a:cs typeface="Times New Roman" pitchFamily="18" charset="0"/>
              </a:rPr>
              <a:t>қилмайди.</a:t>
            </a:r>
            <a:endParaRPr lang="ru-RU" sz="1700" dirty="0"/>
          </a:p>
        </p:txBody>
      </p:sp>
      <p:sp>
        <p:nvSpPr>
          <p:cNvPr id="63" name="Прямоугольник 62"/>
          <p:cNvSpPr/>
          <p:nvPr/>
        </p:nvSpPr>
        <p:spPr>
          <a:xfrm>
            <a:off x="4813383" y="2200481"/>
            <a:ext cx="3744416" cy="2668679"/>
          </a:xfrm>
          <a:prstGeom prst="rect">
            <a:avLst/>
          </a:prstGeom>
          <a:pattFill prst="dotGrid">
            <a:fgClr>
              <a:schemeClr val="tx2">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z-Cyrl-UZ" sz="1700" dirty="0" smtClean="0">
                <a:solidFill>
                  <a:schemeClr val="tx1"/>
                </a:solidFill>
                <a:latin typeface="Times New Roman" pitchFamily="18" charset="0"/>
                <a:cs typeface="Times New Roman" pitchFamily="18" charset="0"/>
              </a:rPr>
              <a:t>        Ўз-ўзидан </a:t>
            </a:r>
            <a:r>
              <a:rPr lang="uz-Cyrl-UZ" sz="1700" dirty="0">
                <a:solidFill>
                  <a:schemeClr val="tx1"/>
                </a:solidFill>
                <a:latin typeface="Times New Roman" pitchFamily="18" charset="0"/>
                <a:cs typeface="Times New Roman" pitchFamily="18" charset="0"/>
              </a:rPr>
              <a:t>синхронлашувчи узлуксиз шифрлаш тизимларида қўлланилаётган генераторнинг ички ҳолати қабул қилинаётган шифрматнга боғлиқ бўлади.</a:t>
            </a:r>
          </a:p>
          <a:p>
            <a:pPr algn="just"/>
            <a:r>
              <a:rPr lang="uz-Cyrl-UZ" sz="1700" dirty="0">
                <a:solidFill>
                  <a:schemeClr val="tx1"/>
                </a:solidFill>
                <a:latin typeface="Times New Roman" pitchFamily="18" charset="0"/>
                <a:cs typeface="Times New Roman" pitchFamily="18" charset="0"/>
              </a:rPr>
              <a:t>        Ўз-ўзидан синхронлашувчи узлуксизшифрлада  шифр-матннинг бир бити хато қабул қилинган бўлса, шу қабул қилинган битдан кейинги очиқ матн нотўғри </a:t>
            </a:r>
            <a:r>
              <a:rPr lang="uz-Cyrl-UZ" sz="1700" dirty="0" smtClean="0">
                <a:solidFill>
                  <a:schemeClr val="tx1"/>
                </a:solidFill>
                <a:latin typeface="Times New Roman" pitchFamily="18" charset="0"/>
                <a:cs typeface="Times New Roman" pitchFamily="18" charset="0"/>
              </a:rPr>
              <a:t>дешифрланади.</a:t>
            </a:r>
            <a:r>
              <a:rPr lang="uz-Cyrl-UZ" b="1" dirty="0" smtClean="0">
                <a:latin typeface="Times New Roman" pitchFamily="18" charset="0"/>
                <a:cs typeface="Times New Roman" pitchFamily="18" charset="0"/>
              </a:rPr>
              <a:t>.</a:t>
            </a:r>
            <a:endParaRPr lang="ru-RU" b="1" dirty="0">
              <a:latin typeface="Times New Roman" pitchFamily="18" charset="0"/>
              <a:cs typeface="Times New Roman" pitchFamily="18" charset="0"/>
            </a:endParaRPr>
          </a:p>
        </p:txBody>
      </p:sp>
      <p:cxnSp>
        <p:nvCxnSpPr>
          <p:cNvPr id="75" name="Прямая со стрелкой 74"/>
          <p:cNvCxnSpPr/>
          <p:nvPr/>
        </p:nvCxnSpPr>
        <p:spPr>
          <a:xfrm>
            <a:off x="2807913" y="1556792"/>
            <a:ext cx="0" cy="217755"/>
          </a:xfrm>
          <a:prstGeom prst="straightConnector1">
            <a:avLst/>
          </a:prstGeom>
          <a:pattFill prst="openDmnd">
            <a:fgClr>
              <a:schemeClr val="tx2">
                <a:lumMod val="20000"/>
                <a:lumOff val="80000"/>
              </a:schemeClr>
            </a:fgClr>
            <a:bgClr>
              <a:schemeClr val="bg1"/>
            </a:bgClr>
          </a:pattFill>
          <a:ln w="28575">
            <a:tailEnd type="arrow"/>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p:nvPr/>
        </p:nvCxnSpPr>
        <p:spPr>
          <a:xfrm>
            <a:off x="6856605" y="1556791"/>
            <a:ext cx="0" cy="217755"/>
          </a:xfrm>
          <a:prstGeom prst="straightConnector1">
            <a:avLst/>
          </a:prstGeom>
          <a:pattFill prst="openDmnd">
            <a:fgClr>
              <a:schemeClr val="tx2">
                <a:lumMod val="20000"/>
                <a:lumOff val="80000"/>
              </a:schemeClr>
            </a:fgClr>
            <a:bgClr>
              <a:schemeClr val="bg1"/>
            </a:bgClr>
          </a:pattFill>
          <a:ln w="28575">
            <a:tailEnd type="arrow"/>
          </a:ln>
        </p:spPr>
        <p:style>
          <a:lnRef idx="1">
            <a:schemeClr val="accent1"/>
          </a:lnRef>
          <a:fillRef idx="0">
            <a:schemeClr val="accent1"/>
          </a:fillRef>
          <a:effectRef idx="0">
            <a:schemeClr val="accent1"/>
          </a:effectRef>
          <a:fontRef idx="minor">
            <a:schemeClr val="tx1"/>
          </a:fontRef>
        </p:style>
      </p:cxnSp>
      <p:sp>
        <p:nvSpPr>
          <p:cNvPr id="78" name="Прямоугольник 77"/>
          <p:cNvSpPr/>
          <p:nvPr/>
        </p:nvSpPr>
        <p:spPr>
          <a:xfrm>
            <a:off x="746971" y="2200481"/>
            <a:ext cx="3744416" cy="2524663"/>
          </a:xfrm>
          <a:prstGeom prst="rect">
            <a:avLst/>
          </a:prstGeom>
          <a:pattFill prst="dotGrid">
            <a:fgClr>
              <a:schemeClr val="tx2">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RC4 алгоритми</a:t>
            </a:r>
          </a:p>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А5 алгоритми</a:t>
            </a:r>
          </a:p>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SNOW  алгоритми</a:t>
            </a:r>
            <a:endParaRPr lang="ru-RU" sz="2000" dirty="0">
              <a:solidFill>
                <a:schemeClr val="tx1"/>
              </a:solidFill>
              <a:latin typeface="Times New Roman" pitchFamily="18" charset="0"/>
              <a:cs typeface="Times New Roman" pitchFamily="18" charset="0"/>
            </a:endParaRPr>
          </a:p>
          <a:p>
            <a:pPr marL="742950" lvl="1" indent="-285750">
              <a:buFont typeface="Arial" pitchFamily="34" charset="0"/>
              <a:buChar char="•"/>
            </a:pPr>
            <a:r>
              <a:rPr lang="en-US" sz="2000" dirty="0">
                <a:solidFill>
                  <a:schemeClr val="tx1"/>
                </a:solidFill>
                <a:latin typeface="Times New Roman" pitchFamily="18" charset="0"/>
                <a:cs typeface="Times New Roman" pitchFamily="18" charset="0"/>
              </a:rPr>
              <a:t>BMGL </a:t>
            </a:r>
            <a:r>
              <a:rPr lang="uz-Cyrl-UZ" sz="2000" dirty="0">
                <a:solidFill>
                  <a:schemeClr val="tx1"/>
                </a:solidFill>
                <a:latin typeface="Times New Roman" pitchFamily="18" charset="0"/>
                <a:cs typeface="Times New Roman" pitchFamily="18" charset="0"/>
              </a:rPr>
              <a:t>алгоритми</a:t>
            </a:r>
            <a:endParaRPr lang="ru-RU" sz="2000" dirty="0">
              <a:solidFill>
                <a:schemeClr val="tx1"/>
              </a:solidFill>
              <a:latin typeface="Times New Roman" pitchFamily="18" charset="0"/>
              <a:cs typeface="Times New Roman" pitchFamily="18" charset="0"/>
            </a:endParaRPr>
          </a:p>
          <a:p>
            <a:pPr marL="742950" lvl="1" indent="-285750">
              <a:buFont typeface="Arial" pitchFamily="34" charset="0"/>
              <a:buChar char="•"/>
            </a:pPr>
            <a:r>
              <a:rPr lang="en-US" sz="2000" dirty="0">
                <a:solidFill>
                  <a:schemeClr val="tx1"/>
                </a:solidFill>
                <a:latin typeface="Times New Roman" pitchFamily="18" charset="0"/>
                <a:cs typeface="Times New Roman" pitchFamily="18" charset="0"/>
              </a:rPr>
              <a:t>SOBER </a:t>
            </a:r>
            <a:r>
              <a:rPr lang="uz-Cyrl-UZ" sz="2000" dirty="0">
                <a:solidFill>
                  <a:schemeClr val="tx1"/>
                </a:solidFill>
                <a:latin typeface="Times New Roman" pitchFamily="18" charset="0"/>
                <a:cs typeface="Times New Roman" pitchFamily="18" charset="0"/>
              </a:rPr>
              <a:t>алгоритми</a:t>
            </a:r>
            <a:endParaRPr lang="en-US" sz="2000" dirty="0">
              <a:solidFill>
                <a:schemeClr val="tx1"/>
              </a:solidFill>
              <a:latin typeface="Times New Roman" pitchFamily="18" charset="0"/>
              <a:cs typeface="Times New Roman" pitchFamily="18" charset="0"/>
            </a:endParaRPr>
          </a:p>
          <a:p>
            <a:pPr marL="742950" lvl="1" indent="-285750">
              <a:buFont typeface="Arial" pitchFamily="34" charset="0"/>
              <a:buChar char="•"/>
            </a:pPr>
            <a:r>
              <a:rPr lang="en-US" sz="2000" dirty="0">
                <a:solidFill>
                  <a:schemeClr val="tx1"/>
                </a:solidFill>
                <a:latin typeface="Times New Roman" pitchFamily="18" charset="0"/>
                <a:cs typeface="Times New Roman" pitchFamily="18" charset="0"/>
              </a:rPr>
              <a:t>Lili-128 </a:t>
            </a:r>
            <a:r>
              <a:rPr lang="uz-Cyrl-UZ" sz="2000" dirty="0">
                <a:solidFill>
                  <a:schemeClr val="tx1"/>
                </a:solidFill>
                <a:latin typeface="Times New Roman" pitchFamily="18" charset="0"/>
                <a:cs typeface="Times New Roman" pitchFamily="18" charset="0"/>
              </a:rPr>
              <a:t>алгоритми</a:t>
            </a:r>
            <a:endParaRPr lang="en-US" sz="2000" dirty="0">
              <a:solidFill>
                <a:schemeClr val="tx1"/>
              </a:solidFill>
              <a:latin typeface="Times New Roman" pitchFamily="18" charset="0"/>
              <a:cs typeface="Times New Roman" pitchFamily="18" charset="0"/>
            </a:endParaRPr>
          </a:p>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ва бошқалар</a:t>
            </a:r>
            <a:endParaRPr lang="ru-RU" sz="2000" dirty="0">
              <a:solidFill>
                <a:schemeClr val="tx1"/>
              </a:solidFill>
              <a:latin typeface="Times New Roman" pitchFamily="18" charset="0"/>
              <a:cs typeface="Times New Roman" pitchFamily="18" charset="0"/>
            </a:endParaRPr>
          </a:p>
        </p:txBody>
      </p:sp>
      <p:sp>
        <p:nvSpPr>
          <p:cNvPr id="79" name="Прямоугольник 78"/>
          <p:cNvSpPr/>
          <p:nvPr/>
        </p:nvSpPr>
        <p:spPr>
          <a:xfrm>
            <a:off x="4813383" y="2207681"/>
            <a:ext cx="3744416" cy="2517463"/>
          </a:xfrm>
          <a:prstGeom prst="rect">
            <a:avLst/>
          </a:prstGeom>
          <a:pattFill prst="dotGrid">
            <a:fgClr>
              <a:schemeClr val="tx2">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WAKE  алгоритми</a:t>
            </a:r>
          </a:p>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Маурер схемаси</a:t>
            </a:r>
          </a:p>
          <a:p>
            <a:pPr marL="742950" lvl="1" indent="-285750">
              <a:buFont typeface="Arial" pitchFamily="34" charset="0"/>
              <a:buChar char="•"/>
            </a:pPr>
            <a:r>
              <a:rPr lang="en-US" sz="2000" dirty="0">
                <a:solidFill>
                  <a:schemeClr val="tx1"/>
                </a:solidFill>
                <a:latin typeface="Times New Roman" pitchFamily="18" charset="0"/>
                <a:cs typeface="Times New Roman" pitchFamily="18" charset="0"/>
              </a:rPr>
              <a:t>SAPPHIRE II</a:t>
            </a:r>
          </a:p>
          <a:p>
            <a:pPr marL="742950" lvl="1" indent="-285750">
              <a:buFont typeface="Arial" pitchFamily="34" charset="0"/>
              <a:buChar char="•"/>
            </a:pPr>
            <a:r>
              <a:rPr lang="uz-Cyrl-UZ" sz="2000" dirty="0">
                <a:solidFill>
                  <a:schemeClr val="tx1"/>
                </a:solidFill>
                <a:latin typeface="Times New Roman" pitchFamily="18" charset="0"/>
                <a:cs typeface="Times New Roman" pitchFamily="18" charset="0"/>
              </a:rPr>
              <a:t>ва бошқалар</a:t>
            </a:r>
            <a:endParaRPr lang="ru-RU"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4589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down)">
                                      <p:cBhvr>
                                        <p:cTn id="16" dur="500"/>
                                        <p:tgtEl>
                                          <p:spTgt spid="49"/>
                                        </p:tgtEl>
                                      </p:cBhvr>
                                    </p:animEffect>
                                  </p:childTnLst>
                                </p:cTn>
                              </p:par>
                              <p:par>
                                <p:cTn id="17" presetID="22" presetClass="entr" presetSubtype="4"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down)">
                                      <p:cBhvr>
                                        <p:cTn id="19" dur="500"/>
                                        <p:tgtEl>
                                          <p:spTgt spid="50"/>
                                        </p:tgtEl>
                                      </p:cBhvr>
                                    </p:animEffect>
                                  </p:childTnLst>
                                </p:cTn>
                              </p:par>
                              <p:par>
                                <p:cTn id="20" presetID="22" presetClass="entr" presetSubtype="4"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wipe(down)">
                                      <p:cBhvr>
                                        <p:cTn id="22" dur="500"/>
                                        <p:tgtEl>
                                          <p:spTgt spid="75"/>
                                        </p:tgtEl>
                                      </p:cBhvr>
                                    </p:animEffect>
                                  </p:childTnLst>
                                </p:cTn>
                              </p:par>
                              <p:par>
                                <p:cTn id="23" presetID="22" presetClass="entr" presetSubtype="4"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animEffect transition="in" filter="wipe(down)">
                                      <p:cBhvr>
                                        <p:cTn id="25" dur="500"/>
                                        <p:tgtEl>
                                          <p:spTgt spid="77"/>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blinds(horizontal)">
                                      <p:cBhvr>
                                        <p:cTn id="29" dur="500"/>
                                        <p:tgtEl>
                                          <p:spTgt spid="55"/>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blinds(horizontal)">
                                      <p:cBhvr>
                                        <p:cTn id="32" dur="500"/>
                                        <p:tgtEl>
                                          <p:spTgt spid="56"/>
                                        </p:tgtEl>
                                      </p:cBhvr>
                                    </p:animEffect>
                                  </p:childTnLst>
                                </p:cTn>
                              </p:par>
                            </p:childTnLst>
                          </p:cTn>
                        </p:par>
                        <p:par>
                          <p:cTn id="33" fill="hold">
                            <p:stCondLst>
                              <p:cond delay="2000"/>
                            </p:stCondLst>
                            <p:childTnLst>
                              <p:par>
                                <p:cTn id="34" presetID="42" presetClass="entr" presetSubtype="0" fill="hold" grpId="0" nodeType="after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1000"/>
                                        <p:tgtEl>
                                          <p:spTgt spid="62"/>
                                        </p:tgtEl>
                                      </p:cBhvr>
                                    </p:animEffect>
                                    <p:anim calcmode="lin" valueType="num">
                                      <p:cBhvr>
                                        <p:cTn id="37" dur="1000" fill="hold"/>
                                        <p:tgtEl>
                                          <p:spTgt spid="62"/>
                                        </p:tgtEl>
                                        <p:attrNameLst>
                                          <p:attrName>ppt_x</p:attrName>
                                        </p:attrNameLst>
                                      </p:cBhvr>
                                      <p:tavLst>
                                        <p:tav tm="0">
                                          <p:val>
                                            <p:strVal val="#ppt_x"/>
                                          </p:val>
                                        </p:tav>
                                        <p:tav tm="100000">
                                          <p:val>
                                            <p:strVal val="#ppt_x"/>
                                          </p:val>
                                        </p:tav>
                                      </p:tavLst>
                                    </p:anim>
                                    <p:anim calcmode="lin" valueType="num">
                                      <p:cBhvr>
                                        <p:cTn id="38" dur="1000" fill="hold"/>
                                        <p:tgtEl>
                                          <p:spTgt spid="62"/>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animEffect transition="in" filter="fade">
                                      <p:cBhvr>
                                        <p:cTn id="41" dur="1000"/>
                                        <p:tgtEl>
                                          <p:spTgt spid="63"/>
                                        </p:tgtEl>
                                      </p:cBhvr>
                                    </p:animEffect>
                                    <p:anim calcmode="lin" valueType="num">
                                      <p:cBhvr>
                                        <p:cTn id="42" dur="1000" fill="hold"/>
                                        <p:tgtEl>
                                          <p:spTgt spid="63"/>
                                        </p:tgtEl>
                                        <p:attrNameLst>
                                          <p:attrName>ppt_x</p:attrName>
                                        </p:attrNameLst>
                                      </p:cBhvr>
                                      <p:tavLst>
                                        <p:tav tm="0">
                                          <p:val>
                                            <p:strVal val="#ppt_x"/>
                                          </p:val>
                                        </p:tav>
                                        <p:tav tm="100000">
                                          <p:val>
                                            <p:strVal val="#ppt_x"/>
                                          </p:val>
                                        </p:tav>
                                      </p:tavLst>
                                    </p:anim>
                                    <p:anim calcmode="lin" valueType="num">
                                      <p:cBhvr>
                                        <p:cTn id="43" dur="1000" fill="hold"/>
                                        <p:tgtEl>
                                          <p:spTgt spid="63"/>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42"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1000"/>
                                        <p:tgtEl>
                                          <p:spTgt spid="29"/>
                                        </p:tgtEl>
                                      </p:cBhvr>
                                    </p:animEffect>
                                    <p:anim calcmode="lin" valueType="num">
                                      <p:cBhvr>
                                        <p:cTn id="53" dur="1000" fill="hold"/>
                                        <p:tgtEl>
                                          <p:spTgt spid="29"/>
                                        </p:tgtEl>
                                        <p:attrNameLst>
                                          <p:attrName>ppt_x</p:attrName>
                                        </p:attrNameLst>
                                      </p:cBhvr>
                                      <p:tavLst>
                                        <p:tav tm="0">
                                          <p:val>
                                            <p:strVal val="#ppt_x"/>
                                          </p:val>
                                        </p:tav>
                                        <p:tav tm="100000">
                                          <p:val>
                                            <p:strVal val="#ppt_x"/>
                                          </p:val>
                                        </p:tav>
                                      </p:tavLst>
                                    </p:anim>
                                    <p:anim calcmode="lin" valueType="num">
                                      <p:cBhvr>
                                        <p:cTn id="5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xit" presetSubtype="4" fill="hold" grpId="1" nodeType="clickEffect">
                                  <p:stCondLst>
                                    <p:cond delay="0"/>
                                  </p:stCondLst>
                                  <p:childTnLst>
                                    <p:animEffect transition="out" filter="wipe(down)">
                                      <p:cBhvr>
                                        <p:cTn id="58" dur="500"/>
                                        <p:tgtEl>
                                          <p:spTgt spid="62"/>
                                        </p:tgtEl>
                                      </p:cBhvr>
                                    </p:animEffect>
                                    <p:set>
                                      <p:cBhvr>
                                        <p:cTn id="59" dur="1" fill="hold">
                                          <p:stCondLst>
                                            <p:cond delay="499"/>
                                          </p:stCondLst>
                                        </p:cTn>
                                        <p:tgtEl>
                                          <p:spTgt spid="62"/>
                                        </p:tgtEl>
                                        <p:attrNameLst>
                                          <p:attrName>style.visibility</p:attrName>
                                        </p:attrNameLst>
                                      </p:cBhvr>
                                      <p:to>
                                        <p:strVal val="hidden"/>
                                      </p:to>
                                    </p:set>
                                  </p:childTnLst>
                                </p:cTn>
                              </p:par>
                              <p:par>
                                <p:cTn id="60" presetID="22" presetClass="exit" presetSubtype="4" fill="hold" grpId="1" nodeType="withEffect">
                                  <p:stCondLst>
                                    <p:cond delay="0"/>
                                  </p:stCondLst>
                                  <p:childTnLst>
                                    <p:animEffect transition="out" filter="wipe(down)">
                                      <p:cBhvr>
                                        <p:cTn id="61" dur="500"/>
                                        <p:tgtEl>
                                          <p:spTgt spid="63"/>
                                        </p:tgtEl>
                                      </p:cBhvr>
                                    </p:animEffect>
                                    <p:set>
                                      <p:cBhvr>
                                        <p:cTn id="62" dur="1" fill="hold">
                                          <p:stCondLst>
                                            <p:cond delay="499"/>
                                          </p:stCondLst>
                                        </p:cTn>
                                        <p:tgtEl>
                                          <p:spTgt spid="63"/>
                                        </p:tgtEl>
                                        <p:attrNameLst>
                                          <p:attrName>style.visibility</p:attrName>
                                        </p:attrNameLst>
                                      </p:cBhvr>
                                      <p:to>
                                        <p:strVal val="hidden"/>
                                      </p:to>
                                    </p:set>
                                  </p:childTnLst>
                                </p:cTn>
                              </p:par>
                            </p:childTnLst>
                          </p:cTn>
                        </p:par>
                        <p:par>
                          <p:cTn id="63" fill="hold">
                            <p:stCondLst>
                              <p:cond delay="500"/>
                            </p:stCondLst>
                            <p:childTnLst>
                              <p:par>
                                <p:cTn id="64" presetID="42" presetClass="entr" presetSubtype="0" fill="hold" grpId="0" nodeType="after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fade">
                                      <p:cBhvr>
                                        <p:cTn id="66" dur="1000"/>
                                        <p:tgtEl>
                                          <p:spTgt spid="78"/>
                                        </p:tgtEl>
                                      </p:cBhvr>
                                    </p:animEffect>
                                    <p:anim calcmode="lin" valueType="num">
                                      <p:cBhvr>
                                        <p:cTn id="67" dur="1000" fill="hold"/>
                                        <p:tgtEl>
                                          <p:spTgt spid="78"/>
                                        </p:tgtEl>
                                        <p:attrNameLst>
                                          <p:attrName>ppt_x</p:attrName>
                                        </p:attrNameLst>
                                      </p:cBhvr>
                                      <p:tavLst>
                                        <p:tav tm="0">
                                          <p:val>
                                            <p:strVal val="#ppt_x"/>
                                          </p:val>
                                        </p:tav>
                                        <p:tav tm="100000">
                                          <p:val>
                                            <p:strVal val="#ppt_x"/>
                                          </p:val>
                                        </p:tav>
                                      </p:tavLst>
                                    </p:anim>
                                    <p:anim calcmode="lin" valueType="num">
                                      <p:cBhvr>
                                        <p:cTn id="68" dur="1000" fill="hold"/>
                                        <p:tgtEl>
                                          <p:spTgt spid="7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animEffect transition="in" filter="fade">
                                      <p:cBhvr>
                                        <p:cTn id="71" dur="1000"/>
                                        <p:tgtEl>
                                          <p:spTgt spid="79"/>
                                        </p:tgtEl>
                                      </p:cBhvr>
                                    </p:animEffect>
                                    <p:anim calcmode="lin" valueType="num">
                                      <p:cBhvr>
                                        <p:cTn id="72" dur="1000" fill="hold"/>
                                        <p:tgtEl>
                                          <p:spTgt spid="79"/>
                                        </p:tgtEl>
                                        <p:attrNameLst>
                                          <p:attrName>ppt_x</p:attrName>
                                        </p:attrNameLst>
                                      </p:cBhvr>
                                      <p:tavLst>
                                        <p:tav tm="0">
                                          <p:val>
                                            <p:strVal val="#ppt_x"/>
                                          </p:val>
                                        </p:tav>
                                        <p:tav tm="100000">
                                          <p:val>
                                            <p:strVal val="#ppt_x"/>
                                          </p:val>
                                        </p:tav>
                                      </p:tavLst>
                                    </p:anim>
                                    <p:anim calcmode="lin" valueType="num">
                                      <p:cBhvr>
                                        <p:cTn id="73"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55" grpId="0" animBg="1"/>
      <p:bldP spid="56" grpId="0" animBg="1"/>
      <p:bldP spid="62" grpId="0" animBg="1"/>
      <p:bldP spid="62" grpId="1" animBg="1"/>
      <p:bldP spid="63" grpId="0" animBg="1"/>
      <p:bldP spid="63" grpId="1" animBg="1"/>
      <p:bldP spid="78" grpId="0" animBg="1"/>
      <p:bldP spid="7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кругленный прямоугольник 25"/>
          <p:cNvSpPr/>
          <p:nvPr/>
        </p:nvSpPr>
        <p:spPr>
          <a:xfrm>
            <a:off x="1043609" y="404664"/>
            <a:ext cx="6984776"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2000" b="1" dirty="0" smtClean="0">
                <a:solidFill>
                  <a:schemeClr val="tx1"/>
                </a:solidFill>
                <a:latin typeface="Times New Roman" pitchFamily="18" charset="0"/>
                <a:cs typeface="Times New Roman" pitchFamily="18" charset="0"/>
              </a:rPr>
              <a:t>А5 </a:t>
            </a:r>
            <a:r>
              <a:rPr lang="uz-Cyrl-UZ" sz="2000" b="1" dirty="0">
                <a:solidFill>
                  <a:schemeClr val="tx1"/>
                </a:solidFill>
                <a:latin typeface="Times New Roman" pitchFamily="18" charset="0"/>
                <a:cs typeface="Times New Roman" pitchFamily="18" charset="0"/>
              </a:rPr>
              <a:t>узлуксиз шифрлаш </a:t>
            </a:r>
            <a:r>
              <a:rPr lang="uz-Cyrl-UZ" sz="2000" b="1" dirty="0" smtClean="0">
                <a:solidFill>
                  <a:schemeClr val="tx1"/>
                </a:solidFill>
                <a:latin typeface="Times New Roman" pitchFamily="18" charset="0"/>
                <a:cs typeface="Times New Roman" pitchFamily="18" charset="0"/>
              </a:rPr>
              <a:t>алгоритми</a:t>
            </a:r>
            <a:endParaRPr lang="ru-RU" sz="2000" b="1" dirty="0">
              <a:solidFill>
                <a:schemeClr val="tx1"/>
              </a:solidFill>
              <a:latin typeface="Times New Roman" pitchFamily="18" charset="0"/>
              <a:cs typeface="Times New Roman" pitchFamily="18" charset="0"/>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124744"/>
            <a:ext cx="6408712"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827583" y="4293096"/>
            <a:ext cx="7517067" cy="23042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smtClean="0">
              <a:solidFill>
                <a:schemeClr val="tx1"/>
              </a:solidFill>
              <a:latin typeface="Times New Roman" pitchFamily="18" charset="0"/>
              <a:cs typeface="Times New Roman" pitchFamily="18" charset="0"/>
            </a:endParaRPr>
          </a:p>
          <a:p>
            <a:pPr algn="just"/>
            <a:endParaRPr lang="en-US" dirty="0" smtClean="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А5 </a:t>
            </a:r>
            <a:r>
              <a:rPr lang="uz-Cyrl-UZ" dirty="0">
                <a:solidFill>
                  <a:schemeClr val="tx1"/>
                </a:solidFill>
                <a:latin typeface="Times New Roman" pitchFamily="18" charset="0"/>
                <a:cs typeface="Times New Roman" pitchFamily="18" charset="0"/>
              </a:rPr>
              <a:t>алгоритмида псевдотасодифий кетма-кетлик учта чизиқли тескари боғланишли R</a:t>
            </a:r>
            <a:r>
              <a:rPr lang="uz-Cyrl-UZ" baseline="-25000" dirty="0">
                <a:solidFill>
                  <a:schemeClr val="tx1"/>
                </a:solidFill>
                <a:latin typeface="Times New Roman" pitchFamily="18" charset="0"/>
                <a:cs typeface="Times New Roman" pitchFamily="18" charset="0"/>
              </a:rPr>
              <a:t>1</a:t>
            </a:r>
            <a:r>
              <a:rPr lang="uz-Cyrl-UZ" dirty="0">
                <a:solidFill>
                  <a:schemeClr val="tx1"/>
                </a:solidFill>
                <a:latin typeface="Times New Roman" pitchFamily="18" charset="0"/>
                <a:cs typeface="Times New Roman" pitchFamily="18" charset="0"/>
              </a:rPr>
              <a:t>, R</a:t>
            </a:r>
            <a:r>
              <a:rPr lang="uz-Cyrl-UZ" baseline="-25000" dirty="0">
                <a:solidFill>
                  <a:schemeClr val="tx1"/>
                </a:solidFill>
                <a:latin typeface="Times New Roman" pitchFamily="18" charset="0"/>
                <a:cs typeface="Times New Roman" pitchFamily="18" charset="0"/>
              </a:rPr>
              <a:t>2</a:t>
            </a:r>
            <a:r>
              <a:rPr lang="uz-Cyrl-UZ" dirty="0">
                <a:solidFill>
                  <a:schemeClr val="tx1"/>
                </a:solidFill>
                <a:latin typeface="Times New Roman" pitchFamily="18" charset="0"/>
                <a:cs typeface="Times New Roman" pitchFamily="18" charset="0"/>
              </a:rPr>
              <a:t>, R</a:t>
            </a:r>
            <a:r>
              <a:rPr lang="uz-Cyrl-UZ" baseline="-25000" dirty="0">
                <a:solidFill>
                  <a:schemeClr val="tx1"/>
                </a:solidFill>
                <a:latin typeface="Times New Roman" pitchFamily="18" charset="0"/>
                <a:cs typeface="Times New Roman" pitchFamily="18" charset="0"/>
              </a:rPr>
              <a:t>3</a:t>
            </a:r>
            <a:r>
              <a:rPr lang="uz-Cyrl-UZ" dirty="0">
                <a:solidFill>
                  <a:schemeClr val="tx1"/>
                </a:solidFill>
                <a:latin typeface="Times New Roman" pitchFamily="18" charset="0"/>
                <a:cs typeface="Times New Roman" pitchFamily="18" charset="0"/>
              </a:rPr>
              <a:t> – силжитиш регистрлари (ЧТБСР) асосида амалга </a:t>
            </a:r>
            <a:r>
              <a:rPr lang="uz-Cyrl-UZ" dirty="0" smtClean="0">
                <a:solidFill>
                  <a:schemeClr val="tx1"/>
                </a:solidFill>
                <a:latin typeface="Times New Roman" pitchFamily="18" charset="0"/>
                <a:cs typeface="Times New Roman" pitchFamily="18" charset="0"/>
              </a:rPr>
              <a:t>оширилади. </a:t>
            </a:r>
            <a:r>
              <a:rPr lang="uz-Cyrl-UZ" dirty="0">
                <a:solidFill>
                  <a:schemeClr val="tx1"/>
                </a:solidFill>
                <a:latin typeface="Times New Roman" pitchFamily="18" charset="0"/>
                <a:cs typeface="Times New Roman" pitchFamily="18" charset="0"/>
              </a:rPr>
              <a:t>Регистрлар мос равишда 19, 22, 23 бит узунликка эга бўлади. Силжишларни махсус схема бошқариб туради. Алгоритмнинг комбинацияловчи функцияси </a:t>
            </a:r>
            <a:r>
              <a:rPr lang="uz-Cyrl-UZ" b="1" i="1" dirty="0">
                <a:solidFill>
                  <a:schemeClr val="tx1"/>
                </a:solidFill>
                <a:latin typeface="Times New Roman" pitchFamily="18" charset="0"/>
                <a:cs typeface="Times New Roman" pitchFamily="18" charset="0"/>
              </a:rPr>
              <a:t>f </a:t>
            </a:r>
            <a:r>
              <a:rPr lang="uz-Cyrl-UZ" b="1" dirty="0">
                <a:solidFill>
                  <a:schemeClr val="tx1"/>
                </a:solidFill>
                <a:latin typeface="Times New Roman" pitchFamily="18" charset="0"/>
                <a:cs typeface="Times New Roman" pitchFamily="18" charset="0"/>
              </a:rPr>
              <a:t>(</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1</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2</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3</a:t>
            </a:r>
            <a:r>
              <a:rPr lang="uz-Cyrl-UZ" b="1" dirty="0">
                <a:solidFill>
                  <a:schemeClr val="tx1"/>
                </a:solidFill>
                <a:latin typeface="Times New Roman" pitchFamily="18" charset="0"/>
                <a:cs typeface="Times New Roman" pitchFamily="18" charset="0"/>
              </a:rPr>
              <a:t>) = </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1</a:t>
            </a:r>
            <a:r>
              <a:rPr lang="uz-Cyrl-UZ" sz="1400" b="1" dirty="0">
                <a:solidFill>
                  <a:schemeClr val="tx1"/>
                </a:solidFill>
                <a:latin typeface="Times New Roman" pitchFamily="18" charset="0"/>
                <a:cs typeface="Times New Roman" pitchFamily="18" charset="0"/>
              </a:rPr>
              <a:t>⊕</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2</a:t>
            </a:r>
            <a:r>
              <a:rPr lang="uz-Cyrl-UZ" sz="1400" b="1" dirty="0">
                <a:solidFill>
                  <a:schemeClr val="tx1"/>
                </a:solidFill>
                <a:latin typeface="Times New Roman" pitchFamily="18" charset="0"/>
                <a:cs typeface="Times New Roman" pitchFamily="18" charset="0"/>
              </a:rPr>
              <a:t>⊕</a:t>
            </a:r>
            <a:r>
              <a:rPr lang="uz-Cyrl-UZ" b="1" dirty="0">
                <a:solidFill>
                  <a:schemeClr val="tx1"/>
                </a:solidFill>
                <a:latin typeface="Times New Roman" pitchFamily="18" charset="0"/>
                <a:cs typeface="Times New Roman" pitchFamily="18" charset="0"/>
              </a:rPr>
              <a:t> </a:t>
            </a:r>
            <a:r>
              <a:rPr lang="uz-Cyrl-UZ" b="1" i="1" dirty="0">
                <a:solidFill>
                  <a:schemeClr val="tx1"/>
                </a:solidFill>
                <a:latin typeface="Times New Roman" pitchFamily="18" charset="0"/>
                <a:cs typeface="Times New Roman" pitchFamily="18" charset="0"/>
              </a:rPr>
              <a:t>x</a:t>
            </a:r>
            <a:r>
              <a:rPr lang="uz-Cyrl-UZ" b="1" i="1" baseline="-25000" dirty="0">
                <a:solidFill>
                  <a:schemeClr val="tx1"/>
                </a:solidFill>
                <a:latin typeface="Times New Roman" pitchFamily="18" charset="0"/>
                <a:cs typeface="Times New Roman" pitchFamily="18" charset="0"/>
              </a:rPr>
              <a:t>3</a:t>
            </a:r>
            <a:r>
              <a:rPr lang="uz-Cyrl-UZ" dirty="0">
                <a:solidFill>
                  <a:schemeClr val="tx1"/>
                </a:solidFill>
                <a:latin typeface="Times New Roman" pitchFamily="18" charset="0"/>
                <a:cs typeface="Times New Roman" pitchFamily="18" charset="0"/>
              </a:rPr>
              <a:t> кўринишга эга</a:t>
            </a:r>
            <a:r>
              <a:rPr lang="uz-Cyrl-UZ" dirty="0" smtClean="0">
                <a:solidFill>
                  <a:schemeClr val="tx1"/>
                </a:solidFill>
                <a:latin typeface="Times New Roman" pitchFamily="18" charset="0"/>
                <a:cs typeface="Times New Roman" pitchFamily="18" charset="0"/>
              </a:rPr>
              <a:t>.</a:t>
            </a:r>
            <a:endParaRPr lang="en-US" dirty="0" smtClean="0">
              <a:solidFill>
                <a:schemeClr val="tx1"/>
              </a:solidFill>
              <a:latin typeface="Times New Roman" pitchFamily="18" charset="0"/>
              <a:cs typeface="Times New Roman" pitchFamily="18" charset="0"/>
            </a:endParaRPr>
          </a:p>
          <a:p>
            <a:r>
              <a:rPr lang="en-US"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Регистрларнинг </a:t>
            </a:r>
            <a:r>
              <a:rPr lang="uz-Cyrl-UZ" dirty="0">
                <a:solidFill>
                  <a:schemeClr val="tx1"/>
                </a:solidFill>
                <a:latin typeface="Times New Roman" pitchFamily="18" charset="0"/>
                <a:cs typeface="Times New Roman" pitchFamily="18" charset="0"/>
              </a:rPr>
              <a:t>тескари алоқа кўпхадлари </a:t>
            </a:r>
            <a:r>
              <a:rPr lang="uz-Cyrl-UZ" dirty="0" smtClean="0">
                <a:solidFill>
                  <a:schemeClr val="tx1"/>
                </a:solidFill>
                <a:latin typeface="Times New Roman" pitchFamily="18" charset="0"/>
                <a:cs typeface="Times New Roman" pitchFamily="18" charset="0"/>
              </a:rPr>
              <a:t>қуйидаги </a:t>
            </a:r>
            <a:r>
              <a:rPr lang="uz-Cyrl-UZ" dirty="0">
                <a:solidFill>
                  <a:schemeClr val="tx1"/>
                </a:solidFill>
                <a:latin typeface="Times New Roman" pitchFamily="18" charset="0"/>
                <a:cs typeface="Times New Roman" pitchFamily="18" charset="0"/>
              </a:rPr>
              <a:t>кўринишга эга:</a:t>
            </a:r>
            <a:endParaRPr lang="ru-RU" dirty="0">
              <a:solidFill>
                <a:schemeClr val="tx1"/>
              </a:solidFill>
              <a:latin typeface="Times New Roman" pitchFamily="18" charset="0"/>
              <a:cs typeface="Times New Roman" pitchFamily="18" charset="0"/>
            </a:endParaRPr>
          </a:p>
          <a:p>
            <a:pPr lvl="0"/>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19</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18</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a:t>
            </a:r>
            <a:r>
              <a:rPr lang="ru-RU" b="1" i="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17</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14</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dirty="0" smtClean="0">
                <a:solidFill>
                  <a:schemeClr val="tx1"/>
                </a:solidFill>
                <a:latin typeface="Times New Roman" pitchFamily="18" charset="0"/>
                <a:cs typeface="Times New Roman" pitchFamily="18" charset="0"/>
              </a:rPr>
              <a:t>1 </a:t>
            </a:r>
            <a:r>
              <a:rPr lang="en-US" dirty="0" smtClean="0">
                <a:solidFill>
                  <a:schemeClr val="tx1"/>
                </a:solidFill>
                <a:latin typeface="Times New Roman" pitchFamily="18" charset="0"/>
                <a:cs typeface="Times New Roman" pitchFamily="18" charset="0"/>
              </a:rPr>
              <a:t>– </a:t>
            </a:r>
            <a:r>
              <a:rPr lang="ru-RU" dirty="0" smtClean="0">
                <a:solidFill>
                  <a:schemeClr val="tx1"/>
                </a:solidFill>
                <a:latin typeface="Times New Roman" pitchFamily="18" charset="0"/>
                <a:cs typeface="Times New Roman" pitchFamily="18" charset="0"/>
              </a:rPr>
              <a:t>R1</a:t>
            </a:r>
            <a:r>
              <a:rPr lang="en-US"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учун</a:t>
            </a:r>
            <a:r>
              <a:rPr lang="ru-RU" dirty="0" smtClean="0">
                <a:solidFill>
                  <a:schemeClr val="tx1"/>
                </a:solidFill>
                <a:latin typeface="Times New Roman" pitchFamily="18" charset="0"/>
                <a:cs typeface="Times New Roman" pitchFamily="18" charset="0"/>
              </a:rPr>
              <a:t>,</a:t>
            </a:r>
            <a:r>
              <a:rPr lang="en-US" dirty="0" smtClean="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22</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21</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ru-RU" b="1" dirty="0" smtClean="0">
                <a:solidFill>
                  <a:schemeClr val="tx1"/>
                </a:solidFill>
                <a:latin typeface="Times New Roman" pitchFamily="18" charset="0"/>
                <a:cs typeface="Times New Roman" pitchFamily="18" charset="0"/>
              </a:rPr>
              <a:t>1</a:t>
            </a:r>
            <a:r>
              <a:rPr lang="en-US" b="1"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a:t>
            </a:r>
            <a:r>
              <a:rPr lang="uz-Cyrl-UZ" dirty="0" smtClean="0">
                <a:solidFill>
                  <a:schemeClr val="tx1"/>
                </a:solidFill>
                <a:latin typeface="Times New Roman" pitchFamily="18" charset="0"/>
                <a:cs typeface="Times New Roman" pitchFamily="18" charset="0"/>
              </a:rPr>
              <a:t> </a:t>
            </a:r>
            <a:r>
              <a:rPr lang="ru-RU" dirty="0">
                <a:solidFill>
                  <a:schemeClr val="tx1"/>
                </a:solidFill>
                <a:latin typeface="Times New Roman" pitchFamily="18" charset="0"/>
                <a:cs typeface="Times New Roman" pitchFamily="18" charset="0"/>
              </a:rPr>
              <a:t>R</a:t>
            </a:r>
            <a:r>
              <a:rPr lang="uz-Cyrl-UZ" dirty="0">
                <a:solidFill>
                  <a:schemeClr val="tx1"/>
                </a:solidFill>
                <a:latin typeface="Times New Roman" pitchFamily="18" charset="0"/>
                <a:cs typeface="Times New Roman" pitchFamily="18" charset="0"/>
              </a:rPr>
              <a:t>2 </a:t>
            </a:r>
            <a:r>
              <a:rPr lang="uz-Cyrl-UZ" dirty="0" smtClean="0">
                <a:solidFill>
                  <a:schemeClr val="tx1"/>
                </a:solidFill>
                <a:latin typeface="Times New Roman" pitchFamily="18" charset="0"/>
                <a:cs typeface="Times New Roman" pitchFamily="18" charset="0"/>
              </a:rPr>
              <a:t>учун</a:t>
            </a:r>
            <a:r>
              <a:rPr lang="en-US" dirty="0" smtClean="0">
                <a:solidFill>
                  <a:schemeClr val="tx1"/>
                </a:solidFill>
                <a:latin typeface="Times New Roman" pitchFamily="18" charset="0"/>
                <a:cs typeface="Times New Roman" pitchFamily="18" charset="0"/>
              </a:rPr>
              <a:t>, </a:t>
            </a:r>
          </a:p>
          <a:p>
            <a:pPr lvl="0"/>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23</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22</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21</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en-US" b="1" i="1" dirty="0" smtClean="0">
                <a:solidFill>
                  <a:schemeClr val="tx1"/>
                </a:solidFill>
                <a:latin typeface="Times New Roman" pitchFamily="18" charset="0"/>
                <a:cs typeface="Times New Roman" pitchFamily="18" charset="0"/>
              </a:rPr>
              <a:t>x</a:t>
            </a:r>
            <a:r>
              <a:rPr lang="ru-RU" b="1" baseline="30000" dirty="0" smtClean="0">
                <a:solidFill>
                  <a:schemeClr val="tx1"/>
                </a:solidFill>
                <a:latin typeface="Times New Roman" pitchFamily="18" charset="0"/>
                <a:cs typeface="Times New Roman" pitchFamily="18" charset="0"/>
              </a:rPr>
              <a:t>8</a:t>
            </a:r>
            <a:r>
              <a:rPr lang="ru-RU" b="1" dirty="0" smtClean="0">
                <a:solidFill>
                  <a:schemeClr val="tx1"/>
                </a:solidFill>
                <a:latin typeface="Times New Roman" pitchFamily="18" charset="0"/>
                <a:cs typeface="Times New Roman" pitchFamily="18" charset="0"/>
              </a:rPr>
              <a:t> </a:t>
            </a:r>
            <a:r>
              <a:rPr lang="ru-RU" b="1" dirty="0">
                <a:solidFill>
                  <a:schemeClr val="tx1"/>
                </a:solidFill>
                <a:latin typeface="Times New Roman" pitchFamily="18" charset="0"/>
                <a:cs typeface="Times New Roman" pitchFamily="18" charset="0"/>
              </a:rPr>
              <a:t>+ </a:t>
            </a:r>
            <a:r>
              <a:rPr lang="ru-RU" b="1" dirty="0" smtClean="0">
                <a:solidFill>
                  <a:schemeClr val="tx1"/>
                </a:solidFill>
                <a:latin typeface="Times New Roman" pitchFamily="18" charset="0"/>
                <a:cs typeface="Times New Roman" pitchFamily="18" charset="0"/>
              </a:rPr>
              <a:t>1</a:t>
            </a:r>
            <a:r>
              <a:rPr lang="en-US" b="1"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a:t>
            </a:r>
            <a:r>
              <a:rPr lang="uz-Cyrl-UZ" dirty="0" smtClean="0">
                <a:solidFill>
                  <a:schemeClr val="tx1"/>
                </a:solidFill>
                <a:latin typeface="Times New Roman" pitchFamily="18" charset="0"/>
                <a:cs typeface="Times New Roman" pitchFamily="18" charset="0"/>
              </a:rPr>
              <a:t>  </a:t>
            </a:r>
            <a:r>
              <a:rPr lang="ru-RU" dirty="0">
                <a:solidFill>
                  <a:schemeClr val="tx1"/>
                </a:solidFill>
                <a:latin typeface="Times New Roman" pitchFamily="18" charset="0"/>
                <a:cs typeface="Times New Roman" pitchFamily="18" charset="0"/>
              </a:rPr>
              <a:t>R</a:t>
            </a:r>
            <a:r>
              <a:rPr lang="uz-Cyrl-UZ" dirty="0">
                <a:solidFill>
                  <a:schemeClr val="tx1"/>
                </a:solidFill>
                <a:latin typeface="Times New Roman" pitchFamily="18" charset="0"/>
                <a:cs typeface="Times New Roman" pitchFamily="18" charset="0"/>
              </a:rPr>
              <a:t>3 </a:t>
            </a:r>
            <a:r>
              <a:rPr lang="uz-Cyrl-UZ" dirty="0" smtClean="0">
                <a:solidFill>
                  <a:schemeClr val="tx1"/>
                </a:solidFill>
                <a:latin typeface="Times New Roman" pitchFamily="18" charset="0"/>
                <a:cs typeface="Times New Roman" pitchFamily="18" charset="0"/>
              </a:rPr>
              <a:t>учун</a:t>
            </a:r>
            <a:r>
              <a:rPr lang="en-US" dirty="0">
                <a:solidFill>
                  <a:schemeClr val="tx1"/>
                </a:solidFill>
                <a:latin typeface="Times New Roman" pitchFamily="18" charset="0"/>
                <a:cs typeface="Times New Roman" pitchFamily="18" charset="0"/>
              </a:rPr>
              <a:t>.</a:t>
            </a:r>
            <a:endParaRPr lang="ru-RU" dirty="0">
              <a:solidFill>
                <a:schemeClr val="tx1"/>
              </a:solidFill>
              <a:latin typeface="Times New Roman" pitchFamily="18" charset="0"/>
              <a:cs typeface="Times New Roman" pitchFamily="18" charset="0"/>
            </a:endParaRPr>
          </a:p>
          <a:p>
            <a:pPr algn="just"/>
            <a:endParaRPr lang="ru-RU" dirty="0">
              <a:solidFill>
                <a:schemeClr val="tx1"/>
              </a:solidFill>
              <a:latin typeface="Times New Roman" pitchFamily="18" charset="0"/>
              <a:cs typeface="Times New Roman" pitchFamily="18" charset="0"/>
            </a:endParaRPr>
          </a:p>
          <a:p>
            <a:pPr algn="just"/>
            <a:endParaRPr lang="ru-RU"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7321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8"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amond(in)">
                                      <p:cBhvr>
                                        <p:cTn id="11" dur="1000"/>
                                        <p:tgtEl>
                                          <p:spTgt spid="6"/>
                                        </p:tgtEl>
                                      </p:cBhvr>
                                    </p:animEffect>
                                  </p:childTnLst>
                                </p:cTn>
                              </p:par>
                            </p:childTnLst>
                          </p:cTn>
                        </p:par>
                        <p:par>
                          <p:cTn id="12" fill="hold">
                            <p:stCondLst>
                              <p:cond delay="1500"/>
                            </p:stCondLst>
                            <p:childTnLst>
                              <p:par>
                                <p:cTn id="13" presetID="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кругленный прямоугольник 25"/>
          <p:cNvSpPr/>
          <p:nvPr/>
        </p:nvSpPr>
        <p:spPr>
          <a:xfrm>
            <a:off x="1115616" y="368660"/>
            <a:ext cx="6912768" cy="46805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b="1" dirty="0" smtClean="0">
                <a:solidFill>
                  <a:schemeClr val="tx1"/>
                </a:solidFill>
                <a:latin typeface="Times New Roman" pitchFamily="18" charset="0"/>
                <a:cs typeface="Times New Roman" pitchFamily="18" charset="0"/>
              </a:rPr>
              <a:t> </a:t>
            </a:r>
            <a:endParaRPr lang="en-US" b="1" dirty="0" smtClean="0">
              <a:solidFill>
                <a:schemeClr val="tx1"/>
              </a:solidFill>
              <a:latin typeface="Times New Roman" pitchFamily="18" charset="0"/>
              <a:cs typeface="Times New Roman" pitchFamily="18" charset="0"/>
            </a:endParaRPr>
          </a:p>
          <a:p>
            <a:pPr algn="ctr"/>
            <a:r>
              <a:rPr lang="uz-Cyrl-UZ" sz="2000" b="1" dirty="0">
                <a:solidFill>
                  <a:schemeClr val="tx1"/>
                </a:solidFill>
                <a:latin typeface="Times New Roman" pitchFamily="18" charset="0"/>
                <a:cs typeface="Times New Roman" pitchFamily="18" charset="0"/>
              </a:rPr>
              <a:t>LILI – 128</a:t>
            </a:r>
            <a:r>
              <a:rPr lang="uz-Cyrl-UZ" sz="2000" dirty="0">
                <a:solidFill>
                  <a:schemeClr val="tx1"/>
                </a:solidFill>
                <a:latin typeface="Times New Roman" pitchFamily="18" charset="0"/>
                <a:cs typeface="Times New Roman" pitchFamily="18" charset="0"/>
              </a:rPr>
              <a:t> </a:t>
            </a:r>
            <a:r>
              <a:rPr lang="uz-Cyrl-UZ" sz="2000" b="1" dirty="0" smtClean="0">
                <a:solidFill>
                  <a:schemeClr val="tx1"/>
                </a:solidFill>
                <a:latin typeface="Times New Roman" pitchFamily="18" charset="0"/>
                <a:cs typeface="Times New Roman" pitchFamily="18" charset="0"/>
              </a:rPr>
              <a:t>алгоритми</a:t>
            </a:r>
            <a:endParaRPr lang="ru-RU" sz="2000" dirty="0">
              <a:solidFill>
                <a:schemeClr val="tx1"/>
              </a:solidFill>
              <a:latin typeface="Times New Roman" pitchFamily="18" charset="0"/>
              <a:cs typeface="Times New Roman" pitchFamily="18" charset="0"/>
            </a:endParaRPr>
          </a:p>
          <a:p>
            <a:pPr algn="ctr"/>
            <a:endParaRPr lang="ru-RU" sz="2000" b="1" dirty="0">
              <a:solidFill>
                <a:schemeClr val="tx1"/>
              </a:solidFill>
              <a:latin typeface="Times New Roman" pitchFamily="18" charset="0"/>
              <a:cs typeface="Times New Roman" pitchFamily="18" charset="0"/>
            </a:endParaRPr>
          </a:p>
        </p:txBody>
      </p:sp>
      <p:sp>
        <p:nvSpPr>
          <p:cNvPr id="9" name="Содержимое 2"/>
          <p:cNvSpPr txBox="1">
            <a:spLocks/>
          </p:cNvSpPr>
          <p:nvPr/>
        </p:nvSpPr>
        <p:spPr bwMode="auto">
          <a:xfrm>
            <a:off x="709705" y="3212976"/>
            <a:ext cx="7776864" cy="3384376"/>
          </a:xfrm>
          <a:prstGeom prst="foldedCorner">
            <a:avLst>
              <a:gd name="adj" fmla="val 773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lnSpc>
                <a:spcPct val="150000"/>
              </a:lnSpc>
            </a:pPr>
            <a:r>
              <a:rPr lang="uz-Cyrl-UZ" dirty="0" smtClean="0">
                <a:latin typeface="Times New Roman" pitchFamily="18" charset="0"/>
                <a:cs typeface="Times New Roman" pitchFamily="18" charset="0"/>
              </a:rPr>
              <a:t>       Бошқарувчи </a:t>
            </a:r>
            <a:r>
              <a:rPr lang="uz-Cyrl-UZ" dirty="0">
                <a:latin typeface="Times New Roman" pitchFamily="18" charset="0"/>
                <a:cs typeface="Times New Roman" pitchFamily="18" charset="0"/>
              </a:rPr>
              <a:t>регистрнинг узунлиги </a:t>
            </a:r>
            <a:r>
              <a:rPr lang="uz-Cyrl-UZ" b="1" i="1" dirty="0">
                <a:latin typeface="Times New Roman" pitchFamily="18" charset="0"/>
                <a:cs typeface="Times New Roman" pitchFamily="18" charset="0"/>
              </a:rPr>
              <a:t>L</a:t>
            </a:r>
            <a:r>
              <a:rPr lang="uz-Cyrl-UZ" b="1" dirty="0">
                <a:latin typeface="Times New Roman" pitchFamily="18" charset="0"/>
                <a:cs typeface="Times New Roman" pitchFamily="18" charset="0"/>
              </a:rPr>
              <a:t>c=39</a:t>
            </a:r>
            <a:r>
              <a:rPr lang="uz-Cyrl-UZ" dirty="0">
                <a:latin typeface="Times New Roman" pitchFamily="18" charset="0"/>
                <a:cs typeface="Times New Roman" pitchFamily="18" charset="0"/>
              </a:rPr>
              <a:t> бит, </a:t>
            </a:r>
            <a:r>
              <a:rPr lang="uz-Cyrl-UZ" i="1" dirty="0">
                <a:latin typeface="Times New Roman" pitchFamily="18" charset="0"/>
                <a:cs typeface="Times New Roman" pitchFamily="18" charset="0"/>
              </a:rPr>
              <a:t>f</a:t>
            </a:r>
            <a:r>
              <a:rPr lang="uz-Cyrl-UZ" baseline="-25000" dirty="0">
                <a:latin typeface="Times New Roman" pitchFamily="18" charset="0"/>
                <a:cs typeface="Times New Roman" pitchFamily="18" charset="0"/>
              </a:rPr>
              <a:t>с</a:t>
            </a:r>
            <a:r>
              <a:rPr lang="uz-Cyrl-UZ" dirty="0">
                <a:latin typeface="Times New Roman" pitchFamily="18" charset="0"/>
                <a:cs typeface="Times New Roman" pitchFamily="18" charset="0"/>
              </a:rPr>
              <a:t> – функция қуйидаги кўринишга эга</a:t>
            </a:r>
            <a:r>
              <a:rPr lang="uz-Cyrl-UZ" b="1" dirty="0">
                <a:latin typeface="Times New Roman" pitchFamily="18" charset="0"/>
                <a:cs typeface="Times New Roman" pitchFamily="18" charset="0"/>
              </a:rPr>
              <a:t>:     </a:t>
            </a:r>
            <a:r>
              <a:rPr lang="uz-Cyrl-UZ" b="1" i="1" dirty="0" smtClean="0">
                <a:latin typeface="Times New Roman" pitchFamily="18" charset="0"/>
                <a:cs typeface="Times New Roman" pitchFamily="18" charset="0"/>
              </a:rPr>
              <a:t>f</a:t>
            </a:r>
            <a:r>
              <a:rPr lang="uz-Cyrl-UZ" b="1" dirty="0" smtClean="0">
                <a:latin typeface="Times New Roman" pitchFamily="18" charset="0"/>
                <a:cs typeface="Times New Roman" pitchFamily="18" charset="0"/>
              </a:rPr>
              <a:t>с </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12</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20</a:t>
            </a:r>
            <a:r>
              <a:rPr lang="uz-Cyrl-UZ" b="1" dirty="0">
                <a:latin typeface="Times New Roman" pitchFamily="18" charset="0"/>
                <a:cs typeface="Times New Roman" pitchFamily="18" charset="0"/>
              </a:rPr>
              <a:t> ) = 2(</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12</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20</a:t>
            </a:r>
            <a:r>
              <a:rPr lang="uz-Cyrl-UZ" b="1" dirty="0">
                <a:latin typeface="Times New Roman" pitchFamily="18" charset="0"/>
                <a:cs typeface="Times New Roman" pitchFamily="18" charset="0"/>
              </a:rPr>
              <a:t> + </a:t>
            </a:r>
            <a:r>
              <a:rPr lang="uz-Cyrl-UZ" b="1" dirty="0" smtClean="0">
                <a:latin typeface="Times New Roman" pitchFamily="18" charset="0"/>
                <a:cs typeface="Times New Roman" pitchFamily="18" charset="0"/>
              </a:rPr>
              <a:t>1</a:t>
            </a:r>
            <a:r>
              <a:rPr lang="uz-Cyrl-UZ" dirty="0" smtClean="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lnSpc>
                <a:spcPct val="150000"/>
              </a:lnSpc>
            </a:pPr>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Тескари</a:t>
            </a:r>
            <a:r>
              <a:rPr lang="ru-RU" dirty="0" smtClean="0">
                <a:latin typeface="Times New Roman" pitchFamily="18" charset="0"/>
                <a:cs typeface="Times New Roman" pitchFamily="18" charset="0"/>
              </a:rPr>
              <a:t> </a:t>
            </a:r>
            <a:r>
              <a:rPr lang="uz-Cyrl-UZ" dirty="0">
                <a:latin typeface="Times New Roman" pitchFamily="18" charset="0"/>
                <a:cs typeface="Times New Roman" pitchFamily="18" charset="0"/>
              </a:rPr>
              <a:t>алоқа кўпҳади</a:t>
            </a:r>
            <a:r>
              <a:rPr lang="uz-Cyrl-UZ" dirty="0" smtClean="0">
                <a:latin typeface="Times New Roman" pitchFamily="18" charset="0"/>
                <a:cs typeface="Times New Roman" pitchFamily="18" charset="0"/>
              </a:rPr>
              <a:t>: </a:t>
            </a:r>
            <a:r>
              <a:rPr lang="ru-RU" b="1" i="1" dirty="0">
                <a:latin typeface="Times New Roman" pitchFamily="18" charset="0"/>
                <a:cs typeface="Times New Roman" pitchFamily="18" charset="0"/>
              </a:rPr>
              <a:t>h</a:t>
            </a:r>
            <a:r>
              <a:rPr lang="ru-RU" b="1" dirty="0">
                <a:latin typeface="Times New Roman" pitchFamily="18" charset="0"/>
                <a:cs typeface="Times New Roman" pitchFamily="18" charset="0"/>
              </a:rPr>
              <a:t>(</a:t>
            </a:r>
            <a:r>
              <a:rPr lang="ru-RU" b="1" i="1" dirty="0">
                <a:latin typeface="Times New Roman" pitchFamily="18" charset="0"/>
                <a:cs typeface="Times New Roman" pitchFamily="18" charset="0"/>
              </a:rPr>
              <a:t>x</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х</a:t>
            </a:r>
            <a:r>
              <a:rPr lang="ru-RU" b="1" baseline="30000" dirty="0">
                <a:latin typeface="Times New Roman" pitchFamily="18" charset="0"/>
                <a:cs typeface="Times New Roman" pitchFamily="18" charset="0"/>
              </a:rPr>
              <a:t>39</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35</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33</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31</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17</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15</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14</a:t>
            </a:r>
            <a:r>
              <a:rPr lang="ru-RU" b="1" dirty="0">
                <a:latin typeface="Times New Roman" pitchFamily="18" charset="0"/>
                <a:cs typeface="Times New Roman" pitchFamily="18" charset="0"/>
              </a:rPr>
              <a:t> + </a:t>
            </a:r>
            <a:r>
              <a:rPr lang="ru-RU" b="1" i="1" dirty="0">
                <a:latin typeface="Times New Roman" pitchFamily="18" charset="0"/>
                <a:cs typeface="Times New Roman" pitchFamily="18" charset="0"/>
              </a:rPr>
              <a:t>x</a:t>
            </a:r>
            <a:r>
              <a:rPr lang="ru-RU" b="1" baseline="30000" dirty="0">
                <a:latin typeface="Times New Roman" pitchFamily="18" charset="0"/>
                <a:cs typeface="Times New Roman" pitchFamily="18" charset="0"/>
              </a:rPr>
              <a:t>2</a:t>
            </a:r>
            <a:r>
              <a:rPr lang="ru-RU" b="1" dirty="0">
                <a:latin typeface="Times New Roman" pitchFamily="18" charset="0"/>
                <a:cs typeface="Times New Roman" pitchFamily="18" charset="0"/>
              </a:rPr>
              <a:t> + 1</a:t>
            </a:r>
            <a:r>
              <a:rPr lang="ru-RU" dirty="0">
                <a:latin typeface="Times New Roman" pitchFamily="18" charset="0"/>
                <a:cs typeface="Times New Roman" pitchFamily="18" charset="0"/>
              </a:rPr>
              <a:t>.</a:t>
            </a:r>
          </a:p>
          <a:p>
            <a:pPr algn="just">
              <a:lnSpc>
                <a:spcPct val="150000"/>
              </a:lnSpc>
            </a:pPr>
            <a:r>
              <a:rPr lang="uz-Cyrl-UZ" dirty="0" smtClean="0">
                <a:latin typeface="Times New Roman" pitchFamily="18" charset="0"/>
                <a:cs typeface="Times New Roman" pitchFamily="18" charset="0"/>
              </a:rPr>
              <a:t>       ЧРР</a:t>
            </a:r>
            <a:r>
              <a:rPr lang="uz-Cyrl-UZ" baseline="-25000" dirty="0" smtClean="0">
                <a:latin typeface="Times New Roman" pitchFamily="18" charset="0"/>
                <a:cs typeface="Times New Roman" pitchFamily="18" charset="0"/>
              </a:rPr>
              <a:t>d</a:t>
            </a:r>
            <a:r>
              <a:rPr lang="uz-Cyrl-UZ" dirty="0" smtClean="0">
                <a:latin typeface="Times New Roman" pitchFamily="18" charset="0"/>
                <a:cs typeface="Times New Roman" pitchFamily="18" charset="0"/>
              </a:rPr>
              <a:t> </a:t>
            </a:r>
            <a:r>
              <a:rPr lang="uz-Cyrl-UZ" dirty="0">
                <a:latin typeface="Times New Roman" pitchFamily="18" charset="0"/>
                <a:cs typeface="Times New Roman" pitchFamily="18" charset="0"/>
              </a:rPr>
              <a:t>регистрнинг узунлиги </a:t>
            </a:r>
            <a:r>
              <a:rPr lang="uz-Cyrl-UZ" b="1" i="1" dirty="0">
                <a:latin typeface="Times New Roman" pitchFamily="18" charset="0"/>
                <a:cs typeface="Times New Roman" pitchFamily="18" charset="0"/>
              </a:rPr>
              <a:t>Ld </a:t>
            </a:r>
            <a:r>
              <a:rPr lang="uz-Cyrl-UZ" b="1" dirty="0">
                <a:latin typeface="Times New Roman" pitchFamily="18" charset="0"/>
                <a:cs typeface="Times New Roman" pitchFamily="18" charset="0"/>
              </a:rPr>
              <a:t>= 89 </a:t>
            </a:r>
            <a:r>
              <a:rPr lang="uz-Cyrl-UZ" dirty="0">
                <a:latin typeface="Times New Roman" pitchFamily="18" charset="0"/>
                <a:cs typeface="Times New Roman" pitchFamily="18" charset="0"/>
              </a:rPr>
              <a:t>бит, Ушбу регистрнинг тескари алоқа кўпҳади </a:t>
            </a:r>
            <a:r>
              <a:rPr lang="uz-Cyrl-UZ" dirty="0" smtClean="0">
                <a:latin typeface="Times New Roman" pitchFamily="18" charset="0"/>
                <a:cs typeface="Times New Roman" pitchFamily="18" charset="0"/>
              </a:rPr>
              <a:t>қуйидагича:  </a:t>
            </a:r>
            <a:r>
              <a:rPr lang="uz-Cyrl-UZ" b="1" i="1" dirty="0">
                <a:latin typeface="Times New Roman" pitchFamily="18" charset="0"/>
                <a:cs typeface="Times New Roman" pitchFamily="18" charset="0"/>
              </a:rPr>
              <a:t>h</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89</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83</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80</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55</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53</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42</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30000" dirty="0">
                <a:latin typeface="Times New Roman" pitchFamily="18" charset="0"/>
                <a:cs typeface="Times New Roman" pitchFamily="18" charset="0"/>
              </a:rPr>
              <a:t>39</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 </a:t>
            </a:r>
            <a:r>
              <a:rPr lang="uz-Cyrl-UZ" b="1" dirty="0">
                <a:latin typeface="Times New Roman" pitchFamily="18" charset="0"/>
                <a:cs typeface="Times New Roman" pitchFamily="18" charset="0"/>
              </a:rPr>
              <a:t>+ 1</a:t>
            </a:r>
            <a:r>
              <a:rPr lang="uz-Cyrl-UZ"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lnSpc>
                <a:spcPct val="150000"/>
              </a:lnSpc>
            </a:pPr>
            <a:r>
              <a:rPr lang="uz-Cyrl-UZ" dirty="0" smtClean="0">
                <a:latin typeface="Times New Roman" pitchFamily="18" charset="0"/>
                <a:cs typeface="Times New Roman" pitchFamily="18" charset="0"/>
              </a:rPr>
              <a:t>       LILI </a:t>
            </a:r>
            <a:r>
              <a:rPr lang="uz-Cyrl-UZ" dirty="0">
                <a:latin typeface="Times New Roman" pitchFamily="18" charset="0"/>
                <a:cs typeface="Times New Roman" pitchFamily="18" charset="0"/>
              </a:rPr>
              <a:t>– 128 алгоритмининг филтрловчи функцияси маҳфий сақланади. Филтрловчи функциянинг киришларига ЧРР</a:t>
            </a:r>
            <a:r>
              <a:rPr lang="uz-Cyrl-UZ" baseline="-25000" dirty="0">
                <a:latin typeface="Times New Roman" pitchFamily="18" charset="0"/>
                <a:cs typeface="Times New Roman" pitchFamily="18" charset="0"/>
              </a:rPr>
              <a:t>d</a:t>
            </a:r>
            <a:r>
              <a:rPr lang="uz-Cyrl-UZ" dirty="0">
                <a:latin typeface="Times New Roman" pitchFamily="18" charset="0"/>
                <a:cs typeface="Times New Roman" pitchFamily="18" charset="0"/>
              </a:rPr>
              <a:t> регистрининг 10 та (0, 1, 3, 7, 12, 20, 30, 44, 65, 80) ячейкасидаги  қийматлар киради.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endParaRPr lang="ru-RU" dirty="0">
              <a:latin typeface="Times New Roman" pitchFamily="18" charset="0"/>
              <a:cs typeface="Times New Roman" pitchFamily="18" charset="0"/>
            </a:endParaRPr>
          </a:p>
        </p:txBody>
      </p:sp>
      <p:grpSp>
        <p:nvGrpSpPr>
          <p:cNvPr id="6" name="Группа 5"/>
          <p:cNvGrpSpPr/>
          <p:nvPr/>
        </p:nvGrpSpPr>
        <p:grpSpPr>
          <a:xfrm>
            <a:off x="2218667" y="942803"/>
            <a:ext cx="4962703" cy="2151653"/>
            <a:chOff x="0" y="0"/>
            <a:chExt cx="4261899" cy="2019300"/>
          </a:xfrm>
        </p:grpSpPr>
        <p:grpSp>
          <p:nvGrpSpPr>
            <p:cNvPr id="8" name="Группа 7"/>
            <p:cNvGrpSpPr/>
            <p:nvPr/>
          </p:nvGrpSpPr>
          <p:grpSpPr>
            <a:xfrm>
              <a:off x="0" y="0"/>
              <a:ext cx="3816350" cy="2019300"/>
              <a:chOff x="0" y="0"/>
              <a:chExt cx="3816405" cy="2019300"/>
            </a:xfrm>
          </p:grpSpPr>
          <p:sp>
            <p:nvSpPr>
              <p:cNvPr id="35" name="Прямоугольник 34"/>
              <p:cNvSpPr/>
              <p:nvPr/>
            </p:nvSpPr>
            <p:spPr>
              <a:xfrm>
                <a:off x="0" y="0"/>
                <a:ext cx="1939925" cy="2019300"/>
              </a:xfrm>
              <a:prstGeom prst="rect">
                <a:avLst/>
              </a:prstGeom>
              <a:solidFill>
                <a:schemeClr val="accent1">
                  <a:alpha val="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sz="1600">
                  <a:latin typeface="Times New Roman" pitchFamily="18" charset="0"/>
                  <a:cs typeface="Times New Roman" pitchFamily="18" charset="0"/>
                </a:endParaRPr>
              </a:p>
            </p:txBody>
          </p:sp>
          <p:sp>
            <p:nvSpPr>
              <p:cNvPr id="36" name="Прямоугольник 35"/>
              <p:cNvSpPr/>
              <p:nvPr/>
            </p:nvSpPr>
            <p:spPr>
              <a:xfrm>
                <a:off x="2043485" y="0"/>
                <a:ext cx="1772920" cy="2019300"/>
              </a:xfrm>
              <a:prstGeom prst="rect">
                <a:avLst/>
              </a:prstGeom>
              <a:solidFill>
                <a:schemeClr val="accent1">
                  <a:alpha val="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sz="1600">
                  <a:latin typeface="Times New Roman" pitchFamily="18" charset="0"/>
                  <a:cs typeface="Times New Roman" pitchFamily="18" charset="0"/>
                </a:endParaRPr>
              </a:p>
            </p:txBody>
          </p:sp>
          <p:sp>
            <p:nvSpPr>
              <p:cNvPr id="37" name="Прямоугольник 36"/>
              <p:cNvSpPr/>
              <p:nvPr/>
            </p:nvSpPr>
            <p:spPr>
              <a:xfrm>
                <a:off x="55659" y="1526651"/>
                <a:ext cx="1772285" cy="445135"/>
              </a:xfrm>
              <a:prstGeom prst="rect">
                <a:avLst/>
              </a:prstGeom>
              <a:solidFill>
                <a:schemeClr val="bg1">
                  <a:alpha val="0"/>
                </a:schemeClr>
              </a:solidFill>
              <a:ln w="19050">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uz-Cyrl-UZ" sz="1600" dirty="0">
                    <a:solidFill>
                      <a:srgbClr val="000000"/>
                    </a:solidFill>
                    <a:effectLst/>
                    <a:latin typeface="Times New Roman" pitchFamily="18" charset="0"/>
                    <a:ea typeface="Times New Roman"/>
                    <a:cs typeface="Times New Roman" pitchFamily="18" charset="0"/>
                  </a:rPr>
                  <a:t>ҳаракатни бошқариш </a:t>
                </a:r>
                <a:r>
                  <a:rPr lang="uz-Cyrl-UZ" sz="1600" dirty="0" smtClean="0">
                    <a:solidFill>
                      <a:srgbClr val="000000"/>
                    </a:solidFill>
                    <a:effectLst/>
                    <a:latin typeface="Times New Roman" pitchFamily="18" charset="0"/>
                    <a:ea typeface="Times New Roman"/>
                    <a:cs typeface="Times New Roman" pitchFamily="18" charset="0"/>
                  </a:rPr>
                  <a:t>осттизими</a:t>
                </a:r>
                <a:endParaRPr lang="ru-RU" sz="1600" dirty="0">
                  <a:effectLst/>
                  <a:latin typeface="Times New Roman" pitchFamily="18" charset="0"/>
                  <a:ea typeface="Times New Roman"/>
                  <a:cs typeface="Times New Roman" pitchFamily="18" charset="0"/>
                </a:endParaRPr>
              </a:p>
            </p:txBody>
          </p:sp>
          <p:sp>
            <p:nvSpPr>
              <p:cNvPr id="38" name="Прямоугольник 37"/>
              <p:cNvSpPr/>
              <p:nvPr/>
            </p:nvSpPr>
            <p:spPr>
              <a:xfrm>
                <a:off x="2122998" y="1526651"/>
                <a:ext cx="1541780" cy="445135"/>
              </a:xfrm>
              <a:prstGeom prst="rect">
                <a:avLst/>
              </a:prstGeom>
              <a:solidFill>
                <a:schemeClr val="bg1">
                  <a:alpha val="0"/>
                </a:schemeClr>
              </a:solidFill>
              <a:ln w="19050">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uz-Cyrl-UZ" sz="1600" dirty="0">
                    <a:solidFill>
                      <a:srgbClr val="000000"/>
                    </a:solidFill>
                    <a:effectLst/>
                    <a:latin typeface="Times New Roman" pitchFamily="18" charset="0"/>
                    <a:ea typeface="Times New Roman"/>
                    <a:cs typeface="Times New Roman" pitchFamily="18" charset="0"/>
                  </a:rPr>
                  <a:t>генерация қилиш </a:t>
                </a:r>
                <a:r>
                  <a:rPr lang="uz-Cyrl-UZ" sz="1600" dirty="0" smtClean="0">
                    <a:solidFill>
                      <a:srgbClr val="000000"/>
                    </a:solidFill>
                    <a:effectLst/>
                    <a:latin typeface="Times New Roman" pitchFamily="18" charset="0"/>
                    <a:ea typeface="Times New Roman"/>
                    <a:cs typeface="Times New Roman" pitchFamily="18" charset="0"/>
                  </a:rPr>
                  <a:t>осттизими</a:t>
                </a:r>
                <a:endParaRPr lang="ru-RU" sz="1600" dirty="0">
                  <a:effectLst/>
                  <a:latin typeface="Times New Roman" pitchFamily="18" charset="0"/>
                  <a:ea typeface="Times New Roman"/>
                  <a:cs typeface="Times New Roman" pitchFamily="18" charset="0"/>
                </a:endParaRPr>
              </a:p>
            </p:txBody>
          </p:sp>
        </p:grpSp>
        <p:grpSp>
          <p:nvGrpSpPr>
            <p:cNvPr id="10" name="Группа 9"/>
            <p:cNvGrpSpPr/>
            <p:nvPr/>
          </p:nvGrpSpPr>
          <p:grpSpPr>
            <a:xfrm>
              <a:off x="397565" y="174929"/>
              <a:ext cx="3864334" cy="1192116"/>
              <a:chOff x="0" y="0"/>
              <a:chExt cx="3864334" cy="1192116"/>
            </a:xfrm>
          </p:grpSpPr>
          <p:sp>
            <p:nvSpPr>
              <p:cNvPr id="12" name="Прямоугольник 11"/>
              <p:cNvSpPr/>
              <p:nvPr/>
            </p:nvSpPr>
            <p:spPr>
              <a:xfrm>
                <a:off x="0" y="7951"/>
                <a:ext cx="937895" cy="3333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uz-Cyrl-UZ" sz="1600">
                    <a:solidFill>
                      <a:srgbClr val="000000"/>
                    </a:solidFill>
                    <a:effectLst/>
                    <a:latin typeface="Times New Roman" pitchFamily="18" charset="0"/>
                    <a:ea typeface="Times New Roman"/>
                    <a:cs typeface="Times New Roman" pitchFamily="18" charset="0"/>
                  </a:rPr>
                  <a:t>ЧРР</a:t>
                </a:r>
                <a:r>
                  <a:rPr lang="uz-Cyrl-UZ" sz="1600" baseline="-25000">
                    <a:solidFill>
                      <a:srgbClr val="000000"/>
                    </a:solidFill>
                    <a:effectLst/>
                    <a:latin typeface="Times New Roman" pitchFamily="18" charset="0"/>
                    <a:ea typeface="Times New Roman"/>
                    <a:cs typeface="Times New Roman" pitchFamily="18" charset="0"/>
                  </a:rPr>
                  <a:t>с</a:t>
                </a:r>
                <a:endParaRPr lang="ru-RU" sz="1600">
                  <a:effectLst/>
                  <a:latin typeface="Times New Roman" pitchFamily="18" charset="0"/>
                  <a:ea typeface="Times New Roman"/>
                  <a:cs typeface="Times New Roman" pitchFamily="18" charset="0"/>
                </a:endParaRPr>
              </a:p>
            </p:txBody>
          </p:sp>
          <p:sp>
            <p:nvSpPr>
              <p:cNvPr id="13" name="Прямоугольник 12"/>
              <p:cNvSpPr/>
              <p:nvPr/>
            </p:nvSpPr>
            <p:spPr>
              <a:xfrm>
                <a:off x="0" y="858741"/>
                <a:ext cx="937895" cy="3333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600" i="1">
                    <a:solidFill>
                      <a:srgbClr val="000000"/>
                    </a:solidFill>
                    <a:effectLst/>
                    <a:latin typeface="Times New Roman" pitchFamily="18" charset="0"/>
                    <a:ea typeface="Times New Roman"/>
                    <a:cs typeface="Times New Roman" pitchFamily="18" charset="0"/>
                  </a:rPr>
                  <a:t>f</a:t>
                </a:r>
                <a:r>
                  <a:rPr lang="uz-Cyrl-UZ" sz="1600" baseline="-25000">
                    <a:solidFill>
                      <a:srgbClr val="000000"/>
                    </a:solidFill>
                    <a:effectLst/>
                    <a:latin typeface="Times New Roman" pitchFamily="18" charset="0"/>
                    <a:ea typeface="Times New Roman"/>
                    <a:cs typeface="Times New Roman" pitchFamily="18" charset="0"/>
                  </a:rPr>
                  <a:t>с</a:t>
                </a:r>
                <a:endParaRPr lang="ru-RU" sz="1600">
                  <a:effectLst/>
                  <a:latin typeface="Times New Roman" pitchFamily="18" charset="0"/>
                  <a:ea typeface="Times New Roman"/>
                  <a:cs typeface="Times New Roman" pitchFamily="18" charset="0"/>
                </a:endParaRPr>
              </a:p>
            </p:txBody>
          </p:sp>
          <p:sp>
            <p:nvSpPr>
              <p:cNvPr id="14" name="Прямоугольник 13"/>
              <p:cNvSpPr/>
              <p:nvPr/>
            </p:nvSpPr>
            <p:spPr>
              <a:xfrm>
                <a:off x="1844702" y="0"/>
                <a:ext cx="1367625" cy="3333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uz-Cyrl-UZ" sz="1600">
                    <a:solidFill>
                      <a:srgbClr val="000000"/>
                    </a:solidFill>
                    <a:effectLst/>
                    <a:latin typeface="Times New Roman" pitchFamily="18" charset="0"/>
                    <a:ea typeface="Times New Roman"/>
                    <a:cs typeface="Times New Roman" pitchFamily="18" charset="0"/>
                  </a:rPr>
                  <a:t>ЧРР</a:t>
                </a:r>
                <a:r>
                  <a:rPr lang="en-US" sz="1600" baseline="-25000">
                    <a:solidFill>
                      <a:srgbClr val="000000"/>
                    </a:solidFill>
                    <a:effectLst/>
                    <a:latin typeface="Times New Roman" pitchFamily="18" charset="0"/>
                    <a:ea typeface="Times New Roman"/>
                    <a:cs typeface="Times New Roman" pitchFamily="18" charset="0"/>
                  </a:rPr>
                  <a:t>d</a:t>
                </a:r>
                <a:endParaRPr lang="ru-RU" sz="1600">
                  <a:effectLst/>
                  <a:latin typeface="Times New Roman" pitchFamily="18" charset="0"/>
                  <a:ea typeface="Times New Roman"/>
                  <a:cs typeface="Times New Roman" pitchFamily="18" charset="0"/>
                </a:endParaRPr>
              </a:p>
            </p:txBody>
          </p:sp>
          <p:sp>
            <p:nvSpPr>
              <p:cNvPr id="15" name="Прямоугольник 14"/>
              <p:cNvSpPr/>
              <p:nvPr/>
            </p:nvSpPr>
            <p:spPr>
              <a:xfrm>
                <a:off x="1884459" y="858741"/>
                <a:ext cx="1327398" cy="3333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600" i="1">
                    <a:solidFill>
                      <a:srgbClr val="000000"/>
                    </a:solidFill>
                    <a:effectLst/>
                    <a:latin typeface="Times New Roman" pitchFamily="18" charset="0"/>
                    <a:ea typeface="Times New Roman"/>
                    <a:cs typeface="Times New Roman" pitchFamily="18" charset="0"/>
                  </a:rPr>
                  <a:t>f</a:t>
                </a:r>
                <a:r>
                  <a:rPr lang="en-US" sz="1600" baseline="-25000">
                    <a:solidFill>
                      <a:srgbClr val="000000"/>
                    </a:solidFill>
                    <a:effectLst/>
                    <a:latin typeface="Times New Roman" pitchFamily="18" charset="0"/>
                    <a:ea typeface="Times New Roman"/>
                    <a:cs typeface="Times New Roman" pitchFamily="18" charset="0"/>
                  </a:rPr>
                  <a:t>d</a:t>
                </a:r>
                <a:endParaRPr lang="ru-RU" sz="1600">
                  <a:effectLst/>
                  <a:latin typeface="Times New Roman" pitchFamily="18" charset="0"/>
                  <a:ea typeface="Times New Roman"/>
                  <a:cs typeface="Times New Roman" pitchFamily="18" charset="0"/>
                </a:endParaRPr>
              </a:p>
            </p:txBody>
          </p:sp>
          <p:cxnSp>
            <p:nvCxnSpPr>
              <p:cNvPr id="16" name="Прямая со стрелкой 15"/>
              <p:cNvCxnSpPr/>
              <p:nvPr/>
            </p:nvCxnSpPr>
            <p:spPr>
              <a:xfrm>
                <a:off x="270344" y="341906"/>
                <a:ext cx="0" cy="51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p:nvPr/>
            </p:nvCxnSpPr>
            <p:spPr>
              <a:xfrm>
                <a:off x="588396" y="341906"/>
                <a:ext cx="0" cy="51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2433099"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p:nvPr/>
            </p:nvCxnSpPr>
            <p:spPr>
              <a:xfrm>
                <a:off x="2003728"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p:nvPr/>
            </p:nvCxnSpPr>
            <p:spPr>
              <a:xfrm>
                <a:off x="2115047" y="341906"/>
                <a:ext cx="0" cy="51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a:off x="2218414" y="341906"/>
                <a:ext cx="0" cy="51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p:nvPr/>
            </p:nvCxnSpPr>
            <p:spPr>
              <a:xfrm>
                <a:off x="2329732" y="341906"/>
                <a:ext cx="0" cy="51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p:cNvCxnSpPr/>
              <p:nvPr/>
            </p:nvCxnSpPr>
            <p:spPr>
              <a:xfrm>
                <a:off x="2536466"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p:nvPr/>
            </p:nvCxnSpPr>
            <p:spPr>
              <a:xfrm>
                <a:off x="2655735"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p:nvPr/>
            </p:nvCxnSpPr>
            <p:spPr>
              <a:xfrm>
                <a:off x="2767054"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p:nvPr/>
            </p:nvCxnSpPr>
            <p:spPr>
              <a:xfrm>
                <a:off x="2886323"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p:nvPr/>
            </p:nvCxnSpPr>
            <p:spPr>
              <a:xfrm>
                <a:off x="3013544" y="333955"/>
                <a:ext cx="0" cy="5162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p:cNvCxnSpPr/>
              <p:nvPr/>
            </p:nvCxnSpPr>
            <p:spPr>
              <a:xfrm>
                <a:off x="3212327" y="1025718"/>
                <a:ext cx="6520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p:nvPr/>
            </p:nvCxnSpPr>
            <p:spPr>
              <a:xfrm>
                <a:off x="1431235" y="166977"/>
                <a:ext cx="41297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p:nvPr/>
            </p:nvCxnSpPr>
            <p:spPr>
              <a:xfrm>
                <a:off x="1439186" y="166977"/>
                <a:ext cx="0" cy="858741"/>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p:nvPr/>
            </p:nvCxnSpPr>
            <p:spPr>
              <a:xfrm>
                <a:off x="938254" y="1025718"/>
                <a:ext cx="500932"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3" name="Прямоугольник 32"/>
              <p:cNvSpPr/>
              <p:nvPr/>
            </p:nvSpPr>
            <p:spPr>
              <a:xfrm>
                <a:off x="3419061" y="755374"/>
                <a:ext cx="445135" cy="269875"/>
              </a:xfrm>
              <a:prstGeom prst="rect">
                <a:avLst/>
              </a:prstGeom>
              <a:solidFill>
                <a:schemeClr val="bg1">
                  <a:alpha val="0"/>
                </a:schemeClr>
              </a:solidFill>
              <a:ln w="19050">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600" i="1">
                    <a:solidFill>
                      <a:srgbClr val="000000"/>
                    </a:solidFill>
                    <a:effectLst/>
                    <a:latin typeface="Times New Roman" pitchFamily="18" charset="0"/>
                    <a:ea typeface="Times New Roman"/>
                    <a:cs typeface="Times New Roman" pitchFamily="18" charset="0"/>
                  </a:rPr>
                  <a:t>z(t)</a:t>
                </a:r>
                <a:endParaRPr lang="ru-RU" sz="1600">
                  <a:effectLst/>
                  <a:latin typeface="Times New Roman" pitchFamily="18" charset="0"/>
                  <a:ea typeface="Times New Roman"/>
                  <a:cs typeface="Times New Roman" pitchFamily="18" charset="0"/>
                </a:endParaRPr>
              </a:p>
            </p:txBody>
          </p:sp>
          <p:sp>
            <p:nvSpPr>
              <p:cNvPr id="34" name="Прямоугольник 33"/>
              <p:cNvSpPr/>
              <p:nvPr/>
            </p:nvSpPr>
            <p:spPr>
              <a:xfrm>
                <a:off x="985961" y="731520"/>
                <a:ext cx="436245" cy="269875"/>
              </a:xfrm>
              <a:prstGeom prst="rect">
                <a:avLst/>
              </a:prstGeom>
              <a:solidFill>
                <a:schemeClr val="bg1">
                  <a:alpha val="0"/>
                </a:schemeClr>
              </a:solidFill>
              <a:ln w="19050">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600" i="1">
                    <a:solidFill>
                      <a:srgbClr val="000000"/>
                    </a:solidFill>
                    <a:effectLst/>
                    <a:latin typeface="Times New Roman" pitchFamily="18" charset="0"/>
                    <a:ea typeface="Times New Roman"/>
                    <a:cs typeface="Times New Roman" pitchFamily="18" charset="0"/>
                  </a:rPr>
                  <a:t>c(t)</a:t>
                </a:r>
                <a:endParaRPr lang="ru-RU" sz="1600">
                  <a:effectLst/>
                  <a:latin typeface="Times New Roman" pitchFamily="18" charset="0"/>
                  <a:ea typeface="Times New Roman"/>
                  <a:cs typeface="Times New Roman" pitchFamily="18" charset="0"/>
                </a:endParaRPr>
              </a:p>
            </p:txBody>
          </p:sp>
        </p:grpSp>
      </p:grpSp>
    </p:spTree>
    <p:extLst>
      <p:ext uri="{BB962C8B-B14F-4D97-AF65-F5344CB8AC3E}">
        <p14:creationId xmlns:p14="http://schemas.microsoft.com/office/powerpoint/2010/main" val="1765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297" y="9957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dirty="0">
              <a:solidFill>
                <a:schemeClr val="tx1"/>
              </a:solidFill>
              <a:latin typeface="Times New Roman" pitchFamily="18" charset="0"/>
              <a:cs typeface="Times New Roman" pitchFamily="18" charset="0"/>
            </a:endParaRPr>
          </a:p>
        </p:txBody>
      </p:sp>
      <p:sp>
        <p:nvSpPr>
          <p:cNvPr id="29" name="Скругленный прямоугольник 28"/>
          <p:cNvSpPr/>
          <p:nvPr/>
        </p:nvSpPr>
        <p:spPr>
          <a:xfrm>
            <a:off x="683568" y="332656"/>
            <a:ext cx="7836443" cy="43204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latin typeface="Times New Roman" pitchFamily="18" charset="0"/>
                <a:cs typeface="Times New Roman" pitchFamily="18" charset="0"/>
              </a:rPr>
              <a:t>Узлуксиз </a:t>
            </a:r>
            <a:r>
              <a:rPr lang="uz-Cyrl-UZ" sz="1600" b="1" dirty="0">
                <a:solidFill>
                  <a:schemeClr val="tx1"/>
                </a:solidFill>
                <a:latin typeface="Times New Roman" pitchFamily="18" charset="0"/>
                <a:cs typeface="Times New Roman" pitchFamily="18" charset="0"/>
              </a:rPr>
              <a:t>шифрлаш алгоритмларига </a:t>
            </a:r>
            <a:r>
              <a:rPr lang="uz-Cyrl-UZ" sz="1600" b="1" dirty="0" smtClean="0">
                <a:solidFill>
                  <a:schemeClr val="tx1"/>
                </a:solidFill>
                <a:latin typeface="Times New Roman" pitchFamily="18" charset="0"/>
                <a:cs typeface="Times New Roman" pitchFamily="18" charset="0"/>
              </a:rPr>
              <a:t>қўлланилувчи криптотаҳлил усуллари</a:t>
            </a:r>
            <a:endParaRPr lang="ru-RU" sz="1600" dirty="0">
              <a:solidFill>
                <a:schemeClr val="tx1"/>
              </a:solidFill>
              <a:latin typeface="Times New Roman" pitchFamily="18" charset="0"/>
              <a:cs typeface="Times New Roman" pitchFamily="18" charset="0"/>
            </a:endParaRPr>
          </a:p>
        </p:txBody>
      </p:sp>
      <p:sp>
        <p:nvSpPr>
          <p:cNvPr id="17" name="Куб 16"/>
          <p:cNvSpPr/>
          <p:nvPr/>
        </p:nvSpPr>
        <p:spPr>
          <a:xfrm>
            <a:off x="1619672" y="3356992"/>
            <a:ext cx="5976664" cy="504056"/>
          </a:xfrm>
          <a:prstGeom prst="cube">
            <a:avLst>
              <a:gd name="adj" fmla="val 13926"/>
            </a:avLst>
          </a:prstGeom>
          <a:solidFill>
            <a:schemeClr val="tx1">
              <a:lumMod val="50000"/>
              <a:lumOff val="5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Aft>
                <a:spcPts val="600"/>
              </a:spcAft>
            </a:pPr>
            <a:r>
              <a:rPr lang="uz-Cyrl-UZ" b="1" dirty="0">
                <a:latin typeface="Times New Roman" pitchFamily="18" charset="0"/>
                <a:ea typeface="Calibri"/>
                <a:cs typeface="Times New Roman" pitchFamily="18" charset="0"/>
              </a:rPr>
              <a:t>Тасодифийлик даражасини аниқловчи тестлар</a:t>
            </a:r>
            <a:endParaRPr lang="ru-RU" b="1" dirty="0">
              <a:latin typeface="Times New Roman" pitchFamily="18" charset="0"/>
              <a:ea typeface="Calibri"/>
              <a:cs typeface="Times New Roman" pitchFamily="18" charset="0"/>
            </a:endParaRPr>
          </a:p>
        </p:txBody>
      </p:sp>
      <p:sp>
        <p:nvSpPr>
          <p:cNvPr id="42" name="Прямоугольник 41"/>
          <p:cNvSpPr/>
          <p:nvPr/>
        </p:nvSpPr>
        <p:spPr>
          <a:xfrm>
            <a:off x="1403648" y="4015544"/>
            <a:ext cx="2988332" cy="2365784"/>
          </a:xfrm>
          <a:prstGeom prst="rect">
            <a:avLst/>
          </a:prstGeom>
          <a:solidFill>
            <a:schemeClr val="bg1">
              <a:lumMod val="85000"/>
            </a:schemeClr>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smtClean="0"/>
              <a:t>                       </a:t>
            </a:r>
            <a:endParaRPr lang="ru-RU" dirty="0"/>
          </a:p>
        </p:txBody>
      </p:sp>
      <p:sp>
        <p:nvSpPr>
          <p:cNvPr id="44" name="Прямоугольник 43"/>
          <p:cNvSpPr/>
          <p:nvPr/>
        </p:nvSpPr>
        <p:spPr>
          <a:xfrm>
            <a:off x="4716016" y="4015544"/>
            <a:ext cx="3287528" cy="2365784"/>
          </a:xfrm>
          <a:prstGeom prst="rect">
            <a:avLst/>
          </a:prstGeom>
          <a:solidFill>
            <a:schemeClr val="bg1">
              <a:lumMod val="85000"/>
            </a:schemeClr>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smtClean="0"/>
              <a:t>                                   </a:t>
            </a:r>
            <a:endParaRPr lang="ru-RU" dirty="0"/>
          </a:p>
        </p:txBody>
      </p:sp>
      <p:sp>
        <p:nvSpPr>
          <p:cNvPr id="46" name="Text Box 4"/>
          <p:cNvSpPr txBox="1">
            <a:spLocks noChangeArrowheads="1"/>
          </p:cNvSpPr>
          <p:nvPr/>
        </p:nvSpPr>
        <p:spPr bwMode="auto">
          <a:xfrm>
            <a:off x="1259632" y="4170040"/>
            <a:ext cx="3024336" cy="2355304"/>
          </a:xfrm>
          <a:prstGeom prst="rect">
            <a:avLst/>
          </a:prstGeom>
          <a:solidFill>
            <a:srgbClr val="FFFFFF"/>
          </a:solidFill>
          <a:ln w="38100">
            <a:solidFill>
              <a:srgbClr val="000000"/>
            </a:solidFill>
            <a:miter lim="800000"/>
            <a:headEnd/>
            <a:tailEnd/>
          </a:ln>
        </p:spPr>
        <p:txBody>
          <a:bodyPr/>
          <a:lstStyle/>
          <a:p>
            <a:pPr algn="ctr">
              <a:spcAft>
                <a:spcPts val="800"/>
              </a:spcAft>
            </a:pPr>
            <a:r>
              <a:rPr lang="uz-Cyrl-UZ" sz="1600" b="1" dirty="0" smtClean="0">
                <a:latin typeface="Times New Roman" pitchFamily="18" charset="0"/>
                <a:ea typeface="Calibri"/>
                <a:cs typeface="Times New Roman" pitchFamily="18" charset="0"/>
              </a:rPr>
              <a:t>График тестлар</a:t>
            </a:r>
          </a:p>
          <a:p>
            <a:pPr>
              <a:spcAft>
                <a:spcPts val="200"/>
              </a:spcAft>
            </a:pPr>
            <a:r>
              <a:rPr lang="uz-Cyrl-UZ" sz="1600" dirty="0" smtClean="0">
                <a:latin typeface="Times New Roman" pitchFamily="18" charset="0"/>
                <a:ea typeface="Calibri"/>
                <a:cs typeface="Times New Roman" pitchFamily="18" charset="0"/>
              </a:rPr>
              <a:t>1.  </a:t>
            </a:r>
            <a:r>
              <a:rPr lang="uz-Cyrl-UZ" sz="1600" dirty="0">
                <a:latin typeface="Times New Roman" pitchFamily="18" charset="0"/>
                <a:ea typeface="Calibri"/>
                <a:cs typeface="Times New Roman" pitchFamily="18" charset="0"/>
              </a:rPr>
              <a:t>Гистограмма</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2.  Текисликдаги тақсимланиш</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3.  Байтли автокорреляция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4.  Битли автокорреляция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5.  Монотонликка текшириш</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6.  0 ва 1 текшириш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7.  Серияга текшириш </a:t>
            </a:r>
            <a:endParaRPr lang="ru-RU" sz="1600" dirty="0">
              <a:latin typeface="Times New Roman" pitchFamily="18" charset="0"/>
              <a:ea typeface="Calibri"/>
              <a:cs typeface="Times New Roman" pitchFamily="18" charset="0"/>
            </a:endParaRPr>
          </a:p>
        </p:txBody>
      </p:sp>
      <p:sp>
        <p:nvSpPr>
          <p:cNvPr id="48" name="Text Box 4"/>
          <p:cNvSpPr txBox="1">
            <a:spLocks noChangeArrowheads="1"/>
          </p:cNvSpPr>
          <p:nvPr/>
        </p:nvSpPr>
        <p:spPr bwMode="auto">
          <a:xfrm>
            <a:off x="4572000" y="4170040"/>
            <a:ext cx="3312368" cy="2355304"/>
          </a:xfrm>
          <a:prstGeom prst="rect">
            <a:avLst/>
          </a:prstGeom>
          <a:solidFill>
            <a:srgbClr val="FFFFFF"/>
          </a:solidFill>
          <a:ln w="38100">
            <a:solidFill>
              <a:srgbClr val="000000"/>
            </a:solidFill>
            <a:miter lim="800000"/>
            <a:headEnd/>
            <a:tailEnd/>
          </a:ln>
        </p:spPr>
        <p:txBody>
          <a:bodyPr/>
          <a:lstStyle/>
          <a:p>
            <a:pPr algn="ctr">
              <a:spcAft>
                <a:spcPts val="800"/>
              </a:spcAft>
            </a:pPr>
            <a:r>
              <a:rPr lang="uz-Cyrl-UZ" sz="1600" b="1" dirty="0" smtClean="0">
                <a:latin typeface="Times New Roman" pitchFamily="18" charset="0"/>
                <a:ea typeface="Calibri"/>
                <a:cs typeface="Times New Roman" pitchFamily="18" charset="0"/>
              </a:rPr>
              <a:t>Баҳолаш тестлари</a:t>
            </a:r>
          </a:p>
          <a:p>
            <a:pPr>
              <a:spcAft>
                <a:spcPts val="200"/>
              </a:spcAft>
            </a:pPr>
            <a:r>
              <a:rPr lang="uz-Cyrl-UZ" sz="1600" dirty="0" smtClean="0">
                <a:latin typeface="Times New Roman" pitchFamily="18" charset="0"/>
                <a:ea typeface="Calibri"/>
                <a:cs typeface="Times New Roman" pitchFamily="18" charset="0"/>
              </a:rPr>
              <a:t>1</a:t>
            </a:r>
            <a:r>
              <a:rPr lang="uz-Cyrl-UZ" sz="1600" dirty="0">
                <a:latin typeface="Times New Roman" pitchFamily="18" charset="0"/>
                <a:ea typeface="Calibri"/>
                <a:cs typeface="Times New Roman" pitchFamily="18" charset="0"/>
              </a:rPr>
              <a:t>.  Хи- квадрат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2.  Оралиқлар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3.  Умумлашган-покер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4.  Ўрин алмаштириш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5.  Кесишувчи </a:t>
            </a:r>
            <a:r>
              <a:rPr lang="en-US" sz="1600" dirty="0">
                <a:latin typeface="Times New Roman" pitchFamily="18" charset="0"/>
                <a:ea typeface="Calibri"/>
                <a:cs typeface="Times New Roman" pitchFamily="18" charset="0"/>
              </a:rPr>
              <a:t>n</a:t>
            </a:r>
            <a:r>
              <a:rPr lang="ru-RU" sz="1600" dirty="0">
                <a:latin typeface="Times New Roman" pitchFamily="18" charset="0"/>
                <a:ea typeface="Calibri"/>
                <a:cs typeface="Times New Roman" pitchFamily="18" charset="0"/>
              </a:rPr>
              <a:t> -</a:t>
            </a:r>
            <a:r>
              <a:rPr lang="uz-Cyrl-UZ" sz="1600" dirty="0">
                <a:latin typeface="Times New Roman" pitchFamily="18" charset="0"/>
                <a:ea typeface="Calibri"/>
                <a:cs typeface="Times New Roman" pitchFamily="18" charset="0"/>
              </a:rPr>
              <a:t> граммалар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6.  Спектраль тести</a:t>
            </a:r>
            <a:endParaRPr lang="ru-RU" sz="1600" dirty="0">
              <a:latin typeface="Times New Roman" pitchFamily="18" charset="0"/>
              <a:ea typeface="Calibri"/>
              <a:cs typeface="Times New Roman" pitchFamily="18" charset="0"/>
            </a:endParaRPr>
          </a:p>
          <a:p>
            <a:pPr>
              <a:spcAft>
                <a:spcPts val="200"/>
              </a:spcAft>
            </a:pPr>
            <a:r>
              <a:rPr lang="uz-Cyrl-UZ" sz="1600" dirty="0">
                <a:latin typeface="Times New Roman" pitchFamily="18" charset="0"/>
                <a:ea typeface="Calibri"/>
                <a:cs typeface="Times New Roman" pitchFamily="18" charset="0"/>
              </a:rPr>
              <a:t>7.  </a:t>
            </a:r>
            <a:r>
              <a:rPr lang="en-US" sz="1600" dirty="0">
                <a:latin typeface="Times New Roman" pitchFamily="18" charset="0"/>
                <a:ea typeface="Calibri"/>
                <a:cs typeface="Times New Roman" pitchFamily="18" charset="0"/>
              </a:rPr>
              <a:t>n</a:t>
            </a:r>
            <a:r>
              <a:rPr lang="uz-Cyrl-UZ" sz="1600" dirty="0">
                <a:latin typeface="Times New Roman" pitchFamily="18" charset="0"/>
                <a:ea typeface="Calibri"/>
                <a:cs typeface="Times New Roman" pitchFamily="18" charset="0"/>
              </a:rPr>
              <a:t> - серия тести</a:t>
            </a:r>
            <a:endParaRPr lang="ru-RU" sz="1600" dirty="0">
              <a:latin typeface="Times New Roman" pitchFamily="18" charset="0"/>
              <a:ea typeface="Calibri"/>
              <a:cs typeface="Times New Roman" pitchFamily="18" charset="0"/>
            </a:endParaRPr>
          </a:p>
        </p:txBody>
      </p:sp>
      <p:sp>
        <p:nvSpPr>
          <p:cNvPr id="49" name="Стрелка вниз 48">
            <a:hlinkClick r:id="rId3" action="ppaction://hlinksldjump"/>
          </p:cNvPr>
          <p:cNvSpPr/>
          <p:nvPr/>
        </p:nvSpPr>
        <p:spPr>
          <a:xfrm>
            <a:off x="2699792" y="3861048"/>
            <a:ext cx="304800" cy="3089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50" name="Стрелка вниз 49"/>
          <p:cNvSpPr/>
          <p:nvPr/>
        </p:nvSpPr>
        <p:spPr>
          <a:xfrm>
            <a:off x="6291808" y="3861048"/>
            <a:ext cx="304800" cy="3089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51" name="Прямая соединительная линия 50"/>
          <p:cNvCxnSpPr/>
          <p:nvPr/>
        </p:nvCxnSpPr>
        <p:spPr>
          <a:xfrm>
            <a:off x="1259632" y="4509120"/>
            <a:ext cx="302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a:off x="4585964" y="4509120"/>
            <a:ext cx="32984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Содержимое 2"/>
          <p:cNvSpPr txBox="1">
            <a:spLocks/>
          </p:cNvSpPr>
          <p:nvPr/>
        </p:nvSpPr>
        <p:spPr bwMode="auto">
          <a:xfrm>
            <a:off x="539552" y="908720"/>
            <a:ext cx="8208912" cy="2295459"/>
          </a:xfrm>
          <a:prstGeom prst="foldedCorner">
            <a:avLst>
              <a:gd name="adj" fmla="val 14832"/>
            </a:avLst>
          </a:prstGeom>
          <a:pattFill prst="pct5">
            <a:fgClr>
              <a:schemeClr val="accent1">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indent="446088" algn="just"/>
            <a:r>
              <a:rPr lang="uz-Cyrl-UZ" sz="1600" dirty="0">
                <a:latin typeface="Times New Roman" pitchFamily="18" charset="0"/>
                <a:cs typeface="Times New Roman" pitchFamily="18" charset="0"/>
              </a:rPr>
              <a:t>Узлуксиз шифрларнинг криптобардошлиги унда фойдаланилган генератордан чиқувчи гамма кетма-кетликнинг </a:t>
            </a:r>
            <a:r>
              <a:rPr lang="uz-Cyrl-UZ" sz="1600" i="1" u="sng" dirty="0">
                <a:latin typeface="Times New Roman" pitchFamily="18" charset="0"/>
                <a:cs typeface="Times New Roman" pitchFamily="18" charset="0"/>
              </a:rPr>
              <a:t>тасодифийлик тестларини бажариши</a:t>
            </a:r>
            <a:r>
              <a:rPr lang="uz-Cyrl-UZ" sz="1600" dirty="0">
                <a:latin typeface="Times New Roman" pitchFamily="18" charset="0"/>
                <a:cs typeface="Times New Roman" pitchFamily="18" charset="0"/>
              </a:rPr>
              <a:t> ҳамда </a:t>
            </a:r>
            <a:r>
              <a:rPr lang="uz-Cyrl-UZ" sz="1600" i="1" u="sng" dirty="0">
                <a:latin typeface="Times New Roman" pitchFamily="18" charset="0"/>
                <a:cs typeface="Times New Roman" pitchFamily="18" charset="0"/>
              </a:rPr>
              <a:t>криптотаҳлил усулларига бардошлиги</a:t>
            </a:r>
            <a:r>
              <a:rPr lang="uz-Cyrl-UZ" sz="1600" dirty="0">
                <a:latin typeface="Times New Roman" pitchFamily="18" charset="0"/>
                <a:cs typeface="Times New Roman" pitchFamily="18" charset="0"/>
              </a:rPr>
              <a:t> билан баҳоланади.</a:t>
            </a:r>
          </a:p>
          <a:p>
            <a:pPr indent="446088" algn="just"/>
            <a:r>
              <a:rPr lang="uz-Cyrl-UZ" sz="1600" dirty="0">
                <a:latin typeface="Times New Roman" pitchFamily="18" charset="0"/>
                <a:cs typeface="Times New Roman" pitchFamily="18" charset="0"/>
              </a:rPr>
              <a:t>Кетма-кетикни тасодифийликга текширувчи тестлар 2 хил бўлади:</a:t>
            </a:r>
            <a:endParaRPr lang="ru-RU" sz="1600" dirty="0">
              <a:latin typeface="Times New Roman" pitchFamily="18" charset="0"/>
              <a:cs typeface="Times New Roman" pitchFamily="18" charset="0"/>
            </a:endParaRPr>
          </a:p>
          <a:p>
            <a:pPr lvl="0" algn="just"/>
            <a:r>
              <a:rPr lang="en-US" sz="1600" b="1" dirty="0">
                <a:latin typeface="Times New Roman" pitchFamily="18" charset="0"/>
                <a:cs typeface="Times New Roman" pitchFamily="18" charset="0"/>
              </a:rPr>
              <a:t>        </a:t>
            </a:r>
            <a:r>
              <a:rPr lang="en-US" sz="1600" b="1" dirty="0" smtClean="0">
                <a:latin typeface="Times New Roman" pitchFamily="18" charset="0"/>
                <a:cs typeface="Times New Roman" pitchFamily="18" charset="0"/>
              </a:rPr>
              <a:t>1</a:t>
            </a:r>
            <a:r>
              <a:rPr lang="en-US" sz="1600" b="1" dirty="0">
                <a:latin typeface="Times New Roman" pitchFamily="18" charset="0"/>
                <a:cs typeface="Times New Roman" pitchFamily="18" charset="0"/>
              </a:rPr>
              <a:t>. </a:t>
            </a:r>
            <a:r>
              <a:rPr lang="uz-Cyrl-UZ" sz="1600" b="1" dirty="0">
                <a:latin typeface="Times New Roman" pitchFamily="18" charset="0"/>
                <a:cs typeface="Times New Roman" pitchFamily="18" charset="0"/>
              </a:rPr>
              <a:t>График тестлар – </a:t>
            </a:r>
            <a:r>
              <a:rPr lang="uz-Cyrl-UZ" sz="1600" dirty="0">
                <a:latin typeface="Times New Roman" pitchFamily="18" charset="0"/>
                <a:cs typeface="Times New Roman" pitchFamily="18" charset="0"/>
              </a:rPr>
              <a:t>фойдаланувчига текширилаётган кетма-кетликнинг маълум бир график боғлиқлиги ҳақидаги маълумотни бериб, у бўйича текширилаётган кетма-кетлик хоссалари тўғрисида  хулоса чиқариш имкониятини беради. </a:t>
            </a:r>
            <a:endParaRPr lang="ru-RU" sz="1600" dirty="0">
              <a:latin typeface="Times New Roman" pitchFamily="18" charset="0"/>
              <a:cs typeface="Times New Roman" pitchFamily="18" charset="0"/>
            </a:endParaRPr>
          </a:p>
          <a:p>
            <a:pPr lvl="0" algn="just"/>
            <a:r>
              <a:rPr lang="en-US" sz="1600" b="1" dirty="0">
                <a:latin typeface="Times New Roman" pitchFamily="18" charset="0"/>
                <a:cs typeface="Times New Roman" pitchFamily="18" charset="0"/>
              </a:rPr>
              <a:t>        </a:t>
            </a:r>
            <a:r>
              <a:rPr lang="en-US" sz="1600" b="1" dirty="0" smtClean="0">
                <a:latin typeface="Times New Roman" pitchFamily="18" charset="0"/>
                <a:cs typeface="Times New Roman" pitchFamily="18" charset="0"/>
              </a:rPr>
              <a:t>2</a:t>
            </a:r>
            <a:r>
              <a:rPr lang="en-US" sz="1600" b="1" dirty="0">
                <a:latin typeface="Times New Roman" pitchFamily="18" charset="0"/>
                <a:cs typeface="Times New Roman" pitchFamily="18" charset="0"/>
              </a:rPr>
              <a:t>. </a:t>
            </a:r>
            <a:r>
              <a:rPr lang="uz-Cyrl-UZ" sz="1600" b="1" dirty="0">
                <a:latin typeface="Times New Roman" pitchFamily="18" charset="0"/>
                <a:cs typeface="Times New Roman" pitchFamily="18" charset="0"/>
              </a:rPr>
              <a:t>Баҳолаш тестлари – </a:t>
            </a:r>
            <a:r>
              <a:rPr lang="uz-Cyrl-UZ" sz="1600" dirty="0">
                <a:latin typeface="Times New Roman" pitchFamily="18" charset="0"/>
                <a:cs typeface="Times New Roman" pitchFamily="18" charset="0"/>
              </a:rPr>
              <a:t>текширилаётган кетма-кетлик статистик хоссаларини таҳлил қилиб,  унинг чин тасодифийлик даражаси ҳақида хулоса чиқариш имкониятини беради. </a:t>
            </a:r>
            <a:endParaRPr lang="ru-RU" sz="1600" dirty="0">
              <a:latin typeface="Times New Roman" pitchFamily="18" charset="0"/>
              <a:cs typeface="Times New Roman" pitchFamily="18" charset="0"/>
            </a:endParaRPr>
          </a:p>
        </p:txBody>
      </p:sp>
    </p:spTree>
    <p:extLst>
      <p:ext uri="{BB962C8B-B14F-4D97-AF65-F5344CB8AC3E}">
        <p14:creationId xmlns:p14="http://schemas.microsoft.com/office/powerpoint/2010/main" val="425537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heckerboard(across)">
                                      <p:cBhvr>
                                        <p:cTn id="7" dur="500"/>
                                        <p:tgtEl>
                                          <p:spTgt spid="29"/>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4" presetClass="entr" presetSubtype="1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randombar(horizontal)">
                                      <p:cBhvr>
                                        <p:cTn id="17" dur="500"/>
                                        <p:tgtEl>
                                          <p:spTgt spid="17"/>
                                        </p:tgtEl>
                                      </p:cBhvr>
                                    </p:animEffect>
                                  </p:childTnLst>
                                </p:cTn>
                              </p:par>
                            </p:childTnLst>
                          </p:cTn>
                        </p:par>
                        <p:par>
                          <p:cTn id="18" fill="hold">
                            <p:stCondLst>
                              <p:cond delay="2000"/>
                            </p:stCondLst>
                            <p:childTnLst>
                              <p:par>
                                <p:cTn id="19" presetID="22" presetClass="entr" presetSubtype="4" fill="hold" grpId="0"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down)">
                                      <p:cBhvr>
                                        <p:cTn id="21" dur="500"/>
                                        <p:tgtEl>
                                          <p:spTgt spid="4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wipe(down)">
                                      <p:cBhvr>
                                        <p:cTn id="24" dur="500"/>
                                        <p:tgtEl>
                                          <p:spTgt spid="50"/>
                                        </p:tgtEl>
                                      </p:cBhvr>
                                    </p:animEffect>
                                  </p:childTnLst>
                                </p:cTn>
                              </p:par>
                            </p:childTnLst>
                          </p:cTn>
                        </p:par>
                        <p:par>
                          <p:cTn id="25" fill="hold">
                            <p:stCondLst>
                              <p:cond delay="2500"/>
                            </p:stCondLst>
                            <p:childTnLst>
                              <p:par>
                                <p:cTn id="26" presetID="42" presetClass="entr" presetSubtype="0" fill="hold" grpId="0" nodeType="after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anim calcmode="lin" valueType="num">
                                      <p:cBhvr>
                                        <p:cTn id="29" dur="1000" fill="hold"/>
                                        <p:tgtEl>
                                          <p:spTgt spid="42"/>
                                        </p:tgtEl>
                                        <p:attrNameLst>
                                          <p:attrName>ppt_x</p:attrName>
                                        </p:attrNameLst>
                                      </p:cBhvr>
                                      <p:tavLst>
                                        <p:tav tm="0">
                                          <p:val>
                                            <p:strVal val="#ppt_x"/>
                                          </p:val>
                                        </p:tav>
                                        <p:tav tm="100000">
                                          <p:val>
                                            <p:strVal val="#ppt_x"/>
                                          </p:val>
                                        </p:tav>
                                      </p:tavLst>
                                    </p:anim>
                                    <p:anim calcmode="lin" valueType="num">
                                      <p:cBhvr>
                                        <p:cTn id="30" dur="1000" fill="hold"/>
                                        <p:tgtEl>
                                          <p:spTgt spid="42"/>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1000"/>
                                        <p:tgtEl>
                                          <p:spTgt spid="46"/>
                                        </p:tgtEl>
                                      </p:cBhvr>
                                    </p:animEffect>
                                    <p:anim calcmode="lin" valueType="num">
                                      <p:cBhvr>
                                        <p:cTn id="34" dur="1000" fill="hold"/>
                                        <p:tgtEl>
                                          <p:spTgt spid="46"/>
                                        </p:tgtEl>
                                        <p:attrNameLst>
                                          <p:attrName>ppt_x</p:attrName>
                                        </p:attrNameLst>
                                      </p:cBhvr>
                                      <p:tavLst>
                                        <p:tav tm="0">
                                          <p:val>
                                            <p:strVal val="#ppt_x"/>
                                          </p:val>
                                        </p:tav>
                                        <p:tav tm="100000">
                                          <p:val>
                                            <p:strVal val="#ppt_x"/>
                                          </p:val>
                                        </p:tav>
                                      </p:tavLst>
                                    </p:anim>
                                    <p:anim calcmode="lin" valueType="num">
                                      <p:cBhvr>
                                        <p:cTn id="35" dur="1000" fill="hold"/>
                                        <p:tgtEl>
                                          <p:spTgt spid="46"/>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1000"/>
                                        <p:tgtEl>
                                          <p:spTgt spid="44"/>
                                        </p:tgtEl>
                                      </p:cBhvr>
                                    </p:animEffect>
                                    <p:anim calcmode="lin" valueType="num">
                                      <p:cBhvr>
                                        <p:cTn id="39" dur="1000" fill="hold"/>
                                        <p:tgtEl>
                                          <p:spTgt spid="44"/>
                                        </p:tgtEl>
                                        <p:attrNameLst>
                                          <p:attrName>ppt_x</p:attrName>
                                        </p:attrNameLst>
                                      </p:cBhvr>
                                      <p:tavLst>
                                        <p:tav tm="0">
                                          <p:val>
                                            <p:strVal val="#ppt_x"/>
                                          </p:val>
                                        </p:tav>
                                        <p:tav tm="100000">
                                          <p:val>
                                            <p:strVal val="#ppt_x"/>
                                          </p:val>
                                        </p:tav>
                                      </p:tavLst>
                                    </p:anim>
                                    <p:anim calcmode="lin" valueType="num">
                                      <p:cBhvr>
                                        <p:cTn id="40" dur="1000" fill="hold"/>
                                        <p:tgtEl>
                                          <p:spTgt spid="4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1000"/>
                                        <p:tgtEl>
                                          <p:spTgt spid="48"/>
                                        </p:tgtEl>
                                      </p:cBhvr>
                                    </p:animEffect>
                                    <p:anim calcmode="lin" valueType="num">
                                      <p:cBhvr>
                                        <p:cTn id="44" dur="1000" fill="hold"/>
                                        <p:tgtEl>
                                          <p:spTgt spid="48"/>
                                        </p:tgtEl>
                                        <p:attrNameLst>
                                          <p:attrName>ppt_x</p:attrName>
                                        </p:attrNameLst>
                                      </p:cBhvr>
                                      <p:tavLst>
                                        <p:tav tm="0">
                                          <p:val>
                                            <p:strVal val="#ppt_x"/>
                                          </p:val>
                                        </p:tav>
                                        <p:tav tm="100000">
                                          <p:val>
                                            <p:strVal val="#ppt_x"/>
                                          </p:val>
                                        </p:tav>
                                      </p:tavLst>
                                    </p:anim>
                                    <p:anim calcmode="lin" valueType="num">
                                      <p:cBhvr>
                                        <p:cTn id="45" dur="1000" fill="hold"/>
                                        <p:tgtEl>
                                          <p:spTgt spid="48"/>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1000"/>
                                        <p:tgtEl>
                                          <p:spTgt spid="51"/>
                                        </p:tgtEl>
                                      </p:cBhvr>
                                    </p:animEffect>
                                    <p:anim calcmode="lin" valueType="num">
                                      <p:cBhvr>
                                        <p:cTn id="49" dur="1000" fill="hold"/>
                                        <p:tgtEl>
                                          <p:spTgt spid="51"/>
                                        </p:tgtEl>
                                        <p:attrNameLst>
                                          <p:attrName>ppt_x</p:attrName>
                                        </p:attrNameLst>
                                      </p:cBhvr>
                                      <p:tavLst>
                                        <p:tav tm="0">
                                          <p:val>
                                            <p:strVal val="#ppt_x"/>
                                          </p:val>
                                        </p:tav>
                                        <p:tav tm="100000">
                                          <p:val>
                                            <p:strVal val="#ppt_x"/>
                                          </p:val>
                                        </p:tav>
                                      </p:tavLst>
                                    </p:anim>
                                    <p:anim calcmode="lin" valueType="num">
                                      <p:cBhvr>
                                        <p:cTn id="50" dur="1000" fill="hold"/>
                                        <p:tgtEl>
                                          <p:spTgt spid="51"/>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1000"/>
                                        <p:tgtEl>
                                          <p:spTgt spid="52"/>
                                        </p:tgtEl>
                                      </p:cBhvr>
                                    </p:animEffect>
                                    <p:anim calcmode="lin" valueType="num">
                                      <p:cBhvr>
                                        <p:cTn id="54" dur="1000" fill="hold"/>
                                        <p:tgtEl>
                                          <p:spTgt spid="52"/>
                                        </p:tgtEl>
                                        <p:attrNameLst>
                                          <p:attrName>ppt_x</p:attrName>
                                        </p:attrNameLst>
                                      </p:cBhvr>
                                      <p:tavLst>
                                        <p:tav tm="0">
                                          <p:val>
                                            <p:strVal val="#ppt_x"/>
                                          </p:val>
                                        </p:tav>
                                        <p:tav tm="100000">
                                          <p:val>
                                            <p:strVal val="#ppt_x"/>
                                          </p:val>
                                        </p:tav>
                                      </p:tavLst>
                                    </p:anim>
                                    <p:anim calcmode="lin" valueType="num">
                                      <p:cBhvr>
                                        <p:cTn id="55"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7" grpId="0" animBg="1"/>
      <p:bldP spid="42" grpId="0" animBg="1"/>
      <p:bldP spid="44" grpId="0" animBg="1"/>
      <p:bldP spid="46" grpId="0" animBg="1"/>
      <p:bldP spid="48" grpId="0" animBg="1"/>
      <p:bldP spid="49" grpId="0" animBg="1"/>
      <p:bldP spid="50"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5711"/>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Скругленный прямоугольник 30"/>
          <p:cNvSpPr/>
          <p:nvPr/>
        </p:nvSpPr>
        <p:spPr>
          <a:xfrm>
            <a:off x="683568" y="332656"/>
            <a:ext cx="7836443" cy="43204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600" b="1" dirty="0" smtClean="0">
                <a:solidFill>
                  <a:schemeClr val="tx1"/>
                </a:solidFill>
                <a:latin typeface="Times New Roman" pitchFamily="18" charset="0"/>
                <a:cs typeface="Times New Roman" pitchFamily="18" charset="0"/>
              </a:rPr>
              <a:t>Узлуксиз </a:t>
            </a:r>
            <a:r>
              <a:rPr lang="uz-Cyrl-UZ" sz="1600" b="1" dirty="0">
                <a:solidFill>
                  <a:schemeClr val="tx1"/>
                </a:solidFill>
                <a:latin typeface="Times New Roman" pitchFamily="18" charset="0"/>
                <a:cs typeface="Times New Roman" pitchFamily="18" charset="0"/>
              </a:rPr>
              <a:t>шифрлаш алгоритмларига </a:t>
            </a:r>
            <a:r>
              <a:rPr lang="uz-Cyrl-UZ" sz="1600" b="1" dirty="0" smtClean="0">
                <a:solidFill>
                  <a:schemeClr val="tx1"/>
                </a:solidFill>
                <a:latin typeface="Times New Roman" pitchFamily="18" charset="0"/>
                <a:cs typeface="Times New Roman" pitchFamily="18" charset="0"/>
              </a:rPr>
              <a:t>қўлланилувчи криптотаҳлил усуллари</a:t>
            </a:r>
            <a:endParaRPr lang="ru-RU" sz="1600" dirty="0">
              <a:solidFill>
                <a:schemeClr val="tx1"/>
              </a:solidFill>
              <a:latin typeface="Times New Roman" pitchFamily="18" charset="0"/>
              <a:cs typeface="Times New Roman" pitchFamily="18" charset="0"/>
            </a:endParaRPr>
          </a:p>
        </p:txBody>
      </p:sp>
      <p:sp>
        <p:nvSpPr>
          <p:cNvPr id="30" name="Прямоугольник 29"/>
          <p:cNvSpPr/>
          <p:nvPr/>
        </p:nvSpPr>
        <p:spPr>
          <a:xfrm>
            <a:off x="817240" y="3212976"/>
            <a:ext cx="2458616" cy="3111624"/>
          </a:xfrm>
          <a:prstGeom prst="rect">
            <a:avLst/>
          </a:prstGeom>
          <a:solidFill>
            <a:schemeClr val="bg1">
              <a:lumMod val="85000"/>
            </a:schemeClr>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smtClean="0"/>
              <a:t>                       </a:t>
            </a:r>
            <a:endParaRPr lang="ru-RU" dirty="0"/>
          </a:p>
        </p:txBody>
      </p:sp>
      <p:sp>
        <p:nvSpPr>
          <p:cNvPr id="32" name="Прямоугольник 31"/>
          <p:cNvSpPr/>
          <p:nvPr/>
        </p:nvSpPr>
        <p:spPr>
          <a:xfrm>
            <a:off x="3563888" y="3212976"/>
            <a:ext cx="2448272" cy="3111624"/>
          </a:xfrm>
          <a:prstGeom prst="rect">
            <a:avLst/>
          </a:prstGeom>
          <a:solidFill>
            <a:schemeClr val="bg1">
              <a:lumMod val="85000"/>
            </a:schemeClr>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smtClean="0"/>
              <a:t>                                   </a:t>
            </a:r>
            <a:endParaRPr lang="ru-RU" dirty="0"/>
          </a:p>
        </p:txBody>
      </p:sp>
      <p:sp>
        <p:nvSpPr>
          <p:cNvPr id="33" name="Прямоугольник 32"/>
          <p:cNvSpPr/>
          <p:nvPr/>
        </p:nvSpPr>
        <p:spPr>
          <a:xfrm>
            <a:off x="6300192" y="3212976"/>
            <a:ext cx="2448272" cy="3111624"/>
          </a:xfrm>
          <a:prstGeom prst="rect">
            <a:avLst/>
          </a:prstGeom>
          <a:solidFill>
            <a:schemeClr val="bg1">
              <a:lumMod val="85000"/>
            </a:schemeClr>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34" name="Text Box 4"/>
          <p:cNvSpPr txBox="1">
            <a:spLocks noChangeArrowheads="1"/>
          </p:cNvSpPr>
          <p:nvPr/>
        </p:nvSpPr>
        <p:spPr bwMode="auto">
          <a:xfrm>
            <a:off x="642020" y="3314700"/>
            <a:ext cx="2514600" cy="3138636"/>
          </a:xfrm>
          <a:prstGeom prst="rect">
            <a:avLst/>
          </a:prstGeom>
          <a:solidFill>
            <a:srgbClr val="FFFFFF"/>
          </a:solidFill>
          <a:ln w="38100">
            <a:solidFill>
              <a:srgbClr val="000000"/>
            </a:solidFill>
            <a:miter lim="800000"/>
            <a:headEnd/>
            <a:tailEnd/>
          </a:ln>
        </p:spPr>
        <p:txBody>
          <a:bodyPr/>
          <a:lstStyle/>
          <a:p>
            <a:pPr algn="ctr"/>
            <a:r>
              <a:rPr lang="uz-Cyrl-UZ" sz="1600" b="1" dirty="0" smtClean="0">
                <a:latin typeface="Times New Roman" pitchFamily="18" charset="0"/>
                <a:cs typeface="Times New Roman" pitchFamily="18" charset="0"/>
              </a:rPr>
              <a:t>Аналитик ҳужумлар</a:t>
            </a:r>
            <a:endParaRPr lang="en-US" sz="1600" b="1" dirty="0" smtClean="0">
              <a:latin typeface="Times New Roman" pitchFamily="18" charset="0"/>
              <a:cs typeface="Times New Roman" pitchFamily="18" charset="0"/>
            </a:endParaRPr>
          </a:p>
          <a:p>
            <a:pPr algn="ctr">
              <a:spcAft>
                <a:spcPts val="1200"/>
              </a:spcAft>
            </a:pPr>
            <a:endParaRPr lang="en-US" sz="1600" b="1" dirty="0">
              <a:latin typeface="Times New Roman" pitchFamily="18" charset="0"/>
              <a:cs typeface="Times New Roman" pitchFamily="18" charset="0"/>
            </a:endParaRPr>
          </a:p>
          <a:p>
            <a:pPr marL="285750" indent="-285750">
              <a:spcAft>
                <a:spcPts val="600"/>
              </a:spcAft>
              <a:buFont typeface="Arial" pitchFamily="34" charset="0"/>
              <a:buChar char="•"/>
            </a:pPr>
            <a:r>
              <a:rPr lang="uz-Cyrl-UZ" sz="1600" dirty="0">
                <a:latin typeface="Times New Roman" pitchFamily="18" charset="0"/>
                <a:cs typeface="Times New Roman" pitchFamily="18" charset="0"/>
              </a:rPr>
              <a:t>Корреляцион ҳужум</a:t>
            </a:r>
          </a:p>
          <a:p>
            <a:pPr marL="285750" indent="-285750">
              <a:spcAft>
                <a:spcPts val="600"/>
              </a:spcAft>
              <a:buFont typeface="Arial" pitchFamily="34" charset="0"/>
              <a:buChar char="•"/>
            </a:pPr>
            <a:r>
              <a:rPr lang="ru-RU" sz="1600" dirty="0">
                <a:latin typeface="Times New Roman" pitchFamily="18" charset="0"/>
                <a:cs typeface="Times New Roman" pitchFamily="18" charset="0"/>
              </a:rPr>
              <a:t>«</a:t>
            </a:r>
            <a:r>
              <a:rPr lang="uz-Cyrl-UZ" sz="1600" dirty="0">
                <a:latin typeface="Times New Roman" pitchFamily="18" charset="0"/>
                <a:cs typeface="Times New Roman" pitchFamily="18" charset="0"/>
              </a:rPr>
              <a:t>Вақт-ҳотира</a:t>
            </a:r>
            <a:r>
              <a:rPr lang="ru-RU" sz="1600" dirty="0">
                <a:latin typeface="Times New Roman" pitchFamily="18" charset="0"/>
                <a:cs typeface="Times New Roman" pitchFamily="18" charset="0"/>
              </a:rPr>
              <a:t>»</a:t>
            </a:r>
            <a:r>
              <a:rPr lang="uz-Cyrl-UZ" sz="1600" dirty="0">
                <a:latin typeface="Times New Roman" pitchFamily="18" charset="0"/>
                <a:cs typeface="Times New Roman" pitchFamily="18" charset="0"/>
              </a:rPr>
              <a:t> компромисси</a:t>
            </a:r>
          </a:p>
          <a:p>
            <a:pPr marL="285750" indent="-285750">
              <a:spcAft>
                <a:spcPts val="600"/>
              </a:spcAft>
              <a:buFont typeface="Arial" pitchFamily="34" charset="0"/>
              <a:buChar char="•"/>
            </a:pPr>
            <a:r>
              <a:rPr lang="uz-Cyrl-UZ" sz="1600" dirty="0">
                <a:latin typeface="Times New Roman" pitchFamily="18" charset="0"/>
                <a:cs typeface="Times New Roman" pitchFamily="18" charset="0"/>
              </a:rPr>
              <a:t>Инверсион ҳужум</a:t>
            </a:r>
          </a:p>
          <a:p>
            <a:pPr marL="285750" indent="-285750">
              <a:spcAft>
                <a:spcPts val="600"/>
              </a:spcAft>
              <a:buFont typeface="Arial" pitchFamily="34" charset="0"/>
              <a:buChar char="•"/>
            </a:pPr>
            <a:r>
              <a:rPr lang="ru-RU" sz="1600" dirty="0">
                <a:latin typeface="Times New Roman" pitchFamily="18" charset="0"/>
                <a:cs typeface="Times New Roman" pitchFamily="18" charset="0"/>
              </a:rPr>
              <a:t>«</a:t>
            </a:r>
            <a:r>
              <a:rPr lang="uz-Cyrl-UZ" sz="1600" dirty="0">
                <a:latin typeface="Times New Roman" pitchFamily="18" charset="0"/>
                <a:cs typeface="Times New Roman" pitchFamily="18" charset="0"/>
              </a:rPr>
              <a:t>Фараз қилиш ва аниқлаш</a:t>
            </a:r>
            <a:r>
              <a:rPr lang="ru-RU" sz="1600" dirty="0">
                <a:latin typeface="Times New Roman" pitchFamily="18" charset="0"/>
                <a:cs typeface="Times New Roman" pitchFamily="18" charset="0"/>
              </a:rPr>
              <a:t>» </a:t>
            </a:r>
          </a:p>
          <a:p>
            <a:pPr marL="285750" indent="-285750">
              <a:spcAft>
                <a:spcPts val="600"/>
              </a:spcAft>
              <a:buFont typeface="Arial" pitchFamily="34" charset="0"/>
              <a:buChar char="•"/>
            </a:pPr>
            <a:r>
              <a:rPr lang="ru-RU" sz="1600" dirty="0">
                <a:latin typeface="Times New Roman" pitchFamily="18" charset="0"/>
                <a:cs typeface="Times New Roman" pitchFamily="18" charset="0"/>
              </a:rPr>
              <a:t>«</a:t>
            </a:r>
            <a:r>
              <a:rPr lang="uz-Cyrl-UZ" sz="1600" dirty="0">
                <a:latin typeface="Times New Roman" pitchFamily="18" charset="0"/>
                <a:cs typeface="Times New Roman" pitchFamily="18" charset="0"/>
              </a:rPr>
              <a:t>Ўртада учрашиш</a:t>
            </a:r>
            <a:r>
              <a:rPr lang="ru-RU" sz="1600" dirty="0">
                <a:latin typeface="Times New Roman" pitchFamily="18" charset="0"/>
                <a:cs typeface="Times New Roman" pitchFamily="18" charset="0"/>
              </a:rPr>
              <a:t>»</a:t>
            </a:r>
            <a:r>
              <a:rPr lang="uz-Cyrl-UZ" sz="1600" dirty="0">
                <a:latin typeface="Times New Roman" pitchFamily="18" charset="0"/>
                <a:cs typeface="Times New Roman" pitchFamily="18" charset="0"/>
              </a:rPr>
              <a:t> усули</a:t>
            </a:r>
          </a:p>
          <a:p>
            <a:pPr algn="ctr"/>
            <a:r>
              <a:rPr lang="en-US" sz="1600" b="1" dirty="0" smtClean="0">
                <a:latin typeface="Times New Roman" pitchFamily="18" charset="0"/>
                <a:cs typeface="Times New Roman" pitchFamily="18" charset="0"/>
              </a:rPr>
              <a:t>    </a:t>
            </a:r>
            <a:endParaRPr lang="ru-RU" sz="1600" b="1" dirty="0">
              <a:latin typeface="Times New Roman" pitchFamily="18" charset="0"/>
              <a:cs typeface="Times New Roman" pitchFamily="18" charset="0"/>
            </a:endParaRPr>
          </a:p>
        </p:txBody>
      </p:sp>
      <p:sp>
        <p:nvSpPr>
          <p:cNvPr id="35" name="Text Box 5"/>
          <p:cNvSpPr txBox="1">
            <a:spLocks noChangeArrowheads="1"/>
          </p:cNvSpPr>
          <p:nvPr/>
        </p:nvSpPr>
        <p:spPr bwMode="auto">
          <a:xfrm>
            <a:off x="3419872" y="3305944"/>
            <a:ext cx="2448272" cy="3147392"/>
          </a:xfrm>
          <a:prstGeom prst="rect">
            <a:avLst/>
          </a:prstGeom>
          <a:solidFill>
            <a:srgbClr val="FFFFFF"/>
          </a:solidFill>
          <a:ln w="38100">
            <a:solidFill>
              <a:srgbClr val="000000"/>
            </a:solidFill>
            <a:miter lim="800000"/>
            <a:headEnd/>
            <a:tailEnd/>
          </a:ln>
        </p:spPr>
        <p:txBody>
          <a:bodyPr/>
          <a:lstStyle/>
          <a:p>
            <a:pPr algn="ctr"/>
            <a:r>
              <a:rPr lang="uz-Cyrl-UZ" sz="1600" b="1" dirty="0" smtClean="0">
                <a:latin typeface="Times New Roman" pitchFamily="18" charset="0"/>
                <a:cs typeface="Times New Roman" pitchFamily="18" charset="0"/>
              </a:rPr>
              <a:t>Статистик ҳужумлар</a:t>
            </a:r>
            <a:endParaRPr lang="en-US" sz="1600" b="1" dirty="0" smtClean="0">
              <a:latin typeface="Times New Roman" pitchFamily="18" charset="0"/>
              <a:cs typeface="Times New Roman" pitchFamily="18" charset="0"/>
            </a:endParaRPr>
          </a:p>
          <a:p>
            <a:pPr algn="ctr">
              <a:spcAft>
                <a:spcPts val="1200"/>
              </a:spcAft>
            </a:pPr>
            <a:endParaRPr lang="en-US" sz="1600" b="1" dirty="0" smtClean="0">
              <a:latin typeface="Times New Roman" pitchFamily="18" charset="0"/>
              <a:cs typeface="Times New Roman" pitchFamily="18" charset="0"/>
            </a:endParaRPr>
          </a:p>
          <a:p>
            <a:pPr marL="285750" indent="-285750">
              <a:spcAft>
                <a:spcPts val="600"/>
              </a:spcAft>
              <a:buFont typeface="Arial" pitchFamily="34" charset="0"/>
              <a:buChar char="•"/>
            </a:pPr>
            <a:r>
              <a:rPr lang="uz-Cyrl-UZ" sz="1600" dirty="0">
                <a:latin typeface="Times New Roman" pitchFamily="18" charset="0"/>
                <a:cs typeface="Times New Roman" pitchFamily="18" charset="0"/>
              </a:rPr>
              <a:t>Дифференциал криптотаҳлил</a:t>
            </a:r>
          </a:p>
          <a:p>
            <a:pPr marL="285750" indent="-285750">
              <a:spcAft>
                <a:spcPts val="600"/>
              </a:spcAft>
              <a:buFont typeface="Arial" pitchFamily="34" charset="0"/>
              <a:buChar char="•"/>
            </a:pPr>
            <a:r>
              <a:rPr lang="uz-Cyrl-UZ" sz="1600" dirty="0">
                <a:latin typeface="Times New Roman" pitchFamily="18" charset="0"/>
                <a:cs typeface="Times New Roman" pitchFamily="18" charset="0"/>
              </a:rPr>
              <a:t>Чизиқли криптотаҳлил</a:t>
            </a:r>
            <a:endParaRPr lang="ru-RU" sz="1600" dirty="0">
              <a:latin typeface="Times New Roman" pitchFamily="18" charset="0"/>
              <a:cs typeface="Times New Roman" pitchFamily="18" charset="0"/>
            </a:endParaRPr>
          </a:p>
          <a:p>
            <a:pPr algn="ctr"/>
            <a:endParaRPr lang="en-US" sz="1600" b="1" dirty="0" smtClean="0">
              <a:latin typeface="Times New Roman" pitchFamily="18" charset="0"/>
              <a:cs typeface="Times New Roman" pitchFamily="18" charset="0"/>
            </a:endParaRPr>
          </a:p>
          <a:p>
            <a:pPr algn="ctr"/>
            <a:endParaRPr lang="en-US" sz="1600" b="1" dirty="0" smtClean="0">
              <a:latin typeface="Times New Roman" pitchFamily="18" charset="0"/>
              <a:cs typeface="Times New Roman" pitchFamily="18" charset="0"/>
            </a:endParaRPr>
          </a:p>
          <a:p>
            <a:pPr algn="ctr"/>
            <a:endParaRPr lang="ru-RU" sz="1600" b="1" dirty="0">
              <a:latin typeface="Times New Roman" pitchFamily="18" charset="0"/>
              <a:cs typeface="Times New Roman" pitchFamily="18" charset="0"/>
            </a:endParaRPr>
          </a:p>
        </p:txBody>
      </p:sp>
      <p:sp>
        <p:nvSpPr>
          <p:cNvPr id="36" name="Text Box 6"/>
          <p:cNvSpPr txBox="1">
            <a:spLocks noChangeArrowheads="1"/>
          </p:cNvSpPr>
          <p:nvPr/>
        </p:nvSpPr>
        <p:spPr bwMode="auto">
          <a:xfrm>
            <a:off x="6156176" y="3305944"/>
            <a:ext cx="2448272" cy="3147392"/>
          </a:xfrm>
          <a:prstGeom prst="rect">
            <a:avLst/>
          </a:prstGeom>
          <a:solidFill>
            <a:srgbClr val="FFFFFF"/>
          </a:solidFill>
          <a:ln w="38100">
            <a:solidFill>
              <a:srgbClr val="000000"/>
            </a:solidFill>
            <a:miter lim="800000"/>
            <a:headEnd/>
            <a:tailEnd/>
          </a:ln>
        </p:spPr>
        <p:txBody>
          <a:bodyPr/>
          <a:lstStyle/>
          <a:p>
            <a:pPr algn="ctr">
              <a:spcAft>
                <a:spcPts val="1200"/>
              </a:spcAft>
            </a:pPr>
            <a:r>
              <a:rPr lang="uz-Cyrl-UZ" sz="1600" b="1" dirty="0">
                <a:latin typeface="Times New Roman" pitchFamily="18" charset="0"/>
                <a:cs typeface="Times New Roman" pitchFamily="18" charset="0"/>
              </a:rPr>
              <a:t>Кучга асосланган </a:t>
            </a:r>
            <a:r>
              <a:rPr lang="uz-Cyrl-UZ" sz="1600" b="1" dirty="0" smtClean="0">
                <a:latin typeface="Times New Roman" pitchFamily="18" charset="0"/>
                <a:cs typeface="Times New Roman" pitchFamily="18" charset="0"/>
              </a:rPr>
              <a:t>ҳужумлар</a:t>
            </a:r>
            <a:endParaRPr lang="en-US" sz="1600" b="1" dirty="0" smtClean="0">
              <a:latin typeface="Times New Roman" pitchFamily="18" charset="0"/>
              <a:cs typeface="Times New Roman" pitchFamily="18" charset="0"/>
            </a:endParaRPr>
          </a:p>
          <a:p>
            <a:pPr marL="285750" indent="-285750">
              <a:buFont typeface="Arial" pitchFamily="34" charset="0"/>
              <a:buChar char="•"/>
            </a:pPr>
            <a:r>
              <a:rPr lang="uz-Cyrl-UZ" sz="1600" dirty="0">
                <a:latin typeface="Times New Roman" pitchFamily="18" charset="0"/>
                <a:cs typeface="Times New Roman" pitchFamily="18" charset="0"/>
              </a:rPr>
              <a:t>Калитнинг мумкин бўлган барча вариантларини кўриб чиқиш (тотал перебор)</a:t>
            </a:r>
            <a:endParaRPr lang="ru-RU" sz="1600" dirty="0">
              <a:latin typeface="Times New Roman" pitchFamily="18" charset="0"/>
              <a:cs typeface="Times New Roman" pitchFamily="18" charset="0"/>
            </a:endParaRPr>
          </a:p>
          <a:p>
            <a:endParaRPr lang="ru-RU" sz="1600" b="1" dirty="0">
              <a:latin typeface="Times New Roman" pitchFamily="18" charset="0"/>
              <a:cs typeface="Times New Roman" pitchFamily="18" charset="0"/>
            </a:endParaRPr>
          </a:p>
        </p:txBody>
      </p:sp>
      <p:sp>
        <p:nvSpPr>
          <p:cNvPr id="37" name="Стрелка вниз 36"/>
          <p:cNvSpPr/>
          <p:nvPr/>
        </p:nvSpPr>
        <p:spPr>
          <a:xfrm>
            <a:off x="4555232" y="2996952"/>
            <a:ext cx="304800" cy="3089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38" name="Стрелка вниз 37">
            <a:hlinkClick r:id="rId3" action="ppaction://hlinksldjump"/>
          </p:cNvPr>
          <p:cNvSpPr/>
          <p:nvPr/>
        </p:nvSpPr>
        <p:spPr>
          <a:xfrm>
            <a:off x="1818928" y="2996952"/>
            <a:ext cx="304800" cy="3089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39" name="Стрелка вниз 38"/>
          <p:cNvSpPr/>
          <p:nvPr/>
        </p:nvSpPr>
        <p:spPr>
          <a:xfrm>
            <a:off x="7308304" y="2996952"/>
            <a:ext cx="304800" cy="3089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0" name="Куб 39"/>
          <p:cNvSpPr/>
          <p:nvPr/>
        </p:nvSpPr>
        <p:spPr>
          <a:xfrm>
            <a:off x="719324" y="2492896"/>
            <a:ext cx="7772400" cy="504056"/>
          </a:xfrm>
          <a:prstGeom prst="cube">
            <a:avLst>
              <a:gd name="adj" fmla="val 13926"/>
            </a:avLst>
          </a:prstGeom>
          <a:solidFill>
            <a:schemeClr val="tx1">
              <a:lumMod val="50000"/>
              <a:lumOff val="5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1" dirty="0" smtClean="0">
              <a:solidFill>
                <a:schemeClr val="bg1"/>
              </a:solidFill>
              <a:latin typeface="Times New Roman" pitchFamily="18" charset="0"/>
            </a:endParaRPr>
          </a:p>
          <a:p>
            <a:pPr algn="ctr" fontAlgn="auto">
              <a:spcBef>
                <a:spcPts val="0"/>
              </a:spcBef>
              <a:spcAft>
                <a:spcPts val="0"/>
              </a:spcAft>
              <a:defRPr/>
            </a:pPr>
            <a:r>
              <a:rPr lang="uz-Cyrl-UZ" b="1" dirty="0" smtClean="0">
                <a:solidFill>
                  <a:schemeClr val="bg1"/>
                </a:solidFill>
                <a:latin typeface="Times New Roman" pitchFamily="18" charset="0"/>
              </a:rPr>
              <a:t>Узлуксиз шифрларга қўлланилувчи криптотаҳлил усуллари</a:t>
            </a:r>
            <a:endParaRPr lang="uz-Cyrl-UZ" b="1" dirty="0">
              <a:solidFill>
                <a:schemeClr val="bg1"/>
              </a:solidFill>
              <a:latin typeface="Times New Roman" pitchFamily="18" charset="0"/>
            </a:endParaRPr>
          </a:p>
          <a:p>
            <a:pPr algn="ctr" fontAlgn="auto">
              <a:spcBef>
                <a:spcPts val="0"/>
              </a:spcBef>
              <a:spcAft>
                <a:spcPts val="0"/>
              </a:spcAft>
              <a:defRPr/>
            </a:pPr>
            <a:endParaRPr lang="ru-RU" dirty="0">
              <a:solidFill>
                <a:schemeClr val="bg1"/>
              </a:solidFill>
            </a:endParaRPr>
          </a:p>
        </p:txBody>
      </p:sp>
      <p:cxnSp>
        <p:nvCxnSpPr>
          <p:cNvPr id="41" name="Прямая соединительная линия 40"/>
          <p:cNvCxnSpPr/>
          <p:nvPr/>
        </p:nvCxnSpPr>
        <p:spPr>
          <a:xfrm>
            <a:off x="642020" y="3842374"/>
            <a:ext cx="2514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3419872" y="3860030"/>
            <a:ext cx="2448272" cy="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6156176" y="3860030"/>
            <a:ext cx="24410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Содержимое 2"/>
          <p:cNvSpPr txBox="1">
            <a:spLocks/>
          </p:cNvSpPr>
          <p:nvPr/>
        </p:nvSpPr>
        <p:spPr bwMode="auto">
          <a:xfrm>
            <a:off x="683568" y="917517"/>
            <a:ext cx="7836443" cy="1364812"/>
          </a:xfrm>
          <a:prstGeom prst="foldedCorner">
            <a:avLst>
              <a:gd name="adj" fmla="val 18538"/>
            </a:avLst>
          </a:prstGeom>
          <a:pattFill prst="pct5">
            <a:fgClr>
              <a:schemeClr val="accent1">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indent="446088" algn="just"/>
            <a:r>
              <a:rPr lang="uz-Cyrl-UZ" sz="1600" dirty="0">
                <a:latin typeface="Times New Roman" pitchFamily="18" charset="0"/>
                <a:cs typeface="Times New Roman" pitchFamily="18" charset="0"/>
              </a:rPr>
              <a:t>Узлуксиз шифрларни тасодифийлик тестларига текшириш зарурий талаб бўлиб, етарлилик талабини бажара олмайди. Шу сабабли узлуксиз шифрларнинг криптобардошлигини аниқлашда, унинг мавжуд криптотаҳлил усулларига бардошлилиги текширилади. Агар критоҳужум мураккаблиги “тотал перебор” мураккаблигидан юқори бўлса, узлуксиз шифр ушбу ҳужумга бардошли ҳисобланади.</a:t>
            </a:r>
            <a:endParaRPr lang="ru-RU" sz="1600" dirty="0">
              <a:latin typeface="Times New Roman" pitchFamily="18" charset="0"/>
              <a:cs typeface="Times New Roman" pitchFamily="18" charset="0"/>
            </a:endParaRPr>
          </a:p>
        </p:txBody>
      </p:sp>
    </p:spTree>
    <p:extLst>
      <p:ext uri="{BB962C8B-B14F-4D97-AF65-F5344CB8AC3E}">
        <p14:creationId xmlns:p14="http://schemas.microsoft.com/office/powerpoint/2010/main" val="91784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heckerboard(across)">
                                      <p:cBhvr>
                                        <p:cTn id="7" dur="500"/>
                                        <p:tgtEl>
                                          <p:spTgt spid="3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1000"/>
                                        <p:tgtEl>
                                          <p:spTgt spid="19"/>
                                        </p:tgtEl>
                                      </p:cBhvr>
                                    </p:animEffect>
                                    <p:anim calcmode="lin" valueType="num">
                                      <p:cBhvr>
                                        <p:cTn id="12" dur="1000" fill="hold"/>
                                        <p:tgtEl>
                                          <p:spTgt spid="19"/>
                                        </p:tgtEl>
                                        <p:attrNameLst>
                                          <p:attrName>ppt_x</p:attrName>
                                        </p:attrNameLst>
                                      </p:cBhvr>
                                      <p:tavLst>
                                        <p:tav tm="0">
                                          <p:val>
                                            <p:strVal val="#ppt_x"/>
                                          </p:val>
                                        </p:tav>
                                        <p:tav tm="100000">
                                          <p:val>
                                            <p:strVal val="#ppt_x"/>
                                          </p:val>
                                        </p:tav>
                                      </p:tavLst>
                                    </p:anim>
                                    <p:anim calcmode="lin" valueType="num">
                                      <p:cBhvr>
                                        <p:cTn id="13" dur="1000" fill="hold"/>
                                        <p:tgtEl>
                                          <p:spTgt spid="1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4" presetClass="entr" presetSubtype="10" fill="hold" grpId="0" nodeType="after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randombar(horizontal)">
                                      <p:cBhvr>
                                        <p:cTn id="17" dur="500"/>
                                        <p:tgtEl>
                                          <p:spTgt spid="40"/>
                                        </p:tgtEl>
                                      </p:cBhvr>
                                    </p:animEffect>
                                  </p:childTnLst>
                                </p:cTn>
                              </p:par>
                            </p:childTnLst>
                          </p:cTn>
                        </p:par>
                        <p:par>
                          <p:cTn id="18" fill="hold">
                            <p:stCondLst>
                              <p:cond delay="2000"/>
                            </p:stCondLst>
                            <p:childTnLst>
                              <p:par>
                                <p:cTn id="19" presetID="22" presetClass="entr" presetSubtype="4"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down)">
                                      <p:cBhvr>
                                        <p:cTn id="21" dur="500"/>
                                        <p:tgtEl>
                                          <p:spTgt spid="3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down)">
                                      <p:cBhvr>
                                        <p:cTn id="24" dur="500"/>
                                        <p:tgtEl>
                                          <p:spTgt spid="3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down)">
                                      <p:cBhvr>
                                        <p:cTn id="27" dur="500"/>
                                        <p:tgtEl>
                                          <p:spTgt spid="39"/>
                                        </p:tgtEl>
                                      </p:cBhvr>
                                    </p:animEffect>
                                  </p:childTnLst>
                                </p:cTn>
                              </p:par>
                            </p:childTnLst>
                          </p:cTn>
                        </p:par>
                        <p:par>
                          <p:cTn id="28" fill="hold">
                            <p:stCondLst>
                              <p:cond delay="2500"/>
                            </p:stCondLst>
                            <p:childTnLst>
                              <p:par>
                                <p:cTn id="29" presetID="42"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1000"/>
                                        <p:tgtEl>
                                          <p:spTgt spid="30"/>
                                        </p:tgtEl>
                                      </p:cBhvr>
                                    </p:animEffect>
                                    <p:anim calcmode="lin" valueType="num">
                                      <p:cBhvr>
                                        <p:cTn id="32" dur="1000" fill="hold"/>
                                        <p:tgtEl>
                                          <p:spTgt spid="30"/>
                                        </p:tgtEl>
                                        <p:attrNameLst>
                                          <p:attrName>ppt_x</p:attrName>
                                        </p:attrNameLst>
                                      </p:cBhvr>
                                      <p:tavLst>
                                        <p:tav tm="0">
                                          <p:val>
                                            <p:strVal val="#ppt_x"/>
                                          </p:val>
                                        </p:tav>
                                        <p:tav tm="100000">
                                          <p:val>
                                            <p:strVal val="#ppt_x"/>
                                          </p:val>
                                        </p:tav>
                                      </p:tavLst>
                                    </p:anim>
                                    <p:anim calcmode="lin" valueType="num">
                                      <p:cBhvr>
                                        <p:cTn id="33" dur="1000" fill="hold"/>
                                        <p:tgtEl>
                                          <p:spTgt spid="3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1000"/>
                                        <p:tgtEl>
                                          <p:spTgt spid="34"/>
                                        </p:tgtEl>
                                      </p:cBhvr>
                                    </p:animEffect>
                                    <p:anim calcmode="lin" valueType="num">
                                      <p:cBhvr>
                                        <p:cTn id="37" dur="1000" fill="hold"/>
                                        <p:tgtEl>
                                          <p:spTgt spid="34"/>
                                        </p:tgtEl>
                                        <p:attrNameLst>
                                          <p:attrName>ppt_x</p:attrName>
                                        </p:attrNameLst>
                                      </p:cBhvr>
                                      <p:tavLst>
                                        <p:tav tm="0">
                                          <p:val>
                                            <p:strVal val="#ppt_x"/>
                                          </p:val>
                                        </p:tav>
                                        <p:tav tm="100000">
                                          <p:val>
                                            <p:strVal val="#ppt_x"/>
                                          </p:val>
                                        </p:tav>
                                      </p:tavLst>
                                    </p:anim>
                                    <p:anim calcmode="lin" valueType="num">
                                      <p:cBhvr>
                                        <p:cTn id="38" dur="1000" fill="hold"/>
                                        <p:tgtEl>
                                          <p:spTgt spid="34"/>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1000"/>
                                        <p:tgtEl>
                                          <p:spTgt spid="41"/>
                                        </p:tgtEl>
                                      </p:cBhvr>
                                    </p:animEffect>
                                    <p:anim calcmode="lin" valueType="num">
                                      <p:cBhvr>
                                        <p:cTn id="42" dur="1000" fill="hold"/>
                                        <p:tgtEl>
                                          <p:spTgt spid="41"/>
                                        </p:tgtEl>
                                        <p:attrNameLst>
                                          <p:attrName>ppt_x</p:attrName>
                                        </p:attrNameLst>
                                      </p:cBhvr>
                                      <p:tavLst>
                                        <p:tav tm="0">
                                          <p:val>
                                            <p:strVal val="#ppt_x"/>
                                          </p:val>
                                        </p:tav>
                                        <p:tav tm="100000">
                                          <p:val>
                                            <p:strVal val="#ppt_x"/>
                                          </p:val>
                                        </p:tav>
                                      </p:tavLst>
                                    </p:anim>
                                    <p:anim calcmode="lin" valueType="num">
                                      <p:cBhvr>
                                        <p:cTn id="43" dur="1000" fill="hold"/>
                                        <p:tgtEl>
                                          <p:spTgt spid="4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1000"/>
                                        <p:tgtEl>
                                          <p:spTgt spid="32"/>
                                        </p:tgtEl>
                                      </p:cBhvr>
                                    </p:animEffect>
                                    <p:anim calcmode="lin" valueType="num">
                                      <p:cBhvr>
                                        <p:cTn id="47" dur="1000" fill="hold"/>
                                        <p:tgtEl>
                                          <p:spTgt spid="32"/>
                                        </p:tgtEl>
                                        <p:attrNameLst>
                                          <p:attrName>ppt_x</p:attrName>
                                        </p:attrNameLst>
                                      </p:cBhvr>
                                      <p:tavLst>
                                        <p:tav tm="0">
                                          <p:val>
                                            <p:strVal val="#ppt_x"/>
                                          </p:val>
                                        </p:tav>
                                        <p:tav tm="100000">
                                          <p:val>
                                            <p:strVal val="#ppt_x"/>
                                          </p:val>
                                        </p:tav>
                                      </p:tavLst>
                                    </p:anim>
                                    <p:anim calcmode="lin" valueType="num">
                                      <p:cBhvr>
                                        <p:cTn id="48" dur="1000" fill="hold"/>
                                        <p:tgtEl>
                                          <p:spTgt spid="3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1000"/>
                                        <p:tgtEl>
                                          <p:spTgt spid="35"/>
                                        </p:tgtEl>
                                      </p:cBhvr>
                                    </p:animEffect>
                                    <p:anim calcmode="lin" valueType="num">
                                      <p:cBhvr>
                                        <p:cTn id="52" dur="1000" fill="hold"/>
                                        <p:tgtEl>
                                          <p:spTgt spid="35"/>
                                        </p:tgtEl>
                                        <p:attrNameLst>
                                          <p:attrName>ppt_x</p:attrName>
                                        </p:attrNameLst>
                                      </p:cBhvr>
                                      <p:tavLst>
                                        <p:tav tm="0">
                                          <p:val>
                                            <p:strVal val="#ppt_x"/>
                                          </p:val>
                                        </p:tav>
                                        <p:tav tm="100000">
                                          <p:val>
                                            <p:strVal val="#ppt_x"/>
                                          </p:val>
                                        </p:tav>
                                      </p:tavLst>
                                    </p:anim>
                                    <p:anim calcmode="lin" valueType="num">
                                      <p:cBhvr>
                                        <p:cTn id="53" dur="1000" fill="hold"/>
                                        <p:tgtEl>
                                          <p:spTgt spid="35"/>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1000"/>
                                        <p:tgtEl>
                                          <p:spTgt spid="42"/>
                                        </p:tgtEl>
                                      </p:cBhvr>
                                    </p:animEffect>
                                    <p:anim calcmode="lin" valueType="num">
                                      <p:cBhvr>
                                        <p:cTn id="57" dur="1000" fill="hold"/>
                                        <p:tgtEl>
                                          <p:spTgt spid="42"/>
                                        </p:tgtEl>
                                        <p:attrNameLst>
                                          <p:attrName>ppt_x</p:attrName>
                                        </p:attrNameLst>
                                      </p:cBhvr>
                                      <p:tavLst>
                                        <p:tav tm="0">
                                          <p:val>
                                            <p:strVal val="#ppt_x"/>
                                          </p:val>
                                        </p:tav>
                                        <p:tav tm="100000">
                                          <p:val>
                                            <p:strVal val="#ppt_x"/>
                                          </p:val>
                                        </p:tav>
                                      </p:tavLst>
                                    </p:anim>
                                    <p:anim calcmode="lin" valueType="num">
                                      <p:cBhvr>
                                        <p:cTn id="58" dur="1000" fill="hold"/>
                                        <p:tgtEl>
                                          <p:spTgt spid="4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1000"/>
                                        <p:tgtEl>
                                          <p:spTgt spid="33"/>
                                        </p:tgtEl>
                                      </p:cBhvr>
                                    </p:animEffect>
                                    <p:anim calcmode="lin" valueType="num">
                                      <p:cBhvr>
                                        <p:cTn id="62" dur="1000" fill="hold"/>
                                        <p:tgtEl>
                                          <p:spTgt spid="33"/>
                                        </p:tgtEl>
                                        <p:attrNameLst>
                                          <p:attrName>ppt_x</p:attrName>
                                        </p:attrNameLst>
                                      </p:cBhvr>
                                      <p:tavLst>
                                        <p:tav tm="0">
                                          <p:val>
                                            <p:strVal val="#ppt_x"/>
                                          </p:val>
                                        </p:tav>
                                        <p:tav tm="100000">
                                          <p:val>
                                            <p:strVal val="#ppt_x"/>
                                          </p:val>
                                        </p:tav>
                                      </p:tavLst>
                                    </p:anim>
                                    <p:anim calcmode="lin" valueType="num">
                                      <p:cBhvr>
                                        <p:cTn id="63" dur="1000" fill="hold"/>
                                        <p:tgtEl>
                                          <p:spTgt spid="33"/>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1000"/>
                                        <p:tgtEl>
                                          <p:spTgt spid="36"/>
                                        </p:tgtEl>
                                      </p:cBhvr>
                                    </p:animEffect>
                                    <p:anim calcmode="lin" valueType="num">
                                      <p:cBhvr>
                                        <p:cTn id="67" dur="1000" fill="hold"/>
                                        <p:tgtEl>
                                          <p:spTgt spid="36"/>
                                        </p:tgtEl>
                                        <p:attrNameLst>
                                          <p:attrName>ppt_x</p:attrName>
                                        </p:attrNameLst>
                                      </p:cBhvr>
                                      <p:tavLst>
                                        <p:tav tm="0">
                                          <p:val>
                                            <p:strVal val="#ppt_x"/>
                                          </p:val>
                                        </p:tav>
                                        <p:tav tm="100000">
                                          <p:val>
                                            <p:strVal val="#ppt_x"/>
                                          </p:val>
                                        </p:tav>
                                      </p:tavLst>
                                    </p:anim>
                                    <p:anim calcmode="lin" valueType="num">
                                      <p:cBhvr>
                                        <p:cTn id="68" dur="1000" fill="hold"/>
                                        <p:tgtEl>
                                          <p:spTgt spid="36"/>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1000"/>
                                        <p:tgtEl>
                                          <p:spTgt spid="43"/>
                                        </p:tgtEl>
                                      </p:cBhvr>
                                    </p:animEffect>
                                    <p:anim calcmode="lin" valueType="num">
                                      <p:cBhvr>
                                        <p:cTn id="72" dur="1000" fill="hold"/>
                                        <p:tgtEl>
                                          <p:spTgt spid="43"/>
                                        </p:tgtEl>
                                        <p:attrNameLst>
                                          <p:attrName>ppt_x</p:attrName>
                                        </p:attrNameLst>
                                      </p:cBhvr>
                                      <p:tavLst>
                                        <p:tav tm="0">
                                          <p:val>
                                            <p:strVal val="#ppt_x"/>
                                          </p:val>
                                        </p:tav>
                                        <p:tav tm="100000">
                                          <p:val>
                                            <p:strVal val="#ppt_x"/>
                                          </p:val>
                                        </p:tav>
                                      </p:tavLst>
                                    </p:anim>
                                    <p:anim calcmode="lin" valueType="num">
                                      <p:cBhvr>
                                        <p:cTn id="7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0" grpId="0" animBg="1"/>
      <p:bldP spid="32" grpId="0" animBg="1"/>
      <p:bldP spid="33" grpId="0" animBg="1"/>
      <p:bldP spid="34" grpId="0" animBg="1"/>
      <p:bldP spid="35" grpId="0" animBg="1"/>
      <p:bldP spid="36" grpId="0" animBg="1"/>
      <p:bldP spid="37" grpId="0" animBg="1"/>
      <p:bldP spid="38" grpId="0" animBg="1"/>
      <p:bldP spid="39" grpId="0" animBg="1"/>
      <p:bldP spid="40"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5711"/>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Скругленный прямоугольник 30"/>
          <p:cNvSpPr/>
          <p:nvPr/>
        </p:nvSpPr>
        <p:spPr>
          <a:xfrm>
            <a:off x="684164" y="332656"/>
            <a:ext cx="7836443" cy="43204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a:solidFill>
                  <a:schemeClr val="tx1"/>
                </a:solidFill>
                <a:latin typeface="Times New Roman" pitchFamily="18" charset="0"/>
                <a:cs typeface="Times New Roman" pitchFamily="18" charset="0"/>
              </a:rPr>
              <a:t>NESSIE- Европа давлатлари танлови</a:t>
            </a:r>
            <a:endParaRPr lang="ru-RU" dirty="0">
              <a:solidFill>
                <a:schemeClr val="tx1"/>
              </a:solidFill>
              <a:latin typeface="Times New Roman" pitchFamily="18" charset="0"/>
              <a:cs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2793198078"/>
              </p:ext>
            </p:extLst>
          </p:nvPr>
        </p:nvGraphicFramePr>
        <p:xfrm>
          <a:off x="792176" y="3068960"/>
          <a:ext cx="7620420" cy="3271043"/>
        </p:xfrm>
        <a:graphic>
          <a:graphicData uri="http://schemas.openxmlformats.org/drawingml/2006/table">
            <a:tbl>
              <a:tblPr firstRow="1" bandRow="1">
                <a:tableStyleId>{5C22544A-7EE6-4342-B048-85BDC9FD1C3A}</a:tableStyleId>
              </a:tblPr>
              <a:tblGrid>
                <a:gridCol w="1080121"/>
                <a:gridCol w="1224136"/>
                <a:gridCol w="1368152"/>
                <a:gridCol w="1152128"/>
                <a:gridCol w="1368152"/>
                <a:gridCol w="1427731"/>
              </a:tblGrid>
              <a:tr h="492055">
                <a:tc>
                  <a:txBody>
                    <a:bodyPr/>
                    <a:lstStyle/>
                    <a:p>
                      <a:pPr algn="just">
                        <a:lnSpc>
                          <a:spcPct val="115000"/>
                        </a:lnSpc>
                        <a:spcAft>
                          <a:spcPts val="0"/>
                        </a:spcAft>
                      </a:pPr>
                      <a:r>
                        <a:rPr lang="uz-Cyrl-UZ" sz="1400" b="1" dirty="0">
                          <a:effectLst/>
                          <a:latin typeface="Times New Roman" pitchFamily="18" charset="0"/>
                          <a:ea typeface="Calibri"/>
                          <a:cs typeface="Times New Roman" pitchFamily="18" charset="0"/>
                        </a:rPr>
                        <a:t> </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chemeClr val="bg1"/>
                          </a:solidFill>
                          <a:effectLst/>
                          <a:latin typeface="Times New Roman" pitchFamily="18" charset="0"/>
                          <a:ea typeface="Calibri"/>
                          <a:cs typeface="Times New Roman" pitchFamily="18" charset="0"/>
                        </a:rPr>
                        <a:t>Корреляцион ҳужум</a:t>
                      </a:r>
                      <a:endParaRPr lang="ru-RU" sz="1400" b="1" dirty="0">
                        <a:solidFill>
                          <a:schemeClr val="bg1"/>
                        </a:solidFill>
                        <a:effectLst/>
                        <a:latin typeface="Times New Roman" pitchFamily="18" charset="0"/>
                        <a:ea typeface="Calibri"/>
                        <a:cs typeface="Times New Roman" pitchFamily="18" charset="0"/>
                      </a:endParaRPr>
                    </a:p>
                    <a:p>
                      <a:pPr algn="ctr">
                        <a:lnSpc>
                          <a:spcPct val="150000"/>
                        </a:lnSpc>
                        <a:spcAft>
                          <a:spcPts val="600"/>
                        </a:spcAft>
                        <a:tabLst>
                          <a:tab pos="4667250" algn="l"/>
                        </a:tabLst>
                      </a:pPr>
                      <a:r>
                        <a:rPr lang="uz-Cyrl-UZ" sz="1400" b="1" dirty="0">
                          <a:effectLst/>
                          <a:latin typeface="Times New Roman" pitchFamily="18" charset="0"/>
                          <a:ea typeface="Calibri"/>
                          <a:cs typeface="Times New Roman" pitchFamily="18" charset="0"/>
                        </a:rPr>
                        <a:t> </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chemeClr val="bg1"/>
                          </a:solidFill>
                          <a:effectLst/>
                          <a:latin typeface="Times New Roman" pitchFamily="18" charset="0"/>
                          <a:ea typeface="Calibri"/>
                          <a:cs typeface="Times New Roman" pitchFamily="18" charset="0"/>
                        </a:rPr>
                        <a:t>“Вақт</a:t>
                      </a:r>
                      <a:r>
                        <a:rPr lang="en-US" sz="1400" b="1" dirty="0">
                          <a:solidFill>
                            <a:schemeClr val="bg1"/>
                          </a:solidFill>
                          <a:effectLst/>
                          <a:latin typeface="Times New Roman" pitchFamily="18" charset="0"/>
                          <a:ea typeface="Calibri"/>
                          <a:cs typeface="Times New Roman" pitchFamily="18" charset="0"/>
                        </a:rPr>
                        <a:t>-</a:t>
                      </a:r>
                      <a:r>
                        <a:rPr lang="uz-Cyrl-UZ" sz="1400" b="1" dirty="0">
                          <a:solidFill>
                            <a:schemeClr val="bg1"/>
                          </a:solidFill>
                          <a:effectLst/>
                          <a:latin typeface="Times New Roman" pitchFamily="18" charset="0"/>
                          <a:ea typeface="Calibri"/>
                          <a:cs typeface="Times New Roman" pitchFamily="18" charset="0"/>
                        </a:rPr>
                        <a:t>хотира”</a:t>
                      </a:r>
                      <a:r>
                        <a:rPr lang="uz-Cyrl-UZ" sz="1400" b="1" dirty="0">
                          <a:solidFill>
                            <a:srgbClr val="000000"/>
                          </a:solidFill>
                          <a:effectLst/>
                          <a:latin typeface="Times New Roman" pitchFamily="18" charset="0"/>
                          <a:ea typeface="Calibri"/>
                          <a:cs typeface="Times New Roman" pitchFamily="18" charset="0"/>
                        </a:rPr>
                        <a:t> </a:t>
                      </a:r>
                      <a:r>
                        <a:rPr lang="uz-Cyrl-UZ" sz="1400" b="1" dirty="0">
                          <a:solidFill>
                            <a:schemeClr val="bg1"/>
                          </a:solidFill>
                          <a:effectLst/>
                          <a:latin typeface="Times New Roman" pitchFamily="18" charset="0"/>
                          <a:ea typeface="Calibri"/>
                          <a:cs typeface="Times New Roman" pitchFamily="18" charset="0"/>
                        </a:rPr>
                        <a:t>компромисси</a:t>
                      </a:r>
                      <a:endParaRPr lang="ru-RU" sz="1400" b="1" dirty="0">
                        <a:solidFill>
                          <a:schemeClr val="bg1"/>
                        </a:solidFill>
                        <a:effectLst/>
                        <a:latin typeface="Times New Roman" pitchFamily="18" charset="0"/>
                        <a:ea typeface="Calibri"/>
                        <a:cs typeface="Times New Roman" pitchFamily="18" charset="0"/>
                      </a:endParaRPr>
                    </a:p>
                    <a:p>
                      <a:pPr algn="ctr">
                        <a:lnSpc>
                          <a:spcPct val="150000"/>
                        </a:lnSpc>
                        <a:spcAft>
                          <a:spcPts val="0"/>
                        </a:spcAft>
                      </a:pPr>
                      <a:r>
                        <a:rPr lang="uz-Cyrl-UZ" sz="1400" b="1" dirty="0">
                          <a:effectLst/>
                          <a:latin typeface="Times New Roman" pitchFamily="18" charset="0"/>
                          <a:ea typeface="Calibri"/>
                          <a:cs typeface="Times New Roman" pitchFamily="18" charset="0"/>
                        </a:rPr>
                        <a:t> </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chemeClr val="bg1"/>
                          </a:solidFill>
                          <a:effectLst/>
                          <a:latin typeface="Times New Roman" pitchFamily="18" charset="0"/>
                          <a:ea typeface="Calibri"/>
                          <a:cs typeface="Times New Roman" pitchFamily="18" charset="0"/>
                        </a:rPr>
                        <a:t>Инверсион ҳужум</a:t>
                      </a:r>
                      <a:endParaRPr lang="ru-RU" sz="1400" b="1" dirty="0">
                        <a:solidFill>
                          <a:schemeClr val="bg1"/>
                        </a:solidFill>
                        <a:effectLst/>
                        <a:latin typeface="Times New Roman" pitchFamily="18" charset="0"/>
                        <a:ea typeface="Calibri"/>
                        <a:cs typeface="Times New Roman" pitchFamily="18" charset="0"/>
                      </a:endParaRPr>
                    </a:p>
                    <a:p>
                      <a:pPr algn="ctr">
                        <a:lnSpc>
                          <a:spcPct val="150000"/>
                        </a:lnSpc>
                        <a:spcAft>
                          <a:spcPts val="0"/>
                        </a:spcAft>
                      </a:pPr>
                      <a:r>
                        <a:rPr lang="uz-Cyrl-UZ" sz="1400" b="1" dirty="0">
                          <a:effectLst/>
                          <a:latin typeface="Times New Roman" pitchFamily="18" charset="0"/>
                          <a:ea typeface="Calibri"/>
                          <a:cs typeface="Times New Roman" pitchFamily="18" charset="0"/>
                        </a:rPr>
                        <a:t> </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chemeClr val="bg1"/>
                          </a:solidFill>
                          <a:effectLst/>
                          <a:latin typeface="Times New Roman" pitchFamily="18" charset="0"/>
                          <a:ea typeface="Calibri"/>
                          <a:cs typeface="Times New Roman" pitchFamily="18" charset="0"/>
                        </a:rPr>
                        <a:t>“Фараз қилиш ва аниқлаш”</a:t>
                      </a:r>
                      <a:endParaRPr lang="ru-RU" sz="1400" b="1" dirty="0">
                        <a:solidFill>
                          <a:schemeClr val="bg1"/>
                        </a:solidFill>
                        <a:effectLst/>
                        <a:latin typeface="Times New Roman" pitchFamily="18" charset="0"/>
                        <a:ea typeface="Calibri"/>
                        <a:cs typeface="Times New Roman" pitchFamily="18" charset="0"/>
                      </a:endParaRPr>
                    </a:p>
                    <a:p>
                      <a:pPr algn="ctr">
                        <a:lnSpc>
                          <a:spcPct val="150000"/>
                        </a:lnSpc>
                        <a:spcAft>
                          <a:spcPts val="0"/>
                        </a:spcAft>
                      </a:pPr>
                      <a:r>
                        <a:rPr lang="uz-Cyrl-UZ" sz="1400" b="1" dirty="0">
                          <a:effectLst/>
                          <a:latin typeface="Times New Roman" pitchFamily="18" charset="0"/>
                          <a:ea typeface="Calibri"/>
                          <a:cs typeface="Times New Roman" pitchFamily="18" charset="0"/>
                        </a:rPr>
                        <a:t> </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ea typeface="Calibri"/>
                          <a:cs typeface="Times New Roman" pitchFamily="18" charset="0"/>
                        </a:rPr>
                        <a:t>Калитнинг барча </a:t>
                      </a:r>
                      <a:r>
                        <a:rPr lang="uz-Cyrl-UZ" sz="1400" b="1" dirty="0" smtClean="0">
                          <a:effectLst/>
                          <a:latin typeface="Times New Roman" pitchFamily="18" charset="0"/>
                          <a:ea typeface="Calibri"/>
                          <a:cs typeface="Times New Roman" pitchFamily="18" charset="0"/>
                        </a:rPr>
                        <a:t>вариант-ларини </a:t>
                      </a:r>
                      <a:r>
                        <a:rPr lang="uz-Cyrl-UZ" sz="1400" b="1" dirty="0">
                          <a:effectLst/>
                          <a:latin typeface="Times New Roman" pitchFamily="18" charset="0"/>
                          <a:ea typeface="Calibri"/>
                          <a:cs typeface="Times New Roman" pitchFamily="18" charset="0"/>
                        </a:rPr>
                        <a:t>топиш</a:t>
                      </a:r>
                      <a:endParaRPr lang="ru-RU" sz="1400" b="1" dirty="0">
                        <a:effectLst/>
                        <a:latin typeface="Times New Roman" pitchFamily="18" charset="0"/>
                        <a:ea typeface="Calibri"/>
                        <a:cs typeface="Times New Roman" pitchFamily="18" charset="0"/>
                      </a:endParaRPr>
                    </a:p>
                  </a:txBody>
                  <a:tcPr marL="68580" marR="68580" marT="0" marB="0"/>
                </a:tc>
              </a:tr>
              <a:tr h="492055">
                <a:tc>
                  <a:txBody>
                    <a:bodyPr/>
                    <a:lstStyle/>
                    <a:p>
                      <a:pPr>
                        <a:lnSpc>
                          <a:spcPct val="150000"/>
                        </a:lnSpc>
                        <a:spcAft>
                          <a:spcPts val="0"/>
                        </a:spcAft>
                      </a:pPr>
                      <a:r>
                        <a:rPr lang="en-US" sz="1400" b="1" dirty="0">
                          <a:effectLst/>
                          <a:latin typeface="Times New Roman" pitchFamily="18" charset="0"/>
                          <a:ea typeface="Calibri"/>
                          <a:cs typeface="Times New Roman" pitchFamily="18" charset="0"/>
                        </a:rPr>
                        <a:t>SNOW 128</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uz-Cyrl-UZ" sz="1400" b="1" dirty="0">
                          <a:effectLst/>
                          <a:latin typeface="Times New Roman" pitchFamily="18" charset="0"/>
                          <a:ea typeface="Calibri"/>
                          <a:cs typeface="Times New Roman" pitchFamily="18" charset="0"/>
                        </a:rPr>
                        <a:t>2</a:t>
                      </a:r>
                      <a:r>
                        <a:rPr lang="uz-Cyrl-UZ" sz="1400" b="1" baseline="30000" dirty="0">
                          <a:effectLst/>
                          <a:latin typeface="Times New Roman" pitchFamily="18" charset="0"/>
                          <a:ea typeface="Calibri"/>
                          <a:cs typeface="Times New Roman" pitchFamily="18" charset="0"/>
                        </a:rPr>
                        <a:t>400</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512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512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352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128</a:t>
                      </a:r>
                      <a:endParaRPr lang="ru-RU" sz="1400" b="1" dirty="0">
                        <a:effectLst/>
                        <a:latin typeface="Times New Roman" pitchFamily="18" charset="0"/>
                        <a:ea typeface="Calibri"/>
                        <a:cs typeface="Times New Roman" pitchFamily="18" charset="0"/>
                      </a:endParaRPr>
                    </a:p>
                  </a:txBody>
                  <a:tcPr marL="68580" marR="68580" marT="0" marB="0"/>
                </a:tc>
              </a:tr>
              <a:tr h="492055">
                <a:tc>
                  <a:txBody>
                    <a:bodyPr/>
                    <a:lstStyle/>
                    <a:p>
                      <a:pPr>
                        <a:lnSpc>
                          <a:spcPct val="150000"/>
                        </a:lnSpc>
                        <a:spcAft>
                          <a:spcPts val="0"/>
                        </a:spcAft>
                      </a:pPr>
                      <a:r>
                        <a:rPr lang="en-US" sz="1400" b="1" dirty="0">
                          <a:effectLst/>
                          <a:latin typeface="Times New Roman" pitchFamily="18" charset="0"/>
                          <a:ea typeface="Calibri"/>
                          <a:cs typeface="Times New Roman" pitchFamily="18" charset="0"/>
                        </a:rPr>
                        <a:t>SNOW 256</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uz-Cyrl-UZ" sz="1400" b="1">
                          <a:effectLst/>
                          <a:latin typeface="Times New Roman" pitchFamily="18" charset="0"/>
                          <a:ea typeface="Calibri"/>
                          <a:cs typeface="Times New Roman" pitchFamily="18" charset="0"/>
                        </a:rPr>
                        <a:t>2</a:t>
                      </a:r>
                      <a:r>
                        <a:rPr lang="uz-Cyrl-UZ" sz="1400" b="1" baseline="30000">
                          <a:effectLst/>
                          <a:latin typeface="Times New Roman" pitchFamily="18" charset="0"/>
                          <a:ea typeface="Calibri"/>
                          <a:cs typeface="Times New Roman" pitchFamily="18" charset="0"/>
                        </a:rPr>
                        <a:t>400</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512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512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&lt;2</a:t>
                      </a:r>
                      <a:r>
                        <a:rPr lang="en-US" sz="1400" b="1" baseline="30000" dirty="0">
                          <a:effectLst/>
                          <a:latin typeface="Times New Roman" pitchFamily="18" charset="0"/>
                          <a:ea typeface="Calibri"/>
                          <a:cs typeface="Times New Roman" pitchFamily="18" charset="0"/>
                        </a:rPr>
                        <a:t>256</a:t>
                      </a:r>
                      <a:endParaRPr lang="ru-RU" sz="1400" b="1" dirty="0">
                        <a:effectLst/>
                        <a:latin typeface="Times New Roman" pitchFamily="18" charset="0"/>
                        <a:ea typeface="Calibri"/>
                        <a:cs typeface="Times New Roman" pitchFamily="18" charset="0"/>
                      </a:endParaRPr>
                    </a:p>
                  </a:txBody>
                  <a:tcPr marL="68580" marR="68580" marT="0" marB="0">
                    <a:solidFill>
                      <a:srgbClr val="92D050"/>
                    </a:solidFill>
                  </a:tcPr>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256</a:t>
                      </a:r>
                      <a:endParaRPr lang="ru-RU" sz="1400" b="1" dirty="0">
                        <a:effectLst/>
                        <a:latin typeface="Times New Roman" pitchFamily="18" charset="0"/>
                        <a:ea typeface="Calibri"/>
                        <a:cs typeface="Times New Roman" pitchFamily="18" charset="0"/>
                      </a:endParaRPr>
                    </a:p>
                  </a:txBody>
                  <a:tcPr marL="68580" marR="68580" marT="0" marB="0"/>
                </a:tc>
              </a:tr>
              <a:tr h="492055">
                <a:tc>
                  <a:txBody>
                    <a:bodyPr/>
                    <a:lstStyle/>
                    <a:p>
                      <a:pPr>
                        <a:lnSpc>
                          <a:spcPct val="150000"/>
                        </a:lnSpc>
                        <a:spcAft>
                          <a:spcPts val="0"/>
                        </a:spcAft>
                      </a:pPr>
                      <a:r>
                        <a:rPr lang="en-US" sz="1400" b="1">
                          <a:effectLst/>
                          <a:latin typeface="Times New Roman" pitchFamily="18" charset="0"/>
                          <a:ea typeface="Calibri"/>
                          <a:cs typeface="Times New Roman" pitchFamily="18" charset="0"/>
                        </a:rPr>
                        <a:t>SOBER-t32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smtClean="0">
                          <a:effectLst/>
                          <a:latin typeface="Times New Roman" pitchFamily="18" charset="0"/>
                          <a:ea typeface="Calibri"/>
                          <a:cs typeface="Times New Roman" pitchFamily="18" charset="0"/>
                        </a:rPr>
                        <a:t>&gt;</a:t>
                      </a: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256</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544</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544</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320</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256</a:t>
                      </a:r>
                      <a:endParaRPr lang="ru-RU" sz="1400" b="1">
                        <a:effectLst/>
                        <a:latin typeface="Times New Roman" pitchFamily="18" charset="0"/>
                        <a:ea typeface="Calibri"/>
                        <a:cs typeface="Times New Roman" pitchFamily="18" charset="0"/>
                      </a:endParaRPr>
                    </a:p>
                  </a:txBody>
                  <a:tcPr marL="68580" marR="68580" marT="0" marB="0"/>
                </a:tc>
              </a:tr>
              <a:tr h="492055">
                <a:tc>
                  <a:txBody>
                    <a:bodyPr/>
                    <a:lstStyle/>
                    <a:p>
                      <a:pPr>
                        <a:lnSpc>
                          <a:spcPct val="150000"/>
                        </a:lnSpc>
                        <a:spcAft>
                          <a:spcPts val="0"/>
                        </a:spcAft>
                      </a:pPr>
                      <a:r>
                        <a:rPr lang="en-US" sz="1400" b="1">
                          <a:effectLst/>
                          <a:latin typeface="Times New Roman" pitchFamily="18" charset="0"/>
                          <a:ea typeface="Calibri"/>
                          <a:cs typeface="Times New Roman" pitchFamily="18" charset="0"/>
                        </a:rPr>
                        <a:t>SOBER-t16</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smtClean="0">
                          <a:effectLst/>
                          <a:latin typeface="Times New Roman" pitchFamily="18" charset="0"/>
                          <a:ea typeface="Calibri"/>
                          <a:cs typeface="Times New Roman" pitchFamily="18" charset="0"/>
                        </a:rPr>
                        <a:t>&gt;</a:t>
                      </a: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128</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272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272</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160</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ea typeface="Calibri"/>
                          <a:cs typeface="Times New Roman" pitchFamily="18" charset="0"/>
                        </a:rPr>
                        <a:t>2</a:t>
                      </a:r>
                      <a:r>
                        <a:rPr lang="en-US" sz="1400" b="1" baseline="30000">
                          <a:effectLst/>
                          <a:latin typeface="Times New Roman" pitchFamily="18" charset="0"/>
                          <a:ea typeface="Calibri"/>
                          <a:cs typeface="Times New Roman" pitchFamily="18" charset="0"/>
                        </a:rPr>
                        <a:t>128</a:t>
                      </a:r>
                      <a:endParaRPr lang="ru-RU" sz="1400" b="1">
                        <a:effectLst/>
                        <a:latin typeface="Times New Roman" pitchFamily="18" charset="0"/>
                        <a:ea typeface="Calibri"/>
                        <a:cs typeface="Times New Roman" pitchFamily="18" charset="0"/>
                      </a:endParaRPr>
                    </a:p>
                  </a:txBody>
                  <a:tcPr marL="68580" marR="68580" marT="0" marB="0"/>
                </a:tc>
              </a:tr>
              <a:tr h="492055">
                <a:tc>
                  <a:txBody>
                    <a:bodyPr/>
                    <a:lstStyle/>
                    <a:p>
                      <a:pPr>
                        <a:lnSpc>
                          <a:spcPct val="150000"/>
                        </a:lnSpc>
                        <a:spcAft>
                          <a:spcPts val="0"/>
                        </a:spcAft>
                      </a:pPr>
                      <a:r>
                        <a:rPr lang="en-US" sz="1400" b="1">
                          <a:effectLst/>
                          <a:latin typeface="Times New Roman" pitchFamily="18" charset="0"/>
                          <a:ea typeface="Calibri"/>
                          <a:cs typeface="Times New Roman" pitchFamily="18" charset="0"/>
                        </a:rPr>
                        <a:t>LILI-128</a:t>
                      </a:r>
                      <a:endParaRPr lang="ru-RU" sz="1400" b="1">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smtClean="0">
                          <a:effectLst/>
                          <a:latin typeface="Times New Roman" pitchFamily="18" charset="0"/>
                          <a:ea typeface="Calibri"/>
                          <a:cs typeface="Times New Roman" pitchFamily="18" charset="0"/>
                        </a:rPr>
                        <a:t>2</a:t>
                      </a:r>
                      <a:r>
                        <a:rPr lang="en-US" sz="1400" b="1" baseline="30000" dirty="0" smtClean="0">
                          <a:effectLst/>
                          <a:latin typeface="Times New Roman" pitchFamily="18" charset="0"/>
                          <a:ea typeface="Calibri"/>
                          <a:cs typeface="Times New Roman" pitchFamily="18" charset="0"/>
                        </a:rPr>
                        <a:t>71</a:t>
                      </a:r>
                      <a:endParaRPr lang="ru-RU" sz="1400" b="1" dirty="0">
                        <a:effectLst/>
                        <a:latin typeface="Times New Roman" pitchFamily="18" charset="0"/>
                        <a:ea typeface="Calibri"/>
                        <a:cs typeface="Times New Roman" pitchFamily="18" charset="0"/>
                      </a:endParaRPr>
                    </a:p>
                  </a:txBody>
                  <a:tcPr marL="68580" marR="68580" marT="0" marB="0">
                    <a:solidFill>
                      <a:srgbClr val="92D050"/>
                    </a:solidFill>
                  </a:tcPr>
                </a:tc>
                <a:tc>
                  <a:txBody>
                    <a:bodyPr/>
                    <a:lstStyle/>
                    <a:p>
                      <a:pPr algn="ctr">
                        <a:lnSpc>
                          <a:spcPct val="150000"/>
                        </a:lnSpc>
                        <a:spcAft>
                          <a:spcPts val="0"/>
                        </a:spcAft>
                      </a:pPr>
                      <a:r>
                        <a:rPr lang="en-US" sz="1400" b="1" dirty="0" smtClean="0">
                          <a:effectLst/>
                          <a:latin typeface="Times New Roman" pitchFamily="18" charset="0"/>
                          <a:ea typeface="Calibri"/>
                          <a:cs typeface="Times New Roman" pitchFamily="18" charset="0"/>
                        </a:rPr>
                        <a:t>2</a:t>
                      </a:r>
                      <a:r>
                        <a:rPr lang="en-US" sz="1400" b="1" baseline="30000" dirty="0" smtClean="0">
                          <a:effectLst/>
                          <a:latin typeface="Times New Roman" pitchFamily="18" charset="0"/>
                          <a:ea typeface="Calibri"/>
                          <a:cs typeface="Times New Roman" pitchFamily="18" charset="0"/>
                        </a:rPr>
                        <a:t>100</a:t>
                      </a:r>
                      <a:endParaRPr lang="ru-RU" sz="1400" b="1" dirty="0">
                        <a:effectLst/>
                        <a:latin typeface="Times New Roman" pitchFamily="18" charset="0"/>
                        <a:ea typeface="Calibri"/>
                        <a:cs typeface="Times New Roman" pitchFamily="18" charset="0"/>
                      </a:endParaRPr>
                    </a:p>
                  </a:txBody>
                  <a:tcPr marL="68580" marR="68580" marT="0" marB="0">
                    <a:solidFill>
                      <a:srgbClr val="92D050"/>
                    </a:solidFill>
                  </a:tcPr>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128</a:t>
                      </a:r>
                      <a:endParaRPr lang="ru-RU" sz="1400" b="1" dirty="0">
                        <a:effectLst/>
                        <a:latin typeface="Times New Roman" pitchFamily="18" charset="0"/>
                        <a:ea typeface="Calibri"/>
                        <a:cs typeface="Times New Roman" pitchFamily="18" charset="0"/>
                      </a:endParaRPr>
                    </a:p>
                  </a:txBody>
                  <a:tcPr marL="68580" marR="68580" marT="0" marB="0"/>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124</a:t>
                      </a:r>
                      <a:endParaRPr lang="ru-RU" sz="1400" b="1" dirty="0">
                        <a:effectLst/>
                        <a:latin typeface="Times New Roman" pitchFamily="18" charset="0"/>
                        <a:ea typeface="Calibri"/>
                        <a:cs typeface="Times New Roman" pitchFamily="18" charset="0"/>
                      </a:endParaRPr>
                    </a:p>
                  </a:txBody>
                  <a:tcPr marL="68580" marR="68580" marT="0" marB="0">
                    <a:solidFill>
                      <a:srgbClr val="92D050"/>
                    </a:solidFill>
                  </a:tcPr>
                </a:tc>
                <a:tc>
                  <a:txBody>
                    <a:bodyPr/>
                    <a:lstStyle/>
                    <a:p>
                      <a:pPr algn="ctr">
                        <a:lnSpc>
                          <a:spcPct val="150000"/>
                        </a:lnSpc>
                        <a:spcAft>
                          <a:spcPts val="0"/>
                        </a:spcAft>
                      </a:pPr>
                      <a:r>
                        <a:rPr lang="en-US" sz="1400" b="1" dirty="0">
                          <a:effectLst/>
                          <a:latin typeface="Times New Roman" pitchFamily="18" charset="0"/>
                          <a:ea typeface="Calibri"/>
                          <a:cs typeface="Times New Roman" pitchFamily="18" charset="0"/>
                        </a:rPr>
                        <a:t>2</a:t>
                      </a:r>
                      <a:r>
                        <a:rPr lang="en-US" sz="1400" b="1" baseline="30000" dirty="0">
                          <a:effectLst/>
                          <a:latin typeface="Times New Roman" pitchFamily="18" charset="0"/>
                          <a:ea typeface="Calibri"/>
                          <a:cs typeface="Times New Roman" pitchFamily="18" charset="0"/>
                        </a:rPr>
                        <a:t>128</a:t>
                      </a:r>
                      <a:endParaRPr lang="ru-RU" sz="1400" b="1" dirty="0">
                        <a:effectLst/>
                        <a:latin typeface="Times New Roman" pitchFamily="18" charset="0"/>
                        <a:ea typeface="Calibri"/>
                        <a:cs typeface="Times New Roman" pitchFamily="18" charset="0"/>
                      </a:endParaRPr>
                    </a:p>
                  </a:txBody>
                  <a:tcPr marL="68580" marR="68580" marT="0" marB="0"/>
                </a:tc>
              </a:tr>
            </a:tbl>
          </a:graphicData>
        </a:graphic>
      </p:graphicFrame>
      <p:sp>
        <p:nvSpPr>
          <p:cNvPr id="18" name="Содержимое 2"/>
          <p:cNvSpPr txBox="1">
            <a:spLocks/>
          </p:cNvSpPr>
          <p:nvPr/>
        </p:nvSpPr>
        <p:spPr bwMode="auto">
          <a:xfrm>
            <a:off x="684164" y="1052736"/>
            <a:ext cx="7836443" cy="1800200"/>
          </a:xfrm>
          <a:prstGeom prst="foldedCorner">
            <a:avLst>
              <a:gd name="adj" fmla="val 18538"/>
            </a:avLst>
          </a:prstGeom>
          <a:pattFill prst="pct5">
            <a:fgClr>
              <a:schemeClr val="accent1">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indent="446088" algn="just"/>
            <a:r>
              <a:rPr lang="uz-Cyrl-UZ" sz="1600" dirty="0">
                <a:latin typeface="Times New Roman" pitchFamily="18" charset="0"/>
                <a:cs typeface="Times New Roman" pitchFamily="18" charset="0"/>
              </a:rPr>
              <a:t>2000 йилнинг 1 январидан 40 ойга мўлжалланган Европа давлатлари криптолойихаси ҳисобланган NESSIE (New European Schemes for Signature, Integrity and Encryption) ўз ишини бошлаган. Ушбу танловда BMGL, Levithan, LILI-128, SNOW, SOBER - t16, SOBER - t32</a:t>
            </a:r>
            <a:r>
              <a:rPr lang="uz-Cyrl-UZ" sz="1600" dirty="0" smtClean="0">
                <a:latin typeface="Times New Roman" pitchFamily="18" charset="0"/>
                <a:cs typeface="Times New Roman" pitchFamily="18" charset="0"/>
              </a:rPr>
              <a:t> </a:t>
            </a:r>
            <a:r>
              <a:rPr lang="uz-Cyrl-UZ" sz="1600" dirty="0">
                <a:latin typeface="Times New Roman" pitchFamily="18" charset="0"/>
                <a:cs typeface="Times New Roman" pitchFamily="18" charset="0"/>
              </a:rPr>
              <a:t>узлуксиз шифрлаш </a:t>
            </a:r>
            <a:r>
              <a:rPr lang="uz-Cyrl-UZ" sz="1600" dirty="0" smtClean="0">
                <a:latin typeface="Times New Roman" pitchFamily="18" charset="0"/>
                <a:cs typeface="Times New Roman" pitchFamily="18" charset="0"/>
              </a:rPr>
              <a:t>алгоритлари </a:t>
            </a:r>
            <a:r>
              <a:rPr lang="uz-Cyrl-UZ" sz="1600" dirty="0">
                <a:latin typeface="Times New Roman" pitchFamily="18" charset="0"/>
                <a:cs typeface="Times New Roman" pitchFamily="18" charset="0"/>
              </a:rPr>
              <a:t>иштирок этган бўлиб, </a:t>
            </a:r>
            <a:r>
              <a:rPr lang="uz-Cyrl-UZ" sz="1600" dirty="0" smtClean="0">
                <a:latin typeface="Times New Roman" pitchFamily="18" charset="0"/>
                <a:cs typeface="Times New Roman" pitchFamily="18" charset="0"/>
              </a:rPr>
              <a:t>уларнинг криптобардошлиги юқорида </a:t>
            </a:r>
            <a:r>
              <a:rPr lang="uz-Cyrl-UZ" sz="1600" dirty="0">
                <a:latin typeface="Times New Roman" pitchFamily="18" charset="0"/>
                <a:cs typeface="Times New Roman" pitchFamily="18" charset="0"/>
              </a:rPr>
              <a:t>келтирилган криптотаҳлил </a:t>
            </a:r>
            <a:r>
              <a:rPr lang="uz-Cyrl-UZ" sz="1600" dirty="0" smtClean="0">
                <a:latin typeface="Times New Roman" pitchFamily="18" charset="0"/>
                <a:cs typeface="Times New Roman" pitchFamily="18" charset="0"/>
              </a:rPr>
              <a:t>усуллари орқали баҳоланган. Мазкур баҳолашларнинг умумий натижалари қуйидаги жадвал келтирилган. </a:t>
            </a:r>
          </a:p>
        </p:txBody>
      </p:sp>
    </p:spTree>
    <p:extLst>
      <p:ext uri="{BB962C8B-B14F-4D97-AF65-F5344CB8AC3E}">
        <p14:creationId xmlns:p14="http://schemas.microsoft.com/office/powerpoint/2010/main" val="54585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heckerboard(across)">
                                      <p:cBhvr>
                                        <p:cTn id="7" dur="500"/>
                                        <p:tgtEl>
                                          <p:spTgt spid="3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anim calcmode="lin" valueType="num">
                                      <p:cBhvr>
                                        <p:cTn id="12" dur="1000" fill="hold"/>
                                        <p:tgtEl>
                                          <p:spTgt spid="18"/>
                                        </p:tgtEl>
                                        <p:attrNameLst>
                                          <p:attrName>ppt_x</p:attrName>
                                        </p:attrNameLst>
                                      </p:cBhvr>
                                      <p:tavLst>
                                        <p:tav tm="0">
                                          <p:val>
                                            <p:strVal val="#ppt_x"/>
                                          </p:val>
                                        </p:tav>
                                        <p:tav tm="100000">
                                          <p:val>
                                            <p:strVal val="#ppt_x"/>
                                          </p:val>
                                        </p:tav>
                                      </p:tavLst>
                                    </p:anim>
                                    <p:anim calcmode="lin" valueType="num">
                                      <p:cBhvr>
                                        <p:cTn id="13" dur="1000" fill="hold"/>
                                        <p:tgtEl>
                                          <p:spTgt spid="1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Содержимое 2"/>
          <p:cNvSpPr txBox="1">
            <a:spLocks/>
          </p:cNvSpPr>
          <p:nvPr/>
        </p:nvSpPr>
        <p:spPr bwMode="auto">
          <a:xfrm>
            <a:off x="549069" y="1268760"/>
            <a:ext cx="8147255" cy="4968552"/>
          </a:xfrm>
          <a:prstGeom prst="foldedCorner">
            <a:avLst>
              <a:gd name="adj" fmla="val 8927"/>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indent="450850" algn="just">
              <a:spcAft>
                <a:spcPts val="600"/>
              </a:spcAft>
            </a:pPr>
            <a:r>
              <a:rPr lang="uz-Cyrl-UZ" sz="2000" dirty="0" smtClean="0">
                <a:latin typeface="Times New Roman" pitchFamily="18" charset="0"/>
                <a:cs typeface="Times New Roman" pitchFamily="18" charset="0"/>
              </a:rPr>
              <a:t>Узлуксиз шифрлаш алгоритмлари қурилишининг ўзига хос хусусиятларидан келиб чиққан ҳолда энг кенг тарқалган ҳужум тури бу корреляцион ҳужумдир. Корреляцион ҳужумларда шифрлаш схемасидан чиқувчи кетма-кетлик ва регистрлардан чиқувчи кетма-кетликнинг ўзаро боғлиқлигидан фойдаланилади. </a:t>
            </a:r>
          </a:p>
          <a:p>
            <a:pPr algn="just">
              <a:spcAft>
                <a:spcPts val="600"/>
              </a:spcAft>
              <a:tabLst>
                <a:tab pos="450850" algn="l"/>
              </a:tabLst>
            </a:pPr>
            <a:r>
              <a:rPr lang="uz-Cyrl-UZ" sz="2000" dirty="0" smtClean="0">
                <a:latin typeface="Times New Roman" pitchFamily="18" charset="0"/>
                <a:cs typeface="Times New Roman" pitchFamily="18" charset="0"/>
              </a:rPr>
              <a:t>       Криптотаҳлил жараёни генератордан чиқувчи кетма-кетликка эга бўлган ҳолда генератор регистрларининг бошланғич ҳолатини, яъни калитни топишга асосланган. </a:t>
            </a:r>
          </a:p>
          <a:p>
            <a:pPr algn="just">
              <a:spcAft>
                <a:spcPts val="600"/>
              </a:spcAft>
              <a:tabLst>
                <a:tab pos="450850" algn="l"/>
              </a:tabLst>
            </a:pPr>
            <a:r>
              <a:rPr lang="uz-Cyrl-UZ" sz="2000" dirty="0" smtClean="0">
                <a:latin typeface="Times New Roman" pitchFamily="18" charset="0"/>
                <a:cs typeface="Times New Roman" pitchFamily="18" charset="0"/>
              </a:rPr>
              <a:t>	Комбинациялашган генераторларга корреляцион криптотаҳлил усули қўлланилишини Геффе генератори мисолида яққол кўриш мумкин. Геффе генератори 1973 йилда П.Р. Геффе томонидан таклиф қилинган бўлиб, 3 та чизиқли тескари боғланиш силжитиш регистри асосида қурилган. Геффе генераторининг  комбинацияловчи функцияси қуйидаги кўринишга эга:</a:t>
            </a:r>
          </a:p>
          <a:p>
            <a:pPr algn="ctr">
              <a:spcAft>
                <a:spcPts val="600"/>
              </a:spcAft>
              <a:tabLst>
                <a:tab pos="450850" algn="l"/>
              </a:tabLst>
            </a:pPr>
            <a:r>
              <a:rPr lang="en-US" sz="2000" b="1" i="1" dirty="0" smtClean="0">
                <a:latin typeface="Times New Roman" pitchFamily="18" charset="0"/>
                <a:cs typeface="Times New Roman" pitchFamily="18" charset="0"/>
              </a:rPr>
              <a:t>f </a:t>
            </a:r>
            <a:r>
              <a:rPr lang="ru-RU" sz="2000" b="1" dirty="0" smtClean="0">
                <a:latin typeface="Times New Roman" pitchFamily="18" charset="0"/>
                <a:cs typeface="Times New Roman" pitchFamily="18" charset="0"/>
              </a:rPr>
              <a:t>(</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1</a:t>
            </a:r>
            <a:r>
              <a:rPr lang="ru-RU" sz="2000" b="1" i="1" dirty="0" smtClean="0">
                <a:latin typeface="Times New Roman" pitchFamily="18" charset="0"/>
                <a:cs typeface="Times New Roman" pitchFamily="18" charset="0"/>
              </a:rPr>
              <a:t>,</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2</a:t>
            </a:r>
            <a:r>
              <a:rPr lang="ru-RU" sz="2000" b="1" i="1" dirty="0" smtClean="0">
                <a:latin typeface="Times New Roman" pitchFamily="18" charset="0"/>
                <a:cs typeface="Times New Roman" pitchFamily="18" charset="0"/>
              </a:rPr>
              <a:t>,</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3</a:t>
            </a:r>
            <a:r>
              <a:rPr lang="ru-RU" sz="2000" b="1" dirty="0" smtClean="0">
                <a:latin typeface="Times New Roman" pitchFamily="18" charset="0"/>
                <a:cs typeface="Times New Roman" pitchFamily="18" charset="0"/>
              </a:rPr>
              <a:t>) = </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1</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2  </a:t>
            </a:r>
            <a:r>
              <a:rPr lang="ru-RU" sz="1600" b="1"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2</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3  </a:t>
            </a:r>
            <a:r>
              <a:rPr lang="ru-RU" sz="16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x</a:t>
            </a:r>
            <a:r>
              <a:rPr lang="ru-RU" sz="2000" b="1" i="1" baseline="-25000" dirty="0" smtClean="0">
                <a:latin typeface="Times New Roman" pitchFamily="18" charset="0"/>
                <a:cs typeface="Times New Roman" pitchFamily="18" charset="0"/>
              </a:rPr>
              <a:t>3</a:t>
            </a:r>
            <a:endParaRPr lang="ru-RU" sz="2000" b="1" dirty="0" smtClean="0">
              <a:latin typeface="Times New Roman" pitchFamily="18" charset="0"/>
              <a:cs typeface="Times New Roman" pitchFamily="18" charset="0"/>
            </a:endParaRPr>
          </a:p>
          <a:p>
            <a:pPr algn="just">
              <a:spcAft>
                <a:spcPts val="600"/>
              </a:spcAft>
              <a:tabLst>
                <a:tab pos="450850" algn="l"/>
              </a:tabLst>
            </a:pPr>
            <a:endParaRPr lang="uz-Cyrl-UZ" sz="2000" dirty="0" smtClean="0"/>
          </a:p>
          <a:p>
            <a:pPr algn="just">
              <a:spcAft>
                <a:spcPts val="600"/>
              </a:spcAft>
              <a:tabLst>
                <a:tab pos="450850" algn="l"/>
              </a:tabLst>
            </a:pPr>
            <a:endParaRPr lang="ru-RU" sz="2000" dirty="0">
              <a:latin typeface="Times New Roman" pitchFamily="18" charset="0"/>
              <a:cs typeface="Times New Roman" pitchFamily="18" charset="0"/>
            </a:endParaRPr>
          </a:p>
          <a:p>
            <a:pPr algn="just">
              <a:spcAft>
                <a:spcPts val="600"/>
              </a:spcAft>
            </a:pPr>
            <a:endParaRPr lang="ru-RU" sz="22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1" name="Скругленный прямоугольник 20"/>
          <p:cNvSpPr/>
          <p:nvPr/>
        </p:nvSpPr>
        <p:spPr>
          <a:xfrm>
            <a:off x="899592" y="404664"/>
            <a:ext cx="7416824"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Комбинацияловчи </a:t>
            </a:r>
            <a:r>
              <a:rPr lang="uz-Cyrl-UZ" b="1" dirty="0">
                <a:solidFill>
                  <a:schemeClr val="tx1"/>
                </a:solidFill>
                <a:latin typeface="Times New Roman" pitchFamily="18" charset="0"/>
                <a:cs typeface="Times New Roman" pitchFamily="18" charset="0"/>
              </a:rPr>
              <a:t>генераторларга корреляцион криптотаҳлил </a:t>
            </a:r>
            <a:r>
              <a:rPr lang="uz-Cyrl-UZ" b="1" dirty="0" smtClean="0">
                <a:solidFill>
                  <a:schemeClr val="tx1"/>
                </a:solidFill>
                <a:latin typeface="Times New Roman" pitchFamily="18" charset="0"/>
                <a:cs typeface="Times New Roman" pitchFamily="18" charset="0"/>
              </a:rPr>
              <a:t>усули</a:t>
            </a:r>
            <a:endParaRPr lang="ru-RU" sz="2000" b="1" dirty="0">
              <a:solidFill>
                <a:schemeClr val="accent2">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81942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Содержимое 2"/>
          <p:cNvSpPr txBox="1">
            <a:spLocks/>
          </p:cNvSpPr>
          <p:nvPr/>
        </p:nvSpPr>
        <p:spPr bwMode="auto">
          <a:xfrm>
            <a:off x="529201" y="3408955"/>
            <a:ext cx="8147255" cy="3170127"/>
          </a:xfrm>
          <a:prstGeom prst="foldedCorner">
            <a:avLst>
              <a:gd name="adj" fmla="val 8927"/>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ctr"/>
            <a:r>
              <a:rPr lang="uz-Cyrl-UZ" sz="2000" b="1" dirty="0" smtClean="0"/>
              <a:t> </a:t>
            </a:r>
            <a:r>
              <a:rPr lang="uz-Cyrl-UZ" sz="2000" b="1" i="1" dirty="0" smtClean="0">
                <a:latin typeface="Times New Roman" pitchFamily="18" charset="0"/>
                <a:cs typeface="Times New Roman" pitchFamily="18" charset="0"/>
              </a:rPr>
              <a:t>f</a:t>
            </a:r>
            <a:r>
              <a:rPr lang="uz-Cyrl-UZ" sz="2000" b="1" dirty="0" smtClean="0">
                <a:latin typeface="Times New Roman" pitchFamily="18" charset="0"/>
                <a:cs typeface="Times New Roman" pitchFamily="18" charset="0"/>
              </a:rPr>
              <a:t>(</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1</a:t>
            </a:r>
            <a:r>
              <a:rPr lang="uz-Cyrl-UZ" sz="2000" b="1" dirty="0" smtClean="0">
                <a:latin typeface="Times New Roman" pitchFamily="18" charset="0"/>
                <a:cs typeface="Times New Roman" pitchFamily="18" charset="0"/>
              </a:rPr>
              <a:t>) </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1</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2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2</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3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3 </a:t>
            </a:r>
            <a:endParaRPr lang="en-US" sz="2000" b="1" i="1" baseline="-25000" dirty="0" smtClean="0">
              <a:latin typeface="Times New Roman" pitchFamily="18" charset="0"/>
              <a:cs typeface="Times New Roman" pitchFamily="18" charset="0"/>
            </a:endParaRPr>
          </a:p>
          <a:p>
            <a:r>
              <a:rPr lang="uz-Cyrl-UZ" sz="2000" dirty="0" smtClean="0">
                <a:latin typeface="Times New Roman" pitchFamily="18" charset="0"/>
                <a:cs typeface="Times New Roman" pitchFamily="18" charset="0"/>
              </a:rPr>
              <a:t>Чинлик </a:t>
            </a:r>
            <a:r>
              <a:rPr lang="uz-Cyrl-UZ" sz="2000" dirty="0">
                <a:latin typeface="Times New Roman" pitchFamily="18" charset="0"/>
                <a:cs typeface="Times New Roman" pitchFamily="18" charset="0"/>
              </a:rPr>
              <a:t>жадвали қуйидагича: </a:t>
            </a:r>
            <a:r>
              <a:rPr lang="uz-Cyrl-UZ" sz="2000" i="1" dirty="0">
                <a:latin typeface="Times New Roman" pitchFamily="18" charset="0"/>
                <a:cs typeface="Times New Roman" pitchFamily="18" charset="0"/>
              </a:rPr>
              <a:t>S</a:t>
            </a:r>
            <a:r>
              <a:rPr lang="uz-Cyrl-UZ" sz="2000" dirty="0">
                <a:latin typeface="Times New Roman" pitchFamily="18" charset="0"/>
                <a:cs typeface="Times New Roman" pitchFamily="18" charset="0"/>
              </a:rPr>
              <a:t>(</a:t>
            </a:r>
            <a:r>
              <a:rPr lang="uz-Cyrl-UZ" sz="2000" i="1" dirty="0">
                <a:latin typeface="Times New Roman" pitchFamily="18" charset="0"/>
                <a:cs typeface="Times New Roman" pitchFamily="18" charset="0"/>
              </a:rPr>
              <a:t>f</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a:t>
            </a:r>
            <a:r>
              <a:rPr lang="uz-Cyrl-UZ" sz="2000" dirty="0" smtClean="0">
                <a:latin typeface="Times New Roman" pitchFamily="18" charset="0"/>
                <a:cs typeface="Times New Roman" pitchFamily="18" charset="0"/>
              </a:rPr>
              <a:t>{0,1,0,0,0,1,1,1</a:t>
            </a:r>
            <a:r>
              <a:rPr lang="uz-Cyrl-UZ" sz="2000" dirty="0">
                <a:latin typeface="Times New Roman" pitchFamily="18" charset="0"/>
                <a:cs typeface="Times New Roman" pitchFamily="18" charset="0"/>
              </a:rPr>
              <a:t>}. </a:t>
            </a:r>
            <a:endParaRPr lang="uz-Cyrl-UZ" sz="2000" dirty="0" smtClean="0">
              <a:latin typeface="Times New Roman" pitchFamily="18" charset="0"/>
              <a:cs typeface="Times New Roman" pitchFamily="18" charset="0"/>
            </a:endParaRPr>
          </a:p>
          <a:p>
            <a:pPr algn="ctr"/>
            <a:r>
              <a:rPr lang="uz-Cyrl-UZ" sz="2000" i="1" dirty="0">
                <a:latin typeface="Times New Roman" pitchFamily="18" charset="0"/>
                <a:cs typeface="Times New Roman" pitchFamily="18" charset="0"/>
              </a:rPr>
              <a:t>P</a:t>
            </a:r>
            <a:r>
              <a:rPr lang="uz-Cyrl-UZ" sz="2000" dirty="0">
                <a:latin typeface="Times New Roman" pitchFamily="18" charset="0"/>
                <a:cs typeface="Times New Roman" pitchFamily="18" charset="0"/>
              </a:rPr>
              <a:t>{</a:t>
            </a:r>
            <a:r>
              <a:rPr lang="uz-Cyrl-UZ" sz="2000" i="1" dirty="0">
                <a:latin typeface="Times New Roman" pitchFamily="18" charset="0"/>
                <a:cs typeface="Times New Roman" pitchFamily="18" charset="0"/>
              </a:rPr>
              <a:t>f</a:t>
            </a:r>
            <a:r>
              <a:rPr lang="uz-Cyrl-UZ" sz="2000" dirty="0">
                <a:latin typeface="Times New Roman" pitchFamily="18" charset="0"/>
                <a:cs typeface="Times New Roman" pitchFamily="18" charset="0"/>
              </a:rPr>
              <a:t>(</a:t>
            </a:r>
            <a:r>
              <a:rPr lang="uz-Cyrl-UZ" sz="2000" i="1" dirty="0">
                <a:latin typeface="Times New Roman" pitchFamily="18" charset="0"/>
                <a:cs typeface="Times New Roman" pitchFamily="18" charset="0"/>
              </a:rPr>
              <a:t>x</a:t>
            </a:r>
            <a:r>
              <a:rPr lang="uz-Cyrl-UZ" sz="2000" dirty="0">
                <a:latin typeface="Times New Roman" pitchFamily="18" charset="0"/>
                <a:cs typeface="Times New Roman" pitchFamily="18" charset="0"/>
              </a:rPr>
              <a:t>) = </a:t>
            </a:r>
            <a:r>
              <a:rPr lang="uz-Cyrl-UZ" sz="2000" i="1" dirty="0">
                <a:latin typeface="Times New Roman" pitchFamily="18" charset="0"/>
                <a:cs typeface="Times New Roman" pitchFamily="18" charset="0"/>
              </a:rPr>
              <a:t>l</a:t>
            </a:r>
            <a:r>
              <a:rPr lang="uz-Cyrl-UZ" sz="2000" dirty="0">
                <a:latin typeface="Times New Roman" pitchFamily="18" charset="0"/>
                <a:cs typeface="Times New Roman" pitchFamily="18" charset="0"/>
              </a:rPr>
              <a:t>(</a:t>
            </a:r>
            <a:r>
              <a:rPr lang="uz-Cyrl-UZ" sz="2000" i="1" dirty="0">
                <a:latin typeface="Times New Roman" pitchFamily="18" charset="0"/>
                <a:cs typeface="Times New Roman" pitchFamily="18" charset="0"/>
              </a:rPr>
              <a:t>x</a:t>
            </a:r>
            <a:r>
              <a:rPr lang="uz-Cyrl-UZ" sz="2000" dirty="0">
                <a:latin typeface="Times New Roman" pitchFamily="18" charset="0"/>
                <a:cs typeface="Times New Roman" pitchFamily="18" charset="0"/>
              </a:rPr>
              <a:t>)} = 1 - </a:t>
            </a:r>
            <a:r>
              <a:rPr lang="uz-Cyrl-UZ" sz="2000" i="1" dirty="0" smtClean="0">
                <a:latin typeface="Times New Roman" pitchFamily="18" charset="0"/>
                <a:cs typeface="Times New Roman" pitchFamily="18" charset="0"/>
              </a:rPr>
              <a:t>2</a:t>
            </a:r>
            <a:r>
              <a:rPr lang="uz-Cyrl-UZ" sz="2000" i="1" baseline="30000" dirty="0" smtClean="0">
                <a:latin typeface="Times New Roman" pitchFamily="18" charset="0"/>
                <a:cs typeface="Times New Roman" pitchFamily="18" charset="0"/>
              </a:rPr>
              <a:t>-m </a:t>
            </a:r>
            <a:r>
              <a:rPr lang="en-US" sz="2000" dirty="0" smtClean="0">
                <a:latin typeface="Times New Roman" pitchFamily="18" charset="0"/>
                <a:cs typeface="Times New Roman" pitchFamily="18" charset="0"/>
              </a:rPr>
              <a:t>=</a:t>
            </a:r>
            <a:r>
              <a:rPr lang="uz-Cyrl-UZ" sz="2000" dirty="0" smtClean="0">
                <a:latin typeface="Times New Roman" pitchFamily="18" charset="0"/>
                <a:cs typeface="Times New Roman" pitchFamily="18" charset="0"/>
              </a:rPr>
              <a:t> 1 – 2</a:t>
            </a:r>
            <a:r>
              <a:rPr lang="uz-Cyrl-UZ" sz="2000" baseline="30000" dirty="0" smtClean="0">
                <a:latin typeface="Times New Roman" pitchFamily="18" charset="0"/>
                <a:cs typeface="Times New Roman" pitchFamily="18" charset="0"/>
              </a:rPr>
              <a:t>-2 </a:t>
            </a:r>
            <a:r>
              <a:rPr lang="en-US" sz="2000" dirty="0" smtClean="0">
                <a:latin typeface="Times New Roman" pitchFamily="18" charset="0"/>
                <a:cs typeface="Times New Roman" pitchFamily="18" charset="0"/>
              </a:rPr>
              <a:t>=</a:t>
            </a:r>
            <a:r>
              <a:rPr lang="uz-Cyrl-UZ" sz="2000" dirty="0" smtClean="0">
                <a:latin typeface="Times New Roman" pitchFamily="18" charset="0"/>
                <a:cs typeface="Times New Roman" pitchFamily="18" charset="0"/>
              </a:rPr>
              <a:t> 3/4</a:t>
            </a:r>
            <a:endParaRPr lang="uz-Cyrl-UZ" sz="2000" baseline="30000" dirty="0" smtClean="0">
              <a:latin typeface="Times New Roman" pitchFamily="18" charset="0"/>
              <a:cs typeface="Times New Roman" pitchFamily="18" charset="0"/>
            </a:endParaRPr>
          </a:p>
          <a:p>
            <a:r>
              <a:rPr lang="uz-Cyrl-UZ" sz="2000" i="1" dirty="0" smtClean="0">
                <a:latin typeface="Times New Roman" pitchFamily="18" charset="0"/>
                <a:cs typeface="Times New Roman" pitchFamily="18" charset="0"/>
              </a:rPr>
              <a:t>S</a:t>
            </a:r>
            <a:r>
              <a:rPr lang="uz-Cyrl-UZ" sz="2000" i="1" dirty="0">
                <a:latin typeface="Times New Roman" pitchFamily="18" charset="0"/>
                <a:cs typeface="Times New Roman" pitchFamily="18" charset="0"/>
              </a:rPr>
              <a:t>’</a:t>
            </a:r>
            <a:r>
              <a:rPr lang="uz-Cyrl-UZ" sz="2000" dirty="0">
                <a:latin typeface="Times New Roman" pitchFamily="18" charset="0"/>
                <a:cs typeface="Times New Roman" pitchFamily="18" charset="0"/>
              </a:rPr>
              <a:t>( </a:t>
            </a:r>
            <a:r>
              <a:rPr lang="uz-Cyrl-UZ" sz="2000" i="1" dirty="0">
                <a:latin typeface="Times New Roman" pitchFamily="18" charset="0"/>
                <a:cs typeface="Times New Roman" pitchFamily="18" charset="0"/>
              </a:rPr>
              <a:t>f </a:t>
            </a:r>
            <a:r>
              <a:rPr lang="uz-Cyrl-UZ" sz="2000" dirty="0">
                <a:latin typeface="Times New Roman" pitchFamily="18" charset="0"/>
                <a:cs typeface="Times New Roman" pitchFamily="18" charset="0"/>
              </a:rPr>
              <a:t>) = {0,1,1,0,0,1,1,0} бўлган функцияни кўриб чиқамиз. Ушбу функциянинг алгебраик нормал формаси (АНФ) ни қурамиз:</a:t>
            </a:r>
            <a:endParaRPr lang="ru-RU" sz="2000" dirty="0">
              <a:latin typeface="Times New Roman" pitchFamily="18" charset="0"/>
              <a:cs typeface="Times New Roman" pitchFamily="18" charset="0"/>
            </a:endParaRPr>
          </a:p>
          <a:p>
            <a:r>
              <a:rPr lang="uz-Cyrl-UZ" sz="2000" b="1" i="1" dirty="0">
                <a:latin typeface="Times New Roman" pitchFamily="18" charset="0"/>
                <a:cs typeface="Times New Roman" pitchFamily="18" charset="0"/>
              </a:rPr>
              <a:t>l:</a:t>
            </a:r>
            <a:r>
              <a:rPr lang="en-US" sz="2000" b="1" i="1"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2 </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 + x</a:t>
            </a:r>
            <a:r>
              <a:rPr lang="uz-Cyrl-UZ" sz="2000" baseline="-25000" dirty="0">
                <a:latin typeface="Times New Roman" pitchFamily="18" charset="0"/>
                <a:cs typeface="Times New Roman" pitchFamily="18" charset="0"/>
              </a:rPr>
              <a:t>1 </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2 </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 +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+1)(x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+1)x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+1</a:t>
            </a:r>
            <a:r>
              <a:rPr lang="uz-Cyrl-UZ" sz="2000" dirty="0" smtClean="0">
                <a:latin typeface="Times New Roman" pitchFamily="18" charset="0"/>
                <a:cs typeface="Times New Roman" pitchFamily="18" charset="0"/>
              </a:rPr>
              <a:t>)(</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+1) 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 (</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a:t>
            </a:r>
            <a:r>
              <a:rPr lang="uz-Cyrl-UZ" sz="2000" dirty="0" smtClean="0">
                <a:latin typeface="Times New Roman" pitchFamily="18" charset="0"/>
                <a:cs typeface="Times New Roman" pitchFamily="18" charset="0"/>
              </a:rPr>
              <a:t>+1)x</a:t>
            </a:r>
            <a:r>
              <a:rPr lang="uz-Cyrl-UZ" sz="2000" baseline="-25000" dirty="0" smtClean="0">
                <a:latin typeface="Times New Roman" pitchFamily="18" charset="0"/>
                <a:cs typeface="Times New Roman" pitchFamily="18" charset="0"/>
              </a:rPr>
              <a:t>1</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3</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1</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 </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+1) =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3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1</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3 </a:t>
            </a:r>
            <a:r>
              <a:rPr lang="uz-Cyrl-UZ"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3 </a:t>
            </a:r>
            <a:r>
              <a:rPr lang="uz-Cyrl-UZ"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1</a:t>
            </a:r>
            <a:r>
              <a:rPr lang="uz-Cyrl-UZ" sz="2000" dirty="0" smtClean="0">
                <a:latin typeface="Times New Roman" pitchFamily="18" charset="0"/>
                <a:cs typeface="Times New Roman" pitchFamily="18" charset="0"/>
              </a:rPr>
              <a:t>x</a:t>
            </a:r>
            <a:r>
              <a:rPr lang="uz-Cyrl-UZ" sz="2000" baseline="-25000" dirty="0" smtClean="0">
                <a:latin typeface="Times New Roman" pitchFamily="18" charset="0"/>
                <a:cs typeface="Times New Roman" pitchFamily="18" charset="0"/>
              </a:rPr>
              <a:t>2</a:t>
            </a:r>
            <a:r>
              <a:rPr lang="uz-Cyrl-UZ" sz="2000" dirty="0" smtClean="0">
                <a:latin typeface="Times New Roman" pitchFamily="18" charset="0"/>
                <a:cs typeface="Times New Roman" pitchFamily="18" charset="0"/>
              </a:rPr>
              <a:t>+</a:t>
            </a:r>
            <a:r>
              <a:rPr lang="uz-Cyrl-UZ" sz="2000" baseline="-25000"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2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x</a:t>
            </a:r>
            <a:r>
              <a:rPr lang="uz-Cyrl-UZ" sz="2000" baseline="-25000" dirty="0">
                <a:latin typeface="Times New Roman" pitchFamily="18" charset="0"/>
                <a:cs typeface="Times New Roman" pitchFamily="18" charset="0"/>
              </a:rPr>
              <a:t>3 </a:t>
            </a:r>
            <a:r>
              <a:rPr lang="uz-Cyrl-UZ" sz="2000"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x</a:t>
            </a:r>
            <a:r>
              <a:rPr lang="uz-Cyrl-UZ" sz="2000" baseline="-25000" dirty="0">
                <a:latin typeface="Times New Roman" pitchFamily="18" charset="0"/>
                <a:cs typeface="Times New Roman" pitchFamily="18" charset="0"/>
              </a:rPr>
              <a:t>2 </a:t>
            </a:r>
            <a:r>
              <a:rPr lang="uz-Cyrl-UZ" sz="2000" dirty="0">
                <a:latin typeface="Times New Roman" pitchFamily="18" charset="0"/>
                <a:cs typeface="Times New Roman" pitchFamily="18" charset="0"/>
              </a:rPr>
              <a:t>= </a:t>
            </a:r>
            <a:r>
              <a:rPr lang="uz-Cyrl-UZ" sz="2000" b="1" dirty="0">
                <a:latin typeface="Times New Roman" pitchFamily="18" charset="0"/>
                <a:cs typeface="Times New Roman" pitchFamily="18" charset="0"/>
              </a:rPr>
              <a:t>x</a:t>
            </a:r>
            <a:r>
              <a:rPr lang="uz-Cyrl-UZ" sz="2000" b="1" baseline="-25000" dirty="0">
                <a:latin typeface="Times New Roman" pitchFamily="18" charset="0"/>
                <a:cs typeface="Times New Roman" pitchFamily="18" charset="0"/>
              </a:rPr>
              <a:t>2</a:t>
            </a:r>
            <a:r>
              <a:rPr lang="uz-Cyrl-UZ" sz="2000" b="1" dirty="0">
                <a:latin typeface="Times New Roman" pitchFamily="18" charset="0"/>
                <a:cs typeface="Times New Roman" pitchFamily="18" charset="0"/>
              </a:rPr>
              <a:t> + x</a:t>
            </a:r>
            <a:r>
              <a:rPr lang="uz-Cyrl-UZ" sz="2000" b="1"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	Бундан кўриниб турибдики </a:t>
            </a:r>
            <a:r>
              <a:rPr lang="uz-Cyrl-UZ" sz="2000" i="1" dirty="0">
                <a:latin typeface="Times New Roman" pitchFamily="18" charset="0"/>
                <a:cs typeface="Times New Roman" pitchFamily="18" charset="0"/>
              </a:rPr>
              <a:t>f</a:t>
            </a:r>
            <a:r>
              <a:rPr lang="uz-Cyrl-UZ" sz="2000" dirty="0">
                <a:latin typeface="Times New Roman" pitchFamily="18" charset="0"/>
                <a:cs typeface="Times New Roman" pitchFamily="18" charset="0"/>
              </a:rPr>
              <a:t>(</a:t>
            </a:r>
            <a:r>
              <a:rPr lang="uz-Cyrl-UZ" sz="2000" i="1" dirty="0">
                <a:latin typeface="Times New Roman" pitchFamily="18" charset="0"/>
                <a:cs typeface="Times New Roman" pitchFamily="18" charset="0"/>
              </a:rPr>
              <a:t>x</a:t>
            </a:r>
            <a:r>
              <a:rPr lang="uz-Cyrl-UZ" sz="2000" i="1" baseline="-25000" dirty="0">
                <a:latin typeface="Times New Roman" pitchFamily="18" charset="0"/>
                <a:cs typeface="Times New Roman" pitchFamily="18" charset="0"/>
              </a:rPr>
              <a:t>1</a:t>
            </a:r>
            <a:r>
              <a:rPr lang="uz-Cyrl-UZ" sz="2000" i="1" dirty="0">
                <a:latin typeface="Times New Roman" pitchFamily="18" charset="0"/>
                <a:cs typeface="Times New Roman" pitchFamily="18" charset="0"/>
              </a:rPr>
              <a:t>,x</a:t>
            </a:r>
            <a:r>
              <a:rPr lang="uz-Cyrl-UZ" sz="2000" i="1" baseline="-25000" dirty="0">
                <a:latin typeface="Times New Roman" pitchFamily="18" charset="0"/>
                <a:cs typeface="Times New Roman" pitchFamily="18" charset="0"/>
              </a:rPr>
              <a:t>2</a:t>
            </a:r>
            <a:r>
              <a:rPr lang="uz-Cyrl-UZ" sz="2000" i="1" dirty="0">
                <a:latin typeface="Times New Roman" pitchFamily="18" charset="0"/>
                <a:cs typeface="Times New Roman" pitchFamily="18" charset="0"/>
              </a:rPr>
              <a:t>,x</a:t>
            </a:r>
            <a:r>
              <a:rPr lang="uz-Cyrl-UZ" sz="2000" i="1"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 функциянинг статаналог </a:t>
            </a:r>
            <a:r>
              <a:rPr lang="uz-Cyrl-UZ" sz="2000" dirty="0" smtClean="0">
                <a:latin typeface="Times New Roman" pitchFamily="18" charset="0"/>
                <a:cs typeface="Times New Roman" pitchFamily="18" charset="0"/>
              </a:rPr>
              <a:t>функцияни  </a:t>
            </a:r>
            <a:r>
              <a:rPr lang="uz-Cyrl-UZ" sz="2000" b="1" i="1" dirty="0">
                <a:latin typeface="Times New Roman" pitchFamily="18" charset="0"/>
                <a:cs typeface="Times New Roman" pitchFamily="18" charset="0"/>
              </a:rPr>
              <a:t>l</a:t>
            </a:r>
            <a:r>
              <a:rPr lang="uz-Cyrl-UZ" sz="2000" b="1" dirty="0">
                <a:latin typeface="Times New Roman" pitchFamily="18" charset="0"/>
                <a:cs typeface="Times New Roman" pitchFamily="18" charset="0"/>
              </a:rPr>
              <a:t>  </a:t>
            </a:r>
            <a:r>
              <a:rPr lang="ru-RU"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baseline="-25000" dirty="0">
                <a:latin typeface="Times New Roman" pitchFamily="18" charset="0"/>
                <a:cs typeface="Times New Roman" pitchFamily="18" charset="0"/>
              </a:rPr>
              <a:t>2 </a:t>
            </a:r>
            <a:r>
              <a:rPr lang="uz-Cyrl-UZ" sz="16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 x</a:t>
            </a:r>
            <a:r>
              <a:rPr lang="uz-Cyrl-UZ" sz="2000" b="1" baseline="-25000" dirty="0">
                <a:latin typeface="Times New Roman" pitchFamily="18" charset="0"/>
                <a:cs typeface="Times New Roman" pitchFamily="18" charset="0"/>
              </a:rPr>
              <a:t>3 </a:t>
            </a:r>
            <a:r>
              <a:rPr lang="uz-Cyrl-UZ" sz="2000" dirty="0">
                <a:latin typeface="Times New Roman" pitchFamily="18" charset="0"/>
                <a:cs typeface="Times New Roman" pitchFamily="18" charset="0"/>
              </a:rPr>
              <a:t>экан.</a:t>
            </a:r>
            <a:endParaRPr lang="ru-RU" sz="2000" dirty="0">
              <a:latin typeface="Times New Roman" pitchFamily="18" charset="0"/>
              <a:cs typeface="Times New Roman" pitchFamily="18" charset="0"/>
            </a:endParaRPr>
          </a:p>
          <a:p>
            <a:pPr algn="just">
              <a:spcAft>
                <a:spcPts val="600"/>
              </a:spcAft>
              <a:tabLst>
                <a:tab pos="450850" algn="l"/>
              </a:tabLst>
            </a:pPr>
            <a:endParaRPr lang="uz-Cyrl-UZ" sz="2000" dirty="0" smtClean="0">
              <a:latin typeface="Times New Roman" pitchFamily="18" charset="0"/>
              <a:cs typeface="Times New Roman" pitchFamily="18" charset="0"/>
            </a:endParaRPr>
          </a:p>
          <a:p>
            <a:pPr algn="just">
              <a:spcAft>
                <a:spcPts val="600"/>
              </a:spcAft>
              <a:tabLst>
                <a:tab pos="450850" algn="l"/>
              </a:tabLst>
            </a:pPr>
            <a:endParaRPr lang="ru-RU" sz="2000" dirty="0">
              <a:latin typeface="Times New Roman" pitchFamily="18" charset="0"/>
              <a:cs typeface="Times New Roman" pitchFamily="18" charset="0"/>
            </a:endParaRPr>
          </a:p>
          <a:p>
            <a:pPr algn="just">
              <a:spcAft>
                <a:spcPts val="600"/>
              </a:spcAft>
            </a:pPr>
            <a:endParaRPr lang="ru-RU" sz="22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1" name="Скругленный прямоугольник 20"/>
          <p:cNvSpPr/>
          <p:nvPr/>
        </p:nvSpPr>
        <p:spPr>
          <a:xfrm>
            <a:off x="899592" y="404664"/>
            <a:ext cx="7416824"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p>
          <a:p>
            <a:pPr algn="ctr"/>
            <a:r>
              <a:rPr lang="uz-Cyrl-UZ" b="1" dirty="0" smtClean="0">
                <a:solidFill>
                  <a:schemeClr val="tx1"/>
                </a:solidFill>
                <a:latin typeface="Times New Roman" pitchFamily="18" charset="0"/>
                <a:cs typeface="Times New Roman" pitchFamily="18" charset="0"/>
              </a:rPr>
              <a:t>Функциянинг статаналогини аниқлаш</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8" name="Таблица 7"/>
          <p:cNvGraphicFramePr>
            <a:graphicFrameLocks noGrp="1"/>
          </p:cNvGraphicFramePr>
          <p:nvPr>
            <p:extLst>
              <p:ext uri="{D42A27DB-BD31-4B8C-83A1-F6EECF244321}">
                <p14:modId xmlns:p14="http://schemas.microsoft.com/office/powerpoint/2010/main" val="1235574612"/>
              </p:ext>
            </p:extLst>
          </p:nvPr>
        </p:nvGraphicFramePr>
        <p:xfrm>
          <a:off x="1871699" y="3573016"/>
          <a:ext cx="5472609" cy="2392117"/>
        </p:xfrm>
        <a:graphic>
          <a:graphicData uri="http://schemas.openxmlformats.org/drawingml/2006/table">
            <a:tbl>
              <a:tblPr firstRow="1" firstCol="1" bandRow="1">
                <a:tableStyleId>{69CF1AB2-1976-4502-BF36-3FF5EA218861}</a:tableStyleId>
              </a:tblPr>
              <a:tblGrid>
                <a:gridCol w="504056"/>
                <a:gridCol w="576064"/>
                <a:gridCol w="576064"/>
                <a:gridCol w="2770192"/>
                <a:gridCol w="1046233"/>
              </a:tblGrid>
              <a:tr h="0">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x</a:t>
                      </a:r>
                      <a:r>
                        <a:rPr lang="ru-RU" sz="1400" b="1" i="1" baseline="-25000" dirty="0" smtClean="0">
                          <a:effectLst/>
                          <a:latin typeface="Times New Roman" pitchFamily="18" charset="0"/>
                          <a:cs typeface="Times New Roman" pitchFamily="18" charset="0"/>
                        </a:rPr>
                        <a:t>1</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2</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3</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uz-Cyrl-UZ" sz="1400" i="1" dirty="0" smtClean="0">
                          <a:latin typeface="Times New Roman" pitchFamily="18" charset="0"/>
                          <a:cs typeface="Times New Roman" pitchFamily="18" charset="0"/>
                        </a:rPr>
                        <a:t>f</a:t>
                      </a:r>
                      <a:r>
                        <a:rPr lang="uz-Cyrl-UZ" sz="1400" dirty="0" smtClean="0">
                          <a:latin typeface="Times New Roman" pitchFamily="18" charset="0"/>
                          <a:cs typeface="Times New Roman" pitchFamily="18" charset="0"/>
                        </a:rPr>
                        <a:t>(</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1</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2</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3</a:t>
                      </a:r>
                      <a:r>
                        <a:rPr lang="uz-Cyrl-UZ" sz="1400" dirty="0" smtClean="0">
                          <a:latin typeface="Times New Roman" pitchFamily="18" charset="0"/>
                          <a:cs typeface="Times New Roman" pitchFamily="18" charset="0"/>
                        </a:rPr>
                        <a:t>) = </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1</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2 </a:t>
                      </a:r>
                      <a:r>
                        <a:rPr lang="uz-Cyrl-UZ" sz="1400" dirty="0" smtClean="0">
                          <a:latin typeface="Times New Roman" pitchFamily="18" charset="0"/>
                          <a:cs typeface="Times New Roman" pitchFamily="18" charset="0"/>
                        </a:rPr>
                        <a:t>⊕ </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2</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3 </a:t>
                      </a:r>
                      <a:r>
                        <a:rPr lang="uz-Cyrl-UZ" sz="1400" dirty="0" smtClean="0">
                          <a:latin typeface="Times New Roman" pitchFamily="18" charset="0"/>
                          <a:cs typeface="Times New Roman" pitchFamily="18" charset="0"/>
                        </a:rPr>
                        <a:t>⊕ </a:t>
                      </a:r>
                      <a:r>
                        <a:rPr lang="uz-Cyrl-UZ" sz="1400" i="1" dirty="0" smtClean="0">
                          <a:latin typeface="Times New Roman" pitchFamily="18" charset="0"/>
                          <a:cs typeface="Times New Roman" pitchFamily="18" charset="0"/>
                        </a:rPr>
                        <a:t>x</a:t>
                      </a:r>
                      <a:r>
                        <a:rPr lang="uz-Cyrl-UZ" sz="1400" i="1" baseline="-25000" dirty="0" smtClean="0">
                          <a:latin typeface="Times New Roman" pitchFamily="18" charset="0"/>
                          <a:cs typeface="Times New Roman" pitchFamily="18" charset="0"/>
                        </a:rPr>
                        <a:t>3 </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l</a:t>
                      </a:r>
                      <a:endParaRPr lang="ru-RU" sz="1400" b="1" i="1" dirty="0">
                        <a:effectLst/>
                        <a:latin typeface="Times New Roman" pitchFamily="18" charset="0"/>
                        <a:ea typeface="Times New Roman"/>
                        <a:cs typeface="Times New Roman" pitchFamily="18" charset="0"/>
                      </a:endParaRPr>
                    </a:p>
                  </a:txBody>
                  <a:tcPr marL="68580" marR="68580" marT="0" marB="0"/>
                </a:tc>
              </a:tr>
              <a:tr h="2072077">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ea typeface="Times New Roman"/>
                        <a:cs typeface="Times New Roman" pitchFamily="18" charset="0"/>
                      </a:endParaRPr>
                    </a:p>
                  </a:txBody>
                  <a:tcPr marL="68580" marR="68580" marT="0" marB="0"/>
                </a:tc>
              </a:tr>
            </a:tbl>
          </a:graphicData>
        </a:graphic>
      </p:graphicFrame>
      <p:sp>
        <p:nvSpPr>
          <p:cNvPr id="9" name="Содержимое 2"/>
          <p:cNvSpPr txBox="1">
            <a:spLocks/>
          </p:cNvSpPr>
          <p:nvPr/>
        </p:nvSpPr>
        <p:spPr bwMode="auto">
          <a:xfrm>
            <a:off x="529201" y="1090515"/>
            <a:ext cx="8147255" cy="2194469"/>
          </a:xfrm>
          <a:prstGeom prst="foldedCorner">
            <a:avLst>
              <a:gd name="adj" fmla="val 8927"/>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r>
              <a:rPr lang="uz-Cyrl-UZ" sz="2000" dirty="0" smtClean="0">
                <a:latin typeface="Times New Roman" pitchFamily="18" charset="0"/>
                <a:cs typeface="Times New Roman" pitchFamily="18" charset="0"/>
              </a:rPr>
              <a:t>Функциянинг </a:t>
            </a:r>
            <a:r>
              <a:rPr lang="uz-Cyrl-UZ" sz="2000" dirty="0">
                <a:latin typeface="Times New Roman" pitchFamily="18" charset="0"/>
                <a:cs typeface="Times New Roman" pitchFamily="18" charset="0"/>
              </a:rPr>
              <a:t>статаналоги деб, чиқишлари маълум бир эҳтимоллик билан берилган функциянинг чиқишларига мос келувчи функцияга айтилади. Функция қуйидагича </a:t>
            </a:r>
            <a:r>
              <a:rPr lang="uz-Cyrl-UZ" sz="2000" b="1" i="1" dirty="0" smtClean="0">
                <a:latin typeface="Times New Roman" pitchFamily="18" charset="0"/>
                <a:cs typeface="Times New Roman" pitchFamily="18" charset="0"/>
              </a:rPr>
              <a:t>f</a:t>
            </a:r>
            <a:r>
              <a:rPr lang="uz-Cyrl-UZ" sz="2000" b="1" dirty="0" smtClean="0">
                <a:latin typeface="Times New Roman" pitchFamily="18" charset="0"/>
                <a:cs typeface="Times New Roman" pitchFamily="18" charset="0"/>
              </a:rPr>
              <a:t>(</a:t>
            </a:r>
            <a:r>
              <a:rPr lang="uz-Cyrl-UZ" sz="2000" b="1" i="1" dirty="0" smtClean="0">
                <a:latin typeface="Times New Roman" pitchFamily="18" charset="0"/>
                <a:cs typeface="Times New Roman" pitchFamily="18" charset="0"/>
              </a:rPr>
              <a:t>x</a:t>
            </a:r>
            <a:r>
              <a:rPr lang="uz-Cyrl-UZ" sz="2000" b="1" dirty="0" smtClean="0">
                <a:latin typeface="Times New Roman" pitchFamily="18" charset="0"/>
                <a:cs typeface="Times New Roman" pitchFamily="18" charset="0"/>
              </a:rPr>
              <a:t>) </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baseline="-25000" dirty="0">
                <a:latin typeface="Times New Roman" pitchFamily="18" charset="0"/>
                <a:cs typeface="Times New Roman" pitchFamily="18" charset="0"/>
              </a:rPr>
              <a:t>1</a:t>
            </a:r>
            <a:r>
              <a:rPr lang="uz-Cyrl-UZ" sz="20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x</a:t>
            </a:r>
            <a:r>
              <a:rPr lang="uz-Cyrl-UZ" sz="2000" b="1" baseline="-25000" dirty="0">
                <a:latin typeface="Times New Roman" pitchFamily="18" charset="0"/>
                <a:cs typeface="Times New Roman" pitchFamily="18" charset="0"/>
              </a:rPr>
              <a:t>2</a:t>
            </a:r>
            <a:r>
              <a:rPr lang="uz-Cyrl-UZ" sz="20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m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m</a:t>
            </a:r>
            <a:r>
              <a:rPr lang="uz-Cyrl-UZ" sz="2000" b="1" baseline="-25000" dirty="0">
                <a:latin typeface="Times New Roman" pitchFamily="18" charset="0"/>
                <a:cs typeface="Times New Roman" pitchFamily="18" charset="0"/>
              </a:rPr>
              <a:t>+1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m</a:t>
            </a:r>
            <a:r>
              <a:rPr lang="uz-Cyrl-UZ" sz="2000" b="1" baseline="-25000" dirty="0">
                <a:latin typeface="Times New Roman" pitchFamily="18" charset="0"/>
                <a:cs typeface="Times New Roman" pitchFamily="18" charset="0"/>
              </a:rPr>
              <a:t>+2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a:t>
            </a:r>
            <a:r>
              <a:rPr lang="uz-Cyrl-UZ" sz="16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x</a:t>
            </a:r>
            <a:r>
              <a:rPr lang="uz-Cyrl-UZ" sz="2000" b="1" i="1" baseline="-25000" dirty="0">
                <a:latin typeface="Times New Roman" pitchFamily="18" charset="0"/>
                <a:cs typeface="Times New Roman" pitchFamily="18" charset="0"/>
              </a:rPr>
              <a:t>n</a:t>
            </a:r>
            <a:r>
              <a:rPr lang="uz-Cyrl-UZ" sz="2000" baseline="-25000" dirty="0">
                <a:latin typeface="Times New Roman" pitchFamily="18" charset="0"/>
                <a:cs typeface="Times New Roman" pitchFamily="18" charset="0"/>
              </a:rPr>
              <a:t> </a:t>
            </a:r>
            <a:r>
              <a:rPr lang="uz-Cyrl-UZ" sz="2000" dirty="0">
                <a:latin typeface="Times New Roman" pitchFamily="18" charset="0"/>
                <a:cs typeface="Times New Roman" pitchFamily="18" charset="0"/>
              </a:rPr>
              <a:t>кўринишга эга </a:t>
            </a:r>
            <a:r>
              <a:rPr lang="uz-Cyrl-UZ" sz="2000" dirty="0" smtClean="0">
                <a:latin typeface="Times New Roman" pitchFamily="18" charset="0"/>
                <a:cs typeface="Times New Roman" pitchFamily="18" charset="0"/>
              </a:rPr>
              <a:t>бўлганда, унинг</a:t>
            </a:r>
            <a:r>
              <a:rPr lang="uz-Cyrl-UZ" sz="2000" i="1"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чизиқли </a:t>
            </a:r>
            <a:r>
              <a:rPr lang="uz-Cyrl-UZ" sz="2000" dirty="0">
                <a:latin typeface="Times New Roman" pitchFamily="18" charset="0"/>
                <a:cs typeface="Times New Roman" pitchFamily="18" charset="0"/>
              </a:rPr>
              <a:t>статаналоги </a:t>
            </a:r>
            <a:endParaRPr lang="ru-RU" sz="2000" dirty="0">
              <a:latin typeface="Times New Roman" pitchFamily="18" charset="0"/>
              <a:cs typeface="Times New Roman" pitchFamily="18" charset="0"/>
            </a:endParaRPr>
          </a:p>
          <a:p>
            <a:pPr algn="ctr"/>
            <a:r>
              <a:rPr lang="uz-Cyrl-UZ" sz="2000" b="1" i="1" dirty="0">
                <a:latin typeface="Times New Roman" pitchFamily="18" charset="0"/>
                <a:cs typeface="Times New Roman" pitchFamily="18" charset="0"/>
              </a:rPr>
              <a:t>P</a:t>
            </a:r>
            <a:r>
              <a:rPr lang="uz-Cyrl-UZ" sz="20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f</a:t>
            </a:r>
            <a:r>
              <a:rPr lang="uz-Cyrl-UZ" sz="20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x</a:t>
            </a:r>
            <a:r>
              <a:rPr lang="uz-Cyrl-UZ" sz="2000" b="1" dirty="0">
                <a:latin typeface="Times New Roman" pitchFamily="18" charset="0"/>
                <a:cs typeface="Times New Roman" pitchFamily="18" charset="0"/>
              </a:rPr>
              <a:t>) = </a:t>
            </a:r>
            <a:r>
              <a:rPr lang="uz-Cyrl-UZ" sz="2000" b="1" i="1" dirty="0">
                <a:latin typeface="Times New Roman" pitchFamily="18" charset="0"/>
                <a:cs typeface="Times New Roman" pitchFamily="18" charset="0"/>
              </a:rPr>
              <a:t>l</a:t>
            </a:r>
            <a:r>
              <a:rPr lang="uz-Cyrl-UZ" sz="2000" b="1" dirty="0">
                <a:latin typeface="Times New Roman" pitchFamily="18" charset="0"/>
                <a:cs typeface="Times New Roman" pitchFamily="18" charset="0"/>
              </a:rPr>
              <a:t>(</a:t>
            </a:r>
            <a:r>
              <a:rPr lang="uz-Cyrl-UZ" sz="2000" b="1" i="1" dirty="0">
                <a:latin typeface="Times New Roman" pitchFamily="18" charset="0"/>
                <a:cs typeface="Times New Roman" pitchFamily="18" charset="0"/>
              </a:rPr>
              <a:t>x</a:t>
            </a:r>
            <a:r>
              <a:rPr lang="uz-Cyrl-UZ" sz="2000" b="1" dirty="0">
                <a:latin typeface="Times New Roman" pitchFamily="18" charset="0"/>
                <a:cs typeface="Times New Roman" pitchFamily="18" charset="0"/>
              </a:rPr>
              <a:t>)} = 1 - </a:t>
            </a:r>
            <a:r>
              <a:rPr lang="uz-Cyrl-UZ" sz="2000" b="1" i="1" dirty="0">
                <a:latin typeface="Times New Roman" pitchFamily="18" charset="0"/>
                <a:cs typeface="Times New Roman" pitchFamily="18" charset="0"/>
              </a:rPr>
              <a:t>2</a:t>
            </a:r>
            <a:r>
              <a:rPr lang="uz-Cyrl-UZ" sz="2000" b="1" i="1" baseline="30000" dirty="0">
                <a:latin typeface="Times New Roman" pitchFamily="18" charset="0"/>
                <a:cs typeface="Times New Roman" pitchFamily="18" charset="0"/>
              </a:rPr>
              <a:t>-m</a:t>
            </a:r>
            <a:r>
              <a:rPr lang="uz-Cyrl-UZ" sz="2000" b="1" baseline="30000" dirty="0">
                <a:latin typeface="Times New Roman" pitchFamily="18" charset="0"/>
                <a:cs typeface="Times New Roman" pitchFamily="18" charset="0"/>
              </a:rPr>
              <a:t> </a:t>
            </a:r>
            <a:r>
              <a:rPr lang="uz-Cyrl-UZ" sz="2000" b="1" dirty="0">
                <a:latin typeface="Times New Roman" pitchFamily="18" charset="0"/>
                <a:cs typeface="Times New Roman" pitchFamily="18" charset="0"/>
              </a:rPr>
              <a:t>     </a:t>
            </a:r>
            <a:endParaRPr lang="uz-Cyrl-UZ" sz="2000" b="1" dirty="0" smtClean="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мос </a:t>
            </a:r>
            <a:r>
              <a:rPr lang="uz-Cyrl-UZ" sz="2000" dirty="0">
                <a:latin typeface="Times New Roman" pitchFamily="18" charset="0"/>
                <a:cs typeface="Times New Roman" pitchFamily="18" charset="0"/>
              </a:rPr>
              <a:t>тушиш эҳтимоллиги билан </a:t>
            </a:r>
            <a:r>
              <a:rPr lang="uz-Cyrl-UZ" sz="2000" b="1" i="1" dirty="0" smtClean="0">
                <a:latin typeface="Times New Roman" pitchFamily="18" charset="0"/>
                <a:cs typeface="Times New Roman" pitchFamily="18" charset="0"/>
              </a:rPr>
              <a:t>l</a:t>
            </a:r>
            <a:r>
              <a:rPr lang="uz-Cyrl-UZ" sz="2000" b="1" dirty="0" smtClean="0">
                <a:latin typeface="Times New Roman" pitchFamily="18" charset="0"/>
                <a:cs typeface="Times New Roman" pitchFamily="18" charset="0"/>
              </a:rPr>
              <a:t>(</a:t>
            </a:r>
            <a:r>
              <a:rPr lang="uz-Cyrl-UZ" sz="2000" b="1" i="1" dirty="0" smtClean="0">
                <a:latin typeface="Times New Roman" pitchFamily="18" charset="0"/>
                <a:cs typeface="Times New Roman" pitchFamily="18" charset="0"/>
              </a:rPr>
              <a:t>x</a:t>
            </a:r>
            <a:r>
              <a:rPr lang="uz-Cyrl-UZ" sz="2000" b="1" dirty="0" smtClean="0">
                <a:latin typeface="Times New Roman" pitchFamily="18" charset="0"/>
                <a:cs typeface="Times New Roman" pitchFamily="18" charset="0"/>
              </a:rPr>
              <a:t>) </a:t>
            </a:r>
            <a:r>
              <a:rPr lang="uz-Cyrl-UZ" sz="2000" b="1" dirty="0">
                <a:latin typeface="Times New Roman" pitchFamily="18" charset="0"/>
                <a:cs typeface="Times New Roman" pitchFamily="18" charset="0"/>
              </a:rPr>
              <a:t>= </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m</a:t>
            </a:r>
            <a:r>
              <a:rPr lang="uz-Cyrl-UZ" sz="2000" b="1" baseline="-25000" dirty="0" smtClean="0">
                <a:latin typeface="Times New Roman" pitchFamily="18" charset="0"/>
                <a:cs typeface="Times New Roman" pitchFamily="18" charset="0"/>
              </a:rPr>
              <a:t>+1</a:t>
            </a:r>
            <a:r>
              <a:rPr lang="uz-Cyrl-UZ" sz="2000" b="1" dirty="0" smtClean="0">
                <a:latin typeface="Times New Roman" pitchFamily="18" charset="0"/>
                <a:cs typeface="Times New Roman" pitchFamily="18" charset="0"/>
              </a:rPr>
              <a:t> </a:t>
            </a:r>
            <a:r>
              <a:rPr lang="uz-Cyrl-UZ" sz="1600" b="1" dirty="0" smtClean="0">
                <a:latin typeface="Times New Roman" pitchFamily="18" charset="0"/>
                <a:cs typeface="Times New Roman" pitchFamily="18" charset="0"/>
              </a:rPr>
              <a:t>⊕ </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m</a:t>
            </a:r>
            <a:r>
              <a:rPr lang="uz-Cyrl-UZ" sz="2000" b="1" baseline="-25000" dirty="0" smtClean="0">
                <a:latin typeface="Times New Roman" pitchFamily="18" charset="0"/>
                <a:cs typeface="Times New Roman" pitchFamily="18" charset="0"/>
              </a:rPr>
              <a:t>+2 </a:t>
            </a:r>
            <a:r>
              <a:rPr lang="uz-Cyrl-UZ" sz="1600" b="1" dirty="0">
                <a:latin typeface="Times New Roman" pitchFamily="18" charset="0"/>
                <a:cs typeface="Times New Roman" pitchFamily="18" charset="0"/>
              </a:rPr>
              <a:t>⊕</a:t>
            </a:r>
            <a:r>
              <a:rPr lang="uz-Cyrl-UZ" sz="2000" b="1" dirty="0">
                <a:latin typeface="Times New Roman" pitchFamily="18" charset="0"/>
                <a:cs typeface="Times New Roman" pitchFamily="18" charset="0"/>
              </a:rPr>
              <a:t>…</a:t>
            </a:r>
            <a:r>
              <a:rPr lang="uz-Cyrl-UZ" sz="1600" b="1" dirty="0" smtClean="0">
                <a:latin typeface="Times New Roman" pitchFamily="18" charset="0"/>
                <a:cs typeface="Times New Roman" pitchFamily="18" charset="0"/>
              </a:rPr>
              <a:t>⊕</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n</a:t>
            </a:r>
            <a:r>
              <a:rPr lang="uz-Cyrl-UZ" sz="2000" b="1"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функция бўлади.</a:t>
            </a:r>
            <a:endParaRPr lang="ru-RU" sz="2200" dirty="0">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41423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Скругленный прямоугольник 8"/>
          <p:cNvSpPr/>
          <p:nvPr/>
        </p:nvSpPr>
        <p:spPr>
          <a:xfrm>
            <a:off x="912890" y="404664"/>
            <a:ext cx="7517067"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Геффе генераторига корреляцион криптотаҳлилни ўтказиш</a:t>
            </a:r>
            <a:endParaRPr lang="ru-RU" b="1" dirty="0">
              <a:solidFill>
                <a:schemeClr val="tx1"/>
              </a:solidFill>
              <a:latin typeface="Times New Roman" pitchFamily="18" charset="0"/>
              <a:cs typeface="Times New Roman" pitchFamily="18" charset="0"/>
            </a:endParaRPr>
          </a:p>
        </p:txBody>
      </p:sp>
      <p:grpSp>
        <p:nvGrpSpPr>
          <p:cNvPr id="83" name="Группа 82"/>
          <p:cNvGrpSpPr/>
          <p:nvPr/>
        </p:nvGrpSpPr>
        <p:grpSpPr>
          <a:xfrm>
            <a:off x="413046" y="1052736"/>
            <a:ext cx="3442878" cy="2644798"/>
            <a:chOff x="2541185" y="1808819"/>
            <a:chExt cx="3442878" cy="2644798"/>
          </a:xfrm>
        </p:grpSpPr>
        <p:grpSp>
          <p:nvGrpSpPr>
            <p:cNvPr id="15" name="Группа 14"/>
            <p:cNvGrpSpPr/>
            <p:nvPr/>
          </p:nvGrpSpPr>
          <p:grpSpPr>
            <a:xfrm>
              <a:off x="2699792" y="2168860"/>
              <a:ext cx="3284271" cy="2284757"/>
              <a:chOff x="2699792" y="2168860"/>
              <a:chExt cx="3284271" cy="2284757"/>
            </a:xfrm>
          </p:grpSpPr>
          <p:cxnSp>
            <p:nvCxnSpPr>
              <p:cNvPr id="6" name="Прямая соединительная линия 5"/>
              <p:cNvCxnSpPr/>
              <p:nvPr/>
            </p:nvCxnSpPr>
            <p:spPr>
              <a:xfrm>
                <a:off x="4671423" y="2348880"/>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4680012" y="2624365"/>
                <a:ext cx="1304051"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a:off x="5400092" y="2332375"/>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5966439" y="2168860"/>
                <a:ext cx="0" cy="47201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Прямая соединительная линия 49"/>
              <p:cNvCxnSpPr/>
              <p:nvPr/>
            </p:nvCxnSpPr>
            <p:spPr>
              <a:xfrm>
                <a:off x="5580112" y="2168860"/>
                <a:ext cx="386327"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58"/>
              <p:cNvCxnSpPr/>
              <p:nvPr/>
            </p:nvCxnSpPr>
            <p:spPr>
              <a:xfrm>
                <a:off x="4671423" y="3297531"/>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a:off x="4671423" y="3589522"/>
                <a:ext cx="131264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a:off x="5040052" y="3297531"/>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a:off x="5400092" y="3281026"/>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a:off x="5966439" y="3117511"/>
                <a:ext cx="0" cy="47201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a:off x="5580112" y="3117511"/>
                <a:ext cx="386327"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a:off x="4653799" y="4161627"/>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a:off x="4662388" y="4437112"/>
                <a:ext cx="1304051"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5022428" y="4161627"/>
                <a:ext cx="0" cy="29199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a:off x="5948815" y="3981607"/>
                <a:ext cx="0" cy="47201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a:off x="5562488" y="3981607"/>
                <a:ext cx="386327"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a:endCxn id="2" idx="1"/>
              </p:cNvCxnSpPr>
              <p:nvPr/>
            </p:nvCxnSpPr>
            <p:spPr>
              <a:xfrm>
                <a:off x="3923928" y="2168860"/>
                <a:ext cx="576064"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a:off x="3924496" y="3986815"/>
                <a:ext cx="576064"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flipH="1">
                <a:off x="3275856" y="3222237"/>
                <a:ext cx="5202" cy="764578"/>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80" name="Прямая соединительная линия 79"/>
              <p:cNvCxnSpPr>
                <a:endCxn id="19" idx="0"/>
              </p:cNvCxnSpPr>
              <p:nvPr/>
            </p:nvCxnSpPr>
            <p:spPr>
              <a:xfrm>
                <a:off x="3780196" y="2332376"/>
                <a:ext cx="0" cy="102114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82" name="Прямая соединительная линия 81"/>
              <p:cNvCxnSpPr/>
              <p:nvPr/>
            </p:nvCxnSpPr>
            <p:spPr>
              <a:xfrm flipV="1">
                <a:off x="3779912" y="3589521"/>
                <a:ext cx="0" cy="246526"/>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a:off x="3275856" y="2168860"/>
                <a:ext cx="36004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Прямая соединительная линия 90"/>
              <p:cNvCxnSpPr/>
              <p:nvPr/>
            </p:nvCxnSpPr>
            <p:spPr>
              <a:xfrm>
                <a:off x="3275856" y="3981606"/>
                <a:ext cx="356985" cy="520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p:cNvCxnSpPr/>
              <p:nvPr/>
            </p:nvCxnSpPr>
            <p:spPr>
              <a:xfrm flipH="1" flipV="1">
                <a:off x="3275856" y="2168860"/>
                <a:ext cx="5202" cy="76313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95" name="Прямая соединительная линия 94"/>
              <p:cNvCxnSpPr/>
              <p:nvPr/>
            </p:nvCxnSpPr>
            <p:spPr>
              <a:xfrm>
                <a:off x="3780196" y="3111138"/>
                <a:ext cx="719796" cy="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Прямая соединительная линия 119"/>
              <p:cNvCxnSpPr/>
              <p:nvPr/>
            </p:nvCxnSpPr>
            <p:spPr>
              <a:xfrm>
                <a:off x="2699792" y="3076677"/>
                <a:ext cx="421642" cy="0"/>
              </a:xfrm>
              <a:prstGeom prst="line">
                <a:avLst/>
              </a:prstGeom>
              <a:ln w="31750">
                <a:solidFill>
                  <a:schemeClr val="tx1"/>
                </a:solidFill>
                <a:headEnd type="arrow"/>
              </a:ln>
            </p:spPr>
            <p:style>
              <a:lnRef idx="1">
                <a:schemeClr val="accent1"/>
              </a:lnRef>
              <a:fillRef idx="0">
                <a:schemeClr val="accent1"/>
              </a:fillRef>
              <a:effectRef idx="0">
                <a:schemeClr val="accent1"/>
              </a:effectRef>
              <a:fontRef idx="minor">
                <a:schemeClr val="tx1"/>
              </a:fontRef>
            </p:style>
          </p:cxnSp>
        </p:grpSp>
        <p:grpSp>
          <p:nvGrpSpPr>
            <p:cNvPr id="81" name="Группа 80"/>
            <p:cNvGrpSpPr/>
            <p:nvPr/>
          </p:nvGrpSpPr>
          <p:grpSpPr>
            <a:xfrm>
              <a:off x="2541185" y="1808819"/>
              <a:ext cx="3038927" cy="2340261"/>
              <a:chOff x="2541185" y="1808819"/>
              <a:chExt cx="3038927" cy="2340261"/>
            </a:xfrm>
          </p:grpSpPr>
          <p:grpSp>
            <p:nvGrpSpPr>
              <p:cNvPr id="3" name="Группа 2"/>
              <p:cNvGrpSpPr/>
              <p:nvPr/>
            </p:nvGrpSpPr>
            <p:grpSpPr>
              <a:xfrm>
                <a:off x="2541185" y="1808819"/>
                <a:ext cx="3038927" cy="2340261"/>
                <a:chOff x="2541185" y="1808819"/>
                <a:chExt cx="3038927" cy="2340261"/>
              </a:xfrm>
            </p:grpSpPr>
            <p:sp>
              <p:nvSpPr>
                <p:cNvPr id="2" name="Прямоугольник 1"/>
                <p:cNvSpPr/>
                <p:nvPr/>
              </p:nvSpPr>
              <p:spPr>
                <a:xfrm>
                  <a:off x="4499992" y="19888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0" name="Прямоугольник 29"/>
                <p:cNvSpPr/>
                <p:nvPr/>
              </p:nvSpPr>
              <p:spPr>
                <a:xfrm>
                  <a:off x="4860032" y="19888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1" name="Прямоугольник 30"/>
                <p:cNvSpPr/>
                <p:nvPr/>
              </p:nvSpPr>
              <p:spPr>
                <a:xfrm>
                  <a:off x="5220072" y="19888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2" name="Прямоугольник 31"/>
                <p:cNvSpPr/>
                <p:nvPr/>
              </p:nvSpPr>
              <p:spPr>
                <a:xfrm>
                  <a:off x="4499992" y="2931118"/>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3" name="Прямоугольник 32"/>
                <p:cNvSpPr/>
                <p:nvPr/>
              </p:nvSpPr>
              <p:spPr>
                <a:xfrm>
                  <a:off x="4860032" y="2931118"/>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4" name="Прямоугольник 33"/>
                <p:cNvSpPr/>
                <p:nvPr/>
              </p:nvSpPr>
              <p:spPr>
                <a:xfrm>
                  <a:off x="5220072" y="2931989"/>
                  <a:ext cx="360040" cy="3591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5" name="Прямоугольник 34"/>
                <p:cNvSpPr/>
                <p:nvPr/>
              </p:nvSpPr>
              <p:spPr>
                <a:xfrm>
                  <a:off x="4499992" y="37890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6" name="Прямоугольник 35"/>
                <p:cNvSpPr/>
                <p:nvPr/>
              </p:nvSpPr>
              <p:spPr>
                <a:xfrm>
                  <a:off x="4860032" y="37890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7" name="Прямоугольник 36"/>
                <p:cNvSpPr/>
                <p:nvPr/>
              </p:nvSpPr>
              <p:spPr>
                <a:xfrm>
                  <a:off x="5220072" y="3789040"/>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121" name="Прямоугольник 120"/>
                <p:cNvSpPr/>
                <p:nvPr/>
              </p:nvSpPr>
              <p:spPr>
                <a:xfrm>
                  <a:off x="3923928" y="1808819"/>
                  <a:ext cx="576632" cy="360040"/>
                </a:xfrm>
                <a:prstGeom prst="rect">
                  <a:avLst/>
                </a:prstGeom>
                <a:solidFill>
                  <a:schemeClr val="accent1">
                    <a:alpha val="0"/>
                  </a:schemeClr>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x</a:t>
                  </a:r>
                  <a:r>
                    <a:rPr lang="en-US" i="1" baseline="-25000" dirty="0" smtClean="0">
                      <a:solidFill>
                        <a:schemeClr val="tx1"/>
                      </a:solidFill>
                      <a:latin typeface="Times New Roman" pitchFamily="18" charset="0"/>
                      <a:cs typeface="Times New Roman" pitchFamily="18" charset="0"/>
                    </a:rPr>
                    <a:t>1</a:t>
                  </a:r>
                  <a:r>
                    <a:rPr lang="en-US" i="1" dirty="0" smtClean="0">
                      <a:solidFill>
                        <a:schemeClr val="tx1"/>
                      </a:solidFill>
                      <a:latin typeface="Times New Roman" pitchFamily="18" charset="0"/>
                      <a:cs typeface="Times New Roman" pitchFamily="18" charset="0"/>
                    </a:rPr>
                    <a:t>(t)</a:t>
                  </a:r>
                  <a:endParaRPr lang="ru-RU" i="1" dirty="0">
                    <a:solidFill>
                      <a:schemeClr val="tx1"/>
                    </a:solidFill>
                    <a:latin typeface="Times New Roman" pitchFamily="18" charset="0"/>
                    <a:cs typeface="Times New Roman" pitchFamily="18" charset="0"/>
                  </a:endParaRPr>
                </a:p>
              </p:txBody>
            </p:sp>
            <p:sp>
              <p:nvSpPr>
                <p:cNvPr id="122" name="Прямоугольник 121"/>
                <p:cNvSpPr/>
                <p:nvPr/>
              </p:nvSpPr>
              <p:spPr>
                <a:xfrm>
                  <a:off x="3903436" y="2716637"/>
                  <a:ext cx="698950" cy="360040"/>
                </a:xfrm>
                <a:prstGeom prst="rect">
                  <a:avLst/>
                </a:prstGeom>
                <a:solidFill>
                  <a:schemeClr val="accent1">
                    <a:alpha val="0"/>
                  </a:schemeClr>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x</a:t>
                  </a:r>
                  <a:r>
                    <a:rPr lang="en-US" i="1" baseline="-25000" dirty="0" smtClean="0">
                      <a:solidFill>
                        <a:schemeClr val="tx1"/>
                      </a:solidFill>
                      <a:latin typeface="Times New Roman" pitchFamily="18" charset="0"/>
                      <a:cs typeface="Times New Roman" pitchFamily="18" charset="0"/>
                    </a:rPr>
                    <a:t>2</a:t>
                  </a:r>
                  <a:r>
                    <a:rPr lang="en-US" i="1" dirty="0" smtClean="0">
                      <a:solidFill>
                        <a:schemeClr val="tx1"/>
                      </a:solidFill>
                      <a:latin typeface="Times New Roman" pitchFamily="18" charset="0"/>
                      <a:cs typeface="Times New Roman" pitchFamily="18" charset="0"/>
                    </a:rPr>
                    <a:t>(t)</a:t>
                  </a:r>
                  <a:endParaRPr lang="ru-RU" i="1" dirty="0">
                    <a:solidFill>
                      <a:schemeClr val="tx1"/>
                    </a:solidFill>
                    <a:latin typeface="Times New Roman" pitchFamily="18" charset="0"/>
                    <a:cs typeface="Times New Roman" pitchFamily="18" charset="0"/>
                  </a:endParaRPr>
                </a:p>
              </p:txBody>
            </p:sp>
            <p:sp>
              <p:nvSpPr>
                <p:cNvPr id="123" name="Прямоугольник 122"/>
                <p:cNvSpPr/>
                <p:nvPr/>
              </p:nvSpPr>
              <p:spPr>
                <a:xfrm>
                  <a:off x="3883654" y="3624170"/>
                  <a:ext cx="698950" cy="360040"/>
                </a:xfrm>
                <a:prstGeom prst="rect">
                  <a:avLst/>
                </a:prstGeom>
                <a:solidFill>
                  <a:schemeClr val="accent1">
                    <a:alpha val="0"/>
                  </a:schemeClr>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x</a:t>
                  </a:r>
                  <a:r>
                    <a:rPr lang="en-US" i="1" baseline="-25000" dirty="0">
                      <a:solidFill>
                        <a:schemeClr val="tx1"/>
                      </a:solidFill>
                      <a:latin typeface="Times New Roman" pitchFamily="18" charset="0"/>
                      <a:cs typeface="Times New Roman" pitchFamily="18" charset="0"/>
                    </a:rPr>
                    <a:t>3</a:t>
                  </a:r>
                  <a:r>
                    <a:rPr lang="en-US" i="1" dirty="0" smtClean="0">
                      <a:solidFill>
                        <a:schemeClr val="tx1"/>
                      </a:solidFill>
                      <a:latin typeface="Times New Roman" pitchFamily="18" charset="0"/>
                      <a:cs typeface="Times New Roman" pitchFamily="18" charset="0"/>
                    </a:rPr>
                    <a:t>(t)</a:t>
                  </a:r>
                  <a:endParaRPr lang="ru-RU" i="1" dirty="0">
                    <a:solidFill>
                      <a:schemeClr val="tx1"/>
                    </a:solidFill>
                    <a:latin typeface="Times New Roman" pitchFamily="18" charset="0"/>
                    <a:cs typeface="Times New Roman" pitchFamily="18" charset="0"/>
                  </a:endParaRPr>
                </a:p>
              </p:txBody>
            </p:sp>
            <p:sp>
              <p:nvSpPr>
                <p:cNvPr id="124" name="Прямоугольник 123"/>
                <p:cNvSpPr/>
                <p:nvPr/>
              </p:nvSpPr>
              <p:spPr>
                <a:xfrm>
                  <a:off x="2541185" y="2662926"/>
                  <a:ext cx="698950" cy="360040"/>
                </a:xfrm>
                <a:prstGeom prst="rect">
                  <a:avLst/>
                </a:prstGeom>
                <a:solidFill>
                  <a:schemeClr val="accent1">
                    <a:alpha val="0"/>
                  </a:schemeClr>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Times New Roman" pitchFamily="18" charset="0"/>
                      <a:cs typeface="Times New Roman" pitchFamily="18" charset="0"/>
                    </a:rPr>
                    <a:t>k</a:t>
                  </a:r>
                  <a:r>
                    <a:rPr lang="en-US" i="1" baseline="-25000" dirty="0" smtClean="0">
                      <a:solidFill>
                        <a:schemeClr val="tx1"/>
                      </a:solidFill>
                      <a:latin typeface="Times New Roman" pitchFamily="18" charset="0"/>
                      <a:cs typeface="Times New Roman" pitchFamily="18" charset="0"/>
                    </a:rPr>
                    <a:t> </a:t>
                  </a:r>
                  <a:r>
                    <a:rPr lang="en-US" i="1" dirty="0" smtClean="0">
                      <a:solidFill>
                        <a:schemeClr val="tx1"/>
                      </a:solidFill>
                      <a:latin typeface="Times New Roman" pitchFamily="18" charset="0"/>
                      <a:cs typeface="Times New Roman" pitchFamily="18" charset="0"/>
                    </a:rPr>
                    <a:t>(t)</a:t>
                  </a:r>
                  <a:endParaRPr lang="ru-RU" i="1" dirty="0">
                    <a:solidFill>
                      <a:schemeClr val="tx1"/>
                    </a:solidFill>
                    <a:latin typeface="Times New Roman" pitchFamily="18" charset="0"/>
                    <a:cs typeface="Times New Roman" pitchFamily="18" charset="0"/>
                  </a:endParaRPr>
                </a:p>
              </p:txBody>
            </p:sp>
          </p:grpSp>
          <p:sp>
            <p:nvSpPr>
              <p:cNvPr id="4" name="Блок-схема: ИЛИ 3"/>
              <p:cNvSpPr/>
              <p:nvPr/>
            </p:nvSpPr>
            <p:spPr>
              <a:xfrm>
                <a:off x="3121434" y="2931118"/>
                <a:ext cx="308843" cy="291119"/>
              </a:xfrm>
              <a:prstGeom prst="flowChartOr">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Блок-схема: узел суммирования 15"/>
              <p:cNvSpPr/>
              <p:nvPr/>
            </p:nvSpPr>
            <p:spPr>
              <a:xfrm>
                <a:off x="3635896" y="2023300"/>
                <a:ext cx="288032" cy="291119"/>
              </a:xfrm>
              <a:prstGeom prst="flowChartSummingJunction">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Блок-схема: узел суммирования 72"/>
              <p:cNvSpPr/>
              <p:nvPr/>
            </p:nvSpPr>
            <p:spPr>
              <a:xfrm>
                <a:off x="3635896" y="3836047"/>
                <a:ext cx="288032" cy="291119"/>
              </a:xfrm>
              <a:prstGeom prst="flowChartSummingJunction">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Овал 18"/>
              <p:cNvSpPr/>
              <p:nvPr/>
            </p:nvSpPr>
            <p:spPr>
              <a:xfrm>
                <a:off x="3635896" y="3353516"/>
                <a:ext cx="288600" cy="236005"/>
              </a:xfrm>
              <a:prstGeom prst="ellipse">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b="1" dirty="0">
                  <a:solidFill>
                    <a:schemeClr val="tx1"/>
                  </a:solidFill>
                  <a:latin typeface="Times New Roman" pitchFamily="18" charset="0"/>
                  <a:cs typeface="Times New Roman" pitchFamily="18" charset="0"/>
                </a:endParaRPr>
              </a:p>
            </p:txBody>
          </p:sp>
        </p:grpSp>
      </p:grpSp>
      <p:sp>
        <p:nvSpPr>
          <p:cNvPr id="92" name="Прямоугольник 91"/>
          <p:cNvSpPr/>
          <p:nvPr/>
        </p:nvSpPr>
        <p:spPr>
          <a:xfrm>
            <a:off x="4355976" y="1227491"/>
            <a:ext cx="4392488" cy="24175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Ушбу генератор ёрдамида ҳосил қилинган гамма кетма-кетлик қуйидаги кўринишга эга бўлсин:</a:t>
            </a:r>
            <a:endParaRPr lang="en-US" dirty="0" smtClean="0">
              <a:solidFill>
                <a:schemeClr val="tx1"/>
              </a:solidFill>
              <a:latin typeface="Times New Roman" pitchFamily="18" charset="0"/>
              <a:cs typeface="Times New Roman" pitchFamily="18" charset="0"/>
            </a:endParaRPr>
          </a:p>
          <a:p>
            <a:pPr algn="just"/>
            <a:r>
              <a:rPr lang="uz-Cyrl-UZ" dirty="0" smtClean="0">
                <a:solidFill>
                  <a:schemeClr val="tx1"/>
                </a:solidFill>
                <a:latin typeface="Times New Roman" pitchFamily="18" charset="0"/>
                <a:cs typeface="Times New Roman" pitchFamily="18" charset="0"/>
              </a:rPr>
              <a:t> </a:t>
            </a:r>
            <a:r>
              <a:rPr lang="uz-Cyrl-UZ" b="1" dirty="0">
                <a:solidFill>
                  <a:schemeClr val="tx1"/>
                </a:solidFill>
                <a:latin typeface="Times New Roman" pitchFamily="18" charset="0"/>
                <a:cs typeface="Times New Roman" pitchFamily="18" charset="0"/>
              </a:rPr>
              <a:t>{</a:t>
            </a:r>
            <a:r>
              <a:rPr lang="uz-Cyrl-UZ" b="1" i="1" dirty="0">
                <a:solidFill>
                  <a:schemeClr val="tx1"/>
                </a:solidFill>
                <a:latin typeface="Times New Roman" pitchFamily="18" charset="0"/>
                <a:cs typeface="Times New Roman" pitchFamily="18" charset="0"/>
              </a:rPr>
              <a:t>k</a:t>
            </a:r>
            <a:r>
              <a:rPr lang="uz-Cyrl-UZ" b="1" dirty="0">
                <a:solidFill>
                  <a:schemeClr val="tx1"/>
                </a:solidFill>
                <a:latin typeface="Times New Roman" pitchFamily="18" charset="0"/>
                <a:cs typeface="Times New Roman" pitchFamily="18" charset="0"/>
              </a:rPr>
              <a:t>(</a:t>
            </a:r>
            <a:r>
              <a:rPr lang="uz-Cyrl-UZ" b="1" i="1" dirty="0">
                <a:solidFill>
                  <a:schemeClr val="tx1"/>
                </a:solidFill>
                <a:latin typeface="Times New Roman" pitchFamily="18" charset="0"/>
                <a:cs typeface="Times New Roman" pitchFamily="18" charset="0"/>
              </a:rPr>
              <a:t>t</a:t>
            </a:r>
            <a:r>
              <a:rPr lang="uz-Cyrl-UZ" b="1" dirty="0">
                <a:solidFill>
                  <a:schemeClr val="tx1"/>
                </a:solidFill>
                <a:latin typeface="Times New Roman" pitchFamily="18" charset="0"/>
                <a:cs typeface="Times New Roman" pitchFamily="18" charset="0"/>
              </a:rPr>
              <a:t>)}={0111111010</a:t>
            </a:r>
            <a:r>
              <a:rPr lang="uz-Cyrl-UZ" b="1" dirty="0" smtClean="0">
                <a:solidFill>
                  <a:schemeClr val="tx1"/>
                </a:solidFill>
                <a:latin typeface="Times New Roman" pitchFamily="18" charset="0"/>
                <a:cs typeface="Times New Roman" pitchFamily="18" charset="0"/>
              </a:rPr>
              <a:t>}</a:t>
            </a:r>
          </a:p>
          <a:p>
            <a:pPr algn="just"/>
            <a:r>
              <a:rPr lang="uz-Cyrl-UZ" dirty="0" smtClean="0">
                <a:solidFill>
                  <a:schemeClr val="tx1"/>
                </a:solidFill>
                <a:latin typeface="Times New Roman" pitchFamily="18" charset="0"/>
                <a:cs typeface="Times New Roman" pitchFamily="18" charset="0"/>
              </a:rPr>
              <a:t>        Берилган гаммадан фойдаланиб регистрларнинг бошланғич тўлдирилган ҳолатини топамиз.</a:t>
            </a:r>
            <a:endParaRPr lang="ru-RU" dirty="0">
              <a:solidFill>
                <a:schemeClr val="tx1"/>
              </a:solidFill>
              <a:latin typeface="Times New Roman" pitchFamily="18" charset="0"/>
              <a:cs typeface="Times New Roman" pitchFamily="18" charset="0"/>
            </a:endParaRPr>
          </a:p>
        </p:txBody>
      </p:sp>
      <p:graphicFrame>
        <p:nvGraphicFramePr>
          <p:cNvPr id="125" name="Таблица 124"/>
          <p:cNvGraphicFramePr>
            <a:graphicFrameLocks noGrp="1"/>
          </p:cNvGraphicFramePr>
          <p:nvPr>
            <p:extLst>
              <p:ext uri="{D42A27DB-BD31-4B8C-83A1-F6EECF244321}">
                <p14:modId xmlns:p14="http://schemas.microsoft.com/office/powerpoint/2010/main" val="3746920232"/>
              </p:ext>
            </p:extLst>
          </p:nvPr>
        </p:nvGraphicFramePr>
        <p:xfrm>
          <a:off x="1068307" y="4005064"/>
          <a:ext cx="7206232" cy="2392117"/>
        </p:xfrm>
        <a:graphic>
          <a:graphicData uri="http://schemas.openxmlformats.org/drawingml/2006/table">
            <a:tbl>
              <a:tblPr firstRow="1" firstCol="1" bandRow="1">
                <a:tableStyleId>{69CF1AB2-1976-4502-BF36-3FF5EA218861}</a:tableStyleId>
              </a:tblPr>
              <a:tblGrid>
                <a:gridCol w="372865"/>
                <a:gridCol w="372865"/>
                <a:gridCol w="372865"/>
                <a:gridCol w="1695149"/>
                <a:gridCol w="864096"/>
                <a:gridCol w="864096"/>
                <a:gridCol w="1296144"/>
                <a:gridCol w="1368152"/>
              </a:tblGrid>
              <a:tr h="0">
                <a:tc>
                  <a:txBody>
                    <a:bodyPr/>
                    <a:lstStyle/>
                    <a:p>
                      <a:pPr algn="ctr">
                        <a:lnSpc>
                          <a:spcPct val="150000"/>
                        </a:lnSpc>
                        <a:spcAft>
                          <a:spcPts val="0"/>
                        </a:spcAft>
                      </a:pPr>
                      <a:r>
                        <a:rPr lang="en-US" sz="1400" b="1" dirty="0">
                          <a:effectLst/>
                          <a:latin typeface="Times New Roman" pitchFamily="18" charset="0"/>
                          <a:cs typeface="Times New Roman" pitchFamily="18" charset="0"/>
                        </a:rPr>
                        <a:t>x</a:t>
                      </a:r>
                      <a:r>
                        <a:rPr lang="ru-RU" sz="1400" b="1" baseline="-25000"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cs typeface="Times New Roman" pitchFamily="18" charset="0"/>
                        </a:rPr>
                        <a:t>x</a:t>
                      </a:r>
                      <a:r>
                        <a:rPr lang="ru-RU" sz="1400" b="1" baseline="-25000">
                          <a:effectLst/>
                          <a:latin typeface="Times New Roman" pitchFamily="18" charset="0"/>
                          <a:cs typeface="Times New Roman" pitchFamily="18" charset="0"/>
                        </a:rPr>
                        <a:t>2</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a:effectLst/>
                          <a:latin typeface="Times New Roman" pitchFamily="18" charset="0"/>
                          <a:cs typeface="Times New Roman" pitchFamily="18" charset="0"/>
                        </a:rPr>
                        <a:t>x</a:t>
                      </a:r>
                      <a:r>
                        <a:rPr lang="ru-RU" sz="1400" b="1" baseline="-25000">
                          <a:effectLst/>
                          <a:latin typeface="Times New Roman" pitchFamily="18" charset="0"/>
                          <a:cs typeface="Times New Roman" pitchFamily="18" charset="0"/>
                        </a:rPr>
                        <a:t>3</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a:effectLst/>
                          <a:latin typeface="Times New Roman" pitchFamily="18" charset="0"/>
                          <a:cs typeface="Times New Roman" pitchFamily="18" charset="0"/>
                        </a:rPr>
                        <a:t>f </a:t>
                      </a:r>
                      <a:r>
                        <a:rPr lang="ru-RU" sz="1400" b="1" i="1" dirty="0">
                          <a:effectLst/>
                          <a:latin typeface="Times New Roman" pitchFamily="18" charset="0"/>
                          <a:cs typeface="Times New Roman" pitchFamily="18" charset="0"/>
                        </a:rPr>
                        <a:t> = </a:t>
                      </a:r>
                      <a:r>
                        <a:rPr lang="en-US" sz="1400" b="1" i="1" dirty="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1</a:t>
                      </a:r>
                      <a:r>
                        <a:rPr lang="en-US" sz="1400" b="1" i="1" dirty="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2 </a:t>
                      </a:r>
                      <a:r>
                        <a:rPr lang="ru-RU" sz="1400" b="1" i="0" dirty="0">
                          <a:effectLst/>
                          <a:latin typeface="Times New Roman" pitchFamily="18" charset="0"/>
                          <a:cs typeface="Times New Roman" pitchFamily="18" charset="0"/>
                        </a:rPr>
                        <a:t>⊕</a:t>
                      </a:r>
                      <a:r>
                        <a:rPr lang="ru-RU" sz="1400" b="1" i="1" dirty="0">
                          <a:effectLst/>
                          <a:latin typeface="Times New Roman" pitchFamily="18" charset="0"/>
                          <a:cs typeface="Times New Roman" pitchFamily="18" charset="0"/>
                        </a:rPr>
                        <a:t> </a:t>
                      </a:r>
                      <a:r>
                        <a:rPr lang="ru-RU" sz="1400" b="1" i="1" dirty="0" smtClean="0">
                          <a:effectLst/>
                          <a:latin typeface="Times New Roman" pitchFamily="18" charset="0"/>
                          <a:cs typeface="Times New Roman" pitchFamily="18" charset="0"/>
                        </a:rPr>
                        <a:t>┐</a:t>
                      </a:r>
                      <a:r>
                        <a:rPr lang="en-US" sz="1400" b="1" i="1" dirty="0" smtClean="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2</a:t>
                      </a:r>
                      <a:r>
                        <a:rPr lang="en-US" sz="1400" b="1" i="1" dirty="0">
                          <a:effectLst/>
                          <a:latin typeface="Times New Roman" pitchFamily="18" charset="0"/>
                          <a:cs typeface="Times New Roman" pitchFamily="18" charset="0"/>
                        </a:rPr>
                        <a:t>x</a:t>
                      </a:r>
                      <a:r>
                        <a:rPr lang="ru-RU" sz="1400" b="1" i="1" baseline="-25000" dirty="0" smtClean="0">
                          <a:effectLst/>
                          <a:latin typeface="Times New Roman" pitchFamily="18" charset="0"/>
                          <a:cs typeface="Times New Roman" pitchFamily="18" charset="0"/>
                        </a:rPr>
                        <a:t>3</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l</a:t>
                      </a:r>
                      <a:r>
                        <a:rPr lang="en-US" sz="1400" b="1" i="1" baseline="-25000" dirty="0" smtClean="0">
                          <a:effectLst/>
                          <a:latin typeface="Times New Roman" pitchFamily="18" charset="0"/>
                          <a:cs typeface="Times New Roman" pitchFamily="18" charset="0"/>
                        </a:rPr>
                        <a:t>1</a:t>
                      </a:r>
                      <a:r>
                        <a:rPr lang="en-US" sz="1400" b="1" i="1" dirty="0" smtClean="0">
                          <a:effectLst/>
                          <a:latin typeface="Times New Roman" pitchFamily="18" charset="0"/>
                          <a:cs typeface="Times New Roman" pitchFamily="18" charset="0"/>
                        </a:rPr>
                        <a:t> </a:t>
                      </a:r>
                      <a:r>
                        <a:rPr lang="ru-RU" sz="1400" b="1" i="1" dirty="0" smtClean="0">
                          <a:effectLst/>
                          <a:latin typeface="Times New Roman" pitchFamily="18" charset="0"/>
                          <a:cs typeface="Times New Roman" pitchFamily="18" charset="0"/>
                        </a:rPr>
                        <a:t> </a:t>
                      </a:r>
                      <a:r>
                        <a:rPr lang="ru-RU" sz="1400" b="1" i="1" dirty="0">
                          <a:effectLst/>
                          <a:latin typeface="Times New Roman" pitchFamily="18" charset="0"/>
                          <a:cs typeface="Times New Roman" pitchFamily="18" charset="0"/>
                        </a:rPr>
                        <a:t>= </a:t>
                      </a:r>
                      <a:r>
                        <a:rPr lang="en-US" sz="1400" b="1" i="1" dirty="0">
                          <a:effectLst/>
                          <a:latin typeface="Times New Roman" pitchFamily="18" charset="0"/>
                          <a:cs typeface="Times New Roman" pitchFamily="18" charset="0"/>
                        </a:rPr>
                        <a:t>x</a:t>
                      </a:r>
                      <a:r>
                        <a:rPr lang="ru-RU" sz="1400" b="1" i="1" baseline="-25000" dirty="0">
                          <a:effectLst/>
                          <a:latin typeface="Times New Roman" pitchFamily="18" charset="0"/>
                          <a:cs typeface="Times New Roman" pitchFamily="18" charset="0"/>
                        </a:rPr>
                        <a:t>1</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l</a:t>
                      </a:r>
                      <a:r>
                        <a:rPr lang="en-US" sz="1400" b="1" i="1" baseline="-25000" dirty="0" smtClean="0">
                          <a:effectLst/>
                          <a:latin typeface="Times New Roman" pitchFamily="18" charset="0"/>
                          <a:cs typeface="Times New Roman" pitchFamily="18" charset="0"/>
                        </a:rPr>
                        <a:t>2</a:t>
                      </a:r>
                      <a:r>
                        <a:rPr lang="uz-Cyrl-UZ" sz="1400" b="1" i="1" dirty="0" smtClean="0">
                          <a:effectLst/>
                          <a:latin typeface="Times New Roman" pitchFamily="18" charset="0"/>
                          <a:cs typeface="Times New Roman" pitchFamily="18" charset="0"/>
                        </a:rPr>
                        <a:t>  </a:t>
                      </a:r>
                      <a:r>
                        <a:rPr lang="ru-RU" sz="1400" b="1" i="1" dirty="0">
                          <a:effectLst/>
                          <a:latin typeface="Times New Roman" pitchFamily="18" charset="0"/>
                          <a:cs typeface="Times New Roman" pitchFamily="18" charset="0"/>
                        </a:rPr>
                        <a:t>= </a:t>
                      </a:r>
                      <a:r>
                        <a:rPr lang="en-US" sz="1400" b="1" i="1" dirty="0">
                          <a:effectLst/>
                          <a:latin typeface="Times New Roman" pitchFamily="18" charset="0"/>
                          <a:cs typeface="Times New Roman" pitchFamily="18" charset="0"/>
                        </a:rPr>
                        <a:t>x</a:t>
                      </a:r>
                      <a:r>
                        <a:rPr lang="uz-Cyrl-UZ" sz="1400" b="1" i="1" baseline="-25000" dirty="0">
                          <a:effectLst/>
                          <a:latin typeface="Times New Roman" pitchFamily="18" charset="0"/>
                          <a:cs typeface="Times New Roman" pitchFamily="18" charset="0"/>
                        </a:rPr>
                        <a:t>3</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l</a:t>
                      </a:r>
                      <a:r>
                        <a:rPr lang="en-US" sz="1400" b="1" i="1" baseline="-25000" dirty="0" smtClean="0">
                          <a:effectLst/>
                          <a:latin typeface="Times New Roman" pitchFamily="18" charset="0"/>
                          <a:cs typeface="Times New Roman" pitchFamily="18" charset="0"/>
                        </a:rPr>
                        <a:t>3</a:t>
                      </a:r>
                      <a:r>
                        <a:rPr lang="uz-Cyrl-UZ" sz="1400" b="1" i="1" dirty="0" smtClean="0">
                          <a:effectLst/>
                          <a:latin typeface="Times New Roman" pitchFamily="18" charset="0"/>
                          <a:cs typeface="Times New Roman" pitchFamily="18" charset="0"/>
                        </a:rPr>
                        <a:t>  </a:t>
                      </a:r>
                      <a:r>
                        <a:rPr lang="ru-RU" sz="1400" b="1" i="1" dirty="0">
                          <a:effectLst/>
                          <a:latin typeface="Times New Roman" pitchFamily="18" charset="0"/>
                          <a:cs typeface="Times New Roman" pitchFamily="18" charset="0"/>
                        </a:rPr>
                        <a:t>= </a:t>
                      </a:r>
                      <a:r>
                        <a:rPr lang="uz-Cyrl-UZ" sz="1400" b="1" i="1" dirty="0">
                          <a:effectLst/>
                          <a:latin typeface="Times New Roman" pitchFamily="18" charset="0"/>
                          <a:cs typeface="Times New Roman" pitchFamily="18" charset="0"/>
                        </a:rPr>
                        <a:t>x</a:t>
                      </a:r>
                      <a:r>
                        <a:rPr lang="uz-Cyrl-UZ" sz="1400" b="1" i="1" baseline="-25000" dirty="0">
                          <a:effectLst/>
                          <a:latin typeface="Times New Roman" pitchFamily="18" charset="0"/>
                          <a:cs typeface="Times New Roman" pitchFamily="18" charset="0"/>
                        </a:rPr>
                        <a:t>2 </a:t>
                      </a:r>
                      <a:r>
                        <a:rPr lang="uz-Cyrl-UZ" sz="1400" b="1" i="0" dirty="0">
                          <a:effectLst/>
                          <a:latin typeface="Times New Roman" pitchFamily="18" charset="0"/>
                          <a:cs typeface="Times New Roman" pitchFamily="18" charset="0"/>
                        </a:rPr>
                        <a:t>⊕</a:t>
                      </a:r>
                      <a:r>
                        <a:rPr lang="uz-Cyrl-UZ" sz="1400" b="1" i="1" dirty="0">
                          <a:effectLst/>
                          <a:latin typeface="Times New Roman" pitchFamily="18" charset="0"/>
                          <a:cs typeface="Times New Roman" pitchFamily="18" charset="0"/>
                        </a:rPr>
                        <a:t> x</a:t>
                      </a:r>
                      <a:r>
                        <a:rPr lang="uz-Cyrl-UZ" sz="1400" b="1" i="1" baseline="-25000" dirty="0">
                          <a:effectLst/>
                          <a:latin typeface="Times New Roman" pitchFamily="18" charset="0"/>
                          <a:cs typeface="Times New Roman" pitchFamily="18" charset="0"/>
                        </a:rPr>
                        <a:t>3</a:t>
                      </a:r>
                      <a:endParaRPr lang="ru-RU" sz="1400" b="1" i="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pPr>
                      <a:r>
                        <a:rPr lang="en-US" sz="1400" b="1" i="1" dirty="0" smtClean="0">
                          <a:effectLst/>
                          <a:latin typeface="Times New Roman" pitchFamily="18" charset="0"/>
                          <a:cs typeface="Times New Roman" pitchFamily="18" charset="0"/>
                        </a:rPr>
                        <a:t>l</a:t>
                      </a:r>
                      <a:r>
                        <a:rPr lang="en-US" sz="1400" b="1" i="1" baseline="-25000" dirty="0" smtClean="0">
                          <a:effectLst/>
                          <a:latin typeface="Times New Roman" pitchFamily="18" charset="0"/>
                          <a:cs typeface="Times New Roman" pitchFamily="18" charset="0"/>
                        </a:rPr>
                        <a:t>4</a:t>
                      </a:r>
                      <a:r>
                        <a:rPr lang="uz-Cyrl-UZ" sz="1400" b="1" i="1" dirty="0" smtClean="0">
                          <a:effectLst/>
                          <a:latin typeface="Times New Roman" pitchFamily="18" charset="0"/>
                          <a:cs typeface="Times New Roman" pitchFamily="18" charset="0"/>
                        </a:rPr>
                        <a:t>  </a:t>
                      </a:r>
                      <a:r>
                        <a:rPr lang="ru-RU" sz="1400" b="1" i="1" dirty="0">
                          <a:effectLst/>
                          <a:latin typeface="Times New Roman" pitchFamily="18" charset="0"/>
                          <a:cs typeface="Times New Roman" pitchFamily="18" charset="0"/>
                        </a:rPr>
                        <a:t>= </a:t>
                      </a:r>
                      <a:r>
                        <a:rPr lang="uz-Cyrl-UZ" sz="1400" b="1" i="1" dirty="0">
                          <a:effectLst/>
                          <a:latin typeface="Times New Roman" pitchFamily="18" charset="0"/>
                          <a:cs typeface="Times New Roman" pitchFamily="18" charset="0"/>
                        </a:rPr>
                        <a:t>x</a:t>
                      </a:r>
                      <a:r>
                        <a:rPr lang="uz-Cyrl-UZ" sz="1400" b="1" i="1" baseline="-25000" dirty="0">
                          <a:effectLst/>
                          <a:latin typeface="Times New Roman" pitchFamily="18" charset="0"/>
                          <a:cs typeface="Times New Roman" pitchFamily="18" charset="0"/>
                        </a:rPr>
                        <a:t>1 </a:t>
                      </a:r>
                      <a:r>
                        <a:rPr lang="uz-Cyrl-UZ" sz="1400" b="1" i="0" dirty="0">
                          <a:effectLst/>
                          <a:latin typeface="Times New Roman" pitchFamily="18" charset="0"/>
                          <a:cs typeface="Times New Roman" pitchFamily="18" charset="0"/>
                        </a:rPr>
                        <a:t>⊕</a:t>
                      </a:r>
                      <a:r>
                        <a:rPr lang="uz-Cyrl-UZ" sz="1400" b="1" i="1" dirty="0">
                          <a:effectLst/>
                          <a:latin typeface="Times New Roman" pitchFamily="18" charset="0"/>
                          <a:cs typeface="Times New Roman" pitchFamily="18" charset="0"/>
                        </a:rPr>
                        <a:t> x</a:t>
                      </a:r>
                      <a:r>
                        <a:rPr lang="uz-Cyrl-UZ" sz="1400" b="1" i="1" baseline="-25000" dirty="0">
                          <a:effectLst/>
                          <a:latin typeface="Times New Roman" pitchFamily="18" charset="0"/>
                          <a:cs typeface="Times New Roman" pitchFamily="18" charset="0"/>
                        </a:rPr>
                        <a:t>2 </a:t>
                      </a:r>
                      <a:r>
                        <a:rPr lang="uz-Cyrl-UZ" sz="1400" b="1" i="0" dirty="0">
                          <a:effectLst/>
                          <a:latin typeface="Times New Roman" pitchFamily="18" charset="0"/>
                          <a:cs typeface="Times New Roman" pitchFamily="18" charset="0"/>
                        </a:rPr>
                        <a:t>⊕</a:t>
                      </a:r>
                      <a:r>
                        <a:rPr lang="uz-Cyrl-UZ" sz="1400" b="1" i="1" dirty="0">
                          <a:effectLst/>
                          <a:latin typeface="Times New Roman" pitchFamily="18" charset="0"/>
                          <a:cs typeface="Times New Roman" pitchFamily="18" charset="0"/>
                        </a:rPr>
                        <a:t>1</a:t>
                      </a:r>
                      <a:endParaRPr lang="ru-RU" sz="1400" b="1" i="1" dirty="0">
                        <a:effectLst/>
                        <a:latin typeface="Times New Roman" pitchFamily="18" charset="0"/>
                        <a:ea typeface="Times New Roman"/>
                        <a:cs typeface="Times New Roman" pitchFamily="18" charset="0"/>
                      </a:endParaRPr>
                    </a:p>
                  </a:txBody>
                  <a:tcPr marL="68580" marR="68580" marT="0" marB="0"/>
                </a:tc>
              </a:tr>
              <a:tr h="2072077">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15000"/>
                        </a:lnSpc>
                        <a:spcAft>
                          <a:spcPts val="0"/>
                        </a:spcAft>
                      </a:pPr>
                      <a:r>
                        <a:rPr lang="uz-Cyrl-UZ" sz="1400" b="1" dirty="0">
                          <a:effectLst/>
                          <a:latin typeface="Times New Roman" pitchFamily="18" charset="0"/>
                          <a:cs typeface="Times New Roman" pitchFamily="18" charset="0"/>
                        </a:rPr>
                        <a:t>1</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0</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effectLst/>
                          <a:latin typeface="Times New Roman" pitchFamily="18" charset="0"/>
                          <a:cs typeface="Times New Roman" pitchFamily="18" charset="0"/>
                        </a:rPr>
                        <a:t>0</a:t>
                      </a:r>
                      <a:endParaRPr lang="ru-RU" sz="1400" b="1" dirty="0">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cs typeface="Times New Roman" pitchFamily="18" charset="0"/>
                      </a:endParaRPr>
                    </a:p>
                    <a:p>
                      <a:pPr algn="ctr">
                        <a:lnSpc>
                          <a:spcPct val="115000"/>
                        </a:lnSpc>
                        <a:spcAft>
                          <a:spcPts val="0"/>
                        </a:spcAft>
                      </a:pPr>
                      <a:r>
                        <a:rPr lang="uz-Cyrl-UZ" sz="1400" b="1" dirty="0">
                          <a:solidFill>
                            <a:srgbClr val="FF0000"/>
                          </a:solidFill>
                          <a:effectLst/>
                          <a:latin typeface="Times New Roman" pitchFamily="18" charset="0"/>
                          <a:cs typeface="Times New Roman" pitchFamily="18" charset="0"/>
                        </a:rPr>
                        <a:t>1</a:t>
                      </a:r>
                      <a:endParaRPr lang="ru-RU" sz="1400" b="1" dirty="0">
                        <a:solidFill>
                          <a:srgbClr val="FF0000"/>
                        </a:solidFill>
                        <a:effectLst/>
                        <a:latin typeface="Times New Roman" pitchFamily="18" charset="0"/>
                        <a:ea typeface="Times New Roman"/>
                        <a:cs typeface="Times New Roman" pitchFamily="18" charset="0"/>
                      </a:endParaRPr>
                    </a:p>
                  </a:txBody>
                  <a:tcPr marL="68580" marR="68580" marT="0" marB="0"/>
                </a:tc>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873596121"/>
              </p:ext>
            </p:extLst>
          </p:nvPr>
        </p:nvGraphicFramePr>
        <p:xfrm>
          <a:off x="1652057" y="4005064"/>
          <a:ext cx="6262666" cy="2592288"/>
        </p:xfrm>
        <a:graphic>
          <a:graphicData uri="http://schemas.openxmlformats.org/drawingml/2006/table">
            <a:tbl>
              <a:tblPr firstRow="1" firstCol="1" bandRow="1">
                <a:tableStyleId>{69CF1AB2-1976-4502-BF36-3FF5EA218861}</a:tableStyleId>
              </a:tblPr>
              <a:tblGrid>
                <a:gridCol w="810436"/>
                <a:gridCol w="1276383"/>
                <a:gridCol w="1043778"/>
                <a:gridCol w="836200"/>
                <a:gridCol w="1483960"/>
                <a:gridCol w="811909"/>
              </a:tblGrid>
              <a:tr h="288032">
                <a:tc gridSpan="3">
                  <a:txBody>
                    <a:bodyPr/>
                    <a:lstStyle/>
                    <a:p>
                      <a:pPr algn="ctr">
                        <a:lnSpc>
                          <a:spcPct val="150000"/>
                        </a:lnSpc>
                        <a:spcAft>
                          <a:spcPts val="0"/>
                        </a:spcAft>
                      </a:pPr>
                      <a:r>
                        <a:rPr lang="en-US" sz="1200" b="1" dirty="0">
                          <a:effectLst/>
                          <a:latin typeface="Times New Roman" pitchFamily="18" charset="0"/>
                          <a:cs typeface="Times New Roman" pitchFamily="18" charset="0"/>
                        </a:rPr>
                        <a:t>LFSR–</a:t>
                      </a:r>
                      <a:r>
                        <a:rPr lang="uz-Cyrl-UZ" sz="1200" b="1" dirty="0">
                          <a:effectLst/>
                          <a:latin typeface="Times New Roman" pitchFamily="18" charset="0"/>
                          <a:cs typeface="Times New Roman" pitchFamily="18" charset="0"/>
                        </a:rPr>
                        <a:t>1</a:t>
                      </a:r>
                      <a:endParaRPr lang="ru-RU" sz="1200" b="1" dirty="0">
                        <a:effectLst/>
                        <a:latin typeface="Times New Roman" pitchFamily="18" charset="0"/>
                        <a:ea typeface="Times New Roman"/>
                        <a:cs typeface="Times New Roman" pitchFamily="18" charset="0"/>
                      </a:endParaRPr>
                    </a:p>
                  </a:txBody>
                  <a:tcPr marL="68580" marR="68580" marT="0" marB="0"/>
                </a:tc>
                <a:tc hMerge="1">
                  <a:txBody>
                    <a:bodyPr/>
                    <a:lstStyle/>
                    <a:p>
                      <a:endParaRPr lang="ru-RU"/>
                    </a:p>
                  </a:txBody>
                  <a:tcPr/>
                </a:tc>
                <a:tc hMerge="1">
                  <a:txBody>
                    <a:bodyPr/>
                    <a:lstStyle/>
                    <a:p>
                      <a:endParaRPr lang="ru-RU"/>
                    </a:p>
                  </a:txBody>
                  <a:tcPr/>
                </a:tc>
                <a:tc gridSpan="3">
                  <a:txBody>
                    <a:bodyPr/>
                    <a:lstStyle/>
                    <a:p>
                      <a:pPr algn="ctr">
                        <a:lnSpc>
                          <a:spcPct val="150000"/>
                        </a:lnSpc>
                        <a:spcAft>
                          <a:spcPts val="0"/>
                        </a:spcAft>
                      </a:pPr>
                      <a:r>
                        <a:rPr lang="en-US" sz="1200" b="1">
                          <a:effectLst/>
                          <a:latin typeface="Times New Roman" pitchFamily="18" charset="0"/>
                          <a:cs typeface="Times New Roman" pitchFamily="18" charset="0"/>
                        </a:rPr>
                        <a:t>LFSR–</a:t>
                      </a:r>
                      <a:r>
                        <a:rPr lang="uz-Cyrl-UZ" sz="1200" b="1">
                          <a:effectLst/>
                          <a:latin typeface="Times New Roman" pitchFamily="18" charset="0"/>
                          <a:cs typeface="Times New Roman" pitchFamily="18" charset="0"/>
                        </a:rPr>
                        <a:t>3</a:t>
                      </a:r>
                      <a:endParaRPr lang="ru-RU" sz="1200" b="1">
                        <a:effectLst/>
                        <a:latin typeface="Times New Roman" pitchFamily="18" charset="0"/>
                        <a:ea typeface="Times New Roman"/>
                        <a:cs typeface="Times New Roman" pitchFamily="18" charset="0"/>
                      </a:endParaRPr>
                    </a:p>
                  </a:txBody>
                  <a:tcPr marL="68580" marR="68580" marT="0" marB="0"/>
                </a:tc>
                <a:tc hMerge="1">
                  <a:txBody>
                    <a:bodyPr/>
                    <a:lstStyle/>
                    <a:p>
                      <a:endParaRPr lang="ru-RU"/>
                    </a:p>
                  </a:txBody>
                  <a:tcPr/>
                </a:tc>
                <a:tc hMerge="1">
                  <a:txBody>
                    <a:bodyPr/>
                    <a:lstStyle/>
                    <a:p>
                      <a:endParaRPr lang="ru-RU"/>
                    </a:p>
                  </a:txBody>
                  <a:tcPr/>
                </a:tc>
              </a:tr>
              <a:tr h="288032">
                <a:tc gridSpan="2">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{k(t)} </a:t>
                      </a:r>
                      <a:r>
                        <a:rPr lang="en-US" sz="1200" b="1">
                          <a:effectLst/>
                          <a:latin typeface="Times New Roman" pitchFamily="18" charset="0"/>
                          <a:cs typeface="Times New Roman" pitchFamily="18" charset="0"/>
                        </a:rPr>
                        <a:t>= </a:t>
                      </a:r>
                      <a:r>
                        <a:rPr lang="uz-Cyrl-UZ" sz="1200" b="1">
                          <a:effectLst/>
                          <a:latin typeface="Times New Roman" pitchFamily="18" charset="0"/>
                          <a:cs typeface="Times New Roman" pitchFamily="18" charset="0"/>
                        </a:rPr>
                        <a:t> 0111111010</a:t>
                      </a:r>
                      <a:endParaRPr lang="ru-RU" sz="1200" b="1">
                        <a:effectLst/>
                        <a:latin typeface="Times New Roman" pitchFamily="18" charset="0"/>
                        <a:ea typeface="Times New Roman"/>
                        <a:cs typeface="Times New Roman" pitchFamily="18" charset="0"/>
                      </a:endParaRPr>
                    </a:p>
                  </a:txBody>
                  <a:tcPr marL="68580" marR="68580" marT="0" marB="0"/>
                </a:tc>
                <a:tc hMerge="1">
                  <a:txBody>
                    <a:bodyPr/>
                    <a:lstStyle/>
                    <a:p>
                      <a:endParaRPr lang="ru-RU"/>
                    </a:p>
                  </a:txBody>
                  <a:tcPr/>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С</a:t>
                      </a:r>
                      <a:endParaRPr lang="ru-RU" sz="1200" b="1">
                        <a:effectLst/>
                        <a:latin typeface="Times New Roman" pitchFamily="18" charset="0"/>
                        <a:ea typeface="Times New Roman"/>
                        <a:cs typeface="Times New Roman" pitchFamily="18" charset="0"/>
                      </a:endParaRPr>
                    </a:p>
                  </a:txBody>
                  <a:tcPr marL="68580" marR="68580" marT="0" marB="0"/>
                </a:tc>
                <a:tc gridSpan="2">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{k(t)} </a:t>
                      </a:r>
                      <a:r>
                        <a:rPr lang="en-US" sz="1200" b="1">
                          <a:effectLst/>
                          <a:latin typeface="Times New Roman" pitchFamily="18" charset="0"/>
                          <a:cs typeface="Times New Roman" pitchFamily="18" charset="0"/>
                        </a:rPr>
                        <a:t>= </a:t>
                      </a:r>
                      <a:r>
                        <a:rPr lang="uz-Cyrl-UZ" sz="1200" b="1">
                          <a:effectLst/>
                          <a:latin typeface="Times New Roman" pitchFamily="18" charset="0"/>
                          <a:cs typeface="Times New Roman" pitchFamily="18" charset="0"/>
                        </a:rPr>
                        <a:t> 0111111010</a:t>
                      </a:r>
                      <a:endParaRPr lang="ru-RU" sz="1200" b="1">
                        <a:effectLst/>
                        <a:latin typeface="Times New Roman" pitchFamily="18" charset="0"/>
                        <a:ea typeface="Times New Roman"/>
                        <a:cs typeface="Times New Roman" pitchFamily="18" charset="0"/>
                      </a:endParaRPr>
                    </a:p>
                  </a:txBody>
                  <a:tcPr marL="68580" marR="68580" marT="0" marB="0"/>
                </a:tc>
                <a:tc hMerge="1">
                  <a:txBody>
                    <a:bodyPr/>
                    <a:lstStyle/>
                    <a:p>
                      <a:endParaRPr lang="ru-RU"/>
                    </a:p>
                  </a:txBody>
                  <a:tcPr/>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С</a:t>
                      </a:r>
                      <a:endParaRPr lang="ru-RU" sz="1200" b="1">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0011101001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0,6</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0010111001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0,6</a:t>
                      </a:r>
                      <a:endParaRPr lang="ru-RU" sz="1200" b="1">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(011)</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0111010011</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0,7</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(010)</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0101110010</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a:t>
                      </a:r>
                      <a:r>
                        <a:rPr lang="en-US" sz="1200" b="1" dirty="0">
                          <a:solidFill>
                            <a:srgbClr val="FF0000"/>
                          </a:solidFill>
                          <a:effectLst/>
                          <a:latin typeface="Times New Roman" pitchFamily="18" charset="0"/>
                          <a:cs typeface="Times New Roman" pitchFamily="18" charset="0"/>
                        </a:rPr>
                        <a:t>8</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1110100111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0,4</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1011100101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a:t>
                      </a:r>
                      <a:r>
                        <a:rPr lang="en-US" sz="1200" b="1">
                          <a:effectLst/>
                          <a:latin typeface="Times New Roman" pitchFamily="18" charset="0"/>
                          <a:cs typeface="Times New Roman" pitchFamily="18" charset="0"/>
                        </a:rPr>
                        <a:t>3</a:t>
                      </a:r>
                      <a:endParaRPr lang="ru-RU" sz="1200" b="1">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1101001110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a:effectLst/>
                          <a:latin typeface="Times New Roman" pitchFamily="18" charset="0"/>
                          <a:cs typeface="Times New Roman" pitchFamily="18" charset="0"/>
                        </a:rPr>
                        <a:t>0,5</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(011)</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0111001011</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dirty="0">
                          <a:solidFill>
                            <a:srgbClr val="FF0000"/>
                          </a:solidFill>
                          <a:effectLst/>
                          <a:latin typeface="Times New Roman" pitchFamily="18" charset="0"/>
                          <a:cs typeface="Times New Roman" pitchFamily="18" charset="0"/>
                        </a:rPr>
                        <a:t>0,7</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1010011101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a:effectLst/>
                          <a:latin typeface="Times New Roman" pitchFamily="18" charset="0"/>
                          <a:cs typeface="Times New Roman" pitchFamily="18" charset="0"/>
                        </a:rPr>
                        <a:t>0,3</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1110010111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a:effectLst/>
                          <a:latin typeface="Times New Roman" pitchFamily="18" charset="0"/>
                          <a:cs typeface="Times New Roman" pitchFamily="18" charset="0"/>
                        </a:rPr>
                        <a:t>0,4</a:t>
                      </a:r>
                      <a:endParaRPr lang="ru-RU" sz="1200" b="1">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(010)</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0100111010</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dirty="0">
                          <a:solidFill>
                            <a:srgbClr val="FF0000"/>
                          </a:solidFill>
                          <a:effectLst/>
                          <a:latin typeface="Times New Roman" pitchFamily="18" charset="0"/>
                          <a:cs typeface="Times New Roman" pitchFamily="18" charset="0"/>
                        </a:rPr>
                        <a:t>0,8</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1100101110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a:effectLst/>
                          <a:latin typeface="Times New Roman" pitchFamily="18" charset="0"/>
                          <a:cs typeface="Times New Roman" pitchFamily="18" charset="0"/>
                        </a:rPr>
                        <a:t>0,5</a:t>
                      </a:r>
                      <a:endParaRPr lang="ru-RU" sz="1200" b="1">
                        <a:effectLst/>
                        <a:latin typeface="Times New Roman" pitchFamily="18" charset="0"/>
                        <a:ea typeface="Times New Roman"/>
                        <a:cs typeface="Times New Roman" pitchFamily="18" charset="0"/>
                      </a:endParaRPr>
                    </a:p>
                  </a:txBody>
                  <a:tcPr marL="68580" marR="68580" marT="0" marB="0"/>
                </a:tc>
              </a:tr>
              <a:tr h="288032">
                <a:tc>
                  <a:txBody>
                    <a:bodyPr/>
                    <a:lstStyle/>
                    <a:p>
                      <a:pPr algn="ctr">
                        <a:lnSpc>
                          <a:spcPct val="150000"/>
                        </a:lnSpc>
                        <a:spcBef>
                          <a:spcPts val="200"/>
                        </a:spcBef>
                        <a:spcAft>
                          <a:spcPts val="200"/>
                        </a:spcAft>
                      </a:pPr>
                      <a:r>
                        <a:rPr lang="uz-Cyrl-UZ" sz="1200" b="1" dirty="0">
                          <a:effectLst/>
                          <a:latin typeface="Times New Roman" pitchFamily="18" charset="0"/>
                          <a:cs typeface="Times New Roman" pitchFamily="18" charset="0"/>
                        </a:rPr>
                        <a:t>(100)</a:t>
                      </a:r>
                      <a:endParaRPr lang="ru-RU" sz="12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1001110100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a:effectLst/>
                          <a:latin typeface="Times New Roman" pitchFamily="18" charset="0"/>
                          <a:cs typeface="Times New Roman" pitchFamily="18" charset="0"/>
                        </a:rPr>
                        <a:t>0,4</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1001011100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200"/>
                        </a:spcBef>
                        <a:spcAft>
                          <a:spcPts val="200"/>
                        </a:spcAft>
                      </a:pPr>
                      <a:r>
                        <a:rPr lang="en-US" sz="1200" b="1" dirty="0">
                          <a:effectLst/>
                          <a:latin typeface="Times New Roman" pitchFamily="18" charset="0"/>
                          <a:cs typeface="Times New Roman" pitchFamily="18" charset="0"/>
                        </a:rPr>
                        <a:t>0,4</a:t>
                      </a:r>
                      <a:endParaRPr lang="ru-RU" sz="1200" b="1" dirty="0">
                        <a:effectLst/>
                        <a:latin typeface="Times New Roman" pitchFamily="18" charset="0"/>
                        <a:ea typeface="Times New Roman"/>
                        <a:cs typeface="Times New Roman" pitchFamily="18" charset="0"/>
                      </a:endParaRPr>
                    </a:p>
                  </a:txBody>
                  <a:tcPr marL="68580" marR="68580" marT="0" marB="0"/>
                </a:tc>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638182234"/>
              </p:ext>
            </p:extLst>
          </p:nvPr>
        </p:nvGraphicFramePr>
        <p:xfrm>
          <a:off x="1377707" y="3861048"/>
          <a:ext cx="6578669" cy="2762720"/>
        </p:xfrm>
        <a:graphic>
          <a:graphicData uri="http://schemas.openxmlformats.org/drawingml/2006/table">
            <a:tbl>
              <a:tblPr firstRow="1" firstCol="1" bandRow="1">
                <a:tableStyleId>{69CF1AB2-1976-4502-BF36-3FF5EA218861}</a:tableStyleId>
              </a:tblPr>
              <a:tblGrid>
                <a:gridCol w="934203"/>
                <a:gridCol w="1051466"/>
                <a:gridCol w="2296500"/>
                <a:gridCol w="2296500"/>
              </a:tblGrid>
              <a:tr h="403187">
                <a:tc>
                  <a:txBody>
                    <a:bodyPr/>
                    <a:lstStyle/>
                    <a:p>
                      <a:pPr algn="ctr">
                        <a:lnSpc>
                          <a:spcPct val="100000"/>
                        </a:lnSpc>
                        <a:spcAft>
                          <a:spcPts val="0"/>
                        </a:spcAft>
                      </a:pPr>
                      <a:r>
                        <a:rPr lang="uz-Cyrl-UZ" sz="1200" b="1" dirty="0" smtClean="0">
                          <a:effectLst/>
                          <a:latin typeface="Times New Roman" pitchFamily="18" charset="0"/>
                          <a:cs typeface="Times New Roman" pitchFamily="18" charset="0"/>
                        </a:rPr>
                        <a:t>Бошланғич ҳолатлар</a:t>
                      </a:r>
                      <a:endParaRPr lang="ru-RU" sz="12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Aft>
                          <a:spcPts val="0"/>
                        </a:spcAft>
                      </a:pPr>
                      <a:r>
                        <a:rPr lang="en-US" sz="1200" b="1" dirty="0">
                          <a:effectLst/>
                          <a:latin typeface="Times New Roman" pitchFamily="18" charset="0"/>
                          <a:cs typeface="Times New Roman" pitchFamily="18" charset="0"/>
                        </a:rPr>
                        <a:t>LFSR–2</a:t>
                      </a:r>
                      <a:endParaRPr lang="ru-RU" sz="1200" b="1" dirty="0">
                        <a:effectLst/>
                        <a:latin typeface="Times New Roman" pitchFamily="18" charset="0"/>
                        <a:cs typeface="Times New Roman" pitchFamily="18" charset="0"/>
                      </a:endParaRPr>
                    </a:p>
                    <a:p>
                      <a:pPr algn="ctr">
                        <a:lnSpc>
                          <a:spcPct val="100000"/>
                        </a:lnSpc>
                        <a:spcAft>
                          <a:spcPts val="0"/>
                        </a:spcAft>
                      </a:pPr>
                      <a:r>
                        <a:rPr lang="uz-Cyrl-UZ" sz="1200" b="1" dirty="0">
                          <a:effectLst/>
                          <a:latin typeface="Times New Roman" pitchFamily="18" charset="0"/>
                          <a:cs typeface="Times New Roman" pitchFamily="18" charset="0"/>
                        </a:rPr>
                        <a:t>чиқиши</a:t>
                      </a:r>
                      <a:endParaRPr lang="ru-RU" sz="1200" b="1" dirty="0">
                        <a:effectLst/>
                        <a:latin typeface="Times New Roman" pitchFamily="18" charset="0"/>
                        <a:ea typeface="Times New Roman"/>
                        <a:cs typeface="Times New Roman" pitchFamily="18" charset="0"/>
                      </a:endParaRPr>
                    </a:p>
                  </a:txBody>
                  <a:tcPr marL="68580" marR="68580" marT="0" marB="0"/>
                </a:tc>
                <a:tc gridSpan="2">
                  <a:txBody>
                    <a:bodyPr/>
                    <a:lstStyle/>
                    <a:p>
                      <a:pPr algn="ctr">
                        <a:lnSpc>
                          <a:spcPct val="115000"/>
                        </a:lnSpc>
                        <a:spcAft>
                          <a:spcPts val="0"/>
                        </a:spcAft>
                      </a:pPr>
                      <a:r>
                        <a:rPr lang="uz-Cyrl-UZ" sz="1200" b="1" dirty="0">
                          <a:effectLst/>
                          <a:latin typeface="Times New Roman" pitchFamily="18" charset="0"/>
                          <a:cs typeface="Times New Roman" pitchFamily="18" charset="0"/>
                        </a:rPr>
                        <a:t>1 – ва 3 – регистрларнинг чиқишлари ва k(t) гамма орқали          2 – регистрнинг чиқишларини аниқлаш</a:t>
                      </a:r>
                      <a:endParaRPr lang="ru-RU" sz="1200" b="1" dirty="0">
                        <a:effectLst/>
                        <a:latin typeface="Times New Roman" pitchFamily="18" charset="0"/>
                        <a:ea typeface="Times New Roman"/>
                        <a:cs typeface="Times New Roman" pitchFamily="18" charset="0"/>
                      </a:endParaRPr>
                    </a:p>
                  </a:txBody>
                  <a:tcPr marL="68580" marR="68580" marT="0" marB="0"/>
                </a:tc>
                <a:tc hMerge="1">
                  <a:txBody>
                    <a:bodyPr/>
                    <a:lstStyle/>
                    <a:p>
                      <a:endParaRPr lang="ru-RU"/>
                    </a:p>
                  </a:txBody>
                  <a:tcPr/>
                </a:tc>
              </a:tr>
              <a:tr h="262948">
                <a:tc>
                  <a:txBody>
                    <a:bodyPr/>
                    <a:lstStyle/>
                    <a:p>
                      <a:pPr algn="ctr">
                        <a:lnSpc>
                          <a:spcPct val="150000"/>
                        </a:lnSpc>
                        <a:spcBef>
                          <a:spcPts val="200"/>
                        </a:spcBef>
                        <a:spcAft>
                          <a:spcPts val="200"/>
                        </a:spcAft>
                      </a:pPr>
                      <a:r>
                        <a:rPr lang="uz-Cyrl-UZ" sz="1200" b="1" dirty="0">
                          <a:effectLst/>
                          <a:latin typeface="Times New Roman" pitchFamily="18" charset="0"/>
                          <a:cs typeface="Times New Roman" pitchFamily="18" charset="0"/>
                        </a:rPr>
                        <a:t>(001)</a:t>
                      </a:r>
                      <a:endParaRPr lang="ru-RU" sz="1200" b="1" dirty="0">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smtClean="0">
                          <a:effectLst/>
                          <a:latin typeface="Times New Roman" pitchFamily="18" charset="0"/>
                          <a:cs typeface="Times New Roman" pitchFamily="18" charset="0"/>
                        </a:rPr>
                        <a:t>0011001100</a:t>
                      </a:r>
                      <a:endParaRPr lang="ru-RU" sz="1200" b="1">
                        <a:effectLst/>
                        <a:latin typeface="Times New Roman" pitchFamily="18" charset="0"/>
                        <a:ea typeface="Times New Roman"/>
                        <a:cs typeface="Times New Roman" pitchFamily="18" charset="0"/>
                      </a:endParaRPr>
                    </a:p>
                  </a:txBody>
                  <a:tcPr marL="68580" marR="68580" marT="0" marB="0"/>
                </a:tc>
                <a:tc rowSpan="4">
                  <a:txBody>
                    <a:bodyPr/>
                    <a:lstStyle/>
                    <a:p>
                      <a:pPr algn="l">
                        <a:lnSpc>
                          <a:spcPct val="150000"/>
                        </a:lnSpc>
                        <a:spcBef>
                          <a:spcPts val="200"/>
                        </a:spcBef>
                        <a:spcAft>
                          <a:spcPts val="200"/>
                        </a:spcAft>
                      </a:pPr>
                      <a:r>
                        <a:rPr lang="uz-Cyrl-UZ" sz="1200" b="1" dirty="0">
                          <a:effectLst/>
                          <a:latin typeface="Times New Roman" pitchFamily="18" charset="0"/>
                          <a:cs typeface="Times New Roman" pitchFamily="18" charset="0"/>
                        </a:rPr>
                        <a:t>0111111010 = {k(t)}</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effectLst/>
                          <a:latin typeface="Times New Roman" pitchFamily="18" charset="0"/>
                          <a:cs typeface="Times New Roman" pitchFamily="18" charset="0"/>
                        </a:rPr>
                        <a:t>011101</a:t>
                      </a:r>
                      <a:r>
                        <a:rPr lang="uz-Cyrl-UZ" sz="1200" b="1" dirty="0">
                          <a:solidFill>
                            <a:srgbClr val="FF0000"/>
                          </a:solidFill>
                          <a:effectLst/>
                          <a:latin typeface="Times New Roman" pitchFamily="18" charset="0"/>
                          <a:cs typeface="Times New Roman" pitchFamily="18" charset="0"/>
                        </a:rPr>
                        <a:t>0</a:t>
                      </a:r>
                      <a:r>
                        <a:rPr lang="uz-Cyrl-UZ" sz="1200" b="1" dirty="0">
                          <a:effectLst/>
                          <a:latin typeface="Times New Roman" pitchFamily="18" charset="0"/>
                          <a:cs typeface="Times New Roman" pitchFamily="18" charset="0"/>
                        </a:rPr>
                        <a:t>011 – LFSR–1 чиқиши</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effectLst/>
                          <a:latin typeface="Times New Roman" pitchFamily="18" charset="0"/>
                          <a:cs typeface="Times New Roman" pitchFamily="18" charset="0"/>
                        </a:rPr>
                        <a:t>010111</a:t>
                      </a:r>
                      <a:r>
                        <a:rPr lang="uz-Cyrl-UZ" sz="1200" b="1" dirty="0">
                          <a:solidFill>
                            <a:srgbClr val="FF0000"/>
                          </a:solidFill>
                          <a:effectLst/>
                          <a:latin typeface="Times New Roman" pitchFamily="18" charset="0"/>
                          <a:cs typeface="Times New Roman" pitchFamily="18" charset="0"/>
                        </a:rPr>
                        <a:t>0</a:t>
                      </a:r>
                      <a:r>
                        <a:rPr lang="uz-Cyrl-UZ" sz="1200" b="1" dirty="0">
                          <a:effectLst/>
                          <a:latin typeface="Times New Roman" pitchFamily="18" charset="0"/>
                          <a:cs typeface="Times New Roman" pitchFamily="18" charset="0"/>
                        </a:rPr>
                        <a:t>010 – LFSR–3 чиқиши</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effectLst/>
                          <a:latin typeface="Times New Roman" pitchFamily="18" charset="0"/>
                          <a:cs typeface="Times New Roman" pitchFamily="18" charset="0"/>
                        </a:rPr>
                        <a:t>**</a:t>
                      </a:r>
                      <a:r>
                        <a:rPr lang="uz-Cyrl-UZ" sz="1200" b="1" dirty="0">
                          <a:effectLst/>
                          <a:latin typeface="Times New Roman" pitchFamily="18" charset="0"/>
                          <a:cs typeface="Times New Roman" pitchFamily="18" charset="0"/>
                        </a:rPr>
                        <a:t>1*0*?**0 </a:t>
                      </a:r>
                      <a:r>
                        <a:rPr lang="en-US" sz="1200" b="1" dirty="0">
                          <a:effectLst/>
                          <a:latin typeface="Times New Roman" pitchFamily="18" charset="0"/>
                          <a:cs typeface="Times New Roman" pitchFamily="18" charset="0"/>
                        </a:rPr>
                        <a:t>– LFSR–</a:t>
                      </a:r>
                      <a:r>
                        <a:rPr lang="uz-Cyrl-UZ" sz="1200" b="1" dirty="0">
                          <a:effectLst/>
                          <a:latin typeface="Times New Roman" pitchFamily="18" charset="0"/>
                          <a:cs typeface="Times New Roman" pitchFamily="18" charset="0"/>
                        </a:rPr>
                        <a:t>2 чиқиши</a:t>
                      </a:r>
                      <a:endParaRPr lang="ru-RU" sz="1200" b="1" dirty="0">
                        <a:effectLst/>
                        <a:latin typeface="Times New Roman" pitchFamily="18" charset="0"/>
                        <a:ea typeface="Times New Roman"/>
                        <a:cs typeface="Times New Roman" pitchFamily="18" charset="0"/>
                      </a:endParaRPr>
                    </a:p>
                  </a:txBody>
                  <a:tcPr marL="68580" marR="68580" marT="0" marB="0"/>
                </a:tc>
                <a:tc rowSpan="4">
                  <a:txBody>
                    <a:bodyPr/>
                    <a:lstStyle/>
                    <a:p>
                      <a:pPr algn="l">
                        <a:lnSpc>
                          <a:spcPct val="150000"/>
                        </a:lnSpc>
                        <a:spcBef>
                          <a:spcPts val="200"/>
                        </a:spcBef>
                        <a:spcAft>
                          <a:spcPts val="200"/>
                        </a:spcAft>
                      </a:pPr>
                      <a:r>
                        <a:rPr lang="uz-Cyrl-UZ" sz="1200" b="1" dirty="0">
                          <a:effectLst/>
                          <a:latin typeface="Times New Roman" pitchFamily="18" charset="0"/>
                          <a:cs typeface="Times New Roman" pitchFamily="18" charset="0"/>
                        </a:rPr>
                        <a:t>0111111010 = {k(t)}</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effectLst/>
                          <a:latin typeface="Times New Roman" pitchFamily="18" charset="0"/>
                          <a:cs typeface="Times New Roman" pitchFamily="18" charset="0"/>
                        </a:rPr>
                        <a:t>0111</a:t>
                      </a:r>
                      <a:r>
                        <a:rPr lang="uz-Cyrl-UZ" sz="1200" b="1" dirty="0">
                          <a:solidFill>
                            <a:srgbClr val="FF0000"/>
                          </a:solidFill>
                          <a:effectLst/>
                          <a:latin typeface="Times New Roman" pitchFamily="18" charset="0"/>
                          <a:cs typeface="Times New Roman" pitchFamily="18" charset="0"/>
                        </a:rPr>
                        <a:t>0</a:t>
                      </a:r>
                      <a:r>
                        <a:rPr lang="uz-Cyrl-UZ" sz="1200" b="1" dirty="0">
                          <a:effectLst/>
                          <a:latin typeface="Times New Roman" pitchFamily="18" charset="0"/>
                          <a:cs typeface="Times New Roman" pitchFamily="18" charset="0"/>
                        </a:rPr>
                        <a:t>1001</a:t>
                      </a:r>
                      <a:r>
                        <a:rPr lang="uz-Cyrl-UZ" sz="1200" b="1" dirty="0">
                          <a:solidFill>
                            <a:srgbClr val="FF0000"/>
                          </a:solidFill>
                          <a:effectLst/>
                          <a:latin typeface="Times New Roman" pitchFamily="18" charset="0"/>
                          <a:cs typeface="Times New Roman" pitchFamily="18" charset="0"/>
                        </a:rPr>
                        <a:t>1</a:t>
                      </a:r>
                      <a:r>
                        <a:rPr lang="uz-Cyrl-UZ" sz="1200" b="1" dirty="0">
                          <a:effectLst/>
                          <a:latin typeface="Times New Roman" pitchFamily="18" charset="0"/>
                          <a:cs typeface="Times New Roman" pitchFamily="18" charset="0"/>
                        </a:rPr>
                        <a:t> – LFSR–1 чиқиши</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effectLst/>
                          <a:latin typeface="Times New Roman" pitchFamily="18" charset="0"/>
                          <a:cs typeface="Times New Roman" pitchFamily="18" charset="0"/>
                        </a:rPr>
                        <a:t>0111</a:t>
                      </a:r>
                      <a:r>
                        <a:rPr lang="uz-Cyrl-UZ" sz="1200" b="1" dirty="0">
                          <a:solidFill>
                            <a:srgbClr val="FF0000"/>
                          </a:solidFill>
                          <a:effectLst/>
                          <a:latin typeface="Times New Roman" pitchFamily="18" charset="0"/>
                          <a:cs typeface="Times New Roman" pitchFamily="18" charset="0"/>
                        </a:rPr>
                        <a:t>0</a:t>
                      </a:r>
                      <a:r>
                        <a:rPr lang="uz-Cyrl-UZ" sz="1200" b="1" dirty="0">
                          <a:effectLst/>
                          <a:latin typeface="Times New Roman" pitchFamily="18" charset="0"/>
                          <a:cs typeface="Times New Roman" pitchFamily="18" charset="0"/>
                        </a:rPr>
                        <a:t>0101</a:t>
                      </a:r>
                      <a:r>
                        <a:rPr lang="uz-Cyrl-UZ" sz="1200" b="1" dirty="0">
                          <a:solidFill>
                            <a:srgbClr val="FF0000"/>
                          </a:solidFill>
                          <a:effectLst/>
                          <a:latin typeface="Times New Roman" pitchFamily="18" charset="0"/>
                          <a:cs typeface="Times New Roman" pitchFamily="18" charset="0"/>
                        </a:rPr>
                        <a:t>1</a:t>
                      </a:r>
                      <a:r>
                        <a:rPr lang="uz-Cyrl-UZ" sz="1200" b="1" dirty="0">
                          <a:effectLst/>
                          <a:latin typeface="Times New Roman" pitchFamily="18" charset="0"/>
                          <a:cs typeface="Times New Roman" pitchFamily="18" charset="0"/>
                        </a:rPr>
                        <a:t> – LFSR–3 чиқиши</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effectLst/>
                          <a:latin typeface="Times New Roman" pitchFamily="18" charset="0"/>
                          <a:cs typeface="Times New Roman" pitchFamily="18" charset="0"/>
                        </a:rPr>
                        <a:t>****?</a:t>
                      </a:r>
                      <a:r>
                        <a:rPr lang="uz-Cyrl-UZ" sz="1200" b="1" dirty="0">
                          <a:effectLst/>
                          <a:latin typeface="Times New Roman" pitchFamily="18" charset="0"/>
                          <a:cs typeface="Times New Roman" pitchFamily="18" charset="0"/>
                        </a:rPr>
                        <a:t>10**? </a:t>
                      </a:r>
                      <a:r>
                        <a:rPr lang="en-US" sz="1200" b="1" dirty="0">
                          <a:effectLst/>
                          <a:latin typeface="Times New Roman" pitchFamily="18" charset="0"/>
                          <a:cs typeface="Times New Roman" pitchFamily="18" charset="0"/>
                        </a:rPr>
                        <a:t>– LFSR–</a:t>
                      </a:r>
                      <a:r>
                        <a:rPr lang="uz-Cyrl-UZ" sz="1200" b="1" dirty="0">
                          <a:effectLst/>
                          <a:latin typeface="Times New Roman" pitchFamily="18" charset="0"/>
                          <a:cs typeface="Times New Roman" pitchFamily="18" charset="0"/>
                        </a:rPr>
                        <a:t>2 чиқиши</a:t>
                      </a:r>
                      <a:endParaRPr lang="ru-RU" sz="1200" b="1" dirty="0">
                        <a:effectLst/>
                        <a:latin typeface="Times New Roman" pitchFamily="18" charset="0"/>
                        <a:ea typeface="Times New Roman"/>
                        <a:cs typeface="Times New Roman" pitchFamily="18" charset="0"/>
                      </a:endParaRPr>
                    </a:p>
                  </a:txBody>
                  <a:tcPr marL="68580" marR="68580" marT="0" marB="0"/>
                </a:tc>
              </a:tr>
              <a:tr h="262948">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a:effectLst/>
                          <a:latin typeface="Times New Roman" pitchFamily="18" charset="0"/>
                          <a:cs typeface="Times New Roman" pitchFamily="18" charset="0"/>
                        </a:rPr>
                        <a:t>0110011001</a:t>
                      </a:r>
                      <a:endParaRPr lang="ru-RU" sz="1200" b="1">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r h="262948">
                <a:tc>
                  <a:txBody>
                    <a:bodyPr/>
                    <a:lstStyle/>
                    <a:p>
                      <a:pPr algn="ctr">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(110)</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dirty="0">
                          <a:solidFill>
                            <a:srgbClr val="FF0000"/>
                          </a:solidFill>
                          <a:effectLst/>
                          <a:latin typeface="Times New Roman" pitchFamily="18" charset="0"/>
                          <a:cs typeface="Times New Roman" pitchFamily="18" charset="0"/>
                        </a:rPr>
                        <a:t>1100110011</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r h="348088">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a:effectLst/>
                          <a:latin typeface="Times New Roman" pitchFamily="18" charset="0"/>
                          <a:cs typeface="Times New Roman" pitchFamily="18" charset="0"/>
                        </a:rPr>
                        <a:t>1001100110</a:t>
                      </a:r>
                      <a:endParaRPr lang="ru-RU" sz="1200" b="1">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r h="262948">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(010)</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a:effectLst/>
                          <a:latin typeface="Times New Roman" pitchFamily="18" charset="0"/>
                          <a:cs typeface="Times New Roman" pitchFamily="18" charset="0"/>
                        </a:rPr>
                        <a:t>0101010101</a:t>
                      </a:r>
                      <a:endParaRPr lang="ru-RU" sz="1200" b="1">
                        <a:effectLst/>
                        <a:latin typeface="Times New Roman" pitchFamily="18" charset="0"/>
                        <a:ea typeface="Times New Roman"/>
                        <a:cs typeface="Times New Roman" pitchFamily="18" charset="0"/>
                      </a:endParaRPr>
                    </a:p>
                  </a:txBody>
                  <a:tcPr marL="68580" marR="68580" marT="0" marB="0"/>
                </a:tc>
                <a:tc rowSpan="4">
                  <a:txBody>
                    <a:bodyPr/>
                    <a:lstStyle/>
                    <a:p>
                      <a:pPr algn="l">
                        <a:lnSpc>
                          <a:spcPct val="150000"/>
                        </a:lnSpc>
                        <a:spcBef>
                          <a:spcPts val="200"/>
                        </a:spcBef>
                        <a:spcAft>
                          <a:spcPts val="200"/>
                        </a:spcAft>
                      </a:pPr>
                      <a:r>
                        <a:rPr lang="uz-Cyrl-UZ" sz="1200" b="1" dirty="0">
                          <a:effectLst/>
                          <a:latin typeface="Times New Roman" pitchFamily="18" charset="0"/>
                          <a:cs typeface="Times New Roman" pitchFamily="18" charset="0"/>
                        </a:rPr>
                        <a:t>0111111010 = {k(t)}</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effectLst/>
                          <a:latin typeface="Times New Roman" pitchFamily="18" charset="0"/>
                          <a:cs typeface="Times New Roman" pitchFamily="18" charset="0"/>
                        </a:rPr>
                        <a:t>01</a:t>
                      </a:r>
                      <a:r>
                        <a:rPr lang="uz-Cyrl-UZ" sz="1200" b="1" dirty="0" smtClean="0">
                          <a:solidFill>
                            <a:srgbClr val="FF0000"/>
                          </a:solidFill>
                          <a:effectLst/>
                          <a:latin typeface="Times New Roman" pitchFamily="18" charset="0"/>
                          <a:cs typeface="Times New Roman" pitchFamily="18" charset="0"/>
                        </a:rPr>
                        <a:t>0</a:t>
                      </a:r>
                      <a:r>
                        <a:rPr lang="uz-Cyrl-UZ" sz="1200" b="1" dirty="0" smtClean="0">
                          <a:effectLst/>
                          <a:latin typeface="Times New Roman" pitchFamily="18" charset="0"/>
                          <a:cs typeface="Times New Roman" pitchFamily="18" charset="0"/>
                        </a:rPr>
                        <a:t>0111010 – LFSR–1 чиқиши</a:t>
                      </a:r>
                      <a:endParaRPr lang="ru-RU" sz="1200" b="1" dirty="0" smtClean="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effectLst/>
                          <a:latin typeface="Times New Roman" pitchFamily="18" charset="0"/>
                          <a:cs typeface="Times New Roman" pitchFamily="18" charset="0"/>
                        </a:rPr>
                        <a:t>01</a:t>
                      </a:r>
                      <a:r>
                        <a:rPr lang="uz-Cyrl-UZ" sz="1200" b="1" dirty="0" smtClean="0">
                          <a:solidFill>
                            <a:srgbClr val="FF0000"/>
                          </a:solidFill>
                          <a:effectLst/>
                          <a:latin typeface="Times New Roman" pitchFamily="18" charset="0"/>
                          <a:cs typeface="Times New Roman" pitchFamily="18" charset="0"/>
                        </a:rPr>
                        <a:t>0</a:t>
                      </a:r>
                      <a:r>
                        <a:rPr lang="uz-Cyrl-UZ" sz="1200" b="1" dirty="0" smtClean="0">
                          <a:effectLst/>
                          <a:latin typeface="Times New Roman" pitchFamily="18" charset="0"/>
                          <a:cs typeface="Times New Roman" pitchFamily="18" charset="0"/>
                        </a:rPr>
                        <a:t>1110010 </a:t>
                      </a:r>
                      <a:r>
                        <a:rPr lang="uz-Cyrl-UZ" sz="1200" b="1" dirty="0">
                          <a:effectLst/>
                          <a:latin typeface="Times New Roman" pitchFamily="18" charset="0"/>
                          <a:cs typeface="Times New Roman" pitchFamily="18" charset="0"/>
                        </a:rPr>
                        <a:t>– LFSR–3 чиқиши</a:t>
                      </a:r>
                      <a:endParaRPr lang="ru-RU" sz="1200" b="1" dirty="0">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effectLst/>
                          <a:latin typeface="Times New Roman" pitchFamily="18" charset="0"/>
                          <a:cs typeface="Times New Roman" pitchFamily="18" charset="0"/>
                        </a:rPr>
                        <a:t>**?</a:t>
                      </a:r>
                      <a:r>
                        <a:rPr lang="uz-Cyrl-UZ" sz="1200" b="1" dirty="0">
                          <a:effectLst/>
                          <a:latin typeface="Times New Roman" pitchFamily="18" charset="0"/>
                          <a:cs typeface="Times New Roman" pitchFamily="18" charset="0"/>
                        </a:rPr>
                        <a:t>0**1*** – LFSR–2 чиқиши</a:t>
                      </a:r>
                      <a:endParaRPr lang="ru-RU" sz="1200" b="1" dirty="0">
                        <a:effectLst/>
                        <a:latin typeface="Times New Roman" pitchFamily="18" charset="0"/>
                        <a:ea typeface="Times New Roman"/>
                        <a:cs typeface="Times New Roman" pitchFamily="18" charset="0"/>
                      </a:endParaRPr>
                    </a:p>
                  </a:txBody>
                  <a:tcPr marL="68580" marR="68580" marT="0" marB="0"/>
                </a:tc>
                <a:tc rowSpan="4">
                  <a:txBody>
                    <a:bodyPr/>
                    <a:lstStyle/>
                    <a:p>
                      <a:pPr algn="l">
                        <a:lnSpc>
                          <a:spcPct val="150000"/>
                        </a:lnSpc>
                        <a:spcBef>
                          <a:spcPts val="200"/>
                        </a:spcBef>
                        <a:spcAft>
                          <a:spcPts val="200"/>
                        </a:spcAft>
                      </a:pPr>
                      <a:r>
                        <a:rPr lang="uz-Cyrl-UZ" sz="1200" b="1" dirty="0">
                          <a:solidFill>
                            <a:schemeClr val="tx1"/>
                          </a:solidFill>
                          <a:effectLst/>
                          <a:latin typeface="Times New Roman" pitchFamily="18" charset="0"/>
                          <a:cs typeface="Times New Roman" pitchFamily="18" charset="0"/>
                        </a:rPr>
                        <a:t>0111111010 = {k(t)}</a:t>
                      </a:r>
                      <a:endParaRPr lang="ru-RU" sz="1200" b="1" dirty="0">
                        <a:solidFill>
                          <a:schemeClr val="tx1"/>
                        </a:solidFill>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solidFill>
                            <a:schemeClr val="tx1"/>
                          </a:solidFill>
                          <a:effectLst/>
                          <a:latin typeface="Times New Roman" pitchFamily="18" charset="0"/>
                          <a:cs typeface="Times New Roman" pitchFamily="18" charset="0"/>
                        </a:rPr>
                        <a:t>0100111010 – LFSR–1 чиқиши</a:t>
                      </a:r>
                      <a:endParaRPr lang="ru-RU" sz="1200" b="1" dirty="0">
                        <a:solidFill>
                          <a:schemeClr val="tx1"/>
                        </a:solidFill>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a:solidFill>
                            <a:schemeClr val="tx1"/>
                          </a:solidFill>
                          <a:effectLst/>
                          <a:latin typeface="Times New Roman" pitchFamily="18" charset="0"/>
                          <a:cs typeface="Times New Roman" pitchFamily="18" charset="0"/>
                        </a:rPr>
                        <a:t>0111001011 – LFSR–3 чиқиши</a:t>
                      </a:r>
                      <a:endParaRPr lang="ru-RU" sz="1200" b="1" dirty="0">
                        <a:solidFill>
                          <a:schemeClr val="tx1"/>
                        </a:solidFill>
                        <a:effectLst/>
                        <a:latin typeface="Times New Roman" pitchFamily="18" charset="0"/>
                        <a:cs typeface="Times New Roman" pitchFamily="18" charset="0"/>
                      </a:endParaRPr>
                    </a:p>
                    <a:p>
                      <a:pPr algn="l">
                        <a:lnSpc>
                          <a:spcPct val="115000"/>
                        </a:lnSpc>
                        <a:spcBef>
                          <a:spcPts val="200"/>
                        </a:spcBef>
                        <a:spcAft>
                          <a:spcPts val="200"/>
                        </a:spcAft>
                      </a:pPr>
                      <a:r>
                        <a:rPr lang="uz-Cyrl-UZ" sz="1200" b="1" dirty="0" smtClean="0">
                          <a:solidFill>
                            <a:srgbClr val="FF0000"/>
                          </a:solidFill>
                          <a:effectLst/>
                          <a:latin typeface="Times New Roman" pitchFamily="18" charset="0"/>
                          <a:cs typeface="Times New Roman" pitchFamily="18" charset="0"/>
                        </a:rPr>
                        <a:t>**</a:t>
                      </a:r>
                      <a:r>
                        <a:rPr lang="uz-Cyrl-UZ" sz="1200" b="1" dirty="0">
                          <a:solidFill>
                            <a:srgbClr val="FF0000"/>
                          </a:solidFill>
                          <a:effectLst/>
                          <a:latin typeface="Times New Roman" pitchFamily="18" charset="0"/>
                          <a:cs typeface="Times New Roman" pitchFamily="18" charset="0"/>
                        </a:rPr>
                        <a:t>0011***1– LFSR–2 чиқиши</a:t>
                      </a:r>
                      <a:endParaRPr lang="ru-RU" sz="1200" b="1" dirty="0">
                        <a:solidFill>
                          <a:srgbClr val="FF0000"/>
                        </a:solidFill>
                        <a:effectLst/>
                        <a:latin typeface="Times New Roman" pitchFamily="18" charset="0"/>
                        <a:ea typeface="Times New Roman"/>
                        <a:cs typeface="Times New Roman" pitchFamily="18" charset="0"/>
                      </a:endParaRPr>
                    </a:p>
                  </a:txBody>
                  <a:tcPr marL="68580" marR="68580" marT="0" marB="0"/>
                </a:tc>
              </a:tr>
              <a:tr h="262948">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(101)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a:effectLst/>
                          <a:latin typeface="Times New Roman" pitchFamily="18" charset="0"/>
                          <a:cs typeface="Times New Roman" pitchFamily="18" charset="0"/>
                        </a:rPr>
                        <a:t>1010101010</a:t>
                      </a:r>
                      <a:endParaRPr lang="ru-RU" sz="1200" b="1">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r h="262948">
                <a:tc>
                  <a:txBody>
                    <a:bodyPr/>
                    <a:lstStyle/>
                    <a:p>
                      <a:pPr algn="ctr">
                        <a:lnSpc>
                          <a:spcPct val="150000"/>
                        </a:lnSpc>
                        <a:spcBef>
                          <a:spcPts val="200"/>
                        </a:spcBef>
                        <a:spcAft>
                          <a:spcPts val="200"/>
                        </a:spcAft>
                      </a:pPr>
                      <a:r>
                        <a:rPr lang="uz-Cyrl-UZ" sz="1200" b="1">
                          <a:effectLst/>
                          <a:latin typeface="Times New Roman" pitchFamily="18" charset="0"/>
                          <a:cs typeface="Times New Roman" pitchFamily="18" charset="0"/>
                        </a:rPr>
                        <a:t>(111)</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Bef>
                          <a:spcPts val="200"/>
                        </a:spcBef>
                        <a:spcAft>
                          <a:spcPts val="200"/>
                        </a:spcAft>
                      </a:pPr>
                      <a:r>
                        <a:rPr lang="uz-Cyrl-UZ" sz="1200" b="1" dirty="0" smtClean="0">
                          <a:effectLst/>
                          <a:latin typeface="Times New Roman" pitchFamily="18" charset="0"/>
                          <a:cs typeface="Times New Roman" pitchFamily="18" charset="0"/>
                        </a:rPr>
                        <a:t>1111111111</a:t>
                      </a:r>
                      <a:endParaRPr lang="ru-RU" sz="1200" b="1" dirty="0">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r h="348088">
                <a:tc>
                  <a:txBody>
                    <a:bodyPr/>
                    <a:lstStyle/>
                    <a:p>
                      <a:pPr algn="ctr">
                        <a:lnSpc>
                          <a:spcPct val="150000"/>
                        </a:lnSpc>
                        <a:spcAft>
                          <a:spcPts val="0"/>
                        </a:spcAft>
                      </a:pPr>
                      <a:r>
                        <a:rPr lang="uz-Cyrl-UZ" sz="1200" b="1">
                          <a:effectLst/>
                          <a:latin typeface="Times New Roman" pitchFamily="18" charset="0"/>
                          <a:cs typeface="Times New Roman" pitchFamily="18" charset="0"/>
                        </a:rPr>
                        <a:t> </a:t>
                      </a:r>
                      <a:endParaRPr lang="ru-RU" sz="1200" b="1">
                        <a:effectLst/>
                        <a:latin typeface="Times New Roman" pitchFamily="18" charset="0"/>
                        <a:ea typeface="Times New Roman"/>
                        <a:cs typeface="Times New Roman" pitchFamily="18" charset="0"/>
                      </a:endParaRPr>
                    </a:p>
                  </a:txBody>
                  <a:tcPr marL="68580" marR="68580" marT="0" marB="0"/>
                </a:tc>
                <a:tc>
                  <a:txBody>
                    <a:bodyPr/>
                    <a:lstStyle/>
                    <a:p>
                      <a:pPr algn="just">
                        <a:lnSpc>
                          <a:spcPct val="150000"/>
                        </a:lnSpc>
                        <a:spcAft>
                          <a:spcPts val="0"/>
                        </a:spcAft>
                      </a:pPr>
                      <a:r>
                        <a:rPr lang="uz-Cyrl-UZ" sz="1200" b="1" dirty="0">
                          <a:effectLst/>
                          <a:latin typeface="Times New Roman" pitchFamily="18" charset="0"/>
                          <a:cs typeface="Times New Roman" pitchFamily="18" charset="0"/>
                        </a:rPr>
                        <a:t> </a:t>
                      </a:r>
                      <a:endParaRPr lang="ru-RU" sz="1200" b="1" dirty="0">
                        <a:effectLst/>
                        <a:latin typeface="Times New Roman" pitchFamily="18" charset="0"/>
                        <a:ea typeface="Times New Roman"/>
                        <a:cs typeface="Times New Roman" pitchFamily="18" charset="0"/>
                      </a:endParaRPr>
                    </a:p>
                  </a:txBody>
                  <a:tcPr marL="68580" marR="68580" marT="0" marB="0"/>
                </a:tc>
                <a:tc vMerge="1">
                  <a:txBody>
                    <a:bodyPr/>
                    <a:lstStyle/>
                    <a:p>
                      <a:endParaRPr lang="ru-RU"/>
                    </a:p>
                  </a:txBody>
                  <a:tcPr/>
                </a:tc>
                <a:tc vMerge="1">
                  <a:txBody>
                    <a:bodyPr/>
                    <a:lstStyle/>
                    <a:p>
                      <a:endParaRPr lang="ru-RU"/>
                    </a:p>
                  </a:txBody>
                  <a:tcPr/>
                </a:tc>
              </a:tr>
            </a:tbl>
          </a:graphicData>
        </a:graphic>
      </p:graphicFrame>
      <p:grpSp>
        <p:nvGrpSpPr>
          <p:cNvPr id="10" name="Группа 9"/>
          <p:cNvGrpSpPr/>
          <p:nvPr/>
        </p:nvGrpSpPr>
        <p:grpSpPr>
          <a:xfrm>
            <a:off x="2372421" y="1240474"/>
            <a:ext cx="1080120" cy="2160240"/>
            <a:chOff x="12790" y="4293096"/>
            <a:chExt cx="1080120" cy="2160240"/>
          </a:xfrm>
        </p:grpSpPr>
        <p:sp>
          <p:nvSpPr>
            <p:cNvPr id="56" name="Прямоугольник 55"/>
            <p:cNvSpPr/>
            <p:nvPr/>
          </p:nvSpPr>
          <p:spPr>
            <a:xfrm>
              <a:off x="12790" y="42930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0</a:t>
              </a:r>
              <a:endParaRPr lang="ru-RU" dirty="0">
                <a:solidFill>
                  <a:schemeClr val="tx1"/>
                </a:solidFill>
              </a:endParaRPr>
            </a:p>
          </p:txBody>
        </p:sp>
        <p:sp>
          <p:nvSpPr>
            <p:cNvPr id="57" name="Прямоугольник 56"/>
            <p:cNvSpPr/>
            <p:nvPr/>
          </p:nvSpPr>
          <p:spPr>
            <a:xfrm>
              <a:off x="372830" y="42930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a:t>
              </a:r>
              <a:endParaRPr lang="ru-RU" dirty="0">
                <a:solidFill>
                  <a:schemeClr val="tx1"/>
                </a:solidFill>
              </a:endParaRPr>
            </a:p>
          </p:txBody>
        </p:sp>
        <p:sp>
          <p:nvSpPr>
            <p:cNvPr id="58" name="Прямоугольник 57"/>
            <p:cNvSpPr/>
            <p:nvPr/>
          </p:nvSpPr>
          <p:spPr>
            <a:xfrm>
              <a:off x="732870" y="42930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0</a:t>
              </a:r>
              <a:endParaRPr lang="ru-RU" dirty="0">
                <a:solidFill>
                  <a:schemeClr val="tx1"/>
                </a:solidFill>
              </a:endParaRPr>
            </a:p>
          </p:txBody>
        </p:sp>
        <p:sp>
          <p:nvSpPr>
            <p:cNvPr id="68" name="Прямоугольник 67"/>
            <p:cNvSpPr/>
            <p:nvPr/>
          </p:nvSpPr>
          <p:spPr>
            <a:xfrm>
              <a:off x="12790" y="5235374"/>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a:t>
              </a:r>
              <a:endParaRPr lang="ru-RU" dirty="0">
                <a:solidFill>
                  <a:schemeClr val="tx1"/>
                </a:solidFill>
              </a:endParaRPr>
            </a:p>
          </p:txBody>
        </p:sp>
        <p:sp>
          <p:nvSpPr>
            <p:cNvPr id="71" name="Прямоугольник 70"/>
            <p:cNvSpPr/>
            <p:nvPr/>
          </p:nvSpPr>
          <p:spPr>
            <a:xfrm>
              <a:off x="372830" y="5235374"/>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a:t>
              </a:r>
              <a:endParaRPr lang="ru-RU" dirty="0">
                <a:solidFill>
                  <a:schemeClr val="tx1"/>
                </a:solidFill>
              </a:endParaRPr>
            </a:p>
          </p:txBody>
        </p:sp>
        <p:sp>
          <p:nvSpPr>
            <p:cNvPr id="72" name="Прямоугольник 71"/>
            <p:cNvSpPr/>
            <p:nvPr/>
          </p:nvSpPr>
          <p:spPr>
            <a:xfrm>
              <a:off x="732870" y="5227657"/>
              <a:ext cx="360040" cy="36775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0</a:t>
              </a:r>
              <a:endParaRPr lang="ru-RU" dirty="0">
                <a:solidFill>
                  <a:schemeClr val="tx1"/>
                </a:solidFill>
              </a:endParaRPr>
            </a:p>
          </p:txBody>
        </p:sp>
        <p:sp>
          <p:nvSpPr>
            <p:cNvPr id="75" name="Прямоугольник 74"/>
            <p:cNvSpPr/>
            <p:nvPr/>
          </p:nvSpPr>
          <p:spPr>
            <a:xfrm>
              <a:off x="12790" y="60932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0</a:t>
              </a:r>
              <a:endParaRPr lang="ru-RU" dirty="0">
                <a:solidFill>
                  <a:schemeClr val="tx1"/>
                </a:solidFill>
              </a:endParaRPr>
            </a:p>
          </p:txBody>
        </p:sp>
        <p:sp>
          <p:nvSpPr>
            <p:cNvPr id="78" name="Прямоугольник 77"/>
            <p:cNvSpPr/>
            <p:nvPr/>
          </p:nvSpPr>
          <p:spPr>
            <a:xfrm>
              <a:off x="372830" y="60932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a:t>
              </a:r>
              <a:endParaRPr lang="ru-RU" dirty="0">
                <a:solidFill>
                  <a:schemeClr val="tx1"/>
                </a:solidFill>
              </a:endParaRPr>
            </a:p>
          </p:txBody>
        </p:sp>
        <p:sp>
          <p:nvSpPr>
            <p:cNvPr id="79" name="Прямоугольник 78"/>
            <p:cNvSpPr/>
            <p:nvPr/>
          </p:nvSpPr>
          <p:spPr>
            <a:xfrm>
              <a:off x="732870" y="6093296"/>
              <a:ext cx="3600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a:t>
              </a:r>
              <a:endParaRPr lang="ru-RU" dirty="0">
                <a:solidFill>
                  <a:schemeClr val="tx1"/>
                </a:solidFill>
              </a:endParaRPr>
            </a:p>
          </p:txBody>
        </p:sp>
      </p:grpSp>
    </p:spTree>
    <p:extLst>
      <p:ext uri="{BB962C8B-B14F-4D97-AF65-F5344CB8AC3E}">
        <p14:creationId xmlns:p14="http://schemas.microsoft.com/office/powerpoint/2010/main" val="71177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barn(inVertical)">
                                      <p:cBhvr>
                                        <p:cTn id="11" dur="500"/>
                                        <p:tgtEl>
                                          <p:spTgt spid="83"/>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92"/>
                                        </p:tgtEl>
                                        <p:attrNameLst>
                                          <p:attrName>style.visibility</p:attrName>
                                        </p:attrNameLst>
                                      </p:cBhvr>
                                      <p:to>
                                        <p:strVal val="visible"/>
                                      </p:to>
                                    </p:set>
                                    <p:anim calcmode="lin" valueType="num">
                                      <p:cBhvr additive="base">
                                        <p:cTn id="15" dur="500" fill="hold"/>
                                        <p:tgtEl>
                                          <p:spTgt spid="92"/>
                                        </p:tgtEl>
                                        <p:attrNameLst>
                                          <p:attrName>ppt_x</p:attrName>
                                        </p:attrNameLst>
                                      </p:cBhvr>
                                      <p:tavLst>
                                        <p:tav tm="0">
                                          <p:val>
                                            <p:strVal val="#ppt_x"/>
                                          </p:val>
                                        </p:tav>
                                        <p:tav tm="100000">
                                          <p:val>
                                            <p:strVal val="#ppt_x"/>
                                          </p:val>
                                        </p:tav>
                                      </p:tavLst>
                                    </p:anim>
                                    <p:anim calcmode="lin" valueType="num">
                                      <p:cBhvr additive="base">
                                        <p:cTn id="16"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fade">
                                      <p:cBhvr>
                                        <p:cTn id="21" dur="1000"/>
                                        <p:tgtEl>
                                          <p:spTgt spid="125"/>
                                        </p:tgtEl>
                                      </p:cBhvr>
                                    </p:animEffect>
                                    <p:anim calcmode="lin" valueType="num">
                                      <p:cBhvr>
                                        <p:cTn id="22" dur="1000" fill="hold"/>
                                        <p:tgtEl>
                                          <p:spTgt spid="125"/>
                                        </p:tgtEl>
                                        <p:attrNameLst>
                                          <p:attrName>ppt_x</p:attrName>
                                        </p:attrNameLst>
                                      </p:cBhvr>
                                      <p:tavLst>
                                        <p:tav tm="0">
                                          <p:val>
                                            <p:strVal val="#ppt_x"/>
                                          </p:val>
                                        </p:tav>
                                        <p:tav tm="100000">
                                          <p:val>
                                            <p:strVal val="#ppt_x"/>
                                          </p:val>
                                        </p:tav>
                                      </p:tavLst>
                                    </p:anim>
                                    <p:anim calcmode="lin" valueType="num">
                                      <p:cBhvr>
                                        <p:cTn id="23" dur="1000" fill="hold"/>
                                        <p:tgtEl>
                                          <p:spTgt spid="12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nodeType="clickEffect">
                                  <p:stCondLst>
                                    <p:cond delay="0"/>
                                  </p:stCondLst>
                                  <p:childTnLst>
                                    <p:animEffect transition="out" filter="wipe(down)">
                                      <p:cBhvr>
                                        <p:cTn id="27" dur="500"/>
                                        <p:tgtEl>
                                          <p:spTgt spid="125"/>
                                        </p:tgtEl>
                                      </p:cBhvr>
                                    </p:animEffect>
                                    <p:set>
                                      <p:cBhvr>
                                        <p:cTn id="28" dur="1" fill="hold">
                                          <p:stCondLst>
                                            <p:cond delay="499"/>
                                          </p:stCondLst>
                                        </p:cTn>
                                        <p:tgtEl>
                                          <p:spTgt spid="125"/>
                                        </p:tgtEl>
                                        <p:attrNameLst>
                                          <p:attrName>style.visibility</p:attrName>
                                        </p:attrNameLst>
                                      </p:cBhvr>
                                      <p:to>
                                        <p:strVal val="hidden"/>
                                      </p:to>
                                    </p:set>
                                  </p:childTnLst>
                                </p:cTn>
                              </p:par>
                            </p:childTnLst>
                          </p:cTn>
                        </p:par>
                        <p:par>
                          <p:cTn id="29" fill="hold">
                            <p:stCondLst>
                              <p:cond delay="500"/>
                            </p:stCondLst>
                            <p:childTnLst>
                              <p:par>
                                <p:cTn id="30" presetID="42"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xit" presetSubtype="4" fill="hold" nodeType="clickEffect">
                                  <p:stCondLst>
                                    <p:cond delay="0"/>
                                  </p:stCondLst>
                                  <p:childTnLst>
                                    <p:animEffect transition="out" filter="wipe(down)">
                                      <p:cBhvr>
                                        <p:cTn id="38" dur="500"/>
                                        <p:tgtEl>
                                          <p:spTgt spid="5"/>
                                        </p:tgtEl>
                                      </p:cBhvr>
                                    </p:animEffect>
                                    <p:set>
                                      <p:cBhvr>
                                        <p:cTn id="39" dur="1" fill="hold">
                                          <p:stCondLst>
                                            <p:cond delay="499"/>
                                          </p:stCondLst>
                                        </p:cTn>
                                        <p:tgtEl>
                                          <p:spTgt spid="5"/>
                                        </p:tgtEl>
                                        <p:attrNameLst>
                                          <p:attrName>style.visibility</p:attrName>
                                        </p:attrNameLst>
                                      </p:cBhvr>
                                      <p:to>
                                        <p:strVal val="hidden"/>
                                      </p:to>
                                    </p:set>
                                  </p:childTnLst>
                                </p:cTn>
                              </p:par>
                            </p:childTnLst>
                          </p:cTn>
                        </p:par>
                        <p:par>
                          <p:cTn id="40" fill="hold">
                            <p:stCondLst>
                              <p:cond delay="500"/>
                            </p:stCondLst>
                            <p:childTnLst>
                              <p:par>
                                <p:cTn id="41" presetID="42" presetClass="entr" presetSubtype="0"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9512"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ый прямоугольник 9"/>
          <p:cNvSpPr/>
          <p:nvPr/>
        </p:nvSpPr>
        <p:spPr>
          <a:xfrm>
            <a:off x="827583" y="404664"/>
            <a:ext cx="7628550" cy="47373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a:solidFill>
                  <a:schemeClr val="tx1"/>
                </a:solidFill>
                <a:latin typeface="Times New Roman" pitchFamily="18" charset="0"/>
                <a:cs typeface="Times New Roman" pitchFamily="18" charset="0"/>
              </a:rPr>
              <a:t>Функцияларнинг корреляцион иммунистлик </a:t>
            </a:r>
            <a:r>
              <a:rPr lang="uz-Cyrl-UZ" b="1" dirty="0" smtClean="0">
                <a:solidFill>
                  <a:schemeClr val="tx1"/>
                </a:solidFill>
                <a:latin typeface="Times New Roman" pitchFamily="18" charset="0"/>
                <a:cs typeface="Times New Roman" pitchFamily="18" charset="0"/>
              </a:rPr>
              <a:t>хоссаси</a:t>
            </a:r>
            <a:endParaRPr lang="ru-RU" dirty="0">
              <a:solidFill>
                <a:schemeClr val="tx1"/>
              </a:solidFill>
              <a:latin typeface="Times New Roman" pitchFamily="18" charset="0"/>
              <a:cs typeface="Times New Roman" pitchFamily="18" charset="0"/>
            </a:endParaRPr>
          </a:p>
        </p:txBody>
      </p:sp>
      <p:grpSp>
        <p:nvGrpSpPr>
          <p:cNvPr id="3" name="Группа 2"/>
          <p:cNvGrpSpPr/>
          <p:nvPr/>
        </p:nvGrpSpPr>
        <p:grpSpPr>
          <a:xfrm>
            <a:off x="811144" y="1247813"/>
            <a:ext cx="7733089" cy="1965163"/>
            <a:chOff x="568230" y="3573016"/>
            <a:chExt cx="8147255" cy="2160240"/>
          </a:xfrm>
        </p:grpSpPr>
        <p:sp>
          <p:nvSpPr>
            <p:cNvPr id="53" name="Содержимое 2"/>
            <p:cNvSpPr txBox="1">
              <a:spLocks/>
            </p:cNvSpPr>
            <p:nvPr/>
          </p:nvSpPr>
          <p:spPr bwMode="auto">
            <a:xfrm>
              <a:off x="568230" y="3573016"/>
              <a:ext cx="8147255" cy="2160240"/>
            </a:xfrm>
            <a:prstGeom prst="foldedCorner">
              <a:avLst>
                <a:gd name="adj" fmla="val 14794"/>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ctr"/>
              <a:r>
                <a:rPr lang="uz-Cyrl-UZ" sz="2000" dirty="0"/>
                <a:t>	</a:t>
              </a:r>
              <a:endParaRPr lang="ru-RU" sz="2000" dirty="0"/>
            </a:p>
            <a:p>
              <a:pPr algn="ctr">
                <a:spcAft>
                  <a:spcPts val="600"/>
                </a:spcAft>
                <a:tabLst>
                  <a:tab pos="450850" algn="l"/>
                </a:tabLst>
              </a:pPr>
              <a:endParaRPr lang="uz-Cyrl-UZ" sz="2000" dirty="0" smtClean="0"/>
            </a:p>
            <a:p>
              <a:pPr algn="ctr">
                <a:spcAft>
                  <a:spcPts val="600"/>
                </a:spcAft>
                <a:tabLst>
                  <a:tab pos="450850" algn="l"/>
                </a:tabLst>
              </a:pPr>
              <a:endParaRPr lang="ru-RU" sz="2000" dirty="0">
                <a:latin typeface="Times New Roman" pitchFamily="18" charset="0"/>
                <a:cs typeface="Times New Roman" pitchFamily="18" charset="0"/>
              </a:endParaRPr>
            </a:p>
            <a:p>
              <a:pPr algn="ctr">
                <a:spcAft>
                  <a:spcPts val="600"/>
                </a:spcAft>
              </a:pPr>
              <a:endParaRPr lang="ru-RU" sz="2200" dirty="0">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209" y="3679688"/>
              <a:ext cx="7631356" cy="1946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2" name="Таблица 1"/>
          <p:cNvGraphicFramePr>
            <a:graphicFrameLocks noGrp="1"/>
          </p:cNvGraphicFramePr>
          <p:nvPr>
            <p:extLst>
              <p:ext uri="{D42A27DB-BD31-4B8C-83A1-F6EECF244321}">
                <p14:modId xmlns:p14="http://schemas.microsoft.com/office/powerpoint/2010/main" val="3563482167"/>
              </p:ext>
            </p:extLst>
          </p:nvPr>
        </p:nvGraphicFramePr>
        <p:xfrm>
          <a:off x="539552" y="3573016"/>
          <a:ext cx="8136904" cy="2304256"/>
        </p:xfrm>
        <a:graphic>
          <a:graphicData uri="http://schemas.openxmlformats.org/drawingml/2006/table">
            <a:tbl>
              <a:tblPr firstRow="1" bandRow="1">
                <a:tableStyleId>{69CF1AB2-1976-4502-BF36-3FF5EA218861}</a:tableStyleId>
              </a:tblPr>
              <a:tblGrid>
                <a:gridCol w="2304256"/>
                <a:gridCol w="1584176"/>
                <a:gridCol w="1728192"/>
                <a:gridCol w="2520280"/>
              </a:tblGrid>
              <a:tr h="900100">
                <a:tc>
                  <a:txBody>
                    <a:bodyPr/>
                    <a:lstStyle/>
                    <a:p>
                      <a:pPr algn="ctr"/>
                      <a:r>
                        <a:rPr lang="uz-Cyrl-UZ" b="1" dirty="0" smtClean="0">
                          <a:latin typeface="Times New Roman" pitchFamily="18" charset="0"/>
                          <a:cs typeface="Times New Roman" pitchFamily="18" charset="0"/>
                        </a:rPr>
                        <a:t>Функция</a:t>
                      </a:r>
                      <a:endParaRPr lang="ru-RU" b="1" dirty="0">
                        <a:latin typeface="Times New Roman" pitchFamily="18" charset="0"/>
                        <a:cs typeface="Times New Roman" pitchFamily="18" charset="0"/>
                      </a:endParaRPr>
                    </a:p>
                  </a:txBody>
                  <a:tcPr/>
                </a:tc>
                <a:tc>
                  <a:txBody>
                    <a:bodyPr/>
                    <a:lstStyle/>
                    <a:p>
                      <a:pPr algn="ctr"/>
                      <a:r>
                        <a:rPr lang="uz-Cyrl-UZ" b="1" dirty="0" smtClean="0">
                          <a:latin typeface="Times New Roman" pitchFamily="18" charset="0"/>
                          <a:cs typeface="Times New Roman" pitchFamily="18" charset="0"/>
                        </a:rPr>
                        <a:t>Чизиқсизлик даражаси</a:t>
                      </a:r>
                      <a:endParaRPr lang="ru-RU" b="1" dirty="0">
                        <a:latin typeface="Times New Roman" pitchFamily="18" charset="0"/>
                        <a:cs typeface="Times New Roman" pitchFamily="18" charset="0"/>
                      </a:endParaRPr>
                    </a:p>
                  </a:txBody>
                  <a:tcPr/>
                </a:tc>
                <a:tc>
                  <a:txBody>
                    <a:bodyPr/>
                    <a:lstStyle/>
                    <a:p>
                      <a:pPr algn="ctr"/>
                      <a:r>
                        <a:rPr lang="uz-Cyrl-UZ" b="1" dirty="0" smtClean="0">
                          <a:latin typeface="Times New Roman" pitchFamily="18" charset="0"/>
                          <a:cs typeface="Times New Roman" pitchFamily="18" charset="0"/>
                        </a:rPr>
                        <a:t>Корреляцион иммунистлик даражаси</a:t>
                      </a:r>
                      <a:endParaRPr lang="ru-RU" b="1" dirty="0">
                        <a:latin typeface="Times New Roman" pitchFamily="18" charset="0"/>
                        <a:cs typeface="Times New Roman" pitchFamily="18" charset="0"/>
                      </a:endParaRPr>
                    </a:p>
                  </a:txBody>
                  <a:tcPr/>
                </a:tc>
                <a:tc>
                  <a:txBody>
                    <a:bodyPr/>
                    <a:lstStyle/>
                    <a:p>
                      <a:pPr algn="ctr"/>
                      <a:r>
                        <a:rPr lang="uz-Cyrl-UZ" b="1" dirty="0" smtClean="0">
                          <a:latin typeface="Times New Roman" pitchFamily="18" charset="0"/>
                          <a:cs typeface="Times New Roman" pitchFamily="18" charset="0"/>
                        </a:rPr>
                        <a:t>Регистр чиқишларининг генератор чиқишига мослик эҳтимоллиги </a:t>
                      </a:r>
                      <a:endParaRPr lang="ru-RU" b="1" dirty="0">
                        <a:latin typeface="Times New Roman" pitchFamily="18" charset="0"/>
                        <a:cs typeface="Times New Roman" pitchFamily="18" charset="0"/>
                      </a:endParaRPr>
                    </a:p>
                  </a:txBody>
                  <a:tcPr/>
                </a:tc>
              </a:tr>
              <a:tr h="539472">
                <a:tc>
                  <a:txBody>
                    <a:bodyPr/>
                    <a:lstStyle/>
                    <a:p>
                      <a:pPr algn="ctr"/>
                      <a:r>
                        <a:rPr lang="uz-Cyrl-UZ" sz="2000" b="1" i="1" dirty="0" smtClean="0">
                          <a:latin typeface="Times New Roman" pitchFamily="18" charset="0"/>
                          <a:cs typeface="Times New Roman" pitchFamily="18" charset="0"/>
                        </a:rPr>
                        <a:t>f = x</a:t>
                      </a:r>
                      <a:r>
                        <a:rPr lang="uz-Cyrl-UZ" sz="2000" b="1" i="1" baseline="-25000" dirty="0" smtClean="0">
                          <a:latin typeface="Times New Roman" pitchFamily="18" charset="0"/>
                          <a:cs typeface="Times New Roman" pitchFamily="18" charset="0"/>
                        </a:rPr>
                        <a:t>1</a:t>
                      </a:r>
                      <a:r>
                        <a:rPr lang="uz-Cyrl-UZ" sz="1600" b="1" i="1" dirty="0" smtClean="0">
                          <a:latin typeface="Times New Roman" pitchFamily="18" charset="0"/>
                          <a:cs typeface="Times New Roman" pitchFamily="18" charset="0"/>
                        </a:rPr>
                        <a:t>⊕ </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2</a:t>
                      </a:r>
                      <a:r>
                        <a:rPr lang="uz-Cyrl-UZ" sz="1600" b="1" i="1" dirty="0" smtClean="0">
                          <a:latin typeface="Times New Roman" pitchFamily="18" charset="0"/>
                          <a:cs typeface="Times New Roman" pitchFamily="18" charset="0"/>
                        </a:rPr>
                        <a:t>⊕</a:t>
                      </a:r>
                      <a:r>
                        <a:rPr lang="uz-Cyrl-UZ" sz="2000" b="1" i="1" dirty="0" smtClean="0">
                          <a:latin typeface="Times New Roman" pitchFamily="18" charset="0"/>
                          <a:cs typeface="Times New Roman" pitchFamily="18" charset="0"/>
                        </a:rPr>
                        <a:t> x</a:t>
                      </a:r>
                      <a:r>
                        <a:rPr lang="uz-Cyrl-UZ" sz="2000" b="1" i="1" baseline="-25000" dirty="0" smtClean="0">
                          <a:latin typeface="Times New Roman" pitchFamily="18" charset="0"/>
                          <a:cs typeface="Times New Roman" pitchFamily="18" charset="0"/>
                        </a:rPr>
                        <a:t>3</a:t>
                      </a:r>
                      <a:endParaRPr lang="ru-RU" sz="2000" b="1" i="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0</a:t>
                      </a:r>
                      <a:endParaRPr lang="ru-RU" sz="2000" b="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2</a:t>
                      </a:r>
                      <a:endParaRPr lang="ru-RU" sz="2000" b="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1/2</a:t>
                      </a:r>
                      <a:endParaRPr lang="ru-RU" sz="2000" b="1" dirty="0">
                        <a:latin typeface="Times New Roman" pitchFamily="18" charset="0"/>
                        <a:cs typeface="Times New Roman" pitchFamily="18" charset="0"/>
                      </a:endParaRPr>
                    </a:p>
                  </a:txBody>
                  <a:tcPr/>
                </a:tc>
              </a:tr>
              <a:tr h="576064">
                <a:tc>
                  <a:txBody>
                    <a:bodyPr/>
                    <a:lstStyle/>
                    <a:p>
                      <a:pPr algn="ctr"/>
                      <a:r>
                        <a:rPr lang="uz-Cyrl-UZ" sz="2000" b="1" i="1" dirty="0" smtClean="0">
                          <a:latin typeface="Times New Roman" pitchFamily="18" charset="0"/>
                          <a:cs typeface="Times New Roman" pitchFamily="18" charset="0"/>
                        </a:rPr>
                        <a:t>f = x</a:t>
                      </a:r>
                      <a:r>
                        <a:rPr lang="uz-Cyrl-UZ" sz="2000" b="1" i="1" baseline="-25000" dirty="0" smtClean="0">
                          <a:latin typeface="Times New Roman" pitchFamily="18" charset="0"/>
                          <a:cs typeface="Times New Roman" pitchFamily="18" charset="0"/>
                        </a:rPr>
                        <a:t>1</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2</a:t>
                      </a:r>
                      <a:r>
                        <a:rPr lang="uz-Cyrl-UZ" sz="1600" b="1" i="1" dirty="0" smtClean="0">
                          <a:latin typeface="Times New Roman" pitchFamily="18" charset="0"/>
                          <a:cs typeface="Times New Roman" pitchFamily="18" charset="0"/>
                        </a:rPr>
                        <a:t>⊕ </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2</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3</a:t>
                      </a:r>
                      <a:r>
                        <a:rPr lang="uz-Cyrl-UZ" sz="1600" b="1" i="1" dirty="0" smtClean="0">
                          <a:latin typeface="Times New Roman" pitchFamily="18" charset="0"/>
                          <a:cs typeface="Times New Roman" pitchFamily="18" charset="0"/>
                        </a:rPr>
                        <a:t>⊕ </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1</a:t>
                      </a:r>
                      <a:r>
                        <a:rPr lang="uz-Cyrl-UZ" sz="2000" b="1" i="1" dirty="0" smtClean="0">
                          <a:latin typeface="Times New Roman" pitchFamily="18" charset="0"/>
                          <a:cs typeface="Times New Roman" pitchFamily="18" charset="0"/>
                        </a:rPr>
                        <a:t>x</a:t>
                      </a:r>
                      <a:r>
                        <a:rPr lang="uz-Cyrl-UZ" sz="2000" b="1" i="1" baseline="-25000" dirty="0" smtClean="0">
                          <a:latin typeface="Times New Roman" pitchFamily="18" charset="0"/>
                          <a:cs typeface="Times New Roman" pitchFamily="18" charset="0"/>
                        </a:rPr>
                        <a:t>3</a:t>
                      </a:r>
                      <a:endParaRPr lang="ru-RU" sz="2000" b="1" i="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2</a:t>
                      </a:r>
                      <a:endParaRPr lang="ru-RU" sz="2000" b="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0</a:t>
                      </a:r>
                      <a:endParaRPr lang="ru-RU" sz="2000" b="1" dirty="0">
                        <a:latin typeface="Times New Roman" pitchFamily="18" charset="0"/>
                        <a:cs typeface="Times New Roman" pitchFamily="18" charset="0"/>
                      </a:endParaRPr>
                    </a:p>
                  </a:txBody>
                  <a:tcPr/>
                </a:tc>
                <a:tc>
                  <a:txBody>
                    <a:bodyPr/>
                    <a:lstStyle/>
                    <a:p>
                      <a:pPr algn="ctr"/>
                      <a:r>
                        <a:rPr lang="uz-Cyrl-UZ" sz="2000" b="1" dirty="0" smtClean="0">
                          <a:latin typeface="Times New Roman" pitchFamily="18" charset="0"/>
                          <a:cs typeface="Times New Roman" pitchFamily="18" charset="0"/>
                        </a:rPr>
                        <a:t>3/4</a:t>
                      </a:r>
                      <a:endParaRPr lang="ru-RU" sz="2000" b="1"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355826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кругленный прямоугольник 25"/>
          <p:cNvSpPr/>
          <p:nvPr/>
        </p:nvSpPr>
        <p:spPr>
          <a:xfrm>
            <a:off x="805160" y="368660"/>
            <a:ext cx="7517067" cy="61206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b="1" dirty="0" smtClean="0">
                <a:solidFill>
                  <a:schemeClr val="tx1"/>
                </a:solidFill>
                <a:latin typeface="Times New Roman" pitchFamily="18" charset="0"/>
                <a:cs typeface="Times New Roman" pitchFamily="18" charset="0"/>
              </a:rPr>
              <a:t> </a:t>
            </a:r>
            <a:endParaRPr lang="en-US" b="1" dirty="0" smtClean="0">
              <a:solidFill>
                <a:schemeClr val="tx1"/>
              </a:solidFill>
              <a:latin typeface="Times New Roman" pitchFamily="18" charset="0"/>
              <a:cs typeface="Times New Roman" pitchFamily="18" charset="0"/>
            </a:endParaRPr>
          </a:p>
          <a:p>
            <a:pPr algn="ctr"/>
            <a:r>
              <a:rPr lang="uz-Cyrl-UZ" b="1" dirty="0" smtClean="0">
                <a:solidFill>
                  <a:schemeClr val="tx1"/>
                </a:solidFill>
                <a:latin typeface="Times New Roman" pitchFamily="18" charset="0"/>
                <a:cs typeface="Times New Roman" pitchFamily="18" charset="0"/>
              </a:rPr>
              <a:t>Комбинацияловчи генераторларга нисбатан корреляцион криптотаҳлил қадамлар кетма - кетлиги</a:t>
            </a:r>
            <a:endParaRPr lang="ru-RU" dirty="0">
              <a:solidFill>
                <a:schemeClr val="tx1"/>
              </a:solidFill>
              <a:latin typeface="Times New Roman" pitchFamily="18" charset="0"/>
              <a:cs typeface="Times New Roman" pitchFamily="18" charset="0"/>
            </a:endParaRPr>
          </a:p>
          <a:p>
            <a:pPr algn="ctr"/>
            <a:endParaRPr lang="ru-RU" sz="2000" b="1" dirty="0">
              <a:solidFill>
                <a:schemeClr val="tx1"/>
              </a:solidFill>
              <a:latin typeface="Times New Roman" pitchFamily="18" charset="0"/>
              <a:cs typeface="Times New Roman" pitchFamily="18" charset="0"/>
            </a:endParaRPr>
          </a:p>
        </p:txBody>
      </p:sp>
      <p:sp>
        <p:nvSpPr>
          <p:cNvPr id="9" name="Содержимое 2"/>
          <p:cNvSpPr txBox="1">
            <a:spLocks/>
          </p:cNvSpPr>
          <p:nvPr/>
        </p:nvSpPr>
        <p:spPr bwMode="auto">
          <a:xfrm>
            <a:off x="611560" y="1196752"/>
            <a:ext cx="7943304" cy="5184576"/>
          </a:xfrm>
          <a:prstGeom prst="foldedCorner">
            <a:avLst>
              <a:gd name="adj" fmla="val 773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r>
              <a:rPr lang="uz-Cyrl-UZ" b="1" i="1" dirty="0" smtClean="0">
                <a:latin typeface="Times New Roman" pitchFamily="18" charset="0"/>
                <a:cs typeface="Times New Roman" pitchFamily="18" charset="0"/>
              </a:rPr>
              <a:t>          1–қадам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Узлуксиз шифрлаш алгоритмида фойдаланилган комбинацияловчи функциянинг чизиқсизлик даражаси ва корреляцион иммунистлик даражалари ҳисобланади. Агар чизиқсизлик даражаси нолга тенг бўлса ҳамда корреляцион иммунистлик даражаси юқори бўлса, мазкур алгоритм корреляцион криптотаҳлил усулига бардошли саналади ва таҳлил жараёни тугатилади. Акс ҳолда иккинчи қадамга ўтилади;</a:t>
            </a:r>
            <a:endParaRPr lang="ru-RU" dirty="0">
              <a:latin typeface="Times New Roman" pitchFamily="18" charset="0"/>
              <a:cs typeface="Times New Roman" pitchFamily="18" charset="0"/>
            </a:endParaRPr>
          </a:p>
          <a:p>
            <a:pPr algn="just"/>
            <a:r>
              <a:rPr lang="uz-Cyrl-UZ" b="1" i="1" dirty="0" smtClean="0">
                <a:latin typeface="Times New Roman" pitchFamily="18" charset="0"/>
                <a:cs typeface="Times New Roman" pitchFamily="18" charset="0"/>
              </a:rPr>
              <a:t>          2–қадам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Комбинацияловчи функциянинг мумкин бўлган барча статаналог функциялари қидирилади. Агар функциянинг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ёки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dirty="0">
                <a:latin typeface="Times New Roman" pitchFamily="18" charset="0"/>
                <a:cs typeface="Times New Roman" pitchFamily="18" charset="0"/>
              </a:rPr>
              <a:t>га тенг статаналоглари мавжуд бўлса кейинги қадамга ўтилади, акс ҳолда мазкур алгоритм корреляцион криптотаҳлил усулига бардошли саналади ва таҳлил жараёни тугатилади; </a:t>
            </a:r>
            <a:endParaRPr lang="ru-RU" dirty="0">
              <a:latin typeface="Times New Roman" pitchFamily="18" charset="0"/>
              <a:cs typeface="Times New Roman" pitchFamily="18" charset="0"/>
            </a:endParaRPr>
          </a:p>
          <a:p>
            <a:pPr algn="just"/>
            <a:r>
              <a:rPr lang="uz-Cyrl-UZ" b="1" i="1" dirty="0" smtClean="0">
                <a:latin typeface="Times New Roman" pitchFamily="18" charset="0"/>
                <a:cs typeface="Times New Roman" pitchFamily="18" charset="0"/>
              </a:rPr>
              <a:t>          3–қадам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Бошқарув функциясидан фойдаланган ҳолда, регистрларнинг турли бошланғич ҳолатларига нисбатан чиқишлари алоҳида-алоҳида олинади;</a:t>
            </a:r>
            <a:endParaRPr lang="ru-RU" dirty="0">
              <a:latin typeface="Times New Roman" pitchFamily="18" charset="0"/>
              <a:cs typeface="Times New Roman" pitchFamily="18" charset="0"/>
            </a:endParaRPr>
          </a:p>
          <a:p>
            <a:pPr algn="just"/>
            <a:r>
              <a:rPr lang="uz-Cyrl-UZ" b="1" i="1" dirty="0" smtClean="0">
                <a:latin typeface="Times New Roman" pitchFamily="18" charset="0"/>
                <a:cs typeface="Times New Roman" pitchFamily="18" charset="0"/>
              </a:rPr>
              <a:t>          4–қадам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Генераторнинг чиқишига белгиланган частота билан мос тушувчи регистрларнинг чиқишлари ажратиб олинади, қолган вариантлар ташлаб юборилади.</a:t>
            </a:r>
            <a:endParaRPr lang="ru-RU" dirty="0">
              <a:latin typeface="Times New Roman" pitchFamily="18" charset="0"/>
              <a:cs typeface="Times New Roman" pitchFamily="18" charset="0"/>
            </a:endParaRPr>
          </a:p>
          <a:p>
            <a:pPr algn="just"/>
            <a:r>
              <a:rPr lang="uz-Cyrl-UZ" b="1" i="1" dirty="0" smtClean="0">
                <a:latin typeface="Times New Roman" pitchFamily="18" charset="0"/>
                <a:cs typeface="Times New Roman" pitchFamily="18" charset="0"/>
              </a:rPr>
              <a:t>          5–қадам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Регистрларнинг эҳтимолий вариантларини кесиштириб, регистрларнинг бошланғич ҳолатининг вариантлари аниқланади.</a:t>
            </a:r>
            <a:endParaRPr lang="ru-RU" dirty="0">
              <a:latin typeface="Times New Roman" pitchFamily="18" charset="0"/>
              <a:cs typeface="Times New Roman" pitchFamily="18" charset="0"/>
            </a:endParaRPr>
          </a:p>
          <a:p>
            <a:pPr algn="just">
              <a:spcAft>
                <a:spcPts val="400"/>
              </a:spcAft>
            </a:pPr>
            <a:endParaRPr lang="ru-RU" b="1" dirty="0">
              <a:latin typeface="Times New Roman" pitchFamily="18" charset="0"/>
              <a:cs typeface="Times New Roman" pitchFamily="18" charset="0"/>
            </a:endParaRPr>
          </a:p>
        </p:txBody>
      </p:sp>
    </p:spTree>
    <p:extLst>
      <p:ext uri="{BB962C8B-B14F-4D97-AF65-F5344CB8AC3E}">
        <p14:creationId xmlns:p14="http://schemas.microsoft.com/office/powerpoint/2010/main" val="206596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1"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Скругленный прямоугольник 25"/>
          <p:cNvSpPr/>
          <p:nvPr/>
        </p:nvSpPr>
        <p:spPr>
          <a:xfrm>
            <a:off x="805160" y="368660"/>
            <a:ext cx="7517067" cy="540060"/>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b="1" dirty="0" smtClean="0">
                <a:solidFill>
                  <a:schemeClr val="tx1"/>
                </a:solidFill>
                <a:latin typeface="Times New Roman" pitchFamily="18" charset="0"/>
                <a:cs typeface="Times New Roman" pitchFamily="18" charset="0"/>
              </a:rPr>
              <a:t>Филтрловчи </a:t>
            </a:r>
            <a:r>
              <a:rPr lang="uz-Cyrl-UZ" b="1" dirty="0">
                <a:solidFill>
                  <a:schemeClr val="tx1"/>
                </a:solidFill>
                <a:latin typeface="Times New Roman" pitchFamily="18" charset="0"/>
                <a:cs typeface="Times New Roman" pitchFamily="18" charset="0"/>
              </a:rPr>
              <a:t>генераторларга корреляцион криптотаҳлил </a:t>
            </a:r>
            <a:r>
              <a:rPr lang="uz-Cyrl-UZ" b="1" dirty="0" smtClean="0">
                <a:solidFill>
                  <a:schemeClr val="tx1"/>
                </a:solidFill>
                <a:latin typeface="Times New Roman" pitchFamily="18" charset="0"/>
                <a:cs typeface="Times New Roman" pitchFamily="18" charset="0"/>
              </a:rPr>
              <a:t>усули</a:t>
            </a:r>
            <a:endParaRPr lang="ru-RU" sz="2000" b="1" dirty="0">
              <a:solidFill>
                <a:schemeClr val="tx1"/>
              </a:solidFill>
              <a:latin typeface="Times New Roman" pitchFamily="18" charset="0"/>
              <a:cs typeface="Times New Roman" pitchFamily="18" charset="0"/>
            </a:endParaRPr>
          </a:p>
        </p:txBody>
      </p:sp>
      <p:sp>
        <p:nvSpPr>
          <p:cNvPr id="52" name="Содержимое 2"/>
          <p:cNvSpPr txBox="1">
            <a:spLocks/>
          </p:cNvSpPr>
          <p:nvPr/>
        </p:nvSpPr>
        <p:spPr bwMode="auto">
          <a:xfrm>
            <a:off x="592040" y="4293096"/>
            <a:ext cx="7956671" cy="1911265"/>
          </a:xfrm>
          <a:prstGeom prst="foldedCorner">
            <a:avLst>
              <a:gd name="adj" fmla="val 10927"/>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Ушбу </a:t>
            </a:r>
            <a:r>
              <a:rPr lang="uz-Cyrl-UZ" dirty="0">
                <a:latin typeface="Times New Roman" pitchFamily="18" charset="0"/>
                <a:cs typeface="Times New Roman" pitchFamily="18" charset="0"/>
              </a:rPr>
              <a:t>берилган генераторни </a:t>
            </a:r>
            <a:r>
              <a:rPr lang="uz-Cyrl-UZ" b="1" i="1" dirty="0">
                <a:latin typeface="Times New Roman" pitchFamily="18" charset="0"/>
                <a:cs typeface="Times New Roman" pitchFamily="18" charset="0"/>
              </a:rPr>
              <a:t>генератор-1</a:t>
            </a:r>
            <a:r>
              <a:rPr lang="uz-Cyrl-UZ" dirty="0">
                <a:latin typeface="Times New Roman" pitchFamily="18" charset="0"/>
                <a:cs typeface="Times New Roman" pitchFamily="18" charset="0"/>
              </a:rPr>
              <a:t> деб номлаймиз.</a:t>
            </a:r>
            <a:endParaRPr lang="en-US" i="1" dirty="0" smtClean="0">
              <a:latin typeface="Times New Roman" pitchFamily="18" charset="0"/>
              <a:cs typeface="Times New Roman" pitchFamily="18" charset="0"/>
            </a:endParaRPr>
          </a:p>
          <a:p>
            <a:pPr algn="just"/>
            <a:r>
              <a:rPr lang="en-US" i="1" dirty="0" smtClean="0">
                <a:latin typeface="Times New Roman" pitchFamily="18" charset="0"/>
                <a:cs typeface="Times New Roman" pitchFamily="18" charset="0"/>
              </a:rPr>
              <a:t>       </a:t>
            </a:r>
            <a:r>
              <a:rPr lang="uz-Cyrl-UZ" i="1" dirty="0" smtClean="0">
                <a:latin typeface="Times New Roman" pitchFamily="18" charset="0"/>
                <a:cs typeface="Times New Roman" pitchFamily="18" charset="0"/>
              </a:rPr>
              <a:t>f</a:t>
            </a:r>
            <a:r>
              <a:rPr lang="uz-Cyrl-UZ"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dirty="0">
                <a:latin typeface="Times New Roman" pitchFamily="18" charset="0"/>
                <a:cs typeface="Times New Roman" pitchFamily="18" charset="0"/>
              </a:rPr>
              <a:t>) функциянинг чизиқли </a:t>
            </a:r>
            <a:r>
              <a:rPr lang="uz-Cyrl-UZ" dirty="0" smtClean="0">
                <a:latin typeface="Times New Roman" pitchFamily="18" charset="0"/>
                <a:cs typeface="Times New Roman" pitchFamily="18" charset="0"/>
              </a:rPr>
              <a:t>статаналоги:</a:t>
            </a:r>
          </a:p>
          <a:p>
            <a:pPr algn="ctr"/>
            <a:r>
              <a:rPr lang="uz-Cyrl-UZ" b="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l</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x</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i1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i2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ik</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b</a:t>
            </a:r>
            <a:r>
              <a:rPr lang="uz-Cyrl-UZ" b="1" dirty="0">
                <a:latin typeface="Times New Roman" pitchFamily="18" charset="0"/>
                <a:cs typeface="Times New Roman" pitchFamily="18" charset="0"/>
              </a:rPr>
              <a:t>  </a:t>
            </a:r>
            <a:endParaRPr lang="uz-Cyrl-UZ"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Ҳудди </a:t>
            </a:r>
            <a:r>
              <a:rPr lang="uz-Cyrl-UZ" dirty="0">
                <a:latin typeface="Times New Roman" pitchFamily="18" charset="0"/>
                <a:cs typeface="Times New Roman" pitchFamily="18" charset="0"/>
              </a:rPr>
              <a:t>шундай силжитиш регистрига эга бўлган, лекин филтрловчи функцияси </a:t>
            </a:r>
            <a:r>
              <a:rPr lang="uz-Cyrl-UZ" i="1" dirty="0">
                <a:latin typeface="Times New Roman" pitchFamily="18" charset="0"/>
                <a:cs typeface="Times New Roman" pitchFamily="18" charset="0"/>
              </a:rPr>
              <a:t>l</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dirty="0">
                <a:latin typeface="Times New Roman" pitchFamily="18" charset="0"/>
                <a:cs typeface="Times New Roman" pitchFamily="18" charset="0"/>
              </a:rPr>
              <a:t>) бўлган филтрловчи генераторни кўриб чиқамиз. Ушбу генераторни </a:t>
            </a:r>
            <a:r>
              <a:rPr lang="uz-Cyrl-UZ" b="1" i="1" dirty="0">
                <a:latin typeface="Times New Roman" pitchFamily="18" charset="0"/>
                <a:cs typeface="Times New Roman" pitchFamily="18" charset="0"/>
              </a:rPr>
              <a:t>генератор-2</a:t>
            </a:r>
            <a:r>
              <a:rPr lang="uz-Cyrl-UZ" dirty="0">
                <a:latin typeface="Times New Roman" pitchFamily="18" charset="0"/>
                <a:cs typeface="Times New Roman" pitchFamily="18" charset="0"/>
              </a:rPr>
              <a:t> деб номлаймиз.</a:t>
            </a:r>
            <a:endParaRPr lang="ru-RU" b="1" dirty="0">
              <a:latin typeface="Times New Roman" pitchFamily="18" charset="0"/>
              <a:cs typeface="Times New Roman" pitchFamily="18" charset="0"/>
            </a:endParaRPr>
          </a:p>
        </p:txBody>
      </p:sp>
      <p:grpSp>
        <p:nvGrpSpPr>
          <p:cNvPr id="224" name="Группа 223"/>
          <p:cNvGrpSpPr/>
          <p:nvPr/>
        </p:nvGrpSpPr>
        <p:grpSpPr>
          <a:xfrm>
            <a:off x="2654044" y="1124745"/>
            <a:ext cx="3862172" cy="2693295"/>
            <a:chOff x="1155940" y="1318853"/>
            <a:chExt cx="4720124" cy="2846625"/>
          </a:xfrm>
        </p:grpSpPr>
        <p:grpSp>
          <p:nvGrpSpPr>
            <p:cNvPr id="225" name="Группа 224"/>
            <p:cNvGrpSpPr/>
            <p:nvPr/>
          </p:nvGrpSpPr>
          <p:grpSpPr>
            <a:xfrm>
              <a:off x="1155940" y="1318853"/>
              <a:ext cx="4512845" cy="2542196"/>
              <a:chOff x="2123728" y="1561489"/>
              <a:chExt cx="4432258" cy="2366872"/>
            </a:xfrm>
          </p:grpSpPr>
          <p:grpSp>
            <p:nvGrpSpPr>
              <p:cNvPr id="228" name="Группа 227"/>
              <p:cNvGrpSpPr/>
              <p:nvPr/>
            </p:nvGrpSpPr>
            <p:grpSpPr>
              <a:xfrm>
                <a:off x="2123728" y="1561489"/>
                <a:ext cx="4432258" cy="2366872"/>
                <a:chOff x="2123728" y="1592796"/>
                <a:chExt cx="4029325" cy="2016224"/>
              </a:xfrm>
            </p:grpSpPr>
            <p:grpSp>
              <p:nvGrpSpPr>
                <p:cNvPr id="231" name="Группа 230"/>
                <p:cNvGrpSpPr/>
                <p:nvPr/>
              </p:nvGrpSpPr>
              <p:grpSpPr>
                <a:xfrm>
                  <a:off x="2123728" y="1772816"/>
                  <a:ext cx="3600400" cy="1656184"/>
                  <a:chOff x="2123728" y="1772816"/>
                  <a:chExt cx="3600400" cy="1656184"/>
                </a:xfrm>
              </p:grpSpPr>
              <p:sp>
                <p:nvSpPr>
                  <p:cNvPr id="250" name="Прямоугольник 249"/>
                  <p:cNvSpPr/>
                  <p:nvPr/>
                </p:nvSpPr>
                <p:spPr>
                  <a:xfrm>
                    <a:off x="2123728" y="2420888"/>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1400" dirty="0" smtClean="0">
                        <a:solidFill>
                          <a:schemeClr val="tx1"/>
                        </a:solidFill>
                        <a:latin typeface="Times New Roman" pitchFamily="18" charset="0"/>
                        <a:cs typeface="Times New Roman" pitchFamily="18" charset="0"/>
                      </a:rPr>
                      <a:t>1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2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3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uz-Cyrl-UZ" sz="1400" dirty="0" smtClean="0">
                        <a:solidFill>
                          <a:schemeClr val="tx1"/>
                        </a:solidFill>
                        <a:latin typeface="Times New Roman" pitchFamily="18" charset="0"/>
                        <a:cs typeface="Times New Roman" pitchFamily="18" charset="0"/>
                      </a:rPr>
                      <a:t>    </a:t>
                    </a:r>
                    <a:r>
                      <a:rPr lang="en-US" sz="1400" dirty="0" smtClean="0">
                        <a:solidFill>
                          <a:schemeClr val="tx1"/>
                        </a:solidFill>
                        <a:latin typeface="Times New Roman" pitchFamily="18" charset="0"/>
                        <a:cs typeface="Times New Roman" pitchFamily="18" charset="0"/>
                      </a:rPr>
                      <a:t>     </a:t>
                    </a:r>
                    <a:r>
                      <a:rPr lang="en-US" sz="1400" i="1" dirty="0" smtClean="0">
                        <a:solidFill>
                          <a:schemeClr val="tx1"/>
                        </a:solidFill>
                        <a:latin typeface="Times New Roman" pitchFamily="18" charset="0"/>
                        <a:cs typeface="Times New Roman" pitchFamily="18" charset="0"/>
                      </a:rPr>
                      <a:t>n</a:t>
                    </a:r>
                    <a:r>
                      <a:rPr lang="uz-Cyrl-UZ" sz="1400" dirty="0" smtClean="0">
                        <a:solidFill>
                          <a:schemeClr val="tx1"/>
                        </a:solidFill>
                        <a:latin typeface="Times New Roman" pitchFamily="18" charset="0"/>
                        <a:cs typeface="Times New Roman" pitchFamily="18" charset="0"/>
                      </a:rPr>
                      <a:t> </a:t>
                    </a:r>
                    <a:endParaRPr lang="ru-RU" sz="1400" dirty="0">
                      <a:solidFill>
                        <a:schemeClr val="tx1"/>
                      </a:solidFill>
                      <a:latin typeface="Times New Roman" pitchFamily="18" charset="0"/>
                      <a:cs typeface="Times New Roman" pitchFamily="18" charset="0"/>
                    </a:endParaRPr>
                  </a:p>
                </p:txBody>
              </p:sp>
              <p:sp>
                <p:nvSpPr>
                  <p:cNvPr id="251" name="Прямоугольник 250"/>
                  <p:cNvSpPr/>
                  <p:nvPr/>
                </p:nvSpPr>
                <p:spPr>
                  <a:xfrm>
                    <a:off x="2123728" y="1772816"/>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a:latin typeface="Times New Roman" pitchFamily="18" charset="0"/>
                      <a:cs typeface="Times New Roman" pitchFamily="18" charset="0"/>
                    </a:endParaRPr>
                  </a:p>
                </p:txBody>
              </p:sp>
              <p:sp>
                <p:nvSpPr>
                  <p:cNvPr id="252" name="Прямоугольник 251"/>
                  <p:cNvSpPr/>
                  <p:nvPr/>
                </p:nvSpPr>
                <p:spPr>
                  <a:xfrm>
                    <a:off x="2123728" y="3068960"/>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dirty="0">
                      <a:solidFill>
                        <a:schemeClr val="tx1"/>
                      </a:solidFill>
                      <a:latin typeface="Times New Roman" pitchFamily="18" charset="0"/>
                      <a:cs typeface="Times New Roman" pitchFamily="18" charset="0"/>
                    </a:endParaRPr>
                  </a:p>
                </p:txBody>
              </p:sp>
            </p:grpSp>
            <p:cxnSp>
              <p:nvCxnSpPr>
                <p:cNvPr id="232" name="Прямая соединительная линия 231"/>
                <p:cNvCxnSpPr/>
                <p:nvPr/>
              </p:nvCxnSpPr>
              <p:spPr>
                <a:xfrm>
                  <a:off x="2483768" y="2420264"/>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Прямая соединительная линия 232"/>
                <p:cNvCxnSpPr/>
                <p:nvPr/>
              </p:nvCxnSpPr>
              <p:spPr>
                <a:xfrm>
                  <a:off x="284380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Прямая соединительная линия 233"/>
                <p:cNvCxnSpPr/>
                <p:nvPr/>
              </p:nvCxnSpPr>
              <p:spPr>
                <a:xfrm>
                  <a:off x="320384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Прямая соединительная линия 234"/>
                <p:cNvCxnSpPr/>
                <p:nvPr/>
              </p:nvCxnSpPr>
              <p:spPr>
                <a:xfrm>
                  <a:off x="536408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Прямая соединительная линия 235"/>
                <p:cNvCxnSpPr/>
                <p:nvPr/>
              </p:nvCxnSpPr>
              <p:spPr>
                <a:xfrm>
                  <a:off x="233975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7" name="Прямая соединительная линия 236"/>
                <p:cNvCxnSpPr/>
                <p:nvPr/>
              </p:nvCxnSpPr>
              <p:spPr>
                <a:xfrm>
                  <a:off x="269979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8" name="Прямая соединительная линия 237"/>
                <p:cNvCxnSpPr/>
                <p:nvPr/>
              </p:nvCxnSpPr>
              <p:spPr>
                <a:xfrm>
                  <a:off x="305983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9" name="Прямая соединительная линия 238"/>
                <p:cNvCxnSpPr/>
                <p:nvPr/>
              </p:nvCxnSpPr>
              <p:spPr>
                <a:xfrm>
                  <a:off x="5508104" y="2780928"/>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0" name="Прямая соединительная линия 239"/>
                <p:cNvCxnSpPr/>
                <p:nvPr/>
              </p:nvCxnSpPr>
              <p:spPr>
                <a:xfrm flipV="1">
                  <a:off x="2339752" y="2132856"/>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1" name="Прямая соединительная линия 240"/>
                <p:cNvCxnSpPr/>
                <p:nvPr/>
              </p:nvCxnSpPr>
              <p:spPr>
                <a:xfrm flipV="1">
                  <a:off x="269979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2" name="Прямая соединительная линия 241"/>
                <p:cNvCxnSpPr/>
                <p:nvPr/>
              </p:nvCxnSpPr>
              <p:spPr>
                <a:xfrm flipV="1">
                  <a:off x="305983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3" name="Прямая соединительная линия 242"/>
                <p:cNvCxnSpPr/>
                <p:nvPr/>
              </p:nvCxnSpPr>
              <p:spPr>
                <a:xfrm flipV="1">
                  <a:off x="5508104" y="2132856"/>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4" name="Прямая соединительная линия 243"/>
                <p:cNvCxnSpPr/>
                <p:nvPr/>
              </p:nvCxnSpPr>
              <p:spPr>
                <a:xfrm>
                  <a:off x="3923928" y="1592796"/>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Прямая соединительная линия 244"/>
                <p:cNvCxnSpPr/>
                <p:nvPr/>
              </p:nvCxnSpPr>
              <p:spPr>
                <a:xfrm>
                  <a:off x="3923927" y="1596926"/>
                  <a:ext cx="20856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Прямая соединительная линия 245"/>
                <p:cNvCxnSpPr/>
                <p:nvPr/>
              </p:nvCxnSpPr>
              <p:spPr>
                <a:xfrm>
                  <a:off x="6009587" y="1596926"/>
                  <a:ext cx="0" cy="10033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Прямая соединительная линия 246"/>
                <p:cNvCxnSpPr/>
                <p:nvPr/>
              </p:nvCxnSpPr>
              <p:spPr>
                <a:xfrm flipH="1">
                  <a:off x="5724128" y="2600908"/>
                  <a:ext cx="285459"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8" name="Прямая соединительная линия 247"/>
                <p:cNvCxnSpPr/>
                <p:nvPr/>
              </p:nvCxnSpPr>
              <p:spPr>
                <a:xfrm>
                  <a:off x="3938964" y="3429000"/>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Прямая соединительная линия 248"/>
                <p:cNvCxnSpPr/>
                <p:nvPr/>
              </p:nvCxnSpPr>
              <p:spPr>
                <a:xfrm>
                  <a:off x="3940830" y="3609020"/>
                  <a:ext cx="2212223"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29" name="Прямоугольник 228"/>
              <p:cNvSpPr/>
              <p:nvPr/>
            </p:nvSpPr>
            <p:spPr>
              <a:xfrm>
                <a:off x="2293878" y="3333628"/>
                <a:ext cx="3600400" cy="302864"/>
              </a:xfrm>
              <a:prstGeom prst="rect">
                <a:avLst/>
              </a:prstGeom>
            </p:spPr>
            <p:txBody>
              <a:bodyPr wrap="square">
                <a:spAutoFit/>
              </a:bodyPr>
              <a:lstStyle/>
              <a:p>
                <a:pPr algn="ctr"/>
                <a:r>
                  <a:rPr lang="uz-Cyrl-UZ" sz="1400" b="1" i="1" dirty="0">
                    <a:latin typeface="Times New Roman" pitchFamily="18" charset="0"/>
                    <a:cs typeface="Times New Roman" pitchFamily="18" charset="0"/>
                  </a:rPr>
                  <a:t>l</a:t>
                </a:r>
                <a:r>
                  <a:rPr lang="uz-Cyrl-UZ" sz="1400" b="1" dirty="0">
                    <a:latin typeface="Times New Roman" pitchFamily="18" charset="0"/>
                    <a:cs typeface="Times New Roman" pitchFamily="18" charset="0"/>
                  </a:rPr>
                  <a:t>(</a:t>
                </a:r>
                <a:r>
                  <a:rPr lang="uz-Cyrl-UZ" sz="1400" b="1" i="1" dirty="0">
                    <a:latin typeface="Times New Roman" pitchFamily="18" charset="0"/>
                    <a:cs typeface="Times New Roman" pitchFamily="18" charset="0"/>
                  </a:rPr>
                  <a:t>x</a:t>
                </a:r>
                <a:r>
                  <a:rPr lang="uz-Cyrl-UZ" sz="1400" b="1" dirty="0">
                    <a:latin typeface="Times New Roman" pitchFamily="18" charset="0"/>
                    <a:cs typeface="Times New Roman" pitchFamily="18" charset="0"/>
                  </a:rPr>
                  <a:t>) = </a:t>
                </a:r>
                <a:r>
                  <a:rPr lang="uz-Cyrl-UZ" sz="1400" b="1" i="1" dirty="0">
                    <a:latin typeface="Times New Roman" pitchFamily="18" charset="0"/>
                    <a:cs typeface="Times New Roman" pitchFamily="18" charset="0"/>
                  </a:rPr>
                  <a:t>x</a:t>
                </a:r>
                <a:r>
                  <a:rPr lang="uz-Cyrl-UZ" sz="1400" b="1" i="1" baseline="-25000" dirty="0">
                    <a:latin typeface="Times New Roman" pitchFamily="18" charset="0"/>
                    <a:cs typeface="Times New Roman" pitchFamily="18" charset="0"/>
                  </a:rPr>
                  <a:t>i1 </a:t>
                </a:r>
                <a:r>
                  <a:rPr lang="uz-Cyrl-UZ" sz="1400" b="1" dirty="0">
                    <a:latin typeface="Times New Roman" pitchFamily="18" charset="0"/>
                    <a:cs typeface="Times New Roman" pitchFamily="18" charset="0"/>
                  </a:rPr>
                  <a:t>⊕ </a:t>
                </a:r>
                <a:r>
                  <a:rPr lang="uz-Cyrl-UZ" sz="1400" b="1" i="1" dirty="0">
                    <a:latin typeface="Times New Roman" pitchFamily="18" charset="0"/>
                    <a:cs typeface="Times New Roman" pitchFamily="18" charset="0"/>
                  </a:rPr>
                  <a:t>x</a:t>
                </a:r>
                <a:r>
                  <a:rPr lang="uz-Cyrl-UZ" sz="1400" b="1" i="1" baseline="-25000" dirty="0">
                    <a:latin typeface="Times New Roman" pitchFamily="18" charset="0"/>
                    <a:cs typeface="Times New Roman" pitchFamily="18" charset="0"/>
                  </a:rPr>
                  <a:t>i2 </a:t>
                </a:r>
                <a:r>
                  <a:rPr lang="uz-Cyrl-UZ" sz="1400" b="1" dirty="0">
                    <a:latin typeface="Times New Roman" pitchFamily="18" charset="0"/>
                    <a:cs typeface="Times New Roman" pitchFamily="18" charset="0"/>
                  </a:rPr>
                  <a:t>⊕ … ⊕ </a:t>
                </a:r>
                <a:r>
                  <a:rPr lang="uz-Cyrl-UZ" sz="1400" b="1" i="1" dirty="0">
                    <a:latin typeface="Times New Roman" pitchFamily="18" charset="0"/>
                    <a:cs typeface="Times New Roman" pitchFamily="18" charset="0"/>
                  </a:rPr>
                  <a:t>x</a:t>
                </a:r>
                <a:r>
                  <a:rPr lang="uz-Cyrl-UZ" sz="1400" b="1" i="1" baseline="-25000" dirty="0">
                    <a:latin typeface="Times New Roman" pitchFamily="18" charset="0"/>
                    <a:cs typeface="Times New Roman" pitchFamily="18" charset="0"/>
                  </a:rPr>
                  <a:t>ik</a:t>
                </a:r>
                <a:r>
                  <a:rPr lang="uz-Cyrl-UZ" sz="1400" b="1" dirty="0">
                    <a:latin typeface="Times New Roman" pitchFamily="18" charset="0"/>
                    <a:cs typeface="Times New Roman" pitchFamily="18" charset="0"/>
                  </a:rPr>
                  <a:t> ⊕ </a:t>
                </a:r>
                <a:r>
                  <a:rPr lang="uz-Cyrl-UZ" sz="1400" b="1" i="1" dirty="0">
                    <a:latin typeface="Times New Roman" pitchFamily="18" charset="0"/>
                    <a:cs typeface="Times New Roman" pitchFamily="18" charset="0"/>
                  </a:rPr>
                  <a:t>b</a:t>
                </a:r>
                <a:endParaRPr lang="ru-RU" sz="1400" b="1" dirty="0">
                  <a:latin typeface="Times New Roman" pitchFamily="18" charset="0"/>
                  <a:cs typeface="Times New Roman" pitchFamily="18" charset="0"/>
                </a:endParaRPr>
              </a:p>
            </p:txBody>
          </p:sp>
          <p:sp>
            <p:nvSpPr>
              <p:cNvPr id="230" name="Прямоугольник 229"/>
              <p:cNvSpPr/>
              <p:nvPr/>
            </p:nvSpPr>
            <p:spPr>
              <a:xfrm>
                <a:off x="2480308" y="1840869"/>
                <a:ext cx="3168352" cy="286551"/>
              </a:xfrm>
              <a:prstGeom prst="rect">
                <a:avLst/>
              </a:prstGeom>
            </p:spPr>
            <p:txBody>
              <a:bodyPr wrap="square">
                <a:spAutoFit/>
              </a:bodyPr>
              <a:lstStyle/>
              <a:p>
                <a:r>
                  <a:rPr lang="en-US" sz="1400" b="1" i="1" dirty="0" smtClean="0">
                    <a:latin typeface="Times New Roman" pitchFamily="18" charset="0"/>
                    <a:cs typeface="Times New Roman" pitchFamily="18" charset="0"/>
                  </a:rPr>
                  <a:t>   </a:t>
                </a:r>
                <a:r>
                  <a:rPr lang="uz-Cyrl-UZ" sz="1400" b="1" i="1" dirty="0" smtClean="0">
                    <a:latin typeface="Times New Roman" pitchFamily="18" charset="0"/>
                    <a:cs typeface="Times New Roman" pitchFamily="18" charset="0"/>
                  </a:rPr>
                  <a:t>φ</a:t>
                </a:r>
                <a:r>
                  <a:rPr lang="uz-Cyrl-UZ" sz="1400" b="1" dirty="0" smtClean="0">
                    <a:latin typeface="Times New Roman" pitchFamily="18" charset="0"/>
                    <a:cs typeface="Times New Roman" pitchFamily="18" charset="0"/>
                  </a:rPr>
                  <a:t>(</a:t>
                </a:r>
                <a:r>
                  <a:rPr lang="uz-Cyrl-UZ" sz="1400" b="1" i="1" dirty="0" smtClean="0">
                    <a:latin typeface="Times New Roman" pitchFamily="18" charset="0"/>
                    <a:cs typeface="Times New Roman" pitchFamily="18" charset="0"/>
                  </a:rPr>
                  <a:t>x</a:t>
                </a:r>
                <a:r>
                  <a:rPr lang="uz-Cyrl-UZ" sz="1400" b="1" i="1" baseline="-25000" dirty="0" smtClean="0">
                    <a:latin typeface="Times New Roman" pitchFamily="18" charset="0"/>
                    <a:cs typeface="Times New Roman" pitchFamily="18" charset="0"/>
                  </a:rPr>
                  <a:t>1</a:t>
                </a:r>
                <a:r>
                  <a:rPr lang="uz-Cyrl-UZ" sz="1400" b="1" i="1" dirty="0">
                    <a:latin typeface="Times New Roman" pitchFamily="18" charset="0"/>
                    <a:cs typeface="Times New Roman" pitchFamily="18" charset="0"/>
                  </a:rPr>
                  <a:t>,...,x</a:t>
                </a:r>
                <a:r>
                  <a:rPr lang="uz-Cyrl-UZ" sz="1400" b="1" i="1" baseline="-25000" dirty="0">
                    <a:latin typeface="Times New Roman" pitchFamily="18" charset="0"/>
                    <a:cs typeface="Times New Roman" pitchFamily="18" charset="0"/>
                  </a:rPr>
                  <a:t>n</a:t>
                </a:r>
                <a:r>
                  <a:rPr lang="uz-Cyrl-UZ" sz="1400" b="1" dirty="0">
                    <a:latin typeface="Times New Roman" pitchFamily="18" charset="0"/>
                    <a:cs typeface="Times New Roman" pitchFamily="18" charset="0"/>
                  </a:rPr>
                  <a:t>) = </a:t>
                </a:r>
                <a:r>
                  <a:rPr lang="uz-Cyrl-UZ" sz="1400" b="1" i="1" dirty="0">
                    <a:latin typeface="Times New Roman" pitchFamily="18" charset="0"/>
                    <a:cs typeface="Times New Roman" pitchFamily="18" charset="0"/>
                  </a:rPr>
                  <a:t>c</a:t>
                </a:r>
                <a:r>
                  <a:rPr lang="uz-Cyrl-UZ" sz="1400" b="1" i="1" baseline="-25000" dirty="0">
                    <a:latin typeface="Times New Roman" pitchFamily="18" charset="0"/>
                    <a:cs typeface="Times New Roman" pitchFamily="18" charset="0"/>
                  </a:rPr>
                  <a:t>n</a:t>
                </a:r>
                <a:r>
                  <a:rPr lang="uz-Cyrl-UZ" sz="1400" b="1" i="1" dirty="0">
                    <a:latin typeface="Times New Roman" pitchFamily="18" charset="0"/>
                    <a:cs typeface="Times New Roman" pitchFamily="18" charset="0"/>
                  </a:rPr>
                  <a:t>x</a:t>
                </a:r>
                <a:r>
                  <a:rPr lang="uz-Cyrl-UZ" sz="1400" b="1" baseline="-25000" dirty="0">
                    <a:latin typeface="Times New Roman" pitchFamily="18" charset="0"/>
                    <a:cs typeface="Times New Roman" pitchFamily="18" charset="0"/>
                  </a:rPr>
                  <a:t>1</a:t>
                </a:r>
                <a:r>
                  <a:rPr lang="uz-Cyrl-UZ" sz="1400" b="1" dirty="0">
                    <a:latin typeface="Times New Roman" pitchFamily="18" charset="0"/>
                    <a:cs typeface="Times New Roman" pitchFamily="18" charset="0"/>
                  </a:rPr>
                  <a:t> ⊕ … ⊕ </a:t>
                </a:r>
                <a:r>
                  <a:rPr lang="uz-Cyrl-UZ" sz="1400" b="1" i="1" dirty="0">
                    <a:latin typeface="Times New Roman" pitchFamily="18" charset="0"/>
                    <a:cs typeface="Times New Roman" pitchFamily="18" charset="0"/>
                  </a:rPr>
                  <a:t>c</a:t>
                </a:r>
                <a:r>
                  <a:rPr lang="uz-Cyrl-UZ" sz="1400" b="1" baseline="-25000" dirty="0">
                    <a:latin typeface="Times New Roman" pitchFamily="18" charset="0"/>
                    <a:cs typeface="Times New Roman" pitchFamily="18" charset="0"/>
                  </a:rPr>
                  <a:t>1</a:t>
                </a:r>
                <a:r>
                  <a:rPr lang="uz-Cyrl-UZ" sz="1400" b="1" i="1" dirty="0">
                    <a:latin typeface="Times New Roman" pitchFamily="18" charset="0"/>
                    <a:cs typeface="Times New Roman" pitchFamily="18" charset="0"/>
                  </a:rPr>
                  <a:t>x</a:t>
                </a:r>
                <a:r>
                  <a:rPr lang="uz-Cyrl-UZ" sz="1400" b="1" i="1" baseline="-25000" dirty="0">
                    <a:latin typeface="Times New Roman" pitchFamily="18" charset="0"/>
                    <a:cs typeface="Times New Roman" pitchFamily="18" charset="0"/>
                  </a:rPr>
                  <a:t>n</a:t>
                </a:r>
                <a:r>
                  <a:rPr lang="uz-Cyrl-UZ" sz="1400" b="1" dirty="0">
                    <a:latin typeface="Times New Roman" pitchFamily="18" charset="0"/>
                    <a:cs typeface="Times New Roman" pitchFamily="18" charset="0"/>
                  </a:rPr>
                  <a:t> </a:t>
                </a:r>
                <a:endParaRPr lang="ru-RU" sz="1400" b="1" dirty="0">
                  <a:latin typeface="Times New Roman" pitchFamily="18" charset="0"/>
                  <a:cs typeface="Times New Roman" pitchFamily="18" charset="0"/>
                </a:endParaRPr>
              </a:p>
            </p:txBody>
          </p:sp>
        </p:grpSp>
        <p:sp>
          <p:nvSpPr>
            <p:cNvPr id="226" name="Прямоугольник 225"/>
            <p:cNvSpPr/>
            <p:nvPr/>
          </p:nvSpPr>
          <p:spPr>
            <a:xfrm>
              <a:off x="5140144" y="3390331"/>
              <a:ext cx="735920" cy="340474"/>
            </a:xfrm>
            <a:prstGeom prst="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Times New Roman" pitchFamily="18" charset="0"/>
                  <a:cs typeface="Times New Roman" pitchFamily="18" charset="0"/>
                </a:rPr>
                <a:t>{</a:t>
              </a:r>
              <a:r>
                <a:rPr lang="en-US" sz="1400" i="1" dirty="0" smtClean="0">
                  <a:solidFill>
                    <a:schemeClr val="tx1"/>
                  </a:solidFill>
                  <a:latin typeface="Times New Roman" pitchFamily="18" charset="0"/>
                  <a:cs typeface="Times New Roman" pitchFamily="18" charset="0"/>
                </a:rPr>
                <a:t>y</a:t>
              </a:r>
              <a:r>
                <a:rPr lang="en-US" sz="1400" dirty="0" smtClean="0">
                  <a:solidFill>
                    <a:schemeClr val="tx1"/>
                  </a:solidFill>
                  <a:latin typeface="Times New Roman" pitchFamily="18" charset="0"/>
                  <a:cs typeface="Times New Roman" pitchFamily="18" charset="0"/>
                </a:rPr>
                <a:t>(</a:t>
              </a:r>
              <a:r>
                <a:rPr lang="en-US" sz="1400" i="1" dirty="0" smtClean="0">
                  <a:solidFill>
                    <a:schemeClr val="tx1"/>
                  </a:solidFill>
                  <a:latin typeface="Times New Roman" pitchFamily="18" charset="0"/>
                  <a:cs typeface="Times New Roman" pitchFamily="18" charset="0"/>
                </a:rPr>
                <a:t>t</a:t>
              </a:r>
              <a:r>
                <a:rPr lang="en-US" sz="1400" dirty="0" smtClean="0">
                  <a:solidFill>
                    <a:schemeClr val="tx1"/>
                  </a:solidFill>
                  <a:latin typeface="Times New Roman" pitchFamily="18" charset="0"/>
                  <a:cs typeface="Times New Roman" pitchFamily="18" charset="0"/>
                </a:rPr>
                <a:t>)}</a:t>
              </a:r>
              <a:endParaRPr lang="ru-RU" sz="1400" dirty="0">
                <a:solidFill>
                  <a:schemeClr val="tx1"/>
                </a:solidFill>
                <a:latin typeface="Times New Roman" pitchFamily="18" charset="0"/>
                <a:cs typeface="Times New Roman" pitchFamily="18" charset="0"/>
              </a:endParaRPr>
            </a:p>
          </p:txBody>
        </p:sp>
        <p:sp>
          <p:nvSpPr>
            <p:cNvPr id="227" name="Прямоугольник 226"/>
            <p:cNvSpPr/>
            <p:nvPr/>
          </p:nvSpPr>
          <p:spPr>
            <a:xfrm>
              <a:off x="2653082" y="3825004"/>
              <a:ext cx="1612980" cy="340474"/>
            </a:xfrm>
            <a:prstGeom prst="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400" i="1" dirty="0" smtClean="0">
                  <a:solidFill>
                    <a:schemeClr val="tx1"/>
                  </a:solidFill>
                  <a:latin typeface="Times New Roman" pitchFamily="18" charset="0"/>
                  <a:cs typeface="Times New Roman" pitchFamily="18" charset="0"/>
                </a:rPr>
                <a:t>генератор-2</a:t>
              </a:r>
              <a:endParaRPr lang="ru-RU" sz="1400" i="1" dirty="0">
                <a:solidFill>
                  <a:schemeClr val="tx1"/>
                </a:solidFill>
                <a:latin typeface="Times New Roman" pitchFamily="18" charset="0"/>
                <a:cs typeface="Times New Roman" pitchFamily="18" charset="0"/>
              </a:endParaRPr>
            </a:p>
          </p:txBody>
        </p:sp>
      </p:grpSp>
      <p:grpSp>
        <p:nvGrpSpPr>
          <p:cNvPr id="4" name="Группа 3"/>
          <p:cNvGrpSpPr/>
          <p:nvPr/>
        </p:nvGrpSpPr>
        <p:grpSpPr>
          <a:xfrm>
            <a:off x="2339752" y="1124744"/>
            <a:ext cx="4928227" cy="2880320"/>
            <a:chOff x="5764453" y="1268760"/>
            <a:chExt cx="4928227" cy="2880320"/>
          </a:xfrm>
        </p:grpSpPr>
        <p:grpSp>
          <p:nvGrpSpPr>
            <p:cNvPr id="51" name="Группа 50"/>
            <p:cNvGrpSpPr/>
            <p:nvPr/>
          </p:nvGrpSpPr>
          <p:grpSpPr>
            <a:xfrm>
              <a:off x="5764453" y="1268760"/>
              <a:ext cx="4928227" cy="2542196"/>
              <a:chOff x="1155940" y="1318853"/>
              <a:chExt cx="4928227" cy="2542196"/>
            </a:xfrm>
          </p:grpSpPr>
          <p:grpSp>
            <p:nvGrpSpPr>
              <p:cNvPr id="35" name="Группа 34"/>
              <p:cNvGrpSpPr/>
              <p:nvPr/>
            </p:nvGrpSpPr>
            <p:grpSpPr>
              <a:xfrm>
                <a:off x="1155940" y="1318853"/>
                <a:ext cx="4712203" cy="2542196"/>
                <a:chOff x="2123728" y="1561489"/>
                <a:chExt cx="4628056" cy="2366872"/>
              </a:xfrm>
            </p:grpSpPr>
            <p:grpSp>
              <p:nvGrpSpPr>
                <p:cNvPr id="34" name="Группа 33"/>
                <p:cNvGrpSpPr/>
                <p:nvPr/>
              </p:nvGrpSpPr>
              <p:grpSpPr>
                <a:xfrm>
                  <a:off x="2123728" y="1561489"/>
                  <a:ext cx="4628056" cy="2366872"/>
                  <a:chOff x="2123728" y="1592796"/>
                  <a:chExt cx="4207323" cy="2016224"/>
                </a:xfrm>
              </p:grpSpPr>
              <p:grpSp>
                <p:nvGrpSpPr>
                  <p:cNvPr id="3" name="Группа 2"/>
                  <p:cNvGrpSpPr/>
                  <p:nvPr/>
                </p:nvGrpSpPr>
                <p:grpSpPr>
                  <a:xfrm>
                    <a:off x="2123728" y="1772816"/>
                    <a:ext cx="3600400" cy="1656184"/>
                    <a:chOff x="2123728" y="1772816"/>
                    <a:chExt cx="3600400" cy="1656184"/>
                  </a:xfrm>
                </p:grpSpPr>
                <p:sp>
                  <p:nvSpPr>
                    <p:cNvPr id="2" name="Прямоугольник 1"/>
                    <p:cNvSpPr/>
                    <p:nvPr/>
                  </p:nvSpPr>
                  <p:spPr>
                    <a:xfrm>
                      <a:off x="2123728" y="2420888"/>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2   </a:t>
                      </a:r>
                      <a:r>
                        <a:rPr lang="en-US" dirty="0" smtClean="0">
                          <a:solidFill>
                            <a:schemeClr val="tx1"/>
                          </a:solidFill>
                        </a:rPr>
                        <a:t>  </a:t>
                      </a:r>
                      <a:r>
                        <a:rPr lang="uz-Cyrl-UZ" dirty="0" smtClean="0">
                          <a:solidFill>
                            <a:schemeClr val="tx1"/>
                          </a:solidFill>
                        </a:rPr>
                        <a:t> 3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en-US" i="1" dirty="0" smtClean="0">
                          <a:solidFill>
                            <a:schemeClr val="tx1"/>
                          </a:solidFill>
                        </a:rPr>
                        <a:t>n</a:t>
                      </a:r>
                      <a:r>
                        <a:rPr lang="uz-Cyrl-UZ" dirty="0" smtClean="0">
                          <a:solidFill>
                            <a:schemeClr val="tx1"/>
                          </a:solidFill>
                        </a:rPr>
                        <a:t> </a:t>
                      </a:r>
                      <a:endParaRPr lang="ru-RU" dirty="0">
                        <a:solidFill>
                          <a:schemeClr val="tx1"/>
                        </a:solidFill>
                      </a:endParaRPr>
                    </a:p>
                  </p:txBody>
                </p:sp>
                <p:sp>
                  <p:nvSpPr>
                    <p:cNvPr id="8" name="Прямоугольник 7"/>
                    <p:cNvSpPr/>
                    <p:nvPr/>
                  </p:nvSpPr>
                  <p:spPr>
                    <a:xfrm>
                      <a:off x="2123728" y="1772816"/>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p:cNvSpPr/>
                    <p:nvPr/>
                  </p:nvSpPr>
                  <p:spPr>
                    <a:xfrm>
                      <a:off x="2123728" y="3068960"/>
                      <a:ext cx="360040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dirty="0">
                        <a:solidFill>
                          <a:schemeClr val="tx1"/>
                        </a:solidFill>
                      </a:endParaRPr>
                    </a:p>
                  </p:txBody>
                </p:sp>
              </p:grpSp>
              <p:cxnSp>
                <p:nvCxnSpPr>
                  <p:cNvPr id="5" name="Прямая соединительная линия 4"/>
                  <p:cNvCxnSpPr/>
                  <p:nvPr/>
                </p:nvCxnSpPr>
                <p:spPr>
                  <a:xfrm>
                    <a:off x="2483768" y="2420264"/>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284380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a:off x="320384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a:off x="5364088"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233975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269979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305983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5508104" y="2780928"/>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flipV="1">
                    <a:off x="2339752" y="2132856"/>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flipV="1">
                    <a:off x="269979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V="1">
                    <a:off x="305983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flipV="1">
                    <a:off x="5508104" y="2132856"/>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3923928" y="1592796"/>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3923927" y="1596926"/>
                    <a:ext cx="20856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6009587" y="1596926"/>
                    <a:ext cx="0" cy="10033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flipH="1">
                    <a:off x="5724128" y="2600908"/>
                    <a:ext cx="285459"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a:off x="3938964" y="3429000"/>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3940830" y="3609020"/>
                    <a:ext cx="2390221"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1" name="Прямоугольник 30"/>
                <p:cNvSpPr/>
                <p:nvPr/>
              </p:nvSpPr>
              <p:spPr>
                <a:xfrm>
                  <a:off x="2228851" y="3321038"/>
                  <a:ext cx="3600400" cy="343861"/>
                </a:xfrm>
                <a:prstGeom prst="rect">
                  <a:avLst/>
                </a:prstGeom>
              </p:spPr>
              <p:txBody>
                <a:bodyPr wrap="square">
                  <a:spAutoFit/>
                </a:bodyPr>
                <a:lstStyle/>
                <a:p>
                  <a:r>
                    <a:rPr lang="uz-Cyrl-UZ" b="1" i="1" dirty="0">
                      <a:latin typeface="Times New Roman" pitchFamily="18" charset="0"/>
                      <a:cs typeface="Times New Roman" pitchFamily="18" charset="0"/>
                    </a:rPr>
                    <a:t>f</a:t>
                  </a:r>
                  <a:r>
                    <a:rPr lang="uz-Cyrl-UZ" b="1" dirty="0">
                      <a:latin typeface="Times New Roman" pitchFamily="18" charset="0"/>
                      <a:cs typeface="Times New Roman" pitchFamily="18" charset="0"/>
                    </a:rPr>
                    <a:t> (</a:t>
                  </a:r>
                  <a:r>
                    <a:rPr lang="uz-Cyrl-UZ" b="1" i="1" dirty="0" smtClean="0">
                      <a:latin typeface="Times New Roman" pitchFamily="18" charset="0"/>
                      <a:cs typeface="Times New Roman" pitchFamily="18" charset="0"/>
                    </a:rPr>
                    <a:t>x</a:t>
                  </a:r>
                  <a:r>
                    <a:rPr lang="uz-Cyrl-UZ" b="1" dirty="0" smtClean="0">
                      <a:latin typeface="Times New Roman" pitchFamily="18" charset="0"/>
                      <a:cs typeface="Times New Roman" pitchFamily="18" charset="0"/>
                    </a:rPr>
                    <a:t>)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2</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m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m</a:t>
                  </a:r>
                  <a:r>
                    <a:rPr lang="uz-Cyrl-UZ" b="1" baseline="-25000" dirty="0">
                      <a:latin typeface="Times New Roman" pitchFamily="18" charset="0"/>
                      <a:cs typeface="Times New Roman" pitchFamily="18" charset="0"/>
                    </a:rPr>
                    <a:t>+1 </a:t>
                  </a:r>
                  <a:r>
                    <a:rPr lang="uz-Cyrl-UZ" sz="1400" b="1" dirty="0" smtClean="0">
                      <a:latin typeface="Times New Roman" pitchFamily="18" charset="0"/>
                      <a:cs typeface="Times New Roman" pitchFamily="18" charset="0"/>
                    </a:rPr>
                    <a:t>⊕</a:t>
                  </a:r>
                  <a:r>
                    <a:rPr lang="uz-Cyrl-UZ" b="1" dirty="0">
                      <a:latin typeface="Times New Roman" pitchFamily="18" charset="0"/>
                      <a:cs typeface="Times New Roman" pitchFamily="18" charset="0"/>
                    </a:rPr>
                    <a:t>…</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n</a:t>
                  </a:r>
                  <a:r>
                    <a:rPr lang="uz-Cyrl-UZ" b="1" baseline="-25000" dirty="0">
                      <a:latin typeface="Times New Roman" pitchFamily="18" charset="0"/>
                      <a:cs typeface="Times New Roman" pitchFamily="18" charset="0"/>
                    </a:rPr>
                    <a:t> </a:t>
                  </a:r>
                  <a:endParaRPr lang="ru-RU" b="1" dirty="0">
                    <a:latin typeface="Times New Roman" pitchFamily="18" charset="0"/>
                    <a:cs typeface="Times New Roman" pitchFamily="18" charset="0"/>
                  </a:endParaRPr>
                </a:p>
              </p:txBody>
            </p:sp>
            <p:sp>
              <p:nvSpPr>
                <p:cNvPr id="32" name="Прямоугольник 31"/>
                <p:cNvSpPr/>
                <p:nvPr/>
              </p:nvSpPr>
              <p:spPr>
                <a:xfrm>
                  <a:off x="2339752" y="1772816"/>
                  <a:ext cx="3168352" cy="343861"/>
                </a:xfrm>
                <a:prstGeom prst="rect">
                  <a:avLst/>
                </a:prstGeom>
              </p:spPr>
              <p:txBody>
                <a:bodyPr wrap="square">
                  <a:spAutoFit/>
                </a:bodyPr>
                <a:lstStyle/>
                <a:p>
                  <a:r>
                    <a:rPr lang="en-US" b="1" i="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φ</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x</a:t>
                  </a:r>
                  <a:r>
                    <a:rPr lang="uz-Cyrl-UZ" b="1" i="1" baseline="-25000" dirty="0" smtClean="0">
                      <a:latin typeface="Times New Roman" pitchFamily="18" charset="0"/>
                      <a:cs typeface="Times New Roman" pitchFamily="18" charset="0"/>
                    </a:rPr>
                    <a:t>1</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n</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c</a:t>
                  </a:r>
                  <a:r>
                    <a:rPr lang="uz-Cyrl-UZ" b="1" i="1" baseline="-25000" dirty="0">
                      <a:latin typeface="Times New Roman" pitchFamily="18" charset="0"/>
                      <a:cs typeface="Times New Roman" pitchFamily="18" charset="0"/>
                    </a:rPr>
                    <a:t>n</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c</a:t>
                  </a:r>
                  <a:r>
                    <a:rPr lang="uz-Cyrl-UZ" b="1" baseline="-25000" dirty="0">
                      <a:latin typeface="Times New Roman" pitchFamily="18" charset="0"/>
                      <a:cs typeface="Times New Roman" pitchFamily="18" charset="0"/>
                    </a:rPr>
                    <a:t>1</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n</a:t>
                  </a:r>
                  <a:r>
                    <a:rPr lang="uz-Cyrl-UZ" b="1" dirty="0">
                      <a:latin typeface="Times New Roman" pitchFamily="18" charset="0"/>
                      <a:cs typeface="Times New Roman" pitchFamily="18" charset="0"/>
                    </a:rPr>
                    <a:t> </a:t>
                  </a:r>
                  <a:endParaRPr lang="ru-RU" b="1" dirty="0">
                    <a:latin typeface="Times New Roman" pitchFamily="18" charset="0"/>
                    <a:cs typeface="Times New Roman" pitchFamily="18" charset="0"/>
                  </a:endParaRPr>
                </a:p>
              </p:txBody>
            </p:sp>
          </p:grpSp>
          <p:sp>
            <p:nvSpPr>
              <p:cNvPr id="50" name="Прямоугольник 49"/>
              <p:cNvSpPr/>
              <p:nvPr/>
            </p:nvSpPr>
            <p:spPr>
              <a:xfrm>
                <a:off x="5348246" y="3407084"/>
                <a:ext cx="735921" cy="340474"/>
              </a:xfrm>
              <a:prstGeom prst="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itchFamily="18" charset="0"/>
                    <a:cs typeface="Times New Roman" pitchFamily="18" charset="0"/>
                  </a:rPr>
                  <a:t>{</a:t>
                </a:r>
                <a:r>
                  <a:rPr lang="en-US" i="1" dirty="0" smtClean="0">
                    <a:solidFill>
                      <a:schemeClr val="tx1"/>
                    </a:solidFill>
                    <a:latin typeface="Times New Roman" pitchFamily="18" charset="0"/>
                    <a:cs typeface="Times New Roman" pitchFamily="18" charset="0"/>
                  </a:rPr>
                  <a:t>y</a:t>
                </a:r>
                <a:r>
                  <a:rPr lang="en-US" dirty="0" smtClean="0">
                    <a:solidFill>
                      <a:schemeClr val="tx1"/>
                    </a:solidFill>
                    <a:latin typeface="Times New Roman" pitchFamily="18" charset="0"/>
                    <a:cs typeface="Times New Roman" pitchFamily="18" charset="0"/>
                  </a:rPr>
                  <a:t>(</a:t>
                </a:r>
                <a:r>
                  <a:rPr lang="en-US" i="1" dirty="0" smtClean="0">
                    <a:solidFill>
                      <a:schemeClr val="tx1"/>
                    </a:solidFill>
                    <a:latin typeface="Times New Roman" pitchFamily="18" charset="0"/>
                    <a:cs typeface="Times New Roman" pitchFamily="18" charset="0"/>
                  </a:rPr>
                  <a:t>t</a:t>
                </a:r>
                <a:r>
                  <a:rPr lang="en-US" dirty="0" smtClean="0">
                    <a:solidFill>
                      <a:schemeClr val="tx1"/>
                    </a:solidFill>
                    <a:latin typeface="Times New Roman" pitchFamily="18" charset="0"/>
                    <a:cs typeface="Times New Roman" pitchFamily="18" charset="0"/>
                  </a:rPr>
                  <a:t>)}</a:t>
                </a:r>
                <a:endParaRPr lang="ru-RU" dirty="0">
                  <a:solidFill>
                    <a:schemeClr val="tx1"/>
                  </a:solidFill>
                  <a:latin typeface="Times New Roman" pitchFamily="18" charset="0"/>
                  <a:cs typeface="Times New Roman" pitchFamily="18" charset="0"/>
                </a:endParaRPr>
              </a:p>
            </p:txBody>
          </p:sp>
        </p:grpSp>
        <p:sp>
          <p:nvSpPr>
            <p:cNvPr id="91" name="Прямоугольник 90"/>
            <p:cNvSpPr/>
            <p:nvPr/>
          </p:nvSpPr>
          <p:spPr>
            <a:xfrm>
              <a:off x="7284651" y="3826945"/>
              <a:ext cx="1319797" cy="322135"/>
            </a:xfrm>
            <a:prstGeom prst="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400" i="1" dirty="0" smtClean="0">
                  <a:solidFill>
                    <a:schemeClr val="tx1"/>
                  </a:solidFill>
                  <a:latin typeface="Times New Roman" pitchFamily="18" charset="0"/>
                  <a:cs typeface="Times New Roman" pitchFamily="18" charset="0"/>
                </a:rPr>
                <a:t>генератор-</a:t>
              </a:r>
              <a:r>
                <a:rPr lang="en-US" sz="1400" i="1" dirty="0" smtClean="0">
                  <a:solidFill>
                    <a:schemeClr val="tx1"/>
                  </a:solidFill>
                  <a:latin typeface="Times New Roman" pitchFamily="18" charset="0"/>
                  <a:cs typeface="Times New Roman" pitchFamily="18" charset="0"/>
                </a:rPr>
                <a:t>1</a:t>
              </a:r>
              <a:endParaRPr lang="ru-RU" sz="1400" i="1" dirty="0">
                <a:solidFill>
                  <a:schemeClr val="tx1"/>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171863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fade">
                                      <p:cBhvr>
                                        <p:cTn id="14" dur="1000"/>
                                        <p:tgtEl>
                                          <p:spTgt spid="52"/>
                                        </p:tgtEl>
                                      </p:cBhvr>
                                    </p:animEffect>
                                    <p:anim calcmode="lin" valueType="num">
                                      <p:cBhvr>
                                        <p:cTn id="15" dur="1000" fill="hold"/>
                                        <p:tgtEl>
                                          <p:spTgt spid="52"/>
                                        </p:tgtEl>
                                        <p:attrNameLst>
                                          <p:attrName>ppt_x</p:attrName>
                                        </p:attrNameLst>
                                      </p:cBhvr>
                                      <p:tavLst>
                                        <p:tav tm="0">
                                          <p:val>
                                            <p:strVal val="#ppt_x"/>
                                          </p:val>
                                        </p:tav>
                                        <p:tav tm="100000">
                                          <p:val>
                                            <p:strVal val="#ppt_x"/>
                                          </p:val>
                                        </p:tav>
                                      </p:tavLst>
                                    </p:anim>
                                    <p:anim calcmode="lin" valueType="num">
                                      <p:cBhvr>
                                        <p:cTn id="16"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xit" presetSubtype="4" fill="hold" nodeType="clickEffect">
                                  <p:stCondLst>
                                    <p:cond delay="0"/>
                                  </p:stCondLst>
                                  <p:childTnLst>
                                    <p:animEffect transition="out" filter="wipe(down)">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childTnLst>
                          </p:cTn>
                        </p:par>
                        <p:par>
                          <p:cTn id="22" fill="hold">
                            <p:stCondLst>
                              <p:cond delay="500"/>
                            </p:stCondLst>
                            <p:childTnLst>
                              <p:par>
                                <p:cTn id="23" presetID="14" presetClass="entr" presetSubtype="10" fill="hold" nodeType="afterEffect">
                                  <p:stCondLst>
                                    <p:cond delay="0"/>
                                  </p:stCondLst>
                                  <p:childTnLst>
                                    <p:set>
                                      <p:cBhvr>
                                        <p:cTn id="24" dur="1" fill="hold">
                                          <p:stCondLst>
                                            <p:cond delay="0"/>
                                          </p:stCondLst>
                                        </p:cTn>
                                        <p:tgtEl>
                                          <p:spTgt spid="224"/>
                                        </p:tgtEl>
                                        <p:attrNameLst>
                                          <p:attrName>style.visibility</p:attrName>
                                        </p:attrNameLst>
                                      </p:cBhvr>
                                      <p:to>
                                        <p:strVal val="visible"/>
                                      </p:to>
                                    </p:set>
                                    <p:animEffect transition="in" filter="randombar(horizontal)">
                                      <p:cBhvr>
                                        <p:cTn id="25"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1"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Скругленный прямоугольник 25"/>
          <p:cNvSpPr/>
          <p:nvPr/>
        </p:nvSpPr>
        <p:spPr>
          <a:xfrm>
            <a:off x="805160" y="368660"/>
            <a:ext cx="7517067" cy="540060"/>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tx1"/>
                </a:solidFill>
                <a:latin typeface="Times New Roman" pitchFamily="18" charset="0"/>
                <a:cs typeface="Times New Roman" pitchFamily="18" charset="0"/>
              </a:rPr>
              <a:t> Филтрловчи </a:t>
            </a:r>
            <a:r>
              <a:rPr lang="uz-Cyrl-UZ" b="1" dirty="0">
                <a:solidFill>
                  <a:schemeClr val="tx1"/>
                </a:solidFill>
                <a:latin typeface="Times New Roman" pitchFamily="18" charset="0"/>
                <a:cs typeface="Times New Roman" pitchFamily="18" charset="0"/>
              </a:rPr>
              <a:t>генераторларга корреляцион криптотаҳлил </a:t>
            </a:r>
            <a:r>
              <a:rPr lang="uz-Cyrl-UZ" b="1" dirty="0" smtClean="0">
                <a:solidFill>
                  <a:schemeClr val="tx1"/>
                </a:solidFill>
                <a:latin typeface="Times New Roman" pitchFamily="18" charset="0"/>
                <a:cs typeface="Times New Roman" pitchFamily="18" charset="0"/>
              </a:rPr>
              <a:t>усули</a:t>
            </a:r>
            <a:endParaRPr lang="ru-RU" sz="2000" b="1" dirty="0">
              <a:solidFill>
                <a:schemeClr val="tx1"/>
              </a:solidFill>
              <a:latin typeface="Times New Roman" pitchFamily="18" charset="0"/>
              <a:cs typeface="Times New Roman" pitchFamily="18" charset="0"/>
            </a:endParaRPr>
          </a:p>
        </p:txBody>
      </p:sp>
      <p:sp>
        <p:nvSpPr>
          <p:cNvPr id="52" name="Содержимое 2"/>
          <p:cNvSpPr txBox="1">
            <a:spLocks/>
          </p:cNvSpPr>
          <p:nvPr/>
        </p:nvSpPr>
        <p:spPr bwMode="auto">
          <a:xfrm>
            <a:off x="597233" y="1268760"/>
            <a:ext cx="7943304" cy="1224136"/>
          </a:xfrm>
          <a:prstGeom prst="foldedCorner">
            <a:avLst>
              <a:gd name="adj" fmla="val 658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r>
              <a:rPr lang="uz-Cyrl-UZ" b="1" dirty="0" smtClean="0">
                <a:latin typeface="Times New Roman" pitchFamily="18" charset="0"/>
                <a:cs typeface="Times New Roman" pitchFamily="18" charset="0"/>
              </a:rPr>
              <a:t>Мисол. </a:t>
            </a:r>
            <a:r>
              <a:rPr lang="uz-Cyrl-UZ" dirty="0" smtClean="0">
                <a:latin typeface="Times New Roman" pitchFamily="18" charset="0"/>
                <a:cs typeface="Times New Roman" pitchFamily="18" charset="0"/>
              </a:rPr>
              <a:t>Генераторнинг силжитиш регистри узунлиги 7 га тенг;</a:t>
            </a:r>
          </a:p>
          <a:p>
            <a:r>
              <a:rPr lang="uz-Cyrl-UZ" dirty="0" smtClean="0">
                <a:latin typeface="Times New Roman" pitchFamily="18" charset="0"/>
                <a:cs typeface="Times New Roman" pitchFamily="18" charset="0"/>
              </a:rPr>
              <a:t>Филтрловчи функция: </a:t>
            </a:r>
            <a:r>
              <a:rPr lang="uz-Cyrl-UZ" b="1" i="1" dirty="0">
                <a:latin typeface="Times New Roman" pitchFamily="18" charset="0"/>
                <a:cs typeface="Times New Roman" pitchFamily="18" charset="0"/>
              </a:rPr>
              <a:t>f</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2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3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4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5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6 </a:t>
            </a:r>
            <a:r>
              <a:rPr lang="uz-Cyrl-UZ" b="1" dirty="0">
                <a:latin typeface="Times New Roman" pitchFamily="18" charset="0"/>
                <a:cs typeface="Times New Roman" pitchFamily="18" charset="0"/>
              </a:rPr>
              <a:t>⊕ </a:t>
            </a:r>
            <a:r>
              <a:rPr lang="uz-Cyrl-UZ" b="1" i="1" dirty="0" smtClean="0">
                <a:latin typeface="Times New Roman" pitchFamily="18" charset="0"/>
                <a:cs typeface="Times New Roman" pitchFamily="18" charset="0"/>
              </a:rPr>
              <a:t>x</a:t>
            </a:r>
            <a:r>
              <a:rPr lang="uz-Cyrl-UZ" b="1" baseline="-25000" dirty="0" smtClean="0">
                <a:latin typeface="Times New Roman" pitchFamily="18" charset="0"/>
                <a:cs typeface="Times New Roman" pitchFamily="18" charset="0"/>
              </a:rPr>
              <a:t>7</a:t>
            </a:r>
            <a:r>
              <a:rPr lang="ru-RU" dirty="0" smtClean="0">
                <a:latin typeface="Times New Roman" pitchFamily="18" charset="0"/>
                <a:cs typeface="Times New Roman" pitchFamily="18" charset="0"/>
              </a:rPr>
              <a:t> ;</a:t>
            </a:r>
          </a:p>
          <a:p>
            <a:r>
              <a:rPr lang="uz-Cyrl-UZ" dirty="0" smtClean="0">
                <a:latin typeface="Times New Roman" pitchFamily="18" charset="0"/>
                <a:cs typeface="Times New Roman" pitchFamily="18" charset="0"/>
              </a:rPr>
              <a:t>Тескари алоқа функцияси: </a:t>
            </a:r>
            <a:r>
              <a:rPr lang="uz-Cyrl-UZ" b="1" i="1" dirty="0">
                <a:latin typeface="Times New Roman" pitchFamily="18" charset="0"/>
                <a:cs typeface="Times New Roman" pitchFamily="18" charset="0"/>
              </a:rPr>
              <a:t>φ</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7</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2</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3</a:t>
            </a:r>
            <a:r>
              <a:rPr lang="uz-Cyrl-UZ" b="1" dirty="0">
                <a:latin typeface="Times New Roman" pitchFamily="18" charset="0"/>
                <a:cs typeface="Times New Roman" pitchFamily="18" charset="0"/>
              </a:rPr>
              <a:t> ⊕ </a:t>
            </a:r>
            <a:r>
              <a:rPr lang="uz-Cyrl-UZ" b="1" i="1" dirty="0" smtClean="0">
                <a:latin typeface="Times New Roman" pitchFamily="18" charset="0"/>
                <a:cs typeface="Times New Roman" pitchFamily="18" charset="0"/>
              </a:rPr>
              <a:t>x</a:t>
            </a:r>
            <a:r>
              <a:rPr lang="uz-Cyrl-UZ" b="1" baseline="-25000" dirty="0" smtClean="0">
                <a:latin typeface="Times New Roman" pitchFamily="18" charset="0"/>
                <a:cs typeface="Times New Roman" pitchFamily="18" charset="0"/>
              </a:rPr>
              <a:t>6</a:t>
            </a:r>
            <a:r>
              <a:rPr lang="uz-Cyrl-UZ" b="1"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a:t>
            </a:r>
          </a:p>
          <a:p>
            <a:r>
              <a:rPr lang="uz-Cyrl-UZ" dirty="0" smtClean="0">
                <a:latin typeface="Times New Roman" pitchFamily="18" charset="0"/>
                <a:cs typeface="Times New Roman" pitchFamily="18" charset="0"/>
              </a:rPr>
              <a:t>Генератордан чиқувчи гамма кетма-кетлик: </a:t>
            </a:r>
            <a:r>
              <a:rPr lang="uz-Cyrl-UZ" b="1" dirty="0">
                <a:latin typeface="Times New Roman" pitchFamily="18" charset="0"/>
                <a:cs typeface="Times New Roman" pitchFamily="18" charset="0"/>
              </a:rPr>
              <a:t>00101001110010</a:t>
            </a:r>
            <a:r>
              <a:rPr lang="uz-Cyrl-UZ" dirty="0">
                <a:latin typeface="Times New Roman" pitchFamily="18" charset="0"/>
                <a:cs typeface="Times New Roman" pitchFamily="18" charset="0"/>
              </a:rPr>
              <a:t> бўлсин. </a:t>
            </a:r>
            <a:endParaRPr lang="ru-RU" dirty="0">
              <a:latin typeface="Times New Roman" pitchFamily="18" charset="0"/>
              <a:cs typeface="Times New Roman" pitchFamily="18" charset="0"/>
            </a:endParaRPr>
          </a:p>
          <a:p>
            <a:endParaRPr lang="uz-Cyrl-UZ" dirty="0" smtClean="0"/>
          </a:p>
          <a:p>
            <a:r>
              <a:rPr lang="uz-Cyrl-UZ" b="1" dirty="0" smtClean="0"/>
              <a:t> </a:t>
            </a:r>
            <a:endParaRPr lang="ru-RU" b="1" dirty="0">
              <a:latin typeface="Times New Roman" pitchFamily="18" charset="0"/>
              <a:cs typeface="Times New Roman" pitchFamily="18" charset="0"/>
            </a:endParaRPr>
          </a:p>
        </p:txBody>
      </p:sp>
      <p:sp>
        <p:nvSpPr>
          <p:cNvPr id="37" name="Содержимое 2"/>
          <p:cNvSpPr txBox="1">
            <a:spLocks/>
          </p:cNvSpPr>
          <p:nvPr/>
        </p:nvSpPr>
        <p:spPr bwMode="auto">
          <a:xfrm>
            <a:off x="597233" y="1254404"/>
            <a:ext cx="7943304" cy="5112568"/>
          </a:xfrm>
          <a:prstGeom prst="foldedCorner">
            <a:avLst>
              <a:gd name="adj" fmla="val 658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r>
              <a:rPr lang="uz-Cyrl-UZ" i="1" dirty="0" smtClean="0">
                <a:latin typeface="Times New Roman" pitchFamily="18" charset="0"/>
                <a:cs typeface="Times New Roman" pitchFamily="18" charset="0"/>
              </a:rPr>
              <a:t>          f</a:t>
            </a:r>
            <a:r>
              <a:rPr lang="uz-Cyrl-UZ"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dirty="0">
                <a:latin typeface="Times New Roman" pitchFamily="18" charset="0"/>
                <a:cs typeface="Times New Roman" pitchFamily="18" charset="0"/>
              </a:rPr>
              <a:t>) филтрловчи функциянинг чизиқли статаналоги </a:t>
            </a:r>
            <a:r>
              <a:rPr lang="uz-Cyrl-UZ" b="1" i="1" dirty="0">
                <a:latin typeface="Times New Roman" pitchFamily="18" charset="0"/>
                <a:cs typeface="Times New Roman" pitchFamily="18" charset="0"/>
              </a:rPr>
              <a:t>l</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baseline="-25000" dirty="0">
                <a:latin typeface="Times New Roman" pitchFamily="18" charset="0"/>
                <a:cs typeface="Times New Roman" pitchFamily="18" charset="0"/>
              </a:rPr>
              <a:t>1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7</a:t>
            </a:r>
            <a:r>
              <a:rPr lang="uz-Cyrl-UZ" b="1" dirty="0">
                <a:latin typeface="Times New Roman" pitchFamily="18" charset="0"/>
                <a:cs typeface="Times New Roman" pitchFamily="18" charset="0"/>
              </a:rPr>
              <a:t> </a:t>
            </a:r>
            <a:r>
              <a:rPr lang="uz-Cyrl-UZ" dirty="0">
                <a:latin typeface="Times New Roman" pitchFamily="18" charset="0"/>
                <a:cs typeface="Times New Roman" pitchFamily="18" charset="0"/>
              </a:rPr>
              <a:t>функция ҳисобланади. Берилган функцияда </a:t>
            </a:r>
            <a:r>
              <a:rPr lang="uz-Cyrl-UZ" b="1" i="1" dirty="0">
                <a:latin typeface="Times New Roman" pitchFamily="18" charset="0"/>
                <a:cs typeface="Times New Roman" pitchFamily="18" charset="0"/>
              </a:rPr>
              <a:t>m</a:t>
            </a:r>
            <a:r>
              <a:rPr lang="uz-Cyrl-UZ" b="1" dirty="0">
                <a:latin typeface="Times New Roman" pitchFamily="18" charset="0"/>
                <a:cs typeface="Times New Roman" pitchFamily="18" charset="0"/>
              </a:rPr>
              <a:t> = 5 </a:t>
            </a:r>
            <a:r>
              <a:rPr lang="uz-Cyrl-UZ" dirty="0">
                <a:latin typeface="Times New Roman" pitchFamily="18" charset="0"/>
                <a:cs typeface="Times New Roman" pitchFamily="18" charset="0"/>
              </a:rPr>
              <a:t>бўлганлиги сабабли, </a:t>
            </a:r>
            <a:r>
              <a:rPr lang="uz-Cyrl-UZ" i="1" dirty="0">
                <a:latin typeface="Times New Roman" pitchFamily="18" charset="0"/>
                <a:cs typeface="Times New Roman" pitchFamily="18" charset="0"/>
              </a:rPr>
              <a:t>f</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dirty="0">
                <a:latin typeface="Times New Roman" pitchFamily="18" charset="0"/>
                <a:cs typeface="Times New Roman" pitchFamily="18" charset="0"/>
              </a:rPr>
              <a:t>) филтрловчи функция ва унинг чизиқли статаналогининг мослик эҳтимоллиги  </a:t>
            </a:r>
            <a:r>
              <a:rPr lang="uz-Cyrl-UZ"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P</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f</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x</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l</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dirty="0">
                <a:latin typeface="Times New Roman" pitchFamily="18" charset="0"/>
                <a:cs typeface="Times New Roman" pitchFamily="18" charset="0"/>
              </a:rPr>
              <a:t>)} = 1 – 2</a:t>
            </a:r>
            <a:r>
              <a:rPr lang="uz-Cyrl-UZ" b="1" baseline="30000" dirty="0">
                <a:latin typeface="Times New Roman" pitchFamily="18" charset="0"/>
                <a:cs typeface="Times New Roman" pitchFamily="18" charset="0"/>
              </a:rPr>
              <a:t>-m </a:t>
            </a:r>
            <a:r>
              <a:rPr lang="uz-Cyrl-UZ" b="1" dirty="0" smtClean="0">
                <a:latin typeface="Times New Roman" pitchFamily="18" charset="0"/>
                <a:cs typeface="Times New Roman" pitchFamily="18" charset="0"/>
              </a:rPr>
              <a:t>= 1 </a:t>
            </a:r>
            <a:r>
              <a:rPr lang="uz-Cyrl-UZ" b="1" dirty="0">
                <a:latin typeface="Times New Roman" pitchFamily="18" charset="0"/>
                <a:cs typeface="Times New Roman" pitchFamily="18" charset="0"/>
              </a:rPr>
              <a:t>– 2</a:t>
            </a:r>
            <a:r>
              <a:rPr lang="uz-Cyrl-UZ" b="1" baseline="30000" dirty="0">
                <a:latin typeface="Times New Roman" pitchFamily="18" charset="0"/>
                <a:cs typeface="Times New Roman" pitchFamily="18" charset="0"/>
              </a:rPr>
              <a:t>-5</a:t>
            </a:r>
            <a:r>
              <a:rPr lang="uz-Cyrl-UZ" b="1" dirty="0">
                <a:latin typeface="Times New Roman" pitchFamily="18" charset="0"/>
                <a:cs typeface="Times New Roman" pitchFamily="18" charset="0"/>
              </a:rPr>
              <a:t> ≈ 0,969 </a:t>
            </a:r>
            <a:r>
              <a:rPr lang="uz-Cyrl-UZ" dirty="0">
                <a:latin typeface="Times New Roman" pitchFamily="18" charset="0"/>
                <a:cs typeface="Times New Roman" pitchFamily="18" charset="0"/>
              </a:rPr>
              <a:t>га тенг</a:t>
            </a:r>
            <a:r>
              <a:rPr lang="uz-Cyrl-UZ" dirty="0" smtClean="0">
                <a:latin typeface="Times New Roman" pitchFamily="18" charset="0"/>
                <a:cs typeface="Times New Roman" pitchFamily="18" charset="0"/>
              </a:rPr>
              <a:t>. </a:t>
            </a:r>
            <a:r>
              <a:rPr lang="uz-Cyrl-UZ" dirty="0">
                <a:latin typeface="Times New Roman" pitchFamily="18" charset="0"/>
                <a:cs typeface="Times New Roman" pitchFamily="18" charset="0"/>
              </a:rPr>
              <a:t>Мазкур ҳолатда генератор-2 нинг регистр узунлиги генератор-1 нинг регистр узунлиги билан мос тушади ва </a:t>
            </a:r>
            <a:r>
              <a:rPr lang="ru-RU" dirty="0">
                <a:latin typeface="Times New Roman" pitchFamily="18" charset="0"/>
                <a:cs typeface="Times New Roman" pitchFamily="18" charset="0"/>
              </a:rPr>
              <a:t>у</a:t>
            </a:r>
            <a:r>
              <a:rPr lang="uz-Cyrl-UZ" dirty="0">
                <a:latin typeface="Times New Roman" pitchFamily="18" charset="0"/>
                <a:cs typeface="Times New Roman" pitchFamily="18" charset="0"/>
              </a:rPr>
              <a:t> 7 га тенг бўлади. </a:t>
            </a:r>
            <a:r>
              <a:rPr lang="uz-Cyrl-UZ" dirty="0" smtClean="0">
                <a:latin typeface="Times New Roman" pitchFamily="18" charset="0"/>
                <a:cs typeface="Times New Roman" pitchFamily="18" charset="0"/>
              </a:rPr>
              <a:t>Генератор-2 </a:t>
            </a:r>
            <a:r>
              <a:rPr lang="uz-Cyrl-UZ" dirty="0">
                <a:latin typeface="Times New Roman" pitchFamily="18" charset="0"/>
                <a:cs typeface="Times New Roman" pitchFamily="18" charset="0"/>
              </a:rPr>
              <a:t>нинг тескари алоқа функцияси </a:t>
            </a:r>
            <a:r>
              <a:rPr lang="uz-Cyrl-UZ" dirty="0" smtClean="0">
                <a:latin typeface="Times New Roman" pitchFamily="18" charset="0"/>
                <a:cs typeface="Times New Roman" pitchFamily="18" charset="0"/>
              </a:rPr>
              <a:t>                       </a:t>
            </a:r>
            <a:r>
              <a:rPr lang="uz-Cyrl-UZ" i="1" dirty="0" smtClean="0">
                <a:latin typeface="Times New Roman" pitchFamily="18" charset="0"/>
                <a:cs typeface="Times New Roman" pitchFamily="18" charset="0"/>
              </a:rPr>
              <a:t>φ</a:t>
            </a:r>
            <a:r>
              <a:rPr lang="uz-Cyrl-UZ"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1</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a:t>
            </a:r>
            <a:r>
              <a:rPr lang="uz-Cyrl-UZ" dirty="0">
                <a:latin typeface="Times New Roman" pitchFamily="18" charset="0"/>
                <a:cs typeface="Times New Roman" pitchFamily="18" charset="0"/>
              </a:rPr>
              <a:t>) =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a:t>
            </a:r>
            <a:r>
              <a:rPr lang="uz-Cyrl-UZ" sz="1400"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a:t>
            </a:r>
            <a:r>
              <a:rPr lang="uz-Cyrl-UZ" dirty="0">
                <a:latin typeface="Times New Roman" pitchFamily="18" charset="0"/>
                <a:cs typeface="Times New Roman" pitchFamily="18" charset="0"/>
              </a:rPr>
              <a:t>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га тенг. Мос равишда унинг характерли кўпҳади қуйидагича </a:t>
            </a:r>
            <a:r>
              <a:rPr lang="uz-Cyrl-UZ" dirty="0" smtClean="0">
                <a:latin typeface="Times New Roman" pitchFamily="18" charset="0"/>
                <a:cs typeface="Times New Roman" pitchFamily="18" charset="0"/>
              </a:rPr>
              <a:t>бўлади:</a:t>
            </a:r>
            <a:r>
              <a:rPr lang="ru-RU" dirty="0">
                <a:latin typeface="Times New Roman" pitchFamily="18" charset="0"/>
                <a:cs typeface="Times New Roman" pitchFamily="18" charset="0"/>
              </a:rPr>
              <a:t> </a:t>
            </a:r>
            <a:r>
              <a:rPr lang="ru-RU" dirty="0" smtClean="0">
                <a:latin typeface="Times New Roman" pitchFamily="18" charset="0"/>
                <a:cs typeface="Times New Roman" pitchFamily="18" charset="0"/>
              </a:rPr>
              <a:t>          </a:t>
            </a:r>
          </a:p>
          <a:p>
            <a:pPr algn="ctr">
              <a:spcAft>
                <a:spcPts val="300"/>
              </a:spcAft>
            </a:pPr>
            <a:r>
              <a:rPr lang="uz-Cyrl-UZ" b="1" i="1" dirty="0" smtClean="0">
                <a:latin typeface="Times New Roman" pitchFamily="18" charset="0"/>
                <a:cs typeface="Times New Roman" pitchFamily="18" charset="0"/>
              </a:rPr>
              <a:t>C</a:t>
            </a:r>
            <a:r>
              <a:rPr lang="uz-Cyrl-UZ" b="1" dirty="0" smtClean="0">
                <a:latin typeface="Times New Roman" pitchFamily="18" charset="0"/>
                <a:cs typeface="Times New Roman" pitchFamily="18" charset="0"/>
              </a:rPr>
              <a:t>(</a:t>
            </a:r>
            <a:r>
              <a:rPr lang="uz-Cyrl-UZ" b="1" i="1" dirty="0" smtClean="0">
                <a:latin typeface="Times New Roman" pitchFamily="18" charset="0"/>
                <a:cs typeface="Times New Roman" pitchFamily="18" charset="0"/>
              </a:rPr>
              <a:t>D</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D</a:t>
            </a:r>
            <a:r>
              <a:rPr lang="uz-Cyrl-UZ" b="1" baseline="30000" dirty="0">
                <a:latin typeface="Times New Roman" pitchFamily="18" charset="0"/>
                <a:cs typeface="Times New Roman" pitchFamily="18" charset="0"/>
              </a:rPr>
              <a:t>7</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D</a:t>
            </a:r>
            <a:r>
              <a:rPr lang="uz-Cyrl-UZ" b="1" baseline="30000" dirty="0">
                <a:latin typeface="Times New Roman" pitchFamily="18" charset="0"/>
                <a:cs typeface="Times New Roman" pitchFamily="18" charset="0"/>
              </a:rPr>
              <a:t>6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D</a:t>
            </a:r>
            <a:r>
              <a:rPr lang="uz-Cyrl-UZ" b="1" baseline="30000" dirty="0">
                <a:latin typeface="Times New Roman" pitchFamily="18" charset="0"/>
                <a:cs typeface="Times New Roman" pitchFamily="18" charset="0"/>
              </a:rPr>
              <a:t>5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D</a:t>
            </a:r>
            <a:r>
              <a:rPr lang="uz-Cyrl-UZ" b="1" baseline="30000" dirty="0">
                <a:latin typeface="Times New Roman" pitchFamily="18" charset="0"/>
                <a:cs typeface="Times New Roman" pitchFamily="18" charset="0"/>
              </a:rPr>
              <a:t>2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dirty="0" smtClean="0">
                <a:latin typeface="Times New Roman" pitchFamily="18" charset="0"/>
                <a:cs typeface="Times New Roman" pitchFamily="18" charset="0"/>
              </a:rPr>
              <a:t>1</a:t>
            </a:r>
          </a:p>
          <a:p>
            <a:pPr algn="just">
              <a:spcAft>
                <a:spcPts val="300"/>
              </a:spcAft>
            </a:pPr>
            <a:r>
              <a:rPr lang="uz-Cyrl-UZ" dirty="0" smtClean="0">
                <a:latin typeface="Times New Roman" pitchFamily="18" charset="0"/>
                <a:cs typeface="Times New Roman" pitchFamily="18" charset="0"/>
              </a:rPr>
              <a:t>          Генератор-2 даги </a:t>
            </a:r>
            <a:r>
              <a:rPr lang="uz-Cyrl-UZ" dirty="0">
                <a:latin typeface="Times New Roman" pitchFamily="18" charset="0"/>
                <a:cs typeface="Times New Roman" pitchFamily="18" charset="0"/>
              </a:rPr>
              <a:t>регистрнинг тўлдирилишини</a:t>
            </a:r>
            <a:r>
              <a:rPr lang="uz-Cyrl-UZ" i="1" dirty="0">
                <a:latin typeface="Times New Roman" pitchFamily="18" charset="0"/>
                <a:cs typeface="Times New Roman" pitchFamily="18" charset="0"/>
              </a:rPr>
              <a:t> t</a:t>
            </a:r>
            <a:r>
              <a:rPr lang="uz-Cyrl-UZ" dirty="0">
                <a:latin typeface="Times New Roman" pitchFamily="18" charset="0"/>
                <a:cs typeface="Times New Roman" pitchFamily="18" charset="0"/>
              </a:rPr>
              <a:t> вақт моментида                       </a:t>
            </a:r>
            <a:r>
              <a:rPr lang="uz-Cyrl-UZ" i="1" dirty="0">
                <a:latin typeface="Times New Roman" pitchFamily="18" charset="0"/>
                <a:cs typeface="Times New Roman" pitchFamily="18" charset="0"/>
              </a:rPr>
              <a:t>x</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t</a:t>
            </a:r>
            <a:r>
              <a:rPr lang="uz-Cyrl-UZ" dirty="0">
                <a:latin typeface="Times New Roman" pitchFamily="18" charset="0"/>
                <a:cs typeface="Times New Roman" pitchFamily="18" charset="0"/>
              </a:rPr>
              <a:t>) = (</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t</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t</a:t>
            </a:r>
            <a:r>
              <a:rPr lang="uz-Cyrl-UZ"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орқали белгилаб, қуйидагиларга эга бўламиз:</a:t>
            </a:r>
            <a:endParaRPr lang="ru-RU" dirty="0">
              <a:latin typeface="Times New Roman" pitchFamily="18" charset="0"/>
              <a:cs typeface="Times New Roman" pitchFamily="18" charset="0"/>
            </a:endParaRPr>
          </a:p>
          <a:p>
            <a:pPr algn="ctr">
              <a:spcAft>
                <a:spcPts val="300"/>
              </a:spcAft>
            </a:pPr>
            <a:r>
              <a:rPr lang="uz-Cyrl-UZ" b="1" i="1" dirty="0">
                <a:latin typeface="Times New Roman" pitchFamily="18" charset="0"/>
                <a:cs typeface="Times New Roman" pitchFamily="18" charset="0"/>
              </a:rPr>
              <a:t>y</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t</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y’</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t</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l</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t</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l</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a:t>
            </a:r>
            <a:r>
              <a:rPr lang="uz-Cyrl-UZ" b="1" baseline="-25000" dirty="0">
                <a:latin typeface="Times New Roman" pitchFamily="18" charset="0"/>
                <a:cs typeface="Times New Roman" pitchFamily="18" charset="0"/>
              </a:rPr>
              <a:t>+1</a:t>
            </a:r>
            <a:r>
              <a:rPr lang="uz-Cyrl-UZ" b="1" dirty="0">
                <a:latin typeface="Times New Roman" pitchFamily="18" charset="0"/>
                <a:cs typeface="Times New Roman" pitchFamily="18" charset="0"/>
              </a:rPr>
              <a:t>,…,</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a:t>
            </a:r>
            <a:r>
              <a:rPr lang="uz-Cyrl-UZ" b="1" baseline="-25000" dirty="0">
                <a:latin typeface="Times New Roman" pitchFamily="18" charset="0"/>
                <a:cs typeface="Times New Roman" pitchFamily="18" charset="0"/>
              </a:rPr>
              <a:t>+6</a:t>
            </a:r>
            <a:r>
              <a:rPr lang="uz-Cyrl-UZ" b="1" dirty="0">
                <a:latin typeface="Times New Roman" pitchFamily="18" charset="0"/>
                <a:cs typeface="Times New Roman" pitchFamily="18" charset="0"/>
              </a:rPr>
              <a:t>) =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a:t>
            </a:r>
            <a:r>
              <a:rPr lang="uz-Cyrl-UZ" b="1" baseline="-25000" dirty="0">
                <a:latin typeface="Times New Roman" pitchFamily="18" charset="0"/>
                <a:cs typeface="Times New Roman" pitchFamily="18" charset="0"/>
              </a:rPr>
              <a:t>+6 </a:t>
            </a:r>
            <a:endParaRPr lang="uz-Cyrl-UZ" b="1" baseline="-25000" dirty="0" smtClean="0">
              <a:latin typeface="Times New Roman" pitchFamily="18" charset="0"/>
              <a:cs typeface="Times New Roman" pitchFamily="18" charset="0"/>
            </a:endParaRPr>
          </a:p>
          <a:p>
            <a:pPr algn="just">
              <a:spcAft>
                <a:spcPts val="300"/>
              </a:spcAft>
            </a:pPr>
            <a:r>
              <a:rPr lang="uz-Cyrl-UZ" b="1" baseline="-25000" dirty="0">
                <a:latin typeface="Times New Roman" pitchFamily="18" charset="0"/>
                <a:cs typeface="Times New Roman" pitchFamily="18" charset="0"/>
              </a:rPr>
              <a:t> </a:t>
            </a:r>
            <a:r>
              <a:rPr lang="uz-Cyrl-UZ" b="1" baseline="-25000"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Шу </a:t>
            </a:r>
            <a:r>
              <a:rPr lang="uz-Cyrl-UZ" dirty="0">
                <a:latin typeface="Times New Roman" pitchFamily="18" charset="0"/>
                <a:cs typeface="Times New Roman" pitchFamily="18" charset="0"/>
              </a:rPr>
              <a:t>билан бирга, барча </a:t>
            </a:r>
            <a:r>
              <a:rPr lang="uz-Cyrl-UZ" i="1" dirty="0">
                <a:latin typeface="Times New Roman" pitchFamily="18" charset="0"/>
                <a:cs typeface="Times New Roman" pitchFamily="18" charset="0"/>
              </a:rPr>
              <a:t>t</a:t>
            </a:r>
            <a:r>
              <a:rPr lang="uz-Cyrl-UZ" dirty="0">
                <a:latin typeface="Times New Roman" pitchFamily="18" charset="0"/>
                <a:cs typeface="Times New Roman" pitchFamily="18" charset="0"/>
              </a:rPr>
              <a:t> &gt; 6 лар учун </a:t>
            </a:r>
            <a:r>
              <a:rPr lang="uz-Cyrl-UZ" i="1" dirty="0">
                <a:latin typeface="Times New Roman" pitchFamily="18" charset="0"/>
                <a:cs typeface="Times New Roman" pitchFamily="18" charset="0"/>
              </a:rPr>
              <a:t>φ</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a:t>
            </a:r>
            <a:r>
              <a:rPr lang="uz-Cyrl-UZ" dirty="0">
                <a:latin typeface="Times New Roman" pitchFamily="18" charset="0"/>
                <a:cs typeface="Times New Roman" pitchFamily="18" charset="0"/>
              </a:rPr>
              <a:t>) =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a:t>
            </a:r>
            <a:r>
              <a:rPr lang="uz-Cyrl-UZ" dirty="0">
                <a:latin typeface="Times New Roman" pitchFamily="18" charset="0"/>
                <a:cs typeface="Times New Roman" pitchFamily="18" charset="0"/>
              </a:rPr>
              <a:t>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га биноан қуйидаги рекуррент ифода ўринли бўлади:  </a:t>
            </a:r>
            <a:endParaRPr lang="uz-Cyrl-UZ" dirty="0" smtClean="0">
              <a:latin typeface="Times New Roman" pitchFamily="18" charset="0"/>
              <a:cs typeface="Times New Roman" pitchFamily="18" charset="0"/>
            </a:endParaRPr>
          </a:p>
          <a:p>
            <a:pPr algn="ctr">
              <a:spcAft>
                <a:spcPts val="300"/>
              </a:spcAft>
            </a:pPr>
            <a:r>
              <a:rPr lang="uz-Cyrl-UZ" b="1" i="1" dirty="0" smtClean="0">
                <a:latin typeface="Times New Roman" pitchFamily="18" charset="0"/>
                <a:cs typeface="Times New Roman" pitchFamily="18" charset="0"/>
              </a:rPr>
              <a:t>x</a:t>
            </a:r>
            <a:r>
              <a:rPr lang="uz-Cyrl-UZ" b="1" i="1" baseline="-25000" dirty="0" smtClean="0">
                <a:latin typeface="Times New Roman" pitchFamily="18" charset="0"/>
                <a:cs typeface="Times New Roman" pitchFamily="18" charset="0"/>
              </a:rPr>
              <a:t>t</a:t>
            </a:r>
            <a:r>
              <a:rPr lang="uz-Cyrl-UZ" b="1" dirty="0" smtClean="0">
                <a:latin typeface="Times New Roman" pitchFamily="18" charset="0"/>
                <a:cs typeface="Times New Roman" pitchFamily="18" charset="0"/>
              </a:rPr>
              <a:t> </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t-7</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t-6</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a:latin typeface="Times New Roman" pitchFamily="18" charset="0"/>
                <a:cs typeface="Times New Roman" pitchFamily="18" charset="0"/>
              </a:rPr>
              <a:t>x</a:t>
            </a:r>
            <a:r>
              <a:rPr lang="uz-Cyrl-UZ" b="1" i="1" baseline="-25000" dirty="0">
                <a:latin typeface="Times New Roman" pitchFamily="18" charset="0"/>
                <a:cs typeface="Times New Roman" pitchFamily="18" charset="0"/>
              </a:rPr>
              <a:t>t-5</a:t>
            </a:r>
            <a:r>
              <a:rPr lang="uz-Cyrl-UZ" b="1" dirty="0">
                <a:latin typeface="Times New Roman" pitchFamily="18" charset="0"/>
                <a:cs typeface="Times New Roman" pitchFamily="18" charset="0"/>
              </a:rPr>
              <a:t> </a:t>
            </a:r>
            <a:r>
              <a:rPr lang="uz-Cyrl-UZ" sz="1400" b="1" dirty="0">
                <a:latin typeface="Times New Roman" pitchFamily="18" charset="0"/>
                <a:cs typeface="Times New Roman" pitchFamily="18" charset="0"/>
              </a:rPr>
              <a:t>⊕</a:t>
            </a:r>
            <a:r>
              <a:rPr lang="uz-Cyrl-UZ" b="1" dirty="0">
                <a:latin typeface="Times New Roman" pitchFamily="18" charset="0"/>
                <a:cs typeface="Times New Roman" pitchFamily="18" charset="0"/>
              </a:rPr>
              <a:t> </a:t>
            </a:r>
            <a:r>
              <a:rPr lang="uz-Cyrl-UZ" b="1" i="1" dirty="0" smtClean="0">
                <a:latin typeface="Times New Roman" pitchFamily="18" charset="0"/>
                <a:cs typeface="Times New Roman" pitchFamily="18" charset="0"/>
              </a:rPr>
              <a:t>x</a:t>
            </a:r>
            <a:r>
              <a:rPr lang="uz-Cyrl-UZ" b="1" i="1" baseline="-25000" dirty="0" smtClean="0">
                <a:latin typeface="Times New Roman" pitchFamily="18" charset="0"/>
                <a:cs typeface="Times New Roman" pitchFamily="18" charset="0"/>
              </a:rPr>
              <a:t>t-2</a:t>
            </a:r>
            <a:endParaRPr lang="uz-Cyrl-UZ" dirty="0" smtClean="0">
              <a:latin typeface="Times New Roman" pitchFamily="18" charset="0"/>
              <a:cs typeface="Times New Roman" pitchFamily="18" charset="0"/>
            </a:endParaRPr>
          </a:p>
          <a:p>
            <a:pPr algn="just">
              <a:spcAft>
                <a:spcPts val="300"/>
              </a:spcAft>
            </a:pPr>
            <a:r>
              <a:rPr lang="uz-Cyrl-UZ" dirty="0" smtClean="0">
                <a:latin typeface="Times New Roman" pitchFamily="18" charset="0"/>
                <a:cs typeface="Times New Roman" pitchFamily="18" charset="0"/>
              </a:rPr>
              <a:t>Натижада   </a:t>
            </a:r>
            <a:r>
              <a:rPr lang="uz-Cyrl-UZ" dirty="0">
                <a:latin typeface="Times New Roman" pitchFamily="18" charset="0"/>
                <a:cs typeface="Times New Roman" pitchFamily="18" charset="0"/>
              </a:rPr>
              <a:t>генератор-1 ва -2 ларнинг </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0</a:t>
            </a:r>
            <a:r>
              <a:rPr lang="uz-Cyrl-UZ" dirty="0">
                <a:latin typeface="Times New Roman" pitchFamily="18" charset="0"/>
                <a:cs typeface="Times New Roman" pitchFamily="18" charset="0"/>
              </a:rPr>
              <a:t>, ... </a:t>
            </a:r>
            <a:r>
              <a:rPr lang="uz-Cyrl-UZ"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i="1" baseline="-25000" dirty="0" smtClean="0">
                <a:latin typeface="Times New Roman" pitchFamily="18" charset="0"/>
                <a:cs typeface="Times New Roman" pitchFamily="18" charset="0"/>
              </a:rPr>
              <a:t>6</a:t>
            </a:r>
            <a:r>
              <a:rPr lang="uz-Cyrl-UZ" dirty="0" smtClean="0">
                <a:latin typeface="Times New Roman" pitchFamily="18" charset="0"/>
                <a:cs typeface="Times New Roman" pitchFamily="18" charset="0"/>
              </a:rPr>
              <a:t> </a:t>
            </a:r>
            <a:r>
              <a:rPr lang="uz-Cyrl-UZ" dirty="0">
                <a:latin typeface="Times New Roman" pitchFamily="18" charset="0"/>
                <a:cs typeface="Times New Roman" pitchFamily="18" charset="0"/>
              </a:rPr>
              <a:t>– бошланғич қийматларини аниқловчи чизиқли тенгламалар системасига эга бўламиз.</a:t>
            </a:r>
            <a:endParaRPr lang="ru-RU" dirty="0">
              <a:latin typeface="Times New Roman" pitchFamily="18" charset="0"/>
              <a:cs typeface="Times New Roman" pitchFamily="18" charset="0"/>
            </a:endParaRPr>
          </a:p>
          <a:p>
            <a:endParaRPr lang="uz-Cyrl-UZ" b="1" dirty="0" smtClean="0"/>
          </a:p>
          <a:p>
            <a:r>
              <a:rPr lang="uz-Cyrl-UZ" b="1" dirty="0" smtClean="0"/>
              <a:t> </a:t>
            </a:r>
            <a:endParaRPr lang="ru-RU" b="1" dirty="0">
              <a:latin typeface="Times New Roman" pitchFamily="18" charset="0"/>
              <a:cs typeface="Times New Roman" pitchFamily="18" charset="0"/>
            </a:endParaRPr>
          </a:p>
        </p:txBody>
      </p:sp>
      <p:sp>
        <p:nvSpPr>
          <p:cNvPr id="8" name="Содержимое 2"/>
          <p:cNvSpPr txBox="1">
            <a:spLocks/>
          </p:cNvSpPr>
          <p:nvPr/>
        </p:nvSpPr>
        <p:spPr bwMode="auto">
          <a:xfrm>
            <a:off x="467544" y="1235766"/>
            <a:ext cx="8280920" cy="5184576"/>
          </a:xfrm>
          <a:prstGeom prst="foldedCorner">
            <a:avLst>
              <a:gd name="adj" fmla="val 658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r>
              <a:rPr lang="uz-Cyrl-UZ" dirty="0" smtClean="0">
                <a:latin typeface="Times New Roman" pitchFamily="18" charset="0"/>
                <a:cs typeface="Times New Roman" pitchFamily="18" charset="0"/>
              </a:rPr>
              <a:t>Шу </a:t>
            </a:r>
            <a:r>
              <a:rPr lang="uz-Cyrl-UZ" dirty="0">
                <a:latin typeface="Times New Roman" pitchFamily="18" charset="0"/>
                <a:cs typeface="Times New Roman" pitchFamily="18" charset="0"/>
              </a:rPr>
              <a:t>тариқа, қуйидаги тенгламалар системаси ўринли бўлади:</a:t>
            </a:r>
            <a:endParaRPr lang="uz-Cyrl-UZ" i="1" dirty="0" smtClean="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0; </a:t>
            </a:r>
            <a:endParaRPr lang="ru-RU" dirty="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dirty="0">
                <a:latin typeface="Times New Roman" pitchFamily="18" charset="0"/>
                <a:cs typeface="Times New Roman" pitchFamily="18" charset="0"/>
              </a:rPr>
              <a:t>= 0; </a:t>
            </a:r>
            <a:endParaRPr lang="ru-RU" dirty="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8 </a:t>
            </a:r>
            <a:r>
              <a:rPr lang="uz-Cyrl-UZ" dirty="0">
                <a:latin typeface="Times New Roman" pitchFamily="18" charset="0"/>
                <a:cs typeface="Times New Roman" pitchFamily="18" charset="0"/>
              </a:rPr>
              <a:t>= 1; </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9 </a:t>
            </a:r>
            <a:r>
              <a:rPr lang="uz-Cyrl-UZ" baseline="-25000"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 0</a:t>
            </a: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10 </a:t>
            </a:r>
            <a:r>
              <a:rPr lang="uz-Cyrl-UZ" dirty="0">
                <a:latin typeface="Times New Roman" pitchFamily="18" charset="0"/>
                <a:cs typeface="Times New Roman" pitchFamily="18" charset="0"/>
              </a:rPr>
              <a:t>= 1; </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11 </a:t>
            </a:r>
            <a:r>
              <a:rPr lang="uz-Cyrl-UZ" dirty="0">
                <a:latin typeface="Times New Roman" pitchFamily="18" charset="0"/>
                <a:cs typeface="Times New Roman" pitchFamily="18" charset="0"/>
              </a:rPr>
              <a:t>= 0; </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12 </a:t>
            </a:r>
            <a:r>
              <a:rPr lang="uz-Cyrl-UZ" dirty="0">
                <a:latin typeface="Times New Roman" pitchFamily="18" charset="0"/>
                <a:cs typeface="Times New Roman" pitchFamily="18" charset="0"/>
              </a:rPr>
              <a:t>= 0. </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12 </a:t>
            </a:r>
            <a:r>
              <a:rPr lang="uz-Cyrl-UZ" dirty="0">
                <a:latin typeface="Times New Roman" pitchFamily="18" charset="0"/>
                <a:cs typeface="Times New Roman" pitchFamily="18" charset="0"/>
              </a:rPr>
              <a:t>ларни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орқали ифодалаб қуйидаги </a:t>
            </a:r>
            <a:r>
              <a:rPr lang="uz-Cyrl-UZ" dirty="0" smtClean="0">
                <a:latin typeface="Times New Roman" pitchFamily="18" charset="0"/>
                <a:cs typeface="Times New Roman" pitchFamily="18" charset="0"/>
              </a:rPr>
              <a:t>тенгламалар </a:t>
            </a:r>
            <a:r>
              <a:rPr lang="uz-Cyrl-UZ" dirty="0">
                <a:latin typeface="Times New Roman" pitchFamily="18" charset="0"/>
                <a:cs typeface="Times New Roman" pitchFamily="18" charset="0"/>
              </a:rPr>
              <a:t>системасига эга бўламиз: </a:t>
            </a:r>
            <a:endParaRPr lang="ru-RU" dirty="0">
              <a:latin typeface="Times New Roman" pitchFamily="18" charset="0"/>
              <a:cs typeface="Times New Roman" pitchFamily="18" charset="0"/>
            </a:endParaRP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7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8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9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10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8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11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9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dirty="0" smtClean="0">
                <a:latin typeface="Times New Roman" pitchFamily="18" charset="0"/>
                <a:cs typeface="Times New Roman" pitchFamily="18" charset="0"/>
              </a:rPr>
              <a:t>;</a:t>
            </a:r>
          </a:p>
          <a:p>
            <a:pPr>
              <a:spcAft>
                <a:spcPts val="400"/>
              </a:spcAft>
            </a:pP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12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10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6 </a:t>
            </a:r>
            <a:r>
              <a:rPr lang="uz-Cyrl-UZ" sz="1400"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7</a:t>
            </a:r>
            <a:r>
              <a:rPr lang="uz-Cyrl-UZ" sz="1400" dirty="0" smtClean="0">
                <a:latin typeface="Times New Roman" pitchFamily="18" charset="0"/>
                <a:cs typeface="Times New Roman" pitchFamily="18" charset="0"/>
              </a:rPr>
              <a:t>⊕</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10 </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a:p>
            <a:pPr>
              <a:spcAft>
                <a:spcPts val="400"/>
              </a:spcAft>
            </a:pPr>
            <a:r>
              <a:rPr lang="uz-Cyrl-UZ" dirty="0" smtClean="0">
                <a:latin typeface="Times New Roman" pitchFamily="18" charset="0"/>
                <a:cs typeface="Times New Roman" pitchFamily="18" charset="0"/>
              </a:rPr>
              <a:t>          =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7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a:t>
            </a:r>
            <a:r>
              <a:rPr lang="uz-Cyrl-UZ" dirty="0">
                <a:latin typeface="Times New Roman" pitchFamily="18" charset="0"/>
                <a:cs typeface="Times New Roman" pitchFamily="18" charset="0"/>
              </a:rPr>
              <a:t>.</a:t>
            </a:r>
            <a:endParaRPr lang="ru-RU" dirty="0">
              <a:latin typeface="Times New Roman" pitchFamily="18" charset="0"/>
              <a:cs typeface="Times New Roman" pitchFamily="18" charset="0"/>
            </a:endParaRPr>
          </a:p>
        </p:txBody>
      </p:sp>
      <p:sp>
        <p:nvSpPr>
          <p:cNvPr id="9" name="Содержимое 2"/>
          <p:cNvSpPr txBox="1">
            <a:spLocks/>
          </p:cNvSpPr>
          <p:nvPr/>
        </p:nvSpPr>
        <p:spPr bwMode="auto">
          <a:xfrm>
            <a:off x="636352" y="1124744"/>
            <a:ext cx="7943304" cy="3129715"/>
          </a:xfrm>
          <a:prstGeom prst="foldedCorner">
            <a:avLst>
              <a:gd name="adj" fmla="val 658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r>
              <a:rPr lang="uz-Cyrl-UZ" dirty="0" smtClean="0">
                <a:latin typeface="Times New Roman" pitchFamily="18" charset="0"/>
                <a:cs typeface="Times New Roman" pitchFamily="18" charset="0"/>
              </a:rPr>
              <a:t>        Натижада</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0</a:t>
            </a:r>
            <a:r>
              <a:rPr lang="uz-Cyrl-UZ" dirty="0">
                <a:latin typeface="Times New Roman" pitchFamily="18" charset="0"/>
                <a:cs typeface="Times New Roman" pitchFamily="18" charset="0"/>
              </a:rPr>
              <a:t>, ... , </a:t>
            </a:r>
            <a:r>
              <a:rPr lang="uz-Cyrl-UZ" i="1" dirty="0">
                <a:latin typeface="Times New Roman" pitchFamily="18" charset="0"/>
                <a:cs typeface="Times New Roman" pitchFamily="18" charset="0"/>
              </a:rPr>
              <a:t>x</a:t>
            </a:r>
            <a:r>
              <a:rPr lang="uz-Cyrl-UZ" i="1"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қийматларни </a:t>
            </a:r>
            <a:r>
              <a:rPr lang="uz-Cyrl-UZ" i="1" dirty="0">
                <a:latin typeface="Times New Roman" pitchFamily="18" charset="0"/>
                <a:cs typeface="Times New Roman" pitchFamily="18" charset="0"/>
              </a:rPr>
              <a:t>y’</a:t>
            </a:r>
            <a:r>
              <a:rPr lang="uz-Cyrl-UZ" dirty="0">
                <a:latin typeface="Times New Roman" pitchFamily="18" charset="0"/>
                <a:cs typeface="Times New Roman" pitchFamily="18" charset="0"/>
              </a:rPr>
              <a:t>(</a:t>
            </a:r>
            <a:r>
              <a:rPr lang="uz-Cyrl-UZ" i="1" dirty="0">
                <a:latin typeface="Times New Roman" pitchFamily="18" charset="0"/>
                <a:cs typeface="Times New Roman" pitchFamily="18" charset="0"/>
              </a:rPr>
              <a:t>t</a:t>
            </a:r>
            <a:r>
              <a:rPr lang="uz-Cyrl-UZ" dirty="0">
                <a:latin typeface="Times New Roman" pitchFamily="18" charset="0"/>
                <a:cs typeface="Times New Roman" pitchFamily="18" charset="0"/>
              </a:rPr>
              <a:t>) нинг бошланғич белгилари билан боғловчи чизиқли тенгламалар системасига </a:t>
            </a:r>
            <a:r>
              <a:rPr lang="uz-Cyrl-UZ" dirty="0" smtClean="0">
                <a:latin typeface="Times New Roman" pitchFamily="18" charset="0"/>
                <a:cs typeface="Times New Roman" pitchFamily="18" charset="0"/>
              </a:rPr>
              <a:t>эга </a:t>
            </a:r>
            <a:r>
              <a:rPr lang="uz-Cyrl-UZ" dirty="0">
                <a:latin typeface="Times New Roman" pitchFamily="18" charset="0"/>
                <a:cs typeface="Times New Roman" pitchFamily="18" charset="0"/>
              </a:rPr>
              <a:t>бўламиз:</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0;</a:t>
            </a:r>
            <a:endParaRPr lang="ru-RU" dirty="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dirty="0">
                <a:latin typeface="Times New Roman" pitchFamily="18" charset="0"/>
                <a:cs typeface="Times New Roman" pitchFamily="18" charset="0"/>
              </a:rPr>
              <a:t>= 0;</a:t>
            </a:r>
            <a:endParaRPr lang="ru-RU" dirty="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1;</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dirty="0">
                <a:latin typeface="Times New Roman" pitchFamily="18" charset="0"/>
                <a:cs typeface="Times New Roman" pitchFamily="18" charset="0"/>
              </a:rPr>
              <a:t>= </a:t>
            </a:r>
            <a:r>
              <a:rPr lang="uz-Cyrl-UZ" dirty="0" smtClean="0">
                <a:latin typeface="Times New Roman" pitchFamily="18" charset="0"/>
                <a:cs typeface="Times New Roman" pitchFamily="18" charset="0"/>
              </a:rPr>
              <a:t>0</a:t>
            </a: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1;</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0;</a:t>
            </a:r>
            <a:endParaRPr lang="ru-RU" dirty="0">
              <a:latin typeface="Times New Roman" pitchFamily="18" charset="0"/>
              <a:cs typeface="Times New Roman" pitchFamily="18" charset="0"/>
            </a:endParaRPr>
          </a:p>
          <a:p>
            <a:r>
              <a:rPr lang="uz-Cyrl-UZ" i="1" dirty="0">
                <a:latin typeface="Times New Roman" pitchFamily="18" charset="0"/>
                <a:cs typeface="Times New Roman" pitchFamily="18" charset="0"/>
              </a:rPr>
              <a:t>      </a:t>
            </a:r>
            <a:r>
              <a:rPr lang="uz-Cyrl-UZ" i="1" dirty="0" smtClean="0">
                <a:latin typeface="Times New Roman" pitchFamily="18" charset="0"/>
                <a:cs typeface="Times New Roman" pitchFamily="18" charset="0"/>
              </a:rPr>
              <a:t>x</a:t>
            </a:r>
            <a:r>
              <a:rPr lang="uz-Cyrl-UZ" baseline="-25000" dirty="0" smtClean="0">
                <a:latin typeface="Times New Roman" pitchFamily="18" charset="0"/>
                <a:cs typeface="Times New Roman" pitchFamily="18" charset="0"/>
              </a:rPr>
              <a:t>0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 </a:t>
            </a:r>
            <a:r>
              <a:rPr lang="uz-Cyrl-UZ" sz="1400" dirty="0">
                <a:latin typeface="Times New Roman" pitchFamily="18" charset="0"/>
                <a:cs typeface="Times New Roman" pitchFamily="18" charset="0"/>
              </a:rPr>
              <a:t>⊕</a:t>
            </a:r>
            <a:r>
              <a:rPr lang="uz-Cyrl-UZ" dirty="0">
                <a:latin typeface="Times New Roman" pitchFamily="18" charset="0"/>
                <a:cs typeface="Times New Roman" pitchFamily="18" charset="0"/>
              </a:rPr>
              <a:t>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 </a:t>
            </a:r>
            <a:r>
              <a:rPr lang="uz-Cyrl-UZ" dirty="0">
                <a:latin typeface="Times New Roman" pitchFamily="18" charset="0"/>
                <a:cs typeface="Times New Roman" pitchFamily="18" charset="0"/>
              </a:rPr>
              <a:t>= 0.</a:t>
            </a:r>
            <a:endParaRPr lang="ru-RU" dirty="0">
              <a:latin typeface="Times New Roman" pitchFamily="18" charset="0"/>
              <a:cs typeface="Times New Roman" pitchFamily="18" charset="0"/>
            </a:endParaRPr>
          </a:p>
          <a:p>
            <a:r>
              <a:rPr lang="uz-Cyrl-UZ" i="1" dirty="0" smtClean="0">
                <a:latin typeface="Times New Roman" pitchFamily="18" charset="0"/>
                <a:cs typeface="Times New Roman" pitchFamily="18" charset="0"/>
              </a:rPr>
              <a:t>      x</a:t>
            </a:r>
            <a:r>
              <a:rPr lang="uz-Cyrl-UZ" baseline="-25000" dirty="0" smtClean="0">
                <a:latin typeface="Times New Roman" pitchFamily="18" charset="0"/>
                <a:cs typeface="Times New Roman" pitchFamily="18" charset="0"/>
              </a:rPr>
              <a:t>0</a:t>
            </a:r>
            <a:r>
              <a:rPr lang="uz-Cyrl-UZ" dirty="0" smtClean="0">
                <a:latin typeface="Times New Roman" pitchFamily="18" charset="0"/>
                <a:cs typeface="Times New Roman" pitchFamily="18" charset="0"/>
              </a:rPr>
              <a:t> </a:t>
            </a:r>
            <a:r>
              <a:rPr lang="uz-Cyrl-UZ" dirty="0">
                <a:latin typeface="Times New Roman" pitchFamily="18" charset="0"/>
                <a:cs typeface="Times New Roman" pitchFamily="18" charset="0"/>
              </a:rPr>
              <a:t>= 1,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 = 1,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2</a:t>
            </a:r>
            <a:r>
              <a:rPr lang="uz-Cyrl-UZ" dirty="0">
                <a:latin typeface="Times New Roman" pitchFamily="18" charset="0"/>
                <a:cs typeface="Times New Roman" pitchFamily="18" charset="0"/>
              </a:rPr>
              <a:t> = 1,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3</a:t>
            </a:r>
            <a:r>
              <a:rPr lang="uz-Cyrl-UZ" dirty="0">
                <a:latin typeface="Times New Roman" pitchFamily="18" charset="0"/>
                <a:cs typeface="Times New Roman" pitchFamily="18" charset="0"/>
              </a:rPr>
              <a:t> = 1,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4</a:t>
            </a:r>
            <a:r>
              <a:rPr lang="uz-Cyrl-UZ" i="1" baseline="-25000" dirty="0">
                <a:latin typeface="Times New Roman" pitchFamily="18" charset="0"/>
                <a:cs typeface="Times New Roman" pitchFamily="18" charset="0"/>
              </a:rPr>
              <a:t> </a:t>
            </a:r>
            <a:r>
              <a:rPr lang="uz-Cyrl-UZ" dirty="0">
                <a:latin typeface="Times New Roman" pitchFamily="18" charset="0"/>
                <a:cs typeface="Times New Roman" pitchFamily="18" charset="0"/>
              </a:rPr>
              <a:t>= 0,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5</a:t>
            </a:r>
            <a:r>
              <a:rPr lang="uz-Cyrl-UZ" dirty="0">
                <a:latin typeface="Times New Roman" pitchFamily="18" charset="0"/>
                <a:cs typeface="Times New Roman" pitchFamily="18" charset="0"/>
              </a:rPr>
              <a:t> = 0, </a:t>
            </a:r>
            <a:r>
              <a:rPr lang="uz-Cyrl-UZ" i="1" dirty="0">
                <a:latin typeface="Times New Roman" pitchFamily="18" charset="0"/>
                <a:cs typeface="Times New Roman" pitchFamily="18" charset="0"/>
              </a:rPr>
              <a:t>x</a:t>
            </a:r>
            <a:r>
              <a:rPr lang="uz-Cyrl-UZ" baseline="-25000" dirty="0">
                <a:latin typeface="Times New Roman" pitchFamily="18" charset="0"/>
                <a:cs typeface="Times New Roman" pitchFamily="18" charset="0"/>
              </a:rPr>
              <a:t>6</a:t>
            </a:r>
            <a:r>
              <a:rPr lang="uz-Cyrl-UZ" dirty="0">
                <a:latin typeface="Times New Roman" pitchFamily="18" charset="0"/>
                <a:cs typeface="Times New Roman" pitchFamily="18" charset="0"/>
              </a:rPr>
              <a:t> = 1. Демак, генератор-1 даги силжитиш регистрининг бошланғич ҳолати (</a:t>
            </a:r>
            <a:r>
              <a:rPr lang="uz-Cyrl-UZ" b="1" dirty="0">
                <a:latin typeface="Times New Roman" pitchFamily="18" charset="0"/>
                <a:cs typeface="Times New Roman" pitchFamily="18" charset="0"/>
              </a:rPr>
              <a:t>1111001</a:t>
            </a:r>
            <a:r>
              <a:rPr lang="uz-Cyrl-UZ" dirty="0">
                <a:latin typeface="Times New Roman" pitchFamily="18" charset="0"/>
                <a:cs typeface="Times New Roman" pitchFamily="18" charset="0"/>
              </a:rPr>
              <a:t>) га тенг.</a:t>
            </a:r>
            <a:endParaRPr lang="ru-RU" b="1" dirty="0">
              <a:latin typeface="Times New Roman" pitchFamily="18" charset="0"/>
              <a:cs typeface="Times New Roman" pitchFamily="18" charset="0"/>
            </a:endParaRPr>
          </a:p>
        </p:txBody>
      </p:sp>
      <p:grpSp>
        <p:nvGrpSpPr>
          <p:cNvPr id="12" name="Группа 11"/>
          <p:cNvGrpSpPr/>
          <p:nvPr/>
        </p:nvGrpSpPr>
        <p:grpSpPr>
          <a:xfrm>
            <a:off x="2427086" y="4347458"/>
            <a:ext cx="4161137" cy="2247782"/>
            <a:chOff x="2298398" y="3156489"/>
            <a:chExt cx="4001794" cy="3235797"/>
          </a:xfrm>
        </p:grpSpPr>
        <p:grpSp>
          <p:nvGrpSpPr>
            <p:cNvPr id="13" name="Группа 12"/>
            <p:cNvGrpSpPr/>
            <p:nvPr/>
          </p:nvGrpSpPr>
          <p:grpSpPr>
            <a:xfrm>
              <a:off x="2298398" y="3156489"/>
              <a:ext cx="4001794" cy="3235797"/>
              <a:chOff x="1155940" y="1305400"/>
              <a:chExt cx="4001794" cy="3235797"/>
            </a:xfrm>
          </p:grpSpPr>
          <p:grpSp>
            <p:nvGrpSpPr>
              <p:cNvPr id="15" name="Группа 14"/>
              <p:cNvGrpSpPr/>
              <p:nvPr/>
            </p:nvGrpSpPr>
            <p:grpSpPr>
              <a:xfrm>
                <a:off x="1155940" y="1305400"/>
                <a:ext cx="4001794" cy="3235797"/>
                <a:chOff x="2123727" y="1548965"/>
                <a:chExt cx="3930333" cy="3012641"/>
              </a:xfrm>
            </p:grpSpPr>
            <p:grpSp>
              <p:nvGrpSpPr>
                <p:cNvPr id="17" name="Группа 16"/>
                <p:cNvGrpSpPr/>
                <p:nvPr/>
              </p:nvGrpSpPr>
              <p:grpSpPr>
                <a:xfrm>
                  <a:off x="2123727" y="1548965"/>
                  <a:ext cx="3930333" cy="3012641"/>
                  <a:chOff x="2123728" y="1582126"/>
                  <a:chExt cx="3573028" cy="2566321"/>
                </a:xfrm>
              </p:grpSpPr>
              <p:grpSp>
                <p:nvGrpSpPr>
                  <p:cNvPr id="20" name="Группа 19"/>
                  <p:cNvGrpSpPr/>
                  <p:nvPr/>
                </p:nvGrpSpPr>
                <p:grpSpPr>
                  <a:xfrm>
                    <a:off x="2123728" y="1772816"/>
                    <a:ext cx="2672929" cy="2196244"/>
                    <a:chOff x="2123728" y="1772816"/>
                    <a:chExt cx="2672929" cy="2196244"/>
                  </a:xfrm>
                </p:grpSpPr>
                <p:sp>
                  <p:nvSpPr>
                    <p:cNvPr id="46" name="Прямоугольник 45"/>
                    <p:cNvSpPr/>
                    <p:nvPr/>
                  </p:nvSpPr>
                  <p:spPr>
                    <a:xfrm>
                      <a:off x="2123728" y="2420888"/>
                      <a:ext cx="2672929"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dirty="0" smtClean="0">
                          <a:solidFill>
                            <a:schemeClr val="tx1"/>
                          </a:solidFill>
                        </a:rPr>
                        <a:t>1 </a:t>
                      </a:r>
                      <a:r>
                        <a:rPr lang="en-US" dirty="0" smtClean="0">
                          <a:solidFill>
                            <a:schemeClr val="tx1"/>
                          </a:solidFill>
                        </a:rPr>
                        <a:t> </a:t>
                      </a:r>
                      <a:r>
                        <a:rPr lang="uz-Cyrl-UZ" dirty="0" smtClean="0">
                          <a:solidFill>
                            <a:schemeClr val="tx1"/>
                          </a:solidFill>
                        </a:rPr>
                        <a:t> </a:t>
                      </a:r>
                      <a:r>
                        <a:rPr lang="en-US" dirty="0" smtClean="0">
                          <a:solidFill>
                            <a:schemeClr val="tx1"/>
                          </a:solidFill>
                        </a:rPr>
                        <a:t> </a:t>
                      </a:r>
                      <a:r>
                        <a:rPr lang="uz-Cyrl-UZ" dirty="0" smtClean="0">
                          <a:solidFill>
                            <a:schemeClr val="tx1"/>
                          </a:solidFill>
                        </a:rPr>
                        <a:t> </a:t>
                      </a:r>
                      <a:r>
                        <a:rPr lang="en-US" dirty="0" smtClean="0">
                          <a:solidFill>
                            <a:schemeClr val="tx1"/>
                          </a:solidFill>
                        </a:rPr>
                        <a:t>1</a:t>
                      </a:r>
                      <a:r>
                        <a:rPr lang="uz-Cyrl-UZ" dirty="0" smtClean="0">
                          <a:solidFill>
                            <a:schemeClr val="tx1"/>
                          </a:solidFill>
                        </a:rPr>
                        <a:t>   </a:t>
                      </a:r>
                      <a:r>
                        <a:rPr lang="en-US" dirty="0" smtClean="0">
                          <a:solidFill>
                            <a:schemeClr val="tx1"/>
                          </a:solidFill>
                        </a:rPr>
                        <a:t>  </a:t>
                      </a:r>
                      <a:r>
                        <a:rPr lang="uz-Cyrl-UZ" dirty="0" smtClean="0">
                          <a:solidFill>
                            <a:schemeClr val="tx1"/>
                          </a:solidFill>
                        </a:rPr>
                        <a:t> </a:t>
                      </a:r>
                      <a:r>
                        <a:rPr lang="en-US" dirty="0" smtClean="0">
                          <a:solidFill>
                            <a:schemeClr val="tx1"/>
                          </a:solidFill>
                        </a:rPr>
                        <a:t>1      1      0      0      1</a:t>
                      </a:r>
                      <a:r>
                        <a:rPr lang="uz-Cyrl-UZ" dirty="0" smtClean="0">
                          <a:solidFill>
                            <a:schemeClr val="tx1"/>
                          </a:solidFill>
                        </a:rPr>
                        <a:t>  </a:t>
                      </a:r>
                      <a:r>
                        <a:rPr lang="en-US" dirty="0" smtClean="0">
                          <a:solidFill>
                            <a:schemeClr val="tx1"/>
                          </a:solidFill>
                        </a:rPr>
                        <a:t>   </a:t>
                      </a:r>
                      <a:endParaRPr lang="ru-RU" dirty="0">
                        <a:solidFill>
                          <a:schemeClr val="tx1"/>
                        </a:solidFill>
                      </a:endParaRPr>
                    </a:p>
                  </p:txBody>
                </p:sp>
                <p:sp>
                  <p:nvSpPr>
                    <p:cNvPr id="47" name="Прямоугольник 46"/>
                    <p:cNvSpPr/>
                    <p:nvPr/>
                  </p:nvSpPr>
                  <p:spPr>
                    <a:xfrm>
                      <a:off x="2123728" y="1772816"/>
                      <a:ext cx="2672929"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Прямоугольник 47"/>
                    <p:cNvSpPr/>
                    <p:nvPr/>
                  </p:nvSpPr>
                  <p:spPr>
                    <a:xfrm>
                      <a:off x="2140630" y="3609020"/>
                      <a:ext cx="2656027"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dirty="0">
                        <a:solidFill>
                          <a:schemeClr val="tx1"/>
                        </a:solidFill>
                      </a:endParaRPr>
                    </a:p>
                  </p:txBody>
                </p:sp>
                <p:sp>
                  <p:nvSpPr>
                    <p:cNvPr id="49" name="Прямоугольник 48"/>
                    <p:cNvSpPr/>
                    <p:nvPr/>
                  </p:nvSpPr>
                  <p:spPr>
                    <a:xfrm>
                      <a:off x="2483768" y="3068958"/>
                      <a:ext cx="1862840" cy="36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dirty="0">
                        <a:solidFill>
                          <a:schemeClr val="tx1"/>
                        </a:solidFill>
                      </a:endParaRPr>
                    </a:p>
                  </p:txBody>
                </p:sp>
              </p:grpSp>
              <p:cxnSp>
                <p:nvCxnSpPr>
                  <p:cNvPr id="21" name="Прямая соединительная линия 20"/>
                  <p:cNvCxnSpPr/>
                  <p:nvPr/>
                </p:nvCxnSpPr>
                <p:spPr>
                  <a:xfrm>
                    <a:off x="2483768" y="2420264"/>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2867770" y="2420888"/>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3253629" y="2416194"/>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2339752" y="2780304"/>
                    <a:ext cx="0" cy="82871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269979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3059832" y="2780304"/>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4603779" y="2756269"/>
                    <a:ext cx="0" cy="852751"/>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flipV="1">
                    <a:off x="2339752" y="2132856"/>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flipV="1">
                    <a:off x="269979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flipV="1">
                    <a:off x="3059832" y="2133480"/>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flipV="1">
                    <a:off x="4189852" y="2134267"/>
                    <a:ext cx="0" cy="287408"/>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3382215" y="1592796"/>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3382215" y="1596926"/>
                    <a:ext cx="173682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5119038" y="1582126"/>
                    <a:ext cx="0" cy="10033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a:endCxn id="46" idx="3"/>
                  </p:cNvCxnSpPr>
                  <p:nvPr/>
                </p:nvCxnSpPr>
                <p:spPr>
                  <a:xfrm flipH="1">
                    <a:off x="4796657" y="2585484"/>
                    <a:ext cx="322380" cy="15423"/>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3499414" y="3968427"/>
                    <a:ext cx="0" cy="1800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3499414" y="4148447"/>
                    <a:ext cx="2197342"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3639386" y="2420889"/>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4025143" y="2420889"/>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4410900" y="2416194"/>
                    <a:ext cx="0" cy="3600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3415188" y="2780928"/>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3832265" y="2780928"/>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a:off x="4178861" y="2780928"/>
                    <a:ext cx="0" cy="288656"/>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8" name="Прямоугольник 17"/>
                <p:cNvSpPr/>
                <p:nvPr/>
              </p:nvSpPr>
              <p:spPr>
                <a:xfrm>
                  <a:off x="2928503" y="3888864"/>
                  <a:ext cx="1357195" cy="343860"/>
                </a:xfrm>
                <a:prstGeom prst="rect">
                  <a:avLst/>
                </a:prstGeom>
              </p:spPr>
              <p:txBody>
                <a:bodyPr wrap="square">
                  <a:spAutoFit/>
                </a:bodyPr>
                <a:lstStyle/>
                <a:p>
                  <a:pPr algn="ctr"/>
                  <a:r>
                    <a:rPr lang="uz-Cyrl-UZ" sz="1400" b="1" dirty="0" smtClean="0">
                      <a:latin typeface="Times New Roman" pitchFamily="18" charset="0"/>
                      <a:cs typeface="Times New Roman" pitchFamily="18" charset="0"/>
                    </a:rPr>
                    <a:t>⊕</a:t>
                  </a:r>
                  <a:r>
                    <a:rPr lang="uz-Cyrl-UZ" b="1" dirty="0" smtClean="0">
                      <a:latin typeface="Times New Roman" pitchFamily="18" charset="0"/>
                      <a:cs typeface="Times New Roman" pitchFamily="18" charset="0"/>
                    </a:rPr>
                    <a:t> </a:t>
                  </a:r>
                  <a:r>
                    <a:rPr lang="uz-Cyrl-UZ" b="1" baseline="-25000" dirty="0" smtClean="0">
                      <a:latin typeface="Times New Roman" pitchFamily="18" charset="0"/>
                      <a:cs typeface="Times New Roman" pitchFamily="18" charset="0"/>
                    </a:rPr>
                    <a:t> </a:t>
                  </a:r>
                  <a:endParaRPr lang="ru-RU" b="1" dirty="0">
                    <a:latin typeface="Times New Roman" pitchFamily="18" charset="0"/>
                    <a:cs typeface="Times New Roman" pitchFamily="18" charset="0"/>
                  </a:endParaRPr>
                </a:p>
              </p:txBody>
            </p:sp>
            <p:sp>
              <p:nvSpPr>
                <p:cNvPr id="19" name="Прямоугольник 18"/>
                <p:cNvSpPr/>
                <p:nvPr/>
              </p:nvSpPr>
              <p:spPr>
                <a:xfrm>
                  <a:off x="2854094" y="1772819"/>
                  <a:ext cx="1380477" cy="286552"/>
                </a:xfrm>
                <a:prstGeom prst="rect">
                  <a:avLst/>
                </a:prstGeom>
              </p:spPr>
              <p:txBody>
                <a:bodyPr wrap="square">
                  <a:spAutoFit/>
                </a:bodyPr>
                <a:lstStyle/>
                <a:p>
                  <a:pPr algn="ctr"/>
                  <a:r>
                    <a:rPr lang="uz-Cyrl-UZ" sz="1400" b="1" dirty="0" smtClean="0">
                      <a:latin typeface="Times New Roman" pitchFamily="18" charset="0"/>
                      <a:cs typeface="Times New Roman" pitchFamily="18" charset="0"/>
                    </a:rPr>
                    <a:t>⊕</a:t>
                  </a:r>
                  <a:endParaRPr lang="ru-RU" b="1" dirty="0">
                    <a:latin typeface="Times New Roman" pitchFamily="18" charset="0"/>
                    <a:cs typeface="Times New Roman" pitchFamily="18" charset="0"/>
                  </a:endParaRPr>
                </a:p>
              </p:txBody>
            </p:sp>
          </p:grpSp>
          <p:sp>
            <p:nvSpPr>
              <p:cNvPr id="16" name="Прямоугольник 15"/>
              <p:cNvSpPr/>
              <p:nvPr/>
            </p:nvSpPr>
            <p:spPr>
              <a:xfrm>
                <a:off x="4277961" y="4088031"/>
                <a:ext cx="735921" cy="340474"/>
              </a:xfrm>
              <a:prstGeom prst="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itchFamily="18" charset="0"/>
                    <a:cs typeface="Times New Roman" pitchFamily="18" charset="0"/>
                  </a:rPr>
                  <a:t>{</a:t>
                </a:r>
                <a:r>
                  <a:rPr lang="en-US" i="1" dirty="0" smtClean="0">
                    <a:solidFill>
                      <a:schemeClr val="tx1"/>
                    </a:solidFill>
                    <a:latin typeface="Times New Roman" pitchFamily="18" charset="0"/>
                    <a:cs typeface="Times New Roman" pitchFamily="18" charset="0"/>
                  </a:rPr>
                  <a:t>y</a:t>
                </a:r>
                <a:r>
                  <a:rPr lang="en-US" dirty="0" smtClean="0">
                    <a:solidFill>
                      <a:schemeClr val="tx1"/>
                    </a:solidFill>
                    <a:latin typeface="Times New Roman" pitchFamily="18" charset="0"/>
                    <a:cs typeface="Times New Roman" pitchFamily="18" charset="0"/>
                  </a:rPr>
                  <a:t>(</a:t>
                </a:r>
                <a:r>
                  <a:rPr lang="en-US" i="1" dirty="0" smtClean="0">
                    <a:solidFill>
                      <a:schemeClr val="tx1"/>
                    </a:solidFill>
                    <a:latin typeface="Times New Roman" pitchFamily="18" charset="0"/>
                    <a:cs typeface="Times New Roman" pitchFamily="18" charset="0"/>
                  </a:rPr>
                  <a:t>t</a:t>
                </a:r>
                <a:r>
                  <a:rPr lang="en-US" dirty="0" smtClean="0">
                    <a:solidFill>
                      <a:schemeClr val="tx1"/>
                    </a:solidFill>
                    <a:latin typeface="Times New Roman" pitchFamily="18" charset="0"/>
                    <a:cs typeface="Times New Roman" pitchFamily="18" charset="0"/>
                  </a:rPr>
                  <a:t>)}</a:t>
                </a:r>
                <a:endParaRPr lang="ru-RU" dirty="0">
                  <a:solidFill>
                    <a:schemeClr val="tx1"/>
                  </a:solidFill>
                  <a:latin typeface="Times New Roman" pitchFamily="18" charset="0"/>
                  <a:cs typeface="Times New Roman" pitchFamily="18" charset="0"/>
                </a:endParaRPr>
              </a:p>
            </p:txBody>
          </p:sp>
        </p:grpSp>
        <p:sp>
          <p:nvSpPr>
            <p:cNvPr id="14" name="Блок-схема: узел суммирования 13"/>
            <p:cNvSpPr/>
            <p:nvPr/>
          </p:nvSpPr>
          <p:spPr>
            <a:xfrm>
              <a:off x="3697780" y="5170876"/>
              <a:ext cx="137358" cy="183529"/>
            </a:xfrm>
            <a:prstGeom prst="flowChartSummingJunction">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Tree>
    <p:extLst>
      <p:ext uri="{BB962C8B-B14F-4D97-AF65-F5344CB8AC3E}">
        <p14:creationId xmlns:p14="http://schemas.microsoft.com/office/powerpoint/2010/main" val="226177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1000"/>
                                        <p:tgtEl>
                                          <p:spTgt spid="52"/>
                                        </p:tgtEl>
                                      </p:cBhvr>
                                    </p:animEffect>
                                    <p:anim calcmode="lin" valueType="num">
                                      <p:cBhvr>
                                        <p:cTn id="12" dur="1000" fill="hold"/>
                                        <p:tgtEl>
                                          <p:spTgt spid="52"/>
                                        </p:tgtEl>
                                        <p:attrNameLst>
                                          <p:attrName>ppt_x</p:attrName>
                                        </p:attrNameLst>
                                      </p:cBhvr>
                                      <p:tavLst>
                                        <p:tav tm="0">
                                          <p:val>
                                            <p:strVal val="#ppt_x"/>
                                          </p:val>
                                        </p:tav>
                                        <p:tav tm="100000">
                                          <p:val>
                                            <p:strVal val="#ppt_x"/>
                                          </p:val>
                                        </p:tav>
                                      </p:tavLst>
                                    </p:anim>
                                    <p:anim calcmode="lin" valueType="num">
                                      <p:cBhvr>
                                        <p:cTn id="1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grpId="1" nodeType="clickEffect">
                                  <p:stCondLst>
                                    <p:cond delay="0"/>
                                  </p:stCondLst>
                                  <p:childTnLst>
                                    <p:animEffect transition="out" filter="wipe(down)">
                                      <p:cBhvr>
                                        <p:cTn id="17" dur="500"/>
                                        <p:tgtEl>
                                          <p:spTgt spid="52"/>
                                        </p:tgtEl>
                                      </p:cBhvr>
                                    </p:animEffect>
                                    <p:set>
                                      <p:cBhvr>
                                        <p:cTn id="18" dur="1" fill="hold">
                                          <p:stCondLst>
                                            <p:cond delay="499"/>
                                          </p:stCondLst>
                                        </p:cTn>
                                        <p:tgtEl>
                                          <p:spTgt spid="52"/>
                                        </p:tgtEl>
                                        <p:attrNameLst>
                                          <p:attrName>style.visibility</p:attrName>
                                        </p:attrNameLst>
                                      </p:cBhvr>
                                      <p:to>
                                        <p:strVal val="hidden"/>
                                      </p:to>
                                    </p:set>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anim calcmode="lin" valueType="num">
                                      <p:cBhvr>
                                        <p:cTn id="23" dur="1000" fill="hold"/>
                                        <p:tgtEl>
                                          <p:spTgt spid="37"/>
                                        </p:tgtEl>
                                        <p:attrNameLst>
                                          <p:attrName>ppt_x</p:attrName>
                                        </p:attrNameLst>
                                      </p:cBhvr>
                                      <p:tavLst>
                                        <p:tav tm="0">
                                          <p:val>
                                            <p:strVal val="#ppt_x"/>
                                          </p:val>
                                        </p:tav>
                                        <p:tav tm="100000">
                                          <p:val>
                                            <p:strVal val="#ppt_x"/>
                                          </p:val>
                                        </p:tav>
                                      </p:tavLst>
                                    </p:anim>
                                    <p:anim calcmode="lin" valueType="num">
                                      <p:cBhvr>
                                        <p:cTn id="24"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grpId="1" nodeType="clickEffect">
                                  <p:stCondLst>
                                    <p:cond delay="0"/>
                                  </p:stCondLst>
                                  <p:childTnLst>
                                    <p:animEffect transition="out" filter="wipe(down)">
                                      <p:cBhvr>
                                        <p:cTn id="28" dur="500"/>
                                        <p:tgtEl>
                                          <p:spTgt spid="37"/>
                                        </p:tgtEl>
                                      </p:cBhvr>
                                    </p:animEffect>
                                    <p:set>
                                      <p:cBhvr>
                                        <p:cTn id="29" dur="1" fill="hold">
                                          <p:stCondLst>
                                            <p:cond delay="499"/>
                                          </p:stCondLst>
                                        </p:cTn>
                                        <p:tgtEl>
                                          <p:spTgt spid="37"/>
                                        </p:tgtEl>
                                        <p:attrNameLst>
                                          <p:attrName>style.visibility</p:attrName>
                                        </p:attrNameLst>
                                      </p:cBhvr>
                                      <p:to>
                                        <p:strVal val="hidden"/>
                                      </p:to>
                                    </p:set>
                                  </p:childTnLst>
                                </p:cTn>
                              </p:par>
                            </p:childTnLst>
                          </p:cTn>
                        </p:par>
                        <p:par>
                          <p:cTn id="30" fill="hold">
                            <p:stCondLst>
                              <p:cond delay="5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xit" presetSubtype="4" fill="hold" grpId="1" nodeType="clickEffect">
                                  <p:stCondLst>
                                    <p:cond delay="0"/>
                                  </p:stCondLst>
                                  <p:childTnLst>
                                    <p:animEffect transition="out" filter="wipe(down)">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childTnLst>
                          </p:cTn>
                        </p:par>
                        <p:par>
                          <p:cTn id="41" fill="hold">
                            <p:stCondLst>
                              <p:cond delay="500"/>
                            </p:stCondLst>
                            <p:childTnLst>
                              <p:par>
                                <p:cTn id="42" presetID="42"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childTnLst>
                          </p:cTn>
                        </p:par>
                        <p:par>
                          <p:cTn id="47" fill="hold">
                            <p:stCondLst>
                              <p:cond delay="1500"/>
                            </p:stCondLst>
                            <p:childTnLst>
                              <p:par>
                                <p:cTn id="48" presetID="42" presetClass="entr" presetSubtype="0"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anim calcmode="lin" valueType="num">
                                      <p:cBhvr>
                                        <p:cTn id="51" dur="1000" fill="hold"/>
                                        <p:tgtEl>
                                          <p:spTgt spid="12"/>
                                        </p:tgtEl>
                                        <p:attrNameLst>
                                          <p:attrName>ppt_x</p:attrName>
                                        </p:attrNameLst>
                                      </p:cBhvr>
                                      <p:tavLst>
                                        <p:tav tm="0">
                                          <p:val>
                                            <p:strVal val="#ppt_x"/>
                                          </p:val>
                                        </p:tav>
                                        <p:tav tm="100000">
                                          <p:val>
                                            <p:strVal val="#ppt_x"/>
                                          </p:val>
                                        </p:tav>
                                      </p:tavLst>
                                    </p:anim>
                                    <p:anim calcmode="lin" valueType="num">
                                      <p:cBhvr>
                                        <p:cTn id="5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2" grpId="0" animBg="1"/>
      <p:bldP spid="52" grpId="1" animBg="1"/>
      <p:bldP spid="37" grpId="0" animBg="1"/>
      <p:bldP spid="37" grpId="1" animBg="1"/>
      <p:bldP spid="8" grpId="0" animBg="1"/>
      <p:bldP spid="8" grpId="1"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кругленный прямоугольник 25"/>
          <p:cNvSpPr/>
          <p:nvPr/>
        </p:nvSpPr>
        <p:spPr>
          <a:xfrm>
            <a:off x="805160" y="368660"/>
            <a:ext cx="7517067" cy="61206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b="1" dirty="0" smtClean="0">
                <a:solidFill>
                  <a:schemeClr val="tx1"/>
                </a:solidFill>
                <a:latin typeface="Times New Roman" pitchFamily="18" charset="0"/>
                <a:cs typeface="Times New Roman" pitchFamily="18" charset="0"/>
              </a:rPr>
              <a:t> </a:t>
            </a:r>
            <a:endParaRPr lang="en-US" b="1" dirty="0" smtClean="0">
              <a:solidFill>
                <a:schemeClr val="tx1"/>
              </a:solidFill>
              <a:latin typeface="Times New Roman" pitchFamily="18" charset="0"/>
              <a:cs typeface="Times New Roman" pitchFamily="18" charset="0"/>
            </a:endParaRPr>
          </a:p>
          <a:p>
            <a:pPr algn="ctr"/>
            <a:r>
              <a:rPr lang="uz-Cyrl-UZ" b="1" dirty="0" smtClean="0">
                <a:solidFill>
                  <a:schemeClr val="tx1"/>
                </a:solidFill>
                <a:latin typeface="Times New Roman" pitchFamily="18" charset="0"/>
                <a:cs typeface="Times New Roman" pitchFamily="18" charset="0"/>
              </a:rPr>
              <a:t>Филтрловчи </a:t>
            </a:r>
            <a:r>
              <a:rPr lang="uz-Cyrl-UZ" b="1" dirty="0">
                <a:solidFill>
                  <a:schemeClr val="tx1"/>
                </a:solidFill>
                <a:latin typeface="Times New Roman" pitchFamily="18" charset="0"/>
                <a:cs typeface="Times New Roman" pitchFamily="18" charset="0"/>
              </a:rPr>
              <a:t>генераторларга нисбатан корреляцион криптотаҳлил қадамлар кетма - кетлиги</a:t>
            </a:r>
            <a:endParaRPr lang="ru-RU" dirty="0">
              <a:solidFill>
                <a:schemeClr val="tx1"/>
              </a:solidFill>
              <a:latin typeface="Times New Roman" pitchFamily="18" charset="0"/>
              <a:cs typeface="Times New Roman" pitchFamily="18" charset="0"/>
            </a:endParaRPr>
          </a:p>
          <a:p>
            <a:pPr algn="ctr"/>
            <a:endParaRPr lang="ru-RU" sz="2000" b="1" dirty="0">
              <a:solidFill>
                <a:schemeClr val="tx1"/>
              </a:solidFill>
              <a:latin typeface="Times New Roman" pitchFamily="18" charset="0"/>
              <a:cs typeface="Times New Roman" pitchFamily="18" charset="0"/>
            </a:endParaRPr>
          </a:p>
        </p:txBody>
      </p:sp>
      <p:sp>
        <p:nvSpPr>
          <p:cNvPr id="9" name="Содержимое 2"/>
          <p:cNvSpPr txBox="1">
            <a:spLocks/>
          </p:cNvSpPr>
          <p:nvPr/>
        </p:nvSpPr>
        <p:spPr bwMode="auto">
          <a:xfrm>
            <a:off x="683568" y="1268760"/>
            <a:ext cx="7776864" cy="4968552"/>
          </a:xfrm>
          <a:prstGeom prst="foldedCorner">
            <a:avLst>
              <a:gd name="adj" fmla="val 7733"/>
            </a:avLst>
          </a:prstGeom>
          <a:pattFill prst="pct5">
            <a:fgClr>
              <a:schemeClr val="tx2">
                <a:lumMod val="20000"/>
                <a:lumOff val="80000"/>
              </a:schemeClr>
            </a:fgClr>
            <a:bgClr>
              <a:schemeClr val="bg1"/>
            </a:bgClr>
          </a:pattFill>
          <a:ln w="9525">
            <a:solidFill>
              <a:schemeClr val="accent2"/>
            </a:solidFill>
            <a:miter lim="800000"/>
            <a:headEnd/>
            <a:tailEnd/>
          </a:ln>
          <a:effectLst>
            <a:glow rad="139700">
              <a:schemeClr val="accent2">
                <a:satMod val="175000"/>
                <a:alpha val="40000"/>
              </a:schemeClr>
            </a:glow>
          </a:effectLst>
        </p:spPr>
        <p:style>
          <a:lnRef idx="0">
            <a:scrgbClr r="0" g="0" b="0"/>
          </a:lnRef>
          <a:fillRef idx="1003">
            <a:schemeClr val="lt1"/>
          </a:fillRef>
          <a:effectRef idx="0">
            <a:scrgbClr r="0" g="0" b="0"/>
          </a:effectRef>
          <a:fontRef idx="major"/>
        </p:style>
        <p:txBody>
          <a:bodyPr/>
          <a:lstStyle/>
          <a:p>
            <a:pPr algn="just"/>
            <a:r>
              <a:rPr lang="uz-Cyrl-UZ" b="1" i="1" dirty="0" smtClean="0">
                <a:latin typeface="Times New Roman" pitchFamily="18" charset="0"/>
                <a:cs typeface="Times New Roman" pitchFamily="18" charset="0"/>
              </a:rPr>
              <a:t>          </a:t>
            </a:r>
            <a:r>
              <a:rPr lang="uz-Cyrl-UZ" b="1" i="1" dirty="0">
                <a:latin typeface="Times New Roman" pitchFamily="18" charset="0"/>
                <a:cs typeface="Times New Roman" pitchFamily="18" charset="0"/>
              </a:rPr>
              <a:t>1–қадам.</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Узлуксиз шифрлаш алгоритмида фойдаланилган комбинацияловчи функциянинг чизиқсизлик даражаси ҳисобланади. Агар чизиқсизлик даражаси нолга тенг бўлса фойдаланилган функция бардошсиз деб топилади. Акс ҳолда иккинчи қадамга ўтилади;</a:t>
            </a:r>
            <a:endParaRPr lang="ru-RU" dirty="0">
              <a:latin typeface="Times New Roman" pitchFamily="18" charset="0"/>
              <a:cs typeface="Times New Roman" pitchFamily="18" charset="0"/>
            </a:endParaRPr>
          </a:p>
          <a:p>
            <a:pPr algn="just"/>
            <a:r>
              <a:rPr lang="en-US" b="1" i="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2–қадам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Узлуксиз шифрлаш алгоритмида фойдаланилган комбинацияловчи функциянинг корреляцион иммунистлик даражалари ҳисобланади. Агар корреляцион иммунистлик даражаси нолга тенг бўлса, фойдаланилган функция бардошсиз деб топилади. Акс ҳолда учинчи қадамга ўтилади;</a:t>
            </a:r>
            <a:endParaRPr lang="ru-RU" dirty="0">
              <a:latin typeface="Times New Roman" pitchFamily="18" charset="0"/>
              <a:cs typeface="Times New Roman" pitchFamily="18" charset="0"/>
            </a:endParaRPr>
          </a:p>
          <a:p>
            <a:pPr algn="just"/>
            <a:r>
              <a:rPr lang="en-US" b="1" i="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3–қадам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Комбинацияловчи функциянинг мавжуд бўлган барча статаналог функциялари қидирилади. Статаналог функциялар ичидан чизиқли бўлгани танлаб олинади; </a:t>
            </a:r>
            <a:endParaRPr lang="ru-RU" dirty="0">
              <a:latin typeface="Times New Roman" pitchFamily="18" charset="0"/>
              <a:cs typeface="Times New Roman" pitchFamily="18" charset="0"/>
            </a:endParaRPr>
          </a:p>
          <a:p>
            <a:pPr algn="just"/>
            <a:r>
              <a:rPr lang="en-US" b="1" i="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4–қадам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Филтрловчи функция сифатида статаналог функциядан фойдаланиб, бизга маълум бўлган гаммалар ва тескари алоқа кўпҳадидан фойдаланган ҳолда чизиқли тенгламалар системаси тузилади;</a:t>
            </a:r>
            <a:endParaRPr lang="ru-RU" dirty="0">
              <a:latin typeface="Times New Roman" pitchFamily="18" charset="0"/>
              <a:cs typeface="Times New Roman" pitchFamily="18" charset="0"/>
            </a:endParaRPr>
          </a:p>
          <a:p>
            <a:pPr algn="just"/>
            <a:r>
              <a:rPr lang="en-US" b="1" i="1" dirty="0" smtClean="0">
                <a:latin typeface="Times New Roman" pitchFamily="18" charset="0"/>
                <a:cs typeface="Times New Roman" pitchFamily="18" charset="0"/>
              </a:rPr>
              <a:t>          </a:t>
            </a:r>
            <a:r>
              <a:rPr lang="uz-Cyrl-UZ" b="1" i="1" dirty="0" smtClean="0">
                <a:latin typeface="Times New Roman" pitchFamily="18" charset="0"/>
                <a:cs typeface="Times New Roman" pitchFamily="18" charset="0"/>
              </a:rPr>
              <a:t>5–қадам</a:t>
            </a:r>
            <a:r>
              <a:rPr lang="uz-Cyrl-UZ" b="1" i="1" dirty="0">
                <a:latin typeface="Times New Roman" pitchFamily="18" charset="0"/>
                <a:cs typeface="Times New Roman" pitchFamily="18" charset="0"/>
              </a:rPr>
              <a:t>.</a:t>
            </a:r>
            <a:r>
              <a:rPr lang="uz-Cyrl-UZ" i="1" dirty="0">
                <a:latin typeface="Times New Roman" pitchFamily="18" charset="0"/>
                <a:cs typeface="Times New Roman" pitchFamily="18" charset="0"/>
              </a:rPr>
              <a:t> </a:t>
            </a:r>
            <a:r>
              <a:rPr lang="uz-Cyrl-UZ" dirty="0">
                <a:latin typeface="Times New Roman" pitchFamily="18" charset="0"/>
                <a:cs typeface="Times New Roman" pitchFamily="18" charset="0"/>
              </a:rPr>
              <a:t>Тузилган чизиқли тенгламалар системасини ечиб регистрнинг бошланғич ҳолати аниқланади.</a:t>
            </a:r>
            <a:endParaRPr lang="ru-RU" dirty="0">
              <a:latin typeface="Times New Roman" pitchFamily="18" charset="0"/>
              <a:cs typeface="Times New Roman" pitchFamily="18" charset="0"/>
            </a:endParaRPr>
          </a:p>
          <a:p>
            <a:pPr algn="just"/>
            <a:endParaRPr lang="ru-RU" b="1" dirty="0">
              <a:latin typeface="Times New Roman" pitchFamily="18" charset="0"/>
              <a:cs typeface="Times New Roman" pitchFamily="18" charset="0"/>
            </a:endParaRPr>
          </a:p>
        </p:txBody>
      </p:sp>
    </p:spTree>
    <p:extLst>
      <p:ext uri="{BB962C8B-B14F-4D97-AF65-F5344CB8AC3E}">
        <p14:creationId xmlns:p14="http://schemas.microsoft.com/office/powerpoint/2010/main" val="233134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899592" y="404664"/>
            <a:ext cx="7416824"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p>
          <a:p>
            <a:pPr algn="ctr"/>
            <a:r>
              <a:rPr lang="ru-RU" b="1" dirty="0" err="1" smtClean="0">
                <a:solidFill>
                  <a:schemeClr val="tx1"/>
                </a:solidFill>
                <a:latin typeface="Times New Roman" pitchFamily="18" charset="0"/>
                <a:cs typeface="Times New Roman" pitchFamily="18" charset="0"/>
              </a:rPr>
              <a:t>Комбинацияловчи</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генераторга</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яратилган</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дастурий</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таъминот</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pic>
        <p:nvPicPr>
          <p:cNvPr id="10" name="Рисунок 9"/>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233486"/>
            <a:ext cx="4463951" cy="5003825"/>
          </a:xfrm>
          <a:prstGeom prst="rect">
            <a:avLst/>
          </a:prstGeom>
          <a:noFill/>
          <a:ln>
            <a:noFill/>
          </a:ln>
        </p:spPr>
      </p:pic>
      <p:pic>
        <p:nvPicPr>
          <p:cNvPr id="22" name="Рисунок 2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1233487"/>
            <a:ext cx="4463951" cy="5003825"/>
          </a:xfrm>
          <a:prstGeom prst="rect">
            <a:avLst/>
          </a:prstGeom>
          <a:noFill/>
          <a:ln>
            <a:noFill/>
          </a:ln>
        </p:spPr>
      </p:pic>
      <p:sp>
        <p:nvSpPr>
          <p:cNvPr id="16" name="Прямоугольник 15"/>
          <p:cNvSpPr/>
          <p:nvPr/>
        </p:nvSpPr>
        <p:spPr>
          <a:xfrm>
            <a:off x="3490683" y="4390809"/>
            <a:ext cx="3097541" cy="766383"/>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288028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circle(in)">
                                      <p:cBhvr>
                                        <p:cTn id="25"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9" name="Скругленный прямоугольник 8"/>
          <p:cNvSpPr/>
          <p:nvPr/>
        </p:nvSpPr>
        <p:spPr>
          <a:xfrm>
            <a:off x="912890" y="332656"/>
            <a:ext cx="7517067"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Комбинацияловчи генераторга корреляцион криптотаҳлил ўтказиш дастурий таъминоти асосий ойнаси</a:t>
            </a:r>
            <a:r>
              <a:rPr lang="en-US" b="1" dirty="0" smtClean="0">
                <a:solidFill>
                  <a:schemeClr val="tx1"/>
                </a:solidFill>
                <a:latin typeface="Times New Roman" pitchFamily="18" charset="0"/>
                <a:cs typeface="Times New Roman" pitchFamily="18" charset="0"/>
              </a:rPr>
              <a:t> </a:t>
            </a:r>
            <a:endParaRPr lang="ru-RU" b="1" dirty="0">
              <a:solidFill>
                <a:schemeClr val="tx1"/>
              </a:solidFill>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00" y="1124744"/>
            <a:ext cx="8505080"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Прямоугольник 19"/>
          <p:cNvSpPr/>
          <p:nvPr/>
        </p:nvSpPr>
        <p:spPr>
          <a:xfrm>
            <a:off x="611560" y="1819022"/>
            <a:ext cx="2880320" cy="1970018"/>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1" name="Прямоугольник 20"/>
          <p:cNvSpPr/>
          <p:nvPr/>
        </p:nvSpPr>
        <p:spPr>
          <a:xfrm>
            <a:off x="611561" y="3805085"/>
            <a:ext cx="2880320" cy="271987"/>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2" name="Прямоугольник 21"/>
          <p:cNvSpPr/>
          <p:nvPr/>
        </p:nvSpPr>
        <p:spPr>
          <a:xfrm>
            <a:off x="611560" y="4077072"/>
            <a:ext cx="2880320" cy="144016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3" name="Прямоугольник 22"/>
          <p:cNvSpPr/>
          <p:nvPr/>
        </p:nvSpPr>
        <p:spPr>
          <a:xfrm>
            <a:off x="3563888" y="4229824"/>
            <a:ext cx="2232248" cy="186347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4" name="Прямоугольник 23"/>
          <p:cNvSpPr/>
          <p:nvPr/>
        </p:nvSpPr>
        <p:spPr>
          <a:xfrm>
            <a:off x="3563888" y="2007778"/>
            <a:ext cx="5040560" cy="2222046"/>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5" name="Прямоугольник 24"/>
          <p:cNvSpPr/>
          <p:nvPr/>
        </p:nvSpPr>
        <p:spPr>
          <a:xfrm>
            <a:off x="5868144" y="4229825"/>
            <a:ext cx="2736304" cy="186347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6" name="Прямоугольник 25"/>
          <p:cNvSpPr/>
          <p:nvPr/>
        </p:nvSpPr>
        <p:spPr>
          <a:xfrm>
            <a:off x="611560" y="5517233"/>
            <a:ext cx="2880320" cy="864096"/>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7" name="Прямоугольник 26"/>
          <p:cNvSpPr/>
          <p:nvPr/>
        </p:nvSpPr>
        <p:spPr>
          <a:xfrm>
            <a:off x="3563888" y="6093296"/>
            <a:ext cx="4968552" cy="36004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217802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051"/>
                                        </p:tgtEl>
                                        <p:attrNameLst>
                                          <p:attrName>style.visibility</p:attrName>
                                        </p:attrNameLst>
                                      </p:cBhvr>
                                      <p:to>
                                        <p:strVal val="visible"/>
                                      </p:to>
                                    </p:set>
                                    <p:animEffect transition="in" filter="fade">
                                      <p:cBhvr>
                                        <p:cTn id="11" dur="1000"/>
                                        <p:tgtEl>
                                          <p:spTgt spid="2051"/>
                                        </p:tgtEl>
                                      </p:cBhvr>
                                    </p:animEffect>
                                    <p:anim calcmode="lin" valueType="num">
                                      <p:cBhvr>
                                        <p:cTn id="12" dur="1000" fill="hold"/>
                                        <p:tgtEl>
                                          <p:spTgt spid="2051"/>
                                        </p:tgtEl>
                                        <p:attrNameLst>
                                          <p:attrName>ppt_x</p:attrName>
                                        </p:attrNameLst>
                                      </p:cBhvr>
                                      <p:tavLst>
                                        <p:tav tm="0">
                                          <p:val>
                                            <p:strVal val="#ppt_x"/>
                                          </p:val>
                                        </p:tav>
                                        <p:tav tm="100000">
                                          <p:val>
                                            <p:strVal val="#ppt_x"/>
                                          </p:val>
                                        </p:tav>
                                      </p:tavLst>
                                    </p:anim>
                                    <p:anim calcmode="lin" valueType="num">
                                      <p:cBhvr>
                                        <p:cTn id="13" dur="1000" fill="hold"/>
                                        <p:tgtEl>
                                          <p:spTgt spid="205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circle(in)">
                                      <p:cBhvr>
                                        <p:cTn id="18" dur="1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xit" presetSubtype="32" fill="hold" grpId="1" nodeType="clickEffect">
                                  <p:stCondLst>
                                    <p:cond delay="0"/>
                                  </p:stCondLst>
                                  <p:childTnLst>
                                    <p:animEffect transition="out" filter="circle(out)">
                                      <p:cBhvr>
                                        <p:cTn id="22" dur="500"/>
                                        <p:tgtEl>
                                          <p:spTgt spid="20"/>
                                        </p:tgtEl>
                                      </p:cBhvr>
                                    </p:animEffect>
                                    <p:set>
                                      <p:cBhvr>
                                        <p:cTn id="23" dur="1" fill="hold">
                                          <p:stCondLst>
                                            <p:cond delay="499"/>
                                          </p:stCondLst>
                                        </p:cTn>
                                        <p:tgtEl>
                                          <p:spTgt spid="20"/>
                                        </p:tgtEl>
                                        <p:attrNameLst>
                                          <p:attrName>style.visibility</p:attrName>
                                        </p:attrNameLst>
                                      </p:cBhvr>
                                      <p:to>
                                        <p:strVal val="hidden"/>
                                      </p:to>
                                    </p:set>
                                  </p:childTnLst>
                                </p:cTn>
                              </p:par>
                              <p:par>
                                <p:cTn id="24" presetID="6" presetClass="entr" presetSubtype="16"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circle(in)">
                                      <p:cBhvr>
                                        <p:cTn id="26" dur="1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xit" presetSubtype="32" fill="hold" grpId="1" nodeType="clickEffect">
                                  <p:stCondLst>
                                    <p:cond delay="0"/>
                                  </p:stCondLst>
                                  <p:childTnLst>
                                    <p:animEffect transition="out" filter="box(out)">
                                      <p:cBhvr>
                                        <p:cTn id="30" dur="500"/>
                                        <p:tgtEl>
                                          <p:spTgt spid="21"/>
                                        </p:tgtEl>
                                      </p:cBhvr>
                                    </p:animEffect>
                                    <p:set>
                                      <p:cBhvr>
                                        <p:cTn id="31" dur="1" fill="hold">
                                          <p:stCondLst>
                                            <p:cond delay="499"/>
                                          </p:stCondLst>
                                        </p:cTn>
                                        <p:tgtEl>
                                          <p:spTgt spid="21"/>
                                        </p:tgtEl>
                                        <p:attrNameLst>
                                          <p:attrName>style.visibility</p:attrName>
                                        </p:attrNameLst>
                                      </p:cBhvr>
                                      <p:to>
                                        <p:strVal val="hidden"/>
                                      </p:to>
                                    </p:se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1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xit" presetSubtype="32" fill="hold" grpId="1" nodeType="clickEffect">
                                  <p:stCondLst>
                                    <p:cond delay="0"/>
                                  </p:stCondLst>
                                  <p:childTnLst>
                                    <p:animEffect transition="out" filter="box(out)">
                                      <p:cBhvr>
                                        <p:cTn id="38" dur="500"/>
                                        <p:tgtEl>
                                          <p:spTgt spid="22"/>
                                        </p:tgtEl>
                                      </p:cBhvr>
                                    </p:animEffect>
                                    <p:set>
                                      <p:cBhvr>
                                        <p:cTn id="39" dur="1" fill="hold">
                                          <p:stCondLst>
                                            <p:cond delay="499"/>
                                          </p:stCondLst>
                                        </p:cTn>
                                        <p:tgtEl>
                                          <p:spTgt spid="22"/>
                                        </p:tgtEl>
                                        <p:attrNameLst>
                                          <p:attrName>style.visibility</p:attrName>
                                        </p:attrNameLst>
                                      </p:cBhvr>
                                      <p:to>
                                        <p:strVal val="hidden"/>
                                      </p:to>
                                    </p:set>
                                  </p:childTnLst>
                                </p:cTn>
                              </p:par>
                              <p:par>
                                <p:cTn id="40" presetID="6" presetClass="entr" presetSubtype="16"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circle(in)">
                                      <p:cBhvr>
                                        <p:cTn id="42" dur="1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xit" presetSubtype="32" fill="hold" grpId="1" nodeType="clickEffect">
                                  <p:stCondLst>
                                    <p:cond delay="0"/>
                                  </p:stCondLst>
                                  <p:childTnLst>
                                    <p:animEffect transition="out" filter="box(out)">
                                      <p:cBhvr>
                                        <p:cTn id="46" dur="500"/>
                                        <p:tgtEl>
                                          <p:spTgt spid="23"/>
                                        </p:tgtEl>
                                      </p:cBhvr>
                                    </p:animEffect>
                                    <p:set>
                                      <p:cBhvr>
                                        <p:cTn id="47" dur="1" fill="hold">
                                          <p:stCondLst>
                                            <p:cond delay="499"/>
                                          </p:stCondLst>
                                        </p:cTn>
                                        <p:tgtEl>
                                          <p:spTgt spid="23"/>
                                        </p:tgtEl>
                                        <p:attrNameLst>
                                          <p:attrName>style.visibility</p:attrName>
                                        </p:attrNameLst>
                                      </p:cBhvr>
                                      <p:to>
                                        <p:strVal val="hidden"/>
                                      </p:to>
                                    </p:set>
                                  </p:childTnLst>
                                </p:cTn>
                              </p:par>
                              <p:par>
                                <p:cTn id="48" presetID="6" presetClass="entr" presetSubtype="16"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circle(in)">
                                      <p:cBhvr>
                                        <p:cTn id="50" dur="1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xit" presetSubtype="32" fill="hold" grpId="1" nodeType="clickEffect">
                                  <p:stCondLst>
                                    <p:cond delay="0"/>
                                  </p:stCondLst>
                                  <p:childTnLst>
                                    <p:animEffect transition="out" filter="box(out)">
                                      <p:cBhvr>
                                        <p:cTn id="54" dur="500"/>
                                        <p:tgtEl>
                                          <p:spTgt spid="24"/>
                                        </p:tgtEl>
                                      </p:cBhvr>
                                    </p:animEffect>
                                    <p:set>
                                      <p:cBhvr>
                                        <p:cTn id="55" dur="1" fill="hold">
                                          <p:stCondLst>
                                            <p:cond delay="499"/>
                                          </p:stCondLst>
                                        </p:cTn>
                                        <p:tgtEl>
                                          <p:spTgt spid="24"/>
                                        </p:tgtEl>
                                        <p:attrNameLst>
                                          <p:attrName>style.visibility</p:attrName>
                                        </p:attrNameLst>
                                      </p:cBhvr>
                                      <p:to>
                                        <p:strVal val="hidden"/>
                                      </p:to>
                                    </p:set>
                                  </p:childTnLst>
                                </p:cTn>
                              </p:par>
                              <p:par>
                                <p:cTn id="56" presetID="6" presetClass="entr" presetSubtype="16"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circle(in)">
                                      <p:cBhvr>
                                        <p:cTn id="58" dur="1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xit" presetSubtype="32" fill="hold" grpId="1" nodeType="clickEffect">
                                  <p:stCondLst>
                                    <p:cond delay="0"/>
                                  </p:stCondLst>
                                  <p:childTnLst>
                                    <p:animEffect transition="out" filter="box(out)">
                                      <p:cBhvr>
                                        <p:cTn id="62" dur="500"/>
                                        <p:tgtEl>
                                          <p:spTgt spid="25"/>
                                        </p:tgtEl>
                                      </p:cBhvr>
                                    </p:animEffect>
                                    <p:set>
                                      <p:cBhvr>
                                        <p:cTn id="63" dur="1" fill="hold">
                                          <p:stCondLst>
                                            <p:cond delay="499"/>
                                          </p:stCondLst>
                                        </p:cTn>
                                        <p:tgtEl>
                                          <p:spTgt spid="25"/>
                                        </p:tgtEl>
                                        <p:attrNameLst>
                                          <p:attrName>style.visibility</p:attrName>
                                        </p:attrNameLst>
                                      </p:cBhvr>
                                      <p:to>
                                        <p:strVal val="hidden"/>
                                      </p:to>
                                    </p:set>
                                  </p:childTnLst>
                                </p:cTn>
                              </p:par>
                              <p:par>
                                <p:cTn id="64" presetID="6" presetClass="entr" presetSubtype="16"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circle(in)">
                                      <p:cBhvr>
                                        <p:cTn id="66" dur="1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xit" presetSubtype="32" fill="hold" grpId="1" nodeType="clickEffect">
                                  <p:stCondLst>
                                    <p:cond delay="0"/>
                                  </p:stCondLst>
                                  <p:childTnLst>
                                    <p:animEffect transition="out" filter="box(out)">
                                      <p:cBhvr>
                                        <p:cTn id="70" dur="500"/>
                                        <p:tgtEl>
                                          <p:spTgt spid="26"/>
                                        </p:tgtEl>
                                      </p:cBhvr>
                                    </p:animEffect>
                                    <p:set>
                                      <p:cBhvr>
                                        <p:cTn id="71" dur="1" fill="hold">
                                          <p:stCondLst>
                                            <p:cond delay="499"/>
                                          </p:stCondLst>
                                        </p:cTn>
                                        <p:tgtEl>
                                          <p:spTgt spid="26"/>
                                        </p:tgtEl>
                                        <p:attrNameLst>
                                          <p:attrName>style.visibility</p:attrName>
                                        </p:attrNameLst>
                                      </p:cBhvr>
                                      <p:to>
                                        <p:strVal val="hidden"/>
                                      </p:to>
                                    </p:set>
                                  </p:childTnLst>
                                </p:cTn>
                              </p:par>
                              <p:par>
                                <p:cTn id="72" presetID="6" presetClass="entr" presetSubtype="16"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circle(in)">
                                      <p:cBhvr>
                                        <p:cTn id="74" dur="1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9512" y="116632"/>
            <a:ext cx="8856984" cy="6624736"/>
          </a:xfrm>
          <a:prstGeom prst="snip2DiagRect">
            <a:avLst>
              <a:gd name="adj1" fmla="val 0"/>
              <a:gd name="adj2" fmla="val 4020"/>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кругленный прямоугольник 12"/>
          <p:cNvSpPr/>
          <p:nvPr/>
        </p:nvSpPr>
        <p:spPr>
          <a:xfrm>
            <a:off x="912890" y="332656"/>
            <a:ext cx="7517067"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Комбинацияловчи генераторга корреляцион криптотаҳлил ўтказиш дастурининг ишлаш жараёни</a:t>
            </a:r>
            <a:endParaRPr lang="ru-RU" b="1" dirty="0">
              <a:solidFill>
                <a:schemeClr val="tx1"/>
              </a:solidFill>
              <a:latin typeface="Times New Roman" pitchFamily="18" charset="0"/>
              <a:cs typeface="Times New Roman" pitchFamily="18" charset="0"/>
            </a:endParaRPr>
          </a:p>
        </p:txBody>
      </p:sp>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00" y="1124744"/>
            <a:ext cx="8505080"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124745"/>
            <a:ext cx="8496944" cy="547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1124744"/>
            <a:ext cx="8496945"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Прямоугольник 20"/>
          <p:cNvSpPr/>
          <p:nvPr/>
        </p:nvSpPr>
        <p:spPr>
          <a:xfrm>
            <a:off x="759974" y="4221088"/>
            <a:ext cx="2659898" cy="28803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2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6" y="1124745"/>
            <a:ext cx="8496944" cy="547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Прямоугольник 24"/>
          <p:cNvSpPr/>
          <p:nvPr/>
        </p:nvSpPr>
        <p:spPr>
          <a:xfrm>
            <a:off x="759974" y="4509120"/>
            <a:ext cx="2659898" cy="216024"/>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308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536" y="1124746"/>
            <a:ext cx="8496883" cy="5474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3"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536" y="1124744"/>
            <a:ext cx="8488686" cy="547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Прямоугольник 30"/>
          <p:cNvSpPr/>
          <p:nvPr/>
        </p:nvSpPr>
        <p:spPr>
          <a:xfrm>
            <a:off x="683568" y="3789040"/>
            <a:ext cx="2736304" cy="28803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32" name="Прямоугольник 31"/>
          <p:cNvSpPr/>
          <p:nvPr/>
        </p:nvSpPr>
        <p:spPr>
          <a:xfrm>
            <a:off x="755576" y="4797152"/>
            <a:ext cx="2664296" cy="216024"/>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35" name="Прямоугольник 34"/>
          <p:cNvSpPr/>
          <p:nvPr/>
        </p:nvSpPr>
        <p:spPr>
          <a:xfrm>
            <a:off x="755576" y="4963042"/>
            <a:ext cx="2664296" cy="266158"/>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3088"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536" y="1124744"/>
            <a:ext cx="8480428" cy="547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Прямоугольник 38"/>
          <p:cNvSpPr/>
          <p:nvPr/>
        </p:nvSpPr>
        <p:spPr>
          <a:xfrm>
            <a:off x="755576" y="5229200"/>
            <a:ext cx="2664296" cy="266158"/>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3089"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536" y="1124747"/>
            <a:ext cx="8480518" cy="547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Прямоугольник 40"/>
          <p:cNvSpPr/>
          <p:nvPr/>
        </p:nvSpPr>
        <p:spPr>
          <a:xfrm>
            <a:off x="759974" y="5683122"/>
            <a:ext cx="2664296" cy="266158"/>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3090"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536" y="1124744"/>
            <a:ext cx="8480519" cy="547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Прямоугольник 42"/>
          <p:cNvSpPr/>
          <p:nvPr/>
        </p:nvSpPr>
        <p:spPr>
          <a:xfrm>
            <a:off x="5004048" y="6115170"/>
            <a:ext cx="3576798" cy="266158"/>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63993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 presetClass="entr" presetSubtype="0" fill="hold" nodeType="afterEffect">
                                  <p:stCondLst>
                                    <p:cond delay="0"/>
                                  </p:stCondLst>
                                  <p:childTnLst>
                                    <p:set>
                                      <p:cBhvr>
                                        <p:cTn id="16" dur="1" fill="hold">
                                          <p:stCondLst>
                                            <p:cond delay="0"/>
                                          </p:stCondLst>
                                        </p:cTn>
                                        <p:tgtEl>
                                          <p:spTgt spid="3075"/>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nodeType="afterEffect">
                                  <p:stCondLst>
                                    <p:cond delay="0"/>
                                  </p:stCondLst>
                                  <p:childTnLst>
                                    <p:set>
                                      <p:cBhvr>
                                        <p:cTn id="19" dur="1" fill="hold">
                                          <p:stCondLst>
                                            <p:cond delay="0"/>
                                          </p:stCondLst>
                                        </p:cTn>
                                        <p:tgtEl>
                                          <p:spTgt spid="307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circle(in)">
                                      <p:cBhvr>
                                        <p:cTn id="24" dur="1500"/>
                                        <p:tgtEl>
                                          <p:spTgt spid="21"/>
                                        </p:tgtEl>
                                      </p:cBhvr>
                                    </p:animEffect>
                                  </p:childTnLst>
                                </p:cTn>
                              </p:par>
                            </p:childTnLst>
                          </p:cTn>
                        </p:par>
                        <p:par>
                          <p:cTn id="25" fill="hold">
                            <p:stCondLst>
                              <p:cond delay="1500"/>
                            </p:stCondLst>
                            <p:childTnLst>
                              <p:par>
                                <p:cTn id="26" presetID="4" presetClass="exit" presetSubtype="32" fill="hold" grpId="1" nodeType="afterEffect">
                                  <p:stCondLst>
                                    <p:cond delay="250"/>
                                  </p:stCondLst>
                                  <p:childTnLst>
                                    <p:animEffect transition="out" filter="box(out)">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childTnLst>
                          </p:cTn>
                        </p:par>
                        <p:par>
                          <p:cTn id="29" fill="hold">
                            <p:stCondLst>
                              <p:cond delay="2250"/>
                            </p:stCondLst>
                            <p:childTnLst>
                              <p:par>
                                <p:cTn id="30" presetID="1" presetClass="entr" presetSubtype="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circle(in)">
                                      <p:cBhvr>
                                        <p:cTn id="36" dur="1500"/>
                                        <p:tgtEl>
                                          <p:spTgt spid="25"/>
                                        </p:tgtEl>
                                      </p:cBhvr>
                                    </p:animEffect>
                                  </p:childTnLst>
                                </p:cTn>
                              </p:par>
                            </p:childTnLst>
                          </p:cTn>
                        </p:par>
                        <p:par>
                          <p:cTn id="37" fill="hold">
                            <p:stCondLst>
                              <p:cond delay="1500"/>
                            </p:stCondLst>
                            <p:childTnLst>
                              <p:par>
                                <p:cTn id="38" presetID="4" presetClass="exit" presetSubtype="32" fill="hold" grpId="1" nodeType="afterEffect">
                                  <p:stCondLst>
                                    <p:cond delay="250"/>
                                  </p:stCondLst>
                                  <p:childTnLst>
                                    <p:animEffect transition="out" filter="box(out)">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childTnLst>
                          </p:cTn>
                        </p:par>
                        <p:par>
                          <p:cTn id="41" fill="hold">
                            <p:stCondLst>
                              <p:cond delay="2250"/>
                            </p:stCondLst>
                            <p:childTnLst>
                              <p:par>
                                <p:cTn id="42" presetID="1" presetClass="entr" presetSubtype="0" fill="hold" nodeType="afterEffect">
                                  <p:stCondLst>
                                    <p:cond delay="0"/>
                                  </p:stCondLst>
                                  <p:childTnLst>
                                    <p:set>
                                      <p:cBhvr>
                                        <p:cTn id="43" dur="1" fill="hold">
                                          <p:stCondLst>
                                            <p:cond delay="0"/>
                                          </p:stCondLst>
                                        </p:cTn>
                                        <p:tgtEl>
                                          <p:spTgt spid="308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circle(in)">
                                      <p:cBhvr>
                                        <p:cTn id="48" dur="1500"/>
                                        <p:tgtEl>
                                          <p:spTgt spid="31"/>
                                        </p:tgtEl>
                                      </p:cBhvr>
                                    </p:animEffect>
                                  </p:childTnLst>
                                </p:cTn>
                              </p:par>
                            </p:childTnLst>
                          </p:cTn>
                        </p:par>
                        <p:par>
                          <p:cTn id="49" fill="hold">
                            <p:stCondLst>
                              <p:cond delay="1500"/>
                            </p:stCondLst>
                            <p:childTnLst>
                              <p:par>
                                <p:cTn id="50" presetID="4" presetClass="exit" presetSubtype="32" fill="hold" grpId="1" nodeType="afterEffect">
                                  <p:stCondLst>
                                    <p:cond delay="0"/>
                                  </p:stCondLst>
                                  <p:childTnLst>
                                    <p:animEffect transition="out" filter="box(out)">
                                      <p:cBhvr>
                                        <p:cTn id="51" dur="500"/>
                                        <p:tgtEl>
                                          <p:spTgt spid="31"/>
                                        </p:tgtEl>
                                      </p:cBhvr>
                                    </p:animEffect>
                                    <p:set>
                                      <p:cBhvr>
                                        <p:cTn id="52" dur="1" fill="hold">
                                          <p:stCondLst>
                                            <p:cond delay="499"/>
                                          </p:stCondLst>
                                        </p:cTn>
                                        <p:tgtEl>
                                          <p:spTgt spid="31"/>
                                        </p:tgtEl>
                                        <p:attrNameLst>
                                          <p:attrName>style.visibility</p:attrName>
                                        </p:attrNameLst>
                                      </p:cBhvr>
                                      <p:to>
                                        <p:strVal val="hidden"/>
                                      </p:to>
                                    </p:set>
                                  </p:childTnLst>
                                </p:cTn>
                              </p:par>
                            </p:childTnLst>
                          </p:cTn>
                        </p:par>
                        <p:par>
                          <p:cTn id="53" fill="hold">
                            <p:stCondLst>
                              <p:cond delay="2000"/>
                            </p:stCondLst>
                            <p:childTnLst>
                              <p:par>
                                <p:cTn id="54" presetID="1" presetClass="entr" presetSubtype="0" fill="hold" nodeType="afterEffect">
                                  <p:stCondLst>
                                    <p:cond delay="0"/>
                                  </p:stCondLst>
                                  <p:childTnLst>
                                    <p:set>
                                      <p:cBhvr>
                                        <p:cTn id="55" dur="1" fill="hold">
                                          <p:stCondLst>
                                            <p:cond delay="0"/>
                                          </p:stCondLst>
                                        </p:cTn>
                                        <p:tgtEl>
                                          <p:spTgt spid="308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circle(in)">
                                      <p:cBhvr>
                                        <p:cTn id="60" dur="1500"/>
                                        <p:tgtEl>
                                          <p:spTgt spid="32"/>
                                        </p:tgtEl>
                                      </p:cBhvr>
                                    </p:animEffect>
                                  </p:childTnLst>
                                </p:cTn>
                              </p:par>
                            </p:childTnLst>
                          </p:cTn>
                        </p:par>
                        <p:par>
                          <p:cTn id="61" fill="hold">
                            <p:stCondLst>
                              <p:cond delay="1500"/>
                            </p:stCondLst>
                            <p:childTnLst>
                              <p:par>
                                <p:cTn id="62" presetID="4" presetClass="exit" presetSubtype="32" fill="hold" grpId="1" nodeType="afterEffect">
                                  <p:stCondLst>
                                    <p:cond delay="250"/>
                                  </p:stCondLst>
                                  <p:childTnLst>
                                    <p:animEffect transition="out" filter="box(out)">
                                      <p:cBhvr>
                                        <p:cTn id="63" dur="500"/>
                                        <p:tgtEl>
                                          <p:spTgt spid="32"/>
                                        </p:tgtEl>
                                      </p:cBhvr>
                                    </p:animEffect>
                                    <p:set>
                                      <p:cBhvr>
                                        <p:cTn id="64" dur="1" fill="hold">
                                          <p:stCondLst>
                                            <p:cond delay="499"/>
                                          </p:stCondLst>
                                        </p:cTn>
                                        <p:tgtEl>
                                          <p:spTgt spid="3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6" presetClass="entr" presetSubtype="16"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circle(in)">
                                      <p:cBhvr>
                                        <p:cTn id="69" dur="1500"/>
                                        <p:tgtEl>
                                          <p:spTgt spid="35"/>
                                        </p:tgtEl>
                                      </p:cBhvr>
                                    </p:animEffect>
                                  </p:childTnLst>
                                </p:cTn>
                              </p:par>
                            </p:childTnLst>
                          </p:cTn>
                        </p:par>
                        <p:par>
                          <p:cTn id="70" fill="hold">
                            <p:stCondLst>
                              <p:cond delay="1500"/>
                            </p:stCondLst>
                            <p:childTnLst>
                              <p:par>
                                <p:cTn id="71" presetID="4" presetClass="exit" presetSubtype="32" fill="hold" grpId="1" nodeType="afterEffect">
                                  <p:stCondLst>
                                    <p:cond delay="250"/>
                                  </p:stCondLst>
                                  <p:childTnLst>
                                    <p:animEffect transition="out" filter="box(out)">
                                      <p:cBhvr>
                                        <p:cTn id="72" dur="500"/>
                                        <p:tgtEl>
                                          <p:spTgt spid="35"/>
                                        </p:tgtEl>
                                      </p:cBhvr>
                                    </p:animEffect>
                                    <p:set>
                                      <p:cBhvr>
                                        <p:cTn id="73" dur="1" fill="hold">
                                          <p:stCondLst>
                                            <p:cond delay="499"/>
                                          </p:stCondLst>
                                        </p:cTn>
                                        <p:tgtEl>
                                          <p:spTgt spid="35"/>
                                        </p:tgtEl>
                                        <p:attrNameLst>
                                          <p:attrName>style.visibility</p:attrName>
                                        </p:attrNameLst>
                                      </p:cBhvr>
                                      <p:to>
                                        <p:strVal val="hidden"/>
                                      </p:to>
                                    </p:set>
                                  </p:childTnLst>
                                </p:cTn>
                              </p:par>
                            </p:childTnLst>
                          </p:cTn>
                        </p:par>
                        <p:par>
                          <p:cTn id="74" fill="hold">
                            <p:stCondLst>
                              <p:cond delay="2250"/>
                            </p:stCondLst>
                            <p:childTnLst>
                              <p:par>
                                <p:cTn id="75" presetID="1" presetClass="entr" presetSubtype="0" fill="hold" nodeType="afterEffect">
                                  <p:stCondLst>
                                    <p:cond delay="0"/>
                                  </p:stCondLst>
                                  <p:childTnLst>
                                    <p:set>
                                      <p:cBhvr>
                                        <p:cTn id="76" dur="1" fill="hold">
                                          <p:stCondLst>
                                            <p:cond delay="0"/>
                                          </p:stCondLst>
                                        </p:cTn>
                                        <p:tgtEl>
                                          <p:spTgt spid="308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circle(in)">
                                      <p:cBhvr>
                                        <p:cTn id="81" dur="1500"/>
                                        <p:tgtEl>
                                          <p:spTgt spid="39"/>
                                        </p:tgtEl>
                                      </p:cBhvr>
                                    </p:animEffect>
                                  </p:childTnLst>
                                </p:cTn>
                              </p:par>
                            </p:childTnLst>
                          </p:cTn>
                        </p:par>
                        <p:par>
                          <p:cTn id="82" fill="hold">
                            <p:stCondLst>
                              <p:cond delay="1500"/>
                            </p:stCondLst>
                            <p:childTnLst>
                              <p:par>
                                <p:cTn id="83" presetID="4" presetClass="exit" presetSubtype="32" fill="hold" grpId="1" nodeType="afterEffect">
                                  <p:stCondLst>
                                    <p:cond delay="250"/>
                                  </p:stCondLst>
                                  <p:childTnLst>
                                    <p:animEffect transition="out" filter="box(out)">
                                      <p:cBhvr>
                                        <p:cTn id="84" dur="500"/>
                                        <p:tgtEl>
                                          <p:spTgt spid="39"/>
                                        </p:tgtEl>
                                      </p:cBhvr>
                                    </p:animEffect>
                                    <p:set>
                                      <p:cBhvr>
                                        <p:cTn id="85" dur="1" fill="hold">
                                          <p:stCondLst>
                                            <p:cond delay="499"/>
                                          </p:stCondLst>
                                        </p:cTn>
                                        <p:tgtEl>
                                          <p:spTgt spid="39"/>
                                        </p:tgtEl>
                                        <p:attrNameLst>
                                          <p:attrName>style.visibility</p:attrName>
                                        </p:attrNameLst>
                                      </p:cBhvr>
                                      <p:to>
                                        <p:strVal val="hidden"/>
                                      </p:to>
                                    </p:set>
                                  </p:childTnLst>
                                </p:cTn>
                              </p:par>
                            </p:childTnLst>
                          </p:cTn>
                        </p:par>
                        <p:par>
                          <p:cTn id="86" fill="hold">
                            <p:stCondLst>
                              <p:cond delay="2250"/>
                            </p:stCondLst>
                            <p:childTnLst>
                              <p:par>
                                <p:cTn id="87" presetID="1" presetClass="entr" presetSubtype="0" fill="hold" nodeType="afterEffect">
                                  <p:stCondLst>
                                    <p:cond delay="0"/>
                                  </p:stCondLst>
                                  <p:childTnLst>
                                    <p:set>
                                      <p:cBhvr>
                                        <p:cTn id="88" dur="1" fill="hold">
                                          <p:stCondLst>
                                            <p:cond delay="0"/>
                                          </p:stCondLst>
                                        </p:cTn>
                                        <p:tgtEl>
                                          <p:spTgt spid="3089"/>
                                        </p:tgtEl>
                                        <p:attrNameLst>
                                          <p:attrName>style.visibility</p:attrName>
                                        </p:attrNameLst>
                                      </p:cBhvr>
                                      <p:to>
                                        <p:strVal val="visible"/>
                                      </p:to>
                                    </p:set>
                                  </p:childTnLst>
                                </p:cTn>
                              </p:par>
                            </p:childTnLst>
                          </p:cTn>
                        </p:par>
                        <p:par>
                          <p:cTn id="89" fill="hold">
                            <p:stCondLst>
                              <p:cond delay="2250"/>
                            </p:stCondLst>
                            <p:childTnLst>
                              <p:par>
                                <p:cTn id="90" presetID="6" presetClass="entr" presetSubtype="16" fill="hold" grpId="0" nodeType="afterEffect">
                                  <p:stCondLst>
                                    <p:cond delay="250"/>
                                  </p:stCondLst>
                                  <p:childTnLst>
                                    <p:set>
                                      <p:cBhvr>
                                        <p:cTn id="91" dur="1" fill="hold">
                                          <p:stCondLst>
                                            <p:cond delay="0"/>
                                          </p:stCondLst>
                                        </p:cTn>
                                        <p:tgtEl>
                                          <p:spTgt spid="41"/>
                                        </p:tgtEl>
                                        <p:attrNameLst>
                                          <p:attrName>style.visibility</p:attrName>
                                        </p:attrNameLst>
                                      </p:cBhvr>
                                      <p:to>
                                        <p:strVal val="visible"/>
                                      </p:to>
                                    </p:set>
                                    <p:animEffect transition="in" filter="circle(in)">
                                      <p:cBhvr>
                                        <p:cTn id="92" dur="1500"/>
                                        <p:tgtEl>
                                          <p:spTgt spid="41"/>
                                        </p:tgtEl>
                                      </p:cBhvr>
                                    </p:animEffect>
                                  </p:childTnLst>
                                </p:cTn>
                              </p:par>
                            </p:childTnLst>
                          </p:cTn>
                        </p:par>
                        <p:par>
                          <p:cTn id="93" fill="hold">
                            <p:stCondLst>
                              <p:cond delay="4000"/>
                            </p:stCondLst>
                            <p:childTnLst>
                              <p:par>
                                <p:cTn id="94" presetID="4" presetClass="exit" presetSubtype="32" fill="hold" grpId="1" nodeType="afterEffect">
                                  <p:stCondLst>
                                    <p:cond delay="500"/>
                                  </p:stCondLst>
                                  <p:childTnLst>
                                    <p:animEffect transition="out" filter="box(out)">
                                      <p:cBhvr>
                                        <p:cTn id="95" dur="750"/>
                                        <p:tgtEl>
                                          <p:spTgt spid="41"/>
                                        </p:tgtEl>
                                      </p:cBhvr>
                                    </p:animEffect>
                                    <p:set>
                                      <p:cBhvr>
                                        <p:cTn id="96" dur="1" fill="hold">
                                          <p:stCondLst>
                                            <p:cond delay="749"/>
                                          </p:stCondLst>
                                        </p:cTn>
                                        <p:tgtEl>
                                          <p:spTgt spid="41"/>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90"/>
                                        </p:tgtEl>
                                        <p:attrNameLst>
                                          <p:attrName>style.visibility</p:attrName>
                                        </p:attrNameLst>
                                      </p:cBhvr>
                                      <p:to>
                                        <p:strVal val="visible"/>
                                      </p:to>
                                    </p:set>
                                  </p:childTnLst>
                                </p:cTn>
                              </p:par>
                            </p:childTnLst>
                          </p:cTn>
                        </p:par>
                        <p:par>
                          <p:cTn id="101" fill="hold">
                            <p:stCondLst>
                              <p:cond delay="0"/>
                            </p:stCondLst>
                            <p:childTnLst>
                              <p:par>
                                <p:cTn id="102" presetID="6" presetClass="entr" presetSubtype="16" fill="hold" grpId="0" nodeType="afterEffect">
                                  <p:stCondLst>
                                    <p:cond delay="0"/>
                                  </p:stCondLst>
                                  <p:childTnLst>
                                    <p:set>
                                      <p:cBhvr>
                                        <p:cTn id="103" dur="1" fill="hold">
                                          <p:stCondLst>
                                            <p:cond delay="0"/>
                                          </p:stCondLst>
                                        </p:cTn>
                                        <p:tgtEl>
                                          <p:spTgt spid="43"/>
                                        </p:tgtEl>
                                        <p:attrNameLst>
                                          <p:attrName>style.visibility</p:attrName>
                                        </p:attrNameLst>
                                      </p:cBhvr>
                                      <p:to>
                                        <p:strVal val="visible"/>
                                      </p:to>
                                    </p:set>
                                    <p:animEffect transition="in" filter="circle(in)">
                                      <p:cBhvr>
                                        <p:cTn id="104" dur="1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animBg="1"/>
      <p:bldP spid="21" grpId="1" animBg="1"/>
      <p:bldP spid="25" grpId="0" animBg="1"/>
      <p:bldP spid="25" grpId="1" animBg="1"/>
      <p:bldP spid="31" grpId="0" animBg="1"/>
      <p:bldP spid="31" grpId="1" animBg="1"/>
      <p:bldP spid="32" grpId="0" animBg="1"/>
      <p:bldP spid="32" grpId="1" animBg="1"/>
      <p:bldP spid="35" grpId="0" animBg="1"/>
      <p:bldP spid="35" grpId="1" animBg="1"/>
      <p:bldP spid="39" grpId="0" animBg="1"/>
      <p:bldP spid="39" grpId="1" animBg="1"/>
      <p:bldP spid="41" grpId="0" animBg="1"/>
      <p:bldP spid="41" grpId="1" animBg="1"/>
      <p:bldP spid="4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ый прямоугольник 9"/>
          <p:cNvSpPr/>
          <p:nvPr/>
        </p:nvSpPr>
        <p:spPr>
          <a:xfrm>
            <a:off x="899592" y="404664"/>
            <a:ext cx="7416824"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p>
          <a:p>
            <a:pPr algn="ctr"/>
            <a:r>
              <a:rPr lang="ru-RU" b="1" dirty="0" err="1" smtClean="0">
                <a:solidFill>
                  <a:schemeClr val="tx1"/>
                </a:solidFill>
                <a:latin typeface="Times New Roman" pitchFamily="18" charset="0"/>
                <a:cs typeface="Times New Roman" pitchFamily="18" charset="0"/>
              </a:rPr>
              <a:t>Филтрловчи</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генераторга</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яратилган</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дастурий</a:t>
            </a:r>
            <a:r>
              <a:rPr lang="ru-RU" b="1" dirty="0" smtClean="0">
                <a:solidFill>
                  <a:schemeClr val="tx1"/>
                </a:solidFill>
                <a:latin typeface="Times New Roman" pitchFamily="18" charset="0"/>
                <a:cs typeface="Times New Roman" pitchFamily="18" charset="0"/>
              </a:rPr>
              <a:t> </a:t>
            </a:r>
            <a:r>
              <a:rPr lang="ru-RU" b="1" dirty="0" err="1" smtClean="0">
                <a:solidFill>
                  <a:schemeClr val="tx1"/>
                </a:solidFill>
                <a:latin typeface="Times New Roman" pitchFamily="18" charset="0"/>
                <a:cs typeface="Times New Roman" pitchFamily="18" charset="0"/>
              </a:rPr>
              <a:t>таъминот</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pic>
        <p:nvPicPr>
          <p:cNvPr id="12" name="Рисунок 1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1238820"/>
            <a:ext cx="4588917" cy="4854476"/>
          </a:xfrm>
          <a:prstGeom prst="rect">
            <a:avLst/>
          </a:prstGeom>
          <a:noFill/>
          <a:ln>
            <a:noFill/>
          </a:ln>
        </p:spPr>
      </p:pic>
      <p:pic>
        <p:nvPicPr>
          <p:cNvPr id="22" name="Рисунок 21"/>
          <p:cNvPicPr/>
          <p:nvPr/>
        </p:nvPicPr>
        <p:blipFill>
          <a:blip r:embed="rId4">
            <a:extLst>
              <a:ext uri="{28A0092B-C50C-407E-A947-70E740481C1C}">
                <a14:useLocalDpi xmlns:a14="http://schemas.microsoft.com/office/drawing/2010/main" val="0"/>
              </a:ext>
            </a:extLst>
          </a:blip>
          <a:srcRect/>
          <a:stretch>
            <a:fillRect/>
          </a:stretch>
        </p:blipFill>
        <p:spPr bwMode="auto">
          <a:xfrm>
            <a:off x="2287339" y="1268760"/>
            <a:ext cx="4588917" cy="4860032"/>
          </a:xfrm>
          <a:prstGeom prst="rect">
            <a:avLst/>
          </a:prstGeom>
          <a:noFill/>
          <a:ln>
            <a:noFill/>
          </a:ln>
        </p:spPr>
      </p:pic>
      <p:sp>
        <p:nvSpPr>
          <p:cNvPr id="25" name="Прямоугольник 24"/>
          <p:cNvSpPr/>
          <p:nvPr/>
        </p:nvSpPr>
        <p:spPr>
          <a:xfrm>
            <a:off x="3202651" y="4221087"/>
            <a:ext cx="3169549" cy="838391"/>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59525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circle(in)">
                                      <p:cBhvr>
                                        <p:cTn id="25" dur="1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3826"/>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Скругленный прямоугольник 14"/>
          <p:cNvSpPr/>
          <p:nvPr/>
        </p:nvSpPr>
        <p:spPr>
          <a:xfrm>
            <a:off x="912890" y="332656"/>
            <a:ext cx="7517067"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Филтрловчи генераторга корреляцион криптотаҳлил ўтказиш дастурий таъминоти асосий ойнаси</a:t>
            </a:r>
            <a:r>
              <a:rPr lang="en-US" b="1" dirty="0" smtClean="0">
                <a:solidFill>
                  <a:schemeClr val="tx1"/>
                </a:solidFill>
                <a:latin typeface="Times New Roman" pitchFamily="18" charset="0"/>
                <a:cs typeface="Times New Roman" pitchFamily="18" charset="0"/>
              </a:rPr>
              <a:t> </a:t>
            </a:r>
            <a:endParaRPr lang="ru-RU" b="1" dirty="0">
              <a:solidFill>
                <a:schemeClr val="tx1"/>
              </a:solidFill>
              <a:latin typeface="Times New Roman" pitchFamily="18" charset="0"/>
              <a:cs typeface="Times New Roman" pitchFamily="18" charset="0"/>
            </a:endParaRPr>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124744"/>
            <a:ext cx="8530977"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Прямоугольник 16"/>
          <p:cNvSpPr/>
          <p:nvPr/>
        </p:nvSpPr>
        <p:spPr>
          <a:xfrm>
            <a:off x="539552" y="1772816"/>
            <a:ext cx="2952328" cy="172819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8" name="Прямоугольник 17"/>
          <p:cNvSpPr/>
          <p:nvPr/>
        </p:nvSpPr>
        <p:spPr>
          <a:xfrm>
            <a:off x="539552" y="3645024"/>
            <a:ext cx="2952328" cy="1296144"/>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9" name="Прямоугольник 18"/>
          <p:cNvSpPr/>
          <p:nvPr/>
        </p:nvSpPr>
        <p:spPr>
          <a:xfrm>
            <a:off x="3563888" y="1988840"/>
            <a:ext cx="2376264" cy="1944216"/>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0" name="Прямоугольник 19"/>
          <p:cNvSpPr/>
          <p:nvPr/>
        </p:nvSpPr>
        <p:spPr>
          <a:xfrm>
            <a:off x="5981685" y="1988840"/>
            <a:ext cx="2622763" cy="1944216"/>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1" name="Прямоугольник 20"/>
          <p:cNvSpPr/>
          <p:nvPr/>
        </p:nvSpPr>
        <p:spPr>
          <a:xfrm>
            <a:off x="3563888" y="3933056"/>
            <a:ext cx="5040560" cy="2376264"/>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2" name="Прямоугольник 21"/>
          <p:cNvSpPr/>
          <p:nvPr/>
        </p:nvSpPr>
        <p:spPr>
          <a:xfrm>
            <a:off x="539552" y="5100045"/>
            <a:ext cx="2921724" cy="921243"/>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2" name="Прямоугольник 11"/>
          <p:cNvSpPr/>
          <p:nvPr/>
        </p:nvSpPr>
        <p:spPr>
          <a:xfrm>
            <a:off x="554854" y="6021289"/>
            <a:ext cx="2921724" cy="36004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295812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circle(in)">
                                      <p:cBhvr>
                                        <p:cTn id="18" dur="1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xit" presetSubtype="32" fill="hold" grpId="1" nodeType="clickEffect">
                                  <p:stCondLst>
                                    <p:cond delay="0"/>
                                  </p:stCondLst>
                                  <p:childTnLst>
                                    <p:animEffect transition="out" filter="circle(out)">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childTnLst>
                          </p:cTn>
                        </p:par>
                        <p:par>
                          <p:cTn id="24" fill="hold">
                            <p:stCondLst>
                              <p:cond delay="500"/>
                            </p:stCondLst>
                            <p:childTnLst>
                              <p:par>
                                <p:cTn id="25" presetID="6" presetClass="entr" presetSubtype="16"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circle(in)">
                                      <p:cBhvr>
                                        <p:cTn id="27" dur="1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xit" presetSubtype="32" fill="hold" grpId="1" nodeType="clickEffect">
                                  <p:stCondLst>
                                    <p:cond delay="0"/>
                                  </p:stCondLst>
                                  <p:childTnLst>
                                    <p:animEffect transition="out" filter="circle(out)">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par>
                          <p:cTn id="33" fill="hold">
                            <p:stCondLst>
                              <p:cond delay="500"/>
                            </p:stCondLst>
                            <p:childTnLst>
                              <p:par>
                                <p:cTn id="34" presetID="6" presetClass="entr" presetSubtype="16"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circle(in)">
                                      <p:cBhvr>
                                        <p:cTn id="36" dur="1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xit" presetSubtype="32" fill="hold" grpId="1" nodeType="clickEffect">
                                  <p:stCondLst>
                                    <p:cond delay="0"/>
                                  </p:stCondLst>
                                  <p:childTnLst>
                                    <p:animEffect transition="out" filter="circle(out)">
                                      <p:cBhvr>
                                        <p:cTn id="40" dur="500"/>
                                        <p:tgtEl>
                                          <p:spTgt spid="19"/>
                                        </p:tgtEl>
                                      </p:cBhvr>
                                    </p:animEffect>
                                    <p:set>
                                      <p:cBhvr>
                                        <p:cTn id="41" dur="1" fill="hold">
                                          <p:stCondLst>
                                            <p:cond delay="499"/>
                                          </p:stCondLst>
                                        </p:cTn>
                                        <p:tgtEl>
                                          <p:spTgt spid="19"/>
                                        </p:tgtEl>
                                        <p:attrNameLst>
                                          <p:attrName>style.visibility</p:attrName>
                                        </p:attrNameLst>
                                      </p:cBhvr>
                                      <p:to>
                                        <p:strVal val="hidden"/>
                                      </p:to>
                                    </p:set>
                                  </p:childTnLst>
                                </p:cTn>
                              </p:par>
                            </p:childTnLst>
                          </p:cTn>
                        </p:par>
                        <p:par>
                          <p:cTn id="42" fill="hold">
                            <p:stCondLst>
                              <p:cond delay="500"/>
                            </p:stCondLst>
                            <p:childTnLst>
                              <p:par>
                                <p:cTn id="43" presetID="6" presetClass="entr" presetSubtype="16"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1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xit" presetSubtype="32" fill="hold" grpId="1" nodeType="clickEffect">
                                  <p:stCondLst>
                                    <p:cond delay="0"/>
                                  </p:stCondLst>
                                  <p:childTnLst>
                                    <p:animEffect transition="out" filter="circle(out)">
                                      <p:cBhvr>
                                        <p:cTn id="49" dur="500"/>
                                        <p:tgtEl>
                                          <p:spTgt spid="20"/>
                                        </p:tgtEl>
                                      </p:cBhvr>
                                    </p:animEffect>
                                    <p:set>
                                      <p:cBhvr>
                                        <p:cTn id="50" dur="1" fill="hold">
                                          <p:stCondLst>
                                            <p:cond delay="499"/>
                                          </p:stCondLst>
                                        </p:cTn>
                                        <p:tgtEl>
                                          <p:spTgt spid="20"/>
                                        </p:tgtEl>
                                        <p:attrNameLst>
                                          <p:attrName>style.visibility</p:attrName>
                                        </p:attrNameLst>
                                      </p:cBhvr>
                                      <p:to>
                                        <p:strVal val="hidden"/>
                                      </p:to>
                                    </p:set>
                                  </p:childTnLst>
                                </p:cTn>
                              </p:par>
                            </p:childTnLst>
                          </p:cTn>
                        </p:par>
                        <p:par>
                          <p:cTn id="51" fill="hold">
                            <p:stCondLst>
                              <p:cond delay="500"/>
                            </p:stCondLst>
                            <p:childTnLst>
                              <p:par>
                                <p:cTn id="52" presetID="6" presetClass="entr" presetSubtype="16"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circle(in)">
                                      <p:cBhvr>
                                        <p:cTn id="54" dur="1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xit" presetSubtype="32" fill="hold" grpId="1" nodeType="clickEffect">
                                  <p:stCondLst>
                                    <p:cond delay="0"/>
                                  </p:stCondLst>
                                  <p:childTnLst>
                                    <p:animEffect transition="out" filter="circle(out)">
                                      <p:cBhvr>
                                        <p:cTn id="58" dur="500"/>
                                        <p:tgtEl>
                                          <p:spTgt spid="21"/>
                                        </p:tgtEl>
                                      </p:cBhvr>
                                    </p:animEffect>
                                    <p:set>
                                      <p:cBhvr>
                                        <p:cTn id="59" dur="1" fill="hold">
                                          <p:stCondLst>
                                            <p:cond delay="499"/>
                                          </p:stCondLst>
                                        </p:cTn>
                                        <p:tgtEl>
                                          <p:spTgt spid="21"/>
                                        </p:tgtEl>
                                        <p:attrNameLst>
                                          <p:attrName>style.visibility</p:attrName>
                                        </p:attrNameLst>
                                      </p:cBhvr>
                                      <p:to>
                                        <p:strVal val="hidden"/>
                                      </p:to>
                                    </p:set>
                                  </p:childTnLst>
                                </p:cTn>
                              </p:par>
                            </p:childTnLst>
                          </p:cTn>
                        </p:par>
                        <p:par>
                          <p:cTn id="60" fill="hold">
                            <p:stCondLst>
                              <p:cond delay="500"/>
                            </p:stCondLst>
                            <p:childTnLst>
                              <p:par>
                                <p:cTn id="61" presetID="6" presetClass="entr" presetSubtype="16"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circle(in)">
                                      <p:cBhvr>
                                        <p:cTn id="63" dur="1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xit" presetSubtype="32" fill="hold" grpId="1" nodeType="clickEffect">
                                  <p:stCondLst>
                                    <p:cond delay="0"/>
                                  </p:stCondLst>
                                  <p:childTnLst>
                                    <p:animEffect transition="out" filter="box(out)">
                                      <p:cBhvr>
                                        <p:cTn id="67" dur="500"/>
                                        <p:tgtEl>
                                          <p:spTgt spid="22"/>
                                        </p:tgtEl>
                                      </p:cBhvr>
                                    </p:animEffect>
                                    <p:set>
                                      <p:cBhvr>
                                        <p:cTn id="68" dur="1" fill="hold">
                                          <p:stCondLst>
                                            <p:cond delay="499"/>
                                          </p:stCondLst>
                                        </p:cTn>
                                        <p:tgtEl>
                                          <p:spTgt spid="22"/>
                                        </p:tgtEl>
                                        <p:attrNameLst>
                                          <p:attrName>style.visibility</p:attrName>
                                        </p:attrNameLst>
                                      </p:cBhvr>
                                      <p:to>
                                        <p:strVal val="hidden"/>
                                      </p:to>
                                    </p:set>
                                  </p:childTnLst>
                                </p:cTn>
                              </p:par>
                            </p:childTnLst>
                          </p:cTn>
                        </p:par>
                        <p:par>
                          <p:cTn id="69" fill="hold">
                            <p:stCondLst>
                              <p:cond delay="500"/>
                            </p:stCondLst>
                            <p:childTnLst>
                              <p:par>
                                <p:cTn id="70" presetID="6" presetClass="entr" presetSubtype="16" fill="hold" grpId="0" nodeType="after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circle(in)">
                                      <p:cBhvr>
                                        <p:cTn id="72"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35202" y="95470"/>
            <a:ext cx="8856984" cy="6624736"/>
          </a:xfrm>
          <a:prstGeom prst="snip2DiagRect">
            <a:avLst>
              <a:gd name="adj1" fmla="val 0"/>
              <a:gd name="adj2" fmla="val 3631"/>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ый прямоугольник 9"/>
          <p:cNvSpPr/>
          <p:nvPr/>
        </p:nvSpPr>
        <p:spPr>
          <a:xfrm>
            <a:off x="912890" y="332656"/>
            <a:ext cx="7517067"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r>
              <a:rPr lang="uz-Cyrl-UZ" b="1" dirty="0" smtClean="0">
                <a:solidFill>
                  <a:schemeClr val="tx1"/>
                </a:solidFill>
                <a:latin typeface="Times New Roman" pitchFamily="18" charset="0"/>
                <a:cs typeface="Times New Roman" pitchFamily="18" charset="0"/>
              </a:rPr>
              <a:t>Филтрловчи генераторга корреляцион криптотаҳлил ўтказиш дастурининг ишлаш жараёни</a:t>
            </a:r>
            <a:endParaRPr lang="ru-RU" b="1" dirty="0">
              <a:solidFill>
                <a:schemeClr val="tx1"/>
              </a:solidFill>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7" y="1119273"/>
            <a:ext cx="8496945" cy="5406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932" y="1119273"/>
            <a:ext cx="8496945" cy="5406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1119274"/>
            <a:ext cx="8496946" cy="5406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Прямоугольник 26"/>
          <p:cNvSpPr/>
          <p:nvPr/>
        </p:nvSpPr>
        <p:spPr>
          <a:xfrm>
            <a:off x="683568" y="3640589"/>
            <a:ext cx="2664296" cy="18172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4106"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528" y="1124744"/>
            <a:ext cx="8496946" cy="54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Прямоугольник 29"/>
          <p:cNvSpPr/>
          <p:nvPr/>
        </p:nvSpPr>
        <p:spPr>
          <a:xfrm>
            <a:off x="683568" y="3888724"/>
            <a:ext cx="2664296" cy="18172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4108"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528" y="1124744"/>
            <a:ext cx="8496946" cy="540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Прямоугольник 32"/>
          <p:cNvSpPr/>
          <p:nvPr/>
        </p:nvSpPr>
        <p:spPr>
          <a:xfrm>
            <a:off x="683568" y="4131984"/>
            <a:ext cx="2664296" cy="18172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411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528" y="1119273"/>
            <a:ext cx="8496945" cy="5406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 name="Прямоугольник 35"/>
          <p:cNvSpPr/>
          <p:nvPr/>
        </p:nvSpPr>
        <p:spPr>
          <a:xfrm>
            <a:off x="683568" y="4375244"/>
            <a:ext cx="2664296" cy="18172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4111"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528" y="1119273"/>
            <a:ext cx="8496943" cy="540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Прямоугольник 37"/>
          <p:cNvSpPr/>
          <p:nvPr/>
        </p:nvSpPr>
        <p:spPr>
          <a:xfrm>
            <a:off x="662111" y="5085184"/>
            <a:ext cx="813545" cy="28803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pic>
        <p:nvPicPr>
          <p:cNvPr id="4112"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528" y="1119276"/>
            <a:ext cx="8488637" cy="5406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Прямоугольник 39"/>
          <p:cNvSpPr/>
          <p:nvPr/>
        </p:nvSpPr>
        <p:spPr>
          <a:xfrm>
            <a:off x="1331640" y="6021288"/>
            <a:ext cx="2088232" cy="288032"/>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230803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099"/>
                                        </p:tgtEl>
                                        <p:attrNameLst>
                                          <p:attrName>style.visibility</p:attrName>
                                        </p:attrNameLst>
                                      </p:cBhvr>
                                      <p:to>
                                        <p:strVal val="visible"/>
                                      </p:to>
                                    </p:set>
                                    <p:animEffect transition="in" filter="fade">
                                      <p:cBhvr>
                                        <p:cTn id="11" dur="1000"/>
                                        <p:tgtEl>
                                          <p:spTgt spid="4099"/>
                                        </p:tgtEl>
                                      </p:cBhvr>
                                    </p:animEffect>
                                    <p:anim calcmode="lin" valueType="num">
                                      <p:cBhvr>
                                        <p:cTn id="12" dur="1000" fill="hold"/>
                                        <p:tgtEl>
                                          <p:spTgt spid="4099"/>
                                        </p:tgtEl>
                                        <p:attrNameLst>
                                          <p:attrName>ppt_x</p:attrName>
                                        </p:attrNameLst>
                                      </p:cBhvr>
                                      <p:tavLst>
                                        <p:tav tm="0">
                                          <p:val>
                                            <p:strVal val="#ppt_x"/>
                                          </p:val>
                                        </p:tav>
                                        <p:tav tm="100000">
                                          <p:val>
                                            <p:strVal val="#ppt_x"/>
                                          </p:val>
                                        </p:tav>
                                      </p:tavLst>
                                    </p:anim>
                                    <p:anim calcmode="lin" valueType="num">
                                      <p:cBhvr>
                                        <p:cTn id="13" dur="1000" fill="hold"/>
                                        <p:tgtEl>
                                          <p:spTgt spid="409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 presetClass="entr" presetSubtype="0" fill="hold" nodeType="afterEffect">
                                  <p:stCondLst>
                                    <p:cond delay="0"/>
                                  </p:stCondLst>
                                  <p:childTnLst>
                                    <p:set>
                                      <p:cBhvr>
                                        <p:cTn id="16" dur="1" fill="hold">
                                          <p:stCondLst>
                                            <p:cond delay="0"/>
                                          </p:stCondLst>
                                        </p:cTn>
                                        <p:tgtEl>
                                          <p:spTgt spid="4102"/>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nodeType="afterEffect">
                                  <p:stCondLst>
                                    <p:cond delay="0"/>
                                  </p:stCondLst>
                                  <p:childTnLst>
                                    <p:set>
                                      <p:cBhvr>
                                        <p:cTn id="19" dur="1" fill="hold">
                                          <p:stCondLst>
                                            <p:cond delay="0"/>
                                          </p:stCondLst>
                                        </p:cTn>
                                        <p:tgtEl>
                                          <p:spTgt spid="410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circle(in)">
                                      <p:cBhvr>
                                        <p:cTn id="24" dur="1000"/>
                                        <p:tgtEl>
                                          <p:spTgt spid="27"/>
                                        </p:tgtEl>
                                      </p:cBhvr>
                                    </p:animEffect>
                                  </p:childTnLst>
                                </p:cTn>
                              </p:par>
                            </p:childTnLst>
                          </p:cTn>
                        </p:par>
                        <p:par>
                          <p:cTn id="25" fill="hold">
                            <p:stCondLst>
                              <p:cond delay="1000"/>
                            </p:stCondLst>
                            <p:childTnLst>
                              <p:par>
                                <p:cTn id="26" presetID="4" presetClass="exit" presetSubtype="32" fill="hold" grpId="1" nodeType="afterEffect">
                                  <p:stCondLst>
                                    <p:cond delay="500"/>
                                  </p:stCondLst>
                                  <p:childTnLst>
                                    <p:animEffect transition="out" filter="box(out)">
                                      <p:cBhvr>
                                        <p:cTn id="27" dur="1000"/>
                                        <p:tgtEl>
                                          <p:spTgt spid="27"/>
                                        </p:tgtEl>
                                      </p:cBhvr>
                                    </p:animEffect>
                                    <p:set>
                                      <p:cBhvr>
                                        <p:cTn id="28" dur="1" fill="hold">
                                          <p:stCondLst>
                                            <p:cond delay="999"/>
                                          </p:stCondLst>
                                        </p:cTn>
                                        <p:tgtEl>
                                          <p:spTgt spid="27"/>
                                        </p:tgtEl>
                                        <p:attrNameLst>
                                          <p:attrName>style.visibility</p:attrName>
                                        </p:attrNameLst>
                                      </p:cBhvr>
                                      <p:to>
                                        <p:strVal val="hidden"/>
                                      </p:to>
                                    </p:set>
                                  </p:childTnLst>
                                </p:cTn>
                              </p:par>
                            </p:childTnLst>
                          </p:cTn>
                        </p:par>
                        <p:par>
                          <p:cTn id="29" fill="hold">
                            <p:stCondLst>
                              <p:cond delay="2500"/>
                            </p:stCondLst>
                            <p:childTnLst>
                              <p:par>
                                <p:cTn id="30" presetID="1" presetClass="entr" presetSubtype="0" fill="hold" nodeType="afterEffect">
                                  <p:stCondLst>
                                    <p:cond delay="0"/>
                                  </p:stCondLst>
                                  <p:childTnLst>
                                    <p:set>
                                      <p:cBhvr>
                                        <p:cTn id="31" dur="1" fill="hold">
                                          <p:stCondLst>
                                            <p:cond delay="0"/>
                                          </p:stCondLst>
                                        </p:cTn>
                                        <p:tgtEl>
                                          <p:spTgt spid="410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circle(in)">
                                      <p:cBhvr>
                                        <p:cTn id="36" dur="1000"/>
                                        <p:tgtEl>
                                          <p:spTgt spid="30"/>
                                        </p:tgtEl>
                                      </p:cBhvr>
                                    </p:animEffect>
                                  </p:childTnLst>
                                </p:cTn>
                              </p:par>
                            </p:childTnLst>
                          </p:cTn>
                        </p:par>
                        <p:par>
                          <p:cTn id="37" fill="hold">
                            <p:stCondLst>
                              <p:cond delay="1000"/>
                            </p:stCondLst>
                            <p:childTnLst>
                              <p:par>
                                <p:cTn id="38" presetID="4" presetClass="exit" presetSubtype="32" fill="hold" grpId="1" nodeType="afterEffect">
                                  <p:stCondLst>
                                    <p:cond delay="500"/>
                                  </p:stCondLst>
                                  <p:childTnLst>
                                    <p:animEffect transition="out" filter="box(out)">
                                      <p:cBhvr>
                                        <p:cTn id="39" dur="1000"/>
                                        <p:tgtEl>
                                          <p:spTgt spid="30"/>
                                        </p:tgtEl>
                                      </p:cBhvr>
                                    </p:animEffect>
                                    <p:set>
                                      <p:cBhvr>
                                        <p:cTn id="40" dur="1" fill="hold">
                                          <p:stCondLst>
                                            <p:cond delay="999"/>
                                          </p:stCondLst>
                                        </p:cTn>
                                        <p:tgtEl>
                                          <p:spTgt spid="30"/>
                                        </p:tgtEl>
                                        <p:attrNameLst>
                                          <p:attrName>style.visibility</p:attrName>
                                        </p:attrNameLst>
                                      </p:cBhvr>
                                      <p:to>
                                        <p:strVal val="hidden"/>
                                      </p:to>
                                    </p:set>
                                  </p:childTnLst>
                                </p:cTn>
                              </p:par>
                            </p:childTnLst>
                          </p:cTn>
                        </p:par>
                        <p:par>
                          <p:cTn id="41" fill="hold">
                            <p:stCondLst>
                              <p:cond delay="2500"/>
                            </p:stCondLst>
                            <p:childTnLst>
                              <p:par>
                                <p:cTn id="42" presetID="1" presetClass="entr" presetSubtype="0" fill="hold" nodeType="afterEffect">
                                  <p:stCondLst>
                                    <p:cond delay="0"/>
                                  </p:stCondLst>
                                  <p:childTnLst>
                                    <p:set>
                                      <p:cBhvr>
                                        <p:cTn id="43" dur="1" fill="hold">
                                          <p:stCondLst>
                                            <p:cond delay="0"/>
                                          </p:stCondLst>
                                        </p:cTn>
                                        <p:tgtEl>
                                          <p:spTgt spid="410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circle(in)">
                                      <p:cBhvr>
                                        <p:cTn id="48" dur="1000"/>
                                        <p:tgtEl>
                                          <p:spTgt spid="33"/>
                                        </p:tgtEl>
                                      </p:cBhvr>
                                    </p:animEffect>
                                  </p:childTnLst>
                                </p:cTn>
                              </p:par>
                            </p:childTnLst>
                          </p:cTn>
                        </p:par>
                        <p:par>
                          <p:cTn id="49" fill="hold">
                            <p:stCondLst>
                              <p:cond delay="1000"/>
                            </p:stCondLst>
                            <p:childTnLst>
                              <p:par>
                                <p:cTn id="50" presetID="4" presetClass="exit" presetSubtype="32" fill="hold" grpId="1" nodeType="afterEffect">
                                  <p:stCondLst>
                                    <p:cond delay="500"/>
                                  </p:stCondLst>
                                  <p:childTnLst>
                                    <p:animEffect transition="out" filter="box(out)">
                                      <p:cBhvr>
                                        <p:cTn id="51" dur="1000"/>
                                        <p:tgtEl>
                                          <p:spTgt spid="33"/>
                                        </p:tgtEl>
                                      </p:cBhvr>
                                    </p:animEffect>
                                    <p:set>
                                      <p:cBhvr>
                                        <p:cTn id="52" dur="1" fill="hold">
                                          <p:stCondLst>
                                            <p:cond delay="999"/>
                                          </p:stCondLst>
                                        </p:cTn>
                                        <p:tgtEl>
                                          <p:spTgt spid="33"/>
                                        </p:tgtEl>
                                        <p:attrNameLst>
                                          <p:attrName>style.visibility</p:attrName>
                                        </p:attrNameLst>
                                      </p:cBhvr>
                                      <p:to>
                                        <p:strVal val="hidden"/>
                                      </p:to>
                                    </p:set>
                                  </p:childTnLst>
                                </p:cTn>
                              </p:par>
                            </p:childTnLst>
                          </p:cTn>
                        </p:par>
                        <p:par>
                          <p:cTn id="53" fill="hold">
                            <p:stCondLst>
                              <p:cond delay="2500"/>
                            </p:stCondLst>
                            <p:childTnLst>
                              <p:par>
                                <p:cTn id="54" presetID="1" presetClass="entr" presetSubtype="0" fill="hold" nodeType="afterEffect">
                                  <p:stCondLst>
                                    <p:cond delay="0"/>
                                  </p:stCondLst>
                                  <p:childTnLst>
                                    <p:set>
                                      <p:cBhvr>
                                        <p:cTn id="55" dur="1" fill="hold">
                                          <p:stCondLst>
                                            <p:cond delay="0"/>
                                          </p:stCondLst>
                                        </p:cTn>
                                        <p:tgtEl>
                                          <p:spTgt spid="411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circle(in)">
                                      <p:cBhvr>
                                        <p:cTn id="60" dur="1000"/>
                                        <p:tgtEl>
                                          <p:spTgt spid="36"/>
                                        </p:tgtEl>
                                      </p:cBhvr>
                                    </p:animEffect>
                                  </p:childTnLst>
                                </p:cTn>
                              </p:par>
                            </p:childTnLst>
                          </p:cTn>
                        </p:par>
                        <p:par>
                          <p:cTn id="61" fill="hold">
                            <p:stCondLst>
                              <p:cond delay="1000"/>
                            </p:stCondLst>
                            <p:childTnLst>
                              <p:par>
                                <p:cTn id="62" presetID="4" presetClass="exit" presetSubtype="32" fill="hold" grpId="1" nodeType="afterEffect">
                                  <p:stCondLst>
                                    <p:cond delay="500"/>
                                  </p:stCondLst>
                                  <p:childTnLst>
                                    <p:animEffect transition="out" filter="box(out)">
                                      <p:cBhvr>
                                        <p:cTn id="63" dur="1000"/>
                                        <p:tgtEl>
                                          <p:spTgt spid="36"/>
                                        </p:tgtEl>
                                      </p:cBhvr>
                                    </p:animEffect>
                                    <p:set>
                                      <p:cBhvr>
                                        <p:cTn id="64" dur="1" fill="hold">
                                          <p:stCondLst>
                                            <p:cond delay="999"/>
                                          </p:stCondLst>
                                        </p:cTn>
                                        <p:tgtEl>
                                          <p:spTgt spid="36"/>
                                        </p:tgtEl>
                                        <p:attrNameLst>
                                          <p:attrName>style.visibility</p:attrName>
                                        </p:attrNameLst>
                                      </p:cBhvr>
                                      <p:to>
                                        <p:strVal val="hidden"/>
                                      </p:to>
                                    </p:set>
                                  </p:childTnLst>
                                </p:cTn>
                              </p:par>
                            </p:childTnLst>
                          </p:cTn>
                        </p:par>
                        <p:par>
                          <p:cTn id="65" fill="hold">
                            <p:stCondLst>
                              <p:cond delay="2500"/>
                            </p:stCondLst>
                            <p:childTnLst>
                              <p:par>
                                <p:cTn id="66" presetID="1" presetClass="entr" presetSubtype="0" fill="hold" nodeType="afterEffect">
                                  <p:stCondLst>
                                    <p:cond delay="0"/>
                                  </p:stCondLst>
                                  <p:childTnLst>
                                    <p:set>
                                      <p:cBhvr>
                                        <p:cTn id="67" dur="1" fill="hold">
                                          <p:stCondLst>
                                            <p:cond delay="0"/>
                                          </p:stCondLst>
                                        </p:cTn>
                                        <p:tgtEl>
                                          <p:spTgt spid="4111"/>
                                        </p:tgtEl>
                                        <p:attrNameLst>
                                          <p:attrName>style.visibility</p:attrName>
                                        </p:attrNameLst>
                                      </p:cBhvr>
                                      <p:to>
                                        <p:strVal val="visible"/>
                                      </p:to>
                                    </p:set>
                                  </p:childTnLst>
                                </p:cTn>
                              </p:par>
                            </p:childTnLst>
                          </p:cTn>
                        </p:par>
                        <p:par>
                          <p:cTn id="68" fill="hold">
                            <p:stCondLst>
                              <p:cond delay="2500"/>
                            </p:stCondLst>
                            <p:childTnLst>
                              <p:par>
                                <p:cTn id="69" presetID="6" presetClass="entr" presetSubtype="16" fill="hold" grpId="0" nodeType="afterEffect">
                                  <p:stCondLst>
                                    <p:cond delay="250"/>
                                  </p:stCondLst>
                                  <p:childTnLst>
                                    <p:set>
                                      <p:cBhvr>
                                        <p:cTn id="70" dur="1" fill="hold">
                                          <p:stCondLst>
                                            <p:cond delay="0"/>
                                          </p:stCondLst>
                                        </p:cTn>
                                        <p:tgtEl>
                                          <p:spTgt spid="38"/>
                                        </p:tgtEl>
                                        <p:attrNameLst>
                                          <p:attrName>style.visibility</p:attrName>
                                        </p:attrNameLst>
                                      </p:cBhvr>
                                      <p:to>
                                        <p:strVal val="visible"/>
                                      </p:to>
                                    </p:set>
                                    <p:animEffect transition="in" filter="circle(in)">
                                      <p:cBhvr>
                                        <p:cTn id="71" dur="1000"/>
                                        <p:tgtEl>
                                          <p:spTgt spid="38"/>
                                        </p:tgtEl>
                                      </p:cBhvr>
                                    </p:animEffect>
                                  </p:childTnLst>
                                </p:cTn>
                              </p:par>
                            </p:childTnLst>
                          </p:cTn>
                        </p:par>
                        <p:par>
                          <p:cTn id="72" fill="hold">
                            <p:stCondLst>
                              <p:cond delay="3750"/>
                            </p:stCondLst>
                            <p:childTnLst>
                              <p:par>
                                <p:cTn id="73" presetID="4" presetClass="exit" presetSubtype="32" fill="hold" grpId="1" nodeType="afterEffect">
                                  <p:stCondLst>
                                    <p:cond delay="750"/>
                                  </p:stCondLst>
                                  <p:childTnLst>
                                    <p:animEffect transition="out" filter="box(out)">
                                      <p:cBhvr>
                                        <p:cTn id="74" dur="1000"/>
                                        <p:tgtEl>
                                          <p:spTgt spid="38"/>
                                        </p:tgtEl>
                                      </p:cBhvr>
                                    </p:animEffect>
                                    <p:set>
                                      <p:cBhvr>
                                        <p:cTn id="75" dur="1" fill="hold">
                                          <p:stCondLst>
                                            <p:cond delay="999"/>
                                          </p:stCondLst>
                                        </p:cTn>
                                        <p:tgtEl>
                                          <p:spTgt spid="3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112"/>
                                        </p:tgtEl>
                                        <p:attrNameLst>
                                          <p:attrName>style.visibility</p:attrName>
                                        </p:attrNameLst>
                                      </p:cBhvr>
                                      <p:to>
                                        <p:strVal val="visible"/>
                                      </p:to>
                                    </p:set>
                                  </p:childTnLst>
                                </p:cTn>
                              </p:par>
                            </p:childTnLst>
                          </p:cTn>
                        </p:par>
                        <p:par>
                          <p:cTn id="80" fill="hold">
                            <p:stCondLst>
                              <p:cond delay="0"/>
                            </p:stCondLst>
                            <p:childTnLst>
                              <p:par>
                                <p:cTn id="81" presetID="6" presetClass="entr" presetSubtype="16" fill="hold" grpId="0"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circle(in)">
                                      <p:cBhvr>
                                        <p:cTn id="83"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7" grpId="0" animBg="1"/>
      <p:bldP spid="27" grpId="1" animBg="1"/>
      <p:bldP spid="30" grpId="0" animBg="1"/>
      <p:bldP spid="30" grpId="1" animBg="1"/>
      <p:bldP spid="33" grpId="0" animBg="1"/>
      <p:bldP spid="33" grpId="1" animBg="1"/>
      <p:bldP spid="36" grpId="0" animBg="1"/>
      <p:bldP spid="36" grpId="1" animBg="1"/>
      <p:bldP spid="38" grpId="0" animBg="1"/>
      <p:bldP spid="38" grpId="1" animBg="1"/>
      <p:bldP spid="4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899592" y="404664"/>
            <a:ext cx="7416824"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ctr"/>
            <a:r>
              <a:rPr lang="uz-Cyrl-UZ" b="1" dirty="0" smtClean="0">
                <a:solidFill>
                  <a:srgbClr val="002060"/>
                </a:solidFill>
                <a:latin typeface="Times New Roman" pitchFamily="18" charset="0"/>
                <a:cs typeface="Times New Roman" pitchFamily="18" charset="0"/>
              </a:rPr>
              <a:t>Мослик </a:t>
            </a:r>
            <a:r>
              <a:rPr lang="uz-Cyrl-UZ" b="1" dirty="0">
                <a:solidFill>
                  <a:srgbClr val="002060"/>
                </a:solidFill>
                <a:latin typeface="Times New Roman" pitchFamily="18" charset="0"/>
                <a:cs typeface="Times New Roman" pitchFamily="18" charset="0"/>
              </a:rPr>
              <a:t>эҳтимоллигининг калит вариантларини топишга таъсири </a:t>
            </a:r>
            <a:endParaRPr lang="ru-RU" dirty="0">
              <a:solidFill>
                <a:srgbClr val="002060"/>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1171275246"/>
              </p:ext>
            </p:extLst>
          </p:nvPr>
        </p:nvGraphicFramePr>
        <p:xfrm>
          <a:off x="719571" y="1269814"/>
          <a:ext cx="7776865" cy="4823482"/>
        </p:xfrm>
        <a:graphic>
          <a:graphicData uri="http://schemas.openxmlformats.org/drawingml/2006/table">
            <a:tbl>
              <a:tblPr firstRow="1" firstCol="1" bandRow="1">
                <a:tableStyleId>{5C22544A-7EE6-4342-B048-85BDC9FD1C3A}</a:tableStyleId>
              </a:tblPr>
              <a:tblGrid>
                <a:gridCol w="2094155"/>
                <a:gridCol w="1149811"/>
                <a:gridCol w="1521228"/>
                <a:gridCol w="3011671"/>
              </a:tblGrid>
              <a:tr h="576064">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Комбинацияловчи функция</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Регистр узунлиги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Эҳтимоллик қиймати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Калит вариантлари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8195">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9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0,7</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110101011100001010101001010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8195">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9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0,65</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110101011100001010101001010            </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63659">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9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0,6</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110101011001100000110110101           k1 = 110101011100001010101001010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9123">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a:effectLst/>
                          <a:latin typeface="Times New Roman" pitchFamily="18" charset="0"/>
                          <a:cs typeface="Times New Roman" pitchFamily="18" charset="0"/>
                        </a:rPr>
                        <a:t>9 </a:t>
                      </a:r>
                      <a:r>
                        <a:rPr lang="uz-Cyrl-UZ" sz="1400">
                          <a:effectLst/>
                          <a:latin typeface="Times New Roman" pitchFamily="18" charset="0"/>
                          <a:cs typeface="Times New Roman" pitchFamily="18" charset="0"/>
                        </a:rPr>
                        <a:t>бит</a:t>
                      </a:r>
                      <a:endParaRPr lang="ru-RU" sz="140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0,55</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110101011001100000110110101             k1 = 110101011010011011010001111                      k2 = 110101011100001010101001010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9123">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a:effectLst/>
                          <a:latin typeface="Times New Roman" pitchFamily="18" charset="0"/>
                          <a:cs typeface="Times New Roman" pitchFamily="18" charset="0"/>
                        </a:rPr>
                        <a:t>9 </a:t>
                      </a:r>
                      <a:r>
                        <a:rPr lang="uz-Cyrl-UZ" sz="1400">
                          <a:effectLst/>
                          <a:latin typeface="Times New Roman" pitchFamily="18" charset="0"/>
                          <a:cs typeface="Times New Roman" pitchFamily="18" charset="0"/>
                        </a:rPr>
                        <a:t>бит</a:t>
                      </a:r>
                      <a:endParaRPr lang="ru-RU" sz="140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a:effectLst/>
                          <a:latin typeface="Times New Roman" pitchFamily="18" charset="0"/>
                          <a:cs typeface="Times New Roman" pitchFamily="18" charset="0"/>
                        </a:rPr>
                        <a:t>P = </a:t>
                      </a:r>
                      <a:r>
                        <a:rPr lang="uz-Cyrl-UZ" sz="1400">
                          <a:effectLst/>
                          <a:latin typeface="Times New Roman" pitchFamily="18" charset="0"/>
                          <a:cs typeface="Times New Roman" pitchFamily="18" charset="0"/>
                        </a:rPr>
                        <a:t>0,50</a:t>
                      </a:r>
                      <a:endParaRPr lang="ru-RU" sz="140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110101011001100000110110101                          k1 = 110101011010011011010001111                   k2 = 110101011100001010101001010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9123">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a:effectLst/>
                          <a:latin typeface="Times New Roman" pitchFamily="18" charset="0"/>
                          <a:cs typeface="Times New Roman" pitchFamily="18" charset="0"/>
                        </a:rPr>
                        <a:t>9 </a:t>
                      </a:r>
                      <a:r>
                        <a:rPr lang="uz-Cyrl-UZ" sz="1400">
                          <a:effectLst/>
                          <a:latin typeface="Times New Roman" pitchFamily="18" charset="0"/>
                          <a:cs typeface="Times New Roman" pitchFamily="18" charset="0"/>
                        </a:rPr>
                        <a:t>бит</a:t>
                      </a:r>
                      <a:endParaRPr lang="ru-RU" sz="140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a:effectLst/>
                          <a:latin typeface="Times New Roman" pitchFamily="18" charset="0"/>
                          <a:cs typeface="Times New Roman" pitchFamily="18" charset="0"/>
                        </a:rPr>
                        <a:t>P = </a:t>
                      </a:r>
                      <a:r>
                        <a:rPr lang="uz-Cyrl-UZ" sz="1400">
                          <a:effectLst/>
                          <a:latin typeface="Times New Roman" pitchFamily="18" charset="0"/>
                          <a:cs typeface="Times New Roman" pitchFamily="18" charset="0"/>
                        </a:rPr>
                        <a:t>0,45</a:t>
                      </a:r>
                      <a:endParaRPr lang="ru-RU" sz="140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k0 = 110101011001100000110110101                 k1 = 110101011010011011010001111                   k2 = 110101011100001010101001010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Овал 2"/>
          <p:cNvSpPr/>
          <p:nvPr/>
        </p:nvSpPr>
        <p:spPr>
          <a:xfrm>
            <a:off x="4139952" y="2204864"/>
            <a:ext cx="1152128" cy="288032"/>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0" name="Таблица 9"/>
          <p:cNvGraphicFramePr>
            <a:graphicFrameLocks noGrp="1"/>
          </p:cNvGraphicFramePr>
          <p:nvPr>
            <p:extLst>
              <p:ext uri="{D42A27DB-BD31-4B8C-83A1-F6EECF244321}">
                <p14:modId xmlns:p14="http://schemas.microsoft.com/office/powerpoint/2010/main" val="576334213"/>
              </p:ext>
            </p:extLst>
          </p:nvPr>
        </p:nvGraphicFramePr>
        <p:xfrm>
          <a:off x="719571" y="1268760"/>
          <a:ext cx="7812869" cy="4824535"/>
        </p:xfrm>
        <a:graphic>
          <a:graphicData uri="http://schemas.openxmlformats.org/drawingml/2006/table">
            <a:tbl>
              <a:tblPr firstRow="1" firstCol="1" bandRow="1">
                <a:tableStyleId>{5C22544A-7EE6-4342-B048-85BDC9FD1C3A}</a:tableStyleId>
              </a:tblPr>
              <a:tblGrid>
                <a:gridCol w="2103850"/>
                <a:gridCol w="1028499"/>
                <a:gridCol w="1368152"/>
                <a:gridCol w="3312368"/>
              </a:tblGrid>
              <a:tr h="667384">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Комбинацияловчи функция</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Регистр узунлиги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Эҳтимоллик қиймати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cs typeface="Times New Roman" pitchFamily="18" charset="0"/>
                        </a:rPr>
                        <a:t>Калит вариантлари</a:t>
                      </a:r>
                      <a:endParaRPr lang="ru-RU" sz="1400" dirty="0">
                        <a:effectLst/>
                        <a:latin typeface="Times New Roman" pitchFamily="18" charset="0"/>
                        <a:ea typeface="Times New Roman"/>
                        <a:cs typeface="Times New Roman" pitchFamily="18" charset="0"/>
                      </a:endParaRPr>
                    </a:p>
                  </a:txBody>
                  <a:tcPr marL="43671" marR="436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1318">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10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0,7</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kern="1200" dirty="0" smtClean="0">
                          <a:solidFill>
                            <a:schemeClr val="dk1"/>
                          </a:solidFill>
                          <a:effectLst/>
                          <a:latin typeface="Times New Roman" pitchFamily="18" charset="0"/>
                          <a:ea typeface="+mn-ea"/>
                          <a:cs typeface="Times New Roman" pitchFamily="18" charset="0"/>
                        </a:rPr>
                        <a:t>k0 = 110101011100001010101001010100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1318">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10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0,65</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ea typeface="Times New Roman"/>
                          <a:cs typeface="Times New Roman" pitchFamily="18" charset="0"/>
                        </a:rPr>
                        <a:t>k0 = 110101011100001010101001010100               </a:t>
                      </a:r>
                      <a:endParaRPr lang="ru-RU" sz="14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8865">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10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0,6</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ea typeface="Times New Roman"/>
                          <a:cs typeface="Times New Roman" pitchFamily="18" charset="0"/>
                        </a:rPr>
                        <a:t>k0 = 110101011100001010101001010100               k1 = 110101011101000101100100110101               k2 = 110101011101000101101101110100               </a:t>
                      </a:r>
                      <a:endParaRPr lang="ru-RU" sz="14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32825">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10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0,55</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ea typeface="Times New Roman"/>
                          <a:cs typeface="Times New Roman" pitchFamily="18" charset="0"/>
                        </a:rPr>
                        <a:t>k0 = 110101011100001010101001010100              k1 = 110101011101000101100100110101             k2 = 110101011101000101100110011100   </a:t>
                      </a:r>
                      <a:r>
                        <a:rPr lang="uz-Cyrl-UZ" sz="1400" dirty="0" smtClean="0">
                          <a:effectLst/>
                          <a:latin typeface="Times New Roman" pitchFamily="18" charset="0"/>
                          <a:ea typeface="Times New Roman"/>
                          <a:cs typeface="Times New Roman" pitchFamily="18" charset="0"/>
                        </a:rPr>
                        <a:t>k3 </a:t>
                      </a:r>
                      <a:r>
                        <a:rPr lang="uz-Cyrl-UZ" sz="1400" dirty="0">
                          <a:effectLst/>
                          <a:latin typeface="Times New Roman" pitchFamily="18" charset="0"/>
                          <a:ea typeface="Times New Roman"/>
                          <a:cs typeface="Times New Roman" pitchFamily="18" charset="0"/>
                        </a:rPr>
                        <a:t>= 110101011101000101101101110100           k4 = 110101011101000101101111011101</a:t>
                      </a:r>
                      <a:endParaRPr lang="ru-RU" sz="14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32825">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F(x) = x</a:t>
                      </a:r>
                      <a:r>
                        <a:rPr lang="en-US" sz="1400" baseline="-25000" dirty="0" smtClean="0">
                          <a:effectLst/>
                          <a:latin typeface="Times New Roman" pitchFamily="18" charset="0"/>
                          <a:cs typeface="Times New Roman" pitchFamily="18" charset="0"/>
                        </a:rPr>
                        <a:t>1</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2</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3</a:t>
                      </a:r>
                      <a:r>
                        <a:rPr lang="en-US" sz="1400" dirty="0" smtClean="0">
                          <a:effectLst/>
                          <a:latin typeface="Times New Roman" pitchFamily="18" charset="0"/>
                          <a:cs typeface="Times New Roman" pitchFamily="18" charset="0"/>
                        </a:rPr>
                        <a:t>+x</a:t>
                      </a:r>
                      <a:r>
                        <a:rPr lang="en-US" sz="1400" baseline="-25000" dirty="0" smtClean="0">
                          <a:effectLst/>
                          <a:latin typeface="Times New Roman" pitchFamily="18" charset="0"/>
                          <a:cs typeface="Times New Roman" pitchFamily="18" charset="0"/>
                        </a:rPr>
                        <a:t>1</a:t>
                      </a:r>
                      <a:endParaRPr lang="ru-RU" sz="1400" baseline="-250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smtClean="0">
                          <a:effectLst/>
                          <a:latin typeface="Times New Roman" pitchFamily="18" charset="0"/>
                          <a:cs typeface="Times New Roman" pitchFamily="18" charset="0"/>
                        </a:rPr>
                        <a:t>10 </a:t>
                      </a:r>
                      <a:r>
                        <a:rPr lang="uz-Cyrl-UZ" sz="1400" dirty="0">
                          <a:effectLst/>
                          <a:latin typeface="Times New Roman" pitchFamily="18" charset="0"/>
                          <a:cs typeface="Times New Roman" pitchFamily="18" charset="0"/>
                        </a:rPr>
                        <a:t>бит</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en-US" sz="1400" dirty="0">
                          <a:effectLst/>
                          <a:latin typeface="Times New Roman" pitchFamily="18" charset="0"/>
                          <a:cs typeface="Times New Roman" pitchFamily="18" charset="0"/>
                        </a:rPr>
                        <a:t>P = </a:t>
                      </a:r>
                      <a:r>
                        <a:rPr lang="uz-Cyrl-UZ" sz="1400" dirty="0">
                          <a:effectLst/>
                          <a:latin typeface="Times New Roman" pitchFamily="18" charset="0"/>
                          <a:cs typeface="Times New Roman" pitchFamily="18" charset="0"/>
                        </a:rPr>
                        <a:t>0,50</a:t>
                      </a:r>
                      <a:endParaRPr lang="ru-RU" sz="1400" dirty="0">
                        <a:effectLst/>
                        <a:latin typeface="Times New Roman" pitchFamily="18" charset="0"/>
                        <a:ea typeface="Times New Roman"/>
                        <a:cs typeface="Times New Roman" pitchFamily="18" charset="0"/>
                      </a:endParaRPr>
                    </a:p>
                  </a:txBody>
                  <a:tcPr marL="43671" marR="4367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400" dirty="0">
                          <a:effectLst/>
                          <a:latin typeface="Times New Roman" pitchFamily="18" charset="0"/>
                          <a:ea typeface="Times New Roman"/>
                          <a:cs typeface="Times New Roman" pitchFamily="18" charset="0"/>
                        </a:rPr>
                        <a:t>k0 = 110101011100001010101001010100            k1 = 110101011101000101100100110101             k2 = 110101011101000101100110011100            k3 = 110101011101000101101101110100            k4 = 110101011101000101101111011101</a:t>
                      </a:r>
                      <a:endParaRPr lang="ru-RU" sz="14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Овал 11"/>
          <p:cNvSpPr/>
          <p:nvPr/>
        </p:nvSpPr>
        <p:spPr>
          <a:xfrm>
            <a:off x="3987335" y="2348880"/>
            <a:ext cx="1152128" cy="288032"/>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09023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p:stCondLst>
                              <p:cond delay="1000"/>
                            </p:stCondLst>
                            <p:childTnLst>
                              <p:par>
                                <p:cTn id="13" presetID="22" presetClass="entr" presetSubtype="4" fill="hold" grpId="0" nodeType="after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childTnLst>
                          </p:cTn>
                        </p:par>
                        <p:par>
                          <p:cTn id="21" fill="hold">
                            <p:stCondLst>
                              <p:cond delay="500"/>
                            </p:stCondLst>
                            <p:childTnLst>
                              <p:par>
                                <p:cTn id="22" presetID="22" presetClass="entr" presetSubtype="4" fill="hold" grpId="0" nodeType="afterEffect">
                                  <p:stCondLst>
                                    <p:cond delay="25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1187624" y="332656"/>
            <a:ext cx="6912768"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ctr">
              <a:defRPr/>
            </a:pPr>
            <a:r>
              <a:rPr lang="uz-Cyrl-UZ" b="1" dirty="0">
                <a:solidFill>
                  <a:srgbClr val="002060"/>
                </a:solidFill>
                <a:latin typeface="Times New Roman" pitchFamily="18" charset="0"/>
                <a:cs typeface="Times New Roman" pitchFamily="18" charset="0"/>
              </a:rPr>
              <a:t>Калитни бир қийматли топиш учун керак бўлган гамма </a:t>
            </a:r>
            <a:endParaRPr lang="en-US" b="1" dirty="0" smtClean="0">
              <a:solidFill>
                <a:srgbClr val="002060"/>
              </a:solidFill>
              <a:latin typeface="Times New Roman" pitchFamily="18" charset="0"/>
              <a:cs typeface="Times New Roman" pitchFamily="18" charset="0"/>
            </a:endParaRPr>
          </a:p>
          <a:p>
            <a:pPr algn="ctr">
              <a:defRPr/>
            </a:pPr>
            <a:r>
              <a:rPr lang="uz-Cyrl-UZ" b="1" dirty="0" smtClean="0">
                <a:solidFill>
                  <a:srgbClr val="002060"/>
                </a:solidFill>
                <a:latin typeface="Times New Roman" pitchFamily="18" charset="0"/>
                <a:cs typeface="Times New Roman" pitchFamily="18" charset="0"/>
              </a:rPr>
              <a:t>миқдорини </a:t>
            </a:r>
            <a:r>
              <a:rPr lang="uz-Cyrl-UZ" b="1" dirty="0">
                <a:solidFill>
                  <a:srgbClr val="002060"/>
                </a:solidFill>
                <a:latin typeface="Times New Roman" pitchFamily="18" charset="0"/>
                <a:cs typeface="Times New Roman" pitchFamily="18" charset="0"/>
              </a:rPr>
              <a:t>аниқлаш</a:t>
            </a:r>
            <a:endParaRPr lang="ru-RU" dirty="0">
              <a:solidFill>
                <a:srgbClr val="002060"/>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sp>
        <p:nvSpPr>
          <p:cNvPr id="4" name="Прямоугольник 3"/>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i="1" dirty="0">
                <a:solidFill>
                  <a:schemeClr val="tx1"/>
                </a:solidFill>
                <a:latin typeface="Times New Roman" pitchFamily="18" charset="0"/>
                <a:cs typeface="Times New Roman" pitchFamily="18" charset="0"/>
              </a:rPr>
              <a:t>3 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2709502047"/>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793302"/>
                <a:gridCol w="793302"/>
                <a:gridCol w="793302"/>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3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4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5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6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7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8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9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10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44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18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8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5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14" name="Прямоугольник 13"/>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𝟑</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𝟗</m:t>
                          </m:r>
                          <m:r>
                            <a:rPr lang="en-US" b="1" i="1">
                              <a:solidFill>
                                <a:schemeClr val="tx1"/>
                              </a:solidFill>
                              <a:latin typeface="Cambria Math"/>
                            </a:rPr>
                            <m:t> бит </m:t>
                          </m:r>
                        </m:num>
                        <m:den>
                          <m:r>
                            <a:rPr lang="en-US" b="1" i="1">
                              <a:solidFill>
                                <a:schemeClr val="tx1"/>
                              </a:solidFill>
                              <a:latin typeface="Cambria Math"/>
                            </a:rPr>
                            <m:t>𝟑</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oMath>
                  </m:oMathPara>
                </a14:m>
                <a:endParaRPr lang="ru-RU" dirty="0">
                  <a:solidFill>
                    <a:schemeClr val="tx1"/>
                  </a:solidFill>
                </a:endParaRPr>
              </a:p>
            </p:txBody>
          </p:sp>
        </mc:Choice>
        <mc:Fallback xmlns="">
          <p:sp>
            <p:nvSpPr>
              <p:cNvPr id="14" name="Прямоугольник 13"/>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3"/>
                <a:stretch>
                  <a:fillRect/>
                </a:stretch>
              </a:blipFill>
            </p:spPr>
            <p:txBody>
              <a:bodyPr/>
              <a:lstStyle/>
              <a:p>
                <a:r>
                  <a:rPr lang="ru-RU">
                    <a:noFill/>
                  </a:rPr>
                  <a:t> </a:t>
                </a:r>
              </a:p>
            </p:txBody>
          </p:sp>
        </mc:Fallback>
      </mc:AlternateContent>
      <p:sp>
        <p:nvSpPr>
          <p:cNvPr id="15" name="Прямоугольник 14"/>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4</a:t>
            </a:r>
            <a:r>
              <a:rPr lang="uz-Cyrl-UZ" i="1" dirty="0" smtClean="0">
                <a:solidFill>
                  <a:schemeClr val="tx1"/>
                </a:solidFill>
                <a:latin typeface="Times New Roman" pitchFamily="18" charset="0"/>
                <a:cs typeface="Times New Roman" pitchFamily="18" charset="0"/>
              </a:rPr>
              <a:t> </a:t>
            </a:r>
            <a:r>
              <a:rPr lang="uz-Cyrl-UZ" i="1" dirty="0">
                <a:solidFill>
                  <a:schemeClr val="tx1"/>
                </a:solidFill>
                <a:latin typeface="Times New Roman" pitchFamily="18" charset="0"/>
                <a:cs typeface="Times New Roman" pitchFamily="18" charset="0"/>
              </a:rPr>
              <a:t>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16" name="Таблица 15"/>
          <p:cNvGraphicFramePr>
            <a:graphicFrameLocks noGrp="1"/>
          </p:cNvGraphicFramePr>
          <p:nvPr>
            <p:extLst>
              <p:ext uri="{D42A27DB-BD31-4B8C-83A1-F6EECF244321}">
                <p14:modId xmlns:p14="http://schemas.microsoft.com/office/powerpoint/2010/main" val="1747970111"/>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793302"/>
                <a:gridCol w="793302"/>
                <a:gridCol w="793302"/>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dirty="0" smtClean="0">
                          <a:effectLst/>
                          <a:latin typeface="Times New Roman"/>
                          <a:ea typeface="Times New Roman"/>
                          <a:cs typeface="Times New Roman"/>
                        </a:rPr>
                        <a:t>4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6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8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9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13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14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128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50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15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9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smtClean="0">
                          <a:effectLst/>
                          <a:latin typeface="Times New Roman"/>
                          <a:ea typeface="Times New Roman"/>
                          <a:cs typeface="Times New Roman"/>
                        </a:rPr>
                        <a:t>6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17" name="Прямоугольник 16"/>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𝟒</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𝟏𝟑</m:t>
                          </m:r>
                          <m:r>
                            <a:rPr lang="en-US" b="1" i="1">
                              <a:solidFill>
                                <a:schemeClr val="tx1"/>
                              </a:solidFill>
                              <a:latin typeface="Cambria Math"/>
                            </a:rPr>
                            <m:t> бит </m:t>
                          </m:r>
                        </m:num>
                        <m:den>
                          <m:r>
                            <a:rPr lang="en-US" b="1" i="1">
                              <a:solidFill>
                                <a:schemeClr val="tx1"/>
                              </a:solidFill>
                              <a:latin typeface="Cambria Math"/>
                            </a:rPr>
                            <m:t>𝟒</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r>
                        <a:rPr lang="en-US" b="1" i="1">
                          <a:solidFill>
                            <a:schemeClr val="tx1"/>
                          </a:solidFill>
                          <a:latin typeface="Cambria Math"/>
                        </a:rPr>
                        <m:t>,</m:t>
                      </m:r>
                      <m:r>
                        <a:rPr lang="en-US" b="1" i="1">
                          <a:solidFill>
                            <a:schemeClr val="tx1"/>
                          </a:solidFill>
                          <a:latin typeface="Cambria Math"/>
                        </a:rPr>
                        <m:t>𝟐𝟓</m:t>
                      </m:r>
                    </m:oMath>
                  </m:oMathPara>
                </a14:m>
                <a:endParaRPr lang="ru-RU" dirty="0">
                  <a:solidFill>
                    <a:schemeClr val="tx1"/>
                  </a:solidFill>
                  <a:latin typeface="Times New Roman" pitchFamily="18" charset="0"/>
                  <a:cs typeface="Times New Roman" pitchFamily="18" charset="0"/>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4"/>
                <a:stretch>
                  <a:fillRect/>
                </a:stretch>
              </a:blipFill>
            </p:spPr>
            <p:txBody>
              <a:bodyPr/>
              <a:lstStyle/>
              <a:p>
                <a:r>
                  <a:rPr lang="ru-RU">
                    <a:noFill/>
                  </a:rPr>
                  <a:t> </a:t>
                </a:r>
              </a:p>
            </p:txBody>
          </p:sp>
        </mc:Fallback>
      </mc:AlternateContent>
      <p:sp>
        <p:nvSpPr>
          <p:cNvPr id="22" name="Прямоугольник 21"/>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9</a:t>
            </a:r>
            <a:r>
              <a:rPr lang="uz-Cyrl-UZ" i="1" dirty="0" smtClean="0">
                <a:solidFill>
                  <a:schemeClr val="tx1"/>
                </a:solidFill>
                <a:latin typeface="Times New Roman" pitchFamily="18" charset="0"/>
                <a:cs typeface="Times New Roman" pitchFamily="18" charset="0"/>
              </a:rPr>
              <a:t> </a:t>
            </a:r>
            <a:r>
              <a:rPr lang="uz-Cyrl-UZ" i="1" dirty="0">
                <a:solidFill>
                  <a:schemeClr val="tx1"/>
                </a:solidFill>
                <a:latin typeface="Times New Roman" pitchFamily="18" charset="0"/>
                <a:cs typeface="Times New Roman" pitchFamily="18" charset="0"/>
              </a:rPr>
              <a:t>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23" name="Таблица 22"/>
          <p:cNvGraphicFramePr>
            <a:graphicFrameLocks noGrp="1"/>
          </p:cNvGraphicFramePr>
          <p:nvPr>
            <p:extLst>
              <p:ext uri="{D42A27DB-BD31-4B8C-83A1-F6EECF244321}">
                <p14:modId xmlns:p14="http://schemas.microsoft.com/office/powerpoint/2010/main" val="2712535690"/>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873809"/>
                <a:gridCol w="720080"/>
                <a:gridCol w="786017"/>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15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18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27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31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34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4187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437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38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2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2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24" name="Прямоугольник 23"/>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𝟗</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𝟑𝟏</m:t>
                          </m:r>
                          <m:r>
                            <a:rPr lang="en-US" b="1" i="1">
                              <a:solidFill>
                                <a:schemeClr val="tx1"/>
                              </a:solidFill>
                              <a:latin typeface="Cambria Math"/>
                            </a:rPr>
                            <m:t> бит </m:t>
                          </m:r>
                        </m:num>
                        <m:den>
                          <m:r>
                            <a:rPr lang="en-US" b="1" i="1">
                              <a:solidFill>
                                <a:schemeClr val="tx1"/>
                              </a:solidFill>
                              <a:latin typeface="Cambria Math"/>
                            </a:rPr>
                            <m:t>𝟗</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r>
                        <a:rPr lang="en-US" b="1" i="1">
                          <a:solidFill>
                            <a:schemeClr val="tx1"/>
                          </a:solidFill>
                          <a:latin typeface="Cambria Math"/>
                        </a:rPr>
                        <m:t>,</m:t>
                      </m:r>
                      <m:r>
                        <a:rPr lang="en-US" b="1" i="1">
                          <a:solidFill>
                            <a:schemeClr val="tx1"/>
                          </a:solidFill>
                          <a:latin typeface="Cambria Math"/>
                        </a:rPr>
                        <m:t>𝟒𝟒</m:t>
                      </m:r>
                    </m:oMath>
                  </m:oMathPara>
                </a14:m>
                <a:endParaRPr lang="ru-RU" dirty="0">
                  <a:solidFill>
                    <a:schemeClr val="tx1"/>
                  </a:solidFill>
                  <a:latin typeface="Times New Roman" pitchFamily="18" charset="0"/>
                  <a:cs typeface="Times New Roman" pitchFamily="18" charset="0"/>
                </a:endParaRPr>
              </a:p>
            </p:txBody>
          </p:sp>
        </mc:Choice>
        <mc:Fallback xmlns="">
          <p:sp>
            <p:nvSpPr>
              <p:cNvPr id="24" name="Прямоугольник 23"/>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5"/>
                <a:stretch>
                  <a:fillRect/>
                </a:stretch>
              </a:blipFill>
            </p:spPr>
            <p:txBody>
              <a:bodyPr/>
              <a:lstStyle/>
              <a:p>
                <a:r>
                  <a:rPr lang="ru-RU">
                    <a:noFill/>
                  </a:rPr>
                  <a:t> </a:t>
                </a:r>
              </a:p>
            </p:txBody>
          </p:sp>
        </mc:Fallback>
      </mc:AlternateContent>
      <p:sp>
        <p:nvSpPr>
          <p:cNvPr id="6" name="Прямоугольник 5"/>
          <p:cNvSpPr/>
          <p:nvPr/>
        </p:nvSpPr>
        <p:spPr>
          <a:xfrm>
            <a:off x="6156176" y="2708920"/>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Прямоугольник 26"/>
          <p:cNvSpPr/>
          <p:nvPr/>
        </p:nvSpPr>
        <p:spPr>
          <a:xfrm>
            <a:off x="6944868" y="2708920"/>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Прямоугольник 27"/>
          <p:cNvSpPr/>
          <p:nvPr/>
        </p:nvSpPr>
        <p:spPr>
          <a:xfrm>
            <a:off x="6948264" y="2708920"/>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10</a:t>
            </a:r>
            <a:r>
              <a:rPr lang="uz-Cyrl-UZ" i="1" dirty="0" smtClean="0">
                <a:solidFill>
                  <a:schemeClr val="tx1"/>
                </a:solidFill>
                <a:latin typeface="Times New Roman" pitchFamily="18" charset="0"/>
                <a:cs typeface="Times New Roman" pitchFamily="18" charset="0"/>
              </a:rPr>
              <a:t> </a:t>
            </a:r>
            <a:r>
              <a:rPr lang="uz-Cyrl-UZ" i="1" dirty="0">
                <a:solidFill>
                  <a:schemeClr val="tx1"/>
                </a:solidFill>
                <a:latin typeface="Times New Roman" pitchFamily="18" charset="0"/>
                <a:cs typeface="Times New Roman" pitchFamily="18" charset="0"/>
              </a:rPr>
              <a:t>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34" name="Таблица 33"/>
          <p:cNvGraphicFramePr>
            <a:graphicFrameLocks noGrp="1"/>
          </p:cNvGraphicFramePr>
          <p:nvPr>
            <p:extLst>
              <p:ext uri="{D42A27DB-BD31-4B8C-83A1-F6EECF244321}">
                <p14:modId xmlns:p14="http://schemas.microsoft.com/office/powerpoint/2010/main" val="187295506"/>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801801"/>
                <a:gridCol w="792088"/>
                <a:gridCol w="786017"/>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15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25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31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33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34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21152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623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15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2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35" name="Прямоугольник 34"/>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𝟏𝟎</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𝟑𝟑</m:t>
                          </m:r>
                          <m:r>
                            <a:rPr lang="en-US" b="1" i="1">
                              <a:solidFill>
                                <a:schemeClr val="tx1"/>
                              </a:solidFill>
                              <a:latin typeface="Cambria Math"/>
                            </a:rPr>
                            <m:t> бит </m:t>
                          </m:r>
                        </m:num>
                        <m:den>
                          <m:r>
                            <a:rPr lang="en-US" b="1" i="1">
                              <a:solidFill>
                                <a:schemeClr val="tx1"/>
                              </a:solidFill>
                              <a:latin typeface="Cambria Math"/>
                            </a:rPr>
                            <m:t>𝟏𝟎</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r>
                        <a:rPr lang="en-US" b="1" i="1">
                          <a:solidFill>
                            <a:schemeClr val="tx1"/>
                          </a:solidFill>
                          <a:latin typeface="Cambria Math"/>
                        </a:rPr>
                        <m:t>,</m:t>
                      </m:r>
                      <m:r>
                        <a:rPr lang="en-US" b="1" i="1">
                          <a:solidFill>
                            <a:schemeClr val="tx1"/>
                          </a:solidFill>
                          <a:latin typeface="Cambria Math"/>
                        </a:rPr>
                        <m:t>𝟑</m:t>
                      </m:r>
                    </m:oMath>
                  </m:oMathPara>
                </a14:m>
                <a:endParaRPr lang="ru-RU" dirty="0">
                  <a:solidFill>
                    <a:schemeClr val="tx1"/>
                  </a:solidFill>
                  <a:latin typeface="Times New Roman" pitchFamily="18" charset="0"/>
                  <a:cs typeface="Times New Roman" pitchFamily="18" charset="0"/>
                </a:endParaRPr>
              </a:p>
            </p:txBody>
          </p:sp>
        </mc:Choice>
        <mc:Fallback xmlns="">
          <p:sp>
            <p:nvSpPr>
              <p:cNvPr id="35" name="Прямоугольник 34"/>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6"/>
                <a:stretch>
                  <a:fillRect/>
                </a:stretch>
              </a:blipFill>
            </p:spPr>
            <p:txBody>
              <a:bodyPr/>
              <a:lstStyle/>
              <a:p>
                <a:r>
                  <a:rPr lang="ru-RU">
                    <a:noFill/>
                  </a:rPr>
                  <a:t> </a:t>
                </a:r>
              </a:p>
            </p:txBody>
          </p:sp>
        </mc:Fallback>
      </mc:AlternateContent>
      <p:sp>
        <p:nvSpPr>
          <p:cNvPr id="36" name="Прямоугольник 35"/>
          <p:cNvSpPr/>
          <p:nvPr/>
        </p:nvSpPr>
        <p:spPr>
          <a:xfrm>
            <a:off x="6948264" y="2693494"/>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Прямоугольник 36"/>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11</a:t>
            </a:r>
            <a:r>
              <a:rPr lang="uz-Cyrl-UZ" i="1" dirty="0" smtClean="0">
                <a:solidFill>
                  <a:schemeClr val="tx1"/>
                </a:solidFill>
                <a:latin typeface="Times New Roman" pitchFamily="18" charset="0"/>
                <a:cs typeface="Times New Roman" pitchFamily="18" charset="0"/>
              </a:rPr>
              <a:t> </a:t>
            </a:r>
            <a:r>
              <a:rPr lang="uz-Cyrl-UZ" i="1" dirty="0">
                <a:solidFill>
                  <a:schemeClr val="tx1"/>
                </a:solidFill>
                <a:latin typeface="Times New Roman" pitchFamily="18" charset="0"/>
                <a:cs typeface="Times New Roman" pitchFamily="18" charset="0"/>
              </a:rPr>
              <a:t>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38" name="Таблица 37"/>
          <p:cNvGraphicFramePr>
            <a:graphicFrameLocks noGrp="1"/>
          </p:cNvGraphicFramePr>
          <p:nvPr>
            <p:extLst>
              <p:ext uri="{D42A27DB-BD31-4B8C-83A1-F6EECF244321}">
                <p14:modId xmlns:p14="http://schemas.microsoft.com/office/powerpoint/2010/main" val="4020585053"/>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801801"/>
                <a:gridCol w="792088"/>
                <a:gridCol w="786017"/>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25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28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34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35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36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37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182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38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7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5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4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39" name="Прямоугольник 38"/>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𝟏𝟏</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𝟑𝟓</m:t>
                          </m:r>
                          <m:r>
                            <a:rPr lang="en-US" b="1" i="1">
                              <a:solidFill>
                                <a:schemeClr val="tx1"/>
                              </a:solidFill>
                              <a:latin typeface="Cambria Math"/>
                            </a:rPr>
                            <m:t> бит </m:t>
                          </m:r>
                        </m:num>
                        <m:den>
                          <m:r>
                            <a:rPr lang="en-US" b="1" i="1">
                              <a:solidFill>
                                <a:schemeClr val="tx1"/>
                              </a:solidFill>
                              <a:latin typeface="Cambria Math"/>
                            </a:rPr>
                            <m:t>𝟏𝟏</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r>
                        <a:rPr lang="en-US" b="1" i="1">
                          <a:solidFill>
                            <a:schemeClr val="tx1"/>
                          </a:solidFill>
                          <a:latin typeface="Cambria Math"/>
                        </a:rPr>
                        <m:t>,</m:t>
                      </m:r>
                      <m:r>
                        <a:rPr lang="en-US" b="1" i="1">
                          <a:solidFill>
                            <a:schemeClr val="tx1"/>
                          </a:solidFill>
                          <a:latin typeface="Cambria Math"/>
                        </a:rPr>
                        <m:t>𝟏𝟖</m:t>
                      </m:r>
                    </m:oMath>
                  </m:oMathPara>
                </a14:m>
                <a:endParaRPr lang="ru-RU" dirty="0">
                  <a:solidFill>
                    <a:schemeClr val="tx1"/>
                  </a:solidFill>
                  <a:latin typeface="Times New Roman" pitchFamily="18" charset="0"/>
                  <a:cs typeface="Times New Roman" pitchFamily="18" charset="0"/>
                </a:endParaRPr>
              </a:p>
            </p:txBody>
          </p:sp>
        </mc:Choice>
        <mc:Fallback xmlns="">
          <p:sp>
            <p:nvSpPr>
              <p:cNvPr id="39" name="Прямоугольник 38"/>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7"/>
                <a:stretch>
                  <a:fillRect/>
                </a:stretch>
              </a:blipFill>
            </p:spPr>
            <p:txBody>
              <a:bodyPr/>
              <a:lstStyle/>
              <a:p>
                <a:r>
                  <a:rPr lang="ru-RU">
                    <a:noFill/>
                  </a:rPr>
                  <a:t> </a:t>
                </a:r>
              </a:p>
            </p:txBody>
          </p:sp>
        </mc:Fallback>
      </mc:AlternateContent>
      <p:sp>
        <p:nvSpPr>
          <p:cNvPr id="40" name="Прямоугольник 39"/>
          <p:cNvSpPr/>
          <p:nvPr/>
        </p:nvSpPr>
        <p:spPr>
          <a:xfrm>
            <a:off x="6156176" y="2708920"/>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Прямоугольник 40"/>
          <p:cNvSpPr/>
          <p:nvPr/>
        </p:nvSpPr>
        <p:spPr>
          <a:xfrm>
            <a:off x="1043608" y="1556792"/>
            <a:ext cx="7344816"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solidFill>
                  <a:schemeClr val="tx1"/>
                </a:solidFill>
                <a:latin typeface="Times New Roman" pitchFamily="18" charset="0"/>
                <a:cs typeface="Times New Roman" pitchFamily="18" charset="0"/>
              </a:rPr>
              <a:t>17</a:t>
            </a:r>
            <a:r>
              <a:rPr lang="uz-Cyrl-UZ" i="1" dirty="0" smtClean="0">
                <a:solidFill>
                  <a:schemeClr val="tx1"/>
                </a:solidFill>
                <a:latin typeface="Times New Roman" pitchFamily="18" charset="0"/>
                <a:cs typeface="Times New Roman" pitchFamily="18" charset="0"/>
              </a:rPr>
              <a:t> </a:t>
            </a:r>
            <a:r>
              <a:rPr lang="uz-Cyrl-UZ" i="1" dirty="0">
                <a:solidFill>
                  <a:schemeClr val="tx1"/>
                </a:solidFill>
                <a:latin typeface="Times New Roman" pitchFamily="18" charset="0"/>
                <a:cs typeface="Times New Roman" pitchFamily="18" charset="0"/>
              </a:rPr>
              <a:t>бит регистр узунлигига эга бўлган комбинацияловчи генераторда калит вариантлари сонининг гамма узунлигига боғлиқлик жадвали</a:t>
            </a:r>
            <a:endParaRPr lang="ru-RU" dirty="0">
              <a:solidFill>
                <a:schemeClr val="tx1"/>
              </a:solidFill>
              <a:latin typeface="Times New Roman" pitchFamily="18" charset="0"/>
              <a:cs typeface="Times New Roman" pitchFamily="18" charset="0"/>
            </a:endParaRPr>
          </a:p>
        </p:txBody>
      </p:sp>
      <p:graphicFrame>
        <p:nvGraphicFramePr>
          <p:cNvPr id="42" name="Таблица 41"/>
          <p:cNvGraphicFramePr>
            <a:graphicFrameLocks noGrp="1"/>
          </p:cNvGraphicFramePr>
          <p:nvPr>
            <p:extLst>
              <p:ext uri="{D42A27DB-BD31-4B8C-83A1-F6EECF244321}">
                <p14:modId xmlns:p14="http://schemas.microsoft.com/office/powerpoint/2010/main" val="3797652429"/>
              </p:ext>
            </p:extLst>
          </p:nvPr>
        </p:nvGraphicFramePr>
        <p:xfrm>
          <a:off x="827584" y="2708920"/>
          <a:ext cx="7704855" cy="1368152"/>
        </p:xfrm>
        <a:graphic>
          <a:graphicData uri="http://schemas.openxmlformats.org/drawingml/2006/table">
            <a:tbl>
              <a:tblPr firstRow="1" firstCol="1" bandRow="1">
                <a:tableStyleId>{69CF1AB2-1976-4502-BF36-3FF5EA218861}</a:tableStyleId>
              </a:tblPr>
              <a:tblGrid>
                <a:gridCol w="1358439"/>
                <a:gridCol w="801801"/>
                <a:gridCol w="792088"/>
                <a:gridCol w="786017"/>
                <a:gridCol w="793302"/>
                <a:gridCol w="793302"/>
                <a:gridCol w="793302"/>
                <a:gridCol w="793302"/>
                <a:gridCol w="793302"/>
              </a:tblGrid>
              <a:tr h="581405">
                <a:tc>
                  <a:txBody>
                    <a:bodyPr/>
                    <a:lstStyle/>
                    <a:p>
                      <a:pPr algn="ctr">
                        <a:lnSpc>
                          <a:spcPct val="115000"/>
                        </a:lnSpc>
                        <a:spcBef>
                          <a:spcPts val="300"/>
                        </a:spcBef>
                        <a:spcAft>
                          <a:spcPts val="300"/>
                        </a:spcAft>
                      </a:pPr>
                      <a:r>
                        <a:rPr lang="uz-Cyrl-UZ" sz="1600" dirty="0" smtClean="0">
                          <a:effectLst/>
                          <a:latin typeface="Times New Roman" pitchFamily="18" charset="0"/>
                          <a:cs typeface="Times New Roman" pitchFamily="18" charset="0"/>
                        </a:rPr>
                        <a:t>Гамма </a:t>
                      </a:r>
                      <a:r>
                        <a:rPr lang="uz-Cyrl-UZ" sz="1600" dirty="0">
                          <a:effectLst/>
                          <a:latin typeface="Times New Roman" pitchFamily="18" charset="0"/>
                          <a:cs typeface="Times New Roman" pitchFamily="18" charset="0"/>
                        </a:rPr>
                        <a:t>узунлиги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40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42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44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46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50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52 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a:effectLst/>
                          <a:latin typeface="Times New Roman"/>
                          <a:ea typeface="Times New Roman"/>
                          <a:cs typeface="Times New Roman"/>
                        </a:rPr>
                        <a:t>53бит</a:t>
                      </a:r>
                      <a:endParaRPr lang="ru-RU" sz="160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dirty="0">
                          <a:effectLst/>
                          <a:latin typeface="Times New Roman"/>
                          <a:ea typeface="Times New Roman"/>
                          <a:cs typeface="Times New Roman"/>
                        </a:rPr>
                        <a:t>55 бит</a:t>
                      </a:r>
                      <a:endParaRPr lang="ru-RU" sz="1600"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6747">
                <a:tc>
                  <a:txBody>
                    <a:bodyPr/>
                    <a:lstStyle/>
                    <a:p>
                      <a:pPr algn="ctr">
                        <a:lnSpc>
                          <a:spcPct val="115000"/>
                        </a:lnSpc>
                        <a:spcBef>
                          <a:spcPts val="300"/>
                        </a:spcBef>
                        <a:spcAft>
                          <a:spcPts val="300"/>
                        </a:spcAft>
                      </a:pPr>
                      <a:r>
                        <a:rPr lang="uz-Cyrl-UZ" sz="1600" dirty="0">
                          <a:effectLst/>
                          <a:latin typeface="Times New Roman" pitchFamily="18" charset="0"/>
                          <a:cs typeface="Times New Roman" pitchFamily="18" charset="0"/>
                        </a:rPr>
                        <a:t>Калит вариантлари</a:t>
                      </a:r>
                      <a:endParaRPr lang="ru-RU" sz="1600" dirty="0">
                        <a:effectLst/>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216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58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27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15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5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2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a:effectLst/>
                          <a:latin typeface="Times New Roman"/>
                          <a:ea typeface="Times New Roman"/>
                          <a:cs typeface="Times New Roman"/>
                        </a:rPr>
                        <a:t>1 та</a:t>
                      </a:r>
                      <a:endParaRPr lang="ru-RU" sz="1600" b="1">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Bef>
                          <a:spcPts val="300"/>
                        </a:spcBef>
                        <a:spcAft>
                          <a:spcPts val="300"/>
                        </a:spcAft>
                      </a:pPr>
                      <a:r>
                        <a:rPr lang="uz-Cyrl-UZ" sz="1600" b="1" dirty="0">
                          <a:effectLst/>
                          <a:latin typeface="Times New Roman"/>
                          <a:ea typeface="Times New Roman"/>
                          <a:cs typeface="Times New Roman"/>
                        </a:rPr>
                        <a:t>1 та</a:t>
                      </a:r>
                      <a:endParaRPr lang="ru-RU" sz="1600" b="1" dirty="0">
                        <a:effectLst/>
                        <a:latin typeface="Times New Roman"/>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43" name="Прямоугольник 42"/>
              <p:cNvSpPr/>
              <p:nvPr/>
            </p:nvSpPr>
            <p:spPr>
              <a:xfrm>
                <a:off x="2339752" y="4437112"/>
                <a:ext cx="5040560"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ru-RU" b="1" i="1" smtClean="0">
                              <a:solidFill>
                                <a:schemeClr val="tx1"/>
                              </a:solidFill>
                              <a:latin typeface="Cambria Math"/>
                            </a:rPr>
                          </m:ctrlPr>
                        </m:sSubPr>
                        <m:e>
                          <m:r>
                            <a:rPr lang="en-US" b="1" i="1">
                              <a:solidFill>
                                <a:schemeClr val="tx1"/>
                              </a:solidFill>
                              <a:latin typeface="Cambria Math"/>
                            </a:rPr>
                            <m:t>𝑲</m:t>
                          </m:r>
                        </m:e>
                        <m:sub>
                          <m:r>
                            <a:rPr lang="en-US" b="1" i="1">
                              <a:solidFill>
                                <a:schemeClr val="tx1"/>
                              </a:solidFill>
                              <a:latin typeface="Cambria Math"/>
                            </a:rPr>
                            <m:t>𝟏𝟕</m:t>
                          </m:r>
                        </m:sub>
                      </m:sSub>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𝑮</m:t>
                          </m:r>
                        </m:num>
                        <m:den>
                          <m:r>
                            <a:rPr lang="en-US" b="1" i="1">
                              <a:solidFill>
                                <a:schemeClr val="tx1"/>
                              </a:solidFill>
                              <a:latin typeface="Cambria Math"/>
                            </a:rPr>
                            <m:t>𝑵</m:t>
                          </m:r>
                        </m:den>
                      </m:f>
                      <m:r>
                        <a:rPr lang="en-US" b="1" i="1">
                          <a:solidFill>
                            <a:schemeClr val="tx1"/>
                          </a:solidFill>
                          <a:latin typeface="Cambria Math"/>
                        </a:rPr>
                        <m:t>= </m:t>
                      </m:r>
                      <m:f>
                        <m:fPr>
                          <m:ctrlPr>
                            <a:rPr lang="ru-RU" b="1" i="1">
                              <a:solidFill>
                                <a:schemeClr val="tx1"/>
                              </a:solidFill>
                              <a:latin typeface="Cambria Math"/>
                            </a:rPr>
                          </m:ctrlPr>
                        </m:fPr>
                        <m:num>
                          <m:r>
                            <a:rPr lang="en-US" b="1" i="1">
                              <a:solidFill>
                                <a:schemeClr val="tx1"/>
                              </a:solidFill>
                              <a:latin typeface="Cambria Math"/>
                            </a:rPr>
                            <m:t>𝟓𝟑</m:t>
                          </m:r>
                          <m:r>
                            <a:rPr lang="en-US" b="1" i="1">
                              <a:solidFill>
                                <a:schemeClr val="tx1"/>
                              </a:solidFill>
                              <a:latin typeface="Cambria Math"/>
                            </a:rPr>
                            <m:t> бит </m:t>
                          </m:r>
                        </m:num>
                        <m:den>
                          <m:r>
                            <a:rPr lang="en-US" b="1" i="1">
                              <a:solidFill>
                                <a:schemeClr val="tx1"/>
                              </a:solidFill>
                              <a:latin typeface="Cambria Math"/>
                            </a:rPr>
                            <m:t>𝟏𝟕</m:t>
                          </m:r>
                          <m:r>
                            <a:rPr lang="en-US" b="1" i="1">
                              <a:solidFill>
                                <a:schemeClr val="tx1"/>
                              </a:solidFill>
                              <a:latin typeface="Cambria Math"/>
                            </a:rPr>
                            <m:t> бит</m:t>
                          </m:r>
                        </m:den>
                      </m:f>
                      <m:r>
                        <a:rPr lang="en-US" b="1" i="1">
                          <a:solidFill>
                            <a:schemeClr val="tx1"/>
                          </a:solidFill>
                          <a:latin typeface="Cambria Math"/>
                        </a:rPr>
                        <m:t>=</m:t>
                      </m:r>
                      <m:r>
                        <a:rPr lang="en-US" b="1" i="1">
                          <a:solidFill>
                            <a:schemeClr val="tx1"/>
                          </a:solidFill>
                          <a:latin typeface="Cambria Math"/>
                        </a:rPr>
                        <m:t>𝟑</m:t>
                      </m:r>
                      <m:r>
                        <a:rPr lang="en-US" b="1" i="1">
                          <a:solidFill>
                            <a:schemeClr val="tx1"/>
                          </a:solidFill>
                          <a:latin typeface="Cambria Math"/>
                        </a:rPr>
                        <m:t>,</m:t>
                      </m:r>
                      <m:r>
                        <a:rPr lang="en-US" b="1" i="1">
                          <a:solidFill>
                            <a:schemeClr val="tx1"/>
                          </a:solidFill>
                          <a:latin typeface="Cambria Math"/>
                        </a:rPr>
                        <m:t>𝟏𝟐</m:t>
                      </m:r>
                    </m:oMath>
                  </m:oMathPara>
                </a14:m>
                <a:endParaRPr lang="ru-RU" dirty="0">
                  <a:solidFill>
                    <a:schemeClr val="tx1"/>
                  </a:solidFill>
                  <a:latin typeface="Times New Roman" pitchFamily="18" charset="0"/>
                  <a:cs typeface="Times New Roman" pitchFamily="18" charset="0"/>
                </a:endParaRPr>
              </a:p>
            </p:txBody>
          </p:sp>
        </mc:Choice>
        <mc:Fallback xmlns="">
          <p:sp>
            <p:nvSpPr>
              <p:cNvPr id="43" name="Прямоугольник 42"/>
              <p:cNvSpPr>
                <a:spLocks noRot="1" noChangeAspect="1" noMove="1" noResize="1" noEditPoints="1" noAdjustHandles="1" noChangeArrowheads="1" noChangeShapeType="1" noTextEdit="1"/>
              </p:cNvSpPr>
              <p:nvPr/>
            </p:nvSpPr>
            <p:spPr>
              <a:xfrm>
                <a:off x="2339752" y="4437112"/>
                <a:ext cx="5040560" cy="792088"/>
              </a:xfrm>
              <a:prstGeom prst="rect">
                <a:avLst/>
              </a:prstGeom>
              <a:blipFill rotWithShape="1">
                <a:blip r:embed="rId8"/>
                <a:stretch>
                  <a:fillRect/>
                </a:stretch>
              </a:blipFill>
            </p:spPr>
            <p:txBody>
              <a:bodyPr/>
              <a:lstStyle/>
              <a:p>
                <a:r>
                  <a:rPr lang="ru-RU">
                    <a:noFill/>
                  </a:rPr>
                  <a:t> </a:t>
                </a:r>
              </a:p>
            </p:txBody>
          </p:sp>
        </mc:Fallback>
      </mc:AlternateContent>
      <p:sp>
        <p:nvSpPr>
          <p:cNvPr id="44" name="Прямоугольник 43"/>
          <p:cNvSpPr/>
          <p:nvPr/>
        </p:nvSpPr>
        <p:spPr>
          <a:xfrm>
            <a:off x="6948264" y="2708920"/>
            <a:ext cx="792088" cy="1368152"/>
          </a:xfrm>
          <a:prstGeom prst="rect">
            <a:avLst/>
          </a:prstGeom>
          <a:solidFill>
            <a:schemeClr val="accent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mc:AlternateContent xmlns:mc="http://schemas.openxmlformats.org/markup-compatibility/2006" xmlns:a14="http://schemas.microsoft.com/office/drawing/2010/main">
        <mc:Choice Requires="a14">
          <p:sp>
            <p:nvSpPr>
              <p:cNvPr id="45" name="Прямоугольник 44"/>
              <p:cNvSpPr/>
              <p:nvPr/>
            </p:nvSpPr>
            <p:spPr>
              <a:xfrm>
                <a:off x="611560" y="5445224"/>
                <a:ext cx="7992888" cy="7920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500" b="1" i="1" smtClean="0">
                          <a:solidFill>
                            <a:schemeClr val="tx1"/>
                          </a:solidFill>
                          <a:latin typeface="Cambria Math"/>
                        </a:rPr>
                        <m:t>𝑲</m:t>
                      </m:r>
                      <m:r>
                        <a:rPr lang="en-US" sz="1500" b="1" i="1" smtClean="0">
                          <a:solidFill>
                            <a:schemeClr val="tx1"/>
                          </a:solidFill>
                          <a:latin typeface="Cambria Math"/>
                        </a:rPr>
                        <m:t>=</m:t>
                      </m:r>
                      <m:f>
                        <m:fPr>
                          <m:ctrlPr>
                            <a:rPr lang="ru-RU" sz="1500" b="1" i="1">
                              <a:solidFill>
                                <a:schemeClr val="tx1"/>
                              </a:solidFill>
                              <a:latin typeface="Cambria Math"/>
                            </a:rPr>
                          </m:ctrlPr>
                        </m:fPr>
                        <m:num>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𝟑</m:t>
                              </m:r>
                            </m:sub>
                          </m:sSub>
                          <m:r>
                            <a:rPr lang="en-US" sz="1500" b="1" i="1">
                              <a:solidFill>
                                <a:schemeClr val="tx1"/>
                              </a:solidFill>
                              <a:latin typeface="Cambria Math"/>
                            </a:rPr>
                            <m:t>+</m:t>
                          </m:r>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𝟒</m:t>
                              </m:r>
                            </m:sub>
                          </m:sSub>
                          <m:r>
                            <a:rPr lang="en-US" sz="1500" b="1" i="1">
                              <a:solidFill>
                                <a:schemeClr val="tx1"/>
                              </a:solidFill>
                              <a:latin typeface="Cambria Math"/>
                            </a:rPr>
                            <m:t>+</m:t>
                          </m:r>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𝟗</m:t>
                              </m:r>
                            </m:sub>
                          </m:sSub>
                          <m:r>
                            <a:rPr lang="en-US" sz="1500" b="1" i="1">
                              <a:solidFill>
                                <a:schemeClr val="tx1"/>
                              </a:solidFill>
                              <a:latin typeface="Cambria Math"/>
                            </a:rPr>
                            <m:t>+</m:t>
                          </m:r>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𝟏𝟎</m:t>
                              </m:r>
                            </m:sub>
                          </m:sSub>
                          <m:r>
                            <a:rPr lang="en-US" sz="1500" b="1" i="1">
                              <a:solidFill>
                                <a:schemeClr val="tx1"/>
                              </a:solidFill>
                              <a:latin typeface="Cambria Math"/>
                            </a:rPr>
                            <m:t>+</m:t>
                          </m:r>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𝟏𝟏</m:t>
                              </m:r>
                            </m:sub>
                          </m:sSub>
                          <m:r>
                            <a:rPr lang="en-US" sz="1500" b="1" i="1">
                              <a:solidFill>
                                <a:schemeClr val="tx1"/>
                              </a:solidFill>
                              <a:latin typeface="Cambria Math"/>
                            </a:rPr>
                            <m:t>+</m:t>
                          </m:r>
                          <m:sSub>
                            <m:sSubPr>
                              <m:ctrlPr>
                                <a:rPr lang="ru-RU" sz="1500" b="1" i="1">
                                  <a:solidFill>
                                    <a:schemeClr val="tx1"/>
                                  </a:solidFill>
                                  <a:latin typeface="Cambria Math"/>
                                </a:rPr>
                              </m:ctrlPr>
                            </m:sSubPr>
                            <m:e>
                              <m:r>
                                <a:rPr lang="en-US" sz="1500" b="1" i="1">
                                  <a:solidFill>
                                    <a:schemeClr val="tx1"/>
                                  </a:solidFill>
                                  <a:latin typeface="Cambria Math"/>
                                </a:rPr>
                                <m:t>𝑲</m:t>
                              </m:r>
                            </m:e>
                            <m:sub>
                              <m:r>
                                <a:rPr lang="en-US" sz="1500" b="1" i="1">
                                  <a:solidFill>
                                    <a:schemeClr val="tx1"/>
                                  </a:solidFill>
                                  <a:latin typeface="Cambria Math"/>
                                </a:rPr>
                                <m:t>𝟏𝟕</m:t>
                              </m:r>
                            </m:sub>
                          </m:sSub>
                          <m:r>
                            <a:rPr lang="en-US" sz="1500" b="1" i="1">
                              <a:solidFill>
                                <a:schemeClr val="tx1"/>
                              </a:solidFill>
                              <a:latin typeface="Cambria Math"/>
                            </a:rPr>
                            <m:t> </m:t>
                          </m:r>
                        </m:num>
                        <m:den>
                          <m:r>
                            <a:rPr lang="en-US" sz="1500" b="1" i="1">
                              <a:solidFill>
                                <a:schemeClr val="tx1"/>
                              </a:solidFill>
                              <a:latin typeface="Cambria Math"/>
                            </a:rPr>
                            <m:t>𝟔</m:t>
                          </m:r>
                        </m:den>
                      </m:f>
                      <m:r>
                        <a:rPr lang="en-US" sz="1500" b="1" i="1">
                          <a:solidFill>
                            <a:schemeClr val="tx1"/>
                          </a:solidFill>
                          <a:latin typeface="Cambria Math"/>
                        </a:rPr>
                        <m:t>=</m:t>
                      </m:r>
                      <m:f>
                        <m:fPr>
                          <m:ctrlPr>
                            <a:rPr lang="ru-RU" sz="1500" b="1" i="1">
                              <a:solidFill>
                                <a:schemeClr val="tx1"/>
                              </a:solidFill>
                              <a:latin typeface="Cambria Math"/>
                            </a:rPr>
                          </m:ctrlPr>
                        </m:fPr>
                        <m:num>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𝟐𝟓</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𝟒𝟒</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𝟏𝟖</m:t>
                          </m:r>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𝟏𝟐</m:t>
                          </m:r>
                        </m:num>
                        <m:den>
                          <m:r>
                            <a:rPr lang="en-US" sz="1500" b="1" i="1">
                              <a:solidFill>
                                <a:schemeClr val="tx1"/>
                              </a:solidFill>
                              <a:latin typeface="Cambria Math"/>
                            </a:rPr>
                            <m:t>𝟔</m:t>
                          </m:r>
                        </m:den>
                      </m:f>
                      <m:r>
                        <a:rPr lang="en-US" sz="1500" b="1" i="1">
                          <a:solidFill>
                            <a:schemeClr val="tx1"/>
                          </a:solidFill>
                          <a:latin typeface="Cambria Math"/>
                        </a:rPr>
                        <m:t>=</m:t>
                      </m:r>
                      <m:r>
                        <a:rPr lang="en-US" sz="1500" b="1" i="1">
                          <a:solidFill>
                            <a:schemeClr val="tx1"/>
                          </a:solidFill>
                          <a:latin typeface="Cambria Math"/>
                        </a:rPr>
                        <m:t>𝟑</m:t>
                      </m:r>
                      <m:r>
                        <a:rPr lang="en-US" sz="1500" b="1" i="1">
                          <a:solidFill>
                            <a:schemeClr val="tx1"/>
                          </a:solidFill>
                          <a:latin typeface="Cambria Math"/>
                        </a:rPr>
                        <m:t>,</m:t>
                      </m:r>
                      <m:r>
                        <a:rPr lang="en-US" sz="1500" b="1" i="1">
                          <a:solidFill>
                            <a:schemeClr val="tx1"/>
                          </a:solidFill>
                          <a:latin typeface="Cambria Math"/>
                        </a:rPr>
                        <m:t>𝟐𝟐</m:t>
                      </m:r>
                      <m:r>
                        <a:rPr lang="en-US" sz="1500" b="1" i="1" smtClean="0">
                          <a:solidFill>
                            <a:schemeClr val="tx1"/>
                          </a:solidFill>
                          <a:latin typeface="Cambria Math"/>
                        </a:rPr>
                        <m:t>⇒</m:t>
                      </m:r>
                      <m:r>
                        <a:rPr lang="en-US" sz="1500" b="1" i="1" smtClean="0">
                          <a:solidFill>
                            <a:schemeClr val="tx1"/>
                          </a:solidFill>
                          <a:latin typeface="Cambria Math"/>
                        </a:rPr>
                        <m:t>𝟒</m:t>
                      </m:r>
                    </m:oMath>
                  </m:oMathPara>
                </a14:m>
                <a:endParaRPr lang="ru-RU" sz="1500" dirty="0">
                  <a:solidFill>
                    <a:schemeClr val="tx1"/>
                  </a:solidFill>
                  <a:latin typeface="Times New Roman" pitchFamily="18" charset="0"/>
                  <a:cs typeface="Times New Roman" pitchFamily="18" charset="0"/>
                </a:endParaRPr>
              </a:p>
            </p:txBody>
          </p:sp>
        </mc:Choice>
        <mc:Fallback xmlns="">
          <p:sp>
            <p:nvSpPr>
              <p:cNvPr id="45" name="Прямоугольник 44"/>
              <p:cNvSpPr>
                <a:spLocks noRot="1" noChangeAspect="1" noMove="1" noResize="1" noEditPoints="1" noAdjustHandles="1" noChangeArrowheads="1" noChangeShapeType="1" noTextEdit="1"/>
              </p:cNvSpPr>
              <p:nvPr/>
            </p:nvSpPr>
            <p:spPr>
              <a:xfrm>
                <a:off x="611560" y="5445224"/>
                <a:ext cx="7992888" cy="792088"/>
              </a:xfrm>
              <a:prstGeom prst="rect">
                <a:avLst/>
              </a:prstGeom>
              <a:blipFill rotWithShape="1">
                <a:blip r:embed="rId9"/>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81321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2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xit" presetSubtype="10" fill="hold" grpId="1" nodeType="clickEffect">
                                  <p:stCondLst>
                                    <p:cond delay="0"/>
                                  </p:stCondLst>
                                  <p:childTnLst>
                                    <p:animEffect transition="out" filter="randombar(horizontal)">
                                      <p:cBhvr>
                                        <p:cTn id="25" dur="500"/>
                                        <p:tgtEl>
                                          <p:spTgt spid="4"/>
                                        </p:tgtEl>
                                      </p:cBhvr>
                                    </p:animEffect>
                                    <p:set>
                                      <p:cBhvr>
                                        <p:cTn id="26" dur="1" fill="hold">
                                          <p:stCondLst>
                                            <p:cond delay="499"/>
                                          </p:stCondLst>
                                        </p:cTn>
                                        <p:tgtEl>
                                          <p:spTgt spid="4"/>
                                        </p:tgtEl>
                                        <p:attrNameLst>
                                          <p:attrName>style.visibility</p:attrName>
                                        </p:attrNameLst>
                                      </p:cBhvr>
                                      <p:to>
                                        <p:strVal val="hidden"/>
                                      </p:to>
                                    </p:set>
                                  </p:childTnLst>
                                </p:cTn>
                              </p:par>
                              <p:par>
                                <p:cTn id="27" presetID="14" presetClass="exit" presetSubtype="10" fill="hold" nodeType="withEffect">
                                  <p:stCondLst>
                                    <p:cond delay="0"/>
                                  </p:stCondLst>
                                  <p:childTnLst>
                                    <p:animEffect transition="out" filter="randombar(horizontal)">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par>
                                <p:cTn id="30" presetID="14" presetClass="exit" presetSubtype="10" fill="hold" grpId="1" nodeType="withEffect">
                                  <p:stCondLst>
                                    <p:cond delay="0"/>
                                  </p:stCondLst>
                                  <p:childTnLst>
                                    <p:animEffect transition="out" filter="randombar(horizontal)">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par>
                                <p:cTn id="33" presetID="14" presetClass="exit" presetSubtype="10" fill="hold" grpId="1" nodeType="withEffect">
                                  <p:stCondLst>
                                    <p:cond delay="0"/>
                                  </p:stCondLst>
                                  <p:childTnLst>
                                    <p:animEffect transition="out" filter="randombar(horizontal)">
                                      <p:cBhvr>
                                        <p:cTn id="34" dur="500"/>
                                        <p:tgtEl>
                                          <p:spTgt spid="27"/>
                                        </p:tgtEl>
                                      </p:cBhvr>
                                    </p:animEffect>
                                    <p:set>
                                      <p:cBhvr>
                                        <p:cTn id="35" dur="1" fill="hold">
                                          <p:stCondLst>
                                            <p:cond delay="499"/>
                                          </p:stCondLst>
                                        </p:cTn>
                                        <p:tgtEl>
                                          <p:spTgt spid="27"/>
                                        </p:tgtEl>
                                        <p:attrNameLst>
                                          <p:attrName>style.visibility</p:attrName>
                                        </p:attrNameLst>
                                      </p:cBhvr>
                                      <p:to>
                                        <p:strVal val="hidden"/>
                                      </p:to>
                                    </p:se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par>
                                <p:cTn id="40" presetID="22" presetClass="entr" presetSubtype="4"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childTnLst>
                          </p:cTn>
                        </p:par>
                        <p:par>
                          <p:cTn id="46" fill="hold">
                            <p:stCondLst>
                              <p:cond delay="1000"/>
                            </p:stCondLst>
                            <p:childTnLst>
                              <p:par>
                                <p:cTn id="47" presetID="22" presetClass="entr" presetSubtype="4"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xit" presetSubtype="10" fill="hold" grpId="1" nodeType="clickEffect">
                                  <p:stCondLst>
                                    <p:cond delay="0"/>
                                  </p:stCondLst>
                                  <p:childTnLst>
                                    <p:animEffect transition="out" filter="randombar(horizontal)">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par>
                                <p:cTn id="55" presetID="14" presetClass="exit" presetSubtype="10" fill="hold" nodeType="withEffect">
                                  <p:stCondLst>
                                    <p:cond delay="0"/>
                                  </p:stCondLst>
                                  <p:childTnLst>
                                    <p:animEffect transition="out" filter="randombar(horizontal)">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par>
                                <p:cTn id="58" presetID="14" presetClass="exit" presetSubtype="10" fill="hold" grpId="1" nodeType="withEffect">
                                  <p:stCondLst>
                                    <p:cond delay="0"/>
                                  </p:stCondLst>
                                  <p:childTnLst>
                                    <p:animEffect transition="out" filter="randombar(horizontal)">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par>
                                <p:cTn id="61" presetID="14" presetClass="exit" presetSubtype="10" fill="hold" grpId="1" nodeType="withEffect">
                                  <p:stCondLst>
                                    <p:cond delay="0"/>
                                  </p:stCondLst>
                                  <p:childTnLst>
                                    <p:animEffect transition="out" filter="randombar(horizontal)">
                                      <p:cBhvr>
                                        <p:cTn id="62" dur="500"/>
                                        <p:tgtEl>
                                          <p:spTgt spid="28"/>
                                        </p:tgtEl>
                                      </p:cBhvr>
                                    </p:animEffect>
                                    <p:set>
                                      <p:cBhvr>
                                        <p:cTn id="63" dur="1" fill="hold">
                                          <p:stCondLst>
                                            <p:cond delay="499"/>
                                          </p:stCondLst>
                                        </p:cTn>
                                        <p:tgtEl>
                                          <p:spTgt spid="28"/>
                                        </p:tgtEl>
                                        <p:attrNameLst>
                                          <p:attrName>style.visibility</p:attrName>
                                        </p:attrNameLst>
                                      </p:cBhvr>
                                      <p:to>
                                        <p:strVal val="hidden"/>
                                      </p:to>
                                    </p:set>
                                  </p:childTnLst>
                                </p:cTn>
                              </p:par>
                            </p:childTnLst>
                          </p:cTn>
                        </p:par>
                        <p:par>
                          <p:cTn id="64" fill="hold">
                            <p:stCondLst>
                              <p:cond delay="500"/>
                            </p:stCondLst>
                            <p:childTnLst>
                              <p:par>
                                <p:cTn id="65" presetID="22" presetClass="entr" presetSubtype="4"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down)">
                                      <p:cBhvr>
                                        <p:cTn id="67" dur="500"/>
                                        <p:tgtEl>
                                          <p:spTgt spid="22"/>
                                        </p:tgtEl>
                                      </p:cBhvr>
                                    </p:animEffect>
                                  </p:childTnLst>
                                </p:cTn>
                              </p:par>
                              <p:par>
                                <p:cTn id="68" presetID="22" presetClass="entr" presetSubtype="4"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down)">
                                      <p:cBhvr>
                                        <p:cTn id="70" dur="500"/>
                                        <p:tgtEl>
                                          <p:spTgt spid="2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ipe(down)">
                                      <p:cBhvr>
                                        <p:cTn id="73" dur="500"/>
                                        <p:tgtEl>
                                          <p:spTgt spid="24"/>
                                        </p:tgtEl>
                                      </p:cBhvr>
                                    </p:animEffect>
                                  </p:childTnLst>
                                </p:cTn>
                              </p:par>
                            </p:childTnLst>
                          </p:cTn>
                        </p:par>
                        <p:par>
                          <p:cTn id="74" fill="hold">
                            <p:stCondLst>
                              <p:cond delay="1000"/>
                            </p:stCondLst>
                            <p:childTnLst>
                              <p:par>
                                <p:cTn id="75" presetID="22" presetClass="entr" presetSubtype="4" fill="hold" grpId="0" nodeType="after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wipe(down)">
                                      <p:cBhvr>
                                        <p:cTn id="77" dur="500"/>
                                        <p:tgtEl>
                                          <p:spTgt spid="6"/>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xit" presetSubtype="10" fill="hold" grpId="1" nodeType="clickEffect">
                                  <p:stCondLst>
                                    <p:cond delay="0"/>
                                  </p:stCondLst>
                                  <p:childTnLst>
                                    <p:animEffect transition="out" filter="randombar(horizontal)">
                                      <p:cBhvr>
                                        <p:cTn id="81" dur="500"/>
                                        <p:tgtEl>
                                          <p:spTgt spid="22"/>
                                        </p:tgtEl>
                                      </p:cBhvr>
                                    </p:animEffect>
                                    <p:set>
                                      <p:cBhvr>
                                        <p:cTn id="82" dur="1" fill="hold">
                                          <p:stCondLst>
                                            <p:cond delay="499"/>
                                          </p:stCondLst>
                                        </p:cTn>
                                        <p:tgtEl>
                                          <p:spTgt spid="22"/>
                                        </p:tgtEl>
                                        <p:attrNameLst>
                                          <p:attrName>style.visibility</p:attrName>
                                        </p:attrNameLst>
                                      </p:cBhvr>
                                      <p:to>
                                        <p:strVal val="hidden"/>
                                      </p:to>
                                    </p:set>
                                  </p:childTnLst>
                                </p:cTn>
                              </p:par>
                              <p:par>
                                <p:cTn id="83" presetID="14" presetClass="exit" presetSubtype="10" fill="hold" nodeType="withEffect">
                                  <p:stCondLst>
                                    <p:cond delay="0"/>
                                  </p:stCondLst>
                                  <p:childTnLst>
                                    <p:animEffect transition="out" filter="randombar(horizontal)">
                                      <p:cBhvr>
                                        <p:cTn id="84" dur="500"/>
                                        <p:tgtEl>
                                          <p:spTgt spid="23"/>
                                        </p:tgtEl>
                                      </p:cBhvr>
                                    </p:animEffect>
                                    <p:set>
                                      <p:cBhvr>
                                        <p:cTn id="85" dur="1" fill="hold">
                                          <p:stCondLst>
                                            <p:cond delay="499"/>
                                          </p:stCondLst>
                                        </p:cTn>
                                        <p:tgtEl>
                                          <p:spTgt spid="23"/>
                                        </p:tgtEl>
                                        <p:attrNameLst>
                                          <p:attrName>style.visibility</p:attrName>
                                        </p:attrNameLst>
                                      </p:cBhvr>
                                      <p:to>
                                        <p:strVal val="hidden"/>
                                      </p:to>
                                    </p:set>
                                  </p:childTnLst>
                                </p:cTn>
                              </p:par>
                              <p:par>
                                <p:cTn id="86" presetID="14" presetClass="exit" presetSubtype="10" fill="hold" grpId="1" nodeType="withEffect">
                                  <p:stCondLst>
                                    <p:cond delay="0"/>
                                  </p:stCondLst>
                                  <p:childTnLst>
                                    <p:animEffect transition="out" filter="randombar(horizontal)">
                                      <p:cBhvr>
                                        <p:cTn id="87" dur="500"/>
                                        <p:tgtEl>
                                          <p:spTgt spid="24"/>
                                        </p:tgtEl>
                                      </p:cBhvr>
                                    </p:animEffect>
                                    <p:set>
                                      <p:cBhvr>
                                        <p:cTn id="88" dur="1" fill="hold">
                                          <p:stCondLst>
                                            <p:cond delay="499"/>
                                          </p:stCondLst>
                                        </p:cTn>
                                        <p:tgtEl>
                                          <p:spTgt spid="24"/>
                                        </p:tgtEl>
                                        <p:attrNameLst>
                                          <p:attrName>style.visibility</p:attrName>
                                        </p:attrNameLst>
                                      </p:cBhvr>
                                      <p:to>
                                        <p:strVal val="hidden"/>
                                      </p:to>
                                    </p:set>
                                  </p:childTnLst>
                                </p:cTn>
                              </p:par>
                              <p:par>
                                <p:cTn id="89" presetID="14" presetClass="exit" presetSubtype="10" fill="hold" grpId="1" nodeType="withEffect">
                                  <p:stCondLst>
                                    <p:cond delay="0"/>
                                  </p:stCondLst>
                                  <p:childTnLst>
                                    <p:animEffect transition="out" filter="randombar(horizontal)">
                                      <p:cBhvr>
                                        <p:cTn id="90" dur="500"/>
                                        <p:tgtEl>
                                          <p:spTgt spid="6"/>
                                        </p:tgtEl>
                                      </p:cBhvr>
                                    </p:animEffect>
                                    <p:set>
                                      <p:cBhvr>
                                        <p:cTn id="91" dur="1" fill="hold">
                                          <p:stCondLst>
                                            <p:cond delay="499"/>
                                          </p:stCondLst>
                                        </p:cTn>
                                        <p:tgtEl>
                                          <p:spTgt spid="6"/>
                                        </p:tgtEl>
                                        <p:attrNameLst>
                                          <p:attrName>style.visibility</p:attrName>
                                        </p:attrNameLst>
                                      </p:cBhvr>
                                      <p:to>
                                        <p:strVal val="hidden"/>
                                      </p:to>
                                    </p:set>
                                  </p:childTnLst>
                                </p:cTn>
                              </p:par>
                            </p:childTnLst>
                          </p:cTn>
                        </p:par>
                        <p:par>
                          <p:cTn id="92" fill="hold">
                            <p:stCondLst>
                              <p:cond delay="500"/>
                            </p:stCondLst>
                            <p:childTnLst>
                              <p:par>
                                <p:cTn id="93" presetID="22" presetClass="entr" presetSubtype="4" fill="hold" grpId="0"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down)">
                                      <p:cBhvr>
                                        <p:cTn id="95" dur="500"/>
                                        <p:tgtEl>
                                          <p:spTgt spid="33"/>
                                        </p:tgtEl>
                                      </p:cBhvr>
                                    </p:animEffect>
                                  </p:childTnLst>
                                </p:cTn>
                              </p:par>
                              <p:par>
                                <p:cTn id="96" presetID="22" presetClass="entr" presetSubtype="4" fill="hold"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wipe(down)">
                                      <p:cBhvr>
                                        <p:cTn id="98" dur="500"/>
                                        <p:tgtEl>
                                          <p:spTgt spid="34"/>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wipe(down)">
                                      <p:cBhvr>
                                        <p:cTn id="101" dur="500"/>
                                        <p:tgtEl>
                                          <p:spTgt spid="35"/>
                                        </p:tgtEl>
                                      </p:cBhvr>
                                    </p:animEffect>
                                  </p:childTnLst>
                                </p:cTn>
                              </p:par>
                            </p:childTnLst>
                          </p:cTn>
                        </p:par>
                        <p:par>
                          <p:cTn id="102" fill="hold">
                            <p:stCondLst>
                              <p:cond delay="1000"/>
                            </p:stCondLst>
                            <p:childTnLst>
                              <p:par>
                                <p:cTn id="103" presetID="22" presetClass="entr" presetSubtype="4" fill="hold" grpId="0" nodeType="after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wipe(down)">
                                      <p:cBhvr>
                                        <p:cTn id="105" dur="5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xit" presetSubtype="10" fill="hold" grpId="1" nodeType="clickEffect">
                                  <p:stCondLst>
                                    <p:cond delay="0"/>
                                  </p:stCondLst>
                                  <p:childTnLst>
                                    <p:animEffect transition="out" filter="randombar(horizontal)">
                                      <p:cBhvr>
                                        <p:cTn id="109" dur="500"/>
                                        <p:tgtEl>
                                          <p:spTgt spid="33"/>
                                        </p:tgtEl>
                                      </p:cBhvr>
                                    </p:animEffect>
                                    <p:set>
                                      <p:cBhvr>
                                        <p:cTn id="110" dur="1" fill="hold">
                                          <p:stCondLst>
                                            <p:cond delay="499"/>
                                          </p:stCondLst>
                                        </p:cTn>
                                        <p:tgtEl>
                                          <p:spTgt spid="33"/>
                                        </p:tgtEl>
                                        <p:attrNameLst>
                                          <p:attrName>style.visibility</p:attrName>
                                        </p:attrNameLst>
                                      </p:cBhvr>
                                      <p:to>
                                        <p:strVal val="hidden"/>
                                      </p:to>
                                    </p:set>
                                  </p:childTnLst>
                                </p:cTn>
                              </p:par>
                              <p:par>
                                <p:cTn id="111" presetID="14" presetClass="exit" presetSubtype="10" fill="hold" nodeType="withEffect">
                                  <p:stCondLst>
                                    <p:cond delay="0"/>
                                  </p:stCondLst>
                                  <p:childTnLst>
                                    <p:animEffect transition="out" filter="randombar(horizontal)">
                                      <p:cBhvr>
                                        <p:cTn id="112" dur="500"/>
                                        <p:tgtEl>
                                          <p:spTgt spid="34"/>
                                        </p:tgtEl>
                                      </p:cBhvr>
                                    </p:animEffect>
                                    <p:set>
                                      <p:cBhvr>
                                        <p:cTn id="113" dur="1" fill="hold">
                                          <p:stCondLst>
                                            <p:cond delay="499"/>
                                          </p:stCondLst>
                                        </p:cTn>
                                        <p:tgtEl>
                                          <p:spTgt spid="34"/>
                                        </p:tgtEl>
                                        <p:attrNameLst>
                                          <p:attrName>style.visibility</p:attrName>
                                        </p:attrNameLst>
                                      </p:cBhvr>
                                      <p:to>
                                        <p:strVal val="hidden"/>
                                      </p:to>
                                    </p:set>
                                  </p:childTnLst>
                                </p:cTn>
                              </p:par>
                              <p:par>
                                <p:cTn id="114" presetID="14" presetClass="exit" presetSubtype="10" fill="hold" grpId="1" nodeType="withEffect">
                                  <p:stCondLst>
                                    <p:cond delay="0"/>
                                  </p:stCondLst>
                                  <p:childTnLst>
                                    <p:animEffect transition="out" filter="randombar(horizontal)">
                                      <p:cBhvr>
                                        <p:cTn id="115" dur="500"/>
                                        <p:tgtEl>
                                          <p:spTgt spid="35"/>
                                        </p:tgtEl>
                                      </p:cBhvr>
                                    </p:animEffect>
                                    <p:set>
                                      <p:cBhvr>
                                        <p:cTn id="116" dur="1" fill="hold">
                                          <p:stCondLst>
                                            <p:cond delay="499"/>
                                          </p:stCondLst>
                                        </p:cTn>
                                        <p:tgtEl>
                                          <p:spTgt spid="35"/>
                                        </p:tgtEl>
                                        <p:attrNameLst>
                                          <p:attrName>style.visibility</p:attrName>
                                        </p:attrNameLst>
                                      </p:cBhvr>
                                      <p:to>
                                        <p:strVal val="hidden"/>
                                      </p:to>
                                    </p:set>
                                  </p:childTnLst>
                                </p:cTn>
                              </p:par>
                              <p:par>
                                <p:cTn id="117" presetID="14" presetClass="exit" presetSubtype="10" fill="hold" grpId="1" nodeType="withEffect">
                                  <p:stCondLst>
                                    <p:cond delay="0"/>
                                  </p:stCondLst>
                                  <p:childTnLst>
                                    <p:animEffect transition="out" filter="randombar(horizontal)">
                                      <p:cBhvr>
                                        <p:cTn id="118" dur="500"/>
                                        <p:tgtEl>
                                          <p:spTgt spid="36"/>
                                        </p:tgtEl>
                                      </p:cBhvr>
                                    </p:animEffect>
                                    <p:set>
                                      <p:cBhvr>
                                        <p:cTn id="119" dur="1" fill="hold">
                                          <p:stCondLst>
                                            <p:cond delay="499"/>
                                          </p:stCondLst>
                                        </p:cTn>
                                        <p:tgtEl>
                                          <p:spTgt spid="36"/>
                                        </p:tgtEl>
                                        <p:attrNameLst>
                                          <p:attrName>style.visibility</p:attrName>
                                        </p:attrNameLst>
                                      </p:cBhvr>
                                      <p:to>
                                        <p:strVal val="hidden"/>
                                      </p:to>
                                    </p:set>
                                  </p:childTnLst>
                                </p:cTn>
                              </p:par>
                            </p:childTnLst>
                          </p:cTn>
                        </p:par>
                        <p:par>
                          <p:cTn id="120" fill="hold">
                            <p:stCondLst>
                              <p:cond delay="500"/>
                            </p:stCondLst>
                            <p:childTnLst>
                              <p:par>
                                <p:cTn id="121" presetID="22" presetClass="entr" presetSubtype="4" fill="hold" grpId="0" nodeType="after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wipe(down)">
                                      <p:cBhvr>
                                        <p:cTn id="123" dur="500"/>
                                        <p:tgtEl>
                                          <p:spTgt spid="37"/>
                                        </p:tgtEl>
                                      </p:cBhvr>
                                    </p:animEffect>
                                  </p:childTnLst>
                                </p:cTn>
                              </p:par>
                              <p:par>
                                <p:cTn id="124" presetID="22" presetClass="entr" presetSubtype="4" fill="hold" nodeType="with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wipe(down)">
                                      <p:cBhvr>
                                        <p:cTn id="126" dur="500"/>
                                        <p:tgtEl>
                                          <p:spTgt spid="38"/>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wipe(down)">
                                      <p:cBhvr>
                                        <p:cTn id="129" dur="500"/>
                                        <p:tgtEl>
                                          <p:spTgt spid="39"/>
                                        </p:tgtEl>
                                      </p:cBhvr>
                                    </p:animEffect>
                                  </p:childTnLst>
                                </p:cTn>
                              </p:par>
                            </p:childTnLst>
                          </p:cTn>
                        </p:par>
                        <p:par>
                          <p:cTn id="130" fill="hold">
                            <p:stCondLst>
                              <p:cond delay="1000"/>
                            </p:stCondLst>
                            <p:childTnLst>
                              <p:par>
                                <p:cTn id="131" presetID="22" presetClass="entr" presetSubtype="4" fill="hold" grpId="0" nodeType="afterEffect">
                                  <p:stCondLst>
                                    <p:cond delay="0"/>
                                  </p:stCondLst>
                                  <p:childTnLst>
                                    <p:set>
                                      <p:cBhvr>
                                        <p:cTn id="132" dur="1" fill="hold">
                                          <p:stCondLst>
                                            <p:cond delay="0"/>
                                          </p:stCondLst>
                                        </p:cTn>
                                        <p:tgtEl>
                                          <p:spTgt spid="40"/>
                                        </p:tgtEl>
                                        <p:attrNameLst>
                                          <p:attrName>style.visibility</p:attrName>
                                        </p:attrNameLst>
                                      </p:cBhvr>
                                      <p:to>
                                        <p:strVal val="visible"/>
                                      </p:to>
                                    </p:set>
                                    <p:animEffect transition="in" filter="wipe(down)">
                                      <p:cBhvr>
                                        <p:cTn id="133" dur="500"/>
                                        <p:tgtEl>
                                          <p:spTgt spid="40"/>
                                        </p:tgtEl>
                                      </p:cBhvr>
                                    </p:animEffect>
                                  </p:childTnLst>
                                </p:cTn>
                              </p:par>
                            </p:childTnLst>
                          </p:cTn>
                        </p:par>
                      </p:childTnLst>
                    </p:cTn>
                  </p:par>
                  <p:par>
                    <p:cTn id="134" fill="hold">
                      <p:stCondLst>
                        <p:cond delay="indefinite"/>
                      </p:stCondLst>
                      <p:childTnLst>
                        <p:par>
                          <p:cTn id="135" fill="hold">
                            <p:stCondLst>
                              <p:cond delay="0"/>
                            </p:stCondLst>
                            <p:childTnLst>
                              <p:par>
                                <p:cTn id="136" presetID="14" presetClass="exit" presetSubtype="10" fill="hold" grpId="1" nodeType="clickEffect">
                                  <p:stCondLst>
                                    <p:cond delay="0"/>
                                  </p:stCondLst>
                                  <p:childTnLst>
                                    <p:animEffect transition="out" filter="randombar(horizontal)">
                                      <p:cBhvr>
                                        <p:cTn id="137" dur="500"/>
                                        <p:tgtEl>
                                          <p:spTgt spid="37"/>
                                        </p:tgtEl>
                                      </p:cBhvr>
                                    </p:animEffect>
                                    <p:set>
                                      <p:cBhvr>
                                        <p:cTn id="138" dur="1" fill="hold">
                                          <p:stCondLst>
                                            <p:cond delay="499"/>
                                          </p:stCondLst>
                                        </p:cTn>
                                        <p:tgtEl>
                                          <p:spTgt spid="37"/>
                                        </p:tgtEl>
                                        <p:attrNameLst>
                                          <p:attrName>style.visibility</p:attrName>
                                        </p:attrNameLst>
                                      </p:cBhvr>
                                      <p:to>
                                        <p:strVal val="hidden"/>
                                      </p:to>
                                    </p:set>
                                  </p:childTnLst>
                                </p:cTn>
                              </p:par>
                              <p:par>
                                <p:cTn id="139" presetID="14" presetClass="exit" presetSubtype="10" fill="hold" nodeType="withEffect">
                                  <p:stCondLst>
                                    <p:cond delay="0"/>
                                  </p:stCondLst>
                                  <p:childTnLst>
                                    <p:animEffect transition="out" filter="randombar(horizontal)">
                                      <p:cBhvr>
                                        <p:cTn id="140" dur="500"/>
                                        <p:tgtEl>
                                          <p:spTgt spid="38"/>
                                        </p:tgtEl>
                                      </p:cBhvr>
                                    </p:animEffect>
                                    <p:set>
                                      <p:cBhvr>
                                        <p:cTn id="141" dur="1" fill="hold">
                                          <p:stCondLst>
                                            <p:cond delay="499"/>
                                          </p:stCondLst>
                                        </p:cTn>
                                        <p:tgtEl>
                                          <p:spTgt spid="38"/>
                                        </p:tgtEl>
                                        <p:attrNameLst>
                                          <p:attrName>style.visibility</p:attrName>
                                        </p:attrNameLst>
                                      </p:cBhvr>
                                      <p:to>
                                        <p:strVal val="hidden"/>
                                      </p:to>
                                    </p:set>
                                  </p:childTnLst>
                                </p:cTn>
                              </p:par>
                              <p:par>
                                <p:cTn id="142" presetID="14" presetClass="exit" presetSubtype="10" fill="hold" grpId="1" nodeType="withEffect">
                                  <p:stCondLst>
                                    <p:cond delay="0"/>
                                  </p:stCondLst>
                                  <p:childTnLst>
                                    <p:animEffect transition="out" filter="randombar(horizontal)">
                                      <p:cBhvr>
                                        <p:cTn id="143" dur="500"/>
                                        <p:tgtEl>
                                          <p:spTgt spid="39"/>
                                        </p:tgtEl>
                                      </p:cBhvr>
                                    </p:animEffect>
                                    <p:set>
                                      <p:cBhvr>
                                        <p:cTn id="144" dur="1" fill="hold">
                                          <p:stCondLst>
                                            <p:cond delay="499"/>
                                          </p:stCondLst>
                                        </p:cTn>
                                        <p:tgtEl>
                                          <p:spTgt spid="39"/>
                                        </p:tgtEl>
                                        <p:attrNameLst>
                                          <p:attrName>style.visibility</p:attrName>
                                        </p:attrNameLst>
                                      </p:cBhvr>
                                      <p:to>
                                        <p:strVal val="hidden"/>
                                      </p:to>
                                    </p:set>
                                  </p:childTnLst>
                                </p:cTn>
                              </p:par>
                              <p:par>
                                <p:cTn id="145" presetID="14" presetClass="exit" presetSubtype="10" fill="hold" grpId="1" nodeType="withEffect">
                                  <p:stCondLst>
                                    <p:cond delay="0"/>
                                  </p:stCondLst>
                                  <p:childTnLst>
                                    <p:animEffect transition="out" filter="randombar(horizontal)">
                                      <p:cBhvr>
                                        <p:cTn id="146" dur="500"/>
                                        <p:tgtEl>
                                          <p:spTgt spid="40"/>
                                        </p:tgtEl>
                                      </p:cBhvr>
                                    </p:animEffect>
                                    <p:set>
                                      <p:cBhvr>
                                        <p:cTn id="147" dur="1" fill="hold">
                                          <p:stCondLst>
                                            <p:cond delay="499"/>
                                          </p:stCondLst>
                                        </p:cTn>
                                        <p:tgtEl>
                                          <p:spTgt spid="40"/>
                                        </p:tgtEl>
                                        <p:attrNameLst>
                                          <p:attrName>style.visibility</p:attrName>
                                        </p:attrNameLst>
                                      </p:cBhvr>
                                      <p:to>
                                        <p:strVal val="hidden"/>
                                      </p:to>
                                    </p:set>
                                  </p:childTnLst>
                                </p:cTn>
                              </p:par>
                            </p:childTnLst>
                          </p:cTn>
                        </p:par>
                        <p:par>
                          <p:cTn id="148" fill="hold">
                            <p:stCondLst>
                              <p:cond delay="500"/>
                            </p:stCondLst>
                            <p:childTnLst>
                              <p:par>
                                <p:cTn id="149" presetID="22" presetClass="entr" presetSubtype="4" fill="hold" grpId="0" nodeType="afterEffect">
                                  <p:stCondLst>
                                    <p:cond delay="0"/>
                                  </p:stCondLst>
                                  <p:childTnLst>
                                    <p:set>
                                      <p:cBhvr>
                                        <p:cTn id="150" dur="1" fill="hold">
                                          <p:stCondLst>
                                            <p:cond delay="0"/>
                                          </p:stCondLst>
                                        </p:cTn>
                                        <p:tgtEl>
                                          <p:spTgt spid="41"/>
                                        </p:tgtEl>
                                        <p:attrNameLst>
                                          <p:attrName>style.visibility</p:attrName>
                                        </p:attrNameLst>
                                      </p:cBhvr>
                                      <p:to>
                                        <p:strVal val="visible"/>
                                      </p:to>
                                    </p:set>
                                    <p:animEffect transition="in" filter="wipe(down)">
                                      <p:cBhvr>
                                        <p:cTn id="151" dur="500"/>
                                        <p:tgtEl>
                                          <p:spTgt spid="41"/>
                                        </p:tgtEl>
                                      </p:cBhvr>
                                    </p:animEffect>
                                  </p:childTnLst>
                                </p:cTn>
                              </p:par>
                              <p:par>
                                <p:cTn id="152" presetID="22" presetClass="entr" presetSubtype="4" fill="hold" nodeType="withEffect">
                                  <p:stCondLst>
                                    <p:cond delay="0"/>
                                  </p:stCondLst>
                                  <p:childTnLst>
                                    <p:set>
                                      <p:cBhvr>
                                        <p:cTn id="153" dur="1" fill="hold">
                                          <p:stCondLst>
                                            <p:cond delay="0"/>
                                          </p:stCondLst>
                                        </p:cTn>
                                        <p:tgtEl>
                                          <p:spTgt spid="42"/>
                                        </p:tgtEl>
                                        <p:attrNameLst>
                                          <p:attrName>style.visibility</p:attrName>
                                        </p:attrNameLst>
                                      </p:cBhvr>
                                      <p:to>
                                        <p:strVal val="visible"/>
                                      </p:to>
                                    </p:set>
                                    <p:animEffect transition="in" filter="wipe(down)">
                                      <p:cBhvr>
                                        <p:cTn id="154" dur="500"/>
                                        <p:tgtEl>
                                          <p:spTgt spid="42"/>
                                        </p:tgtEl>
                                      </p:cBhvr>
                                    </p:animEffect>
                                  </p:childTnLst>
                                </p:cTn>
                              </p:par>
                              <p:par>
                                <p:cTn id="155" presetID="22" presetClass="entr" presetSubtype="4"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Effect transition="in" filter="wipe(down)">
                                      <p:cBhvr>
                                        <p:cTn id="157" dur="500"/>
                                        <p:tgtEl>
                                          <p:spTgt spid="43"/>
                                        </p:tgtEl>
                                      </p:cBhvr>
                                    </p:animEffect>
                                  </p:childTnLst>
                                </p:cTn>
                              </p:par>
                            </p:childTnLst>
                          </p:cTn>
                        </p:par>
                        <p:par>
                          <p:cTn id="158" fill="hold">
                            <p:stCondLst>
                              <p:cond delay="1000"/>
                            </p:stCondLst>
                            <p:childTnLst>
                              <p:par>
                                <p:cTn id="159" presetID="22" presetClass="entr" presetSubtype="4" fill="hold" grpId="0" nodeType="afterEffect">
                                  <p:stCondLst>
                                    <p:cond delay="0"/>
                                  </p:stCondLst>
                                  <p:childTnLst>
                                    <p:set>
                                      <p:cBhvr>
                                        <p:cTn id="160" dur="1" fill="hold">
                                          <p:stCondLst>
                                            <p:cond delay="0"/>
                                          </p:stCondLst>
                                        </p:cTn>
                                        <p:tgtEl>
                                          <p:spTgt spid="44"/>
                                        </p:tgtEl>
                                        <p:attrNameLst>
                                          <p:attrName>style.visibility</p:attrName>
                                        </p:attrNameLst>
                                      </p:cBhvr>
                                      <p:to>
                                        <p:strVal val="visible"/>
                                      </p:to>
                                    </p:set>
                                    <p:animEffect transition="in" filter="wipe(down)">
                                      <p:cBhvr>
                                        <p:cTn id="161" dur="500"/>
                                        <p:tgtEl>
                                          <p:spTgt spid="44"/>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4" fill="hold" grpId="0" nodeType="clickEffect">
                                  <p:stCondLst>
                                    <p:cond delay="0"/>
                                  </p:stCondLst>
                                  <p:childTnLst>
                                    <p:set>
                                      <p:cBhvr>
                                        <p:cTn id="165" dur="1" fill="hold">
                                          <p:stCondLst>
                                            <p:cond delay="0"/>
                                          </p:stCondLst>
                                        </p:cTn>
                                        <p:tgtEl>
                                          <p:spTgt spid="45"/>
                                        </p:tgtEl>
                                        <p:attrNameLst>
                                          <p:attrName>style.visibility</p:attrName>
                                        </p:attrNameLst>
                                      </p:cBhvr>
                                      <p:to>
                                        <p:strVal val="visible"/>
                                      </p:to>
                                    </p:set>
                                    <p:animEffect transition="in" filter="wipe(down)">
                                      <p:cBhvr>
                                        <p:cTn id="16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 grpId="0" animBg="1"/>
      <p:bldP spid="4" grpId="1" animBg="1"/>
      <p:bldP spid="14" grpId="0" animBg="1"/>
      <p:bldP spid="14" grpId="1" animBg="1"/>
      <p:bldP spid="15" grpId="0" animBg="1"/>
      <p:bldP spid="15" grpId="1" animBg="1"/>
      <p:bldP spid="17" grpId="0" animBg="1"/>
      <p:bldP spid="17" grpId="1" animBg="1"/>
      <p:bldP spid="22" grpId="0" animBg="1"/>
      <p:bldP spid="22" grpId="1" animBg="1"/>
      <p:bldP spid="24" grpId="0" animBg="1"/>
      <p:bldP spid="24" grpId="1" animBg="1"/>
      <p:bldP spid="6" grpId="0" animBg="1"/>
      <p:bldP spid="6" grpId="1" animBg="1"/>
      <p:bldP spid="27" grpId="0" animBg="1"/>
      <p:bldP spid="27" grpId="1" animBg="1"/>
      <p:bldP spid="28" grpId="0" animBg="1"/>
      <p:bldP spid="28" grpId="1" animBg="1"/>
      <p:bldP spid="33" grpId="0" animBg="1"/>
      <p:bldP spid="33" grpId="1" animBg="1"/>
      <p:bldP spid="35" grpId="0" animBg="1"/>
      <p:bldP spid="35" grpId="1" animBg="1"/>
      <p:bldP spid="36" grpId="0" animBg="1"/>
      <p:bldP spid="36" grpId="1" animBg="1"/>
      <p:bldP spid="37" grpId="0" animBg="1"/>
      <p:bldP spid="37" grpId="1" animBg="1"/>
      <p:bldP spid="39" grpId="0" animBg="1"/>
      <p:bldP spid="39" grpId="1" animBg="1"/>
      <p:bldP spid="40" grpId="0" animBg="1"/>
      <p:bldP spid="40" grpId="1" animBg="1"/>
      <p:bldP spid="41" grpId="0" animBg="1"/>
      <p:bldP spid="43" grpId="0" animBg="1"/>
      <p:bldP spid="44" grpId="0" animBg="1"/>
      <p:bldP spid="4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1043608" y="260648"/>
            <a:ext cx="7200800" cy="648072"/>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ctr">
              <a:defRPr/>
            </a:pPr>
            <a:r>
              <a:rPr lang="uz-Cyrl-UZ" b="1" dirty="0">
                <a:solidFill>
                  <a:srgbClr val="002060"/>
                </a:solidFill>
                <a:latin typeface="Times New Roman" pitchFamily="18" charset="0"/>
                <a:cs typeface="Times New Roman" pitchFamily="18" charset="0"/>
              </a:rPr>
              <a:t>Регистр узунлигининг криптотаҳлил ўтказиш учун талаб қилинган вақт ва хотирага таъсири </a:t>
            </a:r>
            <a:endParaRPr lang="ru-RU" dirty="0">
              <a:solidFill>
                <a:srgbClr val="002060"/>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2886700375"/>
              </p:ext>
            </p:extLst>
          </p:nvPr>
        </p:nvGraphicFramePr>
        <p:xfrm>
          <a:off x="755577" y="1052736"/>
          <a:ext cx="7704856" cy="5544621"/>
        </p:xfrm>
        <a:graphic>
          <a:graphicData uri="http://schemas.openxmlformats.org/drawingml/2006/table">
            <a:tbl>
              <a:tblPr firstRow="1" firstCol="1" bandRow="1">
                <a:tableStyleId>{5C22544A-7EE6-4342-B048-85BDC9FD1C3A}</a:tableStyleId>
              </a:tblPr>
              <a:tblGrid>
                <a:gridCol w="1925611"/>
                <a:gridCol w="1926415"/>
                <a:gridCol w="1926415"/>
                <a:gridCol w="1926415"/>
              </a:tblGrid>
              <a:tr h="670038">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Генераторнинг битта регистри узунлиги</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Криптотаҳлилда фойдаланилган гамма узунлиги</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Криптотаҳлилни амалга ошириш учун кетган вақт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Криптотаҳлилни амалга ошириш учун зарур бўлган хотира</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3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12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18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4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16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48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5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20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90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6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24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200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7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28 бит</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468 Байт</a:t>
                      </a:r>
                      <a:endParaRPr lang="ru-RU" sz="1200" b="1">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8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32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3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1124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9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36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5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2404 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10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40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8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6 КБайт</a:t>
                      </a:r>
                      <a:endParaRPr lang="ru-RU" sz="1200" b="1">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11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44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13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12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48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20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25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13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52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30 сек</a:t>
                      </a:r>
                      <a:endParaRPr lang="ru-RU" sz="1200" b="1" dirty="0">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54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14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56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45 сек</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115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15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60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 мин 10 сек</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244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16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64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3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516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17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68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7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1100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18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72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13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2400 КБайт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19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76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32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5 МБайт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20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80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1 соат 25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11 МБайт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21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84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3 соат 20 мин</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22 МБайт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22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88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9 соат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46 МБайт</a:t>
                      </a:r>
                      <a:endParaRPr lang="ru-RU" sz="1200" b="1" dirty="0">
                        <a:effectLst/>
                        <a:latin typeface="Times New Roman" pitchFamily="18" charset="0"/>
                        <a:ea typeface="Times New Roman"/>
                        <a:cs typeface="Times New Roman" pitchFamily="18" charset="0"/>
                      </a:endParaRPr>
                    </a:p>
                  </a:txBody>
                  <a:tcPr marL="61494" marR="61494" marT="0" marB="0"/>
                </a:tc>
              </a:tr>
              <a:tr h="232123">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23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92 бит</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21 соат </a:t>
                      </a:r>
                      <a:endParaRPr lang="ru-RU" sz="1200" b="1">
                        <a:effectLst/>
                        <a:latin typeface="Times New Roman" pitchFamily="18" charset="0"/>
                        <a:ea typeface="Times New Roman"/>
                        <a:cs typeface="Times New Roman" pitchFamily="18" charset="0"/>
                      </a:endParaRPr>
                    </a:p>
                  </a:txBody>
                  <a:tcPr marL="61494" marR="6149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94 МБайт</a:t>
                      </a:r>
                      <a:endParaRPr lang="ru-RU" sz="1200" b="1" dirty="0">
                        <a:effectLst/>
                        <a:latin typeface="Times New Roman" pitchFamily="18" charset="0"/>
                        <a:ea typeface="Times New Roman"/>
                        <a:cs typeface="Times New Roman" pitchFamily="18" charset="0"/>
                      </a:endParaRPr>
                    </a:p>
                  </a:txBody>
                  <a:tcPr marL="61494" marR="61494" marT="0" marB="0"/>
                </a:tc>
              </a:tr>
            </a:tbl>
          </a:graphicData>
        </a:graphic>
      </p:graphicFrame>
    </p:spTree>
    <p:extLst>
      <p:ext uri="{BB962C8B-B14F-4D97-AF65-F5344CB8AC3E}">
        <p14:creationId xmlns:p14="http://schemas.microsoft.com/office/powerpoint/2010/main" val="278433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1043608" y="332656"/>
            <a:ext cx="7200800" cy="504056"/>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just">
              <a:defRPr/>
            </a:pPr>
            <a:r>
              <a:rPr lang="uz-Cyrl-UZ" b="1" dirty="0">
                <a:solidFill>
                  <a:srgbClr val="002060"/>
                </a:solidFill>
                <a:latin typeface="Times New Roman" pitchFamily="18" charset="0"/>
                <a:cs typeface="Times New Roman" pitchFamily="18" charset="0"/>
              </a:rPr>
              <a:t>А5 алгоритмига нисбатан корреляцион криптотаҳлил натижалари</a:t>
            </a:r>
            <a:endParaRPr lang="ru-RU" dirty="0">
              <a:solidFill>
                <a:srgbClr val="002060"/>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3" name="Таблица 2"/>
          <p:cNvGraphicFramePr>
            <a:graphicFrameLocks noGrp="1"/>
          </p:cNvGraphicFramePr>
          <p:nvPr>
            <p:extLst>
              <p:ext uri="{D42A27DB-BD31-4B8C-83A1-F6EECF244321}">
                <p14:modId xmlns:p14="http://schemas.microsoft.com/office/powerpoint/2010/main" val="1233640116"/>
              </p:ext>
            </p:extLst>
          </p:nvPr>
        </p:nvGraphicFramePr>
        <p:xfrm>
          <a:off x="611562" y="980727"/>
          <a:ext cx="7920881" cy="5616625"/>
        </p:xfrm>
        <a:graphic>
          <a:graphicData uri="http://schemas.openxmlformats.org/drawingml/2006/table">
            <a:tbl>
              <a:tblPr firstRow="1" firstCol="1" bandRow="1">
                <a:tableStyleId>{5C22544A-7EE6-4342-B048-85BDC9FD1C3A}</a:tableStyleId>
              </a:tblPr>
              <a:tblGrid>
                <a:gridCol w="1770983"/>
                <a:gridCol w="1357529"/>
                <a:gridCol w="1365900"/>
                <a:gridCol w="1235336"/>
                <a:gridCol w="1173770"/>
                <a:gridCol w="1017363"/>
              </a:tblGrid>
              <a:tr h="994987">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Комбинацияловчи функция</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uz-Cyrl-UZ" sz="1200" b="1" dirty="0">
                          <a:effectLst/>
                          <a:latin typeface="Times New Roman" pitchFamily="18" charset="0"/>
                          <a:cs typeface="Times New Roman" pitchFamily="18" charset="0"/>
                        </a:rPr>
                        <a:t>Функциянинг корреляцион иммунистлик даражаси</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Функциянинг чизиқсизлик даражаси</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Алгоритм регистрлари чиқишига мос статаналоги</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uz-Cyrl-UZ" sz="1200" b="1" dirty="0" smtClean="0">
                          <a:effectLst/>
                          <a:latin typeface="Times New Roman" pitchFamily="18" charset="0"/>
                          <a:cs typeface="Times New Roman" pitchFamily="18" charset="0"/>
                        </a:rPr>
                        <a:t>Статаналог</a:t>
                      </a:r>
                      <a:r>
                        <a:rPr lang="en-US" sz="1200" b="1" dirty="0" smtClean="0">
                          <a:effectLst/>
                          <a:latin typeface="Times New Roman" pitchFamily="18" charset="0"/>
                          <a:cs typeface="Times New Roman" pitchFamily="18" charset="0"/>
                        </a:rPr>
                        <a:t>-</a:t>
                      </a:r>
                      <a:r>
                        <a:rPr lang="uz-Cyrl-UZ" sz="1200" b="1" dirty="0" smtClean="0">
                          <a:effectLst/>
                          <a:latin typeface="Times New Roman" pitchFamily="18" charset="0"/>
                          <a:cs typeface="Times New Roman" pitchFamily="18" charset="0"/>
                        </a:rPr>
                        <a:t>нинг </a:t>
                      </a:r>
                      <a:r>
                        <a:rPr lang="uz-Cyrl-UZ" sz="1200" b="1" dirty="0">
                          <a:effectLst/>
                          <a:latin typeface="Times New Roman" pitchFamily="18" charset="0"/>
                          <a:cs typeface="Times New Roman" pitchFamily="18" charset="0"/>
                        </a:rPr>
                        <a:t>мослик </a:t>
                      </a:r>
                      <a:r>
                        <a:rPr lang="uz-Cyrl-UZ" sz="1200" b="1" dirty="0" smtClean="0">
                          <a:effectLst/>
                          <a:latin typeface="Times New Roman" pitchFamily="18" charset="0"/>
                          <a:cs typeface="Times New Roman" pitchFamily="18" charset="0"/>
                        </a:rPr>
                        <a:t>эҳтимоллиги</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uz-Cyrl-UZ" sz="1200" b="1">
                          <a:effectLst/>
                          <a:latin typeface="Times New Roman" pitchFamily="18" charset="0"/>
                          <a:cs typeface="Times New Roman" pitchFamily="18" charset="0"/>
                        </a:rPr>
                        <a:t>Крипто-таҳлил мураккаб-лиги</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x2 +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64</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 + 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42</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x1x3 + 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x3</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41</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x1x3 + x1x2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45</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x2 + x1x3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42</a:t>
                      </a:r>
                      <a:endParaRPr lang="ru-RU" sz="1200" b="1" dirty="0">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x2 + 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x1</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45</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x3 + x1x2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x3</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41</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x3 + 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x1</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45</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 + x3 + x1x2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x2</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42</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 + x3 + x1x3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41</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 x1x2x3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0,875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45</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 + x1x2x3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0,875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42</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x3 + x1x2x3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0,875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41</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x1+x2+x3+x1x2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0,25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41</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x1+x2+x3+x1x3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0,25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r>
                        <a:rPr lang="en-US" sz="1200" b="1" baseline="30000">
                          <a:effectLst/>
                          <a:latin typeface="Times New Roman" pitchFamily="18" charset="0"/>
                          <a:cs typeface="Times New Roman" pitchFamily="18" charset="0"/>
                        </a:rPr>
                        <a:t>42</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x1+x2+x3+x2x3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0,25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45</a:t>
                      </a:r>
                      <a:endParaRPr lang="ru-RU" sz="1200" b="1" dirty="0">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 x2x3+x1x3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x2,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a:t>
                      </a:r>
                      <a:endParaRPr lang="ru-RU" sz="1200" b="1">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 x2x3+x1</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0,75</a:t>
                      </a:r>
                      <a:endParaRPr lang="ru-RU" sz="1200" b="1" dirty="0">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22</a:t>
                      </a:r>
                      <a:endParaRPr lang="ru-RU" sz="1200" b="1" dirty="0">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 x2x3+x2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42</a:t>
                      </a:r>
                      <a:endParaRPr lang="ru-RU" sz="1200" b="1" dirty="0">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x1x2+ x2x3+x3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22</a:t>
                      </a:r>
                      <a:endParaRPr lang="ru-RU" sz="1200" b="1" dirty="0">
                        <a:effectLst/>
                        <a:latin typeface="Times New Roman" pitchFamily="18" charset="0"/>
                        <a:ea typeface="Times New Roman"/>
                        <a:cs typeface="Times New Roman" pitchFamily="18" charset="0"/>
                      </a:endParaRPr>
                    </a:p>
                  </a:txBody>
                  <a:tcPr marL="56764" marR="56764" marT="0" marB="0"/>
                </a:tc>
              </a:tr>
              <a:tr h="220078">
                <a:tc>
                  <a:txBody>
                    <a:bodyPr/>
                    <a:lstStyle/>
                    <a:p>
                      <a:pPr algn="ctr">
                        <a:lnSpc>
                          <a:spcPct val="115000"/>
                        </a:lnSpc>
                        <a:spcBef>
                          <a:spcPts val="300"/>
                        </a:spcBef>
                        <a:spcAft>
                          <a:spcPts val="300"/>
                        </a:spcAft>
                      </a:pPr>
                      <a:r>
                        <a:rPr lang="ru-RU" sz="1200" b="1">
                          <a:effectLst/>
                          <a:latin typeface="Times New Roman" pitchFamily="18" charset="0"/>
                          <a:cs typeface="Times New Roman" pitchFamily="18" charset="0"/>
                        </a:rPr>
                        <a:t>x1x2</a:t>
                      </a:r>
                      <a:r>
                        <a:rPr lang="en-US" sz="1200" b="1">
                          <a:effectLst/>
                          <a:latin typeface="Times New Roman" pitchFamily="18" charset="0"/>
                          <a:cs typeface="Times New Roman" pitchFamily="18" charset="0"/>
                        </a:rPr>
                        <a:t> + </a:t>
                      </a:r>
                      <a:r>
                        <a:rPr lang="ru-RU" sz="1200" b="1">
                          <a:effectLst/>
                          <a:latin typeface="Times New Roman" pitchFamily="18" charset="0"/>
                          <a:cs typeface="Times New Roman" pitchFamily="18" charset="0"/>
                        </a:rPr>
                        <a:t>(</a:t>
                      </a:r>
                      <a:r>
                        <a:rPr lang="en-US" sz="1200" b="1">
                          <a:effectLst/>
                          <a:latin typeface="Times New Roman" pitchFamily="18" charset="0"/>
                          <a:cs typeface="Times New Roman" pitchFamily="18" charset="0"/>
                        </a:rPr>
                        <a:t>┐</a:t>
                      </a:r>
                      <a:r>
                        <a:rPr lang="ru-RU" sz="1200" b="1">
                          <a:effectLst/>
                          <a:latin typeface="Times New Roman" pitchFamily="18" charset="0"/>
                          <a:cs typeface="Times New Roman" pitchFamily="18" charset="0"/>
                        </a:rPr>
                        <a:t>x2)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2</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x1, x3</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a:effectLst/>
                          <a:latin typeface="Times New Roman" pitchFamily="18" charset="0"/>
                          <a:cs typeface="Times New Roman" pitchFamily="18" charset="0"/>
                        </a:rPr>
                        <a:t>0,75</a:t>
                      </a:r>
                      <a:endParaRPr lang="ru-RU" sz="1200" b="1">
                        <a:effectLst/>
                        <a:latin typeface="Times New Roman" pitchFamily="18" charset="0"/>
                        <a:ea typeface="Times New Roman"/>
                        <a:cs typeface="Times New Roman" pitchFamily="18" charset="0"/>
                      </a:endParaRPr>
                    </a:p>
                  </a:txBody>
                  <a:tcPr marL="56764" marR="56764" marT="0" marB="0"/>
                </a:tc>
                <a:tc>
                  <a:txBody>
                    <a:bodyPr/>
                    <a:lstStyle/>
                    <a:p>
                      <a:pPr algn="ctr">
                        <a:lnSpc>
                          <a:spcPct val="115000"/>
                        </a:lnSpc>
                        <a:spcBef>
                          <a:spcPts val="300"/>
                        </a:spcBef>
                        <a:spcAft>
                          <a:spcPts val="300"/>
                        </a:spcAft>
                      </a:pPr>
                      <a:r>
                        <a:rPr lang="en-US" sz="1200" b="1" dirty="0">
                          <a:effectLst/>
                          <a:latin typeface="Times New Roman" pitchFamily="18" charset="0"/>
                          <a:cs typeface="Times New Roman" pitchFamily="18" charset="0"/>
                        </a:rPr>
                        <a:t>2</a:t>
                      </a:r>
                      <a:r>
                        <a:rPr lang="en-US" sz="1200" b="1" baseline="30000" dirty="0">
                          <a:effectLst/>
                          <a:latin typeface="Times New Roman" pitchFamily="18" charset="0"/>
                          <a:cs typeface="Times New Roman" pitchFamily="18" charset="0"/>
                        </a:rPr>
                        <a:t>22</a:t>
                      </a:r>
                      <a:endParaRPr lang="ru-RU" sz="1200" b="1" dirty="0">
                        <a:effectLst/>
                        <a:latin typeface="Times New Roman" pitchFamily="18" charset="0"/>
                        <a:ea typeface="Times New Roman"/>
                        <a:cs typeface="Times New Roman" pitchFamily="18" charset="0"/>
                      </a:endParaRPr>
                    </a:p>
                  </a:txBody>
                  <a:tcPr marL="56764" marR="56764" marT="0" marB="0"/>
                </a:tc>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2130640812"/>
              </p:ext>
            </p:extLst>
          </p:nvPr>
        </p:nvGraphicFramePr>
        <p:xfrm>
          <a:off x="610838" y="2276872"/>
          <a:ext cx="7920880" cy="3429000"/>
        </p:xfrm>
        <a:graphic>
          <a:graphicData uri="http://schemas.openxmlformats.org/drawingml/2006/table">
            <a:tbl>
              <a:tblPr firstRow="1" firstCol="1" bandRow="1">
                <a:tableStyleId>{5C22544A-7EE6-4342-B048-85BDC9FD1C3A}</a:tableStyleId>
              </a:tblPr>
              <a:tblGrid>
                <a:gridCol w="1584176"/>
                <a:gridCol w="1368152"/>
                <a:gridCol w="1224136"/>
                <a:gridCol w="1008112"/>
                <a:gridCol w="2736304"/>
              </a:tblGrid>
              <a:tr h="548640">
                <a:tc>
                  <a:txBody>
                    <a:bodyPr/>
                    <a:lstStyle/>
                    <a:p>
                      <a:pPr algn="ctr">
                        <a:lnSpc>
                          <a:spcPct val="100000"/>
                        </a:lnSpc>
                        <a:spcBef>
                          <a:spcPts val="600"/>
                        </a:spcBef>
                        <a:spcAft>
                          <a:spcPts val="0"/>
                        </a:spcAft>
                        <a:tabLst>
                          <a:tab pos="450215" algn="l"/>
                        </a:tabLst>
                      </a:pPr>
                      <a:r>
                        <a:rPr lang="uz-Cyrl-UZ" sz="1400" b="1" dirty="0">
                          <a:effectLst/>
                          <a:latin typeface="Times New Roman" pitchFamily="18" charset="0"/>
                          <a:cs typeface="Times New Roman" pitchFamily="18" charset="0"/>
                        </a:rPr>
                        <a:t>Функция</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tabLst>
                          <a:tab pos="450215" algn="l"/>
                        </a:tabLst>
                      </a:pPr>
                      <a:r>
                        <a:rPr lang="uz-Cyrl-UZ" sz="1400" b="1" dirty="0">
                          <a:effectLst/>
                          <a:latin typeface="Times New Roman" pitchFamily="18" charset="0"/>
                          <a:cs typeface="Times New Roman" pitchFamily="18" charset="0"/>
                        </a:rPr>
                        <a:t>Иммунистлик даражаси</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tabLst>
                          <a:tab pos="450215" algn="l"/>
                        </a:tabLst>
                      </a:pPr>
                      <a:r>
                        <a:rPr lang="uz-Cyrl-UZ" sz="1400" b="1" dirty="0">
                          <a:effectLst/>
                          <a:latin typeface="Times New Roman" pitchFamily="18" charset="0"/>
                          <a:cs typeface="Times New Roman" pitchFamily="18" charset="0"/>
                        </a:rPr>
                        <a:t>Чизиқсизлик даражаси</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tabLst>
                          <a:tab pos="450215" algn="l"/>
                        </a:tabLst>
                      </a:pPr>
                      <a:r>
                        <a:rPr lang="uz-Cyrl-UZ" sz="1400" b="1" dirty="0">
                          <a:effectLst/>
                          <a:latin typeface="Times New Roman" pitchFamily="18" charset="0"/>
                          <a:cs typeface="Times New Roman" pitchFamily="18" charset="0"/>
                        </a:rPr>
                        <a:t>Кетган вақт</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tabLst>
                          <a:tab pos="450215" algn="l"/>
                        </a:tabLst>
                      </a:pPr>
                      <a:r>
                        <a:rPr lang="uz-Cyrl-UZ" sz="1400" b="1" dirty="0">
                          <a:effectLst/>
                          <a:latin typeface="Times New Roman" pitchFamily="18" charset="0"/>
                          <a:cs typeface="Times New Roman" pitchFamily="18" charset="0"/>
                        </a:rPr>
                        <a:t>Топилган калит</a:t>
                      </a:r>
                      <a:endParaRPr lang="ru-RU" sz="1400" b="1" dirty="0">
                        <a:effectLst/>
                        <a:latin typeface="Times New Roman" pitchFamily="18" charset="0"/>
                        <a:ea typeface="Times New Roman"/>
                        <a:cs typeface="Times New Roman" pitchFamily="18" charset="0"/>
                      </a:endParaRPr>
                    </a:p>
                  </a:txBody>
                  <a:tcPr marL="68580" marR="68580" marT="0" marB="0"/>
                </a:tc>
              </a:tr>
              <a:tr h="675497">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f(x)= x</a:t>
                      </a:r>
                      <a:r>
                        <a:rPr lang="uz-Cyrl-UZ" sz="1400" b="1" baseline="-25000">
                          <a:effectLst/>
                          <a:latin typeface="Times New Roman" pitchFamily="18" charset="0"/>
                          <a:cs typeface="Times New Roman" pitchFamily="18" charset="0"/>
                        </a:rPr>
                        <a:t>1</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 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3</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1</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0</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2</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20 соат</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10111010011010011101100100010101010111101000101011001010100011010</a:t>
                      </a:r>
                      <a:endParaRPr lang="ru-RU" sz="1400" b="1" dirty="0">
                        <a:effectLst/>
                        <a:latin typeface="Times New Roman" pitchFamily="18" charset="0"/>
                        <a:ea typeface="Times New Roman"/>
                        <a:cs typeface="Times New Roman" pitchFamily="18" charset="0"/>
                      </a:endParaRPr>
                    </a:p>
                  </a:txBody>
                  <a:tcPr marL="68580" marR="68580" marT="0" marB="0"/>
                </a:tc>
              </a:tr>
              <a:tr h="648072">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f(x)= x</a:t>
                      </a:r>
                      <a:r>
                        <a:rPr lang="uz-Cyrl-UZ" sz="1400" b="1" baseline="-25000">
                          <a:effectLst/>
                          <a:latin typeface="Times New Roman" pitchFamily="18" charset="0"/>
                          <a:cs typeface="Times New Roman" pitchFamily="18" charset="0"/>
                        </a:rPr>
                        <a:t>1</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 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3</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3</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0</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2</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20 соат</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smtClean="0">
                          <a:effectLst/>
                          <a:latin typeface="Times New Roman" pitchFamily="18" charset="0"/>
                          <a:cs typeface="Times New Roman" pitchFamily="18" charset="0"/>
                        </a:rPr>
                        <a:t>10101010111010010101101101000110101100010110010101001101010011101</a:t>
                      </a:r>
                      <a:endParaRPr lang="ru-RU" sz="1400" b="1" dirty="0">
                        <a:effectLst/>
                        <a:latin typeface="Times New Roman" pitchFamily="18" charset="0"/>
                        <a:ea typeface="Times New Roman"/>
                        <a:cs typeface="Times New Roman" pitchFamily="18" charset="0"/>
                      </a:endParaRPr>
                    </a:p>
                  </a:txBody>
                  <a:tcPr marL="68580" marR="68580" marT="0" marB="0"/>
                </a:tc>
              </a:tr>
              <a:tr h="648072">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f(x)= x</a:t>
                      </a:r>
                      <a:r>
                        <a:rPr lang="uz-Cyrl-UZ" sz="1400" b="1" baseline="-25000">
                          <a:effectLst/>
                          <a:latin typeface="Times New Roman" pitchFamily="18" charset="0"/>
                          <a:cs typeface="Times New Roman" pitchFamily="18" charset="0"/>
                        </a:rPr>
                        <a:t>1</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+(┐x</a:t>
                      </a:r>
                      <a:r>
                        <a:rPr lang="uz-Cyrl-UZ" sz="1400" b="1" baseline="-25000">
                          <a:effectLst/>
                          <a:latin typeface="Times New Roman" pitchFamily="18" charset="0"/>
                          <a:cs typeface="Times New Roman" pitchFamily="18" charset="0"/>
                        </a:rPr>
                        <a:t>2</a:t>
                      </a:r>
                      <a:r>
                        <a:rPr lang="uz-Cyrl-UZ" sz="1400" b="1">
                          <a:effectLst/>
                          <a:latin typeface="Times New Roman" pitchFamily="18" charset="0"/>
                          <a:cs typeface="Times New Roman" pitchFamily="18" charset="0"/>
                        </a:rPr>
                        <a:t>) x</a:t>
                      </a:r>
                      <a:r>
                        <a:rPr lang="uz-Cyrl-UZ" sz="1400" b="1" baseline="-25000">
                          <a:effectLst/>
                          <a:latin typeface="Times New Roman" pitchFamily="18" charset="0"/>
                          <a:cs typeface="Times New Roman" pitchFamily="18" charset="0"/>
                        </a:rPr>
                        <a:t>3</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0</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2</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a:effectLst/>
                          <a:latin typeface="Times New Roman" pitchFamily="18" charset="0"/>
                          <a:cs typeface="Times New Roman" pitchFamily="18" charset="0"/>
                        </a:rPr>
                        <a:t>20 соат</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Aft>
                          <a:spcPts val="0"/>
                        </a:spcAft>
                        <a:tabLst>
                          <a:tab pos="450215" algn="l"/>
                        </a:tabLst>
                      </a:pPr>
                      <a:r>
                        <a:rPr lang="uz-Cyrl-UZ" sz="1400" b="1" dirty="0">
                          <a:effectLst/>
                          <a:latin typeface="Times New Roman" pitchFamily="18" charset="0"/>
                          <a:cs typeface="Times New Roman" pitchFamily="18" charset="0"/>
                        </a:rPr>
                        <a:t>11001011011010010101100001101011000100010110101010010110100100100</a:t>
                      </a:r>
                      <a:endParaRPr lang="ru-RU" sz="1400" b="1" dirty="0">
                        <a:effectLst/>
                        <a:latin typeface="Times New Roman" pitchFamily="18" charset="0"/>
                        <a:ea typeface="Times New Roman"/>
                        <a:cs typeface="Times New Roman" pitchFamily="18" charset="0"/>
                      </a:endParaRPr>
                    </a:p>
                  </a:txBody>
                  <a:tcPr marL="68580" marR="68580" marT="0" marB="0"/>
                </a:tc>
              </a:tr>
            </a:tbl>
          </a:graphicData>
        </a:graphic>
      </p:graphicFrame>
    </p:spTree>
    <p:extLst>
      <p:ext uri="{BB962C8B-B14F-4D97-AF65-F5344CB8AC3E}">
        <p14:creationId xmlns:p14="http://schemas.microsoft.com/office/powerpoint/2010/main" val="74412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nodeType="clickEffect">
                                  <p:stCondLst>
                                    <p:cond delay="0"/>
                                  </p:stCondLst>
                                  <p:childTnLst>
                                    <p:animEffect transition="out" filter="randombar(horizontal)">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1043608" y="332656"/>
            <a:ext cx="7200800" cy="576064"/>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ctr"/>
            <a:r>
              <a:rPr lang="uz-Cyrl-UZ" b="1" dirty="0">
                <a:solidFill>
                  <a:schemeClr val="tx1"/>
                </a:solidFill>
                <a:latin typeface="Times New Roman" pitchFamily="18" charset="0"/>
                <a:cs typeface="Times New Roman" pitchFamily="18" charset="0"/>
              </a:rPr>
              <a:t>Филтрловчи генераторга нисбатан корреляцион криптотаҳлил натижалари</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2293516993"/>
              </p:ext>
            </p:extLst>
          </p:nvPr>
        </p:nvGraphicFramePr>
        <p:xfrm>
          <a:off x="1115616" y="980728"/>
          <a:ext cx="6984776" cy="4823000"/>
        </p:xfrm>
        <a:graphic>
          <a:graphicData uri="http://schemas.openxmlformats.org/drawingml/2006/table">
            <a:tbl>
              <a:tblPr firstRow="1" firstCol="1" bandRow="1">
                <a:tableStyleId>{5C22544A-7EE6-4342-B048-85BDC9FD1C3A}</a:tableStyleId>
              </a:tblPr>
              <a:tblGrid>
                <a:gridCol w="2606238"/>
                <a:gridCol w="4378538"/>
              </a:tblGrid>
              <a:tr h="266129">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Регистр узунлиги</a:t>
                      </a:r>
                      <a:endParaRPr lang="ru-RU" sz="1400"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7 бит</a:t>
                      </a:r>
                      <a:endParaRPr lang="ru-RU" sz="1400" dirty="0">
                        <a:effectLst/>
                        <a:latin typeface="Times New Roman" pitchFamily="18" charset="0"/>
                        <a:ea typeface="Times New Roman"/>
                        <a:cs typeface="Times New Roman" pitchFamily="18" charset="0"/>
                      </a:endParaRPr>
                    </a:p>
                  </a:txBody>
                  <a:tcPr marL="68580" marR="68580" marT="0" marB="0"/>
                </a:tc>
              </a:tr>
              <a:tr h="266129">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Филтрловчи функция</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2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3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4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5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6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7</a:t>
                      </a:r>
                      <a:endParaRPr lang="ru-RU" sz="1600" b="1" dirty="0">
                        <a:effectLst/>
                        <a:latin typeface="Times New Roman" pitchFamily="18" charset="0"/>
                        <a:ea typeface="Times New Roman"/>
                        <a:cs typeface="Times New Roman" pitchFamily="18" charset="0"/>
                      </a:endParaRPr>
                    </a:p>
                  </a:txBody>
                  <a:tcPr marL="68580" marR="68580" marT="0" marB="0"/>
                </a:tc>
              </a:tr>
              <a:tr h="266129">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Тескари боғланиш кўпҳади</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C(</a:t>
                      </a:r>
                      <a:r>
                        <a:rPr lang="en-US" sz="1600" b="1" dirty="0">
                          <a:effectLst/>
                          <a:latin typeface="Times New Roman" pitchFamily="18" charset="0"/>
                          <a:cs typeface="Times New Roman" pitchFamily="18" charset="0"/>
                        </a:rPr>
                        <a:t>x</a:t>
                      </a:r>
                      <a:r>
                        <a:rPr lang="uz-Cyrl-UZ" sz="1600" b="1" dirty="0">
                          <a:effectLst/>
                          <a:latin typeface="Times New Roman" pitchFamily="18" charset="0"/>
                          <a:cs typeface="Times New Roman" pitchFamily="18" charset="0"/>
                        </a:rPr>
                        <a:t>) = </a:t>
                      </a:r>
                      <a:r>
                        <a:rPr lang="en-US" sz="1600" b="1" dirty="0">
                          <a:effectLst/>
                          <a:latin typeface="Times New Roman" pitchFamily="18" charset="0"/>
                          <a:cs typeface="Times New Roman" pitchFamily="18" charset="0"/>
                        </a:rPr>
                        <a:t>x</a:t>
                      </a:r>
                      <a:r>
                        <a:rPr lang="uz-Cyrl-UZ" sz="1600" b="1" baseline="30000" dirty="0">
                          <a:effectLst/>
                          <a:latin typeface="Times New Roman" pitchFamily="18" charset="0"/>
                          <a:cs typeface="Times New Roman" pitchFamily="18" charset="0"/>
                        </a:rPr>
                        <a:t>7</a:t>
                      </a:r>
                      <a:r>
                        <a:rPr lang="uz-Cyrl-UZ" sz="1600" b="1" dirty="0">
                          <a:effectLst/>
                          <a:latin typeface="Times New Roman" pitchFamily="18" charset="0"/>
                          <a:cs typeface="Times New Roman" pitchFamily="18" charset="0"/>
                        </a:rPr>
                        <a:t>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6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5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2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1</a:t>
                      </a:r>
                      <a:endParaRPr lang="ru-RU" sz="1600" b="1" dirty="0">
                        <a:effectLst/>
                        <a:latin typeface="Times New Roman" pitchFamily="18" charset="0"/>
                        <a:ea typeface="Times New Roman"/>
                        <a:cs typeface="Times New Roman" pitchFamily="18" charset="0"/>
                      </a:endParaRPr>
                    </a:p>
                  </a:txBody>
                  <a:tcPr marL="68580" marR="68580" marT="0" marB="0"/>
                </a:tc>
              </a:tr>
              <a:tr h="266129">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Гамма</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0010100</a:t>
                      </a:r>
                      <a:endParaRPr lang="ru-RU" sz="1600" b="1" dirty="0">
                        <a:effectLst/>
                        <a:latin typeface="Times New Roman" pitchFamily="18" charset="0"/>
                        <a:ea typeface="Times New Roman"/>
                        <a:cs typeface="Times New Roman" pitchFamily="18" charset="0"/>
                      </a:endParaRPr>
                    </a:p>
                  </a:txBody>
                  <a:tcPr marL="68580" marR="68580" marT="0" marB="0"/>
                </a:tc>
              </a:tr>
              <a:tr h="55226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Корреляцион иммунистлик даражаси</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k = 1</a:t>
                      </a:r>
                      <a:endParaRPr lang="ru-RU" sz="1600" b="1" dirty="0">
                        <a:effectLst/>
                        <a:latin typeface="Times New Roman" pitchFamily="18" charset="0"/>
                        <a:ea typeface="Times New Roman"/>
                        <a:cs typeface="Times New Roman" pitchFamily="18" charset="0"/>
                      </a:endParaRPr>
                    </a:p>
                  </a:txBody>
                  <a:tcPr marL="68580" marR="68580" marT="0" marB="0"/>
                </a:tc>
              </a:tr>
              <a:tr h="304523">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Чизиқсизлик  даражаси</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N(f) = 4</a:t>
                      </a:r>
                      <a:endParaRPr lang="ru-RU" sz="1600" b="1" dirty="0">
                        <a:effectLst/>
                        <a:latin typeface="Times New Roman" pitchFamily="18" charset="0"/>
                        <a:ea typeface="Times New Roman"/>
                        <a:cs typeface="Times New Roman" pitchFamily="18" charset="0"/>
                      </a:endParaRPr>
                    </a:p>
                  </a:txBody>
                  <a:tcPr marL="68580" marR="68580" marT="0" marB="0"/>
                </a:tc>
              </a:tr>
              <a:tr h="266129">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Статаналог функция</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7</a:t>
                      </a:r>
                      <a:r>
                        <a:rPr lang="uz-Cyrl-UZ" sz="1600" b="1" dirty="0">
                          <a:effectLst/>
                          <a:latin typeface="Times New Roman" pitchFamily="18" charset="0"/>
                          <a:cs typeface="Times New Roman" pitchFamily="18" charset="0"/>
                        </a:rPr>
                        <a:t>,     Р = 0,96875</a:t>
                      </a:r>
                      <a:endParaRPr lang="ru-RU" sz="1600" b="1" dirty="0">
                        <a:effectLst/>
                        <a:latin typeface="Times New Roman" pitchFamily="18" charset="0"/>
                        <a:ea typeface="Times New Roman"/>
                        <a:cs typeface="Times New Roman" pitchFamily="18" charset="0"/>
                      </a:endParaRPr>
                    </a:p>
                  </a:txBody>
                  <a:tcPr marL="68580" marR="68580" marT="0" marB="0"/>
                </a:tc>
              </a:tr>
              <a:tr h="2034080">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Чизиқли тенгламалар системаси</a:t>
                      </a:r>
                      <a:endParaRPr lang="ru-RU" sz="1400">
                        <a:effectLst/>
                        <a:latin typeface="Times New Roman" pitchFamily="18" charset="0"/>
                        <a:ea typeface="Times New Roman"/>
                        <a:cs typeface="Times New Roman" pitchFamily="18" charset="0"/>
                      </a:endParaRPr>
                    </a:p>
                  </a:txBody>
                  <a:tcPr marL="68580" marR="68580" marT="0" marB="0"/>
                </a:tc>
                <a:tc>
                  <a:txBody>
                    <a:bodyPr/>
                    <a:lstStyle/>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X1 + X7 = 0</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X1 + X3 + X6 = 0</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X2 + X4 + X7 = 1</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X1 + X2 + X5 + X6 = 0</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X2 + X3 + X6 + X7 = 1</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X1 + X2 + X4 + X6 + X7 = 0</a:t>
                      </a:r>
                      <a:endParaRPr lang="ru-RU" sz="1200" b="1" dirty="0">
                        <a:effectLst/>
                        <a:latin typeface="Times New Roman" pitchFamily="18" charset="0"/>
                        <a:cs typeface="Times New Roman" pitchFamily="18" charset="0"/>
                      </a:endParaRPr>
                    </a:p>
                    <a:p>
                      <a:pPr marL="1348740" algn="just">
                        <a:lnSpc>
                          <a:spcPct val="150000"/>
                        </a:lnSpc>
                        <a:spcBef>
                          <a:spcPts val="0"/>
                        </a:spcBef>
                        <a:spcAft>
                          <a:spcPts val="0"/>
                        </a:spcAft>
                      </a:pPr>
                      <a:r>
                        <a:rPr lang="uz-Cyrl-UZ" sz="1200" b="1" dirty="0">
                          <a:effectLst/>
                          <a:latin typeface="Times New Roman" pitchFamily="18" charset="0"/>
                          <a:cs typeface="Times New Roman" pitchFamily="18" charset="0"/>
                        </a:rPr>
                        <a:t>X1 + X5 + X6 + X7 = 0</a:t>
                      </a:r>
                      <a:endParaRPr lang="ru-RU" sz="1200" b="1" dirty="0">
                        <a:effectLst/>
                        <a:latin typeface="Times New Roman" pitchFamily="18" charset="0"/>
                        <a:ea typeface="Times New Roman"/>
                        <a:cs typeface="Times New Roman" pitchFamily="18" charset="0"/>
                      </a:endParaRPr>
                    </a:p>
                  </a:txBody>
                  <a:tcPr marL="68580" marR="68580" marT="0" marB="0"/>
                </a:tc>
              </a:tr>
            </a:tbl>
          </a:graphicData>
        </a:graphic>
      </p:graphicFrame>
      <mc:AlternateContent xmlns:mc="http://schemas.openxmlformats.org/markup-compatibility/2006" xmlns:a14="http://schemas.microsoft.com/office/drawing/2010/main">
        <mc:Choice Requires="a14">
          <p:sp>
            <p:nvSpPr>
              <p:cNvPr id="9" name="Прямоугольник 8"/>
              <p:cNvSpPr/>
              <p:nvPr/>
            </p:nvSpPr>
            <p:spPr>
              <a:xfrm>
                <a:off x="2411760" y="6021288"/>
                <a:ext cx="4752528" cy="57606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uz-Cyrl-UZ" b="0" i="0" smtClean="0">
                          <a:solidFill>
                            <a:schemeClr val="tx1"/>
                          </a:solidFill>
                          <a:latin typeface="Times New Roman" pitchFamily="18" charset="0"/>
                          <a:cs typeface="Times New Roman" pitchFamily="18" charset="0"/>
                        </a:rPr>
                        <m:t>Калит:</m:t>
                      </m:r>
                      <m:r>
                        <m:rPr>
                          <m:nor/>
                        </m:rPr>
                        <a:rPr lang="uz-Cyrl-UZ" smtClean="0">
                          <a:solidFill>
                            <a:schemeClr val="tx1"/>
                          </a:solidFill>
                          <a:latin typeface="Times New Roman" pitchFamily="18" charset="0"/>
                          <a:cs typeface="Times New Roman" pitchFamily="18" charset="0"/>
                        </a:rPr>
                        <m:t> </m:t>
                      </m:r>
                      <m:r>
                        <m:rPr>
                          <m:nor/>
                        </m:rPr>
                        <a:rPr lang="uz-Cyrl-UZ" b="1" smtClean="0">
                          <a:solidFill>
                            <a:schemeClr val="tx1"/>
                          </a:solidFill>
                          <a:latin typeface="Times New Roman" pitchFamily="18" charset="0"/>
                          <a:cs typeface="Times New Roman" pitchFamily="18" charset="0"/>
                        </a:rPr>
                        <m:t>1111001</m:t>
                      </m:r>
                    </m:oMath>
                  </m:oMathPara>
                </a14:m>
                <a:endParaRPr lang="ru-RU" b="1" dirty="0">
                  <a:solidFill>
                    <a:schemeClr val="tx1"/>
                  </a:solidFill>
                  <a:latin typeface="Times New Roman" pitchFamily="18" charset="0"/>
                  <a:cs typeface="Times New Roman" pitchFamily="18" charset="0"/>
                </a:endParaRPr>
              </a:p>
            </p:txBody>
          </p:sp>
        </mc:Choice>
        <mc:Fallback xmlns="">
          <p:sp>
            <p:nvSpPr>
              <p:cNvPr id="9" name="Прямоугольник 8"/>
              <p:cNvSpPr>
                <a:spLocks noRot="1" noChangeAspect="1" noMove="1" noResize="1" noEditPoints="1" noAdjustHandles="1" noChangeArrowheads="1" noChangeShapeType="1" noTextEdit="1"/>
              </p:cNvSpPr>
              <p:nvPr/>
            </p:nvSpPr>
            <p:spPr>
              <a:xfrm>
                <a:off x="2411760" y="6021288"/>
                <a:ext cx="4752528" cy="576064"/>
              </a:xfrm>
              <a:prstGeom prst="rect">
                <a:avLst/>
              </a:prstGeom>
              <a:blipFill rotWithShape="1">
                <a:blip r:embed="rId3"/>
                <a:stretch>
                  <a:fillRect/>
                </a:stretch>
              </a:blipFill>
            </p:spPr>
            <p:txBody>
              <a:bodyPr/>
              <a:lstStyle/>
              <a:p>
                <a:r>
                  <a:rPr lang="ru-RU">
                    <a:noFill/>
                  </a:rPr>
                  <a:t> </a:t>
                </a:r>
              </a:p>
            </p:txBody>
          </p:sp>
        </mc:Fallback>
      </mc:AlternateContent>
      <p:graphicFrame>
        <p:nvGraphicFramePr>
          <p:cNvPr id="4" name="Таблица 3"/>
          <p:cNvGraphicFramePr>
            <a:graphicFrameLocks noGrp="1"/>
          </p:cNvGraphicFramePr>
          <p:nvPr>
            <p:extLst>
              <p:ext uri="{D42A27DB-BD31-4B8C-83A1-F6EECF244321}">
                <p14:modId xmlns:p14="http://schemas.microsoft.com/office/powerpoint/2010/main" val="563570184"/>
              </p:ext>
            </p:extLst>
          </p:nvPr>
        </p:nvGraphicFramePr>
        <p:xfrm>
          <a:off x="855282" y="1052736"/>
          <a:ext cx="7416824" cy="5380580"/>
        </p:xfrm>
        <a:graphic>
          <a:graphicData uri="http://schemas.openxmlformats.org/drawingml/2006/table">
            <a:tbl>
              <a:tblPr firstRow="1" firstCol="1" bandRow="1">
                <a:tableStyleId>{5C22544A-7EE6-4342-B048-85BDC9FD1C3A}</a:tableStyleId>
              </a:tblPr>
              <a:tblGrid>
                <a:gridCol w="2767449"/>
                <a:gridCol w="4649375"/>
              </a:tblGrid>
              <a:tr h="270022">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Регистр узунлиги</a:t>
                      </a:r>
                      <a:endParaRPr lang="ru-RU" sz="1400" dirty="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9 бит</a:t>
                      </a:r>
                      <a:endParaRPr lang="ru-RU" sz="1400" dirty="0">
                        <a:effectLst/>
                        <a:latin typeface="Times New Roman" pitchFamily="18" charset="0"/>
                        <a:ea typeface="Times New Roman"/>
                        <a:cs typeface="Times New Roman" pitchFamily="18" charset="0"/>
                      </a:endParaRPr>
                    </a:p>
                  </a:txBody>
                  <a:tcPr marL="63846" marR="63846" marT="0" marB="0"/>
                </a:tc>
              </a:tr>
              <a:tr h="27002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Филтрловчи функция</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2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3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4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5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6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7</a:t>
                      </a:r>
                      <a:r>
                        <a:rPr lang="uz-Cyrl-UZ" sz="1600" b="1" dirty="0">
                          <a:effectLst/>
                          <a:latin typeface="Times New Roman" pitchFamily="18" charset="0"/>
                          <a:cs typeface="Times New Roman" pitchFamily="18" charset="0"/>
                        </a:rPr>
                        <a:t> + x</a:t>
                      </a:r>
                      <a:r>
                        <a:rPr lang="uz-Cyrl-UZ" sz="1600" b="1" baseline="-25000" dirty="0">
                          <a:effectLst/>
                          <a:latin typeface="Times New Roman" pitchFamily="18" charset="0"/>
                          <a:cs typeface="Times New Roman" pitchFamily="18" charset="0"/>
                        </a:rPr>
                        <a:t>9</a:t>
                      </a:r>
                      <a:endParaRPr lang="ru-RU" sz="1600" b="1" dirty="0">
                        <a:effectLst/>
                        <a:latin typeface="Times New Roman" pitchFamily="18" charset="0"/>
                        <a:ea typeface="Times New Roman"/>
                        <a:cs typeface="Times New Roman" pitchFamily="18" charset="0"/>
                      </a:endParaRPr>
                    </a:p>
                  </a:txBody>
                  <a:tcPr marL="63846" marR="63846" marT="0" marB="0"/>
                </a:tc>
              </a:tr>
              <a:tr h="27002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Тескари боғланиш кўпҳади</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C(</a:t>
                      </a:r>
                      <a:r>
                        <a:rPr lang="en-US" sz="1600" b="1" dirty="0">
                          <a:effectLst/>
                          <a:latin typeface="Times New Roman" pitchFamily="18" charset="0"/>
                          <a:cs typeface="Times New Roman" pitchFamily="18" charset="0"/>
                        </a:rPr>
                        <a:t>x</a:t>
                      </a:r>
                      <a:r>
                        <a:rPr lang="uz-Cyrl-UZ" sz="1600" b="1" dirty="0">
                          <a:effectLst/>
                          <a:latin typeface="Times New Roman" pitchFamily="18" charset="0"/>
                          <a:cs typeface="Times New Roman" pitchFamily="18" charset="0"/>
                        </a:rPr>
                        <a:t>) = </a:t>
                      </a:r>
                      <a:r>
                        <a:rPr lang="en-US" sz="1600" b="1" dirty="0">
                          <a:effectLst/>
                          <a:latin typeface="Times New Roman" pitchFamily="18" charset="0"/>
                          <a:cs typeface="Times New Roman" pitchFamily="18" charset="0"/>
                        </a:rPr>
                        <a:t>x</a:t>
                      </a:r>
                      <a:r>
                        <a:rPr lang="uz-Cyrl-UZ" sz="1600" b="1" baseline="30000" dirty="0">
                          <a:effectLst/>
                          <a:latin typeface="Times New Roman" pitchFamily="18" charset="0"/>
                          <a:cs typeface="Times New Roman" pitchFamily="18" charset="0"/>
                        </a:rPr>
                        <a:t>9</a:t>
                      </a:r>
                      <a:r>
                        <a:rPr lang="uz-Cyrl-UZ" sz="1600" b="1" dirty="0">
                          <a:effectLst/>
                          <a:latin typeface="Times New Roman" pitchFamily="18" charset="0"/>
                          <a:cs typeface="Times New Roman" pitchFamily="18" charset="0"/>
                        </a:rPr>
                        <a:t>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7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5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3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2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1</a:t>
                      </a:r>
                      <a:endParaRPr lang="ru-RU" sz="1600" b="1" dirty="0">
                        <a:effectLst/>
                        <a:latin typeface="Times New Roman" pitchFamily="18" charset="0"/>
                        <a:ea typeface="Times New Roman"/>
                        <a:cs typeface="Times New Roman" pitchFamily="18" charset="0"/>
                      </a:endParaRPr>
                    </a:p>
                  </a:txBody>
                  <a:tcPr marL="63846" marR="63846" marT="0" marB="0"/>
                </a:tc>
              </a:tr>
              <a:tr h="27002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Гамма</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000111010</a:t>
                      </a:r>
                      <a:endParaRPr lang="ru-RU" sz="1600" b="1" dirty="0">
                        <a:effectLst/>
                        <a:latin typeface="Times New Roman" pitchFamily="18" charset="0"/>
                        <a:ea typeface="Times New Roman"/>
                        <a:cs typeface="Times New Roman" pitchFamily="18" charset="0"/>
                      </a:endParaRPr>
                    </a:p>
                  </a:txBody>
                  <a:tcPr marL="63846" marR="63846" marT="0" marB="0"/>
                </a:tc>
              </a:tr>
              <a:tr h="576740">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Корреляцион иммунистлик даражаси</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k = 2</a:t>
                      </a:r>
                      <a:endParaRPr lang="ru-RU" sz="1600" b="1" dirty="0">
                        <a:effectLst/>
                        <a:latin typeface="Times New Roman" pitchFamily="18" charset="0"/>
                        <a:ea typeface="Times New Roman"/>
                        <a:cs typeface="Times New Roman" pitchFamily="18" charset="0"/>
                      </a:endParaRPr>
                    </a:p>
                  </a:txBody>
                  <a:tcPr marL="63846" marR="63846" marT="0" marB="0"/>
                </a:tc>
              </a:tr>
              <a:tr h="27002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Чизиқсизлик  даражаси</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N(f) = 80</a:t>
                      </a:r>
                      <a:endParaRPr lang="ru-RU" sz="1600" b="1" dirty="0">
                        <a:effectLst/>
                        <a:latin typeface="Times New Roman" pitchFamily="18" charset="0"/>
                        <a:ea typeface="Times New Roman"/>
                        <a:cs typeface="Times New Roman" pitchFamily="18" charset="0"/>
                      </a:endParaRPr>
                    </a:p>
                  </a:txBody>
                  <a:tcPr marL="63846" marR="63846" marT="0" marB="0"/>
                </a:tc>
              </a:tr>
              <a:tr h="27002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Статаналог функция</a:t>
                      </a:r>
                      <a:endParaRPr lang="ru-RU" sz="1400">
                        <a:effectLst/>
                        <a:latin typeface="Times New Roman" pitchFamily="18" charset="0"/>
                        <a:ea typeface="Times New Roman"/>
                        <a:cs typeface="Times New Roman" pitchFamily="18" charset="0"/>
                      </a:endParaRPr>
                    </a:p>
                  </a:txBody>
                  <a:tcPr marL="63846" marR="63846"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5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9</a:t>
                      </a:r>
                      <a:r>
                        <a:rPr lang="uz-Cyrl-UZ" sz="1600" b="1" dirty="0">
                          <a:effectLst/>
                          <a:latin typeface="Times New Roman" pitchFamily="18" charset="0"/>
                          <a:cs typeface="Times New Roman" pitchFamily="18" charset="0"/>
                        </a:rPr>
                        <a:t>,     Р = 0,6875</a:t>
                      </a:r>
                      <a:endParaRPr lang="ru-RU" sz="1600" b="1" dirty="0">
                        <a:effectLst/>
                        <a:latin typeface="Times New Roman" pitchFamily="18" charset="0"/>
                        <a:ea typeface="Times New Roman"/>
                        <a:cs typeface="Times New Roman" pitchFamily="18" charset="0"/>
                      </a:endParaRPr>
                    </a:p>
                  </a:txBody>
                  <a:tcPr marL="63846" marR="63846" marT="0" marB="0"/>
                </a:tc>
              </a:tr>
              <a:tr h="2591660">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Чизиқли тенгламалар системаси</a:t>
                      </a:r>
                      <a:endParaRPr lang="ru-RU" sz="1400" dirty="0">
                        <a:effectLst/>
                        <a:latin typeface="Times New Roman" pitchFamily="18" charset="0"/>
                        <a:ea typeface="Times New Roman"/>
                        <a:cs typeface="Times New Roman" pitchFamily="18" charset="0"/>
                      </a:endParaRPr>
                    </a:p>
                  </a:txBody>
                  <a:tcPr marL="63846" marR="63846" marT="0" marB="0"/>
                </a:tc>
                <a:tc>
                  <a:txBody>
                    <a:bodyPr/>
                    <a:lstStyle/>
                    <a:p>
                      <a:pPr marL="900430" algn="just">
                        <a:lnSpc>
                          <a:spcPct val="150000"/>
                        </a:lnSpc>
                        <a:spcBef>
                          <a:spcPts val="0"/>
                        </a:spcBef>
                        <a:spcAft>
                          <a:spcPts val="0"/>
                        </a:spcAft>
                      </a:pPr>
                      <a:r>
                        <a:rPr lang="uz-Cyrl-UZ" sz="1200" b="1" dirty="0" smtClean="0">
                          <a:effectLst/>
                          <a:latin typeface="Times New Roman" pitchFamily="18" charset="0"/>
                          <a:cs typeface="Times New Roman" pitchFamily="18" charset="0"/>
                        </a:rPr>
                        <a:t>X1 </a:t>
                      </a:r>
                      <a:r>
                        <a:rPr lang="uz-Cyrl-UZ" sz="1200" b="1" dirty="0">
                          <a:effectLst/>
                          <a:latin typeface="Times New Roman" pitchFamily="18" charset="0"/>
                          <a:cs typeface="Times New Roman" pitchFamily="18" charset="0"/>
                        </a:rPr>
                        <a:t>+ X5 + X9 = 0</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X2 + X3 + X5 + X6 + X7 + X8 = 0</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X2 + X3 + X4 + X6 + X7 + X8 + X9 = 0</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X4 + X9 = 1</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X2 + X3 + X7 + X8 = 1</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X2 + X3 + X4 + X8 + X9 = 1</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X4 + X7 + X8 + X9 = 0</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X2 + X3 + X7 + X9 = 1</a:t>
                      </a:r>
                      <a:endParaRPr lang="ru-RU" sz="1200" b="1" dirty="0">
                        <a:effectLst/>
                        <a:latin typeface="Times New Roman" pitchFamily="18" charset="0"/>
                        <a:cs typeface="Times New Roman" pitchFamily="18" charset="0"/>
                      </a:endParaRPr>
                    </a:p>
                    <a:p>
                      <a:pPr marL="900430" algn="just">
                        <a:lnSpc>
                          <a:spcPct val="150000"/>
                        </a:lnSpc>
                        <a:spcBef>
                          <a:spcPts val="0"/>
                        </a:spcBef>
                        <a:spcAft>
                          <a:spcPts val="0"/>
                        </a:spcAft>
                      </a:pPr>
                      <a:r>
                        <a:rPr lang="uz-Cyrl-UZ" sz="1200" b="1" dirty="0">
                          <a:effectLst/>
                          <a:latin typeface="Times New Roman" pitchFamily="18" charset="0"/>
                          <a:cs typeface="Times New Roman" pitchFamily="18" charset="0"/>
                        </a:rPr>
                        <a:t>X1 + X2 + X4 + X5 + X7 = 0</a:t>
                      </a:r>
                      <a:endParaRPr lang="ru-RU" sz="1200" b="1" dirty="0">
                        <a:effectLst/>
                        <a:latin typeface="Times New Roman" pitchFamily="18" charset="0"/>
                        <a:ea typeface="Times New Roman"/>
                        <a:cs typeface="Times New Roman" pitchFamily="18" charset="0"/>
                      </a:endParaRPr>
                    </a:p>
                  </a:txBody>
                  <a:tcPr marL="63846" marR="63846" marT="0" marB="0"/>
                </a:tc>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3795280408"/>
              </p:ext>
            </p:extLst>
          </p:nvPr>
        </p:nvGraphicFramePr>
        <p:xfrm>
          <a:off x="754854" y="1012219"/>
          <a:ext cx="7632848" cy="4837111"/>
        </p:xfrm>
        <a:graphic>
          <a:graphicData uri="http://schemas.openxmlformats.org/drawingml/2006/table">
            <a:tbl>
              <a:tblPr firstRow="1" firstCol="1" bandRow="1">
                <a:tableStyleId>{5C22544A-7EE6-4342-B048-85BDC9FD1C3A}</a:tableStyleId>
              </a:tblPr>
              <a:tblGrid>
                <a:gridCol w="3221202"/>
                <a:gridCol w="4411646"/>
              </a:tblGrid>
              <a:tr h="259792">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Регистр узунлиги</a:t>
                      </a:r>
                      <a:endParaRPr lang="ru-RU" sz="1400" dirty="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11 бит</a:t>
                      </a:r>
                      <a:endParaRPr lang="ru-RU" sz="1400" dirty="0">
                        <a:effectLst/>
                        <a:latin typeface="Times New Roman" pitchFamily="18" charset="0"/>
                        <a:ea typeface="Times New Roman"/>
                        <a:cs typeface="Times New Roman" pitchFamily="18" charset="0"/>
                      </a:endParaRPr>
                    </a:p>
                  </a:txBody>
                  <a:tcPr marL="56732" marR="56732" marT="0" marB="0"/>
                </a:tc>
              </a:tr>
              <a:tr h="25979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Филтрловчи функция</a:t>
                      </a:r>
                      <a:endParaRPr lang="ru-RU" sz="140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4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6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7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9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10</a:t>
                      </a:r>
                      <a:r>
                        <a:rPr lang="uz-Cyrl-UZ" sz="1600" b="1" dirty="0">
                          <a:effectLst/>
                          <a:latin typeface="Times New Roman" pitchFamily="18" charset="0"/>
                          <a:cs typeface="Times New Roman" pitchFamily="18" charset="0"/>
                        </a:rPr>
                        <a:t> * x</a:t>
                      </a:r>
                      <a:r>
                        <a:rPr lang="uz-Cyrl-UZ" sz="1600" b="1" baseline="-25000" dirty="0">
                          <a:effectLst/>
                          <a:latin typeface="Times New Roman" pitchFamily="18" charset="0"/>
                          <a:cs typeface="Times New Roman" pitchFamily="18" charset="0"/>
                        </a:rPr>
                        <a:t>11</a:t>
                      </a:r>
                      <a:endParaRPr lang="ru-RU" sz="1600" b="1" dirty="0">
                        <a:effectLst/>
                        <a:latin typeface="Times New Roman" pitchFamily="18" charset="0"/>
                        <a:ea typeface="Times New Roman"/>
                        <a:cs typeface="Times New Roman" pitchFamily="18" charset="0"/>
                      </a:endParaRPr>
                    </a:p>
                  </a:txBody>
                  <a:tcPr marL="56732" marR="56732" marT="0" marB="0"/>
                </a:tc>
              </a:tr>
              <a:tr h="25979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Тескари боғланиш кўпҳади</a:t>
                      </a:r>
                      <a:endParaRPr lang="ru-RU" sz="140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C(</a:t>
                      </a:r>
                      <a:r>
                        <a:rPr lang="en-US" sz="1600" b="1" dirty="0">
                          <a:effectLst/>
                          <a:latin typeface="Times New Roman" pitchFamily="18" charset="0"/>
                          <a:cs typeface="Times New Roman" pitchFamily="18" charset="0"/>
                        </a:rPr>
                        <a:t>x</a:t>
                      </a:r>
                      <a:r>
                        <a:rPr lang="uz-Cyrl-UZ" sz="1600" b="1" dirty="0">
                          <a:effectLst/>
                          <a:latin typeface="Times New Roman" pitchFamily="18" charset="0"/>
                          <a:cs typeface="Times New Roman" pitchFamily="18" charset="0"/>
                        </a:rPr>
                        <a:t>) = </a:t>
                      </a:r>
                      <a:r>
                        <a:rPr lang="en-US" sz="1600" b="1" dirty="0">
                          <a:effectLst/>
                          <a:latin typeface="Times New Roman" pitchFamily="18" charset="0"/>
                          <a:cs typeface="Times New Roman" pitchFamily="18" charset="0"/>
                        </a:rPr>
                        <a:t>x</a:t>
                      </a:r>
                      <a:r>
                        <a:rPr lang="uz-Cyrl-UZ" sz="1600" b="1" baseline="30000" dirty="0">
                          <a:effectLst/>
                          <a:latin typeface="Times New Roman" pitchFamily="18" charset="0"/>
                          <a:cs typeface="Times New Roman" pitchFamily="18" charset="0"/>
                        </a:rPr>
                        <a:t>11</a:t>
                      </a:r>
                      <a:r>
                        <a:rPr lang="uz-Cyrl-UZ" sz="1600" b="1" dirty="0">
                          <a:effectLst/>
                          <a:latin typeface="Times New Roman" pitchFamily="18" charset="0"/>
                          <a:cs typeface="Times New Roman" pitchFamily="18" charset="0"/>
                        </a:rPr>
                        <a:t>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8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5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4 </a:t>
                      </a:r>
                      <a:r>
                        <a:rPr lang="en-US"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1</a:t>
                      </a:r>
                      <a:endParaRPr lang="ru-RU" sz="1600" b="1" dirty="0">
                        <a:effectLst/>
                        <a:latin typeface="Times New Roman" pitchFamily="18" charset="0"/>
                        <a:ea typeface="Times New Roman"/>
                        <a:cs typeface="Times New Roman" pitchFamily="18" charset="0"/>
                      </a:endParaRPr>
                    </a:p>
                  </a:txBody>
                  <a:tcPr marL="56732" marR="56732" marT="0" marB="0"/>
                </a:tc>
              </a:tr>
              <a:tr h="25979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Гамма</a:t>
                      </a:r>
                      <a:endParaRPr lang="ru-RU" sz="140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ru-RU" sz="1600" b="1" dirty="0">
                          <a:effectLst/>
                          <a:latin typeface="Times New Roman" pitchFamily="18" charset="0"/>
                          <a:cs typeface="Times New Roman" pitchFamily="18" charset="0"/>
                        </a:rPr>
                        <a:t>00101110000</a:t>
                      </a:r>
                      <a:endParaRPr lang="ru-RU" sz="1600" b="1" dirty="0">
                        <a:effectLst/>
                        <a:latin typeface="Times New Roman" pitchFamily="18" charset="0"/>
                        <a:ea typeface="Times New Roman"/>
                        <a:cs typeface="Times New Roman" pitchFamily="18" charset="0"/>
                      </a:endParaRPr>
                    </a:p>
                  </a:txBody>
                  <a:tcPr marL="56732" marR="56732" marT="0" marB="0"/>
                </a:tc>
              </a:tr>
              <a:tr h="369746">
                <a:tc>
                  <a:txBody>
                    <a:bodyPr/>
                    <a:lstStyle/>
                    <a:p>
                      <a:pPr algn="ctr">
                        <a:lnSpc>
                          <a:spcPct val="150000"/>
                        </a:lnSpc>
                        <a:spcBef>
                          <a:spcPts val="0"/>
                        </a:spcBef>
                        <a:spcAft>
                          <a:spcPts val="0"/>
                        </a:spcAft>
                      </a:pPr>
                      <a:r>
                        <a:rPr lang="uz-Cyrl-UZ" sz="1400" dirty="0" smtClean="0">
                          <a:effectLst/>
                          <a:latin typeface="Times New Roman" pitchFamily="18" charset="0"/>
                          <a:cs typeface="Times New Roman" pitchFamily="18" charset="0"/>
                        </a:rPr>
                        <a:t>Корреляцион иммунистлик даражаси</a:t>
                      </a:r>
                      <a:endParaRPr lang="ru-RU" sz="1400" dirty="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600" b="1" dirty="0" smtClean="0">
                          <a:effectLst/>
                          <a:latin typeface="Times New Roman" pitchFamily="18" charset="0"/>
                          <a:cs typeface="Times New Roman" pitchFamily="18" charset="0"/>
                        </a:rPr>
                        <a:t>k </a:t>
                      </a:r>
                      <a:r>
                        <a:rPr lang="uz-Cyrl-UZ" sz="1600" b="1" dirty="0">
                          <a:effectLst/>
                          <a:latin typeface="Times New Roman" pitchFamily="18" charset="0"/>
                          <a:cs typeface="Times New Roman" pitchFamily="18" charset="0"/>
                        </a:rPr>
                        <a:t>= 1</a:t>
                      </a:r>
                      <a:endParaRPr lang="ru-RU" sz="1600" b="1" dirty="0">
                        <a:effectLst/>
                        <a:latin typeface="Times New Roman" pitchFamily="18" charset="0"/>
                        <a:ea typeface="Times New Roman"/>
                        <a:cs typeface="Times New Roman" pitchFamily="18" charset="0"/>
                      </a:endParaRPr>
                    </a:p>
                  </a:txBody>
                  <a:tcPr marL="56732" marR="56732" marT="0" marB="0"/>
                </a:tc>
              </a:tr>
              <a:tr h="259792">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Чизиқсизлик  даражаси</a:t>
                      </a:r>
                      <a:endParaRPr lang="ru-RU" sz="140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N(f) = 72</a:t>
                      </a:r>
                      <a:endParaRPr lang="ru-RU" sz="1600" b="1" dirty="0">
                        <a:effectLst/>
                        <a:latin typeface="Times New Roman" pitchFamily="18" charset="0"/>
                        <a:ea typeface="Times New Roman"/>
                        <a:cs typeface="Times New Roman" pitchFamily="18" charset="0"/>
                      </a:endParaRPr>
                    </a:p>
                  </a:txBody>
                  <a:tcPr marL="56732" marR="56732" marT="0" marB="0"/>
                </a:tc>
              </a:tr>
              <a:tr h="259792">
                <a:tc>
                  <a:txBody>
                    <a:bodyPr/>
                    <a:lstStyle/>
                    <a:p>
                      <a:pPr algn="ctr">
                        <a:lnSpc>
                          <a:spcPct val="150000"/>
                        </a:lnSpc>
                        <a:spcBef>
                          <a:spcPts val="0"/>
                        </a:spcBef>
                        <a:spcAft>
                          <a:spcPts val="0"/>
                        </a:spcAft>
                      </a:pPr>
                      <a:r>
                        <a:rPr lang="uz-Cyrl-UZ" sz="1400" dirty="0">
                          <a:effectLst/>
                          <a:latin typeface="Times New Roman" pitchFamily="18" charset="0"/>
                          <a:cs typeface="Times New Roman" pitchFamily="18" charset="0"/>
                        </a:rPr>
                        <a:t>Статаналог функция</a:t>
                      </a:r>
                      <a:endParaRPr lang="ru-RU" sz="1400" dirty="0">
                        <a:effectLst/>
                        <a:latin typeface="Times New Roman" pitchFamily="18" charset="0"/>
                        <a:ea typeface="Times New Roman"/>
                        <a:cs typeface="Times New Roman" pitchFamily="18" charset="0"/>
                      </a:endParaRPr>
                    </a:p>
                  </a:txBody>
                  <a:tcPr marL="56732" marR="56732" marT="0" marB="0"/>
                </a:tc>
                <a:tc>
                  <a:txBody>
                    <a:bodyPr/>
                    <a:lstStyle/>
                    <a:p>
                      <a:pPr algn="ctr">
                        <a:lnSpc>
                          <a:spcPct val="150000"/>
                        </a:lnSpc>
                        <a:spcBef>
                          <a:spcPts val="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1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9</a:t>
                      </a:r>
                      <a:r>
                        <a:rPr lang="uz-Cyrl-UZ" sz="1600" b="1" dirty="0">
                          <a:effectLst/>
                          <a:latin typeface="Times New Roman" pitchFamily="18" charset="0"/>
                          <a:cs typeface="Times New Roman" pitchFamily="18" charset="0"/>
                        </a:rPr>
                        <a:t>,     Р = 0,71875</a:t>
                      </a:r>
                      <a:endParaRPr lang="ru-RU" sz="1600" b="1" dirty="0">
                        <a:effectLst/>
                        <a:latin typeface="Times New Roman" pitchFamily="18" charset="0"/>
                        <a:ea typeface="Times New Roman"/>
                        <a:cs typeface="Times New Roman" pitchFamily="18" charset="0"/>
                      </a:endParaRPr>
                    </a:p>
                  </a:txBody>
                  <a:tcPr marL="56732" marR="56732" marT="0" marB="0"/>
                </a:tc>
              </a:tr>
              <a:tr h="2318525">
                <a:tc>
                  <a:txBody>
                    <a:bodyPr/>
                    <a:lstStyle/>
                    <a:p>
                      <a:pPr algn="ctr">
                        <a:lnSpc>
                          <a:spcPct val="150000"/>
                        </a:lnSpc>
                        <a:spcBef>
                          <a:spcPts val="0"/>
                        </a:spcBef>
                        <a:spcAft>
                          <a:spcPts val="0"/>
                        </a:spcAft>
                      </a:pPr>
                      <a:r>
                        <a:rPr lang="uz-Cyrl-UZ" sz="1400">
                          <a:effectLst/>
                          <a:latin typeface="Times New Roman" pitchFamily="18" charset="0"/>
                          <a:cs typeface="Times New Roman" pitchFamily="18" charset="0"/>
                        </a:rPr>
                        <a:t>Чизиқли тенгламалар системаси</a:t>
                      </a:r>
                      <a:endParaRPr lang="ru-RU" sz="1400">
                        <a:effectLst/>
                        <a:latin typeface="Times New Roman" pitchFamily="18" charset="0"/>
                        <a:ea typeface="Times New Roman"/>
                        <a:cs typeface="Times New Roman" pitchFamily="18" charset="0"/>
                      </a:endParaRPr>
                    </a:p>
                  </a:txBody>
                  <a:tcPr marL="56732" marR="56732" marT="0" marB="0"/>
                </a:tc>
                <a:tc>
                  <a:txBody>
                    <a:bodyPr/>
                    <a:lstStyle/>
                    <a:p>
                      <a:pPr marL="899160" algn="just">
                        <a:lnSpc>
                          <a:spcPct val="100000"/>
                        </a:lnSpc>
                        <a:spcBef>
                          <a:spcPts val="0"/>
                        </a:spcBef>
                        <a:spcAft>
                          <a:spcPts val="0"/>
                        </a:spcAft>
                      </a:pPr>
                      <a:endParaRPr lang="uz-Cyrl-UZ" sz="1200" b="1" dirty="0" smtClean="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smtClean="0">
                          <a:effectLst/>
                          <a:latin typeface="Times New Roman" pitchFamily="18" charset="0"/>
                          <a:cs typeface="Times New Roman" pitchFamily="18" charset="0"/>
                        </a:rPr>
                        <a:t>X1 </a:t>
                      </a:r>
                      <a:r>
                        <a:rPr lang="uz-Cyrl-UZ" sz="1200" b="1" dirty="0">
                          <a:effectLst/>
                          <a:latin typeface="Times New Roman" pitchFamily="18" charset="0"/>
                          <a:cs typeface="Times New Roman" pitchFamily="18" charset="0"/>
                        </a:rPr>
                        <a:t>+ X9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X2 + X10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X3 + X11 = 1</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X1 + X7 + X8 + X11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X1 + X2 + X4 + X7 + X9 + X11 = 1</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X1 + X2 + X3 + X4 + X5 + X7 + X10 + X11 = 1</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X1 + X2 + X3 + X5 + X6 + X7 = 1</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X2 + X3 + X4 + X6 + X7 + X8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X3 + X4 + X5 + X7 + X8 + X9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X4 + X5 + X6 + X8 + X9 + X10 = 0</a:t>
                      </a:r>
                      <a:endParaRPr lang="ru-RU" sz="1200" b="1" dirty="0">
                        <a:effectLst/>
                        <a:latin typeface="Times New Roman" pitchFamily="18" charset="0"/>
                        <a:cs typeface="Times New Roman" pitchFamily="18" charset="0"/>
                      </a:endParaRPr>
                    </a:p>
                    <a:p>
                      <a:pPr marL="899160" algn="just">
                        <a:lnSpc>
                          <a:spcPct val="100000"/>
                        </a:lnSpc>
                        <a:spcBef>
                          <a:spcPts val="0"/>
                        </a:spcBef>
                        <a:spcAft>
                          <a:spcPts val="0"/>
                        </a:spcAft>
                      </a:pPr>
                      <a:r>
                        <a:rPr lang="uz-Cyrl-UZ" sz="1200" b="1" dirty="0">
                          <a:effectLst/>
                          <a:latin typeface="Times New Roman" pitchFamily="18" charset="0"/>
                          <a:cs typeface="Times New Roman" pitchFamily="18" charset="0"/>
                        </a:rPr>
                        <a:t>X5 + X6 + X7 + X9 + X10 + X11 = 0</a:t>
                      </a:r>
                      <a:endParaRPr lang="ru-RU" sz="1200" b="1" dirty="0">
                        <a:effectLst/>
                        <a:latin typeface="Times New Roman" pitchFamily="18" charset="0"/>
                        <a:ea typeface="Times New Roman"/>
                        <a:cs typeface="Times New Roman" pitchFamily="18" charset="0"/>
                      </a:endParaRPr>
                    </a:p>
                  </a:txBody>
                  <a:tcPr marL="56732" marR="56732" marT="0" marB="0"/>
                </a:tc>
              </a:tr>
            </a:tbl>
          </a:graphicData>
        </a:graphic>
      </p:graphicFrame>
      <mc:AlternateContent xmlns:mc="http://schemas.openxmlformats.org/markup-compatibility/2006" xmlns:a14="http://schemas.microsoft.com/office/drawing/2010/main">
        <mc:Choice Requires="a14">
          <p:sp>
            <p:nvSpPr>
              <p:cNvPr id="15" name="Прямоугольник 14"/>
              <p:cNvSpPr/>
              <p:nvPr/>
            </p:nvSpPr>
            <p:spPr>
              <a:xfrm>
                <a:off x="2411760" y="6021288"/>
                <a:ext cx="4752528" cy="57606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uz-Cyrl-UZ" b="0" i="0" smtClean="0">
                          <a:solidFill>
                            <a:schemeClr val="tx1"/>
                          </a:solidFill>
                          <a:latin typeface="Times New Roman" pitchFamily="18" charset="0"/>
                          <a:cs typeface="Times New Roman" pitchFamily="18" charset="0"/>
                        </a:rPr>
                        <m:t>Калит: </m:t>
                      </m:r>
                      <m:r>
                        <m:rPr>
                          <m:nor/>
                        </m:rPr>
                        <a:rPr lang="uz-Cyrl-UZ" b="1" smtClean="0">
                          <a:solidFill>
                            <a:schemeClr val="tx1"/>
                          </a:solidFill>
                          <a:latin typeface="Times New Roman" pitchFamily="18" charset="0"/>
                          <a:cs typeface="Times New Roman" pitchFamily="18" charset="0"/>
                        </a:rPr>
                        <m:t>11010101110</m:t>
                      </m:r>
                    </m:oMath>
                  </m:oMathPara>
                </a14:m>
                <a:endParaRPr lang="ru-RU" b="1" dirty="0">
                  <a:solidFill>
                    <a:schemeClr val="tx1"/>
                  </a:solidFill>
                  <a:latin typeface="Times New Roman" pitchFamily="18" charset="0"/>
                  <a:cs typeface="Times New Roman" pitchFamily="18" charset="0"/>
                </a:endParaRPr>
              </a:p>
            </p:txBody>
          </p:sp>
        </mc:Choice>
        <mc:Fallback xmlns="">
          <p:sp>
            <p:nvSpPr>
              <p:cNvPr id="15" name="Прямоугольник 14"/>
              <p:cNvSpPr>
                <a:spLocks noRot="1" noChangeAspect="1" noMove="1" noResize="1" noEditPoints="1" noAdjustHandles="1" noChangeArrowheads="1" noChangeShapeType="1" noTextEdit="1"/>
              </p:cNvSpPr>
              <p:nvPr/>
            </p:nvSpPr>
            <p:spPr>
              <a:xfrm>
                <a:off x="2411760" y="6021288"/>
                <a:ext cx="4752528" cy="576064"/>
              </a:xfrm>
              <a:prstGeom prst="rect">
                <a:avLst/>
              </a:prstGeom>
              <a:blipFill rotWithShape="1">
                <a:blip r:embed="rId4"/>
                <a:stretch>
                  <a:fillRect/>
                </a:stretch>
              </a:blipFill>
            </p:spPr>
            <p:txBody>
              <a:bodyPr/>
              <a:lstStyle/>
              <a:p>
                <a:r>
                  <a:rPr lang="ru-RU">
                    <a:noFill/>
                  </a:rPr>
                  <a:t> </a:t>
                </a:r>
              </a:p>
            </p:txBody>
          </p:sp>
        </mc:Fallback>
      </mc:AlternateContent>
      <p:graphicFrame>
        <p:nvGraphicFramePr>
          <p:cNvPr id="13" name="Таблица 12"/>
          <p:cNvGraphicFramePr>
            <a:graphicFrameLocks noGrp="1"/>
          </p:cNvGraphicFramePr>
          <p:nvPr>
            <p:extLst>
              <p:ext uri="{D42A27DB-BD31-4B8C-83A1-F6EECF244321}">
                <p14:modId xmlns:p14="http://schemas.microsoft.com/office/powerpoint/2010/main" val="3422592896"/>
              </p:ext>
            </p:extLst>
          </p:nvPr>
        </p:nvGraphicFramePr>
        <p:xfrm>
          <a:off x="754854" y="980728"/>
          <a:ext cx="7632848" cy="5616624"/>
        </p:xfrm>
        <a:graphic>
          <a:graphicData uri="http://schemas.openxmlformats.org/drawingml/2006/table">
            <a:tbl>
              <a:tblPr firstRow="1" firstCol="1" bandRow="1">
                <a:tableStyleId>{5C22544A-7EE6-4342-B048-85BDC9FD1C3A}</a:tableStyleId>
              </a:tblPr>
              <a:tblGrid>
                <a:gridCol w="2163604"/>
                <a:gridCol w="5469244"/>
              </a:tblGrid>
              <a:tr h="233124">
                <a:tc>
                  <a:txBody>
                    <a:bodyPr/>
                    <a:lstStyle/>
                    <a:p>
                      <a:pPr algn="ctr">
                        <a:lnSpc>
                          <a:spcPct val="150000"/>
                        </a:lnSpc>
                        <a:spcBef>
                          <a:spcPts val="300"/>
                        </a:spcBef>
                        <a:spcAft>
                          <a:spcPts val="300"/>
                        </a:spcAft>
                      </a:pPr>
                      <a:r>
                        <a:rPr lang="uz-Cyrl-UZ" sz="1200" dirty="0">
                          <a:effectLst/>
                          <a:latin typeface="Times New Roman" pitchFamily="18" charset="0"/>
                          <a:cs typeface="Times New Roman" pitchFamily="18" charset="0"/>
                        </a:rPr>
                        <a:t>Регистр узунлиги</a:t>
                      </a:r>
                      <a:endParaRPr lang="ru-RU" sz="1200" dirty="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uz-Cyrl-UZ" sz="1200" dirty="0">
                          <a:effectLst/>
                          <a:latin typeface="Times New Roman" pitchFamily="18" charset="0"/>
                          <a:cs typeface="Times New Roman" pitchFamily="18" charset="0"/>
                        </a:rPr>
                        <a:t>17 бит</a:t>
                      </a:r>
                      <a:endParaRPr lang="ru-RU" sz="1200" dirty="0">
                        <a:effectLst/>
                        <a:latin typeface="Times New Roman" pitchFamily="18" charset="0"/>
                        <a:ea typeface="Times New Roman"/>
                        <a:cs typeface="Times New Roman" pitchFamily="18" charset="0"/>
                      </a:endParaRPr>
                    </a:p>
                  </a:txBody>
                  <a:tcPr marL="40980" marR="40980" marT="0" marB="0"/>
                </a:tc>
              </a:tr>
              <a:tr h="233124">
                <a:tc>
                  <a:txBody>
                    <a:bodyPr/>
                    <a:lstStyle/>
                    <a:p>
                      <a:pPr algn="ctr">
                        <a:lnSpc>
                          <a:spcPct val="150000"/>
                        </a:lnSpc>
                        <a:spcBef>
                          <a:spcPts val="300"/>
                        </a:spcBef>
                        <a:spcAft>
                          <a:spcPts val="300"/>
                        </a:spcAft>
                      </a:pPr>
                      <a:r>
                        <a:rPr lang="uz-Cyrl-UZ" sz="1200">
                          <a:effectLst/>
                          <a:latin typeface="Times New Roman" pitchFamily="18" charset="0"/>
                          <a:cs typeface="Times New Roman" pitchFamily="18" charset="0"/>
                        </a:rPr>
                        <a:t>Филтрловчи функция</a:t>
                      </a:r>
                      <a:endParaRPr lang="ru-RU" sz="120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Aft>
                          <a:spcPts val="0"/>
                        </a:spcAft>
                      </a:pPr>
                      <a:r>
                        <a:rPr lang="uz-Cyrl-UZ" sz="1400" b="1" dirty="0">
                          <a:effectLst/>
                          <a:latin typeface="Times New Roman" pitchFamily="18" charset="0"/>
                          <a:cs typeface="Times New Roman" pitchFamily="18" charset="0"/>
                        </a:rPr>
                        <a:t>f(x) = x</a:t>
                      </a:r>
                      <a:r>
                        <a:rPr lang="uz-Cyrl-UZ" sz="1400" b="1" baseline="-25000" dirty="0">
                          <a:effectLst/>
                          <a:latin typeface="Times New Roman" pitchFamily="18" charset="0"/>
                          <a:cs typeface="Times New Roman" pitchFamily="18" charset="0"/>
                        </a:rPr>
                        <a:t>1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4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8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9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13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15 </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17</a:t>
                      </a:r>
                      <a:endParaRPr lang="ru-RU" sz="1400" b="1" dirty="0">
                        <a:effectLst/>
                        <a:latin typeface="Times New Roman" pitchFamily="18" charset="0"/>
                        <a:ea typeface="Times New Roman"/>
                        <a:cs typeface="Times New Roman" pitchFamily="18" charset="0"/>
                      </a:endParaRPr>
                    </a:p>
                  </a:txBody>
                  <a:tcPr marL="40980" marR="40980" marT="0" marB="0"/>
                </a:tc>
              </a:tr>
              <a:tr h="339684">
                <a:tc>
                  <a:txBody>
                    <a:bodyPr/>
                    <a:lstStyle/>
                    <a:p>
                      <a:pPr algn="ctr">
                        <a:lnSpc>
                          <a:spcPct val="150000"/>
                        </a:lnSpc>
                        <a:spcBef>
                          <a:spcPts val="300"/>
                        </a:spcBef>
                        <a:spcAft>
                          <a:spcPts val="300"/>
                        </a:spcAft>
                      </a:pPr>
                      <a:r>
                        <a:rPr lang="uz-Cyrl-UZ" sz="1200">
                          <a:effectLst/>
                          <a:latin typeface="Times New Roman" pitchFamily="18" charset="0"/>
                          <a:cs typeface="Times New Roman" pitchFamily="18" charset="0"/>
                        </a:rPr>
                        <a:t>Тескари боғланиш кўпҳади</a:t>
                      </a:r>
                      <a:endParaRPr lang="ru-RU" sz="120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uz-Cyrl-UZ" sz="1400" b="1" dirty="0">
                          <a:effectLst/>
                          <a:latin typeface="Times New Roman" pitchFamily="18" charset="0"/>
                          <a:cs typeface="Times New Roman" pitchFamily="18" charset="0"/>
                        </a:rPr>
                        <a:t>C(</a:t>
                      </a:r>
                      <a:r>
                        <a:rPr lang="en-US" sz="1400" b="1" dirty="0">
                          <a:effectLst/>
                          <a:latin typeface="Times New Roman" pitchFamily="18" charset="0"/>
                          <a:cs typeface="Times New Roman" pitchFamily="18" charset="0"/>
                        </a:rPr>
                        <a:t>x</a:t>
                      </a:r>
                      <a:r>
                        <a:rPr lang="uz-Cyrl-UZ" sz="1400" b="1" dirty="0">
                          <a:effectLst/>
                          <a:latin typeface="Times New Roman" pitchFamily="18" charset="0"/>
                          <a:cs typeface="Times New Roman" pitchFamily="18" charset="0"/>
                        </a:rPr>
                        <a:t>) = </a:t>
                      </a:r>
                      <a:r>
                        <a:rPr lang="en-US" sz="1400" b="1" dirty="0">
                          <a:effectLst/>
                          <a:latin typeface="Times New Roman" pitchFamily="18" charset="0"/>
                          <a:cs typeface="Times New Roman" pitchFamily="18" charset="0"/>
                        </a:rPr>
                        <a:t>x</a:t>
                      </a:r>
                      <a:r>
                        <a:rPr lang="uz-Cyrl-UZ" sz="1400" b="1" baseline="30000" dirty="0">
                          <a:effectLst/>
                          <a:latin typeface="Times New Roman" pitchFamily="18" charset="0"/>
                          <a:cs typeface="Times New Roman" pitchFamily="18" charset="0"/>
                        </a:rPr>
                        <a:t>17</a:t>
                      </a:r>
                      <a:r>
                        <a:rPr lang="uz-Cyrl-UZ" sz="1400" b="1" dirty="0">
                          <a:effectLst/>
                          <a:latin typeface="Times New Roman" pitchFamily="18" charset="0"/>
                          <a:cs typeface="Times New Roman" pitchFamily="18" charset="0"/>
                        </a:rPr>
                        <a:t> </a:t>
                      </a:r>
                      <a:r>
                        <a:rPr lang="en-US" sz="1400" b="1" dirty="0">
                          <a:effectLst/>
                          <a:latin typeface="Times New Roman" pitchFamily="18" charset="0"/>
                          <a:cs typeface="Times New Roman" pitchFamily="18" charset="0"/>
                        </a:rPr>
                        <a:t>+ x</a:t>
                      </a:r>
                      <a:r>
                        <a:rPr lang="uz-Cyrl-UZ" sz="1400" b="1" baseline="30000" dirty="0">
                          <a:effectLst/>
                          <a:latin typeface="Times New Roman" pitchFamily="18" charset="0"/>
                          <a:cs typeface="Times New Roman" pitchFamily="18" charset="0"/>
                        </a:rPr>
                        <a:t>15 </a:t>
                      </a:r>
                      <a:r>
                        <a:rPr lang="en-US" sz="1400" b="1" dirty="0">
                          <a:effectLst/>
                          <a:latin typeface="Times New Roman" pitchFamily="18" charset="0"/>
                          <a:cs typeface="Times New Roman" pitchFamily="18" charset="0"/>
                        </a:rPr>
                        <a:t>+ x</a:t>
                      </a:r>
                      <a:r>
                        <a:rPr lang="uz-Cyrl-UZ" sz="1400" b="1" baseline="30000" dirty="0">
                          <a:effectLst/>
                          <a:latin typeface="Times New Roman" pitchFamily="18" charset="0"/>
                          <a:cs typeface="Times New Roman" pitchFamily="18" charset="0"/>
                        </a:rPr>
                        <a:t>13 </a:t>
                      </a:r>
                      <a:r>
                        <a:rPr lang="en-US" sz="1400" b="1" dirty="0">
                          <a:effectLst/>
                          <a:latin typeface="Times New Roman" pitchFamily="18" charset="0"/>
                          <a:cs typeface="Times New Roman" pitchFamily="18" charset="0"/>
                        </a:rPr>
                        <a:t>+ x</a:t>
                      </a:r>
                      <a:r>
                        <a:rPr lang="uz-Cyrl-UZ" sz="1400" b="1" baseline="30000" dirty="0">
                          <a:effectLst/>
                          <a:latin typeface="Times New Roman" pitchFamily="18" charset="0"/>
                          <a:cs typeface="Times New Roman" pitchFamily="18" charset="0"/>
                        </a:rPr>
                        <a:t>8 </a:t>
                      </a:r>
                      <a:r>
                        <a:rPr lang="en-US" sz="1400" b="1" dirty="0">
                          <a:effectLst/>
                          <a:latin typeface="Times New Roman" pitchFamily="18" charset="0"/>
                          <a:cs typeface="Times New Roman" pitchFamily="18" charset="0"/>
                        </a:rPr>
                        <a:t>+ x</a:t>
                      </a:r>
                      <a:r>
                        <a:rPr lang="uz-Cyrl-UZ" sz="1400" b="1" baseline="30000" dirty="0">
                          <a:effectLst/>
                          <a:latin typeface="Times New Roman" pitchFamily="18" charset="0"/>
                          <a:cs typeface="Times New Roman" pitchFamily="18" charset="0"/>
                        </a:rPr>
                        <a:t>3 </a:t>
                      </a:r>
                      <a:r>
                        <a:rPr lang="en-US" sz="1400" b="1" dirty="0">
                          <a:effectLst/>
                          <a:latin typeface="Times New Roman" pitchFamily="18" charset="0"/>
                          <a:cs typeface="Times New Roman" pitchFamily="18" charset="0"/>
                        </a:rPr>
                        <a:t>+</a:t>
                      </a:r>
                      <a:r>
                        <a:rPr lang="uz-Cyrl-UZ" sz="1400" b="1" dirty="0">
                          <a:effectLst/>
                          <a:latin typeface="Times New Roman" pitchFamily="18" charset="0"/>
                          <a:cs typeface="Times New Roman" pitchFamily="18" charset="0"/>
                        </a:rPr>
                        <a:t> 1</a:t>
                      </a:r>
                      <a:endParaRPr lang="ru-RU" sz="1400" b="1" dirty="0">
                        <a:effectLst/>
                        <a:latin typeface="Times New Roman" pitchFamily="18" charset="0"/>
                        <a:ea typeface="Times New Roman"/>
                        <a:cs typeface="Times New Roman" pitchFamily="18" charset="0"/>
                      </a:endParaRPr>
                    </a:p>
                  </a:txBody>
                  <a:tcPr marL="40980" marR="40980" marT="0" marB="0"/>
                </a:tc>
              </a:tr>
              <a:tr h="233124">
                <a:tc>
                  <a:txBody>
                    <a:bodyPr/>
                    <a:lstStyle/>
                    <a:p>
                      <a:pPr algn="ctr">
                        <a:lnSpc>
                          <a:spcPct val="100000"/>
                        </a:lnSpc>
                        <a:spcBef>
                          <a:spcPts val="0"/>
                        </a:spcBef>
                        <a:spcAft>
                          <a:spcPts val="0"/>
                        </a:spcAft>
                      </a:pPr>
                      <a:r>
                        <a:rPr lang="uz-Cyrl-UZ" sz="1200" dirty="0">
                          <a:effectLst/>
                          <a:latin typeface="Times New Roman" pitchFamily="18" charset="0"/>
                          <a:cs typeface="Times New Roman" pitchFamily="18" charset="0"/>
                        </a:rPr>
                        <a:t>Гамма</a:t>
                      </a:r>
                      <a:endParaRPr lang="ru-RU" sz="1200" dirty="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ru-RU" sz="1400" b="1" dirty="0">
                          <a:effectLst/>
                          <a:latin typeface="Times New Roman" pitchFamily="18" charset="0"/>
                          <a:cs typeface="Times New Roman" pitchFamily="18" charset="0"/>
                        </a:rPr>
                        <a:t>11011101001100111</a:t>
                      </a:r>
                      <a:endParaRPr lang="ru-RU" sz="1400" b="1" dirty="0">
                        <a:effectLst/>
                        <a:latin typeface="Times New Roman" pitchFamily="18" charset="0"/>
                        <a:ea typeface="Times New Roman"/>
                        <a:cs typeface="Times New Roman" pitchFamily="18" charset="0"/>
                      </a:endParaRPr>
                    </a:p>
                  </a:txBody>
                  <a:tcPr marL="40980" marR="40980" marT="0" marB="0"/>
                </a:tc>
              </a:tr>
              <a:tr h="498011">
                <a:tc>
                  <a:txBody>
                    <a:bodyPr/>
                    <a:lstStyle/>
                    <a:p>
                      <a:pPr algn="ctr">
                        <a:lnSpc>
                          <a:spcPct val="150000"/>
                        </a:lnSpc>
                        <a:spcBef>
                          <a:spcPts val="300"/>
                        </a:spcBef>
                        <a:spcAft>
                          <a:spcPts val="300"/>
                        </a:spcAft>
                      </a:pPr>
                      <a:r>
                        <a:rPr lang="uz-Cyrl-UZ" sz="1200" dirty="0">
                          <a:effectLst/>
                          <a:latin typeface="Times New Roman" pitchFamily="18" charset="0"/>
                          <a:cs typeface="Times New Roman" pitchFamily="18" charset="0"/>
                        </a:rPr>
                        <a:t>Корреляцион иммунистлик даражаси</a:t>
                      </a:r>
                      <a:endParaRPr lang="ru-RU" sz="1200" dirty="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uz-Cyrl-UZ" sz="1400" b="1" dirty="0">
                          <a:effectLst/>
                          <a:latin typeface="Times New Roman" pitchFamily="18" charset="0"/>
                          <a:cs typeface="Times New Roman" pitchFamily="18" charset="0"/>
                        </a:rPr>
                        <a:t>k = 1</a:t>
                      </a:r>
                      <a:endParaRPr lang="ru-RU" sz="1400" b="1" dirty="0">
                        <a:effectLst/>
                        <a:latin typeface="Times New Roman" pitchFamily="18" charset="0"/>
                        <a:ea typeface="Times New Roman"/>
                        <a:cs typeface="Times New Roman" pitchFamily="18" charset="0"/>
                      </a:endParaRPr>
                    </a:p>
                  </a:txBody>
                  <a:tcPr marL="40980" marR="40980" marT="0" marB="0"/>
                </a:tc>
              </a:tr>
              <a:tr h="233124">
                <a:tc>
                  <a:txBody>
                    <a:bodyPr/>
                    <a:lstStyle/>
                    <a:p>
                      <a:pPr algn="ctr">
                        <a:lnSpc>
                          <a:spcPct val="150000"/>
                        </a:lnSpc>
                        <a:spcBef>
                          <a:spcPts val="300"/>
                        </a:spcBef>
                        <a:spcAft>
                          <a:spcPts val="300"/>
                        </a:spcAft>
                      </a:pPr>
                      <a:r>
                        <a:rPr lang="uz-Cyrl-UZ" sz="1200">
                          <a:effectLst/>
                          <a:latin typeface="Times New Roman" pitchFamily="18" charset="0"/>
                          <a:cs typeface="Times New Roman" pitchFamily="18" charset="0"/>
                        </a:rPr>
                        <a:t>Чизиқсизлик  даражаси</a:t>
                      </a:r>
                      <a:endParaRPr lang="ru-RU" sz="120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uz-Cyrl-UZ" sz="1400" b="1" dirty="0">
                          <a:effectLst/>
                          <a:latin typeface="Times New Roman" pitchFamily="18" charset="0"/>
                          <a:cs typeface="Times New Roman" pitchFamily="18" charset="0"/>
                        </a:rPr>
                        <a:t>N(f) = 40</a:t>
                      </a:r>
                      <a:endParaRPr lang="ru-RU" sz="1400" b="1" dirty="0">
                        <a:effectLst/>
                        <a:latin typeface="Times New Roman" pitchFamily="18" charset="0"/>
                        <a:ea typeface="Times New Roman"/>
                        <a:cs typeface="Times New Roman" pitchFamily="18" charset="0"/>
                      </a:endParaRPr>
                    </a:p>
                  </a:txBody>
                  <a:tcPr marL="40980" marR="40980" marT="0" marB="0"/>
                </a:tc>
              </a:tr>
              <a:tr h="233124">
                <a:tc>
                  <a:txBody>
                    <a:bodyPr/>
                    <a:lstStyle/>
                    <a:p>
                      <a:pPr algn="ctr">
                        <a:lnSpc>
                          <a:spcPct val="150000"/>
                        </a:lnSpc>
                        <a:spcBef>
                          <a:spcPts val="300"/>
                        </a:spcBef>
                        <a:spcAft>
                          <a:spcPts val="300"/>
                        </a:spcAft>
                      </a:pPr>
                      <a:r>
                        <a:rPr lang="uz-Cyrl-UZ" sz="1200">
                          <a:effectLst/>
                          <a:latin typeface="Times New Roman" pitchFamily="18" charset="0"/>
                          <a:cs typeface="Times New Roman" pitchFamily="18" charset="0"/>
                        </a:rPr>
                        <a:t>Статаналог функция</a:t>
                      </a:r>
                      <a:endParaRPr lang="ru-RU" sz="1200">
                        <a:effectLst/>
                        <a:latin typeface="Times New Roman" pitchFamily="18" charset="0"/>
                        <a:ea typeface="Times New Roman"/>
                        <a:cs typeface="Times New Roman" pitchFamily="18" charset="0"/>
                      </a:endParaRPr>
                    </a:p>
                  </a:txBody>
                  <a:tcPr marL="40980" marR="40980" marT="0" marB="0"/>
                </a:tc>
                <a:tc>
                  <a:txBody>
                    <a:bodyPr/>
                    <a:lstStyle/>
                    <a:p>
                      <a:pPr algn="ctr">
                        <a:lnSpc>
                          <a:spcPct val="150000"/>
                        </a:lnSpc>
                        <a:spcBef>
                          <a:spcPts val="300"/>
                        </a:spcBef>
                        <a:spcAft>
                          <a:spcPts val="300"/>
                        </a:spcAft>
                      </a:pPr>
                      <a:r>
                        <a:rPr lang="uz-Cyrl-UZ" sz="1400" b="1" dirty="0">
                          <a:effectLst/>
                          <a:latin typeface="Times New Roman" pitchFamily="18" charset="0"/>
                          <a:cs typeface="Times New Roman" pitchFamily="18" charset="0"/>
                        </a:rPr>
                        <a:t>f(x) = x</a:t>
                      </a:r>
                      <a:r>
                        <a:rPr lang="uz-Cyrl-UZ" sz="1400" b="1" baseline="-25000" dirty="0">
                          <a:effectLst/>
                          <a:latin typeface="Times New Roman" pitchFamily="18" charset="0"/>
                          <a:cs typeface="Times New Roman" pitchFamily="18" charset="0"/>
                        </a:rPr>
                        <a:t>9 </a:t>
                      </a:r>
                      <a:r>
                        <a:rPr lang="en-US" sz="1400" b="1" dirty="0">
                          <a:effectLst/>
                          <a:latin typeface="Times New Roman" pitchFamily="18" charset="0"/>
                          <a:cs typeface="Times New Roman" pitchFamily="18" charset="0"/>
                        </a:rPr>
                        <a:t>+</a:t>
                      </a:r>
                      <a:r>
                        <a:rPr lang="uz-Cyrl-UZ" sz="1400" b="1" dirty="0">
                          <a:effectLst/>
                          <a:latin typeface="Times New Roman" pitchFamily="18" charset="0"/>
                          <a:cs typeface="Times New Roman" pitchFamily="18" charset="0"/>
                        </a:rPr>
                        <a:t> x</a:t>
                      </a:r>
                      <a:r>
                        <a:rPr lang="uz-Cyrl-UZ" sz="1400" b="1" baseline="-25000" dirty="0">
                          <a:effectLst/>
                          <a:latin typeface="Times New Roman" pitchFamily="18" charset="0"/>
                          <a:cs typeface="Times New Roman" pitchFamily="18" charset="0"/>
                        </a:rPr>
                        <a:t>13</a:t>
                      </a:r>
                      <a:r>
                        <a:rPr lang="uz-Cyrl-UZ" sz="1400" b="1" dirty="0">
                          <a:effectLst/>
                          <a:latin typeface="Times New Roman" pitchFamily="18" charset="0"/>
                          <a:cs typeface="Times New Roman" pitchFamily="18" charset="0"/>
                        </a:rPr>
                        <a:t>,     Р = 0,6875</a:t>
                      </a:r>
                      <a:endParaRPr lang="ru-RU" sz="1400" b="1" dirty="0">
                        <a:effectLst/>
                        <a:latin typeface="Times New Roman" pitchFamily="18" charset="0"/>
                        <a:ea typeface="Times New Roman"/>
                        <a:cs typeface="Times New Roman" pitchFamily="18" charset="0"/>
                      </a:endParaRPr>
                    </a:p>
                  </a:txBody>
                  <a:tcPr marL="40980" marR="40980" marT="0" marB="0"/>
                </a:tc>
              </a:tr>
              <a:tr h="3173820">
                <a:tc>
                  <a:txBody>
                    <a:bodyPr/>
                    <a:lstStyle/>
                    <a:p>
                      <a:pPr algn="ctr">
                        <a:lnSpc>
                          <a:spcPct val="150000"/>
                        </a:lnSpc>
                        <a:spcBef>
                          <a:spcPts val="300"/>
                        </a:spcBef>
                        <a:spcAft>
                          <a:spcPts val="300"/>
                        </a:spcAft>
                      </a:pPr>
                      <a:r>
                        <a:rPr lang="uz-Cyrl-UZ" sz="1200">
                          <a:effectLst/>
                          <a:latin typeface="Times New Roman" pitchFamily="18" charset="0"/>
                          <a:cs typeface="Times New Roman" pitchFamily="18" charset="0"/>
                        </a:rPr>
                        <a:t>Чизиқли тенгламалар системаси</a:t>
                      </a:r>
                      <a:endParaRPr lang="ru-RU" sz="1200">
                        <a:effectLst/>
                        <a:latin typeface="Times New Roman" pitchFamily="18" charset="0"/>
                        <a:ea typeface="Times New Roman"/>
                        <a:cs typeface="Times New Roman" pitchFamily="18" charset="0"/>
                      </a:endParaRPr>
                    </a:p>
                  </a:txBody>
                  <a:tcPr marL="40980" marR="40980" marT="0" marB="0"/>
                </a:tc>
                <a:tc>
                  <a:txBody>
                    <a:bodyPr/>
                    <a:lstStyle/>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X9 + X13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X10 + X14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X11 + X15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X12 + X16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X13 + X17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X3 + X5 + X10 + X14 + X15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X2 + X4 + X6 + X11 + X15 + X16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X3 + X5 + X7 + X12 + X16 + X17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X3 + X4 + X5 + X6 + X8 + X10 + X13 + X15 + X17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X2 + X3 + X4 + X6 + X7 + X9 + X10 + X11 + X14 + X15 + X16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X2 + X3 + X4 + X5 + X7 + X8 + X10 + X11 + X12 + X15 + X16 + X17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X4 + X6 + X8 + X9 + X10 + X11 + X12 + X13 + X15 + X16 + X17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X2 + X3 + X7 + X9 + X11 + X12 + X13 + X14 + X15 + X16 + X17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X2 + X4 + X5 + X8 + X12 + X13 + X14 + X16 + X17 = 0</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X2 + X6 + X9 + X10 + X13 + X14 + X17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X1 + X2 + X5 + X7 + X11 + X14 = 1</a:t>
                      </a:r>
                      <a:endParaRPr lang="ru-RU" sz="1200" b="1" dirty="0">
                        <a:effectLst/>
                        <a:latin typeface="Times New Roman" pitchFamily="18" charset="0"/>
                        <a:cs typeface="Times New Roman" pitchFamily="18" charset="0"/>
                      </a:endParaRPr>
                    </a:p>
                    <a:p>
                      <a:pPr marL="180340" algn="just">
                        <a:lnSpc>
                          <a:spcPct val="100000"/>
                        </a:lnSpc>
                        <a:spcBef>
                          <a:spcPts val="0"/>
                        </a:spcBef>
                        <a:spcAft>
                          <a:spcPts val="0"/>
                        </a:spcAft>
                      </a:pPr>
                      <a:r>
                        <a:rPr lang="uz-Cyrl-UZ" sz="1200" b="1" dirty="0">
                          <a:effectLst/>
                          <a:latin typeface="Times New Roman" pitchFamily="18" charset="0"/>
                          <a:cs typeface="Times New Roman" pitchFamily="18" charset="0"/>
                        </a:rPr>
                        <a:t>X2 + X3 + X6 + X8 + X12 + X15 = 1</a:t>
                      </a:r>
                      <a:endParaRPr lang="ru-RU" sz="1200" b="1" dirty="0">
                        <a:effectLst/>
                        <a:latin typeface="Times New Roman" pitchFamily="18" charset="0"/>
                        <a:ea typeface="Times New Roman"/>
                        <a:cs typeface="Times New Roman" pitchFamily="18" charset="0"/>
                      </a:endParaRPr>
                    </a:p>
                  </a:txBody>
                  <a:tcPr marL="40980" marR="40980" marT="0" marB="0"/>
                </a:tc>
              </a:tr>
            </a:tbl>
          </a:graphicData>
        </a:graphic>
      </p:graphicFrame>
    </p:spTree>
    <p:extLst>
      <p:ext uri="{BB962C8B-B14F-4D97-AF65-F5344CB8AC3E}">
        <p14:creationId xmlns:p14="http://schemas.microsoft.com/office/powerpoint/2010/main" val="307995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nodeType="clickEffect">
                                  <p:stCondLst>
                                    <p:cond delay="0"/>
                                  </p:stCondLst>
                                  <p:childTnLst>
                                    <p:animEffect transition="out" filter="randombar(horizontal)">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par>
                                <p:cTn id="23" presetID="14" presetClass="exit" presetSubtype="10" fill="hold" grpId="1" nodeType="withEffect">
                                  <p:stCondLst>
                                    <p:cond delay="0"/>
                                  </p:stCondLst>
                                  <p:childTnLst>
                                    <p:animEffect transition="out" filter="randombar(horizontal)">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childTnLst>
                          </p:cTn>
                        </p:par>
                        <p:par>
                          <p:cTn id="26" fill="hold">
                            <p:stCondLst>
                              <p:cond delay="500"/>
                            </p:stCondLst>
                            <p:childTnLst>
                              <p:par>
                                <p:cTn id="27" presetID="42"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xit" presetSubtype="10" fill="hold" nodeType="clickEffect">
                                  <p:stCondLst>
                                    <p:cond delay="0"/>
                                  </p:stCondLst>
                                  <p:childTnLst>
                                    <p:animEffect transition="out" filter="randombar(horizontal)">
                                      <p:cBhvr>
                                        <p:cTn id="35" dur="500"/>
                                        <p:tgtEl>
                                          <p:spTgt spid="4"/>
                                        </p:tgtEl>
                                      </p:cBhvr>
                                    </p:animEffect>
                                    <p:set>
                                      <p:cBhvr>
                                        <p:cTn id="36" dur="1" fill="hold">
                                          <p:stCondLst>
                                            <p:cond delay="499"/>
                                          </p:stCondLst>
                                        </p:cTn>
                                        <p:tgtEl>
                                          <p:spTgt spid="4"/>
                                        </p:tgtEl>
                                        <p:attrNameLst>
                                          <p:attrName>style.visibility</p:attrName>
                                        </p:attrNameLst>
                                      </p:cBhvr>
                                      <p:to>
                                        <p:strVal val="hidden"/>
                                      </p:to>
                                    </p:set>
                                  </p:childTnLst>
                                </p:cTn>
                              </p:par>
                              <p:par>
                                <p:cTn id="37" presetID="42"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22" presetClass="entr" presetSubtype="4"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down)">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xit" presetSubtype="10" fill="hold" nodeType="clickEffect">
                                  <p:stCondLst>
                                    <p:cond delay="0"/>
                                  </p:stCondLst>
                                  <p:childTnLst>
                                    <p:animEffect transition="out" filter="randombar(horizontal)">
                                      <p:cBhvr>
                                        <p:cTn id="49" dur="500"/>
                                        <p:tgtEl>
                                          <p:spTgt spid="5"/>
                                        </p:tgtEl>
                                      </p:cBhvr>
                                    </p:animEffect>
                                    <p:set>
                                      <p:cBhvr>
                                        <p:cTn id="50" dur="1" fill="hold">
                                          <p:stCondLst>
                                            <p:cond delay="499"/>
                                          </p:stCondLst>
                                        </p:cTn>
                                        <p:tgtEl>
                                          <p:spTgt spid="5"/>
                                        </p:tgtEl>
                                        <p:attrNameLst>
                                          <p:attrName>style.visibility</p:attrName>
                                        </p:attrNameLst>
                                      </p:cBhvr>
                                      <p:to>
                                        <p:strVal val="hidden"/>
                                      </p:to>
                                    </p:set>
                                  </p:childTnLst>
                                </p:cTn>
                              </p:par>
                              <p:par>
                                <p:cTn id="51" presetID="14" presetClass="exit" presetSubtype="10" fill="hold" grpId="1" nodeType="withEffect">
                                  <p:stCondLst>
                                    <p:cond delay="0"/>
                                  </p:stCondLst>
                                  <p:childTnLst>
                                    <p:animEffect transition="out" filter="randombar(horizontal)">
                                      <p:cBhvr>
                                        <p:cTn id="52" dur="500"/>
                                        <p:tgtEl>
                                          <p:spTgt spid="15"/>
                                        </p:tgtEl>
                                      </p:cBhvr>
                                    </p:animEffect>
                                    <p:set>
                                      <p:cBhvr>
                                        <p:cTn id="53" dur="1" fill="hold">
                                          <p:stCondLst>
                                            <p:cond delay="499"/>
                                          </p:stCondLst>
                                        </p:cTn>
                                        <p:tgtEl>
                                          <p:spTgt spid="15"/>
                                        </p:tgtEl>
                                        <p:attrNameLst>
                                          <p:attrName>style.visibility</p:attrName>
                                        </p:attrNameLst>
                                      </p:cBhvr>
                                      <p:to>
                                        <p:strVal val="hidden"/>
                                      </p:to>
                                    </p:set>
                                  </p:childTnLst>
                                </p:cTn>
                              </p:par>
                            </p:childTnLst>
                          </p:cTn>
                        </p:par>
                        <p:par>
                          <p:cTn id="54" fill="hold">
                            <p:stCondLst>
                              <p:cond delay="500"/>
                            </p:stCondLst>
                            <p:childTnLst>
                              <p:par>
                                <p:cTn id="55" presetID="42" presetClass="entr" presetSubtype="0"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1000"/>
                                        <p:tgtEl>
                                          <p:spTgt spid="13"/>
                                        </p:tgtEl>
                                      </p:cBhvr>
                                    </p:animEffect>
                                    <p:anim calcmode="lin" valueType="num">
                                      <p:cBhvr>
                                        <p:cTn id="58" dur="1000" fill="hold"/>
                                        <p:tgtEl>
                                          <p:spTgt spid="13"/>
                                        </p:tgtEl>
                                        <p:attrNameLst>
                                          <p:attrName>ppt_x</p:attrName>
                                        </p:attrNameLst>
                                      </p:cBhvr>
                                      <p:tavLst>
                                        <p:tav tm="0">
                                          <p:val>
                                            <p:strVal val="#ppt_x"/>
                                          </p:val>
                                        </p:tav>
                                        <p:tav tm="100000">
                                          <p:val>
                                            <p:strVal val="#ppt_x"/>
                                          </p:val>
                                        </p:tav>
                                      </p:tavLst>
                                    </p:anim>
                                    <p:anim calcmode="lin" valueType="num">
                                      <p:cBhvr>
                                        <p:cTn id="5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9" grpId="0" animBg="1"/>
      <p:bldP spid="9" grpId="1" animBg="1"/>
      <p:bldP spid="15" grpId="0" animBg="1"/>
      <p:bldP spid="1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830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42786" y="118407"/>
            <a:ext cx="8856984" cy="6624736"/>
          </a:xfrm>
          <a:prstGeom prst="snip2DiagRect">
            <a:avLst>
              <a:gd name="adj1" fmla="val 0"/>
              <a:gd name="adj2" fmla="val 3048"/>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кругленный прямоугольник 20"/>
          <p:cNvSpPr/>
          <p:nvPr/>
        </p:nvSpPr>
        <p:spPr>
          <a:xfrm>
            <a:off x="1043608" y="332656"/>
            <a:ext cx="7200800" cy="576064"/>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dirty="0" smtClean="0">
                <a:solidFill>
                  <a:schemeClr val="accent2">
                    <a:lumMod val="50000"/>
                  </a:schemeClr>
                </a:solidFill>
                <a:latin typeface="Times New Roman" pitchFamily="18" charset="0"/>
                <a:cs typeface="Times New Roman" pitchFamily="18" charset="0"/>
              </a:rPr>
              <a:t> </a:t>
            </a:r>
            <a:endParaRPr lang="en-US" b="1" dirty="0" smtClean="0">
              <a:solidFill>
                <a:schemeClr val="accent2">
                  <a:lumMod val="50000"/>
                </a:schemeClr>
              </a:solidFill>
              <a:latin typeface="Times New Roman" pitchFamily="18" charset="0"/>
              <a:cs typeface="Times New Roman" pitchFamily="18" charset="0"/>
            </a:endParaRPr>
          </a:p>
          <a:p>
            <a:pPr algn="ctr"/>
            <a:r>
              <a:rPr lang="en-US" b="1" dirty="0">
                <a:solidFill>
                  <a:schemeClr val="tx1"/>
                </a:solidFill>
                <a:latin typeface="Times New Roman" pitchFamily="18" charset="0"/>
                <a:cs typeface="Times New Roman" pitchFamily="18" charset="0"/>
              </a:rPr>
              <a:t>LILI</a:t>
            </a:r>
            <a:r>
              <a:rPr lang="ru-RU" b="1" dirty="0">
                <a:solidFill>
                  <a:schemeClr val="tx1"/>
                </a:solidFill>
                <a:latin typeface="Times New Roman" pitchFamily="18" charset="0"/>
                <a:cs typeface="Times New Roman" pitchFamily="18" charset="0"/>
              </a:rPr>
              <a:t>-128 </a:t>
            </a:r>
            <a:r>
              <a:rPr lang="uz-Cyrl-UZ" b="1" dirty="0">
                <a:solidFill>
                  <a:schemeClr val="tx1"/>
                </a:solidFill>
                <a:latin typeface="Times New Roman" pitchFamily="18" charset="0"/>
                <a:cs typeface="Times New Roman" pitchFamily="18" charset="0"/>
              </a:rPr>
              <a:t>алгоритмига нисбатан корреляцион криптотаҳлил натижалари</a:t>
            </a:r>
            <a:endParaRPr lang="ru-RU" b="1" dirty="0">
              <a:solidFill>
                <a:schemeClr val="tx1"/>
              </a:solidFill>
              <a:latin typeface="Times New Roman" pitchFamily="18" charset="0"/>
              <a:cs typeface="Times New Roman" pitchFamily="18" charset="0"/>
            </a:endParaRPr>
          </a:p>
          <a:p>
            <a:pPr algn="ctr"/>
            <a:endParaRPr lang="ru-RU" sz="2000" b="1" dirty="0">
              <a:solidFill>
                <a:schemeClr val="accent2">
                  <a:lumMod val="50000"/>
                </a:schemeClr>
              </a:solidFill>
              <a:latin typeface="Times New Roman" pitchFamily="18" charset="0"/>
              <a:cs typeface="Times New Roman" pitchFamily="18" charset="0"/>
            </a:endParaRPr>
          </a:p>
        </p:txBody>
      </p:sp>
      <p:graphicFrame>
        <p:nvGraphicFramePr>
          <p:cNvPr id="3" name="Таблица 2"/>
          <p:cNvGraphicFramePr>
            <a:graphicFrameLocks noGrp="1"/>
          </p:cNvGraphicFramePr>
          <p:nvPr>
            <p:extLst>
              <p:ext uri="{D42A27DB-BD31-4B8C-83A1-F6EECF244321}">
                <p14:modId xmlns:p14="http://schemas.microsoft.com/office/powerpoint/2010/main" val="3934440025"/>
              </p:ext>
            </p:extLst>
          </p:nvPr>
        </p:nvGraphicFramePr>
        <p:xfrm>
          <a:off x="1056487" y="1397549"/>
          <a:ext cx="7200800" cy="3522828"/>
        </p:xfrm>
        <a:graphic>
          <a:graphicData uri="http://schemas.openxmlformats.org/drawingml/2006/table">
            <a:tbl>
              <a:tblPr firstRow="1" firstCol="1" bandRow="1">
                <a:tableStyleId>{5C22544A-7EE6-4342-B048-85BDC9FD1C3A}</a:tableStyleId>
              </a:tblPr>
              <a:tblGrid>
                <a:gridCol w="2012339"/>
                <a:gridCol w="5188461"/>
              </a:tblGrid>
              <a:tr h="288032">
                <a:tc>
                  <a:txBody>
                    <a:bodyPr/>
                    <a:lstStyle/>
                    <a:p>
                      <a:pPr algn="ctr">
                        <a:lnSpc>
                          <a:spcPct val="100000"/>
                        </a:lnSpc>
                        <a:spcBef>
                          <a:spcPts val="600"/>
                        </a:spcBef>
                        <a:spcAft>
                          <a:spcPts val="0"/>
                        </a:spcAft>
                      </a:pPr>
                      <a:r>
                        <a:rPr lang="uz-Cyrl-UZ" sz="1400" b="1" dirty="0">
                          <a:effectLst/>
                          <a:latin typeface="Times New Roman" pitchFamily="18" charset="0"/>
                          <a:cs typeface="Times New Roman" pitchFamily="18" charset="0"/>
                        </a:rPr>
                        <a:t>Регистр узунлиги</a:t>
                      </a:r>
                      <a:endParaRPr lang="ru-RU" sz="1400" b="1" dirty="0">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89 бит</a:t>
                      </a:r>
                      <a:endParaRPr lang="ru-RU" sz="1400" b="1">
                        <a:effectLst/>
                        <a:latin typeface="Times New Roman" pitchFamily="18" charset="0"/>
                        <a:ea typeface="Times New Roman"/>
                        <a:cs typeface="Times New Roman" pitchFamily="18" charset="0"/>
                      </a:endParaRPr>
                    </a:p>
                  </a:txBody>
                  <a:tcPr marL="68580" marR="68580" marT="0" marB="0"/>
                </a:tc>
              </a:tr>
              <a:tr h="366321">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Филтрловчи функция</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9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24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45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59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69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77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82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86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88 </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89</a:t>
                      </a:r>
                      <a:endParaRPr lang="ru-RU" sz="1600" b="1" dirty="0">
                        <a:effectLst/>
                        <a:latin typeface="Times New Roman" pitchFamily="18" charset="0"/>
                        <a:ea typeface="Times New Roman"/>
                        <a:cs typeface="Times New Roman" pitchFamily="18" charset="0"/>
                      </a:endParaRPr>
                    </a:p>
                  </a:txBody>
                  <a:tcPr marL="68580" marR="68580" marT="0" marB="0"/>
                </a:tc>
              </a:tr>
              <a:tr h="532048">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Тескари боғланиш кўпҳади</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600" b="1" dirty="0">
                          <a:effectLst/>
                          <a:latin typeface="Times New Roman" pitchFamily="18" charset="0"/>
                          <a:cs typeface="Times New Roman" pitchFamily="18" charset="0"/>
                        </a:rPr>
                        <a:t>C(x) = x</a:t>
                      </a:r>
                      <a:r>
                        <a:rPr lang="uz-Cyrl-UZ" sz="1600" b="1" baseline="30000" dirty="0">
                          <a:effectLst/>
                          <a:latin typeface="Times New Roman" pitchFamily="18" charset="0"/>
                          <a:cs typeface="Times New Roman" pitchFamily="18" charset="0"/>
                        </a:rPr>
                        <a:t>89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83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80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55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53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42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39 </a:t>
                      </a:r>
                      <a:r>
                        <a:rPr lang="uz-Cyrl-UZ" sz="1600" b="1" dirty="0">
                          <a:effectLst/>
                          <a:latin typeface="Times New Roman" pitchFamily="18" charset="0"/>
                          <a:cs typeface="Times New Roman" pitchFamily="18" charset="0"/>
                        </a:rPr>
                        <a:t>+ x</a:t>
                      </a:r>
                      <a:r>
                        <a:rPr lang="uz-Cyrl-UZ" sz="1600" b="1" baseline="30000" dirty="0">
                          <a:effectLst/>
                          <a:latin typeface="Times New Roman" pitchFamily="18" charset="0"/>
                          <a:cs typeface="Times New Roman" pitchFamily="18" charset="0"/>
                        </a:rPr>
                        <a:t>1 </a:t>
                      </a:r>
                      <a:r>
                        <a:rPr lang="uz-Cyrl-UZ" sz="1600" b="1" dirty="0">
                          <a:effectLst/>
                          <a:latin typeface="Times New Roman" pitchFamily="18" charset="0"/>
                          <a:cs typeface="Times New Roman" pitchFamily="18" charset="0"/>
                        </a:rPr>
                        <a:t>+ 1</a:t>
                      </a:r>
                      <a:endParaRPr lang="ru-RU" sz="1600" b="1" dirty="0">
                        <a:effectLst/>
                        <a:latin typeface="Times New Roman" pitchFamily="18" charset="0"/>
                        <a:ea typeface="Times New Roman"/>
                        <a:cs typeface="Times New Roman" pitchFamily="18" charset="0"/>
                      </a:endParaRPr>
                    </a:p>
                  </a:txBody>
                  <a:tcPr marL="68580" marR="68580" marT="0" marB="0"/>
                </a:tc>
              </a:tr>
              <a:tr h="613799">
                <a:tc>
                  <a:txBody>
                    <a:bodyPr/>
                    <a:lstStyle/>
                    <a:p>
                      <a:pPr algn="ctr">
                        <a:lnSpc>
                          <a:spcPct val="100000"/>
                        </a:lnSpc>
                        <a:spcBef>
                          <a:spcPts val="600"/>
                        </a:spcBef>
                        <a:spcAft>
                          <a:spcPts val="0"/>
                        </a:spcAft>
                      </a:pPr>
                      <a:endParaRPr lang="uz-Cyrl-UZ" sz="1400" b="1" dirty="0" smtClean="0">
                        <a:effectLst/>
                        <a:latin typeface="Times New Roman" pitchFamily="18" charset="0"/>
                        <a:cs typeface="Times New Roman" pitchFamily="18" charset="0"/>
                      </a:endParaRPr>
                    </a:p>
                    <a:p>
                      <a:pPr algn="ctr">
                        <a:lnSpc>
                          <a:spcPct val="100000"/>
                        </a:lnSpc>
                        <a:spcBef>
                          <a:spcPts val="600"/>
                        </a:spcBef>
                        <a:spcAft>
                          <a:spcPts val="0"/>
                        </a:spcAft>
                      </a:pPr>
                      <a:r>
                        <a:rPr lang="uz-Cyrl-UZ" sz="1400" b="1" dirty="0" smtClean="0">
                          <a:effectLst/>
                          <a:latin typeface="Times New Roman" pitchFamily="18" charset="0"/>
                          <a:cs typeface="Times New Roman" pitchFamily="18" charset="0"/>
                        </a:rPr>
                        <a:t>Гамма</a:t>
                      </a:r>
                      <a:endParaRPr lang="en-US" sz="1400" b="1" dirty="0" smtClean="0">
                        <a:effectLst/>
                        <a:latin typeface="Times New Roman" pitchFamily="18" charset="0"/>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600" b="1" dirty="0" smtClean="0">
                          <a:effectLst/>
                          <a:latin typeface="Times New Roman" pitchFamily="18" charset="0"/>
                          <a:cs typeface="Times New Roman" pitchFamily="18" charset="0"/>
                        </a:rPr>
                        <a:t>11001100000000111011100001010010001001011011000111010100101110000001011110010111101110010</a:t>
                      </a:r>
                      <a:endParaRPr lang="en-US" sz="1600" b="1" dirty="0" smtClean="0">
                        <a:effectLst/>
                        <a:latin typeface="Times New Roman" pitchFamily="18" charset="0"/>
                        <a:cs typeface="Times New Roman" pitchFamily="18" charset="0"/>
                      </a:endParaRPr>
                    </a:p>
                  </a:txBody>
                  <a:tcPr marL="68580" marR="68580" marT="0" marB="0"/>
                </a:tc>
              </a:tr>
              <a:tr h="813065">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Корреляцион иммунистлик даражаси</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endParaRPr lang="uz-Cyrl-UZ" sz="1600" b="1" dirty="0" smtClean="0">
                        <a:effectLst/>
                        <a:latin typeface="Times New Roman" pitchFamily="18" charset="0"/>
                        <a:cs typeface="Times New Roman" pitchFamily="18" charset="0"/>
                      </a:endParaRPr>
                    </a:p>
                    <a:p>
                      <a:pPr algn="ctr">
                        <a:lnSpc>
                          <a:spcPct val="100000"/>
                        </a:lnSpc>
                        <a:spcBef>
                          <a:spcPts val="600"/>
                        </a:spcBef>
                        <a:spcAft>
                          <a:spcPts val="0"/>
                        </a:spcAft>
                      </a:pPr>
                      <a:r>
                        <a:rPr lang="uz-Cyrl-UZ" sz="1600" b="1" dirty="0" smtClean="0">
                          <a:effectLst/>
                          <a:latin typeface="Times New Roman" pitchFamily="18" charset="0"/>
                          <a:cs typeface="Times New Roman" pitchFamily="18" charset="0"/>
                        </a:rPr>
                        <a:t>k </a:t>
                      </a:r>
                      <a:r>
                        <a:rPr lang="uz-Cyrl-UZ" sz="1600" b="1" dirty="0">
                          <a:effectLst/>
                          <a:latin typeface="Times New Roman" pitchFamily="18" charset="0"/>
                          <a:cs typeface="Times New Roman" pitchFamily="18" charset="0"/>
                        </a:rPr>
                        <a:t>= 2</a:t>
                      </a:r>
                      <a:endParaRPr lang="ru-RU" sz="1600" b="1" dirty="0">
                        <a:effectLst/>
                        <a:latin typeface="Times New Roman" pitchFamily="18" charset="0"/>
                        <a:ea typeface="Times New Roman"/>
                        <a:cs typeface="Times New Roman" pitchFamily="18" charset="0"/>
                      </a:endParaRPr>
                    </a:p>
                  </a:txBody>
                  <a:tcPr marL="68580" marR="68580" marT="0" marB="0"/>
                </a:tc>
              </a:tr>
              <a:tr h="532048">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Чизиқсизлик  даражаси</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600" b="1" dirty="0" smtClean="0">
                          <a:effectLst/>
                          <a:latin typeface="Times New Roman" pitchFamily="18" charset="0"/>
                          <a:cs typeface="Times New Roman" pitchFamily="18" charset="0"/>
                        </a:rPr>
                        <a:t>N(f</a:t>
                      </a:r>
                      <a:r>
                        <a:rPr lang="uz-Cyrl-UZ" sz="1600" b="1" dirty="0">
                          <a:effectLst/>
                          <a:latin typeface="Times New Roman" pitchFamily="18" charset="0"/>
                          <a:cs typeface="Times New Roman" pitchFamily="18" charset="0"/>
                        </a:rPr>
                        <a:t>) = 8</a:t>
                      </a:r>
                      <a:endParaRPr lang="ru-RU" sz="1600" b="1" dirty="0">
                        <a:effectLst/>
                        <a:latin typeface="Times New Roman" pitchFamily="18" charset="0"/>
                        <a:ea typeface="Times New Roman"/>
                        <a:cs typeface="Times New Roman" pitchFamily="18" charset="0"/>
                      </a:endParaRPr>
                    </a:p>
                  </a:txBody>
                  <a:tcPr marL="68580" marR="68580" marT="0" marB="0"/>
                </a:tc>
              </a:tr>
              <a:tr h="377515">
                <a:tc>
                  <a:txBody>
                    <a:bodyPr/>
                    <a:lstStyle/>
                    <a:p>
                      <a:pPr algn="ctr">
                        <a:lnSpc>
                          <a:spcPct val="100000"/>
                        </a:lnSpc>
                        <a:spcBef>
                          <a:spcPts val="600"/>
                        </a:spcBef>
                        <a:spcAft>
                          <a:spcPts val="0"/>
                        </a:spcAft>
                      </a:pPr>
                      <a:r>
                        <a:rPr lang="uz-Cyrl-UZ" sz="1400" b="1">
                          <a:effectLst/>
                          <a:latin typeface="Times New Roman" pitchFamily="18" charset="0"/>
                          <a:cs typeface="Times New Roman" pitchFamily="18" charset="0"/>
                        </a:rPr>
                        <a:t>Статаналог функция</a:t>
                      </a:r>
                      <a:endParaRPr lang="ru-RU" sz="1400" b="1">
                        <a:effectLst/>
                        <a:latin typeface="Times New Roman" pitchFamily="18" charset="0"/>
                        <a:ea typeface="Times New Roman"/>
                        <a:cs typeface="Times New Roman" pitchFamily="18" charset="0"/>
                      </a:endParaRPr>
                    </a:p>
                  </a:txBody>
                  <a:tcPr marL="68580" marR="68580" marT="0" marB="0"/>
                </a:tc>
                <a:tc>
                  <a:txBody>
                    <a:bodyPr/>
                    <a:lstStyle/>
                    <a:p>
                      <a:pPr algn="ctr">
                        <a:lnSpc>
                          <a:spcPct val="100000"/>
                        </a:lnSpc>
                        <a:spcBef>
                          <a:spcPts val="600"/>
                        </a:spcBef>
                        <a:spcAft>
                          <a:spcPts val="0"/>
                        </a:spcAft>
                      </a:pPr>
                      <a:r>
                        <a:rPr lang="uz-Cyrl-UZ" sz="1600" b="1" dirty="0">
                          <a:effectLst/>
                          <a:latin typeface="Times New Roman" pitchFamily="18" charset="0"/>
                          <a:cs typeface="Times New Roman" pitchFamily="18" charset="0"/>
                        </a:rPr>
                        <a:t>f(x) = x</a:t>
                      </a:r>
                      <a:r>
                        <a:rPr lang="uz-Cyrl-UZ" sz="1600" b="1" baseline="-25000" dirty="0">
                          <a:effectLst/>
                          <a:latin typeface="Times New Roman" pitchFamily="18" charset="0"/>
                          <a:cs typeface="Times New Roman" pitchFamily="18" charset="0"/>
                        </a:rPr>
                        <a:t>9 </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24</a:t>
                      </a:r>
                      <a:r>
                        <a:rPr lang="en-US" sz="1600" b="1" dirty="0">
                          <a:effectLst/>
                          <a:latin typeface="Times New Roman" pitchFamily="18" charset="0"/>
                          <a:cs typeface="Times New Roman" pitchFamily="18" charset="0"/>
                        </a:rPr>
                        <a:t>+</a:t>
                      </a:r>
                      <a:r>
                        <a:rPr lang="uz-Cyrl-UZ" sz="1600" b="1" dirty="0">
                          <a:effectLst/>
                          <a:latin typeface="Times New Roman" pitchFamily="18" charset="0"/>
                          <a:cs typeface="Times New Roman" pitchFamily="18" charset="0"/>
                        </a:rPr>
                        <a:t> x</a:t>
                      </a:r>
                      <a:r>
                        <a:rPr lang="uz-Cyrl-UZ" sz="1600" b="1" baseline="-25000" dirty="0">
                          <a:effectLst/>
                          <a:latin typeface="Times New Roman" pitchFamily="18" charset="0"/>
                          <a:cs typeface="Times New Roman" pitchFamily="18" charset="0"/>
                        </a:rPr>
                        <a:t>89</a:t>
                      </a:r>
                      <a:r>
                        <a:rPr lang="uz-Cyrl-UZ" sz="1600" b="1" dirty="0">
                          <a:effectLst/>
                          <a:latin typeface="Times New Roman" pitchFamily="18" charset="0"/>
                          <a:cs typeface="Times New Roman" pitchFamily="18" charset="0"/>
                        </a:rPr>
                        <a:t>,     Р = 0,9921875</a:t>
                      </a:r>
                      <a:endParaRPr lang="ru-RU" sz="1600" b="1" dirty="0">
                        <a:effectLst/>
                        <a:latin typeface="Times New Roman" pitchFamily="18" charset="0"/>
                        <a:ea typeface="Times New Roman"/>
                        <a:cs typeface="Times New Roman" pitchFamily="18" charset="0"/>
                      </a:endParaRPr>
                    </a:p>
                  </a:txBody>
                  <a:tcPr marL="68580" marR="68580" marT="0" marB="0"/>
                </a:tc>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139643273"/>
              </p:ext>
            </p:extLst>
          </p:nvPr>
        </p:nvGraphicFramePr>
        <p:xfrm>
          <a:off x="539552" y="1052735"/>
          <a:ext cx="8136904" cy="5593080"/>
        </p:xfrm>
        <a:graphic>
          <a:graphicData uri="http://schemas.openxmlformats.org/drawingml/2006/table">
            <a:tbl>
              <a:tblPr firstRow="1" bandRow="1">
                <a:tableStyleId>{69CF1AB2-1976-4502-BF36-3FF5EA218861}</a:tableStyleId>
              </a:tblPr>
              <a:tblGrid>
                <a:gridCol w="8136904"/>
              </a:tblGrid>
              <a:tr h="5472609">
                <a:tc>
                  <a:txBody>
                    <a:bodyPr/>
                    <a:lstStyle/>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X9 + X24 + X89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X1 + X7 + X25 + X35 + X37 + X48 + X51 + X89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X1 + X2 + X7 + X8 + X10 + X26 + X35 + X36 + X37 + X38 + X48 + X49 + X51 + X52 + X89 = 0</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X1 + X2 + X3 + X7 + X8 + X9 + X10 + X11 + X27 + X35 + X36 + X38 + X39 + X48 + X49 + X50 + X51 + X52 + X53 + X89 = 0</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X1 + X2 + X3 + X4 + X7 + X8 + X9 + X11 + X12 + X28 + X35 + X36 + X39 + X40 + X48 + X49 + X50 + X52 + X53 + X54 + X89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X1 + X2 + X3 + X4 + X5 + X7 + X8 + X9 + X12 + X13 + X29 + X35 + X36 + X40 + X41 + X48 + X49 + X50 + X53 + X54 + X55 + X89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0"/>
                        </a:spcBef>
                      </a:pPr>
                      <a:r>
                        <a:rPr lang="uz-Cyrl-UZ" sz="1200" b="0" kern="1200" dirty="0" smtClean="0">
                          <a:solidFill>
                            <a:schemeClr val="dk1"/>
                          </a:solidFill>
                          <a:effectLst/>
                          <a:latin typeface="Times New Roman" pitchFamily="18" charset="0"/>
                          <a:ea typeface="+mn-ea"/>
                          <a:cs typeface="Times New Roman" pitchFamily="18" charset="0"/>
                        </a:rPr>
                        <a:t>X1 + X2 + X3 + X4 + X5 + X6 + X7 + X8 + X9 + X13 + X14 + X30 + X35 + X36 + X41 + X42 + X48 + X49 + X50 + X54 + X55 + X56 + X89 = 0</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dirty="0" smtClean="0">
                          <a:latin typeface="Times New Roman" pitchFamily="18" charset="0"/>
                          <a:cs typeface="Times New Roman" pitchFamily="18" charset="0"/>
                        </a:rPr>
                        <a:t>.</a:t>
                      </a:r>
                      <a:r>
                        <a:rPr lang="uz-Cyrl-UZ" sz="1200" baseline="0" dirty="0" smtClean="0">
                          <a:latin typeface="Times New Roman" pitchFamily="18" charset="0"/>
                          <a:cs typeface="Times New Roman" pitchFamily="18" charset="0"/>
                        </a:rPr>
                        <a:t>  .  .  .  .  .  .  .  .  .  .  .  .  .  .  .  .  .  .  .  .  .  .  .  .  .  .  .  .  .  .  .  .  .  .  .  .  .  .  .  .  .  .  .  .  .  .  .  .  .  .  .  .  .  .  .  .  .  .  .  .  .  .  .  .  .</a:t>
                      </a:r>
                      <a:endParaRPr lang="uz-Cyrl-UZ" sz="1200" dirty="0" smtClean="0">
                        <a:latin typeface="Times New Roman" pitchFamily="18" charset="0"/>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X4 + X7 + X8 + X9 + X11 + X12 + X13 + X16 + X17 + X18 + X19 + X26 + X27 + X28 + X31 + X37 + X38 + X41 + X42 + X44 + X46 + X47 + X48 + X49 + X53 + X54 + X55 + X57 + X58 + X59 + X60 + X61 + X62 + X63 + X64 + X66 + X67 + X70 + X71 + X72 + X73 + X74 + X75 + X76 + X77 + X78 + X79 + X80 + X81 + X82 + X83 + X84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X5 + X8 + X9 + X10 + X12 + X13 + X14 + X17 + X18 + X19 + X20 + X27 + X28 + X29 + X32 + X38 + X39 + X42 + X43 + X45 + X47 + X48 + X49 + X50 + X54 + X55 + X56 + X58 + X59 + X60 + X61 + X62 + X63 + X64 + X65 + X67 + X68 + X71 + X72 + X73 + X74 + X75 + X76 + X77 + X78 + X79 + X80 + X81 + X82 + X83 + X84 + X85 = 0</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X6 + X9 + X10 + X11 + X13 + X14 + X15 + X18 + X19 + X20 + X21 + X28 + X29 + X30 + X33 + X39 + X40 + X43 + X44 + X46 + X48 + X49 + X50 + X51 + X55 + X56 + X57 + X59 + X60 + X61 + X62 + X63 + X64 + X65 + X66 + X68 + X69 + X72 + X73 + X74 + X75 + X76 + X77 + X78 + X79 + X80 + X81 + X82 + X83 + X84 + X85 + X86 = 0</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300"/>
                        </a:spcBef>
                      </a:pPr>
                      <a:r>
                        <a:rPr lang="uz-Cyrl-UZ" sz="1200" b="0" kern="1200" dirty="0" smtClean="0">
                          <a:solidFill>
                            <a:schemeClr val="dk1"/>
                          </a:solidFill>
                          <a:effectLst/>
                          <a:latin typeface="Times New Roman" pitchFamily="18" charset="0"/>
                          <a:ea typeface="+mn-ea"/>
                          <a:cs typeface="Times New Roman" pitchFamily="18" charset="0"/>
                        </a:rPr>
                        <a:t>X7 + X10 + X11 + X12 + X14 + X15 + X16 + X19 + X20 + X21 + X22 + X29 + X30 + X31 + X34 + X40 + X41 + X44 + X45 + X47 + X49 + X50 + X51 + X52 + X56 + X57 + X58 + X60 + X61 + X62 + X63 + X64 + X65 + X66 + X67 + X69 + X70 + X73 + X74 + X75 + X76 + X77 + X78 + X79 + X80 + X81 + X82 + X83 + X84 + X85 + X86 + X87 = 1</a:t>
                      </a:r>
                      <a:endParaRPr lang="ru-RU" sz="1200" b="0" kern="1200" dirty="0" smtClean="0">
                        <a:solidFill>
                          <a:schemeClr val="dk1"/>
                        </a:solidFill>
                        <a:effectLst/>
                        <a:latin typeface="Times New Roman" pitchFamily="18" charset="0"/>
                        <a:ea typeface="+mn-ea"/>
                        <a:cs typeface="Times New Roman" pitchFamily="18" charset="0"/>
                      </a:endParaRPr>
                    </a:p>
                    <a:p>
                      <a:pPr marL="252000">
                        <a:spcBef>
                          <a:spcPts val="0"/>
                        </a:spcBef>
                      </a:pPr>
                      <a:r>
                        <a:rPr lang="uz-Cyrl-UZ" sz="1200" b="0" kern="1200" dirty="0" smtClean="0">
                          <a:solidFill>
                            <a:schemeClr val="dk1"/>
                          </a:solidFill>
                          <a:effectLst/>
                          <a:latin typeface="Times New Roman" pitchFamily="18" charset="0"/>
                          <a:ea typeface="+mn-ea"/>
                          <a:cs typeface="Times New Roman" pitchFamily="18" charset="0"/>
                        </a:rPr>
                        <a:t>X8 + X11 + X12 + X13 + X15 + X16 + X17 + X20 + X21 + X22 + X23 + X30 + X31 + X32 + X35 + X41 + X42 + X45 + X46 + X48 + X50 + X51 + X52 + X53 + X57 + X58 + X59 + X61 + X62 + X63 + X64 + X65 + X66 + X67 + X68 + X70 + X71 + X74 + X75 + X76 + X77 + X78 + X79 + X80 + X81 + X82 + X83 + X84 + X85 + X86 + X87 + X88 = 0</a:t>
                      </a:r>
                      <a:endParaRPr lang="ru-RU" sz="1200" b="0" kern="1200" dirty="0" smtClean="0">
                        <a:solidFill>
                          <a:schemeClr val="dk1"/>
                        </a:solidFill>
                        <a:effectLst/>
                        <a:latin typeface="Times New Roman" pitchFamily="18" charset="0"/>
                        <a:ea typeface="+mn-ea"/>
                        <a:cs typeface="Times New Roman" pitchFamily="18" charset="0"/>
                      </a:endParaRPr>
                    </a:p>
                    <a:p>
                      <a:pPr marL="252000"/>
                      <a:endParaRPr lang="ru-RU" sz="1200" dirty="0">
                        <a:latin typeface="Times New Roman" pitchFamily="18" charset="0"/>
                        <a:cs typeface="Times New Roman" pitchFamily="18" charset="0"/>
                      </a:endParaRPr>
                    </a:p>
                  </a:txBody>
                  <a:tcPr/>
                </a:tc>
              </a:tr>
            </a:tbl>
          </a:graphicData>
        </a:graphic>
      </p:graphicFrame>
      <p:sp>
        <p:nvSpPr>
          <p:cNvPr id="18" name="Левая фигурная скобка 17"/>
          <p:cNvSpPr/>
          <p:nvPr/>
        </p:nvSpPr>
        <p:spPr>
          <a:xfrm>
            <a:off x="611560" y="1124744"/>
            <a:ext cx="176783" cy="525658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Tree>
    <p:extLst>
      <p:ext uri="{BB962C8B-B14F-4D97-AF65-F5344CB8AC3E}">
        <p14:creationId xmlns:p14="http://schemas.microsoft.com/office/powerpoint/2010/main" val="373018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nodeType="clickEffect">
                                  <p:stCondLst>
                                    <p:cond delay="0"/>
                                  </p:stCondLst>
                                  <p:childTnLst>
                                    <p:animEffect transition="out" filter="randombar(horizontal)">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30386" y="0"/>
            <a:ext cx="9144000" cy="6858000"/>
          </a:xfrm>
          <a:prstGeom prst="rect">
            <a:avLst/>
          </a:prstGeom>
          <a:solidFill>
            <a:schemeClr val="accent6">
              <a:lumMod val="50000"/>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с двумя вырезанными противолежащими углами 10"/>
          <p:cNvSpPr/>
          <p:nvPr/>
        </p:nvSpPr>
        <p:spPr>
          <a:xfrm>
            <a:off x="173894" y="116632"/>
            <a:ext cx="8856984" cy="6624736"/>
          </a:xfrm>
          <a:prstGeom prst="snip2DiagRect">
            <a:avLst>
              <a:gd name="adj1" fmla="val 0"/>
              <a:gd name="adj2" fmla="val 6353"/>
            </a:avLst>
          </a:prstGeom>
          <a:pattFill prst="pct10">
            <a:fgClr>
              <a:schemeClr val="accent6">
                <a:lumMod val="75000"/>
              </a:schemeClr>
            </a:fgClr>
            <a:bgClr>
              <a:schemeClr val="bg1"/>
            </a:bgClr>
          </a:patt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Скругленный прямоугольник 4"/>
          <p:cNvSpPr/>
          <p:nvPr/>
        </p:nvSpPr>
        <p:spPr>
          <a:xfrm>
            <a:off x="923050" y="332656"/>
            <a:ext cx="7517067" cy="432048"/>
          </a:xfrm>
          <a:prstGeom prst="roundRect">
            <a:avLst>
              <a:gd name="adj" fmla="val 0"/>
            </a:avLst>
          </a:prstGeom>
          <a:gradFill>
            <a:gsLst>
              <a:gs pos="0">
                <a:srgbClr val="E6DCAC">
                  <a:lumMod val="79000"/>
                  <a:lumOff val="21000"/>
                </a:srgbClr>
              </a:gs>
              <a:gs pos="12000">
                <a:srgbClr val="E6D78A">
                  <a:lumMod val="62000"/>
                  <a:lumOff val="38000"/>
                </a:srgbClr>
              </a:gs>
              <a:gs pos="30000">
                <a:srgbClr val="C7AC4C">
                  <a:lumMod val="77000"/>
                  <a:lumOff val="23000"/>
                </a:srgbClr>
              </a:gs>
              <a:gs pos="45000">
                <a:srgbClr val="E6D78A">
                  <a:lumMod val="29000"/>
                  <a:lumOff val="71000"/>
                </a:srgbClr>
              </a:gs>
              <a:gs pos="77000">
                <a:srgbClr val="C7AC4C">
                  <a:lumMod val="61000"/>
                  <a:lumOff val="39000"/>
                </a:srgbClr>
              </a:gs>
              <a:gs pos="100000">
                <a:srgbClr val="E6DCAC"/>
              </a:gs>
            </a:gsLst>
            <a:lin ang="5400000" scaled="0"/>
          </a:gradFill>
          <a:effectLst>
            <a:glow rad="139700">
              <a:schemeClr val="accent5">
                <a:satMod val="175000"/>
                <a:alpha val="40000"/>
              </a:schemeClr>
            </a:glow>
            <a:reflection endPos="0" dir="5400000" sy="-100000" algn="bl" rotWithShape="0"/>
          </a:effectLst>
          <a:scene3d>
            <a:camera prst="orthographicFront"/>
            <a:lightRig rig="threePt" dir="t"/>
          </a:scene3d>
          <a:sp3d>
            <a:bevel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2200" b="1" dirty="0" smtClean="0">
                <a:solidFill>
                  <a:schemeClr val="tx1"/>
                </a:solidFill>
                <a:latin typeface="Times New Roman" pitchFamily="18" charset="0"/>
                <a:cs typeface="Times New Roman" pitchFamily="18" charset="0"/>
              </a:rPr>
              <a:t>Хулоса</a:t>
            </a:r>
            <a:endParaRPr lang="ru-RU" sz="2200" b="1" dirty="0">
              <a:solidFill>
                <a:schemeClr val="tx1"/>
              </a:solidFill>
              <a:latin typeface="Times New Roman" pitchFamily="18" charset="0"/>
              <a:cs typeface="Times New Roman" pitchFamily="18" charset="0"/>
            </a:endParaRPr>
          </a:p>
        </p:txBody>
      </p:sp>
      <p:sp>
        <p:nvSpPr>
          <p:cNvPr id="6" name="Скругленный прямоугольник 5"/>
          <p:cNvSpPr/>
          <p:nvPr/>
        </p:nvSpPr>
        <p:spPr>
          <a:xfrm>
            <a:off x="668087" y="980729"/>
            <a:ext cx="8026992" cy="5472608"/>
          </a:xfrm>
          <a:prstGeom prst="roundRect">
            <a:avLst>
              <a:gd name="adj" fmla="val 6081"/>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uz-Cyrl-UZ" sz="1400" dirty="0">
              <a:solidFill>
                <a:schemeClr val="tx1"/>
              </a:solidFill>
              <a:latin typeface="Times New Roman" pitchFamily="18" charset="0"/>
              <a:cs typeface="Times New Roman" pitchFamily="18" charset="0"/>
            </a:endParaRPr>
          </a:p>
          <a:p>
            <a:pPr algn="just">
              <a:spcAft>
                <a:spcPts val="600"/>
              </a:spcAft>
            </a:pPr>
            <a:r>
              <a:rPr lang="en-US" sz="1600" dirty="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Илмий </a:t>
            </a:r>
            <a:r>
              <a:rPr lang="uz-Cyrl-UZ" dirty="0">
                <a:solidFill>
                  <a:schemeClr val="tx1"/>
                </a:solidFill>
                <a:latin typeface="Times New Roman" pitchFamily="18" charset="0"/>
                <a:cs typeface="Times New Roman" pitchFamily="18" charset="0"/>
              </a:rPr>
              <a:t>– тадқиқот ишининг мақсад ва вазифаларидан келиб чиқиб, мазкур диссертация ишида узлуксиз шифрлаш алгоритмлари учун корреляцион криптотаҳлил усулини қўллаш методлари таҳлил қилиниб, комбинацияловчи ва филтрловчи генераторларга корреляцион криптотаҳлил ўтказиш математик модели </a:t>
            </a:r>
            <a:r>
              <a:rPr lang="uz-Cyrl-UZ" dirty="0" smtClean="0">
                <a:solidFill>
                  <a:schemeClr val="tx1"/>
                </a:solidFill>
                <a:latin typeface="Times New Roman" pitchFamily="18" charset="0"/>
                <a:cs typeface="Times New Roman" pitchFamily="18" charset="0"/>
              </a:rPr>
              <a:t>ишлаб </a:t>
            </a:r>
            <a:r>
              <a:rPr lang="uz-Cyrl-UZ" dirty="0">
                <a:solidFill>
                  <a:schemeClr val="tx1"/>
                </a:solidFill>
                <a:latin typeface="Times New Roman" pitchFamily="18" charset="0"/>
                <a:cs typeface="Times New Roman" pitchFamily="18" charset="0"/>
              </a:rPr>
              <a:t>чиқилди ва корреляцион криптотаҳлил ўтказиш дастурий </a:t>
            </a:r>
            <a:r>
              <a:rPr lang="uz-Cyrl-UZ" dirty="0" smtClean="0">
                <a:solidFill>
                  <a:schemeClr val="tx1"/>
                </a:solidFill>
                <a:latin typeface="Times New Roman" pitchFamily="18" charset="0"/>
                <a:cs typeface="Times New Roman" pitchFamily="18" charset="0"/>
              </a:rPr>
              <a:t>таъминоти</a:t>
            </a:r>
            <a:r>
              <a:rPr lang="en-US" dirty="0" smtClean="0">
                <a:solidFill>
                  <a:schemeClr val="tx1"/>
                </a:solidFill>
                <a:latin typeface="Times New Roman" pitchFamily="18" charset="0"/>
                <a:cs typeface="Times New Roman" pitchFamily="18" charset="0"/>
              </a:rPr>
              <a:t> </a:t>
            </a:r>
            <a:r>
              <a:rPr lang="uz-Cyrl-UZ" dirty="0" smtClean="0">
                <a:solidFill>
                  <a:schemeClr val="tx1"/>
                </a:solidFill>
                <a:latin typeface="Times New Roman" pitchFamily="18" charset="0"/>
                <a:cs typeface="Times New Roman" pitchFamily="18" charset="0"/>
              </a:rPr>
              <a:t>яратилди</a:t>
            </a:r>
            <a:r>
              <a:rPr lang="uz-Cyrl-UZ" dirty="0">
                <a:solidFill>
                  <a:schemeClr val="tx1"/>
                </a:solidFill>
                <a:latin typeface="Times New Roman" pitchFamily="18" charset="0"/>
                <a:cs typeface="Times New Roman" pitchFamily="18" charset="0"/>
              </a:rPr>
              <a:t>. Дастурий таъминотдан олинган натижалар асосида қуйидагилар хулоса қилинди:</a:t>
            </a:r>
            <a:endParaRPr lang="ru-RU" dirty="0">
              <a:solidFill>
                <a:schemeClr val="tx1"/>
              </a:solidFill>
              <a:latin typeface="Times New Roman" pitchFamily="18" charset="0"/>
              <a:cs typeface="Times New Roman" pitchFamily="18" charset="0"/>
            </a:endParaRPr>
          </a:p>
          <a:p>
            <a:pPr marL="285750" lvl="0" indent="-285750" algn="just">
              <a:spcAft>
                <a:spcPts val="600"/>
              </a:spcAft>
              <a:buFont typeface="Arial" pitchFamily="34" charset="0"/>
              <a:buChar char="•"/>
            </a:pPr>
            <a:r>
              <a:rPr lang="uz-Cyrl-UZ" dirty="0">
                <a:solidFill>
                  <a:schemeClr val="tx1"/>
                </a:solidFill>
                <a:latin typeface="Times New Roman" pitchFamily="18" charset="0"/>
                <a:cs typeface="Times New Roman" pitchFamily="18" charset="0"/>
              </a:rPr>
              <a:t>комбинацияловчи генераторларда фойдаланилган комбинацияловчи функциянинг корреляцион – иммунистлик хоссаси корреляцион криптотаҳлил усулига нисбатан бардошлиликни таъминлайди;</a:t>
            </a:r>
            <a:endParaRPr lang="ru-RU" dirty="0">
              <a:solidFill>
                <a:schemeClr val="tx1"/>
              </a:solidFill>
              <a:latin typeface="Times New Roman" pitchFamily="18" charset="0"/>
              <a:cs typeface="Times New Roman" pitchFamily="18" charset="0"/>
            </a:endParaRPr>
          </a:p>
          <a:p>
            <a:pPr marL="285750" lvl="0" indent="-285750" algn="just">
              <a:spcAft>
                <a:spcPts val="600"/>
              </a:spcAft>
              <a:buFont typeface="Arial" pitchFamily="34" charset="0"/>
              <a:buChar char="•"/>
            </a:pPr>
            <a:r>
              <a:rPr lang="uz-Cyrl-UZ" dirty="0">
                <a:solidFill>
                  <a:schemeClr val="tx1"/>
                </a:solidFill>
                <a:latin typeface="Times New Roman" pitchFamily="18" charset="0"/>
                <a:cs typeface="Times New Roman" pitchFamily="18" charset="0"/>
              </a:rPr>
              <a:t>А5 алгоритмида кўриб ўтилган корреляцион криптотаҳлил усулига бардошлилик чизиқли функциядан фойдаланиш орқали таъминланган;</a:t>
            </a:r>
            <a:endParaRPr lang="ru-RU" dirty="0">
              <a:solidFill>
                <a:schemeClr val="tx1"/>
              </a:solidFill>
              <a:latin typeface="Times New Roman" pitchFamily="18" charset="0"/>
              <a:cs typeface="Times New Roman" pitchFamily="18" charset="0"/>
            </a:endParaRPr>
          </a:p>
          <a:p>
            <a:pPr marL="285750" lvl="0" indent="-285750" algn="just">
              <a:spcAft>
                <a:spcPts val="600"/>
              </a:spcAft>
              <a:buFont typeface="Arial" pitchFamily="34" charset="0"/>
              <a:buChar char="•"/>
            </a:pPr>
            <a:r>
              <a:rPr lang="uz-Cyrl-UZ" dirty="0">
                <a:solidFill>
                  <a:schemeClr val="tx1"/>
                </a:solidFill>
                <a:latin typeface="Times New Roman" pitchFamily="18" charset="0"/>
                <a:cs typeface="Times New Roman" pitchFamily="18" charset="0"/>
              </a:rPr>
              <a:t>филтрловчи генераторларда чизиқли бўлмаган, корреляцион – иммунистлик хоссасига эга бўлган филтрловчи функциядан фойдаланиш корреляцион криптотаҳлил усулига нисбатан бардошлиликни оширади;</a:t>
            </a:r>
            <a:endParaRPr lang="ru-RU" dirty="0">
              <a:solidFill>
                <a:schemeClr val="tx1"/>
              </a:solidFill>
              <a:latin typeface="Times New Roman" pitchFamily="18" charset="0"/>
              <a:cs typeface="Times New Roman" pitchFamily="18" charset="0"/>
            </a:endParaRPr>
          </a:p>
          <a:p>
            <a:pPr marL="285750" lvl="0" indent="-285750" algn="just">
              <a:spcAft>
                <a:spcPts val="600"/>
              </a:spcAft>
              <a:buFont typeface="Arial" pitchFamily="34" charset="0"/>
              <a:buChar char="•"/>
            </a:pPr>
            <a:r>
              <a:rPr lang="uz-Cyrl-UZ" dirty="0">
                <a:solidFill>
                  <a:schemeClr val="tx1"/>
                </a:solidFill>
                <a:latin typeface="Times New Roman" pitchFamily="18" charset="0"/>
                <a:cs typeface="Times New Roman" pitchFamily="18" charset="0"/>
              </a:rPr>
              <a:t>LILI-128 алгоритмида корреляцион криптотаҳлил усулига бардошлилик қўшимча бошқарув регистрини қўшиш йўли билан таъминланган.</a:t>
            </a:r>
            <a:endParaRPr lang="ru-RU" dirty="0">
              <a:solidFill>
                <a:schemeClr val="tx1"/>
              </a:solidFill>
              <a:latin typeface="Times New Roman" pitchFamily="18" charset="0"/>
              <a:cs typeface="Times New Roman" pitchFamily="18" charset="0"/>
            </a:endParaRPr>
          </a:p>
          <a:p>
            <a:pPr lvl="0" algn="just">
              <a:spcAft>
                <a:spcPts val="600"/>
              </a:spcAft>
            </a:pPr>
            <a:endParaRPr lang="ru-RU" sz="1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9224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in)">
                                      <p:cBhvr>
                                        <p:cTn id="11" dur="1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8533</TotalTime>
  <Words>6247</Words>
  <Application>Microsoft Office PowerPoint</Application>
  <PresentationFormat>Экран (4:3)</PresentationFormat>
  <Paragraphs>1164</Paragraphs>
  <Slides>33</Slides>
  <Notes>33</Notes>
  <HiddenSlides>0</HiddenSlides>
  <MMClips>0</MMClips>
  <ScaleCrop>false</ScaleCrop>
  <HeadingPairs>
    <vt:vector size="4" baseType="variant">
      <vt:variant>
        <vt:lpstr>Тема</vt:lpstr>
      </vt:variant>
      <vt:variant>
        <vt:i4>1</vt:i4>
      </vt:variant>
      <vt:variant>
        <vt:lpstr>Заголовки слайдов</vt:lpstr>
      </vt:variant>
      <vt:variant>
        <vt:i4>33</vt:i4>
      </vt:variant>
    </vt:vector>
  </HeadingPairs>
  <TitlesOfParts>
    <vt:vector size="34" baseType="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Muhtor</dc:creator>
  <cp:lastModifiedBy>Microsoft Office</cp:lastModifiedBy>
  <cp:revision>330</cp:revision>
  <dcterms:created xsi:type="dcterms:W3CDTF">2012-10-23T08:10:02Z</dcterms:created>
  <dcterms:modified xsi:type="dcterms:W3CDTF">2019-08-22T05:56:02Z</dcterms:modified>
</cp:coreProperties>
</file>