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20" r:id="rId3"/>
    <p:sldId id="342" r:id="rId4"/>
    <p:sldId id="343" r:id="rId5"/>
    <p:sldId id="344" r:id="rId6"/>
    <p:sldId id="330" r:id="rId7"/>
    <p:sldId id="322" r:id="rId8"/>
    <p:sldId id="331" r:id="rId9"/>
    <p:sldId id="332" r:id="rId10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95C6"/>
    <a:srgbClr val="153943"/>
    <a:srgbClr val="1F3651"/>
    <a:srgbClr val="09191D"/>
    <a:srgbClr val="163C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Средний стиль 3 -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Средний стиль 4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Темный стиль 1 - акцент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75" autoAdjust="0"/>
    <p:restoredTop sz="93614" autoAdjust="0"/>
  </p:normalViewPr>
  <p:slideViewPr>
    <p:cSldViewPr>
      <p:cViewPr varScale="1">
        <p:scale>
          <a:sx n="105" d="100"/>
          <a:sy n="105" d="100"/>
        </p:scale>
        <p:origin x="-17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648"/>
    </p:cViewPr>
  </p:sorterViewPr>
  <p:notesViewPr>
    <p:cSldViewPr>
      <p:cViewPr varScale="1">
        <p:scale>
          <a:sx n="70" d="100"/>
          <a:sy n="70" d="100"/>
        </p:scale>
        <p:origin x="-276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0936A-18C3-47B2-95C2-0EBAC82D5DD8}" type="datetimeFigureOut">
              <a:rPr lang="ru-RU" smtClean="0"/>
              <a:pPr/>
              <a:t>21.08.2019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5B221-89C0-4458-99EA-A08D9A9203E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785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8/21/2019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8/21/2019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8/21/2019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8/21/2019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8/21/2019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8/21/2019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8/21/2019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8/21/2019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8/21/2019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8/21/2019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8/21/2019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8/21/2019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latinLnBrk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latinLnBrk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latinLnBrk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latinLnBrk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latinLnBrk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latinLnBrk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33400" y="457200"/>
            <a:ext cx="81534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sz="2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effectLst>
                  <a:outerShdw dir="8400000" algn="ctr" rotWithShape="0">
                    <a:schemeClr val="tx1"/>
                  </a:outerShdw>
                </a:effectLst>
                <a:latin typeface="Times New Roman" pitchFamily="18" charset="0"/>
                <a:cs typeface="Times New Roman" pitchFamily="18" charset="0"/>
              </a:rPr>
              <a:t>Радиоэлектрон тизимлар ва ахборот технологиялари </a:t>
            </a:r>
            <a:r>
              <a:rPr lang="uz-Cyrl-UZ" sz="2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effectLst>
                  <a:outerShdw dir="8400000" algn="ctr" rotWithShape="0">
                    <a:schemeClr val="tx1"/>
                  </a:outerShdw>
                </a:effectLst>
                <a:latin typeface="Times New Roman" pitchFamily="18" charset="0"/>
                <a:cs typeface="Times New Roman" pitchFamily="18" charset="0"/>
              </a:rPr>
              <a:t>маркази</a:t>
            </a:r>
            <a:endParaRPr lang="ru-RU" sz="2200" dirty="0">
              <a:solidFill>
                <a:srgbClr val="002060"/>
              </a:solidFill>
              <a:effectLst>
                <a:outerShdw dir="8400000" algn="ctr" rotWithShape="0">
                  <a:schemeClr val="tx1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533400" y="1634698"/>
            <a:ext cx="8153400" cy="0"/>
          </a:xfrm>
          <a:prstGeom prst="line">
            <a:avLst/>
          </a:prstGeom>
          <a:ln w="50800" cmpd="sng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47800" y="3048000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1066801" y="2902803"/>
            <a:ext cx="7239000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tx2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2400" b="1" dirty="0" err="1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Эллиптик</a:t>
            </a:r>
            <a:r>
              <a:rPr lang="ru-RU" sz="24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эгри</a:t>
            </a:r>
            <a:r>
              <a:rPr lang="ru-RU" sz="24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чизиқ</a:t>
            </a:r>
            <a:r>
              <a:rPr lang="ru-RU" sz="24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асосида</a:t>
            </a:r>
            <a:r>
              <a:rPr lang="ru-RU" sz="24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маълумотларни</a:t>
            </a:r>
            <a:r>
              <a:rPr lang="ru-RU" sz="24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шифрлаш</a:t>
            </a:r>
            <a:r>
              <a:rPr lang="ru-RU" sz="24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алгоритмлари</a:t>
            </a:r>
            <a:endParaRPr lang="ru-RU" sz="20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3588711" y="5867400"/>
            <a:ext cx="2118977" cy="43088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uz-Cyrl-UZ" sz="2200" b="1" cap="none" spc="0" dirty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</a:rPr>
              <a:t>Тошкент</a:t>
            </a:r>
            <a:r>
              <a:rPr lang="ru-RU" sz="2200" b="1" cap="none" spc="0" dirty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</a:rPr>
              <a:t> - 20</a:t>
            </a:r>
            <a:r>
              <a:rPr lang="en-US" sz="2200" b="1" cap="none" spc="0" dirty="0" smtClean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</a:rPr>
              <a:t>19</a:t>
            </a:r>
            <a:endParaRPr lang="ru-RU" sz="2200" b="1" cap="none" spc="0" dirty="0">
              <a:ln w="1905"/>
              <a:solidFill>
                <a:schemeClr val="tx1">
                  <a:lumMod val="95000"/>
                  <a:lumOff val="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 title="Мавзунинг долзарблиги"/>
          <p:cNvSpPr txBox="1"/>
          <p:nvPr/>
        </p:nvSpPr>
        <p:spPr>
          <a:xfrm>
            <a:off x="58994" y="76200"/>
            <a:ext cx="883920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Эллиптик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эгри чизиққа асосланган оптимал асимметрик шифрлаш алгоритми математик модели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с двумя вырезанными противолежащими углами 3"/>
          <p:cNvSpPr/>
          <p:nvPr/>
        </p:nvSpPr>
        <p:spPr>
          <a:xfrm>
            <a:off x="152400" y="830442"/>
            <a:ext cx="8745794" cy="5715000"/>
          </a:xfrm>
          <a:prstGeom prst="snip2DiagRect">
            <a:avLst>
              <a:gd name="adj1" fmla="val 0"/>
              <a:gd name="adj2" fmla="val 7355"/>
            </a:avLst>
          </a:prstGeom>
          <a:pattFill prst="wdUp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spcAft>
                <a:spcPts val="1000"/>
              </a:spcAft>
            </a:pP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    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57200" y="722531"/>
            <a:ext cx="8229600" cy="791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0510" algn="ctr">
              <a:lnSpc>
                <a:spcPct val="150000"/>
              </a:lnSpc>
              <a:spcAft>
                <a:spcPts val="800"/>
              </a:spcAft>
            </a:pPr>
            <a:r>
              <a:rPr lang="uz-Cyrl-UZ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Эллиптик эгри чизиққа асосланган оптимал асимметрик шифрлаш алгоритми математик </a:t>
            </a:r>
            <a:r>
              <a:rPr lang="uz-Cyrl-UZ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модели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199103" y="1384542"/>
                <a:ext cx="8699091" cy="48638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lnSpc>
                    <a:spcPct val="150000"/>
                  </a:lnSpc>
                  <a:spcAft>
                    <a:spcPts val="1000"/>
                  </a:spcAft>
                  <a:buFont typeface="+mj-lt"/>
                  <a:buAutoNum type="romanUcPeriod"/>
                </a:pPr>
                <a:r>
                  <a:rPr lang="ru-RU" sz="1600" b="1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Параметрларни</a:t>
                </a:r>
                <a:r>
                  <a:rPr lang="ru-RU" sz="1600" b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генерация </a:t>
                </a:r>
                <a:r>
                  <a:rPr lang="ru-RU" sz="1600" b="1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қилиш</a:t>
                </a:r>
                <a:r>
                  <a:rPr lang="ru-RU" sz="1600" b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ru-RU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ru-RU" sz="1600" i="1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                                             ,Е</a:t>
                </a:r>
                <a:r>
                  <a:rPr lang="ru-RU" sz="16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–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чизиқда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ётувчи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базавий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)∈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Е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нуқта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топилади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;</a:t>
                </a:r>
                <a:endParaRPr lang="ru-RU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Нуқта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тартиби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∈(</m:t>
                    </m:r>
                    <m:sSup>
                      <m:sSupPr>
                        <m:ctrlPr>
                          <a:rPr lang="ru-RU" sz="1600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254</m:t>
                        </m:r>
                      </m:sup>
                    </m:sSup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ru-RU" sz="1600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256</m:t>
                        </m:r>
                      </m:sup>
                    </m:sSup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оралиқдан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қуйидагича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sz="1600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аниқланади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; </a:t>
                </a:r>
                <a:endParaRPr lang="ru-RU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Ёпиқ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калит </a:t>
                </a:r>
                <a:r>
                  <a:rPr lang="ru-RU" sz="1600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d, 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0&lt;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шарт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билан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танланади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;</a:t>
                </a:r>
                <a:endParaRPr lang="ru-RU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Очиқ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калит </a:t>
                </a:r>
                <a:r>
                  <a:rPr lang="ru-RU" sz="1600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=[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ru-RU" sz="1600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тенгликдан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аниқланади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;</a:t>
                </a:r>
                <a:endParaRPr lang="ru-RU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10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туб сони разряди</a:t>
                </a:r>
                <a:r>
                  <a:rPr lang="uz-Cyrl-UZ" sz="16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битга тенг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10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ва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фиксирланган бутун сонлар;</a:t>
                </a:r>
                <a:endParaRPr lang="ru-RU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10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очиқ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матн</a:t>
                </a:r>
                <a:r>
                  <a:rPr lang="ru-RU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блоки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16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−16</m:t>
                    </m:r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битли қатор</a:t>
                </a:r>
                <a:r>
                  <a:rPr lang="uz-Cyrl-UZ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en-US" sz="1600" dirty="0" smtClean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10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1600" dirty="0" smtClean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криптографик</a:t>
                </a:r>
                <a:r>
                  <a:rPr lang="ru-RU" sz="16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хэш</a:t>
                </a:r>
                <a:r>
                  <a:rPr lang="ru-RU" sz="16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функциялар</a:t>
                </a:r>
                <a:r>
                  <a:rPr lang="ru-RU" sz="16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уларнинг</a:t>
                </a:r>
                <a:r>
                  <a:rPr lang="ru-RU" sz="16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мос</a:t>
                </a:r>
                <a:r>
                  <a:rPr lang="ru-RU" sz="16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равишда</a:t>
                </a:r>
                <a:r>
                  <a:rPr lang="ru-RU" sz="16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узунлиги</a:t>
                </a:r>
                <a:r>
                  <a:rPr lang="ru-RU" sz="16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ru-RU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ru-RU" sz="16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uz-Cyrl-UZ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uz-Cyrl-UZ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−16</m:t>
                    </m:r>
                  </m:oMath>
                </a14:m>
                <a:r>
                  <a:rPr lang="uz-Cyrl-UZ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uz-Cyrl-UZ" sz="16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uz-Cyrl-UZ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га </a:t>
                </a:r>
                <a:r>
                  <a:rPr lang="ru-RU" sz="16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тенг</a:t>
                </a:r>
                <a:r>
                  <a:rPr lang="ru-RU" sz="16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;</a:t>
                </a:r>
                <a:endParaRPr lang="ru-RU" sz="16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03" y="1384542"/>
                <a:ext cx="8699091" cy="4863858"/>
              </a:xfrm>
              <a:prstGeom prst="rect">
                <a:avLst/>
              </a:prstGeom>
              <a:blipFill rotWithShape="0">
                <a:blip r:embed="rId2"/>
                <a:stretch>
                  <a:fillRect l="-350" r="-3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381000" y="1951906"/>
                <a:ext cx="32108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uz-Cyrl-UZ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uz-Cyrl-UZ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: 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𝑎𝑥</m:t>
                    </m:r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uz-Cyrl-UZ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𝑚𝑜𝑑</m:t>
                        </m:r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uz-Cyrl-UZ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951906"/>
                <a:ext cx="3210879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Прямая соединительная линия 10"/>
          <p:cNvCxnSpPr/>
          <p:nvPr/>
        </p:nvCxnSpPr>
        <p:spPr>
          <a:xfrm flipV="1">
            <a:off x="83575" y="744654"/>
            <a:ext cx="8686801" cy="19280"/>
          </a:xfrm>
          <a:prstGeom prst="line">
            <a:avLst/>
          </a:prstGeom>
          <a:ln w="50800" cmpd="sng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8123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 title="Мавзунинг долзарблиги"/>
          <p:cNvSpPr txBox="1"/>
          <p:nvPr/>
        </p:nvSpPr>
        <p:spPr>
          <a:xfrm>
            <a:off x="152400" y="76200"/>
            <a:ext cx="883920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Маълумотларни эллиптик эгри чизиқ нуқталари кўринишида ифодалаш алгоритми математик </a:t>
            </a:r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с двумя вырезанными противолежащими углами 4"/>
          <p:cNvSpPr/>
          <p:nvPr/>
        </p:nvSpPr>
        <p:spPr>
          <a:xfrm>
            <a:off x="149942" y="788899"/>
            <a:ext cx="8915400" cy="5830669"/>
          </a:xfrm>
          <a:prstGeom prst="snip2DiagRect">
            <a:avLst>
              <a:gd name="adj1" fmla="val 0"/>
              <a:gd name="adj2" fmla="val 7682"/>
            </a:avLst>
          </a:prstGeom>
          <a:pattFill prst="wdUp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273050" algn="just"/>
            <a:r>
              <a:rPr lang="ru-RU" sz="19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152400" y="838200"/>
                <a:ext cx="8610600" cy="49931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2075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15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 </a:t>
                </a:r>
                <a:r>
                  <a:rPr lang="uz-Cyrl-UZ" sz="15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Маълумот(агар </a:t>
                </a:r>
                <a:r>
                  <a:rPr lang="uz-Cyrl-UZ" sz="15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у етарли узунликда бўлса) блокларга бўлинади ва блоклар </a:t>
                </a:r>
                <a:r>
                  <a:rPr lang="uz-Cyrl-UZ" sz="15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қийматлари қуйидаги </a:t>
                </a:r>
                <a:r>
                  <a:rPr lang="uz-Cyrl-UZ" sz="15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кетма </a:t>
                </a:r>
                <a:r>
                  <a:rPr lang="uz-Cyrl-UZ" sz="15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uz-Cyrl-UZ" sz="15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кетликда эллиптик эгри чизиқ нуқталари кўринишига </a:t>
                </a:r>
                <a:r>
                  <a:rPr lang="uz-Cyrl-UZ" sz="15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ўтказилади.</a:t>
                </a:r>
                <a:endParaRPr lang="ru-RU" sz="15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" indent="269875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Айтайлик, 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: </m:t>
                    </m:r>
                    <m:sSup>
                      <m:sSupPr>
                        <m:ctrlPr>
                          <a:rPr lang="ru-RU" sz="1500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ru-RU" sz="1500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𝑎𝑥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(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𝑚𝑜𝑑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эллиптик эгри чизиқ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500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uz-Cyrl-UZ" sz="15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майдонда берилган бўлсин. Бу ерда, 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</m:t>
                    </m:r>
                    <m:sSub>
                      <m:sSubPr>
                        <m:ctrlPr>
                          <a:rPr lang="ru-RU" sz="1500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1500" dirty="0" smtClean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туб сони разряди</a:t>
                </a:r>
                <a:r>
                  <a:rPr lang="uz-Cyrl-UZ" sz="15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битга тенг. </a:t>
                </a:r>
                <a:r>
                  <a:rPr lang="uz-Cyrl-UZ" sz="1500" b="1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маълумот 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=16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шарт асосида 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битли блокларга бўлинади ( 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500" i="1">
                                <a:effectLst/>
                                <a:latin typeface="Cambria Math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uz-Cyrl-UZ" sz="15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uz-Cyrl-UZ" sz="15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ru-RU" sz="1500" i="1">
                                <a:effectLst/>
                                <a:latin typeface="Cambria Math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uz-Cyrl-UZ" sz="15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uz-Cyrl-UZ" sz="15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ru-RU" sz="1500" i="1">
                                <a:effectLst/>
                                <a:latin typeface="Cambria Math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uz-Cyrl-UZ" sz="15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uz-Cyrl-UZ" sz="15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|=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бит). </a:t>
                </a:r>
                <a:r>
                  <a:rPr lang="uz-Cyrl-UZ" sz="15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Маълумот блокларини</a:t>
                </a: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ЭЭЧ га тегишли нуқта сифатида ифодалаш алгоритми қуйидагича:</a:t>
                </a:r>
                <a:endParaRPr lang="ru-RU" sz="15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Санагич 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uz-Cyrl-UZ" sz="15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қилиб ўрнатилади,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𝑑𝑖𝑣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sup>
                    </m:sSup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ҳисобланади 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ва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ларни иккилик сон сифатида солиштирилади (</a:t>
                </a:r>
                <a:r>
                  <a:rPr lang="uz-Cyrl-UZ" sz="15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div</a:t>
                </a: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бутун қисмини олиш операцияси). Агар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бўлса, 2 – қадамга, акс ҳолда 3 – қадамга ўтилади.</a:t>
                </a:r>
                <a:endParaRPr lang="ru-RU" sz="15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Агар 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sSup>
                      <m:sSupPr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sup>
                    </m:sSup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бўлса, иккилик қиймати </a:t>
                </a:r>
                <a:r>
                  <a:rPr lang="uz-Cyrl-UZ" sz="15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га тенг бўлган 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битли </a:t>
                </a:r>
                <a:r>
                  <a:rPr lang="uz-Cyrl-UZ" sz="15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сатр шакллантирилади ва 7 – қадамга ўтилади. Акс ҳолда “ЭЭЧ нуқтаси мавжуд эмас” деган хабар чиқарилади.</a:t>
                </a:r>
                <a:endParaRPr lang="ru-RU" sz="15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Агар 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sSup>
                      <m:sSupPr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бўлса, иккилик қиймати </a:t>
                </a:r>
                <a:r>
                  <a:rPr lang="uz-Cyrl-UZ" sz="15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га тенг 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битли </a:t>
                </a:r>
                <a:r>
                  <a:rPr lang="uz-Cyrl-UZ" sz="15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сатр шакллантирилади ва 4 – қадамга ўтилади. Акс ҳолда “ЭЭЧ нуқтаси мавжуд эмас” деган хабар чиқарилади.</a:t>
                </a:r>
                <a:endParaRPr lang="ru-RU" sz="15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uz-Cyrl-UZ" sz="15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ўзгарувчига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||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қиймат ўзлаштирилади ва     </a:t>
                </a:r>
                <a:r>
                  <a:rPr lang="uz-Cyrl-UZ" sz="15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𝑎𝑥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𝑚𝑜𝑑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қиймат ҳисобланади. </a:t>
                </a:r>
                <a:endParaRPr lang="ru-RU" sz="15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838200"/>
                <a:ext cx="8610600" cy="4993162"/>
              </a:xfrm>
              <a:prstGeom prst="rect">
                <a:avLst/>
              </a:prstGeom>
              <a:blipFill rotWithShape="0">
                <a:blip r:embed="rId2"/>
                <a:stretch>
                  <a:fillRect l="-212" r="-2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76199" y="0"/>
            <a:ext cx="8995107" cy="6705600"/>
          </a:xfrm>
          <a:prstGeom prst="rect">
            <a:avLst/>
          </a:prstGeom>
          <a:noFill/>
          <a:ln w="47625">
            <a:solidFill>
              <a:schemeClr val="tx1">
                <a:lumMod val="85000"/>
                <a:lumOff val="1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/>
          </a:p>
        </p:txBody>
      </p:sp>
    </p:spTree>
    <p:extLst>
      <p:ext uri="{BB962C8B-B14F-4D97-AF65-F5344CB8AC3E}">
        <p14:creationId xmlns:p14="http://schemas.microsoft.com/office/powerpoint/2010/main" val="31923355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 title="Мавзунинг долзарблиги"/>
          <p:cNvSpPr txBox="1"/>
          <p:nvPr/>
        </p:nvSpPr>
        <p:spPr>
          <a:xfrm>
            <a:off x="152400" y="76200"/>
            <a:ext cx="883920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Маълумотларни эллиптик эгри чизиқ нуқталари кўринишида ифодалаш алгоритми математик </a:t>
            </a:r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с двумя вырезанными противолежащими углами 4"/>
          <p:cNvSpPr/>
          <p:nvPr/>
        </p:nvSpPr>
        <p:spPr>
          <a:xfrm>
            <a:off x="152400" y="756944"/>
            <a:ext cx="8839200" cy="5830669"/>
          </a:xfrm>
          <a:prstGeom prst="snip2DiagRect">
            <a:avLst>
              <a:gd name="adj1" fmla="val 0"/>
              <a:gd name="adj2" fmla="val 7682"/>
            </a:avLst>
          </a:prstGeom>
          <a:pattFill prst="wdUp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273050" algn="just"/>
            <a:r>
              <a:rPr lang="ru-RU" sz="19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152400" y="756944"/>
                <a:ext cx="8839200" cy="46045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15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5. </a:t>
                </a:r>
                <a:r>
                  <a:rPr lang="uz-Cyrl-UZ" sz="15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Лежандр </a:t>
                </a:r>
                <a:r>
                  <a:rPr lang="uz-Cyrl-UZ" sz="15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символи қиймати ҳисобланади 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</m:t>
                    </m:r>
                    <m:f>
                      <m:fPr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num>
                      <m:den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den>
                    </m:f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Агар 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=−1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бўлса, санагич биттага оширилади (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←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ва 3 – қадамга ўтилади, акс ҳолда 6 – қадамга ўтилади.</a:t>
                </a:r>
                <a:endParaRPr lang="ru-RU" sz="15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15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6. </a:t>
                </a:r>
                <a:r>
                  <a:rPr lang="uz-Cyrl-UZ" sz="15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Илдизнинг </a:t>
                </a: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иккита қиймати ҳисобланади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1,2</m:t>
                        </m:r>
                      </m:sub>
                    </m:sSub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=±</m:t>
                    </m:r>
                    <m:rad>
                      <m:radPr>
                        <m:degHide m:val="on"/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rad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𝑚𝑜𝑑𝑝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, бу ерда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1,2</m:t>
                        </m:r>
                      </m:sub>
                    </m:sSub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1, 2, …,  </m:t>
                        </m:r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ларнинг кичик қиймати </a:t>
                </a:r>
                <a:r>
                  <a:rPr lang="uz-Cyrl-UZ" sz="15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га ўзлаштирилади ва 10 – қадамга ўтилади.</a:t>
                </a:r>
                <a:endParaRPr lang="ru-RU" sz="15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1500" i="1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7. </a:t>
                </a:r>
                <a:r>
                  <a:rPr lang="uz-Cyrl-UZ" sz="1500" i="1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uz-Cyrl-UZ" sz="15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ўзгарувчига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||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қиймат ўзлаштирилади ва                                        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𝑎𝑥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𝑚𝑜𝑑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қиймат ҳисобланади. </a:t>
                </a:r>
                <a:endParaRPr lang="ru-RU" sz="15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15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8. </a:t>
                </a:r>
                <a:r>
                  <a:rPr lang="uz-Cyrl-UZ" sz="15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Лежандр </a:t>
                </a: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символи қиймати ҳисобланади 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</m:t>
                    </m:r>
                    <m:f>
                      <m:fPr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num>
                      <m:den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den>
                    </m:f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Агар 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=−1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бўлса, санагич биттага оширилади (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←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ва 2 – қадамга ўтилади, акс ҳолда 9 – қадамга ўтилади.</a:t>
                </a:r>
                <a:endParaRPr lang="ru-RU" sz="15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15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9. </a:t>
                </a:r>
                <a:r>
                  <a:rPr lang="uz-Cyrl-UZ" sz="15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Илдизнинг </a:t>
                </a: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иккита қиймати ҳисобланади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1,2</m:t>
                        </m:r>
                      </m:sub>
                    </m:sSub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=±</m:t>
                    </m:r>
                    <m:rad>
                      <m:radPr>
                        <m:degHide m:val="on"/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rad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𝑚𝑜𝑑𝑝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, бу ерда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1,2</m:t>
                        </m:r>
                      </m:sub>
                    </m:sSub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1, 2, …,  </m:t>
                        </m:r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5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uz-Cyrl-UZ" sz="1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ларнинг катта қиймати </a:t>
                </a:r>
                <a:r>
                  <a:rPr lang="uz-Cyrl-UZ" sz="15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га ўзлаштирилади ва 10 – қадамга ўтилади.</a:t>
                </a:r>
                <a:endParaRPr lang="ru-RU" sz="15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15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10. </a:t>
                </a:r>
                <a:r>
                  <a:rPr lang="uz-Cyrl-UZ" sz="15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Ҳосил </a:t>
                </a: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бўлган (</a:t>
                </a:r>
                <a:r>
                  <a:rPr lang="uz-Cyrl-UZ" sz="15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x,y</a:t>
                </a: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координаталар жуфтлиги </a:t>
                </a:r>
                <a:r>
                  <a:rPr lang="uz-Cyrl-UZ" sz="15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маълумот эллиптик эгри чизиққа тегишли </a:t>
                </a:r>
                <a14:m>
                  <m:oMath xmlns:m="http://schemas.openxmlformats.org/officeDocument/2006/math"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uz-Cyrl-UZ" sz="1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uz-Cyrl-UZ" sz="1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нуқтаси деб эълон қилинади</a:t>
                </a:r>
                <a:r>
                  <a:rPr lang="uz-Cyrl-UZ" sz="15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5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756944"/>
                <a:ext cx="8839200" cy="4604594"/>
              </a:xfrm>
              <a:prstGeom prst="rect">
                <a:avLst/>
              </a:prstGeom>
              <a:blipFill rotWithShape="0">
                <a:blip r:embed="rId2"/>
                <a:stretch>
                  <a:fillRect l="-276" r="-2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8994" y="0"/>
            <a:ext cx="9008806" cy="6705600"/>
          </a:xfrm>
          <a:prstGeom prst="rect">
            <a:avLst/>
          </a:prstGeom>
          <a:noFill/>
          <a:ln w="47625">
            <a:solidFill>
              <a:schemeClr val="tx1">
                <a:lumMod val="85000"/>
                <a:lumOff val="1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/>
          </a:p>
        </p:txBody>
      </p:sp>
    </p:spTree>
    <p:extLst>
      <p:ext uri="{BB962C8B-B14F-4D97-AF65-F5344CB8AC3E}">
        <p14:creationId xmlns:p14="http://schemas.microsoft.com/office/powerpoint/2010/main" val="35608988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 title="Мавзунинг долзарблиги"/>
          <p:cNvSpPr txBox="1"/>
          <p:nvPr/>
        </p:nvSpPr>
        <p:spPr>
          <a:xfrm>
            <a:off x="152400" y="103239"/>
            <a:ext cx="883920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Эллиптик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эгри чизиқ </a:t>
            </a:r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нуқтаси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 </a:t>
            </a:r>
            <a:r>
              <a:rPr lang="uz-Cyrl-UZ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маълумот кўринишида </a:t>
            </a:r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ифодалаш алгоритми математик модели.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с двумя вырезанными противолежащими углами 4"/>
          <p:cNvSpPr/>
          <p:nvPr/>
        </p:nvSpPr>
        <p:spPr>
          <a:xfrm>
            <a:off x="152400" y="756944"/>
            <a:ext cx="8839200" cy="5830669"/>
          </a:xfrm>
          <a:prstGeom prst="snip2DiagRect">
            <a:avLst>
              <a:gd name="adj1" fmla="val 0"/>
              <a:gd name="adj2" fmla="val 7682"/>
            </a:avLst>
          </a:prstGeom>
          <a:pattFill prst="wdUp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273050" algn="just"/>
            <a:r>
              <a:rPr lang="ru-RU" sz="19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152400" y="756944"/>
                <a:ext cx="8679426" cy="19665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7051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uz-Cyrl-UZ" sz="16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Эллиптик эгри чизиқ нуқтаси сифатида ифодаланган </a:t>
                </a:r>
                <a14:m>
                  <m:oMath xmlns:m="http://schemas.openxmlformats.org/officeDocument/2006/math"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нуқтани қуйидаги алгоритм ёрдамида маълумот кўринишига ўтказиш амалга </a:t>
                </a:r>
                <a:r>
                  <a:rPr lang="uz-Cyrl-UZ" sz="16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оширилади.</a:t>
                </a:r>
                <a:endParaRPr lang="ru-RU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1600" i="1">
                                <a:effectLst/>
                                <a:latin typeface="Cambria Math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uz-Cyrl-UZ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uz-Cyrl-UZ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𝑎𝑥</m:t>
                        </m:r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𝑚𝑜𝑑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қиймат ҳисобланади.</a:t>
                </a:r>
                <a:endParaRPr lang="ru-RU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1,2</m:t>
                        </m:r>
                      </m:sub>
                    </m:sSub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=±</m:t>
                    </m:r>
                    <m:rad>
                      <m:radPr>
                        <m:degHide m:val="on"/>
                        <m:ctrlPr>
                          <a:rPr lang="ru-RU" sz="1600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rad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𝑚𝑜𝑑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ҳисобланади ва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шарт текширилади, бунда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∈{1,2,…,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−1}</m:t>
                    </m:r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uz-Cyrl-UZ" sz="16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uz-Cyrl-UZ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Агар </a:t>
                </a:r>
                <a14:m>
                  <m:oMath xmlns:m="http://schemas.openxmlformats.org/officeDocument/2006/math"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бўлса, </a:t>
                </a:r>
                <a14:m>
                  <m:oMath xmlns:m="http://schemas.openxmlformats.org/officeDocument/2006/math"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𝑑𝑖𝑣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акс ҳолда </a:t>
                </a:r>
                <a14:m>
                  <m:oMath xmlns:m="http://schemas.openxmlformats.org/officeDocument/2006/math"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𝑑𝑖𝑣</m:t>
                    </m:r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нинг қиймати олинади.</a:t>
                </a:r>
                <a:endParaRPr lang="ru-RU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756944"/>
                <a:ext cx="8679426" cy="1966500"/>
              </a:xfrm>
              <a:prstGeom prst="rect">
                <a:avLst/>
              </a:prstGeom>
              <a:blipFill rotWithShape="0">
                <a:blip r:embed="rId2"/>
                <a:stretch>
                  <a:fillRect l="-351" r="-351" b="-6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6200" y="0"/>
            <a:ext cx="8991600" cy="6712974"/>
          </a:xfrm>
          <a:prstGeom prst="rect">
            <a:avLst/>
          </a:prstGeom>
          <a:noFill/>
          <a:ln w="47625">
            <a:solidFill>
              <a:schemeClr val="tx1">
                <a:lumMod val="85000"/>
                <a:lumOff val="1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/>
          </a:p>
        </p:txBody>
      </p:sp>
    </p:spTree>
    <p:extLst>
      <p:ext uri="{BB962C8B-B14F-4D97-AF65-F5344CB8AC3E}">
        <p14:creationId xmlns:p14="http://schemas.microsoft.com/office/powerpoint/2010/main" val="9926418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 title="Мавзунинг долзарблиги"/>
          <p:cNvSpPr txBox="1"/>
          <p:nvPr/>
        </p:nvSpPr>
        <p:spPr>
          <a:xfrm>
            <a:off x="58994" y="76200"/>
            <a:ext cx="883920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Эллиптик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эгри чизиққа асосланган оптимал асимметрик шифрлаш алгоритми математик модели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с двумя вырезанными противолежащими углами 3"/>
          <p:cNvSpPr/>
          <p:nvPr/>
        </p:nvSpPr>
        <p:spPr>
          <a:xfrm>
            <a:off x="205248" y="759037"/>
            <a:ext cx="8792497" cy="5943600"/>
          </a:xfrm>
          <a:prstGeom prst="snip2DiagRect">
            <a:avLst>
              <a:gd name="adj1" fmla="val 0"/>
              <a:gd name="adj2" fmla="val 7355"/>
            </a:avLst>
          </a:prstGeom>
          <a:pattFill prst="wdUp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spcAft>
                <a:spcPts val="1000"/>
              </a:spcAft>
            </a:pP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    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304800" y="754486"/>
                <a:ext cx="8593394" cy="2944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US" b="1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II. </a:t>
                </a:r>
                <a:r>
                  <a:rPr lang="ru-RU" b="1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Шифрланувчи</a:t>
                </a:r>
                <a:r>
                  <a:rPr lang="ru-RU" b="1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b="1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блокни</a:t>
                </a:r>
                <a:r>
                  <a:rPr lang="ru-RU" b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b="1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тайёрлаш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10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маълумот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та ноллар билан тўлдирилади;</a:t>
                </a:r>
                <a:endParaRPr lang="ru-RU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50000"/>
                  </a:lnSpc>
                  <a:spcAft>
                    <a:spcPts val="6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-битли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тасодифий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қатор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генерация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қилинади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10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000..0</m:t>
                    </m:r>
                    <m:r>
                      <a:rPr lang="uz-Cyrl-UZ" sz="16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uz-Cyrl-UZ" sz="16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G</m:t>
                    </m:r>
                    <m:r>
                      <a:rPr lang="uz-Cyrl-UZ" sz="16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uz-Cyrl-UZ" sz="16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ҳисобланади;</a:t>
                </a:r>
                <a:endParaRPr lang="ru-RU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10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uz-Cyrl-UZ" sz="16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uz-Cyrl-UZ" sz="16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H</m:t>
                    </m:r>
                    <m:r>
                      <a:rPr lang="uz-Cyrl-UZ" sz="16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uz-Cyrl-UZ" sz="16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ҳисобланади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Шифрланувчи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маълумот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||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754486"/>
                <a:ext cx="8593394" cy="2944396"/>
              </a:xfrm>
              <a:prstGeom prst="rect">
                <a:avLst/>
              </a:prstGeom>
              <a:blipFill rotWithShape="0">
                <a:blip r:embed="rId2"/>
                <a:stretch>
                  <a:fillRect l="-567" b="-2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/>
          <p:cNvPicPr/>
          <p:nvPr/>
        </p:nvPicPr>
        <p:blipFill rotWithShape="1">
          <a:blip r:embed="rId3"/>
          <a:srcRect l="1599" t="2129" r="1815" b="3339"/>
          <a:stretch/>
        </p:blipFill>
        <p:spPr bwMode="auto">
          <a:xfrm>
            <a:off x="1143000" y="3581400"/>
            <a:ext cx="5867400" cy="28935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1" name="Прямая соединительная линия 10"/>
          <p:cNvCxnSpPr/>
          <p:nvPr/>
        </p:nvCxnSpPr>
        <p:spPr>
          <a:xfrm flipV="1">
            <a:off x="168377" y="744846"/>
            <a:ext cx="8686801" cy="19280"/>
          </a:xfrm>
          <a:prstGeom prst="line">
            <a:avLst/>
          </a:prstGeom>
          <a:ln w="50800" cmpd="sng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906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 title="Мавзунинг долзарблиги"/>
          <p:cNvSpPr txBox="1"/>
          <p:nvPr/>
        </p:nvSpPr>
        <p:spPr>
          <a:xfrm>
            <a:off x="152400" y="76200"/>
            <a:ext cx="883920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Эллиптик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эгри чизиққа асосланган оптимал асимметрик шифрлаш алгоритми математик модели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с двумя вырезанными противолежащими углами 3"/>
          <p:cNvSpPr/>
          <p:nvPr/>
        </p:nvSpPr>
        <p:spPr>
          <a:xfrm>
            <a:off x="76200" y="761999"/>
            <a:ext cx="8915400" cy="5857199"/>
          </a:xfrm>
          <a:prstGeom prst="snip2DiagRect">
            <a:avLst>
              <a:gd name="adj1" fmla="val 0"/>
              <a:gd name="adj2" fmla="val 7355"/>
            </a:avLst>
          </a:prstGeom>
          <a:pattFill prst="wdUp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spcAft>
                <a:spcPts val="1000"/>
              </a:spcAft>
            </a:pP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    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66700" y="700408"/>
                <a:ext cx="8610600" cy="58986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spcAft>
                    <a:spcPts val="1000"/>
                  </a:spcAft>
                </a:pPr>
                <a:r>
                  <a:rPr lang="en-US" b="1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III. </a:t>
                </a:r>
                <a:r>
                  <a:rPr lang="ru-RU" b="1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Шифрлаш</a:t>
                </a:r>
                <a:r>
                  <a:rPr lang="ru-RU" b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ru-RU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 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сони</a:t>
                </a:r>
                <a:r>
                  <a:rPr lang="ru-RU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0&lt;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ru-RU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оралиқдан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танланади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уни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маълумотни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шифрловчи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томон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танлайди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фақат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ўзигагина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маълум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бўлади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spcAft>
                    <a:spcPts val="10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=[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ru-RU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=[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параметрлар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ҳисобланади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Шифрланувчи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маълумот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ЭЭЧ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нуқтаси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бўлиши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шарти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бўйича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текширилади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Агар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маълумот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ЭЭЧ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нуқтаси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бўлмаса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7 –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қадамга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акс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ҳолда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қуйидаги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ҳисоблашлар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бажарилади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Шифрланувчи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нуқта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абссиссасидан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фойдаланиб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нинг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қиймати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ҳисобланади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Агар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u-RU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min</m:t>
                    </m:r>
                    <m:r>
                      <a:rPr lang="ru-RU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бўлса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6 –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қадамга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ўтилади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акс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ҳолда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қуйидаги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ҳисоблашлар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амалга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оширилади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ru-RU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ҳисобланади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=3 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қиймат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учун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ru-RU" i="1">
                                <a:effectLst/>
                                <a:latin typeface="Cambria Math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||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бажарилади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8 –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қадамга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ўтилади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бу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ерда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</m:d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→2 бит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).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spcAft>
                    <a:spcPts val="10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ҳисобланади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 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қиймат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учун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ru-RU" i="1">
                                <a:effectLst/>
                                <a:latin typeface="Cambria Math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||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бажарилади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8 –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қадамга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ўтилади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бу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ерда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</m:d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→2 бит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).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spcAft>
                    <a:spcPts val="10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ru-RU" i="1">
                                <a:effectLst/>
                                <a:latin typeface="Cambria Math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ru-RU" i="1">
                                <a:effectLst/>
                                <a:latin typeface="Cambria Math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ҳисобланади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=0 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қиймат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учун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ru-RU" i="1">
                                <a:effectLst/>
                                <a:latin typeface="Cambria Math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||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бажарилади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8 –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қадамга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ўтилади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бу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ерда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</m:d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→2 бит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).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spcAft>
                    <a:spcPts val="10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={ 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ru-RU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шифр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матн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ҳосил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бўлади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700408"/>
                <a:ext cx="8610600" cy="5898602"/>
              </a:xfrm>
              <a:prstGeom prst="rect">
                <a:avLst/>
              </a:prstGeom>
              <a:blipFill rotWithShape="0">
                <a:blip r:embed="rId2"/>
                <a:stretch>
                  <a:fillRect l="-637" t="-723" r="-567" b="-6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Прямая соединительная линия 5"/>
          <p:cNvCxnSpPr/>
          <p:nvPr/>
        </p:nvCxnSpPr>
        <p:spPr>
          <a:xfrm flipV="1">
            <a:off x="229829" y="742720"/>
            <a:ext cx="8686801" cy="19280"/>
          </a:xfrm>
          <a:prstGeom prst="line">
            <a:avLst/>
          </a:prstGeom>
          <a:ln w="50800" cmpd="sng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3774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 title="Мавзунинг долзарблиги"/>
          <p:cNvSpPr txBox="1"/>
          <p:nvPr/>
        </p:nvSpPr>
        <p:spPr>
          <a:xfrm>
            <a:off x="152400" y="76200"/>
            <a:ext cx="883920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Эллиптик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эгри чизиққа асосланган оптимал асимметрик шифрлаш алгоритми математик модели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с двумя вырезанными противолежащими углами 3"/>
          <p:cNvSpPr/>
          <p:nvPr/>
        </p:nvSpPr>
        <p:spPr>
          <a:xfrm>
            <a:off x="76200" y="762000"/>
            <a:ext cx="8915400" cy="5867400"/>
          </a:xfrm>
          <a:prstGeom prst="snip2DiagRect">
            <a:avLst>
              <a:gd name="adj1" fmla="val 0"/>
              <a:gd name="adj2" fmla="val 7355"/>
            </a:avLst>
          </a:prstGeom>
          <a:pattFill prst="wdUp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spcAft>
                <a:spcPts val="1000"/>
              </a:spcAft>
            </a:pP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    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125361" y="786196"/>
                <a:ext cx="8576188" cy="5007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spcAft>
                    <a:spcPts val="1000"/>
                  </a:spcAft>
                </a:pPr>
                <a:r>
                  <a:rPr lang="en-US" b="1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VI. </a:t>
                </a:r>
                <a:r>
                  <a:rPr lang="ru-RU" b="1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Дешифрлаш</a:t>
                </a:r>
                <a:r>
                  <a:rPr lang="ru-RU" b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 algn="just">
                  <a:spcAft>
                    <a:spcPts val="1000"/>
                  </a:spcAft>
                </a:pPr>
                <a:r>
                  <a:rPr lang="en-US" dirty="0" smtClean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     </a:t>
                </a:r>
                <a:r>
                  <a:rPr lang="en-US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1.</a:t>
                </a:r>
                <a:r>
                  <a:rPr lang="en-US" dirty="0" smtClean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𝑢</m:t>
                        </m:r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𝑢</m:t>
                        </m:r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)=[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ҳисобланади</a:t>
                </a:r>
                <a:r>
                  <a:rPr lang="ru-RU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 algn="just">
                  <a:spcAft>
                    <a:spcPts val="1000"/>
                  </a:spcAft>
                </a:pPr>
                <a:r>
                  <a:rPr lang="en-US" dirty="0" smtClean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     </a:t>
                </a:r>
                <a:r>
                  <a:rPr lang="en-US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dirty="0" smtClean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шарт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бажарилганда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8 –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қадамга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ўтилади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акс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ҳолда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қуйидаги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ҳисоблашлар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бажарилади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 algn="just">
                  <a:spcAft>
                    <a:spcPts val="1000"/>
                  </a:spcAft>
                </a:pPr>
                <a:r>
                  <a:rPr lang="en-US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3. </a:t>
                </a:r>
                <a:r>
                  <a:rPr lang="ru-RU" dirty="0" err="1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Агар</a:t>
                </a:r>
                <a:r>
                  <a:rPr lang="ru-RU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=3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бўлса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4 –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қадамга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бўлса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6 –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қадамга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ўтилади</a:t>
                </a:r>
                <a:r>
                  <a:rPr lang="ru-RU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ru-RU" sz="1400" dirty="0" smtClean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70510" algn="just">
                  <a:spcAft>
                    <a:spcPts val="800"/>
                  </a:spcAft>
                </a:pPr>
                <a:r>
                  <a:rPr lang="uz-Cyrl-UZ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4.  </a:t>
                </a:r>
                <a14:m>
                  <m:oMath xmlns:m="http://schemas.openxmlformats.org/officeDocument/2006/math"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ru-RU" i="1">
                                <a:effectLst/>
                                <a:latin typeface="Cambria Math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uz-Cyrl-UZ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uz-Cyrl-UZ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bSup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𝑎𝑥</m:t>
                        </m:r>
                      </m:e>
                      <m:sub>
                        <m:sSub>
                          <m:sSubPr>
                            <m:ctrlPr>
                              <a:rPr lang="ru-RU" i="1">
                                <a:effectLst/>
                                <a:latin typeface="Cambria Math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uz-Cyrl-UZ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uz-Cyrl-UZ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𝑚𝑜𝑑</m:t>
                        </m:r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uz-Cyrl-UZ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270510" algn="just">
                  <a:spcAft>
                    <a:spcPts val="800"/>
                  </a:spcAft>
                </a:pPr>
                <a:r>
                  <a:rPr lang="uz-Cyrl-UZ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1, 2</m:t>
                        </m:r>
                      </m:sub>
                    </m:sSub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=±</m:t>
                    </m:r>
                    <m:rad>
                      <m:radPr>
                        <m:degHide m:val="on"/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rad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(</m:t>
                    </m:r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𝑚𝑜𝑑</m:t>
                    </m:r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uz-Cyrl-UZ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ҳисобланади ва </a:t>
                </a:r>
                <a14:m>
                  <m:oMath xmlns:m="http://schemas.openxmlformats.org/officeDocument/2006/math"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uz-Cyrl-UZ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max</m:t>
                    </m:r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uz-Cyrl-UZ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танланиб, 9 – қадамга ўтилади. 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70510" algn="just">
                  <a:spcAft>
                    <a:spcPts val="800"/>
                  </a:spcAft>
                </a:pPr>
                <a:r>
                  <a:rPr lang="uz-Cyrl-UZ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6.  </a:t>
                </a:r>
                <a14:m>
                  <m:oMath xmlns:m="http://schemas.openxmlformats.org/officeDocument/2006/math"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ru-RU" i="1">
                                <a:effectLst/>
                                <a:latin typeface="Cambria Math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uz-Cyrl-UZ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uz-Cyrl-UZ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bSup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𝑎𝑥</m:t>
                        </m:r>
                      </m:e>
                      <m:sub>
                        <m:sSub>
                          <m:sSubPr>
                            <m:ctrlPr>
                              <a:rPr lang="ru-RU" i="1">
                                <a:effectLst/>
                                <a:latin typeface="Cambria Math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uz-Cyrl-UZ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uz-Cyrl-UZ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uz-Cyrl-UZ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𝑚𝑜𝑑</m:t>
                        </m:r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uz-Cyrl-UZ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70510" algn="just">
                  <a:spcAft>
                    <a:spcPts val="0"/>
                  </a:spcAft>
                </a:pP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7.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1, 2</m:t>
                        </m:r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=±</m:t>
                    </m:r>
                    <m:rad>
                      <m:radPr>
                        <m:degHide m:val="on"/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rad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(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𝑚𝑜𝑑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ҳисобланади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u-RU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min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танланиб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9 –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қадамга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ўтилади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70510" algn="just">
                  <a:spcAft>
                    <a:spcPts val="0"/>
                  </a:spcAft>
                </a:pP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8. </a:t>
                </a:r>
                <a14:m>
                  <m:oMath xmlns:m="http://schemas.openxmlformats.org/officeDocument/2006/math"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2000" i="1">
                                <a:effectLst/>
                                <a:latin typeface="Cambria Math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ru-RU" sz="2000" i="1">
                                    <a:effectLst/>
                                    <a:latin typeface="Cambria Math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ru-RU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sz="2000" i="1">
                                <a:effectLst/>
                                <a:latin typeface="Cambria Math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очиқ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матн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ҳисобланади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70510"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9.  </a:t>
                </a: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ru-RU" i="1">
                                <a:effectLst/>
                                <a:latin typeface="Cambria Math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)−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𝑢</m:t>
                        </m:r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𝑢</m:t>
                        </m:r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очиқ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матн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ҳисобланади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61" y="786196"/>
                <a:ext cx="8576188" cy="5007396"/>
              </a:xfrm>
              <a:prstGeom prst="rect">
                <a:avLst/>
              </a:prstGeom>
              <a:blipFill rotWithShape="0">
                <a:blip r:embed="rId2"/>
                <a:stretch>
                  <a:fillRect l="-640" t="-853" r="-6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Прямая соединительная линия 5"/>
          <p:cNvCxnSpPr/>
          <p:nvPr/>
        </p:nvCxnSpPr>
        <p:spPr>
          <a:xfrm flipV="1">
            <a:off x="224912" y="742720"/>
            <a:ext cx="8686801" cy="19280"/>
          </a:xfrm>
          <a:prstGeom prst="line">
            <a:avLst/>
          </a:prstGeom>
          <a:ln w="50800" cmpd="sng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7394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 title="Мавзунинг долзарблиги"/>
          <p:cNvSpPr txBox="1"/>
          <p:nvPr/>
        </p:nvSpPr>
        <p:spPr>
          <a:xfrm>
            <a:off x="152400" y="76200"/>
            <a:ext cx="883920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Эллиптик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эгри чизиққа асосланган оптимал асимметрик шифрлаш алгоритми математик модели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с двумя вырезанными противолежащими углами 3"/>
          <p:cNvSpPr/>
          <p:nvPr/>
        </p:nvSpPr>
        <p:spPr>
          <a:xfrm>
            <a:off x="174523" y="754486"/>
            <a:ext cx="8915400" cy="6019800"/>
          </a:xfrm>
          <a:prstGeom prst="snip2DiagRect">
            <a:avLst>
              <a:gd name="adj1" fmla="val 0"/>
              <a:gd name="adj2" fmla="val 7355"/>
            </a:avLst>
          </a:prstGeom>
          <a:pattFill prst="wdUp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spcAft>
                <a:spcPts val="1000"/>
              </a:spcAft>
            </a:pP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    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304800" y="715157"/>
                <a:ext cx="8686800" cy="33598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US" b="1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V. </a:t>
                </a:r>
                <a:r>
                  <a:rPr lang="ru-RU" b="1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Дешифрланган</a:t>
                </a:r>
                <a:r>
                  <a:rPr lang="ru-RU" b="1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b="1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блокни</a:t>
                </a:r>
                <a:r>
                  <a:rPr lang="ru-RU" b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b="1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текшириш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50000"/>
                  </a:lnSpc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uz-Cyrl-UZ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Эллиптик эгри чизиқ нуқтаси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ни </a:t>
                </a:r>
                <a14:m>
                  <m:oMath xmlns:m="http://schemas.openxmlformats.org/officeDocument/2006/math">
                    <m:r>
                      <a:rPr lang="uz-Cyrl-UZ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uz-Cyrl-UZ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uz-Cyrl-UZ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маълумот кўринишида </a:t>
                </a:r>
                <a:r>
                  <a:rPr lang="uz-Cyrl-UZ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ифодалаш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i="1" dirty="0" smtClean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50000"/>
                  </a:lnSpc>
                  <a:spcAft>
                    <a:spcPts val="6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uz-Cyrl-UZ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uz-Cyrl-UZ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H</m:t>
                    </m:r>
                    <m:r>
                      <a:rPr lang="uz-Cyrl-UZ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uz-Cyrl-UZ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uz-Cyrl-UZ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uz-Cyrl-UZ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тасодифий қатор қайта тикланади;</a:t>
                </a:r>
                <a:endParaRPr lang="ru-RU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50000"/>
                  </a:lnSpc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ru-RU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Бошанғич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хабар  </a:t>
                </a: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000..0=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uz-Cyrl-UZ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uz-Cyrl-UZ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G</m:t>
                    </m:r>
                    <m:r>
                      <a:rPr lang="uz-Cyrl-UZ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uz-Cyrl-UZ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кўринишда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қайта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тикланади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uz-Cyrl-UZ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Агар </a:t>
                </a:r>
                <a14:m>
                  <m:oMath xmlns:m="http://schemas.openxmlformats.org/officeDocument/2006/math">
                    <m:r>
                      <a:rPr lang="uz-Cyrl-UZ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uz-Cyrl-UZ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очиқ матн </a:t>
                </a:r>
                <a:r>
                  <a:rPr lang="uz-Cyrl-UZ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блоки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uz-Cyrl-UZ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та ноллар билан тугаса, у ҳолда маълумот тўғри </a:t>
                </a:r>
                <a:r>
                  <a:rPr lang="uz-Cyrl-UZ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шифрланган</a:t>
                </a:r>
                <a:r>
                  <a:rPr lang="en-US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uz-Cyrl-UZ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Акс </a:t>
                </a:r>
                <a:r>
                  <a:rPr lang="uz-Cyrl-UZ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ҳолда , шифрматнга ҳужум қилувчи томонидан тегишли ўзгартиришлар қилинган ҳисобланади</a:t>
                </a:r>
                <a:endParaRPr lang="ru-RU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715157"/>
                <a:ext cx="8686800" cy="3359894"/>
              </a:xfrm>
              <a:prstGeom prst="rect">
                <a:avLst/>
              </a:prstGeom>
              <a:blipFill rotWithShape="0">
                <a:blip r:embed="rId2"/>
                <a:stretch>
                  <a:fillRect l="-561" r="-561" b="-5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Прямая соединительная линия 5"/>
          <p:cNvCxnSpPr/>
          <p:nvPr/>
        </p:nvCxnSpPr>
        <p:spPr>
          <a:xfrm flipV="1">
            <a:off x="228599" y="744846"/>
            <a:ext cx="8686801" cy="19280"/>
          </a:xfrm>
          <a:prstGeom prst="line">
            <a:avLst/>
          </a:prstGeom>
          <a:ln w="50800" cmpd="sng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098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7534</TotalTime>
  <Words>1633</Words>
  <Application>Microsoft Office PowerPoint</Application>
  <PresentationFormat>Экран (4:3)</PresentationFormat>
  <Paragraphs>157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Erkin</dc:creator>
  <cp:lastModifiedBy>Microsoft Office</cp:lastModifiedBy>
  <cp:revision>889</cp:revision>
  <dcterms:created xsi:type="dcterms:W3CDTF">2012-09-04T09:12:11Z</dcterms:created>
  <dcterms:modified xsi:type="dcterms:W3CDTF">2019-08-21T15:05:23Z</dcterms:modified>
</cp:coreProperties>
</file>