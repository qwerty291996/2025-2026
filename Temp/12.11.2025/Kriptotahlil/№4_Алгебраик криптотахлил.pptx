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22"/>
  </p:notesMasterIdLst>
  <p:handoutMasterIdLst>
    <p:handoutMasterId r:id="rId23"/>
  </p:handoutMasterIdLst>
  <p:sldIdLst>
    <p:sldId id="256" r:id="rId2"/>
    <p:sldId id="257" r:id="rId3"/>
    <p:sldId id="268" r:id="rId4"/>
    <p:sldId id="291" r:id="rId5"/>
    <p:sldId id="297" r:id="rId6"/>
    <p:sldId id="295" r:id="rId7"/>
    <p:sldId id="336" r:id="rId8"/>
    <p:sldId id="337" r:id="rId9"/>
    <p:sldId id="299" r:id="rId10"/>
    <p:sldId id="300" r:id="rId11"/>
    <p:sldId id="301" r:id="rId12"/>
    <p:sldId id="302" r:id="rId13"/>
    <p:sldId id="339" r:id="rId14"/>
    <p:sldId id="340" r:id="rId15"/>
    <p:sldId id="304" r:id="rId16"/>
    <p:sldId id="341" r:id="rId17"/>
    <p:sldId id="342" r:id="rId18"/>
    <p:sldId id="343" r:id="rId19"/>
    <p:sldId id="344" r:id="rId20"/>
    <p:sldId id="266" r:id="rId21"/>
  </p:sldIdLst>
  <p:sldSz cx="9144000" cy="6858000" type="screen4x3"/>
  <p:notesSz cx="6742113" cy="9872663"/>
  <p:defaultTextStyle>
    <a:defPPr>
      <a:defRPr lang="ru-RU"/>
    </a:defPPr>
    <a:lvl1pPr algn="l" rtl="0" fontAlgn="base">
      <a:spcBef>
        <a:spcPct val="0"/>
      </a:spcBef>
      <a:spcAft>
        <a:spcPct val="0"/>
      </a:spcAft>
      <a:defRPr kern="1200">
        <a:solidFill>
          <a:schemeClr val="tx1"/>
        </a:solidFill>
        <a:latin typeface="Verdana" pitchFamily="34" charset="0"/>
        <a:ea typeface="+mn-ea"/>
        <a:cs typeface="+mn-cs"/>
      </a:defRPr>
    </a:lvl1pPr>
    <a:lvl2pPr marL="457200" algn="l" rtl="0" fontAlgn="base">
      <a:spcBef>
        <a:spcPct val="0"/>
      </a:spcBef>
      <a:spcAft>
        <a:spcPct val="0"/>
      </a:spcAft>
      <a:defRPr kern="1200">
        <a:solidFill>
          <a:schemeClr val="tx1"/>
        </a:solidFill>
        <a:latin typeface="Verdana" pitchFamily="34" charset="0"/>
        <a:ea typeface="+mn-ea"/>
        <a:cs typeface="+mn-cs"/>
      </a:defRPr>
    </a:lvl2pPr>
    <a:lvl3pPr marL="914400" algn="l" rtl="0" fontAlgn="base">
      <a:spcBef>
        <a:spcPct val="0"/>
      </a:spcBef>
      <a:spcAft>
        <a:spcPct val="0"/>
      </a:spcAft>
      <a:defRPr kern="1200">
        <a:solidFill>
          <a:schemeClr val="tx1"/>
        </a:solidFill>
        <a:latin typeface="Verdana" pitchFamily="34" charset="0"/>
        <a:ea typeface="+mn-ea"/>
        <a:cs typeface="+mn-cs"/>
      </a:defRPr>
    </a:lvl3pPr>
    <a:lvl4pPr marL="1371600" algn="l" rtl="0" fontAlgn="base">
      <a:spcBef>
        <a:spcPct val="0"/>
      </a:spcBef>
      <a:spcAft>
        <a:spcPct val="0"/>
      </a:spcAft>
      <a:defRPr kern="1200">
        <a:solidFill>
          <a:schemeClr val="tx1"/>
        </a:solidFill>
        <a:latin typeface="Verdana" pitchFamily="34" charset="0"/>
        <a:ea typeface="+mn-ea"/>
        <a:cs typeface="+mn-cs"/>
      </a:defRPr>
    </a:lvl4pPr>
    <a:lvl5pPr marL="1828800" algn="l" rtl="0" fontAlgn="base">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CCFF"/>
    <a:srgbClr val="FFFF99"/>
    <a:srgbClr val="FFFFCC"/>
    <a:srgbClr val="FFFF00"/>
    <a:srgbClr val="99CCFF"/>
    <a:srgbClr val="800000"/>
    <a:srgbClr val="000099"/>
    <a:srgbClr val="CCFFFF"/>
    <a:srgbClr val="CCECFF"/>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21" autoAdjust="0"/>
    <p:restoredTop sz="97876" autoAdjust="0"/>
  </p:normalViewPr>
  <p:slideViewPr>
    <p:cSldViewPr>
      <p:cViewPr>
        <p:scale>
          <a:sx n="75" d="100"/>
          <a:sy n="75" d="100"/>
        </p:scale>
        <p:origin x="-2580" y="-89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1842" y="-102"/>
      </p:cViewPr>
      <p:guideLst>
        <p:guide orient="horz" pos="3110"/>
        <p:guide pos="2124"/>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1000" cy="493713"/>
          </a:xfrm>
          <a:prstGeom prst="rect">
            <a:avLst/>
          </a:prstGeom>
        </p:spPr>
        <p:txBody>
          <a:bodyPr vert="horz" lIns="91440" tIns="45720" rIns="91440" bIns="45720" rtlCol="0"/>
          <a:lstStyle>
            <a:lvl1pPr algn="l">
              <a:defRPr sz="1200"/>
            </a:lvl1pPr>
          </a:lstStyle>
          <a:p>
            <a:pPr>
              <a:defRPr/>
            </a:pPr>
            <a:endParaRPr lang="ru-RU"/>
          </a:p>
        </p:txBody>
      </p:sp>
      <p:sp>
        <p:nvSpPr>
          <p:cNvPr id="3" name="Date Placeholder 2"/>
          <p:cNvSpPr>
            <a:spLocks noGrp="1"/>
          </p:cNvSpPr>
          <p:nvPr>
            <p:ph type="dt" sz="quarter" idx="1"/>
          </p:nvPr>
        </p:nvSpPr>
        <p:spPr>
          <a:xfrm>
            <a:off x="3819525" y="0"/>
            <a:ext cx="2921000" cy="493713"/>
          </a:xfrm>
          <a:prstGeom prst="rect">
            <a:avLst/>
          </a:prstGeom>
        </p:spPr>
        <p:txBody>
          <a:bodyPr vert="horz" lIns="91440" tIns="45720" rIns="91440" bIns="45720" rtlCol="0"/>
          <a:lstStyle>
            <a:lvl1pPr algn="r">
              <a:defRPr sz="1200"/>
            </a:lvl1pPr>
          </a:lstStyle>
          <a:p>
            <a:pPr>
              <a:defRPr/>
            </a:pPr>
            <a:fld id="{86D07DFA-F503-42E6-A853-5B723913E276}" type="datetimeFigureOut">
              <a:rPr lang="ru-RU"/>
              <a:pPr>
                <a:defRPr/>
              </a:pPr>
              <a:t>09.12.2016</a:t>
            </a:fld>
            <a:endParaRPr lang="ru-RU"/>
          </a:p>
        </p:txBody>
      </p:sp>
      <p:sp>
        <p:nvSpPr>
          <p:cNvPr id="4" name="Footer Placeholder 3"/>
          <p:cNvSpPr>
            <a:spLocks noGrp="1"/>
          </p:cNvSpPr>
          <p:nvPr>
            <p:ph type="ftr" sz="quarter" idx="2"/>
          </p:nvPr>
        </p:nvSpPr>
        <p:spPr>
          <a:xfrm>
            <a:off x="0" y="9377363"/>
            <a:ext cx="2921000" cy="493712"/>
          </a:xfrm>
          <a:prstGeom prst="rect">
            <a:avLst/>
          </a:prstGeom>
        </p:spPr>
        <p:txBody>
          <a:bodyPr vert="horz" lIns="91440" tIns="45720" rIns="91440" bIns="45720" rtlCol="0" anchor="b"/>
          <a:lstStyle>
            <a:lvl1pPr algn="l">
              <a:defRPr sz="1200"/>
            </a:lvl1pPr>
          </a:lstStyle>
          <a:p>
            <a:pPr>
              <a:defRPr/>
            </a:pPr>
            <a:endParaRPr lang="ru-RU"/>
          </a:p>
        </p:txBody>
      </p:sp>
      <p:sp>
        <p:nvSpPr>
          <p:cNvPr id="5" name="Slide Number Placeholder 4"/>
          <p:cNvSpPr>
            <a:spLocks noGrp="1"/>
          </p:cNvSpPr>
          <p:nvPr>
            <p:ph type="sldNum" sz="quarter" idx="3"/>
          </p:nvPr>
        </p:nvSpPr>
        <p:spPr>
          <a:xfrm>
            <a:off x="3819525" y="9377363"/>
            <a:ext cx="2921000" cy="493712"/>
          </a:xfrm>
          <a:prstGeom prst="rect">
            <a:avLst/>
          </a:prstGeom>
        </p:spPr>
        <p:txBody>
          <a:bodyPr vert="horz" lIns="91440" tIns="45720" rIns="91440" bIns="45720" rtlCol="0" anchor="b"/>
          <a:lstStyle>
            <a:lvl1pPr algn="r">
              <a:defRPr sz="1200"/>
            </a:lvl1pPr>
          </a:lstStyle>
          <a:p>
            <a:pPr>
              <a:defRPr/>
            </a:pPr>
            <a:fld id="{0CD25E99-4A72-47D9-ABAF-AF14D35849EA}" type="slidenum">
              <a:rPr lang="ru-RU"/>
              <a:pPr>
                <a:defRPr/>
              </a:pPr>
              <a:t>‹#›</a:t>
            </a:fld>
            <a:endParaRPr lang="ru-RU"/>
          </a:p>
        </p:txBody>
      </p:sp>
    </p:spTree>
    <p:extLst>
      <p:ext uri="{BB962C8B-B14F-4D97-AF65-F5344CB8AC3E}">
        <p14:creationId xmlns:p14="http://schemas.microsoft.com/office/powerpoint/2010/main" val="30584893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1000" cy="493713"/>
          </a:xfrm>
          <a:prstGeom prst="rect">
            <a:avLst/>
          </a:prstGeom>
        </p:spPr>
        <p:txBody>
          <a:bodyPr vert="horz" lIns="91440" tIns="45720" rIns="91440" bIns="45720" rtlCol="0"/>
          <a:lstStyle>
            <a:lvl1pPr algn="l">
              <a:defRPr sz="1200"/>
            </a:lvl1pPr>
          </a:lstStyle>
          <a:p>
            <a:pPr>
              <a:defRPr/>
            </a:pPr>
            <a:endParaRPr lang="ru-RU"/>
          </a:p>
        </p:txBody>
      </p:sp>
      <p:sp>
        <p:nvSpPr>
          <p:cNvPr id="3" name="Date Placeholder 2"/>
          <p:cNvSpPr>
            <a:spLocks noGrp="1"/>
          </p:cNvSpPr>
          <p:nvPr>
            <p:ph type="dt" idx="1"/>
          </p:nvPr>
        </p:nvSpPr>
        <p:spPr>
          <a:xfrm>
            <a:off x="3819525" y="0"/>
            <a:ext cx="2921000" cy="493713"/>
          </a:xfrm>
          <a:prstGeom prst="rect">
            <a:avLst/>
          </a:prstGeom>
        </p:spPr>
        <p:txBody>
          <a:bodyPr vert="horz" lIns="91440" tIns="45720" rIns="91440" bIns="45720" rtlCol="0"/>
          <a:lstStyle>
            <a:lvl1pPr algn="r">
              <a:defRPr sz="1200"/>
            </a:lvl1pPr>
          </a:lstStyle>
          <a:p>
            <a:pPr>
              <a:defRPr/>
            </a:pPr>
            <a:fld id="{04E497EB-0634-4D08-8909-A9E55616C759}" type="datetimeFigureOut">
              <a:rPr lang="ru-RU"/>
              <a:pPr>
                <a:defRPr/>
              </a:pPr>
              <a:t>09.12.2016</a:t>
            </a:fld>
            <a:endParaRPr lang="ru-RU"/>
          </a:p>
        </p:txBody>
      </p:sp>
      <p:sp>
        <p:nvSpPr>
          <p:cNvPr id="4" name="Slide Image Placeholder 3"/>
          <p:cNvSpPr>
            <a:spLocks noGrp="1" noRot="1" noChangeAspect="1"/>
          </p:cNvSpPr>
          <p:nvPr>
            <p:ph type="sldImg" idx="2"/>
          </p:nvPr>
        </p:nvSpPr>
        <p:spPr>
          <a:xfrm>
            <a:off x="901700" y="739775"/>
            <a:ext cx="4938713" cy="3703638"/>
          </a:xfrm>
          <a:prstGeom prst="rect">
            <a:avLst/>
          </a:prstGeom>
          <a:noFill/>
          <a:ln w="12700">
            <a:solidFill>
              <a:prstClr val="black"/>
            </a:solidFill>
          </a:ln>
        </p:spPr>
        <p:txBody>
          <a:bodyPr vert="horz" lIns="91440" tIns="45720" rIns="91440" bIns="45720" rtlCol="0" anchor="ctr"/>
          <a:lstStyle/>
          <a:p>
            <a:pPr lvl="0"/>
            <a:endParaRPr lang="ru-RU" noProof="0"/>
          </a:p>
        </p:txBody>
      </p:sp>
      <p:sp>
        <p:nvSpPr>
          <p:cNvPr id="5" name="Notes Placeholder 4"/>
          <p:cNvSpPr>
            <a:spLocks noGrp="1"/>
          </p:cNvSpPr>
          <p:nvPr>
            <p:ph type="body" sz="quarter" idx="3"/>
          </p:nvPr>
        </p:nvSpPr>
        <p:spPr>
          <a:xfrm>
            <a:off x="674688" y="4689475"/>
            <a:ext cx="5392737" cy="4443413"/>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ru-RU" noProof="0"/>
          </a:p>
        </p:txBody>
      </p:sp>
      <p:sp>
        <p:nvSpPr>
          <p:cNvPr id="6" name="Footer Placeholder 5"/>
          <p:cNvSpPr>
            <a:spLocks noGrp="1"/>
          </p:cNvSpPr>
          <p:nvPr>
            <p:ph type="ftr" sz="quarter" idx="4"/>
          </p:nvPr>
        </p:nvSpPr>
        <p:spPr>
          <a:xfrm>
            <a:off x="0" y="9377363"/>
            <a:ext cx="2921000" cy="493712"/>
          </a:xfrm>
          <a:prstGeom prst="rect">
            <a:avLst/>
          </a:prstGeom>
        </p:spPr>
        <p:txBody>
          <a:bodyPr vert="horz" lIns="91440" tIns="45720" rIns="91440" bIns="45720" rtlCol="0" anchor="b"/>
          <a:lstStyle>
            <a:lvl1pPr algn="l">
              <a:defRPr sz="1200"/>
            </a:lvl1pPr>
          </a:lstStyle>
          <a:p>
            <a:pPr>
              <a:defRPr/>
            </a:pPr>
            <a:endParaRPr lang="ru-RU"/>
          </a:p>
        </p:txBody>
      </p:sp>
      <p:sp>
        <p:nvSpPr>
          <p:cNvPr id="7" name="Slide Number Placeholder 6"/>
          <p:cNvSpPr>
            <a:spLocks noGrp="1"/>
          </p:cNvSpPr>
          <p:nvPr>
            <p:ph type="sldNum" sz="quarter" idx="5"/>
          </p:nvPr>
        </p:nvSpPr>
        <p:spPr>
          <a:xfrm>
            <a:off x="3819525" y="9377363"/>
            <a:ext cx="2921000" cy="493712"/>
          </a:xfrm>
          <a:prstGeom prst="rect">
            <a:avLst/>
          </a:prstGeom>
        </p:spPr>
        <p:txBody>
          <a:bodyPr vert="horz" lIns="91440" tIns="45720" rIns="91440" bIns="45720" rtlCol="0" anchor="b"/>
          <a:lstStyle>
            <a:lvl1pPr algn="r">
              <a:defRPr sz="1200"/>
            </a:lvl1pPr>
          </a:lstStyle>
          <a:p>
            <a:pPr>
              <a:defRPr/>
            </a:pPr>
            <a:fld id="{2BEEBCC1-37C8-434E-9B7C-189AA92B92FD}" type="slidenum">
              <a:rPr lang="ru-RU"/>
              <a:pPr>
                <a:defRPr/>
              </a:pPr>
              <a:t>‹#›</a:t>
            </a:fld>
            <a:endParaRPr lang="ru-RU"/>
          </a:p>
        </p:txBody>
      </p:sp>
    </p:spTree>
    <p:extLst>
      <p:ext uri="{BB962C8B-B14F-4D97-AF65-F5344CB8AC3E}">
        <p14:creationId xmlns:p14="http://schemas.microsoft.com/office/powerpoint/2010/main" val="225472279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ru-RU" smtClean="0"/>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Verdana" pitchFamily="34" charset="0"/>
              </a:defRPr>
            </a:lvl1pPr>
            <a:lvl2pPr marL="742950" indent="-285750" eaLnBrk="0" hangingPunct="0">
              <a:defRPr>
                <a:solidFill>
                  <a:schemeClr val="tx1"/>
                </a:solidFill>
                <a:latin typeface="Verdana" pitchFamily="34" charset="0"/>
              </a:defRPr>
            </a:lvl2pPr>
            <a:lvl3pPr marL="1143000" indent="-228600" eaLnBrk="0" hangingPunct="0">
              <a:defRPr>
                <a:solidFill>
                  <a:schemeClr val="tx1"/>
                </a:solidFill>
                <a:latin typeface="Verdana" pitchFamily="34" charset="0"/>
              </a:defRPr>
            </a:lvl3pPr>
            <a:lvl4pPr marL="1600200" indent="-228600" eaLnBrk="0" hangingPunct="0">
              <a:defRPr>
                <a:solidFill>
                  <a:schemeClr val="tx1"/>
                </a:solidFill>
                <a:latin typeface="Verdana" pitchFamily="34" charset="0"/>
              </a:defRPr>
            </a:lvl4pPr>
            <a:lvl5pPr marL="2057400" indent="-228600" eaLnBrk="0" hangingPunct="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eaLnBrk="1" hangingPunct="1"/>
            <a:fld id="{6955FED9-8F1C-4626-B22A-D2FDBA5DF24F}" type="slidenum">
              <a:rPr lang="ru-RU" smtClean="0"/>
              <a:pPr eaLnBrk="1" hangingPunct="1"/>
              <a:t>1</a:t>
            </a:fld>
            <a:endParaRPr lang="ru-RU"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7 w 1000"/>
              <a:gd name="T3" fmla="*/ 0 h 1000"/>
              <a:gd name="T4" fmla="*/ 2147483647 w 1000"/>
              <a:gd name="T5" fmla="*/ 1314299689 h 1000"/>
              <a:gd name="T6" fmla="*/ 0 w 1000"/>
              <a:gd name="T7" fmla="*/ 1314299689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ru-RU"/>
          </a:p>
        </p:txBody>
      </p:sp>
      <p:sp>
        <p:nvSpPr>
          <p:cNvPr id="54274" name="Rectangle 2"/>
          <p:cNvSpPr>
            <a:spLocks noGrp="1" noChangeArrowheads="1"/>
          </p:cNvSpPr>
          <p:nvPr>
            <p:ph type="ctrTitle"/>
          </p:nvPr>
        </p:nvSpPr>
        <p:spPr>
          <a:xfrm>
            <a:off x="685800" y="990600"/>
            <a:ext cx="7772400" cy="1371600"/>
          </a:xfrm>
        </p:spPr>
        <p:txBody>
          <a:bodyPr/>
          <a:lstStyle>
            <a:lvl1pPr>
              <a:defRPr sz="4000"/>
            </a:lvl1pPr>
          </a:lstStyle>
          <a:p>
            <a:r>
              <a:rPr lang="ru-RU"/>
              <a:t>Образец заголовка</a:t>
            </a:r>
          </a:p>
        </p:txBody>
      </p:sp>
      <p:sp>
        <p:nvSpPr>
          <p:cNvPr id="54275" name="Rectangle 3"/>
          <p:cNvSpPr>
            <a:spLocks noGrp="1" noChangeArrowheads="1"/>
          </p:cNvSpPr>
          <p:nvPr>
            <p:ph type="subTitle" idx="1"/>
          </p:nvPr>
        </p:nvSpPr>
        <p:spPr>
          <a:xfrm>
            <a:off x="1447800" y="3429000"/>
            <a:ext cx="7010400" cy="1600200"/>
          </a:xfrm>
        </p:spPr>
        <p:txBody>
          <a:bodyPr/>
          <a:lstStyle>
            <a:lvl1pPr marL="0" indent="0">
              <a:buFont typeface="Wingdings" pitchFamily="2" charset="2"/>
              <a:buNone/>
              <a:defRPr sz="2800"/>
            </a:lvl1pPr>
          </a:lstStyle>
          <a:p>
            <a:r>
              <a:rPr lang="ru-RU"/>
              <a:t>Образец подзаголовка</a:t>
            </a:r>
          </a:p>
        </p:txBody>
      </p:sp>
      <p:sp>
        <p:nvSpPr>
          <p:cNvPr id="5" name="Rectangle 9"/>
          <p:cNvSpPr>
            <a:spLocks noGrp="1" noChangeArrowheads="1"/>
          </p:cNvSpPr>
          <p:nvPr>
            <p:ph type="dt" sz="half" idx="10"/>
          </p:nvPr>
        </p:nvSpPr>
        <p:spPr>
          <a:xfrm>
            <a:off x="685800" y="6248400"/>
            <a:ext cx="1905000" cy="457200"/>
          </a:xfrm>
        </p:spPr>
        <p:txBody>
          <a:bodyPr/>
          <a:lstStyle>
            <a:lvl1pPr>
              <a:defRPr/>
            </a:lvl1pPr>
          </a:lstStyle>
          <a:p>
            <a:pPr>
              <a:defRPr/>
            </a:pPr>
            <a:endParaRPr lang="ru-RU"/>
          </a:p>
        </p:txBody>
      </p:sp>
      <p:sp>
        <p:nvSpPr>
          <p:cNvPr id="6" name="Rectangle 10"/>
          <p:cNvSpPr>
            <a:spLocks noGrp="1" noChangeArrowheads="1"/>
          </p:cNvSpPr>
          <p:nvPr>
            <p:ph type="ftr" sz="quarter" idx="11"/>
          </p:nvPr>
        </p:nvSpPr>
        <p:spPr>
          <a:xfrm>
            <a:off x="3124200" y="6248400"/>
            <a:ext cx="2895600" cy="457200"/>
          </a:xfrm>
        </p:spPr>
        <p:txBody>
          <a:bodyPr/>
          <a:lstStyle>
            <a:lvl1pPr>
              <a:defRPr/>
            </a:lvl1pPr>
          </a:lstStyle>
          <a:p>
            <a:pPr>
              <a:defRPr/>
            </a:pPr>
            <a:endParaRPr lang="ru-RU"/>
          </a:p>
        </p:txBody>
      </p:sp>
      <p:sp>
        <p:nvSpPr>
          <p:cNvPr id="7" name="Rectangle 11"/>
          <p:cNvSpPr>
            <a:spLocks noGrp="1" noChangeArrowheads="1"/>
          </p:cNvSpPr>
          <p:nvPr>
            <p:ph type="sldNum" sz="quarter" idx="12"/>
          </p:nvPr>
        </p:nvSpPr>
        <p:spPr>
          <a:xfrm>
            <a:off x="6553200" y="6248400"/>
            <a:ext cx="1905000" cy="457200"/>
          </a:xfrm>
        </p:spPr>
        <p:txBody>
          <a:bodyPr/>
          <a:lstStyle>
            <a:lvl1pPr>
              <a:defRPr/>
            </a:lvl1pPr>
          </a:lstStyle>
          <a:p>
            <a:pPr>
              <a:defRPr/>
            </a:pPr>
            <a:fld id="{FC2DA85C-F319-435F-8E4C-2B5AACE61B32}" type="slidenum">
              <a:rPr lang="ru-RU"/>
              <a:pPr>
                <a:defRPr/>
              </a:pPr>
              <a:t>‹#›</a:t>
            </a:fld>
            <a:endParaRPr lang="ru-RU"/>
          </a:p>
        </p:txBody>
      </p:sp>
    </p:spTree>
    <p:extLst>
      <p:ext uri="{BB962C8B-B14F-4D97-AF65-F5344CB8AC3E}">
        <p14:creationId xmlns:p14="http://schemas.microsoft.com/office/powerpoint/2010/main" val="3002358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Rectangle 6"/>
          <p:cNvSpPr>
            <a:spLocks noGrp="1" noChangeArrowheads="1"/>
          </p:cNvSpPr>
          <p:nvPr>
            <p:ph type="dt" sz="half" idx="10"/>
          </p:nvPr>
        </p:nvSpPr>
        <p:spPr>
          <a:ln/>
        </p:spPr>
        <p:txBody>
          <a:bodyPr/>
          <a:lstStyle>
            <a:lvl1pPr>
              <a:defRPr/>
            </a:lvl1pPr>
          </a:lstStyle>
          <a:p>
            <a:pPr>
              <a:defRPr/>
            </a:pPr>
            <a:endParaRPr lang="ru-RU"/>
          </a:p>
        </p:txBody>
      </p:sp>
      <p:sp>
        <p:nvSpPr>
          <p:cNvPr id="5" name="Rectangle 7"/>
          <p:cNvSpPr>
            <a:spLocks noGrp="1" noChangeArrowheads="1"/>
          </p:cNvSpPr>
          <p:nvPr>
            <p:ph type="ftr" sz="quarter" idx="11"/>
          </p:nvPr>
        </p:nvSpPr>
        <p:spPr>
          <a:ln/>
        </p:spPr>
        <p:txBody>
          <a:bodyPr/>
          <a:lstStyle>
            <a:lvl1pPr>
              <a:defRPr/>
            </a:lvl1pPr>
          </a:lstStyle>
          <a:p>
            <a:pPr>
              <a:defRPr/>
            </a:pPr>
            <a:endParaRPr lang="ru-RU"/>
          </a:p>
        </p:txBody>
      </p:sp>
      <p:sp>
        <p:nvSpPr>
          <p:cNvPr id="6" name="Rectangle 8"/>
          <p:cNvSpPr>
            <a:spLocks noGrp="1" noChangeArrowheads="1"/>
          </p:cNvSpPr>
          <p:nvPr>
            <p:ph type="sldNum" sz="quarter" idx="12"/>
          </p:nvPr>
        </p:nvSpPr>
        <p:spPr>
          <a:ln/>
        </p:spPr>
        <p:txBody>
          <a:bodyPr/>
          <a:lstStyle>
            <a:lvl1pPr>
              <a:defRPr/>
            </a:lvl1pPr>
          </a:lstStyle>
          <a:p>
            <a:pPr>
              <a:defRPr/>
            </a:pPr>
            <a:fld id="{D275A312-BF34-46CF-836A-4620D36C4C98}" type="slidenum">
              <a:rPr lang="ru-RU"/>
              <a:pPr>
                <a:defRPr/>
              </a:pPr>
              <a:t>‹#›</a:t>
            </a:fld>
            <a:endParaRPr lang="ru-RU"/>
          </a:p>
        </p:txBody>
      </p:sp>
    </p:spTree>
    <p:extLst>
      <p:ext uri="{BB962C8B-B14F-4D97-AF65-F5344CB8AC3E}">
        <p14:creationId xmlns:p14="http://schemas.microsoft.com/office/powerpoint/2010/main" val="3436956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ru-R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dt" sz="half" idx="10"/>
          </p:nvPr>
        </p:nvSpPr>
        <p:spPr>
          <a:ln/>
        </p:spPr>
        <p:txBody>
          <a:bodyPr/>
          <a:lstStyle>
            <a:lvl1pPr>
              <a:defRPr/>
            </a:lvl1pPr>
          </a:lstStyle>
          <a:p>
            <a:pPr>
              <a:defRPr/>
            </a:pPr>
            <a:endParaRPr lang="ru-RU"/>
          </a:p>
        </p:txBody>
      </p:sp>
      <p:sp>
        <p:nvSpPr>
          <p:cNvPr id="5" name="Rectangle 7"/>
          <p:cNvSpPr>
            <a:spLocks noGrp="1" noChangeArrowheads="1"/>
          </p:cNvSpPr>
          <p:nvPr>
            <p:ph type="ftr" sz="quarter" idx="11"/>
          </p:nvPr>
        </p:nvSpPr>
        <p:spPr>
          <a:ln/>
        </p:spPr>
        <p:txBody>
          <a:bodyPr/>
          <a:lstStyle>
            <a:lvl1pPr>
              <a:defRPr/>
            </a:lvl1pPr>
          </a:lstStyle>
          <a:p>
            <a:pPr>
              <a:defRPr/>
            </a:pPr>
            <a:endParaRPr lang="ru-RU"/>
          </a:p>
        </p:txBody>
      </p:sp>
      <p:sp>
        <p:nvSpPr>
          <p:cNvPr id="6" name="Rectangle 8"/>
          <p:cNvSpPr>
            <a:spLocks noGrp="1" noChangeArrowheads="1"/>
          </p:cNvSpPr>
          <p:nvPr>
            <p:ph type="sldNum" sz="quarter" idx="12"/>
          </p:nvPr>
        </p:nvSpPr>
        <p:spPr>
          <a:ln/>
        </p:spPr>
        <p:txBody>
          <a:bodyPr/>
          <a:lstStyle>
            <a:lvl1pPr>
              <a:defRPr/>
            </a:lvl1pPr>
          </a:lstStyle>
          <a:p>
            <a:pPr>
              <a:defRPr/>
            </a:pPr>
            <a:fld id="{6DF5691E-CC2B-42D5-89AE-63536E2FBCA4}" type="slidenum">
              <a:rPr lang="ru-RU"/>
              <a:pPr>
                <a:defRPr/>
              </a:pPr>
              <a:t>‹#›</a:t>
            </a:fld>
            <a:endParaRPr lang="ru-RU"/>
          </a:p>
        </p:txBody>
      </p:sp>
    </p:spTree>
    <p:extLst>
      <p:ext uri="{BB962C8B-B14F-4D97-AF65-F5344CB8AC3E}">
        <p14:creationId xmlns:p14="http://schemas.microsoft.com/office/powerpoint/2010/main" val="3850220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Content Placeholder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Rectangle 6"/>
          <p:cNvSpPr>
            <a:spLocks noGrp="1" noChangeArrowheads="1"/>
          </p:cNvSpPr>
          <p:nvPr>
            <p:ph type="dt" sz="half" idx="10"/>
          </p:nvPr>
        </p:nvSpPr>
        <p:spPr>
          <a:ln/>
        </p:spPr>
        <p:txBody>
          <a:bodyPr/>
          <a:lstStyle>
            <a:lvl1pPr>
              <a:defRPr/>
            </a:lvl1pPr>
          </a:lstStyle>
          <a:p>
            <a:pPr>
              <a:defRPr/>
            </a:pPr>
            <a:endParaRPr lang="ru-RU"/>
          </a:p>
        </p:txBody>
      </p:sp>
      <p:sp>
        <p:nvSpPr>
          <p:cNvPr id="6" name="Rectangle 7"/>
          <p:cNvSpPr>
            <a:spLocks noGrp="1" noChangeArrowheads="1"/>
          </p:cNvSpPr>
          <p:nvPr>
            <p:ph type="ftr" sz="quarter" idx="11"/>
          </p:nvPr>
        </p:nvSpPr>
        <p:spPr>
          <a:ln/>
        </p:spPr>
        <p:txBody>
          <a:bodyPr/>
          <a:lstStyle>
            <a:lvl1pPr>
              <a:defRPr/>
            </a:lvl1pPr>
          </a:lstStyle>
          <a:p>
            <a:pPr>
              <a:defRPr/>
            </a:pPr>
            <a:endParaRPr lang="ru-RU"/>
          </a:p>
        </p:txBody>
      </p:sp>
      <p:sp>
        <p:nvSpPr>
          <p:cNvPr id="7" name="Rectangle 8"/>
          <p:cNvSpPr>
            <a:spLocks noGrp="1" noChangeArrowheads="1"/>
          </p:cNvSpPr>
          <p:nvPr>
            <p:ph type="sldNum" sz="quarter" idx="12"/>
          </p:nvPr>
        </p:nvSpPr>
        <p:spPr>
          <a:ln/>
        </p:spPr>
        <p:txBody>
          <a:bodyPr/>
          <a:lstStyle>
            <a:lvl1pPr>
              <a:defRPr/>
            </a:lvl1pPr>
          </a:lstStyle>
          <a:p>
            <a:pPr>
              <a:defRPr/>
            </a:pPr>
            <a:fld id="{9F609675-DECF-4AB1-BD87-C7FF290A07A5}" type="slidenum">
              <a:rPr lang="ru-RU"/>
              <a:pPr>
                <a:defRPr/>
              </a:pPr>
              <a:t>‹#›</a:t>
            </a:fld>
            <a:endParaRPr lang="ru-RU"/>
          </a:p>
        </p:txBody>
      </p:sp>
    </p:spTree>
    <p:extLst>
      <p:ext uri="{BB962C8B-B14F-4D97-AF65-F5344CB8AC3E}">
        <p14:creationId xmlns:p14="http://schemas.microsoft.com/office/powerpoint/2010/main" val="2037672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ru-R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7" name="Rectangle 6"/>
          <p:cNvSpPr>
            <a:spLocks noGrp="1" noChangeArrowheads="1"/>
          </p:cNvSpPr>
          <p:nvPr>
            <p:ph type="dt" sz="half" idx="10"/>
          </p:nvPr>
        </p:nvSpPr>
        <p:spPr>
          <a:ln/>
        </p:spPr>
        <p:txBody>
          <a:bodyPr/>
          <a:lstStyle>
            <a:lvl1pPr>
              <a:defRPr/>
            </a:lvl1pPr>
          </a:lstStyle>
          <a:p>
            <a:pPr>
              <a:defRPr/>
            </a:pPr>
            <a:endParaRPr lang="ru-RU"/>
          </a:p>
        </p:txBody>
      </p:sp>
      <p:sp>
        <p:nvSpPr>
          <p:cNvPr id="8" name="Rectangle 7"/>
          <p:cNvSpPr>
            <a:spLocks noGrp="1" noChangeArrowheads="1"/>
          </p:cNvSpPr>
          <p:nvPr>
            <p:ph type="ftr" sz="quarter" idx="11"/>
          </p:nvPr>
        </p:nvSpPr>
        <p:spPr>
          <a:ln/>
        </p:spPr>
        <p:txBody>
          <a:bodyPr/>
          <a:lstStyle>
            <a:lvl1pPr>
              <a:defRPr/>
            </a:lvl1pPr>
          </a:lstStyle>
          <a:p>
            <a:pPr>
              <a:defRPr/>
            </a:pPr>
            <a:endParaRPr lang="ru-RU"/>
          </a:p>
        </p:txBody>
      </p:sp>
      <p:sp>
        <p:nvSpPr>
          <p:cNvPr id="9" name="Rectangle 8"/>
          <p:cNvSpPr>
            <a:spLocks noGrp="1" noChangeArrowheads="1"/>
          </p:cNvSpPr>
          <p:nvPr>
            <p:ph type="sldNum" sz="quarter" idx="12"/>
          </p:nvPr>
        </p:nvSpPr>
        <p:spPr>
          <a:ln/>
        </p:spPr>
        <p:txBody>
          <a:bodyPr/>
          <a:lstStyle>
            <a:lvl1pPr>
              <a:defRPr/>
            </a:lvl1pPr>
          </a:lstStyle>
          <a:p>
            <a:pPr>
              <a:defRPr/>
            </a:pPr>
            <a:fld id="{F9F3A142-577B-41D0-859B-658EBA85D373}" type="slidenum">
              <a:rPr lang="ru-RU"/>
              <a:pPr>
                <a:defRPr/>
              </a:pPr>
              <a:t>‹#›</a:t>
            </a:fld>
            <a:endParaRPr lang="ru-RU"/>
          </a:p>
        </p:txBody>
      </p:sp>
    </p:spTree>
    <p:extLst>
      <p:ext uri="{BB962C8B-B14F-4D97-AF65-F5344CB8AC3E}">
        <p14:creationId xmlns:p14="http://schemas.microsoft.com/office/powerpoint/2010/main" val="1447616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Rectangle 6"/>
          <p:cNvSpPr>
            <a:spLocks noGrp="1" noChangeArrowheads="1"/>
          </p:cNvSpPr>
          <p:nvPr>
            <p:ph type="dt" sz="half" idx="10"/>
          </p:nvPr>
        </p:nvSpPr>
        <p:spPr>
          <a:ln/>
        </p:spPr>
        <p:txBody>
          <a:bodyPr/>
          <a:lstStyle>
            <a:lvl1pPr>
              <a:defRPr/>
            </a:lvl1pPr>
          </a:lstStyle>
          <a:p>
            <a:pPr>
              <a:defRPr/>
            </a:pPr>
            <a:endParaRPr lang="ru-RU"/>
          </a:p>
        </p:txBody>
      </p:sp>
      <p:sp>
        <p:nvSpPr>
          <p:cNvPr id="4" name="Rectangle 7"/>
          <p:cNvSpPr>
            <a:spLocks noGrp="1" noChangeArrowheads="1"/>
          </p:cNvSpPr>
          <p:nvPr>
            <p:ph type="ftr" sz="quarter" idx="11"/>
          </p:nvPr>
        </p:nvSpPr>
        <p:spPr>
          <a:ln/>
        </p:spPr>
        <p:txBody>
          <a:bodyPr/>
          <a:lstStyle>
            <a:lvl1pPr>
              <a:defRPr/>
            </a:lvl1pPr>
          </a:lstStyle>
          <a:p>
            <a:pPr>
              <a:defRPr/>
            </a:pPr>
            <a:endParaRPr lang="ru-RU"/>
          </a:p>
        </p:txBody>
      </p:sp>
      <p:sp>
        <p:nvSpPr>
          <p:cNvPr id="5" name="Rectangle 8"/>
          <p:cNvSpPr>
            <a:spLocks noGrp="1" noChangeArrowheads="1"/>
          </p:cNvSpPr>
          <p:nvPr>
            <p:ph type="sldNum" sz="quarter" idx="12"/>
          </p:nvPr>
        </p:nvSpPr>
        <p:spPr>
          <a:ln/>
        </p:spPr>
        <p:txBody>
          <a:bodyPr/>
          <a:lstStyle>
            <a:lvl1pPr>
              <a:defRPr/>
            </a:lvl1pPr>
          </a:lstStyle>
          <a:p>
            <a:pPr>
              <a:defRPr/>
            </a:pPr>
            <a:fld id="{545210D7-9008-4D5D-8E23-471E3F0C16DD}" type="slidenum">
              <a:rPr lang="ru-RU"/>
              <a:pPr>
                <a:defRPr/>
              </a:pPr>
              <a:t>‹#›</a:t>
            </a:fld>
            <a:endParaRPr lang="ru-RU"/>
          </a:p>
        </p:txBody>
      </p:sp>
    </p:spTree>
    <p:extLst>
      <p:ext uri="{BB962C8B-B14F-4D97-AF65-F5344CB8AC3E}">
        <p14:creationId xmlns:p14="http://schemas.microsoft.com/office/powerpoint/2010/main" val="2229556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endParaRPr lang="ru-RU"/>
          </a:p>
        </p:txBody>
      </p:sp>
      <p:sp>
        <p:nvSpPr>
          <p:cNvPr id="3" name="Rectangle 7"/>
          <p:cNvSpPr>
            <a:spLocks noGrp="1" noChangeArrowheads="1"/>
          </p:cNvSpPr>
          <p:nvPr>
            <p:ph type="ftr" sz="quarter" idx="11"/>
          </p:nvPr>
        </p:nvSpPr>
        <p:spPr>
          <a:ln/>
        </p:spPr>
        <p:txBody>
          <a:bodyPr/>
          <a:lstStyle>
            <a:lvl1pPr>
              <a:defRPr/>
            </a:lvl1pPr>
          </a:lstStyle>
          <a:p>
            <a:pPr>
              <a:defRPr/>
            </a:pPr>
            <a:endParaRPr lang="ru-RU"/>
          </a:p>
        </p:txBody>
      </p:sp>
      <p:sp>
        <p:nvSpPr>
          <p:cNvPr id="4" name="Rectangle 8"/>
          <p:cNvSpPr>
            <a:spLocks noGrp="1" noChangeArrowheads="1"/>
          </p:cNvSpPr>
          <p:nvPr>
            <p:ph type="sldNum" sz="quarter" idx="12"/>
          </p:nvPr>
        </p:nvSpPr>
        <p:spPr>
          <a:ln/>
        </p:spPr>
        <p:txBody>
          <a:bodyPr/>
          <a:lstStyle>
            <a:lvl1pPr>
              <a:defRPr/>
            </a:lvl1pPr>
          </a:lstStyle>
          <a:p>
            <a:pPr>
              <a:defRPr/>
            </a:pPr>
            <a:fld id="{6D8E24A2-065F-449D-A575-8716BE5BF385}" type="slidenum">
              <a:rPr lang="ru-RU"/>
              <a:pPr>
                <a:defRPr/>
              </a:pPr>
              <a:t>‹#›</a:t>
            </a:fld>
            <a:endParaRPr lang="ru-RU"/>
          </a:p>
        </p:txBody>
      </p:sp>
    </p:spTree>
    <p:extLst>
      <p:ext uri="{BB962C8B-B14F-4D97-AF65-F5344CB8AC3E}">
        <p14:creationId xmlns:p14="http://schemas.microsoft.com/office/powerpoint/2010/main" val="2887583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ru-R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dt" sz="half" idx="10"/>
          </p:nvPr>
        </p:nvSpPr>
        <p:spPr>
          <a:ln/>
        </p:spPr>
        <p:txBody>
          <a:bodyPr/>
          <a:lstStyle>
            <a:lvl1pPr>
              <a:defRPr/>
            </a:lvl1pPr>
          </a:lstStyle>
          <a:p>
            <a:pPr>
              <a:defRPr/>
            </a:pPr>
            <a:endParaRPr lang="ru-RU"/>
          </a:p>
        </p:txBody>
      </p:sp>
      <p:sp>
        <p:nvSpPr>
          <p:cNvPr id="6" name="Rectangle 7"/>
          <p:cNvSpPr>
            <a:spLocks noGrp="1" noChangeArrowheads="1"/>
          </p:cNvSpPr>
          <p:nvPr>
            <p:ph type="ftr" sz="quarter" idx="11"/>
          </p:nvPr>
        </p:nvSpPr>
        <p:spPr>
          <a:ln/>
        </p:spPr>
        <p:txBody>
          <a:bodyPr/>
          <a:lstStyle>
            <a:lvl1pPr>
              <a:defRPr/>
            </a:lvl1pPr>
          </a:lstStyle>
          <a:p>
            <a:pPr>
              <a:defRPr/>
            </a:pPr>
            <a:endParaRPr lang="ru-RU"/>
          </a:p>
        </p:txBody>
      </p:sp>
      <p:sp>
        <p:nvSpPr>
          <p:cNvPr id="7" name="Rectangle 8"/>
          <p:cNvSpPr>
            <a:spLocks noGrp="1" noChangeArrowheads="1"/>
          </p:cNvSpPr>
          <p:nvPr>
            <p:ph type="sldNum" sz="quarter" idx="12"/>
          </p:nvPr>
        </p:nvSpPr>
        <p:spPr>
          <a:ln/>
        </p:spPr>
        <p:txBody>
          <a:bodyPr/>
          <a:lstStyle>
            <a:lvl1pPr>
              <a:defRPr/>
            </a:lvl1pPr>
          </a:lstStyle>
          <a:p>
            <a:pPr>
              <a:defRPr/>
            </a:pPr>
            <a:fld id="{AD206980-A5DE-4A02-8319-42840655314E}" type="slidenum">
              <a:rPr lang="ru-RU"/>
              <a:pPr>
                <a:defRPr/>
              </a:pPr>
              <a:t>‹#›</a:t>
            </a:fld>
            <a:endParaRPr lang="ru-RU"/>
          </a:p>
        </p:txBody>
      </p:sp>
    </p:spTree>
    <p:extLst>
      <p:ext uri="{BB962C8B-B14F-4D97-AF65-F5344CB8AC3E}">
        <p14:creationId xmlns:p14="http://schemas.microsoft.com/office/powerpoint/2010/main" val="1489227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ru-R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dt" sz="half" idx="10"/>
          </p:nvPr>
        </p:nvSpPr>
        <p:spPr>
          <a:ln/>
        </p:spPr>
        <p:txBody>
          <a:bodyPr/>
          <a:lstStyle>
            <a:lvl1pPr>
              <a:defRPr/>
            </a:lvl1pPr>
          </a:lstStyle>
          <a:p>
            <a:pPr>
              <a:defRPr/>
            </a:pPr>
            <a:endParaRPr lang="ru-RU"/>
          </a:p>
        </p:txBody>
      </p:sp>
      <p:sp>
        <p:nvSpPr>
          <p:cNvPr id="6" name="Rectangle 7"/>
          <p:cNvSpPr>
            <a:spLocks noGrp="1" noChangeArrowheads="1"/>
          </p:cNvSpPr>
          <p:nvPr>
            <p:ph type="ftr" sz="quarter" idx="11"/>
          </p:nvPr>
        </p:nvSpPr>
        <p:spPr>
          <a:ln/>
        </p:spPr>
        <p:txBody>
          <a:bodyPr/>
          <a:lstStyle>
            <a:lvl1pPr>
              <a:defRPr/>
            </a:lvl1pPr>
          </a:lstStyle>
          <a:p>
            <a:pPr>
              <a:defRPr/>
            </a:pPr>
            <a:endParaRPr lang="ru-RU"/>
          </a:p>
        </p:txBody>
      </p:sp>
      <p:sp>
        <p:nvSpPr>
          <p:cNvPr id="7" name="Rectangle 8"/>
          <p:cNvSpPr>
            <a:spLocks noGrp="1" noChangeArrowheads="1"/>
          </p:cNvSpPr>
          <p:nvPr>
            <p:ph type="sldNum" sz="quarter" idx="12"/>
          </p:nvPr>
        </p:nvSpPr>
        <p:spPr>
          <a:ln/>
        </p:spPr>
        <p:txBody>
          <a:bodyPr/>
          <a:lstStyle>
            <a:lvl1pPr>
              <a:defRPr/>
            </a:lvl1pPr>
          </a:lstStyle>
          <a:p>
            <a:pPr>
              <a:defRPr/>
            </a:pPr>
            <a:fld id="{BE3295C4-381D-4A39-9297-E359C357B21C}" type="slidenum">
              <a:rPr lang="ru-RU"/>
              <a:pPr>
                <a:defRPr/>
              </a:pPr>
              <a:t>‹#›</a:t>
            </a:fld>
            <a:endParaRPr lang="ru-RU"/>
          </a:p>
        </p:txBody>
      </p:sp>
    </p:spTree>
    <p:extLst>
      <p:ext uri="{BB962C8B-B14F-4D97-AF65-F5344CB8AC3E}">
        <p14:creationId xmlns:p14="http://schemas.microsoft.com/office/powerpoint/2010/main" val="3811252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Rectangle 6"/>
          <p:cNvSpPr>
            <a:spLocks noGrp="1" noChangeArrowheads="1"/>
          </p:cNvSpPr>
          <p:nvPr>
            <p:ph type="dt" sz="half" idx="10"/>
          </p:nvPr>
        </p:nvSpPr>
        <p:spPr>
          <a:ln/>
        </p:spPr>
        <p:txBody>
          <a:bodyPr/>
          <a:lstStyle>
            <a:lvl1pPr>
              <a:defRPr/>
            </a:lvl1pPr>
          </a:lstStyle>
          <a:p>
            <a:pPr>
              <a:defRPr/>
            </a:pPr>
            <a:endParaRPr lang="ru-RU"/>
          </a:p>
        </p:txBody>
      </p:sp>
      <p:sp>
        <p:nvSpPr>
          <p:cNvPr id="5" name="Rectangle 7"/>
          <p:cNvSpPr>
            <a:spLocks noGrp="1" noChangeArrowheads="1"/>
          </p:cNvSpPr>
          <p:nvPr>
            <p:ph type="ftr" sz="quarter" idx="11"/>
          </p:nvPr>
        </p:nvSpPr>
        <p:spPr>
          <a:ln/>
        </p:spPr>
        <p:txBody>
          <a:bodyPr/>
          <a:lstStyle>
            <a:lvl1pPr>
              <a:defRPr/>
            </a:lvl1pPr>
          </a:lstStyle>
          <a:p>
            <a:pPr>
              <a:defRPr/>
            </a:pPr>
            <a:endParaRPr lang="ru-RU"/>
          </a:p>
        </p:txBody>
      </p:sp>
      <p:sp>
        <p:nvSpPr>
          <p:cNvPr id="6" name="Rectangle 8"/>
          <p:cNvSpPr>
            <a:spLocks noGrp="1" noChangeArrowheads="1"/>
          </p:cNvSpPr>
          <p:nvPr>
            <p:ph type="sldNum" sz="quarter" idx="12"/>
          </p:nvPr>
        </p:nvSpPr>
        <p:spPr>
          <a:ln/>
        </p:spPr>
        <p:txBody>
          <a:bodyPr/>
          <a:lstStyle>
            <a:lvl1pPr>
              <a:defRPr/>
            </a:lvl1pPr>
          </a:lstStyle>
          <a:p>
            <a:pPr>
              <a:defRPr/>
            </a:pPr>
            <a:fld id="{02926E6E-35BB-4329-8AD1-EBB715D21AB4}" type="slidenum">
              <a:rPr lang="ru-RU"/>
              <a:pPr>
                <a:defRPr/>
              </a:pPr>
              <a:t>‹#›</a:t>
            </a:fld>
            <a:endParaRPr lang="ru-RU"/>
          </a:p>
        </p:txBody>
      </p:sp>
    </p:spTree>
    <p:extLst>
      <p:ext uri="{BB962C8B-B14F-4D97-AF65-F5344CB8AC3E}">
        <p14:creationId xmlns:p14="http://schemas.microsoft.com/office/powerpoint/2010/main" val="2249230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3838" y="304800"/>
            <a:ext cx="2001837" cy="5715000"/>
          </a:xfrm>
        </p:spPr>
        <p:txBody>
          <a:bodyPr vert="eaVert"/>
          <a:lstStyle/>
          <a:p>
            <a:r>
              <a:rPr lang="en-US" smtClean="0"/>
              <a:t>Click to edit Master title style</a:t>
            </a:r>
            <a:endParaRPr lang="ru-RU"/>
          </a:p>
        </p:txBody>
      </p:sp>
      <p:sp>
        <p:nvSpPr>
          <p:cNvPr id="3" name="Vertical Text Placeholder 2"/>
          <p:cNvSpPr>
            <a:spLocks noGrp="1"/>
          </p:cNvSpPr>
          <p:nvPr>
            <p:ph type="body" orient="vert" idx="1"/>
          </p:nvPr>
        </p:nvSpPr>
        <p:spPr>
          <a:xfrm>
            <a:off x="566738" y="304800"/>
            <a:ext cx="5854700" cy="5715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Rectangle 6"/>
          <p:cNvSpPr>
            <a:spLocks noGrp="1" noChangeArrowheads="1"/>
          </p:cNvSpPr>
          <p:nvPr>
            <p:ph type="dt" sz="half" idx="10"/>
          </p:nvPr>
        </p:nvSpPr>
        <p:spPr>
          <a:ln/>
        </p:spPr>
        <p:txBody>
          <a:bodyPr/>
          <a:lstStyle>
            <a:lvl1pPr>
              <a:defRPr/>
            </a:lvl1pPr>
          </a:lstStyle>
          <a:p>
            <a:pPr>
              <a:defRPr/>
            </a:pPr>
            <a:endParaRPr lang="ru-RU"/>
          </a:p>
        </p:txBody>
      </p:sp>
      <p:sp>
        <p:nvSpPr>
          <p:cNvPr id="5" name="Rectangle 7"/>
          <p:cNvSpPr>
            <a:spLocks noGrp="1" noChangeArrowheads="1"/>
          </p:cNvSpPr>
          <p:nvPr>
            <p:ph type="ftr" sz="quarter" idx="11"/>
          </p:nvPr>
        </p:nvSpPr>
        <p:spPr>
          <a:ln/>
        </p:spPr>
        <p:txBody>
          <a:bodyPr/>
          <a:lstStyle>
            <a:lvl1pPr>
              <a:defRPr/>
            </a:lvl1pPr>
          </a:lstStyle>
          <a:p>
            <a:pPr>
              <a:defRPr/>
            </a:pPr>
            <a:endParaRPr lang="ru-RU"/>
          </a:p>
        </p:txBody>
      </p:sp>
      <p:sp>
        <p:nvSpPr>
          <p:cNvPr id="6" name="Rectangle 8"/>
          <p:cNvSpPr>
            <a:spLocks noGrp="1" noChangeArrowheads="1"/>
          </p:cNvSpPr>
          <p:nvPr>
            <p:ph type="sldNum" sz="quarter" idx="12"/>
          </p:nvPr>
        </p:nvSpPr>
        <p:spPr>
          <a:ln/>
        </p:spPr>
        <p:txBody>
          <a:bodyPr/>
          <a:lstStyle>
            <a:lvl1pPr>
              <a:defRPr/>
            </a:lvl1pPr>
          </a:lstStyle>
          <a:p>
            <a:pPr>
              <a:defRPr/>
            </a:pPr>
            <a:fld id="{FD204FEE-BF64-4C92-A2C4-B5107D76E759}" type="slidenum">
              <a:rPr lang="ru-RU"/>
              <a:pPr>
                <a:defRPr/>
              </a:pPr>
              <a:t>‹#›</a:t>
            </a:fld>
            <a:endParaRPr lang="ru-RU"/>
          </a:p>
        </p:txBody>
      </p:sp>
    </p:spTree>
    <p:extLst>
      <p:ext uri="{BB962C8B-B14F-4D97-AF65-F5344CB8AC3E}">
        <p14:creationId xmlns:p14="http://schemas.microsoft.com/office/powerpoint/2010/main" val="3022479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AEAEA"/>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ru-RU" smtClean="0"/>
              <a:t>Образец заголовка</a:t>
            </a:r>
          </a:p>
        </p:txBody>
      </p:sp>
      <p:sp>
        <p:nvSpPr>
          <p:cNvPr id="1027" name="Rectangle 3"/>
          <p:cNvSpPr>
            <a:spLocks noGrp="1" noChangeArrowheads="1"/>
          </p:cNvSpPr>
          <p:nvPr>
            <p:ph type="body" idx="1"/>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p>
        </p:txBody>
      </p:sp>
      <p:sp>
        <p:nvSpPr>
          <p:cNvPr id="1028" name="AutoShape 4"/>
          <p:cNvSpPr>
            <a:spLocks noChangeArrowheads="1"/>
          </p:cNvSpPr>
          <p:nvPr/>
        </p:nvSpPr>
        <p:spPr bwMode="auto">
          <a:xfrm>
            <a:off x="609600" y="1566863"/>
            <a:ext cx="7958138" cy="109537"/>
          </a:xfrm>
          <a:custGeom>
            <a:avLst/>
            <a:gdLst>
              <a:gd name="T0" fmla="*/ 0 w 1000"/>
              <a:gd name="T1" fmla="*/ 0 h 1000"/>
              <a:gd name="T2" fmla="*/ 2147483647 w 1000"/>
              <a:gd name="T3" fmla="*/ 0 h 1000"/>
              <a:gd name="T4" fmla="*/ 2147483647 w 1000"/>
              <a:gd name="T5" fmla="*/ 1314263702 h 1000"/>
              <a:gd name="T6" fmla="*/ 0 w 1000"/>
              <a:gd name="T7" fmla="*/ 1314263702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ru-RU"/>
          </a:p>
        </p:txBody>
      </p:sp>
      <p:sp>
        <p:nvSpPr>
          <p:cNvPr id="1029" name="Line 5"/>
          <p:cNvSpPr>
            <a:spLocks noChangeShapeType="1"/>
          </p:cNvSpPr>
          <p:nvPr/>
        </p:nvSpPr>
        <p:spPr bwMode="auto">
          <a:xfrm flipV="1">
            <a:off x="609600" y="6172200"/>
            <a:ext cx="79248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ru-RU"/>
          </a:p>
        </p:txBody>
      </p:sp>
      <p:sp>
        <p:nvSpPr>
          <p:cNvPr id="53254" name="Rectangle 6"/>
          <p:cNvSpPr>
            <a:spLocks noGrp="1" noChangeArrowheads="1"/>
          </p:cNvSpPr>
          <p:nvPr>
            <p:ph type="dt" sz="half" idx="2"/>
          </p:nvPr>
        </p:nvSpPr>
        <p:spPr bwMode="auto">
          <a:xfrm>
            <a:off x="6096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ru-RU"/>
          </a:p>
        </p:txBody>
      </p:sp>
      <p:sp>
        <p:nvSpPr>
          <p:cNvPr id="53255" name="Rectangle 7"/>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lvl1pPr>
          </a:lstStyle>
          <a:p>
            <a:pPr>
              <a:defRPr/>
            </a:pPr>
            <a:endParaRPr lang="ru-RU"/>
          </a:p>
        </p:txBody>
      </p:sp>
      <p:sp>
        <p:nvSpPr>
          <p:cNvPr id="53256"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fld id="{76BC3D1D-8271-49D5-81EF-9B4335753F39}" type="slidenum">
              <a:rPr lang="ru-RU"/>
              <a:pPr>
                <a:defRPr/>
              </a:pPr>
              <a:t>‹#›</a:t>
            </a:fld>
            <a:endParaRPr lang="ru-RU"/>
          </a:p>
        </p:txBody>
      </p:sp>
    </p:spTree>
  </p:cSld>
  <p:clrMap bg1="lt1" tx1="dk1" bg2="lt2" tx2="dk2" accent1="accent1" accent2="accent2" accent3="accent3" accent4="accent4" accent5="accent5" accent6="accent6" hlink="hlink" folHlink="folHlink"/>
  <p:sldLayoutIdLst>
    <p:sldLayoutId id="2147483974" r:id="rId1"/>
    <p:sldLayoutId id="2147483964" r:id="rId2"/>
    <p:sldLayoutId id="2147483965" r:id="rId3"/>
    <p:sldLayoutId id="2147483966" r:id="rId4"/>
    <p:sldLayoutId id="2147483967" r:id="rId5"/>
    <p:sldLayoutId id="2147483968" r:id="rId6"/>
    <p:sldLayoutId id="2147483969" r:id="rId7"/>
    <p:sldLayoutId id="2147483970" r:id="rId8"/>
    <p:sldLayoutId id="2147483971" r:id="rId9"/>
    <p:sldLayoutId id="2147483972" r:id="rId10"/>
    <p:sldLayoutId id="2147483973" r:id="rId11"/>
  </p:sldLayoutIdLst>
  <p:timing>
    <p:tnLst>
      <p:par>
        <p:cTn id="1" dur="indefinite" restart="never" nodeType="tmRoot"/>
      </p:par>
    </p:tnLst>
  </p:timing>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defRPr>
      </a:lvl2pPr>
      <a:lvl3pPr algn="l" rtl="0" eaLnBrk="0" fontAlgn="base" hangingPunct="0">
        <a:spcBef>
          <a:spcPct val="0"/>
        </a:spcBef>
        <a:spcAft>
          <a:spcPct val="0"/>
        </a:spcAft>
        <a:defRPr sz="3800">
          <a:solidFill>
            <a:schemeClr val="tx2"/>
          </a:solidFill>
          <a:latin typeface="Verdana" pitchFamily="34" charset="0"/>
        </a:defRPr>
      </a:lvl3pPr>
      <a:lvl4pPr algn="l" rtl="0" eaLnBrk="0" fontAlgn="base" hangingPunct="0">
        <a:spcBef>
          <a:spcPct val="0"/>
        </a:spcBef>
        <a:spcAft>
          <a:spcPct val="0"/>
        </a:spcAft>
        <a:defRPr sz="3800">
          <a:solidFill>
            <a:schemeClr val="tx2"/>
          </a:solidFill>
          <a:latin typeface="Verdana" pitchFamily="34" charset="0"/>
        </a:defRPr>
      </a:lvl4pPr>
      <a:lvl5pPr algn="l" rtl="0" eaLnBrk="0" fontAlgn="base" hangingPunct="0">
        <a:spcBef>
          <a:spcPct val="0"/>
        </a:spcBef>
        <a:spcAft>
          <a:spcPct val="0"/>
        </a:spcAft>
        <a:defRPr sz="3800">
          <a:solidFill>
            <a:schemeClr val="tx2"/>
          </a:solidFill>
          <a:latin typeface="Verdana" pitchFamily="34" charset="0"/>
        </a:defRPr>
      </a:lvl5pPr>
      <a:lvl6pPr marL="457200" algn="l" rtl="0" fontAlgn="base">
        <a:spcBef>
          <a:spcPct val="0"/>
        </a:spcBef>
        <a:spcAft>
          <a:spcPct val="0"/>
        </a:spcAft>
        <a:defRPr sz="3800">
          <a:solidFill>
            <a:schemeClr val="tx2"/>
          </a:solidFill>
          <a:latin typeface="Verdana" pitchFamily="34" charset="0"/>
        </a:defRPr>
      </a:lvl6pPr>
      <a:lvl7pPr marL="914400" algn="l" rtl="0" fontAlgn="base">
        <a:spcBef>
          <a:spcPct val="0"/>
        </a:spcBef>
        <a:spcAft>
          <a:spcPct val="0"/>
        </a:spcAft>
        <a:defRPr sz="3800">
          <a:solidFill>
            <a:schemeClr val="tx2"/>
          </a:solidFill>
          <a:latin typeface="Verdana" pitchFamily="34" charset="0"/>
        </a:defRPr>
      </a:lvl7pPr>
      <a:lvl8pPr marL="1371600" algn="l" rtl="0" fontAlgn="base">
        <a:spcBef>
          <a:spcPct val="0"/>
        </a:spcBef>
        <a:spcAft>
          <a:spcPct val="0"/>
        </a:spcAft>
        <a:defRPr sz="3800">
          <a:solidFill>
            <a:schemeClr val="tx2"/>
          </a:solidFill>
          <a:latin typeface="Verdana" pitchFamily="34" charset="0"/>
        </a:defRPr>
      </a:lvl8pPr>
      <a:lvl9pPr marL="1828800" algn="l" rtl="0" fontAlgn="base">
        <a:spcBef>
          <a:spcPct val="0"/>
        </a:spcBef>
        <a:spcAft>
          <a:spcPct val="0"/>
        </a:spcAft>
        <a:defRPr sz="3800">
          <a:solidFill>
            <a:schemeClr val="tx2"/>
          </a:solidFill>
          <a:latin typeface="Verdana" pitchFamily="34" charset="0"/>
        </a:defRPr>
      </a:lvl9pPr>
    </p:titleStyle>
    <p:bodyStyle>
      <a:lvl1pPr marL="469900" indent="-469900" algn="l" rtl="0" eaLnBrk="0" fontAlgn="base" hangingPunct="0">
        <a:spcBef>
          <a:spcPct val="20000"/>
        </a:spcBef>
        <a:spcAft>
          <a:spcPct val="0"/>
        </a:spcAft>
        <a:buClr>
          <a:schemeClr val="accent2"/>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5.wmf"/><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7.wmf"/><Relationship Id="rId4"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9.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em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2.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13.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Process 9"/>
          <p:cNvSpPr/>
          <p:nvPr/>
        </p:nvSpPr>
        <p:spPr>
          <a:xfrm>
            <a:off x="214282" y="214290"/>
            <a:ext cx="8721900" cy="6429420"/>
          </a:xfrm>
          <a:prstGeom prst="flowChartProcess">
            <a:avLst/>
          </a:prstGeom>
          <a:noFill/>
          <a:ln w="57150">
            <a:solidFill>
              <a:srgbClr val="002060"/>
            </a:solidFill>
          </a:ln>
          <a:effectLst>
            <a:glow rad="228600">
              <a:schemeClr val="accent1">
                <a:satMod val="175000"/>
                <a:alpha val="40000"/>
              </a:schemeClr>
            </a:glow>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ru-RU"/>
          </a:p>
        </p:txBody>
      </p:sp>
      <p:sp>
        <p:nvSpPr>
          <p:cNvPr id="12309" name="Text Box 21"/>
          <p:cNvSpPr txBox="1">
            <a:spLocks noChangeArrowheads="1"/>
          </p:cNvSpPr>
          <p:nvPr/>
        </p:nvSpPr>
        <p:spPr bwMode="auto">
          <a:xfrm>
            <a:off x="538163" y="581025"/>
            <a:ext cx="8086725" cy="430213"/>
          </a:xfrm>
          <a:prstGeom prst="rect">
            <a:avLst/>
          </a:prstGeom>
          <a:solidFill>
            <a:schemeClr val="bg1"/>
          </a:solidFill>
          <a:ln w="9525">
            <a:noFill/>
            <a:miter lim="800000"/>
            <a:headEnd/>
            <a:tailEnd/>
          </a:ln>
          <a:effectLst>
            <a:prstShdw prst="shdw17" dist="17961" dir="2700000">
              <a:schemeClr val="bg1">
                <a:gamma/>
                <a:shade val="60000"/>
                <a:invGamma/>
                <a:alpha val="50000"/>
              </a:schemeClr>
            </a:prstShdw>
          </a:effectLst>
        </p:spPr>
        <p:txBody>
          <a:bodyPr wrap="none">
            <a:spAutoFit/>
          </a:bodyPr>
          <a:lstStyle/>
          <a:p>
            <a:pPr algn="ctr">
              <a:defRPr/>
            </a:pPr>
            <a:r>
              <a:rPr lang="ru-RU" sz="2200" b="1" dirty="0" err="1">
                <a:solidFill>
                  <a:srgbClr val="800000"/>
                </a:solidFill>
                <a:latin typeface="Times New Roman" pitchFamily="18" charset="0"/>
              </a:rPr>
              <a:t>Радиоэлектрон</a:t>
            </a:r>
            <a:r>
              <a:rPr lang="ru-RU" sz="2200" b="1" dirty="0">
                <a:solidFill>
                  <a:srgbClr val="800000"/>
                </a:solidFill>
                <a:latin typeface="Times New Roman" pitchFamily="18" charset="0"/>
              </a:rPr>
              <a:t> </a:t>
            </a:r>
            <a:r>
              <a:rPr lang="ru-RU" sz="2200" b="1" dirty="0" err="1">
                <a:solidFill>
                  <a:srgbClr val="800000"/>
                </a:solidFill>
                <a:latin typeface="Times New Roman" pitchFamily="18" charset="0"/>
              </a:rPr>
              <a:t>тизимлар</a:t>
            </a:r>
            <a:r>
              <a:rPr lang="ru-RU" sz="2200" b="1" dirty="0">
                <a:solidFill>
                  <a:srgbClr val="800000"/>
                </a:solidFill>
                <a:latin typeface="Times New Roman" pitchFamily="18" charset="0"/>
              </a:rPr>
              <a:t> </a:t>
            </a:r>
            <a:r>
              <a:rPr lang="ru-RU" sz="2200" b="1" dirty="0" err="1">
                <a:solidFill>
                  <a:srgbClr val="800000"/>
                </a:solidFill>
                <a:latin typeface="Times New Roman" pitchFamily="18" charset="0"/>
              </a:rPr>
              <a:t>ва</a:t>
            </a:r>
            <a:r>
              <a:rPr lang="ru-RU" sz="2200" b="1" dirty="0">
                <a:solidFill>
                  <a:srgbClr val="800000"/>
                </a:solidFill>
                <a:latin typeface="Times New Roman" pitchFamily="18" charset="0"/>
              </a:rPr>
              <a:t> а</a:t>
            </a:r>
            <a:r>
              <a:rPr lang="uz-Cyrl-UZ" sz="2200" b="1" dirty="0">
                <a:solidFill>
                  <a:srgbClr val="800000"/>
                </a:solidFill>
                <a:latin typeface="Times New Roman" pitchFamily="18" charset="0"/>
              </a:rPr>
              <a:t>хборот технологиялари маркази</a:t>
            </a:r>
            <a:endParaRPr lang="ru-RU" sz="2200" b="1" dirty="0">
              <a:solidFill>
                <a:srgbClr val="800000"/>
              </a:solidFill>
              <a:latin typeface="Times New Roman" pitchFamily="18" charset="0"/>
            </a:endParaRPr>
          </a:p>
        </p:txBody>
      </p:sp>
      <p:sp>
        <p:nvSpPr>
          <p:cNvPr id="12310" name="Text Box 22"/>
          <p:cNvSpPr txBox="1">
            <a:spLocks noChangeArrowheads="1"/>
          </p:cNvSpPr>
          <p:nvPr/>
        </p:nvSpPr>
        <p:spPr bwMode="auto">
          <a:xfrm>
            <a:off x="3487738" y="6148388"/>
            <a:ext cx="1944687" cy="396875"/>
          </a:xfrm>
          <a:prstGeom prst="rect">
            <a:avLst/>
          </a:prstGeom>
          <a:noFill/>
          <a:ln w="9525">
            <a:noFill/>
            <a:miter lim="800000"/>
            <a:headEnd/>
            <a:tailEnd/>
          </a:ln>
          <a:effectLst>
            <a:prstShdw prst="shdw17" dist="17961" dir="2700000">
              <a:schemeClr val="bg1">
                <a:gamma/>
                <a:shade val="60000"/>
                <a:invGamma/>
                <a:alpha val="50000"/>
              </a:schemeClr>
            </a:prstShdw>
          </a:effectLst>
        </p:spPr>
        <p:txBody>
          <a:bodyPr>
            <a:spAutoFit/>
          </a:bodyPr>
          <a:lstStyle/>
          <a:p>
            <a:pPr algn="ctr">
              <a:defRPr/>
            </a:pPr>
            <a:r>
              <a:rPr lang="uz-Cyrl-UZ" sz="2000" b="1" dirty="0">
                <a:latin typeface="Times New Roman" pitchFamily="18" charset="0"/>
              </a:rPr>
              <a:t>Тошкент - </a:t>
            </a:r>
            <a:r>
              <a:rPr lang="uz-Cyrl-UZ" sz="2000" b="1" dirty="0" smtClean="0">
                <a:latin typeface="Times New Roman" pitchFamily="18" charset="0"/>
              </a:rPr>
              <a:t>201</a:t>
            </a:r>
            <a:r>
              <a:rPr lang="en-US" sz="2000" b="1" dirty="0" smtClean="0">
                <a:latin typeface="Times New Roman" pitchFamily="18" charset="0"/>
              </a:rPr>
              <a:t>6</a:t>
            </a:r>
            <a:endParaRPr lang="ru-RU" sz="2000" b="1" dirty="0">
              <a:latin typeface="Times New Roman" pitchFamily="18" charset="0"/>
            </a:endParaRPr>
          </a:p>
        </p:txBody>
      </p:sp>
      <p:sp>
        <p:nvSpPr>
          <p:cNvPr id="12311" name="Rectangle 23"/>
          <p:cNvSpPr>
            <a:spLocks noChangeArrowheads="1"/>
          </p:cNvSpPr>
          <p:nvPr/>
        </p:nvSpPr>
        <p:spPr bwMode="auto">
          <a:xfrm>
            <a:off x="538164" y="2012823"/>
            <a:ext cx="8086724" cy="2733056"/>
          </a:xfrm>
          <a:prstGeom prst="rect">
            <a:avLst/>
          </a:prstGeom>
          <a:noFill/>
          <a:ln w="9525">
            <a:noFill/>
            <a:miter lim="800000"/>
            <a:headEnd/>
            <a:tailEnd/>
          </a:ln>
          <a:effectLst>
            <a:prstShdw prst="shdw17" dist="17961" dir="2700000">
              <a:schemeClr val="accent1">
                <a:gamma/>
                <a:shade val="60000"/>
                <a:invGamma/>
                <a:alpha val="50000"/>
              </a:schemeClr>
            </a:prstShdw>
          </a:effectLst>
        </p:spPr>
        <p:txBody>
          <a:bodyPr wrap="square" anchor="ctr">
            <a:spAutoFit/>
          </a:bodyPr>
          <a:lstStyle/>
          <a:p>
            <a:pPr algn="ctr" eaLnBrk="0" hangingPunct="0">
              <a:lnSpc>
                <a:spcPct val="130000"/>
              </a:lnSpc>
              <a:defRPr/>
            </a:pPr>
            <a:r>
              <a:rPr lang="uz-Cyrl-UZ" sz="2800" b="1" u="sng" dirty="0" smtClean="0">
                <a:latin typeface="Times New Roman" pitchFamily="18" charset="0"/>
              </a:rPr>
              <a:t>Мавзу</a:t>
            </a:r>
            <a:r>
              <a:rPr lang="uz-Cyrl-UZ" sz="2800" b="1" dirty="0" smtClean="0">
                <a:latin typeface="Times New Roman" pitchFamily="18" charset="0"/>
              </a:rPr>
              <a:t>: Фейстел тармоғига </a:t>
            </a:r>
            <a:r>
              <a:rPr lang="uz-Cyrl-UZ" sz="2800" b="1" dirty="0">
                <a:latin typeface="Times New Roman" pitchFamily="18" charset="0"/>
              </a:rPr>
              <a:t>асосланган шифрлаш </a:t>
            </a:r>
            <a:r>
              <a:rPr lang="uz-Cyrl-UZ" sz="2800" b="1" dirty="0" smtClean="0">
                <a:latin typeface="Times New Roman" pitchFamily="18" charset="0"/>
              </a:rPr>
              <a:t>алгоритмларига алгебраик криптотаҳлил усулини қўллаш</a:t>
            </a:r>
          </a:p>
          <a:p>
            <a:pPr algn="ctr" eaLnBrk="0" hangingPunct="0">
              <a:lnSpc>
                <a:spcPct val="130000"/>
              </a:lnSpc>
              <a:defRPr/>
            </a:pPr>
            <a:r>
              <a:rPr lang="ru-RU" sz="2800" b="1" dirty="0" smtClean="0">
                <a:latin typeface="Times New Roman" pitchFamily="18" charset="0"/>
              </a:rPr>
              <a:t>(1-</a:t>
            </a:r>
            <a:r>
              <a:rPr lang="uz-Cyrl-UZ" sz="2800" b="1" dirty="0" smtClean="0">
                <a:latin typeface="Times New Roman" pitchFamily="18" charset="0"/>
              </a:rPr>
              <a:t>қисм</a:t>
            </a:r>
            <a:r>
              <a:rPr lang="ru-RU" sz="2800" b="1" dirty="0" smtClean="0">
                <a:latin typeface="Times New Roman" pitchFamily="18" charset="0"/>
              </a:rPr>
              <a:t>)</a:t>
            </a:r>
            <a:endParaRPr lang="uz-Cyrl-UZ" sz="2800" b="1" dirty="0" smtClean="0">
              <a:latin typeface="Times New Roman" pitchFamily="18" charset="0"/>
            </a:endParaRPr>
          </a:p>
          <a:p>
            <a:pPr algn="ctr" eaLnBrk="0" hangingPunct="0">
              <a:lnSpc>
                <a:spcPct val="130000"/>
              </a:lnSpc>
              <a:defRPr/>
            </a:pPr>
            <a:r>
              <a:rPr lang="uz-Cyrl-UZ" sz="2000" dirty="0" smtClean="0">
                <a:latin typeface="Times New Roman" pitchFamily="18" charset="0"/>
              </a:rPr>
              <a:t>(ГОСТ 28147-89 алгоритми мисолида)</a:t>
            </a:r>
            <a:endParaRPr lang="uz-Cyrl-UZ" dirty="0">
              <a:latin typeface="Times New Roman" pitchFamily="18" charset="0"/>
            </a:endParaRPr>
          </a:p>
        </p:txBody>
      </p:sp>
      <p:sp>
        <p:nvSpPr>
          <p:cNvPr id="3080" name="Text Box 25"/>
          <p:cNvSpPr txBox="1">
            <a:spLocks noChangeArrowheads="1"/>
          </p:cNvSpPr>
          <p:nvPr/>
        </p:nvSpPr>
        <p:spPr bwMode="auto">
          <a:xfrm>
            <a:off x="2849200" y="1052513"/>
            <a:ext cx="3410677" cy="461665"/>
          </a:xfrm>
          <a:prstGeom prst="rect">
            <a:avLst/>
          </a:prstGeom>
          <a:noFill/>
          <a:ln>
            <a:noFill/>
          </a:ln>
          <a:effectLst>
            <a:prstShdw prst="shdw17" dist="17961" dir="2700000">
              <a:srgbClr val="737373">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itchFamily="34" charset="0"/>
              </a:defRPr>
            </a:lvl1pPr>
            <a:lvl2pPr marL="742950" indent="-285750" eaLnBrk="0" hangingPunct="0">
              <a:defRPr>
                <a:solidFill>
                  <a:schemeClr val="tx1"/>
                </a:solidFill>
                <a:latin typeface="Verdana" pitchFamily="34" charset="0"/>
              </a:defRPr>
            </a:lvl2pPr>
            <a:lvl3pPr marL="1143000" indent="-228600" eaLnBrk="0" hangingPunct="0">
              <a:defRPr>
                <a:solidFill>
                  <a:schemeClr val="tx1"/>
                </a:solidFill>
                <a:latin typeface="Verdana" pitchFamily="34" charset="0"/>
              </a:defRPr>
            </a:lvl3pPr>
            <a:lvl4pPr marL="1600200" indent="-228600" eaLnBrk="0" hangingPunct="0">
              <a:defRPr>
                <a:solidFill>
                  <a:schemeClr val="tx1"/>
                </a:solidFill>
                <a:latin typeface="Verdana" pitchFamily="34" charset="0"/>
              </a:defRPr>
            </a:lvl4pPr>
            <a:lvl5pPr marL="2057400" indent="-228600" eaLnBrk="0" hangingPunct="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algn="ctr" eaLnBrk="1" hangingPunct="1"/>
            <a:r>
              <a:rPr lang="uz-Cyrl-UZ" sz="2400" b="1" i="1" u="sng" dirty="0">
                <a:latin typeface="Times New Roman" pitchFamily="18" charset="0"/>
              </a:rPr>
              <a:t>Амалий </a:t>
            </a:r>
            <a:r>
              <a:rPr lang="uz-Cyrl-UZ" sz="2400" b="1" i="1" u="sng" dirty="0" smtClean="0">
                <a:latin typeface="Times New Roman" pitchFamily="18" charset="0"/>
              </a:rPr>
              <a:t>криптотаҳлил</a:t>
            </a:r>
            <a:endParaRPr lang="ru-RU" sz="2400" b="1" i="1" u="sng" dirty="0">
              <a:latin typeface="Times New Roman" pitchFamily="18" charset="0"/>
            </a:endParaRPr>
          </a:p>
        </p:txBody>
      </p:sp>
      <p:sp>
        <p:nvSpPr>
          <p:cNvPr id="7" name="Rectangle 23"/>
          <p:cNvSpPr>
            <a:spLocks noChangeArrowheads="1"/>
          </p:cNvSpPr>
          <p:nvPr/>
        </p:nvSpPr>
        <p:spPr bwMode="auto">
          <a:xfrm>
            <a:off x="5310188" y="5495925"/>
            <a:ext cx="3294062" cy="488950"/>
          </a:xfrm>
          <a:prstGeom prst="rect">
            <a:avLst/>
          </a:prstGeom>
          <a:noFill/>
          <a:ln w="9525">
            <a:noFill/>
            <a:miter lim="800000"/>
            <a:headEnd/>
            <a:tailEnd/>
          </a:ln>
          <a:effectLst>
            <a:prstShdw prst="shdw17" dist="17961" dir="2700000">
              <a:schemeClr val="accent1">
                <a:gamma/>
                <a:shade val="60000"/>
                <a:invGamma/>
                <a:alpha val="50000"/>
              </a:schemeClr>
            </a:prstShdw>
          </a:effectLst>
        </p:spPr>
        <p:txBody>
          <a:bodyPr anchor="ctr">
            <a:spAutoFit/>
          </a:bodyPr>
          <a:lstStyle/>
          <a:p>
            <a:pPr algn="r" eaLnBrk="0" hangingPunct="0">
              <a:lnSpc>
                <a:spcPct val="130000"/>
              </a:lnSpc>
              <a:defRPr/>
            </a:pPr>
            <a:r>
              <a:rPr lang="ru-RU" sz="2200" i="1" dirty="0" err="1">
                <a:latin typeface="Times New Roman" pitchFamily="18" charset="0"/>
              </a:rPr>
              <a:t>Маърузачи</a:t>
            </a:r>
            <a:r>
              <a:rPr lang="ru-RU" sz="2200" i="1" dirty="0">
                <a:latin typeface="Times New Roman" pitchFamily="18" charset="0"/>
              </a:rPr>
              <a:t>: </a:t>
            </a:r>
            <a:r>
              <a:rPr lang="ru-RU" sz="2200" i="1" dirty="0" err="1">
                <a:latin typeface="Times New Roman" pitchFamily="18" charset="0"/>
              </a:rPr>
              <a:t>А.Саттаров</a:t>
            </a:r>
            <a:endParaRPr lang="uz-Cyrl-UZ" sz="2200" i="1" dirty="0">
              <a:latin typeface="Times New Roman" pitchFamily="18" charset="0"/>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0"/>
          <p:cNvSpPr>
            <a:spLocks noChangeArrowheads="1"/>
          </p:cNvSpPr>
          <p:nvPr/>
        </p:nvSpPr>
        <p:spPr bwMode="auto">
          <a:xfrm>
            <a:off x="71500" y="316977"/>
            <a:ext cx="8964800" cy="6340197"/>
          </a:xfrm>
          <a:prstGeom prst="rect">
            <a:avLst/>
          </a:prstGeom>
          <a:pattFill prst="dkHorz">
            <a:fgClr>
              <a:srgbClr val="EAEAEA"/>
            </a:fgClr>
            <a:bgClr>
              <a:schemeClr val="bg1"/>
            </a:bgClr>
          </a:pattFill>
          <a:ln w="9525">
            <a:solidFill>
              <a:schemeClr val="tx1"/>
            </a:solidFill>
            <a:miter lim="800000"/>
            <a:headEnd/>
            <a:tailEnd/>
          </a:ln>
          <a:effectLst>
            <a:prstShdw prst="shdw17" dist="17961" dir="2700000">
              <a:srgbClr val="8C8C8C">
                <a:alpha val="50000"/>
              </a:srgbClr>
            </a:prstShdw>
          </a:effectLst>
        </p:spPr>
        <p:txBody>
          <a:bodyPr wrap="square" anchor="ctr">
            <a:spAutoFit/>
          </a:bodyPr>
          <a:lstStyle/>
          <a:p>
            <a:pPr algn="just" eaLnBrk="0" hangingPunct="0">
              <a:spcAft>
                <a:spcPts val="1200"/>
              </a:spcAft>
              <a:buClr>
                <a:schemeClr val="accent2"/>
              </a:buClr>
            </a:pPr>
            <a:r>
              <a:rPr lang="uz-Cyrl-UZ" sz="2200" b="1" u="sng" dirty="0" smtClean="0">
                <a:latin typeface="Times New Roman" pitchFamily="18" charset="0"/>
                <a:cs typeface="Times New Roman" pitchFamily="18" charset="0"/>
              </a:rPr>
              <a:t>АСОСИЙ МАНБАЛАР</a:t>
            </a:r>
            <a:r>
              <a:rPr lang="uz-Cyrl-UZ" sz="2200" b="1" dirty="0" smtClean="0">
                <a:latin typeface="Times New Roman" pitchFamily="18" charset="0"/>
                <a:cs typeface="Times New Roman" pitchFamily="18" charset="0"/>
              </a:rPr>
              <a:t>:</a:t>
            </a:r>
          </a:p>
          <a:p>
            <a:pPr marL="457200" indent="-457200" algn="just" eaLnBrk="0" hangingPunct="0">
              <a:buClr>
                <a:schemeClr val="accent2"/>
              </a:buClr>
              <a:buFont typeface="+mj-lt"/>
              <a:buAutoNum type="arabicPeriod"/>
            </a:pPr>
            <a:r>
              <a:rPr lang="en-US" sz="2200" b="1" dirty="0" smtClean="0">
                <a:latin typeface="Times New Roman" pitchFamily="18" charset="0"/>
                <a:cs typeface="Times New Roman" pitchFamily="18" charset="0"/>
              </a:rPr>
              <a:t>Courtois </a:t>
            </a:r>
            <a:r>
              <a:rPr lang="en-US" sz="2200" b="1" dirty="0">
                <a:latin typeface="Times New Roman" pitchFamily="18" charset="0"/>
                <a:cs typeface="Times New Roman" pitchFamily="18" charset="0"/>
              </a:rPr>
              <a:t>N., </a:t>
            </a:r>
            <a:r>
              <a:rPr lang="en-US" sz="2200" b="1" dirty="0" err="1">
                <a:latin typeface="Times New Roman" pitchFamily="18" charset="0"/>
                <a:cs typeface="Times New Roman" pitchFamily="18" charset="0"/>
              </a:rPr>
              <a:t>Klimov</a:t>
            </a:r>
            <a:r>
              <a:rPr lang="en-US" sz="2200" b="1" dirty="0">
                <a:latin typeface="Times New Roman" pitchFamily="18" charset="0"/>
                <a:cs typeface="Times New Roman" pitchFamily="18" charset="0"/>
              </a:rPr>
              <a:t> A., </a:t>
            </a:r>
            <a:r>
              <a:rPr lang="en-US" sz="2200" b="1" dirty="0" err="1">
                <a:latin typeface="Times New Roman" pitchFamily="18" charset="0"/>
                <a:cs typeface="Times New Roman" pitchFamily="18" charset="0"/>
              </a:rPr>
              <a:t>Patarin</a:t>
            </a:r>
            <a:r>
              <a:rPr lang="en-US" sz="2200" b="1" dirty="0">
                <a:latin typeface="Times New Roman" pitchFamily="18" charset="0"/>
                <a:cs typeface="Times New Roman" pitchFamily="18" charset="0"/>
              </a:rPr>
              <a:t> J., Shamir A.</a:t>
            </a:r>
            <a:r>
              <a:rPr lang="en-US" sz="2200" dirty="0">
                <a:latin typeface="Times New Roman" pitchFamily="18" charset="0"/>
                <a:cs typeface="Times New Roman" pitchFamily="18" charset="0"/>
              </a:rPr>
              <a:t> Efficient algorithms for solving </a:t>
            </a:r>
            <a:r>
              <a:rPr lang="en-US" sz="2200" dirty="0" err="1">
                <a:latin typeface="Times New Roman" pitchFamily="18" charset="0"/>
                <a:cs typeface="Times New Roman" pitchFamily="18" charset="0"/>
              </a:rPr>
              <a:t>overdefined</a:t>
            </a:r>
            <a:r>
              <a:rPr lang="en-US" sz="2200" dirty="0">
                <a:latin typeface="Times New Roman" pitchFamily="18" charset="0"/>
                <a:cs typeface="Times New Roman" pitchFamily="18" charset="0"/>
              </a:rPr>
              <a:t> systems of multivariate polynomial equations // EUROCRYPT, 2000. – P. 392–407</a:t>
            </a:r>
            <a:r>
              <a:rPr lang="en-US" sz="2200" dirty="0" smtClean="0">
                <a:latin typeface="Times New Roman" pitchFamily="18" charset="0"/>
                <a:cs typeface="Times New Roman" pitchFamily="18" charset="0"/>
              </a:rPr>
              <a:t>.</a:t>
            </a:r>
            <a:endParaRPr lang="uz-Cyrl-UZ" sz="2200" dirty="0" smtClean="0">
              <a:latin typeface="Times New Roman" pitchFamily="18" charset="0"/>
              <a:cs typeface="Times New Roman" pitchFamily="18" charset="0"/>
            </a:endParaRPr>
          </a:p>
          <a:p>
            <a:pPr marL="457200" indent="-457200" algn="just" eaLnBrk="0" hangingPunct="0">
              <a:buClr>
                <a:schemeClr val="accent2"/>
              </a:buClr>
              <a:buFont typeface="+mj-lt"/>
              <a:buAutoNum type="arabicPeriod"/>
            </a:pPr>
            <a:r>
              <a:rPr lang="uz-Cyrl-UZ" sz="2200" b="1" dirty="0" smtClean="0">
                <a:latin typeface="Times New Roman" pitchFamily="18" charset="0"/>
                <a:cs typeface="Times New Roman" pitchFamily="18" charset="0"/>
              </a:rPr>
              <a:t>Курязов </a:t>
            </a:r>
            <a:r>
              <a:rPr lang="uz-Cyrl-UZ" sz="2200" b="1" dirty="0">
                <a:latin typeface="Times New Roman" pitchFamily="18" charset="0"/>
                <a:cs typeface="Times New Roman" pitchFamily="18" charset="0"/>
              </a:rPr>
              <a:t>Д.М., Саттаров А.Б. </a:t>
            </a:r>
            <a:r>
              <a:rPr lang="uz-Cyrl-UZ" sz="2200" dirty="0">
                <a:latin typeface="Times New Roman" pitchFamily="18" charset="0"/>
                <a:cs typeface="Times New Roman" pitchFamily="18" charset="0"/>
              </a:rPr>
              <a:t>Алгебраик криптотаҳлил усули ва унинг блокли симметрик шифрлаш алгоритмлари криптотаҳлил масалаларида қўлланишини тадқиқ қилиш. АТМ, Илмий-тадқиқот иши, Тошкент, 2014 й</a:t>
            </a:r>
            <a:r>
              <a:rPr lang="uz-Cyrl-UZ" sz="2200" dirty="0" smtClean="0">
                <a:latin typeface="Times New Roman" pitchFamily="18" charset="0"/>
                <a:cs typeface="Times New Roman" pitchFamily="18" charset="0"/>
              </a:rPr>
              <a:t>. </a:t>
            </a:r>
          </a:p>
          <a:p>
            <a:pPr marL="457200" indent="-457200" algn="just" eaLnBrk="0" hangingPunct="0">
              <a:buClr>
                <a:schemeClr val="accent2"/>
              </a:buClr>
              <a:buFont typeface="+mj-lt"/>
              <a:buAutoNum type="arabicPeriod"/>
            </a:pPr>
            <a:r>
              <a:rPr lang="uz-Cyrl-UZ" sz="2200" b="1" dirty="0" smtClean="0">
                <a:latin typeface="Times New Roman" pitchFamily="18" charset="0"/>
                <a:cs typeface="Times New Roman" pitchFamily="18" charset="0"/>
              </a:rPr>
              <a:t>Куръязов </a:t>
            </a:r>
            <a:r>
              <a:rPr lang="uz-Cyrl-UZ" sz="2200" b="1" dirty="0">
                <a:latin typeface="Times New Roman" pitchFamily="18" charset="0"/>
                <a:cs typeface="Times New Roman" pitchFamily="18" charset="0"/>
              </a:rPr>
              <a:t>Д. М., Саттаров А.Б. </a:t>
            </a:r>
            <a:r>
              <a:rPr lang="uz-Cyrl-UZ" sz="2200" dirty="0">
                <a:latin typeface="Times New Roman" pitchFamily="18" charset="0"/>
                <a:cs typeface="Times New Roman" pitchFamily="18" charset="0"/>
              </a:rPr>
              <a:t>Буль функцияларнинг алгебраик бордошлилик даражалари ва уларни узлуксиз ва блокли шифрларни криптотаҳлил қилиш масалаларида қўлланиш. Илмий-тадқиқиот иши. Тошкент, 2015 й. </a:t>
            </a:r>
            <a:endParaRPr lang="en-US" sz="2200" dirty="0" smtClean="0">
              <a:latin typeface="Times New Roman" pitchFamily="18" charset="0"/>
              <a:cs typeface="Times New Roman" pitchFamily="18" charset="0"/>
            </a:endParaRPr>
          </a:p>
          <a:p>
            <a:pPr marL="457200" indent="-457200" algn="just" eaLnBrk="0" hangingPunct="0">
              <a:buClr>
                <a:schemeClr val="accent2"/>
              </a:buClr>
              <a:buFont typeface="+mj-lt"/>
              <a:buAutoNum type="arabicPeriod"/>
            </a:pPr>
            <a:r>
              <a:rPr lang="uz-Cyrl-UZ" sz="2200" b="1" dirty="0" smtClean="0">
                <a:latin typeface="Times New Roman" pitchFamily="18" charset="0"/>
                <a:cs typeface="Times New Roman" pitchFamily="18" charset="0"/>
              </a:rPr>
              <a:t>Қиличев </a:t>
            </a:r>
            <a:r>
              <a:rPr lang="uz-Cyrl-UZ" sz="2200" b="1" dirty="0">
                <a:latin typeface="Times New Roman" pitchFamily="18" charset="0"/>
                <a:cs typeface="Times New Roman" pitchFamily="18" charset="0"/>
              </a:rPr>
              <a:t>Ж.Р. </a:t>
            </a:r>
            <a:r>
              <a:rPr lang="uz-Cyrl-UZ" sz="2200" dirty="0">
                <a:latin typeface="Times New Roman" pitchFamily="18" charset="0"/>
                <a:cs typeface="Times New Roman" pitchFamily="18" charset="0"/>
              </a:rPr>
              <a:t>Алгебраик криптотаҳлил усули ва унинг ГОСТ 28147-89 шифрлаш алгоритмига қўлланишини тадқиқ этиш бўйича магистр даражасидаги диссертация </a:t>
            </a:r>
            <a:r>
              <a:rPr lang="uz-Cyrl-UZ" sz="2200" dirty="0" smtClean="0">
                <a:latin typeface="Times New Roman" pitchFamily="18" charset="0"/>
                <a:cs typeface="Times New Roman" pitchFamily="18" charset="0"/>
              </a:rPr>
              <a:t>иши. Тошкент, 2015 й.</a:t>
            </a:r>
          </a:p>
          <a:p>
            <a:pPr marL="457200" indent="-457200" algn="just" eaLnBrk="0" hangingPunct="0">
              <a:buClr>
                <a:schemeClr val="accent2"/>
              </a:buClr>
              <a:buFont typeface="+mj-lt"/>
              <a:buAutoNum type="arabicPeriod"/>
            </a:pPr>
            <a:r>
              <a:rPr lang="ru-RU" sz="2200" b="1" dirty="0" smtClean="0">
                <a:latin typeface="Times New Roman" pitchFamily="18" charset="0"/>
                <a:cs typeface="Times New Roman" pitchFamily="18" charset="0"/>
              </a:rPr>
              <a:t>Бабенко </a:t>
            </a:r>
            <a:r>
              <a:rPr lang="ru-RU" sz="2200" b="1" dirty="0">
                <a:latin typeface="Times New Roman" pitchFamily="18" charset="0"/>
                <a:cs typeface="Times New Roman" pitchFamily="18" charset="0"/>
              </a:rPr>
              <a:t>Л.К., </a:t>
            </a:r>
            <a:r>
              <a:rPr lang="ru-RU" sz="2200" b="1" dirty="0" err="1">
                <a:latin typeface="Times New Roman" pitchFamily="18" charset="0"/>
                <a:cs typeface="Times New Roman" pitchFamily="18" charset="0"/>
              </a:rPr>
              <a:t>Маро</a:t>
            </a:r>
            <a:r>
              <a:rPr lang="ru-RU" sz="2200" b="1" dirty="0">
                <a:latin typeface="Times New Roman" pitchFamily="18" charset="0"/>
                <a:cs typeface="Times New Roman" pitchFamily="18" charset="0"/>
              </a:rPr>
              <a:t> Е.А.</a:t>
            </a:r>
            <a:r>
              <a:rPr lang="ru-RU" sz="2200" dirty="0">
                <a:latin typeface="Times New Roman" pitchFamily="18" charset="0"/>
                <a:cs typeface="Times New Roman" pitchFamily="18" charset="0"/>
              </a:rPr>
              <a:t> Анализ стойкости блочных алгоритмов шифрования к алгебраическим атакам // Известия ЮФУ. Технические науки. – 2011. – № 12 (125). – С. 110-119.</a:t>
            </a:r>
            <a:endParaRPr lang="en-US" sz="2200" dirty="0" smtClean="0">
              <a:latin typeface="Times New Roman" pitchFamily="18" charset="0"/>
              <a:cs typeface="Times New Roman" pitchFamily="18" charset="0"/>
            </a:endParaRPr>
          </a:p>
        </p:txBody>
      </p:sp>
      <p:sp>
        <p:nvSpPr>
          <p:cNvPr id="4101" name="Line 16"/>
          <p:cNvSpPr>
            <a:spLocks noChangeShapeType="1"/>
          </p:cNvSpPr>
          <p:nvPr/>
        </p:nvSpPr>
        <p:spPr bwMode="auto">
          <a:xfrm>
            <a:off x="74613" y="116632"/>
            <a:ext cx="8997950" cy="0"/>
          </a:xfrm>
          <a:prstGeom prst="line">
            <a:avLst/>
          </a:prstGeom>
          <a:noFill/>
          <a:ln w="63500">
            <a:pattFill prst="dkHorz">
              <a:fgClr>
                <a:schemeClr val="tx1"/>
              </a:fgClr>
              <a:bgClr>
                <a:srgbClr val="FFFFFF"/>
              </a:bgClr>
            </a:pattFill>
            <a:round/>
            <a:headEnd/>
            <a:tailEnd/>
          </a:ln>
          <a:effectLst>
            <a:prstShdw prst="shdw17" dist="17961" dir="2700000">
              <a:srgbClr val="000000"/>
            </a:prstShdw>
          </a:effectLst>
          <a:extLst>
            <a:ext uri="{909E8E84-426E-40DD-AFC4-6F175D3DCCD1}">
              <a14:hiddenFill xmlns:a14="http://schemas.microsoft.com/office/drawing/2010/main">
                <a:noFill/>
              </a14:hiddenFill>
            </a:ext>
          </a:extLst>
        </p:spPr>
        <p:txBody>
          <a:bodyPr/>
          <a:lstStyle/>
          <a:p>
            <a:endParaRPr lang="ru-RU"/>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25471" y="696056"/>
            <a:ext cx="8839017" cy="5829288"/>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457200" indent="-457200" algn="just">
              <a:spcBef>
                <a:spcPct val="30000"/>
              </a:spcBef>
              <a:spcAft>
                <a:spcPts val="1800"/>
              </a:spcAft>
              <a:buClr>
                <a:schemeClr val="accent2"/>
              </a:buClr>
              <a:buSzPct val="100000"/>
              <a:buFont typeface="Times New Roman" pitchFamily="18" charset="0"/>
              <a:buChar char="―"/>
              <a:defRPr/>
            </a:pPr>
            <a:r>
              <a:rPr lang="uz-Cyrl-UZ" sz="3400" i="1" dirty="0" smtClean="0">
                <a:effectLst>
                  <a:outerShdw blurRad="38100" dist="38100" dir="2700000" algn="tl">
                    <a:srgbClr val="C0C0C0"/>
                  </a:outerShdw>
                </a:effectLst>
                <a:latin typeface="Times New Roman" pitchFamily="18" charset="0"/>
              </a:rPr>
              <a:t>Симметрик ШАга қўлланилади</a:t>
            </a:r>
            <a:r>
              <a:rPr lang="en-US" sz="3400" i="1" dirty="0" smtClean="0">
                <a:effectLst>
                  <a:outerShdw blurRad="38100" dist="38100" dir="2700000" algn="tl">
                    <a:srgbClr val="C0C0C0"/>
                  </a:outerShdw>
                </a:effectLst>
                <a:latin typeface="Times New Roman" pitchFamily="18" charset="0"/>
              </a:rPr>
              <a:t>;</a:t>
            </a:r>
            <a:r>
              <a:rPr lang="uz-Cyrl-UZ" sz="3400" i="1" dirty="0" smtClean="0">
                <a:effectLst>
                  <a:outerShdw blurRad="38100" dist="38100" dir="2700000" algn="tl">
                    <a:srgbClr val="C0C0C0"/>
                  </a:outerShdw>
                </a:effectLst>
                <a:latin typeface="Times New Roman" pitchFamily="18" charset="0"/>
              </a:rPr>
              <a:t> </a:t>
            </a:r>
          </a:p>
          <a:p>
            <a:pPr marL="457200" indent="-457200" algn="just">
              <a:spcBef>
                <a:spcPct val="30000"/>
              </a:spcBef>
              <a:spcAft>
                <a:spcPts val="1800"/>
              </a:spcAft>
              <a:buClr>
                <a:schemeClr val="accent2"/>
              </a:buClr>
              <a:buSzPct val="100000"/>
              <a:buFont typeface="Times New Roman" pitchFamily="18" charset="0"/>
              <a:buChar char="―"/>
              <a:defRPr/>
            </a:pPr>
            <a:r>
              <a:rPr lang="uz-Cyrl-UZ" sz="3400" i="1" dirty="0" smtClean="0">
                <a:effectLst>
                  <a:outerShdw blurRad="38100" dist="38100" dir="2700000" algn="tl">
                    <a:srgbClr val="C0C0C0"/>
                  </a:outerShdw>
                </a:effectLst>
                <a:latin typeface="Times New Roman" pitchFamily="18" charset="0"/>
              </a:rPr>
              <a:t>Аналитик ҳужум тури ҳисобланади</a:t>
            </a:r>
            <a:r>
              <a:rPr lang="en-US" sz="3400" i="1" dirty="0" smtClean="0">
                <a:effectLst>
                  <a:outerShdw blurRad="38100" dist="38100" dir="2700000" algn="tl">
                    <a:srgbClr val="C0C0C0"/>
                  </a:outerShdw>
                </a:effectLst>
                <a:latin typeface="Times New Roman" pitchFamily="18" charset="0"/>
              </a:rPr>
              <a:t>;</a:t>
            </a:r>
          </a:p>
          <a:p>
            <a:pPr marL="457200" indent="-457200" algn="just">
              <a:spcBef>
                <a:spcPct val="30000"/>
              </a:spcBef>
              <a:spcAft>
                <a:spcPts val="1800"/>
              </a:spcAft>
              <a:buClr>
                <a:schemeClr val="accent2"/>
              </a:buClr>
              <a:buSzPct val="100000"/>
              <a:buFont typeface="Times New Roman" pitchFamily="18" charset="0"/>
              <a:buChar char="―"/>
              <a:defRPr/>
            </a:pPr>
            <a:r>
              <a:rPr lang="uz-Cyrl-UZ" sz="3400" i="1" dirty="0" smtClean="0">
                <a:effectLst>
                  <a:outerShdw blurRad="38100" dist="38100" dir="2700000" algn="tl">
                    <a:srgbClr val="C0C0C0"/>
                  </a:outerShdw>
                </a:effectLst>
                <a:latin typeface="Times New Roman" pitchFamily="18" charset="0"/>
              </a:rPr>
              <a:t>Маълум </a:t>
            </a:r>
            <a:r>
              <a:rPr lang="ru-RU" sz="3400" i="1" dirty="0" smtClean="0">
                <a:effectLst>
                  <a:outerShdw blurRad="38100" dist="38100" dir="2700000" algn="tl">
                    <a:srgbClr val="C0C0C0"/>
                  </a:outerShdw>
                </a:effectLst>
                <a:latin typeface="Times New Roman" pitchFamily="18" charset="0"/>
              </a:rPr>
              <a:t>очи</a:t>
            </a:r>
            <a:r>
              <a:rPr lang="uz-Cyrl-UZ" sz="3400" i="1" dirty="0" smtClean="0">
                <a:effectLst>
                  <a:outerShdw blurRad="38100" dist="38100" dir="2700000" algn="tl">
                    <a:srgbClr val="C0C0C0"/>
                  </a:outerShdw>
                </a:effectLst>
                <a:latin typeface="Times New Roman" pitchFamily="18" charset="0"/>
              </a:rPr>
              <a:t>қ ва шифрматн асосидаги ҳужум тури ҳисобланади</a:t>
            </a:r>
            <a:r>
              <a:rPr lang="en-US" sz="3400" i="1" dirty="0" smtClean="0">
                <a:effectLst>
                  <a:outerShdw blurRad="38100" dist="38100" dir="2700000" algn="tl">
                    <a:srgbClr val="C0C0C0"/>
                  </a:outerShdw>
                </a:effectLst>
                <a:latin typeface="Times New Roman" pitchFamily="18" charset="0"/>
              </a:rPr>
              <a:t>;</a:t>
            </a:r>
            <a:r>
              <a:rPr lang="uz-Cyrl-UZ" sz="3400" i="1" dirty="0" smtClean="0">
                <a:effectLst>
                  <a:outerShdw blurRad="38100" dist="38100" dir="2700000" algn="tl">
                    <a:srgbClr val="C0C0C0"/>
                  </a:outerShdw>
                </a:effectLst>
                <a:latin typeface="Times New Roman" pitchFamily="18" charset="0"/>
              </a:rPr>
              <a:t> </a:t>
            </a:r>
          </a:p>
          <a:p>
            <a:pPr marL="457200" indent="-457200" algn="just">
              <a:spcBef>
                <a:spcPct val="30000"/>
              </a:spcBef>
              <a:spcAft>
                <a:spcPts val="1800"/>
              </a:spcAft>
              <a:buClr>
                <a:schemeClr val="accent2"/>
              </a:buClr>
              <a:buSzPct val="100000"/>
              <a:buFont typeface="Times New Roman" pitchFamily="18" charset="0"/>
              <a:buChar char="―"/>
              <a:defRPr/>
            </a:pPr>
            <a:r>
              <a:rPr lang="uz-Cyrl-UZ" sz="3400" i="1" dirty="0" smtClean="0">
                <a:effectLst>
                  <a:outerShdw blurRad="38100" dist="38100" dir="2700000" algn="tl">
                    <a:srgbClr val="C0C0C0"/>
                  </a:outerShdw>
                </a:effectLst>
                <a:latin typeface="Times New Roman" pitchFamily="18" charset="0"/>
              </a:rPr>
              <a:t>Барча раунд </a:t>
            </a:r>
            <a:r>
              <a:rPr lang="uz-Cyrl-UZ" sz="3400" i="1" dirty="0">
                <a:effectLst>
                  <a:outerShdw blurRad="38100" dist="38100" dir="2700000" algn="tl">
                    <a:srgbClr val="C0C0C0"/>
                  </a:outerShdw>
                </a:effectLst>
                <a:latin typeface="Times New Roman" pitchFamily="18" charset="0"/>
              </a:rPr>
              <a:t>калитини аниқлашга </a:t>
            </a:r>
            <a:r>
              <a:rPr lang="uz-Cyrl-UZ" sz="3400" i="1" dirty="0" smtClean="0">
                <a:effectLst>
                  <a:outerShdw blurRad="38100" dist="38100" dir="2700000" algn="tl">
                    <a:srgbClr val="C0C0C0"/>
                  </a:outerShdw>
                </a:effectLst>
                <a:latin typeface="Times New Roman" pitchFamily="18" charset="0"/>
              </a:rPr>
              <a:t>қаратилган</a:t>
            </a:r>
            <a:r>
              <a:rPr lang="en-US" sz="3400" i="1" dirty="0" smtClean="0">
                <a:effectLst>
                  <a:outerShdw blurRad="38100" dist="38100" dir="2700000" algn="tl">
                    <a:srgbClr val="C0C0C0"/>
                  </a:outerShdw>
                </a:effectLst>
                <a:latin typeface="Times New Roman" pitchFamily="18" charset="0"/>
              </a:rPr>
              <a:t>;</a:t>
            </a:r>
          </a:p>
          <a:p>
            <a:pPr marL="457200" indent="-457200" algn="just">
              <a:spcBef>
                <a:spcPct val="30000"/>
              </a:spcBef>
              <a:spcAft>
                <a:spcPts val="1800"/>
              </a:spcAft>
              <a:buClr>
                <a:schemeClr val="accent2"/>
              </a:buClr>
              <a:buSzPct val="100000"/>
              <a:buFont typeface="Times New Roman" pitchFamily="18" charset="0"/>
              <a:buChar char="―"/>
              <a:defRPr/>
            </a:pPr>
            <a:r>
              <a:rPr lang="uz-Cyrl-UZ" sz="3400" i="1" dirty="0" smtClean="0">
                <a:effectLst>
                  <a:outerShdw blurRad="38100" dist="38100" dir="2700000" algn="tl">
                    <a:srgbClr val="C0C0C0"/>
                  </a:outerShdw>
                </a:effectLst>
                <a:latin typeface="Times New Roman" pitchFamily="18" charset="0"/>
              </a:rPr>
              <a:t>Раунд акслантиришларининг очиқ бўлиши талаб этилади.</a:t>
            </a:r>
            <a:endParaRPr lang="ru-RU" sz="3400" i="1" dirty="0">
              <a:effectLst>
                <a:outerShdw blurRad="38100" dist="38100" dir="2700000" algn="tl">
                  <a:srgbClr val="C0C0C0"/>
                </a:outerShdw>
              </a:effectLst>
              <a:latin typeface="Times New Roman" pitchFamily="18" charset="0"/>
            </a:endParaRPr>
          </a:p>
        </p:txBody>
      </p:sp>
      <p:sp>
        <p:nvSpPr>
          <p:cNvPr id="27656" name="Rectangle 8"/>
          <p:cNvSpPr>
            <a:spLocks noChangeArrowheads="1"/>
          </p:cNvSpPr>
          <p:nvPr/>
        </p:nvSpPr>
        <p:spPr bwMode="auto">
          <a:xfrm>
            <a:off x="0" y="-1924"/>
            <a:ext cx="9144000" cy="430887"/>
          </a:xfrm>
          <a:prstGeom prst="rect">
            <a:avLst/>
          </a:prstGeom>
          <a:solidFill>
            <a:srgbClr val="00FF00">
              <a:alpha val="95000"/>
            </a:srgbClr>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r>
              <a:rPr lang="uz-Cyrl-UZ" sz="2200" b="1" dirty="0" smtClean="0">
                <a:solidFill>
                  <a:srgbClr val="000000"/>
                </a:solidFill>
                <a:effectLst>
                  <a:outerShdw blurRad="38100" dist="38100" dir="2700000" algn="tl">
                    <a:srgbClr val="FFFFFF"/>
                  </a:outerShdw>
                </a:effectLst>
                <a:latin typeface="Times New Roman" pitchFamily="18" charset="0"/>
              </a:rPr>
              <a:t>Алгебраик криптотаҳлил усулининг умумий характеристикалари</a:t>
            </a:r>
            <a:endParaRPr kumimoji="1" lang="ru-RU" sz="2200" b="1" dirty="0">
              <a:solidFill>
                <a:srgbClr val="000000"/>
              </a:solidFill>
              <a:effectLst>
                <a:outerShdw blurRad="38100" dist="38100" dir="2700000" algn="tl">
                  <a:srgbClr val="FFFFFF"/>
                </a:outerShdw>
              </a:effectLst>
              <a:latin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6" name="Rectangle 8"/>
          <p:cNvSpPr>
            <a:spLocks noChangeArrowheads="1"/>
          </p:cNvSpPr>
          <p:nvPr/>
        </p:nvSpPr>
        <p:spPr bwMode="auto">
          <a:xfrm>
            <a:off x="36272" y="80628"/>
            <a:ext cx="6984000" cy="612000"/>
          </a:xfrm>
          <a:prstGeom prst="rect">
            <a:avLst/>
          </a:prstGeom>
          <a:solidFill>
            <a:schemeClr val="accent2">
              <a:lumMod val="40000"/>
              <a:lumOff val="60000"/>
              <a:alpha val="95000"/>
            </a:schemeClr>
          </a:solidFill>
          <a:ln>
            <a:noFill/>
          </a:ln>
          <a:effectLst/>
          <a:extLst/>
        </p:spPr>
        <p:txBody>
          <a:bodyPr wrap="square" anchor="ctr">
            <a:spAutoFit/>
          </a:bodyPr>
          <a:lstStyle/>
          <a:p>
            <a:pPr>
              <a:defRPr/>
            </a:pPr>
            <a:r>
              <a:rPr lang="uz-Cyrl-UZ" sz="3200" b="1" dirty="0" smtClean="0">
                <a:solidFill>
                  <a:srgbClr val="000000"/>
                </a:solidFill>
                <a:effectLst>
                  <a:outerShdw blurRad="38100" dist="38100" dir="2700000" algn="tl">
                    <a:srgbClr val="FFFFFF"/>
                  </a:outerShdw>
                </a:effectLst>
                <a:latin typeface="Times New Roman" pitchFamily="18" charset="0"/>
              </a:rPr>
              <a:t>Яратилиш (ривожланиш) тарихи</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graphicFrame>
        <p:nvGraphicFramePr>
          <p:cNvPr id="2" name="Объект 1"/>
          <p:cNvGraphicFramePr>
            <a:graphicFrameLocks noChangeAspect="1"/>
          </p:cNvGraphicFramePr>
          <p:nvPr>
            <p:extLst>
              <p:ext uri="{D42A27DB-BD31-4B8C-83A1-F6EECF244321}">
                <p14:modId xmlns:p14="http://schemas.microsoft.com/office/powerpoint/2010/main" val="680546914"/>
              </p:ext>
            </p:extLst>
          </p:nvPr>
        </p:nvGraphicFramePr>
        <p:xfrm>
          <a:off x="755576" y="903436"/>
          <a:ext cx="7453313" cy="5549900"/>
        </p:xfrm>
        <a:graphic>
          <a:graphicData uri="http://schemas.openxmlformats.org/presentationml/2006/ole">
            <mc:AlternateContent xmlns:mc="http://schemas.openxmlformats.org/markup-compatibility/2006">
              <mc:Choice xmlns:v="urn:schemas-microsoft-com:vml" Requires="v">
                <p:oleObj spid="_x0000_s69649" name="Visio" r:id="rId3" imgW="9629775" imgH="7181738" progId="Visio.Drawing.15">
                  <p:embed/>
                </p:oleObj>
              </mc:Choice>
              <mc:Fallback>
                <p:oleObj name="Visio" r:id="rId3" imgW="9629775" imgH="7181738" progId="Visio.Drawing.15">
                  <p:embed/>
                  <p:pic>
                    <p:nvPicPr>
                      <p:cNvPr id="0" name="Объект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903436"/>
                        <a:ext cx="7453313" cy="5549900"/>
                      </a:xfrm>
                      <a:prstGeom prst="rect">
                        <a:avLst/>
                      </a:prstGeom>
                      <a:solidFill>
                        <a:schemeClr val="bg1"/>
                      </a:solidFill>
                      <a:ln>
                        <a:noFill/>
                      </a:ln>
                    </p:spPr>
                  </p:pic>
                </p:oleObj>
              </mc:Fallback>
            </mc:AlternateContent>
          </a:graphicData>
        </a:graphic>
      </p:graphicFrame>
    </p:spTree>
    <p:extLst>
      <p:ext uri="{BB962C8B-B14F-4D97-AF65-F5344CB8AC3E}">
        <p14:creationId xmlns:p14="http://schemas.microsoft.com/office/powerpoint/2010/main" val="2551374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16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25471" y="800708"/>
            <a:ext cx="8839017" cy="5688632"/>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t" anchorCtr="0">
            <a:noAutofit/>
          </a:bodyPr>
          <a:lstStyle/>
          <a:p>
            <a:pPr indent="444500" algn="just">
              <a:spcAft>
                <a:spcPts val="1200"/>
              </a:spcAft>
            </a:pPr>
            <a:r>
              <a:rPr lang="uz-Cyrl-UZ" sz="3000" b="1" u="sng" dirty="0">
                <a:latin typeface="Times New Roman" pitchFamily="18" charset="0"/>
                <a:cs typeface="Times New Roman" pitchFamily="18" charset="0"/>
              </a:rPr>
              <a:t>Клод Элвуд Шеннон:</a:t>
            </a:r>
            <a:r>
              <a:rPr lang="uz-Cyrl-UZ" sz="3000" dirty="0">
                <a:latin typeface="Times New Roman" pitchFamily="18" charset="0"/>
                <a:cs typeface="Times New Roman" pitchFamily="18" charset="0"/>
              </a:rPr>
              <a:t> «</a:t>
            </a:r>
            <a:r>
              <a:rPr lang="uz-Cyrl-UZ" sz="3000" b="1" dirty="0">
                <a:solidFill>
                  <a:srgbClr val="C00000"/>
                </a:solidFill>
                <a:latin typeface="Times New Roman" pitchFamily="18" charset="0"/>
                <a:cs typeface="Times New Roman" pitchFamily="18" charset="0"/>
              </a:rPr>
              <a:t>Бардошли шифрлаш алгоритмини очиш учун, кўп ўзгарувчили тенгламалар системасини ечиш талаб этилади</a:t>
            </a:r>
            <a:r>
              <a:rPr lang="uz-Cyrl-UZ" sz="3000" dirty="0">
                <a:latin typeface="Times New Roman" pitchFamily="18" charset="0"/>
                <a:cs typeface="Times New Roman" pitchFamily="18" charset="0"/>
              </a:rPr>
              <a:t>». </a:t>
            </a:r>
          </a:p>
          <a:p>
            <a:pPr indent="444500" algn="just">
              <a:spcAft>
                <a:spcPts val="1200"/>
              </a:spcAft>
            </a:pPr>
            <a:r>
              <a:rPr lang="uz-Cyrl-UZ" sz="3000" b="1" dirty="0">
                <a:latin typeface="Times New Roman" pitchFamily="18" charset="0"/>
                <a:cs typeface="Times New Roman" pitchFamily="18" charset="0"/>
              </a:rPr>
              <a:t>Алгебраик криптотаҳлил</a:t>
            </a:r>
            <a:r>
              <a:rPr lang="uz-Cyrl-UZ" sz="3000" dirty="0">
                <a:latin typeface="Times New Roman" pitchFamily="18" charset="0"/>
                <a:cs typeface="Times New Roman" pitchFamily="18" charset="0"/>
              </a:rPr>
              <a:t> ҳам айнан ушбу ғояга </a:t>
            </a:r>
            <a:r>
              <a:rPr lang="uz-Cyrl-UZ" sz="3000" dirty="0" smtClean="0">
                <a:latin typeface="Times New Roman" pitchFamily="18" charset="0"/>
                <a:cs typeface="Times New Roman" pitchFamily="18" charset="0"/>
              </a:rPr>
              <a:t>асосланган.</a:t>
            </a:r>
            <a:endParaRPr lang="ru-RU" sz="3000" dirty="0">
              <a:effectLst>
                <a:outerShdw blurRad="38100" dist="38100" dir="2700000" algn="tl">
                  <a:srgbClr val="C0C0C0"/>
                </a:outerShdw>
              </a:effectLst>
              <a:latin typeface="Times New Roman" pitchFamily="18" charset="0"/>
            </a:endParaRPr>
          </a:p>
        </p:txBody>
      </p:sp>
      <p:sp>
        <p:nvSpPr>
          <p:cNvPr id="27656" name="Rectangle 8"/>
          <p:cNvSpPr>
            <a:spLocks noChangeArrowheads="1"/>
          </p:cNvSpPr>
          <p:nvPr/>
        </p:nvSpPr>
        <p:spPr bwMode="auto">
          <a:xfrm>
            <a:off x="0" y="-78868"/>
            <a:ext cx="6804248" cy="584775"/>
          </a:xfrm>
          <a:prstGeom prst="rect">
            <a:avLst/>
          </a:prstGeom>
          <a:solidFill>
            <a:srgbClr val="99CCFF">
              <a:alpha val="95000"/>
            </a:srgbClr>
          </a:solidFill>
          <a:ln>
            <a:noFill/>
          </a:ln>
          <a:effectLst/>
          <a:extLst/>
        </p:spPr>
        <p:txBody>
          <a:bodyPr wrap="square" anchor="ctr">
            <a:spAutoFit/>
          </a:bodyPr>
          <a:lstStyle/>
          <a:p>
            <a:pPr>
              <a:defRPr/>
            </a:pPr>
            <a:r>
              <a:rPr lang="uz-Cyrl-UZ" sz="3200" b="1" dirty="0" smtClean="0">
                <a:solidFill>
                  <a:srgbClr val="000000"/>
                </a:solidFill>
                <a:effectLst>
                  <a:outerShdw blurRad="38100" dist="38100" dir="2700000" algn="tl">
                    <a:srgbClr val="FFFFFF"/>
                  </a:outerShdw>
                </a:effectLst>
                <a:latin typeface="Times New Roman" pitchFamily="18" charset="0"/>
              </a:rPr>
              <a:t>ИК усулини қўллаш босқичлари</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sp>
        <p:nvSpPr>
          <p:cNvPr id="5" name="AutoShape 28"/>
          <p:cNvSpPr>
            <a:spLocks noChangeArrowheads="1"/>
          </p:cNvSpPr>
          <p:nvPr/>
        </p:nvSpPr>
        <p:spPr bwMode="auto">
          <a:xfrm>
            <a:off x="395536" y="3789040"/>
            <a:ext cx="5903887" cy="576000"/>
          </a:xfrm>
          <a:prstGeom prst="flowChartAlternateProcess">
            <a:avLst/>
          </a:prstGeom>
          <a:solidFill>
            <a:srgbClr val="CCECFF"/>
          </a:solidFill>
          <a:ln w="25400">
            <a:solidFill>
              <a:schemeClr val="tx1"/>
            </a:solidFill>
            <a:miter lim="800000"/>
            <a:headEnd/>
            <a:tailEnd/>
          </a:ln>
          <a:effectLst>
            <a:outerShdw dist="107763" dir="18900000" algn="ctr" rotWithShape="0">
              <a:srgbClr val="808080">
                <a:alpha val="50000"/>
              </a:srgbClr>
            </a:outerShdw>
          </a:effectLst>
        </p:spPr>
        <p:txBody>
          <a:bodyPr wrap="square" anchor="ctr">
            <a:spAutoFit/>
          </a:bodyPr>
          <a:lstStyle/>
          <a:p>
            <a:pPr algn="ctr"/>
            <a:r>
              <a:rPr lang="uz-Cyrl-UZ" sz="2400" b="1" dirty="0">
                <a:solidFill>
                  <a:srgbClr val="7030A0"/>
                </a:solidFill>
                <a:latin typeface="Times New Roman" pitchFamily="18" charset="0"/>
                <a:cs typeface="Times New Roman" pitchFamily="18" charset="0"/>
              </a:rPr>
              <a:t>Алгебраик криптотаҳлил</a:t>
            </a:r>
            <a:endParaRPr lang="ru-RU" sz="2400" b="1" dirty="0">
              <a:solidFill>
                <a:srgbClr val="7030A0"/>
              </a:solidFill>
              <a:latin typeface="Times New Roman" pitchFamily="18" charset="0"/>
              <a:cs typeface="Times New Roman" pitchFamily="18" charset="0"/>
            </a:endParaRPr>
          </a:p>
        </p:txBody>
      </p:sp>
      <p:pic>
        <p:nvPicPr>
          <p:cNvPr id="6" name="Picture 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599" y="4328608"/>
            <a:ext cx="864000" cy="684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alpha val="50000"/>
                    </a:schemeClr>
                  </a:outerShdw>
                </a:effectLst>
              </a14:hiddenEffects>
            </a:ext>
          </a:extLst>
        </p:spPr>
      </p:pic>
      <p:sp>
        <p:nvSpPr>
          <p:cNvPr id="7" name="AutoShape 55"/>
          <p:cNvSpPr>
            <a:spLocks noChangeArrowheads="1"/>
          </p:cNvSpPr>
          <p:nvPr/>
        </p:nvSpPr>
        <p:spPr bwMode="gray">
          <a:xfrm>
            <a:off x="1475655" y="4545176"/>
            <a:ext cx="6660000" cy="468000"/>
          </a:xfrm>
          <a:prstGeom prst="roundRect">
            <a:avLst>
              <a:gd name="adj" fmla="val 50000"/>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algn="ctr"/>
            <a:r>
              <a:rPr lang="uz-Cyrl-UZ" sz="2000" b="1" dirty="0">
                <a:solidFill>
                  <a:schemeClr val="tx1"/>
                </a:solidFill>
                <a:latin typeface="Times New Roman" pitchFamily="18" charset="0"/>
                <a:cs typeface="Times New Roman" pitchFamily="18" charset="0"/>
              </a:rPr>
              <a:t>Алгебраик тенгламалар системасини </a:t>
            </a:r>
            <a:r>
              <a:rPr lang="uz-Cyrl-UZ" sz="2000" b="1" dirty="0" smtClean="0">
                <a:solidFill>
                  <a:schemeClr val="tx1"/>
                </a:solidFill>
                <a:latin typeface="Times New Roman" pitchFamily="18" charset="0"/>
                <a:cs typeface="Times New Roman" pitchFamily="18" charset="0"/>
              </a:rPr>
              <a:t>тузиш </a:t>
            </a:r>
            <a:r>
              <a:rPr lang="uz-Cyrl-UZ" sz="2000" dirty="0" smtClean="0">
                <a:solidFill>
                  <a:schemeClr val="tx1"/>
                </a:solidFill>
                <a:latin typeface="Times New Roman" pitchFamily="18" charset="0"/>
                <a:cs typeface="Times New Roman" pitchFamily="18" charset="0"/>
              </a:rPr>
              <a:t>(1-босқич)</a:t>
            </a:r>
            <a:endParaRPr lang="ru-RU" sz="2000" dirty="0">
              <a:solidFill>
                <a:schemeClr val="tx1"/>
              </a:solidFill>
              <a:latin typeface="Times New Roman" pitchFamily="18" charset="0"/>
              <a:cs typeface="Times New Roman" pitchFamily="18" charset="0"/>
            </a:endParaRPr>
          </a:p>
        </p:txBody>
      </p:sp>
      <p:sp>
        <p:nvSpPr>
          <p:cNvPr id="8" name="AutoShape 56"/>
          <p:cNvSpPr>
            <a:spLocks noChangeArrowheads="1"/>
          </p:cNvSpPr>
          <p:nvPr/>
        </p:nvSpPr>
        <p:spPr bwMode="gray">
          <a:xfrm>
            <a:off x="2596946" y="5265204"/>
            <a:ext cx="6228000" cy="468000"/>
          </a:xfrm>
          <a:prstGeom prst="roundRect">
            <a:avLst>
              <a:gd name="adj" fmla="val 50000"/>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algn="ctr"/>
            <a:r>
              <a:rPr lang="uz-Cyrl-UZ" sz="2000" b="1" dirty="0">
                <a:solidFill>
                  <a:schemeClr val="tx1"/>
                </a:solidFill>
                <a:latin typeface="Times New Roman" pitchFamily="18" charset="0"/>
                <a:cs typeface="Times New Roman" pitchFamily="18" charset="0"/>
              </a:rPr>
              <a:t>Тенгламалар системасини </a:t>
            </a:r>
            <a:r>
              <a:rPr lang="uz-Cyrl-UZ" sz="2000" b="1" dirty="0" smtClean="0">
                <a:solidFill>
                  <a:schemeClr val="tx1"/>
                </a:solidFill>
                <a:latin typeface="Times New Roman" pitchFamily="18" charset="0"/>
                <a:cs typeface="Times New Roman" pitchFamily="18" charset="0"/>
              </a:rPr>
              <a:t>ечиш </a:t>
            </a:r>
            <a:r>
              <a:rPr lang="uz-Cyrl-UZ" sz="2000" dirty="0" smtClean="0">
                <a:solidFill>
                  <a:schemeClr val="tx1"/>
                </a:solidFill>
                <a:latin typeface="Times New Roman" pitchFamily="18" charset="0"/>
                <a:cs typeface="Times New Roman" pitchFamily="18" charset="0"/>
              </a:rPr>
              <a:t>(2-босқич)</a:t>
            </a:r>
            <a:endParaRPr lang="ru-RU" sz="2000" b="1" dirty="0">
              <a:solidFill>
                <a:schemeClr val="tx1"/>
              </a:solidFill>
              <a:latin typeface="Times New Roman" pitchFamily="18" charset="0"/>
              <a:cs typeface="Times New Roman" pitchFamily="18" charset="0"/>
            </a:endParaRPr>
          </a:p>
        </p:txBody>
      </p:sp>
      <p:pic>
        <p:nvPicPr>
          <p:cNvPr id="9" name="Picture 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5130066"/>
            <a:ext cx="864000" cy="639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accent1">
                      <a:gamma/>
                      <a:shade val="60000"/>
                      <a:invGamma/>
                      <a:alpha val="50000"/>
                    </a:schemeClr>
                  </a:outerShdw>
                </a:effectLst>
              </a14:hiddenEffects>
            </a:ext>
          </a:extLst>
        </p:spPr>
      </p:pic>
    </p:spTree>
    <p:extLst>
      <p:ext uri="{BB962C8B-B14F-4D97-AF65-F5344CB8AC3E}">
        <p14:creationId xmlns:p14="http://schemas.microsoft.com/office/powerpoint/2010/main" val="14455635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25471" y="1455307"/>
            <a:ext cx="8839017" cy="4524315"/>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363538" algn="just">
              <a:spcBef>
                <a:spcPts val="0"/>
              </a:spcBef>
              <a:spcAft>
                <a:spcPts val="1200"/>
              </a:spcAft>
              <a:buClr>
                <a:schemeClr val="accent2"/>
              </a:buClr>
              <a:buSzPct val="100000"/>
              <a:defRPr/>
            </a:pPr>
            <a:r>
              <a:rPr lang="uz-Cyrl-UZ" sz="3600" b="1" u="sng" dirty="0" smtClean="0">
                <a:solidFill>
                  <a:srgbClr val="C00000"/>
                </a:solidFill>
                <a:latin typeface="Times New Roman" pitchFamily="18" charset="0"/>
                <a:cs typeface="Times New Roman" pitchFamily="18" charset="0"/>
              </a:rPr>
              <a:t>1-босқич</a:t>
            </a:r>
            <a:r>
              <a:rPr lang="uz-Cyrl-UZ" sz="3600" b="1" dirty="0" smtClean="0">
                <a:solidFill>
                  <a:srgbClr val="C00000"/>
                </a:solidFill>
                <a:latin typeface="Times New Roman" pitchFamily="18" charset="0"/>
                <a:cs typeface="Times New Roman" pitchFamily="18" charset="0"/>
              </a:rPr>
              <a:t>: </a:t>
            </a:r>
            <a:r>
              <a:rPr lang="uz-Cyrl-UZ" sz="3600" b="1" dirty="0" smtClean="0">
                <a:latin typeface="Times New Roman" pitchFamily="18" charset="0"/>
                <a:cs typeface="Times New Roman" pitchFamily="18" charset="0"/>
              </a:rPr>
              <a:t>алгоритмни </a:t>
            </a:r>
            <a:r>
              <a:rPr lang="uz-Cyrl-UZ" sz="3600" b="1" dirty="0">
                <a:latin typeface="Times New Roman" pitchFamily="18" charset="0"/>
                <a:cs typeface="Times New Roman" pitchFamily="18" charset="0"/>
              </a:rPr>
              <a:t>ифодаловчи </a:t>
            </a:r>
            <a:r>
              <a:rPr lang="ru-RU" sz="3600" b="1" dirty="0" err="1">
                <a:latin typeface="Times New Roman" pitchFamily="18" charset="0"/>
                <a:cs typeface="Times New Roman" pitchFamily="18" charset="0"/>
              </a:rPr>
              <a:t>минимал</a:t>
            </a:r>
            <a:r>
              <a:rPr lang="ru-RU" sz="3600" b="1" dirty="0">
                <a:latin typeface="Times New Roman" pitchFamily="18" charset="0"/>
                <a:cs typeface="Times New Roman" pitchFamily="18" charset="0"/>
              </a:rPr>
              <a:t> </a:t>
            </a:r>
            <a:r>
              <a:rPr lang="ru-RU" sz="3600" b="1" dirty="0" err="1">
                <a:latin typeface="Times New Roman" pitchFamily="18" charset="0"/>
                <a:cs typeface="Times New Roman" pitchFamily="18" charset="0"/>
              </a:rPr>
              <a:t>даражали</a:t>
            </a:r>
            <a:r>
              <a:rPr lang="ru-RU" sz="3600" b="1" dirty="0">
                <a:latin typeface="Times New Roman" pitchFamily="18" charset="0"/>
                <a:cs typeface="Times New Roman" pitchFamily="18" charset="0"/>
              </a:rPr>
              <a:t> </a:t>
            </a:r>
            <a:r>
              <a:rPr lang="ru-RU" sz="3600" b="1" dirty="0" err="1">
                <a:latin typeface="Times New Roman" pitchFamily="18" charset="0"/>
                <a:cs typeface="Times New Roman" pitchFamily="18" charset="0"/>
              </a:rPr>
              <a:t>бирхадлар</a:t>
            </a:r>
            <a:r>
              <a:rPr lang="ru-RU" sz="3600" b="1" dirty="0">
                <a:latin typeface="Times New Roman" pitchFamily="18" charset="0"/>
                <a:cs typeface="Times New Roman" pitchFamily="18" charset="0"/>
              </a:rPr>
              <a:t> (терм)дан </a:t>
            </a:r>
            <a:r>
              <a:rPr lang="ru-RU" sz="3600" b="1" dirty="0" err="1">
                <a:latin typeface="Times New Roman" pitchFamily="18" charset="0"/>
                <a:cs typeface="Times New Roman" pitchFamily="18" charset="0"/>
              </a:rPr>
              <a:t>ташкил</a:t>
            </a:r>
            <a:r>
              <a:rPr lang="ru-RU" sz="3600" b="1" dirty="0">
                <a:latin typeface="Times New Roman" pitchFamily="18" charset="0"/>
                <a:cs typeface="Times New Roman" pitchFamily="18" charset="0"/>
              </a:rPr>
              <a:t> </a:t>
            </a:r>
            <a:r>
              <a:rPr lang="ru-RU" sz="3600" b="1" dirty="0" err="1">
                <a:latin typeface="Times New Roman" pitchFamily="18" charset="0"/>
                <a:cs typeface="Times New Roman" pitchFamily="18" charset="0"/>
              </a:rPr>
              <a:t>топган</a:t>
            </a:r>
            <a:r>
              <a:rPr lang="ru-RU" sz="3600" b="1" dirty="0">
                <a:latin typeface="Times New Roman" pitchFamily="18" charset="0"/>
                <a:cs typeface="Times New Roman" pitchFamily="18" charset="0"/>
              </a:rPr>
              <a:t> </a:t>
            </a:r>
            <a:r>
              <a:rPr lang="ru-RU" sz="3600" b="1" dirty="0" err="1">
                <a:latin typeface="Times New Roman" pitchFamily="18" charset="0"/>
                <a:cs typeface="Times New Roman" pitchFamily="18" charset="0"/>
              </a:rPr>
              <a:t>максимал</a:t>
            </a:r>
            <a:r>
              <a:rPr lang="ru-RU" sz="3600" b="1" dirty="0">
                <a:latin typeface="Times New Roman" pitchFamily="18" charset="0"/>
                <a:cs typeface="Times New Roman" pitchFamily="18" charset="0"/>
              </a:rPr>
              <a:t> </a:t>
            </a:r>
            <a:r>
              <a:rPr lang="ru-RU" sz="3600" b="1" dirty="0" err="1">
                <a:latin typeface="Times New Roman" pitchFamily="18" charset="0"/>
                <a:cs typeface="Times New Roman" pitchFamily="18" charset="0"/>
              </a:rPr>
              <a:t>сондаги</a:t>
            </a:r>
            <a:r>
              <a:rPr lang="ru-RU" sz="3600" b="1" dirty="0">
                <a:latin typeface="Times New Roman" pitchFamily="18" charset="0"/>
                <a:cs typeface="Times New Roman" pitchFamily="18" charset="0"/>
              </a:rPr>
              <a:t> </a:t>
            </a:r>
            <a:r>
              <a:rPr lang="ru-RU" sz="3600" b="1" dirty="0" err="1" smtClean="0">
                <a:latin typeface="Times New Roman" pitchFamily="18" charset="0"/>
                <a:cs typeface="Times New Roman" pitchFamily="18" charset="0"/>
              </a:rPr>
              <a:t>тенгламалар</a:t>
            </a:r>
            <a:r>
              <a:rPr lang="ru-RU" sz="3600" b="1" dirty="0" smtClean="0">
                <a:latin typeface="Times New Roman" pitchFamily="18" charset="0"/>
                <a:cs typeface="Times New Roman" pitchFamily="18" charset="0"/>
              </a:rPr>
              <a:t> </a:t>
            </a:r>
            <a:r>
              <a:rPr lang="uz-Cyrl-UZ" sz="3600" b="1" dirty="0" smtClean="0">
                <a:latin typeface="Times New Roman" pitchFamily="18" charset="0"/>
                <a:cs typeface="Times New Roman" pitchFamily="18" charset="0"/>
              </a:rPr>
              <a:t>системасини </a:t>
            </a:r>
            <a:r>
              <a:rPr lang="uz-Cyrl-UZ" sz="3600" b="1" dirty="0">
                <a:latin typeface="Times New Roman" pitchFamily="18" charset="0"/>
                <a:cs typeface="Times New Roman" pitchFamily="18" charset="0"/>
              </a:rPr>
              <a:t>тузиш</a:t>
            </a:r>
            <a:r>
              <a:rPr lang="uz-Cyrl-UZ" sz="3600" dirty="0">
                <a:latin typeface="Times New Roman" pitchFamily="18" charset="0"/>
                <a:cs typeface="Times New Roman" pitchFamily="18" charset="0"/>
              </a:rPr>
              <a:t>дан иборат </a:t>
            </a:r>
            <a:r>
              <a:rPr lang="uz-Cyrl-UZ" sz="3600" dirty="0" smtClean="0">
                <a:latin typeface="Times New Roman" pitchFamily="18" charset="0"/>
                <a:cs typeface="Times New Roman" pitchFamily="18" charset="0"/>
              </a:rPr>
              <a:t>бўлиб, тенгламалар таҳлил </a:t>
            </a:r>
            <a:r>
              <a:rPr lang="uz-Cyrl-UZ" sz="3600" dirty="0">
                <a:latin typeface="Times New Roman" pitchFamily="18" charset="0"/>
                <a:cs typeface="Times New Roman" pitchFamily="18" charset="0"/>
              </a:rPr>
              <a:t>қилинаётган акслантиришнинг алгебраик хусусиятлари ва ўлчамига узвий боғлиқ </a:t>
            </a:r>
            <a:r>
              <a:rPr lang="uz-Cyrl-UZ" sz="3600" dirty="0" smtClean="0">
                <a:latin typeface="Times New Roman" pitchFamily="18" charset="0"/>
                <a:cs typeface="Times New Roman" pitchFamily="18" charset="0"/>
              </a:rPr>
              <a:t>бўлади.</a:t>
            </a:r>
            <a:endParaRPr lang="uz-Cyrl-UZ" sz="3600" dirty="0">
              <a:latin typeface="Times New Roman" pitchFamily="18" charset="0"/>
            </a:endParaRPr>
          </a:p>
        </p:txBody>
      </p:sp>
      <p:sp>
        <p:nvSpPr>
          <p:cNvPr id="27656" name="Rectangle 8"/>
          <p:cNvSpPr>
            <a:spLocks noChangeArrowheads="1"/>
          </p:cNvSpPr>
          <p:nvPr/>
        </p:nvSpPr>
        <p:spPr bwMode="auto">
          <a:xfrm>
            <a:off x="0" y="8620"/>
            <a:ext cx="8892000" cy="584775"/>
          </a:xfrm>
          <a:prstGeom prst="rect">
            <a:avLst/>
          </a:prstGeom>
          <a:solidFill>
            <a:schemeClr val="accent6">
              <a:lumMod val="40000"/>
              <a:lumOff val="60000"/>
              <a:alpha val="95000"/>
            </a:schemeClr>
          </a:solidFill>
          <a:ln>
            <a:noFill/>
          </a:ln>
          <a:effectLst/>
          <a:extLst/>
        </p:spPr>
        <p:txBody>
          <a:bodyPr wrap="square" anchor="ctr">
            <a:spAutoFit/>
          </a:bodyPr>
          <a:lstStyle/>
          <a:p>
            <a:pPr>
              <a:defRPr/>
            </a:pPr>
            <a:r>
              <a:rPr lang="uz-Cyrl-UZ" sz="3200" b="1" dirty="0">
                <a:solidFill>
                  <a:srgbClr val="000000"/>
                </a:solidFill>
                <a:effectLst>
                  <a:outerShdw blurRad="38100" dist="38100" dir="2700000" algn="tl">
                    <a:srgbClr val="FFFFFF"/>
                  </a:outerShdw>
                </a:effectLst>
                <a:latin typeface="Times New Roman" pitchFamily="18" charset="0"/>
              </a:rPr>
              <a:t>Чекли майдонда аниқланган </a:t>
            </a:r>
            <a:r>
              <a:rPr lang="uz-Cyrl-UZ" sz="3200" b="1" dirty="0" smtClean="0">
                <a:solidFill>
                  <a:srgbClr val="000000"/>
                </a:solidFill>
                <a:effectLst>
                  <a:outerShdw blurRad="38100" dist="38100" dir="2700000" algn="tl">
                    <a:srgbClr val="FFFFFF"/>
                  </a:outerShdw>
                </a:effectLst>
                <a:latin typeface="Times New Roman" pitchFamily="18" charset="0"/>
              </a:rPr>
              <a:t>АТС </a:t>
            </a:r>
            <a:r>
              <a:rPr lang="uz-Cyrl-UZ" sz="3200" b="1" dirty="0" smtClean="0">
                <a:solidFill>
                  <a:srgbClr val="0070C0"/>
                </a:solidFill>
                <a:effectLst>
                  <a:outerShdw blurRad="38100" dist="38100" dir="2700000" algn="tl">
                    <a:srgbClr val="FFFFFF"/>
                  </a:outerShdw>
                </a:effectLst>
                <a:latin typeface="Times New Roman" pitchFamily="18" charset="0"/>
              </a:rPr>
              <a:t>тузиш</a:t>
            </a:r>
            <a:endParaRPr kumimoji="1" lang="ru-RU" sz="3200" b="1" dirty="0">
              <a:solidFill>
                <a:srgbClr val="0070C0"/>
              </a:solidFill>
              <a:effectLst>
                <a:outerShdw blurRad="38100" dist="38100" dir="2700000" algn="tl">
                  <a:srgbClr val="FFFFFF"/>
                </a:outerShdw>
              </a:effectLst>
              <a:latin typeface="Times New Roman" pitchFamily="18" charset="0"/>
            </a:endParaRPr>
          </a:p>
        </p:txBody>
      </p:sp>
    </p:spTree>
    <p:extLst>
      <p:ext uri="{BB962C8B-B14F-4D97-AF65-F5344CB8AC3E}">
        <p14:creationId xmlns:p14="http://schemas.microsoft.com/office/powerpoint/2010/main" val="8794531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25471" y="152636"/>
            <a:ext cx="8839017" cy="5170646"/>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363538" algn="just">
              <a:spcBef>
                <a:spcPts val="0"/>
              </a:spcBef>
              <a:spcAft>
                <a:spcPts val="1200"/>
              </a:spcAft>
              <a:buClr>
                <a:schemeClr val="accent2"/>
              </a:buClr>
              <a:buSzPct val="100000"/>
              <a:defRPr/>
            </a:pPr>
            <a:r>
              <a:rPr lang="uz-Cyrl-UZ" sz="3000" b="1" u="sng" dirty="0" smtClean="0">
                <a:solidFill>
                  <a:srgbClr val="C00000"/>
                </a:solidFill>
                <a:latin typeface="Times New Roman" pitchFamily="18" charset="0"/>
                <a:cs typeface="Times New Roman" pitchFamily="18" charset="0"/>
              </a:rPr>
              <a:t>1-босқич қуйидаги қадамлардан иборат</a:t>
            </a:r>
            <a:r>
              <a:rPr lang="uz-Cyrl-UZ" sz="3000" b="1" dirty="0" smtClean="0">
                <a:solidFill>
                  <a:srgbClr val="C00000"/>
                </a:solidFill>
                <a:latin typeface="Times New Roman" pitchFamily="18" charset="0"/>
                <a:cs typeface="Times New Roman" pitchFamily="18" charset="0"/>
              </a:rPr>
              <a:t>:</a:t>
            </a:r>
          </a:p>
          <a:p>
            <a:pPr indent="363538" algn="just">
              <a:spcBef>
                <a:spcPts val="0"/>
              </a:spcBef>
              <a:spcAft>
                <a:spcPts val="1200"/>
              </a:spcAft>
              <a:buClr>
                <a:schemeClr val="accent2"/>
              </a:buClr>
              <a:buSzPct val="100000"/>
              <a:defRPr/>
            </a:pPr>
            <a:r>
              <a:rPr lang="en-US" sz="3000" b="1" dirty="0">
                <a:solidFill>
                  <a:srgbClr val="C00000"/>
                </a:solidFill>
                <a:latin typeface="Times New Roman" pitchFamily="18" charset="0"/>
              </a:rPr>
              <a:t>a)</a:t>
            </a:r>
            <a:r>
              <a:rPr lang="en-US" sz="3000" dirty="0">
                <a:latin typeface="Times New Roman" pitchFamily="18" charset="0"/>
              </a:rPr>
              <a:t>	</a:t>
            </a:r>
            <a:r>
              <a:rPr lang="uz-Cyrl-UZ" sz="3000" dirty="0">
                <a:latin typeface="Times New Roman" pitchFamily="18" charset="0"/>
              </a:rPr>
              <a:t>шифрлаш алгоритмини декомпозициялаш; яъни, шифрлаш алгоритмининг ташкил этувчиларини имкон қадар кичик ва алоҳида элементлар (чизиқли, чизиқсиз ва бошқа акслантиришлар)га ажратиш.</a:t>
            </a:r>
          </a:p>
          <a:p>
            <a:pPr indent="363538" algn="just">
              <a:spcBef>
                <a:spcPts val="0"/>
              </a:spcBef>
              <a:spcAft>
                <a:spcPts val="1200"/>
              </a:spcAft>
              <a:buClr>
                <a:schemeClr val="accent2"/>
              </a:buClr>
              <a:buSzPct val="100000"/>
              <a:defRPr/>
            </a:pPr>
            <a:r>
              <a:rPr lang="en-US" sz="3000" b="1" dirty="0">
                <a:solidFill>
                  <a:srgbClr val="C00000"/>
                </a:solidFill>
                <a:latin typeface="Times New Roman" pitchFamily="18" charset="0"/>
              </a:rPr>
              <a:t>b)</a:t>
            </a:r>
            <a:r>
              <a:rPr lang="en-US" sz="3000" dirty="0">
                <a:latin typeface="Times New Roman" pitchFamily="18" charset="0"/>
              </a:rPr>
              <a:t>	</a:t>
            </a:r>
            <a:r>
              <a:rPr lang="uz-Cyrl-UZ" sz="3000" dirty="0">
                <a:latin typeface="Times New Roman" pitchFamily="18" charset="0"/>
              </a:rPr>
              <a:t>ҳар бир элементни алгебраик ифодалаш; </a:t>
            </a:r>
          </a:p>
          <a:p>
            <a:pPr indent="363538" algn="just">
              <a:spcBef>
                <a:spcPts val="0"/>
              </a:spcBef>
              <a:spcAft>
                <a:spcPts val="1200"/>
              </a:spcAft>
              <a:buClr>
                <a:schemeClr val="accent2"/>
              </a:buClr>
              <a:buSzPct val="100000"/>
              <a:defRPr/>
            </a:pPr>
            <a:r>
              <a:rPr lang="en-US" sz="3000" b="1" dirty="0">
                <a:solidFill>
                  <a:srgbClr val="C00000"/>
                </a:solidFill>
                <a:latin typeface="Times New Roman" pitchFamily="18" charset="0"/>
              </a:rPr>
              <a:t>c)</a:t>
            </a:r>
            <a:r>
              <a:rPr lang="en-US" sz="3000" dirty="0">
                <a:latin typeface="Times New Roman" pitchFamily="18" charset="0"/>
              </a:rPr>
              <a:t>	</a:t>
            </a:r>
            <a:r>
              <a:rPr lang="uz-Cyrl-UZ" sz="3000" dirty="0">
                <a:latin typeface="Times New Roman" pitchFamily="18" charset="0"/>
              </a:rPr>
              <a:t>ҳар бир элементнинг кириши ва чиқишини бошқа элементлар ҳамда </a:t>
            </a:r>
            <a:r>
              <a:rPr lang="uz-Cyrl-UZ" sz="3000" dirty="0" smtClean="0">
                <a:latin typeface="Times New Roman" pitchFamily="18" charset="0"/>
              </a:rPr>
              <a:t>калит</a:t>
            </a:r>
            <a:r>
              <a:rPr lang="en-US" sz="3000" dirty="0" smtClean="0">
                <a:latin typeface="Times New Roman" pitchFamily="18" charset="0"/>
              </a:rPr>
              <a:t>, </a:t>
            </a:r>
            <a:r>
              <a:rPr lang="uz-Cyrl-UZ" sz="3000" dirty="0">
                <a:latin typeface="Times New Roman" pitchFamily="18" charset="0"/>
              </a:rPr>
              <a:t>очиқ матн </a:t>
            </a:r>
            <a:r>
              <a:rPr lang="uz-Cyrl-UZ" sz="3000" dirty="0" smtClean="0">
                <a:latin typeface="Times New Roman" pitchFamily="18" charset="0"/>
              </a:rPr>
              <a:t>ва </a:t>
            </a:r>
            <a:r>
              <a:rPr lang="uz-Cyrl-UZ" sz="3000" dirty="0">
                <a:latin typeface="Times New Roman" pitchFamily="18" charset="0"/>
              </a:rPr>
              <a:t>шифр матн </a:t>
            </a:r>
            <a:r>
              <a:rPr lang="uz-Cyrl-UZ" sz="3000" dirty="0" smtClean="0">
                <a:latin typeface="Times New Roman" pitchFamily="18" charset="0"/>
              </a:rPr>
              <a:t>битлари </a:t>
            </a:r>
            <a:r>
              <a:rPr lang="uz-Cyrl-UZ" sz="3000" dirty="0">
                <a:latin typeface="Times New Roman" pitchFamily="18" charset="0"/>
              </a:rPr>
              <a:t>билан боғлаш</a:t>
            </a:r>
            <a:r>
              <a:rPr lang="uz-Cyrl-UZ" sz="3000" dirty="0" smtClean="0">
                <a:latin typeface="Times New Roman" pitchFamily="18" charset="0"/>
              </a:rPr>
              <a:t>.</a:t>
            </a:r>
            <a:endParaRPr lang="uz-Cyrl-UZ" sz="3000" dirty="0">
              <a:latin typeface="Times New Roman" pitchFamily="18" charset="0"/>
            </a:endParaRPr>
          </a:p>
        </p:txBody>
      </p:sp>
      <p:sp>
        <p:nvSpPr>
          <p:cNvPr id="4" name="Rectangle 7"/>
          <p:cNvSpPr>
            <a:spLocks noChangeArrowheads="1"/>
          </p:cNvSpPr>
          <p:nvPr/>
        </p:nvSpPr>
        <p:spPr bwMode="auto">
          <a:xfrm>
            <a:off x="125471" y="5520714"/>
            <a:ext cx="8839017" cy="1200329"/>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363538" algn="just">
              <a:spcBef>
                <a:spcPts val="0"/>
              </a:spcBef>
              <a:spcAft>
                <a:spcPts val="1200"/>
              </a:spcAft>
              <a:buClr>
                <a:schemeClr val="accent2"/>
              </a:buClr>
              <a:buSzPct val="100000"/>
              <a:defRPr/>
            </a:pPr>
            <a:r>
              <a:rPr lang="uz-Cyrl-UZ" sz="2400" dirty="0">
                <a:latin typeface="Times New Roman" pitchFamily="18" charset="0"/>
                <a:cs typeface="Times New Roman" pitchFamily="18" charset="0"/>
              </a:rPr>
              <a:t>Тенгламалар системасини ечиш шифрлаш алгоритмида фойдаланилган махфий калит (ёки айрим битларини) қийматини аниқлашга олиб келади.</a:t>
            </a:r>
            <a:endParaRPr lang="uz-Cyrl-UZ" sz="2400" dirty="0">
              <a:latin typeface="Times New Roman" pitchFamily="18" charset="0"/>
            </a:endParaRPr>
          </a:p>
        </p:txBody>
      </p:sp>
    </p:spTree>
    <p:extLst>
      <p:ext uri="{BB962C8B-B14F-4D97-AF65-F5344CB8AC3E}">
        <p14:creationId xmlns:p14="http://schemas.microsoft.com/office/powerpoint/2010/main" val="28483293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3" name="Прямая соединительная линия 22"/>
          <p:cNvCxnSpPr/>
          <p:nvPr/>
        </p:nvCxnSpPr>
        <p:spPr>
          <a:xfrm>
            <a:off x="287525" y="836712"/>
            <a:ext cx="8604955" cy="0"/>
          </a:xfrm>
          <a:prstGeom prst="line">
            <a:avLst/>
          </a:prstGeom>
          <a:ln w="28575">
            <a:solidFill>
              <a:srgbClr val="002060">
                <a:alpha val="55000"/>
              </a:srgbClr>
            </a:solidFill>
          </a:ln>
          <a:effectLst>
            <a:glow rad="215900">
              <a:schemeClr val="accent4">
                <a:satMod val="175000"/>
                <a:alpha val="34000"/>
              </a:schemeClr>
            </a:glow>
          </a:effectLst>
        </p:spPr>
        <p:style>
          <a:lnRef idx="1">
            <a:schemeClr val="accent1"/>
          </a:lnRef>
          <a:fillRef idx="0">
            <a:schemeClr val="accent1"/>
          </a:fillRef>
          <a:effectRef idx="0">
            <a:schemeClr val="accent1"/>
          </a:effectRef>
          <a:fontRef idx="minor">
            <a:schemeClr val="tx1"/>
          </a:fontRef>
        </p:style>
      </p:cxnSp>
      <p:sp>
        <p:nvSpPr>
          <p:cNvPr id="24" name="Прямоугольник 23"/>
          <p:cNvSpPr/>
          <p:nvPr/>
        </p:nvSpPr>
        <p:spPr>
          <a:xfrm>
            <a:off x="215517" y="908720"/>
            <a:ext cx="8676963" cy="5688632"/>
          </a:xfrm>
          <a:prstGeom prst="rect">
            <a:avLst/>
          </a:prstGeom>
          <a:solidFill>
            <a:schemeClr val="bg1"/>
          </a:solidFill>
        </p:spPr>
        <p:style>
          <a:lnRef idx="3">
            <a:schemeClr val="lt1"/>
          </a:lnRef>
          <a:fillRef idx="1">
            <a:schemeClr val="accent4"/>
          </a:fillRef>
          <a:effectRef idx="1">
            <a:schemeClr val="accent4"/>
          </a:effectRef>
          <a:fontRef idx="minor">
            <a:schemeClr val="lt1"/>
          </a:fontRef>
        </p:style>
        <p:txBody>
          <a:bodyPr rtlCol="0" anchor="ctr"/>
          <a:lstStyle/>
          <a:p>
            <a:pPr algn="just"/>
            <a:endParaRPr lang="ru-RU" dirty="0">
              <a:solidFill>
                <a:schemeClr val="tx1"/>
              </a:solidFill>
              <a:latin typeface="Times New Roman" pitchFamily="18" charset="0"/>
              <a:cs typeface="Times New Roman" pitchFamily="18" charset="0"/>
            </a:endParaRPr>
          </a:p>
        </p:txBody>
      </p:sp>
      <p:sp>
        <p:nvSpPr>
          <p:cNvPr id="25" name="Прямоугольник 24"/>
          <p:cNvSpPr/>
          <p:nvPr/>
        </p:nvSpPr>
        <p:spPr>
          <a:xfrm>
            <a:off x="1619672" y="980728"/>
            <a:ext cx="5976664" cy="432048"/>
          </a:xfrm>
          <a:prstGeom prst="rect">
            <a:avLst/>
          </a:prstGeom>
          <a:solidFill>
            <a:srgbClr val="7030A0"/>
          </a:solidFill>
          <a:ln>
            <a:solidFill>
              <a:schemeClr val="accent4">
                <a:lumMod val="60000"/>
                <a:lumOff val="40000"/>
              </a:schemeClr>
            </a:solidFill>
          </a:ln>
        </p:spPr>
        <p:style>
          <a:lnRef idx="0">
            <a:schemeClr val="accent4"/>
          </a:lnRef>
          <a:fillRef idx="3">
            <a:schemeClr val="accent4"/>
          </a:fillRef>
          <a:effectRef idx="3">
            <a:schemeClr val="accent4"/>
          </a:effectRef>
          <a:fontRef idx="minor">
            <a:schemeClr val="lt1"/>
          </a:fontRef>
        </p:style>
        <p:txBody>
          <a:bodyPr rtlCol="0" anchor="ctr"/>
          <a:lstStyle/>
          <a:p>
            <a:pPr algn="just"/>
            <a:r>
              <a:rPr lang="uz-Cyrl-UZ" sz="2400" b="1" dirty="0" smtClean="0">
                <a:solidFill>
                  <a:schemeClr val="bg1"/>
                </a:solidFill>
                <a:latin typeface="Times New Roman" pitchFamily="18" charset="0"/>
                <a:cs typeface="Times New Roman" pitchFamily="18" charset="0"/>
              </a:rPr>
              <a:t>Чизиқсиз тенгламалар системасини ечиш</a:t>
            </a:r>
            <a:endParaRPr lang="ru-RU" sz="2400" dirty="0">
              <a:solidFill>
                <a:schemeClr val="bg1"/>
              </a:solidFill>
              <a:latin typeface="Times New Roman" pitchFamily="18" charset="0"/>
              <a:cs typeface="Times New Roman" pitchFamily="18" charset="0"/>
            </a:endParaRPr>
          </a:p>
        </p:txBody>
      </p:sp>
      <p:sp>
        <p:nvSpPr>
          <p:cNvPr id="26" name="Прямоугольник 25"/>
          <p:cNvSpPr/>
          <p:nvPr/>
        </p:nvSpPr>
        <p:spPr>
          <a:xfrm>
            <a:off x="323528" y="1844824"/>
            <a:ext cx="2016224" cy="187220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uz-Cyrl-UZ" sz="1600" dirty="0">
                <a:solidFill>
                  <a:schemeClr val="tx1"/>
                </a:solidFill>
                <a:latin typeface="Times New Roman" pitchFamily="18" charset="0"/>
                <a:cs typeface="Times New Roman" pitchFamily="18" charset="0"/>
              </a:rPr>
              <a:t>Грёбнер базисини қуриш асосидаги </a:t>
            </a:r>
            <a:r>
              <a:rPr lang="uz-Cyrl-UZ" sz="1600" dirty="0" smtClean="0">
                <a:solidFill>
                  <a:schemeClr val="tx1"/>
                </a:solidFill>
                <a:latin typeface="Times New Roman" pitchFamily="18" charset="0"/>
                <a:cs typeface="Times New Roman" pitchFamily="18" charset="0"/>
              </a:rPr>
              <a:t>алгоритмлар</a:t>
            </a:r>
          </a:p>
          <a:p>
            <a:pPr algn="ctr"/>
            <a:endParaRPr lang="ru-RU" sz="1600" dirty="0">
              <a:solidFill>
                <a:schemeClr val="tx1"/>
              </a:solidFill>
              <a:latin typeface="Times New Roman" pitchFamily="18" charset="0"/>
              <a:cs typeface="Times New Roman" pitchFamily="18" charset="0"/>
            </a:endParaRPr>
          </a:p>
        </p:txBody>
      </p:sp>
      <p:sp>
        <p:nvSpPr>
          <p:cNvPr id="27" name="Прямоугольник 26"/>
          <p:cNvSpPr/>
          <p:nvPr/>
        </p:nvSpPr>
        <p:spPr>
          <a:xfrm>
            <a:off x="2411760" y="1844824"/>
            <a:ext cx="2088232" cy="187220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lvl="0" algn="ctr"/>
            <a:r>
              <a:rPr lang="uz-Cyrl-UZ" sz="1600" dirty="0" smtClean="0">
                <a:latin typeface="Times New Roman" pitchFamily="18" charset="0"/>
                <a:cs typeface="Times New Roman" pitchFamily="18" charset="0"/>
              </a:rPr>
              <a:t>SAT–ҳисобла-гичларидан </a:t>
            </a:r>
            <a:r>
              <a:rPr lang="uz-Cyrl-UZ" sz="1600" dirty="0">
                <a:latin typeface="Times New Roman" pitchFamily="18" charset="0"/>
                <a:cs typeface="Times New Roman" pitchFamily="18" charset="0"/>
              </a:rPr>
              <a:t>фойдаланиш асосидаги алгоритмлар;</a:t>
            </a:r>
            <a:endParaRPr lang="ru-RU" sz="1600" dirty="0">
              <a:latin typeface="Times New Roman" pitchFamily="18" charset="0"/>
              <a:cs typeface="Times New Roman" pitchFamily="18" charset="0"/>
            </a:endParaRPr>
          </a:p>
        </p:txBody>
      </p:sp>
      <p:sp>
        <p:nvSpPr>
          <p:cNvPr id="28" name="Прямоугольник 27"/>
          <p:cNvSpPr/>
          <p:nvPr/>
        </p:nvSpPr>
        <p:spPr>
          <a:xfrm>
            <a:off x="4572000" y="1844824"/>
            <a:ext cx="2016224" cy="187220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lvl="0" algn="ctr"/>
            <a:r>
              <a:rPr lang="uz-Cyrl-UZ" sz="1600" dirty="0">
                <a:latin typeface="Times New Roman" pitchFamily="18" charset="0"/>
                <a:cs typeface="Times New Roman" pitchFamily="18" charset="0"/>
              </a:rPr>
              <a:t>Мослаштириш ва бриктириш алгоритмлари</a:t>
            </a:r>
            <a:r>
              <a:rPr lang="uz-Cyrl-UZ" sz="1600" dirty="0" smtClean="0">
                <a:latin typeface="Times New Roman" pitchFamily="18" charset="0"/>
                <a:cs typeface="Times New Roman" pitchFamily="18" charset="0"/>
              </a:rPr>
              <a:t>.</a:t>
            </a:r>
          </a:p>
          <a:p>
            <a:pPr lvl="0" algn="ctr"/>
            <a:endParaRPr lang="uz-Cyrl-UZ" sz="1600" dirty="0">
              <a:latin typeface="Times New Roman" pitchFamily="18" charset="0"/>
              <a:cs typeface="Times New Roman" pitchFamily="18" charset="0"/>
            </a:endParaRPr>
          </a:p>
          <a:p>
            <a:pPr lvl="0" algn="ctr"/>
            <a:endParaRPr lang="ru-RU" sz="1600" dirty="0">
              <a:latin typeface="Times New Roman" pitchFamily="18" charset="0"/>
              <a:cs typeface="Times New Roman" pitchFamily="18" charset="0"/>
            </a:endParaRPr>
          </a:p>
        </p:txBody>
      </p:sp>
      <p:sp>
        <p:nvSpPr>
          <p:cNvPr id="29" name="Прямоугольник 28"/>
          <p:cNvSpPr/>
          <p:nvPr/>
        </p:nvSpPr>
        <p:spPr>
          <a:xfrm>
            <a:off x="6660232" y="1844824"/>
            <a:ext cx="2160240" cy="1872208"/>
          </a:xfrm>
          <a:prstGeom prst="rect">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uz-Cyrl-UZ" sz="1600" dirty="0">
                <a:latin typeface="Times New Roman" pitchFamily="18" charset="0"/>
                <a:cs typeface="Times New Roman" pitchFamily="18" charset="0"/>
              </a:rPr>
              <a:t>Чизиқлилаштириш асосидаги </a:t>
            </a:r>
            <a:r>
              <a:rPr lang="uz-Cyrl-UZ" sz="1600" dirty="0" smtClean="0">
                <a:latin typeface="Times New Roman" pitchFamily="18" charset="0"/>
                <a:cs typeface="Times New Roman" pitchFamily="18" charset="0"/>
              </a:rPr>
              <a:t>алгоритмлар</a:t>
            </a:r>
          </a:p>
          <a:p>
            <a:pPr algn="ctr"/>
            <a:endParaRPr lang="uz-Cyrl-UZ" sz="1600" dirty="0">
              <a:latin typeface="Times New Roman" pitchFamily="18" charset="0"/>
              <a:cs typeface="Times New Roman" pitchFamily="18" charset="0"/>
            </a:endParaRPr>
          </a:p>
          <a:p>
            <a:pPr algn="ctr"/>
            <a:endParaRPr lang="ru-RU" sz="1600" dirty="0">
              <a:latin typeface="Times New Roman" pitchFamily="18" charset="0"/>
              <a:cs typeface="Times New Roman" pitchFamily="18" charset="0"/>
            </a:endParaRPr>
          </a:p>
        </p:txBody>
      </p:sp>
      <p:cxnSp>
        <p:nvCxnSpPr>
          <p:cNvPr id="30" name="Прямая соединительная линия 29"/>
          <p:cNvCxnSpPr/>
          <p:nvPr/>
        </p:nvCxnSpPr>
        <p:spPr>
          <a:xfrm>
            <a:off x="4499992" y="1412776"/>
            <a:ext cx="0" cy="144016"/>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31" name="Прямая соединительная линия 30"/>
          <p:cNvCxnSpPr/>
          <p:nvPr/>
        </p:nvCxnSpPr>
        <p:spPr>
          <a:xfrm>
            <a:off x="1331640" y="1565176"/>
            <a:ext cx="6408712" cy="0"/>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32" name="Прямая со стрелкой 31"/>
          <p:cNvCxnSpPr>
            <a:endCxn id="26" idx="0"/>
          </p:cNvCxnSpPr>
          <p:nvPr/>
        </p:nvCxnSpPr>
        <p:spPr>
          <a:xfrm>
            <a:off x="1331640" y="1565176"/>
            <a:ext cx="0" cy="279648"/>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33" name="Прямая со стрелкой 32"/>
          <p:cNvCxnSpPr/>
          <p:nvPr/>
        </p:nvCxnSpPr>
        <p:spPr>
          <a:xfrm>
            <a:off x="3419872" y="1556792"/>
            <a:ext cx="0" cy="288032"/>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34" name="Прямая со стрелкой 33"/>
          <p:cNvCxnSpPr>
            <a:endCxn id="28" idx="0"/>
          </p:cNvCxnSpPr>
          <p:nvPr/>
        </p:nvCxnSpPr>
        <p:spPr>
          <a:xfrm>
            <a:off x="5580112" y="1556792"/>
            <a:ext cx="0" cy="288032"/>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35" name="Прямая со стрелкой 34"/>
          <p:cNvCxnSpPr>
            <a:endCxn id="29" idx="0"/>
          </p:cNvCxnSpPr>
          <p:nvPr/>
        </p:nvCxnSpPr>
        <p:spPr>
          <a:xfrm>
            <a:off x="7740352" y="1556792"/>
            <a:ext cx="0" cy="288032"/>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6" name="Прямоугольная выноска 35"/>
          <p:cNvSpPr/>
          <p:nvPr/>
        </p:nvSpPr>
        <p:spPr>
          <a:xfrm>
            <a:off x="288032" y="3889631"/>
            <a:ext cx="8532440" cy="2412268"/>
          </a:xfrm>
          <a:prstGeom prst="wedgeRectCallout">
            <a:avLst>
              <a:gd name="adj1" fmla="val -43056"/>
              <a:gd name="adj2" fmla="val -56598"/>
            </a:avLst>
          </a:prstGeom>
        </p:spPr>
        <p:style>
          <a:lnRef idx="1">
            <a:schemeClr val="accent4"/>
          </a:lnRef>
          <a:fillRef idx="2">
            <a:schemeClr val="accent4"/>
          </a:fillRef>
          <a:effectRef idx="1">
            <a:schemeClr val="accent4"/>
          </a:effectRef>
          <a:fontRef idx="minor">
            <a:schemeClr val="dk1"/>
          </a:fontRef>
        </p:style>
        <p:txBody>
          <a:bodyPr rtlCol="0" anchor="ctr"/>
          <a:lstStyle/>
          <a:p>
            <a:pPr indent="444500" algn="just"/>
            <a:r>
              <a:rPr lang="uz-Cyrl-UZ" sz="1600" dirty="0">
                <a:latin typeface="Times New Roman" pitchFamily="18" charset="0"/>
                <a:cs typeface="Times New Roman" pitchFamily="18" charset="0"/>
              </a:rPr>
              <a:t>Тенгламалар системасини ечишнинг классик йўналиши бўлиб, тенгламалар системасини “Минимал соддалашган Грёбнер идеал базиси” орқали ифодалашга қаратилган. Қурилган базис системага кирувчи сўнги тенглама фақатгина битта номаълумга боғлиқ бўлади. Системани ечиш, дастлаб бир номаълумли тенгламани ечиш ҳамда унинг топилган ечимини Грёбнер базисини ташкил этувчи қолган тенгламаларга қўйиш ва шу тариқа барча ноъмалумларни аниқлаш орқали амалга оширилади. </a:t>
            </a:r>
          </a:p>
          <a:p>
            <a:pPr indent="444500" algn="just"/>
            <a:r>
              <a:rPr lang="uz-Cyrl-UZ" sz="1600" dirty="0">
                <a:latin typeface="Times New Roman" pitchFamily="18" charset="0"/>
                <a:cs typeface="Times New Roman" pitchFamily="18" charset="0"/>
              </a:rPr>
              <a:t>Ушбу йўналишдаги усулларга наъмуна: </a:t>
            </a:r>
            <a:r>
              <a:rPr lang="uz-Cyrl-UZ" sz="1600" b="1" dirty="0">
                <a:latin typeface="Times New Roman" pitchFamily="18" charset="0"/>
                <a:cs typeface="Times New Roman" pitchFamily="18" charset="0"/>
              </a:rPr>
              <a:t>Бухбергер, F4, F5,F5C,  G2V, GVW</a:t>
            </a:r>
            <a:endParaRPr lang="ru-RU" sz="1600" dirty="0">
              <a:latin typeface="Times New Roman" pitchFamily="18" charset="0"/>
              <a:cs typeface="Times New Roman" pitchFamily="18" charset="0"/>
            </a:endParaRPr>
          </a:p>
        </p:txBody>
      </p:sp>
      <p:sp>
        <p:nvSpPr>
          <p:cNvPr id="37" name="Прямоугольная выноска 36"/>
          <p:cNvSpPr/>
          <p:nvPr/>
        </p:nvSpPr>
        <p:spPr>
          <a:xfrm>
            <a:off x="331912" y="3930000"/>
            <a:ext cx="8568952" cy="2451328"/>
          </a:xfrm>
          <a:prstGeom prst="wedgeRectCallout">
            <a:avLst>
              <a:gd name="adj1" fmla="val -13434"/>
              <a:gd name="adj2" fmla="val -59526"/>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uz-Cyrl-UZ" sz="1600" dirty="0">
                <a:latin typeface="Times New Roman" pitchFamily="18" charset="0"/>
                <a:cs typeface="Times New Roman" pitchFamily="18" charset="0"/>
              </a:rPr>
              <a:t> Тенгламалар системасини ечишнинг ушбу усулида “КНФ нинг бажарилиш масаласи”ни (SATisfiability problem) ечишга қаратилган алгоритмлардан фойдаланади. Маълумки, тенгламалар системасининг ечиш масаласини КНФ нинг бажарилиш масаласига келтириш мумкин. Яъни, номаълумларнинг қандай қийматларида система тенгламаларини ифодаловчи барча буль функцияларнинг конюктив нормал формаси бир вақтда рост қийматни беради? Кўплаб адабиётларда ушбу масалани ечишга қаратилган алгоритмлар (дастурлар) “SAT-solvers”, “SAT Competition”, “SAT Race” деб ҳам юритилади ва мазкур турдаги алгоритмлар бугунги кунда ҳам фаол ривожланиб келмоқда.</a:t>
            </a:r>
            <a:endParaRPr lang="ru-RU" sz="1600" dirty="0">
              <a:latin typeface="Times New Roman" pitchFamily="18" charset="0"/>
              <a:cs typeface="Times New Roman" pitchFamily="18" charset="0"/>
            </a:endParaRPr>
          </a:p>
        </p:txBody>
      </p:sp>
      <p:sp>
        <p:nvSpPr>
          <p:cNvPr id="38" name="Прямоугольная выноска 37"/>
          <p:cNvSpPr/>
          <p:nvPr/>
        </p:nvSpPr>
        <p:spPr>
          <a:xfrm>
            <a:off x="298376" y="4149080"/>
            <a:ext cx="8475240" cy="1692188"/>
          </a:xfrm>
          <a:prstGeom prst="wedgeRectCallout">
            <a:avLst>
              <a:gd name="adj1" fmla="val 11791"/>
              <a:gd name="adj2" fmla="val -76322"/>
            </a:avLst>
          </a:prstGeom>
        </p:spPr>
        <p:style>
          <a:lnRef idx="1">
            <a:schemeClr val="accent2"/>
          </a:lnRef>
          <a:fillRef idx="2">
            <a:schemeClr val="accent2"/>
          </a:fillRef>
          <a:effectRef idx="1">
            <a:schemeClr val="accent2"/>
          </a:effectRef>
          <a:fontRef idx="minor">
            <a:schemeClr val="dk1"/>
          </a:fontRef>
        </p:style>
        <p:txBody>
          <a:bodyPr rtlCol="0" anchor="ctr"/>
          <a:lstStyle/>
          <a:p>
            <a:pPr indent="444500" algn="just"/>
            <a:r>
              <a:rPr lang="uz-Cyrl-UZ" sz="1600" dirty="0">
                <a:latin typeface="Times New Roman" pitchFamily="18" charset="0"/>
                <a:cs typeface="Times New Roman" pitchFamily="18" charset="0"/>
              </a:rPr>
              <a:t>Системани ечиш жараёнида дастлаб тенгламалар системасининг ҳар бир ташкил этувчи тенгламалари комплекс (яъни, тенгламани ифодаловчи маълумотлар жамланмаси)лар тўплами орқали ифодаланади, сўнг ушбу комлекслар устида тегишли амаллар бажариб ноъмалумлар қиймати аниқланади.</a:t>
            </a:r>
            <a:endParaRPr lang="ru-RU" sz="1600" dirty="0">
              <a:latin typeface="Times New Roman" pitchFamily="18" charset="0"/>
              <a:cs typeface="Times New Roman" pitchFamily="18" charset="0"/>
            </a:endParaRPr>
          </a:p>
        </p:txBody>
      </p:sp>
      <p:sp>
        <p:nvSpPr>
          <p:cNvPr id="39" name="Прямоугольная выноска 38"/>
          <p:cNvSpPr/>
          <p:nvPr/>
        </p:nvSpPr>
        <p:spPr>
          <a:xfrm>
            <a:off x="305037" y="3861048"/>
            <a:ext cx="8532947" cy="2448272"/>
          </a:xfrm>
          <a:prstGeom prst="wedgeRectCallout">
            <a:avLst>
              <a:gd name="adj1" fmla="val 40935"/>
              <a:gd name="adj2" fmla="val -55314"/>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just"/>
            <a:r>
              <a:rPr lang="uz-Cyrl-UZ" sz="1600" dirty="0">
                <a:latin typeface="Times New Roman" pitchFamily="18" charset="0"/>
                <a:cs typeface="Times New Roman" pitchFamily="18" charset="0"/>
              </a:rPr>
              <a:t> Тенгламалар системасини ечишнинг тарихий ва кенг тарқалган усули ҳисобланади. Чизиқлилаштириш (L, </a:t>
            </a:r>
            <a:r>
              <a:rPr lang="uz-Cyrl-UZ" sz="1600" b="1" dirty="0">
                <a:latin typeface="Times New Roman" pitchFamily="18" charset="0"/>
                <a:cs typeface="Times New Roman" pitchFamily="18" charset="0"/>
              </a:rPr>
              <a:t>L</a:t>
            </a:r>
            <a:r>
              <a:rPr lang="uz-Cyrl-UZ" sz="1600" dirty="0">
                <a:latin typeface="Times New Roman" pitchFamily="18" charset="0"/>
                <a:cs typeface="Times New Roman" pitchFamily="18" charset="0"/>
              </a:rPr>
              <a:t>inearization) усулининг мохияти тенгламалар системаси таркибидаги барча чизиқсиз ўзгарувчиларни (ҳадларни) янги чизиқли ўзгарувчи билан алмаштириш ва шу тариқа ҳосил қилинган чизиқли тенгламалар системасини ечишдан иборат. Бугунги кунга келиб, тенгламалар системасини ечишнинг чизиқлилаштириш асосидаги бир нечта замонавий усуллари ишлаб чиқилган ва бугунги кунда ҳам мазкур йўналишдаги тадқиқот ишлари давом этмоқда. Чизиқлилаштиришга асосланган замонавий усуллардан бири сифатида XL (e</a:t>
            </a:r>
            <a:r>
              <a:rPr lang="uz-Cyrl-UZ" sz="1600" b="1" dirty="0">
                <a:latin typeface="Times New Roman" pitchFamily="18" charset="0"/>
                <a:cs typeface="Times New Roman" pitchFamily="18" charset="0"/>
              </a:rPr>
              <a:t>X</a:t>
            </a:r>
            <a:r>
              <a:rPr lang="uz-Cyrl-UZ" sz="1600" dirty="0">
                <a:latin typeface="Times New Roman" pitchFamily="18" charset="0"/>
                <a:cs typeface="Times New Roman" pitchFamily="18" charset="0"/>
              </a:rPr>
              <a:t>tended </a:t>
            </a:r>
            <a:r>
              <a:rPr lang="uz-Cyrl-UZ" sz="1600" b="1" dirty="0">
                <a:latin typeface="Times New Roman" pitchFamily="18" charset="0"/>
                <a:cs typeface="Times New Roman" pitchFamily="18" charset="0"/>
              </a:rPr>
              <a:t>L</a:t>
            </a:r>
            <a:r>
              <a:rPr lang="uz-Cyrl-UZ" sz="1600" dirty="0">
                <a:latin typeface="Times New Roman" pitchFamily="18" charset="0"/>
                <a:cs typeface="Times New Roman" pitchFamily="18" charset="0"/>
              </a:rPr>
              <a:t>inearization – кенгайтириб-чизиқлилаштириш) усулини келтирш мумкин. </a:t>
            </a:r>
            <a:r>
              <a:rPr lang="uz-Cyrl-UZ" sz="1600" b="1" dirty="0">
                <a:latin typeface="Times New Roman" pitchFamily="18" charset="0"/>
                <a:cs typeface="Times New Roman" pitchFamily="18" charset="0"/>
              </a:rPr>
              <a:t>XL, XL', XL2, XLF, XSL, FXL, XFL, WXL, HXL, ElimLim, MutantXL </a:t>
            </a:r>
            <a:r>
              <a:rPr lang="uz-Cyrl-UZ" sz="1600" dirty="0">
                <a:latin typeface="Times New Roman" pitchFamily="18" charset="0"/>
                <a:cs typeface="Times New Roman" pitchFamily="18" charset="0"/>
              </a:rPr>
              <a:t>ва</a:t>
            </a:r>
            <a:r>
              <a:rPr lang="uz-Cyrl-UZ" sz="1600" b="1" dirty="0">
                <a:latin typeface="Times New Roman" pitchFamily="18" charset="0"/>
                <a:cs typeface="Times New Roman" pitchFamily="18" charset="0"/>
              </a:rPr>
              <a:t> MXL2.</a:t>
            </a:r>
            <a:endParaRPr lang="ru-RU" sz="1600" b="1" dirty="0">
              <a:latin typeface="Times New Roman" pitchFamily="18" charset="0"/>
              <a:cs typeface="Times New Roman" pitchFamily="18" charset="0"/>
            </a:endParaRPr>
          </a:p>
        </p:txBody>
      </p:sp>
      <p:sp>
        <p:nvSpPr>
          <p:cNvPr id="40" name="Rectangle 8"/>
          <p:cNvSpPr>
            <a:spLocks noChangeArrowheads="1"/>
          </p:cNvSpPr>
          <p:nvPr/>
        </p:nvSpPr>
        <p:spPr bwMode="auto">
          <a:xfrm>
            <a:off x="0" y="8620"/>
            <a:ext cx="8892000" cy="584775"/>
          </a:xfrm>
          <a:prstGeom prst="rect">
            <a:avLst/>
          </a:prstGeom>
          <a:solidFill>
            <a:schemeClr val="accent6">
              <a:lumMod val="40000"/>
              <a:lumOff val="60000"/>
              <a:alpha val="95000"/>
            </a:schemeClr>
          </a:solidFill>
          <a:ln>
            <a:noFill/>
          </a:ln>
          <a:effectLst/>
          <a:extLst/>
        </p:spPr>
        <p:txBody>
          <a:bodyPr wrap="square" anchor="ctr">
            <a:spAutoFit/>
          </a:bodyPr>
          <a:lstStyle/>
          <a:p>
            <a:pPr>
              <a:defRPr/>
            </a:pPr>
            <a:r>
              <a:rPr lang="ru-RU" sz="3200" b="1" dirty="0" err="1" smtClean="0">
                <a:solidFill>
                  <a:srgbClr val="000000"/>
                </a:solidFill>
                <a:effectLst>
                  <a:outerShdw blurRad="38100" dist="38100" dir="2700000" algn="tl">
                    <a:srgbClr val="FFFFFF"/>
                  </a:outerShdw>
                </a:effectLst>
                <a:latin typeface="Times New Roman" pitchFamily="18" charset="0"/>
              </a:rPr>
              <a:t>Чекли</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майдонда</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аниқланган</a:t>
            </a:r>
            <a:r>
              <a:rPr lang="ru-RU" sz="3200" b="1" dirty="0" smtClean="0">
                <a:solidFill>
                  <a:srgbClr val="000000"/>
                </a:solidFill>
                <a:effectLst>
                  <a:outerShdw blurRad="38100" dist="38100" dir="2700000" algn="tl">
                    <a:srgbClr val="FFFFFF"/>
                  </a:outerShdw>
                </a:effectLst>
                <a:latin typeface="Times New Roman" pitchFamily="18" charset="0"/>
              </a:rPr>
              <a:t> АТС </a:t>
            </a:r>
            <a:r>
              <a:rPr lang="ru-RU" sz="3200" b="1" dirty="0" err="1" smtClean="0">
                <a:solidFill>
                  <a:srgbClr val="0070C0"/>
                </a:solidFill>
                <a:effectLst>
                  <a:outerShdw blurRad="38100" dist="38100" dir="2700000" algn="tl">
                    <a:srgbClr val="FFFFFF"/>
                  </a:outerShdw>
                </a:effectLst>
                <a:latin typeface="Times New Roman" pitchFamily="18" charset="0"/>
              </a:rPr>
              <a:t>ечиш</a:t>
            </a:r>
            <a:endParaRPr kumimoji="1" lang="ru-RU" sz="3200" b="1" dirty="0">
              <a:solidFill>
                <a:srgbClr val="0070C0"/>
              </a:solidFill>
              <a:effectLst>
                <a:outerShdw blurRad="38100" dist="38100" dir="2700000" algn="tl">
                  <a:srgbClr val="FFFFFF"/>
                </a:outerShdw>
              </a:effectLst>
              <a:latin typeface="Times New Roman" pitchFamily="18" charset="0"/>
            </a:endParaRPr>
          </a:p>
        </p:txBody>
      </p:sp>
    </p:spTree>
    <p:extLst>
      <p:ext uri="{BB962C8B-B14F-4D97-AF65-F5344CB8AC3E}">
        <p14:creationId xmlns:p14="http://schemas.microsoft.com/office/powerpoint/2010/main" val="2925843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edge">
                                      <p:cBhvr>
                                        <p:cTn id="7" dur="1500"/>
                                        <p:tgtEl>
                                          <p:spTgt spid="25"/>
                                        </p:tgtEl>
                                      </p:cBhvr>
                                    </p:animEffect>
                                  </p:childTnLst>
                                </p:cTn>
                              </p:par>
                            </p:childTnLst>
                          </p:cTn>
                        </p:par>
                        <p:par>
                          <p:cTn id="8" fill="hold">
                            <p:stCondLst>
                              <p:cond delay="1500"/>
                            </p:stCondLst>
                            <p:childTnLst>
                              <p:par>
                                <p:cTn id="9" presetID="1" presetClass="entr" presetSubtype="0" fill="hold" nodeType="afterEffect">
                                  <p:stCondLst>
                                    <p:cond delay="0"/>
                                  </p:stCondLst>
                                  <p:childTnLst>
                                    <p:set>
                                      <p:cBhvr>
                                        <p:cTn id="10" dur="1" fill="hold">
                                          <p:stCondLst>
                                            <p:cond delay="9"/>
                                          </p:stCondLst>
                                        </p:cTn>
                                        <p:tgtEl>
                                          <p:spTgt spid="30"/>
                                        </p:tgtEl>
                                        <p:attrNameLst>
                                          <p:attrName>style.visibility</p:attrName>
                                        </p:attrNameLst>
                                      </p:cBhvr>
                                      <p:to>
                                        <p:strVal val="visible"/>
                                      </p:to>
                                    </p:set>
                                  </p:childTnLst>
                                </p:cTn>
                              </p:par>
                            </p:childTnLst>
                          </p:cTn>
                        </p:par>
                        <p:par>
                          <p:cTn id="11" fill="hold">
                            <p:stCondLst>
                              <p:cond delay="1510"/>
                            </p:stCondLst>
                            <p:childTnLst>
                              <p:par>
                                <p:cTn id="12" presetID="53" presetClass="entr" presetSubtype="16" fill="hold" nodeType="afterEffect">
                                  <p:stCondLst>
                                    <p:cond delay="0"/>
                                  </p:stCondLst>
                                  <p:childTnLst>
                                    <p:set>
                                      <p:cBhvr>
                                        <p:cTn id="13" dur="1" fill="hold">
                                          <p:stCondLst>
                                            <p:cond delay="0"/>
                                          </p:stCondLst>
                                        </p:cTn>
                                        <p:tgtEl>
                                          <p:spTgt spid="31"/>
                                        </p:tgtEl>
                                        <p:attrNameLst>
                                          <p:attrName>style.visibility</p:attrName>
                                        </p:attrNameLst>
                                      </p:cBhvr>
                                      <p:to>
                                        <p:strVal val="visible"/>
                                      </p:to>
                                    </p:set>
                                    <p:anim calcmode="lin" valueType="num">
                                      <p:cBhvr>
                                        <p:cTn id="14" dur="500" fill="hold"/>
                                        <p:tgtEl>
                                          <p:spTgt spid="31"/>
                                        </p:tgtEl>
                                        <p:attrNameLst>
                                          <p:attrName>ppt_w</p:attrName>
                                        </p:attrNameLst>
                                      </p:cBhvr>
                                      <p:tavLst>
                                        <p:tav tm="0">
                                          <p:val>
                                            <p:fltVal val="0"/>
                                          </p:val>
                                        </p:tav>
                                        <p:tav tm="100000">
                                          <p:val>
                                            <p:strVal val="#ppt_w"/>
                                          </p:val>
                                        </p:tav>
                                      </p:tavLst>
                                    </p:anim>
                                    <p:anim calcmode="lin" valueType="num">
                                      <p:cBhvr>
                                        <p:cTn id="15" dur="500" fill="hold"/>
                                        <p:tgtEl>
                                          <p:spTgt spid="31"/>
                                        </p:tgtEl>
                                        <p:attrNameLst>
                                          <p:attrName>ppt_h</p:attrName>
                                        </p:attrNameLst>
                                      </p:cBhvr>
                                      <p:tavLst>
                                        <p:tav tm="0">
                                          <p:val>
                                            <p:fltVal val="0"/>
                                          </p:val>
                                        </p:tav>
                                        <p:tav tm="100000">
                                          <p:val>
                                            <p:strVal val="#ppt_h"/>
                                          </p:val>
                                        </p:tav>
                                      </p:tavLst>
                                    </p:anim>
                                    <p:animEffect transition="in" filter="fade">
                                      <p:cBhvr>
                                        <p:cTn id="16" dur="500"/>
                                        <p:tgtEl>
                                          <p:spTgt spid="31"/>
                                        </p:tgtEl>
                                      </p:cBhvr>
                                    </p:animEffect>
                                  </p:childTnLst>
                                </p:cTn>
                              </p:par>
                            </p:childTnLst>
                          </p:cTn>
                        </p:par>
                        <p:par>
                          <p:cTn id="17" fill="hold">
                            <p:stCondLst>
                              <p:cond delay="2010"/>
                            </p:stCondLst>
                            <p:childTnLst>
                              <p:par>
                                <p:cTn id="18" presetID="16" presetClass="entr" presetSubtype="21" fill="hold" nodeType="after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barn(inVertical)">
                                      <p:cBhvr>
                                        <p:cTn id="20" dur="500"/>
                                        <p:tgtEl>
                                          <p:spTgt spid="32"/>
                                        </p:tgtEl>
                                      </p:cBhvr>
                                    </p:animEffect>
                                  </p:childTnLst>
                                </p:cTn>
                              </p:par>
                            </p:childTnLst>
                          </p:cTn>
                        </p:par>
                        <p:par>
                          <p:cTn id="21" fill="hold">
                            <p:stCondLst>
                              <p:cond delay="2510"/>
                            </p:stCondLst>
                            <p:childTnLst>
                              <p:par>
                                <p:cTn id="22" presetID="16" presetClass="entr" presetSubtype="21" fill="hold" grpId="0" nodeType="after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barn(inVertical)">
                                      <p:cBhvr>
                                        <p:cTn id="24" dur="500"/>
                                        <p:tgtEl>
                                          <p:spTgt spid="26"/>
                                        </p:tgtEl>
                                      </p:cBhvr>
                                    </p:animEffect>
                                  </p:childTnLst>
                                </p:cTn>
                              </p:par>
                            </p:childTnLst>
                          </p:cTn>
                        </p:par>
                        <p:par>
                          <p:cTn id="25" fill="hold">
                            <p:stCondLst>
                              <p:cond delay="3010"/>
                            </p:stCondLst>
                            <p:childTnLst>
                              <p:par>
                                <p:cTn id="26" presetID="16" presetClass="entr" presetSubtype="21" fill="hold" nodeType="after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barn(inVertical)">
                                      <p:cBhvr>
                                        <p:cTn id="28" dur="500"/>
                                        <p:tgtEl>
                                          <p:spTgt spid="33"/>
                                        </p:tgtEl>
                                      </p:cBhvr>
                                    </p:animEffect>
                                  </p:childTnLst>
                                </p:cTn>
                              </p:par>
                            </p:childTnLst>
                          </p:cTn>
                        </p:par>
                        <p:par>
                          <p:cTn id="29" fill="hold">
                            <p:stCondLst>
                              <p:cond delay="3510"/>
                            </p:stCondLst>
                            <p:childTnLst>
                              <p:par>
                                <p:cTn id="30" presetID="16" presetClass="entr" presetSubtype="21"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barn(inVertical)">
                                      <p:cBhvr>
                                        <p:cTn id="32" dur="500"/>
                                        <p:tgtEl>
                                          <p:spTgt spid="27"/>
                                        </p:tgtEl>
                                      </p:cBhvr>
                                    </p:animEffect>
                                  </p:childTnLst>
                                </p:cTn>
                              </p:par>
                            </p:childTnLst>
                          </p:cTn>
                        </p:par>
                        <p:par>
                          <p:cTn id="33" fill="hold">
                            <p:stCondLst>
                              <p:cond delay="4010"/>
                            </p:stCondLst>
                            <p:childTnLst>
                              <p:par>
                                <p:cTn id="34" presetID="16" presetClass="entr" presetSubtype="21" fill="hold" nodeType="after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barn(inVertical)">
                                      <p:cBhvr>
                                        <p:cTn id="36" dur="500"/>
                                        <p:tgtEl>
                                          <p:spTgt spid="34"/>
                                        </p:tgtEl>
                                      </p:cBhvr>
                                    </p:animEffect>
                                  </p:childTnLst>
                                </p:cTn>
                              </p:par>
                            </p:childTnLst>
                          </p:cTn>
                        </p:par>
                        <p:par>
                          <p:cTn id="37" fill="hold">
                            <p:stCondLst>
                              <p:cond delay="4510"/>
                            </p:stCondLst>
                            <p:childTnLst>
                              <p:par>
                                <p:cTn id="38" presetID="16" presetClass="entr" presetSubtype="21" fill="hold" grpId="0" nodeType="after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barn(inVertical)">
                                      <p:cBhvr>
                                        <p:cTn id="40" dur="500"/>
                                        <p:tgtEl>
                                          <p:spTgt spid="28"/>
                                        </p:tgtEl>
                                      </p:cBhvr>
                                    </p:animEffect>
                                  </p:childTnLst>
                                </p:cTn>
                              </p:par>
                            </p:childTnLst>
                          </p:cTn>
                        </p:par>
                        <p:par>
                          <p:cTn id="41" fill="hold">
                            <p:stCondLst>
                              <p:cond delay="5010"/>
                            </p:stCondLst>
                            <p:childTnLst>
                              <p:par>
                                <p:cTn id="42" presetID="16" presetClass="entr" presetSubtype="21" fill="hold" nodeType="after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barn(inVertical)">
                                      <p:cBhvr>
                                        <p:cTn id="44" dur="500"/>
                                        <p:tgtEl>
                                          <p:spTgt spid="35"/>
                                        </p:tgtEl>
                                      </p:cBhvr>
                                    </p:animEffect>
                                  </p:childTnLst>
                                </p:cTn>
                              </p:par>
                            </p:childTnLst>
                          </p:cTn>
                        </p:par>
                        <p:par>
                          <p:cTn id="45" fill="hold">
                            <p:stCondLst>
                              <p:cond delay="5510"/>
                            </p:stCondLst>
                            <p:childTnLst>
                              <p:par>
                                <p:cTn id="46" presetID="16" presetClass="entr" presetSubtype="21" fill="hold" grpId="0" nodeType="afterEffect">
                                  <p:stCondLst>
                                    <p:cond delay="0"/>
                                  </p:stCondLst>
                                  <p:iterate type="lt">
                                    <p:tmPct val="0"/>
                                  </p:iterate>
                                  <p:childTnLst>
                                    <p:set>
                                      <p:cBhvr>
                                        <p:cTn id="47" dur="1" fill="hold">
                                          <p:stCondLst>
                                            <p:cond delay="0"/>
                                          </p:stCondLst>
                                        </p:cTn>
                                        <p:tgtEl>
                                          <p:spTgt spid="29"/>
                                        </p:tgtEl>
                                        <p:attrNameLst>
                                          <p:attrName>style.visibility</p:attrName>
                                        </p:attrNameLst>
                                      </p:cBhvr>
                                      <p:to>
                                        <p:strVal val="visible"/>
                                      </p:to>
                                    </p:set>
                                    <p:animEffect transition="in" filter="barn(inVertical)">
                                      <p:cBhvr>
                                        <p:cTn id="48" dur="500"/>
                                        <p:tgtEl>
                                          <p:spTgt spid="29"/>
                                        </p:tgtEl>
                                      </p:cBhvr>
                                    </p:animEffect>
                                  </p:childTnLst>
                                </p:cTn>
                              </p:par>
                            </p:childTnLst>
                          </p:cTn>
                        </p:par>
                      </p:childTnLst>
                    </p:cTn>
                  </p:par>
                  <p:par>
                    <p:cTn id="49" fill="hold">
                      <p:stCondLst>
                        <p:cond delay="indefinite"/>
                      </p:stCondLst>
                      <p:childTnLst>
                        <p:par>
                          <p:cTn id="50" fill="hold">
                            <p:stCondLst>
                              <p:cond delay="0"/>
                            </p:stCondLst>
                            <p:childTnLst>
                              <p:par>
                                <p:cTn id="51" presetID="37" presetClass="entr" presetSubtype="0"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1000"/>
                                        <p:tgtEl>
                                          <p:spTgt spid="36"/>
                                        </p:tgtEl>
                                      </p:cBhvr>
                                    </p:animEffect>
                                    <p:anim calcmode="lin" valueType="num">
                                      <p:cBhvr>
                                        <p:cTn id="54" dur="1000" fill="hold"/>
                                        <p:tgtEl>
                                          <p:spTgt spid="36"/>
                                        </p:tgtEl>
                                        <p:attrNameLst>
                                          <p:attrName>ppt_x</p:attrName>
                                        </p:attrNameLst>
                                      </p:cBhvr>
                                      <p:tavLst>
                                        <p:tav tm="0">
                                          <p:val>
                                            <p:strVal val="#ppt_x"/>
                                          </p:val>
                                        </p:tav>
                                        <p:tav tm="100000">
                                          <p:val>
                                            <p:strVal val="#ppt_x"/>
                                          </p:val>
                                        </p:tav>
                                      </p:tavLst>
                                    </p:anim>
                                    <p:anim calcmode="lin" valueType="num">
                                      <p:cBhvr>
                                        <p:cTn id="55" dur="900" decel="100000" fill="hold"/>
                                        <p:tgtEl>
                                          <p:spTgt spid="36"/>
                                        </p:tgtEl>
                                        <p:attrNameLst>
                                          <p:attrName>ppt_y</p:attrName>
                                        </p:attrNameLst>
                                      </p:cBhvr>
                                      <p:tavLst>
                                        <p:tav tm="0">
                                          <p:val>
                                            <p:strVal val="#ppt_y+1"/>
                                          </p:val>
                                        </p:tav>
                                        <p:tav tm="100000">
                                          <p:val>
                                            <p:strVal val="#ppt_y-.03"/>
                                          </p:val>
                                        </p:tav>
                                      </p:tavLst>
                                    </p:anim>
                                    <p:anim calcmode="lin" valueType="num">
                                      <p:cBhvr>
                                        <p:cTn id="56" dur="100" accel="100000" fill="hold">
                                          <p:stCondLst>
                                            <p:cond delay="900"/>
                                          </p:stCondLst>
                                        </p:cTn>
                                        <p:tgtEl>
                                          <p:spTgt spid="36"/>
                                        </p:tgtEl>
                                        <p:attrNameLst>
                                          <p:attrName>ppt_y</p:attrName>
                                        </p:attrNameLst>
                                      </p:cBhvr>
                                      <p:tavLst>
                                        <p:tav tm="0">
                                          <p:val>
                                            <p:strVal val="#ppt_y-.03"/>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2" presetClass="exit" presetSubtype="4" fill="hold" grpId="1" nodeType="clickEffect">
                                  <p:stCondLst>
                                    <p:cond delay="0"/>
                                  </p:stCondLst>
                                  <p:childTnLst>
                                    <p:anim calcmode="lin" valueType="num">
                                      <p:cBhvr additive="base">
                                        <p:cTn id="60" dur="500"/>
                                        <p:tgtEl>
                                          <p:spTgt spid="36"/>
                                        </p:tgtEl>
                                        <p:attrNameLst>
                                          <p:attrName>ppt_y</p:attrName>
                                        </p:attrNameLst>
                                      </p:cBhvr>
                                      <p:tavLst>
                                        <p:tav tm="0">
                                          <p:val>
                                            <p:strVal val="#ppt_y"/>
                                          </p:val>
                                        </p:tav>
                                        <p:tav tm="100000">
                                          <p:val>
                                            <p:strVal val="#ppt_y+#ppt_h*1.125000"/>
                                          </p:val>
                                        </p:tav>
                                      </p:tavLst>
                                    </p:anim>
                                    <p:animEffect transition="out" filter="wipe(down)">
                                      <p:cBhvr>
                                        <p:cTn id="61" dur="500"/>
                                        <p:tgtEl>
                                          <p:spTgt spid="36"/>
                                        </p:tgtEl>
                                      </p:cBhvr>
                                    </p:animEffect>
                                    <p:set>
                                      <p:cBhvr>
                                        <p:cTn id="62" dur="1" fill="hold">
                                          <p:stCondLst>
                                            <p:cond delay="499"/>
                                          </p:stCondLst>
                                        </p:cTn>
                                        <p:tgtEl>
                                          <p:spTgt spid="36"/>
                                        </p:tgtEl>
                                        <p:attrNameLst>
                                          <p:attrName>style.visibility</p:attrName>
                                        </p:attrNameLst>
                                      </p:cBhvr>
                                      <p:to>
                                        <p:strVal val="hidden"/>
                                      </p:to>
                                    </p:set>
                                  </p:childTnLst>
                                </p:cTn>
                              </p:par>
                            </p:childTnLst>
                          </p:cTn>
                        </p:par>
                        <p:par>
                          <p:cTn id="63" fill="hold">
                            <p:stCondLst>
                              <p:cond delay="500"/>
                            </p:stCondLst>
                            <p:childTnLst>
                              <p:par>
                                <p:cTn id="64" presetID="42" presetClass="entr" presetSubtype="0" fill="hold" grpId="0" nodeType="after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fade">
                                      <p:cBhvr>
                                        <p:cTn id="66" dur="1000"/>
                                        <p:tgtEl>
                                          <p:spTgt spid="37"/>
                                        </p:tgtEl>
                                      </p:cBhvr>
                                    </p:animEffect>
                                    <p:anim calcmode="lin" valueType="num">
                                      <p:cBhvr>
                                        <p:cTn id="67" dur="1000" fill="hold"/>
                                        <p:tgtEl>
                                          <p:spTgt spid="37"/>
                                        </p:tgtEl>
                                        <p:attrNameLst>
                                          <p:attrName>ppt_x</p:attrName>
                                        </p:attrNameLst>
                                      </p:cBhvr>
                                      <p:tavLst>
                                        <p:tav tm="0">
                                          <p:val>
                                            <p:strVal val="#ppt_x"/>
                                          </p:val>
                                        </p:tav>
                                        <p:tav tm="100000">
                                          <p:val>
                                            <p:strVal val="#ppt_x"/>
                                          </p:val>
                                        </p:tav>
                                      </p:tavLst>
                                    </p:anim>
                                    <p:anim calcmode="lin" valueType="num">
                                      <p:cBhvr>
                                        <p:cTn id="68"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xit" presetSubtype="4" fill="hold" grpId="1" nodeType="clickEffect">
                                  <p:stCondLst>
                                    <p:cond delay="0"/>
                                  </p:stCondLst>
                                  <p:childTnLst>
                                    <p:anim calcmode="lin" valueType="num">
                                      <p:cBhvr additive="base">
                                        <p:cTn id="72" dur="500"/>
                                        <p:tgtEl>
                                          <p:spTgt spid="37"/>
                                        </p:tgtEl>
                                        <p:attrNameLst>
                                          <p:attrName>ppt_x</p:attrName>
                                        </p:attrNameLst>
                                      </p:cBhvr>
                                      <p:tavLst>
                                        <p:tav tm="0">
                                          <p:val>
                                            <p:strVal val="ppt_x"/>
                                          </p:val>
                                        </p:tav>
                                        <p:tav tm="100000">
                                          <p:val>
                                            <p:strVal val="ppt_x"/>
                                          </p:val>
                                        </p:tav>
                                      </p:tavLst>
                                    </p:anim>
                                    <p:anim calcmode="lin" valueType="num">
                                      <p:cBhvr additive="base">
                                        <p:cTn id="73" dur="500"/>
                                        <p:tgtEl>
                                          <p:spTgt spid="37"/>
                                        </p:tgtEl>
                                        <p:attrNameLst>
                                          <p:attrName>ppt_y</p:attrName>
                                        </p:attrNameLst>
                                      </p:cBhvr>
                                      <p:tavLst>
                                        <p:tav tm="0">
                                          <p:val>
                                            <p:strVal val="ppt_y"/>
                                          </p:val>
                                        </p:tav>
                                        <p:tav tm="100000">
                                          <p:val>
                                            <p:strVal val="1+ppt_h/2"/>
                                          </p:val>
                                        </p:tav>
                                      </p:tavLst>
                                    </p:anim>
                                    <p:set>
                                      <p:cBhvr>
                                        <p:cTn id="74" dur="1" fill="hold">
                                          <p:stCondLst>
                                            <p:cond delay="499"/>
                                          </p:stCondLst>
                                        </p:cTn>
                                        <p:tgtEl>
                                          <p:spTgt spid="37"/>
                                        </p:tgtEl>
                                        <p:attrNameLst>
                                          <p:attrName>style.visibility</p:attrName>
                                        </p:attrNameLst>
                                      </p:cBhvr>
                                      <p:to>
                                        <p:strVal val="hidden"/>
                                      </p:to>
                                    </p:set>
                                  </p:childTnLst>
                                </p:cTn>
                              </p:par>
                            </p:childTnLst>
                          </p:cTn>
                        </p:par>
                        <p:par>
                          <p:cTn id="75" fill="hold">
                            <p:stCondLst>
                              <p:cond delay="500"/>
                            </p:stCondLst>
                            <p:childTnLst>
                              <p:par>
                                <p:cTn id="76" presetID="42" presetClass="entr" presetSubtype="0" fill="hold" grpId="0" nodeType="after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fade">
                                      <p:cBhvr>
                                        <p:cTn id="78" dur="1000"/>
                                        <p:tgtEl>
                                          <p:spTgt spid="38"/>
                                        </p:tgtEl>
                                      </p:cBhvr>
                                    </p:animEffect>
                                    <p:anim calcmode="lin" valueType="num">
                                      <p:cBhvr>
                                        <p:cTn id="79" dur="1000" fill="hold"/>
                                        <p:tgtEl>
                                          <p:spTgt spid="38"/>
                                        </p:tgtEl>
                                        <p:attrNameLst>
                                          <p:attrName>ppt_x</p:attrName>
                                        </p:attrNameLst>
                                      </p:cBhvr>
                                      <p:tavLst>
                                        <p:tav tm="0">
                                          <p:val>
                                            <p:strVal val="#ppt_x"/>
                                          </p:val>
                                        </p:tav>
                                        <p:tav tm="100000">
                                          <p:val>
                                            <p:strVal val="#ppt_x"/>
                                          </p:val>
                                        </p:tav>
                                      </p:tavLst>
                                    </p:anim>
                                    <p:anim calcmode="lin" valueType="num">
                                      <p:cBhvr>
                                        <p:cTn id="80"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xit" presetSubtype="4" fill="hold" grpId="1" nodeType="clickEffect">
                                  <p:stCondLst>
                                    <p:cond delay="0"/>
                                  </p:stCondLst>
                                  <p:childTnLst>
                                    <p:anim calcmode="lin" valueType="num">
                                      <p:cBhvr additive="base">
                                        <p:cTn id="84" dur="500"/>
                                        <p:tgtEl>
                                          <p:spTgt spid="38"/>
                                        </p:tgtEl>
                                        <p:attrNameLst>
                                          <p:attrName>ppt_x</p:attrName>
                                        </p:attrNameLst>
                                      </p:cBhvr>
                                      <p:tavLst>
                                        <p:tav tm="0">
                                          <p:val>
                                            <p:strVal val="ppt_x"/>
                                          </p:val>
                                        </p:tav>
                                        <p:tav tm="100000">
                                          <p:val>
                                            <p:strVal val="ppt_x"/>
                                          </p:val>
                                        </p:tav>
                                      </p:tavLst>
                                    </p:anim>
                                    <p:anim calcmode="lin" valueType="num">
                                      <p:cBhvr additive="base">
                                        <p:cTn id="85" dur="500"/>
                                        <p:tgtEl>
                                          <p:spTgt spid="38"/>
                                        </p:tgtEl>
                                        <p:attrNameLst>
                                          <p:attrName>ppt_y</p:attrName>
                                        </p:attrNameLst>
                                      </p:cBhvr>
                                      <p:tavLst>
                                        <p:tav tm="0">
                                          <p:val>
                                            <p:strVal val="ppt_y"/>
                                          </p:val>
                                        </p:tav>
                                        <p:tav tm="100000">
                                          <p:val>
                                            <p:strVal val="1+ppt_h/2"/>
                                          </p:val>
                                        </p:tav>
                                      </p:tavLst>
                                    </p:anim>
                                    <p:set>
                                      <p:cBhvr>
                                        <p:cTn id="86" dur="1" fill="hold">
                                          <p:stCondLst>
                                            <p:cond delay="499"/>
                                          </p:stCondLst>
                                        </p:cTn>
                                        <p:tgtEl>
                                          <p:spTgt spid="38"/>
                                        </p:tgtEl>
                                        <p:attrNameLst>
                                          <p:attrName>style.visibility</p:attrName>
                                        </p:attrNameLst>
                                      </p:cBhvr>
                                      <p:to>
                                        <p:strVal val="hidden"/>
                                      </p:to>
                                    </p:set>
                                  </p:childTnLst>
                                </p:cTn>
                              </p:par>
                            </p:childTnLst>
                          </p:cTn>
                        </p:par>
                        <p:par>
                          <p:cTn id="87" fill="hold">
                            <p:stCondLst>
                              <p:cond delay="500"/>
                            </p:stCondLst>
                            <p:childTnLst>
                              <p:par>
                                <p:cTn id="88" presetID="42" presetClass="entr" presetSubtype="0" fill="hold" grpId="0" nodeType="afterEffect">
                                  <p:stCondLst>
                                    <p:cond delay="0"/>
                                  </p:stCondLst>
                                  <p:childTnLst>
                                    <p:set>
                                      <p:cBhvr>
                                        <p:cTn id="89" dur="1" fill="hold">
                                          <p:stCondLst>
                                            <p:cond delay="0"/>
                                          </p:stCondLst>
                                        </p:cTn>
                                        <p:tgtEl>
                                          <p:spTgt spid="39"/>
                                        </p:tgtEl>
                                        <p:attrNameLst>
                                          <p:attrName>style.visibility</p:attrName>
                                        </p:attrNameLst>
                                      </p:cBhvr>
                                      <p:to>
                                        <p:strVal val="visible"/>
                                      </p:to>
                                    </p:set>
                                    <p:animEffect transition="in" filter="fade">
                                      <p:cBhvr>
                                        <p:cTn id="90" dur="1000"/>
                                        <p:tgtEl>
                                          <p:spTgt spid="39"/>
                                        </p:tgtEl>
                                      </p:cBhvr>
                                    </p:animEffect>
                                    <p:anim calcmode="lin" valueType="num">
                                      <p:cBhvr>
                                        <p:cTn id="91" dur="1000" fill="hold"/>
                                        <p:tgtEl>
                                          <p:spTgt spid="39"/>
                                        </p:tgtEl>
                                        <p:attrNameLst>
                                          <p:attrName>ppt_x</p:attrName>
                                        </p:attrNameLst>
                                      </p:cBhvr>
                                      <p:tavLst>
                                        <p:tav tm="0">
                                          <p:val>
                                            <p:strVal val="#ppt_x"/>
                                          </p:val>
                                        </p:tav>
                                        <p:tav tm="100000">
                                          <p:val>
                                            <p:strVal val="#ppt_x"/>
                                          </p:val>
                                        </p:tav>
                                      </p:tavLst>
                                    </p:anim>
                                    <p:anim calcmode="lin" valueType="num">
                                      <p:cBhvr>
                                        <p:cTn id="92"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xit" presetSubtype="4" fill="hold" grpId="1" nodeType="clickEffect">
                                  <p:stCondLst>
                                    <p:cond delay="0"/>
                                  </p:stCondLst>
                                  <p:childTnLst>
                                    <p:anim calcmode="lin" valueType="num">
                                      <p:cBhvr additive="base">
                                        <p:cTn id="96" dur="500"/>
                                        <p:tgtEl>
                                          <p:spTgt spid="39"/>
                                        </p:tgtEl>
                                        <p:attrNameLst>
                                          <p:attrName>ppt_x</p:attrName>
                                        </p:attrNameLst>
                                      </p:cBhvr>
                                      <p:tavLst>
                                        <p:tav tm="0">
                                          <p:val>
                                            <p:strVal val="ppt_x"/>
                                          </p:val>
                                        </p:tav>
                                        <p:tav tm="100000">
                                          <p:val>
                                            <p:strVal val="ppt_x"/>
                                          </p:val>
                                        </p:tav>
                                      </p:tavLst>
                                    </p:anim>
                                    <p:anim calcmode="lin" valueType="num">
                                      <p:cBhvr additive="base">
                                        <p:cTn id="97" dur="500"/>
                                        <p:tgtEl>
                                          <p:spTgt spid="39"/>
                                        </p:tgtEl>
                                        <p:attrNameLst>
                                          <p:attrName>ppt_y</p:attrName>
                                        </p:attrNameLst>
                                      </p:cBhvr>
                                      <p:tavLst>
                                        <p:tav tm="0">
                                          <p:val>
                                            <p:strVal val="ppt_y"/>
                                          </p:val>
                                        </p:tav>
                                        <p:tav tm="100000">
                                          <p:val>
                                            <p:strVal val="1+ppt_h/2"/>
                                          </p:val>
                                        </p:tav>
                                      </p:tavLst>
                                    </p:anim>
                                    <p:set>
                                      <p:cBhvr>
                                        <p:cTn id="98" dur="1" fill="hold">
                                          <p:stCondLst>
                                            <p:cond delay="499"/>
                                          </p:stCondLst>
                                        </p:cTn>
                                        <p:tgtEl>
                                          <p:spTgt spid="39"/>
                                        </p:tgtEl>
                                        <p:attrNameLst>
                                          <p:attrName>style.visibility</p:attrName>
                                        </p:attrNameLst>
                                      </p:cBhvr>
                                      <p:to>
                                        <p:strVal val="hidden"/>
                                      </p:to>
                                    </p:set>
                                  </p:childTnLst>
                                </p:cTn>
                              </p:par>
                            </p:childTnLst>
                          </p:cTn>
                        </p:par>
                        <p:par>
                          <p:cTn id="99" fill="hold">
                            <p:stCondLst>
                              <p:cond delay="500"/>
                            </p:stCondLst>
                            <p:childTnLst>
                              <p:par>
                                <p:cTn id="100" presetID="15" presetClass="emph" presetSubtype="0" grpId="1" nodeType="afterEffect">
                                  <p:stCondLst>
                                    <p:cond delay="0"/>
                                  </p:stCondLst>
                                  <p:iterate type="lt">
                                    <p:tmAbs val="25"/>
                                  </p:iterate>
                                  <p:childTnLst>
                                    <p:set>
                                      <p:cBhvr override="childStyle">
                                        <p:cTn id="101" dur="indefinite"/>
                                        <p:tgtEl>
                                          <p:spTgt spid="29"/>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29" grpId="1" animBg="1"/>
      <p:bldP spid="36" grpId="0" animBg="1"/>
      <p:bldP spid="36" grpId="1" animBg="1"/>
      <p:bldP spid="37" grpId="0" animBg="1"/>
      <p:bldP spid="37" grpId="1" animBg="1"/>
      <p:bldP spid="38" grpId="0" animBg="1"/>
      <p:bldP spid="38" grpId="1" animBg="1"/>
      <p:bldP spid="39" grpId="0" animBg="1"/>
      <p:bldP spid="39" grpId="1"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18464" y="1196752"/>
            <a:ext cx="8839017" cy="4248472"/>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Autofit/>
          </a:bodyPr>
          <a:lstStyle/>
          <a:p>
            <a:pPr indent="447675" algn="ctr">
              <a:spcAft>
                <a:spcPts val="1200"/>
              </a:spcAft>
            </a:pPr>
            <a:r>
              <a:rPr lang="uz-Cyrl-UZ" sz="4400" b="1" dirty="0">
                <a:solidFill>
                  <a:srgbClr val="C00000"/>
                </a:solidFill>
                <a:latin typeface="Times New Roman" pitchFamily="18" charset="0"/>
                <a:cs typeface="Times New Roman" pitchFamily="18" charset="0"/>
              </a:rPr>
              <a:t>ГОСТ 28147-89 ўқув </a:t>
            </a:r>
            <a:r>
              <a:rPr lang="uz-Cyrl-UZ" sz="4400" b="1" dirty="0">
                <a:latin typeface="Times New Roman" pitchFamily="18" charset="0"/>
                <a:cs typeface="Times New Roman" pitchFamily="18" charset="0"/>
              </a:rPr>
              <a:t>шифрлаш алгоритмига алгебраик криптотаҳлил усулини қўллаш </a:t>
            </a:r>
            <a:endParaRPr lang="ru-RU" sz="4400" b="1" dirty="0">
              <a:latin typeface="Times New Roman" pitchFamily="18" charset="0"/>
              <a:cs typeface="Times New Roman" pitchFamily="18" charset="0"/>
            </a:endParaRPr>
          </a:p>
        </p:txBody>
      </p:sp>
    </p:spTree>
    <p:extLst>
      <p:ext uri="{BB962C8B-B14F-4D97-AF65-F5344CB8AC3E}">
        <p14:creationId xmlns:p14="http://schemas.microsoft.com/office/powerpoint/2010/main" val="30197246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4427984" y="837867"/>
            <a:ext cx="4536000" cy="4571353"/>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Autofit/>
          </a:bodyPr>
          <a:lstStyle/>
          <a:p>
            <a:pPr marL="342900" indent="-342900" algn="just">
              <a:spcAft>
                <a:spcPts val="1200"/>
              </a:spcAft>
              <a:buFont typeface="Wingdings" pitchFamily="2" charset="2"/>
              <a:buChar char="q"/>
            </a:pPr>
            <a:r>
              <a:rPr lang="uz-Cyrl-UZ" sz="2400" dirty="0">
                <a:latin typeface="Times New Roman" pitchFamily="18" charset="0"/>
                <a:cs typeface="Times New Roman" pitchFamily="18" charset="0"/>
              </a:rPr>
              <a:t>ГОСТ 28147-89 ўқув шифрлаш алгоритмнинг шифрлаш блоки ва махфий калит (К=</a:t>
            </a:r>
            <a:r>
              <a:rPr lang="en-US" sz="2400" dirty="0">
                <a:latin typeface="Times New Roman" pitchFamily="18" charset="0"/>
                <a:cs typeface="Times New Roman" pitchFamily="18" charset="0"/>
              </a:rPr>
              <a:t>K1||K2) </a:t>
            </a:r>
            <a:r>
              <a:rPr lang="uz-Cyrl-UZ" sz="2400" dirty="0">
                <a:latin typeface="Times New Roman" pitchFamily="18" charset="0"/>
                <a:cs typeface="Times New Roman" pitchFamily="18" charset="0"/>
              </a:rPr>
              <a:t>узунлиги 12 бит бўлиб, шифрлаш раундлари сони 2 га ва раунд калитининг узунлиги 6 битга </a:t>
            </a:r>
            <a:r>
              <a:rPr lang="uz-Cyrl-UZ" sz="2400" dirty="0" smtClean="0">
                <a:latin typeface="Times New Roman" pitchFamily="18" charset="0"/>
                <a:cs typeface="Times New Roman" pitchFamily="18" charset="0"/>
              </a:rPr>
              <a:t>тенг.</a:t>
            </a:r>
          </a:p>
          <a:p>
            <a:pPr marL="342900" indent="-342900" algn="just">
              <a:spcAft>
                <a:spcPts val="1200"/>
              </a:spcAft>
              <a:buFont typeface="Wingdings" pitchFamily="2" charset="2"/>
              <a:buChar char="q"/>
            </a:pPr>
            <a:r>
              <a:rPr lang="en-US" sz="2400" dirty="0" smtClean="0">
                <a:latin typeface="Times New Roman" pitchFamily="18" charset="0"/>
                <a:cs typeface="Times New Roman" pitchFamily="18" charset="0"/>
              </a:rPr>
              <a:t>S-</a:t>
            </a:r>
            <a:r>
              <a:rPr lang="ru-RU" sz="2400" dirty="0" smtClean="0">
                <a:latin typeface="Times New Roman" pitchFamily="18" charset="0"/>
                <a:cs typeface="Times New Roman" pitchFamily="18" charset="0"/>
              </a:rPr>
              <a:t>блок</a:t>
            </a:r>
            <a:r>
              <a:rPr lang="uz-Cyrl-UZ" sz="2400" dirty="0" smtClean="0">
                <a:latin typeface="Times New Roman" pitchFamily="18" charset="0"/>
                <a:cs typeface="Times New Roman" pitchFamily="18" charset="0"/>
              </a:rPr>
              <a:t>:</a:t>
            </a:r>
          </a:p>
          <a:p>
            <a:pPr marL="342900" indent="-342900" algn="just">
              <a:spcAft>
                <a:spcPts val="1200"/>
              </a:spcAft>
              <a:buFont typeface="Wingdings" pitchFamily="2" charset="2"/>
              <a:buChar char="q"/>
            </a:pPr>
            <a:endParaRPr lang="ru-RU" sz="2400" dirty="0">
              <a:latin typeface="Times New Roman" pitchFamily="18" charset="0"/>
              <a:cs typeface="Times New Roman" pitchFamily="18" charset="0"/>
            </a:endParaRPr>
          </a:p>
          <a:p>
            <a:pPr marL="342900" indent="-342900" algn="just">
              <a:spcAft>
                <a:spcPts val="1200"/>
              </a:spcAft>
              <a:buFont typeface="Wingdings" pitchFamily="2" charset="2"/>
              <a:buChar char="q"/>
            </a:pPr>
            <a:endParaRPr lang="ru-RU" sz="2400" dirty="0">
              <a:latin typeface="Times New Roman" pitchFamily="18" charset="0"/>
              <a:cs typeface="Times New Roman" pitchFamily="18" charset="0"/>
            </a:endParaRPr>
          </a:p>
        </p:txBody>
      </p:sp>
      <p:sp>
        <p:nvSpPr>
          <p:cNvPr id="27656" name="Rectangle 8"/>
          <p:cNvSpPr>
            <a:spLocks noChangeArrowheads="1"/>
          </p:cNvSpPr>
          <p:nvPr/>
        </p:nvSpPr>
        <p:spPr bwMode="auto">
          <a:xfrm>
            <a:off x="0" y="8620"/>
            <a:ext cx="7344000" cy="584775"/>
          </a:xfrm>
          <a:prstGeom prst="rect">
            <a:avLst/>
          </a:prstGeom>
          <a:solidFill>
            <a:srgbClr val="CCCCFF">
              <a:alpha val="95000"/>
            </a:srgbClr>
          </a:solidFill>
          <a:ln>
            <a:noFill/>
          </a:ln>
          <a:effectLst/>
          <a:extLst/>
        </p:spPr>
        <p:txBody>
          <a:bodyPr wrap="square" anchor="ctr">
            <a:spAutoFit/>
          </a:bodyPr>
          <a:lstStyle/>
          <a:p>
            <a:pPr>
              <a:defRPr/>
            </a:pPr>
            <a:r>
              <a:rPr lang="ru-RU" sz="3200" b="1" dirty="0" smtClean="0">
                <a:solidFill>
                  <a:srgbClr val="000000"/>
                </a:solidFill>
                <a:effectLst>
                  <a:outerShdw blurRad="38100" dist="38100" dir="2700000" algn="tl">
                    <a:srgbClr val="FFFFFF"/>
                  </a:outerShdw>
                </a:effectLst>
                <a:latin typeface="Times New Roman" pitchFamily="18" charset="0"/>
              </a:rPr>
              <a:t>ГОСТ 28147-89 </a:t>
            </a:r>
            <a:r>
              <a:rPr lang="ru-RU" sz="3200" b="1" dirty="0" err="1" smtClean="0">
                <a:solidFill>
                  <a:srgbClr val="000000"/>
                </a:solidFill>
                <a:effectLst>
                  <a:outerShdw blurRad="38100" dist="38100" dir="2700000" algn="tl">
                    <a:srgbClr val="FFFFFF"/>
                  </a:outerShdw>
                </a:effectLst>
                <a:latin typeface="Times New Roman" pitchFamily="18" charset="0"/>
              </a:rPr>
              <a:t>ўқув</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алгоритми</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pic>
        <p:nvPicPr>
          <p:cNvPr id="4" name="Рисунок 3"/>
          <p:cNvPicPr/>
          <p:nvPr/>
        </p:nvPicPr>
        <p:blipFill>
          <a:blip r:embed="rId2">
            <a:extLst>
              <a:ext uri="{28A0092B-C50C-407E-A947-70E740481C1C}">
                <a14:useLocalDpi xmlns:a14="http://schemas.microsoft.com/office/drawing/2010/main" val="0"/>
              </a:ext>
            </a:extLst>
          </a:blip>
          <a:srcRect l="37112" t="10458" r="29520" b="6041"/>
          <a:stretch>
            <a:fillRect/>
          </a:stretch>
        </p:blipFill>
        <p:spPr bwMode="auto">
          <a:xfrm>
            <a:off x="71500" y="728700"/>
            <a:ext cx="4284476" cy="6012668"/>
          </a:xfrm>
          <a:prstGeom prst="rect">
            <a:avLst/>
          </a:prstGeom>
          <a:noFill/>
          <a:ln>
            <a:noFill/>
          </a:ln>
        </p:spPr>
      </p:pic>
      <p:graphicFrame>
        <p:nvGraphicFramePr>
          <p:cNvPr id="2" name="Таблица 1"/>
          <p:cNvGraphicFramePr>
            <a:graphicFrameLocks noGrp="1"/>
          </p:cNvGraphicFramePr>
          <p:nvPr>
            <p:extLst>
              <p:ext uri="{D42A27DB-BD31-4B8C-83A1-F6EECF244321}">
                <p14:modId xmlns:p14="http://schemas.microsoft.com/office/powerpoint/2010/main" val="2485815652"/>
              </p:ext>
            </p:extLst>
          </p:nvPr>
        </p:nvGraphicFramePr>
        <p:xfrm>
          <a:off x="4968044" y="4475584"/>
          <a:ext cx="3744415" cy="609600"/>
        </p:xfrm>
        <a:graphic>
          <a:graphicData uri="http://schemas.openxmlformats.org/drawingml/2006/table">
            <a:tbl>
              <a:tblPr firstRow="1" firstCol="1" lastRow="1" lastCol="1" bandRow="1" bandCol="1">
                <a:tableStyleId>{D7AC3CCA-C797-4891-BE02-D94E43425B78}</a:tableStyleId>
              </a:tblPr>
              <a:tblGrid>
                <a:gridCol w="427615"/>
                <a:gridCol w="414600"/>
                <a:gridCol w="414600"/>
                <a:gridCol w="414600"/>
                <a:gridCol w="414600"/>
                <a:gridCol w="414600"/>
                <a:gridCol w="414600"/>
                <a:gridCol w="414600"/>
                <a:gridCol w="414600"/>
              </a:tblGrid>
              <a:tr h="293320">
                <a:tc>
                  <a:txBody>
                    <a:bodyPr/>
                    <a:lstStyle/>
                    <a:p>
                      <a:pPr algn="ctr">
                        <a:spcAft>
                          <a:spcPts val="600"/>
                        </a:spcAft>
                      </a:pPr>
                      <a:r>
                        <a:rPr lang="uz-Cyrl-UZ" sz="2000" dirty="0">
                          <a:effectLst/>
                        </a:rPr>
                        <a:t>x</a:t>
                      </a:r>
                      <a:endParaRPr lang="uz-Cyrl-UZ" sz="2000" dirty="0">
                        <a:effectLst/>
                        <a:latin typeface="Times New Roman"/>
                        <a:ea typeface="Times New Roman"/>
                      </a:endParaRPr>
                    </a:p>
                  </a:txBody>
                  <a:tcPr marL="68580" marR="68580" marT="0" marB="0" anchor="ctr"/>
                </a:tc>
                <a:tc>
                  <a:txBody>
                    <a:bodyPr/>
                    <a:lstStyle/>
                    <a:p>
                      <a:pPr algn="ctr">
                        <a:spcAft>
                          <a:spcPts val="600"/>
                        </a:spcAft>
                      </a:pPr>
                      <a:r>
                        <a:rPr lang="uz-Cyrl-UZ" sz="2000">
                          <a:effectLst/>
                        </a:rPr>
                        <a:t>0</a:t>
                      </a:r>
                      <a:endParaRPr lang="uz-Cyrl-UZ" sz="2000">
                        <a:effectLst/>
                        <a:latin typeface="Times New Roman"/>
                        <a:ea typeface="Times New Roman"/>
                      </a:endParaRPr>
                    </a:p>
                  </a:txBody>
                  <a:tcPr marL="68580" marR="68580" marT="0" marB="0" anchor="ctr"/>
                </a:tc>
                <a:tc>
                  <a:txBody>
                    <a:bodyPr/>
                    <a:lstStyle/>
                    <a:p>
                      <a:pPr algn="ctr">
                        <a:spcAft>
                          <a:spcPts val="600"/>
                        </a:spcAft>
                      </a:pPr>
                      <a:r>
                        <a:rPr lang="uz-Cyrl-UZ" sz="2000" dirty="0">
                          <a:effectLst/>
                        </a:rPr>
                        <a:t>1</a:t>
                      </a:r>
                      <a:endParaRPr lang="uz-Cyrl-UZ" sz="2000" dirty="0">
                        <a:effectLst/>
                        <a:latin typeface="Times New Roman"/>
                        <a:ea typeface="Times New Roman"/>
                      </a:endParaRPr>
                    </a:p>
                  </a:txBody>
                  <a:tcPr marL="68580" marR="68580" marT="0" marB="0" anchor="ctr"/>
                </a:tc>
                <a:tc>
                  <a:txBody>
                    <a:bodyPr/>
                    <a:lstStyle/>
                    <a:p>
                      <a:pPr algn="ctr">
                        <a:spcAft>
                          <a:spcPts val="600"/>
                        </a:spcAft>
                      </a:pPr>
                      <a:r>
                        <a:rPr lang="uz-Cyrl-UZ" sz="2000">
                          <a:effectLst/>
                        </a:rPr>
                        <a:t>2</a:t>
                      </a:r>
                      <a:endParaRPr lang="uz-Cyrl-UZ" sz="2000">
                        <a:effectLst/>
                        <a:latin typeface="Times New Roman"/>
                        <a:ea typeface="Times New Roman"/>
                      </a:endParaRPr>
                    </a:p>
                  </a:txBody>
                  <a:tcPr marL="68580" marR="68580" marT="0" marB="0" anchor="ctr"/>
                </a:tc>
                <a:tc>
                  <a:txBody>
                    <a:bodyPr/>
                    <a:lstStyle/>
                    <a:p>
                      <a:pPr algn="ctr">
                        <a:spcAft>
                          <a:spcPts val="600"/>
                        </a:spcAft>
                      </a:pPr>
                      <a:r>
                        <a:rPr lang="uz-Cyrl-UZ" sz="2000">
                          <a:effectLst/>
                        </a:rPr>
                        <a:t>3</a:t>
                      </a:r>
                      <a:endParaRPr lang="uz-Cyrl-UZ" sz="2000">
                        <a:effectLst/>
                        <a:latin typeface="Times New Roman"/>
                        <a:ea typeface="Times New Roman"/>
                      </a:endParaRPr>
                    </a:p>
                  </a:txBody>
                  <a:tcPr marL="68580" marR="68580" marT="0" marB="0" anchor="ctr"/>
                </a:tc>
                <a:tc>
                  <a:txBody>
                    <a:bodyPr/>
                    <a:lstStyle/>
                    <a:p>
                      <a:pPr algn="ctr">
                        <a:spcAft>
                          <a:spcPts val="600"/>
                        </a:spcAft>
                      </a:pPr>
                      <a:r>
                        <a:rPr lang="uz-Cyrl-UZ" sz="2000" dirty="0">
                          <a:effectLst/>
                        </a:rPr>
                        <a:t>4</a:t>
                      </a:r>
                      <a:endParaRPr lang="uz-Cyrl-UZ" sz="2000" dirty="0">
                        <a:effectLst/>
                        <a:latin typeface="Times New Roman"/>
                        <a:ea typeface="Times New Roman"/>
                      </a:endParaRPr>
                    </a:p>
                  </a:txBody>
                  <a:tcPr marL="68580" marR="68580" marT="0" marB="0" anchor="ctr"/>
                </a:tc>
                <a:tc>
                  <a:txBody>
                    <a:bodyPr/>
                    <a:lstStyle/>
                    <a:p>
                      <a:pPr algn="ctr">
                        <a:spcAft>
                          <a:spcPts val="600"/>
                        </a:spcAft>
                      </a:pPr>
                      <a:r>
                        <a:rPr lang="uz-Cyrl-UZ" sz="2000" dirty="0">
                          <a:effectLst/>
                        </a:rPr>
                        <a:t>5</a:t>
                      </a:r>
                      <a:endParaRPr lang="uz-Cyrl-UZ" sz="2000" dirty="0">
                        <a:effectLst/>
                        <a:latin typeface="Times New Roman"/>
                        <a:ea typeface="Times New Roman"/>
                      </a:endParaRPr>
                    </a:p>
                  </a:txBody>
                  <a:tcPr marL="68580" marR="68580" marT="0" marB="0" anchor="ctr"/>
                </a:tc>
                <a:tc>
                  <a:txBody>
                    <a:bodyPr/>
                    <a:lstStyle/>
                    <a:p>
                      <a:pPr algn="ctr">
                        <a:spcAft>
                          <a:spcPts val="600"/>
                        </a:spcAft>
                      </a:pPr>
                      <a:r>
                        <a:rPr lang="uz-Cyrl-UZ" sz="2000" dirty="0">
                          <a:effectLst/>
                        </a:rPr>
                        <a:t>6</a:t>
                      </a:r>
                      <a:endParaRPr lang="uz-Cyrl-UZ" sz="2000" dirty="0">
                        <a:effectLst/>
                        <a:latin typeface="Times New Roman"/>
                        <a:ea typeface="Times New Roman"/>
                      </a:endParaRPr>
                    </a:p>
                  </a:txBody>
                  <a:tcPr marL="68580" marR="68580" marT="0" marB="0" anchor="ctr"/>
                </a:tc>
                <a:tc>
                  <a:txBody>
                    <a:bodyPr/>
                    <a:lstStyle/>
                    <a:p>
                      <a:pPr algn="ctr">
                        <a:spcAft>
                          <a:spcPts val="600"/>
                        </a:spcAft>
                      </a:pPr>
                      <a:r>
                        <a:rPr lang="uz-Cyrl-UZ" sz="2000" dirty="0">
                          <a:effectLst/>
                        </a:rPr>
                        <a:t>7</a:t>
                      </a:r>
                      <a:endParaRPr lang="uz-Cyrl-UZ" sz="2000" dirty="0">
                        <a:effectLst/>
                        <a:latin typeface="Times New Roman"/>
                        <a:ea typeface="Times New Roman"/>
                      </a:endParaRPr>
                    </a:p>
                  </a:txBody>
                  <a:tcPr marL="68580" marR="68580" marT="0" marB="0" anchor="ctr"/>
                </a:tc>
              </a:tr>
              <a:tr h="293320">
                <a:tc>
                  <a:txBody>
                    <a:bodyPr/>
                    <a:lstStyle/>
                    <a:p>
                      <a:pPr algn="ctr">
                        <a:spcAft>
                          <a:spcPts val="600"/>
                        </a:spcAft>
                      </a:pPr>
                      <a:r>
                        <a:rPr lang="uz-Cyrl-UZ" sz="2000">
                          <a:effectLst/>
                        </a:rPr>
                        <a:t>y</a:t>
                      </a:r>
                      <a:endParaRPr lang="uz-Cyrl-UZ" sz="2000">
                        <a:effectLst/>
                        <a:latin typeface="Times New Roman"/>
                        <a:ea typeface="Times New Roman"/>
                      </a:endParaRPr>
                    </a:p>
                  </a:txBody>
                  <a:tcPr marL="68580" marR="68580" marT="0" marB="0" anchor="ctr"/>
                </a:tc>
                <a:tc>
                  <a:txBody>
                    <a:bodyPr/>
                    <a:lstStyle/>
                    <a:p>
                      <a:pPr algn="ctr">
                        <a:spcAft>
                          <a:spcPts val="600"/>
                        </a:spcAft>
                      </a:pPr>
                      <a:r>
                        <a:rPr lang="uz-Cyrl-UZ" sz="2000">
                          <a:effectLst/>
                        </a:rPr>
                        <a:t>3</a:t>
                      </a:r>
                      <a:endParaRPr lang="uz-Cyrl-UZ" sz="2000">
                        <a:effectLst/>
                        <a:latin typeface="Times New Roman"/>
                        <a:ea typeface="Times New Roman"/>
                      </a:endParaRPr>
                    </a:p>
                  </a:txBody>
                  <a:tcPr marL="68580" marR="68580" marT="0" marB="0" anchor="ctr"/>
                </a:tc>
                <a:tc>
                  <a:txBody>
                    <a:bodyPr/>
                    <a:lstStyle/>
                    <a:p>
                      <a:pPr algn="ctr">
                        <a:spcAft>
                          <a:spcPts val="600"/>
                        </a:spcAft>
                      </a:pPr>
                      <a:r>
                        <a:rPr lang="uz-Cyrl-UZ" sz="2000">
                          <a:effectLst/>
                        </a:rPr>
                        <a:t>4</a:t>
                      </a:r>
                      <a:endParaRPr lang="uz-Cyrl-UZ" sz="2000">
                        <a:effectLst/>
                        <a:latin typeface="Times New Roman"/>
                        <a:ea typeface="Times New Roman"/>
                      </a:endParaRPr>
                    </a:p>
                  </a:txBody>
                  <a:tcPr marL="68580" marR="68580" marT="0" marB="0" anchor="ctr"/>
                </a:tc>
                <a:tc>
                  <a:txBody>
                    <a:bodyPr/>
                    <a:lstStyle/>
                    <a:p>
                      <a:pPr algn="ctr">
                        <a:spcAft>
                          <a:spcPts val="600"/>
                        </a:spcAft>
                      </a:pPr>
                      <a:r>
                        <a:rPr lang="uz-Cyrl-UZ" sz="2000" dirty="0">
                          <a:effectLst/>
                        </a:rPr>
                        <a:t>0</a:t>
                      </a:r>
                      <a:endParaRPr lang="uz-Cyrl-UZ" sz="2000" dirty="0">
                        <a:effectLst/>
                        <a:latin typeface="Times New Roman"/>
                        <a:ea typeface="Times New Roman"/>
                      </a:endParaRPr>
                    </a:p>
                  </a:txBody>
                  <a:tcPr marL="68580" marR="68580" marT="0" marB="0" anchor="ctr"/>
                </a:tc>
                <a:tc>
                  <a:txBody>
                    <a:bodyPr/>
                    <a:lstStyle/>
                    <a:p>
                      <a:pPr algn="ctr">
                        <a:spcAft>
                          <a:spcPts val="600"/>
                        </a:spcAft>
                      </a:pPr>
                      <a:r>
                        <a:rPr lang="uz-Cyrl-UZ" sz="2000">
                          <a:effectLst/>
                        </a:rPr>
                        <a:t>6</a:t>
                      </a:r>
                      <a:endParaRPr lang="uz-Cyrl-UZ" sz="2000">
                        <a:effectLst/>
                        <a:latin typeface="Times New Roman"/>
                        <a:ea typeface="Times New Roman"/>
                      </a:endParaRPr>
                    </a:p>
                  </a:txBody>
                  <a:tcPr marL="68580" marR="68580" marT="0" marB="0" anchor="ctr"/>
                </a:tc>
                <a:tc>
                  <a:txBody>
                    <a:bodyPr/>
                    <a:lstStyle/>
                    <a:p>
                      <a:pPr algn="ctr">
                        <a:spcAft>
                          <a:spcPts val="600"/>
                        </a:spcAft>
                      </a:pPr>
                      <a:r>
                        <a:rPr lang="uz-Cyrl-UZ" sz="2000">
                          <a:effectLst/>
                        </a:rPr>
                        <a:t>7</a:t>
                      </a:r>
                      <a:endParaRPr lang="uz-Cyrl-UZ" sz="2000">
                        <a:effectLst/>
                        <a:latin typeface="Times New Roman"/>
                        <a:ea typeface="Times New Roman"/>
                      </a:endParaRPr>
                    </a:p>
                  </a:txBody>
                  <a:tcPr marL="68580" marR="68580" marT="0" marB="0" anchor="ctr"/>
                </a:tc>
                <a:tc>
                  <a:txBody>
                    <a:bodyPr/>
                    <a:lstStyle/>
                    <a:p>
                      <a:pPr algn="ctr">
                        <a:spcAft>
                          <a:spcPts val="600"/>
                        </a:spcAft>
                      </a:pPr>
                      <a:r>
                        <a:rPr lang="uz-Cyrl-UZ" sz="2000">
                          <a:effectLst/>
                        </a:rPr>
                        <a:t>2</a:t>
                      </a:r>
                      <a:endParaRPr lang="uz-Cyrl-UZ" sz="2000">
                        <a:effectLst/>
                        <a:latin typeface="Times New Roman"/>
                        <a:ea typeface="Times New Roman"/>
                      </a:endParaRPr>
                    </a:p>
                  </a:txBody>
                  <a:tcPr marL="68580" marR="68580" marT="0" marB="0" anchor="ctr"/>
                </a:tc>
                <a:tc>
                  <a:txBody>
                    <a:bodyPr/>
                    <a:lstStyle/>
                    <a:p>
                      <a:pPr algn="ctr">
                        <a:spcAft>
                          <a:spcPts val="600"/>
                        </a:spcAft>
                      </a:pPr>
                      <a:r>
                        <a:rPr lang="uz-Cyrl-UZ" sz="2000">
                          <a:effectLst/>
                        </a:rPr>
                        <a:t>1</a:t>
                      </a:r>
                      <a:endParaRPr lang="uz-Cyrl-UZ" sz="2000">
                        <a:effectLst/>
                        <a:latin typeface="Times New Roman"/>
                        <a:ea typeface="Times New Roman"/>
                      </a:endParaRPr>
                    </a:p>
                  </a:txBody>
                  <a:tcPr marL="68580" marR="68580" marT="0" marB="0" anchor="ctr"/>
                </a:tc>
                <a:tc>
                  <a:txBody>
                    <a:bodyPr/>
                    <a:lstStyle/>
                    <a:p>
                      <a:pPr algn="ctr">
                        <a:spcAft>
                          <a:spcPts val="600"/>
                        </a:spcAft>
                      </a:pPr>
                      <a:r>
                        <a:rPr lang="uz-Cyrl-UZ" sz="2000" dirty="0">
                          <a:effectLst/>
                        </a:rPr>
                        <a:t>5</a:t>
                      </a:r>
                      <a:endParaRPr lang="uz-Cyrl-UZ" sz="2000" dirty="0">
                        <a:effectLst/>
                        <a:latin typeface="Times New Roman"/>
                        <a:ea typeface="Times New Roman"/>
                      </a:endParaRPr>
                    </a:p>
                  </a:txBody>
                  <a:tcPr marL="68580" marR="68580" marT="0" marB="0" anchor="ctr"/>
                </a:tc>
              </a:tr>
            </a:tbl>
          </a:graphicData>
        </a:graphic>
      </p:graphicFrame>
    </p:spTree>
    <p:extLst>
      <p:ext uri="{BB962C8B-B14F-4D97-AF65-F5344CB8AC3E}">
        <p14:creationId xmlns:p14="http://schemas.microsoft.com/office/powerpoint/2010/main" val="220143385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0" y="-85771"/>
            <a:ext cx="8712000" cy="584775"/>
          </a:xfrm>
          <a:prstGeom prst="rect">
            <a:avLst/>
          </a:prstGeom>
          <a:solidFill>
            <a:srgbClr val="92D050">
              <a:alpha val="95000"/>
            </a:srgbClr>
          </a:solidFill>
          <a:ln>
            <a:noFill/>
          </a:ln>
          <a:effectLst/>
          <a:extLst/>
        </p:spPr>
        <p:txBody>
          <a:bodyPr wrap="square" anchor="ctr">
            <a:spAutoFit/>
          </a:bodyPr>
          <a:lstStyle/>
          <a:p>
            <a:pPr>
              <a:defRPr/>
            </a:pPr>
            <a:r>
              <a:rPr lang="uz-Cyrl-UZ" sz="3200" dirty="0">
                <a:latin typeface="Times New Roman" pitchFamily="18" charset="0"/>
                <a:cs typeface="Times New Roman" pitchFamily="18" charset="0"/>
              </a:rPr>
              <a:t>Шифрлаш алгоритмини </a:t>
            </a:r>
            <a:r>
              <a:rPr lang="uz-Cyrl-UZ" sz="3200" b="1" dirty="0" smtClean="0">
                <a:latin typeface="Times New Roman" pitchFamily="18" charset="0"/>
                <a:cs typeface="Times New Roman" pitchFamily="18" charset="0"/>
              </a:rPr>
              <a:t>декомпозициялаш</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pic>
        <p:nvPicPr>
          <p:cNvPr id="7373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976" t="15432" r="25556" b="13210"/>
          <a:stretch/>
        </p:blipFill>
        <p:spPr bwMode="auto">
          <a:xfrm>
            <a:off x="107504" y="872716"/>
            <a:ext cx="6804000" cy="55207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5" name="Объект 3"/>
          <p:cNvSpPr txBox="1">
            <a:spLocks/>
          </p:cNvSpPr>
          <p:nvPr/>
        </p:nvSpPr>
        <p:spPr>
          <a:xfrm>
            <a:off x="7056276" y="2024844"/>
            <a:ext cx="2051472" cy="2428357"/>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rtlCol="0">
            <a:sp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R="0" lvl="0" algn="l" defTabSz="914400" rtl="0" eaLnBrk="1" fontAlgn="auto" latinLnBrk="0" hangingPunct="1">
              <a:lnSpc>
                <a:spcPct val="100000"/>
              </a:lnSpc>
              <a:spcBef>
                <a:spcPct val="20000"/>
              </a:spcBef>
              <a:spcAft>
                <a:spcPts val="600"/>
              </a:spcAft>
              <a:buClrTx/>
              <a:buSzTx/>
              <a:buFont typeface="Arial" pitchFamily="34" charset="0"/>
              <a:buNone/>
              <a:tabLst/>
              <a:defRPr/>
            </a:pPr>
            <a:r>
              <a:rPr kumimoji="0" lang="uz-Cyrl-UZ" sz="1800" b="1"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Демак</a:t>
            </a:r>
            <a:r>
              <a:rPr kumimoji="0" lang="uz-Cyrl-UZ" sz="18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a:t>
            </a:r>
          </a:p>
          <a:p>
            <a:pPr marL="285750" marR="0" lvl="0" indent="-285750" algn="l" defTabSz="914400" rtl="0" eaLnBrk="1" fontAlgn="auto" latinLnBrk="0" hangingPunct="1">
              <a:lnSpc>
                <a:spcPct val="100000"/>
              </a:lnSpc>
              <a:spcBef>
                <a:spcPct val="20000"/>
              </a:spcBef>
              <a:spcAft>
                <a:spcPts val="600"/>
              </a:spcAft>
              <a:buClrTx/>
              <a:buSzTx/>
              <a:buFont typeface="Wingdings" pitchFamily="2" charset="2"/>
              <a:buChar char="§"/>
              <a:tabLst/>
              <a:defRPr/>
            </a:pPr>
            <a:r>
              <a:rPr kumimoji="0" lang="uz-Cyrl-UZ" sz="18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3 турдаги</a:t>
            </a:r>
            <a:r>
              <a:rPr kumimoji="0" lang="uz-Cyrl-UZ" sz="1800" b="0" i="0" u="none" strike="noStrike" kern="1200" cap="none" spc="0" normalizeH="0" noProof="0" dirty="0" smtClean="0">
                <a:ln>
                  <a:noFill/>
                </a:ln>
                <a:solidFill>
                  <a:prstClr val="black"/>
                </a:solidFill>
                <a:effectLst/>
                <a:uLnTx/>
                <a:uFillTx/>
                <a:latin typeface="Times New Roman" pitchFamily="18" charset="0"/>
                <a:ea typeface="+mn-ea"/>
                <a:cs typeface="Times New Roman" pitchFamily="18" charset="0"/>
              </a:rPr>
              <a:t>        </a:t>
            </a:r>
            <a:r>
              <a:rPr kumimoji="0" lang="uz-Cyrl-UZ" sz="1800" b="1" i="0" u="none" strike="noStrike" kern="1200" cap="none" spc="0" normalizeH="0" baseline="0" noProof="0" dirty="0" smtClean="0">
                <a:ln>
                  <a:noFill/>
                </a:ln>
                <a:solidFill>
                  <a:srgbClr val="C00000"/>
                </a:solidFill>
                <a:effectLst/>
                <a:uLnTx/>
                <a:uFillTx/>
                <a:latin typeface="Times New Roman" pitchFamily="18" charset="0"/>
                <a:ea typeface="+mn-ea"/>
                <a:cs typeface="Times New Roman" pitchFamily="18" charset="0"/>
              </a:rPr>
              <a:t>(</a:t>
            </a:r>
            <a:r>
              <a:rPr kumimoji="0" lang="uz-Cyrl-UZ" sz="1800" b="1" i="1" u="none" strike="noStrike" kern="1200" cap="none" spc="0" normalizeH="0" baseline="0" noProof="0" dirty="0" smtClean="0">
                <a:ln>
                  <a:noFill/>
                </a:ln>
                <a:solidFill>
                  <a:srgbClr val="C00000"/>
                </a:solidFill>
                <a:effectLst/>
                <a:uLnTx/>
                <a:uFillTx/>
                <a:latin typeface="Times New Roman" pitchFamily="18" charset="0"/>
                <a:ea typeface="+mn-ea"/>
                <a:cs typeface="Times New Roman" pitchFamily="18" charset="0"/>
              </a:rPr>
              <a:t>F, H, G) </a:t>
            </a:r>
            <a:r>
              <a:rPr kumimoji="0" lang="uz-Cyrl-UZ" sz="18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функциялардан</a:t>
            </a:r>
          </a:p>
          <a:p>
            <a:pPr marL="285750" marR="0" lvl="0" indent="-285750" algn="l" defTabSz="914400" rtl="0" eaLnBrk="1" fontAlgn="auto" latinLnBrk="0" hangingPunct="1">
              <a:lnSpc>
                <a:spcPct val="100000"/>
              </a:lnSpc>
              <a:spcBef>
                <a:spcPct val="20000"/>
              </a:spcBef>
              <a:spcAft>
                <a:spcPts val="600"/>
              </a:spcAft>
              <a:buClrTx/>
              <a:buSzTx/>
              <a:buFont typeface="Wingdings" pitchFamily="2" charset="2"/>
              <a:buChar char="§"/>
              <a:tabLst/>
              <a:defRPr/>
            </a:pPr>
            <a:r>
              <a:rPr kumimoji="0" lang="uz-Cyrl-UZ" sz="18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10 та қисм элементлардан</a:t>
            </a:r>
          </a:p>
          <a:p>
            <a:pPr marL="0" marR="0" lvl="0" indent="0" algn="l" defTabSz="914400" rtl="0" eaLnBrk="1" fontAlgn="auto" latinLnBrk="0" hangingPunct="1">
              <a:lnSpc>
                <a:spcPct val="100000"/>
              </a:lnSpc>
              <a:spcBef>
                <a:spcPct val="20000"/>
              </a:spcBef>
              <a:spcAft>
                <a:spcPts val="600"/>
              </a:spcAft>
              <a:buClrTx/>
              <a:buSzTx/>
              <a:buFont typeface="Arial" pitchFamily="34" charset="0"/>
              <a:buNone/>
              <a:tabLst/>
              <a:defRPr/>
            </a:pPr>
            <a:r>
              <a:rPr kumimoji="0" lang="uz-Cyrl-UZ" sz="18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rPr>
              <a:t>фойдаланилади. </a:t>
            </a:r>
            <a:endParaRPr kumimoji="0" lang="ru-RU"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41957804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763688" y="620688"/>
            <a:ext cx="7182833" cy="1200329"/>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542925" algn="just">
              <a:spcAft>
                <a:spcPts val="600"/>
              </a:spcAft>
            </a:pPr>
            <a:r>
              <a:rPr lang="en-US" sz="2400" b="1" dirty="0" smtClean="0">
                <a:latin typeface="Times New Roman" pitchFamily="18" charset="0"/>
                <a:cs typeface="Times New Roman" pitchFamily="18" charset="0"/>
              </a:rPr>
              <a:t>z=F(</a:t>
            </a:r>
            <a:r>
              <a:rPr lang="en-US" sz="2400" b="1" dirty="0" err="1" smtClean="0">
                <a:latin typeface="Times New Roman" pitchFamily="18" charset="0"/>
                <a:cs typeface="Times New Roman" pitchFamily="18" charset="0"/>
              </a:rPr>
              <a:t>x,y</a:t>
            </a: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 </a:t>
            </a:r>
            <a:r>
              <a:rPr lang="uz-Cyrl-UZ" sz="2400" dirty="0">
                <a:latin typeface="Times New Roman" pitchFamily="18" charset="0"/>
                <a:cs typeface="Times New Roman" pitchFamily="18" charset="0"/>
              </a:rPr>
              <a:t>функция – узунлиги 6 бит бўлган кирувчи а ва </a:t>
            </a:r>
            <a:r>
              <a:rPr lang="en-US" sz="2400" dirty="0">
                <a:latin typeface="Times New Roman" pitchFamily="18" charset="0"/>
                <a:cs typeface="Times New Roman" pitchFamily="18" charset="0"/>
              </a:rPr>
              <a:t>b </a:t>
            </a:r>
            <a:r>
              <a:rPr lang="uz-Cyrl-UZ" sz="2400" dirty="0">
                <a:latin typeface="Times New Roman" pitchFamily="18" charset="0"/>
                <a:cs typeface="Times New Roman" pitchFamily="18" charset="0"/>
              </a:rPr>
              <a:t>қийматларни 2 модул бўйича қўшиш жараёнини амалга оширади </a:t>
            </a:r>
            <a:endParaRPr lang="ru-RU" sz="2400" b="1" dirty="0">
              <a:latin typeface="Times New Roman" pitchFamily="18" charset="0"/>
              <a:cs typeface="Times New Roman" pitchFamily="18" charset="0"/>
            </a:endParaRPr>
          </a:p>
        </p:txBody>
      </p:sp>
      <p:sp>
        <p:nvSpPr>
          <p:cNvPr id="4" name="Rectangle 8"/>
          <p:cNvSpPr>
            <a:spLocks noChangeArrowheads="1"/>
          </p:cNvSpPr>
          <p:nvPr/>
        </p:nvSpPr>
        <p:spPr bwMode="auto">
          <a:xfrm>
            <a:off x="0" y="-67719"/>
            <a:ext cx="8676000" cy="584775"/>
          </a:xfrm>
          <a:prstGeom prst="rect">
            <a:avLst/>
          </a:prstGeom>
          <a:solidFill>
            <a:srgbClr val="FFC000">
              <a:alpha val="95000"/>
            </a:srgbClr>
          </a:solidFill>
          <a:ln>
            <a:noFill/>
          </a:ln>
          <a:effectLst/>
          <a:extLst/>
        </p:spPr>
        <p:txBody>
          <a:bodyPr wrap="square" anchor="ctr">
            <a:spAutoFit/>
          </a:bodyPr>
          <a:lstStyle/>
          <a:p>
            <a:pPr>
              <a:defRPr/>
            </a:pPr>
            <a:r>
              <a:rPr lang="ru-RU" sz="3200" b="1" dirty="0" err="1" smtClean="0">
                <a:solidFill>
                  <a:srgbClr val="000000"/>
                </a:solidFill>
                <a:effectLst>
                  <a:outerShdw blurRad="38100" dist="38100" dir="2700000" algn="tl">
                    <a:srgbClr val="FFFFFF"/>
                  </a:outerShdw>
                </a:effectLst>
                <a:latin typeface="Times New Roman" pitchFamily="18" charset="0"/>
              </a:rPr>
              <a:t>Қисм</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элементларни</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алгебраик</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ифодалаш</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sp>
        <p:nvSpPr>
          <p:cNvPr id="7" name="Rectangle 7"/>
          <p:cNvSpPr>
            <a:spLocks noChangeArrowheads="1"/>
          </p:cNvSpPr>
          <p:nvPr/>
        </p:nvSpPr>
        <p:spPr bwMode="auto">
          <a:xfrm>
            <a:off x="49758" y="900009"/>
            <a:ext cx="1567673" cy="584775"/>
          </a:xfrm>
          <a:prstGeom prst="rect">
            <a:avLst/>
          </a:prstGeom>
          <a:solidFill>
            <a:srgbClr val="92D050">
              <a:alpha val="86000"/>
            </a:srgbClr>
          </a:solidFill>
          <a:ln w="25400" algn="ctr">
            <a:solidFill>
              <a:schemeClr val="bg1"/>
            </a:solidFill>
            <a:miter lim="800000"/>
            <a:headEnd/>
            <a:tailEnd/>
          </a:ln>
          <a:effectLst/>
          <a:extLst/>
        </p:spPr>
        <p:txBody>
          <a:bodyPr wrap="square" anchor="ctr">
            <a:spAutoFit/>
          </a:bodyPr>
          <a:lstStyle/>
          <a:p>
            <a:pPr algn="ctr">
              <a:spcAft>
                <a:spcPts val="600"/>
              </a:spcAft>
            </a:pPr>
            <a:r>
              <a:rPr lang="en-US" sz="3200" b="1" dirty="0" smtClean="0">
                <a:latin typeface="Times New Roman" pitchFamily="18" charset="0"/>
                <a:cs typeface="Times New Roman" pitchFamily="18" charset="0"/>
              </a:rPr>
              <a:t>F(</a:t>
            </a:r>
            <a:r>
              <a:rPr lang="en-US" sz="3200" b="1" dirty="0" err="1" smtClean="0">
                <a:latin typeface="Times New Roman" pitchFamily="18" charset="0"/>
                <a:cs typeface="Times New Roman" pitchFamily="18" charset="0"/>
              </a:rPr>
              <a:t>x,y</a:t>
            </a:r>
            <a:r>
              <a:rPr lang="en-US" sz="3200" b="1" dirty="0" smtClean="0">
                <a:latin typeface="Times New Roman" pitchFamily="18" charset="0"/>
                <a:cs typeface="Times New Roman" pitchFamily="18" charset="0"/>
              </a:rPr>
              <a:t>)</a:t>
            </a:r>
            <a:endParaRPr lang="ru-RU" sz="3200" b="1" dirty="0">
              <a:latin typeface="Times New Roman" pitchFamily="18" charset="0"/>
              <a:cs typeface="Times New Roman" pitchFamily="18" charset="0"/>
            </a:endParaRPr>
          </a:p>
        </p:txBody>
      </p:sp>
      <p:pic>
        <p:nvPicPr>
          <p:cNvPr id="8" name="Рисунок 7"/>
          <p:cNvPicPr/>
          <p:nvPr/>
        </p:nvPicPr>
        <p:blipFill>
          <a:blip r:embed="rId3" cstate="print">
            <a:extLst>
              <a:ext uri="{28A0092B-C50C-407E-A947-70E740481C1C}">
                <a14:useLocalDpi xmlns:a14="http://schemas.microsoft.com/office/drawing/2010/main" val="0"/>
              </a:ext>
            </a:extLst>
          </a:blip>
          <a:srcRect l="24174" t="30386" r="28801" b="17741"/>
          <a:stretch>
            <a:fillRect/>
          </a:stretch>
        </p:blipFill>
        <p:spPr bwMode="auto">
          <a:xfrm>
            <a:off x="143508" y="2168860"/>
            <a:ext cx="6294536" cy="3392519"/>
          </a:xfrm>
          <a:prstGeom prst="rect">
            <a:avLst/>
          </a:prstGeom>
          <a:noFill/>
          <a:ln>
            <a:noFill/>
          </a:ln>
        </p:spPr>
      </p:pic>
      <p:sp>
        <p:nvSpPr>
          <p:cNvPr id="11" name="Rectangle 7"/>
          <p:cNvSpPr>
            <a:spLocks noChangeArrowheads="1"/>
          </p:cNvSpPr>
          <p:nvPr/>
        </p:nvSpPr>
        <p:spPr bwMode="auto">
          <a:xfrm>
            <a:off x="1453914" y="5949280"/>
            <a:ext cx="4702262" cy="461665"/>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t" anchorCtr="0">
            <a:spAutoFit/>
          </a:bodyPr>
          <a:lstStyle/>
          <a:p>
            <a:pPr algn="just">
              <a:spcAft>
                <a:spcPts val="600"/>
              </a:spcAft>
            </a:pPr>
            <a:r>
              <a:rPr lang="ru-RU" sz="2400" b="1" dirty="0" err="1">
                <a:latin typeface="Times New Roman" pitchFamily="18" charset="0"/>
                <a:cs typeface="Times New Roman" pitchFamily="18" charset="0"/>
              </a:rPr>
              <a:t>Демак</a:t>
            </a:r>
            <a:r>
              <a:rPr lang="ru-RU" sz="2400" dirty="0">
                <a:latin typeface="Times New Roman" pitchFamily="18" charset="0"/>
                <a:cs typeface="Times New Roman" pitchFamily="18" charset="0"/>
              </a:rPr>
              <a:t>, </a:t>
            </a:r>
            <a:r>
              <a:rPr lang="ru-RU" sz="2400" dirty="0" err="1" smtClean="0">
                <a:latin typeface="Times New Roman" pitchFamily="18" charset="0"/>
                <a:cs typeface="Times New Roman" pitchFamily="18" charset="0"/>
              </a:rPr>
              <a:t>қуйидаги</a:t>
            </a:r>
            <a:r>
              <a:rPr lang="ru-RU" sz="2400" dirty="0" smtClean="0">
                <a:latin typeface="Times New Roman" pitchFamily="18" charset="0"/>
                <a:cs typeface="Times New Roman" pitchFamily="18" charset="0"/>
              </a:rPr>
              <a:t> АТС </a:t>
            </a:r>
            <a:r>
              <a:rPr lang="ru-RU" sz="2400" dirty="0" err="1" smtClean="0">
                <a:latin typeface="Times New Roman" pitchFamily="18" charset="0"/>
                <a:cs typeface="Times New Roman" pitchFamily="18" charset="0"/>
              </a:rPr>
              <a:t>ўринли</a:t>
            </a:r>
            <a:r>
              <a:rPr lang="ru-RU"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sym typeface="Wingdings" panose="05000000000000000000" pitchFamily="2" charset="2"/>
              </a:rPr>
              <a:t></a:t>
            </a:r>
            <a:endParaRPr lang="ru-RU" sz="2400" dirty="0">
              <a:latin typeface="Times New Roman" pitchFamily="18" charset="0"/>
              <a:cs typeface="Times New Roman" pitchFamily="18" charset="0"/>
            </a:endParaRPr>
          </a:p>
        </p:txBody>
      </p:sp>
      <p:graphicFrame>
        <p:nvGraphicFramePr>
          <p:cNvPr id="12" name="Объект 11"/>
          <p:cNvGraphicFramePr>
            <a:graphicFrameLocks noChangeAspect="1"/>
          </p:cNvGraphicFramePr>
          <p:nvPr>
            <p:extLst>
              <p:ext uri="{D42A27DB-BD31-4B8C-83A1-F6EECF244321}">
                <p14:modId xmlns:p14="http://schemas.microsoft.com/office/powerpoint/2010/main" val="234858261"/>
              </p:ext>
            </p:extLst>
          </p:nvPr>
        </p:nvGraphicFramePr>
        <p:xfrm>
          <a:off x="6588224" y="3717032"/>
          <a:ext cx="1836204" cy="3032831"/>
        </p:xfrm>
        <a:graphic>
          <a:graphicData uri="http://schemas.openxmlformats.org/presentationml/2006/ole">
            <mc:AlternateContent xmlns:mc="http://schemas.openxmlformats.org/markup-compatibility/2006">
              <mc:Choice xmlns:v="urn:schemas-microsoft-com:vml" Requires="v">
                <p:oleObj spid="_x0000_s74767" name="Уравнение" r:id="rId4" imgW="850900" imgH="1397000" progId="Equation.3">
                  <p:embed/>
                </p:oleObj>
              </mc:Choice>
              <mc:Fallback>
                <p:oleObj name="Уравнение" r:id="rId4" imgW="850900" imgH="1397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88224" y="3717032"/>
                        <a:ext cx="1836204" cy="3032831"/>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8368407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763688" y="620688"/>
            <a:ext cx="7182833" cy="1200329"/>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542925" algn="just">
              <a:spcAft>
                <a:spcPts val="600"/>
              </a:spcAft>
            </a:pPr>
            <a:r>
              <a:rPr lang="en-US" sz="2400" b="1" dirty="0">
                <a:latin typeface="Times New Roman" pitchFamily="18" charset="0"/>
                <a:cs typeface="Times New Roman" pitchFamily="18" charset="0"/>
              </a:rPr>
              <a:t>y=H(x</a:t>
            </a:r>
            <a:r>
              <a:rPr lang="en-US" sz="2400" b="1" dirty="0" smtClean="0">
                <a:latin typeface="Times New Roman" pitchFamily="18" charset="0"/>
                <a:cs typeface="Times New Roman" pitchFamily="18" charset="0"/>
              </a:rPr>
              <a:t>) </a:t>
            </a:r>
            <a:r>
              <a:rPr lang="en-US" sz="2400" b="1" dirty="0">
                <a:latin typeface="Times New Roman" pitchFamily="18" charset="0"/>
                <a:cs typeface="Times New Roman" pitchFamily="18" charset="0"/>
              </a:rPr>
              <a:t>- </a:t>
            </a:r>
            <a:r>
              <a:rPr lang="uz-Cyrl-UZ" sz="2400" dirty="0">
                <a:latin typeface="Times New Roman" pitchFamily="18" charset="0"/>
                <a:cs typeface="Times New Roman" pitchFamily="18" charset="0"/>
              </a:rPr>
              <a:t>функция – узунлиги 6 бит бўлган кирувчи а маълумотни 2 бит чапга (ўнгга) циклик суриш жараёнини амалга оширади</a:t>
            </a:r>
            <a:endParaRPr lang="ru-RU" sz="2400" dirty="0">
              <a:latin typeface="Times New Roman" pitchFamily="18" charset="0"/>
              <a:cs typeface="Times New Roman" pitchFamily="18" charset="0"/>
            </a:endParaRPr>
          </a:p>
        </p:txBody>
      </p:sp>
      <p:sp>
        <p:nvSpPr>
          <p:cNvPr id="4" name="Rectangle 8"/>
          <p:cNvSpPr>
            <a:spLocks noChangeArrowheads="1"/>
          </p:cNvSpPr>
          <p:nvPr/>
        </p:nvSpPr>
        <p:spPr bwMode="auto">
          <a:xfrm>
            <a:off x="0" y="-67719"/>
            <a:ext cx="8676000" cy="584775"/>
          </a:xfrm>
          <a:prstGeom prst="rect">
            <a:avLst/>
          </a:prstGeom>
          <a:solidFill>
            <a:srgbClr val="FFC000">
              <a:alpha val="95000"/>
            </a:srgbClr>
          </a:solidFill>
          <a:ln>
            <a:noFill/>
          </a:ln>
          <a:effectLst/>
          <a:extLst/>
        </p:spPr>
        <p:txBody>
          <a:bodyPr wrap="square" anchor="ctr">
            <a:spAutoFit/>
          </a:bodyPr>
          <a:lstStyle/>
          <a:p>
            <a:pPr>
              <a:defRPr/>
            </a:pPr>
            <a:r>
              <a:rPr lang="ru-RU" sz="3200" b="1" dirty="0" err="1" smtClean="0">
                <a:solidFill>
                  <a:srgbClr val="000000"/>
                </a:solidFill>
                <a:effectLst>
                  <a:outerShdw blurRad="38100" dist="38100" dir="2700000" algn="tl">
                    <a:srgbClr val="FFFFFF"/>
                  </a:outerShdw>
                </a:effectLst>
                <a:latin typeface="Times New Roman" pitchFamily="18" charset="0"/>
              </a:rPr>
              <a:t>Қисм</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элементларни</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алгебраик</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ифодалаш</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sp>
        <p:nvSpPr>
          <p:cNvPr id="7" name="Rectangle 7"/>
          <p:cNvSpPr>
            <a:spLocks noChangeArrowheads="1"/>
          </p:cNvSpPr>
          <p:nvPr/>
        </p:nvSpPr>
        <p:spPr bwMode="auto">
          <a:xfrm>
            <a:off x="49758" y="900009"/>
            <a:ext cx="1567673" cy="584775"/>
          </a:xfrm>
          <a:prstGeom prst="rect">
            <a:avLst/>
          </a:prstGeom>
          <a:solidFill>
            <a:srgbClr val="FFC000">
              <a:alpha val="86000"/>
            </a:srgbClr>
          </a:solidFill>
          <a:ln w="25400" algn="ctr">
            <a:solidFill>
              <a:schemeClr val="bg1"/>
            </a:solidFill>
            <a:miter lim="800000"/>
            <a:headEnd/>
            <a:tailEnd/>
          </a:ln>
          <a:effectLst/>
          <a:extLst/>
        </p:spPr>
        <p:txBody>
          <a:bodyPr wrap="square" anchor="ctr">
            <a:spAutoFit/>
          </a:bodyPr>
          <a:lstStyle/>
          <a:p>
            <a:pPr algn="ctr">
              <a:spcAft>
                <a:spcPts val="600"/>
              </a:spcAft>
            </a:pPr>
            <a:r>
              <a:rPr lang="en-US" sz="3200" b="1" dirty="0">
                <a:latin typeface="Times New Roman" pitchFamily="18" charset="0"/>
                <a:cs typeface="Times New Roman" pitchFamily="18" charset="0"/>
              </a:rPr>
              <a:t>H(x</a:t>
            </a:r>
            <a:r>
              <a:rPr lang="en-US" sz="3200" b="1" dirty="0" smtClean="0">
                <a:latin typeface="Times New Roman" pitchFamily="18" charset="0"/>
                <a:cs typeface="Times New Roman" pitchFamily="18" charset="0"/>
              </a:rPr>
              <a:t>)</a:t>
            </a:r>
            <a:endParaRPr lang="ru-RU" sz="3200" b="1" dirty="0">
              <a:latin typeface="Times New Roman" pitchFamily="18" charset="0"/>
              <a:cs typeface="Times New Roman" pitchFamily="18" charset="0"/>
            </a:endParaRPr>
          </a:p>
        </p:txBody>
      </p:sp>
      <p:sp>
        <p:nvSpPr>
          <p:cNvPr id="11" name="Rectangle 7"/>
          <p:cNvSpPr>
            <a:spLocks noChangeArrowheads="1"/>
          </p:cNvSpPr>
          <p:nvPr/>
        </p:nvSpPr>
        <p:spPr bwMode="auto">
          <a:xfrm>
            <a:off x="2029978" y="5949280"/>
            <a:ext cx="4702262" cy="461665"/>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t" anchorCtr="0">
            <a:spAutoFit/>
          </a:bodyPr>
          <a:lstStyle/>
          <a:p>
            <a:pPr algn="just">
              <a:spcAft>
                <a:spcPts val="600"/>
              </a:spcAft>
            </a:pPr>
            <a:r>
              <a:rPr lang="ru-RU" sz="2400" b="1" dirty="0" err="1">
                <a:latin typeface="Times New Roman" pitchFamily="18" charset="0"/>
                <a:cs typeface="Times New Roman" pitchFamily="18" charset="0"/>
              </a:rPr>
              <a:t>Демак</a:t>
            </a:r>
            <a:r>
              <a:rPr lang="ru-RU" sz="2400" dirty="0">
                <a:latin typeface="Times New Roman" pitchFamily="18" charset="0"/>
                <a:cs typeface="Times New Roman" pitchFamily="18" charset="0"/>
              </a:rPr>
              <a:t>, </a:t>
            </a:r>
            <a:r>
              <a:rPr lang="ru-RU" sz="2400" dirty="0" err="1" smtClean="0">
                <a:latin typeface="Times New Roman" pitchFamily="18" charset="0"/>
                <a:cs typeface="Times New Roman" pitchFamily="18" charset="0"/>
              </a:rPr>
              <a:t>қуйидаги</a:t>
            </a:r>
            <a:r>
              <a:rPr lang="ru-RU" sz="2400" dirty="0" smtClean="0">
                <a:latin typeface="Times New Roman" pitchFamily="18" charset="0"/>
                <a:cs typeface="Times New Roman" pitchFamily="18" charset="0"/>
              </a:rPr>
              <a:t> АТС </a:t>
            </a:r>
            <a:r>
              <a:rPr lang="ru-RU" sz="2400" dirty="0" err="1" smtClean="0">
                <a:latin typeface="Times New Roman" pitchFamily="18" charset="0"/>
                <a:cs typeface="Times New Roman" pitchFamily="18" charset="0"/>
              </a:rPr>
              <a:t>ўринли</a:t>
            </a:r>
            <a:r>
              <a:rPr lang="ru-RU"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sym typeface="Wingdings" panose="05000000000000000000" pitchFamily="2" charset="2"/>
              </a:rPr>
              <a:t></a:t>
            </a:r>
            <a:endParaRPr lang="ru-RU" sz="2400" dirty="0">
              <a:latin typeface="Times New Roman" pitchFamily="18" charset="0"/>
              <a:cs typeface="Times New Roman" pitchFamily="18" charset="0"/>
            </a:endParaRPr>
          </a:p>
        </p:txBody>
      </p:sp>
      <p:pic>
        <p:nvPicPr>
          <p:cNvPr id="9" name="Рисунок 8"/>
          <p:cNvPicPr>
            <a:picLocks noChangeAspect="1"/>
          </p:cNvPicPr>
          <p:nvPr/>
        </p:nvPicPr>
        <p:blipFill>
          <a:blip r:embed="rId3" cstate="print">
            <a:extLst>
              <a:ext uri="{28A0092B-C50C-407E-A947-70E740481C1C}">
                <a14:useLocalDpi xmlns:a14="http://schemas.microsoft.com/office/drawing/2010/main" val="0"/>
              </a:ext>
            </a:extLst>
          </a:blip>
          <a:srcRect l="23122" t="17125" r="50246" b="39168"/>
          <a:stretch>
            <a:fillRect/>
          </a:stretch>
        </p:blipFill>
        <p:spPr bwMode="auto">
          <a:xfrm>
            <a:off x="935596" y="2018072"/>
            <a:ext cx="3942464" cy="3642494"/>
          </a:xfrm>
          <a:prstGeom prst="rect">
            <a:avLst/>
          </a:prstGeom>
          <a:noFill/>
          <a:ln>
            <a:noFill/>
          </a:ln>
        </p:spPr>
      </p:pic>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uz-Cyrl-UZ"/>
          </a:p>
        </p:txBody>
      </p:sp>
      <p:graphicFrame>
        <p:nvGraphicFramePr>
          <p:cNvPr id="3" name="Объект 2"/>
          <p:cNvGraphicFramePr>
            <a:graphicFrameLocks noChangeAspect="1"/>
          </p:cNvGraphicFramePr>
          <p:nvPr>
            <p:extLst>
              <p:ext uri="{D42A27DB-BD31-4B8C-83A1-F6EECF244321}">
                <p14:modId xmlns:p14="http://schemas.microsoft.com/office/powerpoint/2010/main" val="2159939689"/>
              </p:ext>
            </p:extLst>
          </p:nvPr>
        </p:nvGraphicFramePr>
        <p:xfrm>
          <a:off x="6948264" y="2348880"/>
          <a:ext cx="1577359" cy="3930030"/>
        </p:xfrm>
        <a:graphic>
          <a:graphicData uri="http://schemas.openxmlformats.org/presentationml/2006/ole">
            <mc:AlternateContent xmlns:mc="http://schemas.openxmlformats.org/markup-compatibility/2006">
              <mc:Choice xmlns:v="urn:schemas-microsoft-com:vml" Requires="v">
                <p:oleObj spid="_x0000_s75790" name="Уравнение" r:id="rId4" imgW="571500" imgH="1397000" progId="Equation.3">
                  <p:embed/>
                </p:oleObj>
              </mc:Choice>
              <mc:Fallback>
                <p:oleObj name="Уравнение" r:id="rId4" imgW="571500" imgH="13970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48264" y="2348880"/>
                        <a:ext cx="1577359" cy="393003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7593981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49758" y="1268760"/>
            <a:ext cx="8950734" cy="1631216"/>
          </a:xfrm>
          <a:prstGeom prst="rect">
            <a:avLst/>
          </a:prstGeom>
          <a:solidFill>
            <a:schemeClr val="bg1">
              <a:alpha val="86000"/>
            </a:schemeClr>
          </a:soli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indent="542925" algn="just">
              <a:spcAft>
                <a:spcPts val="600"/>
              </a:spcAft>
            </a:pPr>
            <a:r>
              <a:rPr lang="ru-RU" sz="2000" b="1" dirty="0">
                <a:latin typeface="Times New Roman" pitchFamily="18" charset="0"/>
                <a:cs typeface="Times New Roman" pitchFamily="18" charset="0"/>
              </a:rPr>
              <a:t>y=G(x) - </a:t>
            </a:r>
            <a:r>
              <a:rPr lang="ru-RU" sz="2000" dirty="0">
                <a:latin typeface="Times New Roman" pitchFamily="18" charset="0"/>
                <a:cs typeface="Times New Roman" pitchFamily="18" charset="0"/>
              </a:rPr>
              <a:t>функция – </a:t>
            </a:r>
            <a:r>
              <a:rPr lang="ru-RU" sz="2000" dirty="0" err="1">
                <a:latin typeface="Times New Roman" pitchFamily="18" charset="0"/>
                <a:cs typeface="Times New Roman" pitchFamily="18" charset="0"/>
              </a:rPr>
              <a:t>ўлчами</a:t>
            </a:r>
            <a:r>
              <a:rPr lang="ru-RU" sz="2000" dirty="0">
                <a:latin typeface="Times New Roman" pitchFamily="18" charset="0"/>
                <a:cs typeface="Times New Roman" pitchFamily="18" charset="0"/>
              </a:rPr>
              <a:t> 3x3 бит </a:t>
            </a:r>
            <a:r>
              <a:rPr lang="ru-RU" sz="2000" dirty="0" err="1">
                <a:latin typeface="Times New Roman" pitchFamily="18" charset="0"/>
                <a:cs typeface="Times New Roman" pitchFamily="18" charset="0"/>
              </a:rPr>
              <a:t>бўлган</a:t>
            </a:r>
            <a:r>
              <a:rPr lang="ru-RU" sz="2000" dirty="0">
                <a:latin typeface="Times New Roman" pitchFamily="18" charset="0"/>
                <a:cs typeface="Times New Roman" pitchFamily="18" charset="0"/>
              </a:rPr>
              <a:t> </a:t>
            </a:r>
            <a:r>
              <a:rPr lang="ru-RU" sz="2000" dirty="0" smtClean="0">
                <a:latin typeface="Times New Roman" pitchFamily="18" charset="0"/>
                <a:cs typeface="Times New Roman" pitchFamily="18" charset="0"/>
              </a:rPr>
              <a:t>S </a:t>
            </a:r>
            <a:r>
              <a:rPr lang="ru-RU" sz="2000" dirty="0">
                <a:latin typeface="Times New Roman" pitchFamily="18" charset="0"/>
                <a:cs typeface="Times New Roman" pitchFamily="18" charset="0"/>
              </a:rPr>
              <a:t>– блок </a:t>
            </a:r>
            <a:r>
              <a:rPr lang="ru-RU" sz="2000" dirty="0" err="1">
                <a:latin typeface="Times New Roman" pitchFamily="18" charset="0"/>
                <a:cs typeface="Times New Roman" pitchFamily="18" charset="0"/>
              </a:rPr>
              <a:t>акслантиришини</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амалга</a:t>
            </a:r>
            <a:r>
              <a:rPr lang="ru-RU" sz="2000" dirty="0">
                <a:latin typeface="Times New Roman" pitchFamily="18" charset="0"/>
                <a:cs typeface="Times New Roman" pitchFamily="18" charset="0"/>
              </a:rPr>
              <a:t> </a:t>
            </a:r>
            <a:r>
              <a:rPr lang="ru-RU" sz="2000" dirty="0" err="1" smtClean="0">
                <a:latin typeface="Times New Roman" pitchFamily="18" charset="0"/>
                <a:cs typeface="Times New Roman" pitchFamily="18" charset="0"/>
              </a:rPr>
              <a:t>оширади</a:t>
            </a:r>
            <a:r>
              <a:rPr lang="en-US" sz="2000" dirty="0" smtClean="0">
                <a:latin typeface="Times New Roman" pitchFamily="18" charset="0"/>
                <a:cs typeface="Times New Roman" pitchFamily="18" charset="0"/>
              </a:rPr>
              <a:t>. </a:t>
            </a:r>
            <a:r>
              <a:rPr lang="uz-Cyrl-UZ" sz="2000" dirty="0">
                <a:latin typeface="Times New Roman" pitchFamily="18" charset="0"/>
                <a:cs typeface="Times New Roman" pitchFamily="18" charset="0"/>
              </a:rPr>
              <a:t>Ушбу акслантиришни ифодаловчи тенгламалар </a:t>
            </a:r>
            <a:r>
              <a:rPr lang="uz-Cyrl-UZ" sz="2000" dirty="0" smtClean="0">
                <a:latin typeface="Times New Roman" pitchFamily="18" charset="0"/>
                <a:cs typeface="Times New Roman" pitchFamily="18" charset="0"/>
              </a:rPr>
              <a:t>системасини тузишнинг дастлабки усулларидан бири </a:t>
            </a:r>
            <a:r>
              <a:rPr lang="uz-Cyrl-UZ" sz="2000" b="1" dirty="0" smtClean="0">
                <a:latin typeface="Times New Roman" pitchFamily="18" charset="0"/>
                <a:cs typeface="Times New Roman" pitchFamily="18" charset="0"/>
              </a:rPr>
              <a:t>бўлиши мумкин бўлган барча тенгламаларни қуриш ва улар орасидан тўғри тенгламаларни ажратиш </a:t>
            </a:r>
            <a:r>
              <a:rPr lang="uz-Cyrl-UZ" sz="2000" dirty="0" smtClean="0">
                <a:latin typeface="Times New Roman" pitchFamily="18" charset="0"/>
                <a:cs typeface="Times New Roman" pitchFamily="18" charset="0"/>
              </a:rPr>
              <a:t>ҳисобланади.</a:t>
            </a:r>
            <a:endParaRPr lang="ru-RU" sz="2000" dirty="0">
              <a:latin typeface="Times New Roman" pitchFamily="18" charset="0"/>
              <a:cs typeface="Times New Roman" pitchFamily="18" charset="0"/>
            </a:endParaRPr>
          </a:p>
        </p:txBody>
      </p:sp>
      <p:sp>
        <p:nvSpPr>
          <p:cNvPr id="4" name="Rectangle 8"/>
          <p:cNvSpPr>
            <a:spLocks noChangeArrowheads="1"/>
          </p:cNvSpPr>
          <p:nvPr/>
        </p:nvSpPr>
        <p:spPr bwMode="auto">
          <a:xfrm>
            <a:off x="0" y="-67719"/>
            <a:ext cx="8676000" cy="584775"/>
          </a:xfrm>
          <a:prstGeom prst="rect">
            <a:avLst/>
          </a:prstGeom>
          <a:solidFill>
            <a:srgbClr val="FFC000">
              <a:alpha val="95000"/>
            </a:srgbClr>
          </a:solidFill>
          <a:ln>
            <a:noFill/>
          </a:ln>
          <a:effectLst/>
          <a:extLst/>
        </p:spPr>
        <p:txBody>
          <a:bodyPr wrap="square" anchor="ctr">
            <a:spAutoFit/>
          </a:bodyPr>
          <a:lstStyle/>
          <a:p>
            <a:pPr>
              <a:defRPr/>
            </a:pPr>
            <a:r>
              <a:rPr lang="ru-RU" sz="3200" b="1" dirty="0" err="1" smtClean="0">
                <a:solidFill>
                  <a:srgbClr val="000000"/>
                </a:solidFill>
                <a:effectLst>
                  <a:outerShdw blurRad="38100" dist="38100" dir="2700000" algn="tl">
                    <a:srgbClr val="FFFFFF"/>
                  </a:outerShdw>
                </a:effectLst>
                <a:latin typeface="Times New Roman" pitchFamily="18" charset="0"/>
              </a:rPr>
              <a:t>Қисм</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элементларни</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алгебраик</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ифодалаш</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sp>
        <p:nvSpPr>
          <p:cNvPr id="7" name="Rectangle 7"/>
          <p:cNvSpPr>
            <a:spLocks noChangeArrowheads="1"/>
          </p:cNvSpPr>
          <p:nvPr/>
        </p:nvSpPr>
        <p:spPr bwMode="auto">
          <a:xfrm>
            <a:off x="49758" y="611977"/>
            <a:ext cx="1567673" cy="584775"/>
          </a:xfrm>
          <a:prstGeom prst="rect">
            <a:avLst/>
          </a:prstGeom>
          <a:solidFill>
            <a:srgbClr val="92D050">
              <a:alpha val="86000"/>
            </a:srgbClr>
          </a:solidFill>
          <a:ln w="25400" algn="ctr">
            <a:solidFill>
              <a:schemeClr val="bg1"/>
            </a:solidFill>
            <a:miter lim="800000"/>
            <a:headEnd/>
            <a:tailEnd/>
          </a:ln>
          <a:effectLst/>
          <a:extLst/>
        </p:spPr>
        <p:txBody>
          <a:bodyPr wrap="square" anchor="ctr">
            <a:spAutoFit/>
          </a:bodyPr>
          <a:lstStyle/>
          <a:p>
            <a:pPr algn="ctr">
              <a:spcAft>
                <a:spcPts val="600"/>
              </a:spcAft>
            </a:pPr>
            <a:r>
              <a:rPr lang="en-US" sz="3200" b="1" dirty="0" smtClean="0">
                <a:latin typeface="Times New Roman" pitchFamily="18" charset="0"/>
                <a:cs typeface="Times New Roman" pitchFamily="18" charset="0"/>
              </a:rPr>
              <a:t>G(x)</a:t>
            </a:r>
            <a:endParaRPr lang="ru-RU" sz="3200" b="1" dirty="0">
              <a:latin typeface="Times New Roman" pitchFamily="18" charset="0"/>
              <a:cs typeface="Times New Roman" pitchFamily="18" charset="0"/>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uz-Cyrl-UZ"/>
          </a:p>
        </p:txBody>
      </p:sp>
      <p:cxnSp>
        <p:nvCxnSpPr>
          <p:cNvPr id="10" name="Прямая со стрелкой 9"/>
          <p:cNvCxnSpPr/>
          <p:nvPr/>
        </p:nvCxnSpPr>
        <p:spPr>
          <a:xfrm>
            <a:off x="402938" y="3534955"/>
            <a:ext cx="0" cy="320250"/>
          </a:xfrm>
          <a:prstGeom prst="straightConnector1">
            <a:avLst/>
          </a:prstGeom>
          <a:ln>
            <a:solidFill>
              <a:schemeClr val="tx1"/>
            </a:solidFill>
            <a:tailEnd type="arrow"/>
          </a:ln>
        </p:spPr>
        <p:style>
          <a:lnRef idx="2">
            <a:schemeClr val="accent2"/>
          </a:lnRef>
          <a:fillRef idx="0">
            <a:schemeClr val="accent2"/>
          </a:fillRef>
          <a:effectRef idx="1">
            <a:schemeClr val="accent2"/>
          </a:effectRef>
          <a:fontRef idx="minor">
            <a:schemeClr val="tx1"/>
          </a:fontRef>
        </p:style>
      </p:cxnSp>
      <p:cxnSp>
        <p:nvCxnSpPr>
          <p:cNvPr id="12" name="Прямая со стрелкой 11"/>
          <p:cNvCxnSpPr/>
          <p:nvPr/>
        </p:nvCxnSpPr>
        <p:spPr>
          <a:xfrm>
            <a:off x="762978" y="3542528"/>
            <a:ext cx="0" cy="320250"/>
          </a:xfrm>
          <a:prstGeom prst="straightConnector1">
            <a:avLst/>
          </a:prstGeom>
          <a:ln>
            <a:solidFill>
              <a:schemeClr val="tx1"/>
            </a:solidFill>
            <a:tailEnd type="arrow"/>
          </a:ln>
        </p:spPr>
        <p:style>
          <a:lnRef idx="2">
            <a:schemeClr val="accent2"/>
          </a:lnRef>
          <a:fillRef idx="0">
            <a:schemeClr val="accent2"/>
          </a:fillRef>
          <a:effectRef idx="1">
            <a:schemeClr val="accent2"/>
          </a:effectRef>
          <a:fontRef idx="minor">
            <a:schemeClr val="tx1"/>
          </a:fontRef>
        </p:style>
      </p:cxnSp>
      <p:cxnSp>
        <p:nvCxnSpPr>
          <p:cNvPr id="13" name="Прямая со стрелкой 12"/>
          <p:cNvCxnSpPr/>
          <p:nvPr/>
        </p:nvCxnSpPr>
        <p:spPr>
          <a:xfrm>
            <a:off x="1060848" y="3542528"/>
            <a:ext cx="0" cy="320250"/>
          </a:xfrm>
          <a:prstGeom prst="straightConnector1">
            <a:avLst/>
          </a:prstGeom>
          <a:ln>
            <a:solidFill>
              <a:schemeClr val="tx1"/>
            </a:solidFill>
            <a:tailEnd type="arrow"/>
          </a:ln>
        </p:spPr>
        <p:style>
          <a:lnRef idx="2">
            <a:schemeClr val="accent2"/>
          </a:lnRef>
          <a:fillRef idx="0">
            <a:schemeClr val="accent2"/>
          </a:fillRef>
          <a:effectRef idx="1">
            <a:schemeClr val="accent2"/>
          </a:effectRef>
          <a:fontRef idx="minor">
            <a:schemeClr val="tx1"/>
          </a:fontRef>
        </p:style>
      </p:cxnSp>
      <p:cxnSp>
        <p:nvCxnSpPr>
          <p:cNvPr id="14" name="Прямая со стрелкой 13"/>
          <p:cNvCxnSpPr/>
          <p:nvPr/>
        </p:nvCxnSpPr>
        <p:spPr>
          <a:xfrm>
            <a:off x="1843098" y="3542528"/>
            <a:ext cx="0" cy="320250"/>
          </a:xfrm>
          <a:prstGeom prst="straightConnector1">
            <a:avLst/>
          </a:prstGeom>
          <a:ln>
            <a:solidFill>
              <a:schemeClr val="tx1"/>
            </a:solidFill>
            <a:tailEnd type="arrow"/>
          </a:ln>
        </p:spPr>
        <p:style>
          <a:lnRef idx="2">
            <a:schemeClr val="accent2"/>
          </a:lnRef>
          <a:fillRef idx="0">
            <a:schemeClr val="accent2"/>
          </a:fillRef>
          <a:effectRef idx="1">
            <a:schemeClr val="accent2"/>
          </a:effectRef>
          <a:fontRef idx="minor">
            <a:schemeClr val="tx1"/>
          </a:fontRef>
        </p:style>
      </p:cxnSp>
      <p:sp>
        <p:nvSpPr>
          <p:cNvPr id="15" name="Блок-схема: узел 14"/>
          <p:cNvSpPr/>
          <p:nvPr/>
        </p:nvSpPr>
        <p:spPr>
          <a:xfrm>
            <a:off x="1195026" y="3764136"/>
            <a:ext cx="72008" cy="72008"/>
          </a:xfrm>
          <a:prstGeom prst="flowChartConnector">
            <a:avLst/>
          </a:prstGeom>
          <a:solidFill>
            <a:schemeClr val="tx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ru-RU"/>
          </a:p>
        </p:txBody>
      </p:sp>
      <p:sp>
        <p:nvSpPr>
          <p:cNvPr id="16" name="Блок-схема: узел 15"/>
          <p:cNvSpPr/>
          <p:nvPr/>
        </p:nvSpPr>
        <p:spPr>
          <a:xfrm>
            <a:off x="1411050" y="3773014"/>
            <a:ext cx="72008" cy="72008"/>
          </a:xfrm>
          <a:prstGeom prst="flowChartConnector">
            <a:avLst/>
          </a:prstGeom>
          <a:solidFill>
            <a:schemeClr val="tx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ru-RU"/>
          </a:p>
        </p:txBody>
      </p:sp>
      <p:sp>
        <p:nvSpPr>
          <p:cNvPr id="17" name="Блок-схема: узел 16"/>
          <p:cNvSpPr/>
          <p:nvPr/>
        </p:nvSpPr>
        <p:spPr>
          <a:xfrm>
            <a:off x="1627074" y="3764136"/>
            <a:ext cx="72008" cy="72008"/>
          </a:xfrm>
          <a:prstGeom prst="flowChartConnector">
            <a:avLst/>
          </a:prstGeom>
          <a:solidFill>
            <a:schemeClr val="tx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ru-RU"/>
          </a:p>
        </p:txBody>
      </p:sp>
      <p:cxnSp>
        <p:nvCxnSpPr>
          <p:cNvPr id="18" name="Прямая со стрелкой 17"/>
          <p:cNvCxnSpPr/>
          <p:nvPr/>
        </p:nvCxnSpPr>
        <p:spPr>
          <a:xfrm>
            <a:off x="366442" y="4438842"/>
            <a:ext cx="0" cy="320250"/>
          </a:xfrm>
          <a:prstGeom prst="straightConnector1">
            <a:avLst/>
          </a:prstGeom>
          <a:ln>
            <a:solidFill>
              <a:schemeClr val="tx1"/>
            </a:solidFill>
            <a:tailEnd type="arrow"/>
          </a:ln>
        </p:spPr>
        <p:style>
          <a:lnRef idx="2">
            <a:schemeClr val="accent2"/>
          </a:lnRef>
          <a:fillRef idx="0">
            <a:schemeClr val="accent2"/>
          </a:fillRef>
          <a:effectRef idx="1">
            <a:schemeClr val="accent2"/>
          </a:effectRef>
          <a:fontRef idx="minor">
            <a:schemeClr val="tx1"/>
          </a:fontRef>
        </p:style>
      </p:cxnSp>
      <p:cxnSp>
        <p:nvCxnSpPr>
          <p:cNvPr id="19" name="Прямая со стрелкой 18"/>
          <p:cNvCxnSpPr/>
          <p:nvPr/>
        </p:nvCxnSpPr>
        <p:spPr>
          <a:xfrm>
            <a:off x="726482" y="4446415"/>
            <a:ext cx="0" cy="320250"/>
          </a:xfrm>
          <a:prstGeom prst="straightConnector1">
            <a:avLst/>
          </a:prstGeom>
          <a:ln>
            <a:solidFill>
              <a:schemeClr val="tx1"/>
            </a:solidFill>
            <a:tailEnd type="arrow"/>
          </a:ln>
        </p:spPr>
        <p:style>
          <a:lnRef idx="2">
            <a:schemeClr val="accent2"/>
          </a:lnRef>
          <a:fillRef idx="0">
            <a:schemeClr val="accent2"/>
          </a:fillRef>
          <a:effectRef idx="1">
            <a:schemeClr val="accent2"/>
          </a:effectRef>
          <a:fontRef idx="minor">
            <a:schemeClr val="tx1"/>
          </a:fontRef>
        </p:style>
      </p:cxnSp>
      <p:cxnSp>
        <p:nvCxnSpPr>
          <p:cNvPr id="20" name="Прямая со стрелкой 19"/>
          <p:cNvCxnSpPr/>
          <p:nvPr/>
        </p:nvCxnSpPr>
        <p:spPr>
          <a:xfrm>
            <a:off x="1024352" y="4446415"/>
            <a:ext cx="0" cy="320250"/>
          </a:xfrm>
          <a:prstGeom prst="straightConnector1">
            <a:avLst/>
          </a:prstGeom>
          <a:ln>
            <a:solidFill>
              <a:schemeClr val="tx1"/>
            </a:solidFill>
            <a:tailEnd type="arrow"/>
          </a:ln>
        </p:spPr>
        <p:style>
          <a:lnRef idx="2">
            <a:schemeClr val="accent2"/>
          </a:lnRef>
          <a:fillRef idx="0">
            <a:schemeClr val="accent2"/>
          </a:fillRef>
          <a:effectRef idx="1">
            <a:schemeClr val="accent2"/>
          </a:effectRef>
          <a:fontRef idx="minor">
            <a:schemeClr val="tx1"/>
          </a:fontRef>
        </p:style>
      </p:cxnSp>
      <p:cxnSp>
        <p:nvCxnSpPr>
          <p:cNvPr id="21" name="Прямая со стрелкой 20"/>
          <p:cNvCxnSpPr/>
          <p:nvPr/>
        </p:nvCxnSpPr>
        <p:spPr>
          <a:xfrm>
            <a:off x="1806602" y="4446415"/>
            <a:ext cx="0" cy="320250"/>
          </a:xfrm>
          <a:prstGeom prst="straightConnector1">
            <a:avLst/>
          </a:prstGeom>
          <a:ln>
            <a:solidFill>
              <a:schemeClr val="tx1"/>
            </a:solidFill>
            <a:tailEnd type="arrow"/>
          </a:ln>
        </p:spPr>
        <p:style>
          <a:lnRef idx="2">
            <a:schemeClr val="accent2"/>
          </a:lnRef>
          <a:fillRef idx="0">
            <a:schemeClr val="accent2"/>
          </a:fillRef>
          <a:effectRef idx="1">
            <a:schemeClr val="accent2"/>
          </a:effectRef>
          <a:fontRef idx="minor">
            <a:schemeClr val="tx1"/>
          </a:fontRef>
        </p:style>
      </p:cxnSp>
      <p:sp>
        <p:nvSpPr>
          <p:cNvPr id="22" name="Блок-схема: узел 21"/>
          <p:cNvSpPr/>
          <p:nvPr/>
        </p:nvSpPr>
        <p:spPr>
          <a:xfrm>
            <a:off x="1158530" y="4438842"/>
            <a:ext cx="72008" cy="72008"/>
          </a:xfrm>
          <a:prstGeom prst="flowChartConnector">
            <a:avLst/>
          </a:prstGeom>
          <a:solidFill>
            <a:schemeClr val="tx1"/>
          </a:solidFill>
          <a:ln>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ru-RU"/>
          </a:p>
        </p:txBody>
      </p:sp>
      <p:sp>
        <p:nvSpPr>
          <p:cNvPr id="23" name="Блок-схема: узел 22"/>
          <p:cNvSpPr/>
          <p:nvPr/>
        </p:nvSpPr>
        <p:spPr>
          <a:xfrm>
            <a:off x="1374554" y="4438842"/>
            <a:ext cx="72008" cy="72008"/>
          </a:xfrm>
          <a:prstGeom prst="flowChartConnector">
            <a:avLst/>
          </a:prstGeom>
          <a:solidFill>
            <a:schemeClr val="tx1"/>
          </a:solidFill>
          <a:ln>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ru-RU"/>
          </a:p>
        </p:txBody>
      </p:sp>
      <p:sp>
        <p:nvSpPr>
          <p:cNvPr id="24" name="Блок-схема: узел 23"/>
          <p:cNvSpPr/>
          <p:nvPr/>
        </p:nvSpPr>
        <p:spPr>
          <a:xfrm>
            <a:off x="1590578" y="4438842"/>
            <a:ext cx="72008" cy="72008"/>
          </a:xfrm>
          <a:prstGeom prst="flowChartConnector">
            <a:avLst/>
          </a:prstGeom>
          <a:solidFill>
            <a:schemeClr val="tx1"/>
          </a:solidFill>
          <a:ln>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ru-RU"/>
          </a:p>
        </p:txBody>
      </p:sp>
      <p:sp>
        <p:nvSpPr>
          <p:cNvPr id="25" name="Объект 2"/>
          <p:cNvSpPr txBox="1">
            <a:spLocks/>
          </p:cNvSpPr>
          <p:nvPr/>
        </p:nvSpPr>
        <p:spPr>
          <a:xfrm>
            <a:off x="107012" y="3277836"/>
            <a:ext cx="1980712" cy="432048"/>
          </a:xfrm>
          <a:prstGeom prst="rect">
            <a:avLst/>
          </a:prstGeom>
        </p:spPr>
        <p:txBody>
          <a:bodyPr vert="horz" lIns="91440" tIns="45720" rIns="91440" bIns="45720" rtlCol="0">
            <a:normAutofit fontScale="850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   X</a:t>
            </a:r>
            <a:r>
              <a:rPr lang="en-US" sz="1800" b="1" baseline="-25000"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1</a:t>
            </a:r>
            <a:r>
              <a:rPr lang="en-US"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uz-Cyrl-UZ"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X</a:t>
            </a:r>
            <a:r>
              <a:rPr lang="en-US" sz="1800" b="1" baseline="-25000"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2</a:t>
            </a:r>
            <a:r>
              <a:rPr lang="en-US"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uz-Cyrl-UZ"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X</a:t>
            </a:r>
            <a:r>
              <a:rPr lang="en-US" sz="1800" b="1" baseline="-25000"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3</a:t>
            </a:r>
            <a:r>
              <a:rPr lang="en-US"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  … </a:t>
            </a:r>
            <a:r>
              <a:rPr lang="uz-Cyrl-UZ"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X</a:t>
            </a:r>
            <a:r>
              <a:rPr lang="en-US" sz="1800" b="1" baseline="-25000"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N</a:t>
            </a:r>
            <a:endParaRPr lang="ru-RU" sz="1800" b="1" dirty="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6" name="Объект 2"/>
          <p:cNvSpPr txBox="1">
            <a:spLocks/>
          </p:cNvSpPr>
          <p:nvPr/>
        </p:nvSpPr>
        <p:spPr>
          <a:xfrm>
            <a:off x="71500" y="4735752"/>
            <a:ext cx="2031964" cy="432048"/>
          </a:xfrm>
          <a:prstGeom prst="rect">
            <a:avLst/>
          </a:prstGeom>
        </p:spPr>
        <p:txBody>
          <a:bodyPr vert="horz" lIns="91440" tIns="45720" rIns="91440" bIns="45720" rtlCol="0">
            <a:normAutofit fontScale="850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   Y</a:t>
            </a:r>
            <a:r>
              <a:rPr lang="en-US" sz="1800" b="1" baseline="-25000"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1</a:t>
            </a:r>
            <a:r>
              <a:rPr lang="en-US"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uz-Cyrl-UZ"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Y</a:t>
            </a:r>
            <a:r>
              <a:rPr lang="en-US" sz="1800" b="1" baseline="-25000"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2</a:t>
            </a:r>
            <a:r>
              <a:rPr lang="en-US"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uz-Cyrl-UZ"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Y</a:t>
            </a:r>
            <a:r>
              <a:rPr lang="en-US" sz="1800" b="1" baseline="-25000"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3</a:t>
            </a:r>
            <a:r>
              <a:rPr lang="en-US"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uz-Cyrl-UZ"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uz-Cyrl-UZ"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sz="1800" b="1"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Y</a:t>
            </a:r>
            <a:r>
              <a:rPr lang="en-US" sz="1800" b="1" baseline="-25000" dirty="0" smtClean="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N</a:t>
            </a:r>
            <a:endParaRPr lang="ru-RU" sz="1800" b="1" dirty="0">
              <a:solidFill>
                <a:schemeClr val="accent6">
                  <a:lumMod val="50000"/>
                </a:schemeClr>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27" name="Прямоугольник 26"/>
          <p:cNvSpPr/>
          <p:nvPr/>
        </p:nvSpPr>
        <p:spPr>
          <a:xfrm>
            <a:off x="2267744" y="3594468"/>
            <a:ext cx="6810336" cy="1260120"/>
          </a:xfrm>
          <a:prstGeom prst="rect">
            <a:avLst/>
          </a:prstGeom>
          <a:solidFill>
            <a:schemeClr val="bg1"/>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uz-Cyrl-UZ" sz="2000" i="1" dirty="0" smtClean="0">
                <a:latin typeface="Times New Roman" pitchFamily="18" charset="0"/>
                <a:cs typeface="Times New Roman" pitchFamily="18" charset="0"/>
              </a:rPr>
              <a:t>x</a:t>
            </a:r>
            <a:r>
              <a:rPr lang="uz-Cyrl-UZ" sz="2000" i="1" baseline="-25000" dirty="0" smtClean="0">
                <a:latin typeface="Times New Roman" pitchFamily="18" charset="0"/>
                <a:cs typeface="Times New Roman" pitchFamily="18" charset="0"/>
              </a:rPr>
              <a:t>i</a:t>
            </a:r>
            <a:r>
              <a:rPr lang="uz-Cyrl-UZ" sz="2000" i="1" dirty="0" smtClean="0">
                <a:latin typeface="Times New Roman" pitchFamily="18" charset="0"/>
                <a:cs typeface="Times New Roman" pitchFamily="18" charset="0"/>
              </a:rPr>
              <a:t> </a:t>
            </a:r>
            <a:r>
              <a:rPr lang="uz-Cyrl-UZ" sz="2000" i="1" dirty="0">
                <a:latin typeface="Times New Roman" pitchFamily="18" charset="0"/>
                <a:cs typeface="Times New Roman" pitchFamily="18" charset="0"/>
              </a:rPr>
              <a:t>(y</a:t>
            </a:r>
            <a:r>
              <a:rPr lang="uz-Cyrl-UZ" sz="2000" i="1" baseline="-25000" dirty="0">
                <a:latin typeface="Times New Roman" pitchFamily="18" charset="0"/>
                <a:cs typeface="Times New Roman" pitchFamily="18" charset="0"/>
              </a:rPr>
              <a:t>j</a:t>
            </a:r>
            <a:r>
              <a:rPr lang="uz-Cyrl-UZ" sz="2000" i="1" dirty="0">
                <a:latin typeface="Times New Roman" pitchFamily="18" charset="0"/>
                <a:cs typeface="Times New Roman" pitchFamily="18" charset="0"/>
              </a:rPr>
              <a:t>) – S блокга кирувчи (чиқувчи) бит, </a:t>
            </a:r>
            <a:r>
              <a:rPr lang="uz-Cyrl-UZ" sz="2000" i="1" dirty="0" smtClean="0">
                <a:latin typeface="Times New Roman" pitchFamily="18" charset="0"/>
                <a:cs typeface="Times New Roman" pitchFamily="18" charset="0"/>
              </a:rPr>
              <a:t>x</a:t>
            </a:r>
            <a:r>
              <a:rPr lang="uz-Cyrl-UZ" sz="2000" i="1" baseline="-25000" dirty="0" smtClean="0">
                <a:latin typeface="Times New Roman" pitchFamily="18" charset="0"/>
                <a:cs typeface="Times New Roman" pitchFamily="18" charset="0"/>
              </a:rPr>
              <a:t>i</a:t>
            </a:r>
            <a:r>
              <a:rPr lang="uz-Cyrl-UZ" sz="2000" i="1" dirty="0" smtClean="0">
                <a:latin typeface="Times New Roman" pitchFamily="18" charset="0"/>
                <a:cs typeface="Times New Roman" pitchFamily="18" charset="0"/>
              </a:rPr>
              <a:t>x</a:t>
            </a:r>
            <a:r>
              <a:rPr lang="uz-Cyrl-UZ" sz="2000" i="1" baseline="-25000" dirty="0" smtClean="0">
                <a:latin typeface="Times New Roman" pitchFamily="18" charset="0"/>
                <a:cs typeface="Times New Roman" pitchFamily="18" charset="0"/>
              </a:rPr>
              <a:t>j</a:t>
            </a:r>
            <a:r>
              <a:rPr lang="uz-Cyrl-UZ" sz="2000" i="1" dirty="0" smtClean="0">
                <a:latin typeface="Times New Roman" pitchFamily="18" charset="0"/>
                <a:cs typeface="Times New Roman" pitchFamily="18" charset="0"/>
              </a:rPr>
              <a:t> </a:t>
            </a:r>
            <a:r>
              <a:rPr lang="uz-Cyrl-UZ" sz="2000" i="1" dirty="0">
                <a:latin typeface="Times New Roman" pitchFamily="18" charset="0"/>
                <a:cs typeface="Times New Roman" pitchFamily="18" charset="0"/>
              </a:rPr>
              <a:t>(y</a:t>
            </a:r>
            <a:r>
              <a:rPr lang="uz-Cyrl-UZ" sz="2000" i="1" baseline="-25000" dirty="0">
                <a:latin typeface="Times New Roman" pitchFamily="18" charset="0"/>
                <a:cs typeface="Times New Roman" pitchFamily="18" charset="0"/>
              </a:rPr>
              <a:t>i</a:t>
            </a:r>
            <a:r>
              <a:rPr lang="uz-Cyrl-UZ" sz="2000" i="1" dirty="0">
                <a:latin typeface="Times New Roman" pitchFamily="18" charset="0"/>
                <a:cs typeface="Times New Roman" pitchFamily="18" charset="0"/>
              </a:rPr>
              <a:t>y</a:t>
            </a:r>
            <a:r>
              <a:rPr lang="uz-Cyrl-UZ" sz="2000" i="1" baseline="-25000" dirty="0">
                <a:latin typeface="Times New Roman" pitchFamily="18" charset="0"/>
                <a:cs typeface="Times New Roman" pitchFamily="18" charset="0"/>
              </a:rPr>
              <a:t>j</a:t>
            </a:r>
            <a:r>
              <a:rPr lang="uz-Cyrl-UZ" sz="2000" i="1" dirty="0">
                <a:latin typeface="Times New Roman" pitchFamily="18" charset="0"/>
                <a:cs typeface="Times New Roman" pitchFamily="18" charset="0"/>
              </a:rPr>
              <a:t>, x</a:t>
            </a:r>
            <a:r>
              <a:rPr lang="uz-Cyrl-UZ" sz="2000" i="1" baseline="-25000" dirty="0">
                <a:latin typeface="Times New Roman" pitchFamily="18" charset="0"/>
                <a:cs typeface="Times New Roman" pitchFamily="18" charset="0"/>
              </a:rPr>
              <a:t>i</a:t>
            </a:r>
            <a:r>
              <a:rPr lang="uz-Cyrl-UZ" sz="2000" i="1" dirty="0">
                <a:latin typeface="Times New Roman" pitchFamily="18" charset="0"/>
                <a:cs typeface="Times New Roman" pitchFamily="18" charset="0"/>
              </a:rPr>
              <a:t>y</a:t>
            </a:r>
            <a:r>
              <a:rPr lang="uz-Cyrl-UZ" sz="2000" i="1" baseline="-25000" dirty="0">
                <a:latin typeface="Times New Roman" pitchFamily="18" charset="0"/>
                <a:cs typeface="Times New Roman" pitchFamily="18" charset="0"/>
              </a:rPr>
              <a:t>j</a:t>
            </a:r>
            <a:r>
              <a:rPr lang="uz-Cyrl-UZ" sz="2000" i="1" dirty="0">
                <a:latin typeface="Times New Roman" pitchFamily="18" charset="0"/>
                <a:cs typeface="Times New Roman" pitchFamily="18" charset="0"/>
              </a:rPr>
              <a:t>) – кирувчи (чиқувчи, кирувчи ва чиқувчи) битлар комбинацияси, </a:t>
            </a:r>
            <a:endParaRPr lang="en-US" sz="2000" i="1" dirty="0" smtClean="0">
              <a:latin typeface="Times New Roman" pitchFamily="18" charset="0"/>
              <a:cs typeface="Times New Roman" pitchFamily="18" charset="0"/>
            </a:endParaRPr>
          </a:p>
          <a:p>
            <a:pPr algn="ctr"/>
            <a:r>
              <a:rPr lang="en-US" sz="2000" i="1" dirty="0" smtClean="0">
                <a:latin typeface="Times New Roman" pitchFamily="18" charset="0"/>
                <a:cs typeface="Times New Roman" pitchFamily="18" charset="0"/>
              </a:rPr>
              <a:t>n</a:t>
            </a:r>
            <a:r>
              <a:rPr lang="uz-Cyrl-UZ" sz="2000" i="1" dirty="0" smtClean="0">
                <a:latin typeface="Times New Roman" pitchFamily="18" charset="0"/>
                <a:cs typeface="Times New Roman" pitchFamily="18" charset="0"/>
              </a:rPr>
              <a:t> </a:t>
            </a:r>
            <a:r>
              <a:rPr lang="uz-Cyrl-UZ" sz="2000" i="1" dirty="0">
                <a:latin typeface="Times New Roman" pitchFamily="18" charset="0"/>
                <a:cs typeface="Times New Roman" pitchFamily="18" charset="0"/>
              </a:rPr>
              <a:t>– 0 ёки 1 қиймат қабул қилувчи коэффициент</a:t>
            </a:r>
            <a:r>
              <a:rPr lang="uz-Cyrl-UZ" sz="2000" i="1" dirty="0" smtClean="0">
                <a:latin typeface="Times New Roman" pitchFamily="18" charset="0"/>
                <a:cs typeface="Times New Roman" pitchFamily="18" charset="0"/>
              </a:rPr>
              <a:t>.</a:t>
            </a:r>
            <a:endParaRPr lang="ru-RU" sz="2000" i="1" dirty="0">
              <a:latin typeface="Times New Roman" pitchFamily="18" charset="0"/>
              <a:cs typeface="Times New Roman" pitchFamily="18" charset="0"/>
            </a:endParaRPr>
          </a:p>
        </p:txBody>
      </p:sp>
      <p:sp>
        <p:nvSpPr>
          <p:cNvPr id="28" name="Стрелка вправо 27"/>
          <p:cNvSpPr/>
          <p:nvPr/>
        </p:nvSpPr>
        <p:spPr>
          <a:xfrm>
            <a:off x="2015716" y="4062540"/>
            <a:ext cx="216000" cy="180000"/>
          </a:xfrm>
          <a:prstGeom prst="rightArrow">
            <a:avLst/>
          </a:prstGeom>
          <a:solidFill>
            <a:schemeClr val="tx2">
              <a:lumMod val="40000"/>
              <a:lumOff val="60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Скругленный прямоугольник 28"/>
          <p:cNvSpPr/>
          <p:nvPr/>
        </p:nvSpPr>
        <p:spPr>
          <a:xfrm>
            <a:off x="159248" y="3869800"/>
            <a:ext cx="1800000" cy="576000"/>
          </a:xfrm>
          <a:prstGeom prst="roundRect">
            <a:avLst/>
          </a:prstGeom>
          <a:solidFill>
            <a:schemeClr val="bg1">
              <a:lumMod val="85000"/>
            </a:schemeClr>
          </a:solidFill>
          <a:ln w="381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3200" b="1" dirty="0" smtClean="0">
                <a:solidFill>
                  <a:schemeClr val="tx1"/>
                </a:solidFill>
                <a:latin typeface="Times New Roman" pitchFamily="18" charset="0"/>
                <a:cs typeface="Times New Roman" pitchFamily="18" charset="0"/>
              </a:rPr>
              <a:t>S-</a:t>
            </a:r>
            <a:r>
              <a:rPr lang="uz-Cyrl-UZ" sz="3200" b="1" dirty="0" smtClean="0">
                <a:solidFill>
                  <a:schemeClr val="tx1"/>
                </a:solidFill>
                <a:latin typeface="Times New Roman" pitchFamily="18" charset="0"/>
                <a:cs typeface="Times New Roman" pitchFamily="18" charset="0"/>
              </a:rPr>
              <a:t>блок</a:t>
            </a:r>
            <a:endParaRPr lang="ru-RU" sz="3200" b="1" dirty="0">
              <a:solidFill>
                <a:schemeClr val="tx1"/>
              </a:solidFill>
              <a:latin typeface="Times New Roman" pitchFamily="18" charset="0"/>
              <a:cs typeface="Times New Roman" pitchFamily="18" charset="0"/>
            </a:endParaRPr>
          </a:p>
        </p:txBody>
      </p:sp>
      <p:graphicFrame>
        <p:nvGraphicFramePr>
          <p:cNvPr id="5" name="Объект 4"/>
          <p:cNvGraphicFramePr>
            <a:graphicFrameLocks noChangeAspect="1"/>
          </p:cNvGraphicFramePr>
          <p:nvPr>
            <p:extLst>
              <p:ext uri="{D42A27DB-BD31-4B8C-83A1-F6EECF244321}">
                <p14:modId xmlns:p14="http://schemas.microsoft.com/office/powerpoint/2010/main" val="3893615818"/>
              </p:ext>
            </p:extLst>
          </p:nvPr>
        </p:nvGraphicFramePr>
        <p:xfrm>
          <a:off x="567556" y="5301264"/>
          <a:ext cx="8288920" cy="504000"/>
        </p:xfrm>
        <a:graphic>
          <a:graphicData uri="http://schemas.openxmlformats.org/presentationml/2006/ole">
            <mc:AlternateContent xmlns:mc="http://schemas.openxmlformats.org/markup-compatibility/2006">
              <mc:Choice xmlns:v="urn:schemas-microsoft-com:vml" Requires="v">
                <p:oleObj spid="_x0000_s76811" name="Equation" r:id="rId3" imgW="4178160" imgH="253800" progId="Equation.3">
                  <p:embed/>
                </p:oleObj>
              </mc:Choice>
              <mc:Fallback>
                <p:oleObj name="Equation" r:id="rId3" imgW="4178160" imgH="253800" progId="Equation.3">
                  <p:embed/>
                  <p:pic>
                    <p:nvPicPr>
                      <p:cNvPr id="0" name="Объект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556" y="5301264"/>
                        <a:ext cx="8288920" cy="50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10674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par>
                                <p:cTn id="10" presetID="16" presetClass="entr" presetSubtype="21" fill="hold" nodeType="withEffect">
                                  <p:stCondLst>
                                    <p:cond delay="60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8"/>
          <p:cNvSpPr>
            <a:spLocks noChangeArrowheads="1"/>
          </p:cNvSpPr>
          <p:nvPr/>
        </p:nvSpPr>
        <p:spPr bwMode="auto">
          <a:xfrm>
            <a:off x="143508" y="188640"/>
            <a:ext cx="8676000" cy="707886"/>
          </a:xfrm>
          <a:prstGeom prst="rect">
            <a:avLst/>
          </a:prstGeom>
          <a:solidFill>
            <a:schemeClr val="bg1"/>
          </a:solidFill>
          <a:ln>
            <a:noFill/>
          </a:ln>
          <a:effectLst/>
          <a:extLst/>
        </p:spPr>
        <p:txBody>
          <a:bodyPr wrap="square" anchor="ctr">
            <a:spAutoFit/>
          </a:bodyPr>
          <a:lstStyle/>
          <a:p>
            <a:pPr algn="just">
              <a:defRPr/>
            </a:pPr>
            <a:r>
              <a:rPr lang="uz-Cyrl-UZ" sz="2000" b="1" dirty="0" smtClean="0">
                <a:solidFill>
                  <a:srgbClr val="000000"/>
                </a:solidFill>
                <a:effectLst>
                  <a:outerShdw blurRad="38100" dist="38100" dir="2700000" algn="tl">
                    <a:srgbClr val="FFFFFF"/>
                  </a:outerShdw>
                </a:effectLst>
                <a:latin typeface="Times New Roman" pitchFamily="18" charset="0"/>
              </a:rPr>
              <a:t>Қурилган тенгламаларни тўғри эканлигини текшириш учун қуйидаги текширув жадвалидан фойдаланиш мақсадга мувофиқ:</a:t>
            </a:r>
            <a:endParaRPr kumimoji="1" lang="ru-RU" sz="2000" b="1" dirty="0">
              <a:solidFill>
                <a:srgbClr val="000000"/>
              </a:solidFill>
              <a:effectLst>
                <a:outerShdw blurRad="38100" dist="38100" dir="2700000" algn="tl">
                  <a:srgbClr val="FFFFFF"/>
                </a:outerShdw>
              </a:effectLst>
              <a:latin typeface="Times New Roman" pitchFamily="18" charset="0"/>
            </a:endParaRPr>
          </a:p>
        </p:txBody>
      </p:sp>
      <p:graphicFrame>
        <p:nvGraphicFramePr>
          <p:cNvPr id="3" name="Таблица 2"/>
          <p:cNvGraphicFramePr>
            <a:graphicFrameLocks noGrp="1"/>
          </p:cNvGraphicFramePr>
          <p:nvPr>
            <p:extLst>
              <p:ext uri="{D42A27DB-BD31-4B8C-83A1-F6EECF244321}">
                <p14:modId xmlns:p14="http://schemas.microsoft.com/office/powerpoint/2010/main" val="2534971908"/>
              </p:ext>
            </p:extLst>
          </p:nvPr>
        </p:nvGraphicFramePr>
        <p:xfrm>
          <a:off x="143508" y="1232756"/>
          <a:ext cx="8784977" cy="3672408"/>
        </p:xfrm>
        <a:graphic>
          <a:graphicData uri="http://schemas.openxmlformats.org/drawingml/2006/table">
            <a:tbl>
              <a:tblPr firstRow="1" firstCol="1" lastRow="1" lastCol="1" bandRow="1" bandCol="1"/>
              <a:tblGrid>
                <a:gridCol w="1082649"/>
                <a:gridCol w="360011"/>
                <a:gridCol w="458513"/>
                <a:gridCol w="458513"/>
                <a:gridCol w="407083"/>
                <a:gridCol w="398366"/>
                <a:gridCol w="497740"/>
                <a:gridCol w="497740"/>
                <a:gridCol w="563117"/>
                <a:gridCol w="563117"/>
                <a:gridCol w="535224"/>
                <a:gridCol w="563117"/>
                <a:gridCol w="563117"/>
                <a:gridCol w="474204"/>
                <a:gridCol w="497740"/>
                <a:gridCol w="497740"/>
                <a:gridCol w="366986"/>
              </a:tblGrid>
              <a:tr h="1224136">
                <a:tc>
                  <a:txBody>
                    <a:bodyPr/>
                    <a:lstStyle/>
                    <a:p>
                      <a:pPr algn="ctr">
                        <a:spcAft>
                          <a:spcPts val="0"/>
                        </a:spcAft>
                      </a:pPr>
                      <a:r>
                        <a:rPr lang="uz-Cyrl-UZ" sz="1600" b="1" dirty="0">
                          <a:effectLst/>
                          <a:latin typeface="Times New Roman"/>
                          <a:ea typeface="Times New Roman"/>
                        </a:rPr>
                        <a:t> </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gridSpan="3">
                  <a:txBody>
                    <a:bodyPr/>
                    <a:lstStyle/>
                    <a:p>
                      <a:pPr algn="ctr">
                        <a:spcAft>
                          <a:spcPts val="0"/>
                        </a:spcAft>
                      </a:pPr>
                      <a:r>
                        <a:rPr lang="en-US" sz="1600" b="1" dirty="0">
                          <a:effectLst/>
                          <a:latin typeface="Times New Roman"/>
                          <a:ea typeface="Times New Roman"/>
                        </a:rPr>
                        <a:t>S – </a:t>
                      </a:r>
                      <a:r>
                        <a:rPr lang="en-US" sz="1600" b="1" dirty="0" err="1">
                          <a:effectLst/>
                          <a:latin typeface="Times New Roman"/>
                          <a:ea typeface="Times New Roman"/>
                        </a:rPr>
                        <a:t>блок</a:t>
                      </a:r>
                      <a:r>
                        <a:rPr lang="uz-Cyrl-UZ" sz="1600" b="1" dirty="0">
                          <a:effectLst/>
                          <a:latin typeface="Times New Roman"/>
                          <a:ea typeface="Times New Roman"/>
                        </a:rPr>
                        <a:t>ка кирувчи қийматлар</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00"/>
                    </a:solidFill>
                  </a:tcPr>
                </a:tc>
                <a:tc hMerge="1">
                  <a:txBody>
                    <a:bodyPr/>
                    <a:lstStyle/>
                    <a:p>
                      <a:endParaRPr lang="uz-Cyrl-UZ"/>
                    </a:p>
                  </a:txBody>
                  <a:tcPr/>
                </a:tc>
                <a:tc hMerge="1">
                  <a:txBody>
                    <a:bodyPr/>
                    <a:lstStyle/>
                    <a:p>
                      <a:endParaRPr lang="uz-Cyrl-UZ"/>
                    </a:p>
                  </a:txBody>
                  <a:tcPr/>
                </a:tc>
                <a:tc gridSpan="3">
                  <a:txBody>
                    <a:bodyPr/>
                    <a:lstStyle/>
                    <a:p>
                      <a:pPr algn="ctr">
                        <a:spcAft>
                          <a:spcPts val="0"/>
                        </a:spcAft>
                      </a:pPr>
                      <a:r>
                        <a:rPr lang="en-US" sz="1600" b="1" dirty="0">
                          <a:effectLst/>
                          <a:latin typeface="Times New Roman"/>
                          <a:ea typeface="Times New Roman"/>
                        </a:rPr>
                        <a:t>S – </a:t>
                      </a:r>
                      <a:r>
                        <a:rPr lang="en-US" sz="1600" b="1" dirty="0" err="1">
                          <a:effectLst/>
                          <a:latin typeface="Times New Roman"/>
                          <a:ea typeface="Times New Roman"/>
                        </a:rPr>
                        <a:t>блок</a:t>
                      </a:r>
                      <a:r>
                        <a:rPr lang="uz-Cyrl-UZ" sz="1600" b="1" dirty="0">
                          <a:effectLst/>
                          <a:latin typeface="Times New Roman"/>
                          <a:ea typeface="Times New Roman"/>
                        </a:rPr>
                        <a:t>дан чиқувчи қийматлар</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92D050"/>
                    </a:solidFill>
                  </a:tcPr>
                </a:tc>
                <a:tc hMerge="1">
                  <a:txBody>
                    <a:bodyPr/>
                    <a:lstStyle/>
                    <a:p>
                      <a:endParaRPr lang="uz-Cyrl-UZ"/>
                    </a:p>
                  </a:txBody>
                  <a:tcPr/>
                </a:tc>
                <a:tc hMerge="1">
                  <a:txBody>
                    <a:bodyPr/>
                    <a:lstStyle/>
                    <a:p>
                      <a:endParaRPr lang="uz-Cyrl-UZ"/>
                    </a:p>
                  </a:txBody>
                  <a:tcPr/>
                </a:tc>
                <a:tc gridSpan="9">
                  <a:txBody>
                    <a:bodyPr/>
                    <a:lstStyle/>
                    <a:p>
                      <a:pPr algn="ctr">
                        <a:spcAft>
                          <a:spcPts val="0"/>
                        </a:spcAft>
                      </a:pPr>
                      <a:r>
                        <a:rPr lang="uz-Cyrl-UZ" sz="1600" b="1" dirty="0">
                          <a:effectLst/>
                          <a:latin typeface="Times New Roman"/>
                          <a:ea typeface="Times New Roman"/>
                        </a:rPr>
                        <a:t>S – блокка кирувчи ва чиқувчи қийматларнинг</a:t>
                      </a:r>
                      <a:endParaRPr lang="uz-Cyrl-UZ" sz="1800" b="1" dirty="0">
                        <a:effectLst/>
                        <a:latin typeface="Times New Roman"/>
                        <a:ea typeface="Times New Roman"/>
                      </a:endParaRPr>
                    </a:p>
                    <a:p>
                      <a:pPr algn="ctr">
                        <a:spcAft>
                          <a:spcPts val="0"/>
                        </a:spcAft>
                      </a:pPr>
                      <a:r>
                        <a:rPr lang="uz-Cyrl-UZ" sz="1600" b="1" dirty="0">
                          <a:effectLst/>
                          <a:latin typeface="Times New Roman"/>
                          <a:ea typeface="Times New Roman"/>
                        </a:rPr>
                        <a:t>барча брикмалари</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hMerge="1">
                  <a:txBody>
                    <a:bodyPr/>
                    <a:lstStyle/>
                    <a:p>
                      <a:endParaRPr lang="uz-Cyrl-UZ"/>
                    </a:p>
                  </a:txBody>
                  <a:tcPr/>
                </a:tc>
                <a:tc hMerge="1">
                  <a:txBody>
                    <a:bodyPr/>
                    <a:lstStyle/>
                    <a:p>
                      <a:endParaRPr lang="uz-Cyrl-UZ"/>
                    </a:p>
                  </a:txBody>
                  <a:tcPr/>
                </a:tc>
                <a:tc hMerge="1">
                  <a:txBody>
                    <a:bodyPr/>
                    <a:lstStyle/>
                    <a:p>
                      <a:endParaRPr lang="uz-Cyrl-UZ"/>
                    </a:p>
                  </a:txBody>
                  <a:tcPr/>
                </a:tc>
                <a:tc hMerge="1">
                  <a:txBody>
                    <a:bodyPr/>
                    <a:lstStyle/>
                    <a:p>
                      <a:endParaRPr lang="uz-Cyrl-UZ"/>
                    </a:p>
                  </a:txBody>
                  <a:tcPr/>
                </a:tc>
                <a:tc hMerge="1">
                  <a:txBody>
                    <a:bodyPr/>
                    <a:lstStyle/>
                    <a:p>
                      <a:endParaRPr lang="uz-Cyrl-UZ"/>
                    </a:p>
                  </a:txBody>
                  <a:tcPr/>
                </a:tc>
                <a:tc hMerge="1">
                  <a:txBody>
                    <a:bodyPr/>
                    <a:lstStyle/>
                    <a:p>
                      <a:endParaRPr lang="uz-Cyrl-UZ"/>
                    </a:p>
                  </a:txBody>
                  <a:tcPr/>
                </a:tc>
                <a:tc hMerge="1">
                  <a:txBody>
                    <a:bodyPr/>
                    <a:lstStyle/>
                    <a:p>
                      <a:endParaRPr lang="uz-Cyrl-UZ"/>
                    </a:p>
                  </a:txBody>
                  <a:tcPr/>
                </a:tc>
                <a:tc hMerge="1">
                  <a:txBody>
                    <a:bodyPr/>
                    <a:lstStyle/>
                    <a:p>
                      <a:endParaRPr lang="uz-Cyrl-UZ"/>
                    </a:p>
                  </a:txBody>
                  <a:tcPr/>
                </a:tc>
                <a:tc>
                  <a:txBody>
                    <a:bodyPr/>
                    <a:lstStyle/>
                    <a:p>
                      <a:pPr algn="ctr">
                        <a:spcAft>
                          <a:spcPts val="0"/>
                        </a:spcAft>
                      </a:pPr>
                      <a:r>
                        <a:rPr lang="uz-Cyrl-UZ" sz="1600" b="1" dirty="0">
                          <a:effectLst/>
                          <a:latin typeface="Times New Roman"/>
                          <a:ea typeface="Times New Roman"/>
                        </a:rPr>
                        <a:t> </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r>
              <a:tr h="367241">
                <a:tc rowSpan="4">
                  <a:txBody>
                    <a:bodyPr/>
                    <a:lstStyle/>
                    <a:p>
                      <a:pPr algn="ctr">
                        <a:spcAft>
                          <a:spcPts val="0"/>
                        </a:spcAft>
                      </a:pPr>
                      <a:r>
                        <a:rPr lang="uz-Cyrl-UZ" sz="1600" b="1">
                          <a:effectLst/>
                          <a:latin typeface="Times New Roman"/>
                          <a:ea typeface="Times New Roman"/>
                        </a:rPr>
                        <a:t>S – блокка кирувчи барча мумкин бўлган қийматлар (0 дан 2</a:t>
                      </a:r>
                      <a:r>
                        <a:rPr lang="uz-Cyrl-UZ" sz="1600" b="1" baseline="30000">
                          <a:effectLst/>
                          <a:latin typeface="Times New Roman"/>
                          <a:ea typeface="Times New Roman"/>
                        </a:rPr>
                        <a:t>s</a:t>
                      </a:r>
                      <a:r>
                        <a:rPr lang="uz-Cyrl-UZ" sz="1600" b="1">
                          <a:effectLst/>
                          <a:latin typeface="Times New Roman"/>
                          <a:ea typeface="Times New Roman"/>
                        </a:rPr>
                        <a:t> гача)</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1">
                          <a:effectLst/>
                          <a:latin typeface="Times New Roman"/>
                          <a:ea typeface="Times New Roman"/>
                        </a:rPr>
                        <a:t>x</a:t>
                      </a:r>
                      <a:r>
                        <a:rPr lang="en-US" sz="1200" b="1" baseline="-25000">
                          <a:effectLst/>
                          <a:latin typeface="Times New Roman"/>
                          <a:ea typeface="Times New Roman"/>
                        </a:rPr>
                        <a:t>s</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00"/>
                    </a:solidFill>
                  </a:tcPr>
                </a:tc>
                <a:tc>
                  <a:txBody>
                    <a:bodyPr/>
                    <a:lstStyle/>
                    <a:p>
                      <a:pPr algn="ctr">
                        <a:spcAft>
                          <a:spcPts val="0"/>
                        </a:spcAft>
                      </a:pPr>
                      <a:r>
                        <a:rPr lang="ru-RU" sz="1200" b="1" dirty="0">
                          <a:effectLst/>
                          <a:latin typeface="Times New Roman"/>
                          <a:ea typeface="Times New Roman"/>
                        </a:rPr>
                        <a:t>…</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00"/>
                    </a:solidFill>
                  </a:tcPr>
                </a:tc>
                <a:tc>
                  <a:txBody>
                    <a:bodyPr/>
                    <a:lstStyle/>
                    <a:p>
                      <a:pPr algn="ctr">
                        <a:spcAft>
                          <a:spcPts val="0"/>
                        </a:spcAft>
                      </a:pPr>
                      <a:r>
                        <a:rPr lang="en-US" sz="1200" b="1" dirty="0">
                          <a:effectLst/>
                          <a:latin typeface="Times New Roman"/>
                          <a:ea typeface="Times New Roman"/>
                        </a:rPr>
                        <a:t>x</a:t>
                      </a:r>
                      <a:r>
                        <a:rPr lang="en-US" sz="1200" b="1" baseline="-25000" dirty="0">
                          <a:effectLst/>
                          <a:latin typeface="Times New Roman"/>
                          <a:ea typeface="Times New Roman"/>
                        </a:rPr>
                        <a:t>1</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00"/>
                    </a:solidFill>
                  </a:tcPr>
                </a:tc>
                <a:tc>
                  <a:txBody>
                    <a:bodyPr/>
                    <a:lstStyle/>
                    <a:p>
                      <a:pPr algn="ctr">
                        <a:spcAft>
                          <a:spcPts val="0"/>
                        </a:spcAft>
                      </a:pPr>
                      <a:r>
                        <a:rPr lang="en-US" sz="1200" b="1">
                          <a:effectLst/>
                          <a:latin typeface="Times New Roman"/>
                          <a:ea typeface="Times New Roman"/>
                        </a:rPr>
                        <a:t>y</a:t>
                      </a:r>
                      <a:r>
                        <a:rPr lang="en-US" sz="1200" b="1" baseline="-25000">
                          <a:effectLst/>
                          <a:latin typeface="Times New Roman"/>
                          <a:ea typeface="Times New Roman"/>
                        </a:rPr>
                        <a:t>s</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92D050"/>
                    </a:solidFill>
                  </a:tcPr>
                </a:tc>
                <a:tc>
                  <a:txBody>
                    <a:bodyPr/>
                    <a:lstStyle/>
                    <a:p>
                      <a:pPr algn="ctr">
                        <a:spcAft>
                          <a:spcPts val="0"/>
                        </a:spcAft>
                      </a:pPr>
                      <a:r>
                        <a:rPr lang="ru-RU" sz="1200" b="1">
                          <a:effectLst/>
                          <a:latin typeface="Times New Roman"/>
                          <a:ea typeface="Times New Roman"/>
                        </a:rPr>
                        <a:t>…</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92D050"/>
                    </a:solidFill>
                  </a:tcPr>
                </a:tc>
                <a:tc>
                  <a:txBody>
                    <a:bodyPr/>
                    <a:lstStyle/>
                    <a:p>
                      <a:pPr algn="ctr">
                        <a:spcAft>
                          <a:spcPts val="0"/>
                        </a:spcAft>
                      </a:pPr>
                      <a:r>
                        <a:rPr lang="en-US" sz="1200" b="1" dirty="0">
                          <a:effectLst/>
                          <a:latin typeface="Times New Roman"/>
                          <a:ea typeface="Times New Roman"/>
                        </a:rPr>
                        <a:t>y</a:t>
                      </a:r>
                      <a:r>
                        <a:rPr lang="en-US" sz="1200" b="1" baseline="-25000" dirty="0">
                          <a:effectLst/>
                          <a:latin typeface="Times New Roman"/>
                          <a:ea typeface="Times New Roman"/>
                        </a:rPr>
                        <a:t>1</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92D050"/>
                    </a:solidFill>
                  </a:tcPr>
                </a:tc>
                <a:tc>
                  <a:txBody>
                    <a:bodyPr/>
                    <a:lstStyle/>
                    <a:p>
                      <a:pPr algn="ctr">
                        <a:spcAft>
                          <a:spcPts val="0"/>
                        </a:spcAft>
                      </a:pPr>
                      <a:r>
                        <a:rPr lang="en-US" sz="1200" b="1">
                          <a:effectLst/>
                          <a:latin typeface="Times New Roman"/>
                          <a:ea typeface="Times New Roman"/>
                        </a:rPr>
                        <a:t>x</a:t>
                      </a:r>
                      <a:r>
                        <a:rPr lang="en-US" sz="1200" b="1" baseline="-25000">
                          <a:effectLst/>
                          <a:latin typeface="Times New Roman"/>
                          <a:ea typeface="Times New Roman"/>
                        </a:rPr>
                        <a:t>s</a:t>
                      </a:r>
                      <a:r>
                        <a:rPr lang="en-US" sz="1200" b="1">
                          <a:effectLst/>
                          <a:latin typeface="Times New Roman"/>
                          <a:ea typeface="Times New Roman"/>
                        </a:rPr>
                        <a:t>x</a:t>
                      </a:r>
                      <a:r>
                        <a:rPr lang="en-US" sz="1200" b="1" baseline="-25000">
                          <a:effectLst/>
                          <a:latin typeface="Times New Roman"/>
                          <a:ea typeface="Times New Roman"/>
                        </a:rPr>
                        <a:t>s-1</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1">
                          <a:effectLst/>
                          <a:latin typeface="Times New Roman"/>
                          <a:ea typeface="Times New Roman"/>
                        </a:rPr>
                        <a:t>…</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1">
                          <a:effectLst/>
                          <a:latin typeface="Times New Roman"/>
                          <a:ea typeface="Times New Roman"/>
                        </a:rPr>
                        <a:t>x</a:t>
                      </a:r>
                      <a:r>
                        <a:rPr lang="en-US" sz="1200" b="1" baseline="-25000">
                          <a:effectLst/>
                          <a:latin typeface="Times New Roman"/>
                          <a:ea typeface="Times New Roman"/>
                        </a:rPr>
                        <a:t>2</a:t>
                      </a:r>
                      <a:r>
                        <a:rPr lang="en-US" sz="1200" b="1">
                          <a:effectLst/>
                          <a:latin typeface="Times New Roman"/>
                          <a:ea typeface="Times New Roman"/>
                        </a:rPr>
                        <a:t>x</a:t>
                      </a:r>
                      <a:r>
                        <a:rPr lang="en-US" sz="1200" b="1" baseline="-25000">
                          <a:effectLst/>
                          <a:latin typeface="Times New Roman"/>
                          <a:ea typeface="Times New Roman"/>
                        </a:rPr>
                        <a:t>1</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1">
                          <a:effectLst/>
                          <a:latin typeface="Times New Roman"/>
                          <a:ea typeface="Times New Roman"/>
                        </a:rPr>
                        <a:t>y</a:t>
                      </a:r>
                      <a:r>
                        <a:rPr lang="en-US" sz="1200" b="1" baseline="-25000">
                          <a:effectLst/>
                          <a:latin typeface="Times New Roman"/>
                          <a:ea typeface="Times New Roman"/>
                        </a:rPr>
                        <a:t>s</a:t>
                      </a:r>
                      <a:r>
                        <a:rPr lang="en-US" sz="1200" b="1">
                          <a:effectLst/>
                          <a:latin typeface="Times New Roman"/>
                          <a:ea typeface="Times New Roman"/>
                        </a:rPr>
                        <a:t>y</a:t>
                      </a:r>
                      <a:r>
                        <a:rPr lang="en-US" sz="1200" b="1" baseline="-25000">
                          <a:effectLst/>
                          <a:latin typeface="Times New Roman"/>
                          <a:ea typeface="Times New Roman"/>
                        </a:rPr>
                        <a:t>s-1</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1">
                          <a:effectLst/>
                          <a:latin typeface="Times New Roman"/>
                          <a:ea typeface="Times New Roman"/>
                        </a:rPr>
                        <a:t>…</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1" dirty="0">
                          <a:effectLst/>
                          <a:latin typeface="Times New Roman"/>
                          <a:ea typeface="Times New Roman"/>
                        </a:rPr>
                        <a:t>y</a:t>
                      </a:r>
                      <a:r>
                        <a:rPr lang="en-US" sz="1200" b="1" baseline="-25000" dirty="0">
                          <a:effectLst/>
                          <a:latin typeface="Times New Roman"/>
                          <a:ea typeface="Times New Roman"/>
                        </a:rPr>
                        <a:t>2</a:t>
                      </a:r>
                      <a:r>
                        <a:rPr lang="en-US" sz="1200" b="1" dirty="0">
                          <a:effectLst/>
                          <a:latin typeface="Times New Roman"/>
                          <a:ea typeface="Times New Roman"/>
                        </a:rPr>
                        <a:t>y</a:t>
                      </a:r>
                      <a:r>
                        <a:rPr lang="en-US" sz="1200" b="1" baseline="-25000" dirty="0">
                          <a:effectLst/>
                          <a:latin typeface="Times New Roman"/>
                          <a:ea typeface="Times New Roman"/>
                        </a:rPr>
                        <a:t>1</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1" dirty="0" err="1">
                          <a:effectLst/>
                          <a:latin typeface="Times New Roman"/>
                          <a:ea typeface="Times New Roman"/>
                        </a:rPr>
                        <a:t>x</a:t>
                      </a:r>
                      <a:r>
                        <a:rPr lang="en-US" sz="1200" b="1" baseline="-25000" dirty="0" err="1">
                          <a:effectLst/>
                          <a:latin typeface="Times New Roman"/>
                          <a:ea typeface="Times New Roman"/>
                        </a:rPr>
                        <a:t>s</a:t>
                      </a:r>
                      <a:r>
                        <a:rPr lang="en-US" sz="1200" b="1" dirty="0" err="1">
                          <a:effectLst/>
                          <a:latin typeface="Times New Roman"/>
                          <a:ea typeface="Times New Roman"/>
                        </a:rPr>
                        <a:t>y</a:t>
                      </a:r>
                      <a:r>
                        <a:rPr lang="en-US" sz="1200" b="1" baseline="-25000" dirty="0" err="1">
                          <a:effectLst/>
                          <a:latin typeface="Times New Roman"/>
                          <a:ea typeface="Times New Roman"/>
                        </a:rPr>
                        <a:t>s</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1">
                          <a:effectLst/>
                          <a:latin typeface="Times New Roman"/>
                          <a:ea typeface="Times New Roman"/>
                        </a:rPr>
                        <a:t>…</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1">
                          <a:effectLst/>
                          <a:latin typeface="Times New Roman"/>
                          <a:ea typeface="Times New Roman"/>
                        </a:rPr>
                        <a:t>x</a:t>
                      </a:r>
                      <a:r>
                        <a:rPr lang="en-US" sz="1200" b="1" baseline="-25000">
                          <a:effectLst/>
                          <a:latin typeface="Times New Roman"/>
                          <a:ea typeface="Times New Roman"/>
                        </a:rPr>
                        <a:t>2</a:t>
                      </a:r>
                      <a:r>
                        <a:rPr lang="en-US" sz="1200" b="1">
                          <a:effectLst/>
                          <a:latin typeface="Times New Roman"/>
                          <a:ea typeface="Times New Roman"/>
                        </a:rPr>
                        <a:t>y</a:t>
                      </a:r>
                      <a:r>
                        <a:rPr lang="en-US" sz="1200" b="1" baseline="-25000">
                          <a:effectLst/>
                          <a:latin typeface="Times New Roman"/>
                          <a:ea typeface="Times New Roman"/>
                        </a:rPr>
                        <a:t>1</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uz-Cyrl-UZ" sz="1200" b="1">
                          <a:effectLst/>
                          <a:latin typeface="Times New Roman"/>
                          <a:ea typeface="Times New Roman"/>
                        </a:rPr>
                        <a:t>η</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r>
              <a:tr h="346201">
                <a:tc vMerge="1">
                  <a:txBody>
                    <a:bodyPr/>
                    <a:lstStyle/>
                    <a:p>
                      <a:endParaRPr lang="uz-Cyrl-UZ"/>
                    </a:p>
                  </a:txBody>
                  <a:tcPr/>
                </a:tc>
                <a:tc>
                  <a:txBody>
                    <a:bodyPr/>
                    <a:lstStyle/>
                    <a:p>
                      <a:pPr algn="ctr">
                        <a:spcAft>
                          <a:spcPts val="0"/>
                        </a:spcAft>
                      </a:pPr>
                      <a:r>
                        <a:rPr lang="uz-Cyrl-UZ" sz="1200" b="1">
                          <a:effectLst/>
                          <a:latin typeface="Times New Roman"/>
                          <a:ea typeface="Times New Roman"/>
                        </a:rPr>
                        <a:t>0</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00"/>
                    </a:solidFill>
                  </a:tcPr>
                </a:tc>
                <a:tc>
                  <a:txBody>
                    <a:bodyPr/>
                    <a:lstStyle/>
                    <a:p>
                      <a:pPr algn="ctr">
                        <a:spcAft>
                          <a:spcPts val="0"/>
                        </a:spcAft>
                      </a:pPr>
                      <a:r>
                        <a:rPr lang="uz-Cyrl-UZ" sz="1200" b="1">
                          <a:effectLst/>
                          <a:latin typeface="Times New Roman"/>
                          <a:ea typeface="Times New Roman"/>
                        </a:rPr>
                        <a:t>...</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00"/>
                    </a:solidFill>
                  </a:tcPr>
                </a:tc>
                <a:tc>
                  <a:txBody>
                    <a:bodyPr/>
                    <a:lstStyle/>
                    <a:p>
                      <a:pPr algn="ctr">
                        <a:spcAft>
                          <a:spcPts val="0"/>
                        </a:spcAft>
                      </a:pPr>
                      <a:r>
                        <a:rPr lang="uz-Cyrl-UZ" sz="1200" b="1" dirty="0">
                          <a:effectLst/>
                          <a:latin typeface="Times New Roman"/>
                          <a:ea typeface="Times New Roman"/>
                        </a:rPr>
                        <a:t>0</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00"/>
                    </a:solidFill>
                  </a:tcPr>
                </a:tc>
                <a:tc>
                  <a:txBody>
                    <a:bodyPr/>
                    <a:lstStyle/>
                    <a:p>
                      <a:pPr algn="ctr">
                        <a:spcAft>
                          <a:spcPts val="0"/>
                        </a:spcAft>
                      </a:pPr>
                      <a:r>
                        <a:rPr lang="en-US" sz="1200" b="1">
                          <a:effectLst/>
                          <a:latin typeface="Times New Roman"/>
                          <a:ea typeface="Times New Roman"/>
                        </a:rPr>
                        <a:t>1</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92D050"/>
                    </a:solidFill>
                  </a:tcPr>
                </a:tc>
                <a:tc>
                  <a:txBody>
                    <a:bodyPr/>
                    <a:lstStyle/>
                    <a:p>
                      <a:pPr algn="ctr">
                        <a:spcAft>
                          <a:spcPts val="0"/>
                        </a:spcAft>
                      </a:pPr>
                      <a:r>
                        <a:rPr lang="uz-Cyrl-UZ" sz="1200" b="1">
                          <a:effectLst/>
                          <a:latin typeface="Times New Roman"/>
                          <a:ea typeface="Times New Roman"/>
                        </a:rPr>
                        <a:t>...</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92D050"/>
                    </a:solidFill>
                  </a:tcPr>
                </a:tc>
                <a:tc>
                  <a:txBody>
                    <a:bodyPr/>
                    <a:lstStyle/>
                    <a:p>
                      <a:pPr algn="ctr">
                        <a:spcAft>
                          <a:spcPts val="0"/>
                        </a:spcAft>
                      </a:pPr>
                      <a:r>
                        <a:rPr lang="uz-Cyrl-UZ" sz="1200" b="1" dirty="0">
                          <a:effectLst/>
                          <a:latin typeface="Times New Roman"/>
                          <a:ea typeface="Times New Roman"/>
                        </a:rPr>
                        <a:t>0</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92D050"/>
                    </a:solidFill>
                  </a:tcPr>
                </a:tc>
                <a:tc>
                  <a:txBody>
                    <a:bodyPr/>
                    <a:lstStyle/>
                    <a:p>
                      <a:pPr algn="ctr">
                        <a:spcAft>
                          <a:spcPts val="0"/>
                        </a:spcAft>
                      </a:pPr>
                      <a:r>
                        <a:rPr lang="uz-Cyrl-UZ" sz="1200" b="1">
                          <a:effectLst/>
                          <a:latin typeface="Times New Roman"/>
                          <a:ea typeface="Times New Roman"/>
                        </a:rPr>
                        <a:t> </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uz-Cyrl-UZ" sz="1200" b="1">
                          <a:effectLst/>
                          <a:latin typeface="Times New Roman"/>
                          <a:ea typeface="Times New Roman"/>
                        </a:rPr>
                        <a:t> </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uz-Cyrl-UZ" sz="1200" b="1">
                          <a:effectLst/>
                          <a:latin typeface="Times New Roman"/>
                          <a:ea typeface="Times New Roman"/>
                        </a:rPr>
                        <a:t> </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uz-Cyrl-UZ" sz="1200" b="1">
                          <a:effectLst/>
                          <a:latin typeface="Times New Roman"/>
                          <a:ea typeface="Times New Roman"/>
                        </a:rPr>
                        <a:t> </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uz-Cyrl-UZ" sz="1200" b="1">
                          <a:effectLst/>
                          <a:latin typeface="Times New Roman"/>
                          <a:ea typeface="Times New Roman"/>
                        </a:rPr>
                        <a:t> </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uz-Cyrl-UZ" sz="1200" b="1">
                          <a:effectLst/>
                          <a:latin typeface="Times New Roman"/>
                          <a:ea typeface="Times New Roman"/>
                        </a:rPr>
                        <a:t> </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uz-Cyrl-UZ" sz="1200" b="1" dirty="0">
                          <a:effectLst/>
                          <a:latin typeface="Times New Roman"/>
                          <a:ea typeface="Times New Roman"/>
                        </a:rPr>
                        <a:t> </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uz-Cyrl-UZ" sz="1200" b="1" dirty="0">
                          <a:effectLst/>
                          <a:latin typeface="Times New Roman"/>
                          <a:ea typeface="Times New Roman"/>
                        </a:rPr>
                        <a:t> </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uz-Cyrl-UZ" sz="1200" b="1" dirty="0">
                          <a:effectLst/>
                          <a:latin typeface="Times New Roman"/>
                          <a:ea typeface="Times New Roman"/>
                        </a:rPr>
                        <a:t> </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1" dirty="0">
                          <a:effectLst/>
                          <a:latin typeface="Times New Roman"/>
                          <a:ea typeface="Times New Roman"/>
                        </a:rPr>
                        <a:t>1</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r>
              <a:tr h="346201">
                <a:tc vMerge="1">
                  <a:txBody>
                    <a:bodyPr/>
                    <a:lstStyle/>
                    <a:p>
                      <a:endParaRPr lang="uz-Cyrl-UZ"/>
                    </a:p>
                  </a:txBody>
                  <a:tcPr/>
                </a:tc>
                <a:tc gridSpan="16">
                  <a:txBody>
                    <a:bodyPr/>
                    <a:lstStyle/>
                    <a:p>
                      <a:pPr algn="ctr">
                        <a:spcAft>
                          <a:spcPts val="0"/>
                        </a:spcAft>
                      </a:pPr>
                      <a:r>
                        <a:rPr lang="uz-Cyrl-UZ" sz="1200" b="1" dirty="0">
                          <a:effectLst/>
                          <a:latin typeface="Times New Roman"/>
                          <a:ea typeface="Times New Roman"/>
                        </a:rPr>
                        <a:t>...</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hMerge="1">
                  <a:txBody>
                    <a:bodyPr/>
                    <a:lstStyle/>
                    <a:p>
                      <a:endParaRPr lang="uz-Cyrl-UZ"/>
                    </a:p>
                  </a:txBody>
                  <a:tcPr/>
                </a:tc>
                <a:tc hMerge="1">
                  <a:txBody>
                    <a:bodyPr/>
                    <a:lstStyle/>
                    <a:p>
                      <a:endParaRPr lang="uz-Cyrl-UZ"/>
                    </a:p>
                  </a:txBody>
                  <a:tcPr/>
                </a:tc>
                <a:tc hMerge="1">
                  <a:txBody>
                    <a:bodyPr/>
                    <a:lstStyle/>
                    <a:p>
                      <a:endParaRPr lang="uz-Cyrl-UZ"/>
                    </a:p>
                  </a:txBody>
                  <a:tcPr/>
                </a:tc>
                <a:tc hMerge="1">
                  <a:txBody>
                    <a:bodyPr/>
                    <a:lstStyle/>
                    <a:p>
                      <a:endParaRPr lang="uz-Cyrl-UZ"/>
                    </a:p>
                  </a:txBody>
                  <a:tcPr/>
                </a:tc>
                <a:tc hMerge="1">
                  <a:txBody>
                    <a:bodyPr/>
                    <a:lstStyle/>
                    <a:p>
                      <a:endParaRPr lang="uz-Cyrl-UZ"/>
                    </a:p>
                  </a:txBody>
                  <a:tcPr/>
                </a:tc>
                <a:tc hMerge="1">
                  <a:txBody>
                    <a:bodyPr/>
                    <a:lstStyle/>
                    <a:p>
                      <a:endParaRPr lang="uz-Cyrl-UZ"/>
                    </a:p>
                  </a:txBody>
                  <a:tcPr/>
                </a:tc>
                <a:tc hMerge="1">
                  <a:txBody>
                    <a:bodyPr/>
                    <a:lstStyle/>
                    <a:p>
                      <a:endParaRPr lang="uz-Cyrl-UZ"/>
                    </a:p>
                  </a:txBody>
                  <a:tcPr/>
                </a:tc>
                <a:tc hMerge="1">
                  <a:txBody>
                    <a:bodyPr/>
                    <a:lstStyle/>
                    <a:p>
                      <a:endParaRPr lang="uz-Cyrl-UZ"/>
                    </a:p>
                  </a:txBody>
                  <a:tcPr/>
                </a:tc>
                <a:tc hMerge="1">
                  <a:txBody>
                    <a:bodyPr/>
                    <a:lstStyle/>
                    <a:p>
                      <a:endParaRPr lang="uz-Cyrl-UZ"/>
                    </a:p>
                  </a:txBody>
                  <a:tcPr/>
                </a:tc>
                <a:tc hMerge="1">
                  <a:txBody>
                    <a:bodyPr/>
                    <a:lstStyle/>
                    <a:p>
                      <a:endParaRPr lang="uz-Cyrl-UZ"/>
                    </a:p>
                  </a:txBody>
                  <a:tcPr/>
                </a:tc>
                <a:tc hMerge="1">
                  <a:txBody>
                    <a:bodyPr/>
                    <a:lstStyle/>
                    <a:p>
                      <a:endParaRPr lang="uz-Cyrl-UZ"/>
                    </a:p>
                  </a:txBody>
                  <a:tcPr/>
                </a:tc>
                <a:tc hMerge="1">
                  <a:txBody>
                    <a:bodyPr/>
                    <a:lstStyle/>
                    <a:p>
                      <a:endParaRPr lang="uz-Cyrl-UZ"/>
                    </a:p>
                  </a:txBody>
                  <a:tcPr/>
                </a:tc>
                <a:tc hMerge="1">
                  <a:txBody>
                    <a:bodyPr/>
                    <a:lstStyle/>
                    <a:p>
                      <a:endParaRPr lang="uz-Cyrl-UZ"/>
                    </a:p>
                  </a:txBody>
                  <a:tcPr/>
                </a:tc>
                <a:tc hMerge="1">
                  <a:txBody>
                    <a:bodyPr/>
                    <a:lstStyle/>
                    <a:p>
                      <a:endParaRPr lang="uz-Cyrl-UZ"/>
                    </a:p>
                  </a:txBody>
                  <a:tcPr/>
                </a:tc>
                <a:tc hMerge="1">
                  <a:txBody>
                    <a:bodyPr/>
                    <a:lstStyle/>
                    <a:p>
                      <a:endParaRPr lang="uz-Cyrl-UZ"/>
                    </a:p>
                  </a:txBody>
                  <a:tcPr/>
                </a:tc>
              </a:tr>
              <a:tr h="1388629">
                <a:tc vMerge="1">
                  <a:txBody>
                    <a:bodyPr/>
                    <a:lstStyle/>
                    <a:p>
                      <a:endParaRPr lang="uz-Cyrl-UZ"/>
                    </a:p>
                  </a:txBody>
                  <a:tcPr/>
                </a:tc>
                <a:tc>
                  <a:txBody>
                    <a:bodyPr/>
                    <a:lstStyle/>
                    <a:p>
                      <a:pPr algn="ctr">
                        <a:spcAft>
                          <a:spcPts val="0"/>
                        </a:spcAft>
                      </a:pPr>
                      <a:r>
                        <a:rPr lang="uz-Cyrl-UZ" sz="1200" b="1" dirty="0">
                          <a:effectLst/>
                          <a:latin typeface="Times New Roman"/>
                          <a:ea typeface="Times New Roman"/>
                        </a:rPr>
                        <a:t>1</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00"/>
                    </a:solidFill>
                  </a:tcPr>
                </a:tc>
                <a:tc>
                  <a:txBody>
                    <a:bodyPr/>
                    <a:lstStyle/>
                    <a:p>
                      <a:pPr algn="ctr">
                        <a:spcAft>
                          <a:spcPts val="0"/>
                        </a:spcAft>
                      </a:pPr>
                      <a:r>
                        <a:rPr lang="uz-Cyrl-UZ" sz="1200" b="1" dirty="0">
                          <a:effectLst/>
                          <a:latin typeface="Times New Roman"/>
                          <a:ea typeface="Times New Roman"/>
                        </a:rPr>
                        <a:t>...</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00"/>
                    </a:solidFill>
                  </a:tcPr>
                </a:tc>
                <a:tc>
                  <a:txBody>
                    <a:bodyPr/>
                    <a:lstStyle/>
                    <a:p>
                      <a:pPr algn="ctr">
                        <a:spcAft>
                          <a:spcPts val="0"/>
                        </a:spcAft>
                      </a:pPr>
                      <a:r>
                        <a:rPr lang="uz-Cyrl-UZ" sz="1200" b="1" dirty="0">
                          <a:effectLst/>
                          <a:latin typeface="Times New Roman"/>
                          <a:ea typeface="Times New Roman"/>
                        </a:rPr>
                        <a:t>1</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00"/>
                    </a:solidFill>
                  </a:tcPr>
                </a:tc>
                <a:tc>
                  <a:txBody>
                    <a:bodyPr/>
                    <a:lstStyle/>
                    <a:p>
                      <a:pPr algn="ctr">
                        <a:spcAft>
                          <a:spcPts val="0"/>
                        </a:spcAft>
                      </a:pPr>
                      <a:r>
                        <a:rPr lang="en-US" sz="1200" b="1" dirty="0">
                          <a:effectLst/>
                          <a:latin typeface="Times New Roman"/>
                          <a:ea typeface="Times New Roman"/>
                        </a:rPr>
                        <a:t>0</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92D050"/>
                    </a:solidFill>
                  </a:tcPr>
                </a:tc>
                <a:tc>
                  <a:txBody>
                    <a:bodyPr/>
                    <a:lstStyle/>
                    <a:p>
                      <a:pPr algn="ctr">
                        <a:spcAft>
                          <a:spcPts val="0"/>
                        </a:spcAft>
                      </a:pPr>
                      <a:r>
                        <a:rPr lang="en-US" sz="1200" b="1" dirty="0">
                          <a:effectLst/>
                          <a:latin typeface="Times New Roman"/>
                          <a:ea typeface="Times New Roman"/>
                        </a:rPr>
                        <a:t>…</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92D050"/>
                    </a:solidFill>
                  </a:tcPr>
                </a:tc>
                <a:tc>
                  <a:txBody>
                    <a:bodyPr/>
                    <a:lstStyle/>
                    <a:p>
                      <a:pPr algn="ctr">
                        <a:spcAft>
                          <a:spcPts val="0"/>
                        </a:spcAft>
                      </a:pPr>
                      <a:r>
                        <a:rPr lang="en-US" sz="1200" b="1" dirty="0">
                          <a:effectLst/>
                          <a:latin typeface="Times New Roman"/>
                          <a:ea typeface="Times New Roman"/>
                        </a:rPr>
                        <a:t>1</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92D050"/>
                    </a:solidFill>
                  </a:tcPr>
                </a:tc>
                <a:tc>
                  <a:txBody>
                    <a:bodyPr/>
                    <a:lstStyle/>
                    <a:p>
                      <a:pPr algn="ctr">
                        <a:spcAft>
                          <a:spcPts val="0"/>
                        </a:spcAft>
                      </a:pPr>
                      <a:r>
                        <a:rPr lang="uz-Cyrl-UZ" sz="1200" b="1">
                          <a:effectLst/>
                          <a:latin typeface="Times New Roman"/>
                          <a:ea typeface="Times New Roman"/>
                        </a:rPr>
                        <a:t> </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uz-Cyrl-UZ" sz="1200" b="1">
                          <a:effectLst/>
                          <a:latin typeface="Times New Roman"/>
                          <a:ea typeface="Times New Roman"/>
                        </a:rPr>
                        <a:t> </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uz-Cyrl-UZ" sz="1200" b="1">
                          <a:effectLst/>
                          <a:latin typeface="Times New Roman"/>
                          <a:ea typeface="Times New Roman"/>
                        </a:rPr>
                        <a:t> </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uz-Cyrl-UZ" sz="1200" b="1">
                          <a:effectLst/>
                          <a:latin typeface="Times New Roman"/>
                          <a:ea typeface="Times New Roman"/>
                        </a:rPr>
                        <a:t> </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uz-Cyrl-UZ" sz="1200" b="1">
                          <a:effectLst/>
                          <a:latin typeface="Times New Roman"/>
                          <a:ea typeface="Times New Roman"/>
                        </a:rPr>
                        <a:t> </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uz-Cyrl-UZ" sz="1200" b="1">
                          <a:effectLst/>
                          <a:latin typeface="Times New Roman"/>
                          <a:ea typeface="Times New Roman"/>
                        </a:rPr>
                        <a:t> </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uz-Cyrl-UZ" sz="1200" b="1">
                          <a:effectLst/>
                          <a:latin typeface="Times New Roman"/>
                          <a:ea typeface="Times New Roman"/>
                        </a:rPr>
                        <a:t> </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uz-Cyrl-UZ" sz="1200" b="1">
                          <a:effectLst/>
                          <a:latin typeface="Times New Roman"/>
                          <a:ea typeface="Times New Roman"/>
                        </a:rPr>
                        <a:t> </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uz-Cyrl-UZ" sz="1200" b="1">
                          <a:effectLst/>
                          <a:latin typeface="Times New Roman"/>
                          <a:ea typeface="Times New Roman"/>
                        </a:rPr>
                        <a:t> </a:t>
                      </a:r>
                      <a:endParaRPr lang="uz-Cyrl-UZ" sz="1800" b="1">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spcAft>
                          <a:spcPts val="0"/>
                        </a:spcAft>
                      </a:pPr>
                      <a:r>
                        <a:rPr lang="en-US" sz="1200" b="1" dirty="0">
                          <a:effectLst/>
                          <a:latin typeface="Times New Roman"/>
                          <a:ea typeface="Times New Roman"/>
                        </a:rPr>
                        <a:t>1</a:t>
                      </a:r>
                      <a:endParaRPr lang="uz-Cyrl-UZ" sz="1800" b="1" dirty="0">
                        <a:effectLst/>
                        <a:latin typeface="Times New Roman"/>
                        <a:ea typeface="Times New Roman"/>
                      </a:endParaRPr>
                    </a:p>
                  </a:txBody>
                  <a:tcPr marL="17780" marR="1778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10" name="Таблица 9"/>
          <p:cNvGraphicFramePr>
            <a:graphicFrameLocks noGrp="1"/>
          </p:cNvGraphicFramePr>
          <p:nvPr>
            <p:extLst>
              <p:ext uri="{D42A27DB-BD31-4B8C-83A1-F6EECF244321}">
                <p14:modId xmlns:p14="http://schemas.microsoft.com/office/powerpoint/2010/main" val="327181171"/>
              </p:ext>
            </p:extLst>
          </p:nvPr>
        </p:nvGraphicFramePr>
        <p:xfrm>
          <a:off x="538608" y="5249670"/>
          <a:ext cx="8281864" cy="1203666"/>
        </p:xfrm>
        <a:graphic>
          <a:graphicData uri="http://schemas.openxmlformats.org/drawingml/2006/table">
            <a:tbl>
              <a:tblPr firstRow="1" firstCol="1" lastRow="1" lastCol="1" bandRow="1" bandCol="1"/>
              <a:tblGrid>
                <a:gridCol w="581660"/>
                <a:gridCol w="529113"/>
                <a:gridCol w="619493"/>
                <a:gridCol w="619493"/>
                <a:gridCol w="619493"/>
                <a:gridCol w="619493"/>
                <a:gridCol w="619493"/>
                <a:gridCol w="619493"/>
                <a:gridCol w="619493"/>
                <a:gridCol w="708660"/>
                <a:gridCol w="708660"/>
                <a:gridCol w="708660"/>
                <a:gridCol w="708660"/>
              </a:tblGrid>
              <a:tr h="297033">
                <a:tc>
                  <a:txBody>
                    <a:bodyPr/>
                    <a:lstStyle/>
                    <a:p>
                      <a:pPr algn="ctr">
                        <a:spcAft>
                          <a:spcPts val="0"/>
                        </a:spcAft>
                      </a:pPr>
                      <a:r>
                        <a:rPr lang="en-US" sz="2000" b="1" i="1">
                          <a:effectLst/>
                          <a:latin typeface="Times New Roman"/>
                          <a:ea typeface="Times New Roman"/>
                        </a:rPr>
                        <a:t>n</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spcAft>
                          <a:spcPts val="0"/>
                        </a:spcAft>
                      </a:pPr>
                      <a:r>
                        <a:rPr lang="uz-Cyrl-UZ" sz="2000" b="1">
                          <a:effectLst/>
                          <a:latin typeface="Times New Roman"/>
                          <a:ea typeface="Times New Roman"/>
                        </a:rPr>
                        <a:t>3</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b="1">
                          <a:effectLst/>
                          <a:latin typeface="Times New Roman"/>
                          <a:ea typeface="Times New Roman"/>
                        </a:rPr>
                        <a:t>4</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b="1">
                          <a:effectLst/>
                          <a:latin typeface="Times New Roman"/>
                          <a:ea typeface="Times New Roman"/>
                        </a:rPr>
                        <a:t>5</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b="1">
                          <a:effectLst/>
                          <a:latin typeface="Times New Roman"/>
                          <a:ea typeface="Times New Roman"/>
                        </a:rPr>
                        <a:t>6</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b="1">
                          <a:effectLst/>
                          <a:latin typeface="Times New Roman"/>
                          <a:ea typeface="Times New Roman"/>
                        </a:rPr>
                        <a:t>7</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b="1">
                          <a:effectLst/>
                          <a:latin typeface="Times New Roman"/>
                          <a:ea typeface="Times New Roman"/>
                        </a:rPr>
                        <a:t>8</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b="1">
                          <a:effectLst/>
                          <a:latin typeface="Times New Roman"/>
                          <a:ea typeface="Times New Roman"/>
                        </a:rPr>
                        <a:t>9</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b="1">
                          <a:effectLst/>
                          <a:latin typeface="Times New Roman"/>
                          <a:ea typeface="Times New Roman"/>
                        </a:rPr>
                        <a:t>10</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b="1">
                          <a:effectLst/>
                          <a:latin typeface="Times New Roman"/>
                          <a:ea typeface="Times New Roman"/>
                        </a:rPr>
                        <a:t>11</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b="1">
                          <a:effectLst/>
                          <a:latin typeface="Times New Roman"/>
                          <a:ea typeface="Times New Roman"/>
                        </a:rPr>
                        <a:t>12</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b="1">
                          <a:effectLst/>
                          <a:latin typeface="Times New Roman"/>
                          <a:ea typeface="Times New Roman"/>
                        </a:rPr>
                        <a:t>13</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b="1">
                          <a:effectLst/>
                          <a:latin typeface="Times New Roman"/>
                          <a:ea typeface="Times New Roman"/>
                        </a:rPr>
                        <a:t>14</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7033">
                <a:tc>
                  <a:txBody>
                    <a:bodyPr/>
                    <a:lstStyle/>
                    <a:p>
                      <a:pPr algn="ctr">
                        <a:spcAft>
                          <a:spcPts val="0"/>
                        </a:spcAft>
                      </a:pPr>
                      <a:r>
                        <a:rPr lang="en-US" sz="2000" b="1" i="1">
                          <a:effectLst/>
                          <a:latin typeface="Times New Roman"/>
                          <a:ea typeface="Times New Roman"/>
                        </a:rPr>
                        <a:t>AI</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spcAft>
                          <a:spcPts val="0"/>
                        </a:spcAft>
                      </a:pPr>
                      <a:r>
                        <a:rPr lang="en-US" sz="2000">
                          <a:effectLst/>
                          <a:latin typeface="Times New Roman"/>
                          <a:ea typeface="Times New Roman"/>
                        </a:rPr>
                        <a:t>2</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2</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2</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2</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3</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3</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3</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3</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4</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4</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4</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4</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94066">
                <a:tc>
                  <a:txBody>
                    <a:bodyPr/>
                    <a:lstStyle/>
                    <a:p>
                      <a:pPr algn="ctr">
                        <a:spcAft>
                          <a:spcPts val="0"/>
                        </a:spcAft>
                      </a:pPr>
                      <a:r>
                        <a:rPr lang="en-US" sz="2000" b="1" i="1">
                          <a:effectLst/>
                          <a:latin typeface="Times New Roman"/>
                          <a:ea typeface="Times New Roman"/>
                        </a:rPr>
                        <a:t>N</a:t>
                      </a:r>
                      <a:r>
                        <a:rPr lang="en-US" sz="2000" b="1" i="1" baseline="-25000">
                          <a:effectLst/>
                          <a:latin typeface="Times New Roman"/>
                          <a:ea typeface="Times New Roman"/>
                        </a:rPr>
                        <a:t>TS</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spcAft>
                          <a:spcPts val="0"/>
                        </a:spcAft>
                      </a:pPr>
                      <a:r>
                        <a:rPr lang="uz-Cyrl-UZ" sz="2000">
                          <a:effectLst/>
                          <a:latin typeface="Times New Roman"/>
                          <a:ea typeface="Times New Roman"/>
                        </a:rPr>
                        <a:t>14</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21</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24</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15</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342</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441</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476</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327</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7061</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8855</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a:effectLst/>
                          <a:latin typeface="Times New Roman"/>
                          <a:ea typeface="Times New Roman"/>
                        </a:rPr>
                        <a:t>9710</a:t>
                      </a:r>
                      <a:endParaRPr lang="uz-Cyrl-UZ" sz="180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uz-Cyrl-UZ" sz="2000" dirty="0">
                          <a:effectLst/>
                          <a:latin typeface="Times New Roman"/>
                          <a:ea typeface="Times New Roman"/>
                        </a:rPr>
                        <a:t>7774</a:t>
                      </a:r>
                      <a:endParaRPr lang="uz-Cyrl-UZ" sz="1800" dirty="0">
                        <a:effectLst/>
                        <a:latin typeface="Times New Roman"/>
                        <a:ea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4201194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Прямая соединительная линия 2"/>
          <p:cNvCxnSpPr/>
          <p:nvPr/>
        </p:nvCxnSpPr>
        <p:spPr>
          <a:xfrm>
            <a:off x="287525" y="836712"/>
            <a:ext cx="8604955" cy="0"/>
          </a:xfrm>
          <a:prstGeom prst="line">
            <a:avLst/>
          </a:prstGeom>
          <a:ln w="28575">
            <a:solidFill>
              <a:srgbClr val="002060">
                <a:alpha val="55000"/>
              </a:srgbClr>
            </a:solidFill>
          </a:ln>
          <a:effectLst>
            <a:glow rad="215900">
              <a:schemeClr val="accent4">
                <a:satMod val="175000"/>
                <a:alpha val="34000"/>
              </a:schemeClr>
            </a:glow>
          </a:effectLst>
        </p:spPr>
        <p:style>
          <a:lnRef idx="1">
            <a:schemeClr val="accent1"/>
          </a:lnRef>
          <a:fillRef idx="0">
            <a:schemeClr val="accent1"/>
          </a:fillRef>
          <a:effectRef idx="0">
            <a:schemeClr val="accent1"/>
          </a:effectRef>
          <a:fontRef idx="minor">
            <a:schemeClr val="tx1"/>
          </a:fontRef>
        </p:style>
      </p:cxnSp>
      <p:sp>
        <p:nvSpPr>
          <p:cNvPr id="7" name="Прямоугольник 6"/>
          <p:cNvSpPr/>
          <p:nvPr/>
        </p:nvSpPr>
        <p:spPr>
          <a:xfrm>
            <a:off x="238879" y="908720"/>
            <a:ext cx="8725609" cy="5688632"/>
          </a:xfrm>
          <a:prstGeom prst="rect">
            <a:avLst/>
          </a:prstGeom>
          <a:solidFill>
            <a:schemeClr val="bg1"/>
          </a:solidFill>
        </p:spPr>
        <p:style>
          <a:lnRef idx="3">
            <a:schemeClr val="lt1"/>
          </a:lnRef>
          <a:fillRef idx="1">
            <a:schemeClr val="accent4"/>
          </a:fillRef>
          <a:effectRef idx="1">
            <a:schemeClr val="accent4"/>
          </a:effectRef>
          <a:fontRef idx="minor">
            <a:schemeClr val="lt1"/>
          </a:fontRef>
        </p:style>
        <p:txBody>
          <a:bodyPr rtlCol="0" anchor="ctr"/>
          <a:lstStyle/>
          <a:p>
            <a:pPr lvl="0" indent="457200" algn="just" eaLnBrk="0" fontAlgn="base" hangingPunct="0">
              <a:spcBef>
                <a:spcPct val="0"/>
              </a:spcBef>
              <a:spcAft>
                <a:spcPct val="0"/>
              </a:spcAft>
            </a:pPr>
            <a:endPar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endParaRPr>
          </a:p>
          <a:p>
            <a:pPr lvl="0" indent="457200" algn="just" eaLnBrk="0" fontAlgn="base" hangingPunct="0">
              <a:spcBef>
                <a:spcPct val="0"/>
              </a:spcBef>
              <a:spcAft>
                <a:spcPct val="0"/>
              </a:spcAft>
            </a:pPr>
            <a:endPar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endParaRPr>
          </a:p>
          <a:p>
            <a:pPr lvl="0" indent="457200" algn="just" eaLnBrk="0" fontAlgn="base" hangingPunct="0">
              <a:spcBef>
                <a:spcPct val="0"/>
              </a:spcBef>
              <a:spcAft>
                <a:spcPct val="0"/>
              </a:spcAft>
            </a:pPr>
            <a:endParaRPr lang="en-US" dirty="0">
              <a:solidFill>
                <a:schemeClr val="tx1"/>
              </a:solidFill>
              <a:latin typeface="Times New Roman" pitchFamily="18" charset="0"/>
              <a:ea typeface="Calibri" pitchFamily="34" charset="0"/>
              <a:cs typeface="Times New Roman" pitchFamily="18" charset="0"/>
            </a:endParaRPr>
          </a:p>
          <a:p>
            <a:pPr lvl="0" indent="457200" algn="just" eaLnBrk="0" fontAlgn="base" hangingPunct="0">
              <a:spcBef>
                <a:spcPct val="0"/>
              </a:spcBef>
              <a:spcAft>
                <a:spcPct val="0"/>
              </a:spcAft>
            </a:pPr>
            <a:endParaRPr lang="uz-Cyrl-UZ" sz="1100" dirty="0" smtClean="0">
              <a:solidFill>
                <a:schemeClr val="tx1"/>
              </a:solidFill>
              <a:latin typeface="Times New Roman" pitchFamily="18" charset="0"/>
              <a:cs typeface="Times New Roman" pitchFamily="18" charset="0"/>
            </a:endParaRPr>
          </a:p>
          <a:p>
            <a:pPr lvl="0" indent="457200" algn="just" eaLnBrk="0" fontAlgn="base" hangingPunct="0">
              <a:spcBef>
                <a:spcPct val="0"/>
              </a:spcBef>
              <a:spcAft>
                <a:spcPct val="0"/>
              </a:spcAft>
            </a:pPr>
            <a:endParaRPr kumimoji="0" lang="uz-Cyrl-UZ" sz="1100" b="0" i="0" u="none" strike="noStrike" cap="none" normalizeH="0" baseline="0" dirty="0" smtClean="0">
              <a:ln>
                <a:noFill/>
              </a:ln>
              <a:solidFill>
                <a:schemeClr val="tx1"/>
              </a:solidFill>
              <a:effectLst/>
              <a:latin typeface="Times New Roman" pitchFamily="18" charset="0"/>
              <a:cs typeface="Times New Roman" pitchFamily="18" charset="0"/>
            </a:endParaRPr>
          </a:p>
          <a:p>
            <a:pPr lvl="0" indent="457200" algn="just" eaLnBrk="0" fontAlgn="base" hangingPunct="0">
              <a:spcBef>
                <a:spcPct val="0"/>
              </a:spcBef>
              <a:spcAft>
                <a:spcPct val="0"/>
              </a:spcAft>
            </a:pPr>
            <a:endParaRPr lang="uz-Cyrl-UZ" sz="1100" dirty="0" smtClean="0">
              <a:solidFill>
                <a:schemeClr val="tx1"/>
              </a:solidFill>
              <a:latin typeface="Times New Roman" pitchFamily="18" charset="0"/>
              <a:cs typeface="Times New Roman" pitchFamily="18" charset="0"/>
            </a:endParaRPr>
          </a:p>
          <a:p>
            <a:pPr lvl="0" indent="457200" algn="just" eaLnBrk="0" fontAlgn="base" hangingPunct="0">
              <a:spcBef>
                <a:spcPct val="0"/>
              </a:spcBef>
              <a:spcAft>
                <a:spcPct val="0"/>
              </a:spcAft>
            </a:pPr>
            <a:endParaRPr kumimoji="0" lang="uz-Cyrl-UZ" sz="1100" b="0" i="0" u="none" strike="noStrike" cap="none" normalizeH="0" baseline="0" dirty="0" smtClean="0">
              <a:ln>
                <a:noFill/>
              </a:ln>
              <a:solidFill>
                <a:schemeClr val="tx1"/>
              </a:solidFill>
              <a:effectLst/>
              <a:latin typeface="Times New Roman" pitchFamily="18" charset="0"/>
              <a:cs typeface="Times New Roman" pitchFamily="18" charset="0"/>
            </a:endParaRPr>
          </a:p>
          <a:p>
            <a:pPr lvl="0" indent="457200" algn="just" eaLnBrk="0" fontAlgn="base" hangingPunct="0">
              <a:spcBef>
                <a:spcPct val="0"/>
              </a:spcBef>
              <a:spcAft>
                <a:spcPct val="0"/>
              </a:spcAft>
            </a:pPr>
            <a:endParaRPr kumimoji="0" lang="uz-Cyrl-UZ"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endParaRPr>
          </a:p>
          <a:p>
            <a:pPr lvl="0" indent="457200" algn="just" eaLnBrk="0" fontAlgn="base" hangingPunct="0">
              <a:spcBef>
                <a:spcPct val="0"/>
              </a:spcBef>
              <a:spcAft>
                <a:spcPct val="0"/>
              </a:spcAft>
            </a:pPr>
            <a:endParaRPr lang="uz-Cyrl-UZ" dirty="0">
              <a:solidFill>
                <a:schemeClr val="tx1"/>
              </a:solidFill>
              <a:latin typeface="Times New Roman" pitchFamily="18" charset="0"/>
              <a:ea typeface="Calibri" pitchFamily="34" charset="0"/>
              <a:cs typeface="Times New Roman" pitchFamily="18" charset="0"/>
            </a:endParaRPr>
          </a:p>
          <a:p>
            <a:pPr lvl="0" indent="457200" algn="just" eaLnBrk="0" fontAlgn="base" hangingPunct="0">
              <a:spcBef>
                <a:spcPct val="0"/>
              </a:spcBef>
              <a:spcAft>
                <a:spcPct val="0"/>
              </a:spcAft>
            </a:pPr>
            <a:endParaRPr kumimoji="0" lang="uz-Cyrl-UZ"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endParaRPr>
          </a:p>
          <a:p>
            <a:pPr lvl="0" indent="457200" algn="just" eaLnBrk="0" fontAlgn="base" hangingPunct="0">
              <a:spcBef>
                <a:spcPct val="0"/>
              </a:spcBef>
              <a:spcAft>
                <a:spcPct val="0"/>
              </a:spcAft>
            </a:pPr>
            <a:endParaRPr lang="uz-Cyrl-UZ" dirty="0">
              <a:solidFill>
                <a:schemeClr val="tx1"/>
              </a:solidFill>
              <a:latin typeface="Times New Roman" pitchFamily="18" charset="0"/>
              <a:ea typeface="Calibri" pitchFamily="34" charset="0"/>
              <a:cs typeface="Times New Roman" pitchFamily="18" charset="0"/>
            </a:endParaRPr>
          </a:p>
          <a:p>
            <a:pPr lvl="0" indent="457200" algn="just" eaLnBrk="0" fontAlgn="base" hangingPunct="0">
              <a:spcBef>
                <a:spcPct val="0"/>
              </a:spcBef>
              <a:spcAft>
                <a:spcPct val="0"/>
              </a:spcAft>
            </a:pPr>
            <a:endParaRPr kumimoji="0" lang="uz-Cyrl-UZ"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endParaRPr>
          </a:p>
          <a:p>
            <a:pPr lvl="0" indent="457200" algn="just" eaLnBrk="0" fontAlgn="base" hangingPunct="0">
              <a:spcBef>
                <a:spcPct val="0"/>
              </a:spcBef>
              <a:spcAft>
                <a:spcPct val="0"/>
              </a:spcAft>
            </a:pPr>
            <a:endParaRPr lang="uz-Cyrl-UZ" dirty="0">
              <a:solidFill>
                <a:schemeClr val="tx1"/>
              </a:solidFill>
              <a:latin typeface="Times New Roman" pitchFamily="18" charset="0"/>
              <a:ea typeface="Calibri" pitchFamily="34" charset="0"/>
              <a:cs typeface="Times New Roman" pitchFamily="18" charset="0"/>
            </a:endParaRPr>
          </a:p>
          <a:p>
            <a:pPr lvl="0" indent="457200" algn="just" eaLnBrk="0" fontAlgn="base" hangingPunct="0">
              <a:spcBef>
                <a:spcPct val="0"/>
              </a:spcBef>
              <a:spcAft>
                <a:spcPct val="0"/>
              </a:spcAft>
            </a:pPr>
            <a:endParaRPr kumimoji="0" lang="uz-Cyrl-UZ"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endParaRPr>
          </a:p>
          <a:p>
            <a:pPr lvl="0" indent="457200" algn="just" eaLnBrk="0" fontAlgn="base" hangingPunct="0">
              <a:spcBef>
                <a:spcPct val="0"/>
              </a:spcBef>
              <a:spcAft>
                <a:spcPct val="0"/>
              </a:spcAft>
            </a:pPr>
            <a:endParaRPr kumimoji="0" lang="uz-Cyrl-UZ" sz="1100" b="0" i="0" u="none" strike="noStrike" cap="none" normalizeH="0" baseline="0" dirty="0" smtClean="0">
              <a:ln>
                <a:noFill/>
              </a:ln>
              <a:solidFill>
                <a:schemeClr val="tx1"/>
              </a:solidFill>
              <a:effectLst/>
              <a:latin typeface="Arial" pitchFamily="34" charset="0"/>
              <a:cs typeface="Arial" pitchFamily="34" charset="0"/>
            </a:endParaRPr>
          </a:p>
          <a:p>
            <a:pPr lvl="0" indent="457200" algn="just" eaLnBrk="0" fontAlgn="base" hangingPunct="0">
              <a:spcBef>
                <a:spcPct val="0"/>
              </a:spcBef>
              <a:spcAft>
                <a:spcPct val="0"/>
              </a:spcAft>
            </a:pPr>
            <a:endParaRPr lang="uz-Cyrl-UZ" sz="1100" dirty="0" smtClean="0">
              <a:solidFill>
                <a:schemeClr val="tx1"/>
              </a:solidFill>
              <a:latin typeface="Arial" pitchFamily="34" charset="0"/>
              <a:cs typeface="Arial" pitchFamily="34" charset="0"/>
            </a:endParaRPr>
          </a:p>
          <a:p>
            <a:pPr lvl="0" indent="457200" algn="just" eaLnBrk="0" fontAlgn="base" hangingPunct="0">
              <a:spcBef>
                <a:spcPct val="0"/>
              </a:spcBef>
              <a:spcAft>
                <a:spcPct val="0"/>
              </a:spcAft>
            </a:pPr>
            <a:endParaRPr kumimoji="0" lang="uz-Cyrl-UZ" sz="1100" b="0" i="0" u="none" strike="noStrike" cap="none" normalizeH="0" baseline="0" dirty="0" smtClean="0">
              <a:ln>
                <a:noFill/>
              </a:ln>
              <a:solidFill>
                <a:schemeClr val="tx1"/>
              </a:solidFill>
              <a:effectLst/>
              <a:latin typeface="Arial" pitchFamily="34" charset="0"/>
              <a:cs typeface="Arial" pitchFamily="34" charset="0"/>
            </a:endParaRPr>
          </a:p>
          <a:p>
            <a:pPr lvl="0" indent="457200" algn="just" eaLnBrk="0" fontAlgn="base" hangingPunct="0">
              <a:spcBef>
                <a:spcPct val="0"/>
              </a:spcBef>
              <a:spcAft>
                <a:spcPct val="0"/>
              </a:spcAft>
            </a:pPr>
            <a:endParaRPr lang="uz-Cyrl-UZ" sz="1100" dirty="0" smtClean="0">
              <a:solidFill>
                <a:schemeClr val="tx1"/>
              </a:solidFill>
              <a:latin typeface="Arial" pitchFamily="34" charset="0"/>
              <a:cs typeface="Arial" pitchFamily="34" charset="0"/>
            </a:endParaRPr>
          </a:p>
          <a:p>
            <a:pPr lvl="0" indent="457200" algn="just" eaLnBrk="0" fontAlgn="base" hangingPunct="0">
              <a:spcBef>
                <a:spcPct val="0"/>
              </a:spcBef>
              <a:spcAft>
                <a:spcPct val="0"/>
              </a:spcAft>
            </a:pPr>
            <a:endParaRPr lang="uz-Cyrl-UZ" sz="1100" dirty="0" smtClean="0">
              <a:solidFill>
                <a:schemeClr val="tx1"/>
              </a:solidFill>
              <a:latin typeface="Arial" pitchFamily="34" charset="0"/>
              <a:cs typeface="Arial" pitchFamily="34" charset="0"/>
            </a:endParaRPr>
          </a:p>
          <a:p>
            <a:pPr lvl="0" indent="457200" algn="just" eaLnBrk="0" fontAlgn="base" hangingPunct="0">
              <a:spcBef>
                <a:spcPct val="0"/>
              </a:spcBef>
              <a:spcAft>
                <a:spcPct val="0"/>
              </a:spcAft>
            </a:pPr>
            <a:endParaRPr kumimoji="0" lang="uz-Cyrl-UZ" sz="1100" b="0" i="0" u="none" strike="noStrike" cap="none" normalizeH="0" baseline="0" dirty="0" smtClean="0">
              <a:ln>
                <a:noFill/>
              </a:ln>
              <a:solidFill>
                <a:schemeClr val="tx1"/>
              </a:solidFill>
              <a:effectLst/>
              <a:latin typeface="Arial" pitchFamily="34" charset="0"/>
              <a:cs typeface="Arial" pitchFamily="34" charset="0"/>
            </a:endParaRPr>
          </a:p>
          <a:p>
            <a:pPr lvl="0" indent="457200" algn="just" eaLnBrk="0" fontAlgn="base" hangingPunct="0">
              <a:spcBef>
                <a:spcPct val="0"/>
              </a:spcBef>
              <a:spcAft>
                <a:spcPct val="0"/>
              </a:spcAft>
            </a:pPr>
            <a:endParaRPr lang="uz-Cyrl-UZ" sz="1100" dirty="0" smtClean="0">
              <a:solidFill>
                <a:schemeClr val="tx1"/>
              </a:solidFill>
              <a:latin typeface="Arial" pitchFamily="34" charset="0"/>
              <a:cs typeface="Arial" pitchFamily="34" charset="0"/>
            </a:endParaRPr>
          </a:p>
          <a:p>
            <a:pPr lvl="0" indent="457200" algn="just" eaLnBrk="0" fontAlgn="base" hangingPunct="0">
              <a:spcBef>
                <a:spcPct val="0"/>
              </a:spcBef>
              <a:spcAft>
                <a:spcPct val="0"/>
              </a:spcAft>
            </a:pPr>
            <a:endParaRPr kumimoji="0" lang="uz-Cyrl-UZ" sz="1100" b="0" i="0" u="none" strike="noStrike" cap="none" normalizeH="0" baseline="0" dirty="0" smtClean="0">
              <a:ln>
                <a:noFill/>
              </a:ln>
              <a:solidFill>
                <a:schemeClr val="tx1"/>
              </a:solidFill>
              <a:effectLst/>
              <a:latin typeface="Arial" pitchFamily="34" charset="0"/>
              <a:cs typeface="Arial" pitchFamily="34" charset="0"/>
            </a:endParaRPr>
          </a:p>
          <a:p>
            <a:pPr lvl="0" indent="457200" algn="just" eaLnBrk="0" fontAlgn="base" hangingPunct="0">
              <a:spcBef>
                <a:spcPct val="0"/>
              </a:spcBef>
              <a:spcAft>
                <a:spcPct val="0"/>
              </a:spcAft>
            </a:pPr>
            <a:endParaRPr kumimoji="0" lang="uz-Cyrl-UZ"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endParaRPr>
          </a:p>
        </p:txBody>
      </p:sp>
      <p:graphicFrame>
        <p:nvGraphicFramePr>
          <p:cNvPr id="12" name="Таблица 11"/>
          <p:cNvGraphicFramePr>
            <a:graphicFrameLocks noGrp="1"/>
          </p:cNvGraphicFramePr>
          <p:nvPr>
            <p:extLst>
              <p:ext uri="{D42A27DB-BD31-4B8C-83A1-F6EECF244321}">
                <p14:modId xmlns:p14="http://schemas.microsoft.com/office/powerpoint/2010/main" val="3858831451"/>
              </p:ext>
            </p:extLst>
          </p:nvPr>
        </p:nvGraphicFramePr>
        <p:xfrm>
          <a:off x="395536" y="1728232"/>
          <a:ext cx="1840742" cy="548640"/>
        </p:xfrm>
        <a:graphic>
          <a:graphicData uri="http://schemas.openxmlformats.org/drawingml/2006/table">
            <a:tbl>
              <a:tblPr firstRow="1" firstCol="1" lastRow="1" lastCol="1" bandRow="1" bandCol="1">
                <a:tableStyleId>{5C22544A-7EE6-4342-B048-85BDC9FD1C3A}</a:tableStyleId>
              </a:tblPr>
              <a:tblGrid>
                <a:gridCol w="264814"/>
                <a:gridCol w="393982"/>
                <a:gridCol w="393982"/>
                <a:gridCol w="393982"/>
                <a:gridCol w="393982"/>
              </a:tblGrid>
              <a:tr h="273412">
                <a:tc>
                  <a:txBody>
                    <a:bodyPr/>
                    <a:lstStyle/>
                    <a:p>
                      <a:pPr algn="ctr">
                        <a:lnSpc>
                          <a:spcPct val="150000"/>
                        </a:lnSpc>
                        <a:spcAft>
                          <a:spcPts val="0"/>
                        </a:spcAft>
                      </a:pPr>
                      <a:r>
                        <a:rPr lang="en-US" sz="1200" dirty="0">
                          <a:solidFill>
                            <a:schemeClr val="tx1"/>
                          </a:solidFill>
                          <a:effectLst/>
                          <a:latin typeface="Times New Roman" pitchFamily="18" charset="0"/>
                          <a:cs typeface="Times New Roman" pitchFamily="18" charset="0"/>
                        </a:rPr>
                        <a:t>X</a:t>
                      </a:r>
                      <a:endParaRPr lang="ru-RU" sz="1000" dirty="0">
                        <a:solidFill>
                          <a:schemeClr val="tx1"/>
                        </a:solidFill>
                        <a:effectLst/>
                        <a:latin typeface="Times New Roman" pitchFamily="18" charset="0"/>
                        <a:ea typeface="Calibri"/>
                        <a:cs typeface="Times New Roman" pitchFamily="18" charset="0"/>
                      </a:endParaRPr>
                    </a:p>
                  </a:txBody>
                  <a:tcPr marL="58588" marR="5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en-US" sz="1200">
                          <a:solidFill>
                            <a:schemeClr val="tx1"/>
                          </a:solidFill>
                          <a:effectLst/>
                          <a:latin typeface="Times New Roman" pitchFamily="18" charset="0"/>
                          <a:cs typeface="Times New Roman" pitchFamily="18" charset="0"/>
                        </a:rPr>
                        <a:t>0</a:t>
                      </a:r>
                      <a:endParaRPr lang="ru-RU" sz="1000">
                        <a:solidFill>
                          <a:schemeClr val="tx1"/>
                        </a:solidFill>
                        <a:effectLst/>
                        <a:latin typeface="Times New Roman" pitchFamily="18" charset="0"/>
                        <a:ea typeface="Calibri"/>
                        <a:cs typeface="Times New Roman" pitchFamily="18" charset="0"/>
                      </a:endParaRPr>
                    </a:p>
                  </a:txBody>
                  <a:tcPr marL="58588" marR="5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en-US" sz="1200" dirty="0">
                          <a:solidFill>
                            <a:schemeClr val="tx1"/>
                          </a:solidFill>
                          <a:effectLst/>
                          <a:latin typeface="Times New Roman" pitchFamily="18" charset="0"/>
                          <a:cs typeface="Times New Roman" pitchFamily="18" charset="0"/>
                        </a:rPr>
                        <a:t>1</a:t>
                      </a:r>
                      <a:endParaRPr lang="ru-RU" sz="1000" dirty="0">
                        <a:solidFill>
                          <a:schemeClr val="tx1"/>
                        </a:solidFill>
                        <a:effectLst/>
                        <a:latin typeface="Times New Roman" pitchFamily="18" charset="0"/>
                        <a:ea typeface="Calibri"/>
                        <a:cs typeface="Times New Roman" pitchFamily="18" charset="0"/>
                      </a:endParaRPr>
                    </a:p>
                  </a:txBody>
                  <a:tcPr marL="58588" marR="5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en-US" sz="1200" dirty="0">
                          <a:solidFill>
                            <a:schemeClr val="tx1"/>
                          </a:solidFill>
                          <a:effectLst/>
                          <a:latin typeface="Times New Roman" pitchFamily="18" charset="0"/>
                          <a:cs typeface="Times New Roman" pitchFamily="18" charset="0"/>
                        </a:rPr>
                        <a:t>2</a:t>
                      </a:r>
                      <a:endParaRPr lang="ru-RU" sz="1000" dirty="0">
                        <a:solidFill>
                          <a:schemeClr val="tx1"/>
                        </a:solidFill>
                        <a:effectLst/>
                        <a:latin typeface="Times New Roman" pitchFamily="18" charset="0"/>
                        <a:ea typeface="Calibri"/>
                        <a:cs typeface="Times New Roman" pitchFamily="18" charset="0"/>
                      </a:endParaRPr>
                    </a:p>
                  </a:txBody>
                  <a:tcPr marL="58588" marR="5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en-US" sz="1200">
                          <a:solidFill>
                            <a:schemeClr val="tx1"/>
                          </a:solidFill>
                          <a:effectLst/>
                          <a:latin typeface="Times New Roman" pitchFamily="18" charset="0"/>
                          <a:cs typeface="Times New Roman" pitchFamily="18" charset="0"/>
                        </a:rPr>
                        <a:t>3</a:t>
                      </a:r>
                      <a:endParaRPr lang="ru-RU" sz="1000">
                        <a:solidFill>
                          <a:schemeClr val="tx1"/>
                        </a:solidFill>
                        <a:effectLst/>
                        <a:latin typeface="Times New Roman" pitchFamily="18" charset="0"/>
                        <a:ea typeface="Calibri"/>
                        <a:cs typeface="Times New Roman" pitchFamily="18" charset="0"/>
                      </a:endParaRPr>
                    </a:p>
                  </a:txBody>
                  <a:tcPr marL="58588" marR="5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73412">
                <a:tc>
                  <a:txBody>
                    <a:bodyPr/>
                    <a:lstStyle/>
                    <a:p>
                      <a:pPr algn="ctr">
                        <a:lnSpc>
                          <a:spcPct val="150000"/>
                        </a:lnSpc>
                        <a:spcAft>
                          <a:spcPts val="0"/>
                        </a:spcAft>
                      </a:pPr>
                      <a:r>
                        <a:rPr lang="en-US" sz="1200">
                          <a:solidFill>
                            <a:schemeClr val="tx1"/>
                          </a:solidFill>
                          <a:effectLst/>
                          <a:latin typeface="Times New Roman" pitchFamily="18" charset="0"/>
                          <a:cs typeface="Times New Roman" pitchFamily="18" charset="0"/>
                        </a:rPr>
                        <a:t>Y</a:t>
                      </a:r>
                      <a:endParaRPr lang="ru-RU" sz="1000">
                        <a:solidFill>
                          <a:schemeClr val="tx1"/>
                        </a:solidFill>
                        <a:effectLst/>
                        <a:latin typeface="Times New Roman" pitchFamily="18" charset="0"/>
                        <a:ea typeface="Calibri"/>
                        <a:cs typeface="Times New Roman" pitchFamily="18" charset="0"/>
                      </a:endParaRPr>
                    </a:p>
                  </a:txBody>
                  <a:tcPr marL="58588" marR="5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uz-Cyrl-UZ" sz="1200">
                          <a:solidFill>
                            <a:schemeClr val="tx1"/>
                          </a:solidFill>
                          <a:effectLst/>
                          <a:latin typeface="Times New Roman" pitchFamily="18" charset="0"/>
                          <a:cs typeface="Times New Roman" pitchFamily="18" charset="0"/>
                        </a:rPr>
                        <a:t>1</a:t>
                      </a:r>
                      <a:endParaRPr lang="ru-RU" sz="1000">
                        <a:solidFill>
                          <a:schemeClr val="tx1"/>
                        </a:solidFill>
                        <a:effectLst/>
                        <a:latin typeface="Times New Roman" pitchFamily="18" charset="0"/>
                        <a:ea typeface="Calibri"/>
                        <a:cs typeface="Times New Roman" pitchFamily="18" charset="0"/>
                      </a:endParaRPr>
                    </a:p>
                  </a:txBody>
                  <a:tcPr marL="58588" marR="5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en-US" sz="1200">
                          <a:solidFill>
                            <a:schemeClr val="tx1"/>
                          </a:solidFill>
                          <a:effectLst/>
                          <a:latin typeface="Times New Roman" pitchFamily="18" charset="0"/>
                          <a:cs typeface="Times New Roman" pitchFamily="18" charset="0"/>
                        </a:rPr>
                        <a:t>0</a:t>
                      </a:r>
                      <a:endParaRPr lang="ru-RU" sz="1000">
                        <a:solidFill>
                          <a:schemeClr val="tx1"/>
                        </a:solidFill>
                        <a:effectLst/>
                        <a:latin typeface="Times New Roman" pitchFamily="18" charset="0"/>
                        <a:ea typeface="Calibri"/>
                        <a:cs typeface="Times New Roman" pitchFamily="18" charset="0"/>
                      </a:endParaRPr>
                    </a:p>
                  </a:txBody>
                  <a:tcPr marL="58588" marR="5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uz-Cyrl-UZ" sz="1200" dirty="0">
                          <a:solidFill>
                            <a:schemeClr val="tx1"/>
                          </a:solidFill>
                          <a:effectLst/>
                          <a:latin typeface="Times New Roman" pitchFamily="18" charset="0"/>
                          <a:cs typeface="Times New Roman" pitchFamily="18" charset="0"/>
                        </a:rPr>
                        <a:t>0</a:t>
                      </a:r>
                      <a:endParaRPr lang="ru-RU" sz="1000" dirty="0">
                        <a:solidFill>
                          <a:schemeClr val="tx1"/>
                        </a:solidFill>
                        <a:effectLst/>
                        <a:latin typeface="Times New Roman" pitchFamily="18" charset="0"/>
                        <a:ea typeface="Calibri"/>
                        <a:cs typeface="Times New Roman" pitchFamily="18" charset="0"/>
                      </a:endParaRPr>
                    </a:p>
                  </a:txBody>
                  <a:tcPr marL="58588" marR="5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en-US" sz="1200" dirty="0">
                          <a:solidFill>
                            <a:schemeClr val="tx1"/>
                          </a:solidFill>
                          <a:effectLst/>
                          <a:latin typeface="Times New Roman" pitchFamily="18" charset="0"/>
                          <a:cs typeface="Times New Roman" pitchFamily="18" charset="0"/>
                        </a:rPr>
                        <a:t>1</a:t>
                      </a:r>
                      <a:endParaRPr lang="ru-RU" sz="1000" dirty="0">
                        <a:solidFill>
                          <a:schemeClr val="tx1"/>
                        </a:solidFill>
                        <a:effectLst/>
                        <a:latin typeface="Times New Roman" pitchFamily="18" charset="0"/>
                        <a:ea typeface="Calibri"/>
                        <a:cs typeface="Times New Roman" pitchFamily="18" charset="0"/>
                      </a:endParaRPr>
                    </a:p>
                  </a:txBody>
                  <a:tcPr marL="58588" marR="585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bl>
          </a:graphicData>
        </a:graphic>
      </p:graphicFrame>
      <p:graphicFrame>
        <p:nvGraphicFramePr>
          <p:cNvPr id="13" name="Таблица 12"/>
          <p:cNvGraphicFramePr>
            <a:graphicFrameLocks noGrp="1"/>
          </p:cNvGraphicFramePr>
          <p:nvPr>
            <p:extLst>
              <p:ext uri="{D42A27DB-BD31-4B8C-83A1-F6EECF244321}">
                <p14:modId xmlns:p14="http://schemas.microsoft.com/office/powerpoint/2010/main" val="854038004"/>
              </p:ext>
            </p:extLst>
          </p:nvPr>
        </p:nvGraphicFramePr>
        <p:xfrm>
          <a:off x="414265" y="2777479"/>
          <a:ext cx="1779514" cy="1371600"/>
        </p:xfrm>
        <a:graphic>
          <a:graphicData uri="http://schemas.openxmlformats.org/drawingml/2006/table">
            <a:tbl>
              <a:tblPr firstRow="1" firstCol="1" lastRow="1" lastCol="1" bandRow="1" bandCol="1">
                <a:tableStyleId>{5C22544A-7EE6-4342-B048-85BDC9FD1C3A}</a:tableStyleId>
              </a:tblPr>
              <a:tblGrid>
                <a:gridCol w="310516"/>
                <a:gridCol w="489666"/>
                <a:gridCol w="489666"/>
                <a:gridCol w="489666"/>
              </a:tblGrid>
              <a:tr h="245517">
                <a:tc>
                  <a:txBody>
                    <a:bodyPr/>
                    <a:lstStyle/>
                    <a:p>
                      <a:pPr algn="ctr">
                        <a:lnSpc>
                          <a:spcPct val="150000"/>
                        </a:lnSpc>
                        <a:spcAft>
                          <a:spcPts val="0"/>
                        </a:spcAft>
                      </a:pPr>
                      <a:r>
                        <a:rPr lang="uz-Cyrl-UZ" sz="1200" b="1" dirty="0">
                          <a:solidFill>
                            <a:schemeClr val="tx1"/>
                          </a:solidFill>
                          <a:effectLst/>
                          <a:latin typeface="Times New Roman" pitchFamily="18" charset="0"/>
                          <a:cs typeface="Times New Roman" pitchFamily="18" charset="0"/>
                        </a:rPr>
                        <a:t>№</a:t>
                      </a:r>
                      <a:endParaRPr lang="ru-RU" sz="1100" b="1" dirty="0">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uz-Cyrl-UZ" sz="1200" b="1" dirty="0">
                          <a:solidFill>
                            <a:schemeClr val="tx1"/>
                          </a:solidFill>
                          <a:effectLst/>
                          <a:latin typeface="Times New Roman" pitchFamily="18" charset="0"/>
                          <a:cs typeface="Times New Roman" pitchFamily="18" charset="0"/>
                        </a:rPr>
                        <a:t>x</a:t>
                      </a:r>
                      <a:r>
                        <a:rPr lang="uz-Cyrl-UZ" sz="1200" b="1" baseline="-25000" dirty="0">
                          <a:solidFill>
                            <a:schemeClr val="tx1"/>
                          </a:solidFill>
                          <a:effectLst/>
                          <a:latin typeface="Times New Roman" pitchFamily="18" charset="0"/>
                          <a:cs typeface="Times New Roman" pitchFamily="18" charset="0"/>
                        </a:rPr>
                        <a:t>1</a:t>
                      </a:r>
                      <a:endParaRPr lang="ru-RU" sz="1100" b="1" dirty="0">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uz-Cyrl-UZ" sz="1200" b="1" dirty="0">
                          <a:solidFill>
                            <a:schemeClr val="tx1"/>
                          </a:solidFill>
                          <a:effectLst/>
                          <a:latin typeface="Times New Roman" pitchFamily="18" charset="0"/>
                          <a:cs typeface="Times New Roman" pitchFamily="18" charset="0"/>
                        </a:rPr>
                        <a:t>x</a:t>
                      </a:r>
                      <a:r>
                        <a:rPr lang="uz-Cyrl-UZ" sz="1200" b="1" baseline="-25000" dirty="0">
                          <a:solidFill>
                            <a:schemeClr val="tx1"/>
                          </a:solidFill>
                          <a:effectLst/>
                          <a:latin typeface="Times New Roman" pitchFamily="18" charset="0"/>
                          <a:cs typeface="Times New Roman" pitchFamily="18" charset="0"/>
                        </a:rPr>
                        <a:t>2</a:t>
                      </a:r>
                      <a:endParaRPr lang="ru-RU" sz="1100" b="1" dirty="0">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uz-Cyrl-UZ" sz="1200" b="1" dirty="0">
                          <a:solidFill>
                            <a:schemeClr val="tx1"/>
                          </a:solidFill>
                          <a:effectLst/>
                          <a:latin typeface="Times New Roman" pitchFamily="18" charset="0"/>
                          <a:cs typeface="Times New Roman" pitchFamily="18" charset="0"/>
                        </a:rPr>
                        <a:t>y</a:t>
                      </a:r>
                      <a:endParaRPr lang="ru-RU" sz="1100" b="1" dirty="0">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45517">
                <a:tc>
                  <a:txBody>
                    <a:bodyPr/>
                    <a:lstStyle/>
                    <a:p>
                      <a:pPr algn="ctr">
                        <a:lnSpc>
                          <a:spcPct val="150000"/>
                        </a:lnSpc>
                        <a:spcAft>
                          <a:spcPts val="0"/>
                        </a:spcAft>
                      </a:pPr>
                      <a:r>
                        <a:rPr lang="uz-Cyrl-UZ" sz="1200" b="1" dirty="0">
                          <a:solidFill>
                            <a:schemeClr val="tx1"/>
                          </a:solidFill>
                          <a:effectLst/>
                          <a:latin typeface="Times New Roman" pitchFamily="18" charset="0"/>
                          <a:cs typeface="Times New Roman" pitchFamily="18" charset="0"/>
                        </a:rPr>
                        <a:t>1</a:t>
                      </a:r>
                      <a:endParaRPr lang="ru-RU" sz="1100" b="1" dirty="0">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uz-Cyrl-UZ" sz="12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uz-Cyrl-UZ" sz="1200" b="0">
                          <a:solidFill>
                            <a:schemeClr val="tx1"/>
                          </a:solidFill>
                          <a:effectLst/>
                          <a:latin typeface="Times New Roman" pitchFamily="18" charset="0"/>
                          <a:cs typeface="Times New Roman" pitchFamily="18" charset="0"/>
                        </a:rPr>
                        <a:t>0</a:t>
                      </a:r>
                      <a:endParaRPr lang="ru-RU" sz="1100" b="0">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uz-Cyrl-UZ" sz="1200" b="0" dirty="0">
                          <a:solidFill>
                            <a:schemeClr val="tx1"/>
                          </a:solidFill>
                          <a:effectLst/>
                          <a:latin typeface="Times New Roman" pitchFamily="18" charset="0"/>
                          <a:cs typeface="Times New Roman" pitchFamily="18" charset="0"/>
                        </a:rPr>
                        <a:t>1</a:t>
                      </a:r>
                      <a:endParaRPr lang="ru-RU" sz="1100" b="0" dirty="0">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45517">
                <a:tc>
                  <a:txBody>
                    <a:bodyPr/>
                    <a:lstStyle/>
                    <a:p>
                      <a:pPr algn="ctr">
                        <a:lnSpc>
                          <a:spcPct val="150000"/>
                        </a:lnSpc>
                        <a:spcAft>
                          <a:spcPts val="0"/>
                        </a:spcAft>
                      </a:pPr>
                      <a:r>
                        <a:rPr lang="uz-Cyrl-UZ" sz="1200" b="1">
                          <a:solidFill>
                            <a:schemeClr val="tx1"/>
                          </a:solidFill>
                          <a:effectLst/>
                          <a:latin typeface="Times New Roman" pitchFamily="18" charset="0"/>
                          <a:cs typeface="Times New Roman" pitchFamily="18" charset="0"/>
                        </a:rPr>
                        <a:t>2</a:t>
                      </a:r>
                      <a:endParaRPr lang="ru-RU" sz="1100" b="1">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uz-Cyrl-UZ" sz="12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uz-Cyrl-UZ" sz="1200" b="0" dirty="0">
                          <a:solidFill>
                            <a:schemeClr val="tx1"/>
                          </a:solidFill>
                          <a:effectLst/>
                          <a:latin typeface="Times New Roman" pitchFamily="18" charset="0"/>
                          <a:cs typeface="Times New Roman" pitchFamily="18" charset="0"/>
                        </a:rPr>
                        <a:t>1</a:t>
                      </a:r>
                      <a:endParaRPr lang="ru-RU" sz="1100" b="0" dirty="0">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uz-Cyrl-UZ" sz="1200" b="0">
                          <a:solidFill>
                            <a:schemeClr val="tx1"/>
                          </a:solidFill>
                          <a:effectLst/>
                          <a:latin typeface="Times New Roman" pitchFamily="18" charset="0"/>
                          <a:cs typeface="Times New Roman" pitchFamily="18" charset="0"/>
                        </a:rPr>
                        <a:t>0</a:t>
                      </a:r>
                      <a:endParaRPr lang="ru-RU" sz="1100" b="0">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45517">
                <a:tc>
                  <a:txBody>
                    <a:bodyPr/>
                    <a:lstStyle/>
                    <a:p>
                      <a:pPr algn="ctr">
                        <a:lnSpc>
                          <a:spcPct val="150000"/>
                        </a:lnSpc>
                        <a:spcAft>
                          <a:spcPts val="0"/>
                        </a:spcAft>
                      </a:pPr>
                      <a:r>
                        <a:rPr lang="uz-Cyrl-UZ" sz="1200" b="1">
                          <a:solidFill>
                            <a:schemeClr val="tx1"/>
                          </a:solidFill>
                          <a:effectLst/>
                          <a:latin typeface="Times New Roman" pitchFamily="18" charset="0"/>
                          <a:cs typeface="Times New Roman" pitchFamily="18" charset="0"/>
                        </a:rPr>
                        <a:t>3</a:t>
                      </a:r>
                      <a:endParaRPr lang="ru-RU" sz="1100" b="1">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uz-Cyrl-UZ" sz="1200" b="0">
                          <a:solidFill>
                            <a:schemeClr val="tx1"/>
                          </a:solidFill>
                          <a:effectLst/>
                          <a:latin typeface="Times New Roman" pitchFamily="18" charset="0"/>
                          <a:cs typeface="Times New Roman" pitchFamily="18" charset="0"/>
                        </a:rPr>
                        <a:t>1</a:t>
                      </a:r>
                      <a:endParaRPr lang="ru-RU" sz="1100" b="0">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uz-Cyrl-UZ" sz="12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uz-Cyrl-UZ" sz="1200" b="0">
                          <a:solidFill>
                            <a:schemeClr val="tx1"/>
                          </a:solidFill>
                          <a:effectLst/>
                          <a:latin typeface="Times New Roman" pitchFamily="18" charset="0"/>
                          <a:cs typeface="Times New Roman" pitchFamily="18" charset="0"/>
                        </a:rPr>
                        <a:t>0</a:t>
                      </a:r>
                      <a:endParaRPr lang="ru-RU" sz="1100" b="0">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45517">
                <a:tc>
                  <a:txBody>
                    <a:bodyPr/>
                    <a:lstStyle/>
                    <a:p>
                      <a:pPr algn="ctr">
                        <a:lnSpc>
                          <a:spcPct val="150000"/>
                        </a:lnSpc>
                        <a:spcAft>
                          <a:spcPts val="0"/>
                        </a:spcAft>
                      </a:pPr>
                      <a:r>
                        <a:rPr lang="uz-Cyrl-UZ" sz="1200" b="1">
                          <a:solidFill>
                            <a:schemeClr val="tx1"/>
                          </a:solidFill>
                          <a:effectLst/>
                          <a:latin typeface="Times New Roman" pitchFamily="18" charset="0"/>
                          <a:cs typeface="Times New Roman" pitchFamily="18" charset="0"/>
                        </a:rPr>
                        <a:t>4</a:t>
                      </a:r>
                      <a:endParaRPr lang="ru-RU" sz="1100" b="1">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uz-Cyrl-UZ" sz="1200" b="0">
                          <a:solidFill>
                            <a:schemeClr val="tx1"/>
                          </a:solidFill>
                          <a:effectLst/>
                          <a:latin typeface="Times New Roman" pitchFamily="18" charset="0"/>
                          <a:cs typeface="Times New Roman" pitchFamily="18" charset="0"/>
                        </a:rPr>
                        <a:t>1</a:t>
                      </a:r>
                      <a:endParaRPr lang="ru-RU" sz="1100" b="0">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uz-Cyrl-UZ" sz="1200" b="0" dirty="0">
                          <a:solidFill>
                            <a:schemeClr val="tx1"/>
                          </a:solidFill>
                          <a:effectLst/>
                          <a:latin typeface="Times New Roman" pitchFamily="18" charset="0"/>
                          <a:cs typeface="Times New Roman" pitchFamily="18" charset="0"/>
                        </a:rPr>
                        <a:t>1</a:t>
                      </a:r>
                      <a:endParaRPr lang="ru-RU" sz="1100" b="0" dirty="0">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spcAft>
                          <a:spcPts val="0"/>
                        </a:spcAft>
                      </a:pPr>
                      <a:r>
                        <a:rPr lang="uz-Cyrl-UZ" sz="1200" b="0" dirty="0">
                          <a:solidFill>
                            <a:schemeClr val="tx1"/>
                          </a:solidFill>
                          <a:effectLst/>
                          <a:latin typeface="Times New Roman" pitchFamily="18" charset="0"/>
                          <a:cs typeface="Times New Roman" pitchFamily="18" charset="0"/>
                        </a:rPr>
                        <a:t>1</a:t>
                      </a:r>
                      <a:endParaRPr lang="ru-RU" sz="1100" b="0" dirty="0">
                        <a:solidFill>
                          <a:schemeClr val="tx1"/>
                        </a:solidFill>
                        <a:effectLst/>
                        <a:latin typeface="Times New Roman" pitchFamily="18" charset="0"/>
                        <a:ea typeface="Calibri"/>
                        <a:cs typeface="Times New Roman" pitchFamily="18" charset="0"/>
                      </a:endParaRPr>
                    </a:p>
                  </a:txBody>
                  <a:tcPr marL="60008" marR="6000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bl>
          </a:graphicData>
        </a:graphic>
      </p:graphicFrame>
      <p:sp>
        <p:nvSpPr>
          <p:cNvPr id="9" name="Объект 2"/>
          <p:cNvSpPr txBox="1">
            <a:spLocks/>
          </p:cNvSpPr>
          <p:nvPr/>
        </p:nvSpPr>
        <p:spPr>
          <a:xfrm>
            <a:off x="323528" y="908721"/>
            <a:ext cx="8496944" cy="576064"/>
          </a:xfrm>
          <a:prstGeom prst="rect">
            <a:avLst/>
          </a:prstGeom>
        </p:spPr>
        <p:txBody>
          <a:bodyPr vert="horz" lIns="91440" tIns="45720" rIns="91440" bIns="45720" rtlCol="0">
            <a:normAutofit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indent="444500" algn="just"/>
            <a:r>
              <a:rPr lang="uz-Cyrl-UZ" sz="1600" u="sng" dirty="0" smtClean="0">
                <a:solidFill>
                  <a:schemeClr val="tx1"/>
                </a:solidFill>
                <a:latin typeface="Times New Roman" pitchFamily="18" charset="0"/>
                <a:ea typeface="Calibri" pitchFamily="34" charset="0"/>
                <a:cs typeface="Times New Roman" pitchFamily="18" charset="0"/>
              </a:rPr>
              <a:t>S – блок акслантиришини ифодаловчи тенгламалар системасини </a:t>
            </a:r>
            <a:r>
              <a:rPr lang="uz-Cyrl-UZ" sz="1600" b="1" u="sng" dirty="0" smtClean="0">
                <a:solidFill>
                  <a:schemeClr val="tx1"/>
                </a:solidFill>
                <a:latin typeface="Times New Roman" pitchFamily="18" charset="0"/>
                <a:ea typeface="Calibri" pitchFamily="34" charset="0"/>
                <a:cs typeface="Times New Roman" pitchFamily="18" charset="0"/>
              </a:rPr>
              <a:t>тузиш</a:t>
            </a:r>
            <a:r>
              <a:rPr lang="uz-Cyrl-UZ" sz="1600" u="sng" dirty="0" smtClean="0">
                <a:solidFill>
                  <a:schemeClr val="tx1"/>
                </a:solidFill>
                <a:latin typeface="Times New Roman" pitchFamily="18" charset="0"/>
                <a:ea typeface="Calibri" pitchFamily="34" charset="0"/>
                <a:cs typeface="Times New Roman" pitchFamily="18" charset="0"/>
              </a:rPr>
              <a:t> ва уни </a:t>
            </a:r>
            <a:r>
              <a:rPr lang="uz-Cyrl-UZ" sz="1600" b="1" u="sng" dirty="0" smtClean="0">
                <a:solidFill>
                  <a:schemeClr val="tx1"/>
                </a:solidFill>
                <a:latin typeface="Times New Roman" pitchFamily="18" charset="0"/>
                <a:ea typeface="Calibri" pitchFamily="34" charset="0"/>
                <a:cs typeface="Times New Roman" pitchFamily="18" charset="0"/>
              </a:rPr>
              <a:t>тўғри тенглама эканлигини текшириш</a:t>
            </a:r>
            <a:r>
              <a:rPr lang="uz-Cyrl-UZ" sz="1600" u="sng" dirty="0" smtClean="0">
                <a:solidFill>
                  <a:schemeClr val="tx1"/>
                </a:solidFill>
                <a:latin typeface="Times New Roman" pitchFamily="18" charset="0"/>
                <a:ea typeface="Calibri" pitchFamily="34" charset="0"/>
                <a:cs typeface="Times New Roman" pitchFamily="18" charset="0"/>
              </a:rPr>
              <a:t>га наъмуна</a:t>
            </a:r>
          </a:p>
          <a:p>
            <a:endParaRPr lang="ru-RU" sz="1600" dirty="0">
              <a:solidFill>
                <a:schemeClr val="tx1"/>
              </a:solidFill>
            </a:endParaRPr>
          </a:p>
        </p:txBody>
      </p:sp>
      <p:sp>
        <p:nvSpPr>
          <p:cNvPr id="11" name="Объект 2"/>
          <p:cNvSpPr txBox="1">
            <a:spLocks/>
          </p:cNvSpPr>
          <p:nvPr/>
        </p:nvSpPr>
        <p:spPr>
          <a:xfrm>
            <a:off x="611560" y="1412776"/>
            <a:ext cx="1656184" cy="390669"/>
          </a:xfrm>
          <a:prstGeom prst="rect">
            <a:avLst/>
          </a:prstGeom>
        </p:spPr>
        <p:txBody>
          <a:bodyPr vert="horz" lIns="91440" tIns="45720" rIns="91440" bIns="45720" rtlCol="0">
            <a:normAutofit fontScale="850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uz-Cyrl-UZ" sz="1600" b="1" dirty="0" smtClean="0">
                <a:solidFill>
                  <a:srgbClr val="C00000"/>
                </a:solidFill>
                <a:latin typeface="Times New Roman" pitchFamily="18" charset="0"/>
                <a:ea typeface="Calibri" pitchFamily="34" charset="0"/>
                <a:cs typeface="Times New Roman" pitchFamily="18" charset="0"/>
              </a:rPr>
              <a:t>S – блок</a:t>
            </a:r>
            <a:r>
              <a:rPr lang="en-US" sz="1600" b="1" dirty="0" smtClean="0">
                <a:solidFill>
                  <a:srgbClr val="C00000"/>
                </a:solidFill>
                <a:latin typeface="Times New Roman" pitchFamily="18" charset="0"/>
                <a:ea typeface="Calibri" pitchFamily="34" charset="0"/>
                <a:cs typeface="Times New Roman" pitchFamily="18" charset="0"/>
              </a:rPr>
              <a:t> </a:t>
            </a:r>
            <a:r>
              <a:rPr lang="uz-Cyrl-UZ" sz="1600" b="1" dirty="0" smtClean="0">
                <a:solidFill>
                  <a:srgbClr val="C00000"/>
                </a:solidFill>
                <a:latin typeface="Times New Roman" pitchFamily="18" charset="0"/>
                <a:ea typeface="Calibri" pitchFamily="34" charset="0"/>
                <a:cs typeface="Times New Roman" pitchFamily="18" charset="0"/>
              </a:rPr>
              <a:t>жадвали</a:t>
            </a:r>
          </a:p>
          <a:p>
            <a:endParaRPr lang="ru-RU" sz="1600" dirty="0">
              <a:solidFill>
                <a:srgbClr val="C00000"/>
              </a:solidFill>
            </a:endParaRPr>
          </a:p>
        </p:txBody>
      </p:sp>
      <p:sp>
        <p:nvSpPr>
          <p:cNvPr id="14" name="Объект 2"/>
          <p:cNvSpPr txBox="1">
            <a:spLocks/>
          </p:cNvSpPr>
          <p:nvPr/>
        </p:nvSpPr>
        <p:spPr>
          <a:xfrm>
            <a:off x="413988" y="2240376"/>
            <a:ext cx="1836000" cy="523220"/>
          </a:xfrm>
          <a:prstGeom prst="rect">
            <a:avLst/>
          </a:prstGeom>
        </p:spPr>
        <p:txBody>
          <a:bodyPr vert="horz" lIns="91440" tIns="45720" rIns="91440" bIns="45720" rtlCol="0">
            <a:sp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spcBef>
                <a:spcPts val="0"/>
              </a:spcBef>
            </a:pPr>
            <a:r>
              <a:rPr lang="uz-Cyrl-UZ" sz="1400" b="1" dirty="0" smtClean="0">
                <a:solidFill>
                  <a:srgbClr val="C00000"/>
                </a:solidFill>
                <a:latin typeface="Times New Roman" pitchFamily="18" charset="0"/>
                <a:ea typeface="Calibri" pitchFamily="34" charset="0"/>
                <a:cs typeface="Times New Roman" pitchFamily="18" charset="0"/>
              </a:rPr>
              <a:t>S – блок </a:t>
            </a:r>
          </a:p>
          <a:p>
            <a:pPr>
              <a:spcBef>
                <a:spcPts val="0"/>
              </a:spcBef>
            </a:pPr>
            <a:r>
              <a:rPr lang="uz-Cyrl-UZ" sz="1400" b="1" dirty="0" smtClean="0">
                <a:solidFill>
                  <a:srgbClr val="C00000"/>
                </a:solidFill>
                <a:latin typeface="Times New Roman" pitchFamily="18" charset="0"/>
                <a:ea typeface="Calibri" pitchFamily="34" charset="0"/>
                <a:cs typeface="Times New Roman" pitchFamily="18" charset="0"/>
              </a:rPr>
              <a:t>чинлик жадвали</a:t>
            </a:r>
          </a:p>
        </p:txBody>
      </p:sp>
      <p:sp>
        <p:nvSpPr>
          <p:cNvPr id="15" name="Объект 2"/>
          <p:cNvSpPr txBox="1">
            <a:spLocks/>
          </p:cNvSpPr>
          <p:nvPr/>
        </p:nvSpPr>
        <p:spPr>
          <a:xfrm>
            <a:off x="4211960" y="1700808"/>
            <a:ext cx="2376264" cy="576064"/>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ru-RU" sz="1600" b="1" dirty="0">
              <a:solidFill>
                <a:schemeClr val="tx1"/>
              </a:solidFill>
            </a:endParaRPr>
          </a:p>
        </p:txBody>
      </p:sp>
      <p:sp>
        <p:nvSpPr>
          <p:cNvPr id="16" name="Объект 2"/>
          <p:cNvSpPr txBox="1">
            <a:spLocks/>
          </p:cNvSpPr>
          <p:nvPr/>
        </p:nvSpPr>
        <p:spPr>
          <a:xfrm>
            <a:off x="2627784" y="1700808"/>
            <a:ext cx="2952328" cy="1872208"/>
          </a:xfrm>
          <a:prstGeom prst="rect">
            <a:avLst/>
          </a:prstGeom>
          <a:ln cmpd="sng">
            <a:solidFill>
              <a:schemeClr val="tx1"/>
            </a:solidFill>
          </a:ln>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uz-Cyrl-UZ" sz="1600" dirty="0" smtClean="0">
                <a:solidFill>
                  <a:schemeClr val="tx1"/>
                </a:solidFill>
                <a:latin typeface="Times New Roman" pitchFamily="18" charset="0"/>
                <a:ea typeface="Calibri" pitchFamily="34" charset="0"/>
                <a:cs typeface="Times New Roman" pitchFamily="18" charset="0"/>
              </a:rPr>
              <a:t>Тенгламалар</a:t>
            </a:r>
            <a:r>
              <a:rPr lang="ru-RU" sz="1600" dirty="0" smtClean="0">
                <a:solidFill>
                  <a:schemeClr val="tx1"/>
                </a:solidFill>
                <a:latin typeface="Times New Roman" pitchFamily="18" charset="0"/>
                <a:ea typeface="Calibri" pitchFamily="34" charset="0"/>
                <a:cs typeface="Times New Roman" pitchFamily="18" charset="0"/>
              </a:rPr>
              <a:t>ни</a:t>
            </a:r>
            <a:r>
              <a:rPr lang="uz-Cyrl-UZ" sz="1600" dirty="0" smtClean="0">
                <a:solidFill>
                  <a:schemeClr val="tx1"/>
                </a:solidFill>
                <a:latin typeface="Times New Roman" pitchFamily="18" charset="0"/>
                <a:ea typeface="Calibri" pitchFamily="34" charset="0"/>
                <a:cs typeface="Times New Roman" pitchFamily="18" charset="0"/>
              </a:rPr>
              <a:t> ишлаб </a:t>
            </a:r>
            <a:r>
              <a:rPr lang="uz-Cyrl-UZ" sz="1600" dirty="0">
                <a:solidFill>
                  <a:schemeClr val="tx1"/>
                </a:solidFill>
                <a:latin typeface="Times New Roman" pitchFamily="18" charset="0"/>
                <a:ea typeface="Calibri" pitchFamily="34" charset="0"/>
                <a:cs typeface="Times New Roman" pitchFamily="18" charset="0"/>
              </a:rPr>
              <a:t>чиқиш учун мумкин бўлган бирхадларнинг умумий сони </a:t>
            </a:r>
            <a:r>
              <a:rPr lang="uz-Cyrl-UZ" sz="1600" dirty="0" smtClean="0">
                <a:solidFill>
                  <a:schemeClr val="tx1"/>
                </a:solidFill>
                <a:latin typeface="Times New Roman" pitchFamily="18" charset="0"/>
                <a:ea typeface="Calibri" pitchFamily="34" charset="0"/>
                <a:cs typeface="Times New Roman" pitchFamily="18" charset="0"/>
              </a:rPr>
              <a:t>7 та </a:t>
            </a:r>
            <a:r>
              <a:rPr lang="uz-Cyrl-UZ" sz="1600" dirty="0">
                <a:solidFill>
                  <a:schemeClr val="tx1"/>
                </a:solidFill>
                <a:latin typeface="Times New Roman" pitchFamily="18" charset="0"/>
                <a:ea typeface="Calibri" pitchFamily="34" charset="0"/>
                <a:cs typeface="Times New Roman" pitchFamily="18" charset="0"/>
              </a:rPr>
              <a:t>бўлиб, улар қуйидагилардир</a:t>
            </a:r>
            <a:r>
              <a:rPr lang="uz-Cyrl-UZ" sz="1600" dirty="0" smtClean="0">
                <a:solidFill>
                  <a:schemeClr val="tx1"/>
                </a:solidFill>
                <a:latin typeface="Times New Roman" pitchFamily="18" charset="0"/>
                <a:ea typeface="Calibri" pitchFamily="34" charset="0"/>
                <a:cs typeface="Times New Roman" pitchFamily="18" charset="0"/>
              </a:rPr>
              <a:t>:</a:t>
            </a:r>
            <a:endParaRPr lang="en-US" sz="1600" dirty="0" smtClean="0">
              <a:solidFill>
                <a:schemeClr val="tx1"/>
              </a:solidFill>
              <a:latin typeface="Times New Roman" pitchFamily="18" charset="0"/>
              <a:ea typeface="Calibri" pitchFamily="34" charset="0"/>
              <a:cs typeface="Times New Roman" pitchFamily="18" charset="0"/>
            </a:endParaRPr>
          </a:p>
          <a:p>
            <a:r>
              <a:rPr lang="uz-Cyrl-UZ" sz="1600" b="1" dirty="0" smtClean="0">
                <a:solidFill>
                  <a:schemeClr val="tx1"/>
                </a:solidFill>
                <a:latin typeface="Times New Roman" pitchFamily="18" charset="0"/>
                <a:cs typeface="Times New Roman" pitchFamily="18" charset="0"/>
              </a:rPr>
              <a:t>x</a:t>
            </a:r>
            <a:r>
              <a:rPr lang="uz-Cyrl-UZ" sz="1600" b="1" baseline="-25000" dirty="0" smtClean="0">
                <a:solidFill>
                  <a:schemeClr val="tx1"/>
                </a:solidFill>
                <a:latin typeface="Times New Roman" pitchFamily="18" charset="0"/>
                <a:cs typeface="Times New Roman" pitchFamily="18" charset="0"/>
              </a:rPr>
              <a:t>1</a:t>
            </a:r>
            <a:r>
              <a:rPr lang="uz-Cyrl-UZ" sz="1600" b="1" dirty="0">
                <a:solidFill>
                  <a:schemeClr val="tx1"/>
                </a:solidFill>
                <a:latin typeface="Times New Roman" pitchFamily="18" charset="0"/>
                <a:cs typeface="Times New Roman" pitchFamily="18" charset="0"/>
              </a:rPr>
              <a:t>, </a:t>
            </a:r>
            <a:r>
              <a:rPr lang="uz-Cyrl-UZ" sz="1600" b="1" dirty="0" smtClean="0">
                <a:solidFill>
                  <a:schemeClr val="tx1"/>
                </a:solidFill>
                <a:latin typeface="Times New Roman" pitchFamily="18" charset="0"/>
                <a:cs typeface="Times New Roman" pitchFamily="18" charset="0"/>
              </a:rPr>
              <a:t> x</a:t>
            </a:r>
            <a:r>
              <a:rPr lang="uz-Cyrl-UZ" sz="1600" b="1" baseline="-25000" dirty="0" smtClean="0">
                <a:solidFill>
                  <a:schemeClr val="tx1"/>
                </a:solidFill>
                <a:latin typeface="Times New Roman" pitchFamily="18" charset="0"/>
                <a:cs typeface="Times New Roman" pitchFamily="18" charset="0"/>
              </a:rPr>
              <a:t>2</a:t>
            </a:r>
            <a:r>
              <a:rPr lang="uz-Cyrl-UZ" sz="1600" b="1" dirty="0">
                <a:solidFill>
                  <a:schemeClr val="tx1"/>
                </a:solidFill>
                <a:latin typeface="Times New Roman" pitchFamily="18" charset="0"/>
                <a:cs typeface="Times New Roman" pitchFamily="18" charset="0"/>
              </a:rPr>
              <a:t>, </a:t>
            </a:r>
            <a:r>
              <a:rPr lang="uz-Cyrl-UZ" sz="1600" b="1" dirty="0" smtClean="0">
                <a:solidFill>
                  <a:schemeClr val="tx1"/>
                </a:solidFill>
                <a:latin typeface="Times New Roman" pitchFamily="18" charset="0"/>
                <a:cs typeface="Times New Roman" pitchFamily="18" charset="0"/>
              </a:rPr>
              <a:t> y</a:t>
            </a:r>
            <a:r>
              <a:rPr lang="uz-Cyrl-UZ" sz="1600" b="1" dirty="0">
                <a:solidFill>
                  <a:schemeClr val="tx1"/>
                </a:solidFill>
                <a:latin typeface="Times New Roman" pitchFamily="18" charset="0"/>
                <a:cs typeface="Times New Roman" pitchFamily="18" charset="0"/>
              </a:rPr>
              <a:t>, </a:t>
            </a:r>
            <a:r>
              <a:rPr lang="uz-Cyrl-UZ" sz="1600" b="1" dirty="0" smtClean="0">
                <a:solidFill>
                  <a:schemeClr val="tx1"/>
                </a:solidFill>
                <a:latin typeface="Times New Roman" pitchFamily="18" charset="0"/>
                <a:cs typeface="Times New Roman" pitchFamily="18" charset="0"/>
              </a:rPr>
              <a:t> x</a:t>
            </a:r>
            <a:r>
              <a:rPr lang="uz-Cyrl-UZ" sz="1600" b="1" baseline="-25000" dirty="0" smtClean="0">
                <a:solidFill>
                  <a:schemeClr val="tx1"/>
                </a:solidFill>
                <a:latin typeface="Times New Roman" pitchFamily="18" charset="0"/>
                <a:cs typeface="Times New Roman" pitchFamily="18" charset="0"/>
              </a:rPr>
              <a:t>1</a:t>
            </a:r>
            <a:r>
              <a:rPr lang="uz-Cyrl-UZ" sz="1600" b="1" dirty="0" smtClean="0">
                <a:solidFill>
                  <a:schemeClr val="tx1"/>
                </a:solidFill>
                <a:latin typeface="Times New Roman" pitchFamily="18" charset="0"/>
                <a:cs typeface="Times New Roman" pitchFamily="18" charset="0"/>
              </a:rPr>
              <a:t>x</a:t>
            </a:r>
            <a:r>
              <a:rPr lang="uz-Cyrl-UZ" sz="1600" b="1" baseline="-25000" dirty="0" smtClean="0">
                <a:solidFill>
                  <a:schemeClr val="tx1"/>
                </a:solidFill>
                <a:latin typeface="Times New Roman" pitchFamily="18" charset="0"/>
                <a:cs typeface="Times New Roman" pitchFamily="18" charset="0"/>
              </a:rPr>
              <a:t>2</a:t>
            </a:r>
            <a:r>
              <a:rPr lang="uz-Cyrl-UZ" sz="1600" b="1" dirty="0">
                <a:solidFill>
                  <a:schemeClr val="tx1"/>
                </a:solidFill>
                <a:latin typeface="Times New Roman" pitchFamily="18" charset="0"/>
                <a:cs typeface="Times New Roman" pitchFamily="18" charset="0"/>
              </a:rPr>
              <a:t>, </a:t>
            </a:r>
            <a:r>
              <a:rPr lang="uz-Cyrl-UZ" sz="1600" b="1" dirty="0" smtClean="0">
                <a:solidFill>
                  <a:schemeClr val="tx1"/>
                </a:solidFill>
                <a:latin typeface="Times New Roman" pitchFamily="18" charset="0"/>
                <a:cs typeface="Times New Roman" pitchFamily="18" charset="0"/>
              </a:rPr>
              <a:t> x</a:t>
            </a:r>
            <a:r>
              <a:rPr lang="uz-Cyrl-UZ" sz="1600" b="1" baseline="-25000" dirty="0" smtClean="0">
                <a:solidFill>
                  <a:schemeClr val="tx1"/>
                </a:solidFill>
                <a:latin typeface="Times New Roman" pitchFamily="18" charset="0"/>
                <a:cs typeface="Times New Roman" pitchFamily="18" charset="0"/>
              </a:rPr>
              <a:t>1</a:t>
            </a:r>
            <a:r>
              <a:rPr lang="uz-Cyrl-UZ" sz="1600" b="1" dirty="0" smtClean="0">
                <a:solidFill>
                  <a:schemeClr val="tx1"/>
                </a:solidFill>
                <a:latin typeface="Times New Roman" pitchFamily="18" charset="0"/>
                <a:cs typeface="Times New Roman" pitchFamily="18" charset="0"/>
              </a:rPr>
              <a:t>y</a:t>
            </a:r>
            <a:r>
              <a:rPr lang="uz-Cyrl-UZ" sz="1600" b="1" dirty="0">
                <a:solidFill>
                  <a:schemeClr val="tx1"/>
                </a:solidFill>
                <a:latin typeface="Times New Roman" pitchFamily="18" charset="0"/>
                <a:cs typeface="Times New Roman" pitchFamily="18" charset="0"/>
              </a:rPr>
              <a:t>, </a:t>
            </a:r>
            <a:r>
              <a:rPr lang="uz-Cyrl-UZ" sz="1600" b="1" dirty="0" smtClean="0">
                <a:solidFill>
                  <a:schemeClr val="tx1"/>
                </a:solidFill>
                <a:latin typeface="Times New Roman" pitchFamily="18" charset="0"/>
                <a:cs typeface="Times New Roman" pitchFamily="18" charset="0"/>
              </a:rPr>
              <a:t> x</a:t>
            </a:r>
            <a:r>
              <a:rPr lang="uz-Cyrl-UZ" sz="1600" b="1" baseline="-25000" dirty="0" smtClean="0">
                <a:solidFill>
                  <a:schemeClr val="tx1"/>
                </a:solidFill>
                <a:latin typeface="Times New Roman" pitchFamily="18" charset="0"/>
                <a:cs typeface="Times New Roman" pitchFamily="18" charset="0"/>
              </a:rPr>
              <a:t>2</a:t>
            </a:r>
            <a:r>
              <a:rPr lang="uz-Cyrl-UZ" sz="1600" b="1" dirty="0" smtClean="0">
                <a:solidFill>
                  <a:schemeClr val="tx1"/>
                </a:solidFill>
                <a:latin typeface="Times New Roman" pitchFamily="18" charset="0"/>
                <a:cs typeface="Times New Roman" pitchFamily="18" charset="0"/>
              </a:rPr>
              <a:t>y</a:t>
            </a:r>
            <a:r>
              <a:rPr lang="uz-Cyrl-UZ" sz="1600" b="1" dirty="0">
                <a:solidFill>
                  <a:schemeClr val="tx1"/>
                </a:solidFill>
                <a:latin typeface="Times New Roman" pitchFamily="18" charset="0"/>
                <a:cs typeface="Times New Roman" pitchFamily="18" charset="0"/>
              </a:rPr>
              <a:t>, </a:t>
            </a:r>
            <a:r>
              <a:rPr lang="uz-Cyrl-UZ" sz="1600" b="1" dirty="0" smtClean="0">
                <a:solidFill>
                  <a:schemeClr val="tx1"/>
                </a:solidFill>
                <a:latin typeface="Times New Roman" pitchFamily="18" charset="0"/>
                <a:cs typeface="Times New Roman" pitchFamily="18" charset="0"/>
              </a:rPr>
              <a:t> η </a:t>
            </a:r>
          </a:p>
          <a:p>
            <a:r>
              <a:rPr lang="uz-Cyrl-UZ" sz="1600" dirty="0" smtClean="0">
                <a:solidFill>
                  <a:schemeClr val="tx1"/>
                </a:solidFill>
                <a:latin typeface="Times New Roman" pitchFamily="18" charset="0"/>
                <a:cs typeface="Times New Roman" pitchFamily="18" charset="0"/>
              </a:rPr>
              <a:t>Ушбу </a:t>
            </a:r>
            <a:r>
              <a:rPr lang="uz-Cyrl-UZ" sz="1600" dirty="0">
                <a:solidFill>
                  <a:schemeClr val="tx1"/>
                </a:solidFill>
                <a:latin typeface="Times New Roman" pitchFamily="18" charset="0"/>
                <a:cs typeface="Times New Roman" pitchFamily="18" charset="0"/>
              </a:rPr>
              <a:t>бирхадларнинг 2</a:t>
            </a:r>
            <a:r>
              <a:rPr lang="uz-Cyrl-UZ" sz="1600" baseline="30000" dirty="0">
                <a:solidFill>
                  <a:schemeClr val="tx1"/>
                </a:solidFill>
                <a:latin typeface="Times New Roman" pitchFamily="18" charset="0"/>
                <a:cs typeface="Times New Roman" pitchFamily="18" charset="0"/>
              </a:rPr>
              <a:t>7</a:t>
            </a:r>
            <a:r>
              <a:rPr lang="uz-Cyrl-UZ" sz="1600" dirty="0">
                <a:solidFill>
                  <a:schemeClr val="tx1"/>
                </a:solidFill>
                <a:latin typeface="Times New Roman" pitchFamily="18" charset="0"/>
                <a:cs typeface="Times New Roman" pitchFamily="18" charset="0"/>
              </a:rPr>
              <a:t>=128 та комбинацияси </a:t>
            </a:r>
            <a:r>
              <a:rPr lang="uz-Cyrl-UZ" sz="1600" dirty="0" smtClean="0">
                <a:solidFill>
                  <a:schemeClr val="tx1"/>
                </a:solidFill>
                <a:latin typeface="Times New Roman" pitchFamily="18" charset="0"/>
                <a:cs typeface="Times New Roman" pitchFamily="18" charset="0"/>
              </a:rPr>
              <a:t>мавжуд.</a:t>
            </a:r>
            <a:endParaRPr lang="ru-RU" sz="1600" b="1" dirty="0">
              <a:solidFill>
                <a:schemeClr val="tx1"/>
              </a:solidFill>
            </a:endParaRPr>
          </a:p>
        </p:txBody>
      </p:sp>
      <p:graphicFrame>
        <p:nvGraphicFramePr>
          <p:cNvPr id="17" name="Таблица 16"/>
          <p:cNvGraphicFramePr>
            <a:graphicFrameLocks noGrp="1"/>
          </p:cNvGraphicFramePr>
          <p:nvPr>
            <p:extLst>
              <p:ext uri="{D42A27DB-BD31-4B8C-83A1-F6EECF244321}">
                <p14:modId xmlns:p14="http://schemas.microsoft.com/office/powerpoint/2010/main" val="2614612429"/>
              </p:ext>
            </p:extLst>
          </p:nvPr>
        </p:nvGraphicFramePr>
        <p:xfrm>
          <a:off x="5931274" y="1484789"/>
          <a:ext cx="2925963" cy="2356620"/>
        </p:xfrm>
        <a:graphic>
          <a:graphicData uri="http://schemas.openxmlformats.org/drawingml/2006/table">
            <a:tbl>
              <a:tblPr firstRow="1" firstCol="1" bandRow="1">
                <a:tableStyleId>{5C22544A-7EE6-4342-B048-85BDC9FD1C3A}</a:tableStyleId>
              </a:tblPr>
              <a:tblGrid>
                <a:gridCol w="368763"/>
                <a:gridCol w="2557200"/>
              </a:tblGrid>
              <a:tr h="235662">
                <a:tc>
                  <a:txBody>
                    <a:bodyPr/>
                    <a:lstStyle/>
                    <a:p>
                      <a:pPr algn="ctr">
                        <a:lnSpc>
                          <a:spcPct val="115000"/>
                        </a:lnSpc>
                        <a:spcAft>
                          <a:spcPts val="0"/>
                        </a:spcAft>
                      </a:pPr>
                      <a:r>
                        <a:rPr lang="ru-RU" sz="1200" b="1" dirty="0">
                          <a:solidFill>
                            <a:schemeClr val="tx1"/>
                          </a:solidFill>
                          <a:effectLst/>
                          <a:latin typeface="Times New Roman" pitchFamily="18" charset="0"/>
                          <a:cs typeface="Times New Roman" pitchFamily="18" charset="0"/>
                        </a:rPr>
                        <a:t>№</a:t>
                      </a:r>
                      <a:endParaRPr lang="ru-RU" sz="1100" b="1" dirty="0">
                        <a:solidFill>
                          <a:schemeClr val="tx1"/>
                        </a:solidFill>
                        <a:effectLst/>
                        <a:latin typeface="Times New Roman" pitchFamily="18" charset="0"/>
                        <a:ea typeface="Calibri"/>
                        <a:cs typeface="Times New Roman"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1" dirty="0">
                          <a:solidFill>
                            <a:schemeClr val="tx1"/>
                          </a:solidFill>
                          <a:effectLst/>
                          <a:latin typeface="Times New Roman" pitchFamily="18" charset="0"/>
                          <a:cs typeface="Times New Roman" pitchFamily="18" charset="0"/>
                        </a:rPr>
                        <a:t>Тенламалар</a:t>
                      </a:r>
                      <a:endParaRPr lang="ru-RU" sz="1100" b="1" dirty="0">
                        <a:solidFill>
                          <a:schemeClr val="tx1"/>
                        </a:solidFill>
                        <a:effectLst/>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35662">
                <a:tc>
                  <a:txBody>
                    <a:bodyPr/>
                    <a:lstStyle/>
                    <a:p>
                      <a:pPr algn="ctr">
                        <a:lnSpc>
                          <a:spcPct val="115000"/>
                        </a:lnSpc>
                        <a:spcAft>
                          <a:spcPts val="0"/>
                        </a:spcAft>
                      </a:pPr>
                      <a:r>
                        <a:rPr lang="en-US" sz="1200" b="1" dirty="0">
                          <a:solidFill>
                            <a:schemeClr val="tx1"/>
                          </a:solidFill>
                          <a:effectLst/>
                          <a:latin typeface="Times New Roman" pitchFamily="18" charset="0"/>
                          <a:cs typeface="Times New Roman" pitchFamily="18" charset="0"/>
                        </a:rPr>
                        <a:t>1</a:t>
                      </a:r>
                      <a:endParaRPr lang="ru-RU" sz="1100" b="1" dirty="0">
                        <a:solidFill>
                          <a:schemeClr val="tx1"/>
                        </a:solidFill>
                        <a:effectLst/>
                        <a:latin typeface="Times New Roman" pitchFamily="18" charset="0"/>
                        <a:ea typeface="Calibri"/>
                        <a:cs typeface="Times New Roman"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nSpc>
                          <a:spcPct val="115000"/>
                        </a:lnSpc>
                        <a:spcAft>
                          <a:spcPts val="0"/>
                        </a:spcAft>
                      </a:pPr>
                      <a:r>
                        <a:rPr lang="uz-Cyrl-UZ" sz="1200" b="0" dirty="0">
                          <a:solidFill>
                            <a:schemeClr val="tx1"/>
                          </a:solidFill>
                          <a:effectLst/>
                          <a:latin typeface="Times New Roman" pitchFamily="18" charset="0"/>
                          <a:cs typeface="Times New Roman" pitchFamily="18" charset="0"/>
                        </a:rPr>
                        <a:t>*</a:t>
                      </a:r>
                      <a:r>
                        <a:rPr lang="en-US" sz="1200" b="0" dirty="0">
                          <a:solidFill>
                            <a:schemeClr val="tx1"/>
                          </a:solidFill>
                          <a:effectLst/>
                          <a:latin typeface="Times New Roman" pitchFamily="18" charset="0"/>
                          <a:cs typeface="Times New Roman" pitchFamily="18" charset="0"/>
                        </a:rPr>
                        <a:t>0=</a:t>
                      </a:r>
                      <a:r>
                        <a:rPr lang="uz-Cyrl-UZ" sz="12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35662">
                <a:tc>
                  <a:txBody>
                    <a:bodyPr/>
                    <a:lstStyle/>
                    <a:p>
                      <a:pPr algn="ctr">
                        <a:lnSpc>
                          <a:spcPct val="115000"/>
                        </a:lnSpc>
                        <a:spcAft>
                          <a:spcPts val="0"/>
                        </a:spcAft>
                      </a:pPr>
                      <a:r>
                        <a:rPr lang="en-US" sz="1200" b="1">
                          <a:solidFill>
                            <a:schemeClr val="tx1"/>
                          </a:solidFill>
                          <a:effectLst/>
                          <a:latin typeface="Times New Roman" pitchFamily="18" charset="0"/>
                          <a:cs typeface="Times New Roman" pitchFamily="18" charset="0"/>
                        </a:rPr>
                        <a:t>2</a:t>
                      </a:r>
                      <a:endParaRPr lang="ru-RU" sz="1100" b="1">
                        <a:solidFill>
                          <a:schemeClr val="tx1"/>
                        </a:solidFill>
                        <a:effectLst/>
                        <a:latin typeface="Times New Roman" pitchFamily="18" charset="0"/>
                        <a:ea typeface="Calibri"/>
                        <a:cs typeface="Times New Roman"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nSpc>
                          <a:spcPct val="115000"/>
                        </a:lnSpc>
                        <a:spcAft>
                          <a:spcPts val="0"/>
                        </a:spcAft>
                      </a:pPr>
                      <a:r>
                        <a:rPr lang="en-US" sz="1200" b="0" dirty="0">
                          <a:solidFill>
                            <a:schemeClr val="tx1"/>
                          </a:solidFill>
                          <a:effectLst/>
                          <a:latin typeface="Times New Roman" pitchFamily="18" charset="0"/>
                          <a:cs typeface="Times New Roman" pitchFamily="18" charset="0"/>
                        </a:rPr>
                        <a:t> </a:t>
                      </a:r>
                      <a:r>
                        <a:rPr lang="uz-Cyrl-UZ" sz="1200" b="0" dirty="0">
                          <a:solidFill>
                            <a:schemeClr val="tx1"/>
                          </a:solidFill>
                          <a:effectLst/>
                          <a:latin typeface="Times New Roman" pitchFamily="18" charset="0"/>
                          <a:cs typeface="Times New Roman" pitchFamily="18" charset="0"/>
                        </a:rPr>
                        <a:t>*1</a:t>
                      </a:r>
                      <a:r>
                        <a:rPr lang="ru-RU" sz="12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35662">
                <a:tc>
                  <a:txBody>
                    <a:bodyPr/>
                    <a:lstStyle/>
                    <a:p>
                      <a:pPr algn="ctr">
                        <a:lnSpc>
                          <a:spcPct val="115000"/>
                        </a:lnSpc>
                        <a:spcAft>
                          <a:spcPts val="0"/>
                        </a:spcAft>
                      </a:pPr>
                      <a:r>
                        <a:rPr lang="en-US" sz="1200" b="1" dirty="0">
                          <a:solidFill>
                            <a:schemeClr val="tx1"/>
                          </a:solidFill>
                          <a:effectLst/>
                          <a:latin typeface="Times New Roman" pitchFamily="18" charset="0"/>
                          <a:cs typeface="Times New Roman" pitchFamily="18" charset="0"/>
                        </a:rPr>
                        <a:t>3</a:t>
                      </a:r>
                      <a:endParaRPr lang="ru-RU" sz="1100" b="1" dirty="0">
                        <a:solidFill>
                          <a:schemeClr val="tx1"/>
                        </a:solidFill>
                        <a:effectLst/>
                        <a:latin typeface="Times New Roman" pitchFamily="18" charset="0"/>
                        <a:ea typeface="Calibri"/>
                        <a:cs typeface="Times New Roman"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nSpc>
                          <a:spcPct val="115000"/>
                        </a:lnSpc>
                        <a:spcAft>
                          <a:spcPts val="0"/>
                        </a:spcAft>
                      </a:pPr>
                      <a:r>
                        <a:rPr lang="en-US" sz="1200" b="0" dirty="0">
                          <a:solidFill>
                            <a:schemeClr val="tx1"/>
                          </a:solidFill>
                          <a:effectLst/>
                          <a:latin typeface="Times New Roman" pitchFamily="18" charset="0"/>
                          <a:cs typeface="Times New Roman" pitchFamily="18" charset="0"/>
                        </a:rPr>
                        <a:t> </a:t>
                      </a:r>
                      <a:r>
                        <a:rPr lang="ru-RU" sz="1200" b="0" dirty="0">
                          <a:solidFill>
                            <a:schemeClr val="tx1"/>
                          </a:solidFill>
                          <a:effectLst/>
                          <a:latin typeface="Times New Roman" pitchFamily="18" charset="0"/>
                          <a:cs typeface="Times New Roman" pitchFamily="18" charset="0"/>
                        </a:rPr>
                        <a:t>x</a:t>
                      </a:r>
                      <a:r>
                        <a:rPr lang="ru-RU" sz="1200" b="0" baseline="-25000" dirty="0">
                          <a:solidFill>
                            <a:schemeClr val="tx1"/>
                          </a:solidFill>
                          <a:effectLst/>
                          <a:latin typeface="Times New Roman" pitchFamily="18" charset="0"/>
                          <a:cs typeface="Times New Roman" pitchFamily="18" charset="0"/>
                        </a:rPr>
                        <a:t>2</a:t>
                      </a:r>
                      <a:r>
                        <a:rPr lang="ru-RU" sz="1200" b="0" dirty="0">
                          <a:solidFill>
                            <a:schemeClr val="tx1"/>
                          </a:solidFill>
                          <a:effectLst/>
                          <a:latin typeface="Times New Roman" pitchFamily="18" charset="0"/>
                          <a:cs typeface="Times New Roman" pitchFamily="18" charset="0"/>
                        </a:rPr>
                        <a:t>y=0</a:t>
                      </a:r>
                      <a:endParaRPr lang="ru-RU" sz="1100" b="0" dirty="0">
                        <a:solidFill>
                          <a:schemeClr val="tx1"/>
                        </a:solidFill>
                        <a:effectLst/>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35662">
                <a:tc>
                  <a:txBody>
                    <a:bodyPr/>
                    <a:lstStyle/>
                    <a:p>
                      <a:pPr algn="ctr">
                        <a:lnSpc>
                          <a:spcPct val="115000"/>
                        </a:lnSpc>
                        <a:spcAft>
                          <a:spcPts val="0"/>
                        </a:spcAft>
                      </a:pPr>
                      <a:r>
                        <a:rPr lang="en-US" sz="1200" b="1">
                          <a:solidFill>
                            <a:schemeClr val="tx1"/>
                          </a:solidFill>
                          <a:effectLst/>
                          <a:latin typeface="Times New Roman" pitchFamily="18" charset="0"/>
                          <a:cs typeface="Times New Roman" pitchFamily="18" charset="0"/>
                        </a:rPr>
                        <a:t>4</a:t>
                      </a:r>
                      <a:endParaRPr lang="ru-RU" sz="1100" b="1">
                        <a:solidFill>
                          <a:schemeClr val="tx1"/>
                        </a:solidFill>
                        <a:effectLst/>
                        <a:latin typeface="Times New Roman" pitchFamily="18" charset="0"/>
                        <a:ea typeface="Calibri"/>
                        <a:cs typeface="Times New Roman"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nSpc>
                          <a:spcPct val="115000"/>
                        </a:lnSpc>
                        <a:spcAft>
                          <a:spcPts val="0"/>
                        </a:spcAft>
                      </a:pPr>
                      <a:r>
                        <a:rPr lang="en-US" sz="1200" b="0" dirty="0">
                          <a:solidFill>
                            <a:schemeClr val="tx1"/>
                          </a:solidFill>
                          <a:effectLst/>
                          <a:latin typeface="Times New Roman" pitchFamily="18" charset="0"/>
                          <a:cs typeface="Times New Roman" pitchFamily="18" charset="0"/>
                        </a:rPr>
                        <a:t> </a:t>
                      </a:r>
                      <a:r>
                        <a:rPr lang="ru-RU" sz="1200" b="0" dirty="0" smtClean="0">
                          <a:solidFill>
                            <a:schemeClr val="tx1"/>
                          </a:solidFill>
                          <a:effectLst/>
                          <a:latin typeface="Times New Roman" pitchFamily="18" charset="0"/>
                          <a:cs typeface="Times New Roman" pitchFamily="18" charset="0"/>
                        </a:rPr>
                        <a:t>x</a:t>
                      </a:r>
                      <a:r>
                        <a:rPr lang="ru-RU" sz="1200" b="0" baseline="-25000" dirty="0" smtClean="0">
                          <a:solidFill>
                            <a:schemeClr val="tx1"/>
                          </a:solidFill>
                          <a:effectLst/>
                          <a:latin typeface="Times New Roman" pitchFamily="18" charset="0"/>
                          <a:cs typeface="Times New Roman" pitchFamily="18" charset="0"/>
                        </a:rPr>
                        <a:t>2</a:t>
                      </a:r>
                      <a:r>
                        <a:rPr lang="ru-RU" sz="1200" b="0" dirty="0" smtClean="0">
                          <a:solidFill>
                            <a:schemeClr val="tx1"/>
                          </a:solidFill>
                          <a:effectLst/>
                          <a:latin typeface="Times New Roman" pitchFamily="18" charset="0"/>
                          <a:cs typeface="Times New Roman" pitchFamily="18" charset="0"/>
                        </a:rPr>
                        <a:t>y</a:t>
                      </a:r>
                      <a:r>
                        <a:rPr lang="en-US" sz="1200" b="0" dirty="0" smtClean="0">
                          <a:solidFill>
                            <a:schemeClr val="tx1"/>
                          </a:solidFill>
                          <a:effectLst/>
                          <a:latin typeface="Times New Roman" pitchFamily="18" charset="0"/>
                          <a:cs typeface="Times New Roman" pitchFamily="18" charset="0"/>
                        </a:rPr>
                        <a:t>+</a:t>
                      </a:r>
                      <a:r>
                        <a:rPr lang="uz-Cyrl-UZ" sz="1200" b="0" dirty="0" smtClean="0">
                          <a:solidFill>
                            <a:schemeClr val="tx1"/>
                          </a:solidFill>
                          <a:effectLst/>
                          <a:latin typeface="Times New Roman" pitchFamily="18" charset="0"/>
                          <a:cs typeface="Times New Roman" pitchFamily="18" charset="0"/>
                        </a:rPr>
                        <a:t>1</a:t>
                      </a:r>
                      <a:r>
                        <a:rPr lang="ru-RU" sz="12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35662">
                <a:tc>
                  <a:txBody>
                    <a:bodyPr/>
                    <a:lstStyle/>
                    <a:p>
                      <a:pPr algn="ctr">
                        <a:lnSpc>
                          <a:spcPct val="115000"/>
                        </a:lnSpc>
                        <a:spcAft>
                          <a:spcPts val="0"/>
                        </a:spcAft>
                      </a:pPr>
                      <a:r>
                        <a:rPr lang="en-US" sz="1200" b="1">
                          <a:solidFill>
                            <a:schemeClr val="tx1"/>
                          </a:solidFill>
                          <a:effectLst/>
                          <a:latin typeface="Times New Roman" pitchFamily="18" charset="0"/>
                          <a:cs typeface="Times New Roman" pitchFamily="18" charset="0"/>
                        </a:rPr>
                        <a:t>5</a:t>
                      </a:r>
                      <a:endParaRPr lang="ru-RU" sz="1100" b="1">
                        <a:solidFill>
                          <a:schemeClr val="tx1"/>
                        </a:solidFill>
                        <a:effectLst/>
                        <a:latin typeface="Times New Roman" pitchFamily="18" charset="0"/>
                        <a:ea typeface="Calibri"/>
                        <a:cs typeface="Times New Roman"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nSpc>
                          <a:spcPct val="115000"/>
                        </a:lnSpc>
                        <a:spcAft>
                          <a:spcPts val="0"/>
                        </a:spcAft>
                      </a:pPr>
                      <a:r>
                        <a:rPr lang="en-US" sz="1200" b="0" dirty="0">
                          <a:solidFill>
                            <a:schemeClr val="tx1"/>
                          </a:solidFill>
                          <a:effectLst/>
                          <a:latin typeface="Times New Roman" pitchFamily="18" charset="0"/>
                          <a:cs typeface="Times New Roman" pitchFamily="18" charset="0"/>
                        </a:rPr>
                        <a:t> </a:t>
                      </a:r>
                      <a:r>
                        <a:rPr lang="ru-RU" sz="1200" b="0" dirty="0">
                          <a:solidFill>
                            <a:schemeClr val="tx1"/>
                          </a:solidFill>
                          <a:effectLst/>
                          <a:latin typeface="Times New Roman" pitchFamily="18" charset="0"/>
                          <a:cs typeface="Times New Roman" pitchFamily="18" charset="0"/>
                        </a:rPr>
                        <a:t>x</a:t>
                      </a:r>
                      <a:r>
                        <a:rPr lang="ru-RU" sz="1200" b="0" baseline="-25000" dirty="0">
                          <a:solidFill>
                            <a:schemeClr val="tx1"/>
                          </a:solidFill>
                          <a:effectLst/>
                          <a:latin typeface="Times New Roman" pitchFamily="18" charset="0"/>
                          <a:cs typeface="Times New Roman" pitchFamily="18" charset="0"/>
                        </a:rPr>
                        <a:t>1</a:t>
                      </a:r>
                      <a:r>
                        <a:rPr lang="ru-RU" sz="1200" b="0" dirty="0">
                          <a:solidFill>
                            <a:schemeClr val="tx1"/>
                          </a:solidFill>
                          <a:effectLst/>
                          <a:latin typeface="Times New Roman" pitchFamily="18" charset="0"/>
                          <a:cs typeface="Times New Roman" pitchFamily="18" charset="0"/>
                        </a:rPr>
                        <a:t>y=0</a:t>
                      </a:r>
                      <a:endParaRPr lang="ru-RU" sz="1100" b="0" dirty="0">
                        <a:solidFill>
                          <a:schemeClr val="tx1"/>
                        </a:solidFill>
                        <a:effectLst/>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35662">
                <a:tc>
                  <a:txBody>
                    <a:bodyPr/>
                    <a:lstStyle/>
                    <a:p>
                      <a:pPr algn="ctr">
                        <a:lnSpc>
                          <a:spcPct val="115000"/>
                        </a:lnSpc>
                        <a:spcAft>
                          <a:spcPts val="0"/>
                        </a:spcAft>
                      </a:pPr>
                      <a:r>
                        <a:rPr lang="en-US" sz="1200" b="1">
                          <a:solidFill>
                            <a:schemeClr val="tx1"/>
                          </a:solidFill>
                          <a:effectLst/>
                          <a:latin typeface="Times New Roman" pitchFamily="18" charset="0"/>
                          <a:cs typeface="Times New Roman" pitchFamily="18" charset="0"/>
                        </a:rPr>
                        <a:t>6</a:t>
                      </a:r>
                      <a:endParaRPr lang="ru-RU" sz="1100" b="1">
                        <a:solidFill>
                          <a:schemeClr val="tx1"/>
                        </a:solidFill>
                        <a:effectLst/>
                        <a:latin typeface="Times New Roman" pitchFamily="18" charset="0"/>
                        <a:ea typeface="Calibri"/>
                        <a:cs typeface="Times New Roman"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nSpc>
                          <a:spcPct val="115000"/>
                        </a:lnSpc>
                        <a:spcAft>
                          <a:spcPts val="0"/>
                        </a:spcAft>
                      </a:pPr>
                      <a:r>
                        <a:rPr lang="en-US" sz="1200" b="0" dirty="0">
                          <a:solidFill>
                            <a:schemeClr val="tx1"/>
                          </a:solidFill>
                          <a:effectLst/>
                          <a:latin typeface="Times New Roman" pitchFamily="18" charset="0"/>
                          <a:cs typeface="Times New Roman" pitchFamily="18" charset="0"/>
                        </a:rPr>
                        <a:t> </a:t>
                      </a:r>
                      <a:r>
                        <a:rPr lang="ru-RU" sz="1200" b="0" dirty="0" smtClean="0">
                          <a:solidFill>
                            <a:schemeClr val="tx1"/>
                          </a:solidFill>
                          <a:effectLst/>
                          <a:latin typeface="Times New Roman" pitchFamily="18" charset="0"/>
                          <a:cs typeface="Times New Roman" pitchFamily="18" charset="0"/>
                        </a:rPr>
                        <a:t>x</a:t>
                      </a:r>
                      <a:r>
                        <a:rPr lang="ru-RU" sz="1200" b="0" baseline="-25000" dirty="0" smtClean="0">
                          <a:solidFill>
                            <a:schemeClr val="tx1"/>
                          </a:solidFill>
                          <a:effectLst/>
                          <a:latin typeface="Times New Roman" pitchFamily="18" charset="0"/>
                          <a:cs typeface="Times New Roman" pitchFamily="18" charset="0"/>
                        </a:rPr>
                        <a:t>1</a:t>
                      </a:r>
                      <a:r>
                        <a:rPr lang="ru-RU" sz="1200" b="0" dirty="0" smtClean="0">
                          <a:solidFill>
                            <a:schemeClr val="tx1"/>
                          </a:solidFill>
                          <a:effectLst/>
                          <a:latin typeface="Times New Roman" pitchFamily="18" charset="0"/>
                          <a:cs typeface="Times New Roman" pitchFamily="18" charset="0"/>
                        </a:rPr>
                        <a:t>y</a:t>
                      </a:r>
                      <a:r>
                        <a:rPr lang="en-US" sz="1200" b="0" dirty="0" smtClean="0">
                          <a:solidFill>
                            <a:schemeClr val="tx1"/>
                          </a:solidFill>
                          <a:effectLst/>
                          <a:latin typeface="Times New Roman" pitchFamily="18" charset="0"/>
                          <a:cs typeface="Times New Roman" pitchFamily="18" charset="0"/>
                        </a:rPr>
                        <a:t>+</a:t>
                      </a:r>
                      <a:r>
                        <a:rPr lang="uz-Cyrl-UZ" sz="1200" b="0" dirty="0" smtClean="0">
                          <a:solidFill>
                            <a:schemeClr val="tx1"/>
                          </a:solidFill>
                          <a:effectLst/>
                          <a:latin typeface="Times New Roman" pitchFamily="18" charset="0"/>
                          <a:cs typeface="Times New Roman" pitchFamily="18" charset="0"/>
                        </a:rPr>
                        <a:t>1</a:t>
                      </a:r>
                      <a:r>
                        <a:rPr lang="ru-RU" sz="12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35662">
                <a:tc>
                  <a:txBody>
                    <a:bodyPr/>
                    <a:lstStyle/>
                    <a:p>
                      <a:pPr algn="ctr">
                        <a:lnSpc>
                          <a:spcPct val="115000"/>
                        </a:lnSpc>
                        <a:spcAft>
                          <a:spcPts val="0"/>
                        </a:spcAft>
                      </a:pPr>
                      <a:r>
                        <a:rPr lang="en-US" sz="1200" b="1" dirty="0">
                          <a:solidFill>
                            <a:schemeClr val="tx1"/>
                          </a:solidFill>
                          <a:effectLst/>
                          <a:latin typeface="Times New Roman" pitchFamily="18" charset="0"/>
                          <a:cs typeface="Times New Roman" pitchFamily="18" charset="0"/>
                        </a:rPr>
                        <a:t>..</a:t>
                      </a:r>
                      <a:endParaRPr lang="ru-RU" sz="1100" b="1" dirty="0">
                        <a:solidFill>
                          <a:schemeClr val="tx1"/>
                        </a:solidFill>
                        <a:effectLst/>
                        <a:latin typeface="Times New Roman" pitchFamily="18" charset="0"/>
                        <a:ea typeface="Calibri"/>
                        <a:cs typeface="Times New Roman"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nSpc>
                          <a:spcPct val="115000"/>
                        </a:lnSpc>
                        <a:spcAft>
                          <a:spcPts val="0"/>
                        </a:spcAft>
                      </a:pPr>
                      <a:r>
                        <a:rPr lang="en-US" sz="1200" b="0" dirty="0">
                          <a:solidFill>
                            <a:schemeClr val="tx1"/>
                          </a:solidFill>
                          <a:effectLst/>
                          <a:latin typeface="Times New Roman" pitchFamily="18" charset="0"/>
                          <a:cs typeface="Times New Roman" pitchFamily="18" charset="0"/>
                        </a:rPr>
                        <a:t>…………………………</a:t>
                      </a:r>
                      <a:endParaRPr lang="ru-RU" sz="1100" b="0" dirty="0">
                        <a:solidFill>
                          <a:schemeClr val="tx1"/>
                        </a:solidFill>
                        <a:effectLst/>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35662">
                <a:tc>
                  <a:txBody>
                    <a:bodyPr/>
                    <a:lstStyle/>
                    <a:p>
                      <a:pPr algn="ctr">
                        <a:lnSpc>
                          <a:spcPct val="115000"/>
                        </a:lnSpc>
                        <a:spcAft>
                          <a:spcPts val="0"/>
                        </a:spcAft>
                      </a:pPr>
                      <a:r>
                        <a:rPr lang="en-US" sz="1200" b="1">
                          <a:solidFill>
                            <a:schemeClr val="tx1"/>
                          </a:solidFill>
                          <a:effectLst/>
                          <a:latin typeface="Times New Roman" pitchFamily="18" charset="0"/>
                          <a:cs typeface="Times New Roman" pitchFamily="18" charset="0"/>
                        </a:rPr>
                        <a:t>127</a:t>
                      </a:r>
                      <a:endParaRPr lang="ru-RU" sz="1100" b="1">
                        <a:solidFill>
                          <a:schemeClr val="tx1"/>
                        </a:solidFill>
                        <a:effectLst/>
                        <a:latin typeface="Times New Roman" pitchFamily="18" charset="0"/>
                        <a:ea typeface="Calibri"/>
                        <a:cs typeface="Times New Roman"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nSpc>
                          <a:spcPct val="115000"/>
                        </a:lnSpc>
                        <a:spcAft>
                          <a:spcPts val="0"/>
                        </a:spcAft>
                      </a:pPr>
                      <a:r>
                        <a:rPr lang="en-US" sz="1200" b="0" dirty="0">
                          <a:solidFill>
                            <a:schemeClr val="tx1"/>
                          </a:solidFill>
                          <a:effectLst/>
                          <a:latin typeface="Times New Roman" pitchFamily="18" charset="0"/>
                          <a:cs typeface="Times New Roman" pitchFamily="18" charset="0"/>
                        </a:rPr>
                        <a:t> </a:t>
                      </a:r>
                      <a:r>
                        <a:rPr lang="ru-RU" sz="1200" b="0" dirty="0" smtClean="0">
                          <a:solidFill>
                            <a:schemeClr val="tx1"/>
                          </a:solidFill>
                          <a:effectLst/>
                          <a:latin typeface="Times New Roman" pitchFamily="18" charset="0"/>
                          <a:cs typeface="Times New Roman" pitchFamily="18" charset="0"/>
                        </a:rPr>
                        <a:t>x</a:t>
                      </a:r>
                      <a:r>
                        <a:rPr lang="ru-RU" sz="1200" b="0" baseline="-25000" dirty="0" smtClean="0">
                          <a:solidFill>
                            <a:schemeClr val="tx1"/>
                          </a:solidFill>
                          <a:effectLst/>
                          <a:latin typeface="Times New Roman" pitchFamily="18" charset="0"/>
                          <a:cs typeface="Times New Roman" pitchFamily="18" charset="0"/>
                        </a:rPr>
                        <a:t>1</a:t>
                      </a:r>
                      <a:r>
                        <a:rPr lang="en-US" sz="1200" b="0" baseline="-25000" dirty="0" smtClean="0">
                          <a:solidFill>
                            <a:schemeClr val="tx1"/>
                          </a:solidFill>
                          <a:effectLst/>
                          <a:latin typeface="Times New Roman" pitchFamily="18" charset="0"/>
                          <a:cs typeface="Times New Roman" pitchFamily="18" charset="0"/>
                        </a:rPr>
                        <a:t> </a:t>
                      </a:r>
                      <a:r>
                        <a:rPr lang="en-US" sz="1200" b="0" dirty="0" smtClean="0">
                          <a:solidFill>
                            <a:schemeClr val="tx1"/>
                          </a:solidFill>
                          <a:effectLst/>
                          <a:latin typeface="Times New Roman" pitchFamily="18" charset="0"/>
                          <a:cs typeface="Times New Roman" pitchFamily="18" charset="0"/>
                        </a:rPr>
                        <a:t>+ </a:t>
                      </a:r>
                      <a:r>
                        <a:rPr lang="ru-RU" sz="1200" b="0" dirty="0" smtClean="0">
                          <a:solidFill>
                            <a:schemeClr val="tx1"/>
                          </a:solidFill>
                          <a:effectLst/>
                          <a:latin typeface="Times New Roman" pitchFamily="18" charset="0"/>
                          <a:cs typeface="Times New Roman" pitchFamily="18" charset="0"/>
                        </a:rPr>
                        <a:t>x</a:t>
                      </a:r>
                      <a:r>
                        <a:rPr lang="ru-RU" sz="1200" b="0" baseline="-25000" dirty="0" smtClean="0">
                          <a:solidFill>
                            <a:schemeClr val="tx1"/>
                          </a:solidFill>
                          <a:effectLst/>
                          <a:latin typeface="Times New Roman" pitchFamily="18" charset="0"/>
                          <a:cs typeface="Times New Roman" pitchFamily="18" charset="0"/>
                        </a:rPr>
                        <a:t>2</a:t>
                      </a:r>
                      <a:r>
                        <a:rPr lang="ru-RU" sz="1200" b="0" dirty="0" smtClean="0">
                          <a:solidFill>
                            <a:schemeClr val="tx1"/>
                          </a:solidFill>
                          <a:effectLst/>
                          <a:latin typeface="Times New Roman" pitchFamily="18" charset="0"/>
                          <a:cs typeface="Times New Roman" pitchFamily="18" charset="0"/>
                        </a:rPr>
                        <a:t> </a:t>
                      </a:r>
                      <a:r>
                        <a:rPr lang="en-US" sz="1200" b="0" dirty="0" smtClean="0">
                          <a:solidFill>
                            <a:schemeClr val="tx1"/>
                          </a:solidFill>
                          <a:effectLst/>
                          <a:latin typeface="Times New Roman" pitchFamily="18" charset="0"/>
                          <a:cs typeface="Times New Roman" pitchFamily="18" charset="0"/>
                        </a:rPr>
                        <a:t>+ </a:t>
                      </a:r>
                      <a:r>
                        <a:rPr lang="ru-RU" sz="1200" b="0" dirty="0" smtClean="0">
                          <a:solidFill>
                            <a:schemeClr val="tx1"/>
                          </a:solidFill>
                          <a:effectLst/>
                          <a:latin typeface="Times New Roman" pitchFamily="18" charset="0"/>
                          <a:cs typeface="Times New Roman" pitchFamily="18" charset="0"/>
                        </a:rPr>
                        <a:t>y </a:t>
                      </a:r>
                      <a:r>
                        <a:rPr lang="en-US" sz="1200" b="0" dirty="0" smtClean="0">
                          <a:solidFill>
                            <a:schemeClr val="tx1"/>
                          </a:solidFill>
                          <a:effectLst/>
                          <a:latin typeface="Times New Roman" pitchFamily="18" charset="0"/>
                          <a:cs typeface="Times New Roman" pitchFamily="18" charset="0"/>
                        </a:rPr>
                        <a:t> + </a:t>
                      </a:r>
                      <a:r>
                        <a:rPr lang="ru-RU" sz="1200" b="0" dirty="0" smtClean="0">
                          <a:solidFill>
                            <a:schemeClr val="tx1"/>
                          </a:solidFill>
                          <a:effectLst/>
                          <a:latin typeface="Times New Roman" pitchFamily="18" charset="0"/>
                          <a:cs typeface="Times New Roman" pitchFamily="18" charset="0"/>
                        </a:rPr>
                        <a:t>x</a:t>
                      </a:r>
                      <a:r>
                        <a:rPr lang="ru-RU" sz="1200" b="0" baseline="-25000" dirty="0" smtClean="0">
                          <a:solidFill>
                            <a:schemeClr val="tx1"/>
                          </a:solidFill>
                          <a:effectLst/>
                          <a:latin typeface="Times New Roman" pitchFamily="18" charset="0"/>
                          <a:cs typeface="Times New Roman" pitchFamily="18" charset="0"/>
                        </a:rPr>
                        <a:t>1</a:t>
                      </a:r>
                      <a:r>
                        <a:rPr lang="ru-RU" sz="1200" b="0" dirty="0" smtClean="0">
                          <a:solidFill>
                            <a:schemeClr val="tx1"/>
                          </a:solidFill>
                          <a:effectLst/>
                          <a:latin typeface="Times New Roman" pitchFamily="18" charset="0"/>
                          <a:cs typeface="Times New Roman" pitchFamily="18" charset="0"/>
                        </a:rPr>
                        <a:t>x</a:t>
                      </a:r>
                      <a:r>
                        <a:rPr lang="ru-RU" sz="1200" b="0" baseline="-25000" dirty="0" smtClean="0">
                          <a:solidFill>
                            <a:schemeClr val="tx1"/>
                          </a:solidFill>
                          <a:effectLst/>
                          <a:latin typeface="Times New Roman" pitchFamily="18" charset="0"/>
                          <a:cs typeface="Times New Roman" pitchFamily="18" charset="0"/>
                        </a:rPr>
                        <a:t>2</a:t>
                      </a:r>
                      <a:r>
                        <a:rPr lang="en-US" sz="1200" b="0" baseline="-25000" dirty="0" smtClean="0">
                          <a:solidFill>
                            <a:schemeClr val="tx1"/>
                          </a:solidFill>
                          <a:effectLst/>
                          <a:latin typeface="Times New Roman" pitchFamily="18" charset="0"/>
                          <a:cs typeface="Times New Roman" pitchFamily="18" charset="0"/>
                        </a:rPr>
                        <a:t> </a:t>
                      </a:r>
                      <a:r>
                        <a:rPr lang="ru-RU" sz="1200" b="0" baseline="-25000" dirty="0" smtClean="0">
                          <a:solidFill>
                            <a:schemeClr val="tx1"/>
                          </a:solidFill>
                          <a:effectLst/>
                          <a:latin typeface="Times New Roman" pitchFamily="18" charset="0"/>
                          <a:cs typeface="Times New Roman" pitchFamily="18" charset="0"/>
                        </a:rPr>
                        <a:t> </a:t>
                      </a:r>
                      <a:r>
                        <a:rPr lang="en-US" sz="1200" b="0" dirty="0" smtClean="0">
                          <a:solidFill>
                            <a:schemeClr val="tx1"/>
                          </a:solidFill>
                          <a:effectLst/>
                          <a:latin typeface="Times New Roman" pitchFamily="18" charset="0"/>
                          <a:cs typeface="Times New Roman" pitchFamily="18" charset="0"/>
                        </a:rPr>
                        <a:t>+ </a:t>
                      </a:r>
                      <a:r>
                        <a:rPr lang="ru-RU" sz="1200" b="0" dirty="0" smtClean="0">
                          <a:solidFill>
                            <a:schemeClr val="tx1"/>
                          </a:solidFill>
                          <a:effectLst/>
                          <a:latin typeface="Times New Roman" pitchFamily="18" charset="0"/>
                          <a:cs typeface="Times New Roman" pitchFamily="18" charset="0"/>
                        </a:rPr>
                        <a:t>x</a:t>
                      </a:r>
                      <a:r>
                        <a:rPr lang="ru-RU" sz="1200" b="0" baseline="-25000" dirty="0" smtClean="0">
                          <a:solidFill>
                            <a:schemeClr val="tx1"/>
                          </a:solidFill>
                          <a:effectLst/>
                          <a:latin typeface="Times New Roman" pitchFamily="18" charset="0"/>
                          <a:cs typeface="Times New Roman" pitchFamily="18" charset="0"/>
                        </a:rPr>
                        <a:t>1</a:t>
                      </a:r>
                      <a:r>
                        <a:rPr lang="ru-RU" sz="1200" b="0" dirty="0" smtClean="0">
                          <a:solidFill>
                            <a:schemeClr val="tx1"/>
                          </a:solidFill>
                          <a:effectLst/>
                          <a:latin typeface="Times New Roman" pitchFamily="18" charset="0"/>
                          <a:cs typeface="Times New Roman" pitchFamily="18" charset="0"/>
                        </a:rPr>
                        <a:t>y </a:t>
                      </a:r>
                      <a:r>
                        <a:rPr lang="en-US" sz="1200" b="0" dirty="0" smtClean="0">
                          <a:solidFill>
                            <a:schemeClr val="tx1"/>
                          </a:solidFill>
                          <a:effectLst/>
                          <a:latin typeface="Times New Roman" pitchFamily="18" charset="0"/>
                          <a:cs typeface="Times New Roman" pitchFamily="18" charset="0"/>
                        </a:rPr>
                        <a:t> + </a:t>
                      </a:r>
                      <a:r>
                        <a:rPr lang="ru-RU" sz="1200" b="0" dirty="0" smtClean="0">
                          <a:solidFill>
                            <a:schemeClr val="tx1"/>
                          </a:solidFill>
                          <a:effectLst/>
                          <a:latin typeface="Times New Roman" pitchFamily="18" charset="0"/>
                          <a:cs typeface="Times New Roman" pitchFamily="18" charset="0"/>
                        </a:rPr>
                        <a:t>x</a:t>
                      </a:r>
                      <a:r>
                        <a:rPr lang="ru-RU" sz="1200" b="0" baseline="-25000" dirty="0" smtClean="0">
                          <a:solidFill>
                            <a:schemeClr val="tx1"/>
                          </a:solidFill>
                          <a:effectLst/>
                          <a:latin typeface="Times New Roman" pitchFamily="18" charset="0"/>
                          <a:cs typeface="Times New Roman" pitchFamily="18" charset="0"/>
                        </a:rPr>
                        <a:t>2</a:t>
                      </a:r>
                      <a:r>
                        <a:rPr lang="ru-RU" sz="1200" b="0" dirty="0" smtClean="0">
                          <a:solidFill>
                            <a:schemeClr val="tx1"/>
                          </a:solidFill>
                          <a:effectLst/>
                          <a:latin typeface="Times New Roman" pitchFamily="18" charset="0"/>
                          <a:cs typeface="Times New Roman" pitchFamily="18" charset="0"/>
                        </a:rPr>
                        <a:t>y=0</a:t>
                      </a:r>
                      <a:endParaRPr lang="ru-RU" sz="1100" b="0" dirty="0">
                        <a:solidFill>
                          <a:schemeClr val="tx1"/>
                        </a:solidFill>
                        <a:effectLst/>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35662">
                <a:tc>
                  <a:txBody>
                    <a:bodyPr/>
                    <a:lstStyle/>
                    <a:p>
                      <a:pPr algn="ctr">
                        <a:lnSpc>
                          <a:spcPct val="115000"/>
                        </a:lnSpc>
                        <a:spcAft>
                          <a:spcPts val="0"/>
                        </a:spcAft>
                      </a:pPr>
                      <a:r>
                        <a:rPr lang="en-US" sz="1200" b="1" dirty="0">
                          <a:solidFill>
                            <a:schemeClr val="tx1"/>
                          </a:solidFill>
                          <a:effectLst/>
                          <a:latin typeface="Times New Roman" pitchFamily="18" charset="0"/>
                          <a:cs typeface="Times New Roman" pitchFamily="18" charset="0"/>
                        </a:rPr>
                        <a:t>128</a:t>
                      </a:r>
                      <a:endParaRPr lang="ru-RU" sz="1100" b="1" dirty="0">
                        <a:solidFill>
                          <a:schemeClr val="tx1"/>
                        </a:solidFill>
                        <a:effectLst/>
                        <a:latin typeface="Times New Roman" pitchFamily="18" charset="0"/>
                        <a:ea typeface="Calibri"/>
                        <a:cs typeface="Times New Roman"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nSpc>
                          <a:spcPct val="115000"/>
                        </a:lnSpc>
                        <a:spcAft>
                          <a:spcPts val="0"/>
                        </a:spcAft>
                      </a:pPr>
                      <a:r>
                        <a:rPr lang="en-GB" sz="1200" b="0" dirty="0">
                          <a:solidFill>
                            <a:schemeClr val="tx1"/>
                          </a:solidFill>
                          <a:effectLst/>
                          <a:latin typeface="Times New Roman" pitchFamily="18" charset="0"/>
                          <a:cs typeface="Times New Roman" pitchFamily="18" charset="0"/>
                        </a:rPr>
                        <a:t> </a:t>
                      </a:r>
                      <a:r>
                        <a:rPr lang="en-GB" sz="1200" b="0" dirty="0" smtClean="0">
                          <a:solidFill>
                            <a:schemeClr val="tx1"/>
                          </a:solidFill>
                          <a:effectLst/>
                          <a:latin typeface="Times New Roman" pitchFamily="18" charset="0"/>
                          <a:cs typeface="Times New Roman" pitchFamily="18" charset="0"/>
                        </a:rPr>
                        <a:t>x</a:t>
                      </a:r>
                      <a:r>
                        <a:rPr lang="en-GB" sz="1200" b="0" baseline="-25000" dirty="0" smtClean="0">
                          <a:solidFill>
                            <a:schemeClr val="tx1"/>
                          </a:solidFill>
                          <a:effectLst/>
                          <a:latin typeface="Times New Roman" pitchFamily="18" charset="0"/>
                          <a:cs typeface="Times New Roman" pitchFamily="18" charset="0"/>
                        </a:rPr>
                        <a:t>1 </a:t>
                      </a:r>
                      <a:r>
                        <a:rPr lang="en-US" sz="1200" b="0" dirty="0" smtClean="0">
                          <a:solidFill>
                            <a:schemeClr val="tx1"/>
                          </a:solidFill>
                          <a:effectLst/>
                          <a:latin typeface="Times New Roman" pitchFamily="18" charset="0"/>
                          <a:cs typeface="Times New Roman" pitchFamily="18" charset="0"/>
                        </a:rPr>
                        <a:t>+ </a:t>
                      </a:r>
                      <a:r>
                        <a:rPr lang="en-GB" sz="1200" b="0" dirty="0" smtClean="0">
                          <a:solidFill>
                            <a:schemeClr val="tx1"/>
                          </a:solidFill>
                          <a:effectLst/>
                          <a:latin typeface="Times New Roman" pitchFamily="18" charset="0"/>
                          <a:cs typeface="Times New Roman" pitchFamily="18" charset="0"/>
                        </a:rPr>
                        <a:t>x</a:t>
                      </a:r>
                      <a:r>
                        <a:rPr lang="en-GB" sz="1200" b="0" baseline="-25000" dirty="0" smtClean="0">
                          <a:solidFill>
                            <a:schemeClr val="tx1"/>
                          </a:solidFill>
                          <a:effectLst/>
                          <a:latin typeface="Times New Roman" pitchFamily="18" charset="0"/>
                          <a:cs typeface="Times New Roman" pitchFamily="18" charset="0"/>
                        </a:rPr>
                        <a:t>2</a:t>
                      </a:r>
                      <a:r>
                        <a:rPr lang="ru-RU" sz="1200" b="0" dirty="0" smtClean="0">
                          <a:solidFill>
                            <a:schemeClr val="tx1"/>
                          </a:solidFill>
                          <a:effectLst/>
                          <a:latin typeface="Times New Roman" pitchFamily="18" charset="0"/>
                          <a:cs typeface="Times New Roman" pitchFamily="18" charset="0"/>
                        </a:rPr>
                        <a:t> </a:t>
                      </a:r>
                      <a:r>
                        <a:rPr lang="en-US" sz="1200" b="0" dirty="0" smtClean="0">
                          <a:solidFill>
                            <a:schemeClr val="tx1"/>
                          </a:solidFill>
                          <a:effectLst/>
                          <a:latin typeface="Times New Roman" pitchFamily="18" charset="0"/>
                          <a:cs typeface="Times New Roman" pitchFamily="18" charset="0"/>
                        </a:rPr>
                        <a:t>+</a:t>
                      </a:r>
                      <a:r>
                        <a:rPr lang="ru-RU" sz="1200" b="0" dirty="0" smtClean="0">
                          <a:solidFill>
                            <a:schemeClr val="tx1"/>
                          </a:solidFill>
                          <a:effectLst/>
                          <a:latin typeface="Times New Roman" pitchFamily="18" charset="0"/>
                          <a:cs typeface="Times New Roman" pitchFamily="18" charset="0"/>
                        </a:rPr>
                        <a:t> </a:t>
                      </a:r>
                      <a:r>
                        <a:rPr lang="en-GB" sz="1200" b="0" dirty="0" smtClean="0">
                          <a:solidFill>
                            <a:schemeClr val="tx1"/>
                          </a:solidFill>
                          <a:effectLst/>
                          <a:latin typeface="Times New Roman" pitchFamily="18" charset="0"/>
                          <a:cs typeface="Times New Roman" pitchFamily="18" charset="0"/>
                        </a:rPr>
                        <a:t>y</a:t>
                      </a:r>
                      <a:r>
                        <a:rPr lang="ru-RU" sz="1200" b="0" dirty="0" smtClean="0">
                          <a:solidFill>
                            <a:schemeClr val="tx1"/>
                          </a:solidFill>
                          <a:effectLst/>
                          <a:latin typeface="Times New Roman" pitchFamily="18" charset="0"/>
                          <a:cs typeface="Times New Roman" pitchFamily="18" charset="0"/>
                        </a:rPr>
                        <a:t> </a:t>
                      </a:r>
                      <a:r>
                        <a:rPr lang="en-US" sz="1200" b="0" dirty="0" smtClean="0">
                          <a:solidFill>
                            <a:schemeClr val="tx1"/>
                          </a:solidFill>
                          <a:effectLst/>
                          <a:latin typeface="Times New Roman" pitchFamily="18" charset="0"/>
                          <a:cs typeface="Times New Roman" pitchFamily="18" charset="0"/>
                        </a:rPr>
                        <a:t>+</a:t>
                      </a:r>
                      <a:r>
                        <a:rPr lang="ru-RU" sz="1200" b="0" dirty="0" smtClean="0">
                          <a:solidFill>
                            <a:schemeClr val="tx1"/>
                          </a:solidFill>
                          <a:effectLst/>
                          <a:latin typeface="Times New Roman" pitchFamily="18" charset="0"/>
                          <a:cs typeface="Times New Roman" pitchFamily="18" charset="0"/>
                        </a:rPr>
                        <a:t> </a:t>
                      </a:r>
                      <a:r>
                        <a:rPr lang="en-GB" sz="1200" b="0" dirty="0" smtClean="0">
                          <a:solidFill>
                            <a:schemeClr val="tx1"/>
                          </a:solidFill>
                          <a:effectLst/>
                          <a:latin typeface="Times New Roman" pitchFamily="18" charset="0"/>
                          <a:cs typeface="Times New Roman" pitchFamily="18" charset="0"/>
                        </a:rPr>
                        <a:t>x</a:t>
                      </a:r>
                      <a:r>
                        <a:rPr lang="en-GB" sz="1200" b="0" baseline="-25000" dirty="0" smtClean="0">
                          <a:solidFill>
                            <a:schemeClr val="tx1"/>
                          </a:solidFill>
                          <a:effectLst/>
                          <a:latin typeface="Times New Roman" pitchFamily="18" charset="0"/>
                          <a:cs typeface="Times New Roman" pitchFamily="18" charset="0"/>
                        </a:rPr>
                        <a:t>1</a:t>
                      </a:r>
                      <a:r>
                        <a:rPr lang="en-GB" sz="1200" b="0" dirty="0" smtClean="0">
                          <a:solidFill>
                            <a:schemeClr val="tx1"/>
                          </a:solidFill>
                          <a:effectLst/>
                          <a:latin typeface="Times New Roman" pitchFamily="18" charset="0"/>
                          <a:cs typeface="Times New Roman" pitchFamily="18" charset="0"/>
                        </a:rPr>
                        <a:t>x</a:t>
                      </a:r>
                      <a:r>
                        <a:rPr lang="en-GB" sz="1200" b="0" baseline="-25000" dirty="0" smtClean="0">
                          <a:solidFill>
                            <a:schemeClr val="tx1"/>
                          </a:solidFill>
                          <a:effectLst/>
                          <a:latin typeface="Times New Roman" pitchFamily="18" charset="0"/>
                          <a:cs typeface="Times New Roman" pitchFamily="18" charset="0"/>
                        </a:rPr>
                        <a:t>2</a:t>
                      </a:r>
                      <a:r>
                        <a:rPr lang="ru-RU" sz="1200" b="0" dirty="0" smtClean="0">
                          <a:solidFill>
                            <a:schemeClr val="tx1"/>
                          </a:solidFill>
                          <a:effectLst/>
                          <a:latin typeface="Times New Roman" pitchFamily="18" charset="0"/>
                          <a:cs typeface="Times New Roman" pitchFamily="18" charset="0"/>
                        </a:rPr>
                        <a:t> </a:t>
                      </a:r>
                      <a:r>
                        <a:rPr lang="en-US" sz="1200" b="0" dirty="0" smtClean="0">
                          <a:solidFill>
                            <a:schemeClr val="tx1"/>
                          </a:solidFill>
                          <a:effectLst/>
                          <a:latin typeface="Times New Roman" pitchFamily="18" charset="0"/>
                          <a:cs typeface="Times New Roman" pitchFamily="18" charset="0"/>
                        </a:rPr>
                        <a:t>+</a:t>
                      </a:r>
                      <a:r>
                        <a:rPr lang="ru-RU" sz="1200" b="0" dirty="0" smtClean="0">
                          <a:solidFill>
                            <a:schemeClr val="tx1"/>
                          </a:solidFill>
                          <a:effectLst/>
                          <a:latin typeface="Times New Roman" pitchFamily="18" charset="0"/>
                          <a:cs typeface="Times New Roman" pitchFamily="18" charset="0"/>
                        </a:rPr>
                        <a:t> </a:t>
                      </a:r>
                      <a:r>
                        <a:rPr lang="en-GB" sz="1200" b="0" dirty="0" smtClean="0">
                          <a:solidFill>
                            <a:schemeClr val="tx1"/>
                          </a:solidFill>
                          <a:effectLst/>
                          <a:latin typeface="Times New Roman" pitchFamily="18" charset="0"/>
                          <a:cs typeface="Times New Roman" pitchFamily="18" charset="0"/>
                        </a:rPr>
                        <a:t>x</a:t>
                      </a:r>
                      <a:r>
                        <a:rPr lang="en-GB" sz="1200" b="0" baseline="-25000" dirty="0" smtClean="0">
                          <a:solidFill>
                            <a:schemeClr val="tx1"/>
                          </a:solidFill>
                          <a:effectLst/>
                          <a:latin typeface="Times New Roman" pitchFamily="18" charset="0"/>
                          <a:cs typeface="Times New Roman" pitchFamily="18" charset="0"/>
                        </a:rPr>
                        <a:t>1</a:t>
                      </a:r>
                      <a:r>
                        <a:rPr lang="en-GB" sz="1200" b="0" dirty="0" smtClean="0">
                          <a:solidFill>
                            <a:schemeClr val="tx1"/>
                          </a:solidFill>
                          <a:effectLst/>
                          <a:latin typeface="Times New Roman" pitchFamily="18" charset="0"/>
                          <a:cs typeface="Times New Roman" pitchFamily="18" charset="0"/>
                        </a:rPr>
                        <a:t>y</a:t>
                      </a:r>
                      <a:r>
                        <a:rPr lang="ru-RU" sz="1200" b="0" dirty="0" smtClean="0">
                          <a:solidFill>
                            <a:schemeClr val="tx1"/>
                          </a:solidFill>
                          <a:effectLst/>
                          <a:latin typeface="Times New Roman" pitchFamily="18" charset="0"/>
                          <a:cs typeface="Times New Roman" pitchFamily="18" charset="0"/>
                        </a:rPr>
                        <a:t>  </a:t>
                      </a:r>
                      <a:r>
                        <a:rPr lang="en-US" sz="1200" b="0" dirty="0" smtClean="0">
                          <a:solidFill>
                            <a:schemeClr val="tx1"/>
                          </a:solidFill>
                          <a:effectLst/>
                          <a:latin typeface="Times New Roman" pitchFamily="18" charset="0"/>
                          <a:cs typeface="Times New Roman" pitchFamily="18" charset="0"/>
                        </a:rPr>
                        <a:t>+</a:t>
                      </a:r>
                      <a:r>
                        <a:rPr lang="ru-RU" sz="1200" b="0" dirty="0" smtClean="0">
                          <a:solidFill>
                            <a:schemeClr val="tx1"/>
                          </a:solidFill>
                          <a:effectLst/>
                          <a:latin typeface="Times New Roman" pitchFamily="18" charset="0"/>
                          <a:cs typeface="Times New Roman" pitchFamily="18" charset="0"/>
                        </a:rPr>
                        <a:t> </a:t>
                      </a:r>
                      <a:r>
                        <a:rPr lang="en-GB" sz="1200" b="0" dirty="0" smtClean="0">
                          <a:solidFill>
                            <a:schemeClr val="tx1"/>
                          </a:solidFill>
                          <a:effectLst/>
                          <a:latin typeface="Times New Roman" pitchFamily="18" charset="0"/>
                          <a:cs typeface="Times New Roman" pitchFamily="18" charset="0"/>
                        </a:rPr>
                        <a:t>x</a:t>
                      </a:r>
                      <a:r>
                        <a:rPr lang="en-GB" sz="1200" b="0" baseline="-25000" dirty="0" smtClean="0">
                          <a:solidFill>
                            <a:schemeClr val="tx1"/>
                          </a:solidFill>
                          <a:effectLst/>
                          <a:latin typeface="Times New Roman" pitchFamily="18" charset="0"/>
                          <a:cs typeface="Times New Roman" pitchFamily="18" charset="0"/>
                        </a:rPr>
                        <a:t>2</a:t>
                      </a:r>
                      <a:r>
                        <a:rPr lang="en-GB" sz="1200" b="0" dirty="0" smtClean="0">
                          <a:solidFill>
                            <a:schemeClr val="tx1"/>
                          </a:solidFill>
                          <a:effectLst/>
                          <a:latin typeface="Times New Roman" pitchFamily="18" charset="0"/>
                          <a:cs typeface="Times New Roman" pitchFamily="18" charset="0"/>
                        </a:rPr>
                        <a:t>y</a:t>
                      </a:r>
                      <a:r>
                        <a:rPr lang="ru-RU" sz="1200" b="0" dirty="0" smtClean="0">
                          <a:solidFill>
                            <a:schemeClr val="tx1"/>
                          </a:solidFill>
                          <a:effectLst/>
                          <a:latin typeface="Times New Roman" pitchFamily="18" charset="0"/>
                          <a:cs typeface="Times New Roman" pitchFamily="18" charset="0"/>
                        </a:rPr>
                        <a:t> </a:t>
                      </a:r>
                      <a:r>
                        <a:rPr lang="en-US" sz="1200" b="0" dirty="0" smtClean="0">
                          <a:solidFill>
                            <a:schemeClr val="tx1"/>
                          </a:solidFill>
                          <a:effectLst/>
                          <a:latin typeface="Times New Roman" pitchFamily="18" charset="0"/>
                          <a:cs typeface="Times New Roman" pitchFamily="18" charset="0"/>
                        </a:rPr>
                        <a:t>+</a:t>
                      </a:r>
                      <a:r>
                        <a:rPr lang="ru-RU" sz="1200" b="0" dirty="0" smtClean="0">
                          <a:solidFill>
                            <a:schemeClr val="tx1"/>
                          </a:solidFill>
                          <a:effectLst/>
                          <a:latin typeface="Times New Roman" pitchFamily="18" charset="0"/>
                          <a:cs typeface="Times New Roman" pitchFamily="18" charset="0"/>
                        </a:rPr>
                        <a:t> </a:t>
                      </a:r>
                      <a:r>
                        <a:rPr lang="uz-Cyrl-UZ" sz="1200" b="0" dirty="0" smtClean="0">
                          <a:solidFill>
                            <a:schemeClr val="tx1"/>
                          </a:solidFill>
                          <a:effectLst/>
                          <a:latin typeface="Times New Roman" pitchFamily="18" charset="0"/>
                          <a:cs typeface="Times New Roman" pitchFamily="18" charset="0"/>
                        </a:rPr>
                        <a:t>1</a:t>
                      </a:r>
                      <a:r>
                        <a:rPr lang="en-GB" sz="12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bl>
          </a:graphicData>
        </a:graphic>
      </p:graphicFrame>
      <p:sp>
        <p:nvSpPr>
          <p:cNvPr id="18" name="Объект 2"/>
          <p:cNvSpPr txBox="1">
            <a:spLocks/>
          </p:cNvSpPr>
          <p:nvPr/>
        </p:nvSpPr>
        <p:spPr>
          <a:xfrm>
            <a:off x="180496" y="4464673"/>
            <a:ext cx="2952328" cy="36004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uz-Cyrl-UZ" sz="1400" b="1" dirty="0" smtClean="0">
                <a:solidFill>
                  <a:srgbClr val="C00000"/>
                </a:solidFill>
                <a:latin typeface="Times New Roman" pitchFamily="18" charset="0"/>
                <a:cs typeface="Times New Roman" pitchFamily="18" charset="0"/>
              </a:rPr>
              <a:t>S </a:t>
            </a:r>
            <a:r>
              <a:rPr lang="uz-Cyrl-UZ" sz="1400" b="1" dirty="0">
                <a:solidFill>
                  <a:srgbClr val="C00000"/>
                </a:solidFill>
                <a:latin typeface="Times New Roman" pitchFamily="18" charset="0"/>
                <a:cs typeface="Times New Roman" pitchFamily="18" charset="0"/>
              </a:rPr>
              <a:t>– </a:t>
            </a:r>
            <a:r>
              <a:rPr lang="uz-Cyrl-UZ" sz="1400" b="1" dirty="0" smtClean="0">
                <a:solidFill>
                  <a:srgbClr val="C00000"/>
                </a:solidFill>
                <a:latin typeface="Times New Roman" pitchFamily="18" charset="0"/>
                <a:cs typeface="Times New Roman" pitchFamily="18" charset="0"/>
              </a:rPr>
              <a:t>блок </a:t>
            </a:r>
            <a:r>
              <a:rPr lang="uz-Cyrl-UZ" sz="1400" b="1" dirty="0">
                <a:solidFill>
                  <a:srgbClr val="C00000"/>
                </a:solidFill>
                <a:latin typeface="Times New Roman" pitchFamily="18" charset="0"/>
                <a:cs typeface="Times New Roman" pitchFamily="18" charset="0"/>
              </a:rPr>
              <a:t>текширув </a:t>
            </a:r>
            <a:r>
              <a:rPr lang="uz-Cyrl-UZ" sz="1400" b="1" dirty="0" smtClean="0">
                <a:solidFill>
                  <a:srgbClr val="C00000"/>
                </a:solidFill>
                <a:latin typeface="Times New Roman" pitchFamily="18" charset="0"/>
                <a:cs typeface="Times New Roman" pitchFamily="18" charset="0"/>
              </a:rPr>
              <a:t>жадвали</a:t>
            </a:r>
            <a:endParaRPr lang="uz-Cyrl-UZ" sz="1600" b="1" dirty="0" smtClean="0">
              <a:solidFill>
                <a:srgbClr val="C00000"/>
              </a:solidFill>
              <a:latin typeface="Times New Roman" pitchFamily="18" charset="0"/>
              <a:ea typeface="Calibri" pitchFamily="34" charset="0"/>
              <a:cs typeface="Times New Roman" pitchFamily="18" charset="0"/>
            </a:endParaRPr>
          </a:p>
        </p:txBody>
      </p:sp>
      <p:graphicFrame>
        <p:nvGraphicFramePr>
          <p:cNvPr id="19" name="Таблица 18"/>
          <p:cNvGraphicFramePr>
            <a:graphicFrameLocks noGrp="1"/>
          </p:cNvGraphicFramePr>
          <p:nvPr>
            <p:extLst>
              <p:ext uri="{D42A27DB-BD31-4B8C-83A1-F6EECF244321}">
                <p14:modId xmlns:p14="http://schemas.microsoft.com/office/powerpoint/2010/main" val="3589634748"/>
              </p:ext>
            </p:extLst>
          </p:nvPr>
        </p:nvGraphicFramePr>
        <p:xfrm>
          <a:off x="377780" y="4845180"/>
          <a:ext cx="2418685" cy="1310262"/>
        </p:xfrm>
        <a:graphic>
          <a:graphicData uri="http://schemas.openxmlformats.org/drawingml/2006/table">
            <a:tbl>
              <a:tblPr firstRow="1" firstCol="1" lastRow="1" lastCol="1" bandRow="1" bandCol="1">
                <a:tableStyleId>{5C22544A-7EE6-4342-B048-85BDC9FD1C3A}</a:tableStyleId>
              </a:tblPr>
              <a:tblGrid>
                <a:gridCol w="246874"/>
                <a:gridCol w="310230"/>
                <a:gridCol w="243062"/>
                <a:gridCol w="286869"/>
                <a:gridCol w="390617"/>
                <a:gridCol w="355107"/>
                <a:gridCol w="363985"/>
                <a:gridCol w="221941"/>
              </a:tblGrid>
              <a:tr h="218377">
                <a:tc rowSpan="2">
                  <a:txBody>
                    <a:bodyPr/>
                    <a:lstStyle/>
                    <a:p>
                      <a:pPr algn="ctr">
                        <a:lnSpc>
                          <a:spcPct val="115000"/>
                        </a:lnSpc>
                        <a:spcAft>
                          <a:spcPts val="0"/>
                        </a:spcAft>
                      </a:pPr>
                      <a:r>
                        <a:rPr lang="uz-Cyrl-UZ" sz="1200" b="1" dirty="0" smtClean="0">
                          <a:solidFill>
                            <a:schemeClr val="tx1"/>
                          </a:solidFill>
                          <a:effectLst/>
                          <a:latin typeface="Times New Roman" pitchFamily="18" charset="0"/>
                          <a:cs typeface="Times New Roman" pitchFamily="18" charset="0"/>
                        </a:rPr>
                        <a:t>№</a:t>
                      </a:r>
                      <a:endParaRPr lang="ru-RU" sz="1100" b="1" dirty="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1">
                          <a:solidFill>
                            <a:schemeClr val="tx1"/>
                          </a:solidFill>
                          <a:effectLst/>
                          <a:latin typeface="Times New Roman" pitchFamily="18" charset="0"/>
                          <a:cs typeface="Times New Roman" pitchFamily="18" charset="0"/>
                        </a:rPr>
                        <a:t>1</a:t>
                      </a:r>
                      <a:endParaRPr lang="ru-RU" sz="1100" b="1">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1">
                          <a:solidFill>
                            <a:schemeClr val="tx1"/>
                          </a:solidFill>
                          <a:effectLst/>
                          <a:latin typeface="Times New Roman" pitchFamily="18" charset="0"/>
                          <a:cs typeface="Times New Roman" pitchFamily="18" charset="0"/>
                        </a:rPr>
                        <a:t>2</a:t>
                      </a:r>
                      <a:endParaRPr lang="ru-RU" sz="1100" b="1">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1">
                          <a:solidFill>
                            <a:schemeClr val="tx1"/>
                          </a:solidFill>
                          <a:effectLst/>
                          <a:latin typeface="Times New Roman" pitchFamily="18" charset="0"/>
                          <a:cs typeface="Times New Roman" pitchFamily="18" charset="0"/>
                        </a:rPr>
                        <a:t>3</a:t>
                      </a:r>
                      <a:endParaRPr lang="ru-RU" sz="1100" b="1">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1">
                          <a:solidFill>
                            <a:schemeClr val="tx1"/>
                          </a:solidFill>
                          <a:effectLst/>
                          <a:latin typeface="Times New Roman" pitchFamily="18" charset="0"/>
                          <a:cs typeface="Times New Roman" pitchFamily="18" charset="0"/>
                        </a:rPr>
                        <a:t>4</a:t>
                      </a:r>
                      <a:endParaRPr lang="ru-RU" sz="1100" b="1">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1">
                          <a:solidFill>
                            <a:schemeClr val="tx1"/>
                          </a:solidFill>
                          <a:effectLst/>
                          <a:latin typeface="Times New Roman" pitchFamily="18" charset="0"/>
                          <a:cs typeface="Times New Roman" pitchFamily="18" charset="0"/>
                        </a:rPr>
                        <a:t>5</a:t>
                      </a:r>
                      <a:endParaRPr lang="ru-RU" sz="1100" b="1">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1">
                          <a:solidFill>
                            <a:schemeClr val="tx1"/>
                          </a:solidFill>
                          <a:effectLst/>
                          <a:latin typeface="Times New Roman" pitchFamily="18" charset="0"/>
                          <a:cs typeface="Times New Roman" pitchFamily="18" charset="0"/>
                        </a:rPr>
                        <a:t>6</a:t>
                      </a:r>
                      <a:endParaRPr lang="ru-RU" sz="1100" b="1">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1">
                          <a:solidFill>
                            <a:schemeClr val="tx1"/>
                          </a:solidFill>
                          <a:effectLst/>
                          <a:latin typeface="Times New Roman" pitchFamily="18" charset="0"/>
                          <a:cs typeface="Times New Roman" pitchFamily="18" charset="0"/>
                        </a:rPr>
                        <a:t>7</a:t>
                      </a:r>
                      <a:endParaRPr lang="ru-RU" sz="1100" b="1">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18377">
                <a:tc vMerge="1">
                  <a:txBody>
                    <a:bodyPr/>
                    <a:lstStyle/>
                    <a:p>
                      <a:endParaRPr lang="ru-RU"/>
                    </a:p>
                  </a:txBody>
                  <a:tcPr/>
                </a:tc>
                <a:tc>
                  <a:txBody>
                    <a:bodyPr/>
                    <a:lstStyle/>
                    <a:p>
                      <a:pPr algn="ctr">
                        <a:lnSpc>
                          <a:spcPct val="115000"/>
                        </a:lnSpc>
                        <a:spcAft>
                          <a:spcPts val="0"/>
                        </a:spcAft>
                      </a:pPr>
                      <a:r>
                        <a:rPr lang="uz-Cyrl-UZ" sz="1200" b="1">
                          <a:solidFill>
                            <a:schemeClr val="tx1"/>
                          </a:solidFill>
                          <a:effectLst/>
                          <a:latin typeface="Times New Roman" pitchFamily="18" charset="0"/>
                          <a:cs typeface="Times New Roman" pitchFamily="18" charset="0"/>
                        </a:rPr>
                        <a:t>x</a:t>
                      </a:r>
                      <a:r>
                        <a:rPr lang="uz-Cyrl-UZ" sz="1200" b="1" baseline="-25000">
                          <a:solidFill>
                            <a:schemeClr val="tx1"/>
                          </a:solidFill>
                          <a:effectLst/>
                          <a:latin typeface="Times New Roman" pitchFamily="18" charset="0"/>
                          <a:cs typeface="Times New Roman" pitchFamily="18" charset="0"/>
                        </a:rPr>
                        <a:t>2</a:t>
                      </a:r>
                      <a:endParaRPr lang="ru-RU" sz="1100" b="1">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1">
                          <a:solidFill>
                            <a:schemeClr val="tx1"/>
                          </a:solidFill>
                          <a:effectLst/>
                          <a:latin typeface="Times New Roman" pitchFamily="18" charset="0"/>
                          <a:cs typeface="Times New Roman" pitchFamily="18" charset="0"/>
                        </a:rPr>
                        <a:t>x</a:t>
                      </a:r>
                      <a:r>
                        <a:rPr lang="uz-Cyrl-UZ" sz="1200" b="1" baseline="-25000">
                          <a:solidFill>
                            <a:schemeClr val="tx1"/>
                          </a:solidFill>
                          <a:effectLst/>
                          <a:latin typeface="Times New Roman" pitchFamily="18" charset="0"/>
                          <a:cs typeface="Times New Roman" pitchFamily="18" charset="0"/>
                        </a:rPr>
                        <a:t>1</a:t>
                      </a:r>
                      <a:endParaRPr lang="ru-RU" sz="1100" b="1">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1">
                          <a:solidFill>
                            <a:schemeClr val="tx1"/>
                          </a:solidFill>
                          <a:effectLst/>
                          <a:latin typeface="Times New Roman" pitchFamily="18" charset="0"/>
                          <a:cs typeface="Times New Roman" pitchFamily="18" charset="0"/>
                        </a:rPr>
                        <a:t>y</a:t>
                      </a:r>
                      <a:endParaRPr lang="ru-RU" sz="1100" b="1">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1" dirty="0">
                          <a:solidFill>
                            <a:schemeClr val="tx1"/>
                          </a:solidFill>
                          <a:effectLst/>
                          <a:latin typeface="Times New Roman" pitchFamily="18" charset="0"/>
                          <a:cs typeface="Times New Roman" pitchFamily="18" charset="0"/>
                        </a:rPr>
                        <a:t>x</a:t>
                      </a:r>
                      <a:r>
                        <a:rPr lang="uz-Cyrl-UZ" sz="1200" b="1" baseline="-25000" dirty="0">
                          <a:solidFill>
                            <a:schemeClr val="tx1"/>
                          </a:solidFill>
                          <a:effectLst/>
                          <a:latin typeface="Times New Roman" pitchFamily="18" charset="0"/>
                          <a:cs typeface="Times New Roman" pitchFamily="18" charset="0"/>
                        </a:rPr>
                        <a:t>1</a:t>
                      </a:r>
                      <a:r>
                        <a:rPr lang="uz-Cyrl-UZ" sz="1200" b="1" dirty="0">
                          <a:solidFill>
                            <a:schemeClr val="tx1"/>
                          </a:solidFill>
                          <a:effectLst/>
                          <a:latin typeface="Times New Roman" pitchFamily="18" charset="0"/>
                          <a:cs typeface="Times New Roman" pitchFamily="18" charset="0"/>
                        </a:rPr>
                        <a:t>x</a:t>
                      </a:r>
                      <a:r>
                        <a:rPr lang="uz-Cyrl-UZ" sz="1200" b="1" baseline="-25000" dirty="0">
                          <a:solidFill>
                            <a:schemeClr val="tx1"/>
                          </a:solidFill>
                          <a:effectLst/>
                          <a:latin typeface="Times New Roman" pitchFamily="18" charset="0"/>
                          <a:cs typeface="Times New Roman" pitchFamily="18" charset="0"/>
                        </a:rPr>
                        <a:t>2</a:t>
                      </a:r>
                      <a:endParaRPr lang="ru-RU" sz="1100" b="1" dirty="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1">
                          <a:solidFill>
                            <a:schemeClr val="tx1"/>
                          </a:solidFill>
                          <a:effectLst/>
                          <a:latin typeface="Times New Roman" pitchFamily="18" charset="0"/>
                          <a:cs typeface="Times New Roman" pitchFamily="18" charset="0"/>
                        </a:rPr>
                        <a:t>x</a:t>
                      </a:r>
                      <a:r>
                        <a:rPr lang="uz-Cyrl-UZ" sz="1200" b="1" baseline="-25000">
                          <a:solidFill>
                            <a:schemeClr val="tx1"/>
                          </a:solidFill>
                          <a:effectLst/>
                          <a:latin typeface="Times New Roman" pitchFamily="18" charset="0"/>
                          <a:cs typeface="Times New Roman" pitchFamily="18" charset="0"/>
                        </a:rPr>
                        <a:t>1</a:t>
                      </a:r>
                      <a:r>
                        <a:rPr lang="uz-Cyrl-UZ" sz="1200" b="1">
                          <a:solidFill>
                            <a:schemeClr val="tx1"/>
                          </a:solidFill>
                          <a:effectLst/>
                          <a:latin typeface="Times New Roman" pitchFamily="18" charset="0"/>
                          <a:cs typeface="Times New Roman" pitchFamily="18" charset="0"/>
                        </a:rPr>
                        <a:t>y</a:t>
                      </a:r>
                      <a:endParaRPr lang="ru-RU" sz="1100" b="1">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1">
                          <a:solidFill>
                            <a:schemeClr val="tx1"/>
                          </a:solidFill>
                          <a:effectLst/>
                          <a:latin typeface="Times New Roman" pitchFamily="18" charset="0"/>
                          <a:cs typeface="Times New Roman" pitchFamily="18" charset="0"/>
                        </a:rPr>
                        <a:t>x</a:t>
                      </a:r>
                      <a:r>
                        <a:rPr lang="uz-Cyrl-UZ" sz="1200" b="1" baseline="-25000">
                          <a:solidFill>
                            <a:schemeClr val="tx1"/>
                          </a:solidFill>
                          <a:effectLst/>
                          <a:latin typeface="Times New Roman" pitchFamily="18" charset="0"/>
                          <a:cs typeface="Times New Roman" pitchFamily="18" charset="0"/>
                        </a:rPr>
                        <a:t>2</a:t>
                      </a:r>
                      <a:r>
                        <a:rPr lang="uz-Cyrl-UZ" sz="1200" b="1">
                          <a:solidFill>
                            <a:schemeClr val="tx1"/>
                          </a:solidFill>
                          <a:effectLst/>
                          <a:latin typeface="Times New Roman" pitchFamily="18" charset="0"/>
                          <a:cs typeface="Times New Roman" pitchFamily="18" charset="0"/>
                        </a:rPr>
                        <a:t>y</a:t>
                      </a:r>
                      <a:endParaRPr lang="ru-RU" sz="1100" b="1">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1">
                          <a:solidFill>
                            <a:schemeClr val="tx1"/>
                          </a:solidFill>
                          <a:effectLst/>
                          <a:latin typeface="Times New Roman" pitchFamily="18" charset="0"/>
                          <a:cs typeface="Times New Roman" pitchFamily="18" charset="0"/>
                        </a:rPr>
                        <a:t>η</a:t>
                      </a:r>
                      <a:endParaRPr lang="ru-RU" sz="1100" b="1">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18377">
                <a:tc>
                  <a:txBody>
                    <a:bodyPr/>
                    <a:lstStyle/>
                    <a:p>
                      <a:pPr algn="ctr">
                        <a:lnSpc>
                          <a:spcPct val="115000"/>
                        </a:lnSpc>
                        <a:spcAft>
                          <a:spcPts val="0"/>
                        </a:spcAft>
                      </a:pPr>
                      <a:r>
                        <a:rPr lang="uz-Cyrl-UZ" sz="1200" b="1">
                          <a:solidFill>
                            <a:schemeClr val="tx1"/>
                          </a:solidFill>
                          <a:effectLst/>
                          <a:latin typeface="Times New Roman" pitchFamily="18" charset="0"/>
                          <a:cs typeface="Times New Roman" pitchFamily="18" charset="0"/>
                        </a:rPr>
                        <a:t>1</a:t>
                      </a:r>
                      <a:endParaRPr lang="ru-RU" sz="1100" b="1">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0" dirty="0">
                          <a:solidFill>
                            <a:schemeClr val="tx1"/>
                          </a:solidFill>
                          <a:effectLst/>
                          <a:latin typeface="Times New Roman" pitchFamily="18" charset="0"/>
                          <a:cs typeface="Times New Roman" pitchFamily="18" charset="0"/>
                        </a:rPr>
                        <a:t>1</a:t>
                      </a:r>
                      <a:endParaRPr lang="ru-RU" sz="1100" b="0" dirty="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0">
                          <a:solidFill>
                            <a:schemeClr val="tx1"/>
                          </a:solidFill>
                          <a:effectLst/>
                          <a:latin typeface="Times New Roman" pitchFamily="18" charset="0"/>
                          <a:cs typeface="Times New Roman" pitchFamily="18" charset="0"/>
                        </a:rPr>
                        <a:t>0</a:t>
                      </a:r>
                      <a:endParaRPr lang="ru-RU" sz="1100" b="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0">
                          <a:solidFill>
                            <a:schemeClr val="tx1"/>
                          </a:solidFill>
                          <a:effectLst/>
                          <a:latin typeface="Times New Roman" pitchFamily="18" charset="0"/>
                          <a:cs typeface="Times New Roman" pitchFamily="18" charset="0"/>
                        </a:rPr>
                        <a:t>0</a:t>
                      </a:r>
                      <a:endParaRPr lang="ru-RU" sz="1100" b="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0">
                          <a:solidFill>
                            <a:schemeClr val="tx1"/>
                          </a:solidFill>
                          <a:effectLst/>
                          <a:latin typeface="Times New Roman" pitchFamily="18" charset="0"/>
                          <a:cs typeface="Times New Roman" pitchFamily="18" charset="0"/>
                        </a:rPr>
                        <a:t>1</a:t>
                      </a:r>
                      <a:endParaRPr lang="ru-RU" sz="1100" b="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18377">
                <a:tc>
                  <a:txBody>
                    <a:bodyPr/>
                    <a:lstStyle/>
                    <a:p>
                      <a:pPr algn="ctr">
                        <a:lnSpc>
                          <a:spcPct val="115000"/>
                        </a:lnSpc>
                        <a:spcAft>
                          <a:spcPts val="0"/>
                        </a:spcAft>
                      </a:pPr>
                      <a:r>
                        <a:rPr lang="uz-Cyrl-UZ" sz="1200" b="1">
                          <a:solidFill>
                            <a:schemeClr val="tx1"/>
                          </a:solidFill>
                          <a:effectLst/>
                          <a:latin typeface="Times New Roman" pitchFamily="18" charset="0"/>
                          <a:cs typeface="Times New Roman" pitchFamily="18" charset="0"/>
                        </a:rPr>
                        <a:t>2</a:t>
                      </a:r>
                      <a:endParaRPr lang="ru-RU" sz="1100" b="1">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0">
                          <a:solidFill>
                            <a:schemeClr val="tx1"/>
                          </a:solidFill>
                          <a:effectLst/>
                          <a:latin typeface="Times New Roman" pitchFamily="18" charset="0"/>
                          <a:cs typeface="Times New Roman" pitchFamily="18" charset="0"/>
                        </a:rPr>
                        <a:t>0</a:t>
                      </a:r>
                      <a:endParaRPr lang="ru-RU" sz="1100" b="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0">
                          <a:solidFill>
                            <a:schemeClr val="tx1"/>
                          </a:solidFill>
                          <a:effectLst/>
                          <a:latin typeface="Times New Roman" pitchFamily="18" charset="0"/>
                          <a:cs typeface="Times New Roman" pitchFamily="18" charset="0"/>
                        </a:rPr>
                        <a:t>1</a:t>
                      </a:r>
                      <a:endParaRPr lang="ru-RU" sz="1100" b="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0">
                          <a:solidFill>
                            <a:schemeClr val="tx1"/>
                          </a:solidFill>
                          <a:effectLst/>
                          <a:latin typeface="Times New Roman" pitchFamily="18" charset="0"/>
                          <a:cs typeface="Times New Roman" pitchFamily="18" charset="0"/>
                        </a:rPr>
                        <a:t>0</a:t>
                      </a:r>
                      <a:endParaRPr lang="ru-RU" sz="1100" b="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200" b="0">
                          <a:solidFill>
                            <a:schemeClr val="tx1"/>
                          </a:solidFill>
                          <a:effectLst/>
                          <a:latin typeface="Times New Roman" pitchFamily="18" charset="0"/>
                          <a:cs typeface="Times New Roman" pitchFamily="18" charset="0"/>
                        </a:rPr>
                        <a:t>1</a:t>
                      </a:r>
                      <a:endParaRPr lang="ru-RU" sz="1100" b="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18377">
                <a:tc>
                  <a:txBody>
                    <a:bodyPr/>
                    <a:lstStyle/>
                    <a:p>
                      <a:pPr algn="ctr">
                        <a:lnSpc>
                          <a:spcPct val="115000"/>
                        </a:lnSpc>
                        <a:spcAft>
                          <a:spcPts val="0"/>
                        </a:spcAft>
                      </a:pPr>
                      <a:r>
                        <a:rPr lang="ru-RU" sz="1200" b="1">
                          <a:solidFill>
                            <a:schemeClr val="tx1"/>
                          </a:solidFill>
                          <a:effectLst/>
                          <a:latin typeface="Times New Roman" pitchFamily="18" charset="0"/>
                          <a:cs typeface="Times New Roman" pitchFamily="18" charset="0"/>
                        </a:rPr>
                        <a:t>3</a:t>
                      </a:r>
                      <a:endParaRPr lang="ru-RU" sz="1100" b="1">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en-US" sz="1200" b="0">
                          <a:solidFill>
                            <a:schemeClr val="tx1"/>
                          </a:solidFill>
                          <a:effectLst/>
                          <a:latin typeface="Times New Roman" pitchFamily="18" charset="0"/>
                          <a:cs typeface="Times New Roman" pitchFamily="18" charset="0"/>
                        </a:rPr>
                        <a:t>1</a:t>
                      </a:r>
                      <a:endParaRPr lang="ru-RU" sz="1100" b="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en-US" sz="1200" b="0">
                          <a:solidFill>
                            <a:schemeClr val="tx1"/>
                          </a:solidFill>
                          <a:effectLst/>
                          <a:latin typeface="Times New Roman" pitchFamily="18" charset="0"/>
                          <a:cs typeface="Times New Roman" pitchFamily="18" charset="0"/>
                        </a:rPr>
                        <a:t>0</a:t>
                      </a:r>
                      <a:endParaRPr lang="ru-RU" sz="1100" b="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en-US" sz="1200" b="0">
                          <a:solidFill>
                            <a:schemeClr val="tx1"/>
                          </a:solidFill>
                          <a:effectLst/>
                          <a:latin typeface="Times New Roman" pitchFamily="18" charset="0"/>
                          <a:cs typeface="Times New Roman" pitchFamily="18" charset="0"/>
                        </a:rPr>
                        <a:t>0</a:t>
                      </a:r>
                      <a:endParaRPr lang="ru-RU" sz="1100" b="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en-US" sz="12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en-US" sz="12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en-US" sz="1200" b="0">
                          <a:solidFill>
                            <a:schemeClr val="tx1"/>
                          </a:solidFill>
                          <a:effectLst/>
                          <a:latin typeface="Times New Roman" pitchFamily="18" charset="0"/>
                          <a:cs typeface="Times New Roman" pitchFamily="18" charset="0"/>
                        </a:rPr>
                        <a:t>0</a:t>
                      </a:r>
                      <a:endParaRPr lang="ru-RU" sz="1100" b="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en-US" sz="1200" b="0">
                          <a:solidFill>
                            <a:schemeClr val="tx1"/>
                          </a:solidFill>
                          <a:effectLst/>
                          <a:latin typeface="Times New Roman" pitchFamily="18" charset="0"/>
                          <a:cs typeface="Times New Roman" pitchFamily="18" charset="0"/>
                        </a:rPr>
                        <a:t>1</a:t>
                      </a:r>
                      <a:endParaRPr lang="ru-RU" sz="1100" b="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218377">
                <a:tc>
                  <a:txBody>
                    <a:bodyPr/>
                    <a:lstStyle/>
                    <a:p>
                      <a:pPr algn="ctr">
                        <a:lnSpc>
                          <a:spcPct val="115000"/>
                        </a:lnSpc>
                        <a:spcAft>
                          <a:spcPts val="0"/>
                        </a:spcAft>
                      </a:pPr>
                      <a:r>
                        <a:rPr lang="ru-RU" sz="1200" b="1">
                          <a:solidFill>
                            <a:schemeClr val="tx1"/>
                          </a:solidFill>
                          <a:effectLst/>
                          <a:latin typeface="Times New Roman" pitchFamily="18" charset="0"/>
                          <a:cs typeface="Times New Roman" pitchFamily="18" charset="0"/>
                        </a:rPr>
                        <a:t>4</a:t>
                      </a:r>
                      <a:endParaRPr lang="ru-RU" sz="1100" b="1">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en-US" sz="1200" b="0">
                          <a:solidFill>
                            <a:schemeClr val="tx1"/>
                          </a:solidFill>
                          <a:effectLst/>
                          <a:latin typeface="Times New Roman" pitchFamily="18" charset="0"/>
                          <a:cs typeface="Times New Roman" pitchFamily="18" charset="0"/>
                        </a:rPr>
                        <a:t>1</a:t>
                      </a:r>
                      <a:endParaRPr lang="ru-RU" sz="1100" b="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en-US" sz="1200" b="0">
                          <a:solidFill>
                            <a:schemeClr val="tx1"/>
                          </a:solidFill>
                          <a:effectLst/>
                          <a:latin typeface="Times New Roman" pitchFamily="18" charset="0"/>
                          <a:cs typeface="Times New Roman" pitchFamily="18" charset="0"/>
                        </a:rPr>
                        <a:t>1</a:t>
                      </a:r>
                      <a:endParaRPr lang="ru-RU" sz="1100" b="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en-US" sz="1200" b="0">
                          <a:solidFill>
                            <a:schemeClr val="tx1"/>
                          </a:solidFill>
                          <a:effectLst/>
                          <a:latin typeface="Times New Roman" pitchFamily="18" charset="0"/>
                          <a:cs typeface="Times New Roman" pitchFamily="18" charset="0"/>
                        </a:rPr>
                        <a:t>1</a:t>
                      </a:r>
                      <a:endParaRPr lang="ru-RU" sz="1100" b="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en-US" sz="1200" b="0">
                          <a:solidFill>
                            <a:schemeClr val="tx1"/>
                          </a:solidFill>
                          <a:effectLst/>
                          <a:latin typeface="Times New Roman" pitchFamily="18" charset="0"/>
                          <a:cs typeface="Times New Roman" pitchFamily="18" charset="0"/>
                        </a:rPr>
                        <a:t>1</a:t>
                      </a:r>
                      <a:endParaRPr lang="ru-RU" sz="1100" b="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en-US" sz="1200" b="0" dirty="0">
                          <a:solidFill>
                            <a:schemeClr val="tx1"/>
                          </a:solidFill>
                          <a:effectLst/>
                          <a:latin typeface="Times New Roman" pitchFamily="18" charset="0"/>
                          <a:cs typeface="Times New Roman" pitchFamily="18" charset="0"/>
                        </a:rPr>
                        <a:t>1</a:t>
                      </a:r>
                      <a:endParaRPr lang="ru-RU" sz="1100" b="0" dirty="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en-US" sz="1200" b="0" dirty="0">
                          <a:solidFill>
                            <a:schemeClr val="tx1"/>
                          </a:solidFill>
                          <a:effectLst/>
                          <a:latin typeface="Times New Roman" pitchFamily="18" charset="0"/>
                          <a:cs typeface="Times New Roman" pitchFamily="18" charset="0"/>
                        </a:rPr>
                        <a:t>1</a:t>
                      </a:r>
                      <a:endParaRPr lang="ru-RU" sz="1100" b="0" dirty="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en-US" sz="1200" b="0" dirty="0">
                          <a:solidFill>
                            <a:schemeClr val="tx1"/>
                          </a:solidFill>
                          <a:effectLst/>
                          <a:latin typeface="Times New Roman" pitchFamily="18" charset="0"/>
                          <a:cs typeface="Times New Roman" pitchFamily="18" charset="0"/>
                        </a:rPr>
                        <a:t>1</a:t>
                      </a:r>
                      <a:endParaRPr lang="ru-RU" sz="1100" b="0" dirty="0">
                        <a:solidFill>
                          <a:schemeClr val="tx1"/>
                        </a:solidFill>
                        <a:effectLst/>
                        <a:latin typeface="Times New Roman" pitchFamily="18" charset="0"/>
                        <a:ea typeface="Calibri"/>
                        <a:cs typeface="Times New Roman" pitchFamily="18" charset="0"/>
                      </a:endParaRPr>
                    </a:p>
                  </a:txBody>
                  <a:tcPr marL="28187" marR="281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bl>
          </a:graphicData>
        </a:graphic>
      </p:graphicFrame>
      <p:sp>
        <p:nvSpPr>
          <p:cNvPr id="20" name="Объект 2"/>
          <p:cNvSpPr txBox="1">
            <a:spLocks/>
          </p:cNvSpPr>
          <p:nvPr/>
        </p:nvSpPr>
        <p:spPr>
          <a:xfrm>
            <a:off x="3226543" y="4209883"/>
            <a:ext cx="2376264" cy="307777"/>
          </a:xfrm>
          <a:prstGeom prst="rect">
            <a:avLst/>
          </a:prstGeom>
        </p:spPr>
        <p:txBody>
          <a:bodyPr vert="horz" wrap="square" lIns="91440" tIns="45720" rIns="91440" bIns="45720" rtlCol="0">
            <a:sp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uz-Cyrl-UZ" sz="1400" b="1" dirty="0">
                <a:solidFill>
                  <a:srgbClr val="C00000"/>
                </a:solidFill>
                <a:latin typeface="Times New Roman" pitchFamily="18" charset="0"/>
                <a:cs typeface="Times New Roman" pitchFamily="18" charset="0"/>
              </a:rPr>
              <a:t>Тўғри тенгламалар 7 та</a:t>
            </a:r>
            <a:endParaRPr lang="uz-Cyrl-UZ" sz="1400" b="1" dirty="0" smtClean="0">
              <a:solidFill>
                <a:srgbClr val="C00000"/>
              </a:solidFill>
              <a:latin typeface="Times New Roman" pitchFamily="18" charset="0"/>
              <a:ea typeface="Calibri" pitchFamily="34" charset="0"/>
              <a:cs typeface="Times New Roman" pitchFamily="18" charset="0"/>
            </a:endParaRPr>
          </a:p>
        </p:txBody>
      </p:sp>
      <p:graphicFrame>
        <p:nvGraphicFramePr>
          <p:cNvPr id="21" name="Таблица 20"/>
          <p:cNvGraphicFramePr>
            <a:graphicFrameLocks noGrp="1"/>
          </p:cNvGraphicFramePr>
          <p:nvPr>
            <p:extLst>
              <p:ext uri="{D42A27DB-BD31-4B8C-83A1-F6EECF244321}">
                <p14:modId xmlns:p14="http://schemas.microsoft.com/office/powerpoint/2010/main" val="162083050"/>
              </p:ext>
            </p:extLst>
          </p:nvPr>
        </p:nvGraphicFramePr>
        <p:xfrm>
          <a:off x="3187076" y="4582547"/>
          <a:ext cx="2495350" cy="1822704"/>
        </p:xfrm>
        <a:graphic>
          <a:graphicData uri="http://schemas.openxmlformats.org/drawingml/2006/table">
            <a:tbl>
              <a:tblPr firstRow="1" firstCol="1" lastRow="1" lastCol="1" bandRow="1" bandCol="1">
                <a:tableStyleId>{5C22544A-7EE6-4342-B048-85BDC9FD1C3A}</a:tableStyleId>
              </a:tblPr>
              <a:tblGrid>
                <a:gridCol w="333275"/>
                <a:gridCol w="2162075"/>
              </a:tblGrid>
              <a:tr h="173832">
                <a:tc>
                  <a:txBody>
                    <a:bodyPr/>
                    <a:lstStyle/>
                    <a:p>
                      <a:pPr algn="ctr">
                        <a:lnSpc>
                          <a:spcPct val="115000"/>
                        </a:lnSpc>
                        <a:spcAft>
                          <a:spcPts val="0"/>
                        </a:spcAft>
                      </a:pPr>
                      <a:r>
                        <a:rPr lang="ru-RU" sz="1300" dirty="0">
                          <a:solidFill>
                            <a:schemeClr val="tx1"/>
                          </a:solidFill>
                          <a:effectLst/>
                          <a:latin typeface="Times New Roman" pitchFamily="18" charset="0"/>
                          <a:cs typeface="Times New Roman" pitchFamily="18" charset="0"/>
                        </a:rPr>
                        <a:t>№</a:t>
                      </a:r>
                      <a:endParaRPr lang="ru-RU" sz="1100" dirty="0">
                        <a:solidFill>
                          <a:schemeClr val="tx1"/>
                        </a:solidFill>
                        <a:effectLst/>
                        <a:latin typeface="Times New Roman" pitchFamily="18" charset="0"/>
                        <a:ea typeface="Calibri"/>
                        <a:cs typeface="Times New Roman" pitchFamily="18" charset="0"/>
                      </a:endParaRPr>
                    </a:p>
                  </a:txBody>
                  <a:tcPr marL="62656" marR="626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300" dirty="0">
                          <a:solidFill>
                            <a:schemeClr val="tx1"/>
                          </a:solidFill>
                          <a:effectLst/>
                          <a:latin typeface="Times New Roman" pitchFamily="18" charset="0"/>
                          <a:cs typeface="Times New Roman" pitchFamily="18" charset="0"/>
                        </a:rPr>
                        <a:t>Тенглама</a:t>
                      </a:r>
                      <a:endParaRPr lang="ru-RU" sz="1100" dirty="0">
                        <a:solidFill>
                          <a:schemeClr val="tx1"/>
                        </a:solidFill>
                        <a:effectLst/>
                        <a:latin typeface="Times New Roman" pitchFamily="18" charset="0"/>
                        <a:ea typeface="Calibri"/>
                        <a:cs typeface="Times New Roman" pitchFamily="18" charset="0"/>
                      </a:endParaRPr>
                    </a:p>
                  </a:txBody>
                  <a:tcPr marL="62656" marR="626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173832">
                <a:tc>
                  <a:txBody>
                    <a:bodyPr/>
                    <a:lstStyle/>
                    <a:p>
                      <a:pPr marL="0" lvl="0" indent="0" algn="ctr">
                        <a:lnSpc>
                          <a:spcPct val="115000"/>
                        </a:lnSpc>
                        <a:spcAft>
                          <a:spcPts val="0"/>
                        </a:spcAft>
                        <a:buFont typeface="+mj-lt"/>
                        <a:buNone/>
                        <a:tabLst>
                          <a:tab pos="228600" algn="l"/>
                        </a:tabLst>
                      </a:pPr>
                      <a:r>
                        <a:rPr lang="en-US" sz="1300" dirty="0" smtClean="0">
                          <a:solidFill>
                            <a:schemeClr val="tx1"/>
                          </a:solidFill>
                          <a:effectLst/>
                          <a:latin typeface="Times New Roman" pitchFamily="18" charset="0"/>
                          <a:cs typeface="Times New Roman" pitchFamily="18" charset="0"/>
                        </a:rPr>
                        <a:t>1.</a:t>
                      </a:r>
                      <a:r>
                        <a:rPr lang="uz-Cyrl-UZ" sz="1300" dirty="0">
                          <a:solidFill>
                            <a:schemeClr val="tx1"/>
                          </a:solidFill>
                          <a:effectLst/>
                          <a:latin typeface="Times New Roman" pitchFamily="18" charset="0"/>
                          <a:cs typeface="Times New Roman" pitchFamily="18" charset="0"/>
                        </a:rPr>
                        <a:t> </a:t>
                      </a:r>
                      <a:endParaRPr lang="ru-RU" sz="1100" dirty="0">
                        <a:solidFill>
                          <a:schemeClr val="tx1"/>
                        </a:solidFill>
                        <a:effectLst/>
                        <a:latin typeface="Times New Roman" pitchFamily="18" charset="0"/>
                        <a:ea typeface="Calibri"/>
                        <a:cs typeface="Times New Roman" pitchFamily="18" charset="0"/>
                      </a:endParaRPr>
                    </a:p>
                  </a:txBody>
                  <a:tcPr marL="62656" marR="626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nSpc>
                          <a:spcPct val="115000"/>
                        </a:lnSpc>
                        <a:spcAft>
                          <a:spcPts val="0"/>
                        </a:spcAft>
                      </a:pPr>
                      <a:r>
                        <a:rPr lang="ru-RU" sz="1300" b="0" dirty="0">
                          <a:solidFill>
                            <a:schemeClr val="tx1"/>
                          </a:solidFill>
                          <a:effectLst/>
                          <a:latin typeface="Times New Roman" pitchFamily="18" charset="0"/>
                          <a:cs typeface="Times New Roman" pitchFamily="18" charset="0"/>
                        </a:rPr>
                        <a:t>x</a:t>
                      </a:r>
                      <a:r>
                        <a:rPr lang="ru-RU" sz="1300" b="0" baseline="-25000" dirty="0">
                          <a:solidFill>
                            <a:schemeClr val="tx1"/>
                          </a:solidFill>
                          <a:effectLst/>
                          <a:latin typeface="Times New Roman" pitchFamily="18" charset="0"/>
                          <a:cs typeface="Times New Roman" pitchFamily="18" charset="0"/>
                        </a:rPr>
                        <a:t>1</a:t>
                      </a:r>
                      <a:r>
                        <a:rPr lang="ru-RU" sz="1300" b="0" dirty="0">
                          <a:solidFill>
                            <a:schemeClr val="tx1"/>
                          </a:solidFill>
                          <a:effectLst/>
                          <a:latin typeface="Times New Roman" pitchFamily="18" charset="0"/>
                          <a:cs typeface="Times New Roman" pitchFamily="18" charset="0"/>
                        </a:rPr>
                        <a:t>y </a:t>
                      </a:r>
                      <a:r>
                        <a:rPr lang="en-US" sz="1300" b="0" dirty="0" smtClean="0">
                          <a:solidFill>
                            <a:schemeClr val="tx1"/>
                          </a:solidFill>
                          <a:effectLst/>
                          <a:latin typeface="Times New Roman" pitchFamily="18" charset="0"/>
                          <a:cs typeface="Times New Roman" pitchFamily="18" charset="0"/>
                        </a:rPr>
                        <a:t> + </a:t>
                      </a:r>
                      <a:r>
                        <a:rPr lang="ru-RU" sz="1300" b="0" dirty="0" smtClean="0">
                          <a:solidFill>
                            <a:schemeClr val="tx1"/>
                          </a:solidFill>
                          <a:effectLst/>
                          <a:latin typeface="Times New Roman" pitchFamily="18" charset="0"/>
                          <a:cs typeface="Times New Roman" pitchFamily="18" charset="0"/>
                        </a:rPr>
                        <a:t>x</a:t>
                      </a:r>
                      <a:r>
                        <a:rPr lang="ru-RU" sz="1300" b="0" baseline="-25000" dirty="0" smtClean="0">
                          <a:solidFill>
                            <a:schemeClr val="tx1"/>
                          </a:solidFill>
                          <a:effectLst/>
                          <a:latin typeface="Times New Roman" pitchFamily="18" charset="0"/>
                          <a:cs typeface="Times New Roman" pitchFamily="18" charset="0"/>
                        </a:rPr>
                        <a:t>2</a:t>
                      </a:r>
                      <a:r>
                        <a:rPr lang="ru-RU" sz="1300" b="0" dirty="0" smtClean="0">
                          <a:solidFill>
                            <a:schemeClr val="tx1"/>
                          </a:solidFill>
                          <a:effectLst/>
                          <a:latin typeface="Times New Roman" pitchFamily="18" charset="0"/>
                          <a:cs typeface="Times New Roman" pitchFamily="18" charset="0"/>
                        </a:rPr>
                        <a:t>y=0</a:t>
                      </a:r>
                      <a:endParaRPr lang="ru-RU" sz="1100" b="0" dirty="0">
                        <a:solidFill>
                          <a:schemeClr val="tx1"/>
                        </a:solidFill>
                        <a:effectLst/>
                        <a:latin typeface="Times New Roman" pitchFamily="18" charset="0"/>
                        <a:ea typeface="Calibri"/>
                        <a:cs typeface="Times New Roman" pitchFamily="18" charset="0"/>
                      </a:endParaRPr>
                    </a:p>
                  </a:txBody>
                  <a:tcPr marL="62656" marR="626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173832">
                <a:tc>
                  <a:txBody>
                    <a:bodyPr/>
                    <a:lstStyle/>
                    <a:p>
                      <a:pPr marL="0" lvl="0" indent="0" algn="ctr">
                        <a:lnSpc>
                          <a:spcPct val="115000"/>
                        </a:lnSpc>
                        <a:spcAft>
                          <a:spcPts val="0"/>
                        </a:spcAft>
                        <a:buFont typeface="+mj-lt"/>
                        <a:buNone/>
                        <a:tabLst>
                          <a:tab pos="228600" algn="l"/>
                        </a:tabLst>
                      </a:pPr>
                      <a:r>
                        <a:rPr lang="en-US" sz="1300" dirty="0" smtClean="0">
                          <a:solidFill>
                            <a:schemeClr val="tx1"/>
                          </a:solidFill>
                          <a:effectLst/>
                          <a:latin typeface="Times New Roman" pitchFamily="18" charset="0"/>
                          <a:cs typeface="Times New Roman" pitchFamily="18" charset="0"/>
                        </a:rPr>
                        <a:t>2.</a:t>
                      </a:r>
                      <a:r>
                        <a:rPr lang="uz-Cyrl-UZ" sz="1300" dirty="0">
                          <a:solidFill>
                            <a:schemeClr val="tx1"/>
                          </a:solidFill>
                          <a:effectLst/>
                          <a:latin typeface="Times New Roman" pitchFamily="18" charset="0"/>
                          <a:cs typeface="Times New Roman" pitchFamily="18" charset="0"/>
                        </a:rPr>
                        <a:t> </a:t>
                      </a:r>
                      <a:endParaRPr lang="ru-RU" sz="1100" dirty="0">
                        <a:solidFill>
                          <a:schemeClr val="tx1"/>
                        </a:solidFill>
                        <a:effectLst/>
                        <a:latin typeface="Times New Roman" pitchFamily="18" charset="0"/>
                        <a:ea typeface="Calibri"/>
                        <a:cs typeface="Times New Roman" pitchFamily="18" charset="0"/>
                      </a:endParaRPr>
                    </a:p>
                  </a:txBody>
                  <a:tcPr marL="62656" marR="626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nSpc>
                          <a:spcPct val="115000"/>
                        </a:lnSpc>
                        <a:spcAft>
                          <a:spcPts val="0"/>
                        </a:spcAft>
                      </a:pPr>
                      <a:r>
                        <a:rPr lang="ru-RU" sz="1300" b="0" dirty="0">
                          <a:solidFill>
                            <a:schemeClr val="tx1"/>
                          </a:solidFill>
                          <a:effectLst/>
                          <a:latin typeface="Times New Roman" pitchFamily="18" charset="0"/>
                          <a:cs typeface="Times New Roman" pitchFamily="18" charset="0"/>
                        </a:rPr>
                        <a:t>x</a:t>
                      </a:r>
                      <a:r>
                        <a:rPr lang="ru-RU" sz="1300" b="0" baseline="-25000" dirty="0">
                          <a:solidFill>
                            <a:schemeClr val="tx1"/>
                          </a:solidFill>
                          <a:effectLst/>
                          <a:latin typeface="Times New Roman" pitchFamily="18" charset="0"/>
                          <a:cs typeface="Times New Roman" pitchFamily="18" charset="0"/>
                        </a:rPr>
                        <a:t>1</a:t>
                      </a:r>
                      <a:r>
                        <a:rPr lang="ru-RU" sz="1300" b="0" dirty="0">
                          <a:solidFill>
                            <a:schemeClr val="tx1"/>
                          </a:solidFill>
                          <a:effectLst/>
                          <a:latin typeface="Times New Roman" pitchFamily="18" charset="0"/>
                          <a:cs typeface="Times New Roman" pitchFamily="18" charset="0"/>
                        </a:rPr>
                        <a:t>x</a:t>
                      </a:r>
                      <a:r>
                        <a:rPr lang="ru-RU" sz="1300" b="0" baseline="-25000" dirty="0">
                          <a:solidFill>
                            <a:schemeClr val="tx1"/>
                          </a:solidFill>
                          <a:effectLst/>
                          <a:latin typeface="Times New Roman" pitchFamily="18" charset="0"/>
                          <a:cs typeface="Times New Roman" pitchFamily="18" charset="0"/>
                        </a:rPr>
                        <a:t>2</a:t>
                      </a:r>
                      <a:r>
                        <a:rPr lang="ru-RU" sz="1300" b="0" dirty="0">
                          <a:solidFill>
                            <a:schemeClr val="tx1"/>
                          </a:solidFill>
                          <a:effectLst/>
                          <a:latin typeface="Times New Roman" pitchFamily="18" charset="0"/>
                          <a:cs typeface="Times New Roman" pitchFamily="18" charset="0"/>
                        </a:rPr>
                        <a:t> </a:t>
                      </a:r>
                      <a:r>
                        <a:rPr lang="en-US" sz="1300" b="0" dirty="0" smtClean="0">
                          <a:solidFill>
                            <a:schemeClr val="tx1"/>
                          </a:solidFill>
                          <a:effectLst/>
                          <a:latin typeface="Times New Roman" pitchFamily="18" charset="0"/>
                          <a:cs typeface="Times New Roman" pitchFamily="18" charset="0"/>
                        </a:rPr>
                        <a:t>+ </a:t>
                      </a:r>
                      <a:r>
                        <a:rPr lang="ru-RU" sz="1300" b="0" dirty="0" smtClean="0">
                          <a:solidFill>
                            <a:schemeClr val="tx1"/>
                          </a:solidFill>
                          <a:effectLst/>
                          <a:latin typeface="Times New Roman" pitchFamily="18" charset="0"/>
                          <a:cs typeface="Times New Roman" pitchFamily="18" charset="0"/>
                        </a:rPr>
                        <a:t>x</a:t>
                      </a:r>
                      <a:r>
                        <a:rPr lang="ru-RU" sz="1300" b="0" baseline="-25000" dirty="0" smtClean="0">
                          <a:solidFill>
                            <a:schemeClr val="tx1"/>
                          </a:solidFill>
                          <a:effectLst/>
                          <a:latin typeface="Times New Roman" pitchFamily="18" charset="0"/>
                          <a:cs typeface="Times New Roman" pitchFamily="18" charset="0"/>
                        </a:rPr>
                        <a:t>2</a:t>
                      </a:r>
                      <a:r>
                        <a:rPr lang="ru-RU" sz="1300" b="0" dirty="0" smtClean="0">
                          <a:solidFill>
                            <a:schemeClr val="tx1"/>
                          </a:solidFill>
                          <a:effectLst/>
                          <a:latin typeface="Times New Roman" pitchFamily="18" charset="0"/>
                          <a:cs typeface="Times New Roman" pitchFamily="18" charset="0"/>
                        </a:rPr>
                        <a:t>y=0</a:t>
                      </a:r>
                      <a:endParaRPr lang="ru-RU" sz="1100" b="0" dirty="0">
                        <a:solidFill>
                          <a:schemeClr val="tx1"/>
                        </a:solidFill>
                        <a:effectLst/>
                        <a:latin typeface="Times New Roman" pitchFamily="18" charset="0"/>
                        <a:ea typeface="Calibri"/>
                        <a:cs typeface="Times New Roman" pitchFamily="18" charset="0"/>
                      </a:endParaRPr>
                    </a:p>
                  </a:txBody>
                  <a:tcPr marL="62656" marR="626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173832">
                <a:tc>
                  <a:txBody>
                    <a:bodyPr/>
                    <a:lstStyle/>
                    <a:p>
                      <a:pPr marL="0" lvl="0" indent="0" algn="ctr">
                        <a:lnSpc>
                          <a:spcPct val="115000"/>
                        </a:lnSpc>
                        <a:spcAft>
                          <a:spcPts val="0"/>
                        </a:spcAft>
                        <a:buFont typeface="+mj-lt"/>
                        <a:buNone/>
                        <a:tabLst>
                          <a:tab pos="228600" algn="l"/>
                        </a:tabLst>
                      </a:pPr>
                      <a:r>
                        <a:rPr lang="en-US" sz="1300" dirty="0" smtClean="0">
                          <a:solidFill>
                            <a:schemeClr val="tx1"/>
                          </a:solidFill>
                          <a:effectLst/>
                          <a:latin typeface="Times New Roman" pitchFamily="18" charset="0"/>
                          <a:cs typeface="Times New Roman" pitchFamily="18" charset="0"/>
                        </a:rPr>
                        <a:t>3.</a:t>
                      </a:r>
                      <a:r>
                        <a:rPr lang="uz-Cyrl-UZ" sz="1300" dirty="0">
                          <a:solidFill>
                            <a:schemeClr val="tx1"/>
                          </a:solidFill>
                          <a:effectLst/>
                          <a:latin typeface="Times New Roman" pitchFamily="18" charset="0"/>
                          <a:cs typeface="Times New Roman" pitchFamily="18" charset="0"/>
                        </a:rPr>
                        <a:t> </a:t>
                      </a:r>
                      <a:endParaRPr lang="ru-RU" sz="1100" dirty="0">
                        <a:solidFill>
                          <a:schemeClr val="tx1"/>
                        </a:solidFill>
                        <a:effectLst/>
                        <a:latin typeface="Times New Roman" pitchFamily="18" charset="0"/>
                        <a:ea typeface="Calibri"/>
                        <a:cs typeface="Times New Roman" pitchFamily="18" charset="0"/>
                      </a:endParaRPr>
                    </a:p>
                  </a:txBody>
                  <a:tcPr marL="62656" marR="626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nSpc>
                          <a:spcPct val="115000"/>
                        </a:lnSpc>
                        <a:spcAft>
                          <a:spcPts val="0"/>
                        </a:spcAft>
                      </a:pPr>
                      <a:r>
                        <a:rPr lang="ru-RU" sz="1300" b="0" dirty="0">
                          <a:solidFill>
                            <a:schemeClr val="tx1"/>
                          </a:solidFill>
                          <a:effectLst/>
                          <a:latin typeface="Times New Roman" pitchFamily="18" charset="0"/>
                          <a:cs typeface="Times New Roman" pitchFamily="18" charset="0"/>
                        </a:rPr>
                        <a:t>x</a:t>
                      </a:r>
                      <a:r>
                        <a:rPr lang="ru-RU" sz="1300" b="0" baseline="-25000" dirty="0">
                          <a:solidFill>
                            <a:schemeClr val="tx1"/>
                          </a:solidFill>
                          <a:effectLst/>
                          <a:latin typeface="Times New Roman" pitchFamily="18" charset="0"/>
                          <a:cs typeface="Times New Roman" pitchFamily="18" charset="0"/>
                        </a:rPr>
                        <a:t>1</a:t>
                      </a:r>
                      <a:r>
                        <a:rPr lang="ru-RU" sz="1300" b="0" dirty="0">
                          <a:solidFill>
                            <a:schemeClr val="tx1"/>
                          </a:solidFill>
                          <a:effectLst/>
                          <a:latin typeface="Times New Roman" pitchFamily="18" charset="0"/>
                          <a:cs typeface="Times New Roman" pitchFamily="18" charset="0"/>
                        </a:rPr>
                        <a:t>x</a:t>
                      </a:r>
                      <a:r>
                        <a:rPr lang="ru-RU" sz="1300" b="0" baseline="-25000" dirty="0">
                          <a:solidFill>
                            <a:schemeClr val="tx1"/>
                          </a:solidFill>
                          <a:effectLst/>
                          <a:latin typeface="Times New Roman" pitchFamily="18" charset="0"/>
                          <a:cs typeface="Times New Roman" pitchFamily="18" charset="0"/>
                        </a:rPr>
                        <a:t>2</a:t>
                      </a:r>
                      <a:r>
                        <a:rPr lang="ru-RU" sz="1300" b="0" dirty="0">
                          <a:solidFill>
                            <a:schemeClr val="tx1"/>
                          </a:solidFill>
                          <a:effectLst/>
                          <a:latin typeface="Times New Roman" pitchFamily="18" charset="0"/>
                          <a:cs typeface="Times New Roman" pitchFamily="18" charset="0"/>
                        </a:rPr>
                        <a:t> </a:t>
                      </a:r>
                      <a:r>
                        <a:rPr lang="en-US" sz="1300" b="0" dirty="0" smtClean="0">
                          <a:solidFill>
                            <a:schemeClr val="tx1"/>
                          </a:solidFill>
                          <a:effectLst/>
                          <a:latin typeface="Times New Roman" pitchFamily="18" charset="0"/>
                          <a:cs typeface="Times New Roman" pitchFamily="18" charset="0"/>
                        </a:rPr>
                        <a:t>+ </a:t>
                      </a:r>
                      <a:r>
                        <a:rPr lang="ru-RU" sz="1300" b="0" dirty="0" smtClean="0">
                          <a:solidFill>
                            <a:schemeClr val="tx1"/>
                          </a:solidFill>
                          <a:effectLst/>
                          <a:latin typeface="Times New Roman" pitchFamily="18" charset="0"/>
                          <a:cs typeface="Times New Roman" pitchFamily="18" charset="0"/>
                        </a:rPr>
                        <a:t>x</a:t>
                      </a:r>
                      <a:r>
                        <a:rPr lang="ru-RU" sz="1300" b="0" baseline="-25000" dirty="0" smtClean="0">
                          <a:solidFill>
                            <a:schemeClr val="tx1"/>
                          </a:solidFill>
                          <a:effectLst/>
                          <a:latin typeface="Times New Roman" pitchFamily="18" charset="0"/>
                          <a:cs typeface="Times New Roman" pitchFamily="18" charset="0"/>
                        </a:rPr>
                        <a:t>1</a:t>
                      </a:r>
                      <a:r>
                        <a:rPr lang="ru-RU" sz="1300" b="0" dirty="0" smtClean="0">
                          <a:solidFill>
                            <a:schemeClr val="tx1"/>
                          </a:solidFill>
                          <a:effectLst/>
                          <a:latin typeface="Times New Roman" pitchFamily="18" charset="0"/>
                          <a:cs typeface="Times New Roman" pitchFamily="18" charset="0"/>
                        </a:rPr>
                        <a:t>y=0</a:t>
                      </a:r>
                      <a:endParaRPr lang="ru-RU" sz="1100" b="0" dirty="0">
                        <a:solidFill>
                          <a:schemeClr val="tx1"/>
                        </a:solidFill>
                        <a:effectLst/>
                        <a:latin typeface="Times New Roman" pitchFamily="18" charset="0"/>
                        <a:ea typeface="Calibri"/>
                        <a:cs typeface="Times New Roman" pitchFamily="18" charset="0"/>
                      </a:endParaRPr>
                    </a:p>
                  </a:txBody>
                  <a:tcPr marL="62656" marR="626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173832">
                <a:tc>
                  <a:txBody>
                    <a:bodyPr/>
                    <a:lstStyle/>
                    <a:p>
                      <a:pPr marL="0" lvl="0" indent="0" algn="ctr">
                        <a:lnSpc>
                          <a:spcPct val="115000"/>
                        </a:lnSpc>
                        <a:spcAft>
                          <a:spcPts val="0"/>
                        </a:spcAft>
                        <a:buFont typeface="+mj-lt"/>
                        <a:buNone/>
                        <a:tabLst>
                          <a:tab pos="228600" algn="l"/>
                        </a:tabLst>
                      </a:pPr>
                      <a:r>
                        <a:rPr lang="en-US" sz="1300" dirty="0" smtClean="0">
                          <a:solidFill>
                            <a:schemeClr val="tx1"/>
                          </a:solidFill>
                          <a:effectLst/>
                          <a:latin typeface="Times New Roman" pitchFamily="18" charset="0"/>
                          <a:cs typeface="Times New Roman" pitchFamily="18" charset="0"/>
                        </a:rPr>
                        <a:t>4.</a:t>
                      </a:r>
                      <a:r>
                        <a:rPr lang="uz-Cyrl-UZ" sz="1300" dirty="0">
                          <a:solidFill>
                            <a:schemeClr val="tx1"/>
                          </a:solidFill>
                          <a:effectLst/>
                          <a:latin typeface="Times New Roman" pitchFamily="18" charset="0"/>
                          <a:cs typeface="Times New Roman" pitchFamily="18" charset="0"/>
                        </a:rPr>
                        <a:t> </a:t>
                      </a:r>
                      <a:endParaRPr lang="ru-RU" sz="1100" dirty="0">
                        <a:solidFill>
                          <a:schemeClr val="tx1"/>
                        </a:solidFill>
                        <a:effectLst/>
                        <a:latin typeface="Times New Roman" pitchFamily="18" charset="0"/>
                        <a:ea typeface="Calibri"/>
                        <a:cs typeface="Times New Roman" pitchFamily="18" charset="0"/>
                      </a:endParaRPr>
                    </a:p>
                  </a:txBody>
                  <a:tcPr marL="62656" marR="626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nSpc>
                          <a:spcPct val="115000"/>
                        </a:lnSpc>
                        <a:spcAft>
                          <a:spcPts val="0"/>
                        </a:spcAft>
                      </a:pPr>
                      <a:r>
                        <a:rPr lang="ru-RU" sz="1300" b="0" dirty="0">
                          <a:solidFill>
                            <a:schemeClr val="tx1"/>
                          </a:solidFill>
                          <a:effectLst/>
                          <a:latin typeface="Times New Roman" pitchFamily="18" charset="0"/>
                          <a:cs typeface="Times New Roman" pitchFamily="18" charset="0"/>
                        </a:rPr>
                        <a:t>x</a:t>
                      </a:r>
                      <a:r>
                        <a:rPr lang="ru-RU" sz="1300" b="0" baseline="-25000" dirty="0">
                          <a:solidFill>
                            <a:schemeClr val="tx1"/>
                          </a:solidFill>
                          <a:effectLst/>
                          <a:latin typeface="Times New Roman" pitchFamily="18" charset="0"/>
                          <a:cs typeface="Times New Roman" pitchFamily="18" charset="0"/>
                        </a:rPr>
                        <a:t>1</a:t>
                      </a:r>
                      <a:r>
                        <a:rPr lang="ru-RU" sz="1300" b="0" dirty="0">
                          <a:solidFill>
                            <a:schemeClr val="tx1"/>
                          </a:solidFill>
                          <a:effectLst/>
                          <a:latin typeface="Times New Roman" pitchFamily="18" charset="0"/>
                          <a:cs typeface="Times New Roman" pitchFamily="18" charset="0"/>
                        </a:rPr>
                        <a:t> </a:t>
                      </a:r>
                      <a:r>
                        <a:rPr lang="en-US" sz="1300" b="0" dirty="0" smtClean="0">
                          <a:solidFill>
                            <a:schemeClr val="tx1"/>
                          </a:solidFill>
                          <a:effectLst/>
                          <a:latin typeface="Times New Roman" pitchFamily="18" charset="0"/>
                          <a:cs typeface="Times New Roman" pitchFamily="18" charset="0"/>
                        </a:rPr>
                        <a:t>+  </a:t>
                      </a:r>
                      <a:r>
                        <a:rPr lang="ru-RU" sz="1300" b="0" dirty="0" smtClean="0">
                          <a:solidFill>
                            <a:schemeClr val="tx1"/>
                          </a:solidFill>
                          <a:effectLst/>
                          <a:latin typeface="Times New Roman" pitchFamily="18" charset="0"/>
                          <a:cs typeface="Times New Roman" pitchFamily="18" charset="0"/>
                        </a:rPr>
                        <a:t>x</a:t>
                      </a:r>
                      <a:r>
                        <a:rPr lang="ru-RU" sz="1300" b="0" baseline="-25000" dirty="0" smtClean="0">
                          <a:solidFill>
                            <a:schemeClr val="tx1"/>
                          </a:solidFill>
                          <a:effectLst/>
                          <a:latin typeface="Times New Roman" pitchFamily="18" charset="0"/>
                          <a:cs typeface="Times New Roman" pitchFamily="18" charset="0"/>
                        </a:rPr>
                        <a:t>2</a:t>
                      </a:r>
                      <a:r>
                        <a:rPr lang="ru-RU" sz="1300" b="0" dirty="0" smtClean="0">
                          <a:solidFill>
                            <a:schemeClr val="tx1"/>
                          </a:solidFill>
                          <a:effectLst/>
                          <a:latin typeface="Times New Roman" pitchFamily="18" charset="0"/>
                          <a:cs typeface="Times New Roman" pitchFamily="18" charset="0"/>
                        </a:rPr>
                        <a:t> </a:t>
                      </a:r>
                      <a:r>
                        <a:rPr lang="en-US" sz="1300" b="0" dirty="0" smtClean="0">
                          <a:solidFill>
                            <a:schemeClr val="tx1"/>
                          </a:solidFill>
                          <a:effectLst/>
                          <a:latin typeface="Times New Roman" pitchFamily="18" charset="0"/>
                          <a:cs typeface="Times New Roman" pitchFamily="18" charset="0"/>
                        </a:rPr>
                        <a:t> + </a:t>
                      </a:r>
                      <a:r>
                        <a:rPr lang="ru-RU" sz="1300" b="0" dirty="0" smtClean="0">
                          <a:solidFill>
                            <a:schemeClr val="tx1"/>
                          </a:solidFill>
                          <a:effectLst/>
                          <a:latin typeface="Times New Roman" pitchFamily="18" charset="0"/>
                          <a:cs typeface="Times New Roman" pitchFamily="18" charset="0"/>
                        </a:rPr>
                        <a:t>y </a:t>
                      </a:r>
                      <a:r>
                        <a:rPr lang="en-US" sz="1300" b="0" dirty="0" smtClean="0">
                          <a:solidFill>
                            <a:schemeClr val="tx1"/>
                          </a:solidFill>
                          <a:effectLst/>
                          <a:latin typeface="Times New Roman" pitchFamily="18" charset="0"/>
                          <a:cs typeface="Times New Roman" pitchFamily="18" charset="0"/>
                        </a:rPr>
                        <a:t> + </a:t>
                      </a:r>
                      <a:r>
                        <a:rPr lang="uz-Cyrl-UZ" sz="1300" b="0" dirty="0" smtClean="0">
                          <a:solidFill>
                            <a:schemeClr val="tx1"/>
                          </a:solidFill>
                          <a:effectLst/>
                          <a:latin typeface="Times New Roman" pitchFamily="18" charset="0"/>
                          <a:cs typeface="Times New Roman" pitchFamily="18" charset="0"/>
                        </a:rPr>
                        <a:t>1</a:t>
                      </a:r>
                      <a:r>
                        <a:rPr lang="ru-RU" sz="13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62656" marR="626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173832">
                <a:tc>
                  <a:txBody>
                    <a:bodyPr/>
                    <a:lstStyle/>
                    <a:p>
                      <a:pPr marL="0" lvl="0" indent="0" algn="ctr">
                        <a:lnSpc>
                          <a:spcPct val="115000"/>
                        </a:lnSpc>
                        <a:spcAft>
                          <a:spcPts val="0"/>
                        </a:spcAft>
                        <a:buFont typeface="+mj-lt"/>
                        <a:buNone/>
                        <a:tabLst>
                          <a:tab pos="228600" algn="l"/>
                        </a:tabLst>
                      </a:pPr>
                      <a:r>
                        <a:rPr lang="en-US" sz="1300" dirty="0" smtClean="0">
                          <a:solidFill>
                            <a:schemeClr val="tx1"/>
                          </a:solidFill>
                          <a:effectLst/>
                          <a:latin typeface="Times New Roman" pitchFamily="18" charset="0"/>
                          <a:cs typeface="Times New Roman" pitchFamily="18" charset="0"/>
                        </a:rPr>
                        <a:t>5.</a:t>
                      </a:r>
                      <a:r>
                        <a:rPr lang="uz-Cyrl-UZ" sz="1300" dirty="0">
                          <a:solidFill>
                            <a:schemeClr val="tx1"/>
                          </a:solidFill>
                          <a:effectLst/>
                          <a:latin typeface="Times New Roman" pitchFamily="18" charset="0"/>
                          <a:cs typeface="Times New Roman" pitchFamily="18" charset="0"/>
                        </a:rPr>
                        <a:t> </a:t>
                      </a:r>
                      <a:endParaRPr lang="ru-RU" sz="1100" dirty="0">
                        <a:solidFill>
                          <a:schemeClr val="tx1"/>
                        </a:solidFill>
                        <a:effectLst/>
                        <a:latin typeface="Times New Roman" pitchFamily="18" charset="0"/>
                        <a:ea typeface="Calibri"/>
                        <a:cs typeface="Times New Roman" pitchFamily="18" charset="0"/>
                      </a:endParaRPr>
                    </a:p>
                  </a:txBody>
                  <a:tcPr marL="62656" marR="626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nSpc>
                          <a:spcPct val="115000"/>
                        </a:lnSpc>
                        <a:spcAft>
                          <a:spcPts val="0"/>
                        </a:spcAft>
                      </a:pPr>
                      <a:r>
                        <a:rPr lang="ru-RU" sz="1300" b="0" dirty="0" smtClean="0">
                          <a:solidFill>
                            <a:schemeClr val="tx1"/>
                          </a:solidFill>
                          <a:effectLst/>
                          <a:latin typeface="Times New Roman" pitchFamily="18" charset="0"/>
                          <a:cs typeface="Times New Roman" pitchFamily="18" charset="0"/>
                        </a:rPr>
                        <a:t>x</a:t>
                      </a:r>
                      <a:r>
                        <a:rPr lang="ru-RU" sz="1300" b="0" baseline="-25000" dirty="0" smtClean="0">
                          <a:solidFill>
                            <a:schemeClr val="tx1"/>
                          </a:solidFill>
                          <a:effectLst/>
                          <a:latin typeface="Times New Roman" pitchFamily="18" charset="0"/>
                          <a:cs typeface="Times New Roman" pitchFamily="18" charset="0"/>
                        </a:rPr>
                        <a:t>1</a:t>
                      </a:r>
                      <a:r>
                        <a:rPr lang="ru-RU" sz="1300" b="0" dirty="0" smtClean="0">
                          <a:solidFill>
                            <a:schemeClr val="tx1"/>
                          </a:solidFill>
                          <a:effectLst/>
                          <a:latin typeface="Times New Roman" pitchFamily="18" charset="0"/>
                          <a:cs typeface="Times New Roman" pitchFamily="18" charset="0"/>
                        </a:rPr>
                        <a:t> </a:t>
                      </a:r>
                      <a:r>
                        <a:rPr lang="en-US" sz="1300" b="0" dirty="0" smtClean="0">
                          <a:solidFill>
                            <a:schemeClr val="tx1"/>
                          </a:solidFill>
                          <a:effectLst/>
                          <a:latin typeface="Times New Roman" pitchFamily="18" charset="0"/>
                          <a:cs typeface="Times New Roman" pitchFamily="18" charset="0"/>
                        </a:rPr>
                        <a:t>+ </a:t>
                      </a:r>
                      <a:r>
                        <a:rPr lang="ru-RU" sz="1300" b="0" dirty="0" smtClean="0">
                          <a:solidFill>
                            <a:schemeClr val="tx1"/>
                          </a:solidFill>
                          <a:effectLst/>
                          <a:latin typeface="Times New Roman" pitchFamily="18" charset="0"/>
                          <a:cs typeface="Times New Roman" pitchFamily="18" charset="0"/>
                        </a:rPr>
                        <a:t>x</a:t>
                      </a:r>
                      <a:r>
                        <a:rPr lang="ru-RU" sz="1300" b="0" baseline="-25000" dirty="0" smtClean="0">
                          <a:solidFill>
                            <a:schemeClr val="tx1"/>
                          </a:solidFill>
                          <a:effectLst/>
                          <a:latin typeface="Times New Roman" pitchFamily="18" charset="0"/>
                          <a:cs typeface="Times New Roman" pitchFamily="18" charset="0"/>
                        </a:rPr>
                        <a:t>2</a:t>
                      </a:r>
                      <a:r>
                        <a:rPr lang="ru-RU" sz="1300" b="0" dirty="0" smtClean="0">
                          <a:solidFill>
                            <a:schemeClr val="tx1"/>
                          </a:solidFill>
                          <a:effectLst/>
                          <a:latin typeface="Times New Roman" pitchFamily="18" charset="0"/>
                          <a:cs typeface="Times New Roman" pitchFamily="18" charset="0"/>
                        </a:rPr>
                        <a:t> </a:t>
                      </a:r>
                      <a:r>
                        <a:rPr lang="en-US" sz="1300" b="0" dirty="0" smtClean="0">
                          <a:solidFill>
                            <a:schemeClr val="tx1"/>
                          </a:solidFill>
                          <a:effectLst/>
                          <a:latin typeface="Times New Roman" pitchFamily="18" charset="0"/>
                          <a:cs typeface="Times New Roman" pitchFamily="18" charset="0"/>
                        </a:rPr>
                        <a:t>+ </a:t>
                      </a:r>
                      <a:r>
                        <a:rPr lang="ru-RU" sz="1300" b="0" dirty="0" smtClean="0">
                          <a:solidFill>
                            <a:schemeClr val="tx1"/>
                          </a:solidFill>
                          <a:effectLst/>
                          <a:latin typeface="Times New Roman" pitchFamily="18" charset="0"/>
                          <a:cs typeface="Times New Roman" pitchFamily="18" charset="0"/>
                        </a:rPr>
                        <a:t>y </a:t>
                      </a:r>
                      <a:r>
                        <a:rPr lang="en-US" sz="1300" b="0" dirty="0" smtClean="0">
                          <a:solidFill>
                            <a:schemeClr val="tx1"/>
                          </a:solidFill>
                          <a:effectLst/>
                          <a:latin typeface="Times New Roman" pitchFamily="18" charset="0"/>
                          <a:cs typeface="Times New Roman" pitchFamily="18" charset="0"/>
                        </a:rPr>
                        <a:t>+ </a:t>
                      </a:r>
                      <a:r>
                        <a:rPr lang="ru-RU" sz="1300" b="0" dirty="0" smtClean="0">
                          <a:solidFill>
                            <a:schemeClr val="tx1"/>
                          </a:solidFill>
                          <a:effectLst/>
                          <a:latin typeface="Times New Roman" pitchFamily="18" charset="0"/>
                          <a:cs typeface="Times New Roman" pitchFamily="18" charset="0"/>
                        </a:rPr>
                        <a:t>x</a:t>
                      </a:r>
                      <a:r>
                        <a:rPr lang="ru-RU" sz="1300" b="0" baseline="-25000" dirty="0" smtClean="0">
                          <a:solidFill>
                            <a:schemeClr val="tx1"/>
                          </a:solidFill>
                          <a:effectLst/>
                          <a:latin typeface="Times New Roman" pitchFamily="18" charset="0"/>
                          <a:cs typeface="Times New Roman" pitchFamily="18" charset="0"/>
                        </a:rPr>
                        <a:t>1</a:t>
                      </a:r>
                      <a:r>
                        <a:rPr lang="ru-RU" sz="1300" b="0" dirty="0" smtClean="0">
                          <a:solidFill>
                            <a:schemeClr val="tx1"/>
                          </a:solidFill>
                          <a:effectLst/>
                          <a:latin typeface="Times New Roman" pitchFamily="18" charset="0"/>
                          <a:cs typeface="Times New Roman" pitchFamily="18" charset="0"/>
                        </a:rPr>
                        <a:t>y </a:t>
                      </a:r>
                      <a:r>
                        <a:rPr lang="en-US" sz="1300" b="0" dirty="0" smtClean="0">
                          <a:solidFill>
                            <a:schemeClr val="tx1"/>
                          </a:solidFill>
                          <a:effectLst/>
                          <a:latin typeface="Times New Roman" pitchFamily="18" charset="0"/>
                          <a:cs typeface="Times New Roman" pitchFamily="18" charset="0"/>
                        </a:rPr>
                        <a:t>+ </a:t>
                      </a:r>
                      <a:r>
                        <a:rPr lang="ru-RU" sz="1300" b="0" dirty="0" smtClean="0">
                          <a:solidFill>
                            <a:schemeClr val="tx1"/>
                          </a:solidFill>
                          <a:effectLst/>
                          <a:latin typeface="Times New Roman" pitchFamily="18" charset="0"/>
                          <a:cs typeface="Times New Roman" pitchFamily="18" charset="0"/>
                        </a:rPr>
                        <a:t>x</a:t>
                      </a:r>
                      <a:r>
                        <a:rPr lang="ru-RU" sz="1300" b="0" baseline="-25000" dirty="0" smtClean="0">
                          <a:solidFill>
                            <a:schemeClr val="tx1"/>
                          </a:solidFill>
                          <a:effectLst/>
                          <a:latin typeface="Times New Roman" pitchFamily="18" charset="0"/>
                          <a:cs typeface="Times New Roman" pitchFamily="18" charset="0"/>
                        </a:rPr>
                        <a:t>2</a:t>
                      </a:r>
                      <a:r>
                        <a:rPr lang="ru-RU" sz="1300" b="0" dirty="0" smtClean="0">
                          <a:solidFill>
                            <a:schemeClr val="tx1"/>
                          </a:solidFill>
                          <a:effectLst/>
                          <a:latin typeface="Times New Roman" pitchFamily="18" charset="0"/>
                          <a:cs typeface="Times New Roman" pitchFamily="18" charset="0"/>
                        </a:rPr>
                        <a:t>y </a:t>
                      </a:r>
                      <a:r>
                        <a:rPr lang="en-US" sz="1300" b="0" dirty="0" smtClean="0">
                          <a:solidFill>
                            <a:schemeClr val="tx1"/>
                          </a:solidFill>
                          <a:effectLst/>
                          <a:latin typeface="Times New Roman" pitchFamily="18" charset="0"/>
                          <a:cs typeface="Times New Roman" pitchFamily="18" charset="0"/>
                        </a:rPr>
                        <a:t>+ </a:t>
                      </a:r>
                      <a:r>
                        <a:rPr lang="uz-Cyrl-UZ" sz="1300" b="0" dirty="0" smtClean="0">
                          <a:solidFill>
                            <a:schemeClr val="tx1"/>
                          </a:solidFill>
                          <a:effectLst/>
                          <a:latin typeface="Times New Roman" pitchFamily="18" charset="0"/>
                          <a:cs typeface="Times New Roman" pitchFamily="18" charset="0"/>
                        </a:rPr>
                        <a:t>1</a:t>
                      </a:r>
                      <a:r>
                        <a:rPr lang="ru-RU" sz="13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62656" marR="626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173832">
                <a:tc>
                  <a:txBody>
                    <a:bodyPr/>
                    <a:lstStyle/>
                    <a:p>
                      <a:pPr marL="0" lvl="0" indent="0" algn="ctr">
                        <a:lnSpc>
                          <a:spcPct val="115000"/>
                        </a:lnSpc>
                        <a:spcAft>
                          <a:spcPts val="0"/>
                        </a:spcAft>
                        <a:buFont typeface="+mj-lt"/>
                        <a:buNone/>
                        <a:tabLst>
                          <a:tab pos="228600" algn="l"/>
                        </a:tabLst>
                      </a:pPr>
                      <a:r>
                        <a:rPr lang="en-US" sz="1300" dirty="0" smtClean="0">
                          <a:solidFill>
                            <a:schemeClr val="tx1"/>
                          </a:solidFill>
                          <a:effectLst/>
                          <a:latin typeface="Times New Roman" pitchFamily="18" charset="0"/>
                          <a:cs typeface="Times New Roman" pitchFamily="18" charset="0"/>
                        </a:rPr>
                        <a:t>6.</a:t>
                      </a:r>
                      <a:r>
                        <a:rPr lang="uz-Cyrl-UZ" sz="1300" dirty="0">
                          <a:solidFill>
                            <a:schemeClr val="tx1"/>
                          </a:solidFill>
                          <a:effectLst/>
                          <a:latin typeface="Times New Roman" pitchFamily="18" charset="0"/>
                          <a:cs typeface="Times New Roman" pitchFamily="18" charset="0"/>
                        </a:rPr>
                        <a:t> </a:t>
                      </a:r>
                      <a:endParaRPr lang="ru-RU" sz="1100" dirty="0">
                        <a:solidFill>
                          <a:schemeClr val="tx1"/>
                        </a:solidFill>
                        <a:effectLst/>
                        <a:latin typeface="Times New Roman" pitchFamily="18" charset="0"/>
                        <a:ea typeface="Calibri"/>
                        <a:cs typeface="Times New Roman" pitchFamily="18" charset="0"/>
                      </a:endParaRPr>
                    </a:p>
                  </a:txBody>
                  <a:tcPr marL="62656" marR="626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nSpc>
                          <a:spcPct val="115000"/>
                        </a:lnSpc>
                        <a:spcAft>
                          <a:spcPts val="0"/>
                        </a:spcAft>
                      </a:pPr>
                      <a:r>
                        <a:rPr lang="ru-RU" sz="1300" b="0" dirty="0">
                          <a:solidFill>
                            <a:schemeClr val="tx1"/>
                          </a:solidFill>
                          <a:effectLst/>
                          <a:latin typeface="Times New Roman" pitchFamily="18" charset="0"/>
                          <a:cs typeface="Times New Roman" pitchFamily="18" charset="0"/>
                        </a:rPr>
                        <a:t>x</a:t>
                      </a:r>
                      <a:r>
                        <a:rPr lang="ru-RU" sz="1300" b="0" baseline="-25000" dirty="0">
                          <a:solidFill>
                            <a:schemeClr val="tx1"/>
                          </a:solidFill>
                          <a:effectLst/>
                          <a:latin typeface="Times New Roman" pitchFamily="18" charset="0"/>
                          <a:cs typeface="Times New Roman" pitchFamily="18" charset="0"/>
                        </a:rPr>
                        <a:t>1</a:t>
                      </a:r>
                      <a:r>
                        <a:rPr lang="ru-RU" sz="1300" b="0" dirty="0">
                          <a:solidFill>
                            <a:schemeClr val="tx1"/>
                          </a:solidFill>
                          <a:effectLst/>
                          <a:latin typeface="Times New Roman" pitchFamily="18" charset="0"/>
                          <a:cs typeface="Times New Roman" pitchFamily="18" charset="0"/>
                        </a:rPr>
                        <a:t> </a:t>
                      </a:r>
                      <a:r>
                        <a:rPr lang="en-US" sz="1300" b="0" dirty="0" smtClean="0">
                          <a:solidFill>
                            <a:schemeClr val="tx1"/>
                          </a:solidFill>
                          <a:effectLst/>
                          <a:latin typeface="Times New Roman" pitchFamily="18" charset="0"/>
                          <a:cs typeface="Times New Roman" pitchFamily="18" charset="0"/>
                        </a:rPr>
                        <a:t>+ </a:t>
                      </a:r>
                      <a:r>
                        <a:rPr lang="ru-RU" sz="1300" b="0" dirty="0" smtClean="0">
                          <a:solidFill>
                            <a:schemeClr val="tx1"/>
                          </a:solidFill>
                          <a:effectLst/>
                          <a:latin typeface="Times New Roman" pitchFamily="18" charset="0"/>
                          <a:cs typeface="Times New Roman" pitchFamily="18" charset="0"/>
                        </a:rPr>
                        <a:t>x</a:t>
                      </a:r>
                      <a:r>
                        <a:rPr lang="ru-RU" sz="1300" b="0" baseline="-25000" dirty="0" smtClean="0">
                          <a:solidFill>
                            <a:schemeClr val="tx1"/>
                          </a:solidFill>
                          <a:effectLst/>
                          <a:latin typeface="Times New Roman" pitchFamily="18" charset="0"/>
                          <a:cs typeface="Times New Roman" pitchFamily="18" charset="0"/>
                        </a:rPr>
                        <a:t>2</a:t>
                      </a:r>
                      <a:r>
                        <a:rPr lang="ru-RU" sz="1300" b="0" dirty="0" smtClean="0">
                          <a:solidFill>
                            <a:schemeClr val="tx1"/>
                          </a:solidFill>
                          <a:effectLst/>
                          <a:latin typeface="Times New Roman" pitchFamily="18" charset="0"/>
                          <a:cs typeface="Times New Roman" pitchFamily="18" charset="0"/>
                        </a:rPr>
                        <a:t> </a:t>
                      </a:r>
                      <a:r>
                        <a:rPr lang="en-US" sz="1300" b="0" dirty="0" smtClean="0">
                          <a:solidFill>
                            <a:schemeClr val="tx1"/>
                          </a:solidFill>
                          <a:effectLst/>
                          <a:latin typeface="Times New Roman" pitchFamily="18" charset="0"/>
                          <a:cs typeface="Times New Roman" pitchFamily="18" charset="0"/>
                        </a:rPr>
                        <a:t>+ </a:t>
                      </a:r>
                      <a:r>
                        <a:rPr lang="ru-RU" sz="1300" b="0" dirty="0" smtClean="0">
                          <a:solidFill>
                            <a:schemeClr val="tx1"/>
                          </a:solidFill>
                          <a:effectLst/>
                          <a:latin typeface="Times New Roman" pitchFamily="18" charset="0"/>
                          <a:cs typeface="Times New Roman" pitchFamily="18" charset="0"/>
                        </a:rPr>
                        <a:t>y </a:t>
                      </a:r>
                      <a:r>
                        <a:rPr lang="en-US" sz="1300" b="0" dirty="0" smtClean="0">
                          <a:solidFill>
                            <a:schemeClr val="tx1"/>
                          </a:solidFill>
                          <a:effectLst/>
                          <a:latin typeface="Times New Roman" pitchFamily="18" charset="0"/>
                          <a:cs typeface="Times New Roman" pitchFamily="18" charset="0"/>
                        </a:rPr>
                        <a:t>+ </a:t>
                      </a:r>
                      <a:r>
                        <a:rPr lang="ru-RU" sz="1300" b="0" dirty="0" smtClean="0">
                          <a:solidFill>
                            <a:schemeClr val="tx1"/>
                          </a:solidFill>
                          <a:effectLst/>
                          <a:latin typeface="Times New Roman" pitchFamily="18" charset="0"/>
                          <a:cs typeface="Times New Roman" pitchFamily="18" charset="0"/>
                        </a:rPr>
                        <a:t>x</a:t>
                      </a:r>
                      <a:r>
                        <a:rPr lang="ru-RU" sz="1300" b="0" baseline="-25000" dirty="0" smtClean="0">
                          <a:solidFill>
                            <a:schemeClr val="tx1"/>
                          </a:solidFill>
                          <a:effectLst/>
                          <a:latin typeface="Times New Roman" pitchFamily="18" charset="0"/>
                          <a:cs typeface="Times New Roman" pitchFamily="18" charset="0"/>
                        </a:rPr>
                        <a:t>1</a:t>
                      </a:r>
                      <a:r>
                        <a:rPr lang="ru-RU" sz="1300" b="0" dirty="0" smtClean="0">
                          <a:solidFill>
                            <a:schemeClr val="tx1"/>
                          </a:solidFill>
                          <a:effectLst/>
                          <a:latin typeface="Times New Roman" pitchFamily="18" charset="0"/>
                          <a:cs typeface="Times New Roman" pitchFamily="18" charset="0"/>
                        </a:rPr>
                        <a:t>x</a:t>
                      </a:r>
                      <a:r>
                        <a:rPr lang="ru-RU" sz="1300" b="0" baseline="-25000" dirty="0" smtClean="0">
                          <a:solidFill>
                            <a:schemeClr val="tx1"/>
                          </a:solidFill>
                          <a:effectLst/>
                          <a:latin typeface="Times New Roman" pitchFamily="18" charset="0"/>
                          <a:cs typeface="Times New Roman" pitchFamily="18" charset="0"/>
                        </a:rPr>
                        <a:t>2</a:t>
                      </a:r>
                      <a:r>
                        <a:rPr lang="ru-RU" sz="1300" b="0" dirty="0" smtClean="0">
                          <a:solidFill>
                            <a:schemeClr val="tx1"/>
                          </a:solidFill>
                          <a:effectLst/>
                          <a:latin typeface="Times New Roman" pitchFamily="18" charset="0"/>
                          <a:cs typeface="Times New Roman" pitchFamily="18" charset="0"/>
                        </a:rPr>
                        <a:t> </a:t>
                      </a:r>
                      <a:r>
                        <a:rPr lang="en-US" sz="1300" b="0" dirty="0" smtClean="0">
                          <a:solidFill>
                            <a:schemeClr val="tx1"/>
                          </a:solidFill>
                          <a:effectLst/>
                          <a:latin typeface="Times New Roman" pitchFamily="18" charset="0"/>
                          <a:cs typeface="Times New Roman" pitchFamily="18" charset="0"/>
                        </a:rPr>
                        <a:t>+ </a:t>
                      </a:r>
                      <a:r>
                        <a:rPr lang="ru-RU" sz="1300" b="0" dirty="0" smtClean="0">
                          <a:solidFill>
                            <a:schemeClr val="tx1"/>
                          </a:solidFill>
                          <a:effectLst/>
                          <a:latin typeface="Times New Roman" pitchFamily="18" charset="0"/>
                          <a:cs typeface="Times New Roman" pitchFamily="18" charset="0"/>
                        </a:rPr>
                        <a:t>x</a:t>
                      </a:r>
                      <a:r>
                        <a:rPr lang="ru-RU" sz="1300" b="0" baseline="-25000" dirty="0" smtClean="0">
                          <a:solidFill>
                            <a:schemeClr val="tx1"/>
                          </a:solidFill>
                          <a:effectLst/>
                          <a:latin typeface="Times New Roman" pitchFamily="18" charset="0"/>
                          <a:cs typeface="Times New Roman" pitchFamily="18" charset="0"/>
                        </a:rPr>
                        <a:t>2</a:t>
                      </a:r>
                      <a:r>
                        <a:rPr lang="ru-RU" sz="1300" b="0" dirty="0" smtClean="0">
                          <a:solidFill>
                            <a:schemeClr val="tx1"/>
                          </a:solidFill>
                          <a:effectLst/>
                          <a:latin typeface="Times New Roman" pitchFamily="18" charset="0"/>
                          <a:cs typeface="Times New Roman" pitchFamily="18" charset="0"/>
                        </a:rPr>
                        <a:t>y </a:t>
                      </a:r>
                      <a:r>
                        <a:rPr lang="en-US" sz="1300" b="0" dirty="0" smtClean="0">
                          <a:solidFill>
                            <a:schemeClr val="tx1"/>
                          </a:solidFill>
                          <a:effectLst/>
                          <a:latin typeface="Times New Roman" pitchFamily="18" charset="0"/>
                          <a:cs typeface="Times New Roman" pitchFamily="18" charset="0"/>
                        </a:rPr>
                        <a:t>+ </a:t>
                      </a:r>
                      <a:r>
                        <a:rPr lang="uz-Cyrl-UZ" sz="1300" b="0" dirty="0" smtClean="0">
                          <a:solidFill>
                            <a:schemeClr val="tx1"/>
                          </a:solidFill>
                          <a:effectLst/>
                          <a:latin typeface="Times New Roman" pitchFamily="18" charset="0"/>
                          <a:cs typeface="Times New Roman" pitchFamily="18" charset="0"/>
                        </a:rPr>
                        <a:t>1</a:t>
                      </a:r>
                      <a:r>
                        <a:rPr lang="ru-RU" sz="13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62656" marR="626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173832">
                <a:tc>
                  <a:txBody>
                    <a:bodyPr/>
                    <a:lstStyle/>
                    <a:p>
                      <a:pPr marL="0" lvl="0" indent="0" algn="ctr">
                        <a:lnSpc>
                          <a:spcPct val="115000"/>
                        </a:lnSpc>
                        <a:spcAft>
                          <a:spcPts val="0"/>
                        </a:spcAft>
                        <a:buFont typeface="+mj-lt"/>
                        <a:buNone/>
                        <a:tabLst>
                          <a:tab pos="228600" algn="l"/>
                        </a:tabLst>
                      </a:pPr>
                      <a:r>
                        <a:rPr lang="en-US" sz="1300" dirty="0" smtClean="0">
                          <a:solidFill>
                            <a:schemeClr val="tx1"/>
                          </a:solidFill>
                          <a:effectLst/>
                          <a:latin typeface="Times New Roman" pitchFamily="18" charset="0"/>
                          <a:cs typeface="Times New Roman" pitchFamily="18" charset="0"/>
                        </a:rPr>
                        <a:t>7.</a:t>
                      </a:r>
                      <a:r>
                        <a:rPr lang="uz-Cyrl-UZ" sz="1300" dirty="0">
                          <a:solidFill>
                            <a:schemeClr val="tx1"/>
                          </a:solidFill>
                          <a:effectLst/>
                          <a:latin typeface="Times New Roman" pitchFamily="18" charset="0"/>
                          <a:cs typeface="Times New Roman" pitchFamily="18" charset="0"/>
                        </a:rPr>
                        <a:t> </a:t>
                      </a:r>
                      <a:endParaRPr lang="ru-RU" sz="1100" dirty="0">
                        <a:solidFill>
                          <a:schemeClr val="tx1"/>
                        </a:solidFill>
                        <a:effectLst/>
                        <a:latin typeface="Times New Roman" pitchFamily="18" charset="0"/>
                        <a:ea typeface="Calibri"/>
                        <a:cs typeface="Times New Roman" pitchFamily="18" charset="0"/>
                      </a:endParaRPr>
                    </a:p>
                  </a:txBody>
                  <a:tcPr marL="62656" marR="626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nSpc>
                          <a:spcPct val="115000"/>
                        </a:lnSpc>
                        <a:spcAft>
                          <a:spcPts val="0"/>
                        </a:spcAft>
                      </a:pPr>
                      <a:r>
                        <a:rPr lang="ru-RU" sz="1300" b="0" dirty="0">
                          <a:solidFill>
                            <a:schemeClr val="tx1"/>
                          </a:solidFill>
                          <a:effectLst/>
                          <a:latin typeface="Times New Roman" pitchFamily="18" charset="0"/>
                          <a:cs typeface="Times New Roman" pitchFamily="18" charset="0"/>
                        </a:rPr>
                        <a:t>x</a:t>
                      </a:r>
                      <a:r>
                        <a:rPr lang="ru-RU" sz="1300" b="0" baseline="-25000" dirty="0">
                          <a:solidFill>
                            <a:schemeClr val="tx1"/>
                          </a:solidFill>
                          <a:effectLst/>
                          <a:latin typeface="Times New Roman" pitchFamily="18" charset="0"/>
                          <a:cs typeface="Times New Roman" pitchFamily="18" charset="0"/>
                        </a:rPr>
                        <a:t>1</a:t>
                      </a:r>
                      <a:r>
                        <a:rPr lang="ru-RU" sz="1300" b="0" dirty="0">
                          <a:solidFill>
                            <a:schemeClr val="tx1"/>
                          </a:solidFill>
                          <a:effectLst/>
                          <a:latin typeface="Times New Roman" pitchFamily="18" charset="0"/>
                          <a:cs typeface="Times New Roman" pitchFamily="18" charset="0"/>
                        </a:rPr>
                        <a:t> </a:t>
                      </a:r>
                      <a:r>
                        <a:rPr lang="en-US" sz="1300" b="0" dirty="0" smtClean="0">
                          <a:solidFill>
                            <a:schemeClr val="tx1"/>
                          </a:solidFill>
                          <a:effectLst/>
                          <a:latin typeface="Times New Roman" pitchFamily="18" charset="0"/>
                          <a:cs typeface="Times New Roman" pitchFamily="18" charset="0"/>
                        </a:rPr>
                        <a:t>+ </a:t>
                      </a:r>
                      <a:r>
                        <a:rPr lang="ru-RU" sz="1300" b="0" dirty="0" smtClean="0">
                          <a:solidFill>
                            <a:schemeClr val="tx1"/>
                          </a:solidFill>
                          <a:effectLst/>
                          <a:latin typeface="Times New Roman" pitchFamily="18" charset="0"/>
                          <a:cs typeface="Times New Roman" pitchFamily="18" charset="0"/>
                        </a:rPr>
                        <a:t>x</a:t>
                      </a:r>
                      <a:r>
                        <a:rPr lang="ru-RU" sz="1300" b="0" baseline="-25000" dirty="0" smtClean="0">
                          <a:solidFill>
                            <a:schemeClr val="tx1"/>
                          </a:solidFill>
                          <a:effectLst/>
                          <a:latin typeface="Times New Roman" pitchFamily="18" charset="0"/>
                          <a:cs typeface="Times New Roman" pitchFamily="18" charset="0"/>
                        </a:rPr>
                        <a:t>2</a:t>
                      </a:r>
                      <a:r>
                        <a:rPr lang="ru-RU" sz="1300" b="0" dirty="0" smtClean="0">
                          <a:solidFill>
                            <a:schemeClr val="tx1"/>
                          </a:solidFill>
                          <a:effectLst/>
                          <a:latin typeface="Times New Roman" pitchFamily="18" charset="0"/>
                          <a:cs typeface="Times New Roman" pitchFamily="18" charset="0"/>
                        </a:rPr>
                        <a:t> </a:t>
                      </a:r>
                      <a:r>
                        <a:rPr lang="en-US" sz="1300" b="0" dirty="0" smtClean="0">
                          <a:solidFill>
                            <a:schemeClr val="tx1"/>
                          </a:solidFill>
                          <a:effectLst/>
                          <a:latin typeface="Times New Roman" pitchFamily="18" charset="0"/>
                          <a:cs typeface="Times New Roman" pitchFamily="18" charset="0"/>
                        </a:rPr>
                        <a:t>+ </a:t>
                      </a:r>
                      <a:r>
                        <a:rPr lang="ru-RU" sz="1300" b="0" dirty="0" smtClean="0">
                          <a:solidFill>
                            <a:schemeClr val="tx1"/>
                          </a:solidFill>
                          <a:effectLst/>
                          <a:latin typeface="Times New Roman" pitchFamily="18" charset="0"/>
                          <a:cs typeface="Times New Roman" pitchFamily="18" charset="0"/>
                        </a:rPr>
                        <a:t>y </a:t>
                      </a:r>
                      <a:r>
                        <a:rPr lang="en-US" sz="1300" b="0" dirty="0" smtClean="0">
                          <a:solidFill>
                            <a:schemeClr val="tx1"/>
                          </a:solidFill>
                          <a:effectLst/>
                          <a:latin typeface="Times New Roman" pitchFamily="18" charset="0"/>
                          <a:cs typeface="Times New Roman" pitchFamily="18" charset="0"/>
                        </a:rPr>
                        <a:t>+ </a:t>
                      </a:r>
                      <a:r>
                        <a:rPr lang="ru-RU" sz="1300" b="0" dirty="0" smtClean="0">
                          <a:solidFill>
                            <a:schemeClr val="tx1"/>
                          </a:solidFill>
                          <a:effectLst/>
                          <a:latin typeface="Times New Roman" pitchFamily="18" charset="0"/>
                          <a:cs typeface="Times New Roman" pitchFamily="18" charset="0"/>
                        </a:rPr>
                        <a:t>x</a:t>
                      </a:r>
                      <a:r>
                        <a:rPr lang="ru-RU" sz="1300" b="0" baseline="-25000" dirty="0" smtClean="0">
                          <a:solidFill>
                            <a:schemeClr val="tx1"/>
                          </a:solidFill>
                          <a:effectLst/>
                          <a:latin typeface="Times New Roman" pitchFamily="18" charset="0"/>
                          <a:cs typeface="Times New Roman" pitchFamily="18" charset="0"/>
                        </a:rPr>
                        <a:t>1</a:t>
                      </a:r>
                      <a:r>
                        <a:rPr lang="ru-RU" sz="1300" b="0" dirty="0" smtClean="0">
                          <a:solidFill>
                            <a:schemeClr val="tx1"/>
                          </a:solidFill>
                          <a:effectLst/>
                          <a:latin typeface="Times New Roman" pitchFamily="18" charset="0"/>
                          <a:cs typeface="Times New Roman" pitchFamily="18" charset="0"/>
                        </a:rPr>
                        <a:t>x</a:t>
                      </a:r>
                      <a:r>
                        <a:rPr lang="ru-RU" sz="1300" b="0" baseline="-25000" dirty="0" smtClean="0">
                          <a:solidFill>
                            <a:schemeClr val="tx1"/>
                          </a:solidFill>
                          <a:effectLst/>
                          <a:latin typeface="Times New Roman" pitchFamily="18" charset="0"/>
                          <a:cs typeface="Times New Roman" pitchFamily="18" charset="0"/>
                        </a:rPr>
                        <a:t>2</a:t>
                      </a:r>
                      <a:r>
                        <a:rPr lang="ru-RU" sz="1300" b="0" dirty="0" smtClean="0">
                          <a:solidFill>
                            <a:schemeClr val="tx1"/>
                          </a:solidFill>
                          <a:effectLst/>
                          <a:latin typeface="Times New Roman" pitchFamily="18" charset="0"/>
                          <a:cs typeface="Times New Roman" pitchFamily="18" charset="0"/>
                        </a:rPr>
                        <a:t> </a:t>
                      </a:r>
                      <a:r>
                        <a:rPr lang="en-US" sz="1300" b="0" dirty="0" smtClean="0">
                          <a:solidFill>
                            <a:schemeClr val="tx1"/>
                          </a:solidFill>
                          <a:effectLst/>
                          <a:latin typeface="Times New Roman" pitchFamily="18" charset="0"/>
                          <a:cs typeface="Times New Roman" pitchFamily="18" charset="0"/>
                        </a:rPr>
                        <a:t>+ </a:t>
                      </a:r>
                      <a:r>
                        <a:rPr lang="ru-RU" sz="1300" b="0" dirty="0" smtClean="0">
                          <a:solidFill>
                            <a:schemeClr val="tx1"/>
                          </a:solidFill>
                          <a:effectLst/>
                          <a:latin typeface="Times New Roman" pitchFamily="18" charset="0"/>
                          <a:cs typeface="Times New Roman" pitchFamily="18" charset="0"/>
                        </a:rPr>
                        <a:t>x</a:t>
                      </a:r>
                      <a:r>
                        <a:rPr lang="ru-RU" sz="1300" b="0" baseline="-25000" dirty="0" smtClean="0">
                          <a:solidFill>
                            <a:schemeClr val="tx1"/>
                          </a:solidFill>
                          <a:effectLst/>
                          <a:latin typeface="Times New Roman" pitchFamily="18" charset="0"/>
                          <a:cs typeface="Times New Roman" pitchFamily="18" charset="0"/>
                        </a:rPr>
                        <a:t>1</a:t>
                      </a:r>
                      <a:r>
                        <a:rPr lang="ru-RU" sz="1300" b="0" dirty="0" smtClean="0">
                          <a:solidFill>
                            <a:schemeClr val="tx1"/>
                          </a:solidFill>
                          <a:effectLst/>
                          <a:latin typeface="Times New Roman" pitchFamily="18" charset="0"/>
                          <a:cs typeface="Times New Roman" pitchFamily="18" charset="0"/>
                        </a:rPr>
                        <a:t>y </a:t>
                      </a:r>
                      <a:r>
                        <a:rPr lang="en-US" sz="1300" b="0" dirty="0" smtClean="0">
                          <a:solidFill>
                            <a:schemeClr val="tx1"/>
                          </a:solidFill>
                          <a:effectLst/>
                          <a:latin typeface="Times New Roman" pitchFamily="18" charset="0"/>
                          <a:cs typeface="Times New Roman" pitchFamily="18" charset="0"/>
                        </a:rPr>
                        <a:t>+ </a:t>
                      </a:r>
                      <a:r>
                        <a:rPr lang="uz-Cyrl-UZ" sz="1300" b="0" dirty="0" smtClean="0">
                          <a:solidFill>
                            <a:schemeClr val="tx1"/>
                          </a:solidFill>
                          <a:effectLst/>
                          <a:latin typeface="Times New Roman" pitchFamily="18" charset="0"/>
                          <a:cs typeface="Times New Roman" pitchFamily="18" charset="0"/>
                        </a:rPr>
                        <a:t>1</a:t>
                      </a:r>
                      <a:r>
                        <a:rPr lang="ru-RU" sz="1300" b="0" dirty="0">
                          <a:solidFill>
                            <a:schemeClr val="tx1"/>
                          </a:solidFill>
                          <a:effectLst/>
                          <a:latin typeface="Times New Roman" pitchFamily="18" charset="0"/>
                          <a:cs typeface="Times New Roman" pitchFamily="18" charset="0"/>
                        </a:rPr>
                        <a:t>=0</a:t>
                      </a:r>
                      <a:endParaRPr lang="ru-RU" sz="1100" b="0" dirty="0">
                        <a:solidFill>
                          <a:schemeClr val="tx1"/>
                        </a:solidFill>
                        <a:effectLst/>
                        <a:latin typeface="Times New Roman" pitchFamily="18" charset="0"/>
                        <a:ea typeface="Calibri"/>
                        <a:cs typeface="Times New Roman" pitchFamily="18" charset="0"/>
                      </a:endParaRPr>
                    </a:p>
                  </a:txBody>
                  <a:tcPr marL="62656" marR="626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bl>
          </a:graphicData>
        </a:graphic>
      </p:graphicFrame>
      <p:sp>
        <p:nvSpPr>
          <p:cNvPr id="23" name="Стрелка вправо 22"/>
          <p:cNvSpPr/>
          <p:nvPr/>
        </p:nvSpPr>
        <p:spPr>
          <a:xfrm>
            <a:off x="2339752" y="2474904"/>
            <a:ext cx="180000" cy="144000"/>
          </a:xfrm>
          <a:prstGeom prst="rightArrow">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Стрелка вправо 23"/>
          <p:cNvSpPr/>
          <p:nvPr/>
        </p:nvSpPr>
        <p:spPr>
          <a:xfrm>
            <a:off x="5677761" y="2457384"/>
            <a:ext cx="180000" cy="144000"/>
          </a:xfrm>
          <a:prstGeom prst="rightArrow">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Стрелка вправо 24"/>
          <p:cNvSpPr/>
          <p:nvPr/>
        </p:nvSpPr>
        <p:spPr>
          <a:xfrm>
            <a:off x="2898060" y="5336720"/>
            <a:ext cx="180000" cy="144000"/>
          </a:xfrm>
          <a:prstGeom prst="rightArrow">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Стрелка вправо 25"/>
          <p:cNvSpPr/>
          <p:nvPr/>
        </p:nvSpPr>
        <p:spPr>
          <a:xfrm>
            <a:off x="5767761" y="5336720"/>
            <a:ext cx="180000" cy="144000"/>
          </a:xfrm>
          <a:prstGeom prst="rightArrow">
            <a:avLst/>
          </a:prstGeom>
          <a:solidFill>
            <a:schemeClr val="accent4">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27" name="Таблица 26"/>
          <p:cNvGraphicFramePr>
            <a:graphicFrameLocks noGrp="1"/>
          </p:cNvGraphicFramePr>
          <p:nvPr>
            <p:extLst>
              <p:ext uri="{D42A27DB-BD31-4B8C-83A1-F6EECF244321}">
                <p14:modId xmlns:p14="http://schemas.microsoft.com/office/powerpoint/2010/main" val="4132463337"/>
              </p:ext>
            </p:extLst>
          </p:nvPr>
        </p:nvGraphicFramePr>
        <p:xfrm>
          <a:off x="6453086" y="4245840"/>
          <a:ext cx="1678919" cy="911352"/>
        </p:xfrm>
        <a:graphic>
          <a:graphicData uri="http://schemas.openxmlformats.org/drawingml/2006/table">
            <a:tbl>
              <a:tblPr firstRow="1" firstCol="1" lastRow="1" lastCol="1" bandRow="1" bandCol="1">
                <a:tableStyleId>{5C22544A-7EE6-4342-B048-85BDC9FD1C3A}</a:tableStyleId>
              </a:tblPr>
              <a:tblGrid>
                <a:gridCol w="333275"/>
                <a:gridCol w="1345644"/>
              </a:tblGrid>
              <a:tr h="173832">
                <a:tc>
                  <a:txBody>
                    <a:bodyPr/>
                    <a:lstStyle/>
                    <a:p>
                      <a:pPr algn="ctr">
                        <a:lnSpc>
                          <a:spcPct val="115000"/>
                        </a:lnSpc>
                        <a:spcAft>
                          <a:spcPts val="0"/>
                        </a:spcAft>
                      </a:pPr>
                      <a:r>
                        <a:rPr lang="ru-RU" sz="1300" dirty="0">
                          <a:solidFill>
                            <a:schemeClr val="tx1"/>
                          </a:solidFill>
                          <a:effectLst/>
                          <a:latin typeface="Times New Roman" pitchFamily="18" charset="0"/>
                          <a:cs typeface="Times New Roman" pitchFamily="18" charset="0"/>
                        </a:rPr>
                        <a:t>№</a:t>
                      </a:r>
                      <a:endParaRPr lang="ru-RU" sz="1100" dirty="0">
                        <a:solidFill>
                          <a:schemeClr val="tx1"/>
                        </a:solidFill>
                        <a:effectLst/>
                        <a:latin typeface="Times New Roman" pitchFamily="18" charset="0"/>
                        <a:ea typeface="Calibri"/>
                        <a:cs typeface="Times New Roman" pitchFamily="18" charset="0"/>
                      </a:endParaRPr>
                    </a:p>
                  </a:txBody>
                  <a:tcPr marL="62656" marR="626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uz-Cyrl-UZ" sz="1300" dirty="0">
                          <a:solidFill>
                            <a:schemeClr val="tx1"/>
                          </a:solidFill>
                          <a:effectLst/>
                          <a:latin typeface="Times New Roman" pitchFamily="18" charset="0"/>
                          <a:cs typeface="Times New Roman" pitchFamily="18" charset="0"/>
                        </a:rPr>
                        <a:t>Тенглама</a:t>
                      </a:r>
                      <a:endParaRPr lang="ru-RU" sz="1100" dirty="0">
                        <a:solidFill>
                          <a:schemeClr val="tx1"/>
                        </a:solidFill>
                        <a:effectLst/>
                        <a:latin typeface="Times New Roman" pitchFamily="18" charset="0"/>
                        <a:ea typeface="Calibri"/>
                        <a:cs typeface="Times New Roman" pitchFamily="18" charset="0"/>
                      </a:endParaRPr>
                    </a:p>
                  </a:txBody>
                  <a:tcPr marL="62656" marR="626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173832">
                <a:tc>
                  <a:txBody>
                    <a:bodyPr/>
                    <a:lstStyle/>
                    <a:p>
                      <a:pPr marL="0" lvl="0" indent="0" algn="ctr">
                        <a:lnSpc>
                          <a:spcPct val="115000"/>
                        </a:lnSpc>
                        <a:spcAft>
                          <a:spcPts val="0"/>
                        </a:spcAft>
                        <a:buFont typeface="+mj-lt"/>
                        <a:buNone/>
                        <a:tabLst>
                          <a:tab pos="228600" algn="l"/>
                        </a:tabLst>
                      </a:pPr>
                      <a:r>
                        <a:rPr lang="en-US" sz="1300" dirty="0" smtClean="0">
                          <a:solidFill>
                            <a:schemeClr val="tx1"/>
                          </a:solidFill>
                          <a:effectLst/>
                          <a:latin typeface="Times New Roman" pitchFamily="18" charset="0"/>
                          <a:cs typeface="Times New Roman" pitchFamily="18" charset="0"/>
                        </a:rPr>
                        <a:t>1.</a:t>
                      </a:r>
                      <a:r>
                        <a:rPr lang="uz-Cyrl-UZ" sz="1300" dirty="0">
                          <a:solidFill>
                            <a:schemeClr val="tx1"/>
                          </a:solidFill>
                          <a:effectLst/>
                          <a:latin typeface="Times New Roman" pitchFamily="18" charset="0"/>
                          <a:cs typeface="Times New Roman" pitchFamily="18" charset="0"/>
                        </a:rPr>
                        <a:t> </a:t>
                      </a:r>
                      <a:endParaRPr lang="ru-RU" sz="1100" dirty="0">
                        <a:solidFill>
                          <a:schemeClr val="tx1"/>
                        </a:solidFill>
                        <a:effectLst/>
                        <a:latin typeface="Times New Roman" pitchFamily="18" charset="0"/>
                        <a:ea typeface="Calibri"/>
                        <a:cs typeface="Times New Roman" pitchFamily="18" charset="0"/>
                      </a:endParaRPr>
                    </a:p>
                  </a:txBody>
                  <a:tcPr marL="62656" marR="626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ru-RU" sz="1300" dirty="0">
                          <a:solidFill>
                            <a:schemeClr val="tx1"/>
                          </a:solidFill>
                          <a:effectLst/>
                          <a:latin typeface="Times New Roman" pitchFamily="18" charset="0"/>
                          <a:cs typeface="Times New Roman" pitchFamily="18" charset="0"/>
                        </a:rPr>
                        <a:t>x</a:t>
                      </a:r>
                      <a:r>
                        <a:rPr lang="ru-RU" sz="1300" baseline="-25000" dirty="0">
                          <a:solidFill>
                            <a:schemeClr val="tx1"/>
                          </a:solidFill>
                          <a:effectLst/>
                          <a:latin typeface="Times New Roman" pitchFamily="18" charset="0"/>
                          <a:cs typeface="Times New Roman" pitchFamily="18" charset="0"/>
                        </a:rPr>
                        <a:t>1</a:t>
                      </a:r>
                      <a:r>
                        <a:rPr lang="ru-RU" sz="1300" dirty="0">
                          <a:solidFill>
                            <a:schemeClr val="tx1"/>
                          </a:solidFill>
                          <a:effectLst/>
                          <a:latin typeface="Times New Roman" pitchFamily="18" charset="0"/>
                          <a:cs typeface="Times New Roman" pitchFamily="18" charset="0"/>
                        </a:rPr>
                        <a:t>y </a:t>
                      </a:r>
                      <a:r>
                        <a:rPr lang="en-US" sz="1300" dirty="0" smtClean="0">
                          <a:solidFill>
                            <a:schemeClr val="tx1"/>
                          </a:solidFill>
                          <a:effectLst/>
                          <a:latin typeface="Times New Roman" pitchFamily="18" charset="0"/>
                          <a:cs typeface="Times New Roman" pitchFamily="18" charset="0"/>
                        </a:rPr>
                        <a:t> + </a:t>
                      </a:r>
                      <a:r>
                        <a:rPr lang="ru-RU" sz="1300" dirty="0" smtClean="0">
                          <a:solidFill>
                            <a:schemeClr val="tx1"/>
                          </a:solidFill>
                          <a:effectLst/>
                          <a:latin typeface="Times New Roman" pitchFamily="18" charset="0"/>
                          <a:cs typeface="Times New Roman" pitchFamily="18" charset="0"/>
                        </a:rPr>
                        <a:t>x</a:t>
                      </a:r>
                      <a:r>
                        <a:rPr lang="ru-RU" sz="1300" baseline="-25000" dirty="0" smtClean="0">
                          <a:solidFill>
                            <a:schemeClr val="tx1"/>
                          </a:solidFill>
                          <a:effectLst/>
                          <a:latin typeface="Times New Roman" pitchFamily="18" charset="0"/>
                          <a:cs typeface="Times New Roman" pitchFamily="18" charset="0"/>
                        </a:rPr>
                        <a:t>2</a:t>
                      </a:r>
                      <a:r>
                        <a:rPr lang="ru-RU" sz="1300" dirty="0" smtClean="0">
                          <a:solidFill>
                            <a:schemeClr val="tx1"/>
                          </a:solidFill>
                          <a:effectLst/>
                          <a:latin typeface="Times New Roman" pitchFamily="18" charset="0"/>
                          <a:cs typeface="Times New Roman" pitchFamily="18" charset="0"/>
                        </a:rPr>
                        <a:t>y = 0</a:t>
                      </a:r>
                      <a:endParaRPr lang="ru-RU" sz="1100" dirty="0">
                        <a:solidFill>
                          <a:schemeClr val="tx1"/>
                        </a:solidFill>
                        <a:effectLst/>
                        <a:latin typeface="Times New Roman" pitchFamily="18" charset="0"/>
                        <a:ea typeface="Calibri"/>
                        <a:cs typeface="Times New Roman" pitchFamily="18" charset="0"/>
                      </a:endParaRPr>
                    </a:p>
                  </a:txBody>
                  <a:tcPr marL="62656" marR="626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173832">
                <a:tc>
                  <a:txBody>
                    <a:bodyPr/>
                    <a:lstStyle/>
                    <a:p>
                      <a:pPr marL="0" lvl="0" indent="0" algn="ctr">
                        <a:lnSpc>
                          <a:spcPct val="115000"/>
                        </a:lnSpc>
                        <a:spcAft>
                          <a:spcPts val="0"/>
                        </a:spcAft>
                        <a:buFont typeface="+mj-lt"/>
                        <a:buNone/>
                        <a:tabLst>
                          <a:tab pos="228600" algn="l"/>
                        </a:tabLst>
                      </a:pPr>
                      <a:r>
                        <a:rPr lang="en-US" sz="1300" dirty="0" smtClean="0">
                          <a:solidFill>
                            <a:schemeClr val="tx1"/>
                          </a:solidFill>
                          <a:effectLst/>
                          <a:latin typeface="Times New Roman" pitchFamily="18" charset="0"/>
                          <a:cs typeface="Times New Roman" pitchFamily="18" charset="0"/>
                        </a:rPr>
                        <a:t>2.</a:t>
                      </a:r>
                      <a:r>
                        <a:rPr lang="uz-Cyrl-UZ" sz="1300" dirty="0">
                          <a:solidFill>
                            <a:schemeClr val="tx1"/>
                          </a:solidFill>
                          <a:effectLst/>
                          <a:latin typeface="Times New Roman" pitchFamily="18" charset="0"/>
                          <a:cs typeface="Times New Roman" pitchFamily="18" charset="0"/>
                        </a:rPr>
                        <a:t> </a:t>
                      </a:r>
                      <a:endParaRPr lang="ru-RU" sz="1100" dirty="0">
                        <a:solidFill>
                          <a:schemeClr val="tx1"/>
                        </a:solidFill>
                        <a:effectLst/>
                        <a:latin typeface="Times New Roman" pitchFamily="18" charset="0"/>
                        <a:ea typeface="Calibri"/>
                        <a:cs typeface="Times New Roman" pitchFamily="18" charset="0"/>
                      </a:endParaRPr>
                    </a:p>
                  </a:txBody>
                  <a:tcPr marL="62656" marR="626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ru-RU" sz="1300" dirty="0">
                          <a:solidFill>
                            <a:schemeClr val="tx1"/>
                          </a:solidFill>
                          <a:effectLst/>
                          <a:latin typeface="Times New Roman" pitchFamily="18" charset="0"/>
                          <a:cs typeface="Times New Roman" pitchFamily="18" charset="0"/>
                        </a:rPr>
                        <a:t>x</a:t>
                      </a:r>
                      <a:r>
                        <a:rPr lang="ru-RU" sz="1300" baseline="-25000" dirty="0">
                          <a:solidFill>
                            <a:schemeClr val="tx1"/>
                          </a:solidFill>
                          <a:effectLst/>
                          <a:latin typeface="Times New Roman" pitchFamily="18" charset="0"/>
                          <a:cs typeface="Times New Roman" pitchFamily="18" charset="0"/>
                        </a:rPr>
                        <a:t>1</a:t>
                      </a:r>
                      <a:r>
                        <a:rPr lang="ru-RU" sz="1300" dirty="0">
                          <a:solidFill>
                            <a:schemeClr val="tx1"/>
                          </a:solidFill>
                          <a:effectLst/>
                          <a:latin typeface="Times New Roman" pitchFamily="18" charset="0"/>
                          <a:cs typeface="Times New Roman" pitchFamily="18" charset="0"/>
                        </a:rPr>
                        <a:t>x</a:t>
                      </a:r>
                      <a:r>
                        <a:rPr lang="ru-RU" sz="1300" baseline="-25000" dirty="0">
                          <a:solidFill>
                            <a:schemeClr val="tx1"/>
                          </a:solidFill>
                          <a:effectLst/>
                          <a:latin typeface="Times New Roman" pitchFamily="18" charset="0"/>
                          <a:cs typeface="Times New Roman" pitchFamily="18" charset="0"/>
                        </a:rPr>
                        <a:t>2</a:t>
                      </a:r>
                      <a:r>
                        <a:rPr lang="ru-RU" sz="1300" dirty="0">
                          <a:solidFill>
                            <a:schemeClr val="tx1"/>
                          </a:solidFill>
                          <a:effectLst/>
                          <a:latin typeface="Times New Roman" pitchFamily="18" charset="0"/>
                          <a:cs typeface="Times New Roman" pitchFamily="18" charset="0"/>
                        </a:rPr>
                        <a:t> </a:t>
                      </a:r>
                      <a:r>
                        <a:rPr lang="en-US" sz="1300" dirty="0" smtClean="0">
                          <a:solidFill>
                            <a:schemeClr val="tx1"/>
                          </a:solidFill>
                          <a:effectLst/>
                          <a:latin typeface="Times New Roman" pitchFamily="18" charset="0"/>
                          <a:cs typeface="Times New Roman" pitchFamily="18" charset="0"/>
                        </a:rPr>
                        <a:t>+ </a:t>
                      </a:r>
                      <a:r>
                        <a:rPr lang="ru-RU" sz="1300" dirty="0" smtClean="0">
                          <a:solidFill>
                            <a:schemeClr val="tx1"/>
                          </a:solidFill>
                          <a:effectLst/>
                          <a:latin typeface="Times New Roman" pitchFamily="18" charset="0"/>
                          <a:cs typeface="Times New Roman" pitchFamily="18" charset="0"/>
                        </a:rPr>
                        <a:t>x</a:t>
                      </a:r>
                      <a:r>
                        <a:rPr lang="ru-RU" sz="1300" baseline="-25000" dirty="0" smtClean="0">
                          <a:solidFill>
                            <a:schemeClr val="tx1"/>
                          </a:solidFill>
                          <a:effectLst/>
                          <a:latin typeface="Times New Roman" pitchFamily="18" charset="0"/>
                          <a:cs typeface="Times New Roman" pitchFamily="18" charset="0"/>
                        </a:rPr>
                        <a:t>2</a:t>
                      </a:r>
                      <a:r>
                        <a:rPr lang="ru-RU" sz="1300" dirty="0" smtClean="0">
                          <a:solidFill>
                            <a:schemeClr val="tx1"/>
                          </a:solidFill>
                          <a:effectLst/>
                          <a:latin typeface="Times New Roman" pitchFamily="18" charset="0"/>
                          <a:cs typeface="Times New Roman" pitchFamily="18" charset="0"/>
                        </a:rPr>
                        <a:t>y = 0</a:t>
                      </a:r>
                      <a:endParaRPr lang="ru-RU" sz="1100" dirty="0">
                        <a:solidFill>
                          <a:schemeClr val="tx1"/>
                        </a:solidFill>
                        <a:effectLst/>
                        <a:latin typeface="Times New Roman" pitchFamily="18" charset="0"/>
                        <a:ea typeface="Calibri"/>
                        <a:cs typeface="Times New Roman" pitchFamily="18" charset="0"/>
                      </a:endParaRPr>
                    </a:p>
                  </a:txBody>
                  <a:tcPr marL="62656" marR="626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173832">
                <a:tc>
                  <a:txBody>
                    <a:bodyPr/>
                    <a:lstStyle/>
                    <a:p>
                      <a:pPr marL="0" lvl="0" indent="0" algn="ctr">
                        <a:lnSpc>
                          <a:spcPct val="115000"/>
                        </a:lnSpc>
                        <a:spcAft>
                          <a:spcPts val="0"/>
                        </a:spcAft>
                        <a:buFont typeface="+mj-lt"/>
                        <a:buNone/>
                        <a:tabLst>
                          <a:tab pos="228600" algn="l"/>
                        </a:tabLst>
                      </a:pPr>
                      <a:r>
                        <a:rPr lang="en-US" sz="1300" dirty="0" smtClean="0">
                          <a:solidFill>
                            <a:schemeClr val="tx1"/>
                          </a:solidFill>
                          <a:effectLst/>
                          <a:latin typeface="Times New Roman" pitchFamily="18" charset="0"/>
                          <a:cs typeface="Times New Roman" pitchFamily="18" charset="0"/>
                        </a:rPr>
                        <a:t>3.</a:t>
                      </a:r>
                      <a:r>
                        <a:rPr lang="uz-Cyrl-UZ" sz="1300" dirty="0">
                          <a:solidFill>
                            <a:schemeClr val="tx1"/>
                          </a:solidFill>
                          <a:effectLst/>
                          <a:latin typeface="Times New Roman" pitchFamily="18" charset="0"/>
                          <a:cs typeface="Times New Roman" pitchFamily="18" charset="0"/>
                        </a:rPr>
                        <a:t> </a:t>
                      </a:r>
                      <a:endParaRPr lang="ru-RU" sz="1100" dirty="0">
                        <a:solidFill>
                          <a:schemeClr val="tx1"/>
                        </a:solidFill>
                        <a:effectLst/>
                        <a:latin typeface="Times New Roman" pitchFamily="18" charset="0"/>
                        <a:ea typeface="Calibri"/>
                        <a:cs typeface="Times New Roman" pitchFamily="18" charset="0"/>
                      </a:endParaRPr>
                    </a:p>
                  </a:txBody>
                  <a:tcPr marL="62656" marR="626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lnSpc>
                          <a:spcPct val="115000"/>
                        </a:lnSpc>
                        <a:spcAft>
                          <a:spcPts val="0"/>
                        </a:spcAft>
                      </a:pPr>
                      <a:r>
                        <a:rPr lang="ru-RU" sz="1300" dirty="0">
                          <a:solidFill>
                            <a:schemeClr val="tx1"/>
                          </a:solidFill>
                          <a:effectLst/>
                          <a:latin typeface="Times New Roman" pitchFamily="18" charset="0"/>
                          <a:cs typeface="Times New Roman" pitchFamily="18" charset="0"/>
                        </a:rPr>
                        <a:t>x</a:t>
                      </a:r>
                      <a:r>
                        <a:rPr lang="ru-RU" sz="1300" baseline="-25000" dirty="0">
                          <a:solidFill>
                            <a:schemeClr val="tx1"/>
                          </a:solidFill>
                          <a:effectLst/>
                          <a:latin typeface="Times New Roman" pitchFamily="18" charset="0"/>
                          <a:cs typeface="Times New Roman" pitchFamily="18" charset="0"/>
                        </a:rPr>
                        <a:t>1</a:t>
                      </a:r>
                      <a:r>
                        <a:rPr lang="ru-RU" sz="1300" dirty="0">
                          <a:solidFill>
                            <a:schemeClr val="tx1"/>
                          </a:solidFill>
                          <a:effectLst/>
                          <a:latin typeface="Times New Roman" pitchFamily="18" charset="0"/>
                          <a:cs typeface="Times New Roman" pitchFamily="18" charset="0"/>
                        </a:rPr>
                        <a:t>x</a:t>
                      </a:r>
                      <a:r>
                        <a:rPr lang="ru-RU" sz="1300" baseline="-25000" dirty="0">
                          <a:solidFill>
                            <a:schemeClr val="tx1"/>
                          </a:solidFill>
                          <a:effectLst/>
                          <a:latin typeface="Times New Roman" pitchFamily="18" charset="0"/>
                          <a:cs typeface="Times New Roman" pitchFamily="18" charset="0"/>
                        </a:rPr>
                        <a:t>2</a:t>
                      </a:r>
                      <a:r>
                        <a:rPr lang="ru-RU" sz="1300" dirty="0">
                          <a:solidFill>
                            <a:schemeClr val="tx1"/>
                          </a:solidFill>
                          <a:effectLst/>
                          <a:latin typeface="Times New Roman" pitchFamily="18" charset="0"/>
                          <a:cs typeface="Times New Roman" pitchFamily="18" charset="0"/>
                        </a:rPr>
                        <a:t> </a:t>
                      </a:r>
                      <a:r>
                        <a:rPr lang="en-US" sz="1300" dirty="0" smtClean="0">
                          <a:solidFill>
                            <a:schemeClr val="tx1"/>
                          </a:solidFill>
                          <a:effectLst/>
                          <a:latin typeface="Times New Roman" pitchFamily="18" charset="0"/>
                          <a:cs typeface="Times New Roman" pitchFamily="18" charset="0"/>
                        </a:rPr>
                        <a:t>+ </a:t>
                      </a:r>
                      <a:r>
                        <a:rPr lang="ru-RU" sz="1300" dirty="0" smtClean="0">
                          <a:solidFill>
                            <a:schemeClr val="tx1"/>
                          </a:solidFill>
                          <a:effectLst/>
                          <a:latin typeface="Times New Roman" pitchFamily="18" charset="0"/>
                          <a:cs typeface="Times New Roman" pitchFamily="18" charset="0"/>
                        </a:rPr>
                        <a:t>x</a:t>
                      </a:r>
                      <a:r>
                        <a:rPr lang="ru-RU" sz="1300" baseline="-25000" dirty="0" smtClean="0">
                          <a:solidFill>
                            <a:schemeClr val="tx1"/>
                          </a:solidFill>
                          <a:effectLst/>
                          <a:latin typeface="Times New Roman" pitchFamily="18" charset="0"/>
                          <a:cs typeface="Times New Roman" pitchFamily="18" charset="0"/>
                        </a:rPr>
                        <a:t>1</a:t>
                      </a:r>
                      <a:r>
                        <a:rPr lang="ru-RU" sz="1300" dirty="0" smtClean="0">
                          <a:solidFill>
                            <a:schemeClr val="tx1"/>
                          </a:solidFill>
                          <a:effectLst/>
                          <a:latin typeface="Times New Roman" pitchFamily="18" charset="0"/>
                          <a:cs typeface="Times New Roman" pitchFamily="18" charset="0"/>
                        </a:rPr>
                        <a:t>y = 0</a:t>
                      </a:r>
                      <a:endParaRPr lang="ru-RU" sz="1100" dirty="0">
                        <a:solidFill>
                          <a:schemeClr val="tx1"/>
                        </a:solidFill>
                        <a:effectLst/>
                        <a:latin typeface="Times New Roman" pitchFamily="18" charset="0"/>
                        <a:ea typeface="Calibri"/>
                        <a:cs typeface="Times New Roman" pitchFamily="18" charset="0"/>
                      </a:endParaRPr>
                    </a:p>
                  </a:txBody>
                  <a:tcPr marL="62656" marR="6265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bl>
          </a:graphicData>
        </a:graphic>
      </p:graphicFrame>
      <p:sp>
        <p:nvSpPr>
          <p:cNvPr id="28" name="Объект 2"/>
          <p:cNvSpPr txBox="1">
            <a:spLocks/>
          </p:cNvSpPr>
          <p:nvPr/>
        </p:nvSpPr>
        <p:spPr>
          <a:xfrm>
            <a:off x="6156176" y="3911534"/>
            <a:ext cx="2376264" cy="307777"/>
          </a:xfrm>
          <a:prstGeom prst="rect">
            <a:avLst/>
          </a:prstGeom>
        </p:spPr>
        <p:txBody>
          <a:bodyPr vert="horz" wrap="square" lIns="91440" tIns="45720" rIns="91440" bIns="45720" rtlCol="0">
            <a:sp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uz-Cyrl-UZ" sz="1400" b="1" dirty="0" smtClean="0">
                <a:solidFill>
                  <a:srgbClr val="C00000"/>
                </a:solidFill>
                <a:latin typeface="Times New Roman" pitchFamily="18" charset="0"/>
                <a:cs typeface="Times New Roman" pitchFamily="18" charset="0"/>
              </a:rPr>
              <a:t>Эркли </a:t>
            </a:r>
            <a:r>
              <a:rPr lang="uz-Cyrl-UZ" sz="1400" b="1" dirty="0">
                <a:solidFill>
                  <a:srgbClr val="C00000"/>
                </a:solidFill>
                <a:latin typeface="Times New Roman" pitchFamily="18" charset="0"/>
                <a:cs typeface="Times New Roman" pitchFamily="18" charset="0"/>
              </a:rPr>
              <a:t>тенгламалар 3 </a:t>
            </a:r>
            <a:r>
              <a:rPr lang="uz-Cyrl-UZ" sz="1400" b="1" dirty="0" smtClean="0">
                <a:solidFill>
                  <a:srgbClr val="C00000"/>
                </a:solidFill>
                <a:latin typeface="Times New Roman" pitchFamily="18" charset="0"/>
                <a:cs typeface="Times New Roman" pitchFamily="18" charset="0"/>
              </a:rPr>
              <a:t>та</a:t>
            </a:r>
            <a:endParaRPr lang="uz-Cyrl-UZ" sz="1400" b="1" dirty="0" smtClean="0">
              <a:solidFill>
                <a:srgbClr val="C00000"/>
              </a:solidFill>
              <a:latin typeface="Times New Roman" pitchFamily="18" charset="0"/>
              <a:ea typeface="Calibri" pitchFamily="34" charset="0"/>
              <a:cs typeface="Times New Roman" pitchFamily="18" charset="0"/>
            </a:endParaRPr>
          </a:p>
        </p:txBody>
      </p:sp>
      <p:sp>
        <p:nvSpPr>
          <p:cNvPr id="29" name="Объект 2"/>
          <p:cNvSpPr txBox="1">
            <a:spLocks/>
          </p:cNvSpPr>
          <p:nvPr/>
        </p:nvSpPr>
        <p:spPr>
          <a:xfrm>
            <a:off x="6004266" y="5192685"/>
            <a:ext cx="2888214" cy="1323439"/>
          </a:xfrm>
          <a:prstGeom prst="rect">
            <a:avLst/>
          </a:prstGeom>
        </p:spPr>
        <p:txBody>
          <a:bodyPr vert="horz" wrap="square" lIns="91440" tIns="45720" rIns="91440" bIns="45720" rtlCol="0">
            <a:sp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uz-Cyrl-UZ" sz="1600" dirty="0" smtClean="0">
                <a:solidFill>
                  <a:schemeClr val="tx1"/>
                </a:solidFill>
                <a:latin typeface="Times New Roman" pitchFamily="18" charset="0"/>
                <a:cs typeface="Times New Roman" pitchFamily="18" charset="0"/>
              </a:rPr>
              <a:t>Чизиқли эркли </a:t>
            </a:r>
            <a:r>
              <a:rPr lang="uz-Cyrl-UZ" sz="1600" dirty="0">
                <a:solidFill>
                  <a:schemeClr val="tx1"/>
                </a:solidFill>
                <a:latin typeface="Times New Roman" pitchFamily="18" charset="0"/>
                <a:cs typeface="Times New Roman" pitchFamily="18" charset="0"/>
              </a:rPr>
              <a:t>тенгламалар берилган S – </a:t>
            </a:r>
            <a:r>
              <a:rPr lang="uz-Cyrl-UZ" sz="1600" dirty="0" smtClean="0">
                <a:solidFill>
                  <a:schemeClr val="tx1"/>
                </a:solidFill>
                <a:latin typeface="Times New Roman" pitchFamily="18" charset="0"/>
                <a:cs typeface="Times New Roman" pitchFamily="18" charset="0"/>
              </a:rPr>
              <a:t>блокни ифодаловчи </a:t>
            </a:r>
            <a:r>
              <a:rPr lang="uz-Cyrl-UZ" sz="1600" dirty="0">
                <a:solidFill>
                  <a:schemeClr val="tx1"/>
                </a:solidFill>
                <a:latin typeface="Times New Roman" pitchFamily="18" charset="0"/>
                <a:cs typeface="Times New Roman" pitchFamily="18" charset="0"/>
              </a:rPr>
              <a:t>ва криптотаҳлил учун лозим бўлган </a:t>
            </a:r>
            <a:r>
              <a:rPr lang="uz-Cyrl-UZ" sz="1600" b="1" dirty="0">
                <a:solidFill>
                  <a:schemeClr val="tx1"/>
                </a:solidFill>
                <a:latin typeface="Times New Roman" pitchFamily="18" charset="0"/>
                <a:cs typeface="Times New Roman" pitchFamily="18" charset="0"/>
              </a:rPr>
              <a:t>дастлабки тенгламалар</a:t>
            </a:r>
            <a:r>
              <a:rPr lang="uz-Cyrl-UZ" sz="1600" dirty="0">
                <a:solidFill>
                  <a:schemeClr val="tx1"/>
                </a:solidFill>
                <a:latin typeface="Times New Roman" pitchFamily="18" charset="0"/>
                <a:cs typeface="Times New Roman" pitchFamily="18" charset="0"/>
              </a:rPr>
              <a:t> ҳисобланади.</a:t>
            </a:r>
            <a:endParaRPr lang="uz-Cyrl-UZ" sz="1600" b="1" dirty="0" smtClean="0">
              <a:solidFill>
                <a:srgbClr val="C00000"/>
              </a:solidFill>
              <a:latin typeface="Times New Roman" pitchFamily="18" charset="0"/>
              <a:ea typeface="Calibri" pitchFamily="34" charset="0"/>
              <a:cs typeface="Times New Roman" pitchFamily="18" charset="0"/>
            </a:endParaRPr>
          </a:p>
        </p:txBody>
      </p:sp>
      <p:sp>
        <p:nvSpPr>
          <p:cNvPr id="30" name="Rectangle 8"/>
          <p:cNvSpPr>
            <a:spLocks noChangeArrowheads="1"/>
          </p:cNvSpPr>
          <p:nvPr/>
        </p:nvSpPr>
        <p:spPr bwMode="auto">
          <a:xfrm>
            <a:off x="0" y="-67719"/>
            <a:ext cx="8676000" cy="584775"/>
          </a:xfrm>
          <a:prstGeom prst="rect">
            <a:avLst/>
          </a:prstGeom>
          <a:solidFill>
            <a:srgbClr val="FFC000">
              <a:alpha val="95000"/>
            </a:srgbClr>
          </a:solidFill>
          <a:ln>
            <a:noFill/>
          </a:ln>
          <a:effectLst/>
          <a:extLst/>
        </p:spPr>
        <p:txBody>
          <a:bodyPr wrap="square" anchor="ctr">
            <a:spAutoFit/>
          </a:bodyPr>
          <a:lstStyle/>
          <a:p>
            <a:pPr>
              <a:defRPr/>
            </a:pPr>
            <a:r>
              <a:rPr lang="en-US" sz="3200" b="1" dirty="0" smtClean="0">
                <a:solidFill>
                  <a:srgbClr val="000000"/>
                </a:solidFill>
                <a:effectLst>
                  <a:outerShdw blurRad="38100" dist="38100" dir="2700000" algn="tl">
                    <a:srgbClr val="FFFFFF"/>
                  </a:outerShdw>
                </a:effectLst>
                <a:latin typeface="Times New Roman" pitchFamily="18" charset="0"/>
              </a:rPr>
              <a:t>S(2x2)-</a:t>
            </a:r>
            <a:r>
              <a:rPr lang="uz-Cyrl-UZ" sz="3200" b="1" dirty="0" smtClean="0">
                <a:solidFill>
                  <a:srgbClr val="000000"/>
                </a:solidFill>
                <a:effectLst>
                  <a:outerShdw blurRad="38100" dist="38100" dir="2700000" algn="tl">
                    <a:srgbClr val="FFFFFF"/>
                  </a:outerShdw>
                </a:effectLst>
                <a:latin typeface="Times New Roman" pitchFamily="18" charset="0"/>
              </a:rPr>
              <a:t>блокка нисбатан АТС </a:t>
            </a:r>
            <a:r>
              <a:rPr lang="uz-Cyrl-UZ" sz="3200" b="1" dirty="0" smtClean="0">
                <a:solidFill>
                  <a:srgbClr val="000000"/>
                </a:solidFill>
                <a:effectLst>
                  <a:outerShdw blurRad="38100" dist="38100" dir="2700000" algn="tl">
                    <a:srgbClr val="FFFFFF"/>
                  </a:outerShdw>
                </a:effectLst>
                <a:latin typeface="Times New Roman" pitchFamily="18" charset="0"/>
              </a:rPr>
              <a:t>тузишга</a:t>
            </a:r>
            <a:r>
              <a:rPr lang="en-US" sz="3200" b="1" dirty="0" smtClean="0">
                <a:solidFill>
                  <a:srgbClr val="000000"/>
                </a:solidFill>
                <a:effectLst>
                  <a:outerShdw blurRad="38100" dist="38100" dir="2700000" algn="tl">
                    <a:srgbClr val="FFFFFF"/>
                  </a:outerShdw>
                </a:effectLst>
                <a:latin typeface="Times New Roman" pitchFamily="18" charset="0"/>
              </a:rPr>
              <a:t> </a:t>
            </a:r>
            <a:r>
              <a:rPr lang="uz-Cyrl-UZ" sz="3200" b="1" dirty="0" smtClean="0">
                <a:solidFill>
                  <a:srgbClr val="000000"/>
                </a:solidFill>
                <a:effectLst>
                  <a:outerShdw blurRad="38100" dist="38100" dir="2700000" algn="tl">
                    <a:srgbClr val="FFFFFF"/>
                  </a:outerShdw>
                </a:effectLst>
                <a:latin typeface="Times New Roman" pitchFamily="18" charset="0"/>
              </a:rPr>
              <a:t>намуна</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spTree>
    <p:extLst>
      <p:ext uri="{BB962C8B-B14F-4D97-AF65-F5344CB8AC3E}">
        <p14:creationId xmlns:p14="http://schemas.microsoft.com/office/powerpoint/2010/main" val="3062711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000"/>
                                        <p:tgtEl>
                                          <p:spTgt spid="14"/>
                                        </p:tgtEl>
                                      </p:cBhvr>
                                    </p:animEffect>
                                    <p:anim calcmode="lin" valueType="num">
                                      <p:cBhvr>
                                        <p:cTn id="32" dur="1000" fill="hold"/>
                                        <p:tgtEl>
                                          <p:spTgt spid="14"/>
                                        </p:tgtEl>
                                        <p:attrNameLst>
                                          <p:attrName>ppt_x</p:attrName>
                                        </p:attrNameLst>
                                      </p:cBhvr>
                                      <p:tavLst>
                                        <p:tav tm="0">
                                          <p:val>
                                            <p:strVal val="#ppt_x"/>
                                          </p:val>
                                        </p:tav>
                                        <p:tav tm="100000">
                                          <p:val>
                                            <p:strVal val="#ppt_x"/>
                                          </p:val>
                                        </p:tav>
                                      </p:tavLst>
                                    </p:anim>
                                    <p:anim calcmode="lin" valueType="num">
                                      <p:cBhvr>
                                        <p:cTn id="33" dur="1000" fill="hold"/>
                                        <p:tgtEl>
                                          <p:spTgt spid="14"/>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1000"/>
                                        <p:tgtEl>
                                          <p:spTgt spid="23"/>
                                        </p:tgtEl>
                                      </p:cBhvr>
                                    </p:animEffect>
                                  </p:childTnLst>
                                </p:cTn>
                              </p:par>
                            </p:childTnLst>
                          </p:cTn>
                        </p:par>
                        <p:par>
                          <p:cTn id="44" fill="hold">
                            <p:stCondLst>
                              <p:cond delay="1000"/>
                            </p:stCondLst>
                            <p:childTnLst>
                              <p:par>
                                <p:cTn id="45" presetID="42" presetClass="entr" presetSubtype="0" fill="hold" grpId="0" nodeType="after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1000"/>
                                        <p:tgtEl>
                                          <p:spTgt spid="16"/>
                                        </p:tgtEl>
                                      </p:cBhvr>
                                    </p:animEffect>
                                    <p:anim calcmode="lin" valueType="num">
                                      <p:cBhvr>
                                        <p:cTn id="48" dur="1000" fill="hold"/>
                                        <p:tgtEl>
                                          <p:spTgt spid="16"/>
                                        </p:tgtEl>
                                        <p:attrNameLst>
                                          <p:attrName>ppt_x</p:attrName>
                                        </p:attrNameLst>
                                      </p:cBhvr>
                                      <p:tavLst>
                                        <p:tav tm="0">
                                          <p:val>
                                            <p:strVal val="#ppt_x"/>
                                          </p:val>
                                        </p:tav>
                                        <p:tav tm="100000">
                                          <p:val>
                                            <p:strVal val="#ppt_x"/>
                                          </p:val>
                                        </p:tav>
                                      </p:tavLst>
                                    </p:anim>
                                    <p:anim calcmode="lin" valueType="num">
                                      <p:cBhvr>
                                        <p:cTn id="4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1000"/>
                                        <p:tgtEl>
                                          <p:spTgt spid="24"/>
                                        </p:tgtEl>
                                      </p:cBhvr>
                                    </p:animEffect>
                                  </p:childTnLst>
                                </p:cTn>
                              </p:par>
                            </p:childTnLst>
                          </p:cTn>
                        </p:par>
                        <p:par>
                          <p:cTn id="55" fill="hold">
                            <p:stCondLst>
                              <p:cond delay="1000"/>
                            </p:stCondLst>
                            <p:childTnLst>
                              <p:par>
                                <p:cTn id="56" presetID="42" presetClass="entr" presetSubtype="0" fill="hold"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1000"/>
                                        <p:tgtEl>
                                          <p:spTgt spid="17"/>
                                        </p:tgtEl>
                                      </p:cBhvr>
                                    </p:animEffect>
                                    <p:anim calcmode="lin" valueType="num">
                                      <p:cBhvr>
                                        <p:cTn id="59" dur="1000" fill="hold"/>
                                        <p:tgtEl>
                                          <p:spTgt spid="17"/>
                                        </p:tgtEl>
                                        <p:attrNameLst>
                                          <p:attrName>ppt_x</p:attrName>
                                        </p:attrNameLst>
                                      </p:cBhvr>
                                      <p:tavLst>
                                        <p:tav tm="0">
                                          <p:val>
                                            <p:strVal val="#ppt_x"/>
                                          </p:val>
                                        </p:tav>
                                        <p:tav tm="100000">
                                          <p:val>
                                            <p:strVal val="#ppt_x"/>
                                          </p:val>
                                        </p:tav>
                                      </p:tavLst>
                                    </p:anim>
                                    <p:anim calcmode="lin" valueType="num">
                                      <p:cBhvr>
                                        <p:cTn id="6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1000"/>
                                        <p:tgtEl>
                                          <p:spTgt spid="18"/>
                                        </p:tgtEl>
                                      </p:cBhvr>
                                    </p:animEffect>
                                    <p:anim calcmode="lin" valueType="num">
                                      <p:cBhvr>
                                        <p:cTn id="66" dur="1000" fill="hold"/>
                                        <p:tgtEl>
                                          <p:spTgt spid="18"/>
                                        </p:tgtEl>
                                        <p:attrNameLst>
                                          <p:attrName>ppt_x</p:attrName>
                                        </p:attrNameLst>
                                      </p:cBhvr>
                                      <p:tavLst>
                                        <p:tav tm="0">
                                          <p:val>
                                            <p:strVal val="#ppt_x"/>
                                          </p:val>
                                        </p:tav>
                                        <p:tav tm="100000">
                                          <p:val>
                                            <p:strVal val="#ppt_x"/>
                                          </p:val>
                                        </p:tav>
                                      </p:tavLst>
                                    </p:anim>
                                    <p:anim calcmode="lin" valueType="num">
                                      <p:cBhvr>
                                        <p:cTn id="67" dur="1000" fill="hold"/>
                                        <p:tgtEl>
                                          <p:spTgt spid="18"/>
                                        </p:tgtEl>
                                        <p:attrNameLst>
                                          <p:attrName>ppt_y</p:attrName>
                                        </p:attrNameLst>
                                      </p:cBhvr>
                                      <p:tavLst>
                                        <p:tav tm="0">
                                          <p:val>
                                            <p:strVal val="#ppt_y+.1"/>
                                          </p:val>
                                        </p:tav>
                                        <p:tav tm="100000">
                                          <p:val>
                                            <p:strVal val="#ppt_y"/>
                                          </p:val>
                                        </p:tav>
                                      </p:tavLst>
                                    </p:anim>
                                  </p:childTnLst>
                                </p:cTn>
                              </p:par>
                              <p:par>
                                <p:cTn id="68" presetID="42" presetClass="entr" presetSubtype="0" fill="hold" nodeType="with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1000"/>
                                        <p:tgtEl>
                                          <p:spTgt spid="19"/>
                                        </p:tgtEl>
                                      </p:cBhvr>
                                    </p:animEffect>
                                    <p:anim calcmode="lin" valueType="num">
                                      <p:cBhvr>
                                        <p:cTn id="71" dur="1000" fill="hold"/>
                                        <p:tgtEl>
                                          <p:spTgt spid="19"/>
                                        </p:tgtEl>
                                        <p:attrNameLst>
                                          <p:attrName>ppt_x</p:attrName>
                                        </p:attrNameLst>
                                      </p:cBhvr>
                                      <p:tavLst>
                                        <p:tav tm="0">
                                          <p:val>
                                            <p:strVal val="#ppt_x"/>
                                          </p:val>
                                        </p:tav>
                                        <p:tav tm="100000">
                                          <p:val>
                                            <p:strVal val="#ppt_x"/>
                                          </p:val>
                                        </p:tav>
                                      </p:tavLst>
                                    </p:anim>
                                    <p:anim calcmode="lin" valueType="num">
                                      <p:cBhvr>
                                        <p:cTn id="72"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childTnLst>
                          </p:cTn>
                        </p:par>
                        <p:par>
                          <p:cTn id="78" fill="hold">
                            <p:stCondLst>
                              <p:cond delay="500"/>
                            </p:stCondLst>
                            <p:childTnLst>
                              <p:par>
                                <p:cTn id="79" presetID="42" presetClass="entr" presetSubtype="0" fill="hold" grpId="0" nodeType="after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1000"/>
                                        <p:tgtEl>
                                          <p:spTgt spid="20"/>
                                        </p:tgtEl>
                                      </p:cBhvr>
                                    </p:animEffect>
                                    <p:anim calcmode="lin" valueType="num">
                                      <p:cBhvr>
                                        <p:cTn id="82" dur="1000" fill="hold"/>
                                        <p:tgtEl>
                                          <p:spTgt spid="20"/>
                                        </p:tgtEl>
                                        <p:attrNameLst>
                                          <p:attrName>ppt_x</p:attrName>
                                        </p:attrNameLst>
                                      </p:cBhvr>
                                      <p:tavLst>
                                        <p:tav tm="0">
                                          <p:val>
                                            <p:strVal val="#ppt_x"/>
                                          </p:val>
                                        </p:tav>
                                        <p:tav tm="100000">
                                          <p:val>
                                            <p:strVal val="#ppt_x"/>
                                          </p:val>
                                        </p:tav>
                                      </p:tavLst>
                                    </p:anim>
                                    <p:anim calcmode="lin" valueType="num">
                                      <p:cBhvr>
                                        <p:cTn id="83" dur="1000" fill="hold"/>
                                        <p:tgtEl>
                                          <p:spTgt spid="20"/>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1000"/>
                                        <p:tgtEl>
                                          <p:spTgt spid="21"/>
                                        </p:tgtEl>
                                      </p:cBhvr>
                                    </p:animEffect>
                                    <p:anim calcmode="lin" valueType="num">
                                      <p:cBhvr>
                                        <p:cTn id="87" dur="1000" fill="hold"/>
                                        <p:tgtEl>
                                          <p:spTgt spid="21"/>
                                        </p:tgtEl>
                                        <p:attrNameLst>
                                          <p:attrName>ppt_x</p:attrName>
                                        </p:attrNameLst>
                                      </p:cBhvr>
                                      <p:tavLst>
                                        <p:tav tm="0">
                                          <p:val>
                                            <p:strVal val="#ppt_x"/>
                                          </p:val>
                                        </p:tav>
                                        <p:tav tm="100000">
                                          <p:val>
                                            <p:strVal val="#ppt_x"/>
                                          </p:val>
                                        </p:tav>
                                      </p:tavLst>
                                    </p:anim>
                                    <p:anim calcmode="lin" valueType="num">
                                      <p:cBhvr>
                                        <p:cTn id="88"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26"/>
                                        </p:tgtEl>
                                        <p:attrNameLst>
                                          <p:attrName>style.visibility</p:attrName>
                                        </p:attrNameLst>
                                      </p:cBhvr>
                                      <p:to>
                                        <p:strVal val="visible"/>
                                      </p:to>
                                    </p:set>
                                    <p:animEffect transition="in" filter="fade">
                                      <p:cBhvr>
                                        <p:cTn id="93" dur="500"/>
                                        <p:tgtEl>
                                          <p:spTgt spid="26"/>
                                        </p:tgtEl>
                                      </p:cBhvr>
                                    </p:animEffect>
                                  </p:childTnLst>
                                </p:cTn>
                              </p:par>
                              <p:par>
                                <p:cTn id="94" presetID="42" presetClass="entr" presetSubtype="0" fill="hold" grpId="0" nodeType="with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1000"/>
                                        <p:tgtEl>
                                          <p:spTgt spid="28"/>
                                        </p:tgtEl>
                                      </p:cBhvr>
                                    </p:animEffect>
                                    <p:anim calcmode="lin" valueType="num">
                                      <p:cBhvr>
                                        <p:cTn id="97" dur="1000" fill="hold"/>
                                        <p:tgtEl>
                                          <p:spTgt spid="28"/>
                                        </p:tgtEl>
                                        <p:attrNameLst>
                                          <p:attrName>ppt_x</p:attrName>
                                        </p:attrNameLst>
                                      </p:cBhvr>
                                      <p:tavLst>
                                        <p:tav tm="0">
                                          <p:val>
                                            <p:strVal val="#ppt_x"/>
                                          </p:val>
                                        </p:tav>
                                        <p:tav tm="100000">
                                          <p:val>
                                            <p:strVal val="#ppt_x"/>
                                          </p:val>
                                        </p:tav>
                                      </p:tavLst>
                                    </p:anim>
                                    <p:anim calcmode="lin" valueType="num">
                                      <p:cBhvr>
                                        <p:cTn id="98" dur="1000" fill="hold"/>
                                        <p:tgtEl>
                                          <p:spTgt spid="28"/>
                                        </p:tgtEl>
                                        <p:attrNameLst>
                                          <p:attrName>ppt_y</p:attrName>
                                        </p:attrNameLst>
                                      </p:cBhvr>
                                      <p:tavLst>
                                        <p:tav tm="0">
                                          <p:val>
                                            <p:strVal val="#ppt_y+.1"/>
                                          </p:val>
                                        </p:tav>
                                        <p:tav tm="100000">
                                          <p:val>
                                            <p:strVal val="#ppt_y"/>
                                          </p:val>
                                        </p:tav>
                                      </p:tavLst>
                                    </p:anim>
                                  </p:childTnLst>
                                </p:cTn>
                              </p:par>
                              <p:par>
                                <p:cTn id="99" presetID="42" presetClass="entr" presetSubtype="0" fill="hold" nodeType="withEffect">
                                  <p:stCondLst>
                                    <p:cond delay="0"/>
                                  </p:stCondLst>
                                  <p:childTnLst>
                                    <p:set>
                                      <p:cBhvr>
                                        <p:cTn id="100" dur="1" fill="hold">
                                          <p:stCondLst>
                                            <p:cond delay="0"/>
                                          </p:stCondLst>
                                        </p:cTn>
                                        <p:tgtEl>
                                          <p:spTgt spid="27"/>
                                        </p:tgtEl>
                                        <p:attrNameLst>
                                          <p:attrName>style.visibility</p:attrName>
                                        </p:attrNameLst>
                                      </p:cBhvr>
                                      <p:to>
                                        <p:strVal val="visible"/>
                                      </p:to>
                                    </p:set>
                                    <p:animEffect transition="in" filter="fade">
                                      <p:cBhvr>
                                        <p:cTn id="101" dur="1000"/>
                                        <p:tgtEl>
                                          <p:spTgt spid="27"/>
                                        </p:tgtEl>
                                      </p:cBhvr>
                                    </p:animEffect>
                                    <p:anim calcmode="lin" valueType="num">
                                      <p:cBhvr>
                                        <p:cTn id="102" dur="1000" fill="hold"/>
                                        <p:tgtEl>
                                          <p:spTgt spid="27"/>
                                        </p:tgtEl>
                                        <p:attrNameLst>
                                          <p:attrName>ppt_x</p:attrName>
                                        </p:attrNameLst>
                                      </p:cBhvr>
                                      <p:tavLst>
                                        <p:tav tm="0">
                                          <p:val>
                                            <p:strVal val="#ppt_x"/>
                                          </p:val>
                                        </p:tav>
                                        <p:tav tm="100000">
                                          <p:val>
                                            <p:strVal val="#ppt_x"/>
                                          </p:val>
                                        </p:tav>
                                      </p:tavLst>
                                    </p:anim>
                                    <p:anim calcmode="lin" valueType="num">
                                      <p:cBhvr>
                                        <p:cTn id="103"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42" presetClass="entr" presetSubtype="0" fill="hold" grpId="0" nodeType="clickEffect">
                                  <p:stCondLst>
                                    <p:cond delay="0"/>
                                  </p:stCondLst>
                                  <p:childTnLst>
                                    <p:set>
                                      <p:cBhvr>
                                        <p:cTn id="107" dur="1" fill="hold">
                                          <p:stCondLst>
                                            <p:cond delay="0"/>
                                          </p:stCondLst>
                                        </p:cTn>
                                        <p:tgtEl>
                                          <p:spTgt spid="29"/>
                                        </p:tgtEl>
                                        <p:attrNameLst>
                                          <p:attrName>style.visibility</p:attrName>
                                        </p:attrNameLst>
                                      </p:cBhvr>
                                      <p:to>
                                        <p:strVal val="visible"/>
                                      </p:to>
                                    </p:set>
                                    <p:animEffect transition="in" filter="fade">
                                      <p:cBhvr>
                                        <p:cTn id="108" dur="1000"/>
                                        <p:tgtEl>
                                          <p:spTgt spid="29"/>
                                        </p:tgtEl>
                                      </p:cBhvr>
                                    </p:animEffect>
                                    <p:anim calcmode="lin" valueType="num">
                                      <p:cBhvr>
                                        <p:cTn id="109" dur="1000" fill="hold"/>
                                        <p:tgtEl>
                                          <p:spTgt spid="29"/>
                                        </p:tgtEl>
                                        <p:attrNameLst>
                                          <p:attrName>ppt_x</p:attrName>
                                        </p:attrNameLst>
                                      </p:cBhvr>
                                      <p:tavLst>
                                        <p:tav tm="0">
                                          <p:val>
                                            <p:strVal val="#ppt_x"/>
                                          </p:val>
                                        </p:tav>
                                        <p:tav tm="100000">
                                          <p:val>
                                            <p:strVal val="#ppt_x"/>
                                          </p:val>
                                        </p:tav>
                                      </p:tavLst>
                                    </p:anim>
                                    <p:anim calcmode="lin" valueType="num">
                                      <p:cBhvr>
                                        <p:cTn id="11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P spid="11" grpId="0"/>
      <p:bldP spid="14" grpId="0"/>
      <p:bldP spid="16" grpId="0" animBg="1"/>
      <p:bldP spid="18" grpId="0"/>
      <p:bldP spid="20" grpId="0"/>
      <p:bldP spid="23" grpId="0" animBg="1"/>
      <p:bldP spid="24" grpId="0" animBg="1"/>
      <p:bldP spid="25" grpId="0" animBg="1"/>
      <p:bldP spid="26" grpId="0" animBg="1"/>
      <p:bldP spid="28" grpId="0"/>
      <p:bldP spid="29"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78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3508" y="1334878"/>
            <a:ext cx="8892000" cy="5226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78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508" y="229903"/>
            <a:ext cx="1590675" cy="85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95586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43508" y="638689"/>
            <a:ext cx="8820980" cy="954107"/>
          </a:xfrm>
          <a:prstGeom prst="rect">
            <a:avLst/>
          </a:prstGeom>
          <a:solidFill>
            <a:schemeClr val="bg1">
              <a:alpha val="86000"/>
            </a:schemeClr>
          </a:solidFill>
          <a:ln w="25400"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spcAft>
                <a:spcPts val="600"/>
              </a:spcAft>
            </a:pPr>
            <a:r>
              <a:rPr lang="uz-Cyrl-UZ" sz="2800" dirty="0">
                <a:latin typeface="Times New Roman" panose="02020603050405020304" pitchFamily="18" charset="0"/>
                <a:cs typeface="Times New Roman" panose="02020603050405020304" pitchFamily="18" charset="0"/>
              </a:rPr>
              <a:t>ГОСТ 28147-89 – ўқув </a:t>
            </a:r>
            <a:r>
              <a:rPr lang="uz-Cyrl-UZ" sz="2800" dirty="0" smtClean="0">
                <a:latin typeface="Times New Roman" panose="02020603050405020304" pitchFamily="18" charset="0"/>
                <a:cs typeface="Times New Roman" panose="02020603050405020304" pitchFamily="18" charset="0"/>
              </a:rPr>
              <a:t>алгоритми учун қуйидаги боғлиқликлар ўринли: </a:t>
            </a:r>
            <a:endParaRPr lang="ru-RU" sz="2800" b="1" dirty="0">
              <a:latin typeface="Times New Roman" pitchFamily="18" charset="0"/>
              <a:cs typeface="Times New Roman" pitchFamily="18" charset="0"/>
            </a:endParaRPr>
          </a:p>
        </p:txBody>
      </p:sp>
      <p:sp>
        <p:nvSpPr>
          <p:cNvPr id="4" name="Rectangle 8"/>
          <p:cNvSpPr>
            <a:spLocks noChangeArrowheads="1"/>
          </p:cNvSpPr>
          <p:nvPr/>
        </p:nvSpPr>
        <p:spPr bwMode="auto">
          <a:xfrm>
            <a:off x="0" y="-67719"/>
            <a:ext cx="8676000" cy="584775"/>
          </a:xfrm>
          <a:prstGeom prst="rect">
            <a:avLst/>
          </a:prstGeom>
          <a:solidFill>
            <a:srgbClr val="FFC000">
              <a:alpha val="95000"/>
            </a:srgbClr>
          </a:solidFill>
          <a:ln>
            <a:noFill/>
          </a:ln>
          <a:effectLst/>
          <a:extLst/>
        </p:spPr>
        <p:txBody>
          <a:bodyPr wrap="square" anchor="ctr">
            <a:spAutoFit/>
          </a:bodyPr>
          <a:lstStyle/>
          <a:p>
            <a:pPr>
              <a:defRPr/>
            </a:pPr>
            <a:r>
              <a:rPr lang="ru-RU" sz="3200" b="1" dirty="0" err="1" smtClean="0">
                <a:solidFill>
                  <a:srgbClr val="000000"/>
                </a:solidFill>
                <a:effectLst>
                  <a:outerShdw blurRad="38100" dist="38100" dir="2700000" algn="tl">
                    <a:srgbClr val="FFFFFF"/>
                  </a:outerShdw>
                </a:effectLst>
                <a:latin typeface="Times New Roman" pitchFamily="18" charset="0"/>
              </a:rPr>
              <a:t>Қисм</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элементларни</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ўзаро</a:t>
            </a:r>
            <a:r>
              <a:rPr lang="ru-RU" sz="3200" b="1" dirty="0" smtClean="0">
                <a:solidFill>
                  <a:srgbClr val="000000"/>
                </a:solidFill>
                <a:effectLst>
                  <a:outerShdw blurRad="38100" dist="38100" dir="2700000" algn="tl">
                    <a:srgbClr val="FFFFFF"/>
                  </a:outerShdw>
                </a:effectLst>
                <a:latin typeface="Times New Roman" pitchFamily="18" charset="0"/>
              </a:rPr>
              <a:t> </a:t>
            </a:r>
            <a:r>
              <a:rPr lang="ru-RU" sz="3200" b="1" dirty="0" err="1" smtClean="0">
                <a:solidFill>
                  <a:srgbClr val="000000"/>
                </a:solidFill>
                <a:effectLst>
                  <a:outerShdw blurRad="38100" dist="38100" dir="2700000" algn="tl">
                    <a:srgbClr val="FFFFFF"/>
                  </a:outerShdw>
                </a:effectLst>
                <a:latin typeface="Times New Roman" pitchFamily="18" charset="0"/>
              </a:rPr>
              <a:t>боғлаш</a:t>
            </a:r>
            <a:endParaRPr kumimoji="1" lang="ru-RU" sz="3200" b="1" dirty="0">
              <a:solidFill>
                <a:srgbClr val="000000"/>
              </a:solidFill>
              <a:effectLst>
                <a:outerShdw blurRad="38100" dist="38100" dir="2700000" algn="tl">
                  <a:srgbClr val="FFFFFF"/>
                </a:outerShdw>
              </a:effectLst>
              <a:latin typeface="Times New Roman" pitchFamily="18" charset="0"/>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uz-Cyrl-UZ"/>
          </a:p>
        </p:txBody>
      </p:sp>
      <p:graphicFrame>
        <p:nvGraphicFramePr>
          <p:cNvPr id="3" name="Объект 2"/>
          <p:cNvGraphicFramePr>
            <a:graphicFrameLocks noChangeAspect="1"/>
          </p:cNvGraphicFramePr>
          <p:nvPr>
            <p:extLst>
              <p:ext uri="{D42A27DB-BD31-4B8C-83A1-F6EECF244321}">
                <p14:modId xmlns:p14="http://schemas.microsoft.com/office/powerpoint/2010/main" val="2823403496"/>
              </p:ext>
            </p:extLst>
          </p:nvPr>
        </p:nvGraphicFramePr>
        <p:xfrm>
          <a:off x="1692284" y="1664804"/>
          <a:ext cx="5436000" cy="3916971"/>
        </p:xfrm>
        <a:graphic>
          <a:graphicData uri="http://schemas.openxmlformats.org/presentationml/2006/ole">
            <mc:AlternateContent xmlns:mc="http://schemas.openxmlformats.org/markup-compatibility/2006">
              <mc:Choice xmlns:v="urn:schemas-microsoft-com:vml" Requires="v">
                <p:oleObj spid="_x0000_s78853" name="Уравнение" r:id="rId3" imgW="2070000" imgH="1498320" progId="Equation.3">
                  <p:embed/>
                </p:oleObj>
              </mc:Choice>
              <mc:Fallback>
                <p:oleObj name="Уравнение" r:id="rId3" imgW="2070000" imgH="1498320" progId="Equation.3">
                  <p:embed/>
                  <p:pic>
                    <p:nvPicPr>
                      <p:cNvPr id="0" name="Object 1"/>
                      <p:cNvPicPr>
                        <a:picLocks noChangeAspect="1" noChangeArrowheads="1"/>
                      </p:cNvPicPr>
                      <p:nvPr/>
                    </p:nvPicPr>
                    <p:blipFill>
                      <a:blip r:embed="rId4"/>
                      <a:srcRect/>
                      <a:stretch>
                        <a:fillRect/>
                      </a:stretch>
                    </p:blipFill>
                    <p:spPr bwMode="auto">
                      <a:xfrm>
                        <a:off x="1692284" y="1664804"/>
                        <a:ext cx="5436000" cy="3916971"/>
                      </a:xfrm>
                      <a:prstGeom prst="rect">
                        <a:avLst/>
                      </a:prstGeom>
                      <a:noFill/>
                    </p:spPr>
                  </p:pic>
                </p:oleObj>
              </mc:Fallback>
            </mc:AlternateContent>
          </a:graphicData>
        </a:graphic>
      </p:graphicFrame>
      <p:sp>
        <p:nvSpPr>
          <p:cNvPr id="5" name="Прямоугольник 4"/>
          <p:cNvSpPr/>
          <p:nvPr/>
        </p:nvSpPr>
        <p:spPr>
          <a:xfrm>
            <a:off x="143508" y="5745036"/>
            <a:ext cx="8874478" cy="960328"/>
          </a:xfrm>
          <a:prstGeom prst="rect">
            <a:avLst/>
          </a:prstGeom>
        </p:spPr>
        <p:txBody>
          <a:bodyPr wrap="square">
            <a:spAutoFit/>
          </a:bodyPr>
          <a:lstStyle/>
          <a:p>
            <a:pPr algn="just">
              <a:lnSpc>
                <a:spcPct val="150000"/>
              </a:lnSpc>
              <a:spcAft>
                <a:spcPts val="0"/>
              </a:spcAft>
            </a:pPr>
            <a:r>
              <a:rPr lang="uz-Cyrl-UZ" sz="2000" dirty="0">
                <a:latin typeface="Times New Roman"/>
                <a:ea typeface="Times New Roman"/>
              </a:rPr>
              <a:t>бу ерда, </a:t>
            </a:r>
            <a:r>
              <a:rPr lang="uz-Cyrl-UZ" sz="2000" i="1" dirty="0">
                <a:latin typeface="Times New Roman"/>
                <a:ea typeface="Times New Roman"/>
              </a:rPr>
              <a:t>К1=K1</a:t>
            </a:r>
            <a:r>
              <a:rPr lang="uz-Cyrl-UZ" sz="2000" i="1" baseline="-25000" dirty="0">
                <a:latin typeface="Times New Roman"/>
                <a:ea typeface="Times New Roman"/>
              </a:rPr>
              <a:t>L</a:t>
            </a:r>
            <a:r>
              <a:rPr lang="uz-Cyrl-UZ" sz="2000" i="1" dirty="0">
                <a:latin typeface="Times New Roman"/>
                <a:ea typeface="Times New Roman"/>
              </a:rPr>
              <a:t>||K1</a:t>
            </a:r>
            <a:r>
              <a:rPr lang="uz-Cyrl-UZ" sz="2000" i="1" baseline="-25000" dirty="0">
                <a:latin typeface="Times New Roman"/>
                <a:ea typeface="Times New Roman"/>
              </a:rPr>
              <a:t>R</a:t>
            </a:r>
            <a:r>
              <a:rPr lang="uz-Cyrl-UZ" sz="2000" i="1" dirty="0">
                <a:latin typeface="Times New Roman"/>
                <a:ea typeface="Times New Roman"/>
              </a:rPr>
              <a:t>, К2=K2</a:t>
            </a:r>
            <a:r>
              <a:rPr lang="uz-Cyrl-UZ" sz="2000" i="1" baseline="-25000" dirty="0">
                <a:latin typeface="Times New Roman"/>
                <a:ea typeface="Times New Roman"/>
              </a:rPr>
              <a:t>L</a:t>
            </a:r>
            <a:r>
              <a:rPr lang="uz-Cyrl-UZ" sz="2000" i="1" dirty="0">
                <a:latin typeface="Times New Roman"/>
                <a:ea typeface="Times New Roman"/>
              </a:rPr>
              <a:t>||K2</a:t>
            </a:r>
            <a:r>
              <a:rPr lang="uz-Cyrl-UZ" sz="2000" i="1" baseline="-25000" dirty="0">
                <a:latin typeface="Times New Roman"/>
                <a:ea typeface="Times New Roman"/>
              </a:rPr>
              <a:t>R</a:t>
            </a:r>
            <a:r>
              <a:rPr lang="uz-Cyrl-UZ" sz="2000" i="1" dirty="0">
                <a:latin typeface="Times New Roman"/>
                <a:ea typeface="Times New Roman"/>
              </a:rPr>
              <a:t>, XR=XR</a:t>
            </a:r>
            <a:r>
              <a:rPr lang="uz-Cyrl-UZ" sz="2000" i="1" baseline="-25000" dirty="0">
                <a:latin typeface="Times New Roman"/>
                <a:ea typeface="Times New Roman"/>
              </a:rPr>
              <a:t>L</a:t>
            </a:r>
            <a:r>
              <a:rPr lang="uz-Cyrl-UZ" sz="2000" i="1" dirty="0">
                <a:latin typeface="Times New Roman"/>
                <a:ea typeface="Times New Roman"/>
              </a:rPr>
              <a:t>||XR</a:t>
            </a:r>
            <a:r>
              <a:rPr lang="uz-Cyrl-UZ" sz="2000" i="1" baseline="-25000" dirty="0">
                <a:latin typeface="Times New Roman"/>
                <a:ea typeface="Times New Roman"/>
              </a:rPr>
              <a:t>R</a:t>
            </a:r>
            <a:r>
              <a:rPr lang="uz-Cyrl-UZ" sz="2000" i="1" dirty="0">
                <a:latin typeface="Times New Roman"/>
                <a:ea typeface="Times New Roman"/>
              </a:rPr>
              <a:t>, XL=XL</a:t>
            </a:r>
            <a:r>
              <a:rPr lang="uz-Cyrl-UZ" sz="2000" i="1" baseline="-25000" dirty="0">
                <a:latin typeface="Times New Roman"/>
                <a:ea typeface="Times New Roman"/>
              </a:rPr>
              <a:t>L</a:t>
            </a:r>
            <a:r>
              <a:rPr lang="uz-Cyrl-UZ" sz="2000" i="1" dirty="0">
                <a:latin typeface="Times New Roman"/>
                <a:ea typeface="Times New Roman"/>
              </a:rPr>
              <a:t>||XL</a:t>
            </a:r>
            <a:r>
              <a:rPr lang="uz-Cyrl-UZ" sz="2000" i="1" baseline="-25000" dirty="0">
                <a:latin typeface="Times New Roman"/>
                <a:ea typeface="Times New Roman"/>
              </a:rPr>
              <a:t>R</a:t>
            </a:r>
            <a:r>
              <a:rPr lang="uz-Cyrl-UZ" sz="2000" i="1" dirty="0">
                <a:latin typeface="Times New Roman"/>
                <a:ea typeface="Times New Roman"/>
              </a:rPr>
              <a:t>, YR=YR</a:t>
            </a:r>
            <a:r>
              <a:rPr lang="uz-Cyrl-UZ" sz="2000" i="1" baseline="-25000" dirty="0">
                <a:latin typeface="Times New Roman"/>
                <a:ea typeface="Times New Roman"/>
              </a:rPr>
              <a:t>L</a:t>
            </a:r>
            <a:r>
              <a:rPr lang="uz-Cyrl-UZ" sz="2000" i="1" dirty="0">
                <a:latin typeface="Times New Roman"/>
                <a:ea typeface="Times New Roman"/>
              </a:rPr>
              <a:t>||YR</a:t>
            </a:r>
            <a:r>
              <a:rPr lang="uz-Cyrl-UZ" sz="2000" i="1" baseline="-25000" dirty="0">
                <a:latin typeface="Times New Roman"/>
                <a:ea typeface="Times New Roman"/>
              </a:rPr>
              <a:t>R</a:t>
            </a:r>
            <a:r>
              <a:rPr lang="uz-Cyrl-UZ" sz="2000" i="1" dirty="0">
                <a:latin typeface="Times New Roman"/>
                <a:ea typeface="Times New Roman"/>
              </a:rPr>
              <a:t>, YL=YL</a:t>
            </a:r>
            <a:r>
              <a:rPr lang="uz-Cyrl-UZ" sz="2000" i="1" baseline="-25000" dirty="0">
                <a:latin typeface="Times New Roman"/>
                <a:ea typeface="Times New Roman"/>
              </a:rPr>
              <a:t>L</a:t>
            </a:r>
            <a:r>
              <a:rPr lang="uz-Cyrl-UZ" sz="2000" i="1" dirty="0">
                <a:latin typeface="Times New Roman"/>
                <a:ea typeface="Times New Roman"/>
              </a:rPr>
              <a:t>||YL</a:t>
            </a:r>
            <a:r>
              <a:rPr lang="uz-Cyrl-UZ" sz="2000" i="1" baseline="-25000" dirty="0">
                <a:latin typeface="Times New Roman"/>
                <a:ea typeface="Times New Roman"/>
              </a:rPr>
              <a:t>R </a:t>
            </a:r>
            <a:r>
              <a:rPr lang="uz-Cyrl-UZ" sz="2000" i="1" dirty="0">
                <a:latin typeface="Times New Roman"/>
                <a:ea typeface="Times New Roman"/>
              </a:rPr>
              <a:t>, T1=T1</a:t>
            </a:r>
            <a:r>
              <a:rPr lang="uz-Cyrl-UZ" sz="2000" i="1" baseline="-25000" dirty="0">
                <a:latin typeface="Times New Roman"/>
                <a:ea typeface="Times New Roman"/>
              </a:rPr>
              <a:t>L</a:t>
            </a:r>
            <a:r>
              <a:rPr lang="uz-Cyrl-UZ" sz="2000" i="1" dirty="0">
                <a:latin typeface="Times New Roman"/>
                <a:ea typeface="Times New Roman"/>
              </a:rPr>
              <a:t>||T1</a:t>
            </a:r>
            <a:r>
              <a:rPr lang="uz-Cyrl-UZ" sz="2000" i="1" baseline="-25000" dirty="0">
                <a:latin typeface="Times New Roman"/>
                <a:ea typeface="Times New Roman"/>
              </a:rPr>
              <a:t>R </a:t>
            </a:r>
            <a:r>
              <a:rPr lang="uz-Cyrl-UZ" sz="2000" i="1" dirty="0">
                <a:latin typeface="Times New Roman"/>
                <a:ea typeface="Times New Roman"/>
              </a:rPr>
              <a:t>, T2=T2</a:t>
            </a:r>
            <a:r>
              <a:rPr lang="uz-Cyrl-UZ" sz="2000" i="1" baseline="-25000" dirty="0">
                <a:latin typeface="Times New Roman"/>
                <a:ea typeface="Times New Roman"/>
              </a:rPr>
              <a:t>L</a:t>
            </a:r>
            <a:r>
              <a:rPr lang="uz-Cyrl-UZ" sz="2000" i="1" dirty="0">
                <a:latin typeface="Times New Roman"/>
                <a:ea typeface="Times New Roman"/>
              </a:rPr>
              <a:t>||T2</a:t>
            </a:r>
            <a:r>
              <a:rPr lang="uz-Cyrl-UZ" sz="2000" i="1" baseline="-25000" dirty="0">
                <a:latin typeface="Times New Roman"/>
                <a:ea typeface="Times New Roman"/>
              </a:rPr>
              <a:t>R </a:t>
            </a:r>
            <a:r>
              <a:rPr lang="uz-Cyrl-UZ" sz="2000" i="1" dirty="0">
                <a:latin typeface="Times New Roman"/>
                <a:ea typeface="Times New Roman"/>
              </a:rPr>
              <a:t>.</a:t>
            </a:r>
            <a:endParaRPr lang="uz-Cyrl-UZ" sz="2000" dirty="0">
              <a:effectLst/>
              <a:latin typeface="Times New Roman"/>
              <a:ea typeface="Times New Roman"/>
            </a:endParaRPr>
          </a:p>
        </p:txBody>
      </p:sp>
    </p:spTree>
    <p:extLst>
      <p:ext uri="{BB962C8B-B14F-4D97-AF65-F5344CB8AC3E}">
        <p14:creationId xmlns:p14="http://schemas.microsoft.com/office/powerpoint/2010/main" val="36212487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5" name="Rectangle 7"/>
          <p:cNvSpPr>
            <a:spLocks noChangeArrowheads="1"/>
          </p:cNvSpPr>
          <p:nvPr/>
        </p:nvSpPr>
        <p:spPr bwMode="auto">
          <a:xfrm>
            <a:off x="143508" y="152636"/>
            <a:ext cx="8820980" cy="1384995"/>
          </a:xfrm>
          <a:prstGeom prst="rect">
            <a:avLst/>
          </a:prstGeom>
          <a:solidFill>
            <a:schemeClr val="bg1">
              <a:alpha val="86000"/>
            </a:schemeClr>
          </a:solidFill>
          <a:ln w="25400"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a:spcAft>
                <a:spcPts val="600"/>
              </a:spcAft>
            </a:pPr>
            <a:r>
              <a:rPr lang="uz-Cyrl-UZ" sz="2800" dirty="0">
                <a:latin typeface="Times New Roman" panose="02020603050405020304" pitchFamily="18" charset="0"/>
                <a:cs typeface="Times New Roman" panose="02020603050405020304" pitchFamily="18" charset="0"/>
              </a:rPr>
              <a:t>(</a:t>
            </a:r>
            <a:r>
              <a:rPr lang="uz-Cyrl-UZ" sz="2800" dirty="0" smtClean="0">
                <a:latin typeface="Times New Roman" panose="02020603050405020304" pitchFamily="18" charset="0"/>
                <a:cs typeface="Times New Roman" panose="02020603050405020304" pitchFamily="18" charset="0"/>
              </a:rPr>
              <a:t>2) </a:t>
            </a:r>
            <a:r>
              <a:rPr lang="uz-Cyrl-UZ" sz="2800" dirty="0">
                <a:latin typeface="Times New Roman" panose="02020603050405020304" pitchFamily="18" charset="0"/>
                <a:cs typeface="Times New Roman" panose="02020603050405020304" pitchFamily="18" charset="0"/>
              </a:rPr>
              <a:t>ифодани </a:t>
            </a:r>
            <a:r>
              <a:rPr lang="uz-Cyrl-UZ" sz="2800" dirty="0" smtClean="0">
                <a:latin typeface="Times New Roman" panose="02020603050405020304" pitchFamily="18" charset="0"/>
                <a:cs typeface="Times New Roman" panose="02020603050405020304" pitchFamily="18" charset="0"/>
              </a:rPr>
              <a:t>қисм элементларнинг алгебраик ифодасидан фойдаланиб, </a:t>
            </a:r>
            <a:r>
              <a:rPr lang="uz-Cyrl-UZ" sz="2800" dirty="0">
                <a:latin typeface="Times New Roman" panose="02020603050405020304" pitchFamily="18" charset="0"/>
                <a:cs typeface="Times New Roman" panose="02020603050405020304" pitchFamily="18" charset="0"/>
              </a:rPr>
              <a:t>қуйидаги </a:t>
            </a:r>
            <a:r>
              <a:rPr lang="uz-Cyrl-UZ" sz="2800" dirty="0" smtClean="0">
                <a:latin typeface="Times New Roman" panose="02020603050405020304" pitchFamily="18" charset="0"/>
                <a:cs typeface="Times New Roman" panose="02020603050405020304" pitchFamily="18" charset="0"/>
              </a:rPr>
              <a:t>(</a:t>
            </a:r>
            <a:r>
              <a:rPr lang="uz-Cyrl-UZ" sz="2800" dirty="0">
                <a:latin typeface="Times New Roman" panose="02020603050405020304" pitchFamily="18" charset="0"/>
                <a:cs typeface="Times New Roman" panose="02020603050405020304" pitchFamily="18" charset="0"/>
              </a:rPr>
              <a:t>3</a:t>
            </a:r>
            <a:r>
              <a:rPr lang="uz-Cyrl-UZ" sz="2800" dirty="0" smtClean="0">
                <a:latin typeface="Times New Roman" panose="02020603050405020304" pitchFamily="18" charset="0"/>
                <a:cs typeface="Times New Roman" panose="02020603050405020304" pitchFamily="18" charset="0"/>
              </a:rPr>
              <a:t>) </a:t>
            </a:r>
            <a:r>
              <a:rPr lang="uz-Cyrl-UZ" sz="2800" dirty="0">
                <a:latin typeface="Times New Roman" panose="02020603050405020304" pitchFamily="18" charset="0"/>
                <a:cs typeface="Times New Roman" panose="02020603050405020304" pitchFamily="18" charset="0"/>
              </a:rPr>
              <a:t>ифода кўринишида шакллантириш мумкин</a:t>
            </a:r>
            <a:endParaRPr lang="ru-RU" sz="2800" b="1" dirty="0">
              <a:latin typeface="Times New Roman" pitchFamily="18" charset="0"/>
              <a:cs typeface="Times New Roman" pitchFamily="18" charset="0"/>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uz-Cyrl-UZ"/>
          </a:p>
        </p:txBody>
      </p:sp>
      <p:sp>
        <p:nvSpPr>
          <p:cNvPr id="5" name="Прямоугольник 4"/>
          <p:cNvSpPr/>
          <p:nvPr/>
        </p:nvSpPr>
        <p:spPr>
          <a:xfrm>
            <a:off x="143508" y="5229200"/>
            <a:ext cx="8874478" cy="1569660"/>
          </a:xfrm>
          <a:prstGeom prst="rect">
            <a:avLst/>
          </a:prstGeom>
        </p:spPr>
        <p:txBody>
          <a:bodyPr wrap="square">
            <a:spAutoFit/>
          </a:bodyPr>
          <a:lstStyle/>
          <a:p>
            <a:pPr algn="just">
              <a:spcAft>
                <a:spcPts val="0"/>
              </a:spcAft>
            </a:pPr>
            <a:r>
              <a:rPr lang="uz-Cyrl-UZ" sz="2400" dirty="0">
                <a:latin typeface="Times New Roman" panose="02020603050405020304" pitchFamily="18" charset="0"/>
                <a:cs typeface="Times New Roman" panose="02020603050405020304" pitchFamily="18" charset="0"/>
              </a:rPr>
              <a:t>Демак, ГОСТ 28147-89 ўқув шифрлаш алгоритмида фойдаланилган маҳфий калит қийматини аниқлашда, </a:t>
            </a:r>
            <a:r>
              <a:rPr lang="uz-Cyrl-UZ" sz="2400" i="1" dirty="0">
                <a:latin typeface="Times New Roman" panose="02020603050405020304" pitchFamily="18" charset="0"/>
                <a:cs typeface="Times New Roman" panose="02020603050405020304" pitchFamily="18" charset="0"/>
              </a:rPr>
              <a:t>G(x) –</a:t>
            </a:r>
            <a:r>
              <a:rPr lang="uz-Cyrl-UZ" sz="2400" dirty="0">
                <a:latin typeface="Times New Roman" panose="02020603050405020304" pitchFamily="18" charset="0"/>
                <a:cs typeface="Times New Roman" panose="02020603050405020304" pitchFamily="18" charset="0"/>
              </a:rPr>
              <a:t> функцияси учун тузилган тенгламалар системаси етарли ҳисобланади.</a:t>
            </a:r>
            <a:endParaRPr lang="uz-Cyrl-UZ" sz="2400" dirty="0">
              <a:effectLst/>
              <a:latin typeface="Times New Roman" panose="02020603050405020304" pitchFamily="18" charset="0"/>
              <a:ea typeface="Times New Roman"/>
              <a:cs typeface="Times New Roman" panose="02020603050405020304" pitchFamily="18" charset="0"/>
            </a:endParaRP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uz-Cyrl-UZ"/>
          </a:p>
        </p:txBody>
      </p:sp>
      <p:graphicFrame>
        <p:nvGraphicFramePr>
          <p:cNvPr id="7" name="Объект 6"/>
          <p:cNvGraphicFramePr>
            <a:graphicFrameLocks noChangeAspect="1"/>
          </p:cNvGraphicFramePr>
          <p:nvPr>
            <p:extLst>
              <p:ext uri="{D42A27DB-BD31-4B8C-83A1-F6EECF244321}">
                <p14:modId xmlns:p14="http://schemas.microsoft.com/office/powerpoint/2010/main" val="4177258356"/>
              </p:ext>
            </p:extLst>
          </p:nvPr>
        </p:nvGraphicFramePr>
        <p:xfrm>
          <a:off x="1963737" y="1593850"/>
          <a:ext cx="6000435" cy="3491334"/>
        </p:xfrm>
        <a:graphic>
          <a:graphicData uri="http://schemas.openxmlformats.org/presentationml/2006/ole">
            <mc:AlternateContent xmlns:mc="http://schemas.openxmlformats.org/markup-compatibility/2006">
              <mc:Choice xmlns:v="urn:schemas-microsoft-com:vml" Requires="v">
                <p:oleObj spid="_x0000_s79876" name="Уравнение" r:id="rId3" imgW="2514600" imgH="1473120" progId="Equation.3">
                  <p:embed/>
                </p:oleObj>
              </mc:Choice>
              <mc:Fallback>
                <p:oleObj name="Уравнение" r:id="rId3" imgW="2514600" imgH="1473120" progId="Equation.3">
                  <p:embed/>
                  <p:pic>
                    <p:nvPicPr>
                      <p:cNvPr id="0" name="Object 1"/>
                      <p:cNvPicPr>
                        <a:picLocks noChangeAspect="1" noChangeArrowheads="1"/>
                      </p:cNvPicPr>
                      <p:nvPr/>
                    </p:nvPicPr>
                    <p:blipFill>
                      <a:blip r:embed="rId4"/>
                      <a:srcRect/>
                      <a:stretch>
                        <a:fillRect/>
                      </a:stretch>
                    </p:blipFill>
                    <p:spPr bwMode="auto">
                      <a:xfrm>
                        <a:off x="1963737" y="1593850"/>
                        <a:ext cx="6000435" cy="3491334"/>
                      </a:xfrm>
                      <a:prstGeom prst="rect">
                        <a:avLst/>
                      </a:prstGeom>
                      <a:noFill/>
                    </p:spPr>
                  </p:pic>
                </p:oleObj>
              </mc:Fallback>
            </mc:AlternateContent>
          </a:graphicData>
        </a:graphic>
      </p:graphicFrame>
    </p:spTree>
    <p:extLst>
      <p:ext uri="{BB962C8B-B14F-4D97-AF65-F5344CB8AC3E}">
        <p14:creationId xmlns:p14="http://schemas.microsoft.com/office/powerpoint/2010/main" val="19573656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2" name="Rectangle 22"/>
          <p:cNvSpPr>
            <a:spLocks noChangeArrowheads="1"/>
          </p:cNvSpPr>
          <p:nvPr/>
        </p:nvSpPr>
        <p:spPr bwMode="auto">
          <a:xfrm>
            <a:off x="0" y="981075"/>
            <a:ext cx="9144000" cy="549275"/>
          </a:xfrm>
          <a:prstGeom prst="rect">
            <a:avLst/>
          </a:prstGeom>
          <a:solidFill>
            <a:schemeClr val="bg1"/>
          </a:solidFill>
          <a:ln w="9525">
            <a:noFill/>
            <a:miter lim="800000"/>
            <a:headEnd/>
            <a:tailEnd/>
          </a:ln>
          <a:effectLst>
            <a:prstShdw prst="shdw17" dist="17961" dir="2700000">
              <a:schemeClr val="bg1">
                <a:gamma/>
                <a:shade val="60000"/>
                <a:invGamma/>
                <a:alpha val="50000"/>
              </a:schemeClr>
            </a:prstShdw>
          </a:effectLst>
        </p:spPr>
        <p:txBody>
          <a:bodyPr anchor="ctr">
            <a:spAutoFit/>
          </a:bodyPr>
          <a:lstStyle/>
          <a:p>
            <a:pPr eaLnBrk="0" hangingPunct="0">
              <a:defRPr/>
            </a:pPr>
            <a:r>
              <a:rPr lang="uz-Cyrl-UZ" sz="2600" b="1">
                <a:latin typeface="Times New Roman" pitchFamily="18" charset="0"/>
              </a:rPr>
              <a:t> </a:t>
            </a:r>
            <a:r>
              <a:rPr lang="uz-Cyrl-UZ" sz="3000" b="1">
                <a:latin typeface="Times New Roman" pitchFamily="18" charset="0"/>
              </a:rPr>
              <a:t>Маъруза тамом</a:t>
            </a:r>
          </a:p>
        </p:txBody>
      </p:sp>
      <p:sp>
        <p:nvSpPr>
          <p:cNvPr id="27652" name="Line 16"/>
          <p:cNvSpPr>
            <a:spLocks noChangeShapeType="1"/>
          </p:cNvSpPr>
          <p:nvPr/>
        </p:nvSpPr>
        <p:spPr bwMode="auto">
          <a:xfrm>
            <a:off x="74613" y="116632"/>
            <a:ext cx="8997950" cy="0"/>
          </a:xfrm>
          <a:prstGeom prst="line">
            <a:avLst/>
          </a:prstGeom>
          <a:noFill/>
          <a:ln w="63500">
            <a:pattFill prst="dkHorz">
              <a:fgClr>
                <a:schemeClr val="tx1"/>
              </a:fgClr>
              <a:bgClr>
                <a:srgbClr val="FFFFFF"/>
              </a:bgClr>
            </a:pattFill>
            <a:round/>
            <a:headEnd/>
            <a:tailEnd/>
          </a:ln>
          <a:effectLst>
            <a:prstShdw prst="shdw17" dist="17961" dir="2700000">
              <a:srgbClr val="000000"/>
            </a:prstShdw>
          </a:effectLst>
          <a:extLst>
            <a:ext uri="{909E8E84-426E-40DD-AFC4-6F175D3DCCD1}">
              <a14:hiddenFill xmlns:a14="http://schemas.microsoft.com/office/drawing/2010/main">
                <a:noFill/>
              </a14:hiddenFill>
            </a:ext>
          </a:extLst>
        </p:spPr>
        <p:txBody>
          <a:bodyPr/>
          <a:lstStyle/>
          <a:p>
            <a:endParaRPr lang="ru-RU"/>
          </a:p>
        </p:txBody>
      </p:sp>
      <p:sp>
        <p:nvSpPr>
          <p:cNvPr id="6" name="Rectangle 7"/>
          <p:cNvSpPr>
            <a:spLocks noChangeArrowheads="1"/>
          </p:cNvSpPr>
          <p:nvPr/>
        </p:nvSpPr>
        <p:spPr bwMode="auto">
          <a:xfrm>
            <a:off x="71500" y="2024844"/>
            <a:ext cx="8839017" cy="3770263"/>
          </a:xfrm>
          <a:prstGeom prst="rect">
            <a:avLst/>
          </a:prstGeom>
          <a:solidFill>
            <a:schemeClr val="bg1">
              <a:alpha val="86000"/>
            </a:schemeClr>
          </a:solidFill>
          <a:ln w="25400" algn="ctr">
            <a:noFill/>
            <a:miter lim="800000"/>
            <a:headEnd/>
            <a:tailEnd/>
          </a:ln>
          <a:effectLst/>
          <a:extLst/>
        </p:spPr>
        <p:txBody>
          <a:bodyPr wrap="square" anchor="ctr">
            <a:spAutoFit/>
          </a:bodyPr>
          <a:lstStyle/>
          <a:p>
            <a:pPr algn="ctr">
              <a:spcAft>
                <a:spcPts val="600"/>
              </a:spcAft>
            </a:pPr>
            <a:r>
              <a:rPr lang="uz-Cyrl-UZ" sz="23900" b="1" dirty="0">
                <a:latin typeface="Times New Roman" pitchFamily="18" charset="0"/>
                <a:cs typeface="Times New Roman" pitchFamily="18" charset="0"/>
              </a:rPr>
              <a:t>?</a:t>
            </a:r>
            <a:endParaRPr lang="ru-RU" sz="23900" b="1" dirty="0">
              <a:latin typeface="Times New Roman" pitchFamily="18" charset="0"/>
              <a:cs typeface="Times New Roman" pitchFamily="18" charset="0"/>
            </a:endParaRPr>
          </a:p>
        </p:txBody>
      </p:sp>
      <p:sp>
        <p:nvSpPr>
          <p:cNvPr id="7" name="Line 16"/>
          <p:cNvSpPr>
            <a:spLocks noChangeShapeType="1"/>
          </p:cNvSpPr>
          <p:nvPr/>
        </p:nvSpPr>
        <p:spPr bwMode="auto">
          <a:xfrm>
            <a:off x="61913" y="6633356"/>
            <a:ext cx="8997950" cy="0"/>
          </a:xfrm>
          <a:prstGeom prst="line">
            <a:avLst/>
          </a:prstGeom>
          <a:noFill/>
          <a:ln w="63500">
            <a:pattFill prst="dkHorz">
              <a:fgClr>
                <a:schemeClr val="tx1"/>
              </a:fgClr>
              <a:bgClr>
                <a:srgbClr val="FFFFFF"/>
              </a:bgClr>
            </a:pattFill>
            <a:round/>
            <a:headEnd/>
            <a:tailEnd/>
          </a:ln>
          <a:effectLst>
            <a:prstShdw prst="shdw17" dist="17961" dir="2700000">
              <a:srgbClr val="000000"/>
            </a:prstShdw>
          </a:effectLst>
          <a:extLst>
            <a:ext uri="{909E8E84-426E-40DD-AFC4-6F175D3DCCD1}">
              <a14:hiddenFill xmlns:a14="http://schemas.microsoft.com/office/drawing/2010/main">
                <a:noFill/>
              </a14:hiddenFill>
            </a:ext>
          </a:extLst>
        </p:spPr>
        <p:txBody>
          <a:bodyPr/>
          <a:lstStyle/>
          <a:p>
            <a:endParaRPr lang="ru-RU"/>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Профиль">
  <a:themeElements>
    <a:clrScheme name="Профиль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Профиль">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Профиль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Профиль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Профиль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Профиль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Профиль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Профиль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Профиль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Профиль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Профиль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Profile</Template>
  <TotalTime>6080</TotalTime>
  <Words>1484</Words>
  <Application>Microsoft Office PowerPoint</Application>
  <PresentationFormat>Экран (4:3)</PresentationFormat>
  <Paragraphs>345</Paragraphs>
  <Slides>20</Slides>
  <Notes>1</Notes>
  <HiddenSlides>0</HiddenSlides>
  <MMClips>0</MMClips>
  <ScaleCrop>false</ScaleCrop>
  <HeadingPairs>
    <vt:vector size="6" baseType="variant">
      <vt:variant>
        <vt:lpstr>Тема</vt:lpstr>
      </vt:variant>
      <vt:variant>
        <vt:i4>1</vt:i4>
      </vt:variant>
      <vt:variant>
        <vt:lpstr>Внедренные серверы OLE</vt:lpstr>
      </vt:variant>
      <vt:variant>
        <vt:i4>4</vt:i4>
      </vt:variant>
      <vt:variant>
        <vt:lpstr>Заголовки слайдов</vt:lpstr>
      </vt:variant>
      <vt:variant>
        <vt:i4>20</vt:i4>
      </vt:variant>
    </vt:vector>
  </HeadingPairs>
  <TitlesOfParts>
    <vt:vector size="25" baseType="lpstr">
      <vt:lpstr>Профиль</vt:lpstr>
      <vt:lpstr>Visio</vt:lpstr>
      <vt:lpstr>Уравнение</vt:lpstr>
      <vt:lpstr>Equation</vt:lpstr>
      <vt:lpstr>Microsoft Equation 3.0</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Тошкент - 2009</dc:title>
  <dc:creator>USER</dc:creator>
  <cp:lastModifiedBy>asb2602</cp:lastModifiedBy>
  <cp:revision>1029</cp:revision>
  <dcterms:created xsi:type="dcterms:W3CDTF">2010-10-01T16:11:11Z</dcterms:created>
  <dcterms:modified xsi:type="dcterms:W3CDTF">2016-12-09T03:59:57Z</dcterms:modified>
</cp:coreProperties>
</file>