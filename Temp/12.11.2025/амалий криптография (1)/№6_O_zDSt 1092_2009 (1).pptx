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75" r:id="rId2"/>
    <p:sldId id="279" r:id="rId3"/>
    <p:sldId id="301" r:id="rId4"/>
    <p:sldId id="258" r:id="rId5"/>
    <p:sldId id="259" r:id="rId6"/>
    <p:sldId id="305" r:id="rId7"/>
    <p:sldId id="280" r:id="rId8"/>
    <p:sldId id="281" r:id="rId9"/>
    <p:sldId id="260" r:id="rId10"/>
    <p:sldId id="293" r:id="rId11"/>
    <p:sldId id="289" r:id="rId12"/>
    <p:sldId id="306" r:id="rId13"/>
  </p:sldIdLst>
  <p:sldSz cx="9144000" cy="6858000" type="screen4x3"/>
  <p:notesSz cx="6797675" cy="9874250"/>
  <p:defaultTextStyle>
    <a:defPPr>
      <a:defRPr lang="ru-RU"/>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CCFF"/>
    <a:srgbClr val="CCFFFF"/>
    <a:srgbClr val="009999"/>
    <a:srgbClr val="FF9900"/>
    <a:srgbClr val="00CC00"/>
    <a:srgbClr val="33CC3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Средний стиль 1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Темный стиль 2 - акцент 5/акцент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60" autoAdjust="0"/>
  </p:normalViewPr>
  <p:slideViewPr>
    <p:cSldViewPr>
      <p:cViewPr varScale="1">
        <p:scale>
          <a:sx n="105" d="100"/>
          <a:sy n="105" d="100"/>
        </p:scale>
        <p:origin x="-171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ru-RU"/>
          </a:p>
        </p:txBody>
      </p:sp>
      <p:sp>
        <p:nvSpPr>
          <p:cNvPr id="66563" name="Rectangle 3"/>
          <p:cNvSpPr>
            <a:spLocks noGrp="1" noChangeArrowheads="1"/>
          </p:cNvSpPr>
          <p:nvPr>
            <p:ph type="dt" sz="quarter"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pPr>
              <a:defRPr/>
            </a:pPr>
            <a:fld id="{8C6AAD4F-C4F0-4DB0-B860-C82276ED917B}" type="datetimeFigureOut">
              <a:rPr lang="ru-RU"/>
              <a:pPr>
                <a:defRPr/>
              </a:pPr>
              <a:t>18.03.2021</a:t>
            </a:fld>
            <a:endParaRPr lang="ru-RU"/>
          </a:p>
        </p:txBody>
      </p:sp>
      <p:sp>
        <p:nvSpPr>
          <p:cNvPr id="66564" name="Rectangle 4"/>
          <p:cNvSpPr>
            <a:spLocks noGrp="1" noChangeArrowheads="1"/>
          </p:cNvSpPr>
          <p:nvPr>
            <p:ph type="ftr" sz="quarter" idx="2"/>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endParaRPr lang="ru-RU"/>
          </a:p>
        </p:txBody>
      </p:sp>
      <p:sp>
        <p:nvSpPr>
          <p:cNvPr id="66565" name="Rectangle 5"/>
          <p:cNvSpPr>
            <a:spLocks noGrp="1" noChangeArrowheads="1"/>
          </p:cNvSpPr>
          <p:nvPr>
            <p:ph type="sldNum" sz="quarter" idx="3"/>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pPr>
              <a:defRPr/>
            </a:pPr>
            <a:fld id="{5113C97D-D868-4621-A77B-1D0381A674D9}" type="slidenum">
              <a:rPr lang="ru-RU"/>
              <a:pPr>
                <a:defRPr/>
              </a:pPr>
              <a:t>‹#›</a:t>
            </a:fld>
            <a:endParaRPr lang="ru-RU"/>
          </a:p>
        </p:txBody>
      </p:sp>
    </p:spTree>
    <p:extLst>
      <p:ext uri="{BB962C8B-B14F-4D97-AF65-F5344CB8AC3E}">
        <p14:creationId xmlns:p14="http://schemas.microsoft.com/office/powerpoint/2010/main" val="3231352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endParaRPr lang="uz-Cyrl-UZ"/>
          </a:p>
        </p:txBody>
      </p:sp>
      <p:sp>
        <p:nvSpPr>
          <p:cNvPr id="3" name="Дата 2"/>
          <p:cNvSpPr>
            <a:spLocks noGrp="1"/>
          </p:cNvSpPr>
          <p:nvPr>
            <p:ph type="dt" idx="1"/>
          </p:nvPr>
        </p:nvSpPr>
        <p:spPr>
          <a:xfrm>
            <a:off x="3849688" y="0"/>
            <a:ext cx="2946400" cy="493713"/>
          </a:xfrm>
          <a:prstGeom prst="rect">
            <a:avLst/>
          </a:prstGeom>
        </p:spPr>
        <p:txBody>
          <a:bodyPr vert="horz" lIns="91440" tIns="45720" rIns="91440" bIns="45720" rtlCol="0"/>
          <a:lstStyle>
            <a:lvl1pPr algn="r">
              <a:defRPr sz="1200"/>
            </a:lvl1pPr>
          </a:lstStyle>
          <a:p>
            <a:fld id="{A7A66C93-D573-467A-B41D-128BB2A00F22}" type="datetimeFigureOut">
              <a:rPr lang="uz-Cyrl-UZ" smtClean="0"/>
              <a:t>18.03.2021</a:t>
            </a:fld>
            <a:endParaRPr lang="uz-Cyrl-UZ"/>
          </a:p>
        </p:txBody>
      </p:sp>
      <p:sp>
        <p:nvSpPr>
          <p:cNvPr id="4" name="Образ слайда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endParaRPr lang="uz-Cyrl-UZ"/>
          </a:p>
        </p:txBody>
      </p:sp>
      <p:sp>
        <p:nvSpPr>
          <p:cNvPr id="5" name="Заметки 4"/>
          <p:cNvSpPr>
            <a:spLocks noGrp="1"/>
          </p:cNvSpPr>
          <p:nvPr>
            <p:ph type="body" sz="quarter" idx="3"/>
          </p:nvPr>
        </p:nvSpPr>
        <p:spPr>
          <a:xfrm>
            <a:off x="679450" y="4691063"/>
            <a:ext cx="5438775" cy="4443412"/>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z-Cyrl-UZ"/>
          </a:p>
        </p:txBody>
      </p:sp>
      <p:sp>
        <p:nvSpPr>
          <p:cNvPr id="6" name="Нижний колонтитул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vl1pPr>
          </a:lstStyle>
          <a:p>
            <a:endParaRPr lang="uz-Cyrl-UZ"/>
          </a:p>
        </p:txBody>
      </p:sp>
      <p:sp>
        <p:nvSpPr>
          <p:cNvPr id="7" name="Номер слайда 6"/>
          <p:cNvSpPr>
            <a:spLocks noGrp="1"/>
          </p:cNvSpPr>
          <p:nvPr>
            <p:ph type="sldNum" sz="quarter" idx="5"/>
          </p:nvPr>
        </p:nvSpPr>
        <p:spPr>
          <a:xfrm>
            <a:off x="3849688" y="9378950"/>
            <a:ext cx="2946400" cy="493713"/>
          </a:xfrm>
          <a:prstGeom prst="rect">
            <a:avLst/>
          </a:prstGeom>
        </p:spPr>
        <p:txBody>
          <a:bodyPr vert="horz" lIns="91440" tIns="45720" rIns="91440" bIns="45720" rtlCol="0" anchor="b"/>
          <a:lstStyle>
            <a:lvl1pPr algn="r">
              <a:defRPr sz="1200"/>
            </a:lvl1pPr>
          </a:lstStyle>
          <a:p>
            <a:fld id="{5AEDD6F2-ECBD-4BA6-BC0F-E342C9E3BCF5}" type="slidenum">
              <a:rPr lang="uz-Cyrl-UZ" smtClean="0"/>
              <a:t>‹#›</a:t>
            </a:fld>
            <a:endParaRPr lang="uz-Cyrl-UZ"/>
          </a:p>
        </p:txBody>
      </p:sp>
    </p:spTree>
    <p:extLst>
      <p:ext uri="{BB962C8B-B14F-4D97-AF65-F5344CB8AC3E}">
        <p14:creationId xmlns:p14="http://schemas.microsoft.com/office/powerpoint/2010/main" val="2793195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1</a:t>
            </a:fld>
            <a:endParaRPr lang="uz-Cyrl-UZ"/>
          </a:p>
        </p:txBody>
      </p:sp>
    </p:spTree>
    <p:extLst>
      <p:ext uri="{BB962C8B-B14F-4D97-AF65-F5344CB8AC3E}">
        <p14:creationId xmlns:p14="http://schemas.microsoft.com/office/powerpoint/2010/main" val="1486938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2</a:t>
            </a:fld>
            <a:endParaRPr lang="uz-Cyrl-UZ"/>
          </a:p>
        </p:txBody>
      </p:sp>
    </p:spTree>
    <p:extLst>
      <p:ext uri="{BB962C8B-B14F-4D97-AF65-F5344CB8AC3E}">
        <p14:creationId xmlns:p14="http://schemas.microsoft.com/office/powerpoint/2010/main" val="64730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3</a:t>
            </a:fld>
            <a:endParaRPr lang="uz-Cyrl-UZ"/>
          </a:p>
        </p:txBody>
      </p:sp>
    </p:spTree>
    <p:extLst>
      <p:ext uri="{BB962C8B-B14F-4D97-AF65-F5344CB8AC3E}">
        <p14:creationId xmlns:p14="http://schemas.microsoft.com/office/powerpoint/2010/main" val="2814215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4</a:t>
            </a:fld>
            <a:endParaRPr lang="uz-Cyrl-UZ"/>
          </a:p>
        </p:txBody>
      </p:sp>
    </p:spTree>
    <p:extLst>
      <p:ext uri="{BB962C8B-B14F-4D97-AF65-F5344CB8AC3E}">
        <p14:creationId xmlns:p14="http://schemas.microsoft.com/office/powerpoint/2010/main" val="4268950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5</a:t>
            </a:fld>
            <a:endParaRPr lang="uz-Cyrl-UZ"/>
          </a:p>
        </p:txBody>
      </p:sp>
    </p:spTree>
    <p:extLst>
      <p:ext uri="{BB962C8B-B14F-4D97-AF65-F5344CB8AC3E}">
        <p14:creationId xmlns:p14="http://schemas.microsoft.com/office/powerpoint/2010/main" val="1997832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6</a:t>
            </a:fld>
            <a:endParaRPr lang="uz-Cyrl-UZ"/>
          </a:p>
        </p:txBody>
      </p:sp>
    </p:spTree>
    <p:extLst>
      <p:ext uri="{BB962C8B-B14F-4D97-AF65-F5344CB8AC3E}">
        <p14:creationId xmlns:p14="http://schemas.microsoft.com/office/powerpoint/2010/main" val="1800304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7</a:t>
            </a:fld>
            <a:endParaRPr lang="uz-Cyrl-UZ"/>
          </a:p>
        </p:txBody>
      </p:sp>
    </p:spTree>
    <p:extLst>
      <p:ext uri="{BB962C8B-B14F-4D97-AF65-F5344CB8AC3E}">
        <p14:creationId xmlns:p14="http://schemas.microsoft.com/office/powerpoint/2010/main" val="2640840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8</a:t>
            </a:fld>
            <a:endParaRPr lang="uz-Cyrl-UZ"/>
          </a:p>
        </p:txBody>
      </p:sp>
    </p:spTree>
    <p:extLst>
      <p:ext uri="{BB962C8B-B14F-4D97-AF65-F5344CB8AC3E}">
        <p14:creationId xmlns:p14="http://schemas.microsoft.com/office/powerpoint/2010/main" val="3432336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9</a:t>
            </a:fld>
            <a:endParaRPr lang="uz-Cyrl-UZ"/>
          </a:p>
        </p:txBody>
      </p:sp>
    </p:spTree>
    <p:extLst>
      <p:ext uri="{BB962C8B-B14F-4D97-AF65-F5344CB8AC3E}">
        <p14:creationId xmlns:p14="http://schemas.microsoft.com/office/powerpoint/2010/main" val="1454526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10</a:t>
            </a:fld>
            <a:endParaRPr lang="uz-Cyrl-UZ"/>
          </a:p>
        </p:txBody>
      </p:sp>
    </p:spTree>
    <p:extLst>
      <p:ext uri="{BB962C8B-B14F-4D97-AF65-F5344CB8AC3E}">
        <p14:creationId xmlns:p14="http://schemas.microsoft.com/office/powerpoint/2010/main" val="2738341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11</a:t>
            </a:fld>
            <a:endParaRPr lang="uz-Cyrl-UZ"/>
          </a:p>
        </p:txBody>
      </p:sp>
    </p:spTree>
    <p:extLst>
      <p:ext uri="{BB962C8B-B14F-4D97-AF65-F5344CB8AC3E}">
        <p14:creationId xmlns:p14="http://schemas.microsoft.com/office/powerpoint/2010/main" val="1507331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5AEDD6F2-ECBD-4BA6-BC0F-E342C9E3BCF5}" type="slidenum">
              <a:rPr lang="uz-Cyrl-UZ" smtClean="0"/>
              <a:t>12</a:t>
            </a:fld>
            <a:endParaRPr lang="uz-Cyrl-UZ"/>
          </a:p>
        </p:txBody>
      </p:sp>
    </p:spTree>
    <p:extLst>
      <p:ext uri="{BB962C8B-B14F-4D97-AF65-F5344CB8AC3E}">
        <p14:creationId xmlns:p14="http://schemas.microsoft.com/office/powerpoint/2010/main" val="1413081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pPr>
              <a:defRPr/>
            </a:pPr>
            <a:fld id="{3C743FE9-3649-4CD6-A55C-63A037EEB1B9}" type="datetimeFigureOut">
              <a:rPr lang="ru-RU"/>
              <a:pPr>
                <a:defRPr/>
              </a:pPr>
              <a:t>18.03.2021</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C1E5A1F6-ED99-4B03-97E8-623CE8A49B16}" type="slidenum">
              <a:rPr lang="ru-RU"/>
              <a:pPr>
                <a:defRPr/>
              </a:pPr>
              <a:t>‹#›</a:t>
            </a:fld>
            <a:endParaRPr lang="ru-RU"/>
          </a:p>
        </p:txBody>
      </p:sp>
    </p:spTree>
    <p:extLst>
      <p:ext uri="{BB962C8B-B14F-4D97-AF65-F5344CB8AC3E}">
        <p14:creationId xmlns:p14="http://schemas.microsoft.com/office/powerpoint/2010/main" val="3954055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EF70465D-E42F-4687-A32E-B0892AF478CE}" type="datetimeFigureOut">
              <a:rPr lang="ru-RU"/>
              <a:pPr>
                <a:defRPr/>
              </a:pPr>
              <a:t>18.03.2021</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84F0FCAB-FB42-4F63-AF19-38C9B773B5D3}" type="slidenum">
              <a:rPr lang="ru-RU"/>
              <a:pPr>
                <a:defRPr/>
              </a:pPr>
              <a:t>‹#›</a:t>
            </a:fld>
            <a:endParaRPr lang="ru-RU"/>
          </a:p>
        </p:txBody>
      </p:sp>
    </p:spTree>
    <p:extLst>
      <p:ext uri="{BB962C8B-B14F-4D97-AF65-F5344CB8AC3E}">
        <p14:creationId xmlns:p14="http://schemas.microsoft.com/office/powerpoint/2010/main" val="277337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pPr>
              <a:defRPr/>
            </a:pPr>
            <a:fld id="{4C9984B8-0410-4B7B-8BD7-7A01894CF7AB}" type="datetimeFigureOut">
              <a:rPr lang="ru-RU"/>
              <a:pPr>
                <a:defRPr/>
              </a:pPr>
              <a:t>18.03.2021</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A60A18D1-D13A-443D-892F-5A8922A0D4E8}" type="slidenum">
              <a:rPr lang="ru-RU"/>
              <a:pPr>
                <a:defRPr/>
              </a:pPr>
              <a:t>‹#›</a:t>
            </a:fld>
            <a:endParaRPr lang="ru-RU"/>
          </a:p>
        </p:txBody>
      </p:sp>
    </p:spTree>
    <p:extLst>
      <p:ext uri="{BB962C8B-B14F-4D97-AF65-F5344CB8AC3E}">
        <p14:creationId xmlns:p14="http://schemas.microsoft.com/office/powerpoint/2010/main" val="2188556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3"/>
          <p:cNvSpPr>
            <a:spLocks noGrp="1"/>
          </p:cNvSpPr>
          <p:nvPr>
            <p:ph type="dt" sz="half" idx="10"/>
          </p:nvPr>
        </p:nvSpPr>
        <p:spPr/>
        <p:txBody>
          <a:bodyPr/>
          <a:lstStyle>
            <a:lvl1pPr>
              <a:defRPr/>
            </a:lvl1pPr>
          </a:lstStyle>
          <a:p>
            <a:pPr>
              <a:defRPr/>
            </a:pPr>
            <a:fld id="{D6C2AECE-64AE-4D9E-9901-E1E0F7C3ECA2}" type="datetimeFigureOut">
              <a:rPr lang="ru-RU"/>
              <a:pPr>
                <a:defRPr/>
              </a:pPr>
              <a:t>18.03.2021</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273E5D34-A6DA-4495-A57B-5473140CFCA3}" type="slidenum">
              <a:rPr lang="ru-RU"/>
              <a:pPr>
                <a:defRPr/>
              </a:pPr>
              <a:t>‹#›</a:t>
            </a:fld>
            <a:endParaRPr lang="ru-RU"/>
          </a:p>
        </p:txBody>
      </p:sp>
    </p:spTree>
    <p:extLst>
      <p:ext uri="{BB962C8B-B14F-4D97-AF65-F5344CB8AC3E}">
        <p14:creationId xmlns:p14="http://schemas.microsoft.com/office/powerpoint/2010/main" val="2391170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3"/>
          <p:cNvSpPr>
            <a:spLocks noGrp="1"/>
          </p:cNvSpPr>
          <p:nvPr>
            <p:ph type="dt" sz="half" idx="10"/>
          </p:nvPr>
        </p:nvSpPr>
        <p:spPr/>
        <p:txBody>
          <a:bodyPr/>
          <a:lstStyle>
            <a:lvl1pPr>
              <a:defRPr/>
            </a:lvl1pPr>
          </a:lstStyle>
          <a:p>
            <a:pPr>
              <a:defRPr/>
            </a:pPr>
            <a:fld id="{10E92567-995B-4935-9123-AE349CA3F2DA}" type="datetimeFigureOut">
              <a:rPr lang="ru-RU"/>
              <a:pPr>
                <a:defRPr/>
              </a:pPr>
              <a:t>18.03.2021</a:t>
            </a:fld>
            <a:endParaRPr lang="ru-RU"/>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466B6CC9-0E76-42F8-8CB4-04B49D7B1170}" type="slidenum">
              <a:rPr lang="ru-RU"/>
              <a:pPr>
                <a:defRPr/>
              </a:pPr>
              <a:t>‹#›</a:t>
            </a:fld>
            <a:endParaRPr lang="ru-RU"/>
          </a:p>
        </p:txBody>
      </p:sp>
    </p:spTree>
    <p:extLst>
      <p:ext uri="{BB962C8B-B14F-4D97-AF65-F5344CB8AC3E}">
        <p14:creationId xmlns:p14="http://schemas.microsoft.com/office/powerpoint/2010/main" val="760379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3"/>
          <p:cNvSpPr>
            <a:spLocks noGrp="1"/>
          </p:cNvSpPr>
          <p:nvPr>
            <p:ph type="dt" sz="half" idx="10"/>
          </p:nvPr>
        </p:nvSpPr>
        <p:spPr/>
        <p:txBody>
          <a:bodyPr/>
          <a:lstStyle>
            <a:lvl1pPr>
              <a:defRPr/>
            </a:lvl1pPr>
          </a:lstStyle>
          <a:p>
            <a:pPr>
              <a:defRPr/>
            </a:pPr>
            <a:fld id="{943837FA-6E1A-48E1-A82D-F244879937F4}" type="datetimeFigureOut">
              <a:rPr lang="ru-RU"/>
              <a:pPr>
                <a:defRPr/>
              </a:pPr>
              <a:t>18.03.2021</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268165E7-A04C-496C-8FFE-00D9FAACAA04}" type="slidenum">
              <a:rPr lang="ru-RU"/>
              <a:pPr>
                <a:defRPr/>
              </a:pPr>
              <a:t>‹#›</a:t>
            </a:fld>
            <a:endParaRPr lang="ru-RU"/>
          </a:p>
        </p:txBody>
      </p:sp>
    </p:spTree>
    <p:extLst>
      <p:ext uri="{BB962C8B-B14F-4D97-AF65-F5344CB8AC3E}">
        <p14:creationId xmlns:p14="http://schemas.microsoft.com/office/powerpoint/2010/main" val="298683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FB19D330-0B81-47EF-B575-8AE25468F29B}" type="datetimeFigureOut">
              <a:rPr lang="ru-RU"/>
              <a:pPr>
                <a:defRPr/>
              </a:pPr>
              <a:t>18.03.2021</a:t>
            </a:fld>
            <a:endParaRPr lang="ru-RU"/>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A14E285D-B006-411E-949E-26B23D1DB669}" type="slidenum">
              <a:rPr lang="ru-RU"/>
              <a:pPr>
                <a:defRPr/>
              </a:pPr>
              <a:t>‹#›</a:t>
            </a:fld>
            <a:endParaRPr lang="ru-RU"/>
          </a:p>
        </p:txBody>
      </p:sp>
    </p:spTree>
    <p:extLst>
      <p:ext uri="{BB962C8B-B14F-4D97-AF65-F5344CB8AC3E}">
        <p14:creationId xmlns:p14="http://schemas.microsoft.com/office/powerpoint/2010/main" val="38582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2193ECD7-FF24-4489-A1D8-8C55110F2556}" type="datetimeFigureOut">
              <a:rPr lang="ru-RU"/>
              <a:pPr>
                <a:defRPr/>
              </a:pPr>
              <a:t>18.03.2021</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FF38FF6D-B37F-4F4D-B80E-D8225EC38AF9}" type="slidenum">
              <a:rPr lang="ru-RU"/>
              <a:pPr>
                <a:defRPr/>
              </a:pPr>
              <a:t>‹#›</a:t>
            </a:fld>
            <a:endParaRPr lang="ru-RU"/>
          </a:p>
        </p:txBody>
      </p:sp>
    </p:spTree>
    <p:extLst>
      <p:ext uri="{BB962C8B-B14F-4D97-AF65-F5344CB8AC3E}">
        <p14:creationId xmlns:p14="http://schemas.microsoft.com/office/powerpoint/2010/main" val="3572259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DA59023E-4289-41C0-B8B7-329D7ED56878}" type="datetimeFigureOut">
              <a:rPr lang="ru-RU"/>
              <a:pPr>
                <a:defRPr/>
              </a:pPr>
              <a:t>18.03.2021</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A84588AD-9FC9-499D-A2D8-614FCB649045}" type="slidenum">
              <a:rPr lang="ru-RU"/>
              <a:pPr>
                <a:defRPr/>
              </a:pPr>
              <a:t>‹#›</a:t>
            </a:fld>
            <a:endParaRPr lang="ru-RU"/>
          </a:p>
        </p:txBody>
      </p:sp>
    </p:spTree>
    <p:extLst>
      <p:ext uri="{BB962C8B-B14F-4D97-AF65-F5344CB8AC3E}">
        <p14:creationId xmlns:p14="http://schemas.microsoft.com/office/powerpoint/2010/main" val="44294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B8E5EBA2-96BD-46C9-A316-C961176326A6}" type="datetimeFigureOut">
              <a:rPr lang="ru-RU"/>
              <a:pPr>
                <a:defRPr/>
              </a:pPr>
              <a:t>18.03.2021</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16C764AA-A6A1-4CF5-91DB-3BB1BA1FF9D5}" type="slidenum">
              <a:rPr lang="ru-RU"/>
              <a:pPr>
                <a:defRPr/>
              </a:pPr>
              <a:t>‹#›</a:t>
            </a:fld>
            <a:endParaRPr lang="ru-RU"/>
          </a:p>
        </p:txBody>
      </p:sp>
    </p:spTree>
    <p:extLst>
      <p:ext uri="{BB962C8B-B14F-4D97-AF65-F5344CB8AC3E}">
        <p14:creationId xmlns:p14="http://schemas.microsoft.com/office/powerpoint/2010/main" val="2504447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8D6D5A14-CA15-494D-9BAD-0D0AF38152DF}" type="datetimeFigureOut">
              <a:rPr lang="ru-RU"/>
              <a:pPr>
                <a:defRPr/>
              </a:pPr>
              <a:t>18.03.2021</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AF69F416-279B-4DA4-A26C-AAC09ADB3DEC}" type="slidenum">
              <a:rPr lang="ru-RU"/>
              <a:pPr>
                <a:defRPr/>
              </a:pPr>
              <a:t>‹#›</a:t>
            </a:fld>
            <a:endParaRPr lang="ru-RU"/>
          </a:p>
        </p:txBody>
      </p:sp>
    </p:spTree>
    <p:extLst>
      <p:ext uri="{BB962C8B-B14F-4D97-AF65-F5344CB8AC3E}">
        <p14:creationId xmlns:p14="http://schemas.microsoft.com/office/powerpoint/2010/main" val="2819837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57200" y="274638"/>
            <a:ext cx="8229600" cy="5851525"/>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3" name="Дата 3"/>
          <p:cNvSpPr>
            <a:spLocks noGrp="1"/>
          </p:cNvSpPr>
          <p:nvPr>
            <p:ph type="dt" sz="half" idx="10"/>
          </p:nvPr>
        </p:nvSpPr>
        <p:spPr/>
        <p:txBody>
          <a:bodyPr/>
          <a:lstStyle>
            <a:lvl1pPr>
              <a:defRPr/>
            </a:lvl1pPr>
          </a:lstStyle>
          <a:p>
            <a:pPr>
              <a:defRPr/>
            </a:pPr>
            <a:fld id="{E8AA710E-CA4E-4C12-B977-8B615B9B2A81}" type="datetimeFigureOut">
              <a:rPr lang="ru-RU"/>
              <a:pPr>
                <a:defRPr/>
              </a:pPr>
              <a:t>18.03.2021</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26E0C571-F370-42D0-B92B-ED1B21A71D27}" type="slidenum">
              <a:rPr lang="ru-RU"/>
              <a:pPr>
                <a:defRPr/>
              </a:pPr>
              <a:t>‹#›</a:t>
            </a:fld>
            <a:endParaRPr lang="ru-RU"/>
          </a:p>
        </p:txBody>
      </p:sp>
    </p:spTree>
    <p:extLst>
      <p:ext uri="{BB962C8B-B14F-4D97-AF65-F5344CB8AC3E}">
        <p14:creationId xmlns:p14="http://schemas.microsoft.com/office/powerpoint/2010/main" val="3867196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1026" name="Заголовок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uz-Cyrl-UZ" smtClean="0"/>
              <a:t>Образец заголовка</a:t>
            </a:r>
          </a:p>
        </p:txBody>
      </p:sp>
      <p:sp>
        <p:nvSpPr>
          <p:cNvPr id="1027" name="Текст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uz-Cyrl-UZ" smtClean="0"/>
              <a:t>Образец текста</a:t>
            </a:r>
          </a:p>
          <a:p>
            <a:pPr lvl="1"/>
            <a:r>
              <a:rPr lang="ru-RU" altLang="uz-Cyrl-UZ" smtClean="0"/>
              <a:t>Второй уровень</a:t>
            </a:r>
          </a:p>
          <a:p>
            <a:pPr lvl="2"/>
            <a:r>
              <a:rPr lang="ru-RU" altLang="uz-Cyrl-UZ" smtClean="0"/>
              <a:t>Третий уровень</a:t>
            </a:r>
          </a:p>
          <a:p>
            <a:pPr lvl="3"/>
            <a:r>
              <a:rPr lang="ru-RU" altLang="uz-Cyrl-UZ" smtClean="0"/>
              <a:t>Четвертый уровень</a:t>
            </a:r>
          </a:p>
          <a:p>
            <a:pPr lvl="4"/>
            <a:r>
              <a:rPr lang="ru-RU" altLang="uz-Cyrl-UZ" smtClean="0"/>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091C67EB-499A-464A-908E-17B4B9906657}" type="datetimeFigureOut">
              <a:rPr lang="ru-RU"/>
              <a:pPr>
                <a:defRPr/>
              </a:pPr>
              <a:t>18.03.2021</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28C70533-17C5-49CC-A87A-019C8FA4E9B6}"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p:cNvSpPr>
          <p:nvPr>
            <p:ph type="title"/>
          </p:nvPr>
        </p:nvSpPr>
        <p:spPr>
          <a:xfrm>
            <a:off x="539750" y="193675"/>
            <a:ext cx="8229600" cy="3878263"/>
          </a:xfrm>
        </p:spPr>
        <p:txBody>
          <a:bodyPr>
            <a:spAutoFit/>
          </a:bodyPr>
          <a:lstStyle/>
          <a:p>
            <a:pPr eaLnBrk="1" hangingPunct="1"/>
            <a:r>
              <a:rPr lang="uz-Cyrl-UZ" altLang="uz-Cyrl-UZ" sz="3200" b="1" smtClean="0">
                <a:latin typeface="Times New Roman" pitchFamily="18" charset="0"/>
              </a:rPr>
              <a:t>ЎЗБЕКИСТОН ДАВЛАТ СТАНДАРТИ</a:t>
            </a:r>
            <a:r>
              <a:rPr lang="en-US" altLang="uz-Cyrl-UZ" sz="3200" b="1" smtClean="0">
                <a:latin typeface="Times New Roman" pitchFamily="18" charset="0"/>
              </a:rPr>
              <a:t/>
            </a:r>
            <a:br>
              <a:rPr lang="en-US" altLang="uz-Cyrl-UZ" sz="3200" b="1" smtClean="0">
                <a:latin typeface="Times New Roman" pitchFamily="18" charset="0"/>
              </a:rPr>
            </a:br>
            <a:r>
              <a:rPr lang="en-US" altLang="uz-Cyrl-UZ" sz="3200" b="1" smtClean="0">
                <a:solidFill>
                  <a:srgbClr val="C00000"/>
                </a:solidFill>
                <a:latin typeface="Times New Roman" pitchFamily="18" charset="0"/>
              </a:rPr>
              <a:t>O’z Dst</a:t>
            </a:r>
            <a:r>
              <a:rPr lang="ru-RU" altLang="uz-Cyrl-UZ" sz="3200" b="1" smtClean="0">
                <a:solidFill>
                  <a:srgbClr val="C00000"/>
                </a:solidFill>
                <a:latin typeface="Times New Roman" pitchFamily="18" charset="0"/>
              </a:rPr>
              <a:t> 1092:200</a:t>
            </a:r>
            <a:r>
              <a:rPr lang="en-US" altLang="uz-Cyrl-UZ" sz="3200" b="1" smtClean="0">
                <a:solidFill>
                  <a:srgbClr val="C00000"/>
                </a:solidFill>
                <a:latin typeface="Times New Roman" pitchFamily="18" charset="0"/>
              </a:rPr>
              <a:t>9</a:t>
            </a:r>
            <a:r>
              <a:rPr lang="en-US" altLang="uz-Cyrl-UZ" sz="3200" b="1" smtClean="0">
                <a:latin typeface="Times New Roman" pitchFamily="18" charset="0"/>
              </a:rPr>
              <a:t/>
            </a:r>
            <a:br>
              <a:rPr lang="en-US" altLang="uz-Cyrl-UZ" sz="3200" b="1" smtClean="0">
                <a:latin typeface="Times New Roman" pitchFamily="18" charset="0"/>
              </a:rPr>
            </a:br>
            <a:r>
              <a:rPr lang="ru-RU" altLang="uz-Cyrl-UZ" sz="3200" b="1" smtClean="0">
                <a:latin typeface="Times New Roman" pitchFamily="18" charset="0"/>
              </a:rPr>
              <a:t>Ахборот технологияси</a:t>
            </a:r>
            <a:br>
              <a:rPr lang="ru-RU" altLang="uz-Cyrl-UZ" sz="3200" b="1" smtClean="0">
                <a:latin typeface="Times New Roman" pitchFamily="18" charset="0"/>
              </a:rPr>
            </a:br>
            <a:r>
              <a:rPr lang="ru-RU" altLang="uz-Cyrl-UZ" sz="3200" b="1" smtClean="0">
                <a:latin typeface="Times New Roman" pitchFamily="18" charset="0"/>
              </a:rPr>
              <a:t>АХБОРОТНИНГ КРИПТОГРАФИК МУҲОФАЗАСИ</a:t>
            </a:r>
            <a:br>
              <a:rPr lang="ru-RU" altLang="uz-Cyrl-UZ" sz="3200" b="1" smtClean="0">
                <a:latin typeface="Times New Roman" pitchFamily="18" charset="0"/>
              </a:rPr>
            </a:br>
            <a:r>
              <a:rPr lang="ru-RU" altLang="uz-Cyrl-UZ" sz="3200" b="1" smtClean="0">
                <a:latin typeface="Times New Roman" pitchFamily="18" charset="0"/>
              </a:rPr>
              <a:t>Электрон рақамли имзони шакллантириш ва текшириш жараёнлари</a:t>
            </a:r>
            <a:br>
              <a:rPr lang="ru-RU" altLang="uz-Cyrl-UZ" sz="3200" b="1" smtClean="0">
                <a:latin typeface="Times New Roman" pitchFamily="18" charset="0"/>
              </a:rPr>
            </a:br>
            <a:r>
              <a:rPr lang="ru-RU" altLang="uz-Cyrl-UZ" sz="2200" smtClean="0">
                <a:latin typeface="Times New Roman" pitchFamily="18" charset="0"/>
              </a:rPr>
              <a:t>(28.09.2009 йилда тасдиқланган ва амалги киритилган)</a:t>
            </a:r>
          </a:p>
        </p:txBody>
      </p:sp>
      <p:sp>
        <p:nvSpPr>
          <p:cNvPr id="2051" name="Rectangle 3"/>
          <p:cNvSpPr>
            <a:spLocks noGrp="1"/>
          </p:cNvSpPr>
          <p:nvPr>
            <p:ph type="body" idx="1"/>
          </p:nvPr>
        </p:nvSpPr>
        <p:spPr>
          <a:xfrm>
            <a:off x="268288" y="4175125"/>
            <a:ext cx="8640762" cy="2327275"/>
          </a:xfrm>
        </p:spPr>
        <p:txBody>
          <a:bodyPr>
            <a:spAutoFit/>
          </a:bodyPr>
          <a:lstStyle/>
          <a:p>
            <a:pPr marL="0" indent="360363" algn="just" eaLnBrk="1" hangingPunct="1">
              <a:lnSpc>
                <a:spcPct val="80000"/>
              </a:lnSpc>
              <a:spcBef>
                <a:spcPct val="0"/>
              </a:spcBef>
              <a:spcAft>
                <a:spcPts val="600"/>
              </a:spcAft>
              <a:buFont typeface="Arial" pitchFamily="34" charset="0"/>
              <a:buNone/>
            </a:pPr>
            <a:r>
              <a:rPr lang="uz-Cyrl-UZ" altLang="uz-Cyrl-UZ" sz="2200" smtClean="0">
                <a:latin typeface="Times New Roman" pitchFamily="18" charset="0"/>
              </a:rPr>
              <a:t>Ушбу стандарт умумий фойдаланишдаги муҳофазаланмаган телекоммуникация каналлари орқали узатиладиган, берилган хабар (электрон ҳужжат) остига қўйилган электрон рақамли имзо (ЭРИ)ни шакллантириш ва унинг ҳақиқийлигини тасдиқлаш учун электрон рақамли имзо алгоритми (ЭРИА)ни белгилайди. </a:t>
            </a:r>
            <a:endParaRPr lang="en-US" altLang="uz-Cyrl-UZ" sz="2200" smtClean="0">
              <a:latin typeface="Times New Roman" pitchFamily="18" charset="0"/>
            </a:endParaRPr>
          </a:p>
          <a:p>
            <a:pPr marL="0" indent="360363" algn="just" eaLnBrk="1" hangingPunct="1">
              <a:lnSpc>
                <a:spcPct val="80000"/>
              </a:lnSpc>
              <a:spcBef>
                <a:spcPct val="0"/>
              </a:spcBef>
              <a:spcAft>
                <a:spcPts val="600"/>
              </a:spcAft>
              <a:buFont typeface="Arial" pitchFamily="34" charset="0"/>
              <a:buNone/>
            </a:pPr>
            <a:r>
              <a:rPr lang="uz-Cyrl-UZ" altLang="uz-Cyrl-UZ" sz="2200" smtClean="0">
                <a:latin typeface="Times New Roman" pitchFamily="18" charset="0"/>
              </a:rPr>
              <a:t>Стандарт электрон рақамли имзони шакллантириш ва унинг ҳақиқийлигини тасдиқлашда турли мақсадлар учун мўлжалланган ахборотларни қайта ишлаш тизимларида қўллаш учун мўлжалланган.</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457200" y="274638"/>
            <a:ext cx="8229600" cy="561975"/>
          </a:xfrm>
          <a:solidFill>
            <a:srgbClr val="CCFFCC"/>
          </a:solidFill>
          <a:ln>
            <a:solidFill>
              <a:schemeClr val="tx1"/>
            </a:solidFill>
            <a:miter lim="800000"/>
            <a:headEnd/>
            <a:tailEnd/>
          </a:ln>
        </p:spPr>
        <p:txBody>
          <a:bodyPr/>
          <a:lstStyle/>
          <a:p>
            <a:pPr eaLnBrk="1" hangingPunct="1"/>
            <a:r>
              <a:rPr lang="ru-RU" altLang="uz-Cyrl-UZ" sz="2600" b="1" smtClean="0">
                <a:latin typeface="Times New Roman" pitchFamily="18" charset="0"/>
              </a:rPr>
              <a:t>1. </a:t>
            </a:r>
            <a:r>
              <a:rPr lang="uz-Cyrl-UZ" altLang="uz-Cyrl-UZ" sz="2600" b="1" smtClean="0">
                <a:latin typeface="Times New Roman" pitchFamily="18" charset="0"/>
              </a:rPr>
              <a:t>Умумий қоидалар</a:t>
            </a:r>
            <a:r>
              <a:rPr lang="ru-RU" altLang="uz-Cyrl-UZ" sz="2600" smtClean="0">
                <a:latin typeface="Times New Roman" pitchFamily="18" charset="0"/>
              </a:rPr>
              <a:t> </a:t>
            </a:r>
          </a:p>
        </p:txBody>
      </p:sp>
      <p:sp>
        <p:nvSpPr>
          <p:cNvPr id="11267" name="Rectangle 3"/>
          <p:cNvSpPr>
            <a:spLocks noGrp="1"/>
          </p:cNvSpPr>
          <p:nvPr>
            <p:ph type="body" idx="1"/>
          </p:nvPr>
        </p:nvSpPr>
        <p:spPr>
          <a:xfrm>
            <a:off x="457200" y="908050"/>
            <a:ext cx="8229600" cy="4311650"/>
          </a:xfrm>
        </p:spPr>
        <p:txBody>
          <a:bodyPr>
            <a:spAutoFit/>
          </a:bodyPr>
          <a:lstStyle/>
          <a:p>
            <a:pPr marL="3175" indent="357188" algn="just" eaLnBrk="1" hangingPunct="1">
              <a:lnSpc>
                <a:spcPct val="80000"/>
              </a:lnSpc>
              <a:buFont typeface="Arial" pitchFamily="34" charset="0"/>
              <a:buNone/>
            </a:pPr>
            <a:r>
              <a:rPr lang="uz-Cyrl-UZ" altLang="uz-Cyrl-UZ" sz="1800" b="1" smtClean="0">
                <a:latin typeface="Times New Roman" pitchFamily="18" charset="0"/>
              </a:rPr>
              <a:t>1.</a:t>
            </a:r>
            <a:r>
              <a:rPr lang="en-US" altLang="uz-Cyrl-UZ" sz="1800" smtClean="0">
                <a:latin typeface="Times New Roman" pitchFamily="18" charset="0"/>
              </a:rPr>
              <a:t> </a:t>
            </a:r>
            <a:r>
              <a:rPr lang="uz-Cyrl-UZ" altLang="uz-Cyrl-UZ" sz="1800" smtClean="0">
                <a:latin typeface="Times New Roman" pitchFamily="18" charset="0"/>
              </a:rPr>
              <a:t>Электрон рақамли имзо схемаси ўз ичига уч жараённи олади:   </a:t>
            </a:r>
          </a:p>
          <a:p>
            <a:pPr marL="3175" indent="357188" algn="just" eaLnBrk="1" hangingPunct="1">
              <a:lnSpc>
                <a:spcPct val="80000"/>
              </a:lnSpc>
              <a:buFont typeface="Arial" pitchFamily="34" charset="0"/>
              <a:buNone/>
            </a:pPr>
            <a:r>
              <a:rPr lang="en-US" altLang="uz-Cyrl-UZ" sz="1800" smtClean="0">
                <a:latin typeface="Times New Roman" pitchFamily="18" charset="0"/>
              </a:rPr>
              <a:t>	</a:t>
            </a:r>
            <a:r>
              <a:rPr lang="ru-RU" altLang="uz-Cyrl-UZ" sz="1800" b="1" smtClean="0">
                <a:latin typeface="Times New Roman" pitchFamily="18" charset="0"/>
              </a:rPr>
              <a:t>- </a:t>
            </a:r>
            <a:r>
              <a:rPr lang="uz-Cyrl-UZ" altLang="uz-Cyrl-UZ" sz="1800" b="1" smtClean="0">
                <a:latin typeface="Times New Roman" pitchFamily="18" charset="0"/>
              </a:rPr>
              <a:t>ЭРИ калитларини генерациялаш;</a:t>
            </a:r>
          </a:p>
          <a:p>
            <a:pPr marL="3175" indent="357188" algn="just" eaLnBrk="1" hangingPunct="1">
              <a:lnSpc>
                <a:spcPct val="80000"/>
              </a:lnSpc>
              <a:buFont typeface="Arial" pitchFamily="34" charset="0"/>
              <a:buNone/>
            </a:pPr>
            <a:r>
              <a:rPr lang="en-US" altLang="uz-Cyrl-UZ" sz="1800" b="1" smtClean="0">
                <a:latin typeface="Times New Roman" pitchFamily="18" charset="0"/>
              </a:rPr>
              <a:t>	</a:t>
            </a:r>
            <a:r>
              <a:rPr lang="ru-RU" altLang="uz-Cyrl-UZ" sz="1800" b="1" smtClean="0">
                <a:latin typeface="Times New Roman" pitchFamily="18" charset="0"/>
              </a:rPr>
              <a:t>- </a:t>
            </a:r>
            <a:r>
              <a:rPr lang="uz-Cyrl-UZ" altLang="uz-Cyrl-UZ" sz="1800" b="1" smtClean="0">
                <a:latin typeface="Times New Roman" pitchFamily="18" charset="0"/>
              </a:rPr>
              <a:t>ЭРИ шакллантириш;</a:t>
            </a:r>
          </a:p>
          <a:p>
            <a:pPr marL="3175" indent="357188" algn="just" eaLnBrk="1" hangingPunct="1">
              <a:lnSpc>
                <a:spcPct val="80000"/>
              </a:lnSpc>
              <a:buFont typeface="Arial" pitchFamily="34" charset="0"/>
              <a:buNone/>
            </a:pPr>
            <a:r>
              <a:rPr lang="en-US" altLang="uz-Cyrl-UZ" sz="1800" b="1" smtClean="0">
                <a:latin typeface="Times New Roman" pitchFamily="18" charset="0"/>
              </a:rPr>
              <a:t>	</a:t>
            </a:r>
            <a:r>
              <a:rPr lang="ru-RU" altLang="uz-Cyrl-UZ" sz="1800" b="1" smtClean="0">
                <a:latin typeface="Times New Roman" pitchFamily="18" charset="0"/>
              </a:rPr>
              <a:t>- </a:t>
            </a:r>
            <a:r>
              <a:rPr lang="uz-Cyrl-UZ" altLang="uz-Cyrl-UZ" sz="1800" b="1" smtClean="0">
                <a:latin typeface="Times New Roman" pitchFamily="18" charset="0"/>
              </a:rPr>
              <a:t>ЭРИ текшириш (ҳақиқийлилигини тасдиқлаш)</a:t>
            </a:r>
            <a:endParaRPr lang="en-US" altLang="uz-Cyrl-UZ" sz="1800" b="1" smtClean="0">
              <a:latin typeface="Times New Roman" pitchFamily="18" charset="0"/>
            </a:endParaRPr>
          </a:p>
          <a:p>
            <a:pPr marL="3175" indent="357188" algn="just" eaLnBrk="1" hangingPunct="1">
              <a:lnSpc>
                <a:spcPct val="80000"/>
              </a:lnSpc>
              <a:buFont typeface="Arial" pitchFamily="34" charset="0"/>
              <a:buNone/>
            </a:pPr>
            <a:endParaRPr lang="en-US" sz="1800" b="1" smtClean="0">
              <a:latin typeface="Times New Roman" pitchFamily="18" charset="0"/>
              <a:cs typeface="Times New Roman" pitchFamily="18" charset="0"/>
            </a:endParaRPr>
          </a:p>
          <a:p>
            <a:pPr marL="3175" indent="357188" algn="just" eaLnBrk="1" hangingPunct="1">
              <a:lnSpc>
                <a:spcPct val="80000"/>
              </a:lnSpc>
              <a:buFont typeface="Arial" pitchFamily="34" charset="0"/>
              <a:buNone/>
            </a:pPr>
            <a:r>
              <a:rPr lang="en-US" sz="1800" b="1" smtClean="0">
                <a:latin typeface="Times New Roman" pitchFamily="18" charset="0"/>
                <a:cs typeface="Times New Roman" pitchFamily="18" charset="0"/>
              </a:rPr>
              <a:t>2. </a:t>
            </a:r>
            <a:r>
              <a:rPr lang="uz-Cyrl-UZ" sz="1800" smtClean="0">
                <a:latin typeface="Times New Roman" pitchFamily="18" charset="0"/>
                <a:cs typeface="Times New Roman" pitchFamily="18" charset="0"/>
              </a:rPr>
              <a:t>Ушбу стандарт ЭРИни шакллантириш ҳамда ЭРИнинг ҳақиқийлигини тасдиқлаш учун иккита алгоритм (1-алгоритм, 2-алгоритм)ни тавсифлайди. </a:t>
            </a:r>
            <a:r>
              <a:rPr lang="en-US" sz="1800" smtClean="0">
                <a:latin typeface="Times New Roman" pitchFamily="18" charset="0"/>
                <a:cs typeface="Times New Roman" pitchFamily="18" charset="0"/>
              </a:rPr>
              <a:t>                </a:t>
            </a:r>
            <a:r>
              <a:rPr lang="uz-Cyrl-UZ" sz="1800" b="1" u="sng" smtClean="0">
                <a:solidFill>
                  <a:srgbClr val="C00000"/>
                </a:solidFill>
                <a:latin typeface="Times New Roman" pitchFamily="18" charset="0"/>
                <a:cs typeface="Times New Roman" pitchFamily="18" charset="0"/>
              </a:rPr>
              <a:t>1-алгоритм</a:t>
            </a:r>
            <a:r>
              <a:rPr lang="ru-RU" sz="1800" u="sng" smtClean="0">
                <a:latin typeface="Times New Roman" pitchFamily="18" charset="0"/>
                <a:cs typeface="Times New Roman" pitchFamily="18" charset="0"/>
              </a:rPr>
              <a:t> икки асосий режимда қўлланилади</a:t>
            </a:r>
            <a:r>
              <a:rPr lang="ru-RU" sz="1800" smtClean="0">
                <a:latin typeface="Times New Roman" pitchFamily="18" charset="0"/>
                <a:cs typeface="Times New Roman" pitchFamily="18" charset="0"/>
              </a:rPr>
              <a:t>:</a:t>
            </a:r>
            <a:endParaRPr lang="uz-Cyrl-UZ" sz="1600" smtClean="0">
              <a:latin typeface="PANDA Times UZ"/>
              <a:cs typeface="Times New Roman" pitchFamily="18" charset="0"/>
            </a:endParaRPr>
          </a:p>
          <a:p>
            <a:pPr marL="3175" indent="357188" algn="just">
              <a:spcBef>
                <a:spcPct val="0"/>
              </a:spcBef>
              <a:spcAft>
                <a:spcPts val="600"/>
              </a:spcAft>
              <a:buFont typeface="Symbol" pitchFamily="18" charset="2"/>
              <a:buChar char=""/>
            </a:pPr>
            <a:r>
              <a:rPr lang="en-US" sz="1800" b="1" smtClean="0">
                <a:latin typeface="Times New Roman" pitchFamily="18" charset="0"/>
                <a:cs typeface="Times New Roman" pitchFamily="18" charset="0"/>
              </a:rPr>
              <a:t>сеанс калитсиз</a:t>
            </a:r>
            <a:r>
              <a:rPr lang="uz-Cyrl-UZ" sz="1800" b="1" smtClean="0">
                <a:latin typeface="Times New Roman" pitchFamily="18" charset="0"/>
                <a:cs typeface="Times New Roman" pitchFamily="18" charset="0"/>
              </a:rPr>
              <a:t> </a:t>
            </a:r>
            <a:r>
              <a:rPr lang="uz-Cyrl-UZ" sz="1800" b="1" i="1" smtClean="0">
                <a:latin typeface="Times New Roman" pitchFamily="18" charset="0"/>
                <a:cs typeface="Times New Roman" pitchFamily="18" charset="0"/>
              </a:rPr>
              <a:t>( </a:t>
            </a:r>
            <a:r>
              <a:rPr lang="en-US" sz="1800" b="1" i="1" smtClean="0">
                <a:latin typeface="Times New Roman" pitchFamily="18" charset="0"/>
                <a:cs typeface="Times New Roman" pitchFamily="18" charset="0"/>
                <a:sym typeface="Symbol" pitchFamily="18" charset="2"/>
              </a:rPr>
              <a:t></a:t>
            </a:r>
            <a:r>
              <a:rPr lang="en-US" sz="1800" b="1" i="1" smtClean="0">
                <a:latin typeface="Times New Roman" pitchFamily="18" charset="0"/>
                <a:cs typeface="Times New Roman" pitchFamily="18" charset="0"/>
              </a:rPr>
              <a:t> = 0</a:t>
            </a:r>
            <a:r>
              <a:rPr lang="uz-Cyrl-UZ" sz="1800" b="1" i="1" smtClean="0">
                <a:latin typeface="Times New Roman" pitchFamily="18" charset="0"/>
                <a:cs typeface="Times New Roman" pitchFamily="18" charset="0"/>
              </a:rPr>
              <a:t> )</a:t>
            </a:r>
            <a:r>
              <a:rPr lang="en-US" sz="1800" b="1" smtClean="0">
                <a:latin typeface="Times New Roman" pitchFamily="18" charset="0"/>
                <a:cs typeface="Times New Roman" pitchFamily="18" charset="0"/>
              </a:rPr>
              <a:t>;</a:t>
            </a:r>
            <a:endParaRPr lang="uz-Cyrl-UZ" sz="1600" b="1" smtClean="0">
              <a:latin typeface="PANDA Times UZ"/>
              <a:cs typeface="Times New Roman" pitchFamily="18" charset="0"/>
            </a:endParaRPr>
          </a:p>
          <a:p>
            <a:pPr marL="3175" indent="357188" algn="just">
              <a:spcBef>
                <a:spcPct val="0"/>
              </a:spcBef>
              <a:spcAft>
                <a:spcPts val="600"/>
              </a:spcAft>
              <a:buFont typeface="Symbol" pitchFamily="18" charset="2"/>
              <a:buChar char=""/>
            </a:pPr>
            <a:r>
              <a:rPr lang="en-US" sz="1800" b="1" smtClean="0">
                <a:latin typeface="Times New Roman" pitchFamily="18" charset="0"/>
                <a:cs typeface="Times New Roman" pitchFamily="18" charset="0"/>
              </a:rPr>
              <a:t>сеанс калитли</a:t>
            </a:r>
            <a:r>
              <a:rPr lang="uz-Cyrl-UZ" sz="1800" b="1" smtClean="0">
                <a:latin typeface="Times New Roman" pitchFamily="18" charset="0"/>
                <a:cs typeface="Times New Roman" pitchFamily="18" charset="0"/>
              </a:rPr>
              <a:t> </a:t>
            </a:r>
            <a:r>
              <a:rPr lang="uz-Cyrl-UZ" sz="1800" b="1" i="1" smtClean="0">
                <a:latin typeface="Times New Roman" pitchFamily="18" charset="0"/>
                <a:cs typeface="Times New Roman" pitchFamily="18" charset="0"/>
              </a:rPr>
              <a:t>( </a:t>
            </a:r>
            <a:r>
              <a:rPr lang="en-US" sz="1800" b="1" i="1" smtClean="0">
                <a:latin typeface="Times New Roman" pitchFamily="18" charset="0"/>
                <a:cs typeface="Times New Roman" pitchFamily="18" charset="0"/>
                <a:sym typeface="Symbol" pitchFamily="18" charset="2"/>
              </a:rPr>
              <a:t></a:t>
            </a:r>
            <a:r>
              <a:rPr lang="en-US" sz="1800" b="1" i="1" smtClean="0">
                <a:latin typeface="Times New Roman" pitchFamily="18" charset="0"/>
                <a:cs typeface="Times New Roman" pitchFamily="18" charset="0"/>
              </a:rPr>
              <a:t> = </a:t>
            </a:r>
            <a:r>
              <a:rPr lang="uz-Cyrl-UZ" sz="1800" b="1" i="1" smtClean="0">
                <a:latin typeface="Times New Roman" pitchFamily="18" charset="0"/>
                <a:cs typeface="Times New Roman" pitchFamily="18" charset="0"/>
              </a:rPr>
              <a:t>1 )</a:t>
            </a:r>
            <a:r>
              <a:rPr lang="en-US" sz="1800" b="1" smtClean="0">
                <a:latin typeface="Times New Roman" pitchFamily="18" charset="0"/>
                <a:cs typeface="Times New Roman" pitchFamily="18" charset="0"/>
              </a:rPr>
              <a:t>.</a:t>
            </a:r>
            <a:r>
              <a:rPr lang="en-US" sz="1800" b="1" smtClean="0">
                <a:solidFill>
                  <a:srgbClr val="C00000"/>
                </a:solidFill>
                <a:latin typeface="Times New Roman" pitchFamily="18" charset="0"/>
                <a:cs typeface="Times New Roman" pitchFamily="18" charset="0"/>
              </a:rPr>
              <a:t> </a:t>
            </a:r>
            <a:endParaRPr lang="uz-Cyrl-UZ" sz="1600" b="1" smtClean="0">
              <a:solidFill>
                <a:srgbClr val="C00000"/>
              </a:solidFill>
              <a:latin typeface="PANDA Times UZ"/>
              <a:cs typeface="Times New Roman" pitchFamily="18" charset="0"/>
            </a:endParaRPr>
          </a:p>
          <a:p>
            <a:pPr marL="3175" indent="357188" algn="just">
              <a:spcBef>
                <a:spcPct val="0"/>
              </a:spcBef>
              <a:spcAft>
                <a:spcPts val="600"/>
              </a:spcAft>
              <a:buFont typeface="Arial" pitchFamily="34" charset="0"/>
              <a:buNone/>
            </a:pPr>
            <a:r>
              <a:rPr lang="uz-Cyrl-UZ" sz="1800" b="1" smtClean="0">
                <a:solidFill>
                  <a:srgbClr val="C00000"/>
                </a:solidFill>
                <a:latin typeface="Times New Roman" pitchFamily="18" charset="0"/>
                <a:cs typeface="Times New Roman" pitchFamily="18" charset="0"/>
              </a:rPr>
              <a:t>2-алгоритм</a:t>
            </a:r>
            <a:r>
              <a:rPr lang="uz-Cyrl-UZ" sz="1800" smtClean="0">
                <a:latin typeface="Times New Roman" pitchFamily="18" charset="0"/>
                <a:cs typeface="Times New Roman" pitchFamily="18" charset="0"/>
              </a:rPr>
              <a:t> </a:t>
            </a:r>
            <a:r>
              <a:rPr lang="ru-RU" sz="1800" smtClean="0">
                <a:latin typeface="Times New Roman" pitchFamily="18" charset="0"/>
                <a:cs typeface="Times New Roman" pitchFamily="18" charset="0"/>
              </a:rPr>
              <a:t>[ГОСТ Р 34.10-2001]</a:t>
            </a:r>
            <a:r>
              <a:rPr lang="uz-Cyrl-UZ" sz="1800" smtClean="0">
                <a:latin typeface="Times New Roman" pitchFamily="18" charset="0"/>
                <a:cs typeface="Times New Roman" pitchFamily="18" charset="0"/>
              </a:rPr>
              <a:t> анъанавий (</a:t>
            </a:r>
            <a:r>
              <a:rPr lang="ru-RU" sz="1800" smtClean="0">
                <a:latin typeface="Times New Roman" pitchFamily="18" charset="0"/>
                <a:cs typeface="Times New Roman" pitchFamily="18" charset="0"/>
              </a:rPr>
              <a:t>сеанс калитсиз</a:t>
            </a:r>
            <a:r>
              <a:rPr lang="uz-Cyrl-UZ" sz="1800" smtClean="0">
                <a:latin typeface="Times New Roman" pitchFamily="18" charset="0"/>
                <a:cs typeface="Times New Roman" pitchFamily="18" charset="0"/>
              </a:rPr>
              <a:t>) режимда қўлланилади. </a:t>
            </a:r>
            <a:endParaRPr lang="en-US" sz="1800" smtClean="0">
              <a:latin typeface="Times New Roman" pitchFamily="18" charset="0"/>
              <a:cs typeface="Times New Roman" pitchFamily="18" charset="0"/>
            </a:endParaRPr>
          </a:p>
          <a:p>
            <a:pPr marL="3175" indent="357188" algn="just">
              <a:spcBef>
                <a:spcPct val="0"/>
              </a:spcBef>
              <a:spcAft>
                <a:spcPts val="600"/>
              </a:spcAft>
              <a:buFont typeface="Arial" pitchFamily="34" charset="0"/>
              <a:buNone/>
            </a:pPr>
            <a:r>
              <a:rPr lang="en-US" sz="1800" smtClean="0">
                <a:latin typeface="Times New Roman" pitchFamily="18" charset="0"/>
                <a:cs typeface="Times New Roman" pitchFamily="18" charset="0"/>
              </a:rPr>
              <a:t>1</a:t>
            </a:r>
            <a:r>
              <a:rPr lang="uz-Cyrl-UZ" sz="1800" smtClean="0">
                <a:latin typeface="Times New Roman" pitchFamily="18" charset="0"/>
                <a:cs typeface="Times New Roman" pitchFamily="18" charset="0"/>
              </a:rPr>
              <a:t>-алгоритм</a:t>
            </a:r>
            <a:r>
              <a:rPr lang="ru-RU" sz="1800" smtClean="0">
                <a:latin typeface="Times New Roman" pitchFamily="18" charset="0"/>
                <a:cs typeface="Times New Roman" pitchFamily="18" charset="0"/>
              </a:rPr>
              <a:t>да ЭРИни шакллантириш жараёнига ЭРИнинг ҳақиқийлигини тасдиқлаш жараёнида қўлланиладиган сеанс калити процедурасини киритиш билан ЭРИ қалбакилигини аниқлашнинг захиравий йўли ҳам назарда тутилган. </a:t>
            </a:r>
            <a:endParaRPr lang="uz-Cyrl-UZ" altLang="uz-Cyrl-UZ" sz="1800" b="1" smtClean="0">
              <a:latin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body" idx="1"/>
          </p:nvPr>
        </p:nvSpPr>
        <p:spPr>
          <a:xfrm>
            <a:off x="457200" y="952500"/>
            <a:ext cx="8229600" cy="5576888"/>
          </a:xfrm>
        </p:spPr>
        <p:txBody>
          <a:bodyPr>
            <a:spAutoFit/>
          </a:bodyPr>
          <a:lstStyle/>
          <a:p>
            <a:pPr marL="609600" indent="-609600" algn="just" eaLnBrk="1" hangingPunct="1">
              <a:buFont typeface="Arial" pitchFamily="34" charset="0"/>
              <a:buAutoNum type="arabicPeriod"/>
            </a:pPr>
            <a:r>
              <a:rPr lang="ru-RU" altLang="uz-Cyrl-UZ" sz="1800" b="1" smtClean="0">
                <a:solidFill>
                  <a:srgbClr val="FF3300"/>
                </a:solidFill>
                <a:latin typeface="Times New Roman" pitchFamily="18" charset="0"/>
              </a:rPr>
              <a:t>М</a:t>
            </a:r>
            <a:r>
              <a:rPr lang="ru-RU" altLang="uz-Cyrl-UZ" sz="1800" smtClean="0">
                <a:latin typeface="Times New Roman" pitchFamily="18" charset="0"/>
              </a:rPr>
              <a:t> – </a:t>
            </a:r>
            <a:r>
              <a:rPr lang="uz-Cyrl-UZ" altLang="uz-Cyrl-UZ" sz="1800" smtClean="0">
                <a:latin typeface="Times New Roman" pitchFamily="18" charset="0"/>
              </a:rPr>
              <a:t>фойдаланувчи </a:t>
            </a:r>
            <a:r>
              <a:rPr lang="ru-RU" altLang="uz-Cyrl-UZ" sz="1800" smtClean="0">
                <a:latin typeface="Times New Roman" pitchFamily="18" charset="0"/>
              </a:rPr>
              <a:t>хабари;</a:t>
            </a:r>
          </a:p>
          <a:p>
            <a:pPr marL="609600" indent="-609600" algn="just" eaLnBrk="1" hangingPunct="1">
              <a:buFont typeface="Arial" pitchFamily="34" charset="0"/>
              <a:buAutoNum type="arabicPeriod"/>
            </a:pPr>
            <a:r>
              <a:rPr lang="ru-RU" altLang="uz-Cyrl-UZ" sz="1800" b="1" smtClean="0">
                <a:solidFill>
                  <a:srgbClr val="FF3300"/>
                </a:solidFill>
                <a:latin typeface="Times New Roman" pitchFamily="18" charset="0"/>
              </a:rPr>
              <a:t>р</a:t>
            </a:r>
            <a:r>
              <a:rPr lang="ru-RU" altLang="uz-Cyrl-UZ" sz="1800" smtClean="0">
                <a:latin typeface="Times New Roman" pitchFamily="18" charset="0"/>
              </a:rPr>
              <a:t> – </a:t>
            </a:r>
            <a:r>
              <a:rPr lang="uz-Cyrl-UZ" altLang="uz-Cyrl-UZ" sz="1800" smtClean="0">
                <a:latin typeface="Times New Roman" pitchFamily="18" charset="0"/>
              </a:rPr>
              <a:t>туб сон</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en-US" altLang="uz-Cyrl-UZ" sz="1800" b="1" smtClean="0">
                <a:solidFill>
                  <a:srgbClr val="FF3300"/>
                </a:solidFill>
                <a:latin typeface="Times New Roman" pitchFamily="18" charset="0"/>
              </a:rPr>
              <a:t>q</a:t>
            </a:r>
            <a:r>
              <a:rPr lang="ru-RU" altLang="uz-Cyrl-UZ" sz="1800" smtClean="0">
                <a:latin typeface="Times New Roman" pitchFamily="18" charset="0"/>
              </a:rPr>
              <a:t> – </a:t>
            </a:r>
            <a:r>
              <a:rPr lang="uz-Cyrl-UZ" altLang="uz-Cyrl-UZ" sz="1800" smtClean="0">
                <a:latin typeface="Times New Roman" pitchFamily="18" charset="0"/>
              </a:rPr>
              <a:t>туб сон</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en-US" altLang="uz-Cyrl-UZ" sz="1800" b="1" smtClean="0">
                <a:solidFill>
                  <a:srgbClr val="FF3300"/>
                </a:solidFill>
                <a:latin typeface="Times New Roman" pitchFamily="18" charset="0"/>
              </a:rPr>
              <a:t>R</a:t>
            </a:r>
            <a:r>
              <a:rPr lang="ru-RU" altLang="uz-Cyrl-UZ" sz="1800" smtClean="0">
                <a:latin typeface="Times New Roman" pitchFamily="18" charset="0"/>
              </a:rPr>
              <a:t> – </a:t>
            </a:r>
            <a:r>
              <a:rPr lang="uz-Cyrl-UZ" altLang="uz-Cyrl-UZ" sz="1800" smtClean="0">
                <a:latin typeface="Times New Roman" pitchFamily="18" charset="0"/>
              </a:rPr>
              <a:t>натурал сон</a:t>
            </a:r>
            <a:r>
              <a:rPr lang="en-US" altLang="uz-Cyrl-UZ" sz="1800" smtClean="0">
                <a:latin typeface="Times New Roman" pitchFamily="18" charset="0"/>
              </a:rPr>
              <a:t> - </a:t>
            </a:r>
            <a:r>
              <a:rPr lang="uz-Cyrl-UZ" altLang="uz-Cyrl-UZ" sz="1800" smtClean="0">
                <a:latin typeface="Times New Roman" pitchFamily="18" charset="0"/>
              </a:rPr>
              <a:t>параметр</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ru-RU" altLang="uz-Cyrl-UZ" sz="1800" b="1" smtClean="0">
                <a:solidFill>
                  <a:srgbClr val="FF3300"/>
                </a:solidFill>
                <a:latin typeface="Times New Roman" pitchFamily="18" charset="0"/>
              </a:rPr>
              <a:t>(</a:t>
            </a:r>
            <a:r>
              <a:rPr lang="en-US" altLang="uz-Cyrl-UZ" sz="1800" b="1" smtClean="0">
                <a:solidFill>
                  <a:srgbClr val="FF3300"/>
                </a:solidFill>
                <a:latin typeface="Times New Roman" pitchFamily="18" charset="0"/>
              </a:rPr>
              <a:t>x</a:t>
            </a:r>
            <a:r>
              <a:rPr lang="ru-RU" altLang="uz-Cyrl-UZ" sz="1800" b="1" smtClean="0">
                <a:solidFill>
                  <a:srgbClr val="FF3300"/>
                </a:solidFill>
                <a:latin typeface="Times New Roman" pitchFamily="18" charset="0"/>
              </a:rPr>
              <a:t>, </a:t>
            </a:r>
            <a:r>
              <a:rPr lang="en-US" altLang="uz-Cyrl-UZ" sz="1800" b="1" smtClean="0">
                <a:solidFill>
                  <a:srgbClr val="FF3300"/>
                </a:solidFill>
                <a:latin typeface="Times New Roman" pitchFamily="18" charset="0"/>
              </a:rPr>
              <a:t>u</a:t>
            </a:r>
            <a:r>
              <a:rPr lang="ru-RU" altLang="uz-Cyrl-UZ" sz="1800" b="1" smtClean="0">
                <a:solidFill>
                  <a:srgbClr val="FF3300"/>
                </a:solidFill>
                <a:latin typeface="Times New Roman" pitchFamily="18" charset="0"/>
              </a:rPr>
              <a:t>)</a:t>
            </a:r>
            <a:r>
              <a:rPr lang="ru-RU" altLang="uz-Cyrl-UZ" sz="1800" smtClean="0">
                <a:latin typeface="Times New Roman" pitchFamily="18" charset="0"/>
              </a:rPr>
              <a:t> – </a:t>
            </a:r>
            <a:r>
              <a:rPr lang="uz-Cyrl-UZ" altLang="uz-Cyrl-UZ" sz="1800" smtClean="0">
                <a:latin typeface="Times New Roman" pitchFamily="18" charset="0"/>
              </a:rPr>
              <a:t>бутун сонлар жуфтлиги </a:t>
            </a:r>
            <a:r>
              <a:rPr lang="ru-RU" altLang="uz-Cyrl-UZ" sz="1800" smtClean="0">
                <a:latin typeface="Times New Roman" pitchFamily="18" charset="0"/>
              </a:rPr>
              <a:t>– </a:t>
            </a:r>
            <a:r>
              <a:rPr lang="uz-Cyrl-UZ" altLang="uz-Cyrl-UZ" sz="1800" smtClean="0">
                <a:latin typeface="Times New Roman" pitchFamily="18" charset="0"/>
              </a:rPr>
              <a:t>ЭРИ ёпиқ калити</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ru-RU" altLang="uz-Cyrl-UZ" sz="1800" b="1" smtClean="0">
                <a:solidFill>
                  <a:srgbClr val="FF3300"/>
                </a:solidFill>
                <a:latin typeface="Times New Roman" pitchFamily="18" charset="0"/>
              </a:rPr>
              <a:t>(</a:t>
            </a:r>
            <a:r>
              <a:rPr lang="en-US" altLang="uz-Cyrl-UZ" sz="1800" b="1" smtClean="0">
                <a:solidFill>
                  <a:srgbClr val="FF3300"/>
                </a:solidFill>
                <a:latin typeface="Times New Roman" pitchFamily="18" charset="0"/>
              </a:rPr>
              <a:t>y</a:t>
            </a:r>
            <a:r>
              <a:rPr lang="ru-RU" altLang="uz-Cyrl-UZ" sz="1800" b="1" smtClean="0">
                <a:solidFill>
                  <a:srgbClr val="FF3300"/>
                </a:solidFill>
                <a:latin typeface="Times New Roman" pitchFamily="18" charset="0"/>
              </a:rPr>
              <a:t>, </a:t>
            </a:r>
            <a:r>
              <a:rPr lang="en-US" altLang="uz-Cyrl-UZ" sz="1800" b="1" smtClean="0">
                <a:solidFill>
                  <a:srgbClr val="FF3300"/>
                </a:solidFill>
                <a:latin typeface="Times New Roman" pitchFamily="18" charset="0"/>
              </a:rPr>
              <a:t>z</a:t>
            </a:r>
            <a:r>
              <a:rPr lang="ru-RU" altLang="uz-Cyrl-UZ" sz="1800" b="1" smtClean="0">
                <a:solidFill>
                  <a:srgbClr val="FF3300"/>
                </a:solidFill>
                <a:latin typeface="Times New Roman" pitchFamily="18" charset="0"/>
              </a:rPr>
              <a:t>)</a:t>
            </a:r>
            <a:r>
              <a:rPr lang="ru-RU" altLang="uz-Cyrl-UZ" sz="1800" smtClean="0">
                <a:latin typeface="Times New Roman" pitchFamily="18" charset="0"/>
              </a:rPr>
              <a:t> – </a:t>
            </a:r>
            <a:r>
              <a:rPr lang="uz-Cyrl-UZ" altLang="uz-Cyrl-UZ" sz="1800" smtClean="0">
                <a:latin typeface="Times New Roman" pitchFamily="18" charset="0"/>
              </a:rPr>
              <a:t>бутун сонлар жуфтлиги </a:t>
            </a:r>
            <a:r>
              <a:rPr lang="ru-RU" altLang="uz-Cyrl-UZ" sz="1800" smtClean="0">
                <a:latin typeface="Times New Roman" pitchFamily="18" charset="0"/>
              </a:rPr>
              <a:t>– </a:t>
            </a:r>
            <a:r>
              <a:rPr lang="uz-Cyrl-UZ" altLang="uz-Cyrl-UZ" sz="1800" smtClean="0">
                <a:latin typeface="Times New Roman" pitchFamily="18" charset="0"/>
              </a:rPr>
              <a:t>ЭРИ  очиқ калити</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en-US" altLang="uz-Cyrl-UZ" sz="1800" b="1" smtClean="0">
                <a:solidFill>
                  <a:srgbClr val="FF3300"/>
                </a:solidFill>
                <a:latin typeface="Times New Roman" pitchFamily="18" charset="0"/>
              </a:rPr>
              <a:t>g</a:t>
            </a:r>
            <a:r>
              <a:rPr lang="ru-RU" altLang="uz-Cyrl-UZ" sz="1800" smtClean="0">
                <a:latin typeface="Times New Roman" pitchFamily="18" charset="0"/>
              </a:rPr>
              <a:t> – </a:t>
            </a:r>
            <a:r>
              <a:rPr lang="uz-Cyrl-UZ" altLang="uz-Cyrl-UZ" sz="1800" smtClean="0">
                <a:latin typeface="Times New Roman" pitchFamily="18" charset="0"/>
              </a:rPr>
              <a:t>натурал сон </a:t>
            </a:r>
            <a:r>
              <a:rPr lang="ru-RU" altLang="uz-Cyrl-UZ" sz="1800" smtClean="0">
                <a:latin typeface="Times New Roman" pitchFamily="18" charset="0"/>
              </a:rPr>
              <a:t>– </a:t>
            </a:r>
            <a:r>
              <a:rPr lang="uz-Cyrl-UZ" altLang="uz-Cyrl-UZ" sz="1800" smtClean="0">
                <a:latin typeface="Times New Roman" pitchFamily="18" charset="0"/>
              </a:rPr>
              <a:t>асос</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ru-RU" altLang="uz-Cyrl-UZ" sz="1800" b="1" smtClean="0">
                <a:solidFill>
                  <a:srgbClr val="FF3300"/>
                </a:solidFill>
                <a:latin typeface="Times New Roman" pitchFamily="18" charset="0"/>
              </a:rPr>
              <a:t>(</a:t>
            </a:r>
            <a:r>
              <a:rPr lang="en-US" altLang="uz-Cyrl-UZ" sz="1800" b="1" smtClean="0">
                <a:solidFill>
                  <a:srgbClr val="FF3300"/>
                </a:solidFill>
                <a:latin typeface="Times New Roman" pitchFamily="18" charset="0"/>
              </a:rPr>
              <a:t>r</a:t>
            </a:r>
            <a:r>
              <a:rPr lang="ru-RU" altLang="uz-Cyrl-UZ" sz="1800" b="1" smtClean="0">
                <a:solidFill>
                  <a:srgbClr val="FF3300"/>
                </a:solidFill>
                <a:latin typeface="Times New Roman" pitchFamily="18" charset="0"/>
              </a:rPr>
              <a:t>, </a:t>
            </a:r>
            <a:r>
              <a:rPr lang="en-US" altLang="uz-Cyrl-UZ" sz="1800" b="1" smtClean="0">
                <a:solidFill>
                  <a:srgbClr val="FF3300"/>
                </a:solidFill>
                <a:latin typeface="Times New Roman" pitchFamily="18" charset="0"/>
              </a:rPr>
              <a:t>s</a:t>
            </a:r>
            <a:r>
              <a:rPr lang="ru-RU" altLang="uz-Cyrl-UZ" sz="1800" b="1" smtClean="0">
                <a:solidFill>
                  <a:srgbClr val="FF3300"/>
                </a:solidFill>
                <a:latin typeface="Times New Roman" pitchFamily="18" charset="0"/>
              </a:rPr>
              <a:t>)</a:t>
            </a:r>
            <a:r>
              <a:rPr lang="ru-RU" altLang="uz-Cyrl-UZ" sz="1800" smtClean="0">
                <a:latin typeface="Times New Roman" pitchFamily="18" charset="0"/>
              </a:rPr>
              <a:t> – </a:t>
            </a:r>
            <a:r>
              <a:rPr lang="uz-Cyrl-UZ" altLang="uz-Cyrl-UZ" sz="1800" smtClean="0">
                <a:latin typeface="Times New Roman" pitchFamily="18" charset="0"/>
              </a:rPr>
              <a:t>бутун сонлар жуфтлиги</a:t>
            </a:r>
            <a:r>
              <a:rPr lang="en-US" altLang="uz-Cyrl-UZ" sz="1800" smtClean="0">
                <a:latin typeface="Times New Roman" pitchFamily="18" charset="0"/>
              </a:rPr>
              <a:t> </a:t>
            </a:r>
            <a:r>
              <a:rPr lang="ru-RU" altLang="uz-Cyrl-UZ" sz="1800" smtClean="0">
                <a:latin typeface="Times New Roman" pitchFamily="18" charset="0"/>
              </a:rPr>
              <a:t>–</a:t>
            </a:r>
            <a:r>
              <a:rPr lang="en-US" altLang="uz-Cyrl-UZ" sz="1800" smtClean="0">
                <a:latin typeface="Times New Roman" pitchFamily="18" charset="0"/>
              </a:rPr>
              <a:t> </a:t>
            </a:r>
            <a:r>
              <a:rPr lang="uz-Cyrl-UZ" altLang="uz-Cyrl-UZ" sz="1800" smtClean="0">
                <a:latin typeface="Times New Roman" pitchFamily="18" charset="0"/>
              </a:rPr>
              <a:t>М ахборотнинг </a:t>
            </a:r>
            <a:r>
              <a:rPr lang="ru-RU" altLang="uz-Cyrl-UZ" sz="1800" smtClean="0">
                <a:latin typeface="Times New Roman" pitchFamily="18" charset="0"/>
              </a:rPr>
              <a:t>электрон </a:t>
            </a:r>
            <a:r>
              <a:rPr lang="uz-Cyrl-UZ" altLang="uz-Cyrl-UZ" sz="1800" smtClean="0">
                <a:latin typeface="Times New Roman" pitchFamily="18" charset="0"/>
              </a:rPr>
              <a:t>рақамли имзоси</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ru-RU" altLang="uz-Cyrl-UZ" sz="1800" b="1" smtClean="0">
                <a:solidFill>
                  <a:srgbClr val="FF3300"/>
                </a:solidFill>
                <a:latin typeface="Times New Roman" pitchFamily="18" charset="0"/>
              </a:rPr>
              <a:t>(</a:t>
            </a:r>
            <a:r>
              <a:rPr lang="en-US" altLang="uz-Cyrl-UZ" sz="1800" b="1" smtClean="0">
                <a:solidFill>
                  <a:srgbClr val="FF3300"/>
                </a:solidFill>
                <a:latin typeface="Times New Roman" pitchFamily="18" charset="0"/>
              </a:rPr>
              <a:t>R</a:t>
            </a:r>
            <a:r>
              <a:rPr lang="ru-RU" altLang="uz-Cyrl-UZ" sz="1800" b="1" baseline="-25000" smtClean="0">
                <a:solidFill>
                  <a:srgbClr val="FF3300"/>
                </a:solidFill>
                <a:latin typeface="Times New Roman" pitchFamily="18" charset="0"/>
              </a:rPr>
              <a:t>1</a:t>
            </a:r>
            <a:r>
              <a:rPr lang="ru-RU" altLang="uz-Cyrl-UZ" sz="1800" b="1" smtClean="0">
                <a:solidFill>
                  <a:srgbClr val="FF3300"/>
                </a:solidFill>
                <a:latin typeface="Times New Roman" pitchFamily="18" charset="0"/>
              </a:rPr>
              <a:t>, </a:t>
            </a:r>
            <a:r>
              <a:rPr lang="en-US" altLang="uz-Cyrl-UZ" sz="1800" b="1" smtClean="0">
                <a:solidFill>
                  <a:srgbClr val="FF3300"/>
                </a:solidFill>
                <a:latin typeface="Times New Roman" pitchFamily="18" charset="0"/>
              </a:rPr>
              <a:t>y</a:t>
            </a:r>
            <a:r>
              <a:rPr lang="ru-RU" altLang="uz-Cyrl-UZ" sz="1800" b="1" baseline="-25000" smtClean="0">
                <a:solidFill>
                  <a:srgbClr val="FF3300"/>
                </a:solidFill>
                <a:latin typeface="Times New Roman" pitchFamily="18" charset="0"/>
              </a:rPr>
              <a:t>1</a:t>
            </a:r>
            <a:r>
              <a:rPr lang="ru-RU" altLang="uz-Cyrl-UZ" sz="1800" b="1" smtClean="0">
                <a:solidFill>
                  <a:srgbClr val="FF3300"/>
                </a:solidFill>
                <a:latin typeface="Times New Roman" pitchFamily="18" charset="0"/>
              </a:rPr>
              <a:t>)</a:t>
            </a:r>
            <a:r>
              <a:rPr lang="ru-RU" altLang="uz-Cyrl-UZ" sz="1800" smtClean="0">
                <a:solidFill>
                  <a:srgbClr val="FF3300"/>
                </a:solidFill>
                <a:latin typeface="Times New Roman" pitchFamily="18" charset="0"/>
              </a:rPr>
              <a:t> </a:t>
            </a:r>
            <a:r>
              <a:rPr lang="ru-RU" altLang="uz-Cyrl-UZ" sz="1800" smtClean="0">
                <a:latin typeface="Times New Roman" pitchFamily="18" charset="0"/>
              </a:rPr>
              <a:t>– </a:t>
            </a:r>
            <a:r>
              <a:rPr lang="uz-Cyrl-UZ" altLang="uz-Cyrl-UZ" sz="1800" smtClean="0">
                <a:latin typeface="Times New Roman" pitchFamily="18" charset="0"/>
              </a:rPr>
              <a:t>бутун сонлар жуфтлиги</a:t>
            </a:r>
            <a:r>
              <a:rPr lang="ru-RU" altLang="uz-Cyrl-UZ" sz="1800" smtClean="0">
                <a:latin typeface="Times New Roman" pitchFamily="18" charset="0"/>
              </a:rPr>
              <a:t> – Электрон рақамли имзони</a:t>
            </a:r>
            <a:r>
              <a:rPr lang="uz-Cyrl-UZ" altLang="uz-Cyrl-UZ" sz="1800" smtClean="0">
                <a:latin typeface="Times New Roman" pitchFamily="18" charset="0"/>
              </a:rPr>
              <a:t> ҳақиқий эканлигини аниқловчи назорат ва очиқ</a:t>
            </a:r>
            <a:r>
              <a:rPr lang="ru-RU" altLang="uz-Cyrl-UZ" sz="1800" smtClean="0">
                <a:latin typeface="Times New Roman" pitchFamily="18" charset="0"/>
              </a:rPr>
              <a:t> сеанс </a:t>
            </a:r>
            <a:r>
              <a:rPr lang="uz-Cyrl-UZ" altLang="uz-Cyrl-UZ" sz="1800" smtClean="0">
                <a:latin typeface="Times New Roman" pitchFamily="18" charset="0"/>
              </a:rPr>
              <a:t>калити</a:t>
            </a:r>
            <a:r>
              <a:rPr lang="ru-RU" altLang="uz-Cyrl-UZ" sz="1800" smtClean="0">
                <a:latin typeface="Times New Roman" pitchFamily="18" charset="0"/>
              </a:rPr>
              <a:t>;</a:t>
            </a:r>
          </a:p>
          <a:p>
            <a:pPr marL="609600" indent="-609600" algn="just" eaLnBrk="1" hangingPunct="1">
              <a:buFont typeface="Arial" pitchFamily="34" charset="0"/>
              <a:buAutoNum type="arabicPeriod"/>
            </a:pPr>
            <a:r>
              <a:rPr lang="uz-Cyrl-UZ" sz="1800" b="1" smtClean="0">
                <a:solidFill>
                  <a:srgbClr val="FF0000"/>
                </a:solidFill>
                <a:latin typeface="Times New Roman" pitchFamily="18" charset="0"/>
                <a:cs typeface="Times New Roman" pitchFamily="18" charset="0"/>
              </a:rPr>
              <a:t>(R, g, к</a:t>
            </a:r>
            <a:r>
              <a:rPr lang="uz-Cyrl-UZ" sz="1800" b="1" baseline="-25000" smtClean="0">
                <a:solidFill>
                  <a:srgbClr val="FF0000"/>
                </a:solidFill>
                <a:latin typeface="Times New Roman" pitchFamily="18" charset="0"/>
                <a:cs typeface="Times New Roman" pitchFamily="18" charset="0"/>
              </a:rPr>
              <a:t>h</a:t>
            </a:r>
            <a:r>
              <a:rPr lang="uz-Cyrl-UZ" sz="1800" b="1" smtClean="0">
                <a:solidFill>
                  <a:srgbClr val="FF0000"/>
                </a:solidFill>
                <a:latin typeface="Times New Roman" pitchFamily="18" charset="0"/>
                <a:cs typeface="Times New Roman" pitchFamily="18" charset="0"/>
              </a:rPr>
              <a:t>)</a:t>
            </a:r>
            <a:r>
              <a:rPr lang="uz-Cyrl-UZ" sz="1800" smtClean="0">
                <a:latin typeface="Times New Roman" pitchFamily="18" charset="0"/>
                <a:cs typeface="Times New Roman" pitchFamily="18" charset="0"/>
              </a:rPr>
              <a:t> – ваколатланган субъектнинг махсус шахсий калити; </a:t>
            </a:r>
            <a:endParaRPr lang="uz-Cyrl-UZ" sz="1600" smtClean="0">
              <a:latin typeface="PANDA Times UZ"/>
              <a:cs typeface="Times New Roman" pitchFamily="18" charset="0"/>
            </a:endParaRPr>
          </a:p>
          <a:p>
            <a:pPr marL="609600" indent="-609600" algn="just" eaLnBrk="1" hangingPunct="1">
              <a:buFont typeface="Arial" pitchFamily="34" charset="0"/>
              <a:buAutoNum type="arabicPeriod"/>
            </a:pPr>
            <a:r>
              <a:rPr lang="uz-Cyrl-UZ" sz="1800" b="1" smtClean="0">
                <a:solidFill>
                  <a:srgbClr val="FF0000"/>
                </a:solidFill>
                <a:latin typeface="Times New Roman" pitchFamily="18" charset="0"/>
                <a:cs typeface="Times New Roman" pitchFamily="18" charset="0"/>
              </a:rPr>
              <a:t>к</a:t>
            </a:r>
            <a:r>
              <a:rPr lang="uz-Cyrl-UZ" sz="1800" b="1" baseline="-25000" smtClean="0">
                <a:solidFill>
                  <a:srgbClr val="FF0000"/>
                </a:solidFill>
                <a:latin typeface="Times New Roman" pitchFamily="18" charset="0"/>
                <a:cs typeface="Times New Roman" pitchFamily="18" charset="0"/>
              </a:rPr>
              <a:t>h</a:t>
            </a:r>
            <a:r>
              <a:rPr lang="uz-Cyrl-UZ" sz="1800" b="1" baseline="-25000" smtClean="0">
                <a:latin typeface="Times New Roman" pitchFamily="18" charset="0"/>
                <a:cs typeface="Times New Roman" pitchFamily="18" charset="0"/>
              </a:rPr>
              <a:t> </a:t>
            </a:r>
            <a:r>
              <a:rPr lang="uz-Cyrl-UZ" sz="1800" smtClean="0">
                <a:latin typeface="Times New Roman" pitchFamily="18" charset="0"/>
                <a:cs typeface="Times New Roman" pitchFamily="18" charset="0"/>
              </a:rPr>
              <a:t>– хэшлаш калити;</a:t>
            </a:r>
            <a:endParaRPr lang="uz-Cyrl-UZ" sz="1600" smtClean="0">
              <a:latin typeface="PANDA Times UZ"/>
              <a:cs typeface="Times New Roman" pitchFamily="18" charset="0"/>
            </a:endParaRPr>
          </a:p>
          <a:p>
            <a:pPr marL="609600" indent="-609600" algn="just" eaLnBrk="1" hangingPunct="1">
              <a:buFont typeface="Arial" pitchFamily="34" charset="0"/>
              <a:buAutoNum type="arabicPeriod"/>
            </a:pPr>
            <a:r>
              <a:rPr lang="en-US" altLang="uz-Cyrl-UZ" sz="1800" b="1" smtClean="0">
                <a:solidFill>
                  <a:srgbClr val="FF3300"/>
                </a:solidFill>
                <a:latin typeface="Times New Roman" pitchFamily="18" charset="0"/>
                <a:sym typeface="Symbol" pitchFamily="18" charset="2"/>
              </a:rPr>
              <a:t></a:t>
            </a:r>
            <a:r>
              <a:rPr lang="en-US" altLang="uz-Cyrl-UZ" sz="1800" smtClean="0">
                <a:latin typeface="Times New Roman" pitchFamily="18" charset="0"/>
              </a:rPr>
              <a:t> </a:t>
            </a:r>
            <a:r>
              <a:rPr lang="uz-Cyrl-UZ" sz="1800" smtClean="0">
                <a:latin typeface="Times New Roman" pitchFamily="18" charset="0"/>
                <a:cs typeface="Times New Roman" pitchFamily="18" charset="0"/>
              </a:rPr>
              <a:t>–</a:t>
            </a:r>
            <a:r>
              <a:rPr lang="ru-RU" altLang="uz-Cyrl-UZ" sz="1800" smtClean="0">
                <a:latin typeface="Times New Roman" pitchFamily="18" charset="0"/>
              </a:rPr>
              <a:t> </a:t>
            </a:r>
            <a:r>
              <a:rPr lang="uz-Cyrl-UZ" sz="1800" smtClean="0">
                <a:latin typeface="Times New Roman" pitchFamily="18" charset="0"/>
                <a:cs typeface="Times New Roman" pitchFamily="18" charset="0"/>
              </a:rPr>
              <a:t>модуль бўйича</a:t>
            </a:r>
            <a:r>
              <a:rPr lang="uz-Cyrl-UZ" sz="1800" i="1" smtClean="0">
                <a:latin typeface="Times New Roman" pitchFamily="18" charset="0"/>
                <a:cs typeface="Times New Roman" pitchFamily="18" charset="0"/>
              </a:rPr>
              <a:t> </a:t>
            </a:r>
            <a:r>
              <a:rPr lang="uz-Cyrl-UZ" sz="1800" smtClean="0">
                <a:latin typeface="Times New Roman" pitchFamily="18" charset="0"/>
                <a:cs typeface="Times New Roman" pitchFamily="18" charset="0"/>
              </a:rPr>
              <a:t>сонларни </a:t>
            </a:r>
            <a:r>
              <a:rPr lang="uz-Cyrl-UZ" sz="1800" b="1" i="1" smtClean="0">
                <a:latin typeface="Times New Roman" pitchFamily="18" charset="0"/>
                <a:cs typeface="Times New Roman" pitchFamily="18" charset="0"/>
              </a:rPr>
              <a:t>R</a:t>
            </a:r>
            <a:r>
              <a:rPr lang="uz-Cyrl-UZ" sz="1800" i="1" smtClean="0">
                <a:latin typeface="Times New Roman" pitchFamily="18" charset="0"/>
                <a:cs typeface="Times New Roman" pitchFamily="18" charset="0"/>
              </a:rPr>
              <a:t> </a:t>
            </a:r>
            <a:r>
              <a:rPr lang="uz-Cyrl-UZ" sz="1800" smtClean="0">
                <a:latin typeface="Times New Roman" pitchFamily="18" charset="0"/>
                <a:cs typeface="Times New Roman" pitchFamily="18" charset="0"/>
              </a:rPr>
              <a:t>параметр билан</a:t>
            </a:r>
            <a:r>
              <a:rPr lang="uz-Cyrl-UZ" sz="1800" i="1" smtClean="0">
                <a:latin typeface="Times New Roman" pitchFamily="18" charset="0"/>
                <a:cs typeface="Times New Roman" pitchFamily="18" charset="0"/>
              </a:rPr>
              <a:t> </a:t>
            </a:r>
            <a:r>
              <a:rPr lang="uz-Cyrl-UZ" sz="1800" smtClean="0">
                <a:latin typeface="Times New Roman" pitchFamily="18" charset="0"/>
                <a:cs typeface="Times New Roman" pitchFamily="18" charset="0"/>
              </a:rPr>
              <a:t>кўпайтириш амалининг символи;</a:t>
            </a:r>
            <a:endParaRPr lang="uz-Cyrl-UZ" altLang="uz-Cyrl-UZ" sz="1800" smtClean="0">
              <a:latin typeface="Times New Roman" pitchFamily="18" charset="0"/>
            </a:endParaRPr>
          </a:p>
          <a:p>
            <a:pPr marL="609600" indent="-609600" algn="just" eaLnBrk="1" hangingPunct="1">
              <a:buFont typeface="Arial" pitchFamily="34" charset="0"/>
              <a:buAutoNum type="arabicPeriod"/>
            </a:pPr>
            <a:r>
              <a:rPr lang="ru-RU" altLang="uz-Cyrl-UZ" sz="1800" b="1" baseline="30000" smtClean="0">
                <a:solidFill>
                  <a:srgbClr val="FF3300"/>
                </a:solidFill>
                <a:latin typeface="Times New Roman" pitchFamily="18" charset="0"/>
              </a:rPr>
              <a:t>\</a:t>
            </a:r>
            <a:r>
              <a:rPr lang="en-US" altLang="uz-Cyrl-UZ" sz="1800" b="1" baseline="30000" smtClean="0">
                <a:solidFill>
                  <a:srgbClr val="FF3300"/>
                </a:solidFill>
                <a:latin typeface="Times New Roman" pitchFamily="18" charset="0"/>
              </a:rPr>
              <a:t>e</a:t>
            </a:r>
            <a:r>
              <a:rPr lang="ru-RU" altLang="uz-Cyrl-UZ" sz="1800" b="1" smtClean="0">
                <a:solidFill>
                  <a:srgbClr val="009900"/>
                </a:solidFill>
                <a:latin typeface="Times New Roman" pitchFamily="18" charset="0"/>
              </a:rPr>
              <a:t> </a:t>
            </a:r>
            <a:r>
              <a:rPr lang="ru-RU" altLang="uz-Cyrl-UZ" sz="1800" smtClean="0">
                <a:latin typeface="Times New Roman" pitchFamily="18" charset="0"/>
              </a:rPr>
              <a:t>– </a:t>
            </a:r>
            <a:r>
              <a:rPr lang="ru-RU" sz="1800" smtClean="0">
                <a:latin typeface="Times New Roman" pitchFamily="18" charset="0"/>
                <a:cs typeface="Times New Roman" pitchFamily="18" charset="0"/>
              </a:rPr>
              <a:t>модуль бўйича</a:t>
            </a:r>
            <a:r>
              <a:rPr lang="ru-RU" sz="1800" i="1" smtClean="0">
                <a:latin typeface="Times New Roman" pitchFamily="18" charset="0"/>
                <a:cs typeface="Times New Roman" pitchFamily="18" charset="0"/>
              </a:rPr>
              <a:t> </a:t>
            </a:r>
            <a:r>
              <a:rPr lang="ru-RU" sz="1800" b="1" i="1" smtClean="0">
                <a:latin typeface="Times New Roman" pitchFamily="18" charset="0"/>
                <a:cs typeface="Times New Roman" pitchFamily="18" charset="0"/>
              </a:rPr>
              <a:t>е</a:t>
            </a:r>
            <a:r>
              <a:rPr lang="ru-RU" sz="1800" smtClean="0">
                <a:latin typeface="Times New Roman" pitchFamily="18" charset="0"/>
                <a:cs typeface="Times New Roman" pitchFamily="18" charset="0"/>
              </a:rPr>
              <a:t> даражага параметр билан</a:t>
            </a:r>
            <a:r>
              <a:rPr lang="ru-RU" sz="1800" i="1" smtClean="0">
                <a:latin typeface="Times New Roman" pitchFamily="18" charset="0"/>
                <a:cs typeface="Times New Roman" pitchFamily="18" charset="0"/>
              </a:rPr>
              <a:t> </a:t>
            </a:r>
            <a:r>
              <a:rPr lang="ru-RU" sz="1800" smtClean="0">
                <a:latin typeface="Times New Roman" pitchFamily="18" charset="0"/>
                <a:cs typeface="Times New Roman" pitchFamily="18" charset="0"/>
              </a:rPr>
              <a:t>кўтариш амалининг символи;</a:t>
            </a:r>
            <a:endParaRPr lang="ru-RU" altLang="uz-Cyrl-UZ" sz="1800" smtClean="0">
              <a:latin typeface="Times New Roman" pitchFamily="18" charset="0"/>
            </a:endParaRPr>
          </a:p>
          <a:p>
            <a:pPr marL="609600" indent="-609600" algn="just" eaLnBrk="1" hangingPunct="1">
              <a:buFont typeface="Arial" pitchFamily="34" charset="0"/>
              <a:buAutoNum type="arabicPeriod"/>
            </a:pPr>
            <a:r>
              <a:rPr lang="ru-RU" altLang="uz-Cyrl-UZ" sz="1800" b="1" baseline="30000" smtClean="0">
                <a:solidFill>
                  <a:srgbClr val="FF3300"/>
                </a:solidFill>
                <a:latin typeface="Times New Roman" pitchFamily="18" charset="0"/>
              </a:rPr>
              <a:t>\-1</a:t>
            </a:r>
            <a:r>
              <a:rPr lang="ru-RU" altLang="uz-Cyrl-UZ" sz="1800" smtClean="0">
                <a:latin typeface="Times New Roman" pitchFamily="18" charset="0"/>
              </a:rPr>
              <a:t> – </a:t>
            </a:r>
            <a:r>
              <a:rPr lang="ru-RU" sz="1800" smtClean="0">
                <a:latin typeface="Times New Roman" pitchFamily="18" charset="0"/>
                <a:cs typeface="Times New Roman" pitchFamily="18" charset="0"/>
              </a:rPr>
              <a:t>модуль бўйича</a:t>
            </a:r>
            <a:r>
              <a:rPr lang="ru-RU" sz="1800" i="1" smtClean="0">
                <a:latin typeface="Times New Roman" pitchFamily="18" charset="0"/>
                <a:cs typeface="Times New Roman" pitchFamily="18" charset="0"/>
              </a:rPr>
              <a:t> </a:t>
            </a:r>
            <a:r>
              <a:rPr lang="ru-RU" sz="1800" smtClean="0">
                <a:latin typeface="Times New Roman" pitchFamily="18" charset="0"/>
                <a:cs typeface="Times New Roman" pitchFamily="18" charset="0"/>
              </a:rPr>
              <a:t>параметр билан</a:t>
            </a:r>
            <a:r>
              <a:rPr lang="ru-RU" sz="1800" i="1" smtClean="0">
                <a:latin typeface="Times New Roman" pitchFamily="18" charset="0"/>
                <a:cs typeface="Times New Roman" pitchFamily="18" charset="0"/>
              </a:rPr>
              <a:t> </a:t>
            </a:r>
            <a:r>
              <a:rPr lang="ru-RU" sz="1800" smtClean="0">
                <a:latin typeface="Times New Roman" pitchFamily="18" charset="0"/>
                <a:cs typeface="Times New Roman" pitchFamily="18" charset="0"/>
              </a:rPr>
              <a:t>тескарилаш амалининг символи;</a:t>
            </a:r>
            <a:endParaRPr lang="ru-RU" altLang="uz-Cyrl-UZ" sz="1800" smtClean="0">
              <a:latin typeface="Times New Roman" pitchFamily="18" charset="0"/>
            </a:endParaRPr>
          </a:p>
          <a:p>
            <a:pPr marL="609600" indent="-609600" algn="just" eaLnBrk="1" hangingPunct="1">
              <a:buFont typeface="Arial" pitchFamily="34" charset="0"/>
              <a:buAutoNum type="arabicPeriod"/>
            </a:pPr>
            <a:r>
              <a:rPr lang="ru-RU" altLang="uz-Cyrl-UZ" sz="1800" b="1" baseline="30000" smtClean="0">
                <a:solidFill>
                  <a:srgbClr val="FF3300"/>
                </a:solidFill>
                <a:latin typeface="Times New Roman" pitchFamily="18" charset="0"/>
              </a:rPr>
              <a:t>-1</a:t>
            </a:r>
            <a:r>
              <a:rPr lang="ru-RU" altLang="uz-Cyrl-UZ" sz="1800" smtClean="0">
                <a:latin typeface="Times New Roman" pitchFamily="18" charset="0"/>
              </a:rPr>
              <a:t> – </a:t>
            </a:r>
            <a:r>
              <a:rPr lang="ru-RU" sz="1800" smtClean="0">
                <a:latin typeface="Times New Roman" pitchFamily="18" charset="0"/>
                <a:cs typeface="Times New Roman" pitchFamily="18" charset="0"/>
              </a:rPr>
              <a:t>модуль бўйича</a:t>
            </a:r>
            <a:r>
              <a:rPr lang="ru-RU" sz="1800" i="1" smtClean="0">
                <a:latin typeface="Times New Roman" pitchFamily="18" charset="0"/>
                <a:cs typeface="Times New Roman" pitchFamily="18" charset="0"/>
              </a:rPr>
              <a:t> </a:t>
            </a:r>
            <a:r>
              <a:rPr lang="ru-RU" sz="1800" smtClean="0">
                <a:latin typeface="Times New Roman" pitchFamily="18" charset="0"/>
                <a:cs typeface="Times New Roman" pitchFamily="18" charset="0"/>
              </a:rPr>
              <a:t>тескарилаш амалининг символи.</a:t>
            </a:r>
            <a:endParaRPr lang="ru-RU" altLang="uz-Cyrl-UZ" sz="1800" smtClean="0">
              <a:latin typeface="Times New Roman" pitchFamily="18" charset="0"/>
            </a:endParaRPr>
          </a:p>
        </p:txBody>
      </p:sp>
      <p:sp>
        <p:nvSpPr>
          <p:cNvPr id="4099" name="Rectangle 3"/>
          <p:cNvSpPr>
            <a:spLocks noChangeArrowheads="1"/>
          </p:cNvSpPr>
          <p:nvPr/>
        </p:nvSpPr>
        <p:spPr bwMode="auto">
          <a:xfrm>
            <a:off x="250825" y="260350"/>
            <a:ext cx="8642350" cy="498475"/>
          </a:xfrm>
          <a:prstGeom prst="rect">
            <a:avLst/>
          </a:prstGeom>
          <a:solidFill>
            <a:srgbClr val="CCFFCC"/>
          </a:solidFill>
          <a:ln w="9525">
            <a:solidFill>
              <a:srgbClr val="333300"/>
            </a:solidFill>
            <a:miter lim="800000"/>
            <a:headEnd/>
            <a:tailEnd/>
          </a:ln>
        </p:spPr>
        <p:txBody>
          <a:bodyPr>
            <a:spAutoFit/>
          </a:bodyPr>
          <a:lstStyle/>
          <a:p>
            <a:pPr algn="ctr"/>
            <a:r>
              <a:rPr lang="ru-RU" altLang="uz-Cyrl-UZ" sz="2600" b="1">
                <a:latin typeface="Times New Roman" pitchFamily="18" charset="0"/>
              </a:rPr>
              <a:t>2. Белгилашлар</a:t>
            </a:r>
            <a:r>
              <a:rPr lang="ru-RU" altLang="uz-Cyrl-UZ" sz="2200" b="1">
                <a:latin typeface="Times New Roman" pitchFamily="18" charset="0"/>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Содержимое 2"/>
          <p:cNvSpPr>
            <a:spLocks noGrp="1"/>
          </p:cNvSpPr>
          <p:nvPr>
            <p:ph idx="1"/>
          </p:nvPr>
        </p:nvSpPr>
        <p:spPr>
          <a:xfrm>
            <a:off x="193675" y="692150"/>
            <a:ext cx="8713788" cy="5545138"/>
          </a:xfrm>
        </p:spPr>
        <p:txBody>
          <a:bodyPr/>
          <a:lstStyle/>
          <a:p>
            <a:pPr algn="just" eaLnBrk="1" hangingPunct="1">
              <a:buFont typeface="Arial" pitchFamily="34" charset="0"/>
              <a:buNone/>
            </a:pPr>
            <a:r>
              <a:rPr lang="uz-Cyrl-UZ" altLang="uz-Cyrl-UZ" sz="2200" b="1" smtClean="0">
                <a:latin typeface="Times New Roman" pitchFamily="18" charset="0"/>
              </a:rPr>
              <a:t>3.1. Математик таърифлаш</a:t>
            </a:r>
            <a:endParaRPr lang="uz-Cyrl-UZ" altLang="uz-Cyrl-UZ" sz="2200" smtClean="0">
              <a:latin typeface="Times New Roman" pitchFamily="18" charset="0"/>
            </a:endParaRPr>
          </a:p>
          <a:p>
            <a:pPr algn="just" eaLnBrk="1" hangingPunct="1">
              <a:buFont typeface="Arial" pitchFamily="34" charset="0"/>
              <a:buNone/>
            </a:pPr>
            <a:r>
              <a:rPr lang="ru-RU" altLang="uz-Cyrl-UZ" sz="2200" b="1" i="1" smtClean="0">
                <a:latin typeface="Times New Roman" pitchFamily="18" charset="0"/>
              </a:rPr>
              <a:t>		</a:t>
            </a:r>
            <a:r>
              <a:rPr lang="uz-Cyrl-UZ" altLang="uz-Cyrl-UZ" sz="2100" b="1" i="1" smtClean="0">
                <a:latin typeface="Times New Roman" pitchFamily="18" charset="0"/>
              </a:rPr>
              <a:t>Таъриф:</a:t>
            </a:r>
            <a:r>
              <a:rPr lang="uz-Cyrl-UZ" altLang="uz-Cyrl-UZ" sz="2100" smtClean="0">
                <a:latin typeface="Times New Roman" pitchFamily="18" charset="0"/>
              </a:rPr>
              <a:t> Модуль арифметикасида параметр </a:t>
            </a:r>
            <a:r>
              <a:rPr lang="en-US" altLang="uz-Cyrl-UZ" sz="2100" smtClean="0">
                <a:latin typeface="Times New Roman" pitchFamily="18" charset="0"/>
              </a:rPr>
              <a:t>R</a:t>
            </a:r>
            <a:r>
              <a:rPr lang="ru-RU" altLang="uz-Cyrl-UZ" sz="2100" smtClean="0">
                <a:latin typeface="Times New Roman" pitchFamily="18" charset="0"/>
              </a:rPr>
              <a:t>≥1 </a:t>
            </a:r>
            <a:r>
              <a:rPr lang="uz-Cyrl-UZ" altLang="uz-Cyrl-UZ" sz="2100" smtClean="0">
                <a:latin typeface="Times New Roman" pitchFamily="18" charset="0"/>
              </a:rPr>
              <a:t>билан даражага</a:t>
            </a:r>
            <a:r>
              <a:rPr lang="ru-RU" altLang="uz-Cyrl-UZ" sz="2100" smtClean="0">
                <a:latin typeface="Times New Roman" pitchFamily="18" charset="0"/>
              </a:rPr>
              <a:t> </a:t>
            </a:r>
            <a:r>
              <a:rPr lang="uz-Cyrl-UZ" altLang="uz-Cyrl-UZ" sz="2100" smtClean="0">
                <a:latin typeface="Times New Roman" pitchFamily="18" charset="0"/>
              </a:rPr>
              <a:t>ошириш функцияси </a:t>
            </a:r>
            <a:r>
              <a:rPr lang="uz-Cyrl-UZ" altLang="uz-Cyrl-UZ" sz="2100" b="1" u="sng" smtClean="0">
                <a:latin typeface="Times New Roman" pitchFamily="18" charset="0"/>
              </a:rPr>
              <a:t>параметрли</a:t>
            </a:r>
            <a:r>
              <a:rPr lang="uz-Cyrl-UZ" altLang="uz-Cyrl-UZ" sz="2100" b="1" smtClean="0">
                <a:latin typeface="Times New Roman" pitchFamily="18" charset="0"/>
              </a:rPr>
              <a:t> </a:t>
            </a:r>
            <a:r>
              <a:rPr lang="uz-Cyrl-UZ" altLang="uz-Cyrl-UZ" sz="2100" b="1" u="sng" smtClean="0">
                <a:latin typeface="Times New Roman" pitchFamily="18" charset="0"/>
              </a:rPr>
              <a:t>функция</a:t>
            </a:r>
            <a:r>
              <a:rPr lang="uz-Cyrl-UZ" altLang="uz-Cyrl-UZ" sz="2100" b="1" smtClean="0">
                <a:latin typeface="Times New Roman" pitchFamily="18" charset="0"/>
              </a:rPr>
              <a:t> </a:t>
            </a:r>
            <a:r>
              <a:rPr lang="ru-RU" altLang="uz-Cyrl-UZ" sz="2100" b="1" smtClean="0">
                <a:latin typeface="Times New Roman" pitchFamily="18" charset="0"/>
              </a:rPr>
              <a:t>(</a:t>
            </a:r>
            <a:r>
              <a:rPr lang="en-US" altLang="uz-Cyrl-UZ" sz="2100" b="1" i="1" smtClean="0">
                <a:latin typeface="Times New Roman" pitchFamily="18" charset="0"/>
              </a:rPr>
              <a:t>F(x)</a:t>
            </a:r>
            <a:r>
              <a:rPr lang="ru-RU" altLang="uz-Cyrl-UZ" sz="2100" b="1" smtClean="0">
                <a:latin typeface="Times New Roman" pitchFamily="18" charset="0"/>
              </a:rPr>
              <a:t>)</a:t>
            </a:r>
            <a:r>
              <a:rPr lang="en-US" altLang="uz-Cyrl-UZ" sz="2100" b="1" smtClean="0">
                <a:latin typeface="Times New Roman" pitchFamily="18" charset="0"/>
              </a:rPr>
              <a:t> </a:t>
            </a:r>
            <a:r>
              <a:rPr lang="uz-Cyrl-UZ" altLang="uz-Cyrl-UZ" sz="2100" smtClean="0">
                <a:latin typeface="Times New Roman" pitchFamily="18" charset="0"/>
              </a:rPr>
              <a:t>деб аталади.</a:t>
            </a:r>
            <a:r>
              <a:rPr lang="ru-RU" altLang="uz-Cyrl-UZ" sz="2200" smtClean="0"/>
              <a:t> </a:t>
            </a:r>
            <a:endParaRPr lang="en-US" altLang="uz-Cyrl-UZ" sz="2200" smtClean="0"/>
          </a:p>
          <a:p>
            <a:pPr algn="just" eaLnBrk="1" hangingPunct="1">
              <a:buFont typeface="Arial" pitchFamily="34" charset="0"/>
              <a:buNone/>
            </a:pPr>
            <a:r>
              <a:rPr lang="en-US" altLang="uz-Cyrl-UZ" smtClean="0"/>
              <a:t>		</a:t>
            </a:r>
            <a:r>
              <a:rPr lang="ru-RU" altLang="uz-Cyrl-UZ" sz="2200" b="1" i="1" smtClean="0">
                <a:latin typeface="Academy" pitchFamily="2" charset="0"/>
              </a:rPr>
              <a:t>Теорема: </a:t>
            </a:r>
            <a:r>
              <a:rPr lang="en-US" altLang="uz-Cyrl-UZ" sz="2100" b="1" i="1" smtClean="0">
                <a:latin typeface="Times New Roman" pitchFamily="18" charset="0"/>
              </a:rPr>
              <a:t>F(x) </a:t>
            </a:r>
            <a:r>
              <a:rPr lang="ru-RU" altLang="uz-Cyrl-UZ" sz="2100" smtClean="0">
                <a:latin typeface="Times New Roman" pitchFamily="18" charset="0"/>
              </a:rPr>
              <a:t>параметрли функция </a:t>
            </a:r>
            <a:r>
              <a:rPr lang="uz-Cyrl-UZ" altLang="uz-Cyrl-UZ" sz="2100" smtClean="0">
                <a:latin typeface="Times New Roman" pitchFamily="18" charset="0"/>
              </a:rPr>
              <a:t>қуйидаги ифода орқали аниқланади</a:t>
            </a:r>
            <a:r>
              <a:rPr lang="en-US" altLang="uz-Cyrl-UZ" sz="2100" smtClean="0">
                <a:latin typeface="Times New Roman" pitchFamily="18" charset="0"/>
              </a:rPr>
              <a:t>:</a:t>
            </a:r>
            <a:r>
              <a:rPr lang="uz-Cyrl-UZ" altLang="uz-Cyrl-UZ" sz="2100" smtClean="0">
                <a:latin typeface="Times New Roman" pitchFamily="18" charset="0"/>
              </a:rPr>
              <a:t>	</a:t>
            </a:r>
            <a:r>
              <a:rPr lang="en-US" altLang="uz-Cyrl-UZ" sz="2100" smtClean="0">
                <a:latin typeface="Times New Roman" pitchFamily="18" charset="0"/>
              </a:rPr>
              <a:t> </a:t>
            </a:r>
            <a:r>
              <a:rPr lang="en-US" altLang="uz-Cyrl-UZ" sz="2100" b="1" i="1" smtClean="0">
                <a:latin typeface="Times New Roman" pitchFamily="18" charset="0"/>
              </a:rPr>
              <a:t>F(x)=1+R*x</a:t>
            </a:r>
          </a:p>
          <a:p>
            <a:pPr algn="just" eaLnBrk="1" hangingPunct="1">
              <a:buFont typeface="Arial" pitchFamily="34" charset="0"/>
              <a:buNone/>
            </a:pPr>
            <a:r>
              <a:rPr lang="ru-RU" altLang="uz-Cyrl-UZ" sz="2100" b="1" i="1" smtClean="0">
                <a:latin typeface="Times New Roman" pitchFamily="18" charset="0"/>
              </a:rPr>
              <a:t>Мисол: </a:t>
            </a:r>
            <a:r>
              <a:rPr lang="en-US" altLang="uz-Cyrl-UZ" sz="2100" i="1" smtClean="0">
                <a:latin typeface="Times New Roman" pitchFamily="18" charset="0"/>
              </a:rPr>
              <a:t>R=2, x=21</a:t>
            </a:r>
            <a:r>
              <a:rPr lang="ru-RU" altLang="uz-Cyrl-UZ" sz="2100" i="1" smtClean="0">
                <a:latin typeface="Times New Roman" pitchFamily="18" charset="0"/>
              </a:rPr>
              <a:t> да </a:t>
            </a:r>
            <a:r>
              <a:rPr lang="en-US" altLang="uz-Cyrl-UZ" sz="2100" i="1" smtClean="0">
                <a:latin typeface="Times New Roman" pitchFamily="18" charset="0"/>
              </a:rPr>
              <a:t>F(</a:t>
            </a:r>
            <a:r>
              <a:rPr lang="ru-RU" altLang="uz-Cyrl-UZ" sz="2100" i="1" smtClean="0">
                <a:latin typeface="Times New Roman" pitchFamily="18" charset="0"/>
              </a:rPr>
              <a:t>21</a:t>
            </a:r>
            <a:r>
              <a:rPr lang="en-US" altLang="uz-Cyrl-UZ" sz="2100" i="1" smtClean="0">
                <a:latin typeface="Times New Roman" pitchFamily="18" charset="0"/>
              </a:rPr>
              <a:t>)</a:t>
            </a:r>
            <a:r>
              <a:rPr lang="ru-RU" altLang="uz-Cyrl-UZ" sz="2100" i="1" smtClean="0">
                <a:latin typeface="Times New Roman" pitchFamily="18" charset="0"/>
              </a:rPr>
              <a:t>=1+2*21=43</a:t>
            </a:r>
            <a:endParaRPr lang="ru-RU" altLang="uz-Cyrl-UZ" sz="2200" i="1" smtClean="0">
              <a:latin typeface="Academy" pitchFamily="2" charset="0"/>
            </a:endParaRPr>
          </a:p>
          <a:p>
            <a:pPr algn="just" eaLnBrk="1" hangingPunct="1">
              <a:buFont typeface="Arial" pitchFamily="34" charset="0"/>
              <a:buNone/>
            </a:pPr>
            <a:endParaRPr lang="ru-RU" altLang="uz-Cyrl-UZ" sz="1000" b="1" smtClean="0">
              <a:latin typeface="Times New Roman" pitchFamily="18" charset="0"/>
            </a:endParaRPr>
          </a:p>
          <a:p>
            <a:pPr algn="just" eaLnBrk="1" hangingPunct="1">
              <a:buFont typeface="Arial" pitchFamily="34" charset="0"/>
              <a:buNone/>
            </a:pPr>
            <a:r>
              <a:rPr lang="uz-Cyrl-UZ" altLang="uz-Cyrl-UZ" sz="2200" b="1" smtClean="0">
                <a:solidFill>
                  <a:srgbClr val="FF3300"/>
                </a:solidFill>
                <a:latin typeface="Times New Roman" pitchFamily="18" charset="0"/>
              </a:rPr>
              <a:t>3</a:t>
            </a:r>
            <a:r>
              <a:rPr lang="en-US" altLang="uz-Cyrl-UZ" sz="2200" b="1" smtClean="0">
                <a:solidFill>
                  <a:srgbClr val="FF3300"/>
                </a:solidFill>
                <a:latin typeface="Times New Roman" pitchFamily="18" charset="0"/>
              </a:rPr>
              <a:t>.</a:t>
            </a:r>
            <a:r>
              <a:rPr lang="uz-Cyrl-UZ" altLang="uz-Cyrl-UZ" sz="2200" b="1" smtClean="0">
                <a:solidFill>
                  <a:srgbClr val="FF3300"/>
                </a:solidFill>
                <a:latin typeface="Times New Roman" pitchFamily="18" charset="0"/>
              </a:rPr>
              <a:t>1.1.</a:t>
            </a:r>
            <a:r>
              <a:rPr lang="en-US" altLang="uz-Cyrl-UZ" sz="2200" b="1" smtClean="0">
                <a:solidFill>
                  <a:srgbClr val="FF3300"/>
                </a:solidFill>
                <a:latin typeface="Times New Roman" pitchFamily="18" charset="0"/>
              </a:rPr>
              <a:t> </a:t>
            </a:r>
            <a:r>
              <a:rPr lang="en-US" altLang="uz-Cyrl-UZ" sz="2200" b="1" i="1" smtClean="0">
                <a:solidFill>
                  <a:srgbClr val="FF3300"/>
                </a:solidFill>
                <a:latin typeface="Times New Roman" pitchFamily="18" charset="0"/>
              </a:rPr>
              <a:t>R</a:t>
            </a:r>
            <a:r>
              <a:rPr lang="en-US" altLang="uz-Cyrl-UZ" sz="2200" smtClean="0">
                <a:solidFill>
                  <a:srgbClr val="FF3300"/>
                </a:solidFill>
                <a:latin typeface="Times New Roman" pitchFamily="18" charset="0"/>
              </a:rPr>
              <a:t> </a:t>
            </a:r>
            <a:r>
              <a:rPr lang="uz-Cyrl-UZ" altLang="uz-Cyrl-UZ" sz="2200" smtClean="0">
                <a:solidFill>
                  <a:srgbClr val="FF3300"/>
                </a:solidFill>
                <a:latin typeface="Times New Roman" pitchFamily="18" charset="0"/>
              </a:rPr>
              <a:t>коофицентли </a:t>
            </a:r>
            <a:r>
              <a:rPr lang="en-US" altLang="uz-Cyrl-UZ" sz="2200" b="1" i="1" smtClean="0">
                <a:solidFill>
                  <a:srgbClr val="FF3300"/>
                </a:solidFill>
                <a:latin typeface="Times New Roman" pitchFamily="18" charset="0"/>
              </a:rPr>
              <a:t>p</a:t>
            </a:r>
            <a:r>
              <a:rPr lang="uz-Cyrl-UZ" altLang="uz-Cyrl-UZ" sz="2200" smtClean="0">
                <a:solidFill>
                  <a:srgbClr val="FF3300"/>
                </a:solidFill>
                <a:latin typeface="Times New Roman" pitchFamily="18" charset="0"/>
              </a:rPr>
              <a:t> модул бўйича кўпайтириш жараёни куйдагича аниқланади:</a:t>
            </a:r>
            <a:endParaRPr lang="ru-RU" altLang="uz-Cyrl-UZ" sz="2200" smtClean="0">
              <a:solidFill>
                <a:srgbClr val="FF3300"/>
              </a:solidFill>
              <a:latin typeface="Times New Roman" pitchFamily="18" charset="0"/>
            </a:endParaRPr>
          </a:p>
          <a:p>
            <a:pPr algn="ctr" eaLnBrk="1" hangingPunct="1">
              <a:buFont typeface="Arial" pitchFamily="34" charset="0"/>
              <a:buNone/>
            </a:pPr>
            <a:r>
              <a:rPr lang="en-US" altLang="uz-Cyrl-UZ" sz="2200" b="1" i="1" smtClean="0">
                <a:latin typeface="Times New Roman" pitchFamily="18" charset="0"/>
              </a:rPr>
              <a:t>X </a:t>
            </a:r>
            <a:r>
              <a:rPr lang="en-US" altLang="uz-Cyrl-UZ" sz="2200" b="1" smtClean="0">
                <a:latin typeface="Times New Roman" pitchFamily="18" charset="0"/>
                <a:sym typeface="Symbol" pitchFamily="18" charset="2"/>
              </a:rPr>
              <a:t></a:t>
            </a:r>
            <a:r>
              <a:rPr lang="en-US" altLang="uz-Cyrl-UZ" sz="2200" b="1" smtClean="0">
                <a:latin typeface="Times New Roman" pitchFamily="18" charset="0"/>
              </a:rPr>
              <a:t> </a:t>
            </a:r>
            <a:r>
              <a:rPr lang="en-US" altLang="uz-Cyrl-UZ" sz="2200" b="1" i="1" smtClean="0">
                <a:latin typeface="Times New Roman" pitchFamily="18" charset="0"/>
              </a:rPr>
              <a:t>Y (mod p) </a:t>
            </a:r>
            <a:r>
              <a:rPr lang="en-US" altLang="uz-Cyrl-UZ" sz="2200" b="1" i="1" smtClean="0">
                <a:latin typeface="Times New Roman" pitchFamily="18" charset="0"/>
                <a:sym typeface="Symbol" pitchFamily="18" charset="2"/>
              </a:rPr>
              <a:t></a:t>
            </a:r>
            <a:r>
              <a:rPr lang="en-US" altLang="uz-Cyrl-UZ" sz="2200" b="1" i="1" smtClean="0">
                <a:latin typeface="Times New Roman" pitchFamily="18" charset="0"/>
              </a:rPr>
              <a:t> </a:t>
            </a:r>
            <a:r>
              <a:rPr lang="uz-Cyrl-UZ" altLang="uz-Cyrl-UZ" sz="2200" b="1" i="1" smtClean="0">
                <a:latin typeface="Times New Roman" pitchFamily="18" charset="0"/>
              </a:rPr>
              <a:t>Х+</a:t>
            </a:r>
            <a:r>
              <a:rPr lang="en-US" altLang="uz-Cyrl-UZ" sz="2200" b="1" i="1" smtClean="0">
                <a:latin typeface="Times New Roman" pitchFamily="18" charset="0"/>
              </a:rPr>
              <a:t>F(X) </a:t>
            </a:r>
            <a:r>
              <a:rPr lang="en-US" altLang="uz-Cyrl-UZ" sz="2500" b="1" i="1" baseline="30000" smtClean="0">
                <a:latin typeface="Times New Roman" pitchFamily="18" charset="0"/>
              </a:rPr>
              <a:t>.</a:t>
            </a:r>
            <a:r>
              <a:rPr lang="en-US" altLang="uz-Cyrl-UZ" sz="2200" b="1" i="1" smtClean="0">
                <a:latin typeface="Times New Roman" pitchFamily="18" charset="0"/>
              </a:rPr>
              <a:t>Y (mod p)</a:t>
            </a:r>
            <a:r>
              <a:rPr lang="en-US" altLang="uz-Cyrl-UZ" sz="2200" b="1" i="1" smtClean="0">
                <a:latin typeface="Times New Roman" pitchFamily="18" charset="0"/>
                <a:sym typeface="Symbol" pitchFamily="18" charset="2"/>
              </a:rPr>
              <a:t></a:t>
            </a:r>
            <a:r>
              <a:rPr lang="en-US" altLang="uz-Cyrl-UZ" sz="2200" b="1" i="1" smtClean="0">
                <a:latin typeface="Times New Roman" pitchFamily="18" charset="0"/>
              </a:rPr>
              <a:t> X + (1 + X </a:t>
            </a:r>
            <a:r>
              <a:rPr lang="en-US" altLang="uz-Cyrl-UZ" sz="2200" b="1" smtClean="0">
                <a:latin typeface="Times New Roman" pitchFamily="18" charset="0"/>
              </a:rPr>
              <a:t>х</a:t>
            </a:r>
            <a:r>
              <a:rPr lang="en-US" altLang="uz-Cyrl-UZ" sz="2200" b="1" i="1" smtClean="0">
                <a:latin typeface="Times New Roman" pitchFamily="18" charset="0"/>
              </a:rPr>
              <a:t> R)  </a:t>
            </a:r>
            <a:r>
              <a:rPr lang="en-US" altLang="uz-Cyrl-UZ" sz="2200" b="1" smtClean="0">
                <a:latin typeface="Times New Roman" pitchFamily="18" charset="0"/>
              </a:rPr>
              <a:t>х </a:t>
            </a:r>
            <a:r>
              <a:rPr lang="en-US" altLang="uz-Cyrl-UZ" sz="2200" b="1" i="1" smtClean="0">
                <a:latin typeface="Times New Roman" pitchFamily="18" charset="0"/>
              </a:rPr>
              <a:t>Y (mod p)</a:t>
            </a:r>
            <a:r>
              <a:rPr lang="en-US" altLang="uz-Cyrl-UZ" sz="2200" b="1" smtClean="0">
                <a:latin typeface="Times New Roman" pitchFamily="18" charset="0"/>
              </a:rPr>
              <a:t>.</a:t>
            </a:r>
          </a:p>
          <a:p>
            <a:pPr eaLnBrk="1" hangingPunct="1">
              <a:buFont typeface="Arial" pitchFamily="34" charset="0"/>
              <a:buNone/>
            </a:pPr>
            <a:r>
              <a:rPr lang="ru-RU" altLang="uz-Cyrl-UZ" sz="2200" b="1" i="1" smtClean="0">
                <a:latin typeface="Times New Roman" pitchFamily="18" charset="0"/>
              </a:rPr>
              <a:t>Мисол: </a:t>
            </a:r>
            <a:r>
              <a:rPr lang="en-US" altLang="uz-Cyrl-UZ" sz="2200" i="1" smtClean="0">
                <a:latin typeface="Times New Roman" pitchFamily="18" charset="0"/>
              </a:rPr>
              <a:t>R=5, </a:t>
            </a:r>
            <a:r>
              <a:rPr lang="ru-RU" altLang="uz-Cyrl-UZ" sz="2200" i="1" smtClean="0">
                <a:latin typeface="Times New Roman" pitchFamily="18" charset="0"/>
              </a:rPr>
              <a:t>х=3, у=4, р=7 б</a:t>
            </a:r>
            <a:r>
              <a:rPr lang="en-US" altLang="uz-Cyrl-UZ" sz="2200" i="1" smtClean="0">
                <a:latin typeface="Times New Roman" pitchFamily="18" charset="0"/>
              </a:rPr>
              <a:t>/</a:t>
            </a:r>
            <a:r>
              <a:rPr lang="uz-Cyrl-UZ" altLang="uz-Cyrl-UZ" sz="2200" i="1" smtClean="0">
                <a:latin typeface="Times New Roman" pitchFamily="18" charset="0"/>
              </a:rPr>
              <a:t>да 3</a:t>
            </a:r>
            <a:r>
              <a:rPr lang="en-US" altLang="uz-Cyrl-UZ" sz="2200" i="1" smtClean="0">
                <a:latin typeface="Times New Roman" pitchFamily="18" charset="0"/>
              </a:rPr>
              <a:t> </a:t>
            </a:r>
            <a:r>
              <a:rPr lang="en-US" altLang="uz-Cyrl-UZ" sz="2200" smtClean="0">
                <a:latin typeface="Times New Roman" pitchFamily="18" charset="0"/>
                <a:sym typeface="Symbol" pitchFamily="18" charset="2"/>
              </a:rPr>
              <a:t></a:t>
            </a:r>
            <a:r>
              <a:rPr lang="en-US" altLang="uz-Cyrl-UZ" sz="2200" smtClean="0">
                <a:latin typeface="Times New Roman" pitchFamily="18" charset="0"/>
              </a:rPr>
              <a:t> </a:t>
            </a:r>
            <a:r>
              <a:rPr lang="uz-Cyrl-UZ" altLang="uz-Cyrl-UZ" sz="2200" i="1" smtClean="0">
                <a:latin typeface="Times New Roman" pitchFamily="18" charset="0"/>
              </a:rPr>
              <a:t>4</a:t>
            </a:r>
            <a:r>
              <a:rPr lang="en-US" altLang="uz-Cyrl-UZ" sz="2200" i="1" smtClean="0">
                <a:latin typeface="Times New Roman" pitchFamily="18" charset="0"/>
              </a:rPr>
              <a:t> (mod </a:t>
            </a:r>
            <a:r>
              <a:rPr lang="uz-Cyrl-UZ" altLang="uz-Cyrl-UZ" sz="2200" i="1" smtClean="0">
                <a:latin typeface="Times New Roman" pitchFamily="18" charset="0"/>
              </a:rPr>
              <a:t>7</a:t>
            </a:r>
            <a:r>
              <a:rPr lang="en-US" altLang="uz-Cyrl-UZ" sz="2200" i="1" smtClean="0">
                <a:latin typeface="Times New Roman" pitchFamily="18" charset="0"/>
              </a:rPr>
              <a:t>)</a:t>
            </a:r>
            <a:r>
              <a:rPr lang="en-US" altLang="uz-Cyrl-UZ" sz="2200" i="1" smtClean="0">
                <a:latin typeface="Times New Roman" pitchFamily="18" charset="0"/>
                <a:sym typeface="Symbol" pitchFamily="18" charset="2"/>
              </a:rPr>
              <a:t></a:t>
            </a:r>
            <a:r>
              <a:rPr lang="uz-Cyrl-UZ" altLang="uz-Cyrl-UZ" sz="2200" i="1" smtClean="0">
                <a:latin typeface="Times New Roman" pitchFamily="18" charset="0"/>
              </a:rPr>
              <a:t>3+(1</a:t>
            </a:r>
            <a:r>
              <a:rPr lang="en-US" altLang="uz-Cyrl-UZ" sz="2200" i="1" smtClean="0">
                <a:latin typeface="Times New Roman" pitchFamily="18" charset="0"/>
              </a:rPr>
              <a:t>+3*5)*4(mod7)</a:t>
            </a:r>
            <a:r>
              <a:rPr lang="en-US" altLang="uz-Cyrl-UZ" sz="2200" b="1" i="1" smtClean="0">
                <a:latin typeface="Times New Roman" pitchFamily="18" charset="0"/>
                <a:sym typeface="Symbol" pitchFamily="18" charset="2"/>
              </a:rPr>
              <a:t></a:t>
            </a:r>
            <a:r>
              <a:rPr lang="en-US" altLang="uz-Cyrl-UZ" sz="2200" b="1" i="1" smtClean="0">
                <a:latin typeface="Times New Roman" pitchFamily="18" charset="0"/>
              </a:rPr>
              <a:t> </a:t>
            </a:r>
            <a:r>
              <a:rPr lang="ru-RU" altLang="uz-Cyrl-UZ" sz="2200" i="1" smtClean="0">
                <a:latin typeface="Times New Roman" pitchFamily="18" charset="0"/>
              </a:rPr>
              <a:t>4</a:t>
            </a:r>
          </a:p>
          <a:p>
            <a:pPr algn="just" eaLnBrk="1" hangingPunct="1">
              <a:buFont typeface="Arial" pitchFamily="34" charset="0"/>
              <a:buNone/>
            </a:pPr>
            <a:r>
              <a:rPr lang="ru-RU" altLang="uz-Cyrl-UZ" sz="1000" b="1" smtClean="0">
                <a:latin typeface="Times New Roman" pitchFamily="18" charset="0"/>
              </a:rPr>
              <a:t> </a:t>
            </a:r>
          </a:p>
          <a:p>
            <a:pPr algn="just" eaLnBrk="1" hangingPunct="1">
              <a:buFont typeface="Arial" pitchFamily="34" charset="0"/>
              <a:buNone/>
            </a:pPr>
            <a:r>
              <a:rPr lang="uz-Cyrl-UZ" altLang="uz-Cyrl-UZ" sz="2200" b="1" smtClean="0">
                <a:solidFill>
                  <a:srgbClr val="FF3300"/>
                </a:solidFill>
                <a:latin typeface="Times New Roman" pitchFamily="18" charset="0"/>
              </a:rPr>
              <a:t>3.1.</a:t>
            </a:r>
            <a:r>
              <a:rPr lang="ru-RU" altLang="uz-Cyrl-UZ" sz="2200" b="1" smtClean="0">
                <a:solidFill>
                  <a:srgbClr val="FF3300"/>
                </a:solidFill>
                <a:latin typeface="Times New Roman" pitchFamily="18" charset="0"/>
              </a:rPr>
              <a:t>2</a:t>
            </a:r>
            <a:r>
              <a:rPr lang="uz-Cyrl-UZ" altLang="uz-Cyrl-UZ" sz="2200" smtClean="0">
                <a:solidFill>
                  <a:srgbClr val="FF3300"/>
                </a:solidFill>
                <a:latin typeface="Times New Roman" pitchFamily="18" charset="0"/>
              </a:rPr>
              <a:t> </a:t>
            </a:r>
            <a:r>
              <a:rPr lang="uz-Cyrl-UZ" altLang="uz-Cyrl-UZ" sz="2200" b="1" i="1" smtClean="0">
                <a:solidFill>
                  <a:srgbClr val="FF3300"/>
                </a:solidFill>
                <a:latin typeface="Times New Roman" pitchFamily="18" charset="0"/>
              </a:rPr>
              <a:t>R</a:t>
            </a:r>
            <a:r>
              <a:rPr lang="uz-Cyrl-UZ" altLang="uz-Cyrl-UZ" sz="2200" smtClean="0">
                <a:solidFill>
                  <a:srgbClr val="FF3300"/>
                </a:solidFill>
                <a:latin typeface="Times New Roman" pitchFamily="18" charset="0"/>
              </a:rPr>
              <a:t> коофицентли </a:t>
            </a:r>
            <a:r>
              <a:rPr lang="uz-Cyrl-UZ" altLang="uz-Cyrl-UZ" sz="2200" b="1" i="1" smtClean="0">
                <a:solidFill>
                  <a:srgbClr val="FF3300"/>
                </a:solidFill>
                <a:latin typeface="Times New Roman" pitchFamily="18" charset="0"/>
              </a:rPr>
              <a:t>p</a:t>
            </a:r>
            <a:r>
              <a:rPr lang="uz-Cyrl-UZ" altLang="uz-Cyrl-UZ" sz="2200" smtClean="0">
                <a:solidFill>
                  <a:srgbClr val="FF3300"/>
                </a:solidFill>
                <a:latin typeface="Times New Roman" pitchFamily="18" charset="0"/>
              </a:rPr>
              <a:t> модул бўйича </a:t>
            </a:r>
            <a:r>
              <a:rPr lang="uz-Cyrl-UZ" altLang="uz-Cyrl-UZ" sz="2200" b="1" i="1" smtClean="0">
                <a:solidFill>
                  <a:srgbClr val="FF3300"/>
                </a:solidFill>
                <a:latin typeface="Times New Roman" pitchFamily="18" charset="0"/>
              </a:rPr>
              <a:t>Х</a:t>
            </a:r>
            <a:r>
              <a:rPr lang="uz-Cyrl-UZ" altLang="uz-Cyrl-UZ" sz="2200" smtClean="0">
                <a:solidFill>
                  <a:srgbClr val="FF3300"/>
                </a:solidFill>
                <a:latin typeface="Times New Roman" pitchFamily="18" charset="0"/>
              </a:rPr>
              <a:t> асосини </a:t>
            </a:r>
            <a:r>
              <a:rPr lang="uz-Cyrl-UZ" altLang="uz-Cyrl-UZ" sz="2200" b="1" i="1" smtClean="0">
                <a:solidFill>
                  <a:srgbClr val="FF3300"/>
                </a:solidFill>
                <a:latin typeface="Times New Roman" pitchFamily="18" charset="0"/>
              </a:rPr>
              <a:t>е</a:t>
            </a:r>
            <a:r>
              <a:rPr lang="uz-Cyrl-UZ" altLang="uz-Cyrl-UZ" sz="2200" i="1" smtClean="0">
                <a:solidFill>
                  <a:srgbClr val="FF3300"/>
                </a:solidFill>
                <a:latin typeface="Times New Roman" pitchFamily="18" charset="0"/>
              </a:rPr>
              <a:t> </a:t>
            </a:r>
            <a:r>
              <a:rPr lang="uz-Cyrl-UZ" altLang="uz-Cyrl-UZ" sz="2200" smtClean="0">
                <a:solidFill>
                  <a:srgbClr val="FF3300"/>
                </a:solidFill>
                <a:latin typeface="Times New Roman" pitchFamily="18" charset="0"/>
              </a:rPr>
              <a:t>даражага</a:t>
            </a:r>
            <a:r>
              <a:rPr lang="uz-Cyrl-UZ" altLang="uz-Cyrl-UZ" sz="2200" i="1" smtClean="0">
                <a:solidFill>
                  <a:srgbClr val="FF3300"/>
                </a:solidFill>
                <a:latin typeface="Times New Roman" pitchFamily="18" charset="0"/>
              </a:rPr>
              <a:t> </a:t>
            </a:r>
            <a:r>
              <a:rPr lang="uz-Cyrl-UZ" altLang="uz-Cyrl-UZ" sz="2200" smtClean="0">
                <a:solidFill>
                  <a:srgbClr val="FF3300"/>
                </a:solidFill>
                <a:latin typeface="Times New Roman" pitchFamily="18" charset="0"/>
              </a:rPr>
              <a:t>кўтариш </a:t>
            </a:r>
            <a:r>
              <a:rPr lang="en-US" altLang="uz-Cyrl-UZ" sz="2200" smtClean="0">
                <a:solidFill>
                  <a:srgbClr val="FF3300"/>
                </a:solidFill>
                <a:latin typeface="Times New Roman" pitchFamily="18" charset="0"/>
              </a:rPr>
              <a:t>	</a:t>
            </a:r>
            <a:r>
              <a:rPr lang="uz-Cyrl-UZ" altLang="uz-Cyrl-UZ" sz="2200" smtClean="0">
                <a:solidFill>
                  <a:srgbClr val="FF3300"/>
                </a:solidFill>
                <a:latin typeface="Times New Roman" pitchFamily="18" charset="0"/>
              </a:rPr>
              <a:t>жараёни куйдаги кўринишда ифодаланади:</a:t>
            </a:r>
            <a:endParaRPr lang="en-US" altLang="uz-Cyrl-UZ" sz="2200" i="1" smtClean="0">
              <a:solidFill>
                <a:srgbClr val="FF3300"/>
              </a:solidFill>
              <a:latin typeface="Times New Roman" pitchFamily="18" charset="0"/>
            </a:endParaRPr>
          </a:p>
          <a:p>
            <a:pPr eaLnBrk="1" hangingPunct="1">
              <a:buFont typeface="Arial" pitchFamily="34" charset="0"/>
              <a:buNone/>
            </a:pPr>
            <a:endParaRPr lang="uz-Cyrl-UZ" altLang="uz-Cyrl-UZ" sz="1000" b="1" i="1" smtClean="0">
              <a:solidFill>
                <a:srgbClr val="FF3300"/>
              </a:solidFill>
              <a:latin typeface="Times New Roman" pitchFamily="18" charset="0"/>
            </a:endParaRPr>
          </a:p>
          <a:p>
            <a:pPr eaLnBrk="1" hangingPunct="1">
              <a:buFont typeface="Arial" pitchFamily="34" charset="0"/>
              <a:buNone/>
            </a:pPr>
            <a:r>
              <a:rPr lang="uz-Cyrl-UZ" altLang="uz-Cyrl-UZ" sz="2200" b="1" i="1" smtClean="0">
                <a:latin typeface="Times New Roman" pitchFamily="18" charset="0"/>
              </a:rPr>
              <a:t>	</a:t>
            </a:r>
            <a:r>
              <a:rPr lang="uz-Cyrl-UZ" altLang="uz-Cyrl-UZ" sz="2200" i="1" smtClean="0">
                <a:latin typeface="Times New Roman" pitchFamily="18" charset="0"/>
              </a:rPr>
              <a:t>X</a:t>
            </a:r>
            <a:r>
              <a:rPr lang="ru-RU" altLang="uz-Cyrl-UZ" sz="2200" i="1" baseline="30000" smtClean="0">
                <a:latin typeface="Times New Roman" pitchFamily="18" charset="0"/>
              </a:rPr>
              <a:t>\</a:t>
            </a:r>
            <a:r>
              <a:rPr lang="en-US" altLang="uz-Cyrl-UZ" sz="2200" i="1" baseline="30000" smtClean="0">
                <a:latin typeface="Times New Roman" pitchFamily="18" charset="0"/>
              </a:rPr>
              <a:t>e</a:t>
            </a:r>
            <a:r>
              <a:rPr lang="uz-Cyrl-UZ" altLang="uz-Cyrl-UZ" sz="2200" i="1" smtClean="0">
                <a:latin typeface="Times New Roman" pitchFamily="18" charset="0"/>
              </a:rPr>
              <a:t> (mod p)</a:t>
            </a:r>
            <a:endParaRPr lang="en-US" altLang="uz-Cyrl-UZ" sz="2200" smtClean="0">
              <a:latin typeface="Times New Roman" pitchFamily="18" charset="0"/>
            </a:endParaRPr>
          </a:p>
          <a:p>
            <a:pPr algn="just" eaLnBrk="1" hangingPunct="1">
              <a:buFont typeface="Arial" pitchFamily="34" charset="0"/>
              <a:buNone/>
            </a:pPr>
            <a:endParaRPr lang="uz-Cyrl-UZ" altLang="uz-Cyrl-UZ" sz="1000" i="1" smtClean="0">
              <a:latin typeface="Times New Roman" pitchFamily="18" charset="0"/>
            </a:endParaRPr>
          </a:p>
          <a:p>
            <a:pPr algn="just" eaLnBrk="1" hangingPunct="1">
              <a:buFont typeface="Arial" pitchFamily="34" charset="0"/>
              <a:buNone/>
            </a:pPr>
            <a:endParaRPr lang="en-US" altLang="uz-Cyrl-UZ" sz="500" b="1" i="1" smtClean="0">
              <a:latin typeface="Times New Roman" pitchFamily="18" charset="0"/>
            </a:endParaRPr>
          </a:p>
        </p:txBody>
      </p:sp>
      <p:sp>
        <p:nvSpPr>
          <p:cNvPr id="512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latin typeface="Calibri" pitchFamily="34" charset="0"/>
            </a:endParaRPr>
          </a:p>
        </p:txBody>
      </p:sp>
      <p:sp>
        <p:nvSpPr>
          <p:cNvPr id="5124" name="Rectangle 17"/>
          <p:cNvSpPr>
            <a:spLocks noChangeArrowheads="1"/>
          </p:cNvSpPr>
          <p:nvPr/>
        </p:nvSpPr>
        <p:spPr bwMode="auto">
          <a:xfrm>
            <a:off x="144463" y="139700"/>
            <a:ext cx="8842375" cy="498475"/>
          </a:xfrm>
          <a:prstGeom prst="rect">
            <a:avLst/>
          </a:prstGeom>
          <a:solidFill>
            <a:srgbClr val="CCFFCC"/>
          </a:solidFill>
          <a:ln w="9525">
            <a:solidFill>
              <a:schemeClr val="tx1"/>
            </a:solidFill>
            <a:miter lim="800000"/>
            <a:headEnd/>
            <a:tailEnd/>
          </a:ln>
        </p:spPr>
        <p:txBody>
          <a:bodyPr>
            <a:spAutoFit/>
          </a:bodyPr>
          <a:lstStyle/>
          <a:p>
            <a:pPr algn="ctr">
              <a:spcBef>
                <a:spcPct val="20000"/>
              </a:spcBef>
              <a:buFont typeface="Arial" pitchFamily="34" charset="0"/>
              <a:buNone/>
            </a:pPr>
            <a:r>
              <a:rPr lang="ru-RU" altLang="uz-Cyrl-UZ" sz="2600" b="1">
                <a:latin typeface="Times New Roman" pitchFamily="18" charset="0"/>
              </a:rPr>
              <a:t>3</a:t>
            </a:r>
            <a:r>
              <a:rPr lang="uz-Cyrl-UZ" altLang="uz-Cyrl-UZ" sz="2600" b="1">
                <a:latin typeface="Times New Roman" pitchFamily="18" charset="0"/>
              </a:rPr>
              <a:t>. Математик келишувлар</a:t>
            </a:r>
          </a:p>
        </p:txBody>
      </p:sp>
      <p:graphicFrame>
        <p:nvGraphicFramePr>
          <p:cNvPr id="5125" name="Object 18"/>
          <p:cNvGraphicFramePr>
            <a:graphicFrameLocks noChangeAspect="1"/>
          </p:cNvGraphicFramePr>
          <p:nvPr/>
        </p:nvGraphicFramePr>
        <p:xfrm>
          <a:off x="2057400" y="5816600"/>
          <a:ext cx="2962275" cy="781050"/>
        </p:xfrm>
        <a:graphic>
          <a:graphicData uri="http://schemas.openxmlformats.org/presentationml/2006/ole">
            <mc:AlternateContent xmlns:mc="http://schemas.openxmlformats.org/markup-compatibility/2006">
              <mc:Choice xmlns:v="urn:schemas-microsoft-com:vml" Requires="v">
                <p:oleObj spid="_x0000_s5127" name="Формула" r:id="rId4" imgW="1612900" imgH="431800" progId="Equation.3">
                  <p:embed/>
                </p:oleObj>
              </mc:Choice>
              <mc:Fallback>
                <p:oleObj name="Формула" r:id="rId4" imgW="1612900" imgH="4318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5816600"/>
                        <a:ext cx="29622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6" name="Object 20"/>
          <p:cNvGraphicFramePr>
            <a:graphicFrameLocks noChangeAspect="1"/>
          </p:cNvGraphicFramePr>
          <p:nvPr/>
        </p:nvGraphicFramePr>
        <p:xfrm>
          <a:off x="5003800" y="5816600"/>
          <a:ext cx="3217863" cy="781050"/>
        </p:xfrm>
        <a:graphic>
          <a:graphicData uri="http://schemas.openxmlformats.org/presentationml/2006/ole">
            <mc:AlternateContent xmlns:mc="http://schemas.openxmlformats.org/markup-compatibility/2006">
              <mc:Choice xmlns:v="urn:schemas-microsoft-com:vml" Requires="v">
                <p:oleObj spid="_x0000_s5128" name="Формула" r:id="rId6" imgW="1752600" imgH="431800" progId="Equation.3">
                  <p:embed/>
                </p:oleObj>
              </mc:Choice>
              <mc:Fallback>
                <p:oleObj name="Формула" r:id="rId6" imgW="1752600" imgH="43180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3800" y="5816600"/>
                        <a:ext cx="32178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latin typeface="Calibri" pitchFamily="34" charset="0"/>
            </a:endParaRPr>
          </a:p>
        </p:txBody>
      </p:sp>
      <p:sp>
        <p:nvSpPr>
          <p:cNvPr id="6147" name="Rectangle 21"/>
          <p:cNvSpPr>
            <a:spLocks noChangeArrowheads="1"/>
          </p:cNvSpPr>
          <p:nvPr/>
        </p:nvSpPr>
        <p:spPr bwMode="auto">
          <a:xfrm>
            <a:off x="207963" y="315913"/>
            <a:ext cx="8713787"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uz-Cyrl-UZ" altLang="uz-Cyrl-UZ" sz="2200" b="1" i="1">
                <a:latin typeface="Times New Roman" pitchFamily="18" charset="0"/>
              </a:rPr>
              <a:t>Мисол: </a:t>
            </a:r>
            <a:r>
              <a:rPr lang="en-US" altLang="uz-Cyrl-UZ" sz="2200" i="1">
                <a:latin typeface="Times New Roman" pitchFamily="18" charset="0"/>
              </a:rPr>
              <a:t>R=7, </a:t>
            </a:r>
            <a:r>
              <a:rPr lang="uz-Cyrl-UZ" altLang="uz-Cyrl-UZ" sz="2200" i="1">
                <a:latin typeface="Times New Roman" pitchFamily="18" charset="0"/>
              </a:rPr>
              <a:t>е</a:t>
            </a:r>
            <a:r>
              <a:rPr lang="en-US" altLang="uz-Cyrl-UZ" sz="2200" i="1">
                <a:latin typeface="Times New Roman" pitchFamily="18" charset="0"/>
              </a:rPr>
              <a:t>=4, p=3</a:t>
            </a:r>
            <a:r>
              <a:rPr lang="uz-Cyrl-UZ" altLang="uz-Cyrl-UZ" sz="2200" i="1">
                <a:latin typeface="Times New Roman" pitchFamily="18" charset="0"/>
              </a:rPr>
              <a:t>, Х</a:t>
            </a:r>
            <a:r>
              <a:rPr lang="en-US" altLang="uz-Cyrl-UZ" sz="2200" i="1">
                <a:latin typeface="Times New Roman" pitchFamily="18" charset="0"/>
              </a:rPr>
              <a:t>=2 </a:t>
            </a:r>
            <a:r>
              <a:rPr lang="ru-RU" altLang="uz-Cyrl-UZ" sz="2200" i="1">
                <a:latin typeface="Times New Roman" pitchFamily="18" charset="0"/>
              </a:rPr>
              <a:t>да</a:t>
            </a:r>
            <a:r>
              <a:rPr lang="uz-Cyrl-UZ" altLang="uz-Cyrl-UZ" sz="2200" i="1">
                <a:latin typeface="Times New Roman" pitchFamily="18" charset="0"/>
              </a:rPr>
              <a:t> </a:t>
            </a:r>
            <a:r>
              <a:rPr lang="en-US" altLang="uz-Cyrl-UZ" sz="2200" b="1" i="1">
                <a:latin typeface="Times New Roman" pitchFamily="18" charset="0"/>
              </a:rPr>
              <a:t>2</a:t>
            </a:r>
            <a:r>
              <a:rPr lang="ru-RU" altLang="uz-Cyrl-UZ" sz="2200" b="1" i="1" baseline="30000">
                <a:latin typeface="Times New Roman" pitchFamily="18" charset="0"/>
              </a:rPr>
              <a:t>\</a:t>
            </a:r>
            <a:r>
              <a:rPr lang="en-US" altLang="uz-Cyrl-UZ" sz="2200" b="1" i="1" baseline="30000">
                <a:latin typeface="Times New Roman" pitchFamily="18" charset="0"/>
              </a:rPr>
              <a:t>4</a:t>
            </a:r>
            <a:r>
              <a:rPr lang="uz-Cyrl-UZ" altLang="uz-Cyrl-UZ" sz="2200" b="1" i="1">
                <a:latin typeface="Times New Roman" pitchFamily="18" charset="0"/>
              </a:rPr>
              <a:t> (mod </a:t>
            </a:r>
            <a:r>
              <a:rPr lang="en-US" altLang="uz-Cyrl-UZ" sz="2200" b="1" i="1">
                <a:latin typeface="Times New Roman" pitchFamily="18" charset="0"/>
              </a:rPr>
              <a:t>3</a:t>
            </a:r>
            <a:r>
              <a:rPr lang="uz-Cyrl-UZ" altLang="uz-Cyrl-UZ" sz="2200" b="1" i="1">
                <a:latin typeface="Times New Roman" pitchFamily="18" charset="0"/>
              </a:rPr>
              <a:t>)</a:t>
            </a:r>
            <a:r>
              <a:rPr lang="en-US" altLang="uz-Cyrl-UZ" sz="2200" i="1">
                <a:latin typeface="Times New Roman" pitchFamily="18" charset="0"/>
              </a:rPr>
              <a:t>=</a:t>
            </a:r>
          </a:p>
          <a:p>
            <a:r>
              <a:rPr lang="en-US" altLang="uz-Cyrl-UZ" sz="2200" i="1">
                <a:latin typeface="Times New Roman" pitchFamily="18" charset="0"/>
              </a:rPr>
              <a:t>	=2(1+15+225+3375)</a:t>
            </a:r>
            <a:r>
              <a:rPr lang="ru-RU" altLang="uz-Cyrl-UZ" sz="2200" i="1">
                <a:latin typeface="Times New Roman" pitchFamily="18" charset="0"/>
              </a:rPr>
              <a:t> </a:t>
            </a:r>
            <a:r>
              <a:rPr lang="en-US" altLang="uz-Cyrl-UZ" sz="2200" i="1">
                <a:latin typeface="Times New Roman" pitchFamily="18" charset="0"/>
              </a:rPr>
              <a:t>mod3=</a:t>
            </a:r>
            <a:r>
              <a:rPr lang="en-US" altLang="uz-Cyrl-UZ" sz="2200" b="1" i="1">
                <a:latin typeface="Times New Roman" pitchFamily="18" charset="0"/>
              </a:rPr>
              <a:t>2</a:t>
            </a:r>
            <a:endParaRPr lang="uz-Cyrl-UZ" altLang="uz-Cyrl-UZ" sz="2200" b="1" i="1">
              <a:latin typeface="Times New Roman" pitchFamily="18" charset="0"/>
            </a:endParaRPr>
          </a:p>
          <a:p>
            <a:endParaRPr lang="ru-RU" altLang="uz-Cyrl-UZ" sz="1000" b="1">
              <a:latin typeface="Times New Roman" pitchFamily="18" charset="0"/>
            </a:endParaRPr>
          </a:p>
          <a:p>
            <a:pPr algn="just"/>
            <a:r>
              <a:rPr lang="uz-Cyrl-UZ" altLang="uz-Cyrl-UZ" sz="2200" b="1">
                <a:solidFill>
                  <a:srgbClr val="FF3300"/>
                </a:solidFill>
                <a:latin typeface="Times New Roman" pitchFamily="18" charset="0"/>
              </a:rPr>
              <a:t>3.</a:t>
            </a:r>
            <a:r>
              <a:rPr lang="en-US" altLang="uz-Cyrl-UZ" sz="2200" b="1">
                <a:solidFill>
                  <a:srgbClr val="FF3300"/>
                </a:solidFill>
                <a:latin typeface="Times New Roman" pitchFamily="18" charset="0"/>
              </a:rPr>
              <a:t>1.</a:t>
            </a:r>
            <a:r>
              <a:rPr lang="ru-RU" altLang="uz-Cyrl-UZ" sz="2200" b="1">
                <a:solidFill>
                  <a:srgbClr val="FF3300"/>
                </a:solidFill>
                <a:latin typeface="Times New Roman" pitchFamily="18" charset="0"/>
              </a:rPr>
              <a:t>3</a:t>
            </a:r>
            <a:r>
              <a:rPr lang="en-US" altLang="uz-Cyrl-UZ" sz="2200" b="1">
                <a:solidFill>
                  <a:srgbClr val="FF3300"/>
                </a:solidFill>
                <a:latin typeface="Times New Roman" pitchFamily="18" charset="0"/>
              </a:rPr>
              <a:t>. </a:t>
            </a:r>
            <a:r>
              <a:rPr lang="en-US" altLang="uz-Cyrl-UZ" sz="2200" b="1" i="1">
                <a:solidFill>
                  <a:srgbClr val="FF3300"/>
                </a:solidFill>
                <a:latin typeface="Times New Roman" pitchFamily="18" charset="0"/>
              </a:rPr>
              <a:t>R</a:t>
            </a:r>
            <a:r>
              <a:rPr lang="en-US" altLang="uz-Cyrl-UZ" sz="2200">
                <a:solidFill>
                  <a:srgbClr val="FF3300"/>
                </a:solidFill>
                <a:latin typeface="Times New Roman" pitchFamily="18" charset="0"/>
              </a:rPr>
              <a:t> </a:t>
            </a:r>
            <a:r>
              <a:rPr lang="uz-Cyrl-UZ" altLang="uz-Cyrl-UZ" sz="2200">
                <a:solidFill>
                  <a:srgbClr val="FF3300"/>
                </a:solidFill>
                <a:latin typeface="Times New Roman" pitchFamily="18" charset="0"/>
              </a:rPr>
              <a:t>коофицентли </a:t>
            </a:r>
            <a:r>
              <a:rPr lang="en-US" altLang="uz-Cyrl-UZ" sz="2200" b="1" i="1">
                <a:solidFill>
                  <a:srgbClr val="FF3300"/>
                </a:solidFill>
                <a:latin typeface="Times New Roman" pitchFamily="18" charset="0"/>
              </a:rPr>
              <a:t>p</a:t>
            </a:r>
            <a:r>
              <a:rPr lang="uz-Cyrl-UZ" altLang="uz-Cyrl-UZ" sz="2200" b="1">
                <a:solidFill>
                  <a:srgbClr val="FF3300"/>
                </a:solidFill>
                <a:latin typeface="Times New Roman" pitchFamily="18" charset="0"/>
              </a:rPr>
              <a:t> </a:t>
            </a:r>
            <a:r>
              <a:rPr lang="uz-Cyrl-UZ" altLang="uz-Cyrl-UZ" sz="2200">
                <a:solidFill>
                  <a:srgbClr val="FF3300"/>
                </a:solidFill>
                <a:latin typeface="Times New Roman" pitchFamily="18" charset="0"/>
              </a:rPr>
              <a:t>модул бўйича </a:t>
            </a:r>
            <a:r>
              <a:rPr lang="ru-RU" altLang="uz-Cyrl-UZ" sz="2200" b="1" i="1">
                <a:solidFill>
                  <a:srgbClr val="FF3300"/>
                </a:solidFill>
                <a:latin typeface="Times New Roman" pitchFamily="18" charset="0"/>
              </a:rPr>
              <a:t>Х</a:t>
            </a:r>
            <a:r>
              <a:rPr lang="uz-Cyrl-UZ" altLang="uz-Cyrl-UZ" sz="2200">
                <a:solidFill>
                  <a:srgbClr val="FF3300"/>
                </a:solidFill>
                <a:latin typeface="Times New Roman" pitchFamily="18" charset="0"/>
              </a:rPr>
              <a:t> ўзгарувчига мурожат жараёни </a:t>
            </a:r>
            <a:r>
              <a:rPr lang="ru-RU" altLang="uz-Cyrl-UZ" sz="2200">
                <a:solidFill>
                  <a:srgbClr val="FF3300"/>
                </a:solidFill>
                <a:latin typeface="Times New Roman" pitchFamily="18" charset="0"/>
              </a:rPr>
              <a:t> </a:t>
            </a:r>
            <a:r>
              <a:rPr lang="en-US" altLang="uz-Cyrl-UZ" sz="2200" b="1" i="1">
                <a:solidFill>
                  <a:srgbClr val="FF3300"/>
                </a:solidFill>
                <a:latin typeface="Times New Roman" pitchFamily="18" charset="0"/>
              </a:rPr>
              <a:t>X</a:t>
            </a:r>
            <a:r>
              <a:rPr lang="en-US" altLang="uz-Cyrl-UZ" sz="2200" b="1" i="1" baseline="30000">
                <a:solidFill>
                  <a:srgbClr val="FF3300"/>
                </a:solidFill>
                <a:latin typeface="Times New Roman" pitchFamily="18" charset="0"/>
              </a:rPr>
              <a:t>\-1</a:t>
            </a:r>
            <a:r>
              <a:rPr lang="en-US" altLang="uz-Cyrl-UZ" sz="2200">
                <a:solidFill>
                  <a:srgbClr val="FF3300"/>
                </a:solidFill>
                <a:latin typeface="Times New Roman" pitchFamily="18" charset="0"/>
              </a:rPr>
              <a:t> </a:t>
            </a:r>
            <a:r>
              <a:rPr lang="uz-Cyrl-UZ" altLang="uz-Cyrl-UZ" sz="2200">
                <a:solidFill>
                  <a:srgbClr val="FF3300"/>
                </a:solidFill>
                <a:latin typeface="Times New Roman" pitchFamily="18" charset="0"/>
              </a:rPr>
              <a:t>кўринишда белгиланади ва куйдагича аниқланади:</a:t>
            </a:r>
            <a:endParaRPr lang="en-US" altLang="uz-Cyrl-UZ" sz="2200" b="1" i="1">
              <a:solidFill>
                <a:srgbClr val="FF3300"/>
              </a:solidFill>
              <a:latin typeface="Times New Roman" pitchFamily="18" charset="0"/>
            </a:endParaRPr>
          </a:p>
          <a:p>
            <a:pPr algn="ctr"/>
            <a:r>
              <a:rPr lang="en-US" altLang="uz-Cyrl-UZ" sz="2200" b="1" i="1">
                <a:latin typeface="Times New Roman" pitchFamily="18" charset="0"/>
              </a:rPr>
              <a:t>X</a:t>
            </a:r>
            <a:r>
              <a:rPr lang="en-US" altLang="uz-Cyrl-UZ" sz="2200" b="1" i="1" baseline="30000">
                <a:latin typeface="Times New Roman" pitchFamily="18" charset="0"/>
              </a:rPr>
              <a:t>\-1</a:t>
            </a:r>
            <a:r>
              <a:rPr lang="en-US" altLang="uz-Cyrl-UZ" sz="2200" b="1" i="1">
                <a:latin typeface="Times New Roman" pitchFamily="18" charset="0"/>
              </a:rPr>
              <a:t> </a:t>
            </a:r>
            <a:r>
              <a:rPr lang="en-US" altLang="uz-Cyrl-UZ" sz="2200" b="1" i="1">
                <a:latin typeface="Times New Roman" pitchFamily="18" charset="0"/>
                <a:sym typeface="Symbol" pitchFamily="18" charset="2"/>
              </a:rPr>
              <a:t></a:t>
            </a:r>
            <a:r>
              <a:rPr lang="en-US" altLang="uz-Cyrl-UZ" sz="2200" b="1" i="1">
                <a:latin typeface="Times New Roman" pitchFamily="18" charset="0"/>
              </a:rPr>
              <a:t>  (p - X) </a:t>
            </a:r>
            <a:r>
              <a:rPr lang="en-US" altLang="uz-Cyrl-UZ" sz="2200" b="1">
                <a:latin typeface="Times New Roman" pitchFamily="18" charset="0"/>
              </a:rPr>
              <a:t>х </a:t>
            </a:r>
            <a:r>
              <a:rPr lang="en-US" altLang="uz-Cyrl-UZ" sz="2200" b="1" i="1">
                <a:latin typeface="Times New Roman" pitchFamily="18" charset="0"/>
              </a:rPr>
              <a:t>(F(X))</a:t>
            </a:r>
            <a:r>
              <a:rPr lang="en-US" altLang="uz-Cyrl-UZ" sz="2200" b="1" i="1" baseline="30000">
                <a:latin typeface="Times New Roman" pitchFamily="18" charset="0"/>
              </a:rPr>
              <a:t>-1</a:t>
            </a:r>
            <a:r>
              <a:rPr lang="en-US" altLang="uz-Cyrl-UZ" sz="2200" b="1" i="1">
                <a:latin typeface="Times New Roman" pitchFamily="18" charset="0"/>
              </a:rPr>
              <a:t> (mod p) </a:t>
            </a:r>
            <a:r>
              <a:rPr lang="en-US" altLang="uz-Cyrl-UZ" sz="2200" b="1" i="1">
                <a:latin typeface="Times New Roman" pitchFamily="18" charset="0"/>
                <a:sym typeface="Symbol" pitchFamily="18" charset="2"/>
              </a:rPr>
              <a:t></a:t>
            </a:r>
            <a:r>
              <a:rPr lang="en-US" altLang="uz-Cyrl-UZ" sz="2200" b="1" i="1">
                <a:latin typeface="Times New Roman" pitchFamily="18" charset="0"/>
              </a:rPr>
              <a:t>  (p - X) </a:t>
            </a:r>
            <a:r>
              <a:rPr lang="en-US" altLang="uz-Cyrl-UZ" sz="2200" b="1">
                <a:latin typeface="Times New Roman" pitchFamily="18" charset="0"/>
              </a:rPr>
              <a:t>х </a:t>
            </a:r>
            <a:r>
              <a:rPr lang="en-US" altLang="uz-Cyrl-UZ" sz="2200" b="1" i="1">
                <a:latin typeface="Times New Roman" pitchFamily="18" charset="0"/>
              </a:rPr>
              <a:t>(1 + X </a:t>
            </a:r>
            <a:r>
              <a:rPr lang="en-US" altLang="uz-Cyrl-UZ" sz="2200" b="1">
                <a:latin typeface="Times New Roman" pitchFamily="18" charset="0"/>
              </a:rPr>
              <a:t>x</a:t>
            </a:r>
            <a:r>
              <a:rPr lang="en-US" altLang="uz-Cyrl-UZ" sz="2200" b="1" i="1">
                <a:latin typeface="Times New Roman" pitchFamily="18" charset="0"/>
              </a:rPr>
              <a:t> R)</a:t>
            </a:r>
            <a:r>
              <a:rPr lang="en-US" altLang="uz-Cyrl-UZ" sz="2200" b="1" i="1" baseline="30000">
                <a:latin typeface="Times New Roman" pitchFamily="18" charset="0"/>
              </a:rPr>
              <a:t>-1</a:t>
            </a:r>
            <a:r>
              <a:rPr lang="en-US" altLang="uz-Cyrl-UZ" sz="2200" b="1" i="1">
                <a:latin typeface="Times New Roman" pitchFamily="18" charset="0"/>
              </a:rPr>
              <a:t> (mod p).</a:t>
            </a:r>
            <a:endParaRPr lang="ru-RU" altLang="uz-Cyrl-UZ" sz="2200" b="1" i="1">
              <a:latin typeface="Times New Roman" pitchFamily="18" charset="0"/>
            </a:endParaRPr>
          </a:p>
          <a:p>
            <a:r>
              <a:rPr lang="ru-RU" altLang="uz-Cyrl-UZ" sz="2200" b="1" i="1">
                <a:latin typeface="Times New Roman" pitchFamily="18" charset="0"/>
              </a:rPr>
              <a:t>Мисол: </a:t>
            </a:r>
            <a:r>
              <a:rPr lang="ru-RU" altLang="uz-Cyrl-UZ" i="1"/>
              <a:t>х=3,</a:t>
            </a:r>
            <a:r>
              <a:rPr lang="ru-RU" altLang="uz-Cyrl-UZ"/>
              <a:t> </a:t>
            </a:r>
            <a:r>
              <a:rPr lang="en-US" altLang="uz-Cyrl-UZ" i="1"/>
              <a:t>R=</a:t>
            </a:r>
            <a:r>
              <a:rPr lang="ru-RU" altLang="uz-Cyrl-UZ" i="1"/>
              <a:t>2</a:t>
            </a:r>
            <a:r>
              <a:rPr lang="en-US" altLang="uz-Cyrl-UZ" i="1"/>
              <a:t>, </a:t>
            </a:r>
            <a:r>
              <a:rPr lang="ru-RU" altLang="uz-Cyrl-UZ" i="1"/>
              <a:t>р=</a:t>
            </a:r>
            <a:r>
              <a:rPr lang="en-US" altLang="uz-Cyrl-UZ" i="1"/>
              <a:t>11</a:t>
            </a:r>
            <a:r>
              <a:rPr lang="ru-RU" altLang="uz-Cyrl-UZ" i="1"/>
              <a:t>  б</a:t>
            </a:r>
            <a:r>
              <a:rPr lang="en-US" altLang="uz-Cyrl-UZ" i="1"/>
              <a:t>/</a:t>
            </a:r>
            <a:r>
              <a:rPr lang="ru-RU" altLang="uz-Cyrl-UZ" i="1"/>
              <a:t>са 3</a:t>
            </a:r>
            <a:r>
              <a:rPr lang="en-US" altLang="uz-Cyrl-UZ" i="1" baseline="30000"/>
              <a:t>\-1</a:t>
            </a:r>
            <a:r>
              <a:rPr lang="en-US" altLang="uz-Cyrl-UZ" b="1" i="1">
                <a:sym typeface="Symbol" pitchFamily="18" charset="2"/>
              </a:rPr>
              <a:t></a:t>
            </a:r>
            <a:r>
              <a:rPr lang="ru-RU" altLang="uz-Cyrl-UZ" i="1">
                <a:sym typeface="Symbol" pitchFamily="18" charset="2"/>
              </a:rPr>
              <a:t>(</a:t>
            </a:r>
            <a:r>
              <a:rPr lang="en-US" altLang="uz-Cyrl-UZ" i="1">
                <a:sym typeface="Symbol" pitchFamily="18" charset="2"/>
              </a:rPr>
              <a:t>11</a:t>
            </a:r>
            <a:r>
              <a:rPr lang="ru-RU" altLang="uz-Cyrl-UZ" i="1">
                <a:sym typeface="Symbol" pitchFamily="18" charset="2"/>
              </a:rPr>
              <a:t>-3)*(1+3*2)</a:t>
            </a:r>
            <a:r>
              <a:rPr lang="ru-RU" altLang="uz-Cyrl-UZ" i="1" baseline="30000">
                <a:sym typeface="Symbol" pitchFamily="18" charset="2"/>
              </a:rPr>
              <a:t>-1</a:t>
            </a:r>
            <a:r>
              <a:rPr lang="ru-RU" altLang="uz-Cyrl-UZ" i="1">
                <a:sym typeface="Symbol" pitchFamily="18" charset="2"/>
              </a:rPr>
              <a:t>(</a:t>
            </a:r>
            <a:r>
              <a:rPr lang="en-US" altLang="uz-Cyrl-UZ" i="1">
                <a:sym typeface="Symbol" pitchFamily="18" charset="2"/>
              </a:rPr>
              <a:t>mod11)</a:t>
            </a:r>
            <a:r>
              <a:rPr lang="en-US" altLang="uz-Cyrl-UZ" b="1" i="1">
                <a:sym typeface="Symbol" pitchFamily="18" charset="2"/>
              </a:rPr>
              <a:t></a:t>
            </a:r>
            <a:r>
              <a:rPr lang="ru-RU" altLang="uz-Cyrl-UZ" i="1">
                <a:sym typeface="Symbol" pitchFamily="18" charset="2"/>
              </a:rPr>
              <a:t>(</a:t>
            </a:r>
            <a:r>
              <a:rPr lang="en-US" altLang="uz-Cyrl-UZ" i="1">
                <a:sym typeface="Symbol" pitchFamily="18" charset="2"/>
              </a:rPr>
              <a:t>8</a:t>
            </a:r>
            <a:r>
              <a:rPr lang="ru-RU" altLang="uz-Cyrl-UZ" i="1">
                <a:sym typeface="Symbol" pitchFamily="18" charset="2"/>
              </a:rPr>
              <a:t>)*(</a:t>
            </a:r>
            <a:r>
              <a:rPr lang="en-US" altLang="uz-Cyrl-UZ" i="1">
                <a:sym typeface="Symbol" pitchFamily="18" charset="2"/>
              </a:rPr>
              <a:t>7)</a:t>
            </a:r>
            <a:r>
              <a:rPr lang="en-US" altLang="uz-Cyrl-UZ" i="1" baseline="30000">
                <a:sym typeface="Symbol" pitchFamily="18" charset="2"/>
              </a:rPr>
              <a:t>9</a:t>
            </a:r>
            <a:r>
              <a:rPr lang="ru-RU" altLang="uz-Cyrl-UZ" i="1">
                <a:sym typeface="Symbol" pitchFamily="18" charset="2"/>
              </a:rPr>
              <a:t>(</a:t>
            </a:r>
            <a:r>
              <a:rPr lang="en-US" altLang="uz-Cyrl-UZ" i="1">
                <a:sym typeface="Symbol" pitchFamily="18" charset="2"/>
              </a:rPr>
              <a:t>mod11)=9</a:t>
            </a:r>
            <a:endParaRPr lang="ru-RU" altLang="uz-Cyrl-UZ" i="1">
              <a:sym typeface="Symbol" pitchFamily="18" charset="2"/>
            </a:endParaRPr>
          </a:p>
        </p:txBody>
      </p:sp>
      <p:graphicFrame>
        <p:nvGraphicFramePr>
          <p:cNvPr id="6148" name="Object 22"/>
          <p:cNvGraphicFramePr>
            <a:graphicFrameLocks noChangeAspect="1"/>
          </p:cNvGraphicFramePr>
          <p:nvPr/>
        </p:nvGraphicFramePr>
        <p:xfrm>
          <a:off x="5522913" y="171450"/>
          <a:ext cx="2867025" cy="781050"/>
        </p:xfrm>
        <a:graphic>
          <a:graphicData uri="http://schemas.openxmlformats.org/presentationml/2006/ole">
            <mc:AlternateContent xmlns:mc="http://schemas.openxmlformats.org/markup-compatibility/2006">
              <mc:Choice xmlns:v="urn:schemas-microsoft-com:vml" Requires="v">
                <p:oleObj spid="_x0000_s6149" name="Формула" r:id="rId4" imgW="1562100" imgH="431800" progId="Equation.3">
                  <p:embed/>
                </p:oleObj>
              </mc:Choice>
              <mc:Fallback>
                <p:oleObj name="Формула" r:id="rId4" imgW="1562100" imgH="431800" progId="Equation.3">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2913" y="171450"/>
                        <a:ext cx="28670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1"/>
          <p:cNvSpPr>
            <a:spLocks noGrp="1"/>
          </p:cNvSpPr>
          <p:nvPr>
            <p:ph type="title"/>
          </p:nvPr>
        </p:nvSpPr>
        <p:spPr>
          <a:xfrm>
            <a:off x="369888" y="115888"/>
            <a:ext cx="8404225" cy="590550"/>
          </a:xfrm>
          <a:solidFill>
            <a:srgbClr val="CCFFCC"/>
          </a:solidFill>
          <a:ln>
            <a:solidFill>
              <a:schemeClr val="tx1"/>
            </a:solidFill>
            <a:miter lim="800000"/>
            <a:headEnd/>
            <a:tailEnd/>
          </a:ln>
        </p:spPr>
        <p:txBody>
          <a:bodyPr/>
          <a:lstStyle/>
          <a:p>
            <a:pPr eaLnBrk="1" hangingPunct="1"/>
            <a:r>
              <a:rPr lang="uz-Cyrl-UZ" altLang="uz-Cyrl-UZ" sz="2400" b="1" smtClean="0">
                <a:latin typeface="Times New Roman" pitchFamily="18" charset="0"/>
              </a:rPr>
              <a:t>4.</a:t>
            </a:r>
            <a:r>
              <a:rPr lang="en-US" altLang="uz-Cyrl-UZ" sz="2400" b="1" smtClean="0">
                <a:latin typeface="Times New Roman" pitchFamily="18" charset="0"/>
              </a:rPr>
              <a:t> </a:t>
            </a:r>
            <a:r>
              <a:rPr lang="uz-Cyrl-UZ" altLang="uz-Cyrl-UZ" sz="2400" b="1" smtClean="0">
                <a:latin typeface="Times New Roman" pitchFamily="18" charset="0"/>
              </a:rPr>
              <a:t>Электрон рақамли имзо алгоритмининг параметрлари</a:t>
            </a:r>
            <a:r>
              <a:rPr lang="ru-RU" altLang="uz-Cyrl-UZ" sz="2400" smtClean="0">
                <a:latin typeface="Times New Roman" pitchFamily="18" charset="0"/>
              </a:rPr>
              <a:t> </a:t>
            </a:r>
          </a:p>
        </p:txBody>
      </p:sp>
      <p:sp>
        <p:nvSpPr>
          <p:cNvPr id="717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latin typeface="Calibri" pitchFamily="34" charset="0"/>
            </a:endParaRPr>
          </a:p>
        </p:txBody>
      </p:sp>
      <p:sp>
        <p:nvSpPr>
          <p:cNvPr id="2053" name="Содержимое 2"/>
          <p:cNvSpPr>
            <a:spLocks/>
          </p:cNvSpPr>
          <p:nvPr/>
        </p:nvSpPr>
        <p:spPr bwMode="auto">
          <a:xfrm>
            <a:off x="233363" y="1076325"/>
            <a:ext cx="8713787"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p>
            <a:pPr marL="609600" indent="-609600" algn="ctr">
              <a:spcBef>
                <a:spcPct val="20000"/>
              </a:spcBef>
              <a:spcAft>
                <a:spcPts val="1200"/>
              </a:spcAft>
              <a:buFont typeface="Arial" pitchFamily="34" charset="0"/>
              <a:buNone/>
            </a:pPr>
            <a:r>
              <a:rPr lang="uz-Cyrl-UZ" altLang="uz-Cyrl-UZ" sz="2200" b="1">
                <a:solidFill>
                  <a:srgbClr val="0070C0"/>
                </a:solidFill>
                <a:latin typeface="Times New Roman" pitchFamily="18" charset="0"/>
              </a:rPr>
              <a:t>4</a:t>
            </a:r>
            <a:r>
              <a:rPr lang="ru-RU" altLang="uz-Cyrl-UZ" sz="2200" b="1">
                <a:solidFill>
                  <a:srgbClr val="0070C0"/>
                </a:solidFill>
                <a:latin typeface="Times New Roman" pitchFamily="18" charset="0"/>
              </a:rPr>
              <a:t>.1</a:t>
            </a:r>
            <a:r>
              <a:rPr lang="en-US" altLang="uz-Cyrl-UZ" sz="2200" b="1">
                <a:solidFill>
                  <a:srgbClr val="0070C0"/>
                </a:solidFill>
                <a:latin typeface="Times New Roman" pitchFamily="18" charset="0"/>
              </a:rPr>
              <a:t>. </a:t>
            </a:r>
            <a:r>
              <a:rPr lang="uz-Cyrl-UZ" altLang="uz-Cyrl-UZ" sz="2200" b="1">
                <a:solidFill>
                  <a:srgbClr val="0070C0"/>
                </a:solidFill>
                <a:latin typeface="Times New Roman" pitchFamily="18" charset="0"/>
              </a:rPr>
              <a:t>ЭРИ алгоритмида қуйидаги параметрлардан фойдаланилади:</a:t>
            </a:r>
            <a:endParaRPr lang="en-US" altLang="uz-Cyrl-UZ" sz="2200" b="1">
              <a:solidFill>
                <a:srgbClr val="0070C0"/>
              </a:solidFill>
              <a:latin typeface="Times New Roman" pitchFamily="18" charset="0"/>
            </a:endParaRPr>
          </a:p>
          <a:p>
            <a:pPr marL="609600" indent="-609600" algn="just" eaLnBrk="0" hangingPunct="0">
              <a:spcAft>
                <a:spcPts val="1200"/>
              </a:spcAft>
              <a:buFont typeface="Calibri" pitchFamily="34" charset="0"/>
              <a:buAutoNum type="alphaLcParenR"/>
            </a:pPr>
            <a:r>
              <a:rPr lang="en-US" altLang="uz-Cyrl-UZ" sz="2200" b="1" i="1">
                <a:solidFill>
                  <a:srgbClr val="FF0000"/>
                </a:solidFill>
                <a:latin typeface="Times New Roman" pitchFamily="18" charset="0"/>
              </a:rPr>
              <a:t>p</a:t>
            </a:r>
            <a:r>
              <a:rPr lang="en-US" altLang="uz-Cyrl-UZ" sz="2200">
                <a:latin typeface="Times New Roman" pitchFamily="18" charset="0"/>
              </a:rPr>
              <a:t> </a:t>
            </a:r>
            <a:r>
              <a:rPr lang="ru-RU" altLang="uz-Cyrl-UZ" sz="2200">
                <a:latin typeface="Times New Roman" pitchFamily="18" charset="0"/>
              </a:rPr>
              <a:t>– модул, </a:t>
            </a:r>
            <a:r>
              <a:rPr lang="uz-Cyrl-UZ" altLang="uz-Cyrl-UZ" sz="2200">
                <a:latin typeface="Times New Roman" pitchFamily="18" charset="0"/>
              </a:rPr>
              <a:t>туб сон</a:t>
            </a:r>
            <a:r>
              <a:rPr lang="ru-RU" altLang="uz-Cyrl-UZ" sz="2200">
                <a:latin typeface="Times New Roman" pitchFamily="18" charset="0"/>
              </a:rPr>
              <a:t>, </a:t>
            </a:r>
            <a:r>
              <a:rPr lang="uz-Cyrl-UZ" altLang="uz-Cyrl-UZ" sz="2200">
                <a:latin typeface="Times New Roman" pitchFamily="18" charset="0"/>
              </a:rPr>
              <a:t>бу ерда </a:t>
            </a:r>
            <a:r>
              <a:rPr lang="en-US" sz="2200" b="1" i="1">
                <a:latin typeface="Times New Roman" pitchFamily="18" charset="0"/>
                <a:cs typeface="Times New Roman" pitchFamily="18" charset="0"/>
              </a:rPr>
              <a:t>p</a:t>
            </a:r>
            <a:r>
              <a:rPr lang="ru-RU" sz="2200" b="1" i="1">
                <a:latin typeface="Times New Roman" pitchFamily="18" charset="0"/>
                <a:cs typeface="Times New Roman" pitchFamily="18" charset="0"/>
              </a:rPr>
              <a:t> &gt; 2</a:t>
            </a:r>
            <a:r>
              <a:rPr lang="ru-RU" sz="2200" b="1" i="1" baseline="30000">
                <a:latin typeface="Times New Roman" pitchFamily="18" charset="0"/>
                <a:cs typeface="Times New Roman" pitchFamily="18" charset="0"/>
              </a:rPr>
              <a:t>255 </a:t>
            </a:r>
            <a:r>
              <a:rPr lang="ru-RU" sz="2200" b="1">
                <a:latin typeface="Times New Roman" pitchFamily="18" charset="0"/>
                <a:cs typeface="Times New Roman" pitchFamily="18" charset="0"/>
              </a:rPr>
              <a:t>– </a:t>
            </a:r>
            <a:r>
              <a:rPr lang="uz-Cyrl-UZ" sz="2200">
                <a:latin typeface="Times New Roman" pitchFamily="18" charset="0"/>
                <a:cs typeface="Times New Roman" pitchFamily="18" charset="0"/>
              </a:rPr>
              <a:t>махсус аппарат типи</a:t>
            </a:r>
            <a:r>
              <a:rPr lang="ru-RU" sz="2200">
                <a:latin typeface="Times New Roman" pitchFamily="18" charset="0"/>
                <a:cs typeface="Times New Roman" pitchFamily="18" charset="0"/>
              </a:rPr>
              <a:t> учун,                         </a:t>
            </a:r>
            <a:r>
              <a:rPr lang="en-US" sz="2200" b="1" i="1">
                <a:latin typeface="Times New Roman" pitchFamily="18" charset="0"/>
                <a:cs typeface="Times New Roman" pitchFamily="18" charset="0"/>
              </a:rPr>
              <a:t>p</a:t>
            </a:r>
            <a:r>
              <a:rPr lang="ru-RU" sz="2200" b="1" i="1">
                <a:latin typeface="Times New Roman" pitchFamily="18" charset="0"/>
                <a:cs typeface="Times New Roman" pitchFamily="18" charset="0"/>
              </a:rPr>
              <a:t> &gt; 2</a:t>
            </a:r>
            <a:r>
              <a:rPr lang="uz-Cyrl-UZ" sz="2200" b="1" i="1" baseline="30000">
                <a:latin typeface="Times New Roman" pitchFamily="18" charset="0"/>
                <a:cs typeface="Times New Roman" pitchFamily="18" charset="0"/>
              </a:rPr>
              <a:t>10</a:t>
            </a:r>
            <a:r>
              <a:rPr lang="ru-RU" sz="2200" b="1" i="1" baseline="30000">
                <a:latin typeface="Times New Roman" pitchFamily="18" charset="0"/>
                <a:cs typeface="Times New Roman" pitchFamily="18" charset="0"/>
              </a:rPr>
              <a:t>23 </a:t>
            </a:r>
            <a:r>
              <a:rPr lang="ru-RU" sz="2200" b="1" i="1">
                <a:latin typeface="Times New Roman" pitchFamily="18" charset="0"/>
                <a:cs typeface="Times New Roman" pitchFamily="18" charset="0"/>
              </a:rPr>
              <a:t>– </a:t>
            </a:r>
            <a:r>
              <a:rPr lang="uz-Cyrl-UZ" sz="2200">
                <a:latin typeface="Times New Roman" pitchFamily="18" charset="0"/>
                <a:cs typeface="Times New Roman" pitchFamily="18" charset="0"/>
              </a:rPr>
              <a:t>дастурий</a:t>
            </a:r>
            <a:r>
              <a:rPr lang="ru-RU" sz="2200">
                <a:latin typeface="Times New Roman" pitchFamily="18" charset="0"/>
                <a:cs typeface="Times New Roman" pitchFamily="18" charset="0"/>
              </a:rPr>
              <a:t>,</a:t>
            </a:r>
            <a:r>
              <a:rPr lang="uz-Cyrl-UZ" sz="2200">
                <a:latin typeface="Times New Roman" pitchFamily="18" charset="0"/>
                <a:cs typeface="Times New Roman" pitchFamily="18" charset="0"/>
              </a:rPr>
              <a:t> гибрид ва аппарат</a:t>
            </a:r>
            <a:r>
              <a:rPr lang="ru-RU" sz="2200">
                <a:latin typeface="Times New Roman" pitchFamily="18" charset="0"/>
                <a:cs typeface="Times New Roman" pitchFamily="18" charset="0"/>
              </a:rPr>
              <a:t> типидагилар учун</a:t>
            </a:r>
            <a:r>
              <a:rPr lang="ru-RU" altLang="uz-Cyrl-UZ" sz="2200">
                <a:latin typeface="Times New Roman" pitchFamily="18" charset="0"/>
              </a:rPr>
              <a:t>;</a:t>
            </a:r>
            <a:endParaRPr lang="uz-Cyrl-UZ" altLang="uz-Cyrl-UZ" sz="2200">
              <a:latin typeface="Times New Roman" pitchFamily="18" charset="0"/>
            </a:endParaRPr>
          </a:p>
          <a:p>
            <a:pPr marL="609600" indent="-609600" algn="just">
              <a:spcBef>
                <a:spcPct val="20000"/>
              </a:spcBef>
              <a:spcAft>
                <a:spcPts val="1200"/>
              </a:spcAft>
              <a:buFont typeface="Arial" pitchFamily="34" charset="0"/>
              <a:buAutoNum type="alphaLcParenR"/>
            </a:pPr>
            <a:r>
              <a:rPr lang="en-US" altLang="uz-Cyrl-UZ" sz="2200" b="1" i="1">
                <a:solidFill>
                  <a:srgbClr val="FF0000"/>
                </a:solidFill>
                <a:latin typeface="Times New Roman" pitchFamily="18" charset="0"/>
              </a:rPr>
              <a:t>q</a:t>
            </a:r>
            <a:r>
              <a:rPr lang="ru-RU" altLang="uz-Cyrl-UZ" sz="2200">
                <a:latin typeface="Times New Roman" pitchFamily="18" charset="0"/>
              </a:rPr>
              <a:t> – </a:t>
            </a:r>
            <a:r>
              <a:rPr lang="uz-Cyrl-UZ" altLang="uz-Cyrl-UZ" sz="2200">
                <a:latin typeface="Times New Roman" pitchFamily="18" charset="0"/>
              </a:rPr>
              <a:t>туб сон хамда </a:t>
            </a:r>
            <a:r>
              <a:rPr lang="en-US" altLang="uz-Cyrl-UZ" sz="2200" i="1">
                <a:latin typeface="Times New Roman" pitchFamily="18" charset="0"/>
              </a:rPr>
              <a:t>p</a:t>
            </a:r>
            <a:r>
              <a:rPr lang="ru-RU" altLang="uz-Cyrl-UZ" sz="2200" i="1">
                <a:latin typeface="Times New Roman" pitchFamily="18" charset="0"/>
              </a:rPr>
              <a:t>–1</a:t>
            </a:r>
            <a:r>
              <a:rPr lang="uz-Cyrl-UZ" altLang="uz-Cyrl-UZ" sz="2200">
                <a:latin typeface="Times New Roman" pitchFamily="18" charset="0"/>
              </a:rPr>
              <a:t> нинг бўлувчиси</a:t>
            </a:r>
            <a:r>
              <a:rPr lang="ru-RU" altLang="uz-Cyrl-UZ" sz="2200">
                <a:latin typeface="Times New Roman" pitchFamily="18" charset="0"/>
              </a:rPr>
              <a:t>, </a:t>
            </a:r>
            <a:r>
              <a:rPr lang="uz-Cyrl-UZ" altLang="uz-Cyrl-UZ" sz="2200">
                <a:latin typeface="Times New Roman" pitchFamily="18" charset="0"/>
              </a:rPr>
              <a:t>бу ерда</a:t>
            </a:r>
            <a:r>
              <a:rPr lang="ru-RU" altLang="uz-Cyrl-UZ" sz="2200">
                <a:latin typeface="Times New Roman" pitchFamily="18" charset="0"/>
              </a:rPr>
              <a:t> </a:t>
            </a:r>
            <a:r>
              <a:rPr lang="uz-Cyrl-UZ" altLang="uz-Cyrl-UZ" sz="2200" b="1" i="1">
                <a:latin typeface="Times New Roman" pitchFamily="18" charset="0"/>
              </a:rPr>
              <a:t>2</a:t>
            </a:r>
            <a:r>
              <a:rPr lang="ru-RU" altLang="uz-Cyrl-UZ" sz="2200" b="1" i="1" baseline="30000">
                <a:latin typeface="Times New Roman" pitchFamily="18" charset="0"/>
              </a:rPr>
              <a:t>254</a:t>
            </a:r>
            <a:r>
              <a:rPr lang="ru-RU" altLang="uz-Cyrl-UZ" sz="2200" b="1" i="1">
                <a:latin typeface="Times New Roman" pitchFamily="18" charset="0"/>
              </a:rPr>
              <a:t>&lt;</a:t>
            </a:r>
            <a:r>
              <a:rPr lang="en-US" altLang="uz-Cyrl-UZ" sz="2200" b="1" i="1">
                <a:latin typeface="Times New Roman" pitchFamily="18" charset="0"/>
              </a:rPr>
              <a:t>q</a:t>
            </a:r>
            <a:r>
              <a:rPr lang="ru-RU" altLang="uz-Cyrl-UZ" sz="2200" b="1" i="1">
                <a:latin typeface="Times New Roman" pitchFamily="18" charset="0"/>
              </a:rPr>
              <a:t>&lt;</a:t>
            </a:r>
            <a:r>
              <a:rPr lang="uz-Cyrl-UZ" altLang="uz-Cyrl-UZ" sz="2200" b="1" i="1">
                <a:latin typeface="Times New Roman" pitchFamily="18" charset="0"/>
              </a:rPr>
              <a:t>2</a:t>
            </a:r>
            <a:r>
              <a:rPr lang="ru-RU" altLang="uz-Cyrl-UZ" sz="2200" b="1" i="1" baseline="30000">
                <a:latin typeface="Times New Roman" pitchFamily="18" charset="0"/>
              </a:rPr>
              <a:t>256</a:t>
            </a:r>
            <a:r>
              <a:rPr lang="ru-RU" altLang="uz-Cyrl-UZ" sz="2200">
                <a:latin typeface="Times New Roman" pitchFamily="18" charset="0"/>
              </a:rPr>
              <a:t>.</a:t>
            </a:r>
            <a:endParaRPr lang="uz-Cyrl-UZ" altLang="uz-Cyrl-UZ" sz="2200">
              <a:latin typeface="Times New Roman" pitchFamily="18" charset="0"/>
            </a:endParaRPr>
          </a:p>
          <a:p>
            <a:pPr marL="609600" indent="-609600" algn="just">
              <a:spcBef>
                <a:spcPct val="20000"/>
              </a:spcBef>
              <a:spcAft>
                <a:spcPts val="1200"/>
              </a:spcAft>
              <a:buFont typeface="Arial" pitchFamily="34" charset="0"/>
              <a:buAutoNum type="alphaLcParenR"/>
            </a:pPr>
            <a:r>
              <a:rPr lang="en-US" altLang="uz-Cyrl-UZ" sz="2200" b="1" i="1">
                <a:solidFill>
                  <a:srgbClr val="FF0000"/>
                </a:solidFill>
                <a:latin typeface="Times New Roman" pitchFamily="18" charset="0"/>
              </a:rPr>
              <a:t>R</a:t>
            </a:r>
            <a:r>
              <a:rPr lang="en-US" altLang="uz-Cyrl-UZ" sz="2200">
                <a:latin typeface="Times New Roman" pitchFamily="18" charset="0"/>
              </a:rPr>
              <a:t> </a:t>
            </a:r>
            <a:r>
              <a:rPr lang="ru-RU" altLang="uz-Cyrl-UZ" sz="2200">
                <a:latin typeface="Times New Roman" pitchFamily="18" charset="0"/>
              </a:rPr>
              <a:t>–</a:t>
            </a:r>
            <a:r>
              <a:rPr lang="en-US" altLang="uz-Cyrl-UZ" sz="2200">
                <a:latin typeface="Times New Roman" pitchFamily="18" charset="0"/>
              </a:rPr>
              <a:t> </a:t>
            </a:r>
            <a:r>
              <a:rPr lang="uz-Cyrl-UZ" altLang="uz-Cyrl-UZ" sz="2200">
                <a:latin typeface="Times New Roman" pitchFamily="18" charset="0"/>
              </a:rPr>
              <a:t>параметр, </a:t>
            </a:r>
            <a:r>
              <a:rPr lang="en-US" altLang="uz-Cyrl-UZ" sz="2200" b="1" i="1">
                <a:latin typeface="Times New Roman" pitchFamily="18" charset="0"/>
              </a:rPr>
              <a:t>R</a:t>
            </a:r>
            <a:r>
              <a:rPr lang="ru-RU" altLang="uz-Cyrl-UZ" sz="2200" b="1" i="1">
                <a:latin typeface="Times New Roman" pitchFamily="18" charset="0"/>
              </a:rPr>
              <a:t>&lt;</a:t>
            </a:r>
            <a:r>
              <a:rPr lang="en-US" altLang="uz-Cyrl-UZ" sz="2200" b="1" i="1">
                <a:latin typeface="Times New Roman" pitchFamily="18" charset="0"/>
              </a:rPr>
              <a:t>q</a:t>
            </a:r>
            <a:r>
              <a:rPr lang="en-US" altLang="uz-Cyrl-UZ" sz="2200">
                <a:latin typeface="Times New Roman" pitchFamily="18" charset="0"/>
              </a:rPr>
              <a:t> </a:t>
            </a:r>
            <a:r>
              <a:rPr lang="uz-Cyrl-UZ" altLang="uz-Cyrl-UZ" sz="2200">
                <a:latin typeface="Times New Roman" pitchFamily="18" charset="0"/>
              </a:rPr>
              <a:t>шартни қаноатлантирувчи </a:t>
            </a:r>
            <a:r>
              <a:rPr lang="ru-RU" altLang="uz-Cyrl-UZ" sz="2200">
                <a:latin typeface="Times New Roman" pitchFamily="18" charset="0"/>
              </a:rPr>
              <a:t>натурал </a:t>
            </a:r>
            <a:r>
              <a:rPr lang="uz-Cyrl-UZ" altLang="uz-Cyrl-UZ" sz="2200">
                <a:latin typeface="Times New Roman" pitchFamily="18" charset="0"/>
              </a:rPr>
              <a:t>сон бўлиб,</a:t>
            </a:r>
            <a:r>
              <a:rPr lang="ru-RU" altLang="uz-Cyrl-UZ" sz="2200">
                <a:latin typeface="Times New Roman" pitchFamily="18" charset="0"/>
              </a:rPr>
              <a:t> </a:t>
            </a:r>
            <a:r>
              <a:rPr lang="uz-Cyrl-UZ" altLang="uz-Cyrl-UZ" sz="2200">
                <a:latin typeface="Times New Roman" pitchFamily="18" charset="0"/>
              </a:rPr>
              <a:t>чегараланган гурухдаги фойдаланувчилар учун очиқ ёки махфий калити бўлиши мумкин</a:t>
            </a:r>
            <a:r>
              <a:rPr lang="ru-RU" altLang="uz-Cyrl-UZ" sz="2200">
                <a:latin typeface="Times New Roman" pitchFamily="18" charset="0"/>
              </a:rPr>
              <a:t>;</a:t>
            </a:r>
            <a:endParaRPr lang="uz-Cyrl-UZ" altLang="uz-Cyrl-UZ" sz="2200">
              <a:latin typeface="Times New Roman" pitchFamily="18" charset="0"/>
            </a:endParaRPr>
          </a:p>
          <a:p>
            <a:pPr marL="609600" indent="-609600" algn="just">
              <a:spcBef>
                <a:spcPct val="20000"/>
              </a:spcBef>
              <a:spcAft>
                <a:spcPts val="1200"/>
              </a:spcAft>
              <a:buFont typeface="Arial" pitchFamily="34" charset="0"/>
              <a:buAutoNum type="alphaLcParenR"/>
            </a:pPr>
            <a:r>
              <a:rPr lang="en-US" altLang="uz-Cyrl-UZ" sz="2200" b="1" i="1">
                <a:solidFill>
                  <a:srgbClr val="FF0000"/>
                </a:solidFill>
                <a:latin typeface="Times New Roman" pitchFamily="18" charset="0"/>
              </a:rPr>
              <a:t>m</a:t>
            </a:r>
            <a:r>
              <a:rPr lang="ru-RU" altLang="uz-Cyrl-UZ" sz="2200" b="1" i="1">
                <a:solidFill>
                  <a:srgbClr val="FF0000"/>
                </a:solidFill>
                <a:latin typeface="Times New Roman" pitchFamily="18" charset="0"/>
              </a:rPr>
              <a:t> = </a:t>
            </a:r>
            <a:r>
              <a:rPr lang="en-US" altLang="uz-Cyrl-UZ" sz="2200" b="1" i="1">
                <a:solidFill>
                  <a:srgbClr val="FF0000"/>
                </a:solidFill>
                <a:latin typeface="Times New Roman" pitchFamily="18" charset="0"/>
              </a:rPr>
              <a:t>H</a:t>
            </a:r>
            <a:r>
              <a:rPr lang="ru-RU" altLang="uz-Cyrl-UZ" sz="2200" b="1" i="1">
                <a:solidFill>
                  <a:srgbClr val="FF0000"/>
                </a:solidFill>
                <a:latin typeface="Times New Roman" pitchFamily="18" charset="0"/>
              </a:rPr>
              <a:t>(</a:t>
            </a:r>
            <a:r>
              <a:rPr lang="uz-Cyrl-UZ" altLang="uz-Cyrl-UZ" sz="2200" b="1" i="1">
                <a:solidFill>
                  <a:srgbClr val="FF0000"/>
                </a:solidFill>
                <a:latin typeface="Times New Roman" pitchFamily="18" charset="0"/>
                <a:sym typeface="Symbol" pitchFamily="18" charset="2"/>
              </a:rPr>
              <a:t>М</a:t>
            </a:r>
            <a:r>
              <a:rPr lang="ru-RU" altLang="uz-Cyrl-UZ" sz="2200" b="1" i="1">
                <a:solidFill>
                  <a:srgbClr val="FF0000"/>
                </a:solidFill>
                <a:latin typeface="Times New Roman" pitchFamily="18" charset="0"/>
              </a:rPr>
              <a:t>)</a:t>
            </a:r>
            <a:r>
              <a:rPr lang="en-US" altLang="uz-Cyrl-UZ" sz="2200">
                <a:latin typeface="Times New Roman" pitchFamily="18" charset="0"/>
              </a:rPr>
              <a:t> </a:t>
            </a:r>
            <a:r>
              <a:rPr lang="ru-RU" altLang="uz-Cyrl-UZ" sz="2200">
                <a:latin typeface="Times New Roman" pitchFamily="18" charset="0"/>
              </a:rPr>
              <a:t>–</a:t>
            </a:r>
            <a:r>
              <a:rPr lang="en-US" altLang="uz-Cyrl-UZ" sz="2200">
                <a:latin typeface="Times New Roman" pitchFamily="18" charset="0"/>
              </a:rPr>
              <a:t> </a:t>
            </a:r>
            <a:r>
              <a:rPr lang="uz-Cyrl-UZ" sz="2200" b="1" i="1">
                <a:latin typeface="Times New Roman" pitchFamily="18" charset="0"/>
                <a:cs typeface="Times New Roman" pitchFamily="18" charset="0"/>
              </a:rPr>
              <a:t>М</a:t>
            </a:r>
            <a:r>
              <a:rPr lang="uz-Cyrl-UZ" sz="2200">
                <a:latin typeface="Times New Roman" pitchFamily="18" charset="0"/>
                <a:cs typeface="Times New Roman" pitchFamily="18" charset="0"/>
              </a:rPr>
              <a:t> хабарни </a:t>
            </a:r>
            <a:r>
              <a:rPr lang="uz-Cyrl-UZ" sz="2200" b="1" i="1">
                <a:latin typeface="Times New Roman" pitchFamily="18" charset="0"/>
                <a:cs typeface="Times New Roman" pitchFamily="18" charset="0"/>
              </a:rPr>
              <a:t>256</a:t>
            </a:r>
            <a:r>
              <a:rPr lang="uz-Cyrl-UZ" sz="2200">
                <a:latin typeface="Times New Roman" pitchFamily="18" charset="0"/>
                <a:cs typeface="Times New Roman" pitchFamily="18" charset="0"/>
              </a:rPr>
              <a:t> bit узунликдаги қаторда акс эттирувчи хэш-функция; криптографик модулнинг дастурий, гибрид ва аппарат типларида калитсиз хэш-функция, махсус аппарат типида эса калитли хэш-функциядан  фойдаланилади.</a:t>
            </a:r>
            <a:endParaRPr lang="uz-Cyrl-UZ" altLang="uz-Cyrl-UZ" sz="2200">
              <a:latin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latin typeface="Calibri" pitchFamily="34" charset="0"/>
            </a:endParaRPr>
          </a:p>
        </p:txBody>
      </p:sp>
      <p:sp>
        <p:nvSpPr>
          <p:cNvPr id="8195" name="Содержимое 2"/>
          <p:cNvSpPr>
            <a:spLocks/>
          </p:cNvSpPr>
          <p:nvPr/>
        </p:nvSpPr>
        <p:spPr bwMode="auto">
          <a:xfrm>
            <a:off x="230188" y="476250"/>
            <a:ext cx="8713787"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p>
            <a:pPr marL="609600" indent="-609600" algn="ctr">
              <a:spcBef>
                <a:spcPct val="20000"/>
              </a:spcBef>
              <a:buFont typeface="Arial" pitchFamily="34" charset="0"/>
              <a:buNone/>
            </a:pPr>
            <a:r>
              <a:rPr lang="uz-Cyrl-UZ" altLang="uz-Cyrl-UZ" sz="2200" b="1">
                <a:solidFill>
                  <a:srgbClr val="0070C0"/>
                </a:solidFill>
                <a:latin typeface="Times New Roman" pitchFamily="18" charset="0"/>
              </a:rPr>
              <a:t>4.</a:t>
            </a:r>
            <a:r>
              <a:rPr lang="ru-RU" altLang="uz-Cyrl-UZ" sz="2200" b="1">
                <a:solidFill>
                  <a:srgbClr val="0070C0"/>
                </a:solidFill>
                <a:latin typeface="Times New Roman" pitchFamily="18" charset="0"/>
              </a:rPr>
              <a:t>2</a:t>
            </a:r>
            <a:r>
              <a:rPr lang="uz-Cyrl-UZ" altLang="uz-Cyrl-UZ" sz="2200" b="1">
                <a:solidFill>
                  <a:srgbClr val="0070C0"/>
                </a:solidFill>
                <a:latin typeface="Times New Roman" pitchFamily="18" charset="0"/>
              </a:rPr>
              <a:t>.</a:t>
            </a:r>
            <a:r>
              <a:rPr lang="ru-RU" altLang="uz-Cyrl-UZ" sz="2200" b="1">
                <a:solidFill>
                  <a:srgbClr val="0070C0"/>
                </a:solidFill>
                <a:latin typeface="Times New Roman" pitchFamily="18" charset="0"/>
              </a:rPr>
              <a:t> </a:t>
            </a:r>
            <a:r>
              <a:rPr lang="uz-Cyrl-UZ" altLang="uz-Cyrl-UZ" sz="2200" b="1">
                <a:solidFill>
                  <a:srgbClr val="0070C0"/>
                </a:solidFill>
                <a:latin typeface="Times New Roman" pitchFamily="18" charset="0"/>
              </a:rPr>
              <a:t> ЭРИ алгоритмида ҳар бир фойдаланувчи ўзининг шаҳсий калитига эга бўлиши керак</a:t>
            </a:r>
            <a:r>
              <a:rPr lang="ru-RU" altLang="uz-Cyrl-UZ" sz="2200" b="1">
                <a:solidFill>
                  <a:srgbClr val="0070C0"/>
                </a:solidFill>
                <a:latin typeface="Times New Roman" pitchFamily="18" charset="0"/>
              </a:rPr>
              <a:t>:</a:t>
            </a:r>
            <a:endParaRPr lang="en-US" altLang="uz-Cyrl-UZ" sz="2200" b="1">
              <a:solidFill>
                <a:srgbClr val="0070C0"/>
              </a:solidFill>
              <a:latin typeface="Times New Roman" pitchFamily="18" charset="0"/>
            </a:endParaRPr>
          </a:p>
          <a:p>
            <a:pPr marL="609600" indent="-609600" algn="just">
              <a:spcBef>
                <a:spcPct val="20000"/>
              </a:spcBef>
              <a:buFont typeface="Arial" pitchFamily="34" charset="0"/>
              <a:buNone/>
            </a:pPr>
            <a:endParaRPr lang="ru-RU" altLang="uz-Cyrl-UZ" sz="1000" b="1" i="1">
              <a:latin typeface="Times New Roman" pitchFamily="18" charset="0"/>
            </a:endParaRPr>
          </a:p>
          <a:p>
            <a:pPr marL="609600" indent="-609600" algn="just">
              <a:spcBef>
                <a:spcPct val="20000"/>
              </a:spcBef>
              <a:buFont typeface="Calibri" pitchFamily="34" charset="0"/>
              <a:buAutoNum type="alphaLcParenR"/>
            </a:pPr>
            <a:r>
              <a:rPr lang="ru-RU" altLang="uz-Cyrl-UZ" sz="2200" b="1" i="1">
                <a:solidFill>
                  <a:srgbClr val="FF0000"/>
                </a:solidFill>
                <a:latin typeface="Times New Roman" pitchFamily="18" charset="0"/>
              </a:rPr>
              <a:t>(</a:t>
            </a:r>
            <a:r>
              <a:rPr lang="en-US" altLang="uz-Cyrl-UZ" sz="2200" b="1" i="1">
                <a:solidFill>
                  <a:srgbClr val="FF0000"/>
                </a:solidFill>
                <a:latin typeface="Times New Roman" pitchFamily="18" charset="0"/>
              </a:rPr>
              <a:t>x</a:t>
            </a:r>
            <a:r>
              <a:rPr lang="ru-RU" altLang="uz-Cyrl-UZ" sz="2200" b="1" i="1">
                <a:solidFill>
                  <a:srgbClr val="FF0000"/>
                </a:solidFill>
                <a:latin typeface="Times New Roman" pitchFamily="18" charset="0"/>
              </a:rPr>
              <a:t>, </a:t>
            </a:r>
            <a:r>
              <a:rPr lang="en-US" altLang="uz-Cyrl-UZ" sz="2200" b="1" i="1">
                <a:solidFill>
                  <a:srgbClr val="FF0000"/>
                </a:solidFill>
                <a:latin typeface="Times New Roman" pitchFamily="18" charset="0"/>
              </a:rPr>
              <a:t>u</a:t>
            </a:r>
            <a:r>
              <a:rPr lang="ru-RU" altLang="uz-Cyrl-UZ" sz="2200" b="1" i="1">
                <a:solidFill>
                  <a:srgbClr val="FF0000"/>
                </a:solidFill>
                <a:latin typeface="Times New Roman" pitchFamily="18" charset="0"/>
              </a:rPr>
              <a:t>)</a:t>
            </a:r>
            <a:r>
              <a:rPr lang="ru-RU" altLang="uz-Cyrl-UZ" sz="2200" b="1" i="1">
                <a:solidFill>
                  <a:srgbClr val="C00000"/>
                </a:solidFill>
                <a:latin typeface="Times New Roman" pitchFamily="18" charset="0"/>
              </a:rPr>
              <a:t> </a:t>
            </a:r>
            <a:r>
              <a:rPr lang="ru-RU" altLang="uz-Cyrl-UZ" sz="2200" b="1">
                <a:latin typeface="Times New Roman" pitchFamily="18" charset="0"/>
              </a:rPr>
              <a:t>– </a:t>
            </a:r>
            <a:r>
              <a:rPr lang="uz-Cyrl-UZ" altLang="uz-Cyrl-UZ" sz="2200">
                <a:latin typeface="Times New Roman" pitchFamily="18" charset="0"/>
              </a:rPr>
              <a:t>бутун сонлар жуфтлиги </a:t>
            </a:r>
            <a:r>
              <a:rPr lang="ru-RU" altLang="uz-Cyrl-UZ" sz="2200">
                <a:latin typeface="Times New Roman" pitchFamily="18" charset="0"/>
              </a:rPr>
              <a:t>– </a:t>
            </a:r>
            <a:r>
              <a:rPr lang="uz-Cyrl-UZ" altLang="uz-Cyrl-UZ" sz="2200">
                <a:latin typeface="Times New Roman" pitchFamily="18" charset="0"/>
              </a:rPr>
              <a:t>ЭРИ ёпиқ калити</a:t>
            </a:r>
            <a:r>
              <a:rPr lang="ru-RU" altLang="uz-Cyrl-UZ" sz="2200">
                <a:latin typeface="Times New Roman" pitchFamily="18" charset="0"/>
              </a:rPr>
              <a:t>;</a:t>
            </a:r>
            <a:r>
              <a:rPr lang="ru-RU" altLang="uz-Cyrl-UZ" sz="2200" b="1">
                <a:latin typeface="Times New Roman" pitchFamily="18" charset="0"/>
              </a:rPr>
              <a:t>                               </a:t>
            </a:r>
            <a:r>
              <a:rPr lang="uz-Cyrl-UZ" altLang="uz-Cyrl-UZ" sz="2200">
                <a:latin typeface="Times New Roman" pitchFamily="18" charset="0"/>
              </a:rPr>
              <a:t>бу ерда</a:t>
            </a:r>
            <a:r>
              <a:rPr lang="ru-RU" altLang="uz-Cyrl-UZ" sz="2200">
                <a:latin typeface="Times New Roman" pitchFamily="18" charset="0"/>
              </a:rPr>
              <a:t>:</a:t>
            </a:r>
            <a:r>
              <a:rPr lang="ru-RU" altLang="uz-Cyrl-UZ" sz="2200" b="1">
                <a:latin typeface="Times New Roman" pitchFamily="18" charset="0"/>
              </a:rPr>
              <a:t> </a:t>
            </a:r>
            <a:r>
              <a:rPr lang="en-US" altLang="uz-Cyrl-UZ" sz="2200" b="1" i="1">
                <a:latin typeface="Times New Roman" pitchFamily="18" charset="0"/>
              </a:rPr>
              <a:t>x</a:t>
            </a:r>
            <a:r>
              <a:rPr lang="ru-RU" altLang="uz-Cyrl-UZ" sz="2200" b="1">
                <a:latin typeface="Times New Roman" pitchFamily="18" charset="0"/>
              </a:rPr>
              <a:t>, </a:t>
            </a:r>
            <a:r>
              <a:rPr lang="en-US" altLang="uz-Cyrl-UZ" sz="2200" b="1" i="1">
                <a:latin typeface="Times New Roman" pitchFamily="18" charset="0"/>
              </a:rPr>
              <a:t>u</a:t>
            </a:r>
            <a:r>
              <a:rPr lang="ru-RU" altLang="uz-Cyrl-UZ" sz="2200" b="1">
                <a:latin typeface="Times New Roman" pitchFamily="18" charset="0"/>
              </a:rPr>
              <a:t> – </a:t>
            </a:r>
            <a:r>
              <a:rPr lang="uz-Cyrl-UZ" altLang="uz-Cyrl-UZ" sz="2200">
                <a:latin typeface="Times New Roman" pitchFamily="18" charset="0"/>
              </a:rPr>
              <a:t>ёпиқ калитлар,</a:t>
            </a:r>
            <a:r>
              <a:rPr lang="uz-Cyrl-UZ" altLang="uz-Cyrl-UZ" sz="2200" b="1">
                <a:latin typeface="Times New Roman" pitchFamily="18" charset="0"/>
              </a:rPr>
              <a:t> </a:t>
            </a:r>
            <a:r>
              <a:rPr lang="ru-RU" altLang="uz-Cyrl-UZ" sz="2200" b="1" i="1">
                <a:latin typeface="Times New Roman" pitchFamily="18" charset="0"/>
              </a:rPr>
              <a:t>1&lt;</a:t>
            </a:r>
            <a:r>
              <a:rPr lang="en-US" altLang="uz-Cyrl-UZ" sz="2200" b="1" i="1">
                <a:latin typeface="Times New Roman" pitchFamily="18" charset="0"/>
              </a:rPr>
              <a:t>x</a:t>
            </a:r>
            <a:r>
              <a:rPr lang="ru-RU" altLang="uz-Cyrl-UZ" sz="2200" b="1">
                <a:latin typeface="Times New Roman" pitchFamily="18" charset="0"/>
              </a:rPr>
              <a:t>, </a:t>
            </a:r>
            <a:r>
              <a:rPr lang="en-US" altLang="uz-Cyrl-UZ" sz="2200" b="1" i="1">
                <a:latin typeface="Times New Roman" pitchFamily="18" charset="0"/>
              </a:rPr>
              <a:t>u</a:t>
            </a:r>
            <a:r>
              <a:rPr lang="ru-RU" altLang="uz-Cyrl-UZ" sz="2200" b="1" i="1">
                <a:latin typeface="Times New Roman" pitchFamily="18" charset="0"/>
              </a:rPr>
              <a:t>&lt;</a:t>
            </a:r>
            <a:r>
              <a:rPr lang="en-US" altLang="uz-Cyrl-UZ" sz="2200" b="1" i="1">
                <a:latin typeface="Times New Roman" pitchFamily="18" charset="0"/>
              </a:rPr>
              <a:t>q</a:t>
            </a:r>
            <a:r>
              <a:rPr lang="en-US" altLang="uz-Cyrl-UZ" sz="2200" b="1">
                <a:latin typeface="Times New Roman" pitchFamily="18" charset="0"/>
              </a:rPr>
              <a:t> </a:t>
            </a:r>
            <a:r>
              <a:rPr lang="uz-Cyrl-UZ" altLang="uz-Cyrl-UZ" sz="2200">
                <a:latin typeface="Times New Roman" pitchFamily="18" charset="0"/>
              </a:rPr>
              <a:t>шартларини</a:t>
            </a:r>
            <a:r>
              <a:rPr lang="uz-Cyrl-UZ" altLang="uz-Cyrl-UZ" sz="2200" b="1">
                <a:latin typeface="Times New Roman" pitchFamily="18" charset="0"/>
              </a:rPr>
              <a:t> </a:t>
            </a:r>
            <a:r>
              <a:rPr lang="uz-Cyrl-UZ" altLang="uz-Cyrl-UZ" sz="2200">
                <a:latin typeface="Times New Roman" pitchFamily="18" charset="0"/>
              </a:rPr>
              <a:t>қаноатлантирувчи</a:t>
            </a:r>
            <a:r>
              <a:rPr lang="uz-Cyrl-UZ" altLang="uz-Cyrl-UZ" sz="2200" b="1">
                <a:latin typeface="Times New Roman" pitchFamily="18" charset="0"/>
              </a:rPr>
              <a:t> </a:t>
            </a:r>
            <a:r>
              <a:rPr lang="uz-Cyrl-UZ" altLang="uz-Cyrl-UZ" sz="2200">
                <a:latin typeface="Times New Roman" pitchFamily="18" charset="0"/>
              </a:rPr>
              <a:t>тасодифий</a:t>
            </a:r>
            <a:r>
              <a:rPr lang="uz-Cyrl-UZ" altLang="uz-Cyrl-UZ" sz="2200" b="1">
                <a:latin typeface="Times New Roman" pitchFamily="18" charset="0"/>
              </a:rPr>
              <a:t> </a:t>
            </a:r>
            <a:r>
              <a:rPr lang="uz-Cyrl-UZ" altLang="uz-Cyrl-UZ" sz="2200">
                <a:latin typeface="Times New Roman" pitchFamily="18" charset="0"/>
              </a:rPr>
              <a:t>ёки</a:t>
            </a:r>
            <a:r>
              <a:rPr lang="uz-Cyrl-UZ" altLang="uz-Cyrl-UZ" sz="2200" b="1">
                <a:latin typeface="Times New Roman" pitchFamily="18" charset="0"/>
              </a:rPr>
              <a:t> </a:t>
            </a:r>
            <a:r>
              <a:rPr lang="uz-Cyrl-UZ" altLang="uz-Cyrl-UZ" sz="2200">
                <a:latin typeface="Times New Roman" pitchFamily="18" charset="0"/>
              </a:rPr>
              <a:t>псевдотасодифий</a:t>
            </a:r>
            <a:r>
              <a:rPr lang="uz-Cyrl-UZ" altLang="uz-Cyrl-UZ" sz="2200" b="1">
                <a:latin typeface="Times New Roman" pitchFamily="18" charset="0"/>
              </a:rPr>
              <a:t> </a:t>
            </a:r>
            <a:r>
              <a:rPr lang="uz-Cyrl-UZ" altLang="uz-Cyrl-UZ" sz="2200">
                <a:latin typeface="Times New Roman" pitchFamily="18" charset="0"/>
              </a:rPr>
              <a:t>генерацияланган</a:t>
            </a:r>
            <a:r>
              <a:rPr lang="uz-Cyrl-UZ" altLang="uz-Cyrl-UZ" sz="2200" b="1">
                <a:latin typeface="Times New Roman" pitchFamily="18" charset="0"/>
              </a:rPr>
              <a:t> </a:t>
            </a:r>
            <a:r>
              <a:rPr lang="uz-Cyrl-UZ" altLang="uz-Cyrl-UZ" sz="2200">
                <a:latin typeface="Times New Roman" pitchFamily="18" charset="0"/>
              </a:rPr>
              <a:t>бутун</a:t>
            </a:r>
            <a:r>
              <a:rPr lang="uz-Cyrl-UZ" altLang="uz-Cyrl-UZ" sz="2200" b="1">
                <a:latin typeface="Times New Roman" pitchFamily="18" charset="0"/>
              </a:rPr>
              <a:t> </a:t>
            </a:r>
            <a:r>
              <a:rPr lang="uz-Cyrl-UZ" altLang="uz-Cyrl-UZ" sz="2200">
                <a:latin typeface="Times New Roman" pitchFamily="18" charset="0"/>
              </a:rPr>
              <a:t>сонлар</a:t>
            </a:r>
            <a:r>
              <a:rPr lang="en-US" altLang="uz-Cyrl-UZ" sz="2200">
                <a:latin typeface="Times New Roman" pitchFamily="18" charset="0"/>
              </a:rPr>
              <a:t>;</a:t>
            </a:r>
            <a:endParaRPr lang="ru-RU" altLang="uz-Cyrl-UZ" sz="2200">
              <a:latin typeface="Times New Roman" pitchFamily="18" charset="0"/>
            </a:endParaRPr>
          </a:p>
          <a:p>
            <a:pPr marL="609600" indent="-609600" algn="just">
              <a:spcBef>
                <a:spcPct val="20000"/>
              </a:spcBef>
              <a:buFont typeface="Calibri" pitchFamily="34" charset="0"/>
              <a:buAutoNum type="alphaLcParenR"/>
            </a:pPr>
            <a:r>
              <a:rPr lang="en-US" altLang="uz-Cyrl-UZ" sz="2200" b="1" i="1">
                <a:solidFill>
                  <a:srgbClr val="FF0000"/>
                </a:solidFill>
                <a:latin typeface="Times New Roman" pitchFamily="18" charset="0"/>
              </a:rPr>
              <a:t>g</a:t>
            </a:r>
            <a:r>
              <a:rPr lang="ru-RU" altLang="uz-Cyrl-UZ" sz="2200" b="1">
                <a:solidFill>
                  <a:srgbClr val="FF0000"/>
                </a:solidFill>
                <a:latin typeface="Times New Roman" pitchFamily="18" charset="0"/>
              </a:rPr>
              <a:t> </a:t>
            </a:r>
            <a:r>
              <a:rPr lang="ru-RU" altLang="uz-Cyrl-UZ" sz="2200" b="1">
                <a:latin typeface="Times New Roman" pitchFamily="18" charset="0"/>
              </a:rPr>
              <a:t>– </a:t>
            </a:r>
            <a:r>
              <a:rPr lang="uz-Cyrl-UZ" altLang="uz-Cyrl-UZ" sz="2200">
                <a:latin typeface="Times New Roman" pitchFamily="18" charset="0"/>
              </a:rPr>
              <a:t>ёпиқ ёки очиқ параметр</a:t>
            </a:r>
            <a:r>
              <a:rPr lang="ru-RU" altLang="uz-Cyrl-UZ" sz="2200">
                <a:latin typeface="Times New Roman" pitchFamily="18" charset="0"/>
              </a:rPr>
              <a:t>,</a:t>
            </a:r>
            <a:r>
              <a:rPr lang="ru-RU" altLang="uz-Cyrl-UZ" sz="2200" b="1">
                <a:latin typeface="Times New Roman" pitchFamily="18" charset="0"/>
              </a:rPr>
              <a:t> </a:t>
            </a:r>
            <a:r>
              <a:rPr lang="en-US" altLang="uz-Cyrl-UZ" sz="2200" b="1" i="1">
                <a:latin typeface="Times New Roman" pitchFamily="18" charset="0"/>
              </a:rPr>
              <a:t>g </a:t>
            </a:r>
            <a:r>
              <a:rPr lang="en-US" altLang="uz-Cyrl-UZ" sz="2200" b="1" i="1">
                <a:latin typeface="Times New Roman" pitchFamily="18" charset="0"/>
                <a:sym typeface="Symbol" pitchFamily="18" charset="2"/>
              </a:rPr>
              <a:t></a:t>
            </a:r>
            <a:r>
              <a:rPr lang="en-US" altLang="uz-Cyrl-UZ" sz="2200" b="1" i="1">
                <a:latin typeface="Times New Roman" pitchFamily="18" charset="0"/>
              </a:rPr>
              <a:t> h</a:t>
            </a:r>
            <a:r>
              <a:rPr lang="ru-RU" altLang="uz-Cyrl-UZ" sz="2200" b="1" i="1" baseline="30000">
                <a:latin typeface="Times New Roman" pitchFamily="18" charset="0"/>
              </a:rPr>
              <a:t>\(р-1)/</a:t>
            </a:r>
            <a:r>
              <a:rPr lang="en-US" altLang="uz-Cyrl-UZ" sz="2200" b="1" i="1" baseline="30000">
                <a:latin typeface="Times New Roman" pitchFamily="18" charset="0"/>
              </a:rPr>
              <a:t>q</a:t>
            </a:r>
            <a:r>
              <a:rPr lang="ru-RU" altLang="uz-Cyrl-UZ" sz="2200" b="1" i="1">
                <a:latin typeface="Times New Roman" pitchFamily="18" charset="0"/>
              </a:rPr>
              <a:t> (</a:t>
            </a:r>
            <a:r>
              <a:rPr lang="en-US" altLang="uz-Cyrl-UZ" sz="2200" b="1" i="1">
                <a:latin typeface="Times New Roman" pitchFamily="18" charset="0"/>
              </a:rPr>
              <a:t>mod p</a:t>
            </a:r>
            <a:r>
              <a:rPr lang="ru-RU" altLang="uz-Cyrl-UZ" sz="2200" b="1" i="1">
                <a:latin typeface="Times New Roman" pitchFamily="18" charset="0"/>
              </a:rPr>
              <a:t>)</a:t>
            </a:r>
            <a:r>
              <a:rPr lang="uz-Cyrl-UZ" altLang="uz-Cyrl-UZ" sz="2200" b="1" i="1">
                <a:latin typeface="Times New Roman" pitchFamily="18" charset="0"/>
              </a:rPr>
              <a:t> </a:t>
            </a:r>
            <a:r>
              <a:rPr lang="uz-Cyrl-UZ" altLang="uz-Cyrl-UZ" sz="2200">
                <a:latin typeface="Times New Roman" pitchFamily="18" charset="0"/>
              </a:rPr>
              <a:t>ёрдамида</a:t>
            </a:r>
            <a:r>
              <a:rPr lang="en-US" altLang="uz-Cyrl-UZ" sz="2200">
                <a:latin typeface="Times New Roman" pitchFamily="18" charset="0"/>
              </a:rPr>
              <a:t> </a:t>
            </a:r>
            <a:r>
              <a:rPr lang="uz-Cyrl-UZ" altLang="uz-Cyrl-UZ" sz="2200">
                <a:latin typeface="Times New Roman" pitchFamily="18" charset="0"/>
              </a:rPr>
              <a:t>хисобланувчи бутун сон</a:t>
            </a:r>
            <a:r>
              <a:rPr lang="ru-RU" altLang="uz-Cyrl-UZ" sz="2200">
                <a:latin typeface="Times New Roman" pitchFamily="18" charset="0"/>
              </a:rPr>
              <a:t>,</a:t>
            </a:r>
            <a:r>
              <a:rPr lang="uz-Cyrl-UZ" altLang="uz-Cyrl-UZ" sz="2200">
                <a:latin typeface="Times New Roman" pitchFamily="18" charset="0"/>
              </a:rPr>
              <a:t> </a:t>
            </a:r>
            <a:r>
              <a:rPr lang="ru-RU" sz="2200">
                <a:latin typeface="Times New Roman" pitchFamily="18" charset="0"/>
                <a:cs typeface="Times New Roman" pitchFamily="18" charset="0"/>
              </a:rPr>
              <a:t>бу ерда: </a:t>
            </a:r>
            <a:r>
              <a:rPr lang="en-US" sz="2200" b="1" i="1">
                <a:latin typeface="Times New Roman" pitchFamily="18" charset="0"/>
                <a:cs typeface="Times New Roman" pitchFamily="18" charset="0"/>
              </a:rPr>
              <a:t>h</a:t>
            </a:r>
            <a:r>
              <a:rPr lang="ru-RU" sz="2200" b="1" i="1">
                <a:latin typeface="Times New Roman" pitchFamily="18" charset="0"/>
                <a:cs typeface="Times New Roman" pitchFamily="18" charset="0"/>
              </a:rPr>
              <a:t> &lt; </a:t>
            </a:r>
            <a:r>
              <a:rPr lang="en-US" sz="2200" b="1" i="1">
                <a:latin typeface="Times New Roman" pitchFamily="18" charset="0"/>
                <a:cs typeface="Times New Roman" pitchFamily="18" charset="0"/>
              </a:rPr>
              <a:t>p</a:t>
            </a:r>
            <a:r>
              <a:rPr lang="en-US" sz="2200">
                <a:latin typeface="Times New Roman" pitchFamily="18" charset="0"/>
                <a:cs typeface="Times New Roman" pitchFamily="18" charset="0"/>
              </a:rPr>
              <a:t>  </a:t>
            </a:r>
            <a:r>
              <a:rPr lang="ru-RU" sz="2200">
                <a:latin typeface="Times New Roman" pitchFamily="18" charset="0"/>
                <a:cs typeface="Times New Roman" pitchFamily="18" charset="0"/>
              </a:rPr>
              <a:t>– натурал сон бўлиб,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a:t>
            </a:r>
            <a:r>
              <a:rPr lang="ru-RU" sz="2200">
                <a:latin typeface="Times New Roman" pitchFamily="18" charset="0"/>
                <a:cs typeface="Times New Roman" pitchFamily="18" charset="0"/>
              </a:rPr>
              <a:t>нинг </a:t>
            </a:r>
            <a:r>
              <a:rPr lang="ru-RU" sz="2200" b="1" i="1">
                <a:latin typeface="Times New Roman" pitchFamily="18" charset="0"/>
                <a:cs typeface="Times New Roman" pitchFamily="18" charset="0"/>
              </a:rPr>
              <a:t>1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q</a:t>
            </a:r>
            <a:r>
              <a:rPr lang="ru-RU" sz="2200">
                <a:latin typeface="Times New Roman" pitchFamily="18" charset="0"/>
                <a:cs typeface="Times New Roman" pitchFamily="18" charset="0"/>
              </a:rPr>
              <a:t> қийматлар</a:t>
            </a:r>
            <a:r>
              <a:rPr lang="uz-Cyrl-UZ" sz="2200">
                <a:latin typeface="Times New Roman" pitchFamily="18" charset="0"/>
                <a:cs typeface="Times New Roman" pitchFamily="18" charset="0"/>
              </a:rPr>
              <a:t> диапозони</a:t>
            </a:r>
            <a:r>
              <a:rPr lang="ru-RU" sz="2200">
                <a:latin typeface="Times New Roman" pitchFamily="18" charset="0"/>
                <a:cs typeface="Times New Roman" pitchFamily="18" charset="0"/>
              </a:rPr>
              <a:t>да фақат </a:t>
            </a:r>
            <a:r>
              <a:rPr lang="en-US" sz="2200" b="1" i="1">
                <a:latin typeface="Times New Roman" pitchFamily="18" charset="0"/>
                <a:cs typeface="Times New Roman" pitchFamily="18" charset="0"/>
                <a:sym typeface="Symbol" pitchFamily="18" charset="2"/>
              </a:rPr>
              <a:t></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q</a:t>
            </a:r>
            <a:r>
              <a:rPr lang="ru-RU" sz="2200">
                <a:latin typeface="Times New Roman" pitchFamily="18" charset="0"/>
                <a:cs typeface="Times New Roman" pitchFamily="18" charset="0"/>
              </a:rPr>
              <a:t> бўлгандагина                </a:t>
            </a:r>
            <a:r>
              <a:rPr lang="en-US" sz="2200" b="1" i="1">
                <a:latin typeface="Times New Roman" pitchFamily="18" charset="0"/>
                <a:cs typeface="Times New Roman" pitchFamily="18" charset="0"/>
              </a:rPr>
              <a:t>g</a:t>
            </a:r>
            <a:r>
              <a:rPr lang="ru-RU" sz="2200" b="1" i="1" baseline="30000">
                <a:latin typeface="Times New Roman" pitchFamily="18" charset="0"/>
                <a:cs typeface="Times New Roman" pitchFamily="18" charset="0"/>
              </a:rPr>
              <a:t>\</a:t>
            </a:r>
            <a:r>
              <a:rPr lang="en-US" sz="2200" b="1" i="1" baseline="30000">
                <a:latin typeface="Times New Roman" pitchFamily="18" charset="0"/>
                <a:cs typeface="Times New Roman" pitchFamily="18" charset="0"/>
                <a:sym typeface="Symbol" pitchFamily="18" charset="2"/>
              </a:rPr>
              <a:t></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a:t>
            </a:r>
            <a:r>
              <a:rPr lang="ru-RU" sz="2200" b="1" i="1">
                <a:latin typeface="Times New Roman" pitchFamily="18" charset="0"/>
                <a:cs typeface="Times New Roman" pitchFamily="18" charset="0"/>
              </a:rPr>
              <a:t>0</a:t>
            </a:r>
            <a:r>
              <a:rPr lang="ru-RU" sz="2200">
                <a:latin typeface="Times New Roman" pitchFamily="18" charset="0"/>
                <a:cs typeface="Times New Roman" pitchFamily="18" charset="0"/>
              </a:rPr>
              <a:t> шартни қаноатлантиради;</a:t>
            </a:r>
            <a:endParaRPr lang="uz-Cyrl-UZ" sz="2200">
              <a:latin typeface="PANDA Times UZ"/>
              <a:cs typeface="Times New Roman" pitchFamily="18" charset="0"/>
            </a:endParaRPr>
          </a:p>
          <a:p>
            <a:pPr marL="609600" indent="-609600" algn="just">
              <a:spcBef>
                <a:spcPct val="20000"/>
              </a:spcBef>
              <a:buFont typeface="Calibri" pitchFamily="34" charset="0"/>
              <a:buAutoNum type="alphaLcParenR"/>
            </a:pPr>
            <a:r>
              <a:rPr lang="ru-RU" altLang="uz-Cyrl-UZ" sz="2200" b="1" i="1">
                <a:solidFill>
                  <a:srgbClr val="FF0000"/>
                </a:solidFill>
                <a:latin typeface="Times New Roman" pitchFamily="18" charset="0"/>
              </a:rPr>
              <a:t>(</a:t>
            </a:r>
            <a:r>
              <a:rPr lang="en-US" altLang="uz-Cyrl-UZ" sz="2200" b="1" i="1">
                <a:solidFill>
                  <a:srgbClr val="FF0000"/>
                </a:solidFill>
                <a:latin typeface="Times New Roman" pitchFamily="18" charset="0"/>
              </a:rPr>
              <a:t>y</a:t>
            </a:r>
            <a:r>
              <a:rPr lang="ru-RU" altLang="uz-Cyrl-UZ" sz="2200" b="1" i="1">
                <a:solidFill>
                  <a:srgbClr val="FF0000"/>
                </a:solidFill>
                <a:latin typeface="Times New Roman" pitchFamily="18" charset="0"/>
              </a:rPr>
              <a:t>, </a:t>
            </a:r>
            <a:r>
              <a:rPr lang="en-US" altLang="uz-Cyrl-UZ" sz="2200" b="1" i="1">
                <a:solidFill>
                  <a:srgbClr val="FF0000"/>
                </a:solidFill>
                <a:latin typeface="Times New Roman" pitchFamily="18" charset="0"/>
              </a:rPr>
              <a:t>z</a:t>
            </a:r>
            <a:r>
              <a:rPr lang="ru-RU" altLang="uz-Cyrl-UZ" sz="2200" b="1" i="1">
                <a:solidFill>
                  <a:srgbClr val="FF0000"/>
                </a:solidFill>
                <a:latin typeface="Times New Roman" pitchFamily="18" charset="0"/>
              </a:rPr>
              <a:t>)</a:t>
            </a:r>
            <a:r>
              <a:rPr lang="ru-RU" altLang="uz-Cyrl-UZ" sz="2200" i="1">
                <a:solidFill>
                  <a:srgbClr val="FF0000"/>
                </a:solidFill>
                <a:latin typeface="Times New Roman" pitchFamily="18" charset="0"/>
              </a:rPr>
              <a:t> </a:t>
            </a:r>
            <a:r>
              <a:rPr lang="ru-RU" altLang="uz-Cyrl-UZ" sz="2200">
                <a:solidFill>
                  <a:srgbClr val="000000"/>
                </a:solidFill>
                <a:latin typeface="Times New Roman" pitchFamily="18" charset="0"/>
              </a:rPr>
              <a:t>– </a:t>
            </a:r>
            <a:r>
              <a:rPr lang="uz-Cyrl-UZ" altLang="uz-Cyrl-UZ" sz="2200">
                <a:solidFill>
                  <a:srgbClr val="000000"/>
                </a:solidFill>
                <a:latin typeface="Times New Roman" pitchFamily="18" charset="0"/>
              </a:rPr>
              <a:t>бутун сонлар жуфтлиги </a:t>
            </a:r>
            <a:r>
              <a:rPr lang="ru-RU" altLang="uz-Cyrl-UZ" sz="2200">
                <a:solidFill>
                  <a:srgbClr val="000000"/>
                </a:solidFill>
                <a:latin typeface="Times New Roman" pitchFamily="18" charset="0"/>
              </a:rPr>
              <a:t>– </a:t>
            </a:r>
            <a:r>
              <a:rPr lang="uz-Cyrl-UZ" altLang="uz-Cyrl-UZ" sz="2200">
                <a:solidFill>
                  <a:srgbClr val="000000"/>
                </a:solidFill>
                <a:latin typeface="Times New Roman" pitchFamily="18" charset="0"/>
              </a:rPr>
              <a:t>ЭРИ  очиқ калити</a:t>
            </a:r>
            <a:r>
              <a:rPr lang="ru-RU" altLang="uz-Cyrl-UZ" sz="2200">
                <a:solidFill>
                  <a:srgbClr val="000000"/>
                </a:solidFill>
                <a:latin typeface="Times New Roman" pitchFamily="18" charset="0"/>
              </a:rPr>
              <a:t>;</a:t>
            </a:r>
            <a:r>
              <a:rPr lang="uz-Cyrl-UZ" altLang="uz-Cyrl-UZ" sz="2200">
                <a:solidFill>
                  <a:srgbClr val="000000"/>
                </a:solidFill>
                <a:latin typeface="Times New Roman" pitchFamily="18" charset="0"/>
              </a:rPr>
              <a:t> </a:t>
            </a:r>
            <a:r>
              <a:rPr lang="ru-RU" sz="2400">
                <a:latin typeface="Times New Roman" pitchFamily="18" charset="0"/>
                <a:cs typeface="Times New Roman" pitchFamily="18" charset="0"/>
              </a:rPr>
              <a:t>бу ерда: </a:t>
            </a:r>
            <a:r>
              <a:rPr lang="en-US" sz="2400" b="1" i="1">
                <a:latin typeface="Times New Roman" pitchFamily="18" charset="0"/>
                <a:cs typeface="Times New Roman" pitchFamily="18" charset="0"/>
              </a:rPr>
              <a:t>y</a:t>
            </a:r>
            <a:r>
              <a:rPr lang="ru-RU" sz="2400">
                <a:latin typeface="Times New Roman" pitchFamily="18" charset="0"/>
                <a:cs typeface="Times New Roman" pitchFamily="18" charset="0"/>
              </a:rPr>
              <a:t>, </a:t>
            </a:r>
            <a:r>
              <a:rPr lang="en-US" sz="2400" b="1" i="1">
                <a:latin typeface="Times New Roman" pitchFamily="18" charset="0"/>
                <a:cs typeface="Times New Roman" pitchFamily="18" charset="0"/>
              </a:rPr>
              <a:t>z</a:t>
            </a:r>
            <a:r>
              <a:rPr lang="ru-RU" sz="2400">
                <a:latin typeface="Times New Roman" pitchFamily="18" charset="0"/>
                <a:cs typeface="Times New Roman" pitchFamily="18" charset="0"/>
              </a:rPr>
              <a:t> – очиқ калитлар, </a:t>
            </a:r>
            <a:r>
              <a:rPr lang="en-US" sz="2400" b="1" i="1">
                <a:latin typeface="Times New Roman" pitchFamily="18" charset="0"/>
                <a:cs typeface="Times New Roman" pitchFamily="18" charset="0"/>
              </a:rPr>
              <a:t>y </a:t>
            </a:r>
            <a:r>
              <a:rPr lang="en-US" sz="2400" b="1" i="1">
                <a:latin typeface="Times New Roman" pitchFamily="18" charset="0"/>
                <a:cs typeface="Times New Roman" pitchFamily="18" charset="0"/>
                <a:sym typeface="Symbol" pitchFamily="18" charset="2"/>
              </a:rPr>
              <a:t></a:t>
            </a:r>
            <a:r>
              <a:rPr lang="en-US" sz="2400" b="1" i="1">
                <a:latin typeface="Times New Roman" pitchFamily="18" charset="0"/>
                <a:cs typeface="Times New Roman" pitchFamily="18" charset="0"/>
              </a:rPr>
              <a:t> g</a:t>
            </a:r>
            <a:r>
              <a:rPr lang="ru-RU" sz="2400" b="1" i="1" baseline="30000">
                <a:latin typeface="Times New Roman" pitchFamily="18" charset="0"/>
                <a:cs typeface="Times New Roman" pitchFamily="18" charset="0"/>
              </a:rPr>
              <a:t>\ </a:t>
            </a:r>
            <a:r>
              <a:rPr lang="en-US" sz="2400" b="1" i="1" baseline="30000">
                <a:latin typeface="Times New Roman" pitchFamily="18" charset="0"/>
                <a:cs typeface="Times New Roman" pitchFamily="18" charset="0"/>
              </a:rPr>
              <a:t>x</a:t>
            </a:r>
            <a:r>
              <a:rPr lang="ru-RU" sz="2400" b="1" i="1">
                <a:latin typeface="Times New Roman" pitchFamily="18" charset="0"/>
                <a:cs typeface="Times New Roman" pitchFamily="18" charset="0"/>
              </a:rPr>
              <a:t> (</a:t>
            </a:r>
            <a:r>
              <a:rPr lang="en-US" sz="2400">
                <a:latin typeface="Times New Roman" pitchFamily="18" charset="0"/>
                <a:cs typeface="Times New Roman" pitchFamily="18" charset="0"/>
              </a:rPr>
              <a:t>mod</a:t>
            </a:r>
            <a:r>
              <a:rPr lang="en-US" sz="2400" b="1" i="1">
                <a:latin typeface="Times New Roman" pitchFamily="18" charset="0"/>
                <a:cs typeface="Times New Roman" pitchFamily="18" charset="0"/>
              </a:rPr>
              <a:t> p</a:t>
            </a:r>
            <a:r>
              <a:rPr lang="ru-RU" sz="2400" b="1" i="1">
                <a:latin typeface="Times New Roman" pitchFamily="18" charset="0"/>
                <a:cs typeface="Times New Roman" pitchFamily="18" charset="0"/>
              </a:rPr>
              <a:t>)</a:t>
            </a:r>
            <a:r>
              <a:rPr lang="ru-RU" sz="2400">
                <a:latin typeface="Times New Roman" pitchFamily="18" charset="0"/>
                <a:cs typeface="Times New Roman" pitchFamily="18" charset="0"/>
              </a:rPr>
              <a:t> ва  </a:t>
            </a:r>
            <a:r>
              <a:rPr lang="en-US" sz="2400" b="1" i="1">
                <a:latin typeface="Times New Roman" pitchFamily="18" charset="0"/>
                <a:cs typeface="Times New Roman" pitchFamily="18" charset="0"/>
              </a:rPr>
              <a:t>z </a:t>
            </a:r>
            <a:r>
              <a:rPr lang="en-US" sz="2400" b="1" i="1">
                <a:latin typeface="Times New Roman" pitchFamily="18" charset="0"/>
                <a:cs typeface="Times New Roman" pitchFamily="18" charset="0"/>
                <a:sym typeface="Symbol" pitchFamily="18" charset="2"/>
              </a:rPr>
              <a:t></a:t>
            </a:r>
            <a:r>
              <a:rPr lang="en-US" sz="2400" b="1" i="1">
                <a:latin typeface="Times New Roman" pitchFamily="18" charset="0"/>
                <a:cs typeface="Times New Roman" pitchFamily="18" charset="0"/>
              </a:rPr>
              <a:t> g</a:t>
            </a:r>
            <a:r>
              <a:rPr lang="ru-RU" sz="2400" b="1" i="1" baseline="30000">
                <a:latin typeface="Times New Roman" pitchFamily="18" charset="0"/>
                <a:cs typeface="Times New Roman" pitchFamily="18" charset="0"/>
              </a:rPr>
              <a:t>\ </a:t>
            </a:r>
            <a:r>
              <a:rPr lang="en-US" sz="2400" b="1" i="1" baseline="30000">
                <a:latin typeface="Times New Roman" pitchFamily="18" charset="0"/>
                <a:cs typeface="Times New Roman" pitchFamily="18" charset="0"/>
              </a:rPr>
              <a:t>u </a:t>
            </a:r>
            <a:r>
              <a:rPr lang="ru-RU" sz="2400" b="1" i="1">
                <a:latin typeface="Times New Roman" pitchFamily="18" charset="0"/>
                <a:cs typeface="Times New Roman" pitchFamily="18" charset="0"/>
              </a:rPr>
              <a:t>(</a:t>
            </a:r>
            <a:r>
              <a:rPr lang="en-US" sz="2400">
                <a:latin typeface="Times New Roman" pitchFamily="18" charset="0"/>
                <a:cs typeface="Times New Roman" pitchFamily="18" charset="0"/>
              </a:rPr>
              <a:t>mod</a:t>
            </a:r>
            <a:r>
              <a:rPr lang="en-US" sz="2400" b="1" i="1">
                <a:latin typeface="Times New Roman" pitchFamily="18" charset="0"/>
                <a:cs typeface="Times New Roman" pitchFamily="18" charset="0"/>
              </a:rPr>
              <a:t> p</a:t>
            </a:r>
            <a:r>
              <a:rPr lang="ru-RU" sz="2400" b="1" i="1">
                <a:latin typeface="Times New Roman" pitchFamily="18" charset="0"/>
                <a:cs typeface="Times New Roman" pitchFamily="18" charset="0"/>
              </a:rPr>
              <a:t>) </a:t>
            </a:r>
            <a:r>
              <a:rPr lang="ru-RU" sz="2400">
                <a:latin typeface="Times New Roman" pitchFamily="18" charset="0"/>
                <a:cs typeface="Times New Roman" pitchFamily="18" charset="0"/>
              </a:rPr>
              <a:t>ифодалар ёрдамида ҳисобланади; </a:t>
            </a:r>
            <a:r>
              <a:rPr lang="uz-Cyrl-UZ" sz="2400">
                <a:latin typeface="Times New Roman" pitchFamily="18" charset="0"/>
                <a:cs typeface="Times New Roman" pitchFamily="18" charset="0"/>
              </a:rPr>
              <a:t>агар очиқ параметр (асос) </a:t>
            </a:r>
            <a:r>
              <a:rPr lang="en-US" sz="2400" b="1" i="1">
                <a:latin typeface="Times New Roman" pitchFamily="18" charset="0"/>
                <a:cs typeface="Times New Roman" pitchFamily="18" charset="0"/>
              </a:rPr>
              <a:t>g </a:t>
            </a:r>
            <a:r>
              <a:rPr lang="uz-Cyrl-UZ" sz="2400">
                <a:latin typeface="Times New Roman" pitchFamily="18" charset="0"/>
                <a:cs typeface="Times New Roman" pitchFamily="18" charset="0"/>
              </a:rPr>
              <a:t>дан фойдаланилса</a:t>
            </a:r>
            <a:r>
              <a:rPr lang="ru-RU" sz="2400">
                <a:latin typeface="Times New Roman" pitchFamily="18" charset="0"/>
                <a:cs typeface="Times New Roman" pitchFamily="18" charset="0"/>
              </a:rPr>
              <a:t>,</a:t>
            </a:r>
            <a:r>
              <a:rPr lang="uz-Cyrl-UZ" sz="2400">
                <a:latin typeface="Times New Roman" pitchFamily="18" charset="0"/>
                <a:cs typeface="Times New Roman" pitchFamily="18" charset="0"/>
              </a:rPr>
              <a:t> унда </a:t>
            </a:r>
            <a:r>
              <a:rPr lang="en-US" sz="2400" b="1" i="1">
                <a:latin typeface="Times New Roman" pitchFamily="18" charset="0"/>
                <a:cs typeface="Times New Roman" pitchFamily="18" charset="0"/>
              </a:rPr>
              <a:t>u</a:t>
            </a:r>
            <a:r>
              <a:rPr lang="ru-RU" sz="2400" b="1" i="1">
                <a:latin typeface="Times New Roman" pitchFamily="18" charset="0"/>
                <a:cs typeface="Times New Roman" pitchFamily="18" charset="0"/>
              </a:rPr>
              <a:t>=1</a:t>
            </a:r>
            <a:r>
              <a:rPr lang="ru-RU" sz="2400">
                <a:latin typeface="Times New Roman" pitchFamily="18" charset="0"/>
                <a:cs typeface="Times New Roman" pitchFamily="18" charset="0"/>
              </a:rPr>
              <a:t> ва  </a:t>
            </a:r>
            <a:r>
              <a:rPr lang="en-US" sz="2400" b="1" i="1">
                <a:latin typeface="Times New Roman" pitchFamily="18" charset="0"/>
                <a:cs typeface="Times New Roman" pitchFamily="18" charset="0"/>
              </a:rPr>
              <a:t>z</a:t>
            </a:r>
            <a:r>
              <a:rPr lang="ru-RU" sz="2400" b="1" i="1">
                <a:latin typeface="Times New Roman" pitchFamily="18" charset="0"/>
                <a:cs typeface="Times New Roman" pitchFamily="18" charset="0"/>
              </a:rPr>
              <a:t>=</a:t>
            </a:r>
            <a:r>
              <a:rPr lang="en-US" sz="2400" b="1" i="1">
                <a:latin typeface="Times New Roman" pitchFamily="18" charset="0"/>
                <a:cs typeface="Times New Roman" pitchFamily="18" charset="0"/>
              </a:rPr>
              <a:t>g</a:t>
            </a:r>
            <a:r>
              <a:rPr lang="uz-Cyrl-UZ" sz="2400">
                <a:latin typeface="Times New Roman" pitchFamily="18" charset="0"/>
                <a:cs typeface="Times New Roman" pitchFamily="18" charset="0"/>
              </a:rPr>
              <a:t>;</a:t>
            </a:r>
            <a:endParaRPr lang="uz-Cyrl-UZ" sz="2000">
              <a:latin typeface="PANDA Times UZ"/>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latin typeface="Calibri" pitchFamily="34" charset="0"/>
            </a:endParaRPr>
          </a:p>
        </p:txBody>
      </p:sp>
      <p:sp>
        <p:nvSpPr>
          <p:cNvPr id="15363" name="Содержимое 2"/>
          <p:cNvSpPr>
            <a:spLocks/>
          </p:cNvSpPr>
          <p:nvPr/>
        </p:nvSpPr>
        <p:spPr bwMode="auto">
          <a:xfrm>
            <a:off x="179388" y="765175"/>
            <a:ext cx="8713787"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p>
            <a:pPr marL="609600" indent="-609600" algn="just">
              <a:spcBef>
                <a:spcPct val="20000"/>
              </a:spcBef>
              <a:buFont typeface="Calibri" pitchFamily="34" charset="0"/>
              <a:buAutoNum type="alphaLcParenR" startAt="3"/>
            </a:pPr>
            <a:r>
              <a:rPr lang="ru-RU" altLang="uz-Cyrl-UZ" sz="2200" b="1" i="1">
                <a:solidFill>
                  <a:srgbClr val="FF0000"/>
                </a:solidFill>
                <a:latin typeface="Times New Roman" pitchFamily="18" charset="0"/>
              </a:rPr>
              <a:t>(</a:t>
            </a:r>
            <a:r>
              <a:rPr lang="en-US" altLang="uz-Cyrl-UZ" sz="2200" b="1" i="1">
                <a:solidFill>
                  <a:srgbClr val="FF0000"/>
                </a:solidFill>
                <a:latin typeface="Times New Roman" pitchFamily="18" charset="0"/>
              </a:rPr>
              <a:t>R</a:t>
            </a:r>
            <a:r>
              <a:rPr lang="ru-RU" altLang="uz-Cyrl-UZ" sz="2200" b="1" i="1" baseline="-25000">
                <a:solidFill>
                  <a:srgbClr val="FF0000"/>
                </a:solidFill>
                <a:latin typeface="Times New Roman" pitchFamily="18" charset="0"/>
              </a:rPr>
              <a:t>1</a:t>
            </a:r>
            <a:r>
              <a:rPr lang="ru-RU" altLang="uz-Cyrl-UZ" sz="2200" b="1" i="1">
                <a:solidFill>
                  <a:srgbClr val="FF0000"/>
                </a:solidFill>
                <a:latin typeface="Times New Roman" pitchFamily="18" charset="0"/>
              </a:rPr>
              <a:t>, </a:t>
            </a:r>
            <a:r>
              <a:rPr lang="en-US" altLang="uz-Cyrl-UZ" sz="2200" b="1" i="1">
                <a:solidFill>
                  <a:srgbClr val="FF0000"/>
                </a:solidFill>
                <a:latin typeface="Times New Roman" pitchFamily="18" charset="0"/>
              </a:rPr>
              <a:t>y</a:t>
            </a:r>
            <a:r>
              <a:rPr lang="ru-RU" altLang="uz-Cyrl-UZ" sz="2200" b="1" i="1" baseline="-25000">
                <a:solidFill>
                  <a:srgbClr val="FF0000"/>
                </a:solidFill>
                <a:latin typeface="Times New Roman" pitchFamily="18" charset="0"/>
              </a:rPr>
              <a:t>1</a:t>
            </a:r>
            <a:r>
              <a:rPr lang="ru-RU" altLang="uz-Cyrl-UZ" sz="2200" b="1" i="1">
                <a:solidFill>
                  <a:srgbClr val="FF0000"/>
                </a:solidFill>
                <a:latin typeface="Times New Roman" pitchFamily="18" charset="0"/>
              </a:rPr>
              <a:t>)</a:t>
            </a:r>
            <a:r>
              <a:rPr lang="ru-RU" altLang="uz-Cyrl-UZ" sz="2200">
                <a:latin typeface="Times New Roman" pitchFamily="18" charset="0"/>
              </a:rPr>
              <a:t> – </a:t>
            </a:r>
            <a:r>
              <a:rPr lang="uz-Cyrl-UZ" sz="2400">
                <a:latin typeface="Times New Roman" pitchFamily="18" charset="0"/>
                <a:cs typeface="Times New Roman" pitchFamily="18" charset="0"/>
              </a:rPr>
              <a:t>бутун сонлар жуфтлиги – ЭРИ қалбакилигини аниқлаш калити (фақат сеанс калитли режимда);   бу ерда: </a:t>
            </a:r>
            <a:r>
              <a:rPr lang="uz-Cyrl-UZ" sz="2400" b="1" i="1">
                <a:latin typeface="Times New Roman" pitchFamily="18" charset="0"/>
                <a:cs typeface="Times New Roman" pitchFamily="18" charset="0"/>
              </a:rPr>
              <a:t>R</a:t>
            </a:r>
            <a:r>
              <a:rPr lang="uz-Cyrl-UZ" sz="2400" b="1" i="1" baseline="-25000">
                <a:latin typeface="Times New Roman" pitchFamily="18" charset="0"/>
                <a:cs typeface="Times New Roman" pitchFamily="18" charset="0"/>
              </a:rPr>
              <a:t>1</a:t>
            </a:r>
            <a:r>
              <a:rPr lang="uz-Cyrl-UZ" sz="2400">
                <a:latin typeface="Times New Roman" pitchFamily="18" charset="0"/>
                <a:cs typeface="Times New Roman" pitchFamily="18" charset="0"/>
              </a:rPr>
              <a:t> – назорат калити (очиқ ёки ёпиқ), </a:t>
            </a:r>
            <a:r>
              <a:rPr lang="uz-Cyrl-UZ" sz="2400" b="1" i="1">
                <a:latin typeface="Times New Roman" pitchFamily="18" charset="0"/>
                <a:cs typeface="Times New Roman" pitchFamily="18" charset="0"/>
              </a:rPr>
              <a:t>1</a:t>
            </a:r>
            <a:r>
              <a:rPr lang="en-US" sz="2400" b="1" i="1">
                <a:latin typeface="Times New Roman" pitchFamily="18" charset="0"/>
                <a:cs typeface="Times New Roman" pitchFamily="18" charset="0"/>
                <a:sym typeface="Symbol" pitchFamily="18" charset="2"/>
              </a:rPr>
              <a:t></a:t>
            </a:r>
            <a:r>
              <a:rPr lang="uz-Cyrl-UZ" sz="2400" b="1" i="1">
                <a:latin typeface="Times New Roman" pitchFamily="18" charset="0"/>
                <a:cs typeface="Times New Roman" pitchFamily="18" charset="0"/>
                <a:sym typeface="Symbol" pitchFamily="18" charset="2"/>
              </a:rPr>
              <a:t> </a:t>
            </a:r>
            <a:r>
              <a:rPr lang="uz-Cyrl-UZ" sz="2400" b="1" i="1">
                <a:latin typeface="Times New Roman" pitchFamily="18" charset="0"/>
                <a:cs typeface="Times New Roman" pitchFamily="18" charset="0"/>
              </a:rPr>
              <a:t>q-1 </a:t>
            </a:r>
            <a:r>
              <a:rPr lang="uz-Cyrl-UZ" sz="2400">
                <a:latin typeface="Times New Roman" pitchFamily="18" charset="0"/>
                <a:cs typeface="Times New Roman" pitchFamily="18" charset="0"/>
              </a:rPr>
              <a:t>диапозондан танлаб олинган; агар </a:t>
            </a:r>
            <a:r>
              <a:rPr lang="uz-Cyrl-UZ" sz="2400" b="1" i="1">
                <a:latin typeface="Times New Roman" pitchFamily="18" charset="0"/>
                <a:cs typeface="Times New Roman" pitchFamily="18" charset="0"/>
              </a:rPr>
              <a:t>R</a:t>
            </a:r>
            <a:r>
              <a:rPr lang="uz-Cyrl-UZ" sz="2400" b="1" i="1" baseline="-25000">
                <a:latin typeface="Times New Roman" pitchFamily="18" charset="0"/>
                <a:cs typeface="Times New Roman" pitchFamily="18" charset="0"/>
              </a:rPr>
              <a:t>1</a:t>
            </a:r>
            <a:r>
              <a:rPr lang="uz-Cyrl-UZ" sz="2400">
                <a:latin typeface="Times New Roman" pitchFamily="18" charset="0"/>
                <a:cs typeface="Times New Roman" pitchFamily="18" charset="0"/>
              </a:rPr>
              <a:t> ёпиқ бўлса, унда </a:t>
            </a:r>
            <a:r>
              <a:rPr lang="uz-Cyrl-UZ" sz="2400" b="1" i="1">
                <a:latin typeface="Times New Roman" pitchFamily="18" charset="0"/>
                <a:cs typeface="Times New Roman" pitchFamily="18" charset="0"/>
              </a:rPr>
              <a:t>R</a:t>
            </a:r>
            <a:r>
              <a:rPr lang="uz-Cyrl-UZ" sz="2400" b="1" i="1" baseline="-25000">
                <a:latin typeface="Times New Roman" pitchFamily="18" charset="0"/>
                <a:cs typeface="Times New Roman" pitchFamily="18" charset="0"/>
              </a:rPr>
              <a:t>1</a:t>
            </a:r>
            <a:r>
              <a:rPr lang="uz-Cyrl-UZ" sz="2400">
                <a:latin typeface="Times New Roman" pitchFamily="18" charset="0"/>
                <a:cs typeface="Times New Roman" pitchFamily="18" charset="0"/>
              </a:rPr>
              <a:t> имзоловчи шахс ва текширувчи томон учун биргаликдаги махфий калит бўлиши керак;</a:t>
            </a:r>
          </a:p>
          <a:p>
            <a:pPr marL="609600" indent="-609600" algn="just">
              <a:spcBef>
                <a:spcPct val="20000"/>
              </a:spcBef>
              <a:buFont typeface="Calibri" pitchFamily="34" charset="0"/>
              <a:buAutoNum type="alphaLcParenR" startAt="3"/>
            </a:pPr>
            <a:r>
              <a:rPr lang="en-US" sz="2400" b="1" i="1">
                <a:solidFill>
                  <a:srgbClr val="FF0000"/>
                </a:solidFill>
                <a:latin typeface="Times New Roman" pitchFamily="18" charset="0"/>
                <a:cs typeface="Times New Roman" pitchFamily="18" charset="0"/>
              </a:rPr>
              <a:t>y</a:t>
            </a:r>
            <a:r>
              <a:rPr lang="ru-RU" sz="2400" b="1" i="1" baseline="-25000">
                <a:solidFill>
                  <a:srgbClr val="FF0000"/>
                </a:solidFill>
                <a:latin typeface="Times New Roman" pitchFamily="18" charset="0"/>
                <a:cs typeface="Times New Roman" pitchFamily="18" charset="0"/>
              </a:rPr>
              <a:t>1 </a:t>
            </a:r>
            <a:r>
              <a:rPr lang="ru-RU" sz="2400">
                <a:latin typeface="Times New Roman" pitchFamily="18" charset="0"/>
                <a:cs typeface="Times New Roman" pitchFamily="18" charset="0"/>
              </a:rPr>
              <a:t>– сеанс (очиқ) калити, ҳар бир электрон рақамли имзо учун параметр билан даражага кўтариш натижаси каби ҳисобланади. </a:t>
            </a:r>
            <a:endParaRPr lang="uz-Cyrl-UZ" sz="2400">
              <a:latin typeface="PANDA Times UZ"/>
              <a:cs typeface="Times New Roman" pitchFamily="18" charset="0"/>
            </a:endParaRPr>
          </a:p>
          <a:p>
            <a:pPr marL="609600" indent="-609600" algn="just" eaLnBrk="0" hangingPunct="0"/>
            <a:endParaRPr lang="ru-RU" sz="2400">
              <a:latin typeface="Times New Roman" pitchFamily="18" charset="0"/>
              <a:cs typeface="Times New Roman" pitchFamily="18" charset="0"/>
            </a:endParaRPr>
          </a:p>
          <a:p>
            <a:pPr marL="609600" indent="-609600" algn="just" eaLnBrk="0" hangingPunct="0"/>
            <a:r>
              <a:rPr lang="ru-RU" sz="2400">
                <a:latin typeface="Times New Roman" pitchFamily="18" charset="0"/>
                <a:cs typeface="Times New Roman" pitchFamily="18" charset="0"/>
              </a:rPr>
              <a:t>Фойдаланувчилар гуруҳи учун</a:t>
            </a:r>
            <a:r>
              <a:rPr lang="ru-RU" sz="2400" b="1" i="1">
                <a:latin typeface="Times New Roman" pitchFamily="18" charset="0"/>
                <a:cs typeface="Times New Roman" pitchFamily="18" charset="0"/>
              </a:rPr>
              <a:t> </a:t>
            </a:r>
            <a:r>
              <a:rPr lang="en-US" sz="2400" b="1" i="1">
                <a:latin typeface="Times New Roman" pitchFamily="18" charset="0"/>
                <a:cs typeface="Times New Roman" pitchFamily="18" charset="0"/>
              </a:rPr>
              <a:t>p</a:t>
            </a:r>
            <a:r>
              <a:rPr lang="ru-RU" sz="2400">
                <a:latin typeface="Times New Roman" pitchFamily="18" charset="0"/>
                <a:cs typeface="Times New Roman" pitchFamily="18" charset="0"/>
              </a:rPr>
              <a:t>, </a:t>
            </a:r>
            <a:r>
              <a:rPr lang="en-US" sz="2400" b="1" i="1">
                <a:latin typeface="Times New Roman" pitchFamily="18" charset="0"/>
                <a:cs typeface="Times New Roman" pitchFamily="18" charset="0"/>
              </a:rPr>
              <a:t>q</a:t>
            </a:r>
            <a:r>
              <a:rPr lang="ru-RU" sz="2400">
                <a:latin typeface="Times New Roman" pitchFamily="18" charset="0"/>
                <a:cs typeface="Times New Roman" pitchFamily="18" charset="0"/>
              </a:rPr>
              <a:t> туб сонлари очиқ ва умумий бўлиши мумкин.</a:t>
            </a:r>
            <a:endParaRPr lang="uz-Cyrl-UZ" sz="2400">
              <a:latin typeface="PANDA Times UZ"/>
              <a:cs typeface="Times New Roman" pitchFamily="18" charset="0"/>
            </a:endParaRPr>
          </a:p>
          <a:p>
            <a:pPr marL="609600" indent="-609600" algn="just">
              <a:spcBef>
                <a:spcPct val="20000"/>
              </a:spcBef>
              <a:buFont typeface="Calibri" pitchFamily="34" charset="0"/>
              <a:buAutoNum type="alphaLcParenR" startAt="3"/>
            </a:pPr>
            <a:endParaRPr lang="uz-Cyrl-UZ" sz="2000">
              <a:latin typeface="PANDA Times UZ"/>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212725"/>
            <a:ext cx="1841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sz="2200">
              <a:latin typeface="Calibri" pitchFamily="34" charset="0"/>
            </a:endParaRPr>
          </a:p>
        </p:txBody>
      </p:sp>
      <p:sp>
        <p:nvSpPr>
          <p:cNvPr id="10243" name="Rectangle 11"/>
          <p:cNvSpPr>
            <a:spLocks noChangeArrowheads="1"/>
          </p:cNvSpPr>
          <p:nvPr/>
        </p:nvSpPr>
        <p:spPr bwMode="auto">
          <a:xfrm>
            <a:off x="528638" y="255588"/>
            <a:ext cx="8264525" cy="646112"/>
          </a:xfrm>
          <a:prstGeom prst="rect">
            <a:avLst/>
          </a:prstGeom>
          <a:solidFill>
            <a:srgbClr val="CCFFCC"/>
          </a:solidFill>
          <a:ln w="9525">
            <a:solidFill>
              <a:schemeClr val="tx1"/>
            </a:solidFill>
            <a:miter lim="800000"/>
            <a:headEnd/>
            <a:tailEnd/>
          </a:ln>
        </p:spPr>
        <p:txBody>
          <a:bodyPr>
            <a:spAutoFit/>
          </a:bodyPr>
          <a:lstStyle/>
          <a:p>
            <a:pPr algn="ctr"/>
            <a:r>
              <a:rPr lang="uz-Cyrl-UZ" altLang="uz-Cyrl-UZ" sz="3600" b="1">
                <a:latin typeface="Times New Roman" pitchFamily="18" charset="0"/>
              </a:rPr>
              <a:t>5. Асосий жараёнлар</a:t>
            </a:r>
            <a:endParaRPr lang="ru-RU" altLang="uz-Cyrl-UZ" sz="3600" b="1">
              <a:latin typeface="Times New Roman" pitchFamily="18" charset="0"/>
            </a:endParaRPr>
          </a:p>
        </p:txBody>
      </p:sp>
      <p:sp>
        <p:nvSpPr>
          <p:cNvPr id="10244" name="Rectangle 18"/>
          <p:cNvSpPr>
            <a:spLocks noChangeArrowheads="1"/>
          </p:cNvSpPr>
          <p:nvPr/>
        </p:nvSpPr>
        <p:spPr bwMode="auto">
          <a:xfrm>
            <a:off x="173038" y="1700213"/>
            <a:ext cx="8720137" cy="436562"/>
          </a:xfrm>
          <a:prstGeom prst="rect">
            <a:avLst/>
          </a:prstGeom>
          <a:solidFill>
            <a:srgbClr val="CCFFCC"/>
          </a:solidFill>
          <a:ln w="9525">
            <a:solidFill>
              <a:schemeClr val="tx1"/>
            </a:solidFill>
            <a:miter lim="800000"/>
            <a:headEnd/>
            <a:tailEnd/>
          </a:ln>
        </p:spPr>
        <p:txBody>
          <a:bodyPr>
            <a:spAutoFit/>
          </a:bodyPr>
          <a:lstStyle/>
          <a:p>
            <a:pPr algn="ctr"/>
            <a:r>
              <a:rPr lang="uz-Cyrl-UZ" altLang="uz-Cyrl-UZ" sz="2200" b="1">
                <a:latin typeface="Times New Roman" pitchFamily="18" charset="0"/>
              </a:rPr>
              <a:t>5</a:t>
            </a:r>
            <a:r>
              <a:rPr lang="ru-RU" altLang="uz-Cyrl-UZ" sz="2200" b="1">
                <a:latin typeface="Times New Roman" pitchFamily="18" charset="0"/>
              </a:rPr>
              <a:t>.1</a:t>
            </a:r>
            <a:r>
              <a:rPr lang="uz-Cyrl-UZ" altLang="uz-Cyrl-UZ" sz="2200" b="1">
                <a:latin typeface="Times New Roman" pitchFamily="18" charset="0"/>
              </a:rPr>
              <a:t>.</a:t>
            </a:r>
            <a:r>
              <a:rPr lang="ru-RU" altLang="uz-Cyrl-UZ" sz="2200" b="1">
                <a:latin typeface="Times New Roman" pitchFamily="18" charset="0"/>
              </a:rPr>
              <a:t> </a:t>
            </a:r>
            <a:r>
              <a:rPr lang="uz-Cyrl-UZ" altLang="uz-Cyrl-UZ" sz="2200" b="1">
                <a:latin typeface="Times New Roman" pitchFamily="18" charset="0"/>
              </a:rPr>
              <a:t>Электрон рақамли имзони ва сеансли</a:t>
            </a:r>
            <a:r>
              <a:rPr lang="ru-RU" altLang="uz-Cyrl-UZ" sz="2200" b="1">
                <a:latin typeface="Times New Roman" pitchFamily="18" charset="0"/>
              </a:rPr>
              <a:t> </a:t>
            </a:r>
            <a:r>
              <a:rPr lang="uz-Cyrl-UZ" altLang="uz-Cyrl-UZ" sz="2200" b="1">
                <a:latin typeface="Times New Roman" pitchFamily="18" charset="0"/>
              </a:rPr>
              <a:t>калитни шакллантириш</a:t>
            </a:r>
            <a:endParaRPr lang="ru-RU" altLang="uz-Cyrl-UZ" sz="2200" i="1">
              <a:latin typeface="Times New Roman" pitchFamily="18" charset="0"/>
            </a:endParaRPr>
          </a:p>
        </p:txBody>
      </p:sp>
      <p:sp>
        <p:nvSpPr>
          <p:cNvPr id="10245" name="Rectangle 12"/>
          <p:cNvSpPr>
            <a:spLocks noChangeArrowheads="1"/>
          </p:cNvSpPr>
          <p:nvPr/>
        </p:nvSpPr>
        <p:spPr bwMode="auto">
          <a:xfrm>
            <a:off x="180975" y="2492375"/>
            <a:ext cx="8712200" cy="431800"/>
          </a:xfrm>
          <a:prstGeom prst="rect">
            <a:avLst/>
          </a:prstGeom>
          <a:solidFill>
            <a:srgbClr val="CCFFCC"/>
          </a:solidFill>
          <a:ln w="9525">
            <a:solidFill>
              <a:schemeClr val="tx1"/>
            </a:solidFill>
            <a:miter lim="800000"/>
            <a:headEnd/>
            <a:tailEnd/>
          </a:ln>
        </p:spPr>
        <p:txBody>
          <a:bodyPr>
            <a:spAutoFit/>
          </a:bodyPr>
          <a:lstStyle/>
          <a:p>
            <a:pPr algn="ctr">
              <a:spcBef>
                <a:spcPct val="20000"/>
              </a:spcBef>
              <a:buFont typeface="Arial" pitchFamily="34" charset="0"/>
              <a:buNone/>
            </a:pPr>
            <a:r>
              <a:rPr lang="uz-Cyrl-UZ" altLang="uz-Cyrl-UZ" sz="2200" b="1">
                <a:latin typeface="Times New Roman" pitchFamily="18" charset="0"/>
              </a:rPr>
              <a:t>5.2. ЭРИ ни ҳақиқийлигини тасдиқлаш</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latin typeface="Calibri" pitchFamily="34" charset="0"/>
            </a:endParaRPr>
          </a:p>
        </p:txBody>
      </p:sp>
      <p:sp>
        <p:nvSpPr>
          <p:cNvPr id="11267" name="Содержимое 2"/>
          <p:cNvSpPr>
            <a:spLocks/>
          </p:cNvSpPr>
          <p:nvPr/>
        </p:nvSpPr>
        <p:spPr bwMode="auto">
          <a:xfrm>
            <a:off x="179388" y="188913"/>
            <a:ext cx="8713787" cy="6408737"/>
          </a:xfrm>
          <a:prstGeom prst="rect">
            <a:avLst/>
          </a:prstGeom>
          <a:noFill/>
          <a:ln>
            <a:noFill/>
          </a:ln>
          <a:effectLst>
            <a:outerShdw dist="38100" dir="5400000" algn="ctr" rotWithShape="0">
              <a:srgbClr val="303D17">
                <a:alpha val="48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p>
            <a:pPr marL="609600" indent="-609600" algn="ctr">
              <a:spcBef>
                <a:spcPct val="20000"/>
              </a:spcBef>
              <a:buFont typeface="Arial" pitchFamily="34" charset="0"/>
              <a:buNone/>
            </a:pPr>
            <a:endParaRPr lang="uz-Cyrl-UZ" sz="2400" b="1">
              <a:latin typeface="Times New Roman" pitchFamily="18" charset="0"/>
            </a:endParaRPr>
          </a:p>
        </p:txBody>
      </p:sp>
      <p:sp>
        <p:nvSpPr>
          <p:cNvPr id="11268" name="Rectangle 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p>
        </p:txBody>
      </p:sp>
      <p:sp>
        <p:nvSpPr>
          <p:cNvPr id="11269" name="Rectangle 5"/>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uz-Cyrl-UZ" altLang="uz-Cyrl-UZ"/>
          </a:p>
        </p:txBody>
      </p:sp>
      <p:sp>
        <p:nvSpPr>
          <p:cNvPr id="11270" name="Rectangle 6"/>
          <p:cNvSpPr>
            <a:spLocks noChangeArrowheads="1"/>
          </p:cNvSpPr>
          <p:nvPr/>
        </p:nvSpPr>
        <p:spPr bwMode="auto">
          <a:xfrm>
            <a:off x="457200" y="2947988"/>
            <a:ext cx="8229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uz-Cyrl-UZ" sz="2400" b="1" i="1">
                <a:latin typeface="Times New Roman" pitchFamily="18" charset="0"/>
              </a:rPr>
              <a:t/>
            </a:r>
            <a:br>
              <a:rPr lang="en-US" altLang="uz-Cyrl-UZ" sz="2400" b="1" i="1">
                <a:latin typeface="Times New Roman" pitchFamily="18" charset="0"/>
              </a:rPr>
            </a:br>
            <a:endParaRPr lang="ru-RU" altLang="uz-Cyrl-UZ" sz="2400">
              <a:latin typeface="Times New Roman" pitchFamily="18" charset="0"/>
            </a:endParaRPr>
          </a:p>
        </p:txBody>
      </p:sp>
      <p:sp>
        <p:nvSpPr>
          <p:cNvPr id="11271" name="Rectangle 18"/>
          <p:cNvSpPr>
            <a:spLocks noChangeArrowheads="1"/>
          </p:cNvSpPr>
          <p:nvPr/>
        </p:nvSpPr>
        <p:spPr bwMode="auto">
          <a:xfrm>
            <a:off x="179388" y="188913"/>
            <a:ext cx="8720137" cy="436562"/>
          </a:xfrm>
          <a:prstGeom prst="rect">
            <a:avLst/>
          </a:prstGeom>
          <a:solidFill>
            <a:srgbClr val="CCFFCC"/>
          </a:solidFill>
          <a:ln w="9525">
            <a:solidFill>
              <a:schemeClr val="tx1"/>
            </a:solidFill>
            <a:miter lim="800000"/>
            <a:headEnd/>
            <a:tailEnd/>
          </a:ln>
        </p:spPr>
        <p:txBody>
          <a:bodyPr>
            <a:spAutoFit/>
          </a:bodyPr>
          <a:lstStyle/>
          <a:p>
            <a:pPr algn="ctr"/>
            <a:r>
              <a:rPr lang="uz-Cyrl-UZ" altLang="uz-Cyrl-UZ" sz="2200" b="1">
                <a:latin typeface="Times New Roman" pitchFamily="18" charset="0"/>
              </a:rPr>
              <a:t>5</a:t>
            </a:r>
            <a:r>
              <a:rPr lang="ru-RU" altLang="uz-Cyrl-UZ" sz="2200" b="1">
                <a:latin typeface="Times New Roman" pitchFamily="18" charset="0"/>
              </a:rPr>
              <a:t>.1</a:t>
            </a:r>
            <a:r>
              <a:rPr lang="uz-Cyrl-UZ" altLang="uz-Cyrl-UZ" sz="2200" b="1">
                <a:latin typeface="Times New Roman" pitchFamily="18" charset="0"/>
              </a:rPr>
              <a:t>.</a:t>
            </a:r>
            <a:r>
              <a:rPr lang="ru-RU" altLang="uz-Cyrl-UZ" sz="2200" b="1">
                <a:latin typeface="Times New Roman" pitchFamily="18" charset="0"/>
              </a:rPr>
              <a:t> </a:t>
            </a:r>
            <a:r>
              <a:rPr lang="uz-Cyrl-UZ" altLang="uz-Cyrl-UZ" sz="2200" b="1">
                <a:latin typeface="Times New Roman" pitchFamily="18" charset="0"/>
              </a:rPr>
              <a:t>Электрон рақамли имзони ва сеансли</a:t>
            </a:r>
            <a:r>
              <a:rPr lang="ru-RU" altLang="uz-Cyrl-UZ" sz="2200" b="1">
                <a:latin typeface="Times New Roman" pitchFamily="18" charset="0"/>
              </a:rPr>
              <a:t> </a:t>
            </a:r>
            <a:r>
              <a:rPr lang="uz-Cyrl-UZ" altLang="uz-Cyrl-UZ" sz="2200" b="1">
                <a:latin typeface="Times New Roman" pitchFamily="18" charset="0"/>
              </a:rPr>
              <a:t>калитни шакллантириш</a:t>
            </a:r>
            <a:endParaRPr lang="ru-RU" altLang="uz-Cyrl-UZ" sz="2200" i="1">
              <a:latin typeface="Times New Roman" pitchFamily="18" charset="0"/>
            </a:endParaRPr>
          </a:p>
        </p:txBody>
      </p:sp>
      <p:sp>
        <p:nvSpPr>
          <p:cNvPr id="2" name="Прямоугольник 1"/>
          <p:cNvSpPr/>
          <p:nvPr/>
        </p:nvSpPr>
        <p:spPr>
          <a:xfrm>
            <a:off x="179388" y="692150"/>
            <a:ext cx="8785225" cy="5972175"/>
          </a:xfrm>
          <a:prstGeom prst="rect">
            <a:avLst/>
          </a:prstGeom>
        </p:spPr>
        <p:txBody>
          <a:bodyPr>
            <a:spAutoFit/>
          </a:bodyPr>
          <a:lstStyle/>
          <a:p>
            <a:pPr indent="442913" algn="just"/>
            <a:r>
              <a:rPr lang="ru-RU" sz="2200" b="1" i="1">
                <a:solidFill>
                  <a:srgbClr val="0070C0"/>
                </a:solidFill>
                <a:latin typeface="Times New Roman" pitchFamily="18" charset="0"/>
                <a:cs typeface="Times New Roman" pitchFamily="18" charset="0"/>
              </a:rPr>
              <a:t>М</a:t>
            </a:r>
            <a:r>
              <a:rPr lang="ru-RU" sz="2200">
                <a:solidFill>
                  <a:srgbClr val="0070C0"/>
                </a:solidFill>
                <a:latin typeface="Times New Roman" pitchFamily="18" charset="0"/>
                <a:cs typeface="Times New Roman" pitchFamily="18" charset="0"/>
              </a:rPr>
              <a:t> хабарга қўйиладиган ЭРИ ва сеанс калитини яратиш </a:t>
            </a:r>
            <a:r>
              <a:rPr lang="uz-Cyrl-UZ" sz="2200" b="1">
                <a:solidFill>
                  <a:srgbClr val="0070C0"/>
                </a:solidFill>
                <a:latin typeface="Times New Roman" pitchFamily="18" charset="0"/>
                <a:cs typeface="Times New Roman" pitchFamily="18" charset="0"/>
              </a:rPr>
              <a:t>алгоритми</a:t>
            </a:r>
            <a:r>
              <a:rPr lang="ru-RU" sz="2200">
                <a:solidFill>
                  <a:srgbClr val="0070C0"/>
                </a:solidFill>
                <a:latin typeface="Times New Roman" pitchFamily="18" charset="0"/>
                <a:cs typeface="Times New Roman" pitchFamily="18" charset="0"/>
              </a:rPr>
              <a:t>:</a:t>
            </a:r>
            <a:endParaRPr lang="uz-Cyrl-UZ" sz="2200">
              <a:solidFill>
                <a:srgbClr val="0070C0"/>
              </a:solidFill>
              <a:latin typeface="Times New Roman" pitchFamily="18" charset="0"/>
              <a:cs typeface="Times New Roman" pitchFamily="18" charset="0"/>
            </a:endParaRPr>
          </a:p>
          <a:p>
            <a:pPr indent="442913">
              <a:spcAft>
                <a:spcPts val="300"/>
              </a:spcAft>
            </a:pPr>
            <a:r>
              <a:rPr lang="ru-RU" sz="2000" b="1">
                <a:solidFill>
                  <a:srgbClr val="C00000"/>
                </a:solidFill>
                <a:latin typeface="Times New Roman" pitchFamily="18" charset="0"/>
                <a:cs typeface="Times New Roman" pitchFamily="18" charset="0"/>
              </a:rPr>
              <a:t>1-қадам:</a:t>
            </a:r>
            <a:r>
              <a:rPr lang="ru-RU" sz="2000">
                <a:latin typeface="Times New Roman" pitchFamily="18" charset="0"/>
                <a:cs typeface="Times New Roman" pitchFamily="18" charset="0"/>
              </a:rPr>
              <a:t> хабарнинг хэш-функциясини ҳисобланг: </a:t>
            </a:r>
            <a:r>
              <a:rPr lang="en-US" sz="2000" b="1" i="1">
                <a:latin typeface="Times New Roman" pitchFamily="18" charset="0"/>
                <a:cs typeface="Times New Roman" pitchFamily="18" charset="0"/>
              </a:rPr>
              <a:t>m</a:t>
            </a:r>
            <a:r>
              <a:rPr lang="ru-RU" sz="2000" b="1" i="1">
                <a:latin typeface="Times New Roman" pitchFamily="18" charset="0"/>
                <a:cs typeface="Times New Roman" pitchFamily="18" charset="0"/>
              </a:rPr>
              <a:t> = </a:t>
            </a:r>
            <a:r>
              <a:rPr lang="en-US" sz="2000" b="1" i="1">
                <a:latin typeface="Times New Roman" pitchFamily="18" charset="0"/>
                <a:cs typeface="Times New Roman" pitchFamily="18" charset="0"/>
              </a:rPr>
              <a:t>H</a:t>
            </a:r>
            <a:r>
              <a:rPr lang="ru-RU" sz="2000" b="1" i="1">
                <a:latin typeface="Times New Roman" pitchFamily="18" charset="0"/>
                <a:cs typeface="Times New Roman" pitchFamily="18" charset="0"/>
              </a:rPr>
              <a:t>(</a:t>
            </a:r>
            <a:r>
              <a:rPr lang="en-US" sz="2000" b="1" i="1">
                <a:latin typeface="Times New Roman" pitchFamily="18" charset="0"/>
                <a:cs typeface="Times New Roman" pitchFamily="18" charset="0"/>
              </a:rPr>
              <a:t>M</a:t>
            </a:r>
            <a:r>
              <a:rPr lang="ru-RU" sz="2000" b="1" i="1">
                <a:latin typeface="Times New Roman" pitchFamily="18" charset="0"/>
                <a:cs typeface="Times New Roman" pitchFamily="18" charset="0"/>
              </a:rPr>
              <a:t>)</a:t>
            </a:r>
            <a:r>
              <a:rPr lang="uz-Cyrl-UZ" sz="2000">
                <a:latin typeface="Times New Roman" pitchFamily="18" charset="0"/>
                <a:cs typeface="Times New Roman" pitchFamily="18" charset="0"/>
              </a:rPr>
              <a:t> ва </a:t>
            </a:r>
            <a:r>
              <a:rPr lang="uz-Cyrl-UZ" sz="2000" b="1" i="1">
                <a:latin typeface="Times New Roman" pitchFamily="18" charset="0"/>
                <a:cs typeface="Times New Roman" pitchFamily="18" charset="0"/>
              </a:rPr>
              <a:t> </a:t>
            </a:r>
            <a:r>
              <a:rPr lang="en-US" sz="2000" b="1" i="1">
                <a:latin typeface="Times New Roman" pitchFamily="18" charset="0"/>
                <a:cs typeface="Times New Roman" pitchFamily="18" charset="0"/>
              </a:rPr>
              <a:t>c</a:t>
            </a:r>
            <a:r>
              <a:rPr lang="ru-RU" sz="2000" b="1" i="1">
                <a:latin typeface="Times New Roman" pitchFamily="18" charset="0"/>
                <a:cs typeface="Times New Roman" pitchFamily="18" charset="0"/>
              </a:rPr>
              <a:t>=</a:t>
            </a:r>
            <a:r>
              <a:rPr lang="en-US" sz="2000" b="1" i="1">
                <a:solidFill>
                  <a:srgbClr val="C00000"/>
                </a:solidFill>
                <a:latin typeface="Times New Roman" pitchFamily="18" charset="0"/>
                <a:cs typeface="Times New Roman" pitchFamily="18" charset="0"/>
              </a:rPr>
              <a:t>x</a:t>
            </a:r>
            <a:r>
              <a:rPr lang="ru-RU" sz="2000">
                <a:latin typeface="Times New Roman" pitchFamily="18" charset="0"/>
                <a:cs typeface="Times New Roman" pitchFamily="18" charset="0"/>
              </a:rPr>
              <a:t> ни қабул қилинг;</a:t>
            </a:r>
            <a:endParaRPr lang="uz-Cyrl-UZ" sz="2000">
              <a:latin typeface="Times New Roman" pitchFamily="18" charset="0"/>
              <a:cs typeface="Times New Roman" pitchFamily="18" charset="0"/>
            </a:endParaRPr>
          </a:p>
          <a:p>
            <a:pPr indent="442913" algn="just">
              <a:spcAft>
                <a:spcPts val="300"/>
              </a:spcAft>
            </a:pPr>
            <a:r>
              <a:rPr lang="ru-RU" sz="2000" b="1">
                <a:solidFill>
                  <a:srgbClr val="C00000"/>
                </a:solidFill>
                <a:latin typeface="Times New Roman" pitchFamily="18" charset="0"/>
                <a:cs typeface="Times New Roman" pitchFamily="18" charset="0"/>
              </a:rPr>
              <a:t>2-қадам: </a:t>
            </a:r>
            <a:r>
              <a:rPr lang="en-US" sz="2000" b="1" i="1">
                <a:latin typeface="Times New Roman" pitchFamily="18" charset="0"/>
                <a:cs typeface="Times New Roman" pitchFamily="18" charset="0"/>
              </a:rPr>
              <a:t>k</a:t>
            </a:r>
            <a:r>
              <a:rPr lang="ru-RU" sz="2000" b="1" i="1">
                <a:latin typeface="Times New Roman" pitchFamily="18" charset="0"/>
                <a:cs typeface="Times New Roman" pitchFamily="18" charset="0"/>
              </a:rPr>
              <a:t>=</a:t>
            </a:r>
            <a:r>
              <a:rPr lang="en-US" sz="2000" b="1" i="1">
                <a:latin typeface="Times New Roman" pitchFamily="18" charset="0"/>
                <a:cs typeface="Times New Roman" pitchFamily="18" charset="0"/>
              </a:rPr>
              <a:t>H</a:t>
            </a:r>
            <a:r>
              <a:rPr lang="ru-RU" sz="2000" b="1" i="1">
                <a:latin typeface="Times New Roman" pitchFamily="18" charset="0"/>
                <a:cs typeface="Times New Roman" pitchFamily="18" charset="0"/>
              </a:rPr>
              <a:t>(</a:t>
            </a:r>
            <a:r>
              <a:rPr lang="en-US" sz="2000" b="1" i="1">
                <a:latin typeface="Times New Roman" pitchFamily="18" charset="0"/>
                <a:cs typeface="Times New Roman" pitchFamily="18" charset="0"/>
              </a:rPr>
              <a:t>m</a:t>
            </a:r>
            <a:r>
              <a:rPr lang="ru-RU" sz="2000" b="1">
                <a:latin typeface="Times New Roman" pitchFamily="18" charset="0"/>
                <a:cs typeface="Times New Roman" pitchFamily="18" charset="0"/>
              </a:rPr>
              <a:t>+</a:t>
            </a:r>
            <a:r>
              <a:rPr lang="ru-RU" sz="2000" b="1" i="1">
                <a:latin typeface="Times New Roman" pitchFamily="18" charset="0"/>
                <a:cs typeface="Times New Roman" pitchFamily="18" charset="0"/>
              </a:rPr>
              <a:t>(1+</a:t>
            </a:r>
            <a:r>
              <a:rPr lang="en-US" sz="2000" b="1" i="1">
                <a:latin typeface="Times New Roman" pitchFamily="18" charset="0"/>
                <a:cs typeface="Times New Roman" pitchFamily="18" charset="0"/>
              </a:rPr>
              <a:t>mR</a:t>
            </a:r>
            <a:r>
              <a:rPr lang="ru-RU" sz="2000" b="1" i="1">
                <a:latin typeface="Times New Roman" pitchFamily="18" charset="0"/>
                <a:cs typeface="Times New Roman" pitchFamily="18" charset="0"/>
              </a:rPr>
              <a:t>)</a:t>
            </a:r>
            <a:r>
              <a:rPr lang="en-US" sz="2000" b="1" i="1">
                <a:latin typeface="Times New Roman" pitchFamily="18" charset="0"/>
                <a:cs typeface="Times New Roman" pitchFamily="18" charset="0"/>
              </a:rPr>
              <a:t>c</a:t>
            </a:r>
            <a:r>
              <a:rPr lang="ru-RU" sz="2000" b="1" i="1">
                <a:latin typeface="Times New Roman" pitchFamily="18" charset="0"/>
                <a:cs typeface="Times New Roman" pitchFamily="18" charset="0"/>
              </a:rPr>
              <a:t>) </a:t>
            </a:r>
            <a:r>
              <a:rPr lang="ru-RU" sz="2000">
                <a:latin typeface="Times New Roman" pitchFamily="18" charset="0"/>
                <a:cs typeface="Times New Roman" pitchFamily="18" charset="0"/>
              </a:rPr>
              <a:t>ни ҳисобланг. Агар  </a:t>
            </a:r>
            <a:r>
              <a:rPr lang="en-US" sz="2000" b="1" i="1">
                <a:latin typeface="Times New Roman" pitchFamily="18" charset="0"/>
                <a:cs typeface="Times New Roman" pitchFamily="18" charset="0"/>
              </a:rPr>
              <a:t>k</a:t>
            </a:r>
            <a:r>
              <a:rPr lang="ru-RU" sz="2000" b="1" i="1">
                <a:latin typeface="Times New Roman" pitchFamily="18" charset="0"/>
                <a:cs typeface="Times New Roman" pitchFamily="18" charset="0"/>
              </a:rPr>
              <a:t> = 0 </a:t>
            </a:r>
            <a:r>
              <a:rPr lang="ru-RU" sz="2000">
                <a:latin typeface="Times New Roman" pitchFamily="18" charset="0"/>
                <a:cs typeface="Times New Roman" pitchFamily="18" charset="0"/>
              </a:rPr>
              <a:t>бўлса, унда </a:t>
            </a:r>
            <a:r>
              <a:rPr lang="en-US" sz="2000" b="1" i="1">
                <a:latin typeface="Times New Roman" pitchFamily="18" charset="0"/>
                <a:cs typeface="Times New Roman" pitchFamily="18" charset="0"/>
              </a:rPr>
              <a:t>c </a:t>
            </a:r>
            <a:r>
              <a:rPr lang="ru-RU" sz="2000" b="1" i="1">
                <a:latin typeface="Times New Roman" pitchFamily="18" charset="0"/>
                <a:cs typeface="Times New Roman" pitchFamily="18" charset="0"/>
              </a:rPr>
              <a:t>=</a:t>
            </a:r>
            <a:r>
              <a:rPr lang="en-US" sz="2000" b="1" i="1">
                <a:latin typeface="Times New Roman" pitchFamily="18" charset="0"/>
                <a:cs typeface="Times New Roman" pitchFamily="18" charset="0"/>
              </a:rPr>
              <a:t>c</a:t>
            </a:r>
            <a:r>
              <a:rPr lang="ru-RU" sz="2000" b="1" i="1">
                <a:latin typeface="Times New Roman" pitchFamily="18" charset="0"/>
                <a:cs typeface="Times New Roman" pitchFamily="18" charset="0"/>
              </a:rPr>
              <a:t> + 2</a:t>
            </a:r>
            <a:r>
              <a:rPr lang="ru-RU" sz="2000">
                <a:latin typeface="Times New Roman" pitchFamily="18" charset="0"/>
                <a:cs typeface="Times New Roman" pitchFamily="18" charset="0"/>
              </a:rPr>
              <a:t> ни қабул қилинг ва 2-қадамга қайтинг;</a:t>
            </a:r>
            <a:endParaRPr lang="uz-Cyrl-UZ" sz="2000">
              <a:latin typeface="Times New Roman" pitchFamily="18" charset="0"/>
              <a:cs typeface="Times New Roman" pitchFamily="18" charset="0"/>
            </a:endParaRPr>
          </a:p>
          <a:p>
            <a:pPr indent="442913" algn="just">
              <a:spcAft>
                <a:spcPts val="300"/>
              </a:spcAft>
            </a:pPr>
            <a:r>
              <a:rPr lang="ru-RU" sz="2000" b="1">
                <a:solidFill>
                  <a:srgbClr val="C00000"/>
                </a:solidFill>
                <a:latin typeface="Times New Roman" pitchFamily="18" charset="0"/>
                <a:cs typeface="Times New Roman" pitchFamily="18" charset="0"/>
              </a:rPr>
              <a:t>3-қадам: </a:t>
            </a:r>
            <a:r>
              <a:rPr lang="en-US" sz="2000" b="1" i="1">
                <a:latin typeface="Times New Roman" pitchFamily="18" charset="0"/>
                <a:cs typeface="Times New Roman" pitchFamily="18" charset="0"/>
              </a:rPr>
              <a:t>R </a:t>
            </a:r>
            <a:r>
              <a:rPr lang="ru-RU" sz="2000">
                <a:latin typeface="Times New Roman" pitchFamily="18" charset="0"/>
                <a:cs typeface="Times New Roman" pitchFamily="18" charset="0"/>
              </a:rPr>
              <a:t>параметр билан</a:t>
            </a:r>
            <a:r>
              <a:rPr lang="ru-RU" sz="2000" b="1" i="1">
                <a:latin typeface="Times New Roman" pitchFamily="18" charset="0"/>
                <a:cs typeface="Times New Roman" pitchFamily="18" charset="0"/>
              </a:rPr>
              <a:t> </a:t>
            </a:r>
            <a:r>
              <a:rPr lang="en-US" sz="2000" b="1" i="1">
                <a:latin typeface="Times New Roman" pitchFamily="18" charset="0"/>
                <a:cs typeface="Times New Roman" pitchFamily="18" charset="0"/>
              </a:rPr>
              <a:t>T</a:t>
            </a:r>
            <a:r>
              <a:rPr lang="en-US" sz="2000" b="1" i="1" baseline="-25000">
                <a:latin typeface="Times New Roman" pitchFamily="18" charset="0"/>
                <a:cs typeface="Times New Roman" pitchFamily="18" charset="0"/>
              </a:rPr>
              <a:t>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g</a:t>
            </a:r>
            <a:r>
              <a:rPr lang="ru-RU" sz="2000" b="1" i="1" baseline="30000">
                <a:latin typeface="Times New Roman" pitchFamily="18" charset="0"/>
                <a:cs typeface="Times New Roman" pitchFamily="18" charset="0"/>
              </a:rPr>
              <a:t>\-</a:t>
            </a:r>
            <a:r>
              <a:rPr lang="en-US" sz="2000" b="1" i="1" baseline="30000">
                <a:latin typeface="Times New Roman" pitchFamily="18" charset="0"/>
                <a:cs typeface="Times New Roman" pitchFamily="18" charset="0"/>
              </a:rPr>
              <a:t>k </a:t>
            </a:r>
            <a:r>
              <a:rPr lang="ru-RU" sz="2000" b="1" i="1">
                <a:latin typeface="Times New Roman" pitchFamily="18" charset="0"/>
                <a:cs typeface="Times New Roman" pitchFamily="18" charset="0"/>
              </a:rPr>
              <a:t>(</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p</a:t>
            </a:r>
            <a:r>
              <a:rPr lang="ru-RU" sz="2000" b="1" i="1">
                <a:latin typeface="Times New Roman" pitchFamily="18" charset="0"/>
                <a:cs typeface="Times New Roman" pitchFamily="18" charset="0"/>
              </a:rPr>
              <a:t>)</a:t>
            </a:r>
            <a:r>
              <a:rPr lang="ru-RU" sz="2000">
                <a:latin typeface="Times New Roman" pitchFamily="18" charset="0"/>
                <a:cs typeface="Times New Roman" pitchFamily="18" charset="0"/>
              </a:rPr>
              <a:t> ни ҳисобланг; </a:t>
            </a:r>
            <a:endParaRPr lang="uz-Cyrl-UZ" sz="2000">
              <a:latin typeface="Times New Roman" pitchFamily="18" charset="0"/>
              <a:cs typeface="Times New Roman" pitchFamily="18" charset="0"/>
            </a:endParaRPr>
          </a:p>
          <a:p>
            <a:pPr indent="442913" algn="just">
              <a:spcAft>
                <a:spcPts val="300"/>
              </a:spcAft>
            </a:pPr>
            <a:r>
              <a:rPr lang="ru-RU" sz="2000" b="1">
                <a:solidFill>
                  <a:srgbClr val="C00000"/>
                </a:solidFill>
                <a:latin typeface="Times New Roman" pitchFamily="18" charset="0"/>
                <a:cs typeface="Times New Roman" pitchFamily="18" charset="0"/>
              </a:rPr>
              <a:t>4-қадам: </a:t>
            </a:r>
            <a:r>
              <a:rPr lang="ru-RU" sz="2000" b="1" i="1">
                <a:latin typeface="Times New Roman" pitchFamily="18" charset="0"/>
                <a:cs typeface="Times New Roman" pitchFamily="18" charset="0"/>
              </a:rPr>
              <a:t>r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m </a:t>
            </a:r>
            <a:r>
              <a:rPr lang="ru-RU" sz="2000" b="1">
                <a:latin typeface="Times New Roman" pitchFamily="18" charset="0"/>
                <a:cs typeface="Times New Roman" pitchFamily="18" charset="0"/>
              </a:rPr>
              <a:t>+</a:t>
            </a:r>
            <a:r>
              <a:rPr lang="ru-RU" sz="2000" b="1" i="1">
                <a:latin typeface="Times New Roman" pitchFamily="18" charset="0"/>
                <a:cs typeface="Times New Roman" pitchFamily="18" charset="0"/>
              </a:rPr>
              <a:t> (1+ </a:t>
            </a:r>
            <a:r>
              <a:rPr lang="en-US" sz="2000" b="1" i="1">
                <a:latin typeface="Times New Roman" pitchFamily="18" charset="0"/>
                <a:cs typeface="Times New Roman" pitchFamily="18" charset="0"/>
              </a:rPr>
              <a:t>mR</a:t>
            </a:r>
            <a:r>
              <a:rPr lang="ru-RU" sz="2000" b="1" i="1">
                <a:latin typeface="Times New Roman" pitchFamily="18" charset="0"/>
                <a:cs typeface="Times New Roman" pitchFamily="18" charset="0"/>
              </a:rPr>
              <a:t>)</a:t>
            </a:r>
            <a:r>
              <a:rPr lang="en-US" sz="2000" b="1" i="1">
                <a:latin typeface="Times New Roman" pitchFamily="18" charset="0"/>
                <a:cs typeface="Times New Roman" pitchFamily="18" charset="0"/>
              </a:rPr>
              <a:t>T</a:t>
            </a:r>
            <a:r>
              <a:rPr lang="ru-RU" sz="2000" b="1" i="1">
                <a:latin typeface="Times New Roman" pitchFamily="18" charset="0"/>
                <a:cs typeface="Times New Roman" pitchFamily="18" charset="0"/>
              </a:rPr>
              <a:t>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p</a:t>
            </a:r>
            <a:r>
              <a:rPr lang="ru-RU" sz="2000" b="1" i="1">
                <a:latin typeface="Times New Roman" pitchFamily="18" charset="0"/>
                <a:cs typeface="Times New Roman" pitchFamily="18" charset="0"/>
              </a:rPr>
              <a:t>)</a:t>
            </a:r>
            <a:r>
              <a:rPr lang="ru-RU" sz="2000">
                <a:latin typeface="Times New Roman" pitchFamily="18" charset="0"/>
                <a:cs typeface="Times New Roman" pitchFamily="18" charset="0"/>
              </a:rPr>
              <a:t> ни ҳисобланг. Агар </a:t>
            </a:r>
            <a:r>
              <a:rPr lang="en-US" sz="2000" b="1" i="1">
                <a:latin typeface="Times New Roman" pitchFamily="18" charset="0"/>
                <a:cs typeface="Times New Roman" pitchFamily="18" charset="0"/>
              </a:rPr>
              <a:t>r</a:t>
            </a:r>
            <a:r>
              <a:rPr lang="ru-RU" sz="2000" b="1" i="1">
                <a:latin typeface="Times New Roman" pitchFamily="18" charset="0"/>
                <a:cs typeface="Times New Roman" pitchFamily="18" charset="0"/>
              </a:rPr>
              <a:t>(</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q</a:t>
            </a:r>
            <a:r>
              <a:rPr lang="ru-RU" sz="2000" b="1" i="1">
                <a:latin typeface="Times New Roman" pitchFamily="18" charset="0"/>
                <a:cs typeface="Times New Roman" pitchFamily="18" charset="0"/>
              </a:rPr>
              <a:t>) = 0 </a:t>
            </a:r>
            <a:r>
              <a:rPr lang="ru-RU" sz="2000">
                <a:latin typeface="Times New Roman" pitchFamily="18" charset="0"/>
                <a:cs typeface="Times New Roman" pitchFamily="18" charset="0"/>
              </a:rPr>
              <a:t>бўлса, унда </a:t>
            </a:r>
            <a:r>
              <a:rPr lang="en-US" sz="2000" b="1" i="1">
                <a:latin typeface="Times New Roman" pitchFamily="18" charset="0"/>
                <a:cs typeface="Times New Roman" pitchFamily="18" charset="0"/>
              </a:rPr>
              <a:t>k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k</a:t>
            </a:r>
            <a:r>
              <a:rPr lang="ru-RU" sz="2000" b="1" i="1">
                <a:latin typeface="Times New Roman" pitchFamily="18" charset="0"/>
                <a:cs typeface="Times New Roman" pitchFamily="18" charset="0"/>
              </a:rPr>
              <a:t>+1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p</a:t>
            </a:r>
            <a:r>
              <a:rPr lang="ru-RU" sz="2000" b="1" i="1">
                <a:latin typeface="Times New Roman" pitchFamily="18" charset="0"/>
                <a:cs typeface="Times New Roman" pitchFamily="18" charset="0"/>
              </a:rPr>
              <a:t>)</a:t>
            </a:r>
            <a:r>
              <a:rPr lang="ru-RU" sz="2000">
                <a:latin typeface="Times New Roman" pitchFamily="18" charset="0"/>
                <a:cs typeface="Times New Roman" pitchFamily="18" charset="0"/>
              </a:rPr>
              <a:t> ни қабул қилинг ва 3-қадамга қайтинг;</a:t>
            </a:r>
            <a:endParaRPr lang="uz-Cyrl-UZ" sz="2000">
              <a:latin typeface="Times New Roman" pitchFamily="18" charset="0"/>
              <a:cs typeface="Times New Roman" pitchFamily="18" charset="0"/>
            </a:endParaRPr>
          </a:p>
          <a:p>
            <a:pPr indent="442913" algn="just">
              <a:spcAft>
                <a:spcPts val="300"/>
              </a:spcAft>
            </a:pPr>
            <a:r>
              <a:rPr lang="ru-RU" sz="2000" b="1">
                <a:solidFill>
                  <a:srgbClr val="C00000"/>
                </a:solidFill>
                <a:latin typeface="Times New Roman" pitchFamily="18" charset="0"/>
                <a:cs typeface="Times New Roman" pitchFamily="18" charset="0"/>
              </a:rPr>
              <a:t>5-қадам: </a:t>
            </a:r>
            <a:r>
              <a:rPr lang="en-US" sz="2000" b="1" i="1">
                <a:latin typeface="Times New Roman" pitchFamily="18" charset="0"/>
                <a:cs typeface="Times New Roman" pitchFamily="18" charset="0"/>
              </a:rPr>
              <a:t>s</a:t>
            </a:r>
            <a:r>
              <a:rPr lang="ru-RU" sz="2000" b="1" i="1" baseline="-25000">
                <a:latin typeface="Times New Roman" pitchFamily="18" charset="0"/>
                <a:cs typeface="Times New Roman" pitchFamily="18" charset="0"/>
              </a:rPr>
              <a:t>1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k</a:t>
            </a:r>
            <a:r>
              <a:rPr lang="ru-RU" sz="2000" b="1" i="1">
                <a:latin typeface="Times New Roman" pitchFamily="18" charset="0"/>
                <a:cs typeface="Times New Roman" pitchFamily="18" charset="0"/>
              </a:rPr>
              <a:t> – </a:t>
            </a:r>
            <a:r>
              <a:rPr lang="en-US" sz="2000" b="1" i="1">
                <a:latin typeface="Times New Roman" pitchFamily="18" charset="0"/>
                <a:cs typeface="Times New Roman" pitchFamily="18" charset="0"/>
              </a:rPr>
              <a:t>rx</a:t>
            </a:r>
            <a:r>
              <a:rPr lang="ru-RU" sz="2000" b="1" i="1">
                <a:latin typeface="Times New Roman" pitchFamily="18" charset="0"/>
                <a:cs typeface="Times New Roman" pitchFamily="18" charset="0"/>
              </a:rPr>
              <a:t>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q</a:t>
            </a:r>
            <a:r>
              <a:rPr lang="ru-RU" sz="2000" b="1" i="1">
                <a:latin typeface="Times New Roman" pitchFamily="18" charset="0"/>
                <a:cs typeface="Times New Roman" pitchFamily="18" charset="0"/>
              </a:rPr>
              <a:t>)</a:t>
            </a:r>
            <a:r>
              <a:rPr lang="ru-RU" sz="2000">
                <a:latin typeface="Times New Roman" pitchFamily="18" charset="0"/>
                <a:cs typeface="Times New Roman" pitchFamily="18" charset="0"/>
              </a:rPr>
              <a:t> ни ҳисобланг. Агар</a:t>
            </a:r>
            <a:r>
              <a:rPr lang="uz-Cyrl-UZ" sz="2000">
                <a:latin typeface="Times New Roman" pitchFamily="18" charset="0"/>
                <a:cs typeface="Times New Roman" pitchFamily="18" charset="0"/>
              </a:rPr>
              <a:t> </a:t>
            </a:r>
            <a:r>
              <a:rPr lang="en-US" sz="2000" b="1" i="1">
                <a:latin typeface="Times New Roman" pitchFamily="18" charset="0"/>
                <a:cs typeface="Times New Roman" pitchFamily="18" charset="0"/>
              </a:rPr>
              <a:t>s</a:t>
            </a:r>
            <a:r>
              <a:rPr lang="ru-RU" sz="2000" b="1" i="1" baseline="-25000">
                <a:latin typeface="Times New Roman" pitchFamily="18" charset="0"/>
                <a:cs typeface="Times New Roman" pitchFamily="18" charset="0"/>
              </a:rPr>
              <a:t>1</a:t>
            </a:r>
            <a:r>
              <a:rPr lang="ru-RU" sz="2000" b="1" i="1">
                <a:latin typeface="Times New Roman" pitchFamily="18" charset="0"/>
                <a:cs typeface="Times New Roman" pitchFamily="18" charset="0"/>
              </a:rPr>
              <a:t>=0</a:t>
            </a:r>
            <a:r>
              <a:rPr lang="ru-RU" sz="2000" b="1" i="1" baseline="30000">
                <a:latin typeface="Times New Roman" pitchFamily="18" charset="0"/>
                <a:cs typeface="Times New Roman" pitchFamily="18" charset="0"/>
              </a:rPr>
              <a:t> </a:t>
            </a:r>
            <a:r>
              <a:rPr lang="ru-RU" sz="2000" b="1" i="1">
                <a:latin typeface="Times New Roman" pitchFamily="18" charset="0"/>
                <a:cs typeface="Times New Roman" pitchFamily="18" charset="0"/>
              </a:rPr>
              <a:t> </a:t>
            </a:r>
            <a:r>
              <a:rPr lang="ru-RU" sz="2000">
                <a:latin typeface="Times New Roman" pitchFamily="18" charset="0"/>
                <a:cs typeface="Times New Roman" pitchFamily="18" charset="0"/>
              </a:rPr>
              <a:t>бўлса</a:t>
            </a:r>
            <a:r>
              <a:rPr lang="uz-Cyrl-UZ" sz="2000">
                <a:latin typeface="Times New Roman" pitchFamily="18" charset="0"/>
                <a:cs typeface="Times New Roman" pitchFamily="18" charset="0"/>
              </a:rPr>
              <a:t>,</a:t>
            </a:r>
            <a:r>
              <a:rPr lang="ru-RU" sz="2000">
                <a:latin typeface="Times New Roman" pitchFamily="18" charset="0"/>
                <a:cs typeface="Times New Roman" pitchFamily="18" charset="0"/>
              </a:rPr>
              <a:t> унда </a:t>
            </a:r>
            <a:r>
              <a:rPr lang="en-US" sz="2000" b="1" i="1">
                <a:latin typeface="Times New Roman" pitchFamily="18" charset="0"/>
                <a:cs typeface="Times New Roman" pitchFamily="18" charset="0"/>
              </a:rPr>
              <a:t>k</a:t>
            </a:r>
            <a:r>
              <a:rPr lang="en-US" sz="2000" b="1" i="1">
                <a:latin typeface="Times New Roman" pitchFamily="18" charset="0"/>
                <a:cs typeface="Times New Roman" pitchFamily="18" charset="0"/>
                <a:sym typeface="Symbol" pitchFamily="18" charset="2"/>
              </a:rPr>
              <a:t></a:t>
            </a:r>
            <a:r>
              <a:rPr lang="uz-Cyrl-UZ" sz="2000" b="1" i="1">
                <a:latin typeface="Times New Roman" pitchFamily="18" charset="0"/>
                <a:cs typeface="Times New Roman" pitchFamily="18" charset="0"/>
                <a:sym typeface="Symbol" pitchFamily="18" charset="2"/>
              </a:rPr>
              <a:t> </a:t>
            </a:r>
            <a:r>
              <a:rPr lang="en-US" sz="2000" b="1" i="1">
                <a:latin typeface="Times New Roman" pitchFamily="18" charset="0"/>
                <a:cs typeface="Times New Roman" pitchFamily="18" charset="0"/>
              </a:rPr>
              <a:t>k</a:t>
            </a:r>
            <a:r>
              <a:rPr lang="ru-RU" sz="2000" b="1" i="1">
                <a:latin typeface="Times New Roman" pitchFamily="18" charset="0"/>
                <a:cs typeface="Times New Roman" pitchFamily="18" charset="0"/>
              </a:rPr>
              <a:t>+1(</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p</a:t>
            </a:r>
            <a:r>
              <a:rPr lang="ru-RU" sz="2000" b="1" i="1">
                <a:latin typeface="Times New Roman" pitchFamily="18" charset="0"/>
                <a:cs typeface="Times New Roman" pitchFamily="18" charset="0"/>
              </a:rPr>
              <a:t>)</a:t>
            </a:r>
            <a:r>
              <a:rPr lang="ru-RU" sz="2000">
                <a:latin typeface="Times New Roman" pitchFamily="18" charset="0"/>
                <a:cs typeface="Times New Roman" pitchFamily="18" charset="0"/>
              </a:rPr>
              <a:t> ни қабул қилинг ва 3-қадамга қайтинг; </a:t>
            </a:r>
            <a:endParaRPr lang="uz-Cyrl-UZ" sz="2000">
              <a:latin typeface="Times New Roman" pitchFamily="18" charset="0"/>
              <a:cs typeface="Times New Roman" pitchFamily="18" charset="0"/>
            </a:endParaRPr>
          </a:p>
          <a:p>
            <a:pPr indent="442913" algn="just">
              <a:spcAft>
                <a:spcPts val="300"/>
              </a:spcAft>
            </a:pPr>
            <a:r>
              <a:rPr lang="en-US" sz="2000" b="1">
                <a:solidFill>
                  <a:srgbClr val="C00000"/>
                </a:solidFill>
                <a:latin typeface="Times New Roman" pitchFamily="18" charset="0"/>
                <a:cs typeface="Times New Roman" pitchFamily="18" charset="0"/>
              </a:rPr>
              <a:t>6-</a:t>
            </a:r>
            <a:r>
              <a:rPr lang="ru-RU" sz="2000" b="1">
                <a:solidFill>
                  <a:srgbClr val="C00000"/>
                </a:solidFill>
                <a:latin typeface="Times New Roman" pitchFamily="18" charset="0"/>
                <a:cs typeface="Times New Roman" pitchFamily="18" charset="0"/>
              </a:rPr>
              <a:t>қадам</a:t>
            </a:r>
            <a:r>
              <a:rPr lang="en-US" sz="2000" b="1">
                <a:solidFill>
                  <a:srgbClr val="C00000"/>
                </a:solidFill>
                <a:latin typeface="Times New Roman" pitchFamily="18" charset="0"/>
                <a:cs typeface="Times New Roman" pitchFamily="18" charset="0"/>
              </a:rPr>
              <a:t>: </a:t>
            </a:r>
            <a:r>
              <a:rPr lang="en-US" sz="2000" b="1" i="1">
                <a:latin typeface="Times New Roman" pitchFamily="18" charset="0"/>
                <a:cs typeface="Times New Roman" pitchFamily="18" charset="0"/>
              </a:rPr>
              <a:t>s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s</a:t>
            </a:r>
            <a:r>
              <a:rPr lang="en-US" sz="2000" b="1" i="1" baseline="-25000">
                <a:latin typeface="Times New Roman" pitchFamily="18" charset="0"/>
                <a:cs typeface="Times New Roman" pitchFamily="18" charset="0"/>
              </a:rPr>
              <a:t>1 </a:t>
            </a:r>
            <a:r>
              <a:rPr lang="en-US" sz="2000" b="1" i="1">
                <a:solidFill>
                  <a:srgbClr val="C00000"/>
                </a:solidFill>
                <a:latin typeface="Times New Roman" pitchFamily="18" charset="0"/>
                <a:cs typeface="Times New Roman" pitchFamily="18" charset="0"/>
              </a:rPr>
              <a:t>u</a:t>
            </a:r>
            <a:r>
              <a:rPr lang="en-US" sz="2000" b="1" i="1" baseline="30000">
                <a:latin typeface="Times New Roman" pitchFamily="18" charset="0"/>
                <a:cs typeface="Times New Roman" pitchFamily="18" charset="0"/>
              </a:rPr>
              <a:t>-1</a:t>
            </a:r>
            <a:r>
              <a:rPr lang="en-US" sz="2000" b="1" i="1">
                <a:latin typeface="Times New Roman" pitchFamily="18" charset="0"/>
                <a:cs typeface="Times New Roman" pitchFamily="18" charset="0"/>
              </a:rPr>
              <a:t>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q)</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ни ҳисобланг</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Агар </a:t>
            </a:r>
            <a:r>
              <a:rPr lang="ru-RU" sz="2000" b="1" i="1">
                <a:solidFill>
                  <a:srgbClr val="FF0000"/>
                </a:solidFill>
                <a:latin typeface="Times New Roman" pitchFamily="18" charset="0"/>
                <a:cs typeface="Times New Roman" pitchFamily="18" charset="0"/>
                <a:sym typeface="Symbol" pitchFamily="18" charset="2"/>
              </a:rPr>
              <a:t></a:t>
            </a:r>
            <a:r>
              <a:rPr lang="en-US" sz="2000" b="1" i="1">
                <a:solidFill>
                  <a:srgbClr val="FF0000"/>
                </a:solidFill>
                <a:latin typeface="Times New Roman" pitchFamily="18" charset="0"/>
                <a:cs typeface="Times New Roman" pitchFamily="18" charset="0"/>
              </a:rPr>
              <a:t> = 0</a:t>
            </a:r>
            <a:r>
              <a:rPr lang="en-US" sz="2000">
                <a:solidFill>
                  <a:srgbClr val="FF0000"/>
                </a:solidFill>
                <a:latin typeface="Times New Roman" pitchFamily="18" charset="0"/>
                <a:cs typeface="Times New Roman" pitchFamily="18" charset="0"/>
              </a:rPr>
              <a:t> </a:t>
            </a:r>
            <a:r>
              <a:rPr lang="ru-RU" sz="2000">
                <a:latin typeface="Times New Roman" pitchFamily="18" charset="0"/>
                <a:cs typeface="Times New Roman" pitchFamily="18" charset="0"/>
              </a:rPr>
              <a:t>бўлса</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унда</a:t>
            </a:r>
            <a:r>
              <a:rPr lang="en-US" sz="2000">
                <a:latin typeface="Times New Roman" pitchFamily="18" charset="0"/>
                <a:cs typeface="Times New Roman" pitchFamily="18" charset="0"/>
              </a:rPr>
              <a:t> </a:t>
            </a:r>
            <a:r>
              <a:rPr lang="en-US" sz="2000" b="1" i="1">
                <a:solidFill>
                  <a:srgbClr val="FF0000"/>
                </a:solidFill>
                <a:latin typeface="Times New Roman" pitchFamily="18" charset="0"/>
                <a:cs typeface="Times New Roman" pitchFamily="18" charset="0"/>
              </a:rPr>
              <a:t>r</a:t>
            </a:r>
            <a:r>
              <a:rPr lang="en-US" sz="2000" b="1">
                <a:solidFill>
                  <a:srgbClr val="FF0000"/>
                </a:solidFill>
                <a:latin typeface="Times New Roman" pitchFamily="18" charset="0"/>
                <a:cs typeface="Times New Roman" pitchFamily="18" charset="0"/>
              </a:rPr>
              <a:t>, </a:t>
            </a:r>
            <a:r>
              <a:rPr lang="en-US" sz="2000" b="1" i="1">
                <a:solidFill>
                  <a:srgbClr val="FF0000"/>
                </a:solidFill>
                <a:latin typeface="Times New Roman" pitchFamily="18" charset="0"/>
                <a:cs typeface="Times New Roman" pitchFamily="18" charset="0"/>
              </a:rPr>
              <a:t>s</a:t>
            </a:r>
            <a:r>
              <a:rPr lang="en-US" sz="2000" b="1">
                <a:solidFill>
                  <a:srgbClr val="FF0000"/>
                </a:solidFill>
                <a:latin typeface="Times New Roman" pitchFamily="18" charset="0"/>
                <a:cs typeface="Times New Roman" pitchFamily="18" charset="0"/>
              </a:rPr>
              <a:t> </a:t>
            </a:r>
            <a:r>
              <a:rPr lang="ru-RU" sz="2000">
                <a:latin typeface="Times New Roman" pitchFamily="18" charset="0"/>
                <a:cs typeface="Times New Roman" pitchFamily="18" charset="0"/>
              </a:rPr>
              <a:t>ни чиқишга беринг ва ҳисоблашни тўхтатинг</a:t>
            </a:r>
            <a:r>
              <a:rPr lang="en-US" sz="2000">
                <a:latin typeface="Times New Roman" pitchFamily="18" charset="0"/>
                <a:cs typeface="Times New Roman" pitchFamily="18" charset="0"/>
              </a:rPr>
              <a:t>; </a:t>
            </a:r>
            <a:endParaRPr lang="uz-Cyrl-UZ" sz="2000">
              <a:latin typeface="Times New Roman" pitchFamily="18" charset="0"/>
              <a:cs typeface="Times New Roman" pitchFamily="18" charset="0"/>
            </a:endParaRPr>
          </a:p>
          <a:p>
            <a:pPr indent="442913" algn="just">
              <a:spcAft>
                <a:spcPts val="300"/>
              </a:spcAft>
            </a:pPr>
            <a:r>
              <a:rPr lang="en-US" sz="2000" b="1">
                <a:solidFill>
                  <a:srgbClr val="C00000"/>
                </a:solidFill>
                <a:latin typeface="Times New Roman" pitchFamily="18" charset="0"/>
                <a:cs typeface="Times New Roman" pitchFamily="18" charset="0"/>
              </a:rPr>
              <a:t>7-</a:t>
            </a:r>
            <a:r>
              <a:rPr lang="ru-RU" sz="2000" b="1">
                <a:solidFill>
                  <a:srgbClr val="C00000"/>
                </a:solidFill>
                <a:latin typeface="Times New Roman" pitchFamily="18" charset="0"/>
                <a:cs typeface="Times New Roman" pitchFamily="18" charset="0"/>
              </a:rPr>
              <a:t>қадам</a:t>
            </a:r>
            <a:r>
              <a:rPr lang="en-US" sz="2000" b="1">
                <a:solidFill>
                  <a:srgbClr val="C00000"/>
                </a:solidFill>
                <a:latin typeface="Times New Roman" pitchFamily="18" charset="0"/>
                <a:cs typeface="Times New Roman" pitchFamily="18" charset="0"/>
              </a:rPr>
              <a:t>: </a:t>
            </a:r>
            <a:r>
              <a:rPr lang="en-US" sz="2000" b="1" i="1">
                <a:latin typeface="Times New Roman" pitchFamily="18" charset="0"/>
                <a:cs typeface="Times New Roman" pitchFamily="18" charset="0"/>
              </a:rPr>
              <a:t>r</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R</a:t>
            </a:r>
            <a:r>
              <a:rPr lang="en-US" sz="2000" b="1" i="1" baseline="-25000">
                <a:latin typeface="Times New Roman" pitchFamily="18" charset="0"/>
                <a:cs typeface="Times New Roman" pitchFamily="18" charset="0"/>
              </a:rPr>
              <a:t>1</a:t>
            </a:r>
            <a:r>
              <a:rPr lang="en-US" sz="2000" b="1">
                <a:latin typeface="Times New Roman" pitchFamily="18" charset="0"/>
                <a:cs typeface="Times New Roman" pitchFamily="18" charset="0"/>
              </a:rPr>
              <a:t>+</a:t>
            </a:r>
            <a:r>
              <a:rPr lang="en-US" sz="2000" b="1" i="1">
                <a:latin typeface="Times New Roman" pitchFamily="18" charset="0"/>
                <a:cs typeface="Times New Roman" pitchFamily="18" charset="0"/>
              </a:rPr>
              <a:t> (1 + RR</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)r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q)</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ни ҳисобланг</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Агар </a:t>
            </a:r>
            <a:r>
              <a:rPr lang="en-US" sz="2000" b="1" i="1">
                <a:latin typeface="Times New Roman" pitchFamily="18" charset="0"/>
                <a:cs typeface="Times New Roman" pitchFamily="18" charset="0"/>
              </a:rPr>
              <a:t>r</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 = 0 </a:t>
            </a:r>
            <a:r>
              <a:rPr lang="ru-RU" sz="2000">
                <a:latin typeface="Times New Roman" pitchFamily="18" charset="0"/>
                <a:cs typeface="Times New Roman" pitchFamily="18" charset="0"/>
              </a:rPr>
              <a:t>бўлса</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унда</a:t>
            </a:r>
            <a:r>
              <a:rPr lang="en-US" sz="2000">
                <a:latin typeface="Times New Roman" pitchFamily="18" charset="0"/>
                <a:cs typeface="Times New Roman" pitchFamily="18" charset="0"/>
              </a:rPr>
              <a:t>  </a:t>
            </a:r>
            <a:r>
              <a:rPr lang="uz-Cyrl-UZ" sz="2000">
                <a:latin typeface="Times New Roman" pitchFamily="18" charset="0"/>
                <a:cs typeface="Times New Roman" pitchFamily="18" charset="0"/>
              </a:rPr>
              <a:t>           </a:t>
            </a:r>
            <a:r>
              <a:rPr lang="en-US" sz="2000" b="1" i="1">
                <a:latin typeface="Times New Roman" pitchFamily="18" charset="0"/>
                <a:cs typeface="Times New Roman" pitchFamily="18" charset="0"/>
              </a:rPr>
              <a:t>k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k + 1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p)</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ни қабул қилинг ва</a:t>
            </a:r>
            <a:r>
              <a:rPr lang="en-US" sz="2000">
                <a:latin typeface="Times New Roman" pitchFamily="18" charset="0"/>
                <a:cs typeface="Times New Roman" pitchFamily="18" charset="0"/>
              </a:rPr>
              <a:t> 3-</a:t>
            </a:r>
            <a:r>
              <a:rPr lang="ru-RU" sz="2000">
                <a:latin typeface="Times New Roman" pitchFamily="18" charset="0"/>
                <a:cs typeface="Times New Roman" pitchFamily="18" charset="0"/>
              </a:rPr>
              <a:t>қадамга қайтинг</a:t>
            </a:r>
            <a:r>
              <a:rPr lang="en-US" sz="2000">
                <a:latin typeface="Times New Roman" pitchFamily="18" charset="0"/>
                <a:cs typeface="Times New Roman" pitchFamily="18" charset="0"/>
              </a:rPr>
              <a:t>;</a:t>
            </a:r>
            <a:endParaRPr lang="uz-Cyrl-UZ" sz="2000">
              <a:latin typeface="Times New Roman" pitchFamily="18" charset="0"/>
              <a:cs typeface="Times New Roman" pitchFamily="18" charset="0"/>
            </a:endParaRPr>
          </a:p>
          <a:p>
            <a:pPr indent="442913" algn="just">
              <a:spcAft>
                <a:spcPts val="300"/>
              </a:spcAft>
            </a:pPr>
            <a:r>
              <a:rPr lang="en-US" sz="2000" b="1">
                <a:solidFill>
                  <a:srgbClr val="C00000"/>
                </a:solidFill>
                <a:latin typeface="Times New Roman" pitchFamily="18" charset="0"/>
                <a:cs typeface="Times New Roman" pitchFamily="18" charset="0"/>
              </a:rPr>
              <a:t>8-</a:t>
            </a:r>
            <a:r>
              <a:rPr lang="ru-RU" sz="2000" b="1">
                <a:solidFill>
                  <a:srgbClr val="C00000"/>
                </a:solidFill>
                <a:latin typeface="Times New Roman" pitchFamily="18" charset="0"/>
                <a:cs typeface="Times New Roman" pitchFamily="18" charset="0"/>
              </a:rPr>
              <a:t>қадам</a:t>
            </a:r>
            <a:r>
              <a:rPr lang="en-US" sz="2000" b="1">
                <a:solidFill>
                  <a:srgbClr val="C00000"/>
                </a:solidFill>
                <a:latin typeface="Times New Roman" pitchFamily="18" charset="0"/>
                <a:cs typeface="Times New Roman" pitchFamily="18" charset="0"/>
              </a:rPr>
              <a:t>: </a:t>
            </a:r>
            <a:r>
              <a:rPr lang="en-US" sz="2000" b="1" i="1">
                <a:latin typeface="Times New Roman" pitchFamily="18" charset="0"/>
                <a:cs typeface="Times New Roman" pitchFamily="18" charset="0"/>
              </a:rPr>
              <a:t>x</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(k – s</a:t>
            </a:r>
            <a:r>
              <a:rPr lang="en-US" sz="2000" b="1" i="1">
                <a:solidFill>
                  <a:srgbClr val="C00000"/>
                </a:solidFill>
                <a:latin typeface="Times New Roman" pitchFamily="18" charset="0"/>
                <a:cs typeface="Times New Roman" pitchFamily="18" charset="0"/>
              </a:rPr>
              <a:t>u</a:t>
            </a:r>
            <a:r>
              <a:rPr lang="en-US" sz="2000" b="1" i="1">
                <a:latin typeface="Times New Roman" pitchFamily="18" charset="0"/>
                <a:cs typeface="Times New Roman" pitchFamily="18" charset="0"/>
              </a:rPr>
              <a:t>R</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)r</a:t>
            </a:r>
            <a:r>
              <a:rPr lang="en-US" sz="2000" b="1" i="1" baseline="-25000">
                <a:latin typeface="Times New Roman" pitchFamily="18" charset="0"/>
                <a:cs typeface="Times New Roman" pitchFamily="18" charset="0"/>
              </a:rPr>
              <a:t>1</a:t>
            </a:r>
            <a:r>
              <a:rPr lang="en-US" sz="2000" b="1" i="1" baseline="30000">
                <a:latin typeface="Times New Roman" pitchFamily="18" charset="0"/>
                <a:cs typeface="Times New Roman" pitchFamily="18" charset="0"/>
              </a:rPr>
              <a:t>-1</a:t>
            </a:r>
            <a:r>
              <a:rPr lang="en-US" sz="2000" b="1" i="1">
                <a:latin typeface="Times New Roman" pitchFamily="18" charset="0"/>
                <a:cs typeface="Times New Roman" pitchFamily="18" charset="0"/>
              </a:rPr>
              <a:t>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q)</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ни ҳисобланг</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Агар</a:t>
            </a:r>
            <a:r>
              <a:rPr lang="uz-Cyrl-UZ" sz="2000">
                <a:latin typeface="Times New Roman" pitchFamily="18" charset="0"/>
                <a:cs typeface="Times New Roman" pitchFamily="18" charset="0"/>
              </a:rPr>
              <a:t>  </a:t>
            </a:r>
            <a:r>
              <a:rPr lang="en-US" sz="2000" b="1" i="1">
                <a:latin typeface="Times New Roman" pitchFamily="18" charset="0"/>
                <a:cs typeface="Times New Roman" pitchFamily="18" charset="0"/>
              </a:rPr>
              <a:t>x</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=0 </a:t>
            </a:r>
            <a:r>
              <a:rPr lang="ru-RU" sz="2000">
                <a:latin typeface="Times New Roman" pitchFamily="18" charset="0"/>
                <a:cs typeface="Times New Roman" pitchFamily="18" charset="0"/>
              </a:rPr>
              <a:t>бўлса</a:t>
            </a:r>
            <a:r>
              <a:rPr lang="uz-Cyrl-UZ" sz="2000">
                <a:latin typeface="Times New Roman" pitchFamily="18" charset="0"/>
                <a:cs typeface="Times New Roman" pitchFamily="18" charset="0"/>
              </a:rPr>
              <a:t>,</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унда</a:t>
            </a:r>
            <a:r>
              <a:rPr lang="en-US" sz="2000">
                <a:latin typeface="Times New Roman" pitchFamily="18" charset="0"/>
                <a:cs typeface="Times New Roman" pitchFamily="18" charset="0"/>
              </a:rPr>
              <a:t>  </a:t>
            </a:r>
            <a:r>
              <a:rPr lang="uz-Cyrl-UZ" sz="2000">
                <a:latin typeface="Times New Roman" pitchFamily="18" charset="0"/>
                <a:cs typeface="Times New Roman" pitchFamily="18" charset="0"/>
              </a:rPr>
              <a:t>               </a:t>
            </a:r>
            <a:r>
              <a:rPr lang="en-US" sz="2000" b="1" i="1">
                <a:latin typeface="Times New Roman" pitchFamily="18" charset="0"/>
                <a:cs typeface="Times New Roman" pitchFamily="18" charset="0"/>
              </a:rPr>
              <a:t>k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k + 1 (</a:t>
            </a:r>
            <a:r>
              <a:rPr lang="en-US" sz="2000">
                <a:latin typeface="Times New Roman" pitchFamily="18" charset="0"/>
                <a:cs typeface="Times New Roman" pitchFamily="18" charset="0"/>
              </a:rPr>
              <a:t>mod</a:t>
            </a:r>
            <a:r>
              <a:rPr lang="en-US" sz="2000" b="1" i="1">
                <a:latin typeface="Times New Roman" pitchFamily="18" charset="0"/>
                <a:cs typeface="Times New Roman" pitchFamily="18" charset="0"/>
              </a:rPr>
              <a:t> p)</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ни қабул қилинг ва</a:t>
            </a:r>
            <a:r>
              <a:rPr lang="en-US" sz="2000">
                <a:latin typeface="Times New Roman" pitchFamily="18" charset="0"/>
                <a:cs typeface="Times New Roman" pitchFamily="18" charset="0"/>
              </a:rPr>
              <a:t> 3-</a:t>
            </a:r>
            <a:r>
              <a:rPr lang="ru-RU" sz="2000">
                <a:latin typeface="Times New Roman" pitchFamily="18" charset="0"/>
                <a:cs typeface="Times New Roman" pitchFamily="18" charset="0"/>
              </a:rPr>
              <a:t>қадамга қайтинг</a:t>
            </a:r>
            <a:r>
              <a:rPr lang="en-US" sz="2000">
                <a:latin typeface="Times New Roman" pitchFamily="18" charset="0"/>
                <a:cs typeface="Times New Roman" pitchFamily="18" charset="0"/>
              </a:rPr>
              <a:t>;</a:t>
            </a:r>
            <a:endParaRPr lang="uz-Cyrl-UZ" sz="2000">
              <a:latin typeface="Times New Roman" pitchFamily="18" charset="0"/>
              <a:cs typeface="Times New Roman" pitchFamily="18" charset="0"/>
            </a:endParaRPr>
          </a:p>
          <a:p>
            <a:pPr indent="442913" algn="just">
              <a:spcAft>
                <a:spcPts val="300"/>
              </a:spcAft>
            </a:pPr>
            <a:r>
              <a:rPr lang="en-US" sz="2000" b="1">
                <a:solidFill>
                  <a:srgbClr val="C00000"/>
                </a:solidFill>
                <a:latin typeface="Times New Roman" pitchFamily="18" charset="0"/>
                <a:cs typeface="Times New Roman" pitchFamily="18" charset="0"/>
              </a:rPr>
              <a:t>9-</a:t>
            </a:r>
            <a:r>
              <a:rPr lang="ru-RU" sz="2000" b="1">
                <a:solidFill>
                  <a:srgbClr val="C00000"/>
                </a:solidFill>
                <a:latin typeface="Times New Roman" pitchFamily="18" charset="0"/>
                <a:cs typeface="Times New Roman" pitchFamily="18" charset="0"/>
              </a:rPr>
              <a:t>қадам</a:t>
            </a:r>
            <a:r>
              <a:rPr lang="en-US" sz="2000" b="1">
                <a:solidFill>
                  <a:srgbClr val="C00000"/>
                </a:solidFill>
                <a:latin typeface="Times New Roman" pitchFamily="18" charset="0"/>
                <a:cs typeface="Times New Roman" pitchFamily="18" charset="0"/>
              </a:rPr>
              <a:t>: </a:t>
            </a:r>
            <a:r>
              <a:rPr lang="uz-Cyrl-UZ" sz="2000" b="1" i="1">
                <a:latin typeface="Times New Roman" pitchFamily="18" charset="0"/>
                <a:cs typeface="Times New Roman" pitchFamily="18" charset="0"/>
              </a:rPr>
              <a:t>RR</a:t>
            </a:r>
            <a:r>
              <a:rPr lang="uz-Cyrl-UZ" sz="2000" b="1" i="1" baseline="-25000">
                <a:latin typeface="Times New Roman" pitchFamily="18" charset="0"/>
                <a:cs typeface="Times New Roman" pitchFamily="18" charset="0"/>
              </a:rPr>
              <a:t>1</a:t>
            </a:r>
            <a:r>
              <a:rPr lang="uz-Cyrl-UZ" sz="2000" b="1" i="1">
                <a:latin typeface="Times New Roman" pitchFamily="18" charset="0"/>
                <a:cs typeface="Times New Roman" pitchFamily="18" charset="0"/>
              </a:rPr>
              <a:t> </a:t>
            </a:r>
            <a:r>
              <a:rPr lang="ru-RU" sz="2000">
                <a:latin typeface="Times New Roman" pitchFamily="18" charset="0"/>
                <a:cs typeface="Times New Roman" pitchFamily="18" charset="0"/>
              </a:rPr>
              <a:t>параметр билан</a:t>
            </a:r>
            <a:r>
              <a:rPr lang="en-US" sz="2000" b="1" i="1">
                <a:latin typeface="Times New Roman" pitchFamily="18" charset="0"/>
                <a:cs typeface="Times New Roman" pitchFamily="18" charset="0"/>
              </a:rPr>
              <a:t> y</a:t>
            </a:r>
            <a:r>
              <a:rPr lang="en-US" sz="2000" b="1" i="1" baseline="-25000">
                <a:latin typeface="Times New Roman" pitchFamily="18" charset="0"/>
                <a:cs typeface="Times New Roman" pitchFamily="18" charset="0"/>
              </a:rPr>
              <a:t>1</a:t>
            </a:r>
            <a:r>
              <a:rPr lang="en-US" sz="2000" b="1" i="1">
                <a:latin typeface="Times New Roman" pitchFamily="18" charset="0"/>
                <a:cs typeface="Times New Roman" pitchFamily="18" charset="0"/>
              </a:rPr>
              <a:t> </a:t>
            </a:r>
            <a:r>
              <a:rPr lang="en-US" sz="2000" b="1" i="1">
                <a:latin typeface="Times New Roman" pitchFamily="18" charset="0"/>
                <a:cs typeface="Times New Roman" pitchFamily="18" charset="0"/>
                <a:sym typeface="Symbol" pitchFamily="18" charset="2"/>
              </a:rPr>
              <a:t></a:t>
            </a:r>
            <a:r>
              <a:rPr lang="en-US" sz="2000" b="1" i="1">
                <a:latin typeface="Times New Roman" pitchFamily="18" charset="0"/>
                <a:cs typeface="Times New Roman" pitchFamily="18" charset="0"/>
              </a:rPr>
              <a:t> </a:t>
            </a:r>
            <a:r>
              <a:rPr lang="uz-Cyrl-UZ" sz="2000" i="1">
                <a:latin typeface="Times New Roman" pitchFamily="18" charset="0"/>
                <a:cs typeface="Times New Roman" pitchFamily="18" charset="0"/>
              </a:rPr>
              <a:t>(</a:t>
            </a:r>
            <a:r>
              <a:rPr lang="uz-Cyrl-UZ" sz="2000" b="1" i="1">
                <a:latin typeface="Times New Roman" pitchFamily="18" charset="0"/>
                <a:cs typeface="Times New Roman" pitchFamily="18" charset="0"/>
              </a:rPr>
              <a:t>gR</a:t>
            </a:r>
            <a:r>
              <a:rPr lang="uz-Cyrl-UZ" sz="2000" b="1" i="1" baseline="-25000">
                <a:latin typeface="Times New Roman" pitchFamily="18" charset="0"/>
                <a:cs typeface="Times New Roman" pitchFamily="18" charset="0"/>
              </a:rPr>
              <a:t>1</a:t>
            </a:r>
            <a:r>
              <a:rPr lang="uz-Cyrl-UZ" sz="2000" b="1" i="1" baseline="30000">
                <a:latin typeface="Times New Roman" pitchFamily="18" charset="0"/>
                <a:cs typeface="Times New Roman" pitchFamily="18" charset="0"/>
              </a:rPr>
              <a:t>-1</a:t>
            </a:r>
            <a:r>
              <a:rPr lang="uz-Cyrl-UZ" sz="2000" b="1" i="1">
                <a:latin typeface="Times New Roman" pitchFamily="18" charset="0"/>
                <a:cs typeface="Times New Roman" pitchFamily="18" charset="0"/>
              </a:rPr>
              <a:t>)</a:t>
            </a:r>
            <a:r>
              <a:rPr lang="en-US" sz="2000" b="1" i="1" baseline="30000">
                <a:latin typeface="Times New Roman" pitchFamily="18" charset="0"/>
                <a:cs typeface="Times New Roman" pitchFamily="18" charset="0"/>
              </a:rPr>
              <a:t>\x1 </a:t>
            </a:r>
            <a:r>
              <a:rPr lang="en-US" sz="2000" b="1" i="1">
                <a:latin typeface="Times New Roman" pitchFamily="18" charset="0"/>
                <a:cs typeface="Times New Roman" pitchFamily="18" charset="0"/>
              </a:rPr>
              <a:t>(</a:t>
            </a:r>
            <a:r>
              <a:rPr lang="en-US" sz="2000">
                <a:latin typeface="Times New Roman" pitchFamily="18" charset="0"/>
                <a:cs typeface="Times New Roman" pitchFamily="18" charset="0"/>
              </a:rPr>
              <a:t>mod </a:t>
            </a:r>
            <a:r>
              <a:rPr lang="en-US" sz="2000" b="1" i="1">
                <a:latin typeface="Times New Roman" pitchFamily="18" charset="0"/>
                <a:cs typeface="Times New Roman" pitchFamily="18" charset="0"/>
              </a:rPr>
              <a:t>p)</a:t>
            </a:r>
            <a:r>
              <a:rPr lang="en-US" sz="2000">
                <a:latin typeface="Times New Roman" pitchFamily="18" charset="0"/>
                <a:cs typeface="Times New Roman" pitchFamily="18" charset="0"/>
              </a:rPr>
              <a:t> </a:t>
            </a:r>
            <a:r>
              <a:rPr lang="ru-RU" sz="2000">
                <a:latin typeface="Times New Roman" pitchFamily="18" charset="0"/>
                <a:cs typeface="Times New Roman" pitchFamily="18" charset="0"/>
              </a:rPr>
              <a:t>ни ҳисобланг ва </a:t>
            </a:r>
            <a:r>
              <a:rPr lang="en-US" sz="2000" b="1" i="1">
                <a:solidFill>
                  <a:srgbClr val="FF0000"/>
                </a:solidFill>
                <a:latin typeface="Times New Roman" pitchFamily="18" charset="0"/>
                <a:cs typeface="Times New Roman" pitchFamily="18" charset="0"/>
              </a:rPr>
              <a:t>r</a:t>
            </a:r>
            <a:r>
              <a:rPr lang="en-US" sz="2000" b="1">
                <a:solidFill>
                  <a:srgbClr val="FF0000"/>
                </a:solidFill>
                <a:latin typeface="Times New Roman" pitchFamily="18" charset="0"/>
                <a:cs typeface="Times New Roman" pitchFamily="18" charset="0"/>
              </a:rPr>
              <a:t>, </a:t>
            </a:r>
            <a:r>
              <a:rPr lang="en-US" sz="2000" b="1" i="1">
                <a:solidFill>
                  <a:srgbClr val="FF0000"/>
                </a:solidFill>
                <a:latin typeface="Times New Roman" pitchFamily="18" charset="0"/>
                <a:cs typeface="Times New Roman" pitchFamily="18" charset="0"/>
              </a:rPr>
              <a:t>s</a:t>
            </a:r>
            <a:r>
              <a:rPr lang="en-US" sz="2000" b="1">
                <a:solidFill>
                  <a:srgbClr val="FF0000"/>
                </a:solidFill>
                <a:latin typeface="Times New Roman" pitchFamily="18" charset="0"/>
                <a:cs typeface="Times New Roman" pitchFamily="18" charset="0"/>
              </a:rPr>
              <a:t>, </a:t>
            </a:r>
            <a:r>
              <a:rPr lang="en-US" sz="2000" b="1" i="1">
                <a:solidFill>
                  <a:srgbClr val="FF0000"/>
                </a:solidFill>
                <a:latin typeface="Times New Roman" pitchFamily="18" charset="0"/>
                <a:cs typeface="Times New Roman" pitchFamily="18" charset="0"/>
              </a:rPr>
              <a:t>y</a:t>
            </a:r>
            <a:r>
              <a:rPr lang="en-US" sz="2000" b="1" i="1" baseline="-25000">
                <a:solidFill>
                  <a:srgbClr val="FF0000"/>
                </a:solidFill>
                <a:latin typeface="Times New Roman" pitchFamily="18" charset="0"/>
                <a:cs typeface="Times New Roman" pitchFamily="18" charset="0"/>
              </a:rPr>
              <a:t>1</a:t>
            </a:r>
            <a:r>
              <a:rPr lang="en-US" sz="2000" b="1">
                <a:solidFill>
                  <a:srgbClr val="FF0000"/>
                </a:solidFill>
                <a:latin typeface="Times New Roman" pitchFamily="18" charset="0"/>
                <a:cs typeface="Times New Roman" pitchFamily="18" charset="0"/>
              </a:rPr>
              <a:t> </a:t>
            </a:r>
            <a:r>
              <a:rPr lang="ru-RU" sz="2000">
                <a:latin typeface="Times New Roman" pitchFamily="18" charset="0"/>
                <a:cs typeface="Times New Roman" pitchFamily="18" charset="0"/>
              </a:rPr>
              <a:t>ларни чиқишга беринг</a:t>
            </a:r>
            <a:r>
              <a:rPr lang="en-US" sz="2000">
                <a:latin typeface="Times New Roman" pitchFamily="18" charset="0"/>
                <a:cs typeface="Times New Roman" pitchFamily="18" charset="0"/>
              </a:rPr>
              <a:t>. </a:t>
            </a:r>
            <a:endParaRPr lang="uz-Cyrl-UZ" sz="200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Содержимое 2"/>
          <p:cNvSpPr>
            <a:spLocks/>
          </p:cNvSpPr>
          <p:nvPr/>
        </p:nvSpPr>
        <p:spPr bwMode="auto">
          <a:xfrm>
            <a:off x="179388" y="188913"/>
            <a:ext cx="8713787" cy="6408737"/>
          </a:xfrm>
          <a:prstGeom prst="rect">
            <a:avLst/>
          </a:prstGeom>
          <a:noFill/>
          <a:ln>
            <a:noFill/>
          </a:ln>
          <a:effectLst>
            <a:outerShdw dist="38100" dir="5400000" algn="ctr" rotWithShape="0">
              <a:srgbClr val="303D17">
                <a:alpha val="48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p>
            <a:pPr marL="609600" indent="-609600" algn="ctr">
              <a:spcBef>
                <a:spcPct val="20000"/>
              </a:spcBef>
              <a:buFont typeface="Arial" pitchFamily="34" charset="0"/>
              <a:buNone/>
            </a:pPr>
            <a:endParaRPr lang="uz-Cyrl-UZ" sz="2400" b="1">
              <a:latin typeface="Times New Roman" pitchFamily="18" charset="0"/>
            </a:endParaRPr>
          </a:p>
        </p:txBody>
      </p:sp>
      <p:sp>
        <p:nvSpPr>
          <p:cNvPr id="12291" name="Rectangle 12"/>
          <p:cNvSpPr>
            <a:spLocks noChangeArrowheads="1"/>
          </p:cNvSpPr>
          <p:nvPr/>
        </p:nvSpPr>
        <p:spPr bwMode="auto">
          <a:xfrm>
            <a:off x="252413" y="190500"/>
            <a:ext cx="8496300" cy="430213"/>
          </a:xfrm>
          <a:prstGeom prst="rect">
            <a:avLst/>
          </a:prstGeom>
          <a:solidFill>
            <a:srgbClr val="CCFFCC"/>
          </a:solidFill>
          <a:ln w="9525">
            <a:solidFill>
              <a:schemeClr val="tx1"/>
            </a:solidFill>
            <a:miter lim="800000"/>
            <a:headEnd/>
            <a:tailEnd/>
          </a:ln>
        </p:spPr>
        <p:txBody>
          <a:bodyPr>
            <a:spAutoFit/>
          </a:bodyPr>
          <a:lstStyle/>
          <a:p>
            <a:pPr algn="ctr">
              <a:spcBef>
                <a:spcPct val="20000"/>
              </a:spcBef>
              <a:buFont typeface="Arial" pitchFamily="34" charset="0"/>
              <a:buNone/>
            </a:pPr>
            <a:r>
              <a:rPr lang="uz-Cyrl-UZ" altLang="uz-Cyrl-UZ" sz="2200" b="1">
                <a:latin typeface="Times New Roman" pitchFamily="18" charset="0"/>
              </a:rPr>
              <a:t>5.2. ЭРИ ни ҳақиқийлигини тасдиқлаш</a:t>
            </a:r>
          </a:p>
        </p:txBody>
      </p:sp>
      <p:sp>
        <p:nvSpPr>
          <p:cNvPr id="12292" name="Прямоугольник 3"/>
          <p:cNvSpPr>
            <a:spLocks noChangeArrowheads="1"/>
          </p:cNvSpPr>
          <p:nvPr/>
        </p:nvSpPr>
        <p:spPr bwMode="auto">
          <a:xfrm>
            <a:off x="71438" y="833438"/>
            <a:ext cx="8929687"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63638" indent="-1163638" algn="just">
              <a:spcAft>
                <a:spcPts val="1200"/>
              </a:spcAft>
            </a:pPr>
            <a:r>
              <a:rPr lang="ru-RU" sz="2200" b="1">
                <a:solidFill>
                  <a:srgbClr val="C00000"/>
                </a:solidFill>
                <a:latin typeface="Times New Roman" pitchFamily="18" charset="0"/>
                <a:cs typeface="Times New Roman" pitchFamily="18" charset="0"/>
              </a:rPr>
              <a:t>1–қадам:</a:t>
            </a:r>
            <a:r>
              <a:rPr lang="ru-RU" sz="2200">
                <a:latin typeface="Times New Roman" pitchFamily="18" charset="0"/>
                <a:cs typeface="Times New Roman" pitchFamily="18" charset="0"/>
              </a:rPr>
              <a:t> </a:t>
            </a:r>
            <a:r>
              <a:rPr lang="en-US" sz="2200" b="1" i="1">
                <a:latin typeface="Times New Roman" pitchFamily="18" charset="0"/>
                <a:cs typeface="Times New Roman" pitchFamily="18" charset="0"/>
              </a:rPr>
              <a:t>m</a:t>
            </a:r>
            <a:r>
              <a:rPr lang="ru-RU" sz="2200" b="1" i="1">
                <a:latin typeface="Times New Roman" pitchFamily="18" charset="0"/>
                <a:cs typeface="Times New Roman" pitchFamily="18" charset="0"/>
              </a:rPr>
              <a:t> = </a:t>
            </a:r>
            <a:r>
              <a:rPr lang="en-US" sz="2200" b="1" i="1">
                <a:latin typeface="Times New Roman" pitchFamily="18" charset="0"/>
                <a:cs typeface="Times New Roman" pitchFamily="18" charset="0"/>
              </a:rPr>
              <a:t>H</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M</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хэш – функцияни ҳисобланг;</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2–қадам: </a:t>
            </a:r>
            <a:r>
              <a:rPr lang="ru-RU" sz="2200">
                <a:latin typeface="Times New Roman" pitchFamily="18" charset="0"/>
                <a:cs typeface="Times New Roman" pitchFamily="18" charset="0"/>
              </a:rPr>
              <a:t>агар </a:t>
            </a:r>
            <a:r>
              <a:rPr lang="en-US" sz="2200" b="1" i="1">
                <a:latin typeface="Times New Roman" pitchFamily="18" charset="0"/>
                <a:cs typeface="Times New Roman" pitchFamily="18" charset="0"/>
              </a:rPr>
              <a:t>L</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s</a:t>
            </a:r>
            <a:r>
              <a:rPr lang="ru-RU" sz="2200" b="1" i="1">
                <a:latin typeface="Times New Roman" pitchFamily="18" charset="0"/>
                <a:cs typeface="Times New Roman" pitchFamily="18" charset="0"/>
              </a:rPr>
              <a:t>) ≤ </a:t>
            </a:r>
            <a:r>
              <a:rPr lang="en-US" sz="2200" b="1" i="1">
                <a:latin typeface="Times New Roman" pitchFamily="18" charset="0"/>
                <a:cs typeface="Times New Roman" pitchFamily="18" charset="0"/>
              </a:rPr>
              <a:t>L</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q</a:t>
            </a:r>
            <a:r>
              <a:rPr lang="ru-RU" sz="2200" b="1" i="1">
                <a:latin typeface="Times New Roman" pitchFamily="18" charset="0"/>
                <a:cs typeface="Times New Roman" pitchFamily="18" charset="0"/>
              </a:rPr>
              <a:t>) </a:t>
            </a:r>
            <a:r>
              <a:rPr lang="ru-RU" sz="2200">
                <a:latin typeface="Times New Roman" pitchFamily="18" charset="0"/>
                <a:cs typeface="Times New Roman" pitchFamily="18" charset="0"/>
              </a:rPr>
              <a:t>ва</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L</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 ≤ </a:t>
            </a:r>
            <a:r>
              <a:rPr lang="en-US" sz="2200" b="1" i="1">
                <a:latin typeface="Times New Roman" pitchFamily="18" charset="0"/>
                <a:cs typeface="Times New Roman" pitchFamily="18" charset="0"/>
              </a:rPr>
              <a:t>L</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бўлса, унда кейинги қадамга ўтинг, акс ҳолда «</a:t>
            </a:r>
            <a:r>
              <a:rPr lang="ru-RU" sz="2200" b="1">
                <a:solidFill>
                  <a:srgbClr val="FF3300"/>
                </a:solidFill>
                <a:latin typeface="Times New Roman" pitchFamily="18" charset="0"/>
                <a:cs typeface="Times New Roman" pitchFamily="18" charset="0"/>
              </a:rPr>
              <a:t>имзо ҳақиқий эмас</a:t>
            </a:r>
            <a:r>
              <a:rPr lang="ru-RU" sz="2200">
                <a:latin typeface="Times New Roman" pitchFamily="18" charset="0"/>
                <a:cs typeface="Times New Roman" pitchFamily="18" charset="0"/>
              </a:rPr>
              <a:t>»  қабул қилинади; </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3–қадам: </a:t>
            </a:r>
            <a:r>
              <a:rPr lang="en-US" sz="2200" b="1" i="1">
                <a:latin typeface="Times New Roman" pitchFamily="18" charset="0"/>
                <a:cs typeface="Times New Roman" pitchFamily="18" charset="0"/>
              </a:rPr>
              <a:t>R </a:t>
            </a:r>
            <a:r>
              <a:rPr lang="ru-RU" sz="2200">
                <a:latin typeface="Times New Roman" pitchFamily="18" charset="0"/>
                <a:cs typeface="Times New Roman" pitchFamily="18" charset="0"/>
              </a:rPr>
              <a:t>параметр билан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0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a:t>
            </a:r>
            <a:r>
              <a:rPr lang="en-US" sz="2200" b="1" i="1">
                <a:solidFill>
                  <a:srgbClr val="C00000"/>
                </a:solidFill>
                <a:latin typeface="Times New Roman" pitchFamily="18" charset="0"/>
                <a:cs typeface="Times New Roman" pitchFamily="18" charset="0"/>
              </a:rPr>
              <a:t>z</a:t>
            </a:r>
            <a:r>
              <a:rPr lang="ru-RU" sz="2200" b="1" i="1" baseline="30000">
                <a:latin typeface="Times New Roman" pitchFamily="18" charset="0"/>
                <a:cs typeface="Times New Roman" pitchFamily="18" charset="0"/>
              </a:rPr>
              <a:t>\</a:t>
            </a:r>
            <a:r>
              <a:rPr lang="en-US" sz="2200" b="1" i="1" baseline="30000">
                <a:latin typeface="Times New Roman" pitchFamily="18" charset="0"/>
                <a:cs typeface="Times New Roman" pitchFamily="18" charset="0"/>
              </a:rPr>
              <a:t>s</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 </a:t>
            </a:r>
            <a:r>
              <a:rPr lang="en-US" sz="2200" b="1" i="1">
                <a:latin typeface="Times New Roman" pitchFamily="18" charset="0"/>
                <a:cs typeface="Times New Roman" pitchFamily="18" charset="0"/>
              </a:rPr>
              <a:t>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 </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4–қадам: </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sym typeface="Symbol" pitchFamily="18" charset="2"/>
              </a:rPr>
              <a:t></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q</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 </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5–қадам: </a:t>
            </a:r>
            <a:r>
              <a:rPr lang="en-US" sz="2200" b="1" i="1">
                <a:latin typeface="Times New Roman" pitchFamily="18" charset="0"/>
                <a:cs typeface="Times New Roman" pitchFamily="18" charset="0"/>
              </a:rPr>
              <a:t>R </a:t>
            </a:r>
            <a:r>
              <a:rPr lang="ru-RU" sz="2200">
                <a:latin typeface="Times New Roman" pitchFamily="18" charset="0"/>
                <a:cs typeface="Times New Roman" pitchFamily="18" charset="0"/>
              </a:rPr>
              <a:t>параметр билан </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2</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a:t>
            </a:r>
            <a:r>
              <a:rPr lang="en-US" sz="2200" b="1" i="1">
                <a:solidFill>
                  <a:srgbClr val="C00000"/>
                </a:solidFill>
                <a:latin typeface="Times New Roman" pitchFamily="18" charset="0"/>
                <a:cs typeface="Times New Roman" pitchFamily="18" charset="0"/>
              </a:rPr>
              <a:t>y</a:t>
            </a:r>
            <a:r>
              <a:rPr lang="ru-RU" sz="2200" b="1" i="1" baseline="30000">
                <a:latin typeface="Times New Roman" pitchFamily="18" charset="0"/>
                <a:cs typeface="Times New Roman" pitchFamily="18" charset="0"/>
              </a:rPr>
              <a:t>\</a:t>
            </a:r>
            <a:r>
              <a:rPr lang="en-US" sz="2200" b="1" i="1" baseline="30000">
                <a:latin typeface="Times New Roman" pitchFamily="18" charset="0"/>
                <a:cs typeface="Times New Roman" pitchFamily="18" charset="0"/>
              </a:rPr>
              <a:t>r</a:t>
            </a:r>
            <a:r>
              <a:rPr lang="ru-RU" sz="2200" b="1" i="1" baseline="30000">
                <a:latin typeface="Times New Roman" pitchFamily="18" charset="0"/>
                <a:cs typeface="Times New Roman" pitchFamily="18" charset="0"/>
              </a:rPr>
              <a:t>’</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 </a:t>
            </a:r>
            <a:r>
              <a:rPr lang="ru-RU" sz="2200">
                <a:latin typeface="Times New Roman" pitchFamily="18" charset="0"/>
                <a:cs typeface="Times New Roman" pitchFamily="18" charset="0"/>
              </a:rPr>
              <a:t>ни ҳисобланг;</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6–қадам: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1</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z</a:t>
            </a:r>
            <a:r>
              <a:rPr lang="ru-RU" sz="2200" b="1" i="1" baseline="-25000">
                <a:latin typeface="Times New Roman" pitchFamily="18" charset="0"/>
                <a:cs typeface="Times New Roman" pitchFamily="18" charset="0"/>
              </a:rPr>
              <a:t>0</a:t>
            </a:r>
            <a:r>
              <a:rPr lang="ru-RU" sz="2200" b="1" i="1">
                <a:latin typeface="Times New Roman" pitchFamily="18" charset="0"/>
                <a:cs typeface="Times New Roman" pitchFamily="18" charset="0"/>
              </a:rPr>
              <a:t> + (1+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0</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2</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7–қадам: </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3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z</a:t>
            </a:r>
            <a:r>
              <a:rPr lang="ru-RU" sz="2200" b="1" i="1" baseline="-25000">
                <a:latin typeface="Times New Roman" pitchFamily="18" charset="0"/>
                <a:cs typeface="Times New Roman" pitchFamily="18" charset="0"/>
              </a:rPr>
              <a:t>1 </a:t>
            </a:r>
            <a:r>
              <a:rPr lang="ru-RU" sz="2200" b="1" i="1">
                <a:latin typeface="Times New Roman" pitchFamily="18" charset="0"/>
                <a:cs typeface="Times New Roman" pitchFamily="18" charset="0"/>
              </a:rPr>
              <a:t>+ (1+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1</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163638" indent="-1163638" algn="just">
              <a:spcAft>
                <a:spcPts val="1200"/>
              </a:spcAft>
            </a:pPr>
            <a:r>
              <a:rPr lang="ru-RU" sz="2200" b="1">
                <a:solidFill>
                  <a:srgbClr val="C00000"/>
                </a:solidFill>
                <a:latin typeface="Times New Roman" pitchFamily="18" charset="0"/>
                <a:cs typeface="Times New Roman" pitchFamily="18" charset="0"/>
              </a:rPr>
              <a:t>8–қадам:  </a:t>
            </a:r>
            <a:r>
              <a:rPr lang="ru-RU" sz="2200">
                <a:latin typeface="Times New Roman" pitchFamily="18" charset="0"/>
                <a:cs typeface="Times New Roman" pitchFamily="18" charset="0"/>
              </a:rPr>
              <a:t>агар </a:t>
            </a:r>
            <a:r>
              <a:rPr lang="ru-RU" sz="2200" b="1" i="1">
                <a:latin typeface="Times New Roman" pitchFamily="18" charset="0"/>
                <a:cs typeface="Times New Roman" pitchFamily="18" charset="0"/>
                <a:sym typeface="Symbol" pitchFamily="18" charset="2"/>
              </a:rPr>
              <a:t></a:t>
            </a:r>
            <a:r>
              <a:rPr lang="ru-RU" sz="2200" b="1" i="1">
                <a:latin typeface="Times New Roman" pitchFamily="18" charset="0"/>
                <a:cs typeface="Times New Roman" pitchFamily="18" charset="0"/>
              </a:rPr>
              <a:t> = 0</a:t>
            </a:r>
            <a:r>
              <a:rPr lang="ru-RU" sz="2200">
                <a:latin typeface="Times New Roman" pitchFamily="18" charset="0"/>
                <a:cs typeface="Times New Roman" pitchFamily="18" charset="0"/>
              </a:rPr>
              <a:t> ва </a:t>
            </a:r>
            <a:r>
              <a:rPr lang="en-US" sz="2200" b="1" i="1">
                <a:latin typeface="Times New Roman" pitchFamily="18" charset="0"/>
                <a:cs typeface="Times New Roman" pitchFamily="18" charset="0"/>
              </a:rPr>
              <a:t>m</a:t>
            </a:r>
            <a:r>
              <a:rPr lang="ru-RU" sz="2200" b="1" i="1">
                <a:latin typeface="Times New Roman" pitchFamily="18" charset="0"/>
                <a:cs typeface="Times New Roman" pitchFamily="18" charset="0"/>
              </a:rPr>
              <a:t> = </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3</a:t>
            </a:r>
            <a:r>
              <a:rPr lang="ru-RU" sz="2200">
                <a:latin typeface="Times New Roman" pitchFamily="18" charset="0"/>
                <a:cs typeface="Times New Roman" pitchFamily="18" charset="0"/>
              </a:rPr>
              <a:t> бўлса,  унда чиқишга “</a:t>
            </a:r>
            <a:r>
              <a:rPr lang="ru-RU" sz="2200" b="1">
                <a:solidFill>
                  <a:srgbClr val="FF3300"/>
                </a:solidFill>
                <a:latin typeface="Times New Roman" pitchFamily="18" charset="0"/>
                <a:cs typeface="Times New Roman" pitchFamily="18" charset="0"/>
              </a:rPr>
              <a:t>имзо ҳақиқий</a:t>
            </a:r>
            <a:r>
              <a:rPr lang="ru-RU" sz="2200">
                <a:latin typeface="Times New Roman" pitchFamily="18" charset="0"/>
                <a:cs typeface="Times New Roman" pitchFamily="18" charset="0"/>
              </a:rPr>
              <a:t>” ни </a:t>
            </a:r>
            <a:r>
              <a:rPr lang="uz-Cyrl-UZ" sz="2200">
                <a:latin typeface="Times New Roman" pitchFamily="18" charset="0"/>
                <a:cs typeface="Times New Roman" pitchFamily="18" charset="0"/>
              </a:rPr>
              <a:t>б</a:t>
            </a:r>
            <a:r>
              <a:rPr lang="ru-RU" sz="2200">
                <a:latin typeface="Times New Roman" pitchFamily="18" charset="0"/>
                <a:cs typeface="Times New Roman" pitchFamily="18" charset="0"/>
              </a:rPr>
              <a:t>еринг</a:t>
            </a:r>
            <a:r>
              <a:rPr lang="uz-Cyrl-UZ" sz="2200">
                <a:latin typeface="Times New Roman" pitchFamily="18" charset="0"/>
                <a:cs typeface="Times New Roman" pitchFamily="18" charset="0"/>
              </a:rPr>
              <a:t>;</a:t>
            </a:r>
            <a:r>
              <a:rPr lang="ru-RU" sz="2200">
                <a:latin typeface="Times New Roman" pitchFamily="18" charset="0"/>
                <a:cs typeface="Times New Roman" pitchFamily="18" charset="0"/>
              </a:rPr>
              <a:t> агар </a:t>
            </a:r>
            <a:r>
              <a:rPr lang="ru-RU" sz="2200" b="1" i="1">
                <a:latin typeface="Times New Roman" pitchFamily="18" charset="0"/>
                <a:cs typeface="Times New Roman" pitchFamily="18" charset="0"/>
                <a:sym typeface="Symbol" pitchFamily="18" charset="2"/>
              </a:rPr>
              <a:t></a:t>
            </a:r>
            <a:r>
              <a:rPr lang="ru-RU" sz="2200" b="1" i="1">
                <a:latin typeface="Times New Roman" pitchFamily="18" charset="0"/>
                <a:cs typeface="Times New Roman" pitchFamily="18" charset="0"/>
              </a:rPr>
              <a:t> = 1 </a:t>
            </a:r>
            <a:r>
              <a:rPr lang="ru-RU" sz="2200">
                <a:latin typeface="Times New Roman" pitchFamily="18" charset="0"/>
                <a:cs typeface="Times New Roman" pitchFamily="18" charset="0"/>
              </a:rPr>
              <a:t>ва </a:t>
            </a:r>
            <a:r>
              <a:rPr lang="en-US" sz="2200" b="1" i="1">
                <a:latin typeface="Times New Roman" pitchFamily="18" charset="0"/>
                <a:cs typeface="Times New Roman" pitchFamily="18" charset="0"/>
              </a:rPr>
              <a:t>m</a:t>
            </a:r>
            <a:r>
              <a:rPr lang="ru-RU" sz="2200" b="1" i="1">
                <a:latin typeface="Times New Roman" pitchFamily="18" charset="0"/>
                <a:cs typeface="Times New Roman" pitchFamily="18" charset="0"/>
              </a:rPr>
              <a:t> = </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3</a:t>
            </a:r>
            <a:r>
              <a:rPr lang="ru-RU" sz="2200">
                <a:latin typeface="Times New Roman" pitchFamily="18" charset="0"/>
                <a:cs typeface="Times New Roman" pitchFamily="18" charset="0"/>
              </a:rPr>
              <a:t>, унда кейинги қадамга ўтинг, агар </a:t>
            </a:r>
            <a:r>
              <a:rPr lang="en-US" sz="2200" b="1" i="1">
                <a:latin typeface="Times New Roman" pitchFamily="18" charset="0"/>
                <a:cs typeface="Times New Roman" pitchFamily="18" charset="0"/>
              </a:rPr>
              <a:t>m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y</a:t>
            </a:r>
            <a:r>
              <a:rPr lang="ru-RU" sz="2200" b="1" i="1" baseline="-25000">
                <a:latin typeface="Times New Roman" pitchFamily="18" charset="0"/>
                <a:cs typeface="Times New Roman" pitchFamily="18" charset="0"/>
              </a:rPr>
              <a:t>3</a:t>
            </a:r>
            <a:r>
              <a:rPr lang="ru-RU" sz="2200">
                <a:latin typeface="Times New Roman" pitchFamily="18" charset="0"/>
                <a:cs typeface="Times New Roman" pitchFamily="18" charset="0"/>
              </a:rPr>
              <a:t>, унда «</a:t>
            </a:r>
            <a:r>
              <a:rPr lang="ru-RU" sz="2200" b="1">
                <a:solidFill>
                  <a:srgbClr val="FF3300"/>
                </a:solidFill>
                <a:latin typeface="Times New Roman" pitchFamily="18" charset="0"/>
                <a:cs typeface="Times New Roman" pitchFamily="18" charset="0"/>
              </a:rPr>
              <a:t>имзо ҳақиқий эмас</a:t>
            </a:r>
            <a:r>
              <a:rPr lang="ru-RU" sz="2200">
                <a:latin typeface="Times New Roman" pitchFamily="18" charset="0"/>
                <a:cs typeface="Times New Roman" pitchFamily="18" charset="0"/>
              </a:rPr>
              <a:t>»</a:t>
            </a:r>
            <a:r>
              <a:rPr lang="ru-RU" sz="2200" baseline="-25000">
                <a:latin typeface="Times New Roman" pitchFamily="18" charset="0"/>
                <a:cs typeface="Times New Roman" pitchFamily="18" charset="0"/>
              </a:rPr>
              <a:t> </a:t>
            </a:r>
            <a:r>
              <a:rPr lang="ru-RU" sz="2200">
                <a:latin typeface="Times New Roman" pitchFamily="18" charset="0"/>
                <a:cs typeface="Times New Roman" pitchFamily="18" charset="0"/>
              </a:rPr>
              <a:t> қабул қилинади;</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Содержимое 2"/>
          <p:cNvSpPr>
            <a:spLocks/>
          </p:cNvSpPr>
          <p:nvPr/>
        </p:nvSpPr>
        <p:spPr bwMode="auto">
          <a:xfrm>
            <a:off x="179388" y="188913"/>
            <a:ext cx="8713787" cy="6408737"/>
          </a:xfrm>
          <a:prstGeom prst="rect">
            <a:avLst/>
          </a:prstGeom>
          <a:noFill/>
          <a:ln>
            <a:noFill/>
          </a:ln>
          <a:effectLst>
            <a:outerShdw dist="38100" dir="5400000" algn="ctr" rotWithShape="0">
              <a:srgbClr val="303D17">
                <a:alpha val="48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p>
            <a:pPr marL="609600" indent="-609600" algn="ctr">
              <a:spcBef>
                <a:spcPct val="20000"/>
              </a:spcBef>
              <a:buFont typeface="Arial" pitchFamily="34" charset="0"/>
              <a:buNone/>
            </a:pPr>
            <a:endParaRPr lang="uz-Cyrl-UZ" sz="2400" b="1">
              <a:latin typeface="Times New Roman" pitchFamily="18" charset="0"/>
            </a:endParaRPr>
          </a:p>
        </p:txBody>
      </p:sp>
      <p:sp>
        <p:nvSpPr>
          <p:cNvPr id="13315" name="Прямоугольник 3"/>
          <p:cNvSpPr>
            <a:spLocks noChangeArrowheads="1"/>
          </p:cNvSpPr>
          <p:nvPr/>
        </p:nvSpPr>
        <p:spPr bwMode="auto">
          <a:xfrm>
            <a:off x="71438" y="344488"/>
            <a:ext cx="8929687" cy="54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081088" indent="-1081088" algn="just">
              <a:spcAft>
                <a:spcPts val="1200"/>
              </a:spcAft>
            </a:pPr>
            <a:r>
              <a:rPr lang="uz-Cyrl-UZ" sz="2200" b="1">
                <a:solidFill>
                  <a:srgbClr val="C00000"/>
                </a:solidFill>
                <a:latin typeface="Times New Roman" pitchFamily="18" charset="0"/>
                <a:cs typeface="Times New Roman" pitchFamily="18" charset="0"/>
              </a:rPr>
              <a:t>9</a:t>
            </a:r>
            <a:r>
              <a:rPr lang="ru-RU" sz="2200" b="1">
                <a:solidFill>
                  <a:srgbClr val="C00000"/>
                </a:solidFill>
                <a:latin typeface="Times New Roman" pitchFamily="18" charset="0"/>
                <a:cs typeface="Times New Roman" pitchFamily="18" charset="0"/>
              </a:rPr>
              <a:t>–қадам: </a:t>
            </a:r>
            <a:r>
              <a:rPr lang="en-US" sz="2200" b="1" i="1">
                <a:latin typeface="Times New Roman" pitchFamily="18" charset="0"/>
                <a:cs typeface="Times New Roman" pitchFamily="18" charset="0"/>
              </a:rPr>
              <a:t>g</a:t>
            </a:r>
            <a:r>
              <a:rPr lang="ru-RU" sz="2200" b="1" i="1" baseline="-25000">
                <a:latin typeface="Times New Roman" pitchFamily="18" charset="0"/>
                <a:cs typeface="Times New Roman" pitchFamily="18" charset="0"/>
              </a:rPr>
              <a:t>3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z</a:t>
            </a:r>
            <a:r>
              <a:rPr lang="ru-RU" sz="2200" b="1" i="1" baseline="-25000">
                <a:latin typeface="Times New Roman" pitchFamily="18" charset="0"/>
                <a:cs typeface="Times New Roman" pitchFamily="18" charset="0"/>
              </a:rPr>
              <a:t>1</a:t>
            </a:r>
            <a:r>
              <a:rPr lang="en-US" sz="2200" b="1" i="1">
                <a:latin typeface="Times New Roman" pitchFamily="18" charset="0"/>
                <a:cs typeface="Times New Roman" pitchFamily="18" charset="0"/>
              </a:rPr>
              <a:t>R</a:t>
            </a:r>
            <a:r>
              <a:rPr lang="ru-RU" sz="2200" b="1" i="1" baseline="-25000">
                <a:latin typeface="Times New Roman" pitchFamily="18" charset="0"/>
                <a:cs typeface="Times New Roman" pitchFamily="18" charset="0"/>
              </a:rPr>
              <a:t>1</a:t>
            </a:r>
            <a:r>
              <a:rPr lang="ru-RU" sz="2200" b="1" i="1" baseline="30000">
                <a:latin typeface="Times New Roman" pitchFamily="18" charset="0"/>
                <a:cs typeface="Times New Roman" pitchFamily="18" charset="0"/>
              </a:rPr>
              <a:t>-1</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081088" indent="-1081088" algn="just">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0</a:t>
            </a:r>
            <a:r>
              <a:rPr lang="ru-RU" sz="2200" b="1">
                <a:solidFill>
                  <a:srgbClr val="C00000"/>
                </a:solidFill>
                <a:latin typeface="Times New Roman" pitchFamily="18" charset="0"/>
                <a:cs typeface="Times New Roman" pitchFamily="18" charset="0"/>
              </a:rPr>
              <a:t>–қадам: </a:t>
            </a:r>
            <a:r>
              <a:rPr lang="en-US" sz="2200" b="1" i="1">
                <a:latin typeface="Times New Roman" pitchFamily="18" charset="0"/>
                <a:cs typeface="Times New Roman" pitchFamily="18" charset="0"/>
              </a:rPr>
              <a:t>s</a:t>
            </a:r>
            <a:r>
              <a:rPr lang="ru-RU" sz="2200" b="1" i="1" baseline="-25000">
                <a:latin typeface="Times New Roman" pitchFamily="18" charset="0"/>
                <a:cs typeface="Times New Roman" pitchFamily="18" charset="0"/>
              </a:rPr>
              <a:t>1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sR</a:t>
            </a:r>
            <a:r>
              <a:rPr lang="ru-RU" sz="2200" b="1" i="1" baseline="-25000">
                <a:latin typeface="Times New Roman" pitchFamily="18" charset="0"/>
                <a:cs typeface="Times New Roman" pitchFamily="18" charset="0"/>
              </a:rPr>
              <a:t>1 </a:t>
            </a:r>
            <a:r>
              <a:rPr lang="ru-RU" sz="2200" b="1" i="1">
                <a:latin typeface="Times New Roman" pitchFamily="18" charset="0"/>
                <a:cs typeface="Times New Roman" pitchFamily="18" charset="0"/>
              </a:rPr>
              <a:t>(</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q</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081088" indent="-1081088" algn="just">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1</a:t>
            </a:r>
            <a:r>
              <a:rPr lang="ru-RU" sz="2200" b="1">
                <a:solidFill>
                  <a:srgbClr val="C00000"/>
                </a:solidFill>
                <a:latin typeface="Times New Roman" pitchFamily="18" charset="0"/>
                <a:cs typeface="Times New Roman" pitchFamily="18" charset="0"/>
              </a:rPr>
              <a:t>–қадам: </a:t>
            </a:r>
            <a:r>
              <a:rPr lang="en-US" sz="2200" b="1" i="1">
                <a:latin typeface="Times New Roman" pitchFamily="18" charset="0"/>
                <a:cs typeface="Times New Roman" pitchFamily="18" charset="0"/>
              </a:rPr>
              <a:t>r</a:t>
            </a:r>
            <a:r>
              <a:rPr lang="ru-RU" sz="2200" b="1" i="1" baseline="-25000">
                <a:latin typeface="Times New Roman" pitchFamily="18" charset="0"/>
                <a:cs typeface="Times New Roman" pitchFamily="18" charset="0"/>
              </a:rPr>
              <a:t>1</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R</a:t>
            </a:r>
            <a:r>
              <a:rPr lang="ru-RU" sz="2200" b="1" i="1" baseline="-25000">
                <a:latin typeface="Times New Roman" pitchFamily="18" charset="0"/>
                <a:cs typeface="Times New Roman" pitchFamily="18" charset="0"/>
              </a:rPr>
              <a:t>1 </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r</a:t>
            </a:r>
            <a:r>
              <a:rPr lang="ru-RU" sz="2200" b="1" i="1">
                <a:latin typeface="Times New Roman" pitchFamily="18" charset="0"/>
                <a:cs typeface="Times New Roman" pitchFamily="18" charset="0"/>
              </a:rPr>
              <a:t>’(1+ </a:t>
            </a:r>
            <a:r>
              <a:rPr lang="en-US" sz="2200" b="1" i="1">
                <a:latin typeface="Times New Roman" pitchFamily="18" charset="0"/>
                <a:cs typeface="Times New Roman" pitchFamily="18" charset="0"/>
              </a:rPr>
              <a:t>RR</a:t>
            </a:r>
            <a:r>
              <a:rPr lang="ru-RU" sz="2200" b="1" i="1" baseline="-25000">
                <a:latin typeface="Times New Roman" pitchFamily="18" charset="0"/>
                <a:cs typeface="Times New Roman" pitchFamily="18" charset="0"/>
              </a:rPr>
              <a:t>1</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q</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081088" indent="-1081088" algn="just">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2</a:t>
            </a:r>
            <a:r>
              <a:rPr lang="ru-RU" sz="2200" b="1">
                <a:solidFill>
                  <a:srgbClr val="C00000"/>
                </a:solidFill>
                <a:latin typeface="Times New Roman" pitchFamily="18" charset="0"/>
                <a:cs typeface="Times New Roman" pitchFamily="18" charset="0"/>
              </a:rPr>
              <a:t>–қадам: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2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a:t>
            </a:r>
            <a:r>
              <a:rPr lang="en-US" sz="2200" b="1" i="1">
                <a:solidFill>
                  <a:srgbClr val="C00000"/>
                </a:solidFill>
                <a:latin typeface="Times New Roman" pitchFamily="18" charset="0"/>
                <a:cs typeface="Times New Roman" pitchFamily="18" charset="0"/>
              </a:rPr>
              <a:t>z</a:t>
            </a:r>
            <a:r>
              <a:rPr lang="en-US" sz="2200" b="1" i="1">
                <a:latin typeface="Times New Roman" pitchFamily="18" charset="0"/>
                <a:cs typeface="Times New Roman" pitchFamily="18" charset="0"/>
              </a:rPr>
              <a:t>R</a:t>
            </a:r>
            <a:r>
              <a:rPr lang="ru-RU" sz="2200" b="1" i="1" baseline="-25000">
                <a:latin typeface="Times New Roman" pitchFamily="18" charset="0"/>
                <a:cs typeface="Times New Roman" pitchFamily="18" charset="0"/>
              </a:rPr>
              <a:t>1</a:t>
            </a:r>
            <a:r>
              <a:rPr lang="ru-RU" sz="2200" b="1" i="1" baseline="30000">
                <a:latin typeface="Times New Roman" pitchFamily="18" charset="0"/>
                <a:cs typeface="Times New Roman" pitchFamily="18" charset="0"/>
              </a:rPr>
              <a:t>-1</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081088" indent="-1081088" algn="just">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3</a:t>
            </a:r>
            <a:r>
              <a:rPr lang="ru-RU" sz="2200" b="1">
                <a:solidFill>
                  <a:srgbClr val="C00000"/>
                </a:solidFill>
                <a:latin typeface="Times New Roman" pitchFamily="18" charset="0"/>
                <a:cs typeface="Times New Roman" pitchFamily="18" charset="0"/>
              </a:rPr>
              <a:t>–қадам: </a:t>
            </a:r>
            <a:r>
              <a:rPr lang="uz-Cyrl-UZ" sz="2200" b="1" i="1">
                <a:latin typeface="Times New Roman" pitchFamily="18" charset="0"/>
                <a:cs typeface="Times New Roman" pitchFamily="18" charset="0"/>
              </a:rPr>
              <a:t>y</a:t>
            </a:r>
            <a:r>
              <a:rPr lang="uz-Cyrl-UZ" sz="2200" b="1" i="1" baseline="-25000">
                <a:latin typeface="Times New Roman" pitchFamily="18" charset="0"/>
                <a:cs typeface="Times New Roman" pitchFamily="18" charset="0"/>
              </a:rPr>
              <a:t>4 </a:t>
            </a:r>
            <a:r>
              <a:rPr lang="en-US" sz="2200" b="1" i="1">
                <a:latin typeface="Times New Roman" pitchFamily="18" charset="0"/>
                <a:cs typeface="Times New Roman" pitchFamily="18" charset="0"/>
                <a:sym typeface="Symbol" pitchFamily="18" charset="2"/>
              </a:rPr>
              <a:t></a:t>
            </a:r>
            <a:r>
              <a:rPr lang="uz-Cyrl-UZ" sz="2200" b="1" i="1">
                <a:latin typeface="Times New Roman" pitchFamily="18" charset="0"/>
                <a:cs typeface="Times New Roman" pitchFamily="18" charset="0"/>
              </a:rPr>
              <a:t> y</a:t>
            </a:r>
            <a:r>
              <a:rPr lang="uz-Cyrl-UZ" sz="2200" b="1" i="1" baseline="-25000">
                <a:latin typeface="Times New Roman" pitchFamily="18" charset="0"/>
                <a:cs typeface="Times New Roman" pitchFamily="18" charset="0"/>
              </a:rPr>
              <a:t>1 </a:t>
            </a:r>
            <a:r>
              <a:rPr lang="uz-Cyrl-UZ" sz="2200">
                <a:latin typeface="Times New Roman" pitchFamily="18" charset="0"/>
                <a:cs typeface="Times New Roman" pitchFamily="18" charset="0"/>
              </a:rPr>
              <a:t> </a:t>
            </a:r>
            <a:r>
              <a:rPr lang="ru-RU" sz="2200">
                <a:latin typeface="Times New Roman" pitchFamily="18" charset="0"/>
                <a:cs typeface="Times New Roman" pitchFamily="18" charset="0"/>
              </a:rPr>
              <a:t>ни </a:t>
            </a:r>
            <a:r>
              <a:rPr lang="uz-Cyrl-UZ" sz="2200">
                <a:latin typeface="Times New Roman" pitchFamily="18" charset="0"/>
                <a:cs typeface="Times New Roman" pitchFamily="18" charset="0"/>
              </a:rPr>
              <a:t>қабул қилинг</a:t>
            </a:r>
            <a:r>
              <a:rPr lang="ru-RU" sz="2200">
                <a:latin typeface="Times New Roman" pitchFamily="18" charset="0"/>
                <a:cs typeface="Times New Roman" pitchFamily="18" charset="0"/>
              </a:rPr>
              <a:t>;</a:t>
            </a:r>
            <a:endParaRPr lang="uz-Cyrl-UZ" sz="2200">
              <a:latin typeface="UZBEK_9597"/>
              <a:cs typeface="Times New Roman" pitchFamily="18" charset="0"/>
            </a:endParaRPr>
          </a:p>
          <a:p>
            <a:pPr marL="1081088" indent="-1081088" algn="just">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4</a:t>
            </a:r>
            <a:r>
              <a:rPr lang="ru-RU" sz="2200" b="1">
                <a:solidFill>
                  <a:srgbClr val="C00000"/>
                </a:solidFill>
                <a:latin typeface="Times New Roman" pitchFamily="18" charset="0"/>
                <a:cs typeface="Times New Roman" pitchFamily="18" charset="0"/>
              </a:rPr>
              <a:t>–қадам:</a:t>
            </a:r>
            <a:r>
              <a:rPr lang="ru-RU" sz="2200" b="1" i="1">
                <a:solidFill>
                  <a:srgbClr val="C00000"/>
                </a:solidFill>
                <a:latin typeface="Times New Roman" pitchFamily="18" charset="0"/>
                <a:cs typeface="Times New Roman" pitchFamily="18" charset="0"/>
              </a:rPr>
              <a:t> </a:t>
            </a:r>
            <a:r>
              <a:rPr lang="en-US" sz="2200" b="1" i="1">
                <a:latin typeface="Times New Roman" pitchFamily="18" charset="0"/>
                <a:cs typeface="Times New Roman" pitchFamily="18" charset="0"/>
              </a:rPr>
              <a:t>RR</a:t>
            </a:r>
            <a:r>
              <a:rPr lang="ru-RU" sz="2200" b="1" i="1" baseline="-25000">
                <a:latin typeface="Times New Roman" pitchFamily="18" charset="0"/>
                <a:cs typeface="Times New Roman" pitchFamily="18" charset="0"/>
              </a:rPr>
              <a:t>1 </a:t>
            </a:r>
            <a:r>
              <a:rPr lang="ru-RU" sz="2200">
                <a:latin typeface="Times New Roman" pitchFamily="18" charset="0"/>
                <a:cs typeface="Times New Roman" pitchFamily="18" charset="0"/>
              </a:rPr>
              <a:t>параметр билан</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3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z</a:t>
            </a:r>
            <a:r>
              <a:rPr lang="ru-RU" sz="2200" b="1" i="1" baseline="-25000">
                <a:latin typeface="Times New Roman" pitchFamily="18" charset="0"/>
                <a:cs typeface="Times New Roman" pitchFamily="18" charset="0"/>
              </a:rPr>
              <a:t>2</a:t>
            </a:r>
            <a:r>
              <a:rPr lang="ru-RU" sz="2200" b="1" i="1" baseline="30000">
                <a:latin typeface="Times New Roman" pitchFamily="18" charset="0"/>
                <a:cs typeface="Times New Roman" pitchFamily="18" charset="0"/>
              </a:rPr>
              <a:t>\</a:t>
            </a:r>
            <a:r>
              <a:rPr lang="en-US" sz="2200" b="1" i="1" baseline="30000">
                <a:latin typeface="Times New Roman" pitchFamily="18" charset="0"/>
                <a:cs typeface="Times New Roman" pitchFamily="18" charset="0"/>
              </a:rPr>
              <a:t>s</a:t>
            </a:r>
            <a:r>
              <a:rPr lang="ru-RU" sz="2200" b="1" i="1" baseline="30000">
                <a:latin typeface="Times New Roman" pitchFamily="18" charset="0"/>
                <a:cs typeface="Times New Roman" pitchFamily="18" charset="0"/>
              </a:rPr>
              <a:t>1 </a:t>
            </a:r>
            <a:r>
              <a:rPr lang="ru-RU" sz="2200" b="1" i="1">
                <a:latin typeface="Times New Roman" pitchFamily="18" charset="0"/>
                <a:cs typeface="Times New Roman" pitchFamily="18" charset="0"/>
              </a:rPr>
              <a:t>(</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081088" indent="-1081088" algn="just">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5</a:t>
            </a:r>
            <a:r>
              <a:rPr lang="ru-RU" sz="2200" b="1">
                <a:solidFill>
                  <a:srgbClr val="C00000"/>
                </a:solidFill>
                <a:latin typeface="Times New Roman" pitchFamily="18" charset="0"/>
                <a:cs typeface="Times New Roman" pitchFamily="18" charset="0"/>
              </a:rPr>
              <a:t>–қадам: </a:t>
            </a:r>
            <a:r>
              <a:rPr lang="en-US" sz="2200" b="1" i="1">
                <a:latin typeface="Times New Roman" pitchFamily="18" charset="0"/>
                <a:cs typeface="Times New Roman" pitchFamily="18" charset="0"/>
              </a:rPr>
              <a:t>RR</a:t>
            </a:r>
            <a:r>
              <a:rPr lang="ru-RU" sz="2200" b="1" i="1" baseline="-25000">
                <a:latin typeface="Times New Roman" pitchFamily="18" charset="0"/>
                <a:cs typeface="Times New Roman" pitchFamily="18" charset="0"/>
              </a:rPr>
              <a:t>1  </a:t>
            </a:r>
            <a:r>
              <a:rPr lang="ru-RU" sz="2200">
                <a:latin typeface="Times New Roman" pitchFamily="18" charset="0"/>
                <a:cs typeface="Times New Roman" pitchFamily="18" charset="0"/>
              </a:rPr>
              <a:t>параметр билан</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5  </a:t>
            </a:r>
            <a:r>
              <a:rPr lang="en-US" sz="2200" b="1" i="1">
                <a:latin typeface="Times New Roman" pitchFamily="18" charset="0"/>
                <a:cs typeface="Times New Roman" pitchFamily="18" charset="0"/>
                <a:sym typeface="Symbol" pitchFamily="18" charset="2"/>
              </a:rPr>
              <a:t></a:t>
            </a:r>
            <a:r>
              <a:rPr lang="en-US" sz="2200" b="1" i="1">
                <a:latin typeface="Times New Roman" pitchFamily="18" charset="0"/>
                <a:cs typeface="Times New Roman" pitchFamily="18" charset="0"/>
              </a:rPr>
              <a:t> y</a:t>
            </a:r>
            <a:r>
              <a:rPr lang="ru-RU" sz="2200" b="1" i="1" baseline="-25000">
                <a:latin typeface="Times New Roman" pitchFamily="18" charset="0"/>
                <a:cs typeface="Times New Roman" pitchFamily="18" charset="0"/>
              </a:rPr>
              <a:t>4</a:t>
            </a:r>
            <a:r>
              <a:rPr lang="ru-RU" sz="2200" b="1" i="1" baseline="30000">
                <a:latin typeface="Times New Roman" pitchFamily="18" charset="0"/>
                <a:cs typeface="Times New Roman" pitchFamily="18" charset="0"/>
              </a:rPr>
              <a:t>\</a:t>
            </a:r>
            <a:r>
              <a:rPr lang="en-US" sz="2200" b="1" i="1" baseline="30000">
                <a:latin typeface="Times New Roman" pitchFamily="18" charset="0"/>
                <a:cs typeface="Times New Roman" pitchFamily="18" charset="0"/>
              </a:rPr>
              <a:t>r</a:t>
            </a:r>
            <a:r>
              <a:rPr lang="ru-RU" sz="2200" b="1" i="1" baseline="30000">
                <a:latin typeface="Times New Roman" pitchFamily="18" charset="0"/>
                <a:cs typeface="Times New Roman" pitchFamily="18" charset="0"/>
              </a:rPr>
              <a:t>1 </a:t>
            </a:r>
            <a:r>
              <a:rPr lang="ru-RU" sz="2200" b="1" i="1">
                <a:latin typeface="Times New Roman" pitchFamily="18" charset="0"/>
                <a:cs typeface="Times New Roman" pitchFamily="18" charset="0"/>
              </a:rPr>
              <a:t>(</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UZBEK_9597"/>
              <a:cs typeface="Times New Roman" pitchFamily="18" charset="0"/>
            </a:endParaRPr>
          </a:p>
          <a:p>
            <a:pPr marL="1081088" indent="-1081088" algn="just">
              <a:lnSpc>
                <a:spcPct val="175000"/>
              </a:lnSpc>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6</a:t>
            </a:r>
            <a:r>
              <a:rPr lang="ru-RU" sz="2200" b="1">
                <a:solidFill>
                  <a:srgbClr val="C00000"/>
                </a:solidFill>
                <a:latin typeface="Times New Roman" pitchFamily="18" charset="0"/>
                <a:cs typeface="Times New Roman" pitchFamily="18" charset="0"/>
              </a:rPr>
              <a:t>–қадам: </a:t>
            </a:r>
            <a:r>
              <a:rPr lang="en-US" sz="2200" b="1" i="1">
                <a:latin typeface="Times New Roman" pitchFamily="18" charset="0"/>
                <a:cs typeface="Times New Roman" pitchFamily="18" charset="0"/>
              </a:rPr>
              <a:t>g</a:t>
            </a:r>
            <a:r>
              <a:rPr lang="ru-RU" sz="2200" b="1" i="1" baseline="-25000">
                <a:latin typeface="Times New Roman" pitchFamily="18" charset="0"/>
                <a:cs typeface="Times New Roman" pitchFamily="18" charset="0"/>
              </a:rPr>
              <a:t>4  </a:t>
            </a:r>
            <a:r>
              <a:rPr lang="en-US" sz="2200" b="1" i="1">
                <a:latin typeface="Times New Roman" pitchFamily="18" charset="0"/>
                <a:cs typeface="Times New Roman" pitchFamily="18" charset="0"/>
                <a:sym typeface="Symbol" pitchFamily="18" charset="2"/>
              </a:rPr>
              <a:t></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3  </a:t>
            </a:r>
            <a:r>
              <a:rPr lang="ru-RU" sz="2200" b="1" i="1">
                <a:latin typeface="Times New Roman" pitchFamily="18" charset="0"/>
                <a:cs typeface="Times New Roman" pitchFamily="18" charset="0"/>
              </a:rPr>
              <a:t>+ (1+</a:t>
            </a:r>
            <a:r>
              <a:rPr lang="ru-RU" sz="2200" b="1" i="1" baseline="-25000">
                <a:latin typeface="Times New Roman" pitchFamily="18" charset="0"/>
                <a:cs typeface="Times New Roman" pitchFamily="18" charset="0"/>
              </a:rPr>
              <a:t> </a:t>
            </a:r>
            <a:r>
              <a:rPr lang="en-US" sz="2200" b="1" i="1">
                <a:latin typeface="Times New Roman" pitchFamily="18" charset="0"/>
                <a:cs typeface="Times New Roman" pitchFamily="18" charset="0"/>
              </a:rPr>
              <a:t>z</a:t>
            </a:r>
            <a:r>
              <a:rPr lang="ru-RU" sz="2200" b="1" i="1" baseline="-25000">
                <a:latin typeface="Times New Roman" pitchFamily="18" charset="0"/>
                <a:cs typeface="Times New Roman" pitchFamily="18" charset="0"/>
              </a:rPr>
              <a:t>3</a:t>
            </a:r>
            <a:r>
              <a:rPr lang="en-US" sz="2200" b="1" i="1">
                <a:latin typeface="Times New Roman" pitchFamily="18" charset="0"/>
                <a:cs typeface="Times New Roman" pitchFamily="18" charset="0"/>
              </a:rPr>
              <a:t>RR</a:t>
            </a:r>
            <a:r>
              <a:rPr lang="ru-RU" sz="2200" b="1" i="1" baseline="-25000">
                <a:latin typeface="Times New Roman" pitchFamily="18" charset="0"/>
                <a:cs typeface="Times New Roman" pitchFamily="18" charset="0"/>
              </a:rPr>
              <a:t>1</a:t>
            </a:r>
            <a:r>
              <a:rPr lang="ru-RU" sz="2200" b="1" i="1">
                <a:latin typeface="Times New Roman" pitchFamily="18" charset="0"/>
                <a:cs typeface="Times New Roman" pitchFamily="18" charset="0"/>
              </a:rPr>
              <a:t>)</a:t>
            </a:r>
            <a:r>
              <a:rPr lang="en-US" sz="2200" b="1" i="1">
                <a:latin typeface="Times New Roman" pitchFamily="18" charset="0"/>
                <a:cs typeface="Times New Roman" pitchFamily="18" charset="0"/>
              </a:rPr>
              <a:t>y</a:t>
            </a:r>
            <a:r>
              <a:rPr lang="ru-RU" sz="2200" b="1" i="1" baseline="-25000">
                <a:latin typeface="Times New Roman" pitchFamily="18" charset="0"/>
                <a:cs typeface="Times New Roman" pitchFamily="18" charset="0"/>
              </a:rPr>
              <a:t>5</a:t>
            </a:r>
            <a:r>
              <a:rPr lang="ru-RU" sz="2200" b="1" i="1">
                <a:latin typeface="Times New Roman" pitchFamily="18" charset="0"/>
                <a:cs typeface="Times New Roman" pitchFamily="18" charset="0"/>
              </a:rPr>
              <a:t> (</a:t>
            </a:r>
            <a:r>
              <a:rPr lang="en-US" sz="2200">
                <a:latin typeface="Times New Roman" pitchFamily="18" charset="0"/>
                <a:cs typeface="Times New Roman" pitchFamily="18" charset="0"/>
              </a:rPr>
              <a:t>mod</a:t>
            </a:r>
            <a:r>
              <a:rPr lang="en-US" sz="2200" b="1" i="1">
                <a:latin typeface="Times New Roman" pitchFamily="18" charset="0"/>
                <a:cs typeface="Times New Roman" pitchFamily="18" charset="0"/>
              </a:rPr>
              <a:t> p</a:t>
            </a:r>
            <a:r>
              <a:rPr lang="ru-RU" sz="2200" b="1" i="1">
                <a:latin typeface="Times New Roman" pitchFamily="18" charset="0"/>
                <a:cs typeface="Times New Roman" pitchFamily="18" charset="0"/>
              </a:rPr>
              <a:t>)</a:t>
            </a:r>
            <a:r>
              <a:rPr lang="ru-RU" sz="2200">
                <a:latin typeface="Times New Roman" pitchFamily="18" charset="0"/>
                <a:cs typeface="Times New Roman" pitchFamily="18" charset="0"/>
              </a:rPr>
              <a:t> ни ҳисобланг;</a:t>
            </a:r>
            <a:endParaRPr lang="uz-Cyrl-UZ" sz="2200">
              <a:latin typeface="Times New Roman" pitchFamily="18" charset="0"/>
              <a:cs typeface="Times New Roman" pitchFamily="18" charset="0"/>
            </a:endParaRPr>
          </a:p>
          <a:p>
            <a:pPr marL="1081088" indent="-1081088" algn="just">
              <a:lnSpc>
                <a:spcPct val="175000"/>
              </a:lnSpc>
              <a:spcAft>
                <a:spcPts val="1200"/>
              </a:spcAft>
            </a:pPr>
            <a:r>
              <a:rPr lang="ru-RU" sz="2200" b="1">
                <a:solidFill>
                  <a:srgbClr val="C00000"/>
                </a:solidFill>
                <a:latin typeface="Times New Roman" pitchFamily="18" charset="0"/>
                <a:cs typeface="Times New Roman" pitchFamily="18" charset="0"/>
              </a:rPr>
              <a:t>1</a:t>
            </a:r>
            <a:r>
              <a:rPr lang="uz-Cyrl-UZ" sz="2200" b="1">
                <a:solidFill>
                  <a:srgbClr val="C00000"/>
                </a:solidFill>
                <a:latin typeface="Times New Roman" pitchFamily="18" charset="0"/>
                <a:cs typeface="Times New Roman" pitchFamily="18" charset="0"/>
              </a:rPr>
              <a:t>7</a:t>
            </a:r>
            <a:r>
              <a:rPr lang="ru-RU" sz="2200" b="1">
                <a:solidFill>
                  <a:srgbClr val="C00000"/>
                </a:solidFill>
                <a:latin typeface="Times New Roman" pitchFamily="18" charset="0"/>
                <a:cs typeface="Times New Roman" pitchFamily="18" charset="0"/>
              </a:rPr>
              <a:t>–қадам:  </a:t>
            </a:r>
            <a:r>
              <a:rPr lang="ru-RU" sz="2200">
                <a:latin typeface="Times New Roman" pitchFamily="18" charset="0"/>
                <a:cs typeface="Times New Roman" pitchFamily="18" charset="0"/>
              </a:rPr>
              <a:t>агар </a:t>
            </a:r>
            <a:r>
              <a:rPr lang="en-US" sz="2200" b="1" i="1">
                <a:latin typeface="Times New Roman" pitchFamily="18" charset="0"/>
                <a:cs typeface="Times New Roman" pitchFamily="18" charset="0"/>
              </a:rPr>
              <a:t>g</a:t>
            </a:r>
            <a:r>
              <a:rPr lang="ru-RU" sz="2200" b="1" i="1" baseline="-25000">
                <a:latin typeface="Times New Roman" pitchFamily="18" charset="0"/>
                <a:cs typeface="Times New Roman" pitchFamily="18" charset="0"/>
              </a:rPr>
              <a:t>3 </a:t>
            </a:r>
            <a:r>
              <a:rPr lang="ru-RU" sz="2200" b="1" i="1">
                <a:latin typeface="Times New Roman" pitchFamily="18" charset="0"/>
                <a:cs typeface="Times New Roman" pitchFamily="18" charset="0"/>
              </a:rPr>
              <a:t>= </a:t>
            </a:r>
            <a:r>
              <a:rPr lang="en-US" sz="2200" b="1" i="1">
                <a:latin typeface="Times New Roman" pitchFamily="18" charset="0"/>
                <a:cs typeface="Times New Roman" pitchFamily="18" charset="0"/>
              </a:rPr>
              <a:t>g</a:t>
            </a:r>
            <a:r>
              <a:rPr lang="ru-RU" sz="2200" b="1" i="1" baseline="-25000">
                <a:latin typeface="Times New Roman" pitchFamily="18" charset="0"/>
                <a:cs typeface="Times New Roman" pitchFamily="18" charset="0"/>
              </a:rPr>
              <a:t>4</a:t>
            </a:r>
            <a:r>
              <a:rPr lang="ru-RU" sz="2200">
                <a:latin typeface="Times New Roman" pitchFamily="18" charset="0"/>
                <a:cs typeface="Times New Roman" pitchFamily="18" charset="0"/>
              </a:rPr>
              <a:t>, унда “</a:t>
            </a:r>
            <a:r>
              <a:rPr lang="ru-RU" sz="2200" b="1">
                <a:solidFill>
                  <a:srgbClr val="FF3300"/>
                </a:solidFill>
                <a:latin typeface="Times New Roman" pitchFamily="18" charset="0"/>
                <a:cs typeface="Times New Roman" pitchFamily="18" charset="0"/>
              </a:rPr>
              <a:t>имзо ҳақиқий</a:t>
            </a:r>
            <a:r>
              <a:rPr lang="ru-RU" sz="2200">
                <a:latin typeface="Times New Roman" pitchFamily="18" charset="0"/>
                <a:cs typeface="Times New Roman" pitchFamily="18" charset="0"/>
              </a:rPr>
              <a:t>” </a:t>
            </a:r>
            <a:r>
              <a:rPr lang="uz-Cyrl-UZ" sz="2200">
                <a:latin typeface="Times New Roman" pitchFamily="18" charset="0"/>
                <a:cs typeface="Times New Roman" pitchFamily="18" charset="0"/>
              </a:rPr>
              <a:t>қабул қилинади</a:t>
            </a:r>
            <a:r>
              <a:rPr lang="ru-RU" sz="2200">
                <a:latin typeface="Times New Roman" pitchFamily="18" charset="0"/>
                <a:cs typeface="Times New Roman" pitchFamily="18" charset="0"/>
              </a:rPr>
              <a:t>, акс ҳолда “</a:t>
            </a:r>
            <a:r>
              <a:rPr lang="ru-RU" sz="2200" b="1">
                <a:solidFill>
                  <a:srgbClr val="FF3300"/>
                </a:solidFill>
                <a:latin typeface="Times New Roman" pitchFamily="18" charset="0"/>
                <a:cs typeface="Times New Roman" pitchFamily="18" charset="0"/>
              </a:rPr>
              <a:t>имзо ҳақиқий эмас</a:t>
            </a:r>
            <a:r>
              <a:rPr lang="ru-RU" sz="2200">
                <a:latin typeface="Times New Roman" pitchFamily="18" charset="0"/>
                <a:cs typeface="Times New Roman" pitchFamily="18" charset="0"/>
              </a:rPr>
              <a:t>” қабул қилин</a:t>
            </a:r>
            <a:r>
              <a:rPr lang="uz-Cyrl-UZ" sz="2200">
                <a:latin typeface="Times New Roman" pitchFamily="18" charset="0"/>
                <a:cs typeface="Times New Roman" pitchFamily="18" charset="0"/>
              </a:rPr>
              <a:t>ади</a:t>
            </a:r>
            <a:r>
              <a:rPr lang="ru-RU" sz="2200">
                <a:latin typeface="Times New Roman" pitchFamily="18" charset="0"/>
                <a:cs typeface="Times New Roman" pitchFamily="18" charset="0"/>
              </a:rPr>
              <a:t>.</a:t>
            </a:r>
            <a:endParaRPr lang="uz-Cyrl-UZ" sz="220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Поток">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2880</TotalTime>
  <Words>1408</Words>
  <Application>Microsoft Office PowerPoint</Application>
  <PresentationFormat>Экран (4:3)</PresentationFormat>
  <Paragraphs>109</Paragraphs>
  <Slides>12</Slides>
  <Notes>12</Notes>
  <HiddenSlides>0</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1</vt:i4>
      </vt:variant>
      <vt:variant>
        <vt:lpstr>Заголовки слайдов</vt:lpstr>
      </vt:variant>
      <vt:variant>
        <vt:i4>12</vt:i4>
      </vt:variant>
    </vt:vector>
  </HeadingPairs>
  <TitlesOfParts>
    <vt:vector size="21" baseType="lpstr">
      <vt:lpstr>Arial</vt:lpstr>
      <vt:lpstr>Calibri</vt:lpstr>
      <vt:lpstr>Times New Roman</vt:lpstr>
      <vt:lpstr>PANDA Times UZ</vt:lpstr>
      <vt:lpstr>Symbol</vt:lpstr>
      <vt:lpstr>Academy</vt:lpstr>
      <vt:lpstr>UZBEK_9597</vt:lpstr>
      <vt:lpstr>Тема Office</vt:lpstr>
      <vt:lpstr>Microsoft Equation 3.0</vt:lpstr>
      <vt:lpstr>ЎЗБЕКИСТОН ДАВЛАТ СТАНДАРТИ O’z Dst 1092:2009 Ахборот технологияси АХБОРОТНИНГ КРИПТОГРАФИК МУҲОФАЗАСИ Электрон рақамли имзони шакллантириш ва текшириш жараёнлари (28.09.2009 йилда тасдиқланган ва амалги киритилган)</vt:lpstr>
      <vt:lpstr>1. Умумий қоидалар </vt:lpstr>
      <vt:lpstr>Презентация PowerPoint</vt:lpstr>
      <vt:lpstr>Презентация PowerPoint</vt:lpstr>
      <vt:lpstr>Презентация PowerPoint</vt:lpstr>
      <vt:lpstr>4. Электрон рақамли имзо алгоритмининг параметрлари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WareZ Provider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АСИММЕТРИК ШИФРЛАШ АЛГОРИТМИ ЭЛ - ГАМАЛЬ</dc:title>
  <dc:creator>Muhiddin</dc:creator>
  <cp:lastModifiedBy>Microsoft Office</cp:lastModifiedBy>
  <cp:revision>606</cp:revision>
  <dcterms:created xsi:type="dcterms:W3CDTF">2007-12-27T03:29:38Z</dcterms:created>
  <dcterms:modified xsi:type="dcterms:W3CDTF">2021-03-18T03:44:30Z</dcterms:modified>
</cp:coreProperties>
</file>