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78" r:id="rId2"/>
    <p:sldId id="310" r:id="rId3"/>
    <p:sldId id="282" r:id="rId4"/>
    <p:sldId id="283" r:id="rId5"/>
    <p:sldId id="284" r:id="rId6"/>
    <p:sldId id="286" r:id="rId7"/>
    <p:sldId id="287" r:id="rId8"/>
    <p:sldId id="288" r:id="rId9"/>
    <p:sldId id="289" r:id="rId10"/>
    <p:sldId id="257" r:id="rId11"/>
    <p:sldId id="258" r:id="rId12"/>
    <p:sldId id="259" r:id="rId13"/>
    <p:sldId id="260" r:id="rId14"/>
    <p:sldId id="261" r:id="rId15"/>
    <p:sldId id="295" r:id="rId16"/>
    <p:sldId id="262" r:id="rId17"/>
    <p:sldId id="263" r:id="rId18"/>
    <p:sldId id="290" r:id="rId19"/>
    <p:sldId id="291" r:id="rId20"/>
    <p:sldId id="309" r:id="rId21"/>
    <p:sldId id="307" r:id="rId22"/>
    <p:sldId id="308" r:id="rId23"/>
    <p:sldId id="297" r:id="rId24"/>
    <p:sldId id="298" r:id="rId25"/>
    <p:sldId id="303" r:id="rId26"/>
    <p:sldId id="299" r:id="rId27"/>
    <p:sldId id="302" r:id="rId28"/>
    <p:sldId id="300" r:id="rId29"/>
    <p:sldId id="301" r:id="rId30"/>
    <p:sldId id="294" r:id="rId31"/>
    <p:sldId id="296" r:id="rId32"/>
    <p:sldId id="304" r:id="rId33"/>
    <p:sldId id="305" r:id="rId34"/>
    <p:sldId id="306" r:id="rId35"/>
    <p:sldId id="292" r:id="rId3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696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76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553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33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775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505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771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78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268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77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78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4046E-D587-43E3-B9CC-CC606BC9ACC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23511-2A7A-4450-A4B9-859E1EF95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10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res.cloudinary.com/practicaldev/image/fetch/s--KkJ0THo6--/c_limit,f_auto,fl_progressive,q_auto,w_880/https:/dev-to-uploads.s3.amazonaws.com/i/qiun4qnrbh5htimuhpvz.p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672" y="171994"/>
            <a:ext cx="8722186" cy="1239777"/>
          </a:xfrm>
        </p:spPr>
        <p:txBody>
          <a:bodyPr>
            <a:noAutofit/>
          </a:bodyPr>
          <a:lstStyle/>
          <a:p>
            <a:pPr algn="ctr"/>
            <a:r>
              <a:rPr lang="en-US" sz="3200" b="1" i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RADIOELEKTRON TIZIMLAR VA AXBOROT TEXNALOGIYALARI MARKAZI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9845" y="3029988"/>
            <a:ext cx="10403839" cy="1228067"/>
          </a:xfrm>
        </p:spPr>
        <p:txBody>
          <a:bodyPr>
            <a:normAutofit/>
          </a:bodyPr>
          <a:lstStyle/>
          <a:p>
            <a:pPr algn="ctr"/>
            <a:r>
              <a:rPr lang="en-US" sz="2400" b="1" noProof="1" smtClean="0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Mavzu: Tarmoqning transport bosqichida xavfsiz ulanishni o‘rnatish xalqaro protokollari tadqiqi</a:t>
            </a:r>
            <a:endParaRPr lang="en-US" sz="2400" b="1" cap="none" noProof="1">
              <a:ln w="12700" cmpd="sng">
                <a:solidFill>
                  <a:schemeClr val="accent4"/>
                </a:solidFill>
                <a:prstDash val="solid"/>
              </a:ln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17857AAA-D22A-4974-80F4-7B5681F73B54}"/>
              </a:ext>
            </a:extLst>
          </p:cNvPr>
          <p:cNvSpPr txBox="1">
            <a:spLocks/>
          </p:cNvSpPr>
          <p:nvPr/>
        </p:nvSpPr>
        <p:spPr>
          <a:xfrm>
            <a:off x="5003625" y="6530994"/>
            <a:ext cx="2184750" cy="3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Toshkent 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="" xmlns:a16="http://schemas.microsoft.com/office/drawing/2014/main" id="{5525315D-F74A-420D-BE8B-1F3FD6845D28}"/>
              </a:ext>
            </a:extLst>
          </p:cNvPr>
          <p:cNvSpPr/>
          <p:nvPr/>
        </p:nvSpPr>
        <p:spPr>
          <a:xfrm>
            <a:off x="2554965" y="1854652"/>
            <a:ext cx="721360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i="1" dirty="0" smtClean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MAGISTRLIK </a:t>
            </a:r>
            <a:r>
              <a:rPr lang="en-US" sz="2800" b="1" i="1" dirty="0">
                <a:ln w="12700" cmpd="sng">
                  <a:solidFill>
                    <a:schemeClr val="accent4"/>
                  </a:solidFill>
                  <a:prstDash val="solid"/>
                </a:ln>
                <a:latin typeface="Arial" panose="020B0604020202020204" pitchFamily="34" charset="0"/>
                <a:cs typeface="Arial" panose="020B0604020202020204" pitchFamily="34" charset="0"/>
              </a:rPr>
              <a:t>DISSERTATSIYA ISHI</a:t>
            </a:r>
            <a:endParaRPr lang="ru-RU" sz="2800" b="1" i="1" dirty="0">
              <a:ln w="12700" cmpd="sng">
                <a:solidFill>
                  <a:schemeClr val="accent4"/>
                </a:solidFill>
                <a:prstDash val="solid"/>
              </a:ln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E85A3AE6-820F-4DBE-8E4D-E677131D12B7}"/>
              </a:ext>
            </a:extLst>
          </p:cNvPr>
          <p:cNvSpPr txBox="1">
            <a:spLocks/>
          </p:cNvSpPr>
          <p:nvPr/>
        </p:nvSpPr>
        <p:spPr>
          <a:xfrm>
            <a:off x="7883229" y="5091319"/>
            <a:ext cx="4047513" cy="7849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1" noProof="1" smtClean="0">
                <a:latin typeface="Arial" panose="020B0604020202020204" pitchFamily="34" charset="0"/>
                <a:cs typeface="Arial" panose="020B0604020202020204" pitchFamily="34" charset="0"/>
              </a:rPr>
              <a:t>Dissertant:              Maxmudjonov K.O.</a:t>
            </a:r>
          </a:p>
          <a:p>
            <a:pPr algn="l"/>
            <a:r>
              <a:rPr lang="en-US" sz="1600" b="1" noProof="1" smtClean="0">
                <a:latin typeface="Arial" panose="020B0604020202020204" pitchFamily="34" charset="0"/>
                <a:cs typeface="Arial" panose="020B0604020202020204" pitchFamily="34" charset="0"/>
              </a:rPr>
              <a:t>Ilmiy rahbar :          Baxtiyorov U.B</a:t>
            </a:r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29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6602DA-435C-4B82-808F-653AB7E6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784" y="0"/>
            <a:ext cx="7886700" cy="748631"/>
          </a:xfrm>
        </p:spPr>
        <p:txBody>
          <a:bodyPr>
            <a:normAutofit/>
          </a:bodyPr>
          <a:lstStyle/>
          <a:p>
            <a:pPr algn="ctr"/>
            <a:r>
              <a:rPr lang="en-US" sz="3600" b="1" i="1" noProof="1" smtClean="0">
                <a:solidFill>
                  <a:schemeClr val="tx1"/>
                </a:solidFill>
                <a:latin typeface="+mn-lt"/>
              </a:rPr>
              <a:t>Dolzarbligi</a:t>
            </a:r>
            <a:endParaRPr lang="en-US" sz="3600" b="1" i="1" noProof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54B3F25-5AA9-4781-9F47-B201DD8B0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4" y="1007533"/>
            <a:ext cx="11548534" cy="5612509"/>
          </a:xfrm>
        </p:spPr>
        <p:txBody>
          <a:bodyPr>
            <a:normAutofit/>
          </a:bodyPr>
          <a:lstStyle/>
          <a:p>
            <a:pPr marL="0" indent="0" algn="just" defTabSz="179388">
              <a:lnSpc>
                <a:spcPct val="150000"/>
              </a:lnSpc>
              <a:spcAft>
                <a:spcPts val="800"/>
              </a:spcAft>
              <a:buNone/>
              <a:tabLst>
                <a:tab pos="355600" algn="l"/>
              </a:tabLs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uz-Cyrl-UZ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Bugungi </a:t>
            </a:r>
            <a:r>
              <a:rPr lang="uz-Cyrl-UZ" sz="1800" dirty="0">
                <a:latin typeface="Arial" panose="020B0604020202020204" pitchFamily="34" charset="0"/>
                <a:cs typeface="Arial" panose="020B0604020202020204" pitchFamily="34" charset="0"/>
              </a:rPr>
              <a:t>kunda xalqaro standart kriptografik algoritmlarni o‘zida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z-Cyrl-UZ" sz="1800" dirty="0">
                <a:latin typeface="Arial" panose="020B0604020202020204" pitchFamily="34" charset="0"/>
                <a:cs typeface="Arial" panose="020B0604020202020204" pitchFamily="34" charset="0"/>
              </a:rPr>
              <a:t>mujassam etgan TLS (Transport Layer Security) protokollari internet brauzerlar, IP-telefoniya,  messendjerlar hamda mobil ilovalar faoliyatida xavfsiz aloqa kanalini shakllantirish uchun xizmat qiladi. 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  <a:tabLst>
                <a:tab pos="355600" algn="l"/>
              </a:tabLst>
            </a:pP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Ushbu protokol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lar aktiv hujum imkoniyati mavjud bo‘lgan 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aloqa kanali orqali uzatil</a:t>
            </a:r>
            <a:r>
              <a:rPr lang="en-US" sz="1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uvchi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ma’lumotlarning maxfiyligi va yaxlitligini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hamda 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tomonlarning autentifikatsiyasini ta’minlash uchun 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xalqaro 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kriptografik standartlar 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bilan 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belgilangan algoritmlardan foydalangan holda mijoz-server ilovalari o‘rtasida xavfsiz tarmoq ulanishini o‘rnatish uchun mo‘ljallangan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va davla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 sirini tashkil etmaydigan 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axborotlarni 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himoya qilish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 qo‘lla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uchun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tavsiya qilingan</a:t>
            </a:r>
            <a:r>
              <a:rPr lang="uz-Latn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Shu</a:t>
            </a:r>
            <a:r>
              <a:rPr lang="en-US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bois </a:t>
            </a:r>
            <a:r>
              <a:rPr lang="uz-Cyrl-UZ" sz="1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respublikada TLS protokollarini chuqur o‘rganish, mazkur protokollar tarkibiga milliy standart algoritmlarni kiritish  yo‘nalishida ilmiy-tadqiqot ishlarini olib borish dolzarb hisoblanadi.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l="42972" t="61836" r="41315" b="21444"/>
          <a:stretch/>
        </p:blipFill>
        <p:spPr bwMode="auto">
          <a:xfrm>
            <a:off x="1407790" y="5113867"/>
            <a:ext cx="2937933" cy="15061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/>
          <p:cNvPicPr/>
          <p:nvPr/>
        </p:nvPicPr>
        <p:blipFill rotWithShape="1">
          <a:blip r:embed="rId3"/>
          <a:srcRect l="2886" t="78025" r="83004" b="2336"/>
          <a:stretch/>
        </p:blipFill>
        <p:spPr bwMode="auto">
          <a:xfrm>
            <a:off x="4345723" y="5113867"/>
            <a:ext cx="2924821" cy="15061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Рисунок 5"/>
          <p:cNvPicPr/>
          <p:nvPr/>
        </p:nvPicPr>
        <p:blipFill rotWithShape="1">
          <a:blip r:embed="rId3"/>
          <a:srcRect l="21326" t="8758" r="63121" b="71338"/>
          <a:stretch/>
        </p:blipFill>
        <p:spPr bwMode="auto">
          <a:xfrm>
            <a:off x="7263619" y="5113867"/>
            <a:ext cx="3141018" cy="15061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3387869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51587D74-F695-405C-A66C-AE4E5DEF0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7983" y="74347"/>
            <a:ext cx="7886700" cy="5066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1" noProof="1" smtClean="0">
                <a:solidFill>
                  <a:schemeClr val="tx1"/>
                </a:solidFill>
                <a:latin typeface="+mn-lt"/>
              </a:rPr>
              <a:t>SSL 1.0 va SSL 2.0 protokollari</a:t>
            </a:r>
            <a:endParaRPr lang="en-US" sz="3600" b="1" i="1" noProof="1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05" y="800100"/>
            <a:ext cx="10749655" cy="5895975"/>
          </a:xfr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7747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46412" y="74643"/>
            <a:ext cx="7886700" cy="5540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1" noProof="1" smtClean="0">
                <a:solidFill>
                  <a:schemeClr val="tx1"/>
                </a:solidFill>
                <a:latin typeface="+mn-lt"/>
              </a:rPr>
              <a:t>SSL 3.0  va TLS 1.0 protokollari</a:t>
            </a:r>
            <a:endParaRPr lang="en-US" sz="3600" noProof="1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63" y="1066801"/>
            <a:ext cx="5777402" cy="5503334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62" y="1066801"/>
            <a:ext cx="5981191" cy="5503332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 rotWithShape="1">
          <a:blip r:embed="rId4"/>
          <a:srcRect l="70295" t="40008" r="3313" b="14011"/>
          <a:stretch/>
        </p:blipFill>
        <p:spPr bwMode="auto">
          <a:xfrm>
            <a:off x="6102913" y="5129349"/>
            <a:ext cx="1565275" cy="14407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 rot="19675827">
            <a:off x="10635134" y="5841063"/>
            <a:ext cx="896982" cy="34647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Yaroqsiz</a:t>
            </a:r>
            <a:endParaRPr lang="ru-RU" sz="12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 rot="20194303">
            <a:off x="4872551" y="5967092"/>
            <a:ext cx="896982" cy="34647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Yaroqsiz</a:t>
            </a:r>
            <a:endParaRPr lang="ru-RU" sz="12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435600" y="905933"/>
            <a:ext cx="736600" cy="541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81815" y="1058334"/>
            <a:ext cx="129763" cy="2709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333375" y="6458551"/>
            <a:ext cx="5410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z-Latn-UZ" sz="1000" dirty="0">
                <a:latin typeface="Times New Roman" panose="02020603050405020304" pitchFamily="18" charset="0"/>
                <a:ea typeface="Calibri" panose="020F0502020204030204" pitchFamily="34" charset="0"/>
              </a:rPr>
              <a:t>IETF (</a:t>
            </a:r>
            <a:r>
              <a:rPr lang="uz-Latn-UZ" sz="1000" i="1" dirty="0">
                <a:latin typeface="Times New Roman" panose="02020603050405020304" pitchFamily="18" charset="0"/>
                <a:ea typeface="Calibri" panose="020F0502020204030204" pitchFamily="34" charset="0"/>
              </a:rPr>
              <a:t>Internet Engineering Task Force</a:t>
            </a:r>
            <a:r>
              <a:rPr lang="uz-Latn-UZ" sz="1000" dirty="0">
                <a:latin typeface="Times New Roman" panose="02020603050405020304" pitchFamily="18" charset="0"/>
                <a:ea typeface="Calibri" panose="020F0502020204030204" pitchFamily="34" charset="0"/>
              </a:rPr>
              <a:t>) – </a:t>
            </a:r>
            <a:r>
              <a:rPr lang="uz-Cyrl-UZ" sz="1000" dirty="0">
                <a:latin typeface="Times New Roman" panose="02020603050405020304" pitchFamily="18" charset="0"/>
                <a:ea typeface="Calibri" panose="020F0502020204030204" pitchFamily="34" charset="0"/>
              </a:rPr>
              <a:t>internet tarmog‘ini rivojlantirish uchun t</a:t>
            </a:r>
            <a:r>
              <a:rPr lang="uz-Latn-UZ" sz="1000" dirty="0">
                <a:latin typeface="Times New Roman" panose="02020603050405020304" pitchFamily="18" charset="0"/>
                <a:ea typeface="Calibri" panose="020F0502020204030204" pitchFamily="34" charset="0"/>
              </a:rPr>
              <a:t>exnik standartlarni ishlab chiquvchi xalqaro muhandislik kengashi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89141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77CAC840-FD24-4799-81C1-4CD2E27A4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059" y="81755"/>
            <a:ext cx="7886700" cy="49927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1" noProof="1" smtClean="0">
                <a:solidFill>
                  <a:schemeClr val="tx1"/>
                </a:solidFill>
                <a:latin typeface="+mn-lt"/>
              </a:rPr>
              <a:t>TLS  1.1 va TLS  1.2 protokollari</a:t>
            </a:r>
            <a:endParaRPr lang="en-US" sz="3600" b="1" i="1" noProof="1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0" y="1047750"/>
            <a:ext cx="5742987" cy="5717117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0" y="1151467"/>
            <a:ext cx="6239936" cy="5613400"/>
          </a:xfrm>
          <a:prstGeom prst="rect">
            <a:avLst/>
          </a:prstGeom>
        </p:spPr>
      </p:pic>
      <p:sp>
        <p:nvSpPr>
          <p:cNvPr id="7" name="Скругленный прямоугольник 6"/>
          <p:cNvSpPr/>
          <p:nvPr/>
        </p:nvSpPr>
        <p:spPr>
          <a:xfrm rot="20194303">
            <a:off x="4698380" y="6176098"/>
            <a:ext cx="896982" cy="34647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Yaroqsiz</a:t>
            </a:r>
            <a:endParaRPr lang="ru-RU" sz="12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49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C54C866F-905D-48F1-AFB5-7EE7DB4A17BB}"/>
              </a:ext>
            </a:extLst>
          </p:cNvPr>
          <p:cNvSpPr txBox="1"/>
          <p:nvPr/>
        </p:nvSpPr>
        <p:spPr>
          <a:xfrm>
            <a:off x="313267" y="68480"/>
            <a:ext cx="11447922" cy="1146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 i="1" noProof="1" smtClean="0">
                <a:ea typeface="Calibri" panose="020F0502020204030204" pitchFamily="34" charset="0"/>
                <a:cs typeface="Times New Roman" panose="02020603050405020304" pitchFamily="18" charset="0"/>
              </a:rPr>
              <a:t>Brouzerlarni SSL/TLS protokollarini </a:t>
            </a:r>
            <a:r>
              <a:rPr lang="en-US" sz="3200" b="1" i="1" noProof="1" smtClean="0">
                <a:ea typeface="Calibri" panose="020F0502020204030204" pitchFamily="34" charset="0"/>
                <a:cs typeface="Times New Roman" panose="02020603050405020304" pitchFamily="18" charset="0"/>
              </a:rPr>
              <a:t>qo‘llab-quvvatlash </a:t>
            </a:r>
            <a:r>
              <a:rPr lang="en-US" sz="3200" b="1" i="1" noProof="1" smtClean="0">
                <a:ea typeface="Calibri" panose="020F0502020204030204" pitchFamily="34" charset="0"/>
                <a:cs typeface="Times New Roman" panose="02020603050405020304" pitchFamily="18" charset="0"/>
              </a:rPr>
              <a:t>ko‘rsatkichlari</a:t>
            </a:r>
            <a:endParaRPr lang="en-US" sz="3200" b="1" i="1" noProof="1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881E070-AAAE-4252-9ADE-FABE55A7480A}"/>
              </a:ext>
            </a:extLst>
          </p:cNvPr>
          <p:cNvSpPr txBox="1"/>
          <p:nvPr/>
        </p:nvSpPr>
        <p:spPr>
          <a:xfrm>
            <a:off x="415855" y="5715281"/>
            <a:ext cx="11345334" cy="113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tabLst>
                <a:tab pos="627063" algn="l"/>
              </a:tabLst>
            </a:pPr>
            <a:r>
              <a:rPr lang="en-US" sz="2400" noProof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en-US" sz="2400" noProof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2014 yil oktiyabrda POODLE </a:t>
            </a:r>
            <a:r>
              <a:rPr lang="en-US" sz="2400" noProof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hujumi </a:t>
            </a:r>
            <a:r>
              <a:rPr lang="en-US" sz="2400" noProof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bo‘lgandan </a:t>
            </a:r>
            <a:r>
              <a:rPr lang="en-US" sz="2400" noProof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so‘ng </a:t>
            </a:r>
            <a:r>
              <a:rPr lang="en-US" sz="2400" noProof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SSL </a:t>
            </a:r>
            <a:r>
              <a:rPr lang="en-US" sz="2400" noProof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3.0 protokoli </a:t>
            </a:r>
            <a:r>
              <a:rPr lang="en-US" sz="2400" noProof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60</a:t>
            </a:r>
            <a:r>
              <a:rPr lang="en-US" sz="2400" noProof="1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% ga tushib ketgan.</a:t>
            </a:r>
            <a:endParaRPr lang="en-US" sz="2400" noProof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522" y="1337464"/>
            <a:ext cx="5757333" cy="428095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67" y="1324507"/>
            <a:ext cx="5478921" cy="42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6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D721CF1-CAD9-4C9C-93B8-7313B22A2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692" y="77805"/>
            <a:ext cx="10567458" cy="531795"/>
          </a:xfrm>
        </p:spPr>
        <p:txBody>
          <a:bodyPr>
            <a:noAutofit/>
          </a:bodyPr>
          <a:lstStyle/>
          <a:p>
            <a:pPr algn="ctr"/>
            <a:r>
              <a:rPr lang="en-US" sz="2400" b="1" i="1" noProof="1" smtClean="0">
                <a:solidFill>
                  <a:schemeClr val="tx1"/>
                </a:solidFill>
                <a:latin typeface="+mn-lt"/>
              </a:rPr>
              <a:t>Brauzerlarning SSL/TLS larning </a:t>
            </a:r>
            <a:r>
              <a:rPr lang="en-US" sz="2400" b="1" i="1" noProof="1" smtClean="0">
                <a:solidFill>
                  <a:schemeClr val="tx1"/>
                </a:solidFill>
                <a:latin typeface="+mn-lt"/>
              </a:rPr>
              <a:t>qo‘llab-quvvatlovchi </a:t>
            </a:r>
            <a:r>
              <a:rPr lang="en-US" sz="2400" b="1" i="1" noProof="1" smtClean="0">
                <a:solidFill>
                  <a:schemeClr val="tx1"/>
                </a:solidFill>
                <a:latin typeface="+mn-lt"/>
              </a:rPr>
              <a:t>versiyalari.</a:t>
            </a:r>
            <a:endParaRPr lang="en-US" sz="2400" b="1" i="1" noProof="1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49" y="609601"/>
            <a:ext cx="11389741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9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0F098E61-62C7-44AA-A54B-4F7EBC41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983" y="127074"/>
            <a:ext cx="7886700" cy="57484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i="1" noProof="1" smtClean="0">
                <a:solidFill>
                  <a:schemeClr val="tx1"/>
                </a:solidFill>
                <a:latin typeface="+mn-lt"/>
              </a:rPr>
              <a:t>TLS 1.2 protokoli</a:t>
            </a:r>
            <a:endParaRPr lang="en-US" sz="3600" b="1" i="1" noProof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EA214F4C-73FA-490D-B5FD-9281877CE4A8}"/>
              </a:ext>
            </a:extLst>
          </p:cNvPr>
          <p:cNvSpPr txBox="1"/>
          <p:nvPr/>
        </p:nvSpPr>
        <p:spPr>
          <a:xfrm>
            <a:off x="812800" y="951554"/>
            <a:ext cx="1095586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Protokol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ikkita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yuqori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quyi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qatlamlarni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o</a:t>
            </a:r>
            <a:r>
              <a:rPr lang="ru-RU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'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z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ichiga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Yuqori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qatlamga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Handshake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protokoli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Alert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protokoli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ChangeCipherSpec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protokoli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Application Data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protokoli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qatlam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Record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protokoli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Fragmentation, Integrity, Authentication, Encryption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bosqichlarini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o‘z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ichiga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063516"/>
            <a:ext cx="10667999" cy="263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7564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="" xmlns:a16="http://schemas.microsoft.com/office/drawing/2014/main" id="{44D15F80-B10C-452A-AEE6-53C01B49E6DA}"/>
              </a:ext>
            </a:extLst>
          </p:cNvPr>
          <p:cNvSpPr txBox="1">
            <a:spLocks/>
          </p:cNvSpPr>
          <p:nvPr/>
        </p:nvSpPr>
        <p:spPr>
          <a:xfrm>
            <a:off x="1960033" y="68792"/>
            <a:ext cx="7886700" cy="540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i="1" dirty="0">
                <a:latin typeface="+mn-lt"/>
                <a:ea typeface="Times New Roman" panose="02020603050405020304" pitchFamily="18" charset="0"/>
              </a:rPr>
              <a:t>Handshake </a:t>
            </a:r>
            <a:r>
              <a:rPr lang="en-US" sz="3600" b="1" i="1" dirty="0" err="1">
                <a:latin typeface="+mn-lt"/>
                <a:ea typeface="Times New Roman" panose="02020603050405020304" pitchFamily="18" charset="0"/>
              </a:rPr>
              <a:t>protokoli</a:t>
            </a:r>
            <a:endParaRPr lang="ru-RU" sz="3600" b="1" i="1" dirty="0">
              <a:latin typeface="+mn-lt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2"/>
          <a:stretch>
            <a:fillRect/>
          </a:stretch>
        </p:blipFill>
        <p:spPr>
          <a:xfrm>
            <a:off x="338667" y="890069"/>
            <a:ext cx="11548533" cy="585786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4732867" y="9070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25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874220" y="79777"/>
            <a:ext cx="9404723" cy="614082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Hello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8" y="886353"/>
            <a:ext cx="11548532" cy="5861581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32867" y="9070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14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/>
          <p:cNvSpPr>
            <a:spLocks noGrp="1"/>
          </p:cNvSpPr>
          <p:nvPr>
            <p:ph type="title"/>
          </p:nvPr>
        </p:nvSpPr>
        <p:spPr>
          <a:xfrm>
            <a:off x="1416622" y="114051"/>
            <a:ext cx="9404723" cy="537883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Hello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9" y="886353"/>
            <a:ext cx="11536431" cy="586158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732867" y="9070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832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416622" y="80183"/>
            <a:ext cx="9404723" cy="614082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 and Server Hello Done 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9" y="886353"/>
            <a:ext cx="11536431" cy="584464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32867" y="9070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05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87761" y="63251"/>
            <a:ext cx="4662445" cy="614082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Key Exchange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9" y="886352"/>
            <a:ext cx="11536431" cy="584464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732867" y="9070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17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855474" y="71718"/>
            <a:ext cx="4527021" cy="614082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Key Exchange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70" y="886352"/>
            <a:ext cx="11536430" cy="584464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32867" y="8689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853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007874" y="105584"/>
            <a:ext cx="4222221" cy="614082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Cipher Spec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70" y="886352"/>
            <a:ext cx="11536430" cy="582771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32867" y="9070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996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4333841" y="97118"/>
            <a:ext cx="3570288" cy="614082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 Finished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70" y="886352"/>
            <a:ext cx="11536430" cy="582771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90017" y="8308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97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4359241" y="113642"/>
            <a:ext cx="3519488" cy="589092"/>
          </a:xfrm>
        </p:spPr>
        <p:txBody>
          <a:bodyPr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 Finished</a:t>
            </a:r>
            <a:endParaRPr lang="ru-RU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770" y="886352"/>
            <a:ext cx="11536430" cy="582771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704292" y="868903"/>
            <a:ext cx="2768600" cy="278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27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F7ADA311-D456-42E3-879C-80A519DE6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792" y="0"/>
            <a:ext cx="8964083" cy="662782"/>
          </a:xfrm>
        </p:spPr>
        <p:txBody>
          <a:bodyPr>
            <a:normAutofit/>
          </a:bodyPr>
          <a:lstStyle/>
          <a:p>
            <a:pPr algn="ctr"/>
            <a:r>
              <a:rPr lang="en-US" sz="3600" b="1" i="1" noProof="1" smtClean="0">
                <a:solidFill>
                  <a:schemeClr val="tx1"/>
                </a:solidFill>
                <a:latin typeface="+mn-lt"/>
                <a:ea typeface="Times New Roman" panose="02020603050405020304" pitchFamily="18" charset="0"/>
              </a:rPr>
              <a:t>Alert protokoli</a:t>
            </a:r>
            <a:endParaRPr lang="en-US" sz="3600" b="1" i="1" noProof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01C74582-B697-468B-ADFC-17BE61014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286" y="928915"/>
            <a:ext cx="11683999" cy="58096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Alert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protokoli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seans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jarayonida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yuzaga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kelgan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ogohlantirish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jiddiy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xatolik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to’g’risida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tomonlar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bir-birini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habardor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qilishini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ta’minlaydi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Xatolik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xabarlarining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ro’yxati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ilovada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keltiriladi</a:t>
            </a:r>
            <a:r>
              <a:rPr lang="en-US" sz="18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 err="1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handshake_failure</a:t>
            </a:r>
            <a:r>
              <a:rPr lang="en-US" sz="18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Yuboruvchi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kerakli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xavfsizlik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sozlamalarini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muhokama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qila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olmadi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Ushbu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ogohlantirish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darajasini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fatal deb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belgilash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tavsiya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etiladi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decrypt_error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Kriptografik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operatsiyani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amalga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oshirishda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xatolik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yuz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berdi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masalan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imzoni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tekshirish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Xabarni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tekshirish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tugallandi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Ushbu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ogohlantirish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darajasini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fatal deb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belgilash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tavsiya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etiladi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bad</a:t>
            </a:r>
            <a:r>
              <a:rPr lang="ru-RU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_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record</a:t>
            </a:r>
            <a:r>
              <a:rPr lang="ru-RU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_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mac -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Qabul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qilingan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yozuvni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qayta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ishlash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jarayonida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autentifikatsiya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kodining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qiymatini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tekshirishda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xatolik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yuzaga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kelsa</a:t>
            </a:r>
            <a:r>
              <a:rPr lang="ru-RU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ushbu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ogohlantirish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yuboriladi</a:t>
            </a:r>
            <a:r>
              <a:rPr lang="ru-RU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ogohlantirish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har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doim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fatal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darajasida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bo'lishi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kerak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unexpected_message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-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Noto'g'ri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xabar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qabul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qilindi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Bu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ogohlantirish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har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doim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fatal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darajasida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bo'lishi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kerak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Shu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kabi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Alert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protokolining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ko’plab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ogohlantirish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buyruqlar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mavjud</a:t>
            </a:r>
            <a:r>
              <a:rPr lang="en-US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56662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394FB0EC-0F8A-412D-AA33-5BDCCBE98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1" y="965200"/>
            <a:ext cx="7910285" cy="5799667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uz-Latn-UZ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Fragment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 bu qisimda xajmi 16 KB dan oshmaydigan ma’lumot joylashadi.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uz-Latn-UZ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Compression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(siqish algoritmi) - ma'lumotlarni siqish uchun ishlatiladigan algoritm. Bu algoritim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TLS 1.2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protokolida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null qiymat qabul qiladi.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uz-Latn-UZ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MAC algoritmi -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Xabarlarni autentifikatsiya qilish uchun ishlatiladigan algoritm.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uz-Latn-UZ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Ommaviy shifrlash algoritmi -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katta hajmdagi ma'lumotlarni shifrlash algoritmi bo’lib, ma'lumotlarning asosiy qismini shifrlash uchun </a:t>
            </a:r>
            <a:r>
              <a:rPr lang="uz-Latn-UZ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ishlatiladi.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24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Padding 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 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blokni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to’ldirish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uz-Latn-UZ" sz="24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Header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(sarlavha) – bu qisim type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(1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bayt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)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protocol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version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(2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bayt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)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length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(2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bayt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fragment uzunligi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qisimlardan tashkil topadi va u kodlanmaydi. Uning hajmi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jami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z-Latn-UZ" sz="24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 baytni tashkil qiladi.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>
            <a:extLst>
              <a:ext uri="{FF2B5EF4-FFF2-40B4-BE49-F238E27FC236}">
                <a16:creationId xmlns="" xmlns:a16="http://schemas.microsoft.com/office/drawing/2014/main" id="{68B83CF1-014C-47C9-AD41-E6FF9A3EA608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90" y="883797"/>
            <a:ext cx="3871568" cy="55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5E5CA85-0D10-4A6B-B0DE-D128A13C138F}"/>
              </a:ext>
            </a:extLst>
          </p:cNvPr>
          <p:cNvSpPr txBox="1"/>
          <p:nvPr/>
        </p:nvSpPr>
        <p:spPr>
          <a:xfrm>
            <a:off x="3046521" y="1"/>
            <a:ext cx="6098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i="1" noProof="1" smtClean="0"/>
              <a:t>Record protokoli</a:t>
            </a:r>
            <a:endParaRPr lang="en-US" sz="3600" b="1" i="1" noProof="1"/>
          </a:p>
        </p:txBody>
      </p:sp>
    </p:spTree>
    <p:extLst>
      <p:ext uri="{BB962C8B-B14F-4D97-AF65-F5344CB8AC3E}">
        <p14:creationId xmlns:p14="http://schemas.microsoft.com/office/powerpoint/2010/main" val="180105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54121" y="152255"/>
            <a:ext cx="8324791" cy="543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TLS 1.2 </a:t>
            </a:r>
            <a:r>
              <a:rPr lang="en-US" sz="3200" b="1" noProof="1" smtClean="0"/>
              <a:t>protokolida kalitlar generatsiyasi </a:t>
            </a:r>
            <a:endParaRPr lang="en-US" sz="3200" b="1" noProof="1"/>
          </a:p>
        </p:txBody>
      </p:sp>
      <p:sp>
        <p:nvSpPr>
          <p:cNvPr id="5" name="Прямоугольник 4"/>
          <p:cNvSpPr/>
          <p:nvPr/>
        </p:nvSpPr>
        <p:spPr>
          <a:xfrm>
            <a:off x="135468" y="759955"/>
            <a:ext cx="11890452" cy="1830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noProof="1" smtClean="0"/>
              <a:t>	TLS 1.2 protokoli uchun kalitlarni hosil qilish jarayonida </a:t>
            </a:r>
            <a:r>
              <a:rPr lang="en-US" sz="2400" b="1" noProof="1" smtClean="0"/>
              <a:t>Client_Random</a:t>
            </a:r>
            <a:r>
              <a:rPr lang="en-US" sz="2400" noProof="1" smtClean="0"/>
              <a:t>, </a:t>
            </a:r>
            <a:r>
              <a:rPr lang="en-US" sz="2400" b="1" noProof="1" smtClean="0"/>
              <a:t>Server_Random</a:t>
            </a:r>
            <a:r>
              <a:rPr lang="en-US" sz="2400" noProof="1" smtClean="0"/>
              <a:t>, </a:t>
            </a:r>
            <a:r>
              <a:rPr lang="en-US" sz="2400" b="1" noProof="1" smtClean="0"/>
              <a:t>PreMasterSecret</a:t>
            </a:r>
            <a:r>
              <a:rPr lang="en-US" sz="2400" noProof="1" smtClean="0"/>
              <a:t> va PreMasterSecretdan hosil qilinuvchi </a:t>
            </a:r>
            <a:r>
              <a:rPr lang="en-US" sz="2400" b="1" noProof="1" smtClean="0"/>
              <a:t>MasterSecret</a:t>
            </a:r>
            <a:r>
              <a:rPr lang="en-US" sz="2400" noProof="1" smtClean="0"/>
              <a:t> qiymatlari kerak boʻladi. </a:t>
            </a:r>
            <a:r>
              <a:rPr lang="en-US" sz="2400" noProof="1">
                <a:ea typeface="Times New Roman" panose="02020603050405020304" pitchFamily="18" charset="0"/>
              </a:rPr>
              <a:t>Tasodifiy hosil qilinuvchi </a:t>
            </a:r>
            <a:r>
              <a:rPr lang="en-US" sz="2400" noProof="1" smtClean="0">
                <a:ea typeface="Times New Roman" panose="02020603050405020304" pitchFamily="18" charset="0"/>
              </a:rPr>
              <a:t>48 </a:t>
            </a:r>
            <a:r>
              <a:rPr lang="en-US" sz="2400" noProof="1">
                <a:ea typeface="Times New Roman" panose="02020603050405020304" pitchFamily="18" charset="0"/>
              </a:rPr>
              <a:t>bayt uzunlikdagi </a:t>
            </a:r>
            <a:r>
              <a:rPr lang="en-US" sz="2400" b="1" noProof="1">
                <a:ea typeface="Times New Roman" panose="02020603050405020304" pitchFamily="18" charset="0"/>
              </a:rPr>
              <a:t>PreMasterSecret</a:t>
            </a:r>
            <a:r>
              <a:rPr lang="en-US" sz="2400" noProof="1">
                <a:ea typeface="Times New Roman" panose="02020603050405020304" pitchFamily="18" charset="0"/>
              </a:rPr>
              <a:t> </a:t>
            </a:r>
            <a:r>
              <a:rPr lang="en-US" sz="2400" noProof="1" smtClean="0">
                <a:ea typeface="Times New Roman" panose="02020603050405020304" pitchFamily="18" charset="0"/>
              </a:rPr>
              <a:t>qiymati </a:t>
            </a:r>
            <a:r>
              <a:rPr lang="en-US" sz="2400" b="1" noProof="1">
                <a:ea typeface="Times New Roman" panose="02020603050405020304" pitchFamily="18" charset="0"/>
              </a:rPr>
              <a:t>RSA</a:t>
            </a:r>
            <a:r>
              <a:rPr lang="en-US" sz="2400" noProof="1">
                <a:ea typeface="Times New Roman" panose="02020603050405020304" pitchFamily="18" charset="0"/>
              </a:rPr>
              <a:t>, </a:t>
            </a:r>
            <a:r>
              <a:rPr lang="en-US" sz="2400" b="1" noProof="1">
                <a:ea typeface="Times New Roman" panose="02020603050405020304" pitchFamily="18" charset="0"/>
              </a:rPr>
              <a:t>DHE</a:t>
            </a:r>
            <a:r>
              <a:rPr lang="en-US" sz="2400" noProof="1">
                <a:ea typeface="Times New Roman" panose="02020603050405020304" pitchFamily="18" charset="0"/>
              </a:rPr>
              <a:t> yoki </a:t>
            </a:r>
            <a:r>
              <a:rPr lang="en-US" sz="2400" b="1" noProof="1">
                <a:ea typeface="Times New Roman" panose="02020603050405020304" pitchFamily="18" charset="0"/>
              </a:rPr>
              <a:t>ECDHE</a:t>
            </a:r>
            <a:r>
              <a:rPr lang="en-US" sz="2400" noProof="1">
                <a:ea typeface="Times New Roman" panose="02020603050405020304" pitchFamily="18" charset="0"/>
              </a:rPr>
              <a:t> algoritimlarining </a:t>
            </a:r>
            <a:r>
              <a:rPr lang="en-US" sz="2400" noProof="1" smtClean="0">
                <a:ea typeface="Times New Roman" panose="02020603050405020304" pitchFamily="18" charset="0"/>
              </a:rPr>
              <a:t>biri yordamida </a:t>
            </a:r>
            <a:r>
              <a:rPr lang="en-US" sz="2400" noProof="1">
                <a:ea typeface="Times New Roman" panose="02020603050405020304" pitchFamily="18" charset="0"/>
              </a:rPr>
              <a:t>ikkala tomonda hosil qilinadi</a:t>
            </a:r>
            <a:r>
              <a:rPr lang="en-US" sz="2400" noProof="1" smtClean="0">
                <a:ea typeface="Times New Roman" panose="02020603050405020304" pitchFamily="18" charset="0"/>
              </a:rPr>
              <a:t>.</a:t>
            </a:r>
            <a:endParaRPr lang="en-US" sz="2400" b="1" noProof="1"/>
          </a:p>
        </p:txBody>
      </p:sp>
      <p:sp>
        <p:nvSpPr>
          <p:cNvPr id="2" name="Прямоугольник 1"/>
          <p:cNvSpPr/>
          <p:nvPr/>
        </p:nvSpPr>
        <p:spPr>
          <a:xfrm>
            <a:off x="558800" y="2002894"/>
            <a:ext cx="11277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noProof="1" smtClean="0">
                <a:ea typeface="Times New Roman" panose="02020603050405020304" pitchFamily="18" charset="0"/>
              </a:rPr>
              <a:t>	</a:t>
            </a:r>
            <a:endParaRPr lang="en-US" sz="2400" noProof="1"/>
          </a:p>
        </p:txBody>
      </p:sp>
      <p:sp>
        <p:nvSpPr>
          <p:cNvPr id="31" name="Прямоугольник 30"/>
          <p:cNvSpPr/>
          <p:nvPr/>
        </p:nvSpPr>
        <p:spPr>
          <a:xfrm>
            <a:off x="841248" y="2461687"/>
            <a:ext cx="106710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noProof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RSA algoritmi asosida PreMasterSecret qiymatini hosil qilish.</a:t>
            </a:r>
            <a:endParaRPr lang="en-US" sz="2800" noProof="1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984" y="2984907"/>
            <a:ext cx="7739063" cy="366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1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Maxfiy kalitni oling">
            <a:hlinkClick r:id="rId2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445" y="1503401"/>
            <a:ext cx="8930980" cy="52492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/>
          <p:cNvSpPr/>
          <p:nvPr/>
        </p:nvSpPr>
        <p:spPr>
          <a:xfrm>
            <a:off x="2750345" y="150259"/>
            <a:ext cx="78046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DH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orqali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PreMasterSecret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qiymatini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hosil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jarayoni</a:t>
            </a:r>
            <a:endParaRPr lang="ru-RU" sz="2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52425" y="734497"/>
            <a:ext cx="113728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Umumiy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boʻlgan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g, p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sever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tomonidan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sertifikatiga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qoʻshib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yuborilganligi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sababli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mijozga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maʻlum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boʻladi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Xosil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boʻlgan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dastlabki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48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bayt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qismi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sir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sifatida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olinadi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029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04412" y="0"/>
            <a:ext cx="11420856" cy="5871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2400" b="1" noProof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ECDH algoritmi asosida PreMasterSecret qiymatini hosil qilish.</a:t>
            </a:r>
            <a:endParaRPr lang="en-US" sz="2400" noProof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910667" y="1337732"/>
            <a:ext cx="2159001" cy="3386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6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= ax</a:t>
            </a:r>
            <a:r>
              <a:rPr lang="en-US" sz="16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+ bx</a:t>
            </a:r>
            <a:r>
              <a:rPr lang="en-US" sz="16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+ cx + </a:t>
            </a:r>
            <a:r>
              <a:rPr lang="en-US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d,</a:t>
            </a:r>
            <a:endParaRPr lang="ru-RU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12" y="838200"/>
            <a:ext cx="1014412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2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54121" y="152255"/>
            <a:ext cx="8324791" cy="543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TLS 1.2 </a:t>
            </a:r>
            <a:r>
              <a:rPr lang="en-US" sz="3200" b="1" noProof="1" smtClean="0"/>
              <a:t>protokolida kalitlar generatsiyasi </a:t>
            </a:r>
            <a:endParaRPr lang="en-US" sz="3200" b="1" noProof="1"/>
          </a:p>
        </p:txBody>
      </p:sp>
      <p:sp>
        <p:nvSpPr>
          <p:cNvPr id="5" name="Прямоугольник 4"/>
          <p:cNvSpPr/>
          <p:nvPr/>
        </p:nvSpPr>
        <p:spPr>
          <a:xfrm>
            <a:off x="1045959" y="1087887"/>
            <a:ext cx="10844784" cy="543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noProof="1" smtClean="0"/>
              <a:t>Seans kalitlar generatsiyasi jarayoni quydagi uchta bosqichda amalga oshiriladi:</a:t>
            </a:r>
            <a:endParaRPr lang="en-US" sz="2400" b="1" noProof="1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1063326" y="2294670"/>
            <a:ext cx="10962593" cy="604838"/>
            <a:chOff x="1197" y="1350"/>
            <a:chExt cx="2272" cy="381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gray">
            <a:xfrm rot="3419336">
              <a:off x="1078" y="1469"/>
              <a:ext cx="381" cy="143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gray">
            <a:xfrm>
              <a:off x="1430" y="1395"/>
              <a:ext cx="203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800" noProof="1"/>
                <a:t>Master Secret qiymatini hosil qilish.</a:t>
              </a:r>
              <a:endParaRPr lang="en-US" sz="2800" noProof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gray">
            <a:xfrm>
              <a:off x="1242" y="1395"/>
              <a:ext cx="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1151364" y="3228096"/>
            <a:ext cx="10957851" cy="816312"/>
            <a:chOff x="1277" y="2038"/>
            <a:chExt cx="4598" cy="293"/>
          </a:xfrm>
        </p:grpSpPr>
        <p:sp>
          <p:nvSpPr>
            <p:cNvPr id="12" name="Rectangle 9"/>
            <p:cNvSpPr>
              <a:spLocks noChangeArrowheads="1"/>
            </p:cNvSpPr>
            <p:nvPr/>
          </p:nvSpPr>
          <p:spPr bwMode="gray">
            <a:xfrm rot="3419336">
              <a:off x="1298" y="2081"/>
              <a:ext cx="229" cy="272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gray">
            <a:xfrm>
              <a:off x="1731" y="2038"/>
              <a:ext cx="4144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noProof="1"/>
                <a:t>P psevdotasodifiy ketma-ketlikni hosil qilish.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gray">
            <a:xfrm>
              <a:off x="1366" y="2131"/>
              <a:ext cx="160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5" name="Group 12"/>
          <p:cNvGrpSpPr>
            <a:grpSpLocks/>
          </p:cNvGrpSpPr>
          <p:nvPr/>
        </p:nvGrpSpPr>
        <p:grpSpPr bwMode="auto">
          <a:xfrm>
            <a:off x="1045959" y="4496136"/>
            <a:ext cx="10921325" cy="749896"/>
            <a:chOff x="1291" y="2812"/>
            <a:chExt cx="4635" cy="419"/>
          </a:xfrm>
        </p:grpSpPr>
        <p:sp>
          <p:nvSpPr>
            <p:cNvPr id="16" name="Rectangle 14"/>
            <p:cNvSpPr>
              <a:spLocks noChangeArrowheads="1"/>
            </p:cNvSpPr>
            <p:nvPr/>
          </p:nvSpPr>
          <p:spPr bwMode="gray">
            <a:xfrm rot="3419336">
              <a:off x="1253" y="2852"/>
              <a:ext cx="367" cy="292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gray">
            <a:xfrm>
              <a:off x="1767" y="2812"/>
              <a:ext cx="4159" cy="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800" noProof="1" smtClean="0"/>
                <a:t>P </a:t>
              </a:r>
              <a:r>
                <a:rPr lang="en-US" sz="2800" noProof="1"/>
                <a:t>psevdotasodifiy qiymatdan seans kalitlarini shakllantirish.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gray">
            <a:xfrm>
              <a:off x="1366" y="2848"/>
              <a:ext cx="16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756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604837" y="38100"/>
            <a:ext cx="11115675" cy="4355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TLS 1.2 </a:t>
            </a:r>
            <a:r>
              <a:rPr lang="en-US" sz="3200" b="1" noProof="1" smtClean="0"/>
              <a:t>protokolida Master Secret qiymatni xisoblash</a:t>
            </a:r>
            <a:endParaRPr lang="en-US" sz="3200" b="1" noProof="1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351" y="4332833"/>
            <a:ext cx="6163799" cy="2300553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00049" y="502010"/>
            <a:ext cx="115252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"master secret" ||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client_random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||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server_random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	 			a[0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endParaRPr lang="ru-RU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HMAC-SHA256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algoritmidan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a[1], a[2], p[1], p[1]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quydagicha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uz-Cyrl-UZ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714375"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a[1]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data=a[0])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714375"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a[2]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data=a[1])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714375"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p[1]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data=a[1] + seed)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714375"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p[2]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data=a[2] + seed)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p[2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dastlabki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16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p[1]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konkatenatsiya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qiymati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quydagicha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p1[ 1…32 bytes] || p2[1…16 bytes]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Стрелка вправо 3"/>
          <p:cNvSpPr/>
          <p:nvPr/>
        </p:nvSpPr>
        <p:spPr>
          <a:xfrm>
            <a:off x="5953125" y="695091"/>
            <a:ext cx="1266825" cy="200259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53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5E9ACF6-B835-46EF-B2FA-C371ACFCA922}"/>
              </a:ext>
            </a:extLst>
          </p:cNvPr>
          <p:cNvSpPr txBox="1"/>
          <p:nvPr/>
        </p:nvSpPr>
        <p:spPr>
          <a:xfrm>
            <a:off x="762000" y="1413927"/>
            <a:ext cx="11231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K – </a:t>
            </a:r>
            <a:r>
              <a:rPr lang="en-US" sz="2400" dirty="0" smtClean="0"/>
              <a:t>HMAC </a:t>
            </a:r>
            <a:r>
              <a:rPr lang="uz-Cyrl-UZ" sz="2400" dirty="0" smtClean="0"/>
              <a:t>учун генерация қилинган тегишли узунликдаги </a:t>
            </a:r>
            <a:r>
              <a:rPr lang="uz-Cyrl-UZ" sz="2400" dirty="0"/>
              <a:t>калит </a:t>
            </a:r>
            <a:r>
              <a:rPr lang="uz-Cyrl-UZ" sz="2400" dirty="0" smtClean="0"/>
              <a:t>маълумоти;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ru-RU" sz="2400" dirty="0"/>
              <a:t>Н – </a:t>
            </a:r>
            <a:r>
              <a:rPr lang="en-US" sz="2400" noProof="1" smtClean="0"/>
              <a:t>Хэш фнукция </a:t>
            </a:r>
            <a:r>
              <a:rPr lang="ru-RU" sz="2400" dirty="0" smtClean="0"/>
              <a:t>(</a:t>
            </a:r>
            <a:r>
              <a:rPr lang="en-US" sz="2400" dirty="0" smtClean="0"/>
              <a:t>SHA-256 </a:t>
            </a:r>
            <a:r>
              <a:rPr lang="uz-Cyrl-UZ" sz="2400" dirty="0" smtClean="0"/>
              <a:t>ёки </a:t>
            </a:r>
            <a:r>
              <a:rPr lang="en-US" sz="2400" dirty="0" smtClean="0"/>
              <a:t>SHA-384</a:t>
            </a:r>
            <a:r>
              <a:rPr lang="ru-RU" sz="2400" dirty="0" smtClean="0"/>
              <a:t>);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b</a:t>
            </a:r>
            <a:r>
              <a:rPr lang="ru-RU" sz="2400" dirty="0" smtClean="0"/>
              <a:t> </a:t>
            </a:r>
            <a:r>
              <a:rPr lang="ru-RU" sz="2400" dirty="0"/>
              <a:t>– </a:t>
            </a:r>
            <a:r>
              <a:rPr lang="en-US" sz="2400" noProof="1" smtClean="0"/>
              <a:t>блок узунлиги (байтларда);</a:t>
            </a:r>
          </a:p>
          <a:p>
            <a:pPr>
              <a:lnSpc>
                <a:spcPct val="150000"/>
              </a:lnSpc>
            </a:pPr>
            <a:r>
              <a:rPr lang="en-US" sz="2400" noProof="1" smtClean="0"/>
              <a:t>i</a:t>
            </a:r>
            <a:r>
              <a:rPr lang="ru-RU" sz="2400" noProof="1" smtClean="0"/>
              <a:t>pad</a:t>
            </a:r>
            <a:r>
              <a:rPr lang="ru-RU" sz="2400" dirty="0" smtClean="0"/>
              <a:t> </a:t>
            </a:r>
            <a:r>
              <a:rPr lang="ru-RU" sz="2400" dirty="0"/>
              <a:t>– </a:t>
            </a:r>
            <a:r>
              <a:rPr lang="en-US" sz="2400" dirty="0" smtClean="0"/>
              <a:t>b</a:t>
            </a:r>
            <a:r>
              <a:rPr lang="ru-RU" sz="2400" dirty="0" smtClean="0"/>
              <a:t> </a:t>
            </a:r>
            <a:r>
              <a:rPr lang="ru-RU" sz="2400" noProof="1" smtClean="0"/>
              <a:t>марта такрорланувчи</a:t>
            </a:r>
            <a:r>
              <a:rPr lang="ru-RU" sz="2400" dirty="0" smtClean="0"/>
              <a:t> </a:t>
            </a:r>
            <a:r>
              <a:rPr lang="ru-RU" sz="2400" dirty="0"/>
              <a:t>0x36 (</a:t>
            </a:r>
            <a:r>
              <a:rPr lang="en-US" sz="2400" dirty="0"/>
              <a:t>0b</a:t>
            </a:r>
            <a:r>
              <a:rPr lang="ru-RU" sz="2400" dirty="0"/>
              <a:t>00110110)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noProof="1" smtClean="0"/>
              <a:t>opad</a:t>
            </a:r>
            <a:r>
              <a:rPr lang="ru-RU" sz="2400" dirty="0" smtClean="0"/>
              <a:t> </a:t>
            </a:r>
            <a:r>
              <a:rPr lang="en-US" sz="2400" dirty="0"/>
              <a:t>– b</a:t>
            </a:r>
            <a:r>
              <a:rPr lang="en-US" sz="2400" dirty="0" smtClean="0"/>
              <a:t> </a:t>
            </a:r>
            <a:r>
              <a:rPr lang="en-US" sz="2400" noProof="1" smtClean="0"/>
              <a:t>марта такрорланувчи </a:t>
            </a:r>
            <a:r>
              <a:rPr lang="ru-RU" sz="2400" dirty="0" smtClean="0"/>
              <a:t>0x</a:t>
            </a:r>
            <a:r>
              <a:rPr lang="en-US" sz="2400" dirty="0"/>
              <a:t>5C</a:t>
            </a:r>
            <a:r>
              <a:rPr lang="ru-RU" sz="2400" dirty="0"/>
              <a:t> (</a:t>
            </a:r>
            <a:r>
              <a:rPr lang="en-US" sz="2400" dirty="0"/>
              <a:t>0b</a:t>
            </a:r>
            <a:r>
              <a:rPr lang="ru-RU" sz="2400" dirty="0"/>
              <a:t>01011100‬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M – </a:t>
            </a:r>
            <a:r>
              <a:rPr lang="en-US" sz="2400" noProof="1" smtClean="0"/>
              <a:t>funksiyasiga kiruvchi satr ma’lumoti.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uz-Cyrl-UZ" sz="2400" dirty="0"/>
              <a:t>Масалан: </a:t>
            </a:r>
            <a:r>
              <a:rPr lang="en-US" sz="2400" dirty="0"/>
              <a:t>M</a:t>
            </a:r>
            <a:r>
              <a:rPr lang="en-US" sz="2400" dirty="0" smtClean="0"/>
              <a:t> </a:t>
            </a:r>
            <a:r>
              <a:rPr lang="uz-Cyrl-UZ" sz="2400" dirty="0"/>
              <a:t>сатрининг </a:t>
            </a:r>
            <a:r>
              <a:rPr lang="en-US" sz="2400" dirty="0"/>
              <a:t>HMAC </a:t>
            </a:r>
            <a:r>
              <a:rPr lang="uz-Cyrl-UZ" sz="2400" dirty="0"/>
              <a:t>қиймати қуйидаги ифода ёрдамида ҳисобланади: 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HMAC(K, M</a:t>
            </a:r>
            <a:r>
              <a:rPr lang="uz-Cyrl-UZ" sz="2400" dirty="0" smtClean="0"/>
              <a:t>)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ru-RU" sz="2400" dirty="0"/>
              <a:t>H(K </a:t>
            </a:r>
            <a:r>
              <a:rPr lang="en-US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⊕</a:t>
            </a:r>
            <a:r>
              <a:rPr lang="ru-RU" sz="2400" dirty="0"/>
              <a:t> </a:t>
            </a:r>
            <a:r>
              <a:rPr lang="ru-RU" sz="2400" noProof="1" smtClean="0"/>
              <a:t>opad,</a:t>
            </a:r>
            <a:r>
              <a:rPr lang="ru-RU" sz="2400" dirty="0" smtClean="0"/>
              <a:t> </a:t>
            </a:r>
            <a:r>
              <a:rPr lang="ru-RU" sz="2400" dirty="0"/>
              <a:t>H(K </a:t>
            </a:r>
            <a:r>
              <a:rPr lang="en-US" sz="2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⊕</a:t>
            </a:r>
            <a:r>
              <a:rPr lang="ru-RU" sz="2400" dirty="0"/>
              <a:t> </a:t>
            </a:r>
            <a:r>
              <a:rPr lang="ru-RU" sz="2400" noProof="1" smtClean="0"/>
              <a:t>ipad, </a:t>
            </a:r>
            <a:r>
              <a:rPr lang="en-US" sz="2400" noProof="1"/>
              <a:t>M</a:t>
            </a:r>
            <a:r>
              <a:rPr lang="ru-RU" sz="2400" dirty="0" smtClean="0"/>
              <a:t>))</a:t>
            </a:r>
            <a:endParaRPr lang="uz-Cyrl-UZ" sz="24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FF09B42F-9934-49D1-94DB-54D0E863270B}"/>
              </a:ext>
            </a:extLst>
          </p:cNvPr>
          <p:cNvSpPr txBox="1"/>
          <p:nvPr/>
        </p:nvSpPr>
        <p:spPr>
          <a:xfrm>
            <a:off x="3088767" y="135374"/>
            <a:ext cx="60144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/>
              <a:t>HMAC </a:t>
            </a:r>
            <a:r>
              <a:rPr lang="en-US" sz="3200" b="1" noProof="1" smtClean="0"/>
              <a:t>funksiyasi</a:t>
            </a:r>
            <a:endParaRPr lang="en-US" sz="3200" b="1" noProof="1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D94039F-84F1-40CB-BC64-9994FEB08905}"/>
              </a:ext>
            </a:extLst>
          </p:cNvPr>
          <p:cNvSpPr txBox="1"/>
          <p:nvPr/>
        </p:nvSpPr>
        <p:spPr>
          <a:xfrm>
            <a:off x="3088767" y="6317099"/>
            <a:ext cx="601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RFC </a:t>
            </a:r>
            <a:r>
              <a:rPr lang="ru-RU" dirty="0"/>
              <a:t>2104</a:t>
            </a:r>
            <a:r>
              <a:rPr lang="en-US" dirty="0"/>
              <a:t>  February 1997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D7619D5F-1168-4DB4-95EF-A70E6B1563B2}"/>
              </a:ext>
            </a:extLst>
          </p:cNvPr>
          <p:cNvSpPr txBox="1"/>
          <p:nvPr/>
        </p:nvSpPr>
        <p:spPr>
          <a:xfrm>
            <a:off x="2913888" y="929684"/>
            <a:ext cx="7038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smtClean="0"/>
              <a:t>HMAC(K, M</a:t>
            </a:r>
            <a:r>
              <a:rPr lang="uz-Cyrl-UZ" sz="2800" dirty="0" smtClean="0"/>
              <a:t>)</a:t>
            </a:r>
            <a:r>
              <a:rPr lang="en-US" sz="2800" dirty="0" smtClean="0"/>
              <a:t> </a:t>
            </a:r>
            <a:r>
              <a:rPr lang="en-US" sz="2800" dirty="0"/>
              <a:t>= </a:t>
            </a:r>
            <a:r>
              <a:rPr lang="ru-RU" sz="2800" dirty="0"/>
              <a:t>H(K </a:t>
            </a:r>
            <a:r>
              <a:rPr lang="en-US" sz="2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⊕</a:t>
            </a:r>
            <a:r>
              <a:rPr lang="ru-RU" sz="2800" dirty="0"/>
              <a:t> </a:t>
            </a:r>
            <a:r>
              <a:rPr lang="ru-RU" sz="2800" noProof="1" smtClean="0"/>
              <a:t>opad</a:t>
            </a:r>
            <a:r>
              <a:rPr lang="ru-RU" sz="2800" dirty="0" smtClean="0"/>
              <a:t>, </a:t>
            </a:r>
            <a:r>
              <a:rPr lang="ru-RU" sz="2800" dirty="0"/>
              <a:t>H(K </a:t>
            </a:r>
            <a:r>
              <a:rPr lang="en-US" sz="2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⊕</a:t>
            </a:r>
            <a:r>
              <a:rPr lang="ru-RU" sz="2800" dirty="0"/>
              <a:t> </a:t>
            </a:r>
            <a:r>
              <a:rPr lang="ru-RU" sz="2800" noProof="1" smtClean="0"/>
              <a:t>ipad,</a:t>
            </a:r>
            <a:r>
              <a:rPr lang="ru-RU" sz="2800" dirty="0" smtClean="0"/>
              <a:t> </a:t>
            </a:r>
            <a:r>
              <a:rPr lang="en-US" sz="2800" dirty="0" smtClean="0"/>
              <a:t>M</a:t>
            </a:r>
            <a:r>
              <a:rPr lang="ru-RU" sz="2800" dirty="0" smtClean="0"/>
              <a:t>))</a:t>
            </a:r>
            <a:endParaRPr lang="uz-Cyrl-UZ" sz="2800" dirty="0"/>
          </a:p>
        </p:txBody>
      </p:sp>
    </p:spTree>
    <p:extLst>
      <p:ext uri="{BB962C8B-B14F-4D97-AF65-F5344CB8AC3E}">
        <p14:creationId xmlns:p14="http://schemas.microsoft.com/office/powerpoint/2010/main" val="150811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2817342" y="57663"/>
            <a:ext cx="7256298" cy="543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TLS 1.2 </a:t>
            </a:r>
            <a:r>
              <a:rPr lang="en-US" sz="3200" b="1" noProof="1" smtClean="0"/>
              <a:t>protokolida kalitlar generatsiyasi </a:t>
            </a:r>
            <a:endParaRPr lang="en-US" sz="3200" b="1" noProof="1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696" y="3959022"/>
            <a:ext cx="7053944" cy="295287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276224" y="519325"/>
            <a:ext cx="8162926" cy="32011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"key expansion" ||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server_random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||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client_random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	 		 </a:t>
            </a:r>
            <a:r>
              <a:rPr 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a[0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1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endParaRPr lang="ru-RU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"key expansion"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hajmi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bayt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boʻlgan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oʻzgarmas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endParaRPr lang="en-US" sz="7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a[1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data=a[0])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a[2]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data=a[1])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a[3]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data=a[2])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a[n]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data=a[n-1])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7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Стрелка вправо 6"/>
          <p:cNvSpPr/>
          <p:nvPr/>
        </p:nvSpPr>
        <p:spPr>
          <a:xfrm>
            <a:off x="5859703" y="701425"/>
            <a:ext cx="1266825" cy="200259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6134100" y="1473470"/>
            <a:ext cx="6057900" cy="2347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p[1]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data=a[1] + seed)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p[2]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data=a[2] + seed)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p[3]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data=a[3] + seed)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p[n] = HMAC-SHA256(key=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MasterSecret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data=a[n-1] + seed)</a:t>
            </a:r>
            <a:endParaRPr lang="ru-RU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= p1 || p2 || p3 || … ||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endParaRPr lang="ru-RU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4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99" y="1010401"/>
            <a:ext cx="11515801" cy="455940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491" y="5708700"/>
            <a:ext cx="9924601" cy="8364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1800829" y="123566"/>
            <a:ext cx="9415811" cy="760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noProof="1" smtClean="0">
                <a:latin typeface="Arial" panose="020B0604020202020204" pitchFamily="34" charset="0"/>
                <a:cs typeface="Arial" panose="020B0604020202020204" pitchFamily="34" charset="0"/>
              </a:rPr>
              <a:t>PRF funksiyasining umumiy sxemasi</a:t>
            </a:r>
            <a:endParaRPr lang="en-US" sz="2400" b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63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24" y="3113816"/>
            <a:ext cx="10424984" cy="374418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360347" y="0"/>
            <a:ext cx="7500138" cy="543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TLS 1.2 </a:t>
            </a:r>
            <a:r>
              <a:rPr lang="en-US" sz="3200" b="1" noProof="1" smtClean="0"/>
              <a:t>protokolida kalitlar generatsiyasi </a:t>
            </a:r>
            <a:endParaRPr lang="en-US" sz="3200" b="1" noProof="1"/>
          </a:p>
        </p:txBody>
      </p:sp>
      <p:sp>
        <p:nvSpPr>
          <p:cNvPr id="2" name="Прямоугольник 1"/>
          <p:cNvSpPr/>
          <p:nvPr/>
        </p:nvSpPr>
        <p:spPr>
          <a:xfrm>
            <a:off x="300166" y="448447"/>
            <a:ext cx="11620500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noProof="1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	Har ikki tomonda hosil qilingan P qiymat mos ravishda 6 qisimga quydagi tartibda boʻlinadi. </a:t>
            </a:r>
            <a:r>
              <a:rPr lang="en-US" noProof="1" smtClean="0"/>
              <a:t>Boʻlinish jarayonida ortib qolgan baytlar tashlab yuboriladi. Nechta p[i] qiymatlarni hisoblab konkatenatsiya qilish Server_hello habari orqali oldindan kelishib olingan simmetrik shifirlash algoritmi va xesh funksiyasiga bogʻliq boʻladi.</a:t>
            </a:r>
            <a:endParaRPr lang="en-US" noProof="1"/>
          </a:p>
        </p:txBody>
      </p:sp>
      <p:sp>
        <p:nvSpPr>
          <p:cNvPr id="3" name="Прямоугольник 2"/>
          <p:cNvSpPr/>
          <p:nvPr/>
        </p:nvSpPr>
        <p:spPr>
          <a:xfrm>
            <a:off x="300166" y="1781352"/>
            <a:ext cx="118491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 mac key = P[1…20 bytes]	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Client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key = P[41…56 bytes]	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Client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IV = P[73…88 bytes]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 mac key = P[21…40 bytes]	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Server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key = P[57…72 bytes]	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Server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IV = P[89…104 bytes]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48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800829" y="123566"/>
            <a:ext cx="9415811" cy="760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TLS 1.2 </a:t>
            </a:r>
            <a:r>
              <a:rPr lang="en-US" sz="2400" b="1" noProof="1" smtClean="0">
                <a:latin typeface="Arial" panose="020B0604020202020204" pitchFamily="34" charset="0"/>
                <a:cs typeface="Arial" panose="020B0604020202020204" pitchFamily="34" charset="0"/>
              </a:rPr>
              <a:t>protokolida kalitlar generatsiyasining umumiy sxemasi</a:t>
            </a:r>
            <a:endParaRPr lang="en-US" sz="2400" b="1" noProof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04" y="1863524"/>
            <a:ext cx="11846878" cy="435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48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="" xmlns:a16="http://schemas.microsoft.com/office/drawing/2014/main" id="{667DC8D3-CD6C-450F-956B-492669BA9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5949" y="2056830"/>
            <a:ext cx="8277225" cy="217227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7200" b="1" i="1" noProof="1" smtClean="0"/>
              <a:t>E’tiboringiz uchun rahmat!!!</a:t>
            </a:r>
            <a:endParaRPr lang="en-US" sz="7200" b="1" i="1" noProof="1"/>
          </a:p>
        </p:txBody>
      </p:sp>
    </p:spTree>
    <p:extLst>
      <p:ext uri="{BB962C8B-B14F-4D97-AF65-F5344CB8AC3E}">
        <p14:creationId xmlns:p14="http://schemas.microsoft.com/office/powerpoint/2010/main" val="117367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60" b="59265"/>
          <a:stretch>
            <a:fillRect/>
          </a:stretch>
        </p:blipFill>
        <p:spPr bwMode="auto">
          <a:xfrm>
            <a:off x="1416452" y="1142999"/>
            <a:ext cx="8811281" cy="45889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154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1040" y="-9779"/>
            <a:ext cx="11204448" cy="677291"/>
          </a:xfrm>
        </p:spPr>
        <p:txBody>
          <a:bodyPr>
            <a:normAutofit/>
          </a:bodyPr>
          <a:lstStyle/>
          <a:p>
            <a:pPr algn="ctr"/>
            <a:r>
              <a:rPr lang="en-US" sz="3600" b="1" noProof="1" smtClean="0">
                <a:latin typeface="Seravek"/>
              </a:rPr>
              <a:t>TLS 1.2 protokolidagi kriptoshifirlar to’plami.</a:t>
            </a:r>
            <a:endParaRPr lang="en-US" sz="3600" noProof="1">
              <a:latin typeface="Seravek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49224"/>
            <a:ext cx="12192000" cy="6108192"/>
          </a:xfrm>
        </p:spPr>
        <p:txBody>
          <a:bodyPr numCol="2" spcCol="144000">
            <a:noAutofit/>
          </a:bodyPr>
          <a:lstStyle/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TLS_NULL_WITH_NULL_NULL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TLS_RSA_WITH_NULL_MD5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LS_RSA_WITH_NULL_SHA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TLS_RSA_WITH_NULL_SHA256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TLS_RSA_WITH_RC4_128_MD5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TLS_RSA_WITH_RC4_128_SHA 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TLS_RSA_WITH_3DES_EDE_CBC_SHA 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TLS_RSA_WITH_AES_128_CBC_SHA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TLS_RSA_WITH_AES_256_CBC_SHA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TLS_RSA_WITH_AES_128_CBC_SHA256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TLS_RSA_WITH_AES_256_CBC_SHA256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TLS_DH_DSS_WITH_3DES_EDE_CBC_SHA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TLS_DH_RSA_WITH_3DES_EDE_CBC_SHA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TLS_DHE_DSS_WITH_3DES_EDE_CBC_SHA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TLS_DHE_RSA_WITH_3DES_EDE_CBC_SHA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TLS_DH_anon_WITH_RC4_128_MD5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 indent="-136525"/>
            <a:r>
              <a:rPr lang="en-US" sz="1400" dirty="0">
                <a:latin typeface="Seravek"/>
                <a:cs typeface="Arial" panose="020B0604020202020204" pitchFamily="34" charset="0"/>
              </a:rPr>
              <a:t>TLS_DH_anon_WITH_3DES_EDE_CBC_SHA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TLS_DH_DSS_WITH_AES_128_CBC_SHA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TLS_DH_RSA_WITH_AES_128_CBC_SHA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TLS_DHE_DSS_WITH_AES_128_CBC_SHA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TLS_DHE_RSA_WITH_AES_128_CBC_SHA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TLS_DH_anon_WITH_AES_128_CBC_SHA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TLS_DH_DSS_WITH_AES_256_CBC_SHA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TLS_DH_RSA_WITH_AES_256_CBC_SHA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TLS_DHE_DSS_WITH_AES_256_CBC_SHA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TLS_DHE_RSA_WITH_AES_256_CBC_SHA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TLS_DH_anon_WITH_AES_256_CBC_SHA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TLS_DH_DSS_WITH_AES_128_CBC_SHA256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TLS_DH_RSA_WITH_AES_128_CBC_SHA256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TLS_DHE_DSS_WITH_AES_128_CBC_SHA256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TLS_DHE_RSA_WITH_AES_128_CBC_SHA256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TLS_DH_anon_WITH_AES_128_CBC_SHA256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TLS_DH_DSS_WITH_AES_256_CBC_SHA256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TLS_DH_RSA_WITH_AES_256_CBC_SHA256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TLS_DHE_DSS_WITH_AES_256_CBC_SHA256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pPr lvl="0"/>
            <a:r>
              <a:rPr lang="en-US" sz="1400" dirty="0">
                <a:latin typeface="Seravek"/>
                <a:cs typeface="Arial" panose="020B0604020202020204" pitchFamily="34" charset="0"/>
              </a:rPr>
              <a:t>TLS_DHE_RSA_WITH_AES_256_CBC_SHA256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  <a:p>
            <a:r>
              <a:rPr lang="en-US" sz="1400" dirty="0">
                <a:latin typeface="Seravek"/>
                <a:cs typeface="Arial" panose="020B0604020202020204" pitchFamily="34" charset="0"/>
              </a:rPr>
              <a:t>TLS_DH_anon_WITH_AES_256_CBC_SHA256</a:t>
            </a:r>
            <a:endParaRPr lang="ru-RU" sz="1400" dirty="0">
              <a:latin typeface="Seravek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35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80F5A04E-30F8-4DD0-A229-C47685E7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60337"/>
            <a:ext cx="11553825" cy="520700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lvl="1" algn="ctr"/>
            <a:r>
              <a:rPr lang="en-US" sz="3200" b="1" i="1" noProof="1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3. TLS protokollarida kalitlarni hosil qilish algoritimlari.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xmlns="" id="{6A96E085-2B4B-41F6-AA0C-F077B031F7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9" r="10189"/>
          <a:stretch/>
        </p:blipFill>
        <p:spPr>
          <a:xfrm>
            <a:off x="266700" y="962025"/>
            <a:ext cx="11744325" cy="5829300"/>
          </a:xfrm>
        </p:spPr>
      </p:pic>
    </p:spTree>
    <p:extLst>
      <p:ext uri="{BB962C8B-B14F-4D97-AF65-F5344CB8AC3E}">
        <p14:creationId xmlns:p14="http://schemas.microsoft.com/office/powerpoint/2010/main" val="5598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EE2DC540-3D8F-4AED-A00A-3F84A5A2E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5" y="84137"/>
            <a:ext cx="11791949" cy="506413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 fontScale="90000"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lvl="1" algn="ctr"/>
            <a:r>
              <a:rPr lang="en-US" sz="3200" b="1" i="1" noProof="1">
                <a:solidFill>
                  <a:schemeClr val="tx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3. TLS protokollarida kalitlarni hosil qilish algoritimlari.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xmlns="" id="{137E30AB-59D6-4AC1-8526-D2B074D0C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26" r="10235"/>
          <a:stretch/>
        </p:blipFill>
        <p:spPr>
          <a:xfrm>
            <a:off x="238126" y="800099"/>
            <a:ext cx="11791948" cy="5973763"/>
          </a:xfrm>
        </p:spPr>
      </p:pic>
    </p:spTree>
    <p:extLst>
      <p:ext uri="{BB962C8B-B14F-4D97-AF65-F5344CB8AC3E}">
        <p14:creationId xmlns:p14="http://schemas.microsoft.com/office/powerpoint/2010/main" val="287299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333" y="148605"/>
            <a:ext cx="6900334" cy="728433"/>
          </a:xfrm>
        </p:spPr>
        <p:txBody>
          <a:bodyPr>
            <a:normAutofit/>
          </a:bodyPr>
          <a:lstStyle/>
          <a:p>
            <a:pPr algn="ctr"/>
            <a:r>
              <a:rPr lang="en-US" sz="3600" b="1" i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1 bob </a:t>
            </a:r>
            <a:r>
              <a:rPr lang="en-US" sz="3600" b="1" i="1" dirty="0" err="1" smtClean="0">
                <a:solidFill>
                  <a:schemeClr val="tx1"/>
                </a:solidFill>
                <a:latin typeface="Algerian" panose="04020705040A02060702" pitchFamily="82" charset="0"/>
              </a:rPr>
              <a:t>bo’yicha</a:t>
            </a:r>
            <a:r>
              <a:rPr lang="en-US" sz="3600" b="1" i="1" dirty="0" smtClean="0">
                <a:solidFill>
                  <a:schemeClr val="tx1"/>
                </a:solidFill>
                <a:latin typeface="Algerian" panose="04020705040A02060702" pitchFamily="82" charset="0"/>
              </a:rPr>
              <a:t> </a:t>
            </a:r>
            <a:r>
              <a:rPr lang="en-US" sz="3600" b="1" i="1" dirty="0" err="1" smtClean="0">
                <a:solidFill>
                  <a:schemeClr val="tx1"/>
                </a:solidFill>
                <a:latin typeface="Algerian" panose="04020705040A02060702" pitchFamily="82" charset="0"/>
              </a:rPr>
              <a:t>Xulosa</a:t>
            </a:r>
            <a:endParaRPr lang="en-US" sz="3600" b="1" i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757746" y="5519879"/>
            <a:ext cx="10364564" cy="1016000"/>
            <a:chOff x="1195" y="1327"/>
            <a:chExt cx="2294" cy="640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gray">
            <a:xfrm rot="3419336">
              <a:off x="1060" y="1551"/>
              <a:ext cx="430" cy="160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gray">
            <a:xfrm>
              <a:off x="1450" y="1327"/>
              <a:ext cx="2039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uz-Latn-UZ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TLS 1.2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protokolida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autentifikatsiya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RSA, ECDSA ERI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algoritimlari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maxfiylik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AES, Chacha_poly13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algoritimlari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yahlitlik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esa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SHA-256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kalitli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xesh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funksiya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bilan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ta’minlanadi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tarkibiy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qisimlari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tadqiq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qilindi</a:t>
              </a:r>
              <a:r>
                <a: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en-US" sz="2000" dirty="0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gray">
            <a:xfrm>
              <a:off x="1242" y="1485"/>
              <a:ext cx="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" name="Group 7"/>
          <p:cNvGrpSpPr>
            <a:grpSpLocks/>
          </p:cNvGrpSpPr>
          <p:nvPr/>
        </p:nvGrpSpPr>
        <p:grpSpPr bwMode="auto">
          <a:xfrm>
            <a:off x="750282" y="2308429"/>
            <a:ext cx="10259502" cy="1016908"/>
            <a:chOff x="1277" y="2038"/>
            <a:chExt cx="4598" cy="365"/>
          </a:xfrm>
        </p:grpSpPr>
        <p:sp>
          <p:nvSpPr>
            <p:cNvPr id="11" name="Rectangle 9"/>
            <p:cNvSpPr>
              <a:spLocks noChangeArrowheads="1"/>
            </p:cNvSpPr>
            <p:nvPr/>
          </p:nvSpPr>
          <p:spPr bwMode="gray">
            <a:xfrm rot="3419336">
              <a:off x="1298" y="2081"/>
              <a:ext cx="229" cy="272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gray">
            <a:xfrm>
              <a:off x="1731" y="2038"/>
              <a:ext cx="41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uz-Latn-UZ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IETF (Internet Engineering Task Force) tomonidan 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1999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yilda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TLS 1.0 (RFC 2246), 2006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yilda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TLS 1.1 (RFC 4346), 2008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yilda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TLS 1.2 (RFC 5246), 2018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yilda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TLS 1.3 (RFC 8446)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yaratilib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amaliyotga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kiritilgan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gray">
            <a:xfrm>
              <a:off x="1366" y="2131"/>
              <a:ext cx="160" cy="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4" name="Group 12"/>
          <p:cNvGrpSpPr>
            <a:grpSpLocks/>
          </p:cNvGrpSpPr>
          <p:nvPr/>
        </p:nvGrpSpPr>
        <p:grpSpPr bwMode="auto">
          <a:xfrm>
            <a:off x="717495" y="3449651"/>
            <a:ext cx="10167712" cy="716972"/>
            <a:chOff x="1288" y="2784"/>
            <a:chExt cx="4630" cy="407"/>
          </a:xfrm>
        </p:grpSpPr>
        <p:sp>
          <p:nvSpPr>
            <p:cNvPr id="16" name="Rectangle 14"/>
            <p:cNvSpPr>
              <a:spLocks noChangeArrowheads="1"/>
            </p:cNvSpPr>
            <p:nvPr/>
          </p:nvSpPr>
          <p:spPr bwMode="gray">
            <a:xfrm rot="3419336">
              <a:off x="1246" y="2826"/>
              <a:ext cx="407" cy="324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gray">
            <a:xfrm>
              <a:off x="1759" y="2831"/>
              <a:ext cx="4159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SSL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va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TLS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protokollari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maqsadi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: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autentifikatsiya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maxfiylik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yahlitlikni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ta’minlash</a:t>
              </a:r>
              <a:r>
                <a: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en-US" sz="2000" dirty="0"/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gray">
            <a:xfrm>
              <a:off x="1397" y="2812"/>
              <a:ext cx="16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9" name="Group 17"/>
          <p:cNvGrpSpPr>
            <a:grpSpLocks/>
          </p:cNvGrpSpPr>
          <p:nvPr/>
        </p:nvGrpSpPr>
        <p:grpSpPr bwMode="auto">
          <a:xfrm>
            <a:off x="727063" y="4490116"/>
            <a:ext cx="10395247" cy="722313"/>
            <a:chOff x="1250" y="3540"/>
            <a:chExt cx="5109" cy="455"/>
          </a:xfrm>
        </p:grpSpPr>
        <p:sp>
          <p:nvSpPr>
            <p:cNvPr id="21" name="Rectangle 19"/>
            <p:cNvSpPr>
              <a:spLocks noChangeArrowheads="1"/>
            </p:cNvSpPr>
            <p:nvPr/>
          </p:nvSpPr>
          <p:spPr bwMode="gray">
            <a:xfrm rot="3419336">
              <a:off x="1204" y="3618"/>
              <a:ext cx="423" cy="331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993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Text Box 20"/>
            <p:cNvSpPr txBox="1">
              <a:spLocks noChangeArrowheads="1"/>
            </p:cNvSpPr>
            <p:nvPr/>
          </p:nvSpPr>
          <p:spPr bwMode="gray">
            <a:xfrm>
              <a:off x="1774" y="3540"/>
              <a:ext cx="4585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TLS 1.2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protokolida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autentifikatsiya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masalasi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faqat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server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uchun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majburiy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,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mijoz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uchun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esa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ixtiyoriy</a:t>
              </a: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</a:t>
              </a:r>
              <a:r>
                <a:rPr lang="en-US" sz="20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hisoblanadi</a:t>
              </a:r>
              <a:r>
                <a: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.</a:t>
              </a:r>
              <a:endParaRPr lang="en-US" sz="2000" dirty="0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gray">
            <a:xfrm>
              <a:off x="1355" y="3618"/>
              <a:ext cx="1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683096" y="1438888"/>
            <a:ext cx="10278719" cy="708025"/>
            <a:chOff x="1197" y="1341"/>
            <a:chExt cx="2275" cy="446"/>
          </a:xfrm>
        </p:grpSpPr>
        <p:sp>
          <p:nvSpPr>
            <p:cNvPr id="24" name="Rectangle 4"/>
            <p:cNvSpPr>
              <a:spLocks noChangeArrowheads="1"/>
            </p:cNvSpPr>
            <p:nvPr/>
          </p:nvSpPr>
          <p:spPr bwMode="gray">
            <a:xfrm rot="3419336">
              <a:off x="1078" y="1469"/>
              <a:ext cx="381" cy="143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Text Box 5"/>
            <p:cNvSpPr txBox="1">
              <a:spLocks noChangeArrowheads="1"/>
            </p:cNvSpPr>
            <p:nvPr/>
          </p:nvSpPr>
          <p:spPr bwMode="gray">
            <a:xfrm>
              <a:off x="1433" y="1341"/>
              <a:ext cx="2039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just"/>
              <a:r>
                <a:rPr lang="uz-Latn-UZ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Netscape aloqa kompaniyasi tomonidan1994 yilda SSL 1.0, 1995 yilda SSL 2.0, </a:t>
              </a:r>
              <a:r>
                <a: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/>
              </a:r>
              <a:br>
                <a:rPr lang="en-US" sz="2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uz-Latn-UZ" sz="2000" dirty="0" smtClea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1996 </a:t>
              </a:r>
              <a:r>
                <a:rPr lang="uz-Latn-UZ" sz="20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yilda SSL 3.0 transport protokollari yaratilgan</a:t>
              </a:r>
              <a:r>
                <a:rPr lang="uz-Latn-UZ" sz="1400" dirty="0"/>
                <a:t>.</a:t>
              </a:r>
              <a:endParaRPr lang="en-US" sz="1400" dirty="0"/>
            </a:p>
          </p:txBody>
        </p:sp>
        <p:sp>
          <p:nvSpPr>
            <p:cNvPr id="26" name="Text Box 6"/>
            <p:cNvSpPr txBox="1">
              <a:spLocks noChangeArrowheads="1"/>
            </p:cNvSpPr>
            <p:nvPr/>
          </p:nvSpPr>
          <p:spPr bwMode="gray">
            <a:xfrm>
              <a:off x="1242" y="1395"/>
              <a:ext cx="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904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1637</TotalTime>
  <Words>586</Words>
  <Application>Microsoft Office PowerPoint</Application>
  <PresentationFormat>Широкоэкранный</PresentationFormat>
  <Paragraphs>152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4" baseType="lpstr">
      <vt:lpstr>Algerian</vt:lpstr>
      <vt:lpstr>Arial</vt:lpstr>
      <vt:lpstr>Calibri</vt:lpstr>
      <vt:lpstr>Calibri Light</vt:lpstr>
      <vt:lpstr>Cambria Math</vt:lpstr>
      <vt:lpstr>Seravek</vt:lpstr>
      <vt:lpstr>Times New Roman</vt:lpstr>
      <vt:lpstr>Wingdings</vt:lpstr>
      <vt:lpstr>Тема Office</vt:lpstr>
      <vt:lpstr>RADIOELEKTRON TIZIMLAR VA AXBOROT TEXNALOGIYALARI MARKAZI</vt:lpstr>
      <vt:lpstr>Dolzarbligi</vt:lpstr>
      <vt:lpstr>SSL 1.0 va SSL 2.0 protokollari</vt:lpstr>
      <vt:lpstr>SSL 3.0  va TLS 1.0 protokollari</vt:lpstr>
      <vt:lpstr>TLS  1.1 va TLS  1.2 protokollari</vt:lpstr>
      <vt:lpstr>Презентация PowerPoint</vt:lpstr>
      <vt:lpstr>Brauzerlarning SSL/TLS larning qo‘llab-quvvatlovchi versiyalari.</vt:lpstr>
      <vt:lpstr>TLS 1.2 protokoli</vt:lpstr>
      <vt:lpstr>Презентация PowerPoint</vt:lpstr>
      <vt:lpstr>Client Hello</vt:lpstr>
      <vt:lpstr>Server Hello</vt:lpstr>
      <vt:lpstr>Certificate and Server Hello Done </vt:lpstr>
      <vt:lpstr>Client Key Exchange</vt:lpstr>
      <vt:lpstr>Client Key Exchange</vt:lpstr>
      <vt:lpstr>Change Cipher Spec</vt:lpstr>
      <vt:lpstr>Client Finished</vt:lpstr>
      <vt:lpstr>Server Finished</vt:lpstr>
      <vt:lpstr>Alert protokoli</vt:lpstr>
      <vt:lpstr> Fragment – bu qisimda xajmi 16 KB dan oshmaydigan ma’lumot joylashadi.  Compression (siqish algoritmi) - ma'lumotlarni siqish uchun ishlatiladigan algoritm. Bu algoritim TLS 1.2 protokolida null qiymat qabul qiladi.   MAC algoritmi - Xabarlarni autentifikatsiya qilish uchun ishlatiladigan algoritm.  Ommaviy shifrlash algoritmi - katta hajmdagi ma'lumotlarni shifrlash algoritmi bo’lib, ma'lumotlarning asosiy qismini shifrlash uchun ishlatiladi.  Padding –  blokni to’ldirish  Header (sarlavha) – bu qisim type (1 bayt ), protocol version (2 bayt ), length (2 bayt fragment uzunligi) qisimlardan tashkil topadi va u kodlanmaydi. Uning hajmi jami 5 baytni tashkil qiladi.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TLS 1.2 protokolidagi kriptoshifirlar to’plami.</vt:lpstr>
      <vt:lpstr>3. TLS protokollarida kalitlarni hosil qilish algoritimlari.</vt:lpstr>
      <vt:lpstr>3. TLS protokollarida kalitlarni hosil qilish algoritimlari.</vt:lpstr>
      <vt:lpstr>1 bob bo’yicha Xulosa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ECT</dc:creator>
  <cp:lastModifiedBy>ECT</cp:lastModifiedBy>
  <cp:revision>80</cp:revision>
  <dcterms:created xsi:type="dcterms:W3CDTF">2023-11-14T10:47:56Z</dcterms:created>
  <dcterms:modified xsi:type="dcterms:W3CDTF">2024-05-31T03:42:13Z</dcterms:modified>
</cp:coreProperties>
</file>