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6" r:id="rId2"/>
    <p:sldId id="403" r:id="rId3"/>
    <p:sldId id="407" r:id="rId4"/>
    <p:sldId id="404" r:id="rId5"/>
    <p:sldId id="405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0" r:id="rId24"/>
    <p:sldId id="355" r:id="rId25"/>
    <p:sldId id="358" r:id="rId26"/>
    <p:sldId id="359" r:id="rId27"/>
    <p:sldId id="427" r:id="rId28"/>
    <p:sldId id="419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E19E"/>
    <a:srgbClr val="2CC867"/>
    <a:srgbClr val="2ED168"/>
    <a:srgbClr val="00FF00"/>
    <a:srgbClr val="FF7A5B"/>
    <a:srgbClr val="25FFFF"/>
    <a:srgbClr val="CCFFFF"/>
    <a:srgbClr val="FF6699"/>
    <a:srgbClr val="B9E4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93211" autoAdjust="0"/>
  </p:normalViewPr>
  <p:slideViewPr>
    <p:cSldViewPr snapToGrid="0">
      <p:cViewPr varScale="1">
        <p:scale>
          <a:sx n="105" d="100"/>
          <a:sy n="105" d="100"/>
        </p:scale>
        <p:origin x="128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67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65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25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18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67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483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91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488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32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29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22C19-F783-42F8-9D2B-29CD55228C33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BF36E-0FD1-4828-964E-957B44BDC7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81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9.emf"/><Relationship Id="rId4" Type="http://schemas.openxmlformats.org/officeDocument/2006/relationships/package" Target="../embeddings/_________Microsoft_Visio1.vsd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63" y="12700"/>
            <a:ext cx="12214663" cy="68453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380" y="155262"/>
            <a:ext cx="11827239" cy="1325563"/>
          </a:xfrm>
        </p:spPr>
        <p:txBody>
          <a:bodyPr>
            <a:normAutofit/>
          </a:bodyPr>
          <a:lstStyle/>
          <a:p>
            <a:pPr algn="ctr"/>
            <a:r>
              <a:rPr lang="en-US" b="1" i="1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RADIOELEKTRON TIZIMLAR VA AXBOROT TEXNALOGIYALARI MARKAZI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5525315D-F74A-420D-BE8B-1F3FD6845D28}"/>
              </a:ext>
            </a:extLst>
          </p:cNvPr>
          <p:cNvSpPr/>
          <p:nvPr/>
        </p:nvSpPr>
        <p:spPr>
          <a:xfrm>
            <a:off x="2554965" y="1854652"/>
            <a:ext cx="7213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i="1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MAGISTRLIK DISSERTATSIYA ISHI</a:t>
            </a:r>
            <a:endParaRPr lang="ru-RU" sz="2800" b="1" i="1" dirty="0">
              <a:ln w="12700" cmpd="sng">
                <a:solidFill>
                  <a:schemeClr val="accent4"/>
                </a:solidFill>
                <a:prstDash val="solid"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959845" y="3029988"/>
            <a:ext cx="10403839" cy="1228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noProof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Mavzu: Tarmoqning transport bosqichida xavfsiz ulanishni o‘rnatish xalqaro protokollari tadqiqi</a:t>
            </a:r>
            <a:endParaRPr lang="en-US" sz="2400" b="1" noProof="1">
              <a:ln w="12700" cmpd="sng">
                <a:solidFill>
                  <a:schemeClr val="accent4"/>
                </a:solidFill>
                <a:prstDash val="solid"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E85A3AE6-820F-4DBE-8E4D-E677131D12B7}"/>
              </a:ext>
            </a:extLst>
          </p:cNvPr>
          <p:cNvSpPr txBox="1">
            <a:spLocks/>
          </p:cNvSpPr>
          <p:nvPr/>
        </p:nvSpPr>
        <p:spPr>
          <a:xfrm>
            <a:off x="7883229" y="5091319"/>
            <a:ext cx="4047513" cy="7849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Dissertant:              Maxmudjonov K.O.</a:t>
            </a:r>
          </a:p>
          <a:p>
            <a:pPr algn="l"/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Ilmiy rahbar :          Baxtiyorov U.B.</a:t>
            </a:r>
          </a:p>
          <a:p>
            <a:pPr algn="l"/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17857AAA-D22A-4974-80F4-7B5681F73B54}"/>
              </a:ext>
            </a:extLst>
          </p:cNvPr>
          <p:cNvSpPr txBox="1">
            <a:spLocks/>
          </p:cNvSpPr>
          <p:nvPr/>
        </p:nvSpPr>
        <p:spPr>
          <a:xfrm>
            <a:off x="5003624" y="6530993"/>
            <a:ext cx="2184750" cy="3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Toshkent 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03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49902" y="146392"/>
            <a:ext cx="11902190" cy="588125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1" algn="ctr">
              <a:lnSpc>
                <a:spcPct val="150000"/>
              </a:lnSpc>
            </a:pPr>
            <a:r>
              <a:rPr lang="en-US" sz="1600" b="1" noProof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WireShark dasturiy ta’minoti yordamida xalqaro TLS protokolidagi paketlar oqimining real holatini tahlil </a:t>
            </a:r>
            <a:r>
              <a:rPr lang="en-US" sz="1600" b="1" noProof="1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qilish</a:t>
            </a:r>
            <a:endParaRPr lang="en-US" sz="1600" b="1" i="1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536700" y="947851"/>
            <a:ext cx="1016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ea typeface="Calibri" panose="020F0502020204030204" pitchFamily="34" charset="0"/>
              </a:rPr>
              <a:t>--</a:t>
            </a:r>
            <a:r>
              <a:rPr lang="en-GB" sz="2400" b="1" dirty="0" err="1" smtClean="0">
                <a:ea typeface="Calibri" panose="020F0502020204030204" pitchFamily="34" charset="0"/>
              </a:rPr>
              <a:t>ssl</a:t>
            </a:r>
            <a:r>
              <a:rPr lang="en-GB" sz="2400" b="1" dirty="0" smtClean="0">
                <a:ea typeface="Calibri" panose="020F0502020204030204" pitchFamily="34" charset="0"/>
              </a:rPr>
              <a:t>-version-max=tls1.3		    --</a:t>
            </a:r>
            <a:r>
              <a:rPr lang="en-GB" sz="2400" b="1" dirty="0" err="1" smtClean="0">
                <a:ea typeface="Calibri" panose="020F0502020204030204" pitchFamily="34" charset="0"/>
              </a:rPr>
              <a:t>ssl</a:t>
            </a:r>
            <a:r>
              <a:rPr lang="en-GB" sz="2400" b="1" dirty="0" smtClean="0">
                <a:ea typeface="Calibri" panose="020F0502020204030204" pitchFamily="34" charset="0"/>
              </a:rPr>
              <a:t>-key-log-file=D</a:t>
            </a:r>
            <a:r>
              <a:rPr lang="en-GB" sz="2400" b="1" dirty="0">
                <a:ea typeface="Calibri" panose="020F0502020204030204" pitchFamily="34" charset="0"/>
              </a:rPr>
              <a:t>:\adfssda\keylog.log </a:t>
            </a:r>
            <a:endParaRPr lang="ru-RU" sz="2400" b="1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46200" y="1622850"/>
            <a:ext cx="4889500" cy="508275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432550" y="1622850"/>
            <a:ext cx="4895850" cy="508275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328525" y="1100251"/>
            <a:ext cx="10137775" cy="575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59259E-6 L -0.90664 -0.0175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39" y="-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870961" y="39508"/>
            <a:ext cx="4636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tls</a:t>
            </a:r>
            <a:r>
              <a:rPr lang="en-GB" sz="2400" dirty="0">
                <a:ea typeface="Calibri" panose="020F0502020204030204" pitchFamily="34" charset="0"/>
                <a:cs typeface="Times New Roman" panose="02020603050405020304" pitchFamily="18" charset="0"/>
              </a:rPr>
              <a:t> &amp;&amp; </a:t>
            </a:r>
            <a:r>
              <a:rPr lang="en-GB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ip.addr</a:t>
            </a:r>
            <a:r>
              <a:rPr lang="en-GB" sz="2400" dirty="0">
                <a:ea typeface="Calibri" panose="020F0502020204030204" pitchFamily="34" charset="0"/>
                <a:cs typeface="Times New Roman" panose="02020603050405020304" pitchFamily="18" charset="0"/>
              </a:rPr>
              <a:t> == 91.190.159.34</a:t>
            </a: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719772" y="501173"/>
            <a:ext cx="10824528" cy="626538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757737" y="1216026"/>
            <a:ext cx="1509395" cy="25717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988751" y="1216025"/>
            <a:ext cx="426087" cy="61753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31214" y="2630488"/>
            <a:ext cx="2988311" cy="13652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66800" y="3514725"/>
            <a:ext cx="3829050" cy="25241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066800" y="4140516"/>
            <a:ext cx="3690937" cy="216027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826451" y="938690"/>
            <a:ext cx="1045211" cy="128109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88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04672" y="461665"/>
            <a:ext cx="10588752" cy="631403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994467" y="1181739"/>
            <a:ext cx="426087" cy="63277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506278" y="0"/>
            <a:ext cx="2662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Client Hello </a:t>
            </a:r>
            <a:r>
              <a:rPr lang="en-GB" sz="24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xabari</a:t>
            </a:r>
            <a:endParaRPr lang="ru-RU" sz="2400" b="1" dirty="0"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746942" y="1181739"/>
            <a:ext cx="1463358" cy="256536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241743" y="3240554"/>
            <a:ext cx="2854007" cy="115523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241743" y="5032842"/>
            <a:ext cx="2396808" cy="644058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54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9301" y="461665"/>
            <a:ext cx="10774999" cy="626298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686300" y="0"/>
            <a:ext cx="25936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ea typeface="Calibri" panose="020F0502020204030204" pitchFamily="34" charset="0"/>
              </a:rPr>
              <a:t>Client Hello </a:t>
            </a:r>
            <a:r>
              <a:rPr lang="en-GB" sz="2400" dirty="0" err="1">
                <a:ea typeface="Calibri" panose="020F0502020204030204" pitchFamily="34" charset="0"/>
              </a:rPr>
              <a:t>xabari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017327" y="1181739"/>
            <a:ext cx="426087" cy="62801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764087" y="1166499"/>
            <a:ext cx="1530033" cy="26860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328737" y="2855599"/>
            <a:ext cx="4221163" cy="49720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328737" y="4608198"/>
            <a:ext cx="1814513" cy="26225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428750" y="6125847"/>
            <a:ext cx="1079500" cy="13525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4931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66725" y="461665"/>
            <a:ext cx="11064241" cy="630108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899548" y="0"/>
            <a:ext cx="2598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ea typeface="Calibri" panose="020F0502020204030204" pitchFamily="34" charset="0"/>
              </a:rPr>
              <a:t>Server Hello </a:t>
            </a:r>
            <a:r>
              <a:rPr lang="en-US" sz="2400" b="1" dirty="0" err="1">
                <a:ea typeface="Calibri" panose="020F0502020204030204" pitchFamily="34" charset="0"/>
              </a:rPr>
              <a:t>xabari</a:t>
            </a:r>
            <a:endParaRPr lang="ru-RU" sz="24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46797" y="2535559"/>
            <a:ext cx="2976563" cy="23812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252537" y="3116284"/>
            <a:ext cx="6367463" cy="40415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359217" y="3885903"/>
            <a:ext cx="5201603" cy="221278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997243" y="5623262"/>
            <a:ext cx="3612857" cy="76229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1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91989" y="747414"/>
            <a:ext cx="10377806" cy="55200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008459" y="0"/>
            <a:ext cx="2544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ea typeface="Calibri" panose="020F0502020204030204" pitchFamily="34" charset="0"/>
              </a:rPr>
              <a:t>Certificate </a:t>
            </a:r>
            <a:r>
              <a:rPr lang="en-US" sz="2400" b="1" dirty="0" err="1">
                <a:ea typeface="Calibri" panose="020F0502020204030204" pitchFamily="34" charset="0"/>
              </a:rPr>
              <a:t>xabari</a:t>
            </a:r>
            <a:endParaRPr lang="ru-RU" sz="24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395603" y="2032338"/>
            <a:ext cx="3004948" cy="23461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776603" y="3551873"/>
            <a:ext cx="9777222" cy="129635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94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0258" y="404515"/>
            <a:ext cx="11584091" cy="63201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90777" y="1457325"/>
            <a:ext cx="10948797" cy="20002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304925" y="1978282"/>
            <a:ext cx="3038476" cy="168356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428749" y="2681585"/>
            <a:ext cx="5743575" cy="88076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304924" y="3705820"/>
            <a:ext cx="2419351" cy="72330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304922" y="4563070"/>
            <a:ext cx="3114677" cy="20895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304922" y="5092957"/>
            <a:ext cx="10534652" cy="19693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133475" y="2146281"/>
            <a:ext cx="3038476" cy="20002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008459" y="0"/>
            <a:ext cx="2544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Certificate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629020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922177" y="468947"/>
            <a:ext cx="10669748" cy="629380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729162" y="0"/>
            <a:ext cx="27336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Certificate Status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904999" y="5220296"/>
            <a:ext cx="3876676" cy="61853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581149" y="2997318"/>
            <a:ext cx="3876676" cy="49835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904999" y="4108807"/>
            <a:ext cx="3552826" cy="86324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8002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6251" y="1166177"/>
            <a:ext cx="11305224" cy="400589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647251" y="48141"/>
            <a:ext cx="5158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Server Key Exchange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Server Hello Done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xabari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2458" y="1914247"/>
            <a:ext cx="5676901" cy="124043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15340" y="3169127"/>
            <a:ext cx="3589020" cy="73362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96251" y="4452898"/>
            <a:ext cx="3151000" cy="73362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863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57350" y="0"/>
            <a:ext cx="91344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Client key Exchange, </a:t>
            </a:r>
            <a:r>
              <a:rPr lang="en-US" sz="2000" b="1" dirty="0" err="1">
                <a:ea typeface="Calibri" panose="020F0502020204030204" pitchFamily="34" charset="0"/>
              </a:rPr>
              <a:t>Cahnge</a:t>
            </a:r>
            <a:r>
              <a:rPr lang="en-US" sz="2000" b="1" dirty="0">
                <a:ea typeface="Calibri" panose="020F0502020204030204" pitchFamily="34" charset="0"/>
              </a:rPr>
              <a:t> Cipher Spec </a:t>
            </a:r>
            <a:r>
              <a:rPr lang="en-US" sz="2000" b="1" dirty="0" err="1">
                <a:ea typeface="Calibri" panose="020F0502020204030204" pitchFamily="34" charset="0"/>
              </a:rPr>
              <a:t>va</a:t>
            </a:r>
            <a:r>
              <a:rPr lang="en-US" sz="2000" b="1" dirty="0">
                <a:ea typeface="Calibri" panose="020F0502020204030204" pitchFamily="34" charset="0"/>
              </a:rPr>
              <a:t> Encrypted Handshake Message </a:t>
            </a:r>
            <a:r>
              <a:rPr lang="en-US" sz="2000" b="1" dirty="0" err="1">
                <a:ea typeface="Calibri" panose="020F0502020204030204" pitchFamily="34" charset="0"/>
              </a:rPr>
              <a:t>xabarlari</a:t>
            </a:r>
            <a:endParaRPr lang="ru-RU" sz="2000" b="1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87753" y="311210"/>
            <a:ext cx="10443211" cy="633406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233863" y="1047472"/>
            <a:ext cx="438150" cy="90039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978400" y="1418946"/>
            <a:ext cx="3581400" cy="26221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81100" y="2757149"/>
            <a:ext cx="3155950" cy="13845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181100" y="4045585"/>
            <a:ext cx="3556000" cy="12573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371600" y="3642020"/>
            <a:ext cx="3835400" cy="39618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181100" y="4680585"/>
            <a:ext cx="3556000" cy="12573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9508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37380" y="488204"/>
            <a:ext cx="10283952" cy="62692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894389" y="0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Application Data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xabari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19563" y="1199872"/>
            <a:ext cx="438150" cy="90039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828222" y="1839952"/>
            <a:ext cx="1115377" cy="26031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32522" y="2906753"/>
            <a:ext cx="3927158" cy="133628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300162" y="3398520"/>
            <a:ext cx="6228398" cy="16883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439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35536" y="0"/>
            <a:ext cx="9480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TLS 1.3 </a:t>
            </a:r>
            <a:r>
              <a:rPr lang="en-US" sz="2000" b="1" dirty="0" err="1">
                <a:ea typeface="Calibri" panose="020F0502020204030204" pitchFamily="34" charset="0"/>
              </a:rPr>
              <a:t>protokoli</a:t>
            </a:r>
            <a:r>
              <a:rPr lang="en-US" sz="2000" b="1" dirty="0">
                <a:ea typeface="Calibri" panose="020F0502020204030204" pitchFamily="34" charset="0"/>
              </a:rPr>
              <a:t> </a:t>
            </a:r>
            <a:r>
              <a:rPr lang="en-US" sz="2000" b="1" dirty="0" err="1">
                <a:ea typeface="Calibri" panose="020F0502020204030204" pitchFamily="34" charset="0"/>
              </a:rPr>
              <a:t>yordamida</a:t>
            </a:r>
            <a:r>
              <a:rPr lang="en-US" sz="2000" b="1" dirty="0">
                <a:ea typeface="Calibri" panose="020F0502020204030204" pitchFamily="34" charset="0"/>
              </a:rPr>
              <a:t> </a:t>
            </a:r>
            <a:r>
              <a:rPr lang="en-US" sz="2000" b="1" dirty="0" err="1">
                <a:ea typeface="Calibri" panose="020F0502020204030204" pitchFamily="34" charset="0"/>
              </a:rPr>
              <a:t>ishlovchi</a:t>
            </a:r>
            <a:r>
              <a:rPr lang="en-US" sz="2000" b="1" dirty="0">
                <a:ea typeface="Calibri" panose="020F0502020204030204" pitchFamily="34" charset="0"/>
              </a:rPr>
              <a:t> kun.uz </a:t>
            </a:r>
            <a:r>
              <a:rPr lang="en-US" sz="2000" b="1" dirty="0" err="1" smtClean="0">
                <a:ea typeface="Calibri" panose="020F0502020204030204" pitchFamily="34" charset="0"/>
              </a:rPr>
              <a:t>sayti</a:t>
            </a:r>
            <a:r>
              <a:rPr lang="en-US" sz="2000" b="1" dirty="0" smtClean="0">
                <a:ea typeface="Calibri" panose="020F0502020204030204" pitchFamily="34" charset="0"/>
              </a:rPr>
              <a:t>   		</a:t>
            </a:r>
            <a:r>
              <a:rPr lang="en-US" sz="2000" b="1" dirty="0" err="1" smtClean="0"/>
              <a:t>ip</a:t>
            </a:r>
            <a:r>
              <a:rPr lang="en-US" sz="2000" b="1" dirty="0" smtClean="0"/>
              <a:t> address = </a:t>
            </a:r>
            <a:r>
              <a:rPr lang="en-US" sz="2000" b="1" dirty="0"/>
              <a:t>91.190.159.34</a:t>
            </a:r>
            <a:endParaRPr lang="ru-RU" sz="2000" b="1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15498" y="473709"/>
            <a:ext cx="10120876" cy="601495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086225" y="6488668"/>
            <a:ext cx="3190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ea typeface="Calibri" panose="020F0502020204030204" pitchFamily="34" charset="0"/>
              </a:rPr>
              <a:t>Client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 Hello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xabari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316672" y="2559049"/>
            <a:ext cx="2715578" cy="13208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589722" y="3416299"/>
            <a:ext cx="3509328" cy="24130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535536" y="4013199"/>
            <a:ext cx="3468264" cy="207645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 flipV="1">
            <a:off x="4231322" y="1177287"/>
            <a:ext cx="461328" cy="6197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4955222" y="1177287"/>
            <a:ext cx="1477328" cy="23876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 flipV="1">
            <a:off x="1316672" y="896617"/>
            <a:ext cx="950278" cy="122558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957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72004" y="400110"/>
            <a:ext cx="10243746" cy="63816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899734" y="0"/>
            <a:ext cx="2567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a typeface="Calibri" panose="020F0502020204030204" pitchFamily="34" charset="0"/>
              </a:rPr>
              <a:t>Client Hello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848802" y="1747519"/>
            <a:ext cx="6830378" cy="67564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673542" y="3590955"/>
            <a:ext cx="3919538" cy="83626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673542" y="5107335"/>
            <a:ext cx="4666298" cy="150682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5036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03494" y="400110"/>
            <a:ext cx="10398443" cy="637216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118808" y="0"/>
            <a:ext cx="21678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Client Hello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14800" y="1123981"/>
            <a:ext cx="463550" cy="71117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887032" y="1123981"/>
            <a:ext cx="1437567" cy="273019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483432" y="3536950"/>
            <a:ext cx="3704518" cy="1397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506365" y="4313237"/>
            <a:ext cx="1792460" cy="26193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638300" y="5730875"/>
            <a:ext cx="1000125" cy="13017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285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194823" y="0"/>
            <a:ext cx="23489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Server Hello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" y="400110"/>
            <a:ext cx="11414760" cy="631501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870325" y="1117601"/>
            <a:ext cx="476250" cy="64452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641849" y="1374776"/>
            <a:ext cx="2981325" cy="273049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57529" y="2464437"/>
            <a:ext cx="3069591" cy="13398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854709" y="3355976"/>
            <a:ext cx="3976371" cy="25590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908049" y="3857625"/>
            <a:ext cx="2452371" cy="14960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998538" y="4624388"/>
            <a:ext cx="1954213" cy="14960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998538" y="5286375"/>
            <a:ext cx="4516437" cy="49530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67438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9927" y="400110"/>
            <a:ext cx="10930573" cy="63531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680777" y="0"/>
            <a:ext cx="5434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Change Cipher Spec </a:t>
            </a:r>
            <a:r>
              <a:rPr lang="en-US" sz="2000" b="1" dirty="0" err="1">
                <a:ea typeface="Calibri" panose="020F0502020204030204" pitchFamily="34" charset="0"/>
              </a:rPr>
              <a:t>va</a:t>
            </a:r>
            <a:r>
              <a:rPr lang="en-US" sz="2000" b="1" dirty="0">
                <a:ea typeface="Calibri" panose="020F0502020204030204" pitchFamily="34" charset="0"/>
              </a:rPr>
              <a:t> Application Data </a:t>
            </a:r>
            <a:r>
              <a:rPr lang="en-US" sz="2000" b="1" dirty="0" err="1">
                <a:ea typeface="Calibri" panose="020F0502020204030204" pitchFamily="34" charset="0"/>
              </a:rPr>
              <a:t>xabarlari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97559" y="3368677"/>
            <a:ext cx="4060191" cy="13652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49959" y="3873561"/>
            <a:ext cx="5273041" cy="15869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97559" y="2711511"/>
            <a:ext cx="3698241" cy="15869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3991609" y="1107986"/>
            <a:ext cx="434341" cy="65731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724400" y="1366809"/>
            <a:ext cx="2863850" cy="26514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9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r="52939" b="83464"/>
          <a:stretch/>
        </p:blipFill>
        <p:spPr bwMode="auto">
          <a:xfrm>
            <a:off x="78104" y="400110"/>
            <a:ext cx="5132071" cy="14620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78103" y="2090676"/>
            <a:ext cx="5132071" cy="470065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5372099" y="728662"/>
            <a:ext cx="6753225" cy="565308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906765" y="0"/>
            <a:ext cx="51022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log </a:t>
            </a:r>
            <a:r>
              <a:rPr lang="en-US" sz="2000" b="1" dirty="0" err="1" smtClean="0">
                <a:ea typeface="Calibri" panose="020F0502020204030204" pitchFamily="34" charset="0"/>
              </a:rPr>
              <a:t>faylni</a:t>
            </a:r>
            <a:r>
              <a:rPr lang="en-US" sz="2000" b="1" dirty="0" smtClean="0">
                <a:ea typeface="Calibri" panose="020F0502020204030204" pitchFamily="34" charset="0"/>
              </a:rPr>
              <a:t> </a:t>
            </a:r>
            <a:r>
              <a:rPr lang="en-US" sz="2000" b="1" dirty="0" err="1" smtClean="0">
                <a:ea typeface="Calibri" panose="020F0502020204030204" pitchFamily="34" charset="0"/>
              </a:rPr>
              <a:t>wireshark</a:t>
            </a:r>
            <a:r>
              <a:rPr lang="en-US" sz="2000" b="1" dirty="0" smtClean="0">
                <a:ea typeface="Calibri" panose="020F0502020204030204" pitchFamily="34" charset="0"/>
              </a:rPr>
              <a:t> </a:t>
            </a:r>
            <a:r>
              <a:rPr lang="en-US" sz="2000" b="1" dirty="0" err="1" smtClean="0">
                <a:ea typeface="Calibri" panose="020F0502020204030204" pitchFamily="34" charset="0"/>
              </a:rPr>
              <a:t>dasturi</a:t>
            </a:r>
            <a:r>
              <a:rPr lang="en-US" sz="2000" b="1" dirty="0" smtClean="0">
                <a:ea typeface="Calibri" panose="020F0502020204030204" pitchFamily="34" charset="0"/>
              </a:rPr>
              <a:t> </a:t>
            </a:r>
            <a:r>
              <a:rPr lang="en-US" sz="2000" b="1" dirty="0" err="1" smtClean="0">
                <a:ea typeface="Calibri" panose="020F0502020204030204" pitchFamily="34" charset="0"/>
              </a:rPr>
              <a:t>yordamida</a:t>
            </a:r>
            <a:r>
              <a:rPr lang="en-US" sz="2000" b="1" dirty="0" smtClean="0">
                <a:ea typeface="Calibri" panose="020F0502020204030204" pitchFamily="34" charset="0"/>
              </a:rPr>
              <a:t> </a:t>
            </a:r>
            <a:r>
              <a:rPr lang="en-US" sz="2000" b="1" dirty="0" err="1">
                <a:ea typeface="Calibri" panose="020F0502020204030204" pitchFamily="34" charset="0"/>
              </a:rPr>
              <a:t>tanlash</a:t>
            </a:r>
            <a:endParaRPr lang="ru-RU" sz="2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464795" y="6488668"/>
            <a:ext cx="1088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fayl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346200" y="4441001"/>
            <a:ext cx="787400" cy="156399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25450" y="3634551"/>
            <a:ext cx="317500" cy="150049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250950" y="1380301"/>
            <a:ext cx="431800" cy="175449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85800" y="825501"/>
            <a:ext cx="565150" cy="22225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378446" y="742952"/>
            <a:ext cx="569917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17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35712" y="0"/>
            <a:ext cx="5852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Log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fayl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tanlanmaganda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tanlangandagi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xabarlar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o‘zgarishi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 rotWithShape="1">
          <a:blip r:embed="rId2"/>
          <a:srcRect r="24287" b="53944"/>
          <a:stretch/>
        </p:blipFill>
        <p:spPr bwMode="auto">
          <a:xfrm>
            <a:off x="2095500" y="3499960"/>
            <a:ext cx="8446308" cy="32246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868852" y="4312466"/>
            <a:ext cx="465148" cy="98343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440358" y="4312466"/>
            <a:ext cx="3189291" cy="98343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64704"/>
            <a:ext cx="8446308" cy="2739884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5258584" y="1359716"/>
            <a:ext cx="465148" cy="124378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982483" y="1359716"/>
            <a:ext cx="2761467" cy="124378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159784" y="1810566"/>
            <a:ext cx="465148" cy="12618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2095500" y="4863443"/>
            <a:ext cx="465148" cy="12618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78190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56404" y="400110"/>
            <a:ext cx="10448925" cy="64578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017984" y="0"/>
            <a:ext cx="2125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Certificate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71863" y="1133477"/>
            <a:ext cx="366712" cy="82867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048129" y="1447803"/>
            <a:ext cx="781050" cy="109536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76315" y="2752725"/>
            <a:ext cx="2176459" cy="10954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262065" y="4010025"/>
            <a:ext cx="6748459" cy="11430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619250" y="4329114"/>
            <a:ext cx="1581150" cy="109480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509712" y="4543426"/>
            <a:ext cx="3024188" cy="5381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619250" y="5162551"/>
            <a:ext cx="1581150" cy="44291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638302" y="5691189"/>
            <a:ext cx="1919288" cy="12858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638301" y="6010336"/>
            <a:ext cx="6372223" cy="128587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660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6572" y="400110"/>
            <a:ext cx="11284903" cy="64578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83728" y="0"/>
            <a:ext cx="40245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ea typeface="Calibri" panose="020F0502020204030204" pitchFamily="34" charset="0"/>
              </a:rPr>
              <a:t>Certificate Verify </a:t>
            </a:r>
            <a:r>
              <a:rPr lang="en-US" sz="2000" b="1" dirty="0" err="1">
                <a:ea typeface="Calibri" panose="020F0502020204030204" pitchFamily="34" charset="0"/>
              </a:rPr>
              <a:t>va</a:t>
            </a:r>
            <a:r>
              <a:rPr lang="en-US" sz="2000" b="1" dirty="0">
                <a:ea typeface="Calibri" panose="020F0502020204030204" pitchFamily="34" charset="0"/>
              </a:rPr>
              <a:t> Finished </a:t>
            </a:r>
            <a:r>
              <a:rPr lang="en-US" sz="2000" b="1" dirty="0" err="1">
                <a:ea typeface="Calibri" panose="020F0502020204030204" pitchFamily="34" charset="0"/>
              </a:rPr>
              <a:t>xabari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38176" y="4781552"/>
            <a:ext cx="2214561" cy="104773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38176" y="2986088"/>
            <a:ext cx="2638424" cy="10477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52489" y="3829050"/>
            <a:ext cx="2214561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981076" y="4245770"/>
            <a:ext cx="7343774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000508" y="1551447"/>
            <a:ext cx="1400167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300424" y="1149015"/>
            <a:ext cx="423851" cy="617875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6707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9477" y="400110"/>
            <a:ext cx="11580813" cy="64578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895993" y="0"/>
            <a:ext cx="24477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a typeface="Calibri" panose="020F0502020204030204" pitchFamily="34" charset="0"/>
              </a:rPr>
              <a:t>New Session Ticket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21133" y="1662572"/>
            <a:ext cx="1984367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57208" y="2586497"/>
            <a:ext cx="2689217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84209" y="3105669"/>
            <a:ext cx="1758942" cy="119062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08034" y="3429518"/>
            <a:ext cx="3641716" cy="85038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708034" y="5120805"/>
            <a:ext cx="3641716" cy="850381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olid"/>
          </a:ln>
          <a:effectLst>
            <a:outerShdw blurRad="3683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26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475869" y="148971"/>
            <a:ext cx="11073384" cy="470154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defTabSz="447675">
              <a:lnSpc>
                <a:spcPct val="150000"/>
              </a:lnSpc>
            </a:pPr>
            <a:r>
              <a:rPr lang="en-US" sz="2000" b="1" noProof="1">
                <a:solidFill>
                  <a:schemeClr val="tx1"/>
                </a:solidFill>
                <a:ea typeface="Calibri" panose="020F0502020204030204" pitchFamily="34" charset="0"/>
              </a:rPr>
              <a:t>	Xalqaro TLS protokolini </a:t>
            </a:r>
            <a:r>
              <a:rPr lang="en-US" sz="2000" b="1" noProof="1" smtClean="0">
                <a:solidFill>
                  <a:schemeClr val="tx1"/>
                </a:solidFill>
                <a:ea typeface="Calibri" panose="020F0502020204030204" pitchFamily="34" charset="0"/>
              </a:rPr>
              <a:t>qo‘llab-quvvatlovchi </a:t>
            </a:r>
            <a:r>
              <a:rPr lang="en-US" sz="2000" b="1" noProof="1">
                <a:solidFill>
                  <a:schemeClr val="tx1"/>
                </a:solidFill>
                <a:ea typeface="Calibri" panose="020F0502020204030204" pitchFamily="34" charset="0"/>
              </a:rPr>
              <a:t>milliy web </a:t>
            </a:r>
            <a:r>
              <a:rPr lang="en-US" sz="2000" b="1" noProof="1" smtClean="0">
                <a:solidFill>
                  <a:schemeClr val="tx1"/>
                </a:solidFill>
                <a:ea typeface="Calibri" panose="020F0502020204030204" pitchFamily="34" charset="0"/>
              </a:rPr>
              <a:t>saytlarga </a:t>
            </a:r>
            <a:r>
              <a:rPr lang="en-US" sz="2000" b="1" noProof="1">
                <a:solidFill>
                  <a:schemeClr val="tx1"/>
                </a:solidFill>
                <a:ea typeface="Calibri" panose="020F0502020204030204" pitchFamily="34" charset="0"/>
              </a:rPr>
              <a:t>misollar</a:t>
            </a:r>
            <a:endParaRPr lang="en-US" sz="2000" b="1" noProof="1">
              <a:solidFill>
                <a:schemeClr val="tx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50" y="1134427"/>
            <a:ext cx="10980703" cy="528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9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DF4F5B-6D02-40AB-990F-0473F73A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43" y="2365375"/>
            <a:ext cx="11557416" cy="1891832"/>
          </a:xfrm>
        </p:spPr>
        <p:txBody>
          <a:bodyPr>
            <a:noAutofit/>
          </a:bodyPr>
          <a:lstStyle/>
          <a:p>
            <a:pPr algn="ctr"/>
            <a:r>
              <a:rPr lang="en-US" sz="7200" b="1" i="1" noProof="1" smtClean="0">
                <a:latin typeface="Algerian" panose="04020705040A02060702" pitchFamily="82" charset="0"/>
              </a:rPr>
              <a:t>E’tiboringiz   uchun  rahmat!!!</a:t>
            </a:r>
            <a:endParaRPr lang="en-US" sz="7200" noProof="1"/>
          </a:p>
        </p:txBody>
      </p:sp>
    </p:spTree>
    <p:extLst>
      <p:ext uri="{BB962C8B-B14F-4D97-AF65-F5344CB8AC3E}">
        <p14:creationId xmlns:p14="http://schemas.microsoft.com/office/powerpoint/2010/main" val="2169720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55333" y="64010"/>
            <a:ext cx="6900334" cy="4176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1" noProof="1">
                <a:latin typeface="+mn-lt"/>
              </a:rPr>
              <a:t>3</a:t>
            </a:r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3600" b="1" i="1" noProof="1">
                <a:solidFill>
                  <a:schemeClr val="tx1"/>
                </a:solidFill>
                <a:latin typeface="+mn-lt"/>
              </a:rPr>
              <a:t>bob bo’yicha Xulosa</a:t>
            </a: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686783" y="794138"/>
            <a:ext cx="10948117" cy="758696"/>
            <a:chOff x="1197" y="1390"/>
            <a:chExt cx="2269" cy="407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 rot="3419336">
              <a:off x="1078" y="1509"/>
              <a:ext cx="381" cy="143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gray">
            <a:xfrm>
              <a:off x="1427" y="1417"/>
              <a:ext cx="2039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TLS 1.2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protokolidagi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ta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seans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kalitlardan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farqli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ravishda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TLS 1.3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ta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seans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kalitlar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hosil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qilinadi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ru-RU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gray">
            <a:xfrm>
              <a:off x="1240" y="1435"/>
              <a:ext cx="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705121" y="1953598"/>
            <a:ext cx="10888739" cy="713228"/>
            <a:chOff x="1277" y="2102"/>
            <a:chExt cx="4569" cy="256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gray">
            <a:xfrm rot="3419336">
              <a:off x="1298" y="2081"/>
              <a:ext cx="229" cy="272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gray">
            <a:xfrm>
              <a:off x="1702" y="2104"/>
              <a:ext cx="41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TLS 1.2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protokolidagi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kalitlarni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generatsiya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qilish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uchun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foydalanilgan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PRF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funksiyasidan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farqli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ravishda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TLS 1.3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HKDF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funksiyasidan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foydalaniladi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ru-RU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gray">
            <a:xfrm>
              <a:off x="1366" y="2131"/>
              <a:ext cx="160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692749" y="2916698"/>
            <a:ext cx="10900120" cy="1016446"/>
            <a:chOff x="1293" y="2686"/>
            <a:chExt cx="4626" cy="577"/>
          </a:xfrm>
        </p:grpSpPr>
        <p:sp>
          <p:nvSpPr>
            <p:cNvPr id="14" name="Rectangle 14"/>
            <p:cNvSpPr>
              <a:spLocks noChangeArrowheads="1"/>
            </p:cNvSpPr>
            <p:nvPr/>
          </p:nvSpPr>
          <p:spPr bwMode="gray">
            <a:xfrm rot="3419336">
              <a:off x="1257" y="2818"/>
              <a:ext cx="385" cy="313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gray">
            <a:xfrm>
              <a:off x="1760" y="2686"/>
              <a:ext cx="4159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TLS 1.2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protokolidagi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kalitlar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ketma-ketligi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umumiy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holda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yagona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PRF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funksiyasining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natijasi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hisoblanadi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 TLS 1.3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protokolidagi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kalitlar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esa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bir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nechta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alohida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HKDF.Expand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funksiyalarining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natijasi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hisoblanadi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2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gray">
            <a:xfrm>
              <a:off x="1397" y="2812"/>
              <a:ext cx="16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732316" y="4179150"/>
            <a:ext cx="10922976" cy="1016001"/>
            <a:chOff x="1250" y="3485"/>
            <a:chExt cx="5105" cy="640"/>
          </a:xfrm>
        </p:grpSpPr>
        <p:sp>
          <p:nvSpPr>
            <p:cNvPr id="18" name="Rectangle 19"/>
            <p:cNvSpPr>
              <a:spLocks noChangeArrowheads="1"/>
            </p:cNvSpPr>
            <p:nvPr/>
          </p:nvSpPr>
          <p:spPr bwMode="gray">
            <a:xfrm rot="3419336">
              <a:off x="1204" y="3618"/>
              <a:ext cx="423" cy="331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gray">
            <a:xfrm>
              <a:off x="1770" y="3485"/>
              <a:ext cx="4585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O’zbekiston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Respublikasida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keng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jamoatchilik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tomonidan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foydalaniluvchi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Mygov.uz, Lex.uz, Soliq.uz, Davaktiv.uz,</a:t>
              </a:r>
              <a:r>
                <a:rPr lang="ru-RU" sz="2000" dirty="0">
                  <a:latin typeface="Arial" panose="020B0604020202020204" pitchFamily="34" charset="0"/>
                  <a:cs typeface="Arial" panose="020B0604020202020204" pitchFamily="34" charset="0"/>
                </a:rPr>
                <a:t> Prokuratura.uz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va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President.uz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milliy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veb-saytlari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xalqaro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TLS 1.2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protokolini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qo’llab-quvvatlaydi</a:t>
              </a:r>
              <a:r>
                <a:rPr lang="en-US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20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gray">
            <a:xfrm>
              <a:off x="1355" y="3618"/>
              <a:ext cx="1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1" name="Group 2"/>
          <p:cNvGrpSpPr>
            <a:grpSpLocks/>
          </p:cNvGrpSpPr>
          <p:nvPr/>
        </p:nvGrpSpPr>
        <p:grpSpPr bwMode="auto">
          <a:xfrm>
            <a:off x="693008" y="5410418"/>
            <a:ext cx="10900852" cy="1014987"/>
            <a:chOff x="1195" y="1327"/>
            <a:chExt cx="2294" cy="580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gray">
            <a:xfrm rot="3419336">
              <a:off x="1060" y="1551"/>
              <a:ext cx="430" cy="160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Text Box 5"/>
            <p:cNvSpPr txBox="1">
              <a:spLocks noChangeArrowheads="1"/>
            </p:cNvSpPr>
            <p:nvPr/>
          </p:nvSpPr>
          <p:spPr bwMode="gray">
            <a:xfrm>
              <a:off x="1450" y="1327"/>
              <a:ext cx="2039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Hozirda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O’zbekiston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Respublikasida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ommabop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bo’lgan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Kun.uz, Daryo.uz, Adliya.uz, Mfa.uz,</a:t>
              </a:r>
              <a:r>
                <a:rPr lang="ru-RU" sz="2000" dirty="0">
                  <a:latin typeface="Arial" panose="020B0604020202020204" pitchFamily="34" charset="0"/>
                  <a:cs typeface="Arial" panose="020B0604020202020204" pitchFamily="34" charset="0"/>
                </a:rPr>
                <a:t> Mudofaa.uz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va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Cbu</a:t>
              </a:r>
              <a:r>
                <a:rPr lang="ru-RU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ru-RU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uz</a:t>
              </a:r>
              <a:r>
                <a:rPr lang="ru-RU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kabi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milliy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veb-saytlar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xalqaro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TLS 1.3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protokolini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qo’llab-quvvatlaydi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20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Box 6"/>
            <p:cNvSpPr txBox="1">
              <a:spLocks noChangeArrowheads="1"/>
            </p:cNvSpPr>
            <p:nvPr/>
          </p:nvSpPr>
          <p:spPr bwMode="gray">
            <a:xfrm>
              <a:off x="1242" y="1485"/>
              <a:ext cx="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4755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54817" y="313673"/>
            <a:ext cx="6553200" cy="653754"/>
          </a:xfrm>
        </p:spPr>
        <p:txBody>
          <a:bodyPr>
            <a:normAutofit/>
          </a:bodyPr>
          <a:lstStyle/>
          <a:p>
            <a:pPr algn="ctr"/>
            <a:r>
              <a:rPr lang="en-US" sz="3600" b="1" i="1" noProof="1">
                <a:latin typeface="+mn-lt"/>
              </a:rPr>
              <a:t>4</a:t>
            </a:r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3600" b="1" i="1" noProof="1">
                <a:solidFill>
                  <a:schemeClr val="tx1"/>
                </a:solidFill>
                <a:latin typeface="+mn-lt"/>
              </a:rPr>
              <a:t>bob vazifalari:</a:t>
            </a: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1357078" y="1224716"/>
            <a:ext cx="10270659" cy="766163"/>
            <a:chOff x="1277" y="2051"/>
            <a:chExt cx="4603" cy="275"/>
          </a:xfrm>
        </p:grpSpPr>
        <p:sp>
          <p:nvSpPr>
            <p:cNvPr id="7" name="Rectangle 9"/>
            <p:cNvSpPr>
              <a:spLocks noChangeArrowheads="1"/>
            </p:cNvSpPr>
            <p:nvPr/>
          </p:nvSpPr>
          <p:spPr bwMode="gray">
            <a:xfrm rot="3419336">
              <a:off x="1298" y="2030"/>
              <a:ext cx="229" cy="272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gray">
            <a:xfrm>
              <a:off x="1736" y="2072"/>
              <a:ext cx="41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indent="-89535" algn="just" defTabSz="355600" fontAlgn="base">
                <a:spcAft>
                  <a:spcPts val="800"/>
                </a:spcAft>
              </a:pP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TLS 1.2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va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TLS 1.3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protokollarining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tuzilishi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to’grisida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batafsil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ma’lumotni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aks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ettiruvchi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Metodik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qo‘llanma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ishlab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chiqish</a:t>
              </a:r>
              <a:r>
                <a:rPr lang="en-US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2000" noProof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gray">
            <a:xfrm>
              <a:off x="1352" y="2055"/>
              <a:ext cx="213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1350288" y="2499848"/>
            <a:ext cx="10154535" cy="801688"/>
            <a:chOff x="1285" y="2850"/>
            <a:chExt cx="4624" cy="505"/>
          </a:xfrm>
        </p:grpSpPr>
        <p:sp>
          <p:nvSpPr>
            <p:cNvPr id="11" name="Rectangle 14"/>
            <p:cNvSpPr>
              <a:spLocks noChangeArrowheads="1"/>
            </p:cNvSpPr>
            <p:nvPr/>
          </p:nvSpPr>
          <p:spPr bwMode="gray">
            <a:xfrm rot="3419336">
              <a:off x="1233" y="2998"/>
              <a:ext cx="409" cy="305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gray">
            <a:xfrm>
              <a:off x="1750" y="2850"/>
              <a:ext cx="4159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Rossiya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Federatsiyasining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kriptografik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algoritmlari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asosidagi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va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xalqaro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TLS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protokollari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orasidagi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farqli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jihatlarni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tahlil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qilish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2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gray">
            <a:xfrm>
              <a:off x="1375" y="2960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22" name="Group 2"/>
          <p:cNvGrpSpPr>
            <a:grpSpLocks/>
          </p:cNvGrpSpPr>
          <p:nvPr/>
        </p:nvGrpSpPr>
        <p:grpSpPr bwMode="auto">
          <a:xfrm>
            <a:off x="1353534" y="3915967"/>
            <a:ext cx="10251564" cy="710229"/>
            <a:chOff x="1197" y="1390"/>
            <a:chExt cx="2264" cy="381"/>
          </a:xfrm>
        </p:grpSpPr>
        <p:sp>
          <p:nvSpPr>
            <p:cNvPr id="23" name="Rectangle 4"/>
            <p:cNvSpPr>
              <a:spLocks noChangeArrowheads="1"/>
            </p:cNvSpPr>
            <p:nvPr/>
          </p:nvSpPr>
          <p:spPr bwMode="gray">
            <a:xfrm rot="3419336">
              <a:off x="1078" y="1509"/>
              <a:ext cx="381" cy="143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Text Box 5"/>
            <p:cNvSpPr txBox="1">
              <a:spLocks noChangeArrowheads="1"/>
            </p:cNvSpPr>
            <p:nvPr/>
          </p:nvSpPr>
          <p:spPr bwMode="gray">
            <a:xfrm>
              <a:off x="1422" y="1473"/>
              <a:ext cx="2039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Milliy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TLS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protokolini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yaratish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bo’yicha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tegishli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tavsiyalar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ishlab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chiqish</a:t>
              </a:r>
              <a:r>
                <a:rPr lang="en-US" sz="2000" dirty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.</a:t>
              </a:r>
              <a:endParaRPr lang="ru-RU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Box 6"/>
            <p:cNvSpPr txBox="1">
              <a:spLocks noChangeArrowheads="1"/>
            </p:cNvSpPr>
            <p:nvPr/>
          </p:nvSpPr>
          <p:spPr bwMode="gray">
            <a:xfrm>
              <a:off x="1240" y="1435"/>
              <a:ext cx="7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131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91436" y="696357"/>
            <a:ext cx="1897490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384309"/>
              </p:ext>
            </p:extLst>
          </p:nvPr>
        </p:nvGraphicFramePr>
        <p:xfrm>
          <a:off x="591437" y="696358"/>
          <a:ext cx="10640705" cy="5687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2" name="Visio" r:id="rId4" imgW="12449027" imgH="6658112" progId="Visio.Drawing.15">
                  <p:embed/>
                </p:oleObj>
              </mc:Choice>
              <mc:Fallback>
                <p:oleObj name="Visio" r:id="rId4" imgW="12449027" imgH="6658112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437" y="696358"/>
                        <a:ext cx="10640705" cy="56875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720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28600" y="1565151"/>
                <a:ext cx="11740896" cy="33209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sz="2400" i="1" baseline="-250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𝑒𝑎𝑝𝑝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𝑘𝑒𝑦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𝑖𝑣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𝐷𝑒𝑟𝑖𝑣𝑒𝑇𝐾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𝐸𝑇𝑆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𝑐h𝑠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𝑘𝑒𝑦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𝑖𝑣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𝐷𝑒𝑟𝑖𝑣𝑒𝑇𝐾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𝐶𝐻𝑇𝑆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𝑠h𝑠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𝑘𝑒𝑦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𝑖𝑣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𝐷𝑒𝑟𝑖𝑣𝑒𝑇𝐾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𝑆𝐻𝑇𝑆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𝑐𝑎𝑝𝑝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𝑘𝑒𝑦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𝑖𝑣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𝐷𝑒𝑟𝑖𝑣𝑒𝑇𝐾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𝐶𝐴𝑇𝑆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𝑡𝑘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𝑠𝑎𝑝𝑝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𝑘𝑒𝑦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𝑖𝑣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𝐷𝑒𝑟𝑖𝑣𝑒𝑇𝐾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𝑆𝐴𝑇𝑆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uz-Cyrl-UZ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Бу ерда,</a:t>
                </a:r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𝐷𝑒𝑟𝑖𝑣𝑒𝑇𝐾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𝑆𝑒𝑐𝑟𝑒𝑡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𝐻𝐾𝐷𝐹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𝐸𝑥𝑝𝑎𝑛𝑑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𝑆𝑒𝑐𝑟𝑒𝑡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,“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𝑘𝑒𝑦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”, 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𝐻𝐾𝐷𝐹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𝐸𝑥𝑝𝑎𝑛𝑑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𝑆𝑒𝑐𝑟𝑒𝑡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“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𝑖𝑣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”, 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𝑖𝑣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ru-RU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565151"/>
                <a:ext cx="11740896" cy="33209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3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10649</TotalTime>
  <Words>321</Words>
  <Application>Microsoft Office PowerPoint</Application>
  <PresentationFormat>Широкоэкранный</PresentationFormat>
  <Paragraphs>58</Paragraphs>
  <Slides>28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Algerian</vt:lpstr>
      <vt:lpstr>Arial</vt:lpstr>
      <vt:lpstr>Calibri</vt:lpstr>
      <vt:lpstr>Calibri Light</vt:lpstr>
      <vt:lpstr>Cambria Math</vt:lpstr>
      <vt:lpstr>Times New Roman</vt:lpstr>
      <vt:lpstr>Тема Office</vt:lpstr>
      <vt:lpstr>Visio</vt:lpstr>
      <vt:lpstr>RADIOELEKTRON TIZIMLAR VA AXBOROT TEXNALOGIYALARI MARKAZI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E’tiboringiz   uchun  rahmat!!!</vt:lpstr>
      <vt:lpstr>3 bob bo’yicha Xulosa</vt:lpstr>
      <vt:lpstr>4 bob vazifalari: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Evrika</dc:creator>
  <cp:lastModifiedBy>ECT</cp:lastModifiedBy>
  <cp:revision>457</cp:revision>
  <dcterms:created xsi:type="dcterms:W3CDTF">2023-06-17T16:57:57Z</dcterms:created>
  <dcterms:modified xsi:type="dcterms:W3CDTF">2024-06-03T04:04:24Z</dcterms:modified>
</cp:coreProperties>
</file>