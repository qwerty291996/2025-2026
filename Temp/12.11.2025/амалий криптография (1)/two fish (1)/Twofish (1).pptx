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8" r:id="rId1"/>
  </p:sldMasterIdLst>
  <p:sldIdLst>
    <p:sldId id="256" r:id="rId2"/>
    <p:sldId id="258" r:id="rId3"/>
    <p:sldId id="257" r:id="rId4"/>
    <p:sldId id="259" r:id="rId5"/>
    <p:sldId id="267" r:id="rId6"/>
    <p:sldId id="261" r:id="rId7"/>
    <p:sldId id="262" r:id="rId8"/>
    <p:sldId id="263" r:id="rId9"/>
    <p:sldId id="268" r:id="rId10"/>
    <p:sldId id="269" r:id="rId11"/>
    <p:sldId id="270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98" r:id="rId21"/>
    <p:sldId id="299" r:id="rId22"/>
    <p:sldId id="314" r:id="rId23"/>
    <p:sldId id="301" r:id="rId24"/>
    <p:sldId id="302" r:id="rId25"/>
    <p:sldId id="303" r:id="rId26"/>
    <p:sldId id="305" r:id="rId27"/>
    <p:sldId id="316" r:id="rId28"/>
    <p:sldId id="306" r:id="rId29"/>
    <p:sldId id="307" r:id="rId30"/>
    <p:sldId id="312" r:id="rId31"/>
    <p:sldId id="308" r:id="rId32"/>
    <p:sldId id="309" r:id="rId33"/>
    <p:sldId id="310" r:id="rId34"/>
    <p:sldId id="311" r:id="rId35"/>
    <p:sldId id="317" r:id="rId36"/>
    <p:sldId id="280" r:id="rId37"/>
    <p:sldId id="318" r:id="rId38"/>
    <p:sldId id="319" r:id="rId39"/>
    <p:sldId id="315" r:id="rId40"/>
    <p:sldId id="313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2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3192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993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19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1889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655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2565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421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9401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154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966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281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53041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1556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6818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0947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257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085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2A8E1E-D86A-AAA6-BA62-9E02E130E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774DE3-0E3B-56BC-A482-36B5ED403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6DC04C-8D43-2833-AEC8-6D5A59D0B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B36F3F-05E9-0239-C57D-9B074C536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B606989-99E5-3670-CA3F-074CF887A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045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E019692-8E9A-4D9F-9995-559EC4CD4869}" type="datetimeFigureOut">
              <a:rPr lang="ru-RU" smtClean="0"/>
              <a:t>12.05.2024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E30BFA7-3C0F-4BF9-843E-70A8A9DAE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8209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5F310A-0216-EBA7-3871-3FCCF916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1012" y="1206517"/>
            <a:ext cx="8689976" cy="2509213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54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sz="54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5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5400" cap="none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5400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5400" cap="none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ru-RU" sz="54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B2FDC6-F489-AFB3-AE39-D9852AD05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7193" y="3715730"/>
            <a:ext cx="8689976" cy="1371599"/>
          </a:xfrm>
        </p:spPr>
        <p:txBody>
          <a:bodyPr/>
          <a:lstStyle/>
          <a:p>
            <a:pPr algn="r">
              <a:spcBef>
                <a:spcPts val="0"/>
              </a:spcBef>
            </a:pPr>
            <a:r>
              <a:rPr lang="ru-RU" dirty="0">
                <a:solidFill>
                  <a:schemeClr val="tx1"/>
                </a:solidFill>
              </a:rPr>
              <a:t>В</a:t>
            </a:r>
            <a:r>
              <a:rPr lang="ru-RU" cap="none" dirty="0">
                <a:solidFill>
                  <a:schemeClr val="tx1"/>
                </a:solidFill>
              </a:rPr>
              <a:t>ыполнили</a:t>
            </a:r>
            <a:r>
              <a:rPr lang="en-US" cap="none" dirty="0">
                <a:solidFill>
                  <a:schemeClr val="tx1"/>
                </a:solidFill>
              </a:rPr>
              <a:t>: </a:t>
            </a:r>
            <a:r>
              <a:rPr lang="ru-RU" cap="none" dirty="0">
                <a:solidFill>
                  <a:schemeClr val="tx1"/>
                </a:solidFill>
              </a:rPr>
              <a:t>Турабеков  </a:t>
            </a:r>
            <a:r>
              <a:rPr lang="ru-RU" cap="none" dirty="0" err="1">
                <a:solidFill>
                  <a:schemeClr val="tx1"/>
                </a:solidFill>
              </a:rPr>
              <a:t>Дилшод</a:t>
            </a:r>
            <a:endParaRPr lang="ru-RU" cap="none" dirty="0">
              <a:solidFill>
                <a:schemeClr val="tx1"/>
              </a:solidFill>
            </a:endParaRPr>
          </a:p>
          <a:p>
            <a:pPr algn="r">
              <a:spcBef>
                <a:spcPts val="0"/>
              </a:spcBef>
            </a:pPr>
            <a:r>
              <a:rPr lang="ru-RU" cap="none" dirty="0">
                <a:solidFill>
                  <a:schemeClr val="tx1"/>
                </a:solidFill>
              </a:rPr>
              <a:t>Файзиев Шахзод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DEB568B-7519-CF75-C253-C116FB0C5C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592"/>
          <a:stretch/>
        </p:blipFill>
        <p:spPr>
          <a:xfrm>
            <a:off x="0" y="0"/>
            <a:ext cx="8402425" cy="174395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8CEBEB-D31F-DD48-4277-B8FF97D68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3400" y="4962525"/>
            <a:ext cx="850582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616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C855D0-12E0-C8EF-53D1-AE7A7BADF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454" y="1389"/>
            <a:ext cx="10364451" cy="1596177"/>
          </a:xfrm>
        </p:spPr>
        <p:txBody>
          <a:bodyPr/>
          <a:lstStyle/>
          <a:p>
            <a:r>
              <a:rPr lang="ru-RU" dirty="0"/>
              <a:t>С</a:t>
            </a:r>
            <a:r>
              <a:rPr lang="ru-RU" cap="none" dirty="0"/>
              <a:t>оздатели</a:t>
            </a:r>
            <a:endParaRPr lang="ru-RU" dirty="0"/>
          </a:p>
        </p:txBody>
      </p:sp>
      <p:pic>
        <p:nvPicPr>
          <p:cNvPr id="1026" name="Picture 2" descr="Knight First Amendment Institute">
            <a:extLst>
              <a:ext uri="{FF2B5EF4-FFF2-40B4-BE49-F238E27FC236}">
                <a16:creationId xmlns:a16="http://schemas.microsoft.com/office/drawing/2014/main" id="{EA533C9B-9540-01AF-D83E-BFBF5B0C785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23" y="1451729"/>
            <a:ext cx="1743075" cy="231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EABCE6B-8E51-A7F8-CD6A-E9AB901B81E2}"/>
              </a:ext>
            </a:extLst>
          </p:cNvPr>
          <p:cNvSpPr txBox="1"/>
          <p:nvPr/>
        </p:nvSpPr>
        <p:spPr>
          <a:xfrm>
            <a:off x="785911" y="3770722"/>
            <a:ext cx="1666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Bruce Schneier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31E421-2832-DEEC-4A59-D43344041850}"/>
              </a:ext>
            </a:extLst>
          </p:cNvPr>
          <p:cNvSpPr txBox="1"/>
          <p:nvPr/>
        </p:nvSpPr>
        <p:spPr>
          <a:xfrm>
            <a:off x="3207470" y="3770722"/>
            <a:ext cx="13079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John Kelsey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DD264A4-6183-2C29-DBD9-081E2BF079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795" y="1299002"/>
            <a:ext cx="1818348" cy="247172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B28360-0831-0A2B-FC83-5CCC49C5A063}"/>
              </a:ext>
            </a:extLst>
          </p:cNvPr>
          <p:cNvSpPr txBox="1"/>
          <p:nvPr/>
        </p:nvSpPr>
        <p:spPr>
          <a:xfrm>
            <a:off x="5030324" y="3774591"/>
            <a:ext cx="18183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David Wagner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809C6F5-9E45-FF15-9A74-695B64DEE2E9}"/>
              </a:ext>
            </a:extLst>
          </p:cNvPr>
          <p:cNvSpPr txBox="1"/>
          <p:nvPr/>
        </p:nvSpPr>
        <p:spPr>
          <a:xfrm>
            <a:off x="7410129" y="3770722"/>
            <a:ext cx="14931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Doug Whiting</a:t>
            </a:r>
            <a:endParaRPr lang="ru-RU" dirty="0"/>
          </a:p>
        </p:txBody>
      </p:sp>
      <p:pic>
        <p:nvPicPr>
          <p:cNvPr id="1028" name="Picture 4" descr="Niels Ferguson - Cryptographer &amp; Principal Software Development Engineer -  Microsoft | LinkedIn">
            <a:extLst>
              <a:ext uri="{FF2B5EF4-FFF2-40B4-BE49-F238E27FC236}">
                <a16:creationId xmlns:a16="http://schemas.microsoft.com/office/drawing/2014/main" id="{29C5AC35-FA38-D28D-869D-FE0740F8E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1091" y="1299003"/>
            <a:ext cx="2320121" cy="232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F3BD18D-303D-FF51-D041-F42D47B3DADA}"/>
              </a:ext>
            </a:extLst>
          </p:cNvPr>
          <p:cNvSpPr txBox="1"/>
          <p:nvPr/>
        </p:nvSpPr>
        <p:spPr>
          <a:xfrm>
            <a:off x="9951833" y="3770722"/>
            <a:ext cx="1548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Niels Ferguson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3C2D54-4A3F-7295-2792-B7D870F56A87}"/>
              </a:ext>
            </a:extLst>
          </p:cNvPr>
          <p:cNvSpPr txBox="1"/>
          <p:nvPr/>
        </p:nvSpPr>
        <p:spPr>
          <a:xfrm>
            <a:off x="884892" y="6204447"/>
            <a:ext cx="14682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Chris Hall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8D71EC-7A1C-8BA5-1639-40B281CE8721}"/>
              </a:ext>
            </a:extLst>
          </p:cNvPr>
          <p:cNvSpPr txBox="1"/>
          <p:nvPr/>
        </p:nvSpPr>
        <p:spPr>
          <a:xfrm>
            <a:off x="9951833" y="6313210"/>
            <a:ext cx="1672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15 June 1998</a:t>
            </a:r>
            <a:endParaRPr lang="ru-RU" dirty="0"/>
          </a:p>
        </p:txBody>
      </p:sp>
      <p:pic>
        <p:nvPicPr>
          <p:cNvPr id="3" name="Picture 2" descr="Chris Hall (cryptographer) WN chris hall cryptographer">
            <a:extLst>
              <a:ext uri="{FF2B5EF4-FFF2-40B4-BE49-F238E27FC236}">
                <a16:creationId xmlns:a16="http://schemas.microsoft.com/office/drawing/2014/main" id="{1EE4D3C4-3CA8-2485-4201-414DA0785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91" y="4214330"/>
            <a:ext cx="2684620" cy="201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4993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04853D-898E-4D2F-37B8-EA83D4EC6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ратко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32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Twofish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6643AC-EE8C-0F8F-AF7B-1B7F25243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2414227"/>
            <a:ext cx="10364452" cy="342410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Twofish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128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blokli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shifrdir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128,192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256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</a:pP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raundlar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16.</a:t>
            </a:r>
          </a:p>
          <a:p>
            <a:pPr>
              <a:spcBef>
                <a:spcPts val="0"/>
              </a:spcBef>
            </a:pP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feistel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tarmog'iga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asoslangan</a:t>
            </a:r>
            <a:r>
              <a:rPr lang="en-US" sz="2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791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4E2F8A-617C-08A6-8883-144FBF28A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sxematik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ko`rinishi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4D5B9118-EE3A-FD3D-A0B7-C2156441B2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7309" y="2348109"/>
            <a:ext cx="5393638" cy="4297788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EE5497-27E0-86BF-3E78-F5990C27D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8452" y="2855260"/>
            <a:ext cx="5204268" cy="338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373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Twofish-algo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EA99545C-F03E-DC64-6EAA-1138DEA67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1420" y="4909421"/>
            <a:ext cx="10364452" cy="898689"/>
          </a:xfrm>
        </p:spPr>
        <p:txBody>
          <a:bodyPr/>
          <a:lstStyle/>
          <a:p>
            <a:r>
              <a:rPr lang="en-US" dirty="0"/>
              <a:t>(</a:t>
            </a:r>
            <a:r>
              <a:rPr lang="ru-RU" dirty="0"/>
              <a:t>входное отбеливание</a:t>
            </a:r>
            <a:r>
              <a:rPr lang="en-US" dirty="0"/>
              <a:t>) BU </a:t>
            </a:r>
            <a:r>
              <a:rPr lang="en-US" dirty="0" err="1"/>
              <a:t>akslantirishda</a:t>
            </a:r>
            <a:r>
              <a:rPr lang="en-US" dirty="0"/>
              <a:t> 128 </a:t>
            </a:r>
            <a:r>
              <a:rPr lang="en-US" dirty="0" err="1"/>
              <a:t>bitli</a:t>
            </a:r>
            <a:r>
              <a:rPr lang="en-US" dirty="0"/>
              <a:t>  </a:t>
            </a:r>
            <a:r>
              <a:rPr lang="en-US" dirty="0" err="1"/>
              <a:t>kiruvchi</a:t>
            </a:r>
            <a:r>
              <a:rPr lang="en-US" dirty="0"/>
              <a:t>  </a:t>
            </a:r>
            <a:r>
              <a:rPr lang="en-US" dirty="0" err="1"/>
              <a:t>tekst</a:t>
            </a:r>
            <a:r>
              <a:rPr lang="en-US" dirty="0"/>
              <a:t> 32  </a:t>
            </a:r>
            <a:r>
              <a:rPr lang="en-US" dirty="0" err="1"/>
              <a:t>bitga</a:t>
            </a:r>
            <a:r>
              <a:rPr lang="en-US" dirty="0"/>
              <a:t>  </a:t>
            </a:r>
            <a:r>
              <a:rPr lang="en-US" dirty="0" err="1"/>
              <a:t>bolinadi</a:t>
            </a:r>
            <a:r>
              <a:rPr lang="en-US" dirty="0"/>
              <a:t>  </a:t>
            </a:r>
            <a:r>
              <a:rPr lang="en-US" dirty="0" err="1"/>
              <a:t>va</a:t>
            </a:r>
            <a:r>
              <a:rPr lang="en-US" dirty="0"/>
              <a:t>  128 bit  </a:t>
            </a:r>
            <a:r>
              <a:rPr lang="en-US" dirty="0" err="1"/>
              <a:t>uzunlikdagi</a:t>
            </a:r>
            <a:r>
              <a:rPr lang="en-US" dirty="0"/>
              <a:t>  4  </a:t>
            </a:r>
            <a:r>
              <a:rPr lang="en-US" dirty="0" err="1"/>
              <a:t>bolingan</a:t>
            </a:r>
            <a:r>
              <a:rPr lang="en-US" dirty="0"/>
              <a:t>  </a:t>
            </a:r>
            <a:r>
              <a:rPr lang="en-US" dirty="0" err="1"/>
              <a:t>kalit</a:t>
            </a:r>
            <a:r>
              <a:rPr lang="en-US" dirty="0"/>
              <a:t>  </a:t>
            </a:r>
            <a:r>
              <a:rPr lang="en-US" dirty="0" err="1"/>
              <a:t>bilan</a:t>
            </a:r>
            <a:r>
              <a:rPr lang="en-US" dirty="0"/>
              <a:t> </a:t>
            </a:r>
            <a:r>
              <a:rPr lang="en-US" dirty="0" err="1"/>
              <a:t>xor</a:t>
            </a:r>
            <a:r>
              <a:rPr lang="en-US" dirty="0"/>
              <a:t> </a:t>
            </a:r>
            <a:r>
              <a:rPr lang="en-US" dirty="0" err="1"/>
              <a:t>amali</a:t>
            </a:r>
            <a:r>
              <a:rPr lang="en-US" dirty="0"/>
              <a:t>  </a:t>
            </a:r>
            <a:r>
              <a:rPr lang="en-US" dirty="0" err="1"/>
              <a:t>bajariladi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63C2CC-34E2-4B97-7F0C-9B77FF545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3897" y="37205"/>
            <a:ext cx="8204953" cy="486376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EBC75E-14A8-9182-FEAE-CD5BA5449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183" y="5799655"/>
            <a:ext cx="4409634" cy="89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3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09-Twofish-algo-9-638.jpg">
            <a:extLst>
              <a:ext uri="{FF2B5EF4-FFF2-40B4-BE49-F238E27FC236}">
                <a16:creationId xmlns:a16="http://schemas.microsoft.com/office/drawing/2014/main" id="{906DBB82-C703-49C4-FEE8-296124EFC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F8D979D-5742-EE93-6903-1096AEED29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029" y="6162675"/>
            <a:ext cx="53816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97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10-Twofish-algo-10-638.jpg">
            <a:extLst>
              <a:ext uri="{FF2B5EF4-FFF2-40B4-BE49-F238E27FC236}">
                <a16:creationId xmlns:a16="http://schemas.microsoft.com/office/drawing/2014/main" id="{50CB2015-09C1-9229-0ADD-F6E3DE168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158" y="96696"/>
            <a:ext cx="9144000" cy="666460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07C6852-D6AD-9145-90BE-72A5D7FF3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430" y="6065979"/>
            <a:ext cx="5381625" cy="69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129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204B7F-CAF9-BC12-8D9E-DF7557FF7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F</a:t>
            </a:r>
            <a:r>
              <a:rPr lang="en-US" sz="3200" dirty="0">
                <a:latin typeface="Algerian" panose="04020705040A02060702" pitchFamily="82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nimalardan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topgan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7699266-45EE-2F86-0AFE-CEE47A2FAE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1) </a:t>
                </a:r>
                <a:r>
                  <a:rPr lang="en-US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ikkita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funksiyadan</a:t>
                </a: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2) pseudo-Hadamard transform (PHT)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3) </a:t>
                </a:r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Additional  in base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qo`shimcha  </a:t>
                </a:r>
                <a:r>
                  <a:rPr lang="en-US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asosda</a:t>
                </a:r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ru-RU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77699266-45EE-2F86-0AFE-CEE47A2FAE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351F8BB-D6B0-E9E8-A1B3-F97F19728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810" y="2143125"/>
            <a:ext cx="5076825" cy="3648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490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524AD79-A791-CF67-8D55-3198A591D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104" y="333179"/>
            <a:ext cx="8734425" cy="4400550"/>
          </a:xfrm>
          <a:prstGeom prst="rect">
            <a:avLst/>
          </a:prstGeom>
        </p:spPr>
      </p:pic>
      <p:sp>
        <p:nvSpPr>
          <p:cNvPr id="7" name="Объект 2">
            <a:extLst>
              <a:ext uri="{FF2B5EF4-FFF2-40B4-BE49-F238E27FC236}">
                <a16:creationId xmlns:a16="http://schemas.microsoft.com/office/drawing/2014/main" id="{BCFDA991-DB9F-853A-FF69-4B9CD01F1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177" y="5229932"/>
            <a:ext cx="10364452" cy="898689"/>
          </a:xfrm>
        </p:spPr>
        <p:txBody>
          <a:bodyPr>
            <a:normAutofit fontScale="92500" lnSpcReduction="10000"/>
          </a:bodyPr>
          <a:lstStyle/>
          <a:p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yuqoridagi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rasmda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 R0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hech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o`zgarishsiz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g 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funksiyaga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kiryapti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R1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8 bit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chapga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siklik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surilib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kirmoqda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337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C6AB5-0218-FF6A-D0A8-EC0963F5D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cap="none" dirty="0">
                <a:solidFill>
                  <a:srgbClr val="FF0000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g</a:t>
            </a:r>
            <a:r>
              <a:rPr lang="en-US" sz="2800" dirty="0">
                <a:latin typeface="Algerian" panose="04020705040A02060702" pitchFamily="82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nimalardan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topgan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tashkil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etuvchilar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haqida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?</a:t>
            </a:r>
            <a:endParaRPr lang="ru-RU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82395D-05F4-5D76-1E59-33A127FF4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432" y="2367093"/>
            <a:ext cx="5324475" cy="38723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MSD(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distance separable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maksimal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masofani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ajratish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аксимальное расстояние разделения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cap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en-US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cap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orinda</a:t>
            </a:r>
            <a:r>
              <a:rPr lang="en-US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cap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aytiz</a:t>
            </a:r>
            <a:r>
              <a:rPr lang="en-US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cap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joyizki</a:t>
            </a:r>
            <a:r>
              <a:rPr lang="en-US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bloklar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h(x)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1C5FE2-779D-A474-7410-49D37C238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49" y="1979188"/>
            <a:ext cx="5324475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78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FA0905-31F3-5656-86B1-B767C3DBF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14" y="81190"/>
            <a:ext cx="6797351" cy="672955"/>
          </a:xfrm>
        </p:spPr>
        <p:txBody>
          <a:bodyPr/>
          <a:lstStyle/>
          <a:p>
            <a:r>
              <a:rPr lang="en-US" dirty="0"/>
              <a:t>S </a:t>
            </a:r>
            <a:r>
              <a:rPr lang="en-US" dirty="0" err="1"/>
              <a:t>bloklar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6201D8A-914E-6F1B-E35F-76810F3FA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4434" y="212634"/>
            <a:ext cx="4156965" cy="643273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4C466B5-C2CD-071E-3853-48F3F7D6135E}"/>
              </a:ext>
            </a:extLst>
          </p:cNvPr>
          <p:cNvSpPr txBox="1"/>
          <p:nvPr/>
        </p:nvSpPr>
        <p:spPr>
          <a:xfrm>
            <a:off x="384488" y="1101076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Q1 VA Q0  AKSLANTIRISHLARNING  BIR  BIROVIDAN FARQLI  JIHATI  ULARNING  S  BLOKLARIDADIR. </a:t>
            </a:r>
            <a:endParaRPr lang="ru-RU" dirty="0">
              <a:solidFill>
                <a:srgbClr val="FF0000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2E6A18-4800-975C-C17B-1EFA2CB00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14" y="2507436"/>
            <a:ext cx="4156965" cy="403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589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2398EA-DF2C-6AA2-29A0-671A62BDE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43" y="1"/>
            <a:ext cx="10364451" cy="801278"/>
          </a:xfrm>
        </p:spPr>
        <p:txBody>
          <a:bodyPr>
            <a:normAutofit/>
          </a:bodyPr>
          <a:lstStyle/>
          <a:p>
            <a:r>
              <a:rPr lang="en-US" sz="2800" dirty="0"/>
              <a:t>S </a:t>
            </a:r>
            <a:r>
              <a:rPr lang="en-US" sz="2800" dirty="0" err="1"/>
              <a:t>blokdagi</a:t>
            </a:r>
            <a:r>
              <a:rPr lang="en-US" sz="2800" dirty="0"/>
              <a:t>  </a:t>
            </a:r>
            <a:r>
              <a:rPr lang="en-US" sz="2800" dirty="0" err="1"/>
              <a:t>ichidagi</a:t>
            </a:r>
            <a:r>
              <a:rPr lang="en-US" sz="2800" dirty="0"/>
              <a:t>  </a:t>
            </a:r>
            <a:r>
              <a:rPr lang="en-US" sz="2800" dirty="0" err="1"/>
              <a:t>boladigan</a:t>
            </a:r>
            <a:r>
              <a:rPr lang="en-US" sz="2800" dirty="0"/>
              <a:t> </a:t>
            </a:r>
            <a:r>
              <a:rPr lang="en-US" sz="2800" dirty="0" err="1"/>
              <a:t>hodisalar</a:t>
            </a:r>
            <a:r>
              <a:rPr lang="en-US" sz="2800" dirty="0"/>
              <a:t> </a:t>
            </a:r>
            <a:endParaRPr lang="ru-RU" sz="28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C05A163-27F1-9A5B-25B0-367BDA5A3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632" y="1050009"/>
            <a:ext cx="4662438" cy="666750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18D9CC88-6A3D-9014-B909-7BF7A5B024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63" y="801279"/>
            <a:ext cx="4810125" cy="4791075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ED20EABE-A6D5-AC46-73C0-F802CFF88F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902" y="1857031"/>
            <a:ext cx="4068108" cy="60588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121E265-6287-430E-8F1A-490E17C9DC75}"/>
              </a:ext>
            </a:extLst>
          </p:cNvPr>
          <p:cNvSpPr txBox="1"/>
          <p:nvPr/>
        </p:nvSpPr>
        <p:spPr>
          <a:xfrm>
            <a:off x="5474962" y="2505670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Используйте значение полубайта в качестве индекса для поиска соответствующего значения в 4-битной фиксированной таблице S-блока.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77EEF36E-9D8F-76CA-8E0D-514E5C82E8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4962" y="3809639"/>
            <a:ext cx="5000625" cy="123825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8DD0299-D8A7-43AA-A02A-222262676DB4}"/>
              </a:ext>
            </a:extLst>
          </p:cNvPr>
          <p:cNvSpPr txBox="1"/>
          <p:nvPr/>
        </p:nvSpPr>
        <p:spPr>
          <a:xfrm>
            <a:off x="5474962" y="342115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q0 (S blok)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191A68A9-2A4B-F8F8-3B7B-A187FD7969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4962" y="5392328"/>
            <a:ext cx="4895850" cy="13335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59EB8CF9-E040-F717-EB0C-341DC472B1BC}"/>
              </a:ext>
            </a:extLst>
          </p:cNvPr>
          <p:cNvSpPr txBox="1"/>
          <p:nvPr/>
        </p:nvSpPr>
        <p:spPr>
          <a:xfrm>
            <a:off x="5474962" y="504788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 (S blok)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9EB7A9-1FF2-4748-F754-A6EF9F08AD6A}"/>
              </a:ext>
            </a:extLst>
          </p:cNvPr>
          <p:cNvSpPr txBox="1"/>
          <p:nvPr/>
        </p:nvSpPr>
        <p:spPr>
          <a:xfrm>
            <a:off x="95840" y="5734934"/>
            <a:ext cx="50700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4-bitli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fiksirlangan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S-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jadvalidagi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qiymatlarni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nibble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qiymatidan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indeks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foydalaning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2FF141-0702-5543-D0C6-D90A42974A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1632" y="662770"/>
            <a:ext cx="3074170" cy="3939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F6B1E8-203A-EE36-459E-3E8482679161}"/>
              </a:ext>
            </a:extLst>
          </p:cNvPr>
          <p:cNvSpPr txBox="1"/>
          <p:nvPr/>
        </p:nvSpPr>
        <p:spPr>
          <a:xfrm>
            <a:off x="8715523" y="624536"/>
            <a:ext cx="2973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- </a:t>
            </a:r>
            <a:r>
              <a:rPr lang="en-US" dirty="0" err="1">
                <a:solidFill>
                  <a:srgbClr val="FF0000"/>
                </a:solidFill>
              </a:rPr>
              <a:t>bu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 err="1">
                <a:solidFill>
                  <a:srgbClr val="FF0000"/>
                </a:solidFill>
              </a:rPr>
              <a:t>yerda</a:t>
            </a:r>
            <a:r>
              <a:rPr lang="en-US" dirty="0">
                <a:solidFill>
                  <a:srgbClr val="FF0000"/>
                </a:solidFill>
              </a:rPr>
              <a:t> x  </a:t>
            </a:r>
            <a:r>
              <a:rPr lang="en-US" dirty="0" err="1">
                <a:solidFill>
                  <a:srgbClr val="FF0000"/>
                </a:solidFill>
              </a:rPr>
              <a:t>kiruvchi</a:t>
            </a:r>
            <a:r>
              <a:rPr lang="en-US" dirty="0">
                <a:solidFill>
                  <a:srgbClr val="FF0000"/>
                </a:solidFill>
              </a:rPr>
              <a:t>  </a:t>
            </a:r>
            <a:r>
              <a:rPr lang="en-US" dirty="0" err="1">
                <a:solidFill>
                  <a:srgbClr val="FF0000"/>
                </a:solidFill>
              </a:rPr>
              <a:t>qiymat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817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CBFEF3BA-511E-FFC9-AC19-A3C050BB85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291"/>
          <a:stretch/>
        </p:blipFill>
        <p:spPr>
          <a:xfrm>
            <a:off x="506315" y="945455"/>
            <a:ext cx="4669000" cy="496709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1378574-5844-179F-440E-D17BB103D9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151" y="1253667"/>
            <a:ext cx="4391025" cy="13906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723557-78AB-6731-F547-E4AEE98D7D87}"/>
              </a:ext>
            </a:extLst>
          </p:cNvPr>
          <p:cNvSpPr txBox="1"/>
          <p:nvPr/>
        </p:nvSpPr>
        <p:spPr>
          <a:xfrm>
            <a:off x="5897106" y="2644317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Для  вычисления последнего  действия  рекомендуется  двоичное число (</a:t>
            </a:r>
            <a:r>
              <a:rPr lang="en-US" dirty="0">
                <a:solidFill>
                  <a:srgbClr val="FF0000"/>
                </a:solidFill>
              </a:rPr>
              <a:t>b4</a:t>
            </a:r>
            <a:r>
              <a:rPr lang="ru-RU" dirty="0">
                <a:solidFill>
                  <a:srgbClr val="FF0000"/>
                </a:solidFill>
              </a:rPr>
              <a:t>) перевести  на  10 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ru-RU" dirty="0">
                <a:solidFill>
                  <a:srgbClr val="FF0000"/>
                </a:solidFill>
              </a:rPr>
              <a:t>умножить его  на  16  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ru-RU" dirty="0">
                <a:solidFill>
                  <a:srgbClr val="FF0000"/>
                </a:solidFill>
              </a:rPr>
              <a:t> потом  перевести а4  на  10  и  все  сложить 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ru-RU" dirty="0">
                <a:solidFill>
                  <a:srgbClr val="FF0000"/>
                </a:solidFill>
              </a:rPr>
              <a:t> а  затем  снова  перевести сумму  на  двоичный !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374D13-04CA-B254-4DA8-D92D08E5F16F}"/>
              </a:ext>
            </a:extLst>
          </p:cNvPr>
          <p:cNvSpPr txBox="1"/>
          <p:nvPr/>
        </p:nvSpPr>
        <p:spPr>
          <a:xfrm>
            <a:off x="5591257" y="4072969"/>
            <a:ext cx="60944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ROR</a:t>
            </a:r>
            <a:r>
              <a:rPr lang="en-US" dirty="0"/>
              <a:t>  </a:t>
            </a:r>
            <a:r>
              <a:rPr lang="en-US" dirty="0" err="1"/>
              <a:t>bazi</a:t>
            </a:r>
            <a:r>
              <a:rPr lang="en-US" dirty="0"/>
              <a:t>  </a:t>
            </a:r>
            <a:r>
              <a:rPr lang="en-US" dirty="0" err="1"/>
              <a:t>bir</a:t>
            </a:r>
            <a:r>
              <a:rPr lang="en-US" dirty="0"/>
              <a:t>  </a:t>
            </a:r>
            <a:r>
              <a:rPr lang="en-US" dirty="0" err="1"/>
              <a:t>manbalarda</a:t>
            </a:r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ROL</a:t>
            </a:r>
            <a:r>
              <a:rPr lang="en-US" dirty="0"/>
              <a:t> </a:t>
            </a:r>
            <a:r>
              <a:rPr lang="en-US" dirty="0" err="1"/>
              <a:t>korinishida</a:t>
            </a:r>
            <a:r>
              <a:rPr lang="en-US" dirty="0"/>
              <a:t>  </a:t>
            </a:r>
            <a:r>
              <a:rPr lang="en-US" dirty="0" err="1"/>
              <a:t>berilgan</a:t>
            </a:r>
            <a:r>
              <a:rPr lang="en-US" dirty="0"/>
              <a:t> (https://www.researchgate.net/profile/Chris-Hall-8/publication/245272403_Twofish_A_128Bit_Block_Cipher/links/54e47f760cf2b2314f612559/Twofish-A-128Bit-Block-Cipher.pdf)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6106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5444D4EA-EE34-3C34-C38B-7B3466DB1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529" y="217073"/>
            <a:ext cx="4718572" cy="564338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ACE0450-AAE4-5FDB-DBB5-BFD3183C3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000" y="2480698"/>
            <a:ext cx="4848225" cy="396303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30B421D-4479-3D51-1D44-BC3BEB3FB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338" y="887918"/>
            <a:ext cx="5305425" cy="11954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5478F1-314C-DAA1-268E-33AFE1E8C407}"/>
              </a:ext>
            </a:extLst>
          </p:cNvPr>
          <p:cNvSpPr txBox="1"/>
          <p:nvPr/>
        </p:nvSpPr>
        <p:spPr>
          <a:xfrm>
            <a:off x="-168800" y="6551645"/>
            <a:ext cx="11894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vektoriga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kalitdan</a:t>
            </a:r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olingan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y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k,j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xj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ifoda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boshlangich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qiymatni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ishlatilinadi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9C41E94-7363-168A-BCB8-5E4695D3A26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29922"/>
          <a:stretch/>
        </p:blipFill>
        <p:spPr>
          <a:xfrm>
            <a:off x="6948438" y="53549"/>
            <a:ext cx="4705350" cy="8343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770E8F-062C-7F57-47E3-5D0C1683856F}"/>
              </a:ext>
            </a:extLst>
          </p:cNvPr>
          <p:cNvSpPr txBox="1"/>
          <p:nvPr/>
        </p:nvSpPr>
        <p:spPr>
          <a:xfrm>
            <a:off x="5691335" y="1834367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 = (L0, . . . , Lk−1)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32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soʻzlari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so'zni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chiqaradi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X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ham  32  bit)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77DF640B-BEA8-3EE0-E7AE-E98B452204B6}"/>
              </a:ext>
            </a:extLst>
          </p:cNvPr>
          <p:cNvCxnSpPr/>
          <p:nvPr/>
        </p:nvCxnSpPr>
        <p:spPr>
          <a:xfrm>
            <a:off x="8578392" y="1834367"/>
            <a:ext cx="1291472" cy="1050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28ED847-2CAD-5F81-45E2-55E6995E4605}"/>
              </a:ext>
            </a:extLst>
          </p:cNvPr>
          <p:cNvSpPr/>
          <p:nvPr/>
        </p:nvSpPr>
        <p:spPr>
          <a:xfrm>
            <a:off x="242529" y="53549"/>
            <a:ext cx="4451038" cy="59577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6AF57B8-CB0B-4EF9-42C2-4FFF5FAB1B30}"/>
              </a:ext>
            </a:extLst>
          </p:cNvPr>
          <p:cNvSpPr/>
          <p:nvPr/>
        </p:nvSpPr>
        <p:spPr>
          <a:xfrm>
            <a:off x="389101" y="1476997"/>
            <a:ext cx="4100660" cy="438346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FC453D4-1601-8419-4A1C-9899497512DE}"/>
              </a:ext>
            </a:extLst>
          </p:cNvPr>
          <p:cNvSpPr/>
          <p:nvPr/>
        </p:nvSpPr>
        <p:spPr>
          <a:xfrm>
            <a:off x="634198" y="2344263"/>
            <a:ext cx="3733015" cy="33747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E0F24A-23B5-3D21-04C4-30514AAC6F06}"/>
              </a:ext>
            </a:extLst>
          </p:cNvPr>
          <p:cNvSpPr txBox="1"/>
          <p:nvPr/>
        </p:nvSpPr>
        <p:spPr>
          <a:xfrm>
            <a:off x="0" y="6023985"/>
            <a:ext cx="69247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Eslatma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256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qizil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korobka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192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yashil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korobka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korobka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130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41FF2931-90C9-BC6B-3B36-A3F796797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1566" y="1217023"/>
            <a:ext cx="5165889" cy="3424107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to'rt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baytlik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vektorni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ko'paytiruvchi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baytlar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matritsasi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ko'paytirish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Galua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maydonida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Gf(28)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ibtidoiy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ko'phad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amalga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oshiriladi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y3 -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Z=z0||z1||z2||z3 (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uzunligi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32  bit)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 descr="41-Twofish-algo-41-638.jpg">
            <a:extLst>
              <a:ext uri="{FF2B5EF4-FFF2-40B4-BE49-F238E27FC236}">
                <a16:creationId xmlns:a16="http://schemas.microsoft.com/office/drawing/2014/main" id="{B5E48E0C-09AF-14CB-307A-1F6462AE890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418" r="39691" b="9895"/>
          <a:stretch/>
        </p:blipFill>
        <p:spPr>
          <a:xfrm>
            <a:off x="292231" y="339364"/>
            <a:ext cx="5514680" cy="55335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CD9FD25-10F1-3FFC-F78A-7EF00EC2BA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7385" y="2418466"/>
            <a:ext cx="3057525" cy="3619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15DF5AB-A77C-291D-E8BE-00E403259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259" y="3925298"/>
            <a:ext cx="4977452" cy="2735484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7CB12CD6-5121-4328-281E-2048BDC98865}"/>
              </a:ext>
            </a:extLst>
          </p:cNvPr>
          <p:cNvCxnSpPr>
            <a:cxnSpLocks/>
          </p:cNvCxnSpPr>
          <p:nvPr/>
        </p:nvCxnSpPr>
        <p:spPr>
          <a:xfrm>
            <a:off x="5901179" y="4194928"/>
            <a:ext cx="1187778" cy="725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294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C3FA6A-BC2F-A438-DEB7-40B404E7A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9" y="789704"/>
            <a:ext cx="7922284" cy="1596177"/>
          </a:xfrm>
        </p:spPr>
        <p:txBody>
          <a:bodyPr/>
          <a:lstStyle/>
          <a:p>
            <a:r>
              <a:rPr lang="en-US" dirty="0"/>
              <a:t>PHT </a:t>
            </a:r>
            <a:r>
              <a:rPr lang="en-US" dirty="0" err="1"/>
              <a:t>aralashtirish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7C5D9F-A9E6-8ADC-11B7-290C35312F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79" y="3382668"/>
            <a:ext cx="10364452" cy="362835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Pseudo-Hadamard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ransformatsiyasi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dasturiy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ta'minotda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ishlaydigan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aralashtirish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operatsiyasi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berilgan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32-bitli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pht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aniqlanadi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5B36742-43F3-D490-8844-7F0D7BD84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746" y="4716492"/>
            <a:ext cx="2352675" cy="43815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B846BC6-A009-BB7F-1171-168A07B4B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347" y="5310230"/>
            <a:ext cx="3200400" cy="733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848561-6401-1E41-202F-EB52099C52A4}"/>
              </a:ext>
            </a:extLst>
          </p:cNvPr>
          <p:cNvSpPr txBox="1"/>
          <p:nvPr/>
        </p:nvSpPr>
        <p:spPr>
          <a:xfrm>
            <a:off x="519347" y="6103541"/>
            <a:ext cx="1010317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PHT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ko'pgina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mikroprotsessorlarda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jumladan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Pentium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oilasida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ikkita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operatsiya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kodida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bajarilishi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3E2A001-5FEE-FCDF-FF4A-AE66AD4B6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7027" y="584793"/>
            <a:ext cx="3200400" cy="2598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51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EBE0EA9D-B7F3-6355-1342-7F310B8AA1B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613351" y="236520"/>
                <a:ext cx="10364451" cy="876088"/>
              </a:xfrm>
            </p:spPr>
            <p:txBody>
              <a:bodyPr/>
              <a:lstStyle/>
              <a:p>
                <a:r>
                  <a:rPr lang="en-US" cap="none" dirty="0"/>
                  <a:t>Additional  in base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</m:oMath>
                </a14:m>
                <a:r>
                  <a:rPr lang="en-US" cap="none" dirty="0"/>
                  <a:t> </a:t>
                </a:r>
                <a:endParaRPr lang="ru-RU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EBE0EA9D-B7F3-6355-1342-7F310B8AA1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613351" y="236520"/>
                <a:ext cx="10364451" cy="876088"/>
              </a:xfrm>
              <a:blipFill>
                <a:blip r:embed="rId2"/>
                <a:stretch>
                  <a:fillRect t="-694" b="-972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Объект 8">
            <a:extLst>
              <a:ext uri="{FF2B5EF4-FFF2-40B4-BE49-F238E27FC236}">
                <a16:creationId xmlns:a16="http://schemas.microsoft.com/office/drawing/2014/main" id="{EA0A9189-C8D8-33B1-77D6-7C4F190E0C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652909" y="909023"/>
            <a:ext cx="2861325" cy="3424237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4FD2BA-40B4-EE9E-7968-AF563C1B6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996" y="890169"/>
            <a:ext cx="7674905" cy="464378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EB64A7A-9416-9D0C-68B6-A74D05B49A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646" y="5487014"/>
            <a:ext cx="3886200" cy="92392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D9C26E38-B784-5236-0A21-4EDF1ABBFD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1646" y="4734539"/>
            <a:ext cx="3886200" cy="752475"/>
          </a:xfrm>
          <a:prstGeom prst="rect">
            <a:avLst/>
          </a:prstGeom>
        </p:spPr>
      </p:pic>
      <p:cxnSp>
        <p:nvCxnSpPr>
          <p:cNvPr id="4" name="Прямая со стрелкой 3">
            <a:extLst>
              <a:ext uri="{FF2B5EF4-FFF2-40B4-BE49-F238E27FC236}">
                <a16:creationId xmlns:a16="http://schemas.microsoft.com/office/drawing/2014/main" id="{E651A9B8-B614-7063-CD1D-2F0DBA08ACBD}"/>
              </a:ext>
            </a:extLst>
          </p:cNvPr>
          <p:cNvCxnSpPr>
            <a:cxnSpLocks/>
          </p:cNvCxnSpPr>
          <p:nvPr/>
        </p:nvCxnSpPr>
        <p:spPr>
          <a:xfrm flipH="1" flipV="1">
            <a:off x="3676454" y="4807670"/>
            <a:ext cx="4213781" cy="179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782751EA-064C-01D9-6708-9E8E5996BF1C}"/>
              </a:ext>
            </a:extLst>
          </p:cNvPr>
          <p:cNvCxnSpPr>
            <a:cxnSpLocks/>
          </p:cNvCxnSpPr>
          <p:nvPr/>
        </p:nvCxnSpPr>
        <p:spPr>
          <a:xfrm flipH="1" flipV="1">
            <a:off x="2997724" y="2554664"/>
            <a:ext cx="678730" cy="2253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6DB0AD65-92CA-8554-9A67-EB08C2257EE0}"/>
              </a:ext>
            </a:extLst>
          </p:cNvPr>
          <p:cNvCxnSpPr/>
          <p:nvPr/>
        </p:nvCxnSpPr>
        <p:spPr>
          <a:xfrm flipH="1" flipV="1">
            <a:off x="3582186" y="5175315"/>
            <a:ext cx="4308049" cy="160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F9C96019-2DE4-4F17-210B-6A2ECF7A8866}"/>
              </a:ext>
            </a:extLst>
          </p:cNvPr>
          <p:cNvCxnSpPr>
            <a:cxnSpLocks/>
          </p:cNvCxnSpPr>
          <p:nvPr/>
        </p:nvCxnSpPr>
        <p:spPr>
          <a:xfrm flipH="1" flipV="1">
            <a:off x="2950591" y="4147390"/>
            <a:ext cx="664084" cy="9944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6448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E37BE7-0664-3869-7068-E2737A2C5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66" y="166031"/>
            <a:ext cx="10364451" cy="706092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alitlar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generatsiyasi</a:t>
            </a:r>
            <a:endParaRPr lang="ru-RU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1" descr="43-Twofish-algo-4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54711"/>
            <a:ext cx="4920792" cy="45485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272C65-AC14-390E-FE2B-732933228370}"/>
              </a:ext>
            </a:extLst>
          </p:cNvPr>
          <p:cNvSpPr txBox="1"/>
          <p:nvPr/>
        </p:nvSpPr>
        <p:spPr>
          <a:xfrm>
            <a:off x="5213021" y="1530866"/>
            <a:ext cx="609442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jadval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Key M (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etilgan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TwoFish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nice”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128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variant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Bizning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holatimizda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global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(M) M = 128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to'plam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(subkeys)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Twofish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to'plami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sizga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bo'ladi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raundda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so'z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 x 16 = 32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so’z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oqartirishga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kirish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(input whitening)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so’z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oqlash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(output whitening)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so’z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jami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32 + 8 = 40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so’z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(K0, . . . , K39).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77420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44-Twofish-algo-44-638.jpg">
            <a:extLst>
              <a:ext uri="{FF2B5EF4-FFF2-40B4-BE49-F238E27FC236}">
                <a16:creationId xmlns:a16="http://schemas.microsoft.com/office/drawing/2014/main" id="{0B30C6AB-B3D6-E91F-1014-E64E20459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859"/>
            <a:ext cx="5288438" cy="48500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C998004-FA19-34B9-DC42-B639FBE21C96}"/>
              </a:ext>
            </a:extLst>
          </p:cNvPr>
          <p:cNvSpPr txBox="1"/>
          <p:nvPr/>
        </p:nvSpPr>
        <p:spPr>
          <a:xfrm>
            <a:off x="5507611" y="1412016"/>
            <a:ext cx="61321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jadval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Key M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foydalanuvchi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taqdim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etilgan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(M)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bizning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holatimizda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 = 128 bit.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to'plami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toplam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Twofish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kichik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S1.</a:t>
            </a:r>
          </a:p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shifrni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ochish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o'rnatiladi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S0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S1 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funksiyasi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ichidagi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boxda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5-Twofish-algo-45-638.jpg">
            <a:extLst>
              <a:ext uri="{FF2B5EF4-FFF2-40B4-BE49-F238E27FC236}">
                <a16:creationId xmlns:a16="http://schemas.microsoft.com/office/drawing/2014/main" id="{9AA2BE0D-88FE-9426-0828-B3D9C0262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305" y="-84842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7646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7AA28E-1811-405D-6E65-54A231646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28" y="122285"/>
            <a:ext cx="10364451" cy="688157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to`plam</a:t>
            </a:r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(subkeys)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6DFFD67-F057-681F-BA04-827AB89D782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77725" y="810442"/>
                <a:ext cx="10364452" cy="5684363"/>
              </a:xfrm>
            </p:spPr>
            <p:txBody>
              <a:bodyPr>
                <a:normAutofit/>
              </a:bodyPr>
              <a:lstStyle/>
              <a:p>
                <a:r>
                  <a:rPr lang="pt-BR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 = 128, n = 192, and n = 256;</a:t>
                </a:r>
              </a:p>
              <a:p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 = n/64;   M </a:t>
                </a:r>
                <a:r>
                  <a:rPr lang="en-US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kaliti</a:t>
                </a:r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8k dan </a:t>
                </a:r>
                <a:r>
                  <a:rPr lang="en-US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iborat</a:t>
                </a:r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baytlar</a:t>
                </a:r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en-US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</a:t>
                </a:r>
                <a:r>
                  <a:rPr lang="en-US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Misol</a:t>
                </a:r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agar  n=128 bit  </a:t>
                </a:r>
                <a:r>
                  <a:rPr lang="en-US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bolsa</a:t>
                </a:r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k=2, 16 </a:t>
                </a:r>
                <a:r>
                  <a:rPr lang="en-US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bayt</a:t>
                </a:r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15</m:t>
                        </m:r>
                      </m:sub>
                    </m:sSub>
                  </m:oMath>
                </a14:m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,  </a:t>
                </a:r>
                <a:r>
                  <a:rPr lang="en-US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yani</a:t>
                </a:r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cap="none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endParaRPr lang="en-US" cap="non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cap="non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cap="non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cap="non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6DFFD67-F057-681F-BA04-827AB89D782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77725" y="810442"/>
                <a:ext cx="10364452" cy="5684363"/>
              </a:xfrm>
              <a:blipFill>
                <a:blip r:embed="rId2"/>
                <a:stretch>
                  <a:fillRect l="-529" t="-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46-Twofish-algo-46-638.jpg"/>
          <p:cNvPicPr>
            <a:picLocks noChangeAspect="1"/>
          </p:cNvPicPr>
          <p:nvPr/>
        </p:nvPicPr>
        <p:blipFill rotWithShape="1">
          <a:blip r:embed="rId3"/>
          <a:srcRect t="10256" b="10181"/>
          <a:stretch/>
        </p:blipFill>
        <p:spPr>
          <a:xfrm>
            <a:off x="1177725" y="2163715"/>
            <a:ext cx="6132136" cy="44588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CF42C6-4B36-AD14-AECF-E89AB9F6FD6E}"/>
              </a:ext>
            </a:extLst>
          </p:cNvPr>
          <p:cNvSpPr txBox="1"/>
          <p:nvPr/>
        </p:nvSpPr>
        <p:spPr>
          <a:xfrm>
            <a:off x="7224075" y="2520480"/>
            <a:ext cx="496792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kalitlarning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generatsiyasi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(128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bitli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Bit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16  ta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bolaklarga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bolinadi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8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bitdan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8AE73E-F16E-A28E-B29C-A5FF0829F92F}"/>
                  </a:ext>
                </a:extLst>
              </p:cNvPr>
              <p:cNvSpPr txBox="1"/>
              <p:nvPr/>
            </p:nvSpPr>
            <p:spPr>
              <a:xfrm>
                <a:off x="7446076" y="4393154"/>
                <a:ext cx="4523921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key M consists of 8k bytes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cap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 cap="none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cap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cap="none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cap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cap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cap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en-US" b="0" i="1" cap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b="0" i="1" cap="none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ru-RU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8AE73E-F16E-A28E-B29C-A5FF0829F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6076" y="4393154"/>
                <a:ext cx="4523921" cy="646331"/>
              </a:xfrm>
              <a:prstGeom prst="rect">
                <a:avLst/>
              </a:prstGeom>
              <a:blipFill>
                <a:blip r:embed="rId4"/>
                <a:stretch>
                  <a:fillRect l="-1077" t="-5660" b="-141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987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7-Twofish-algo-47-638.jpg">
            <a:extLst>
              <a:ext uri="{FF2B5EF4-FFF2-40B4-BE49-F238E27FC236}">
                <a16:creationId xmlns:a16="http://schemas.microsoft.com/office/drawing/2014/main" id="{3DC583BE-48A3-4E05-66F7-0295E2756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65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717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8-Twofish-algo-48-638.jpg">
            <a:extLst>
              <a:ext uri="{FF2B5EF4-FFF2-40B4-BE49-F238E27FC236}">
                <a16:creationId xmlns:a16="http://schemas.microsoft.com/office/drawing/2014/main" id="{FF156D80-C083-A043-5185-E688B80B5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195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49-Twofish-algo-49-638.jpg">
            <a:extLst>
              <a:ext uri="{FF2B5EF4-FFF2-40B4-BE49-F238E27FC236}">
                <a16:creationId xmlns:a16="http://schemas.microsoft.com/office/drawing/2014/main" id="{ED50410E-C884-E038-A91D-AD5BAEBB3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899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273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0-Twofish-algo-5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6533A67-61F0-F0D5-0635-EFE6551B3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486" y="3195250"/>
            <a:ext cx="5362575" cy="11334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D7E81A-11B2-8FC3-1BFA-D60506561660}"/>
                  </a:ext>
                </a:extLst>
              </p:cNvPr>
              <p:cNvSpPr txBox="1"/>
              <p:nvPr/>
            </p:nvSpPr>
            <p:spPr>
              <a:xfrm>
                <a:off x="1595486" y="517594"/>
                <a:ext cx="9754386" cy="26776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pt-BR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128, </a:t>
                </a:r>
                <a:r>
                  <a:rPr lang="pt-B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pt-BR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192, and  N= 256;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k = n/64;   M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kaliti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8k dan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iborat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baytlar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  <m:r>
                          <a:rPr lang="en-US" sz="2000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  <m:r>
                          <a:rPr lang="en-US" sz="2000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(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Misol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agar  n=128 bit 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bolsa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, k=2, 16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bayt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. . .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000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15</m:t>
                        </m:r>
                      </m:sub>
                    </m:sSub>
                  </m:oMath>
                </a14:m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endParaRPr lang="ru-RU" sz="2000" cap="non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Baytlar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avval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konvertatsiya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qilinadi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har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biri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32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bitli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2k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so‘zga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Misol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:  n=128bit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bolsa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k=2, 32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bitli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4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so`zga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) : </a:t>
                </a:r>
              </a:p>
              <a:p>
                <a:endParaRPr lang="en-US" cap="non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9D7E81A-11B2-8FC3-1BFA-D60506561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486" y="517594"/>
                <a:ext cx="9754386" cy="2677656"/>
              </a:xfrm>
              <a:prstGeom prst="rect">
                <a:avLst/>
              </a:prstGeom>
              <a:blipFill>
                <a:blip r:embed="rId3"/>
                <a:stretch>
                  <a:fillRect l="-68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9DEA4C-0E12-314F-F4C2-C9BE0B5DF0BA}"/>
                  </a:ext>
                </a:extLst>
              </p:cNvPr>
              <p:cNvSpPr txBox="1"/>
              <p:nvPr/>
            </p:nvSpPr>
            <p:spPr>
              <a:xfrm>
                <a:off x="1595486" y="4449700"/>
                <a:ext cx="8230227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Misol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uchun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cap="none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cap="none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cap="none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(k=2,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cap="none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cap="none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2000" b="0" i="1" cap="none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sz="2000" i="1" cap="none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=3)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cap="none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0" i="1" cap="none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cap="none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</a:t>
                </a:r>
                <a:r>
                  <a:rPr lang="en-US" sz="2000" cap="none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cap="none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cap="none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cap="none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2000" cap="none" dirty="0">
                    <a:cs typeface="Times New Roman" panose="02020603050405020304" pitchFamily="18" charset="0"/>
                  </a:rPr>
                  <a:t> 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cap="none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cap="none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cap="none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sz="2000" cap="none" dirty="0"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cap="none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i="1" cap="none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cap="none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15</m:t>
                        </m:r>
                      </m:sub>
                    </m:sSub>
                  </m:oMath>
                </a14:m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 cap="none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cap="none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24</m:t>
                        </m:r>
                      </m:sup>
                    </m:sSup>
                  </m:oMath>
                </a14:m>
                <a:endParaRPr lang="en-US" sz="2000" cap="none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So`ngra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ikkiga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bolinadi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yani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ikki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vektorga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cap="none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bolinadi</a:t>
                </a:r>
                <a:r>
                  <a:rPr lang="en-US" sz="2000" cap="none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: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9DEA4C-0E12-314F-F4C2-C9BE0B5DF0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486" y="4449700"/>
                <a:ext cx="8230227" cy="707886"/>
              </a:xfrm>
              <a:prstGeom prst="rect">
                <a:avLst/>
              </a:prstGeom>
              <a:blipFill>
                <a:blip r:embed="rId4"/>
                <a:stretch>
                  <a:fillRect l="-815" t="-5172" b="-146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F836175-FB8C-394E-CCED-E4939F04D0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5486" y="5278561"/>
            <a:ext cx="361950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801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1-Twofish-algo-5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48" y="131974"/>
            <a:ext cx="7968601" cy="5976451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341EE73-A39D-02CC-309D-95C9B20858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252" y="1593423"/>
            <a:ext cx="36195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2-Twofish-algo-52-638.jpg"/>
          <p:cNvPicPr>
            <a:picLocks noChangeAspect="1"/>
          </p:cNvPicPr>
          <p:nvPr/>
        </p:nvPicPr>
        <p:blipFill rotWithShape="1">
          <a:blip r:embed="rId2"/>
          <a:srcRect l="5807" t="5019" r="5635" b="5084"/>
          <a:stretch/>
        </p:blipFill>
        <p:spPr>
          <a:xfrm>
            <a:off x="1" y="593889"/>
            <a:ext cx="6095999" cy="464119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F24705E-9254-B98D-A85D-90C60F768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124" y="199927"/>
            <a:ext cx="4687674" cy="2324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8C9300-8366-833A-FDAC-4E3AF82F5C1F}"/>
              </a:ext>
            </a:extLst>
          </p:cNvPr>
          <p:cNvSpPr txBox="1"/>
          <p:nvPr/>
        </p:nvSpPr>
        <p:spPr>
          <a:xfrm>
            <a:off x="6640397" y="2394982"/>
            <a:ext cx="526251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baytlarni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takrorlash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doimiy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 . .  255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degan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xususiyatga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ru-RU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to'rtta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teng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baytdan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( 4*8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=32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bitdan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bo'lib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qiymatiga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7E5B15-A269-978E-918A-642DCA9EC446}"/>
              </a:ext>
            </a:extLst>
          </p:cNvPr>
          <p:cNvSpPr txBox="1"/>
          <p:nvPr/>
        </p:nvSpPr>
        <p:spPr>
          <a:xfrm>
            <a:off x="124905" y="5340781"/>
            <a:ext cx="60944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The </a:t>
            </a:r>
            <a:r>
              <a:rPr lang="ru-RU" dirty="0" err="1"/>
              <a:t>constant</a:t>
            </a:r>
            <a:r>
              <a:rPr lang="ru-RU" dirty="0"/>
              <a:t> ρ </a:t>
            </a:r>
            <a:r>
              <a:rPr lang="ru-RU" dirty="0" err="1"/>
              <a:t>is</a:t>
            </a:r>
            <a:r>
              <a:rPr lang="ru-RU" dirty="0"/>
              <a:t> </a:t>
            </a:r>
            <a:r>
              <a:rPr lang="ru-RU" dirty="0" err="1"/>
              <a:t>used</a:t>
            </a:r>
            <a:r>
              <a:rPr lang="ru-RU" dirty="0"/>
              <a:t> </a:t>
            </a:r>
            <a:r>
              <a:rPr lang="ru-RU" dirty="0" err="1"/>
              <a:t>here</a:t>
            </a:r>
            <a:r>
              <a:rPr lang="ru-RU" dirty="0"/>
              <a:t> </a:t>
            </a:r>
            <a:r>
              <a:rPr lang="ru-RU" dirty="0" err="1"/>
              <a:t>to</a:t>
            </a:r>
            <a:r>
              <a:rPr lang="ru-RU" dirty="0"/>
              <a:t> </a:t>
            </a:r>
            <a:r>
              <a:rPr lang="ru-RU" dirty="0" err="1"/>
              <a:t>duplicate</a:t>
            </a:r>
            <a:r>
              <a:rPr lang="ru-RU" dirty="0"/>
              <a:t> </a:t>
            </a:r>
            <a:r>
              <a:rPr lang="ru-RU" dirty="0" err="1"/>
              <a:t>bytes</a:t>
            </a:r>
            <a:r>
              <a:rPr lang="ru-RU" dirty="0"/>
              <a:t>; </a:t>
            </a:r>
            <a:r>
              <a:rPr lang="ru-RU" dirty="0" err="1"/>
              <a:t>it</a:t>
            </a:r>
            <a:endParaRPr lang="ru-RU" dirty="0"/>
          </a:p>
          <a:p>
            <a:r>
              <a:rPr lang="ru-RU" dirty="0" err="1"/>
              <a:t>has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property</a:t>
            </a:r>
            <a:r>
              <a:rPr lang="ru-RU" dirty="0"/>
              <a:t> </a:t>
            </a:r>
            <a:r>
              <a:rPr lang="ru-RU" dirty="0" err="1"/>
              <a:t>that</a:t>
            </a:r>
            <a:r>
              <a:rPr lang="ru-RU" dirty="0"/>
              <a:t> </a:t>
            </a:r>
            <a:r>
              <a:rPr lang="ru-RU" dirty="0" err="1"/>
              <a:t>for</a:t>
            </a:r>
            <a:r>
              <a:rPr lang="ru-RU" dirty="0"/>
              <a:t> i = 0, . . . , 255,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word</a:t>
            </a:r>
            <a:r>
              <a:rPr lang="ru-RU" dirty="0"/>
              <a:t> </a:t>
            </a:r>
            <a:r>
              <a:rPr lang="ru-RU" dirty="0" err="1"/>
              <a:t>iρ</a:t>
            </a:r>
            <a:endParaRPr lang="ru-RU" dirty="0"/>
          </a:p>
          <a:p>
            <a:r>
              <a:rPr lang="ru-RU" dirty="0" err="1"/>
              <a:t>consists</a:t>
            </a:r>
            <a:r>
              <a:rPr lang="ru-RU" dirty="0"/>
              <a:t> </a:t>
            </a:r>
            <a:r>
              <a:rPr lang="ru-RU" dirty="0" err="1"/>
              <a:t>of</a:t>
            </a:r>
            <a:r>
              <a:rPr lang="ru-RU" dirty="0"/>
              <a:t> </a:t>
            </a:r>
            <a:r>
              <a:rPr lang="ru-RU" dirty="0" err="1"/>
              <a:t>four</a:t>
            </a:r>
            <a:r>
              <a:rPr lang="ru-RU" dirty="0"/>
              <a:t> </a:t>
            </a:r>
            <a:r>
              <a:rPr lang="ru-RU" dirty="0" err="1"/>
              <a:t>equal</a:t>
            </a:r>
            <a:r>
              <a:rPr lang="ru-RU" dirty="0"/>
              <a:t> </a:t>
            </a:r>
            <a:r>
              <a:rPr lang="ru-RU" dirty="0" err="1"/>
              <a:t>bytes</a:t>
            </a:r>
            <a:r>
              <a:rPr lang="ru-RU" dirty="0"/>
              <a:t>, </a:t>
            </a:r>
            <a:r>
              <a:rPr lang="ru-RU" dirty="0" err="1"/>
              <a:t>each</a:t>
            </a:r>
            <a:r>
              <a:rPr lang="ru-RU" dirty="0"/>
              <a:t> </a:t>
            </a:r>
            <a:r>
              <a:rPr lang="ru-RU" dirty="0" err="1"/>
              <a:t>with</a:t>
            </a:r>
            <a:r>
              <a:rPr lang="ru-RU" dirty="0"/>
              <a:t> </a:t>
            </a:r>
            <a:r>
              <a:rPr lang="ru-RU" dirty="0" err="1"/>
              <a:t>the</a:t>
            </a:r>
            <a:r>
              <a:rPr lang="ru-RU" dirty="0"/>
              <a:t> </a:t>
            </a:r>
            <a:r>
              <a:rPr lang="ru-RU" dirty="0" err="1"/>
              <a:t>value</a:t>
            </a:r>
            <a:r>
              <a:rPr lang="ru-RU" dirty="0"/>
              <a:t> i.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4157F776-3DE2-6784-F738-C12F8112F9F0}"/>
              </a:ext>
            </a:extLst>
          </p:cNvPr>
          <p:cNvCxnSpPr/>
          <p:nvPr/>
        </p:nvCxnSpPr>
        <p:spPr>
          <a:xfrm flipV="1">
            <a:off x="3601039" y="904973"/>
            <a:ext cx="4147794" cy="1140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F8BB799-EFA5-F425-6B93-820029D78C05}"/>
              </a:ext>
            </a:extLst>
          </p:cNvPr>
          <p:cNvCxnSpPr>
            <a:cxnSpLocks/>
          </p:cNvCxnSpPr>
          <p:nvPr/>
        </p:nvCxnSpPr>
        <p:spPr>
          <a:xfrm flipV="1">
            <a:off x="4145436" y="1344524"/>
            <a:ext cx="3527983" cy="2668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10B1F9-6B26-F413-8578-AABE4D48A280}"/>
                  </a:ext>
                </a:extLst>
              </p:cNvPr>
              <p:cNvSpPr txBox="1"/>
              <p:nvPr/>
            </p:nvSpPr>
            <p:spPr>
              <a:xfrm>
                <a:off x="6224440" y="4515779"/>
                <a:ext cx="6094428" cy="16500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turdagi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so'zlarga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funktsiyasi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qo'llaniladi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Uchun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Ai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bayt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qiymatlari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2i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ikkinchi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argument</a:t>
                </a:r>
                <a:endParaRPr lang="ru-RU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dan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M</m:t>
                        </m:r>
                      </m:e>
                      <m:sub>
                        <m: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nor/>
                          </m:rPr>
                          <a:rPr lang="ru-RU" sz="20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i</m:t>
                        </m:r>
                      </m:sub>
                    </m:sSub>
                    <m:r>
                      <a:rPr lang="ru-RU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kabi 2i + 1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yordamida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xuddi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shunday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hisoblab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chiqiladi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bayt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qiymati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ikkinchi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argument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sifatida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bilan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bitdan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ortiq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qo'shimcha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aylanish</a:t>
                </a:r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810B1F9-6B26-F413-8578-AABE4D48A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4440" y="4515779"/>
                <a:ext cx="6094428" cy="1650003"/>
              </a:xfrm>
              <a:prstGeom prst="rect">
                <a:avLst/>
              </a:prstGeom>
              <a:blipFill>
                <a:blip r:embed="rId4"/>
                <a:stretch>
                  <a:fillRect l="-1000" t="-2222" b="-59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53EF270-06E8-A92A-9D58-3613B3DBA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0951" y="160255"/>
            <a:ext cx="5172559" cy="6537489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00F9326-7E15-A03B-F639-6B80AF9F713F}"/>
              </a:ext>
            </a:extLst>
          </p:cNvPr>
          <p:cNvSpPr/>
          <p:nvPr/>
        </p:nvSpPr>
        <p:spPr>
          <a:xfrm>
            <a:off x="3233394" y="245097"/>
            <a:ext cx="4581427" cy="28846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5028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3-Twofish-algo-5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4-Twofish-algo-5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5-Twofish-algo-5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6-Twofish-algo-5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75" y="-163398"/>
            <a:ext cx="7104666" cy="685800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8890905-9EF7-6E21-0796-1279432C2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8341" y="304800"/>
            <a:ext cx="4659984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1BDC0D-4488-A67A-12AB-8FD320CFC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2098544"/>
            <a:ext cx="8191500" cy="3905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9F4CD8-84B3-EB0B-7204-6EB25E4628D1}"/>
              </a:ext>
            </a:extLst>
          </p:cNvPr>
          <p:cNvSpPr txBox="1"/>
          <p:nvPr/>
        </p:nvSpPr>
        <p:spPr>
          <a:xfrm>
            <a:off x="4387390" y="1216631"/>
            <a:ext cx="52625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Deshifrlash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jarayoni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07588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5089A9-E65E-FFDC-9FB2-FC08FA5F2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727" y="184885"/>
            <a:ext cx="10364451" cy="1059454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hifrlash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tezliklari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grafigi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1" descr="57-Twofish-algo-57-638.jpg">
            <a:extLst>
              <a:ext uri="{FF2B5EF4-FFF2-40B4-BE49-F238E27FC236}">
                <a16:creationId xmlns:a16="http://schemas.microsoft.com/office/drawing/2014/main" id="{78EF18A9-23E6-E6B5-7976-80355F73A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0" y="990779"/>
            <a:ext cx="10200428" cy="5494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3328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A982B8-D3EE-99F5-B124-50830971F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666" y="118896"/>
            <a:ext cx="10364451" cy="833211"/>
          </a:xfrm>
        </p:spPr>
        <p:txBody>
          <a:bodyPr/>
          <a:lstStyle/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Kamchiliklari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C0019A-6A1F-7923-4DEF-22604EC35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6" y="1069246"/>
            <a:ext cx="10364452" cy="3424107"/>
          </a:xfrm>
        </p:spPr>
        <p:txBody>
          <a:bodyPr>
            <a:normAutofit/>
          </a:bodyPr>
          <a:lstStyle/>
          <a:p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twofish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shifrlash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kam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quvvatli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qurilmalar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murakkabligi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tufayli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cheklangan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hisoblash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resurslariga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ilovalar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kelmasligi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shifrlangan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xabar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bog'liq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yana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muammo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o'lchamidir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agar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algoritm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katta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miqdordagi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ochiq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matnli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ma'lumotlarga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qo'llanilsa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dasturning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sekinroq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ishlashiga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kelishi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E21B544-835C-728B-993C-E7D5A20B7B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072" y="3429000"/>
            <a:ext cx="482917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6574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48B75C5-69FA-B945-FBAB-AEA5033F992F}"/>
              </a:ext>
            </a:extLst>
          </p:cNvPr>
          <p:cNvSpPr txBox="1"/>
          <p:nvPr/>
        </p:nvSpPr>
        <p:spPr>
          <a:xfrm>
            <a:off x="963890" y="835613"/>
            <a:ext cx="107064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Twofish-da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ishlatiladigan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oldindan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hisoblangan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bog'liq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S-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qutilari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hujumlariga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nisbatan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zaif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ekanligi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ta'kidlanadi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Biroq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jadvallarni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kalitga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bog'liq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kanal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hujumi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xavfini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minimallashtirish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66ABFE1-E2B5-1005-BA32-9B18427F6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37" y="1851276"/>
            <a:ext cx="5888610" cy="47319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DB06C1E-83C0-5624-44BF-4E4B047A6658}"/>
              </a:ext>
            </a:extLst>
          </p:cNvPr>
          <p:cNvSpPr txBox="1"/>
          <p:nvPr/>
        </p:nvSpPr>
        <p:spPr>
          <a:xfrm>
            <a:off x="5875257" y="2228671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</a:t>
            </a:r>
            <a:r>
              <a:rPr lang="ru-RU" dirty="0"/>
              <a:t>злоумышленник использует собранные данные для реконструкции целевого процесса</a:t>
            </a:r>
            <a:r>
              <a:rPr lang="en-US" dirty="0"/>
              <a:t>.</a:t>
            </a:r>
          </a:p>
          <a:p>
            <a:r>
              <a:rPr lang="en-US" dirty="0"/>
              <a:t>2.</a:t>
            </a:r>
            <a:r>
              <a:rPr lang="ru-RU" dirty="0"/>
              <a:t>злоумышленник перехватывает выбросы</a:t>
            </a:r>
            <a:r>
              <a:rPr lang="en-US" dirty="0"/>
              <a:t>.</a:t>
            </a:r>
          </a:p>
          <a:p>
            <a:r>
              <a:rPr lang="en-US" dirty="0"/>
              <a:t>3.</a:t>
            </a:r>
            <a:r>
              <a:rPr lang="ru-RU" dirty="0"/>
              <a:t>целевой компьютер излучает электромагнитную волну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26392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88B912-408F-7B34-E5B7-1A023C3E0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Mualliflarning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xulosalari</a:t>
            </a:r>
            <a:b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2C6090E-D896-E475-53E8-7AB722EC9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Может ли количество раундов быть безопасным?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уменьшенный. На этом этапе наша лучшая несвязанная ключевая атака — дифференциальная атака — может только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взломать пяти раундов. Если не найдутся атаки  получше через несколько лет, возможно, будет безопасно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сократить количество раундов до 14 или даже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 Двенадцати раундовая система Twofish может шифровать и дешифровать данные со скоростью около 250 тактов на блок.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Pentium, Pentium Pro и Pentium II.</a:t>
            </a:r>
          </a:p>
        </p:txBody>
      </p:sp>
    </p:spTree>
    <p:extLst>
      <p:ext uri="{BB962C8B-B14F-4D97-AF65-F5344CB8AC3E}">
        <p14:creationId xmlns:p14="http://schemas.microsoft.com/office/powerpoint/2010/main" val="4150907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AA45C4-5634-E507-0F53-1FF4AFB7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532" y="1108712"/>
            <a:ext cx="10364451" cy="1596177"/>
          </a:xfrm>
        </p:spPr>
        <p:txBody>
          <a:bodyPr/>
          <a:lstStyle/>
          <a:p>
            <a:r>
              <a:rPr lang="ru-RU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 За  Внимание 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084A441-48B9-0672-8B95-5A9E993EF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444" y="2705312"/>
            <a:ext cx="3476625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995561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Капля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809</TotalTime>
  <Words>1217</Words>
  <Application>Microsoft Office PowerPoint</Application>
  <PresentationFormat>Широкоэкранный</PresentationFormat>
  <Paragraphs>112</Paragraphs>
  <Slides>40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40</vt:i4>
      </vt:variant>
    </vt:vector>
  </HeadingPairs>
  <TitlesOfParts>
    <vt:vector size="46" baseType="lpstr">
      <vt:lpstr>Algerian</vt:lpstr>
      <vt:lpstr>Arial</vt:lpstr>
      <vt:lpstr>Cambria Math</vt:lpstr>
      <vt:lpstr>Times New Roman</vt:lpstr>
      <vt:lpstr>Tw Cen MT</vt:lpstr>
      <vt:lpstr>Капля</vt:lpstr>
      <vt:lpstr>Twofish</vt:lpstr>
      <vt:lpstr>Создатели</vt:lpstr>
      <vt:lpstr>Кратко  о  Twofish</vt:lpstr>
      <vt:lpstr>Algoritmning Umumiy sxematik  ko`rinishi </vt:lpstr>
      <vt:lpstr>Презентация PowerPoint</vt:lpstr>
      <vt:lpstr>Презентация PowerPoint</vt:lpstr>
      <vt:lpstr>Презентация PowerPoint</vt:lpstr>
      <vt:lpstr>Презентация PowerPoint</vt:lpstr>
      <vt:lpstr>F funksiya nimalardan  tashkil  topgan ?</vt:lpstr>
      <vt:lpstr>Презентация PowerPoint</vt:lpstr>
      <vt:lpstr>g funksiya nimalardan  tashkil  topgan va tashkil etuvchilar  haqida  ?</vt:lpstr>
      <vt:lpstr>S bloklar </vt:lpstr>
      <vt:lpstr>S blokdagi  ichidagi  boladigan hodisalar </vt:lpstr>
      <vt:lpstr>Презентация PowerPoint</vt:lpstr>
      <vt:lpstr>Презентация PowerPoint</vt:lpstr>
      <vt:lpstr>Презентация PowerPoint</vt:lpstr>
      <vt:lpstr>PHT aralashtirish</vt:lpstr>
      <vt:lpstr>Additional  in base 2^32 </vt:lpstr>
      <vt:lpstr>Kalitlar generatsiyasi</vt:lpstr>
      <vt:lpstr>Презентация PowerPoint</vt:lpstr>
      <vt:lpstr>Презентация PowerPoint</vt:lpstr>
      <vt:lpstr>s to`plam (subkeys)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Shifrlash  tezliklari grafigi</vt:lpstr>
      <vt:lpstr>Kamchiliklari</vt:lpstr>
      <vt:lpstr>Презентация PowerPoint</vt:lpstr>
      <vt:lpstr>Mualliflarning  xulosalari </vt:lpstr>
      <vt:lpstr>Спасибо  За  Внимание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Twofish</dc:title>
  <dc:creator>Пользователь</dc:creator>
  <cp:lastModifiedBy>Пользователь</cp:lastModifiedBy>
  <cp:revision>7</cp:revision>
  <dcterms:created xsi:type="dcterms:W3CDTF">2024-05-11T11:12:04Z</dcterms:created>
  <dcterms:modified xsi:type="dcterms:W3CDTF">2024-05-12T18:04:34Z</dcterms:modified>
</cp:coreProperties>
</file>