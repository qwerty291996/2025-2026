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75" r:id="rId4"/>
    <p:sldId id="283" r:id="rId5"/>
    <p:sldId id="276" r:id="rId6"/>
    <p:sldId id="273" r:id="rId7"/>
    <p:sldId id="277" r:id="rId8"/>
    <p:sldId id="278" r:id="rId9"/>
    <p:sldId id="279" r:id="rId10"/>
    <p:sldId id="280" r:id="rId11"/>
    <p:sldId id="284" r:id="rId12"/>
    <p:sldId id="285" r:id="rId13"/>
    <p:sldId id="288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9" r:id="rId23"/>
    <p:sldId id="298" r:id="rId24"/>
    <p:sldId id="266" r:id="rId25"/>
  </p:sldIdLst>
  <p:sldSz cx="9144000" cy="6858000" type="screen4x3"/>
  <p:notesSz cx="6742113" cy="987266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CCFFFF"/>
    <a:srgbClr val="99CCFF"/>
    <a:srgbClr val="EAEAEA"/>
    <a:srgbClr val="6666FF"/>
    <a:srgbClr val="800000"/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7371" autoAdjust="0"/>
  </p:normalViewPr>
  <p:slideViewPr>
    <p:cSldViewPr>
      <p:cViewPr>
        <p:scale>
          <a:sx n="75" d="100"/>
          <a:sy n="75" d="100"/>
        </p:scale>
        <p:origin x="-1914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1EBD8B-2CDE-41C9-9EA2-7BB43647C436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E9188C2-DD4F-4CD8-A026-BF818287EAE4}">
      <dgm:prSet phldrT="[Текст]" custT="1"/>
      <dgm:spPr/>
      <dgm:t>
        <a:bodyPr/>
        <a:lstStyle/>
        <a:p>
          <a:pPr algn="ctr"/>
          <a:r>
            <a:rPr lang="en-US" sz="2000" dirty="0" smtClean="0"/>
            <a:t>1995 </a:t>
          </a:r>
          <a:r>
            <a:rPr lang="ru-RU" sz="2000" dirty="0" smtClean="0"/>
            <a:t>й.</a:t>
          </a:r>
          <a:endParaRPr lang="ru-RU" sz="2000" dirty="0"/>
        </a:p>
      </dgm:t>
    </dgm:pt>
    <dgm:pt modelId="{0381C743-9FE4-485A-917B-BC431CAA6891}" type="parTrans" cxnId="{D06AC8A8-F25D-4937-A27C-3727E84F9B74}">
      <dgm:prSet/>
      <dgm:spPr/>
      <dgm:t>
        <a:bodyPr/>
        <a:lstStyle/>
        <a:p>
          <a:endParaRPr lang="ru-RU"/>
        </a:p>
      </dgm:t>
    </dgm:pt>
    <dgm:pt modelId="{4525AEA0-5469-4BCA-AE0A-80DB6A43E960}" type="sibTrans" cxnId="{D06AC8A8-F25D-4937-A27C-3727E84F9B74}">
      <dgm:prSet/>
      <dgm:spPr/>
      <dgm:t>
        <a:bodyPr/>
        <a:lstStyle/>
        <a:p>
          <a:endParaRPr lang="ru-RU"/>
        </a:p>
      </dgm:t>
    </dgm:pt>
    <dgm:pt modelId="{F212A3A2-EABB-4F05-AE07-97F35D0BCDC3}">
      <dgm:prSet phldrT="[Текст]" custT="1"/>
      <dgm:spPr/>
      <dgm:t>
        <a:bodyPr/>
        <a:lstStyle/>
        <a:p>
          <a:pPr algn="ctr"/>
          <a:r>
            <a:rPr lang="ru-RU" sz="2000" dirty="0" smtClean="0"/>
            <a:t>2002 й.</a:t>
          </a:r>
          <a:endParaRPr lang="ru-RU" sz="2000" dirty="0"/>
        </a:p>
      </dgm:t>
    </dgm:pt>
    <dgm:pt modelId="{14F01EDA-661C-4D9F-9000-5F41A32F66A7}" type="parTrans" cxnId="{39586FB8-592D-437A-96D4-3A9872A20627}">
      <dgm:prSet/>
      <dgm:spPr/>
      <dgm:t>
        <a:bodyPr/>
        <a:lstStyle/>
        <a:p>
          <a:endParaRPr lang="ru-RU"/>
        </a:p>
      </dgm:t>
    </dgm:pt>
    <dgm:pt modelId="{33E9D05B-404F-413E-8EFC-14D8641EDC1F}" type="sibTrans" cxnId="{39586FB8-592D-437A-96D4-3A9872A20627}">
      <dgm:prSet/>
      <dgm:spPr/>
      <dgm:t>
        <a:bodyPr/>
        <a:lstStyle/>
        <a:p>
          <a:endParaRPr lang="ru-RU"/>
        </a:p>
      </dgm:t>
    </dgm:pt>
    <dgm:pt modelId="{096AC4E5-EF82-4E03-9447-C569664888E4}">
      <dgm:prSet phldrT="[Текст]" custT="1"/>
      <dgm:spPr/>
      <dgm:t>
        <a:bodyPr/>
        <a:lstStyle/>
        <a:p>
          <a:r>
            <a:rPr lang="en-US" sz="2000" dirty="0" smtClean="0"/>
            <a:t>2012 </a:t>
          </a:r>
          <a:r>
            <a:rPr lang="ru-RU" sz="2000" dirty="0" smtClean="0"/>
            <a:t>й.</a:t>
          </a:r>
          <a:endParaRPr lang="ru-RU" sz="2000" dirty="0"/>
        </a:p>
      </dgm:t>
    </dgm:pt>
    <dgm:pt modelId="{064F41CD-F001-4D1F-902A-E3CDDCDD5799}" type="parTrans" cxnId="{B58B32A8-3E8F-4F33-8998-DE7DBFC90C55}">
      <dgm:prSet/>
      <dgm:spPr/>
      <dgm:t>
        <a:bodyPr/>
        <a:lstStyle/>
        <a:p>
          <a:endParaRPr lang="ru-RU"/>
        </a:p>
      </dgm:t>
    </dgm:pt>
    <dgm:pt modelId="{64596217-1A7F-4653-83EC-5BF5439D04F4}" type="sibTrans" cxnId="{B58B32A8-3E8F-4F33-8998-DE7DBFC90C55}">
      <dgm:prSet/>
      <dgm:spPr/>
      <dgm:t>
        <a:bodyPr/>
        <a:lstStyle/>
        <a:p>
          <a:endParaRPr lang="ru-RU"/>
        </a:p>
      </dgm:t>
    </dgm:pt>
    <dgm:pt modelId="{2820E7B1-D303-4F81-8775-B91C3B0D6DF5}">
      <dgm:prSet custT="1"/>
      <dgm:spPr/>
      <dgm:t>
        <a:bodyPr/>
        <a:lstStyle/>
        <a:p>
          <a:r>
            <a:rPr lang="en-US" sz="2000" dirty="0" smtClean="0"/>
            <a:t>1993 </a:t>
          </a:r>
          <a:r>
            <a:rPr lang="ru-RU" sz="2000" dirty="0" smtClean="0"/>
            <a:t>й.</a:t>
          </a:r>
          <a:endParaRPr lang="ru-RU" sz="2000" dirty="0"/>
        </a:p>
      </dgm:t>
    </dgm:pt>
    <dgm:pt modelId="{25B34E6A-CA53-4806-B342-8EB48CCFA27E}" type="parTrans" cxnId="{F9D6E816-DD24-4570-B066-6A7AD8BA98B3}">
      <dgm:prSet/>
      <dgm:spPr/>
      <dgm:t>
        <a:bodyPr/>
        <a:lstStyle/>
        <a:p>
          <a:endParaRPr lang="ru-RU"/>
        </a:p>
      </dgm:t>
    </dgm:pt>
    <dgm:pt modelId="{12B3B3D9-064A-4E05-9E06-107A868F4E38}" type="sibTrans" cxnId="{F9D6E816-DD24-4570-B066-6A7AD8BA98B3}">
      <dgm:prSet/>
      <dgm:spPr/>
      <dgm:t>
        <a:bodyPr/>
        <a:lstStyle/>
        <a:p>
          <a:endParaRPr lang="ru-RU"/>
        </a:p>
      </dgm:t>
    </dgm:pt>
    <dgm:pt modelId="{5BE41824-1376-4538-9BC7-9E3C434ABB9C}" type="pres">
      <dgm:prSet presAssocID="{301EBD8B-2CDE-41C9-9EA2-7BB43647C436}" presName="arrowDiagram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A4D225-565C-43AF-A8BB-073A20046F68}" type="pres">
      <dgm:prSet presAssocID="{301EBD8B-2CDE-41C9-9EA2-7BB43647C436}" presName="arrow" presStyleLbl="bgShp" presStyleIdx="0" presStyleCnt="1" custScaleX="124583" custLinFactNeighborX="-1853"/>
      <dgm:spPr>
        <a:solidFill>
          <a:schemeClr val="accent5">
            <a:lumMod val="75000"/>
          </a:schemeClr>
        </a:solidFill>
        <a:ln w="28575">
          <a:prstDash val="sysDash"/>
        </a:ln>
      </dgm:spPr>
      <dgm:t>
        <a:bodyPr/>
        <a:lstStyle/>
        <a:p>
          <a:endParaRPr lang="ru-RU"/>
        </a:p>
      </dgm:t>
    </dgm:pt>
    <dgm:pt modelId="{FCFC8F16-6A01-4FB4-B61E-B71D7C9F85A5}" type="pres">
      <dgm:prSet presAssocID="{301EBD8B-2CDE-41C9-9EA2-7BB43647C436}" presName="arrowDiagram4" presStyleCnt="0"/>
      <dgm:spPr/>
    </dgm:pt>
    <dgm:pt modelId="{4FFDAC88-A05B-4247-BD22-A35429C2E89A}" type="pres">
      <dgm:prSet presAssocID="{2820E7B1-D303-4F81-8775-B91C3B0D6DF5}" presName="bullet4a" presStyleLbl="node1" presStyleIdx="0" presStyleCnt="4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E65B21B5-374C-419B-AC19-2006DB594E3D}" type="pres">
      <dgm:prSet presAssocID="{2820E7B1-D303-4F81-8775-B91C3B0D6DF5}" presName="textBox4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6A0478-4739-400A-8BA7-588E0A6D5108}" type="pres">
      <dgm:prSet presAssocID="{EE9188C2-DD4F-4CD8-A026-BF818287EAE4}" presName="bullet4b" presStyleLbl="node1" presStyleIdx="1" presStyleCnt="4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0736EDFB-CED4-4915-9411-483081E9C547}" type="pres">
      <dgm:prSet presAssocID="{EE9188C2-DD4F-4CD8-A026-BF818287EAE4}" presName="textBox4b" presStyleLbl="revTx" presStyleIdx="1" presStyleCnt="4" custScaleX="90909" custScaleY="90909" custLinFactNeighborX="-7298" custLinFactNeighborY="11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F73CC01-C8E1-471B-A716-92AD9C864E80}" type="pres">
      <dgm:prSet presAssocID="{F212A3A2-EABB-4F05-AE07-97F35D0BCDC3}" presName="bullet4c" presStyleLbl="node1" presStyleIdx="2" presStyleCnt="4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A5792FBF-45F0-4FB2-AF87-A0A8B5C79473}" type="pres">
      <dgm:prSet presAssocID="{F212A3A2-EABB-4F05-AE07-97F35D0BCDC3}" presName="textBox4c" presStyleLbl="revTx" presStyleIdx="2" presStyleCnt="4" custScaleX="92424" custScaleY="75132" custLinFactNeighborX="-1158" custLinFactNeighborY="35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75E5EC-6576-4E08-9FED-C7EAF490733D}" type="pres">
      <dgm:prSet presAssocID="{096AC4E5-EF82-4E03-9447-C569664888E4}" presName="bullet4d" presStyleLbl="node1" presStyleIdx="3" presStyleCnt="4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A6BAA986-0BA9-4B5D-B245-0161831B9871}" type="pres">
      <dgm:prSet presAssocID="{096AC4E5-EF82-4E03-9447-C569664888E4}" presName="textBox4d" presStyleLbl="revTx" presStyleIdx="3" presStyleCnt="4" custScaleX="92352" custScaleY="68302" custLinFactNeighborX="-8117" custLinFactNeighborY="20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57DDA07-059E-4C8D-AADA-E868F3F45404}" type="presOf" srcId="{EE9188C2-DD4F-4CD8-A026-BF818287EAE4}" destId="{0736EDFB-CED4-4915-9411-483081E9C547}" srcOrd="0" destOrd="0" presId="urn:microsoft.com/office/officeart/2005/8/layout/arrow2"/>
    <dgm:cxn modelId="{1F839AAC-4BC1-4A79-9463-AECA5F857DFB}" type="presOf" srcId="{096AC4E5-EF82-4E03-9447-C569664888E4}" destId="{A6BAA986-0BA9-4B5D-B245-0161831B9871}" srcOrd="0" destOrd="0" presId="urn:microsoft.com/office/officeart/2005/8/layout/arrow2"/>
    <dgm:cxn modelId="{C4F0D289-286C-4570-8630-E00C497A3924}" type="presOf" srcId="{2820E7B1-D303-4F81-8775-B91C3B0D6DF5}" destId="{E65B21B5-374C-419B-AC19-2006DB594E3D}" srcOrd="0" destOrd="0" presId="urn:microsoft.com/office/officeart/2005/8/layout/arrow2"/>
    <dgm:cxn modelId="{F9D6E816-DD24-4570-B066-6A7AD8BA98B3}" srcId="{301EBD8B-2CDE-41C9-9EA2-7BB43647C436}" destId="{2820E7B1-D303-4F81-8775-B91C3B0D6DF5}" srcOrd="0" destOrd="0" parTransId="{25B34E6A-CA53-4806-B342-8EB48CCFA27E}" sibTransId="{12B3B3D9-064A-4E05-9E06-107A868F4E38}"/>
    <dgm:cxn modelId="{AD5A4C79-3A05-443C-851A-350321BD4BCF}" type="presOf" srcId="{301EBD8B-2CDE-41C9-9EA2-7BB43647C436}" destId="{5BE41824-1376-4538-9BC7-9E3C434ABB9C}" srcOrd="0" destOrd="0" presId="urn:microsoft.com/office/officeart/2005/8/layout/arrow2"/>
    <dgm:cxn modelId="{39586FB8-592D-437A-96D4-3A9872A20627}" srcId="{301EBD8B-2CDE-41C9-9EA2-7BB43647C436}" destId="{F212A3A2-EABB-4F05-AE07-97F35D0BCDC3}" srcOrd="2" destOrd="0" parTransId="{14F01EDA-661C-4D9F-9000-5F41A32F66A7}" sibTransId="{33E9D05B-404F-413E-8EFC-14D8641EDC1F}"/>
    <dgm:cxn modelId="{D06AC8A8-F25D-4937-A27C-3727E84F9B74}" srcId="{301EBD8B-2CDE-41C9-9EA2-7BB43647C436}" destId="{EE9188C2-DD4F-4CD8-A026-BF818287EAE4}" srcOrd="1" destOrd="0" parTransId="{0381C743-9FE4-485A-917B-BC431CAA6891}" sibTransId="{4525AEA0-5469-4BCA-AE0A-80DB6A43E960}"/>
    <dgm:cxn modelId="{31080BC9-212E-4A82-8430-86C5413E9030}" type="presOf" srcId="{F212A3A2-EABB-4F05-AE07-97F35D0BCDC3}" destId="{A5792FBF-45F0-4FB2-AF87-A0A8B5C79473}" srcOrd="0" destOrd="0" presId="urn:microsoft.com/office/officeart/2005/8/layout/arrow2"/>
    <dgm:cxn modelId="{B58B32A8-3E8F-4F33-8998-DE7DBFC90C55}" srcId="{301EBD8B-2CDE-41C9-9EA2-7BB43647C436}" destId="{096AC4E5-EF82-4E03-9447-C569664888E4}" srcOrd="3" destOrd="0" parTransId="{064F41CD-F001-4D1F-902A-E3CDDCDD5799}" sibTransId="{64596217-1A7F-4653-83EC-5BF5439D04F4}"/>
    <dgm:cxn modelId="{6D448C85-6769-4EE8-8811-ED1821A60BAE}" type="presParOf" srcId="{5BE41824-1376-4538-9BC7-9E3C434ABB9C}" destId="{E6A4D225-565C-43AF-A8BB-073A20046F68}" srcOrd="0" destOrd="0" presId="urn:microsoft.com/office/officeart/2005/8/layout/arrow2"/>
    <dgm:cxn modelId="{8A065F62-C07D-4B99-AEBA-C8C82FBD09CE}" type="presParOf" srcId="{5BE41824-1376-4538-9BC7-9E3C434ABB9C}" destId="{FCFC8F16-6A01-4FB4-B61E-B71D7C9F85A5}" srcOrd="1" destOrd="0" presId="urn:microsoft.com/office/officeart/2005/8/layout/arrow2"/>
    <dgm:cxn modelId="{CF7E6A07-0501-43A6-A701-E0CAB1FF9C07}" type="presParOf" srcId="{FCFC8F16-6A01-4FB4-B61E-B71D7C9F85A5}" destId="{4FFDAC88-A05B-4247-BD22-A35429C2E89A}" srcOrd="0" destOrd="0" presId="urn:microsoft.com/office/officeart/2005/8/layout/arrow2"/>
    <dgm:cxn modelId="{B50B8BB6-3ABD-4F48-99DA-6E62D72E786E}" type="presParOf" srcId="{FCFC8F16-6A01-4FB4-B61E-B71D7C9F85A5}" destId="{E65B21B5-374C-419B-AC19-2006DB594E3D}" srcOrd="1" destOrd="0" presId="urn:microsoft.com/office/officeart/2005/8/layout/arrow2"/>
    <dgm:cxn modelId="{EC2B36FB-D4DE-404D-8A44-B5E09C4BD31E}" type="presParOf" srcId="{FCFC8F16-6A01-4FB4-B61E-B71D7C9F85A5}" destId="{126A0478-4739-400A-8BA7-588E0A6D5108}" srcOrd="2" destOrd="0" presId="urn:microsoft.com/office/officeart/2005/8/layout/arrow2"/>
    <dgm:cxn modelId="{206C172A-C733-42B6-AEC5-FC49E6AD5C71}" type="presParOf" srcId="{FCFC8F16-6A01-4FB4-B61E-B71D7C9F85A5}" destId="{0736EDFB-CED4-4915-9411-483081E9C547}" srcOrd="3" destOrd="0" presId="urn:microsoft.com/office/officeart/2005/8/layout/arrow2"/>
    <dgm:cxn modelId="{01EB824A-D259-4399-B165-0B5EF3C3930B}" type="presParOf" srcId="{FCFC8F16-6A01-4FB4-B61E-B71D7C9F85A5}" destId="{9F73CC01-C8E1-471B-A716-92AD9C864E80}" srcOrd="4" destOrd="0" presId="urn:microsoft.com/office/officeart/2005/8/layout/arrow2"/>
    <dgm:cxn modelId="{56B3B9C9-613F-4F67-8B6C-53173B596BA0}" type="presParOf" srcId="{FCFC8F16-6A01-4FB4-B61E-B71D7C9F85A5}" destId="{A5792FBF-45F0-4FB2-AF87-A0A8B5C79473}" srcOrd="5" destOrd="0" presId="urn:microsoft.com/office/officeart/2005/8/layout/arrow2"/>
    <dgm:cxn modelId="{9A0D0D6D-A1F5-45BD-896C-57C9294C5192}" type="presParOf" srcId="{FCFC8F16-6A01-4FB4-B61E-B71D7C9F85A5}" destId="{7975E5EC-6576-4E08-9FED-C7EAF490733D}" srcOrd="6" destOrd="0" presId="urn:microsoft.com/office/officeart/2005/8/layout/arrow2"/>
    <dgm:cxn modelId="{F97BD279-4B12-4BA3-AE5D-4B29D372371C}" type="presParOf" srcId="{FCFC8F16-6A01-4FB4-B61E-B71D7C9F85A5}" destId="{A6BAA986-0BA9-4B5D-B245-0161831B9871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1EBD8B-2CDE-41C9-9EA2-7BB43647C436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E9188C2-DD4F-4CD8-A026-BF818287EAE4}">
      <dgm:prSet phldrT="[Текст]" custT="1"/>
      <dgm:spPr/>
      <dgm:t>
        <a:bodyPr/>
        <a:lstStyle/>
        <a:p>
          <a:pPr algn="ctr"/>
          <a:r>
            <a:rPr lang="uz-Cyrl-UZ" sz="2000" dirty="0" smtClean="0"/>
            <a:t>2013</a:t>
          </a:r>
          <a:r>
            <a:rPr lang="en-US" sz="2000" dirty="0" smtClean="0"/>
            <a:t> </a:t>
          </a:r>
          <a:r>
            <a:rPr lang="ru-RU" sz="2000" dirty="0" smtClean="0"/>
            <a:t>й.</a:t>
          </a:r>
          <a:endParaRPr lang="ru-RU" sz="2000" dirty="0"/>
        </a:p>
      </dgm:t>
    </dgm:pt>
    <dgm:pt modelId="{0381C743-9FE4-485A-917B-BC431CAA6891}" type="parTrans" cxnId="{D06AC8A8-F25D-4937-A27C-3727E84F9B74}">
      <dgm:prSet/>
      <dgm:spPr/>
      <dgm:t>
        <a:bodyPr/>
        <a:lstStyle/>
        <a:p>
          <a:endParaRPr lang="ru-RU"/>
        </a:p>
      </dgm:t>
    </dgm:pt>
    <dgm:pt modelId="{4525AEA0-5469-4BCA-AE0A-80DB6A43E960}" type="sibTrans" cxnId="{D06AC8A8-F25D-4937-A27C-3727E84F9B74}">
      <dgm:prSet/>
      <dgm:spPr/>
      <dgm:t>
        <a:bodyPr/>
        <a:lstStyle/>
        <a:p>
          <a:endParaRPr lang="ru-RU"/>
        </a:p>
      </dgm:t>
    </dgm:pt>
    <dgm:pt modelId="{2820E7B1-D303-4F81-8775-B91C3B0D6DF5}">
      <dgm:prSet custT="1"/>
      <dgm:spPr/>
      <dgm:t>
        <a:bodyPr/>
        <a:lstStyle/>
        <a:p>
          <a:r>
            <a:rPr lang="en-US" sz="2000" dirty="0" smtClean="0"/>
            <a:t>199</a:t>
          </a:r>
          <a:r>
            <a:rPr lang="uz-Cyrl-UZ" sz="2000" dirty="0" smtClean="0"/>
            <a:t>4</a:t>
          </a:r>
          <a:r>
            <a:rPr lang="en-US" sz="2000" dirty="0" smtClean="0"/>
            <a:t> </a:t>
          </a:r>
          <a:r>
            <a:rPr lang="ru-RU" sz="2000" dirty="0" smtClean="0"/>
            <a:t>й.</a:t>
          </a:r>
          <a:endParaRPr lang="ru-RU" sz="2000" dirty="0"/>
        </a:p>
      </dgm:t>
    </dgm:pt>
    <dgm:pt modelId="{25B34E6A-CA53-4806-B342-8EB48CCFA27E}" type="parTrans" cxnId="{F9D6E816-DD24-4570-B066-6A7AD8BA98B3}">
      <dgm:prSet/>
      <dgm:spPr/>
      <dgm:t>
        <a:bodyPr/>
        <a:lstStyle/>
        <a:p>
          <a:endParaRPr lang="ru-RU"/>
        </a:p>
      </dgm:t>
    </dgm:pt>
    <dgm:pt modelId="{12B3B3D9-064A-4E05-9E06-107A868F4E38}" type="sibTrans" cxnId="{F9D6E816-DD24-4570-B066-6A7AD8BA98B3}">
      <dgm:prSet/>
      <dgm:spPr/>
      <dgm:t>
        <a:bodyPr/>
        <a:lstStyle/>
        <a:p>
          <a:endParaRPr lang="ru-RU"/>
        </a:p>
      </dgm:t>
    </dgm:pt>
    <dgm:pt modelId="{5BE41824-1376-4538-9BC7-9E3C434ABB9C}" type="pres">
      <dgm:prSet presAssocID="{301EBD8B-2CDE-41C9-9EA2-7BB43647C436}" presName="arrowDiagram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A4D225-565C-43AF-A8BB-073A20046F68}" type="pres">
      <dgm:prSet presAssocID="{301EBD8B-2CDE-41C9-9EA2-7BB43647C436}" presName="arrow" presStyleLbl="bgShp" presStyleIdx="0" presStyleCnt="1" custScaleX="124583" custLinFactNeighborX="-1853"/>
      <dgm:spPr>
        <a:solidFill>
          <a:schemeClr val="accent5">
            <a:lumMod val="75000"/>
          </a:schemeClr>
        </a:solidFill>
        <a:ln w="28575">
          <a:prstDash val="sysDash"/>
        </a:ln>
      </dgm:spPr>
      <dgm:t>
        <a:bodyPr/>
        <a:lstStyle/>
        <a:p>
          <a:endParaRPr lang="ru-RU"/>
        </a:p>
      </dgm:t>
    </dgm:pt>
    <dgm:pt modelId="{84526115-9473-47F0-9049-CE30283BF69C}" type="pres">
      <dgm:prSet presAssocID="{301EBD8B-2CDE-41C9-9EA2-7BB43647C436}" presName="arrowDiagram2" presStyleCnt="0"/>
      <dgm:spPr/>
    </dgm:pt>
    <dgm:pt modelId="{DB83F2EC-A07B-458B-B6E2-923A21E931C3}" type="pres">
      <dgm:prSet presAssocID="{2820E7B1-D303-4F81-8775-B91C3B0D6DF5}" presName="bullet2a" presStyleLbl="node1" presStyleIdx="0" presStyleCnt="2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46B980C9-F376-4AD9-8703-AA57D6E6262D}" type="pres">
      <dgm:prSet presAssocID="{2820E7B1-D303-4F81-8775-B91C3B0D6DF5}" presName="textBox2a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EA28E96-5B07-484B-8F49-2EB668A75D2A}" type="pres">
      <dgm:prSet presAssocID="{EE9188C2-DD4F-4CD8-A026-BF818287EAE4}" presName="bullet2b" presStyleLbl="node1" presStyleIdx="1" presStyleCnt="2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9480011D-CDBB-4CA6-8F07-D36A9E011BA6}" type="pres">
      <dgm:prSet presAssocID="{EE9188C2-DD4F-4CD8-A026-BF818287EAE4}" presName="textBox2b" presStyleLbl="revTx" presStyleIdx="1" presStyleCnt="2" custScaleY="37747" custLinFactNeighborX="5844" custLinFactNeighborY="-163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06AC8A8-F25D-4937-A27C-3727E84F9B74}" srcId="{301EBD8B-2CDE-41C9-9EA2-7BB43647C436}" destId="{EE9188C2-DD4F-4CD8-A026-BF818287EAE4}" srcOrd="1" destOrd="0" parTransId="{0381C743-9FE4-485A-917B-BC431CAA6891}" sibTransId="{4525AEA0-5469-4BCA-AE0A-80DB6A43E960}"/>
    <dgm:cxn modelId="{FF2BF5C8-2FC7-4AAD-8E26-9BB133738123}" type="presOf" srcId="{2820E7B1-D303-4F81-8775-B91C3B0D6DF5}" destId="{46B980C9-F376-4AD9-8703-AA57D6E6262D}" srcOrd="0" destOrd="0" presId="urn:microsoft.com/office/officeart/2005/8/layout/arrow2"/>
    <dgm:cxn modelId="{C540E65F-4595-445C-AAD1-C10464729ADC}" type="presOf" srcId="{301EBD8B-2CDE-41C9-9EA2-7BB43647C436}" destId="{5BE41824-1376-4538-9BC7-9E3C434ABB9C}" srcOrd="0" destOrd="0" presId="urn:microsoft.com/office/officeart/2005/8/layout/arrow2"/>
    <dgm:cxn modelId="{120C9845-16B2-4F8D-9751-6511A111BAEE}" type="presOf" srcId="{EE9188C2-DD4F-4CD8-A026-BF818287EAE4}" destId="{9480011D-CDBB-4CA6-8F07-D36A9E011BA6}" srcOrd="0" destOrd="0" presId="urn:microsoft.com/office/officeart/2005/8/layout/arrow2"/>
    <dgm:cxn modelId="{F9D6E816-DD24-4570-B066-6A7AD8BA98B3}" srcId="{301EBD8B-2CDE-41C9-9EA2-7BB43647C436}" destId="{2820E7B1-D303-4F81-8775-B91C3B0D6DF5}" srcOrd="0" destOrd="0" parTransId="{25B34E6A-CA53-4806-B342-8EB48CCFA27E}" sibTransId="{12B3B3D9-064A-4E05-9E06-107A868F4E38}"/>
    <dgm:cxn modelId="{43E9DD81-EF0A-4FD5-88F0-2E7EBB0ED994}" type="presParOf" srcId="{5BE41824-1376-4538-9BC7-9E3C434ABB9C}" destId="{E6A4D225-565C-43AF-A8BB-073A20046F68}" srcOrd="0" destOrd="0" presId="urn:microsoft.com/office/officeart/2005/8/layout/arrow2"/>
    <dgm:cxn modelId="{443EA827-DEF9-498D-8E17-3BE48674EC92}" type="presParOf" srcId="{5BE41824-1376-4538-9BC7-9E3C434ABB9C}" destId="{84526115-9473-47F0-9049-CE30283BF69C}" srcOrd="1" destOrd="0" presId="urn:microsoft.com/office/officeart/2005/8/layout/arrow2"/>
    <dgm:cxn modelId="{905E2A74-6C11-4BDA-89A0-E40504F4E300}" type="presParOf" srcId="{84526115-9473-47F0-9049-CE30283BF69C}" destId="{DB83F2EC-A07B-458B-B6E2-923A21E931C3}" srcOrd="0" destOrd="0" presId="urn:microsoft.com/office/officeart/2005/8/layout/arrow2"/>
    <dgm:cxn modelId="{CC16ED03-65DC-4AC2-9DD3-E64CDA8E240F}" type="presParOf" srcId="{84526115-9473-47F0-9049-CE30283BF69C}" destId="{46B980C9-F376-4AD9-8703-AA57D6E6262D}" srcOrd="1" destOrd="0" presId="urn:microsoft.com/office/officeart/2005/8/layout/arrow2"/>
    <dgm:cxn modelId="{70F64718-AE28-41F4-A430-AD5BDDC3AE44}" type="presParOf" srcId="{84526115-9473-47F0-9049-CE30283BF69C}" destId="{6EA28E96-5B07-484B-8F49-2EB668A75D2A}" srcOrd="2" destOrd="0" presId="urn:microsoft.com/office/officeart/2005/8/layout/arrow2"/>
    <dgm:cxn modelId="{64195616-1D8C-412E-96EE-5BCF25B9A805}" type="presParOf" srcId="{84526115-9473-47F0-9049-CE30283BF69C}" destId="{9480011D-CDBB-4CA6-8F07-D36A9E011BA6}" srcOrd="3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1EBD8B-2CDE-41C9-9EA2-7BB43647C436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E9188C2-DD4F-4CD8-A026-BF818287EAE4}">
      <dgm:prSet phldrT="[Текст]" custT="1"/>
      <dgm:spPr/>
      <dgm:t>
        <a:bodyPr/>
        <a:lstStyle/>
        <a:p>
          <a:pPr algn="ctr"/>
          <a:r>
            <a:rPr lang="uz-Cyrl-UZ" sz="2000" dirty="0" smtClean="0"/>
            <a:t>2006</a:t>
          </a:r>
          <a:r>
            <a:rPr lang="en-US" sz="2000" dirty="0" smtClean="0"/>
            <a:t> </a:t>
          </a:r>
          <a:r>
            <a:rPr lang="ru-RU" sz="2000" dirty="0" smtClean="0"/>
            <a:t>й.</a:t>
          </a:r>
          <a:endParaRPr lang="ru-RU" sz="2000" dirty="0"/>
        </a:p>
      </dgm:t>
    </dgm:pt>
    <dgm:pt modelId="{0381C743-9FE4-485A-917B-BC431CAA6891}" type="parTrans" cxnId="{D06AC8A8-F25D-4937-A27C-3727E84F9B74}">
      <dgm:prSet/>
      <dgm:spPr/>
      <dgm:t>
        <a:bodyPr/>
        <a:lstStyle/>
        <a:p>
          <a:endParaRPr lang="ru-RU"/>
        </a:p>
      </dgm:t>
    </dgm:pt>
    <dgm:pt modelId="{4525AEA0-5469-4BCA-AE0A-80DB6A43E960}" type="sibTrans" cxnId="{D06AC8A8-F25D-4937-A27C-3727E84F9B74}">
      <dgm:prSet/>
      <dgm:spPr/>
      <dgm:t>
        <a:bodyPr/>
        <a:lstStyle/>
        <a:p>
          <a:endParaRPr lang="ru-RU"/>
        </a:p>
      </dgm:t>
    </dgm:pt>
    <dgm:pt modelId="{F212A3A2-EABB-4F05-AE07-97F35D0BCDC3}">
      <dgm:prSet phldrT="[Текст]" custT="1"/>
      <dgm:spPr/>
      <dgm:t>
        <a:bodyPr/>
        <a:lstStyle/>
        <a:p>
          <a:pPr algn="ctr"/>
          <a:r>
            <a:rPr lang="ru-RU" sz="2000" dirty="0" smtClean="0"/>
            <a:t>2009 </a:t>
          </a:r>
          <a:r>
            <a:rPr lang="ru-RU" sz="2000" dirty="0" smtClean="0"/>
            <a:t>й.</a:t>
          </a:r>
          <a:endParaRPr lang="ru-RU" sz="2000" dirty="0"/>
        </a:p>
      </dgm:t>
    </dgm:pt>
    <dgm:pt modelId="{14F01EDA-661C-4D9F-9000-5F41A32F66A7}" type="parTrans" cxnId="{39586FB8-592D-437A-96D4-3A9872A20627}">
      <dgm:prSet/>
      <dgm:spPr/>
      <dgm:t>
        <a:bodyPr/>
        <a:lstStyle/>
        <a:p>
          <a:endParaRPr lang="ru-RU"/>
        </a:p>
      </dgm:t>
    </dgm:pt>
    <dgm:pt modelId="{33E9D05B-404F-413E-8EFC-14D8641EDC1F}" type="sibTrans" cxnId="{39586FB8-592D-437A-96D4-3A9872A20627}">
      <dgm:prSet/>
      <dgm:spPr/>
      <dgm:t>
        <a:bodyPr/>
        <a:lstStyle/>
        <a:p>
          <a:endParaRPr lang="ru-RU"/>
        </a:p>
      </dgm:t>
    </dgm:pt>
    <dgm:pt modelId="{2820E7B1-D303-4F81-8775-B91C3B0D6DF5}">
      <dgm:prSet custT="1"/>
      <dgm:spPr/>
      <dgm:t>
        <a:bodyPr/>
        <a:lstStyle/>
        <a:p>
          <a:r>
            <a:rPr lang="uz-Cyrl-UZ" sz="2000" dirty="0" smtClean="0"/>
            <a:t>2005</a:t>
          </a:r>
          <a:r>
            <a:rPr lang="en-US" sz="2000" dirty="0" smtClean="0"/>
            <a:t> </a:t>
          </a:r>
          <a:r>
            <a:rPr lang="ru-RU" sz="2000" dirty="0" smtClean="0"/>
            <a:t>й.</a:t>
          </a:r>
          <a:endParaRPr lang="ru-RU" sz="2000" dirty="0"/>
        </a:p>
      </dgm:t>
    </dgm:pt>
    <dgm:pt modelId="{25B34E6A-CA53-4806-B342-8EB48CCFA27E}" type="parTrans" cxnId="{F9D6E816-DD24-4570-B066-6A7AD8BA98B3}">
      <dgm:prSet/>
      <dgm:spPr/>
      <dgm:t>
        <a:bodyPr/>
        <a:lstStyle/>
        <a:p>
          <a:endParaRPr lang="ru-RU"/>
        </a:p>
      </dgm:t>
    </dgm:pt>
    <dgm:pt modelId="{12B3B3D9-064A-4E05-9E06-107A868F4E38}" type="sibTrans" cxnId="{F9D6E816-DD24-4570-B066-6A7AD8BA98B3}">
      <dgm:prSet/>
      <dgm:spPr/>
      <dgm:t>
        <a:bodyPr/>
        <a:lstStyle/>
        <a:p>
          <a:endParaRPr lang="ru-RU"/>
        </a:p>
      </dgm:t>
    </dgm:pt>
    <dgm:pt modelId="{5BE41824-1376-4538-9BC7-9E3C434ABB9C}" type="pres">
      <dgm:prSet presAssocID="{301EBD8B-2CDE-41C9-9EA2-7BB43647C436}" presName="arrowDiagram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A4D225-565C-43AF-A8BB-073A20046F68}" type="pres">
      <dgm:prSet presAssocID="{301EBD8B-2CDE-41C9-9EA2-7BB43647C436}" presName="arrow" presStyleLbl="bgShp" presStyleIdx="0" presStyleCnt="1" custScaleX="124583" custLinFactNeighborX="-1853"/>
      <dgm:spPr>
        <a:solidFill>
          <a:schemeClr val="accent5">
            <a:lumMod val="75000"/>
          </a:schemeClr>
        </a:solidFill>
        <a:ln w="28575">
          <a:prstDash val="sysDash"/>
        </a:ln>
      </dgm:spPr>
      <dgm:t>
        <a:bodyPr/>
        <a:lstStyle/>
        <a:p>
          <a:endParaRPr lang="ru-RU"/>
        </a:p>
      </dgm:t>
    </dgm:pt>
    <dgm:pt modelId="{FB6B8785-0B0F-468F-A222-7A1D1DA063EE}" type="pres">
      <dgm:prSet presAssocID="{301EBD8B-2CDE-41C9-9EA2-7BB43647C436}" presName="arrowDiagram3" presStyleCnt="0"/>
      <dgm:spPr/>
    </dgm:pt>
    <dgm:pt modelId="{866F8DF0-350E-4E09-B2F8-3A0D4D3F4151}" type="pres">
      <dgm:prSet presAssocID="{2820E7B1-D303-4F81-8775-B91C3B0D6DF5}" presName="bullet3a" presStyleLbl="node1" presStyleIdx="0" presStyleCnt="3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9F2E442F-9F6C-4995-B8A0-BD9FF613CE92}" type="pres">
      <dgm:prSet presAssocID="{2820E7B1-D303-4F81-8775-B91C3B0D6DF5}" presName="textBox3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E65026D-B18E-4D54-A3E1-FDDF4F3BB309}" type="pres">
      <dgm:prSet presAssocID="{EE9188C2-DD4F-4CD8-A026-BF818287EAE4}" presName="bullet3b" presStyleLbl="node1" presStyleIdx="1" presStyleCnt="3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75B610BB-E47E-4927-92ED-11C1E4934C49}" type="pres">
      <dgm:prSet presAssocID="{EE9188C2-DD4F-4CD8-A026-BF818287EAE4}" presName="textBox3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C06D98-042D-47ED-9EBB-0AF952A53A7A}" type="pres">
      <dgm:prSet presAssocID="{F212A3A2-EABB-4F05-AE07-97F35D0BCDC3}" presName="bullet3c" presStyleLbl="node1" presStyleIdx="2" presStyleCnt="3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7414C9C0-F150-4687-A455-126F14064CBF}" type="pres">
      <dgm:prSet presAssocID="{F212A3A2-EABB-4F05-AE07-97F35D0BCDC3}" presName="textBox3c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06AC8A8-F25D-4937-A27C-3727E84F9B74}" srcId="{301EBD8B-2CDE-41C9-9EA2-7BB43647C436}" destId="{EE9188C2-DD4F-4CD8-A026-BF818287EAE4}" srcOrd="1" destOrd="0" parTransId="{0381C743-9FE4-485A-917B-BC431CAA6891}" sibTransId="{4525AEA0-5469-4BCA-AE0A-80DB6A43E960}"/>
    <dgm:cxn modelId="{694DF11F-2F79-432A-937B-3FD42473BB58}" type="presOf" srcId="{301EBD8B-2CDE-41C9-9EA2-7BB43647C436}" destId="{5BE41824-1376-4538-9BC7-9E3C434ABB9C}" srcOrd="0" destOrd="0" presId="urn:microsoft.com/office/officeart/2005/8/layout/arrow2"/>
    <dgm:cxn modelId="{F9D6E816-DD24-4570-B066-6A7AD8BA98B3}" srcId="{301EBD8B-2CDE-41C9-9EA2-7BB43647C436}" destId="{2820E7B1-D303-4F81-8775-B91C3B0D6DF5}" srcOrd="0" destOrd="0" parTransId="{25B34E6A-CA53-4806-B342-8EB48CCFA27E}" sibTransId="{12B3B3D9-064A-4E05-9E06-107A868F4E38}"/>
    <dgm:cxn modelId="{499C08C8-7173-47C9-9BC1-6BBC57ECDAE6}" type="presOf" srcId="{2820E7B1-D303-4F81-8775-B91C3B0D6DF5}" destId="{9F2E442F-9F6C-4995-B8A0-BD9FF613CE92}" srcOrd="0" destOrd="0" presId="urn:microsoft.com/office/officeart/2005/8/layout/arrow2"/>
    <dgm:cxn modelId="{0218D579-A7CE-4146-9956-EBF2644B1397}" type="presOf" srcId="{F212A3A2-EABB-4F05-AE07-97F35D0BCDC3}" destId="{7414C9C0-F150-4687-A455-126F14064CBF}" srcOrd="0" destOrd="0" presId="urn:microsoft.com/office/officeart/2005/8/layout/arrow2"/>
    <dgm:cxn modelId="{39586FB8-592D-437A-96D4-3A9872A20627}" srcId="{301EBD8B-2CDE-41C9-9EA2-7BB43647C436}" destId="{F212A3A2-EABB-4F05-AE07-97F35D0BCDC3}" srcOrd="2" destOrd="0" parTransId="{14F01EDA-661C-4D9F-9000-5F41A32F66A7}" sibTransId="{33E9D05B-404F-413E-8EFC-14D8641EDC1F}"/>
    <dgm:cxn modelId="{C95193BA-FAF8-491C-849B-5FB17A06508E}" type="presOf" srcId="{EE9188C2-DD4F-4CD8-A026-BF818287EAE4}" destId="{75B610BB-E47E-4927-92ED-11C1E4934C49}" srcOrd="0" destOrd="0" presId="urn:microsoft.com/office/officeart/2005/8/layout/arrow2"/>
    <dgm:cxn modelId="{74A4C10B-ABB4-48EC-8B6A-17237F16C143}" type="presParOf" srcId="{5BE41824-1376-4538-9BC7-9E3C434ABB9C}" destId="{E6A4D225-565C-43AF-A8BB-073A20046F68}" srcOrd="0" destOrd="0" presId="urn:microsoft.com/office/officeart/2005/8/layout/arrow2"/>
    <dgm:cxn modelId="{7DD948F6-1EA8-4E58-94F2-5C1C63ECF4BE}" type="presParOf" srcId="{5BE41824-1376-4538-9BC7-9E3C434ABB9C}" destId="{FB6B8785-0B0F-468F-A222-7A1D1DA063EE}" srcOrd="1" destOrd="0" presId="urn:microsoft.com/office/officeart/2005/8/layout/arrow2"/>
    <dgm:cxn modelId="{E752E61C-C3F5-4DD1-8FAA-13812F938663}" type="presParOf" srcId="{FB6B8785-0B0F-468F-A222-7A1D1DA063EE}" destId="{866F8DF0-350E-4E09-B2F8-3A0D4D3F4151}" srcOrd="0" destOrd="0" presId="urn:microsoft.com/office/officeart/2005/8/layout/arrow2"/>
    <dgm:cxn modelId="{4C0D9FC4-3D0E-4A3E-B906-4A093C545878}" type="presParOf" srcId="{FB6B8785-0B0F-468F-A222-7A1D1DA063EE}" destId="{9F2E442F-9F6C-4995-B8A0-BD9FF613CE92}" srcOrd="1" destOrd="0" presId="urn:microsoft.com/office/officeart/2005/8/layout/arrow2"/>
    <dgm:cxn modelId="{7F2904E3-3554-45B0-91FD-325B020B6BEF}" type="presParOf" srcId="{FB6B8785-0B0F-468F-A222-7A1D1DA063EE}" destId="{4E65026D-B18E-4D54-A3E1-FDDF4F3BB309}" srcOrd="2" destOrd="0" presId="urn:microsoft.com/office/officeart/2005/8/layout/arrow2"/>
    <dgm:cxn modelId="{F508492B-065B-4DA9-9AED-A1EA3BD18BDD}" type="presParOf" srcId="{FB6B8785-0B0F-468F-A222-7A1D1DA063EE}" destId="{75B610BB-E47E-4927-92ED-11C1E4934C49}" srcOrd="3" destOrd="0" presId="urn:microsoft.com/office/officeart/2005/8/layout/arrow2"/>
    <dgm:cxn modelId="{07AB1D6D-4BC9-46AD-9969-168DB87DA577}" type="presParOf" srcId="{FB6B8785-0B0F-468F-A222-7A1D1DA063EE}" destId="{31C06D98-042D-47ED-9EBB-0AF952A53A7A}" srcOrd="4" destOrd="0" presId="urn:microsoft.com/office/officeart/2005/8/layout/arrow2"/>
    <dgm:cxn modelId="{EB57B819-FD1C-43AF-9C13-60180856027A}" type="presParOf" srcId="{FB6B8785-0B0F-468F-A222-7A1D1DA063EE}" destId="{7414C9C0-F150-4687-A455-126F14064CBF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4D225-565C-43AF-A8BB-073A20046F68}">
      <dsp:nvSpPr>
        <dsp:cNvPr id="0" name=""/>
        <dsp:cNvSpPr/>
      </dsp:nvSpPr>
      <dsp:spPr>
        <a:xfrm>
          <a:off x="72023" y="0"/>
          <a:ext cx="8181527" cy="4104456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lumMod val="75000"/>
          </a:schemeClr>
        </a:solidFill>
        <a:ln w="28575">
          <a:noFill/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DAC88-A05B-4247-BD22-A35429C2E89A}">
      <dsp:nvSpPr>
        <dsp:cNvPr id="0" name=""/>
        <dsp:cNvSpPr/>
      </dsp:nvSpPr>
      <dsp:spPr>
        <a:xfrm>
          <a:off x="1647773" y="3052073"/>
          <a:ext cx="151043" cy="151043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E65B21B5-374C-419B-AC19-2006DB594E3D}">
      <dsp:nvSpPr>
        <dsp:cNvPr id="0" name=""/>
        <dsp:cNvSpPr/>
      </dsp:nvSpPr>
      <dsp:spPr>
        <a:xfrm>
          <a:off x="1723295" y="3127595"/>
          <a:ext cx="1122979" cy="976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35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1993 </a:t>
          </a:r>
          <a:r>
            <a:rPr lang="ru-RU" sz="2000" kern="1200" dirty="0" smtClean="0"/>
            <a:t>й.</a:t>
          </a:r>
          <a:endParaRPr lang="ru-RU" sz="2000" kern="1200" dirty="0"/>
        </a:p>
      </dsp:txBody>
      <dsp:txXfrm>
        <a:off x="1723295" y="3127595"/>
        <a:ext cx="1122979" cy="976860"/>
      </dsp:txXfrm>
    </dsp:sp>
    <dsp:sp modelId="{126A0478-4739-400A-8BA7-588E0A6D5108}">
      <dsp:nvSpPr>
        <dsp:cNvPr id="0" name=""/>
        <dsp:cNvSpPr/>
      </dsp:nvSpPr>
      <dsp:spPr>
        <a:xfrm>
          <a:off x="2714932" y="2097377"/>
          <a:ext cx="262685" cy="262685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0736EDFB-CED4-4915-9411-483081E9C547}">
      <dsp:nvSpPr>
        <dsp:cNvPr id="0" name=""/>
        <dsp:cNvSpPr/>
      </dsp:nvSpPr>
      <dsp:spPr>
        <a:xfrm>
          <a:off x="2808314" y="2335589"/>
          <a:ext cx="1253723" cy="170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191" tIns="0" rIns="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1995 </a:t>
          </a:r>
          <a:r>
            <a:rPr lang="ru-RU" sz="2000" kern="1200" dirty="0" smtClean="0"/>
            <a:t>й.</a:t>
          </a:r>
          <a:endParaRPr lang="ru-RU" sz="2000" kern="1200" dirty="0"/>
        </a:p>
      </dsp:txBody>
      <dsp:txXfrm>
        <a:off x="2808314" y="2335589"/>
        <a:ext cx="1253723" cy="1705213"/>
      </dsp:txXfrm>
    </dsp:sp>
    <dsp:sp modelId="{9F73CC01-C8E1-471B-A716-92AD9C864E80}">
      <dsp:nvSpPr>
        <dsp:cNvPr id="0" name=""/>
        <dsp:cNvSpPr/>
      </dsp:nvSpPr>
      <dsp:spPr>
        <a:xfrm>
          <a:off x="4077611" y="1393873"/>
          <a:ext cx="348057" cy="348057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A5792FBF-45F0-4FB2-AF87-A0A8B5C79473}">
      <dsp:nvSpPr>
        <dsp:cNvPr id="0" name=""/>
        <dsp:cNvSpPr/>
      </dsp:nvSpPr>
      <dsp:spPr>
        <a:xfrm>
          <a:off x="4287910" y="1892302"/>
          <a:ext cx="1274616" cy="19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29" tIns="0" rIns="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2002 й.</a:t>
          </a:r>
          <a:endParaRPr lang="ru-RU" sz="2000" kern="1200" dirty="0"/>
        </a:p>
      </dsp:txBody>
      <dsp:txXfrm>
        <a:off x="4287910" y="1892302"/>
        <a:ext cx="1274616" cy="1905763"/>
      </dsp:txXfrm>
    </dsp:sp>
    <dsp:sp modelId="{7975E5EC-6576-4E08-9FED-C7EAF490733D}">
      <dsp:nvSpPr>
        <dsp:cNvPr id="0" name=""/>
        <dsp:cNvSpPr/>
      </dsp:nvSpPr>
      <dsp:spPr>
        <a:xfrm>
          <a:off x="5561782" y="928427"/>
          <a:ext cx="466266" cy="466266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A6BAA986-0BA9-4B5D-B245-0161831B9871}">
      <dsp:nvSpPr>
        <dsp:cNvPr id="0" name=""/>
        <dsp:cNvSpPr/>
      </dsp:nvSpPr>
      <dsp:spPr>
        <a:xfrm>
          <a:off x="5735711" y="1687132"/>
          <a:ext cx="1273623" cy="2010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065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2012 </a:t>
          </a:r>
          <a:r>
            <a:rPr lang="ru-RU" sz="2000" kern="1200" dirty="0" smtClean="0"/>
            <a:t>й.</a:t>
          </a:r>
          <a:endParaRPr lang="ru-RU" sz="2000" kern="1200" dirty="0"/>
        </a:p>
      </dsp:txBody>
      <dsp:txXfrm>
        <a:off x="5735711" y="1687132"/>
        <a:ext cx="1273623" cy="20100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4D225-565C-43AF-A8BB-073A20046F68}">
      <dsp:nvSpPr>
        <dsp:cNvPr id="0" name=""/>
        <dsp:cNvSpPr/>
      </dsp:nvSpPr>
      <dsp:spPr>
        <a:xfrm>
          <a:off x="629421" y="0"/>
          <a:ext cx="5490594" cy="2754485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lumMod val="75000"/>
          </a:schemeClr>
        </a:solidFill>
        <a:ln w="28575">
          <a:noFill/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3F2EC-A07B-458B-B6E2-923A21E931C3}">
      <dsp:nvSpPr>
        <dsp:cNvPr id="0" name=""/>
        <dsp:cNvSpPr/>
      </dsp:nvSpPr>
      <dsp:spPr>
        <a:xfrm>
          <a:off x="2277463" y="1501194"/>
          <a:ext cx="154251" cy="154251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46B980C9-F376-4AD9-8703-AA57D6E6262D}">
      <dsp:nvSpPr>
        <dsp:cNvPr id="0" name=""/>
        <dsp:cNvSpPr/>
      </dsp:nvSpPr>
      <dsp:spPr>
        <a:xfrm>
          <a:off x="2354589" y="1578320"/>
          <a:ext cx="1432332" cy="1176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735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199</a:t>
          </a:r>
          <a:r>
            <a:rPr lang="uz-Cyrl-UZ" sz="2000" kern="1200" dirty="0" smtClean="0"/>
            <a:t>4</a:t>
          </a:r>
          <a:r>
            <a:rPr lang="en-US" sz="2000" kern="1200" dirty="0" smtClean="0"/>
            <a:t> </a:t>
          </a:r>
          <a:r>
            <a:rPr lang="ru-RU" sz="2000" kern="1200" dirty="0" smtClean="0"/>
            <a:t>й.</a:t>
          </a:r>
          <a:endParaRPr lang="ru-RU" sz="2000" kern="1200" dirty="0"/>
        </a:p>
      </dsp:txBody>
      <dsp:txXfrm>
        <a:off x="2354589" y="1578320"/>
        <a:ext cx="1432332" cy="1176165"/>
      </dsp:txXfrm>
    </dsp:sp>
    <dsp:sp modelId="{6EA28E96-5B07-484B-8F49-2EB668A75D2A}">
      <dsp:nvSpPr>
        <dsp:cNvPr id="0" name=""/>
        <dsp:cNvSpPr/>
      </dsp:nvSpPr>
      <dsp:spPr>
        <a:xfrm>
          <a:off x="3698778" y="798800"/>
          <a:ext cx="264430" cy="264430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9480011D-CDBB-4CA6-8F07-D36A9E011BA6}">
      <dsp:nvSpPr>
        <dsp:cNvPr id="0" name=""/>
        <dsp:cNvSpPr/>
      </dsp:nvSpPr>
      <dsp:spPr>
        <a:xfrm>
          <a:off x="3914699" y="1201373"/>
          <a:ext cx="1432332" cy="688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16" tIns="0" rIns="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000" kern="1200" dirty="0" smtClean="0"/>
            <a:t>2013</a:t>
          </a:r>
          <a:r>
            <a:rPr lang="en-US" sz="2000" kern="1200" dirty="0" smtClean="0"/>
            <a:t> </a:t>
          </a:r>
          <a:r>
            <a:rPr lang="ru-RU" sz="2000" kern="1200" dirty="0" smtClean="0"/>
            <a:t>й.</a:t>
          </a:r>
          <a:endParaRPr lang="ru-RU" sz="2000" kern="1200" dirty="0"/>
        </a:p>
      </dsp:txBody>
      <dsp:txXfrm>
        <a:off x="3914699" y="1201373"/>
        <a:ext cx="1432332" cy="6883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4D225-565C-43AF-A8BB-073A20046F68}">
      <dsp:nvSpPr>
        <dsp:cNvPr id="0" name=""/>
        <dsp:cNvSpPr/>
      </dsp:nvSpPr>
      <dsp:spPr>
        <a:xfrm>
          <a:off x="1088000" y="0"/>
          <a:ext cx="6208271" cy="3114526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lumMod val="75000"/>
          </a:schemeClr>
        </a:solidFill>
        <a:ln w="28575">
          <a:noFill/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6F8DF0-350E-4E09-B2F8-3A0D4D3F4151}">
      <dsp:nvSpPr>
        <dsp:cNvPr id="0" name=""/>
        <dsp:cNvSpPr/>
      </dsp:nvSpPr>
      <dsp:spPr>
        <a:xfrm>
          <a:off x="2425726" y="2149645"/>
          <a:ext cx="129564" cy="129564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9F2E442F-9F6C-4995-B8A0-BD9FF613CE92}">
      <dsp:nvSpPr>
        <dsp:cNvPr id="0" name=""/>
        <dsp:cNvSpPr/>
      </dsp:nvSpPr>
      <dsp:spPr>
        <a:xfrm>
          <a:off x="2490509" y="2214427"/>
          <a:ext cx="1161095" cy="900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3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000" kern="1200" dirty="0" smtClean="0"/>
            <a:t>2005</a:t>
          </a:r>
          <a:r>
            <a:rPr lang="en-US" sz="2000" kern="1200" dirty="0" smtClean="0"/>
            <a:t> </a:t>
          </a:r>
          <a:r>
            <a:rPr lang="ru-RU" sz="2000" kern="1200" dirty="0" smtClean="0"/>
            <a:t>й.</a:t>
          </a:r>
          <a:endParaRPr lang="ru-RU" sz="2000" kern="1200" dirty="0"/>
        </a:p>
      </dsp:txBody>
      <dsp:txXfrm>
        <a:off x="2490509" y="2214427"/>
        <a:ext cx="1161095" cy="900098"/>
      </dsp:txXfrm>
    </dsp:sp>
    <dsp:sp modelId="{4E65026D-B18E-4D54-A3E1-FDDF4F3BB309}">
      <dsp:nvSpPr>
        <dsp:cNvPr id="0" name=""/>
        <dsp:cNvSpPr/>
      </dsp:nvSpPr>
      <dsp:spPr>
        <a:xfrm>
          <a:off x="3569380" y="1303117"/>
          <a:ext cx="234212" cy="234212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75B610BB-E47E-4927-92ED-11C1E4934C49}">
      <dsp:nvSpPr>
        <dsp:cNvPr id="0" name=""/>
        <dsp:cNvSpPr/>
      </dsp:nvSpPr>
      <dsp:spPr>
        <a:xfrm>
          <a:off x="3686487" y="1420223"/>
          <a:ext cx="1195977" cy="169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04" tIns="0" rIns="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000" kern="1200" dirty="0" smtClean="0"/>
            <a:t>2006</a:t>
          </a:r>
          <a:r>
            <a:rPr lang="en-US" sz="2000" kern="1200" dirty="0" smtClean="0"/>
            <a:t> </a:t>
          </a:r>
          <a:r>
            <a:rPr lang="ru-RU" sz="2000" kern="1200" dirty="0" smtClean="0"/>
            <a:t>й.</a:t>
          </a:r>
          <a:endParaRPr lang="ru-RU" sz="2000" kern="1200" dirty="0"/>
        </a:p>
      </dsp:txBody>
      <dsp:txXfrm>
        <a:off x="3686487" y="1420223"/>
        <a:ext cx="1195977" cy="1694302"/>
      </dsp:txXfrm>
    </dsp:sp>
    <dsp:sp modelId="{31C06D98-042D-47ED-9EBB-0AF952A53A7A}">
      <dsp:nvSpPr>
        <dsp:cNvPr id="0" name=""/>
        <dsp:cNvSpPr/>
      </dsp:nvSpPr>
      <dsp:spPr>
        <a:xfrm>
          <a:off x="4944755" y="787975"/>
          <a:ext cx="323910" cy="323910"/>
        </a:xfrm>
        <a:prstGeom prst="ellipse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</dsp:sp>
    <dsp:sp modelId="{7414C9C0-F150-4687-A455-126F14064CBF}">
      <dsp:nvSpPr>
        <dsp:cNvPr id="0" name=""/>
        <dsp:cNvSpPr/>
      </dsp:nvSpPr>
      <dsp:spPr>
        <a:xfrm>
          <a:off x="5106710" y="949930"/>
          <a:ext cx="1195977" cy="2164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634" tIns="0" rIns="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2009 </a:t>
          </a:r>
          <a:r>
            <a:rPr lang="ru-RU" sz="2000" kern="1200" dirty="0" smtClean="0"/>
            <a:t>й.</a:t>
          </a:r>
          <a:endParaRPr lang="ru-RU" sz="2000" kern="1200" dirty="0"/>
        </a:p>
      </dsp:txBody>
      <dsp:txXfrm>
        <a:off x="5106710" y="949930"/>
        <a:ext cx="1195977" cy="2164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C8004B8-BFCC-4873-B9BF-D00CD62BEE78}" type="datetimeFigureOut">
              <a:rPr lang="ru-RU"/>
              <a:pPr>
                <a:defRPr/>
              </a:pPr>
              <a:t>29.10.2015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B7CD0D-DF19-4BAB-8434-31F68B091A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5205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5A2C722-7DF1-41E8-AA56-BF7EFF0ED5DE}" type="datetimeFigureOut">
              <a:rPr lang="ru-RU"/>
              <a:pPr>
                <a:defRPr/>
              </a:pPr>
              <a:t>29.10.2015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8713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89475"/>
            <a:ext cx="5392737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7D02410-A587-4883-B428-3F7A257865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5360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9BEAD786-C671-4C42-98CB-4C06D5271992}" type="slidenum">
              <a:rPr lang="ru-RU" smtClean="0"/>
              <a:pPr eaLnBrk="1" hangingPunct="1"/>
              <a:t>1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 sz="2400">
              <a:latin typeface="Times New Roman" pitchFamily="18" charset="0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8882A8-F77B-4515-A411-0AE6BD9BD7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56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DF462-DCE9-4C30-B1AA-C4FBC68E1A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19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6EF62-8F41-4046-B048-898BCEEB3D3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2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1CEAD-39EE-4F3B-BBE7-C8B0D1092D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68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212FA-5FE0-42A4-A0B9-24E13D9CC0D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51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7409E-7DE8-4FEF-9859-EEA6FBC564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40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2B1CB-C71A-42FC-8187-0F138F6A79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49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5C171-C35C-44A6-814B-AAAF0E01222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84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660FF-4E39-4FC1-B8E4-40F084AC087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48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5D562-5564-4165-925D-EAF008AA7D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430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89656-F5B6-4FCF-95BE-DA92734AD9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42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AEAE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53252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 sz="2400">
              <a:latin typeface="Times New Roman" pitchFamily="18" charset="0"/>
            </a:endParaRP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F0BFD4B-D1CE-45E9-B5F0-E042931298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F:\САЙТ\ёрдам\Cryptography_barnst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037" y="5085324"/>
            <a:ext cx="1037943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owchart: Process 9"/>
          <p:cNvSpPr/>
          <p:nvPr/>
        </p:nvSpPr>
        <p:spPr>
          <a:xfrm>
            <a:off x="214282" y="214290"/>
            <a:ext cx="8721900" cy="615600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487738" y="5805264"/>
            <a:ext cx="1944687" cy="3968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000" b="1" dirty="0">
                <a:latin typeface="Times New Roman" pitchFamily="18" charset="0"/>
              </a:rPr>
              <a:t>Тошкент - </a:t>
            </a:r>
            <a:r>
              <a:rPr lang="uz-Cyrl-UZ" sz="2000" b="1" dirty="0" smtClean="0">
                <a:latin typeface="Times New Roman" pitchFamily="18" charset="0"/>
              </a:rPr>
              <a:t>201</a:t>
            </a:r>
            <a:r>
              <a:rPr lang="en-US" sz="2000" b="1" dirty="0" smtClean="0">
                <a:latin typeface="Times New Roman" pitchFamily="18" charset="0"/>
              </a:rPr>
              <a:t>5</a:t>
            </a:r>
            <a:endParaRPr lang="ru-RU" sz="2000" b="1" dirty="0">
              <a:latin typeface="Times New Roman" pitchFamily="18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1025401" y="2242681"/>
            <a:ext cx="7074991" cy="1569660"/>
          </a:xfrm>
          <a:prstGeom prst="rect">
            <a:avLst/>
          </a:prstGeom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uz-Cyrl-UZ" sz="3200" b="1" dirty="0" smtClean="0">
                <a:latin typeface="Times New Roman" pitchFamily="18" charset="0"/>
                <a:cs typeface="Times New Roman" pitchFamily="18" charset="0"/>
              </a:rPr>
              <a:t>Хэш-функция алгоритмларини </a:t>
            </a:r>
            <a:r>
              <a:rPr lang="uz-Cyrl-UZ" sz="3200" b="1" dirty="0">
                <a:latin typeface="Times New Roman" pitchFamily="18" charset="0"/>
                <a:cs typeface="Times New Roman" pitchFamily="18" charset="0"/>
              </a:rPr>
              <a:t>яратиш ва қабул қилиш бўйича </a:t>
            </a:r>
            <a:r>
              <a:rPr lang="uz-Cyrl-UZ" sz="3200" b="1" dirty="0" smtClean="0">
                <a:latin typeface="Times New Roman" pitchFamily="18" charset="0"/>
                <a:cs typeface="Times New Roman" pitchFamily="18" charset="0"/>
              </a:rPr>
              <a:t>хорижий </a:t>
            </a:r>
            <a:r>
              <a:rPr lang="uz-Cyrl-UZ" sz="3200" b="1" dirty="0">
                <a:latin typeface="Times New Roman" pitchFamily="18" charset="0"/>
                <a:cs typeface="Times New Roman" pitchFamily="18" charset="0"/>
              </a:rPr>
              <a:t>давлатлар </a:t>
            </a:r>
            <a:r>
              <a:rPr lang="uz-Cyrl-UZ" sz="3200" b="1" dirty="0" smtClean="0">
                <a:latin typeface="Times New Roman" pitchFamily="18" charset="0"/>
                <a:cs typeface="Times New Roman" pitchFamily="18" charset="0"/>
              </a:rPr>
              <a:t>тажрибалари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(РТ ва АТМ)                                     29 </a:t>
            </a:r>
            <a:r>
              <a:rPr lang="ru-RU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октябрь</a:t>
            </a:r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201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5</a:t>
            </a:r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йил                                                                        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 / 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24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91456" y="514772"/>
            <a:ext cx="795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0" hangingPunct="0"/>
            <a:r>
              <a:rPr lang="uz-Cyrl-UZ" altLang="ru-RU" sz="2000" dirty="0" smtClean="0">
                <a:latin typeface="Times New Roman" pitchFamily="18" charset="0"/>
              </a:rPr>
              <a:t>РАДИОЭЛЕКТРОН ТИЗИМЛАР ВА</a:t>
            </a:r>
            <a:r>
              <a:rPr lang="en-US" altLang="ru-RU" sz="2000" dirty="0" smtClean="0">
                <a:latin typeface="Times New Roman" pitchFamily="18" charset="0"/>
              </a:rPr>
              <a:t> </a:t>
            </a:r>
            <a:r>
              <a:rPr lang="uz-Cyrl-UZ" altLang="ru-RU" sz="2000" dirty="0" smtClean="0">
                <a:latin typeface="Times New Roman" pitchFamily="18" charset="0"/>
              </a:rPr>
              <a:t>АХБОРОТ </a:t>
            </a:r>
            <a:endParaRPr lang="en-US" altLang="ru-RU" sz="2000" dirty="0" smtClean="0">
              <a:latin typeface="Times New Roman" pitchFamily="18" charset="0"/>
            </a:endParaRPr>
          </a:p>
          <a:p>
            <a:pPr algn="ctr" eaLnBrk="0" hangingPunct="0"/>
            <a:r>
              <a:rPr lang="uz-Cyrl-UZ" altLang="ru-RU" sz="2000" dirty="0" smtClean="0">
                <a:latin typeface="Times New Roman" pitchFamily="18" charset="0"/>
              </a:rPr>
              <a:t>ТЕХНОЛОГИЯЛАРИ МАРКАЗИ</a:t>
            </a:r>
            <a:endParaRPr lang="ru-RU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200673" y="368660"/>
            <a:ext cx="8748713" cy="24006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indent="531813" algn="just" eaLnBrk="0" hangingPunct="0">
              <a:buClr>
                <a:schemeClr val="accent2"/>
              </a:buClr>
            </a:pPr>
            <a:r>
              <a:rPr lang="uz-Cyrl-UZ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Хэш-функция (</a:t>
            </a:r>
            <a:r>
              <a:rPr lang="en-US" sz="25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hash-functions</a:t>
            </a:r>
            <a:r>
              <a:rPr lang="uz-Cyrl-UZ" sz="25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5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5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uz-Cyrl-UZ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ихтиёрий </a:t>
            </a:r>
            <a:r>
              <a:rPr lang="ru-RU" sz="2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чекли</a:t>
            </a:r>
            <a:r>
              <a:rPr lang="ru-RU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узунликдаги </a:t>
            </a:r>
            <a:r>
              <a:rPr lang="uz-Cyrl-UZ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маълумотни фиксирланган узунликдаги қиймат (мазкур қиймат хэш-код, свертка ёки дайджест деб ҳам номланади)га акслантирувчи, осон ҳисобланадиган бир томонли функция </a:t>
            </a:r>
            <a:r>
              <a: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ҳисобланади.</a:t>
            </a: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224644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1" name="Группа 20"/>
          <p:cNvGrpSpPr/>
          <p:nvPr/>
        </p:nvGrpSpPr>
        <p:grpSpPr>
          <a:xfrm>
            <a:off x="1367644" y="3068960"/>
            <a:ext cx="6408712" cy="1505855"/>
            <a:chOff x="431540" y="2819097"/>
            <a:chExt cx="6408712" cy="1505855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431540" y="2819097"/>
              <a:ext cx="6408712" cy="150585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99"/>
              </a:solidFill>
              <a:prstDash val="dash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noAutofit/>
            </a:bodyPr>
            <a:lstStyle/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" name="Блок-схема: извлечение 2"/>
            <p:cNvSpPr/>
            <p:nvPr/>
          </p:nvSpPr>
          <p:spPr>
            <a:xfrm rot="5400000">
              <a:off x="3690298" y="3052658"/>
              <a:ext cx="1043323" cy="936104"/>
            </a:xfrm>
            <a:prstGeom prst="flowChartExtract">
              <a:avLst/>
            </a:prstGeom>
            <a:solidFill>
              <a:srgbClr val="FFFF00"/>
            </a:solidFill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Загнутый угол 1"/>
            <p:cNvSpPr/>
            <p:nvPr/>
          </p:nvSpPr>
          <p:spPr>
            <a:xfrm>
              <a:off x="634803" y="3050259"/>
              <a:ext cx="2340260" cy="936104"/>
            </a:xfrm>
            <a:prstGeom prst="foldedCorner">
              <a:avLst>
                <a:gd name="adj" fmla="val 3215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z-Cyrl-UZ" dirty="0" smtClean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uz-Cyrl-UZ" dirty="0" smtClean="0">
                  <a:solidFill>
                    <a:sysClr val="windowText" lastClr="000000"/>
                  </a:solidFill>
                </a:rPr>
                <a:t>. . . .</a:t>
              </a:r>
              <a:endParaRPr lang="ru-RU" dirty="0" smtClean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uz-Cyrl-UZ" dirty="0" smtClean="0">
                  <a:solidFill>
                    <a:sysClr val="windowText" lastClr="000000"/>
                  </a:solidFill>
                </a:rPr>
                <a:t>МАЪЛУМОТ</a:t>
              </a:r>
            </a:p>
            <a:p>
              <a:pPr algn="ctr"/>
              <a:r>
                <a:rPr lang="uz-Cyrl-UZ" dirty="0" smtClean="0">
                  <a:solidFill>
                    <a:sysClr val="windowText" lastClr="000000"/>
                  </a:solidFill>
                </a:rPr>
                <a:t>. . . .</a:t>
              </a:r>
              <a:endParaRPr lang="ru-RU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872081" y="3243716"/>
              <a:ext cx="3113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smtClean="0"/>
                <a:t>f</a:t>
              </a:r>
              <a:endParaRPr lang="ru-RU" sz="2800" i="1" dirty="0"/>
            </a:p>
          </p:txBody>
        </p:sp>
        <p:cxnSp>
          <p:nvCxnSpPr>
            <p:cNvPr id="7" name="Прямая со стрелкой 6"/>
            <p:cNvCxnSpPr>
              <a:stCxn id="2" idx="3"/>
              <a:endCxn id="3" idx="2"/>
            </p:cNvCxnSpPr>
            <p:nvPr/>
          </p:nvCxnSpPr>
          <p:spPr>
            <a:xfrm>
              <a:off x="2975063" y="3518311"/>
              <a:ext cx="756084" cy="2400"/>
            </a:xfrm>
            <a:prstGeom prst="straightConnector1">
              <a:avLst/>
            </a:prstGeom>
            <a:ln w="3810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/>
            <p:cNvCxnSpPr>
              <a:stCxn id="3" idx="0"/>
              <a:endCxn id="19" idx="1"/>
            </p:cNvCxnSpPr>
            <p:nvPr/>
          </p:nvCxnSpPr>
          <p:spPr>
            <a:xfrm>
              <a:off x="4667251" y="3520711"/>
              <a:ext cx="775134" cy="4779"/>
            </a:xfrm>
            <a:prstGeom prst="straightConnector1">
              <a:avLst/>
            </a:prstGeom>
            <a:ln w="3810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Блок-схема: процесс 18"/>
            <p:cNvSpPr/>
            <p:nvPr/>
          </p:nvSpPr>
          <p:spPr>
            <a:xfrm>
              <a:off x="5442385" y="3297943"/>
              <a:ext cx="1152128" cy="455093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uz-Cyrl-UZ" dirty="0" smtClean="0">
                  <a:solidFill>
                    <a:sysClr val="windowText" lastClr="000000"/>
                  </a:solidFill>
                </a:rPr>
                <a:t>Хэш-код</a:t>
              </a:r>
              <a:endParaRPr lang="ru-RU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196056" y="4828220"/>
            <a:ext cx="8748713" cy="17851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indent="531813" algn="just" eaLnBrk="0" hangingPunct="0">
              <a:buClr>
                <a:schemeClr val="accent2"/>
              </a:buClr>
            </a:pP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!!!</a:t>
            </a:r>
            <a:r>
              <a:rPr lang="uz-Cyrl-UZ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Криптографияда </a:t>
            </a:r>
            <a:r>
              <a:rPr lang="uz-Cyrl-UZ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хэш-функциялар асосан қуйидаги икки масалани ҳал қилишда </a:t>
            </a:r>
            <a:r>
              <a:rPr lang="uz-Cyrl-UZ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фойдаланилади:</a:t>
            </a:r>
          </a:p>
          <a:p>
            <a:pPr marL="342900" indent="-342900" algn="just" eaLnBrk="0" hangingPunct="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маълумотни 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узатиш ёки сақлашда унинг тўлалигини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(бутунлигини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 назорат қилиш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учун;</a:t>
            </a:r>
          </a:p>
          <a:p>
            <a:pPr marL="342900" indent="-342900" algn="just" eaLnBrk="0" hangingPunct="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маълумот 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манбасини аутентификация қилиш учун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3" name="Группа 2"/>
          <p:cNvGrpSpPr/>
          <p:nvPr/>
        </p:nvGrpSpPr>
        <p:grpSpPr>
          <a:xfrm>
            <a:off x="173036" y="944724"/>
            <a:ext cx="8801453" cy="5148572"/>
            <a:chOff x="173036" y="944724"/>
            <a:chExt cx="8801453" cy="5148572"/>
          </a:xfrm>
        </p:grpSpPr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173036" y="944724"/>
              <a:ext cx="8801453" cy="51485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99"/>
              </a:solidFill>
              <a:prstDash val="dash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noAutofit/>
            </a:bodyPr>
            <a:lstStyle/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3" t="13714" r="3428" b="6879"/>
            <a:stretch/>
          </p:blipFill>
          <p:spPr bwMode="auto">
            <a:xfrm>
              <a:off x="323529" y="1052736"/>
              <a:ext cx="8424936" cy="4033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148"/>
          <p:cNvSpPr>
            <a:spLocks noChangeArrowheads="1"/>
          </p:cNvSpPr>
          <p:nvPr/>
        </p:nvSpPr>
        <p:spPr bwMode="auto">
          <a:xfrm>
            <a:off x="-1" y="152922"/>
            <a:ext cx="5740759" cy="461665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400" b="1" dirty="0" smtClean="0">
                <a:latin typeface="Times New Roman" pitchFamily="18" charset="0"/>
              </a:rPr>
              <a:t>Хэш-функциянинг қўлланиш асоси</a:t>
            </a:r>
            <a:endParaRPr lang="uz-Cyrl-UZ" sz="24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50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8" name="Rectangle 148"/>
          <p:cNvSpPr>
            <a:spLocks noChangeArrowheads="1"/>
          </p:cNvSpPr>
          <p:nvPr/>
        </p:nvSpPr>
        <p:spPr bwMode="auto">
          <a:xfrm>
            <a:off x="-1" y="152922"/>
            <a:ext cx="8136397" cy="461665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400" b="1" dirty="0" smtClean="0">
                <a:latin typeface="Times New Roman" pitchFamily="18" charset="0"/>
              </a:rPr>
              <a:t>Хэш-функциянинг ЭРИ таркибида қўлланиш асоси</a:t>
            </a:r>
            <a:endParaRPr lang="uz-Cyrl-UZ" sz="2400" b="1" dirty="0">
              <a:latin typeface="Times New Roman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00466" y="1066126"/>
            <a:ext cx="8925380" cy="4896544"/>
            <a:chOff x="100466" y="1066126"/>
            <a:chExt cx="8925380" cy="4896544"/>
          </a:xfrm>
        </p:grpSpPr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100466" y="1066126"/>
              <a:ext cx="8925380" cy="48965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99"/>
              </a:solidFill>
              <a:prstDash val="dash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noAutofit/>
            </a:bodyPr>
            <a:lstStyle/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52" t="15916" r="15809" b="33630"/>
            <a:stretch/>
          </p:blipFill>
          <p:spPr bwMode="auto">
            <a:xfrm>
              <a:off x="241098" y="1486463"/>
              <a:ext cx="8568000" cy="3845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1228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179771" y="260648"/>
            <a:ext cx="8748713" cy="36317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indent="531813" algn="just" eaLnBrk="0" hangingPunct="0">
              <a:spcAft>
                <a:spcPts val="1200"/>
              </a:spcAft>
              <a:buClr>
                <a:schemeClr val="accent2"/>
              </a:buClr>
            </a:pP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!!!</a:t>
            </a:r>
            <a:r>
              <a:rPr lang="uz-Cyrl-UZ" sz="22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Хэш-функция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XX-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асрнинг ўрталарида “Луғат” масаласининг ечими сифатида пайдо бўлди (Дональд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Кнут).</a:t>
            </a:r>
            <a:endParaRPr lang="uz-Cyrl-UZ" sz="2200" b="1" dirty="0" smtClean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spcAft>
                <a:spcPts val="1200"/>
              </a:spcAft>
              <a:buClr>
                <a:schemeClr val="accent2"/>
              </a:buClr>
            </a:pP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!!!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1989 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йили Р.Меркль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ва 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И.Дамгаард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томонидан 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мустақил тарзда криптографик хэш-функция қуришнинг итератив принципи таклиф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этилади. </a:t>
            </a:r>
            <a:r>
              <a:rPr lang="uz-Cyrl-UZ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Айнан мазкур принцип “ихтиёрий узунликдаги маълумот учун хэш-функция қуриш масаласи”ни “фиксирланган узунликдаги маълумот учун акслантириш қуриш масаласи”га олиб келди.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uz-Cyrl-UZ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287524" y="4149080"/>
            <a:ext cx="8604956" cy="2556284"/>
            <a:chOff x="286245" y="4052707"/>
            <a:chExt cx="8604956" cy="2556284"/>
          </a:xfrm>
        </p:grpSpPr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286245" y="4052707"/>
              <a:ext cx="8604956" cy="25562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99"/>
              </a:solidFill>
              <a:prstDash val="dash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noAutofit/>
            </a:bodyPr>
            <a:lstStyle/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25" t="22445" r="10250" b="33778"/>
            <a:stretch/>
          </p:blipFill>
          <p:spPr bwMode="auto">
            <a:xfrm>
              <a:off x="1026789" y="4084361"/>
              <a:ext cx="7504372" cy="2380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6549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15775" y="1381418"/>
            <a:ext cx="8748713" cy="45243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indent="531813" algn="just" eaLnBrk="0" hangingPunct="0">
              <a:buClr>
                <a:schemeClr val="accent2"/>
              </a:buClr>
            </a:pPr>
            <a:r>
              <a:rPr lang="uz-Cyrl-UZ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uz-Cyrl-UZ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Ихтиёрий узунликдаги матнга қўллаб бўлиши;</a:t>
            </a:r>
          </a:p>
          <a:p>
            <a:pPr indent="531813" algn="just" eaLnBrk="0" hangingPunct="0">
              <a:buClr>
                <a:schemeClr val="accent2"/>
              </a:buClr>
            </a:pPr>
            <a:r>
              <a:rPr lang="uz-Cyrl-UZ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Чиқишда 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фиксирланган узунликдаги 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қийматни бериши;</a:t>
            </a:r>
          </a:p>
          <a:p>
            <a:pPr indent="531813" algn="just" eaLnBrk="0" hangingPunct="0">
              <a:buClr>
                <a:schemeClr val="accent2"/>
              </a:buClr>
            </a:pPr>
            <a:r>
              <a:rPr lang="uz-Cyrl-UZ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3.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Ихтиёрий берилган </a:t>
            </a:r>
            <a:r>
              <a:rPr lang="uz-Cyrl-UZ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х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бўйича </a:t>
            </a:r>
            <a:r>
              <a:rPr lang="en-US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h(</a:t>
            </a:r>
            <a:r>
              <a:rPr lang="uz-Cyrl-UZ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х)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осон ҳисобланиши;</a:t>
            </a:r>
          </a:p>
          <a:p>
            <a:pPr indent="531813" algn="just" eaLnBrk="0" hangingPunct="0">
              <a:buClr>
                <a:schemeClr val="accent2"/>
              </a:buClr>
            </a:pPr>
            <a:r>
              <a:rPr lang="uz-Cyrl-UZ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4.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Ихтиёрий берилган </a:t>
            </a:r>
            <a:r>
              <a:rPr lang="en-US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бўйича </a:t>
            </a:r>
            <a:r>
              <a:rPr lang="en-US" sz="2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h(</a:t>
            </a:r>
            <a:r>
              <a:rPr lang="uz-Cyrl-UZ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х</a:t>
            </a:r>
            <a:r>
              <a:rPr lang="uz-Cyrl-UZ" sz="2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)=Н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тенгликдан </a:t>
            </a:r>
            <a:r>
              <a:rPr lang="uz-Cyrl-UZ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х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ни ҳисоблаб топиб 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бўлмаслиги (амалий мураккаб)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uz-Cyrl-UZ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r>
              <a:rPr lang="uz-Cyrl-UZ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5.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Олинган </a:t>
            </a:r>
            <a:r>
              <a:rPr lang="uz-Cyrl-UZ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х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ва </a:t>
            </a:r>
            <a:r>
              <a:rPr lang="en-US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y≠</a:t>
            </a:r>
            <a:r>
              <a:rPr lang="uz-Cyrl-UZ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х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матнлар учун </a:t>
            </a:r>
            <a:r>
              <a:rPr lang="en-US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h(</a:t>
            </a:r>
            <a:r>
              <a:rPr lang="uz-Cyrl-UZ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х)</a:t>
            </a:r>
            <a:r>
              <a:rPr lang="uz-Cyrl-UZ" sz="2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≠</a:t>
            </a:r>
            <a:r>
              <a:rPr lang="en-US" sz="2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h(y</a:t>
            </a:r>
            <a:r>
              <a:rPr lang="en-US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бўлиши. (Коллизияга бардошлилик хоссаси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uz-Cyrl-UZ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r>
              <a:rPr lang="uz-Cyrl-UZ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6. ....</a:t>
            </a:r>
            <a:endParaRPr lang="uz-Cyrl-UZ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148"/>
          <p:cNvSpPr>
            <a:spLocks noChangeArrowheads="1"/>
          </p:cNvSpPr>
          <p:nvPr/>
        </p:nvSpPr>
        <p:spPr bwMode="auto">
          <a:xfrm>
            <a:off x="-1" y="152922"/>
            <a:ext cx="7956377" cy="461665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400" b="1" i="1" dirty="0" smtClean="0">
                <a:latin typeface="Times New Roman" pitchFamily="18" charset="0"/>
              </a:rPr>
              <a:t> h(</a:t>
            </a:r>
            <a:r>
              <a:rPr lang="uz-Cyrl-UZ" sz="2400" b="1" i="1" dirty="0" smtClean="0">
                <a:latin typeface="Times New Roman" pitchFamily="18" charset="0"/>
              </a:rPr>
              <a:t>*</a:t>
            </a:r>
            <a:r>
              <a:rPr lang="en-US" sz="2400" b="1" i="1" dirty="0" smtClean="0">
                <a:latin typeface="Times New Roman" pitchFamily="18" charset="0"/>
              </a:rPr>
              <a:t>) – </a:t>
            </a:r>
            <a:r>
              <a:rPr lang="uz-Cyrl-UZ" sz="2400" b="1" dirty="0" smtClean="0">
                <a:latin typeface="Times New Roman" pitchFamily="18" charset="0"/>
              </a:rPr>
              <a:t>хэш-функцияга қўйилувчи умумий талаблар</a:t>
            </a:r>
            <a:endParaRPr lang="uz-Cyrl-UZ" sz="24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15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3896" y="1014988"/>
            <a:ext cx="8985491" cy="12618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1.	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Биринчи 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намунавий матнни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аниқлаб бўлмаслиги (</a:t>
            </a:r>
            <a:r>
              <a:rPr lang="uz-Cyrl-UZ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БНМ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2.	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Иккинчи 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намунавий матнни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аниқлаб бўлмаслиги (</a:t>
            </a:r>
            <a:r>
              <a:rPr lang="uz-Cyrl-UZ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ИНМ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3.</a:t>
            </a:r>
            <a:r>
              <a:rPr lang="uz-Cyrl-UZ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uz-Cyrl-UZ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Коллизияни 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аниқлаб бўлмаслиги (</a:t>
            </a:r>
            <a:r>
              <a:rPr lang="uz-Cyrl-UZ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КОЛЛИЗИЯ</a:t>
            </a:r>
            <a:r>
              <a:rPr lang="uz-Cyrl-UZ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endParaRPr lang="uz-Cyrl-UZ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148"/>
          <p:cNvSpPr>
            <a:spLocks noChangeArrowheads="1"/>
          </p:cNvSpPr>
          <p:nvPr/>
        </p:nvSpPr>
        <p:spPr bwMode="auto">
          <a:xfrm>
            <a:off x="-1" y="152922"/>
            <a:ext cx="8676457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400" b="1" i="1" dirty="0" smtClean="0">
                <a:latin typeface="Times New Roman" pitchFamily="18" charset="0"/>
              </a:rPr>
              <a:t> h(*) – </a:t>
            </a:r>
            <a:r>
              <a:rPr lang="uz-Cyrl-UZ" sz="2400" b="1" dirty="0" smtClean="0">
                <a:latin typeface="Times New Roman" pitchFamily="18" charset="0"/>
              </a:rPr>
              <a:t>хэш-функцияга қўйилувчи бардошлилик талаблар</a:t>
            </a:r>
            <a:endParaRPr lang="uz-Cyrl-UZ" sz="2400" b="1" dirty="0">
              <a:latin typeface="Times New Roman" pitchFamily="18" charset="0"/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99966" y="2744924"/>
            <a:ext cx="8969421" cy="3312368"/>
            <a:chOff x="99966" y="2520238"/>
            <a:chExt cx="8969421" cy="3312368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99966" y="2520238"/>
              <a:ext cx="8969421" cy="33123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99"/>
              </a:solidFill>
              <a:prstDash val="dash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noAutofit/>
            </a:bodyPr>
            <a:lstStyle/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indent="531813" algn="just" eaLnBrk="0" hangingPunct="0">
                <a:buClr>
                  <a:schemeClr val="accent2"/>
                </a:buClr>
              </a:pPr>
              <a:endParaRPr lang="uz-Cyrl-UZ" sz="2500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indent="531813" algn="just" eaLnBrk="0" hangingPunct="0">
                <a:buClr>
                  <a:schemeClr val="accent2"/>
                </a:buClr>
              </a:pPr>
              <a:r>
                <a:rPr lang="uz-Cyrl-UZ" sz="2500" b="1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uz-Cyrl-UZ" sz="2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БНМ			</a:t>
              </a:r>
              <a:r>
                <a:rPr lang="uz-Cyrl-UZ" sz="2500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  ИНМ		 КОЛЛИЗИЯ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036" r="1787" b="30438"/>
            <a:stretch/>
          </p:blipFill>
          <p:spPr bwMode="auto">
            <a:xfrm>
              <a:off x="183320" y="2816932"/>
              <a:ext cx="8601148" cy="234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9927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10137" y="692696"/>
            <a:ext cx="8520552" cy="286232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3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Барча талабларни максимал қаноатлантирувчи хэш-функцияни яратиш </a:t>
            </a:r>
            <a:r>
              <a:rPr lang="uz-Cyrl-UZ" sz="340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uz-Cyrl-UZ" sz="3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мураккаб</a:t>
            </a:r>
          </a:p>
          <a:p>
            <a:pPr algn="ctr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3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(ҳам </a:t>
            </a:r>
            <a:r>
              <a:rPr lang="uz-Cyrl-UZ" sz="34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амалий</a:t>
            </a:r>
            <a:r>
              <a:rPr lang="uz-Cyrl-UZ" sz="3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ҳам </a:t>
            </a:r>
            <a:r>
              <a:rPr lang="uz-Cyrl-UZ" sz="34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назарий</a:t>
            </a:r>
            <a:r>
              <a:rPr lang="uz-Cyrl-UZ" sz="3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ctr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масала</a:t>
            </a:r>
          </a:p>
        </p:txBody>
      </p:sp>
      <p:sp>
        <p:nvSpPr>
          <p:cNvPr id="4" name="Rectangle 148"/>
          <p:cNvSpPr>
            <a:spLocks noChangeArrowheads="1"/>
          </p:cNvSpPr>
          <p:nvPr/>
        </p:nvSpPr>
        <p:spPr bwMode="auto">
          <a:xfrm>
            <a:off x="-508" y="152922"/>
            <a:ext cx="104360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400" b="1" dirty="0" smtClean="0">
                <a:latin typeface="Times New Roman" pitchFamily="18" charset="0"/>
              </a:rPr>
              <a:t>!!!!!!!</a:t>
            </a:r>
            <a:endParaRPr lang="uz-Cyrl-UZ" sz="2400" b="1" dirty="0">
              <a:latin typeface="Times New Roman" pitchFamily="18" charset="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91908" y="3586078"/>
            <a:ext cx="8808584" cy="31239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623888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Бироқ,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бугунги кунга қадар, хэш-функция яратишнинг турли ёндашувлари таклиф этилган ва улар асосида кўплаб бардошли хэш-функция алгоритмлари яратилган.</a:t>
            </a:r>
          </a:p>
          <a:p>
            <a:pPr indent="623888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4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Масалан</a:t>
            </a:r>
            <a:r>
              <a:rPr lang="uz-Cyrl-UZ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MD4,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MD5, SHA-1, SHA-2, SHA-3, JH, Skein,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GROSTL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RIPEMD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BLAKE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WHIRLPOOL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HAS-160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CRC32, 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ГОСТ </a:t>
            </a:r>
            <a:r>
              <a:rPr lang="uz-Cyrl-UZ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Р 34.11–94, ГОСТ Р 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34.11–2012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O’zDSt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1106-2009</a:t>
            </a:r>
            <a:r>
              <a:rPr lang="uz-Cyrl-UZ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uz-Cyrl-UZ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08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9169" y="1484784"/>
            <a:ext cx="8742487" cy="38472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8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!!! </a:t>
            </a:r>
            <a:r>
              <a:rPr lang="uz-Cyrl-UZ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Яратилган вақтида криптобардошли ва амалий самарадор бўлган хэш-функциялар: </a:t>
            </a:r>
            <a:endParaRPr lang="en-US" sz="2800" b="1" dirty="0" smtClean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lvl="1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 </a:t>
            </a:r>
            <a:r>
              <a:rPr lang="uz-Cyrl-UZ" sz="280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криптоҳужум усулларининг ривожланиши</a:t>
            </a:r>
          </a:p>
          <a:p>
            <a:pPr lvl="1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ахборот тизимининг ривожланиши</a:t>
            </a:r>
          </a:p>
          <a:p>
            <a:pPr lvl="1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маълумот ҳажмининг ошиши ...</a:t>
            </a: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натижасида криптобардошсиз ёки амалий самарасиз хэш-функцияга айланиб бормоқда.</a:t>
            </a:r>
          </a:p>
        </p:txBody>
      </p:sp>
      <p:sp>
        <p:nvSpPr>
          <p:cNvPr id="4" name="Rectangle 148"/>
          <p:cNvSpPr>
            <a:spLocks noChangeArrowheads="1"/>
          </p:cNvSpPr>
          <p:nvPr/>
        </p:nvSpPr>
        <p:spPr bwMode="auto">
          <a:xfrm>
            <a:off x="-508" y="152922"/>
            <a:ext cx="1512168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algn="ctr" eaLnBrk="0" hangingPunct="0"/>
            <a:r>
              <a:rPr lang="uz-Cyrl-UZ" sz="2400" b="1" dirty="0" smtClean="0">
                <a:latin typeface="Times New Roman" pitchFamily="18" charset="0"/>
              </a:rPr>
              <a:t>ФАКТ</a:t>
            </a:r>
            <a:endParaRPr lang="uz-Cyrl-UZ" sz="24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13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Rectangle 148"/>
          <p:cNvSpPr>
            <a:spLocks noChangeArrowheads="1"/>
          </p:cNvSpPr>
          <p:nvPr/>
        </p:nvSpPr>
        <p:spPr bwMode="auto">
          <a:xfrm>
            <a:off x="-508" y="152922"/>
            <a:ext cx="3132348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400" b="1" dirty="0" smtClean="0">
                <a:latin typeface="Times New Roman" pitchFamily="18" charset="0"/>
              </a:rPr>
              <a:t>АҚШ тажрибаси</a:t>
            </a:r>
            <a:endParaRPr lang="uz-Cyrl-UZ" sz="2400" b="1" dirty="0">
              <a:latin typeface="Times New Roman" pitchFamily="18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85452" y="697467"/>
            <a:ext cx="8969421" cy="4351713"/>
          </a:xfrm>
          <a:prstGeom prst="rect">
            <a:avLst/>
          </a:prstGeom>
          <a:solidFill>
            <a:schemeClr val="bg1"/>
          </a:solidFill>
          <a:ln w="19050">
            <a:solidFill>
              <a:srgbClr val="000099"/>
            </a:solidFill>
            <a:prstDash val="dash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093081763"/>
              </p:ext>
            </p:extLst>
          </p:nvPr>
        </p:nvGraphicFramePr>
        <p:xfrm>
          <a:off x="323528" y="818530"/>
          <a:ext cx="8568952" cy="4104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173324" y="3189734"/>
            <a:ext cx="1080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ysClr val="windowText" lastClr="000000"/>
                </a:solidFill>
              </a:rPr>
              <a:t>SHA-0</a:t>
            </a:r>
            <a:endParaRPr lang="ru-RU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123728" y="2253630"/>
            <a:ext cx="1188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ysClr val="windowText" lastClr="000000"/>
                </a:solidFill>
              </a:rPr>
              <a:t>SHA-1</a:t>
            </a:r>
            <a:endParaRPr lang="ru-RU" sz="22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383868" y="1591258"/>
            <a:ext cx="136815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>
                <a:solidFill>
                  <a:sysClr val="windowText" lastClr="000000"/>
                </a:solidFill>
              </a:rPr>
              <a:t>SHA-2</a:t>
            </a:r>
            <a:endParaRPr lang="ru-RU" sz="26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76056" y="1055973"/>
            <a:ext cx="1620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 smtClean="0">
                <a:solidFill>
                  <a:sysClr val="windowText" lastClr="000000"/>
                </a:solidFill>
              </a:rPr>
              <a:t>SHA-3</a:t>
            </a:r>
            <a:endParaRPr lang="ru-RU" sz="3000" b="1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95522" y="5235706"/>
            <a:ext cx="8742487" cy="13542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SHA-0</a:t>
            </a: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FIPS PUB 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180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NIST/NSA, 1991);</a:t>
            </a: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SHA-1</a:t>
            </a: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FIPS PUB 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180-1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NIST/NSA, 1993);</a:t>
            </a: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SHA-2</a:t>
            </a: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FIPS PUB 180-2,3,4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NIST/NSA, 2000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uz-Cyrl-UZ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27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188640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1438" y="822047"/>
            <a:ext cx="8997949" cy="12772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SHA-3</a:t>
            </a: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Draft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FIPS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202, SHA-3 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Standard 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(Гвидо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Бертони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Йоан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Даймен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Микаел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Питерс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Жиль Ван 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Аше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2008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uz-Cyrl-UZ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18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2" name="Rectangle 148"/>
          <p:cNvSpPr>
            <a:spLocks noChangeArrowheads="1"/>
          </p:cNvSpPr>
          <p:nvPr/>
        </p:nvSpPr>
        <p:spPr bwMode="auto">
          <a:xfrm>
            <a:off x="2307" y="152636"/>
            <a:ext cx="3132348" cy="4616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algn="ctr" eaLnBrk="0" hangingPunct="0"/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SHA-3 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танлови</a:t>
            </a:r>
            <a:endParaRPr lang="uz-Cyrl-UZ" sz="2400" b="1" dirty="0">
              <a:latin typeface="Times New Roman" pitchFamily="18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5182" y="671451"/>
            <a:ext cx="8997949" cy="15696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4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2007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йил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ноябрь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ойига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келиб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NIST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янги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SHA-3 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стандарт 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хэш-функция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авлодини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танлаш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қабул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қилишга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қаратилган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лойиҳа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танлов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бошланганини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эълон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қилади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uz-Cyrl-UZ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9538" y="2517278"/>
            <a:ext cx="8893050" cy="33599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80678" y="2813112"/>
            <a:ext cx="18002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1-бос</a:t>
            </a:r>
            <a:r>
              <a:rPr lang="uz-Cyrl-UZ" sz="2000" b="1" dirty="0" smtClean="0">
                <a:solidFill>
                  <a:schemeClr val="tx1"/>
                </a:solidFill>
              </a:rPr>
              <a:t>қ</a:t>
            </a:r>
            <a:r>
              <a:rPr lang="ru-RU" sz="2000" b="1" dirty="0" err="1" smtClean="0">
                <a:solidFill>
                  <a:schemeClr val="tx1"/>
                </a:solidFill>
              </a:rPr>
              <a:t>ич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367644" y="2444128"/>
            <a:ext cx="6156684" cy="457200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000099"/>
                </a:solidFill>
              </a:rPr>
              <a:t>«</a:t>
            </a:r>
            <a:r>
              <a:rPr lang="ru-RU" b="1" dirty="0" err="1" smtClean="0">
                <a:solidFill>
                  <a:srgbClr val="000099"/>
                </a:solidFill>
              </a:rPr>
              <a:t>Танлов</a:t>
            </a:r>
            <a:r>
              <a:rPr lang="ru-RU" b="1" dirty="0" smtClean="0">
                <a:solidFill>
                  <a:srgbClr val="000099"/>
                </a:solidFill>
              </a:rPr>
              <a:t> </a:t>
            </a:r>
            <a:r>
              <a:rPr lang="ru-RU" b="1" dirty="0" err="1" smtClean="0">
                <a:solidFill>
                  <a:srgbClr val="000099"/>
                </a:solidFill>
              </a:rPr>
              <a:t>жараёни</a:t>
            </a:r>
            <a:r>
              <a:rPr lang="ru-RU" b="1" dirty="0" smtClean="0">
                <a:solidFill>
                  <a:srgbClr val="000099"/>
                </a:solidFill>
              </a:rPr>
              <a:t>»</a:t>
            </a:r>
            <a:endParaRPr lang="ru-RU" b="1" dirty="0">
              <a:solidFill>
                <a:srgbClr val="000099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95214" y="3282874"/>
            <a:ext cx="1584000" cy="9144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solidFill>
                  <a:schemeClr val="tx1"/>
                </a:solidFill>
              </a:rPr>
              <a:t>11</a:t>
            </a:r>
            <a:r>
              <a:rPr lang="ru-RU" dirty="0" smtClean="0">
                <a:solidFill>
                  <a:schemeClr val="tx1"/>
                </a:solidFill>
              </a:rPr>
              <a:t>.2007-07.2009 </a:t>
            </a:r>
            <a:r>
              <a:rPr lang="ru-RU" dirty="0" err="1" smtClean="0">
                <a:solidFill>
                  <a:schemeClr val="tx1"/>
                </a:solidFill>
              </a:rPr>
              <a:t>й.й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03259" y="4162797"/>
            <a:ext cx="1332000" cy="612000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1600" dirty="0" smtClean="0">
                <a:solidFill>
                  <a:schemeClr val="tx1"/>
                </a:solidFill>
              </a:rPr>
              <a:t>51 та функция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2749513" y="3189734"/>
            <a:ext cx="18002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2-бос</a:t>
            </a:r>
            <a:r>
              <a:rPr lang="uz-Cyrl-UZ" sz="2000" b="1" dirty="0" smtClean="0">
                <a:solidFill>
                  <a:schemeClr val="tx1"/>
                </a:solidFill>
              </a:rPr>
              <a:t>қ</a:t>
            </a:r>
            <a:r>
              <a:rPr lang="ru-RU" sz="2000" b="1" dirty="0" err="1" smtClean="0">
                <a:solidFill>
                  <a:schemeClr val="tx1"/>
                </a:solidFill>
              </a:rPr>
              <a:t>ич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864049" y="3659496"/>
            <a:ext cx="1584000" cy="9144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solidFill>
                  <a:schemeClr val="tx1"/>
                </a:solidFill>
              </a:rPr>
              <a:t>07</a:t>
            </a:r>
            <a:r>
              <a:rPr lang="ru-RU" dirty="0" smtClean="0">
                <a:solidFill>
                  <a:schemeClr val="tx1"/>
                </a:solidFill>
              </a:rPr>
              <a:t>.2009-12.2010 </a:t>
            </a:r>
            <a:r>
              <a:rPr lang="ru-RU" dirty="0" err="1" smtClean="0">
                <a:solidFill>
                  <a:schemeClr val="tx1"/>
                </a:solidFill>
              </a:rPr>
              <a:t>й.й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972094" y="4539419"/>
            <a:ext cx="1332000" cy="612000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1600" dirty="0" smtClean="0">
                <a:solidFill>
                  <a:schemeClr val="tx1"/>
                </a:solidFill>
              </a:rPr>
              <a:t>14 та функция</a:t>
            </a:r>
            <a:endParaRPr lang="ru-RU" sz="1600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stCxn id="9" idx="3"/>
          </p:cNvCxnSpPr>
          <p:nvPr/>
        </p:nvCxnSpPr>
        <p:spPr>
          <a:xfrm>
            <a:off x="2180878" y="3083112"/>
            <a:ext cx="568635" cy="37662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5146797" y="3612457"/>
            <a:ext cx="18002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000" b="1" dirty="0" smtClean="0">
                <a:solidFill>
                  <a:schemeClr val="tx1"/>
                </a:solidFill>
              </a:rPr>
              <a:t>Финал 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261333" y="4082219"/>
            <a:ext cx="1584000" cy="9144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solidFill>
                  <a:schemeClr val="tx1"/>
                </a:solidFill>
              </a:rPr>
              <a:t>12</a:t>
            </a:r>
            <a:r>
              <a:rPr lang="ru-RU" dirty="0" smtClean="0">
                <a:solidFill>
                  <a:schemeClr val="tx1"/>
                </a:solidFill>
              </a:rPr>
              <a:t>.2010-12.2012 </a:t>
            </a:r>
            <a:r>
              <a:rPr lang="ru-RU" dirty="0" err="1" smtClean="0">
                <a:solidFill>
                  <a:schemeClr val="tx1"/>
                </a:solidFill>
              </a:rPr>
              <a:t>й.й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5369378" y="4962142"/>
            <a:ext cx="1332000" cy="612000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1600" dirty="0" smtClean="0">
                <a:solidFill>
                  <a:schemeClr val="tx1"/>
                </a:solidFill>
              </a:rPr>
              <a:t>5 та функция</a:t>
            </a:r>
            <a:endParaRPr lang="ru-RU" sz="1600" dirty="0">
              <a:solidFill>
                <a:schemeClr val="tx1"/>
              </a:solidFill>
            </a:endParaRPr>
          </a:p>
        </p:txBody>
      </p:sp>
      <p:cxnSp>
        <p:nvCxnSpPr>
          <p:cNvPr id="23" name="Прямая со стрелкой 22"/>
          <p:cNvCxnSpPr>
            <a:stCxn id="17" idx="3"/>
          </p:cNvCxnSpPr>
          <p:nvPr/>
        </p:nvCxnSpPr>
        <p:spPr>
          <a:xfrm>
            <a:off x="4549713" y="3459734"/>
            <a:ext cx="597084" cy="42272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7276050" y="4985488"/>
            <a:ext cx="1440000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000" b="1" i="1" dirty="0"/>
              <a:t>Keccak</a:t>
            </a:r>
            <a:r>
              <a:rPr lang="uz-Cyrl-UZ" sz="2000" i="1" dirty="0"/>
              <a:t> </a:t>
            </a:r>
            <a:endParaRPr lang="ru-RU" sz="2000" b="1" i="1" dirty="0">
              <a:solidFill>
                <a:schemeClr val="tx1"/>
              </a:solidFill>
            </a:endParaRPr>
          </a:p>
        </p:txBody>
      </p:sp>
      <p:cxnSp>
        <p:nvCxnSpPr>
          <p:cNvPr id="25" name="Прямая со стрелкой 24"/>
          <p:cNvCxnSpPr>
            <a:stCxn id="22" idx="3"/>
            <a:endCxn id="24" idx="1"/>
          </p:cNvCxnSpPr>
          <p:nvPr/>
        </p:nvCxnSpPr>
        <p:spPr>
          <a:xfrm flipV="1">
            <a:off x="6701378" y="5255488"/>
            <a:ext cx="574672" cy="1265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74051" y="6027908"/>
            <a:ext cx="8997949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Keccak</a:t>
            </a:r>
            <a:r>
              <a:rPr lang="uz-Cyrl-UZ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SHA-3</a:t>
            </a:r>
            <a:r>
              <a:rPr lang="uz-Cyrl-UZ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алгоритми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финалист </a:t>
            </a:r>
            <a:r>
              <a:rPr lang="ru-RU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номзодлар</a:t>
            </a:r>
            <a:r>
              <a:rPr lang="ru-RU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орасида</a:t>
            </a:r>
            <a:r>
              <a:rPr lang="ru-RU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асосан</a:t>
            </a:r>
            <a:r>
              <a:rPr lang="ru-RU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аппарат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реализацияси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энг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яхши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бўлган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алгоритм </a:t>
            </a:r>
            <a:r>
              <a:rPr lang="ru-RU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ҳисобланади</a:t>
            </a:r>
            <a:r>
              <a:rPr lang="ru-RU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uz-Cyrl-UZ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26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5182" y="779220"/>
            <a:ext cx="8997949" cy="15696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2000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йил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январ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ойидан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бошлаб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40 ой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муддатга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мўлжалланган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NESSIE</a:t>
            </a:r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ew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uropean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chemes for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ignatures,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ntegrity, and </a:t>
            </a: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ncryptions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Европа </a:t>
            </a:r>
            <a:r>
              <a:rPr lang="ru-RU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криптолойиҳаси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бўлиб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ўтади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uz-Cyrl-UZ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Rectangle 148"/>
          <p:cNvSpPr>
            <a:spLocks noChangeArrowheads="1"/>
          </p:cNvSpPr>
          <p:nvPr/>
        </p:nvSpPr>
        <p:spPr bwMode="auto">
          <a:xfrm>
            <a:off x="-508" y="152922"/>
            <a:ext cx="5076000" cy="46166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400" b="1" dirty="0">
                <a:latin typeface="Times New Roman" pitchFamily="18" charset="0"/>
              </a:rPr>
              <a:t>Европа давлатлари </a:t>
            </a:r>
            <a:r>
              <a:rPr lang="uz-Cyrl-UZ" sz="2400" b="1" dirty="0" smtClean="0">
                <a:latin typeface="Times New Roman" pitchFamily="18" charset="0"/>
              </a:rPr>
              <a:t>тажрибаси</a:t>
            </a:r>
            <a:endParaRPr lang="uz-Cyrl-UZ" sz="2400" b="1" dirty="0">
              <a:latin typeface="Times New Roman" pitchFamily="18" charset="0"/>
            </a:endParaRP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45181" y="2562436"/>
            <a:ext cx="8997949" cy="35548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0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Лойиҳа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очиқ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танлов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асосида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Европанинг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янги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криптостандартларини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танлаб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олишга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қаратилган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Европа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Комиссияси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Дастурининг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ахборот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технологиялари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жамияти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IST)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доирасидаги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илмий-тадқиқот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лойиҳаси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ҳисобланади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0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Лойиҳа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бир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қатор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илмий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ташкилотлар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жумладан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Леван католик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университети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(Бельгия) –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кординатор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Ecole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Normale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Sup'erieure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Франция),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Royal Holloway, 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Лондон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университети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Буюк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Британия),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Siemens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Aktiengesellschaft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Германия),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Technion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Исроил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технология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институти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Исроил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Лувен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католик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университети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(Бельгия)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Берген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университети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(Норвегия)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томонидан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ташкил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этилган</a:t>
            </a:r>
            <a:endParaRPr lang="uz-Cyrl-UZ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02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74551" y="188640"/>
            <a:ext cx="8997949" cy="513986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200" b="1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Криптоалгоритмларни</a:t>
            </a: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танлаш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қуйидаги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мезонлар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асосида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амалга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оширилган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2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Асосий</a:t>
            </a:r>
            <a:r>
              <a:rPr lang="ru-RU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мезон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алгоритм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хавфсизлиги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узоқ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муддат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давомида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алгоритм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хавфсизлигининг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пасаймаслиги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2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Иккинчи</a:t>
            </a:r>
            <a:r>
              <a:rPr lang="ru-RU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мезон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бозор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талабига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мослиги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фойдаланиш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учун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қулай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содда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шу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билан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бирга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халқаро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миқёсда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ҳам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фойдаланиш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имкониятининг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мавжуд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бўлиши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2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Учинчи</a:t>
            </a:r>
            <a:r>
              <a:rPr lang="ru-RU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мезон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алгоритмнинг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осон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реализация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бўлишлиги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турли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хил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разрядли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платформаларда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амалга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ошириш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имкониятининг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мавжудлиги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2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Тўртинчи</a:t>
            </a:r>
            <a:r>
              <a:rPr lang="ru-RU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мезон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алгоритмнинг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мослашувчанлиги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турли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хил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қурилмаларда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ишлатиш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имкониятининг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мавжудлиги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09538" y="5684765"/>
            <a:ext cx="8856000" cy="9079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Хэш-функция:</a:t>
            </a:r>
            <a:r>
              <a:rPr lang="en-US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Whirlpool</a:t>
            </a:r>
            <a:r>
              <a:rPr lang="uz-Cyrl-UZ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T,SHA-256,SHA-384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SHA-512</a:t>
            </a: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МАС алгоритм:</a:t>
            </a:r>
            <a:r>
              <a:rPr lang="en-US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Two-Track-MKAC,UMAC</a:t>
            </a:r>
            <a:endParaRPr lang="uz-Cyrl-UZ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2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5182" y="722070"/>
            <a:ext cx="8997949" cy="15696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Япония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ҳукумати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томонидан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2000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йилнинг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бошларида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CRYPTREC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Crypt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ography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esearch and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valuation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ommittee;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Криптографик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тадқиқот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баҳолаш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қўмитаси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лойиҳаси</a:t>
            </a:r>
            <a:r>
              <a:rPr lang="ru-RU" sz="2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ташкил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этилди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uz-Cyrl-UZ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Rectangle 148"/>
          <p:cNvSpPr>
            <a:spLocks noChangeArrowheads="1"/>
          </p:cNvSpPr>
          <p:nvPr/>
        </p:nvSpPr>
        <p:spPr bwMode="auto">
          <a:xfrm>
            <a:off x="-508" y="152922"/>
            <a:ext cx="3096000" cy="461665"/>
          </a:xfrm>
          <a:prstGeom prst="rect">
            <a:avLst/>
          </a:prstGeom>
          <a:solidFill>
            <a:schemeClr val="accent3">
              <a:lumMod val="65000"/>
            </a:schemeClr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400" b="1" dirty="0">
                <a:latin typeface="Times New Roman" pitchFamily="18" charset="0"/>
              </a:rPr>
              <a:t>Япония </a:t>
            </a:r>
            <a:r>
              <a:rPr lang="uz-Cyrl-UZ" sz="2400" b="1" dirty="0" smtClean="0">
                <a:latin typeface="Times New Roman" pitchFamily="18" charset="0"/>
              </a:rPr>
              <a:t>тажрибаси</a:t>
            </a:r>
            <a:endParaRPr lang="uz-Cyrl-UZ" sz="2400" b="1" dirty="0">
              <a:latin typeface="Times New Roman" pitchFamily="18" charset="0"/>
            </a:endParaRP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74551" y="2456173"/>
            <a:ext cx="8997949" cy="40626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0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0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Лойиҳанинг</a:t>
            </a:r>
            <a:r>
              <a:rPr lang="ru-RU" sz="20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асосий</a:t>
            </a:r>
            <a:r>
              <a:rPr lang="ru-RU" sz="20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мақсади</a:t>
            </a:r>
            <a:r>
              <a:rPr lang="ru-RU" sz="20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электрон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хукумат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хавфсизлигини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мониторинг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қилиш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криптоалгоритмларни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тадқиқ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қилиш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тадқиқот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натижаларига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мувофиқ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давлат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хусусий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ташкилотларда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фойдаланиш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учун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ишончли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криптоалгоритмларни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тавсия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этиш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endParaRPr lang="ru-R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CRYPTREC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кўплаб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муассасалараро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қўмита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ҳисобланиб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қуйидаги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ташкилотлар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томонидан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ташкил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этилган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ҳомий</a:t>
            </a:r>
            <a:r>
              <a:rPr lang="ru-RU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ташкилотлар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	Япония ИИВ; 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	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Иқтисод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Тижорат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Саноат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вазирлиги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	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Ахборот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коммуникация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технологияси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миллий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институти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	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Ахборот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технологияларини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ривожлантириш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агентлиги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uz-Cyrl-UZ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89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74551" y="1189776"/>
            <a:ext cx="8997949" cy="41549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Лойи</a:t>
            </a:r>
            <a:r>
              <a:rPr lang="uz-Cyrl-UZ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доирасида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05.2000-08.2003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йиллар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оралиғига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мўлжалланган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криптоалгоритмлар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танлови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бўлиб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ўтади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endParaRPr lang="ru-RU" sz="24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4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Танлов</a:t>
            </a:r>
            <a:r>
              <a:rPr lang="ru-RU" sz="24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натижасига</a:t>
            </a:r>
            <a:r>
              <a:rPr lang="ru-RU" sz="24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кўра</a:t>
            </a:r>
            <a:r>
              <a:rPr lang="ru-RU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а) 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 </a:t>
            </a:r>
            <a:r>
              <a:rPr lang="ru-RU" sz="22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алгоритмлар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RSA-OAEP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RSAES-PKCS1-v1_5</a:t>
            </a:r>
            <a:endParaRPr lang="en-US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б) </a:t>
            </a:r>
            <a:r>
              <a:rPr lang="ru-RU" sz="22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Хэш-функциялар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RIPEMD-160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SHA-1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SHA-256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SHA-384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SHA-512</a:t>
            </a:r>
            <a:endParaRPr lang="uz-Cyrl-UZ" sz="22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4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алгоритмлари фойдаланиш учун тавсия этилади.</a:t>
            </a:r>
            <a:endParaRPr lang="en-US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44767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endParaRPr lang="ru-RU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29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Rectangle 148"/>
          <p:cNvSpPr>
            <a:spLocks noChangeArrowheads="1"/>
          </p:cNvSpPr>
          <p:nvPr/>
        </p:nvSpPr>
        <p:spPr bwMode="auto">
          <a:xfrm>
            <a:off x="-508" y="152922"/>
            <a:ext cx="5184576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400" b="1" dirty="0" smtClean="0">
                <a:latin typeface="Times New Roman" pitchFamily="18" charset="0"/>
              </a:rPr>
              <a:t>Россия Федерацияси тажрибаси</a:t>
            </a:r>
            <a:endParaRPr lang="uz-Cyrl-UZ" sz="2400" b="1" dirty="0">
              <a:latin typeface="Times New Roman" pitchFamily="18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85452" y="859392"/>
            <a:ext cx="8969421" cy="3199585"/>
          </a:xfrm>
          <a:prstGeom prst="rect">
            <a:avLst/>
          </a:prstGeom>
          <a:solidFill>
            <a:schemeClr val="bg1"/>
          </a:solidFill>
          <a:ln w="19050">
            <a:solidFill>
              <a:srgbClr val="000099"/>
            </a:solidFill>
            <a:prstDash val="dash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023197740"/>
              </p:ext>
            </p:extLst>
          </p:nvPr>
        </p:nvGraphicFramePr>
        <p:xfrm>
          <a:off x="1259632" y="1103412"/>
          <a:ext cx="6912768" cy="275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619780" y="1734530"/>
            <a:ext cx="1944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ysClr val="windowText" lastClr="000000"/>
                </a:solidFill>
              </a:rPr>
              <a:t>ГОСТ Р 34.11-94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671900" y="878049"/>
            <a:ext cx="2700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ysClr val="windowText" lastClr="000000"/>
                </a:solidFill>
              </a:rPr>
              <a:t>ГОСТ Р </a:t>
            </a:r>
            <a:endParaRPr lang="ru-RU" sz="2400" b="1" dirty="0" smtClean="0">
              <a:solidFill>
                <a:sysClr val="windowText" lastClr="000000"/>
              </a:solidFill>
            </a:endParaRPr>
          </a:p>
          <a:p>
            <a:pPr algn="ctr"/>
            <a:r>
              <a:rPr lang="ru-RU" sz="2400" b="1" dirty="0" smtClean="0">
                <a:solidFill>
                  <a:sysClr val="windowText" lastClr="000000"/>
                </a:solidFill>
              </a:rPr>
              <a:t>34.11-2012 </a:t>
            </a:r>
            <a:endParaRPr lang="ru-RU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24096" y="4600924"/>
            <a:ext cx="8742487" cy="846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ГОСТ Р </a:t>
            </a: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34.11-94: </a:t>
            </a: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ГУБС ФАПСИ</a:t>
            </a:r>
            <a:r>
              <a:rPr lang="en-US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ВНИИС</a:t>
            </a:r>
            <a:r>
              <a:rPr lang="en-US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z-Cyrl-UZ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1994</a:t>
            </a:r>
            <a:r>
              <a:rPr lang="en-US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ГОСТ Р 34.11-2012: 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ФСБ России/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ОАО«ИнфоТеКС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»</a:t>
            </a:r>
            <a:r>
              <a:rPr lang="en-US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z-Cyrl-UZ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2012.</a:t>
            </a:r>
            <a:endParaRPr lang="en-US" sz="22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42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188640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1438" y="308784"/>
            <a:ext cx="8997949" cy="14465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ГОСТ 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 34.11-94 хэш-функция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алгоритми</a:t>
            </a:r>
            <a:r>
              <a:rPr lang="uz-Cyrl-UZ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нинг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назарий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криптобардошлигини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тушуши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ишлаш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тезлигининг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талаб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даражасида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эмаслиги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-US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янги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хэш-функция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стандартини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қабул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қилишга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туртки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бўлди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.</a:t>
            </a:r>
            <a:endParaRPr lang="uz-Cyrl-UZ" sz="2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71438" y="1916832"/>
            <a:ext cx="8997949" cy="14465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uz-Cyrl-UZ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Натижада 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тегишли мутахассислар томонидан </a:t>
            </a:r>
            <a:r>
              <a:rPr lang="uz-Cyrl-UZ" sz="22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«</a:t>
            </a:r>
            <a:r>
              <a:rPr lang="uz-Cyrl-UZ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Стрибог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» деб номланувчи хэш-функция алгоритми ишлаб чиқилди ва 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ГОСТ 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 34.11-94 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стандарти орқали эълон қилинди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.</a:t>
            </a:r>
            <a:endParaRPr lang="uz-Cyrl-UZ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33897" y="3536286"/>
            <a:ext cx="8830591" cy="29392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ru-RU" sz="20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«</a:t>
            </a:r>
            <a:r>
              <a:rPr lang="ru-RU" sz="20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Стрибог</a:t>
            </a:r>
            <a:r>
              <a:rPr lang="ru-RU" sz="20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» </a:t>
            </a:r>
            <a:r>
              <a:rPr lang="ru-RU" sz="20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хэш-функциясини</a:t>
            </a:r>
            <a:r>
              <a:rPr lang="ru-RU" sz="20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20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принципи</a:t>
            </a:r>
            <a:r>
              <a:rPr lang="ru-RU" sz="20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1" indent="-457200" eaLnBrk="0" hangingPunct="0"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  <a:tabLst>
                <a:tab pos="363538" algn="l"/>
              </a:tabLst>
            </a:pP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Мавжуд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хужумларга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бардошли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бўлиш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1" indent="-457200" eaLnBrk="0" hangingPunct="0"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  <a:tabLst>
                <a:tab pos="363538" algn="l"/>
              </a:tabLst>
            </a:pP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Яхши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ўрганилган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схема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акслантиришлардан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фойдаланиш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914400" lvl="1" indent="-457200" eaLnBrk="0" hangingPunct="0"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  <a:tabLst>
                <a:tab pos="363538" algn="l"/>
              </a:tabLst>
            </a:pP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Ҳар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бир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таркибий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элементларининг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аниқ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хусусиятларини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таъминлаш</a:t>
            </a:r>
            <a:r>
              <a:rPr lang="uz-Cyrl-UZ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sz="20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1" indent="-457200" eaLnBrk="0" hangingPunct="0"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  <a:tabLst>
                <a:tab pos="363538" algn="l"/>
              </a:tabLst>
            </a:pP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Таҳлил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реализация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учун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содда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бўлиш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 marL="914400" lvl="1" indent="-457200" eaLnBrk="0" hangingPunct="0"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  <a:tabLst>
                <a:tab pos="363538" algn="l"/>
              </a:tabLst>
            </a:pP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Дастурий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реализацияга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максимал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мослашувчан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бўлиш</a:t>
            </a:r>
            <a:r>
              <a:rPr lang="ru-RU" sz="20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701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116632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1913" y="610324"/>
            <a:ext cx="8997949" cy="280076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Россия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Федерациясининг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“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Ахборотни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криптографик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ҳимоялаш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бўйича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стандартлаштириш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техник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қўмитаси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томонидан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Россия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Федерацияси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Криптография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Академияси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ОАО «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ИнфоТеКС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»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компанияси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билан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биргаликда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21.10.2013 – 05.03.2015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йиллар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оралиғида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ГОСТ Р 34.11-2012 хэш-функция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алгоритми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криптотаҳлили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бўйича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илмий-тадқиқот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ишларининг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очиқ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танлови</a:t>
            </a:r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ru-RU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ўтказилди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uz-Cyrl-UZ" sz="2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75209" y="3573016"/>
            <a:ext cx="8997949" cy="30315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uz-Cyrl-UZ" sz="22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Танловнинг асосий </a:t>
            </a:r>
            <a:r>
              <a:rPr lang="uz-Cyrl-UZ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мақсад ва </a:t>
            </a:r>
            <a:r>
              <a:rPr lang="uz-Cyrl-UZ" sz="22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вазифалари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uz-Cyrl-UZ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	</a:t>
            </a:r>
            <a:r>
              <a:rPr lang="uz-Cyrl-UZ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Россия ва ҳалқаро илмий ҳамжамият эътиборини миллий алгоритмларга жалб қилиш; </a:t>
            </a:r>
          </a:p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  <a:r>
              <a:rPr lang="uz-Cyrl-UZ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Стандарт криптографик </a:t>
            </a:r>
            <a:r>
              <a:rPr lang="uz-Cyrl-UZ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алгоритмларни баҳолашга қаратилган илмий-тадқиқотларни кучайтириш ва рағбатлантириш; </a:t>
            </a:r>
          </a:p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uz-Cyrl-UZ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	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Ахборотни криптографик </a:t>
            </a:r>
            <a:r>
              <a:rPr lang="uz-Cyrl-UZ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ҳимоялаш соҳасидаги миллий ечимларни оммалаштириш ва аҳамиятини ошириш. </a:t>
            </a:r>
          </a:p>
        </p:txBody>
      </p:sp>
      <p:sp>
        <p:nvSpPr>
          <p:cNvPr id="6" name="Rectangle 148"/>
          <p:cNvSpPr>
            <a:spLocks noChangeArrowheads="1"/>
          </p:cNvSpPr>
          <p:nvPr/>
        </p:nvSpPr>
        <p:spPr bwMode="auto">
          <a:xfrm>
            <a:off x="-508" y="204029"/>
            <a:ext cx="1440160" cy="324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200" b="1" dirty="0" smtClean="0">
                <a:latin typeface="Times New Roman" pitchFamily="18" charset="0"/>
              </a:rPr>
              <a:t>Танлов</a:t>
            </a:r>
            <a:endParaRPr lang="uz-Cyrl-UZ" sz="22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66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116632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5496" y="80628"/>
            <a:ext cx="8997949" cy="6696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542925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15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ru-RU" sz="15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Танловда</a:t>
            </a:r>
            <a:r>
              <a:rPr lang="ru-RU" sz="15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иштирок</a:t>
            </a:r>
            <a:r>
              <a:rPr lang="ru-RU" sz="15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этиш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учун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ГОСТ Р 34.11-2012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стандарти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орқали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аниқланувчи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хэш-функция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унинг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турли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модификацияларига</a:t>
            </a:r>
            <a:r>
              <a:rPr lang="ru-RU" sz="15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нисбатан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қуйидаги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масалаларнинг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камида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бирини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ечимига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қаратилган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ишлар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қабул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u="sng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қилинган</a:t>
            </a:r>
            <a:r>
              <a:rPr lang="ru-RU" sz="15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	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Намунавий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preimage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attack</a:t>
            </a:r>
            <a:r>
              <a:rPr lang="en-US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endParaRPr lang="ru-RU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	Коллизия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	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Иккинчи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намунавий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 </a:t>
            </a:r>
            <a:r>
              <a:rPr lang="en-US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preimage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attack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	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Сохта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намунавий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матнни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pseudo-</a:t>
            </a:r>
            <a:r>
              <a:rPr lang="en-US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preimage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attack). </a:t>
            </a:r>
            <a:endParaRPr lang="ru-RU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	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Шартли-эркин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коллизия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collision attack for different IV, semi-free-start collision attack). </a:t>
            </a:r>
            <a:endParaRPr lang="ru-RU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	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Сохта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коллизия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pseudo-collision attack, free-start collision attack). </a:t>
            </a:r>
            <a:endParaRPr lang="ru-RU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7.	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Сохта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иккинчи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намунавий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матнни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 pseudo-</a:t>
            </a:r>
            <a:r>
              <a:rPr lang="en-US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preimage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attack, free-start target attack). </a:t>
            </a:r>
            <a:endParaRPr lang="uz-Cyrl-UZ" sz="15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	Мульти-коллизия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ru-RU" sz="15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</a:tabLst>
            </a:pP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9.	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Намунавий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мульти-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  <a:tab pos="714375" algn="l"/>
              </a:tabLst>
            </a:pP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	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Иккинчи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намунавий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мульти-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  <a:tab pos="714375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11.	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Деярли-намунавий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  <a:tab pos="714375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12.	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Деярли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-коллизия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near collision-attack). </a:t>
            </a:r>
            <a:endParaRPr lang="ru-RU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  <a:tab pos="714375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13.	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Иккинчи-деярли-намунавий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  <a:tab pos="714375" algn="l"/>
              </a:tabLst>
            </a:pP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14.	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Маълумотни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кенгайтириш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length-extension attack)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аввалдан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белгиланган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тегишли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қийматлар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асосида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намунавий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матнни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chosen target force prefix, CTFP, Nostradamus attack</a:t>
            </a:r>
            <a:r>
              <a:rPr lang="en-US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endParaRPr lang="en-US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361950"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  <a:tab pos="628650" algn="l"/>
                <a:tab pos="714375" algn="l"/>
              </a:tabLst>
            </a:pP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15.	</a:t>
            </a:r>
            <a:r>
              <a:rPr lang="ru-RU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Фарқлаш</a:t>
            </a:r>
            <a:r>
              <a:rPr lang="ru-RU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алгоритмини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қуриш</a:t>
            </a:r>
            <a:r>
              <a:rPr lang="ru-RU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distinguishing attack</a:t>
            </a:r>
            <a:r>
              <a:rPr lang="en-US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endParaRPr lang="uz-Cyrl-UZ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2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71438" y="1161080"/>
            <a:ext cx="8893050" cy="29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65634" y="1787303"/>
            <a:ext cx="20880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1-бос</a:t>
            </a:r>
            <a:r>
              <a:rPr lang="uz-Cyrl-UZ" sz="2000" b="1" dirty="0" smtClean="0">
                <a:solidFill>
                  <a:schemeClr val="tx1"/>
                </a:solidFill>
              </a:rPr>
              <a:t>қ</a:t>
            </a:r>
            <a:r>
              <a:rPr lang="ru-RU" sz="2000" b="1" dirty="0" err="1" smtClean="0">
                <a:solidFill>
                  <a:schemeClr val="tx1"/>
                </a:solidFill>
              </a:rPr>
              <a:t>ич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329544" y="1124744"/>
            <a:ext cx="6156684" cy="457200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000099"/>
                </a:solidFill>
              </a:rPr>
              <a:t>«</a:t>
            </a:r>
            <a:r>
              <a:rPr lang="ru-RU" b="1" dirty="0" err="1" smtClean="0">
                <a:solidFill>
                  <a:srgbClr val="000099"/>
                </a:solidFill>
              </a:rPr>
              <a:t>Танлов</a:t>
            </a:r>
            <a:r>
              <a:rPr lang="ru-RU" b="1" dirty="0" smtClean="0">
                <a:solidFill>
                  <a:srgbClr val="000099"/>
                </a:solidFill>
              </a:rPr>
              <a:t> </a:t>
            </a:r>
            <a:r>
              <a:rPr lang="ru-RU" b="1" dirty="0" err="1" smtClean="0">
                <a:solidFill>
                  <a:srgbClr val="000099"/>
                </a:solidFill>
              </a:rPr>
              <a:t>жараёни</a:t>
            </a:r>
            <a:r>
              <a:rPr lang="ru-RU" b="1" dirty="0" smtClean="0">
                <a:solidFill>
                  <a:srgbClr val="000099"/>
                </a:solidFill>
              </a:rPr>
              <a:t>»</a:t>
            </a:r>
            <a:endParaRPr lang="ru-RU" b="1" dirty="0">
              <a:solidFill>
                <a:srgbClr val="000099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80170" y="2257065"/>
            <a:ext cx="1872000" cy="9144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solidFill>
                  <a:schemeClr val="tx1"/>
                </a:solidFill>
              </a:rPr>
              <a:t>21.11</a:t>
            </a:r>
            <a:r>
              <a:rPr lang="ru-RU" dirty="0" smtClean="0">
                <a:solidFill>
                  <a:schemeClr val="tx1"/>
                </a:solidFill>
              </a:rPr>
              <a:t>.2013-30.04.2014 </a:t>
            </a:r>
            <a:r>
              <a:rPr lang="ru-RU" dirty="0" err="1" smtClean="0">
                <a:solidFill>
                  <a:schemeClr val="tx1"/>
                </a:solidFill>
              </a:rPr>
              <a:t>й.й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stCxn id="9" idx="3"/>
          </p:cNvCxnSpPr>
          <p:nvPr/>
        </p:nvCxnSpPr>
        <p:spPr>
          <a:xfrm>
            <a:off x="2353634" y="2057303"/>
            <a:ext cx="1764000" cy="768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>
            <a:off x="2252170" y="3000015"/>
            <a:ext cx="1692000" cy="768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4149178" y="1800391"/>
            <a:ext cx="20880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2-бос</a:t>
            </a:r>
            <a:r>
              <a:rPr lang="uz-Cyrl-UZ" sz="2000" b="1" dirty="0" smtClean="0">
                <a:solidFill>
                  <a:schemeClr val="tx1"/>
                </a:solidFill>
              </a:rPr>
              <a:t>қ</a:t>
            </a:r>
            <a:r>
              <a:rPr lang="ru-RU" sz="2000" b="1" dirty="0" err="1" smtClean="0">
                <a:solidFill>
                  <a:schemeClr val="tx1"/>
                </a:solidFill>
              </a:rPr>
              <a:t>ич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4263714" y="2270153"/>
            <a:ext cx="1872000" cy="9144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solidFill>
                  <a:schemeClr val="tx1"/>
                </a:solidFill>
              </a:rPr>
              <a:t>01.05</a:t>
            </a:r>
            <a:r>
              <a:rPr lang="ru-RU" dirty="0" smtClean="0">
                <a:solidFill>
                  <a:schemeClr val="tx1"/>
                </a:solidFill>
              </a:rPr>
              <a:t>.2014-05.03.2015 </a:t>
            </a:r>
            <a:r>
              <a:rPr lang="ru-RU" dirty="0" err="1" smtClean="0">
                <a:solidFill>
                  <a:schemeClr val="tx1"/>
                </a:solidFill>
              </a:rPr>
              <a:t>й.й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2106083" y="2673871"/>
            <a:ext cx="1872000" cy="62636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solidFill>
                  <a:srgbClr val="C00000"/>
                </a:solidFill>
              </a:rPr>
              <a:t>70 000 рубл</a:t>
            </a:r>
          </a:p>
          <a:p>
            <a:pPr algn="ctr"/>
            <a:endParaRPr lang="uz-Cyrl-UZ" sz="800" dirty="0" smtClean="0">
              <a:solidFill>
                <a:srgbClr val="C00000"/>
              </a:solidFill>
            </a:endParaRPr>
          </a:p>
          <a:p>
            <a:pPr algn="ctr"/>
            <a:r>
              <a:rPr lang="uz-Cyrl-UZ" dirty="0" smtClean="0">
                <a:solidFill>
                  <a:srgbClr val="C00000"/>
                </a:solidFill>
              </a:rPr>
              <a:t>мукофот</a:t>
            </a:r>
            <a:endParaRPr lang="ru-RU" dirty="0">
              <a:solidFill>
                <a:srgbClr val="C00000"/>
              </a:solidFill>
            </a:endParaRPr>
          </a:p>
        </p:txBody>
      </p:sp>
      <p:cxnSp>
        <p:nvCxnSpPr>
          <p:cNvPr id="31" name="Прямая со стрелкой 30"/>
          <p:cNvCxnSpPr/>
          <p:nvPr/>
        </p:nvCxnSpPr>
        <p:spPr>
          <a:xfrm>
            <a:off x="6197701" y="2615953"/>
            <a:ext cx="1692000" cy="768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6190372" y="2660876"/>
            <a:ext cx="2736000" cy="132343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uz-Cyrl-UZ" dirty="0" smtClean="0">
                <a:solidFill>
                  <a:schemeClr val="tx1"/>
                </a:solidFill>
              </a:rPr>
              <a:t>1-ўрин:</a:t>
            </a:r>
            <a:r>
              <a:rPr lang="uz-Cyrl-UZ" dirty="0" smtClean="0">
                <a:solidFill>
                  <a:srgbClr val="C00000"/>
                </a:solidFill>
              </a:rPr>
              <a:t>500 000 рубл</a:t>
            </a:r>
          </a:p>
          <a:p>
            <a:pPr algn="ctr"/>
            <a:r>
              <a:rPr lang="uz-Cyrl-UZ" dirty="0" smtClean="0">
                <a:solidFill>
                  <a:schemeClr val="tx1"/>
                </a:solidFill>
              </a:rPr>
              <a:t>2-ўрин:</a:t>
            </a:r>
            <a:r>
              <a:rPr lang="uz-Cyrl-UZ" dirty="0" smtClean="0">
                <a:solidFill>
                  <a:srgbClr val="C00000"/>
                </a:solidFill>
              </a:rPr>
              <a:t>300 </a:t>
            </a:r>
            <a:r>
              <a:rPr lang="uz-Cyrl-UZ" dirty="0">
                <a:solidFill>
                  <a:srgbClr val="C00000"/>
                </a:solidFill>
              </a:rPr>
              <a:t>000 </a:t>
            </a:r>
            <a:r>
              <a:rPr lang="uz-Cyrl-UZ" dirty="0" smtClean="0">
                <a:solidFill>
                  <a:srgbClr val="C00000"/>
                </a:solidFill>
              </a:rPr>
              <a:t>рубл</a:t>
            </a:r>
          </a:p>
          <a:p>
            <a:pPr algn="ctr"/>
            <a:r>
              <a:rPr lang="uz-Cyrl-UZ" dirty="0" smtClean="0">
                <a:solidFill>
                  <a:schemeClr val="tx1"/>
                </a:solidFill>
              </a:rPr>
              <a:t>3-ўрин:</a:t>
            </a:r>
            <a:r>
              <a:rPr lang="uz-Cyrl-UZ" dirty="0" smtClean="0">
                <a:solidFill>
                  <a:srgbClr val="C00000"/>
                </a:solidFill>
              </a:rPr>
              <a:t>150 </a:t>
            </a:r>
            <a:r>
              <a:rPr lang="uz-Cyrl-UZ" dirty="0">
                <a:solidFill>
                  <a:srgbClr val="C00000"/>
                </a:solidFill>
              </a:rPr>
              <a:t>000 </a:t>
            </a:r>
            <a:r>
              <a:rPr lang="uz-Cyrl-UZ" dirty="0" smtClean="0">
                <a:solidFill>
                  <a:srgbClr val="C00000"/>
                </a:solidFill>
              </a:rPr>
              <a:t>рубл</a:t>
            </a:r>
          </a:p>
          <a:p>
            <a:pPr algn="ctr"/>
            <a:endParaRPr lang="uz-Cyrl-UZ" sz="800" dirty="0" smtClean="0">
              <a:solidFill>
                <a:srgbClr val="C00000"/>
              </a:solidFill>
            </a:endParaRPr>
          </a:p>
          <a:p>
            <a:pPr algn="ctr"/>
            <a:r>
              <a:rPr lang="uz-Cyrl-UZ" dirty="0" smtClean="0">
                <a:solidFill>
                  <a:srgbClr val="C00000"/>
                </a:solidFill>
              </a:rPr>
              <a:t>мукофот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3" name="Line 16"/>
          <p:cNvSpPr>
            <a:spLocks noChangeShapeType="1"/>
          </p:cNvSpPr>
          <p:nvPr/>
        </p:nvSpPr>
        <p:spPr bwMode="auto">
          <a:xfrm>
            <a:off x="79375" y="6748797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Rectangle 148"/>
          <p:cNvSpPr>
            <a:spLocks noChangeArrowheads="1"/>
          </p:cNvSpPr>
          <p:nvPr/>
        </p:nvSpPr>
        <p:spPr bwMode="auto">
          <a:xfrm>
            <a:off x="-508" y="116684"/>
            <a:ext cx="3672000" cy="4680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400" b="1" dirty="0" smtClean="0">
                <a:latin typeface="Times New Roman" pitchFamily="18" charset="0"/>
              </a:rPr>
              <a:t>Ўзбекистон мисолида</a:t>
            </a:r>
            <a:endParaRPr lang="uz-Cyrl-UZ" sz="2400" b="1" dirty="0">
              <a:latin typeface="Times New Roman" pitchFamily="18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85452" y="697467"/>
            <a:ext cx="8969421" cy="3343601"/>
          </a:xfrm>
          <a:prstGeom prst="rect">
            <a:avLst/>
          </a:prstGeom>
          <a:solidFill>
            <a:schemeClr val="bg1"/>
          </a:solidFill>
          <a:ln w="19050">
            <a:solidFill>
              <a:srgbClr val="000099"/>
            </a:solidFill>
            <a:prstDash val="dash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531813" algn="just" eaLnBrk="0" hangingPunct="0">
              <a:buClr>
                <a:schemeClr val="accent2"/>
              </a:buClr>
            </a:pPr>
            <a:endParaRPr lang="uz-Cyrl-UZ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277138676"/>
              </p:ext>
            </p:extLst>
          </p:nvPr>
        </p:nvGraphicFramePr>
        <p:xfrm>
          <a:off x="323528" y="818530"/>
          <a:ext cx="8568952" cy="3114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899592" y="1952836"/>
            <a:ext cx="1764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ysClr val="windowText" lastClr="000000"/>
                </a:solidFill>
              </a:rPr>
              <a:t>O’zDSt</a:t>
            </a:r>
            <a:r>
              <a:rPr lang="en-US" sz="1600" b="1" dirty="0">
                <a:solidFill>
                  <a:sysClr val="windowText" lastClr="000000"/>
                </a:solidFill>
              </a:rPr>
              <a:t> 1106:2005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99169" y="4147336"/>
            <a:ext cx="8742487" cy="12618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O’zDSt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1106:2005</a:t>
            </a: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ЦНТМИ</a:t>
            </a:r>
            <a:r>
              <a:rPr lang="en-US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2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O’zDSt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1106:200</a:t>
            </a:r>
            <a:r>
              <a:rPr lang="uz-Cyrl-UZ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ЦНТМИ</a:t>
            </a:r>
            <a:r>
              <a:rPr lang="en-US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2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200" b="1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O’zDSt</a:t>
            </a:r>
            <a:r>
              <a:rPr lang="en-US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1106:200</a:t>
            </a:r>
            <a:r>
              <a:rPr lang="uz-Cyrl-UZ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«UNICON.UZ</a:t>
            </a:r>
            <a:r>
              <a:rPr lang="en-US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»</a:t>
            </a:r>
            <a:r>
              <a:rPr lang="ru-RU" sz="22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uz-Cyrl-UZ" sz="2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483768" y="1196752"/>
            <a:ext cx="1764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O’zDSt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smtClean="0">
                <a:solidFill>
                  <a:sysClr val="windowText" lastClr="000000"/>
                </a:solidFill>
              </a:rPr>
              <a:t>1106:200</a:t>
            </a:r>
            <a:r>
              <a:rPr lang="uz-Cyrl-UZ" b="1" dirty="0" smtClean="0">
                <a:solidFill>
                  <a:sysClr val="windowText" lastClr="000000"/>
                </a:solidFill>
              </a:rPr>
              <a:t>6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535996" y="584684"/>
            <a:ext cx="1764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ysClr val="windowText" lastClr="000000"/>
                </a:solidFill>
              </a:rPr>
              <a:t>O’zDSt</a:t>
            </a:r>
            <a:r>
              <a:rPr lang="en-US" sz="2000" b="1" dirty="0">
                <a:solidFill>
                  <a:sysClr val="windowText" lastClr="000000"/>
                </a:solidFill>
              </a:rPr>
              <a:t> </a:t>
            </a:r>
            <a:r>
              <a:rPr lang="en-US" sz="2000" b="1" dirty="0" smtClean="0">
                <a:solidFill>
                  <a:sysClr val="windowText" lastClr="000000"/>
                </a:solidFill>
              </a:rPr>
              <a:t>1106:200</a:t>
            </a:r>
            <a:r>
              <a:rPr lang="uz-Cyrl-UZ" sz="2000" b="1" dirty="0" smtClean="0">
                <a:solidFill>
                  <a:sysClr val="windowText" lastClr="000000"/>
                </a:solidFill>
              </a:rPr>
              <a:t>9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88316" y="5481228"/>
            <a:ext cx="8742487" cy="12618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363538" algn="l"/>
              </a:tabLst>
            </a:pPr>
            <a:r>
              <a:rPr lang="en-US" sz="2200" b="1" u="sng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O’zDSt</a:t>
            </a:r>
            <a:r>
              <a:rPr lang="en-US" sz="2200" b="1" u="sng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1106:200</a:t>
            </a:r>
            <a:r>
              <a:rPr lang="uz-Cyrl-UZ" sz="2200" b="1" u="sng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ru-RU" sz="2200" b="1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266700" algn="l"/>
              </a:tabLst>
            </a:pP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1-алгоритм: </a:t>
            </a:r>
            <a:r>
              <a:rPr lang="ru-RU" sz="22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Махфий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бўлмаган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2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200" dirty="0" smtClean="0">
              <a:solidFill>
                <a:srgbClr val="0000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0" hangingPunct="0">
              <a:spcAft>
                <a:spcPts val="600"/>
              </a:spcAft>
              <a:buClr>
                <a:schemeClr val="accent2"/>
              </a:buClr>
              <a:tabLst>
                <a:tab pos="266700" algn="l"/>
              </a:tabLst>
            </a:pP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-алгоритм: Дав</a:t>
            </a:r>
            <a:r>
              <a:rPr lang="uz-Cyrl-UZ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лат сири 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(ГОСТ </a:t>
            </a:r>
            <a:r>
              <a:rPr lang="ru-R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 </a:t>
            </a:r>
            <a:r>
              <a:rPr lang="ru-RU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34.11-94)</a:t>
            </a:r>
            <a:r>
              <a:rPr lang="en-US" sz="22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uz-Cyrl-UZ" sz="2200" dirty="0">
              <a:solidFill>
                <a:srgbClr val="0000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23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80480" y="405236"/>
            <a:ext cx="8712000" cy="5940088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indent="542925" algn="just"/>
            <a:r>
              <a:rPr lang="ru-RU" sz="2000" b="1" dirty="0" smtClean="0">
                <a:solidFill>
                  <a:srgbClr val="C00000"/>
                </a:solidFill>
              </a:rPr>
              <a:t>!!!</a:t>
            </a:r>
            <a:r>
              <a:rPr lang="ru-RU" sz="2000" b="1" dirty="0" err="1" smtClean="0">
                <a:solidFill>
                  <a:srgbClr val="C00000"/>
                </a:solidFill>
              </a:rPr>
              <a:t>Хулоса</a:t>
            </a:r>
            <a:r>
              <a:rPr lang="ru-RU" sz="2000" dirty="0">
                <a:solidFill>
                  <a:schemeClr val="tx1"/>
                </a:solidFill>
              </a:rPr>
              <a:t>. </a:t>
            </a:r>
            <a:r>
              <a:rPr lang="ru-RU" sz="2000" dirty="0" err="1">
                <a:solidFill>
                  <a:schemeClr val="tx1"/>
                </a:solidFill>
              </a:rPr>
              <a:t>Сўнги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вақтларда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илмий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ҳамжамиятда</a:t>
            </a:r>
            <a:r>
              <a:rPr lang="ru-RU" sz="2000" dirty="0">
                <a:solidFill>
                  <a:schemeClr val="tx1"/>
                </a:solidFill>
              </a:rPr>
              <a:t> хэш-функция </a:t>
            </a:r>
            <a:r>
              <a:rPr lang="ru-RU" sz="2000" dirty="0" err="1">
                <a:solidFill>
                  <a:schemeClr val="tx1"/>
                </a:solidFill>
              </a:rPr>
              <a:t>алгоритмларини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лойиҳалаш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ва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таҳлил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қилишга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бўлган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эътиборнинг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янада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ўсиши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кузатилмоқда</a:t>
            </a:r>
            <a:r>
              <a:rPr lang="ru-RU" sz="2000" dirty="0">
                <a:solidFill>
                  <a:schemeClr val="tx1"/>
                </a:solidFill>
              </a:rPr>
              <a:t>. Ушбу </a:t>
            </a:r>
            <a:r>
              <a:rPr lang="ru-RU" sz="2000" dirty="0" err="1">
                <a:solidFill>
                  <a:schemeClr val="tx1"/>
                </a:solidFill>
              </a:rPr>
              <a:t>ҳолатни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ҳалқаро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миқёсдаги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конференцияларга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тақдим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этилувчи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хэш-функцияга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бағишланган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мақолалар</a:t>
            </a:r>
            <a:r>
              <a:rPr lang="ru-RU" sz="2000" dirty="0">
                <a:solidFill>
                  <a:schemeClr val="tx1"/>
                </a:solidFill>
              </a:rPr>
              <a:t> сони </a:t>
            </a:r>
            <a:r>
              <a:rPr lang="ru-RU" sz="2000" dirty="0" err="1">
                <a:solidFill>
                  <a:schemeClr val="tx1"/>
                </a:solidFill>
              </a:rPr>
              <a:t>ва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олиб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борилаётган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очиқ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танловлар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илмий-даражасини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ортиши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билан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асослаш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мумкин</a:t>
            </a:r>
            <a:r>
              <a:rPr lang="ru-RU" sz="2000" dirty="0">
                <a:solidFill>
                  <a:schemeClr val="tx1"/>
                </a:solidFill>
              </a:rPr>
              <a:t>. </a:t>
            </a:r>
            <a:r>
              <a:rPr lang="ru-RU" sz="2000" dirty="0" err="1">
                <a:solidFill>
                  <a:schemeClr val="tx1"/>
                </a:solidFill>
              </a:rPr>
              <a:t>Таҳлил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объекти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бирор</a:t>
            </a:r>
            <a:r>
              <a:rPr lang="ru-RU" sz="2000" dirty="0">
                <a:solidFill>
                  <a:schemeClr val="tx1"/>
                </a:solidFill>
              </a:rPr>
              <a:t> “хэш-функция” </a:t>
            </a:r>
            <a:r>
              <a:rPr lang="ru-RU" sz="2000" dirty="0" err="1">
                <a:solidFill>
                  <a:schemeClr val="tx1"/>
                </a:solidFill>
              </a:rPr>
              <a:t>бўлган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ва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турли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мақсадларга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қаратилган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илмий-тадқиқотлар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доирасида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мавжуд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хэш-функцияларни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таҳлил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қилиш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билан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бирга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янги</a:t>
            </a:r>
            <a:r>
              <a:rPr lang="ru-RU" sz="2000" dirty="0">
                <a:solidFill>
                  <a:schemeClr val="tx1"/>
                </a:solidFill>
              </a:rPr>
              <a:t> хэш-функция </a:t>
            </a:r>
            <a:r>
              <a:rPr lang="ru-RU" sz="2000" dirty="0" err="1">
                <a:solidFill>
                  <a:schemeClr val="tx1"/>
                </a:solidFill>
              </a:rPr>
              <a:t>алгоритмлари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ru-RU" sz="2000" dirty="0" err="1">
                <a:solidFill>
                  <a:schemeClr val="tx1"/>
                </a:solidFill>
              </a:rPr>
              <a:t>шунингдек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самарали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бўлган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криптотаҳлил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усуллари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ҳам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таклиф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этилмоқда</a:t>
            </a:r>
            <a:r>
              <a:rPr lang="ru-RU" sz="2000" dirty="0">
                <a:solidFill>
                  <a:schemeClr val="tx1"/>
                </a:solidFill>
              </a:rPr>
              <a:t>. </a:t>
            </a:r>
            <a:r>
              <a:rPr lang="ru-RU" sz="2000" dirty="0" err="1">
                <a:solidFill>
                  <a:schemeClr val="tx1"/>
                </a:solidFill>
              </a:rPr>
              <a:t>Юқоридаги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натижалар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шуни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кўрсатадики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ru-RU" sz="2000" dirty="0" err="1">
                <a:solidFill>
                  <a:schemeClr val="tx1"/>
                </a:solidFill>
              </a:rPr>
              <a:t>самарали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криптотаҳлил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усулининг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ишлаб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чиқилиши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мавжуд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хэш-функциялар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амалий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криптобардошлигининг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ўзгаришсиз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сақлаб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қолинишига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шубҳа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уйғотади</a:t>
            </a:r>
            <a:r>
              <a:rPr lang="ru-RU" sz="2000" dirty="0">
                <a:solidFill>
                  <a:schemeClr val="tx1"/>
                </a:solidFill>
              </a:rPr>
              <a:t>. </a:t>
            </a:r>
            <a:r>
              <a:rPr lang="ru-RU" sz="2000" dirty="0" err="1">
                <a:solidFill>
                  <a:schemeClr val="tx1"/>
                </a:solidFill>
              </a:rPr>
              <a:t>Бу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эса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ru-RU" sz="2000" b="1" dirty="0" err="1">
                <a:solidFill>
                  <a:schemeClr val="tx1"/>
                </a:solidFill>
              </a:rPr>
              <a:t>амалда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фойдаланиб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келинаётган</a:t>
            </a:r>
            <a:r>
              <a:rPr lang="ru-RU" sz="2000" b="1" dirty="0">
                <a:solidFill>
                  <a:schemeClr val="tx1"/>
                </a:solidFill>
              </a:rPr>
              <a:t> стандарт хэш-функция </a:t>
            </a:r>
            <a:r>
              <a:rPr lang="ru-RU" sz="2000" b="1" dirty="0" err="1">
                <a:solidFill>
                  <a:schemeClr val="tx1"/>
                </a:solidFill>
              </a:rPr>
              <a:t>алгоритмларини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маълум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вақт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оралиқларида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янги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турдаги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ҳужум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усулларига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баҳолаб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бориш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 smtClean="0">
                <a:solidFill>
                  <a:schemeClr val="tx1"/>
                </a:solidFill>
              </a:rPr>
              <a:t>ёки</a:t>
            </a:r>
            <a:r>
              <a:rPr lang="ru-RU" sz="2000" b="1" dirty="0" smtClean="0">
                <a:solidFill>
                  <a:schemeClr val="tx1"/>
                </a:solidFill>
              </a:rPr>
              <a:t> </a:t>
            </a:r>
            <a:r>
              <a:rPr lang="ru-RU" sz="2000" b="1" dirty="0" err="1" smtClean="0">
                <a:solidFill>
                  <a:schemeClr val="tx1"/>
                </a:solidFill>
              </a:rPr>
              <a:t>янги</a:t>
            </a:r>
            <a:r>
              <a:rPr lang="ru-RU" sz="2000" b="1" dirty="0" smtClean="0">
                <a:solidFill>
                  <a:schemeClr val="tx1"/>
                </a:solidFill>
              </a:rPr>
              <a:t> </a:t>
            </a:r>
            <a:r>
              <a:rPr lang="ru-RU" sz="2000" b="1" dirty="0" err="1" smtClean="0">
                <a:solidFill>
                  <a:schemeClr val="tx1"/>
                </a:solidFill>
              </a:rPr>
              <a:t>талаблар</a:t>
            </a:r>
            <a:r>
              <a:rPr lang="ru-RU" sz="2000" b="1" dirty="0" smtClean="0">
                <a:solidFill>
                  <a:schemeClr val="tx1"/>
                </a:solidFill>
              </a:rPr>
              <a:t> </a:t>
            </a:r>
            <a:r>
              <a:rPr lang="ru-RU" sz="2000" b="1" dirty="0" err="1" smtClean="0">
                <a:solidFill>
                  <a:schemeClr val="tx1"/>
                </a:solidFill>
              </a:rPr>
              <a:t>асосида</a:t>
            </a:r>
            <a:r>
              <a:rPr lang="ru-RU" sz="2000" b="1" dirty="0" smtClean="0">
                <a:solidFill>
                  <a:schemeClr val="tx1"/>
                </a:solidFill>
              </a:rPr>
              <a:t> алгоритм </a:t>
            </a:r>
            <a:r>
              <a:rPr lang="ru-RU" sz="2000" b="1" dirty="0" err="1" smtClean="0">
                <a:solidFill>
                  <a:schemeClr val="tx1"/>
                </a:solidFill>
              </a:rPr>
              <a:t>яратиш</a:t>
            </a:r>
            <a:r>
              <a:rPr lang="ru-RU" sz="2000" b="1" dirty="0" smtClean="0">
                <a:solidFill>
                  <a:schemeClr val="tx1"/>
                </a:solidFill>
              </a:rPr>
              <a:t> </a:t>
            </a:r>
            <a:r>
              <a:rPr lang="ru-RU" sz="2000" b="1" dirty="0" err="1" smtClean="0">
                <a:solidFill>
                  <a:schemeClr val="tx1"/>
                </a:solidFill>
              </a:rPr>
              <a:t>муҳим</a:t>
            </a:r>
            <a:r>
              <a:rPr lang="ru-RU" sz="2000" b="1" dirty="0" smtClean="0">
                <a:solidFill>
                  <a:schemeClr val="tx1"/>
                </a:solidFill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</a:rPr>
              <a:t>эканлигини</a:t>
            </a:r>
            <a:r>
              <a:rPr lang="ru-RU" sz="2000" dirty="0" smtClean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кўрсатади</a:t>
            </a:r>
            <a:r>
              <a:rPr lang="ru-RU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3" name="Line 16"/>
          <p:cNvSpPr>
            <a:spLocks noChangeShapeType="1"/>
          </p:cNvSpPr>
          <p:nvPr/>
        </p:nvSpPr>
        <p:spPr bwMode="auto">
          <a:xfrm>
            <a:off x="79375" y="6748797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97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0" y="981075"/>
            <a:ext cx="9144000" cy="549275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/>
            <a:r>
              <a:rPr lang="uz-Cyrl-UZ" sz="2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uz-Cyrl-UZ" sz="3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</a:rPr>
              <a:t>Маъруза тамом</a:t>
            </a:r>
          </a:p>
        </p:txBody>
      </p:sp>
      <p:sp>
        <p:nvSpPr>
          <p:cNvPr id="6" name="Text Box 58"/>
          <p:cNvSpPr txBox="1">
            <a:spLocks noChangeArrowheads="1"/>
          </p:cNvSpPr>
          <p:nvPr/>
        </p:nvSpPr>
        <p:spPr bwMode="auto">
          <a:xfrm>
            <a:off x="-8545" y="6597585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 (РТ ва АТМ)                                        29 октябрь  2015 йил                                                                   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24 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/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24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71500" y="1855277"/>
            <a:ext cx="5616624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2800" dirty="0" smtClean="0">
                <a:latin typeface="Times New Roman" pitchFamily="18" charset="0"/>
              </a:rPr>
              <a:t>Эътиборингиз учун рахмат</a:t>
            </a:r>
            <a:endParaRPr lang="uz-Cyrl-UZ" sz="32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5748</TotalTime>
  <Words>1209</Words>
  <Application>Microsoft Office PowerPoint</Application>
  <PresentationFormat>Экран (4:3)</PresentationFormat>
  <Paragraphs>184</Paragraphs>
  <Slides>24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Профиль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asb2602</cp:lastModifiedBy>
  <cp:revision>874</cp:revision>
  <cp:lastPrinted>2014-04-25T14:19:32Z</cp:lastPrinted>
  <dcterms:created xsi:type="dcterms:W3CDTF">2010-10-01T16:11:11Z</dcterms:created>
  <dcterms:modified xsi:type="dcterms:W3CDTF">2015-10-29T08:03:57Z</dcterms:modified>
</cp:coreProperties>
</file>