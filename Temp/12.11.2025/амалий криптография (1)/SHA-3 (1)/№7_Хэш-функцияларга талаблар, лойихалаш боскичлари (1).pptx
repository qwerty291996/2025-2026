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sldIdLst>
    <p:sldId id="256" r:id="rId2"/>
    <p:sldId id="264" r:id="rId3"/>
    <p:sldId id="284" r:id="rId4"/>
    <p:sldId id="289" r:id="rId5"/>
    <p:sldId id="292" r:id="rId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Средний стиль 1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73" autoAdjust="0"/>
    <p:restoredTop sz="94660"/>
  </p:normalViewPr>
  <p:slideViewPr>
    <p:cSldViewPr>
      <p:cViewPr varScale="1">
        <p:scale>
          <a:sx n="107" d="100"/>
          <a:sy n="107" d="100"/>
        </p:scale>
        <p:origin x="-18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CDCDB5C0-4403-4A25-A4E1-30E0EE6CD811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D3E4F403-D027-4523-856E-8F275ACB31CE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59691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0B8731-032B-4954-825B-3EE842A7D40B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C7E1B-1098-4D7E-AFDF-170C59C9A75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2827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A1B145-B888-4DBE-B23D-6D2C3CDC2E9E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D94C5-08CF-4D66-9193-E69D1F726A5F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7475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FE32E-06F6-4EAC-90EE-A93B17209068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E527A-C766-4B5F-8C9B-9A4AAECE9AC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738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FDD2F-EC39-4EAF-967F-7AADFA4742AD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0444A-C980-4AC4-A536-F49397FD5BB7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2367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AD9109-B877-4897-A3DC-7AC947B00D2A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34A71-F0C1-4EF1-B120-8344472D9C27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A5325-532F-4B35-94FB-B7DC7B960DEF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84B29-FDAB-4F2D-B904-6A85493E34AF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24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9E7D38-A74D-48DB-BACC-49416E40B931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FAA3A-91BB-42C4-AAB5-25B76736362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736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BDE10-B1C9-4756-BED0-C3E194919B3A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C4B83-22A5-455B-988F-D93D46D1734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804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6A3EA-40CC-43B9-97DD-1CA2BE83630C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BB6A9B-CBB3-4918-B207-74917385711F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473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1261F-27C8-4858-840C-C8A484EFBEE4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5364A-7F72-428F-ABB3-75B540B06D47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67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5B09B-65D5-433C-B929-499B1DE50C77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24E8E-4A0E-4BA9-AF20-19A0ADD549C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296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9D06966-C9B1-4BFD-8B28-AD6A29C7CCA7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F5266C-34C7-4F6E-B644-A6A1D5440C9F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381000" y="228600"/>
            <a:ext cx="8534400" cy="64008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219200" y="457200"/>
            <a:ext cx="6934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rgbClr val="000000"/>
                </a:solidFill>
                <a:latin typeface="Times New Roman" pitchFamily="18" charset="0"/>
              </a:rPr>
              <a:t>Радиоэлектрон тизимлар ва ахборот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</a:rPr>
              <a:t>т</a:t>
            </a:r>
            <a:r>
              <a:rPr lang="uz-Cyrl-UZ" b="1" dirty="0">
                <a:solidFill>
                  <a:srgbClr val="000000"/>
                </a:solidFill>
                <a:latin typeface="Times New Roman" pitchFamily="18" charset="0"/>
              </a:rPr>
              <a:t>ехнологиялари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</a:rPr>
              <a:t>м</a:t>
            </a:r>
            <a:r>
              <a:rPr lang="uz-Cyrl-UZ" b="1" dirty="0">
                <a:solidFill>
                  <a:srgbClr val="000000"/>
                </a:solidFill>
                <a:latin typeface="Times New Roman" pitchFamily="18" charset="0"/>
              </a:rPr>
              <a:t>аркази </a:t>
            </a:r>
            <a:endParaRPr lang="ru-RU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14400" y="2420888"/>
            <a:ext cx="73152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dashDot"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Хэш-функция</a:t>
            </a:r>
            <a:r>
              <a:rPr lang="uz-Cyrl-UZ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ларни яратишга қўйилган талаблар ва уларни лойиҳалаш босқичлари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Box 154"/>
          <p:cNvSpPr txBox="1">
            <a:spLocks noChangeArrowheads="1"/>
          </p:cNvSpPr>
          <p:nvPr/>
        </p:nvSpPr>
        <p:spPr bwMode="auto">
          <a:xfrm>
            <a:off x="3707904" y="6156012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Тошкент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- 20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19</a:t>
            </a:r>
            <a:endParaRPr lang="ru-RU" b="1" dirty="0">
              <a:solidFill>
                <a:srgbClr val="3B007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Яратиш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бўйича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қўйилган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умумий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талаблар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1000" y="1295400"/>
            <a:ext cx="8534400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0850" y="1408113"/>
            <a:ext cx="8172450" cy="202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indent="431800" algn="just"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uz-Cyrl-UZ" sz="2000" dirty="0">
                <a:solidFill>
                  <a:srgbClr val="000000"/>
                </a:solidFill>
                <a:latin typeface="Times New Roman" pitchFamily="18" charset="0"/>
              </a:rPr>
              <a:t>Бугунги кунда </a:t>
            </a:r>
            <a:r>
              <a:rPr lang="uz-Cyrl-UZ" sz="2000" dirty="0">
                <a:solidFill>
                  <a:srgbClr val="FF0000"/>
                </a:solidFill>
                <a:latin typeface="Times New Roman" pitchFamily="18" charset="0"/>
              </a:rPr>
              <a:t>АҚШ, Россия Федерацияси ва Европа </a:t>
            </a:r>
            <a:r>
              <a:rPr lang="uz-Cyrl-UZ" sz="2000" dirty="0">
                <a:solidFill>
                  <a:srgbClr val="000000"/>
                </a:solidFill>
                <a:latin typeface="Times New Roman" pitchFamily="18" charset="0"/>
              </a:rPr>
              <a:t>давлатлари томонидан стандарт янги хэш функция алгоритмларини яратиш бўйича </a:t>
            </a:r>
            <a:r>
              <a:rPr lang="uz-Cyrl-UZ" sz="2000" dirty="0">
                <a:solidFill>
                  <a:srgbClr val="FF0000"/>
                </a:solidFill>
                <a:latin typeface="Times New Roman" pitchFamily="18" charset="0"/>
              </a:rPr>
              <a:t>“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</a:rPr>
              <a:t>SHA-3”, “</a:t>
            </a:r>
            <a:r>
              <a:rPr lang="uz-Cyrl-UZ" sz="2000" dirty="0">
                <a:solidFill>
                  <a:srgbClr val="FF0000"/>
                </a:solidFill>
                <a:latin typeface="Times New Roman" pitchFamily="18" charset="0"/>
              </a:rPr>
              <a:t>Стрибог”, “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</a:rPr>
              <a:t>NESSIE” </a:t>
            </a:r>
            <a:r>
              <a:rPr lang="uz-Cyrl-UZ" sz="2000" dirty="0">
                <a:solidFill>
                  <a:srgbClr val="000000"/>
                </a:solidFill>
                <a:latin typeface="Times New Roman" pitchFamily="18" charset="0"/>
              </a:rPr>
              <a:t>каби криптолойихалар бир нечта босқичда ўтказилган бўлиб, криптолойихаларда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стандарт хэш функция алгоритмларини яратиш бўйича қўйилган умумий талаблар қуйида келтирилган</a:t>
            </a:r>
            <a:r>
              <a:rPr lang="uz-Cyrl-UZ" sz="20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endParaRPr lang="uz-Cyrl-UZ" sz="2000" dirty="0">
              <a:latin typeface="Times New Roman" pitchFamily="18" charset="0"/>
              <a:cs typeface="Times New Roman" pitchFamily="18" charset="0"/>
            </a:endParaRPr>
          </a:p>
          <a:p>
            <a:pPr indent="431800" algn="just">
              <a:buClr>
                <a:srgbClr val="000000"/>
              </a:buClr>
              <a:buSzPct val="75000"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Горизонтальный свиток 8"/>
          <p:cNvSpPr/>
          <p:nvPr/>
        </p:nvSpPr>
        <p:spPr>
          <a:xfrm>
            <a:off x="1384300" y="3284538"/>
            <a:ext cx="7364413" cy="1081087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Яратиладиган алгоритм кенг оммо учун очиқ бўлиши,  хавфсизлиги унинг бирор бир параметри ёки акслантиришининг махфий тутилиши эвазига таъминланмаслиги;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Лента лицом вниз 9"/>
          <p:cNvSpPr/>
          <p:nvPr/>
        </p:nvSpPr>
        <p:spPr>
          <a:xfrm>
            <a:off x="469851" y="3513584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</a:rPr>
              <a:t>1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1" name="Горизонтальный свиток 10"/>
          <p:cNvSpPr/>
          <p:nvPr/>
        </p:nvSpPr>
        <p:spPr>
          <a:xfrm>
            <a:off x="1384300" y="4330700"/>
            <a:ext cx="7364413" cy="1079500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Алгоритм содда  ва уни тушиниш осон бўлиши лозим, яъни алгоритмда қўлланилган акслантиришлар математик жиҳатдан содда ифодаланиши;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Лента лицом вниз 11"/>
          <p:cNvSpPr/>
          <p:nvPr/>
        </p:nvSpPr>
        <p:spPr>
          <a:xfrm>
            <a:off x="469851" y="4564059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rgbClr val="FF0000"/>
                </a:solidFill>
              </a:rPr>
              <a:t>2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3" name="Лента лицом вниз 12"/>
          <p:cNvSpPr/>
          <p:nvPr/>
        </p:nvSpPr>
        <p:spPr>
          <a:xfrm>
            <a:off x="469851" y="5629236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rgbClr val="FF0000"/>
                </a:solidFill>
              </a:rPr>
              <a:t>3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4" name="Горизонтальный свиток 13"/>
          <p:cNvSpPr/>
          <p:nvPr/>
        </p:nvSpPr>
        <p:spPr>
          <a:xfrm>
            <a:off x="1384300" y="5395913"/>
            <a:ext cx="7364413" cy="1079500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Ихтиёрий берилган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маълумот учун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(х) хэш қиймат осон ҳисобланиши;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1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81000" y="620688"/>
            <a:ext cx="8534400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Горизонтальный свиток 5"/>
          <p:cNvSpPr/>
          <p:nvPr/>
        </p:nvSpPr>
        <p:spPr>
          <a:xfrm>
            <a:off x="1331913" y="661963"/>
            <a:ext cx="7364412" cy="1079500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Бир нечта хэш қиймат олиш режими мавжудлиги, яъни алгоритм ҳар–хил узунликдаги хэш қиймат олиш вариантларига эга бўлиши;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Лента лицом вниз 6"/>
          <p:cNvSpPr/>
          <p:nvPr/>
        </p:nvSpPr>
        <p:spPr>
          <a:xfrm>
            <a:off x="417187" y="890329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rgbClr val="FF0000"/>
                </a:solidFill>
              </a:rPr>
              <a:t>4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9" name="Горизонтальный свиток 8"/>
          <p:cNvSpPr/>
          <p:nvPr/>
        </p:nvSpPr>
        <p:spPr>
          <a:xfrm>
            <a:off x="1331913" y="1741463"/>
            <a:ext cx="7364412" cy="1081088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Хэш функция алгоритми аппарат-дастурий платформаси осон реализация қилинадиган бўлиши;</a:t>
            </a:r>
          </a:p>
        </p:txBody>
      </p:sp>
      <p:sp>
        <p:nvSpPr>
          <p:cNvPr id="10" name="Лента лицом вниз 9"/>
          <p:cNvSpPr/>
          <p:nvPr/>
        </p:nvSpPr>
        <p:spPr>
          <a:xfrm>
            <a:off x="417186" y="1970449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rgbClr val="FF0000"/>
                </a:solidFill>
              </a:rPr>
              <a:t>5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1" name="Горизонтальный свиток 10"/>
          <p:cNvSpPr/>
          <p:nvPr/>
        </p:nvSpPr>
        <p:spPr>
          <a:xfrm>
            <a:off x="1331913" y="2749526"/>
            <a:ext cx="7364412" cy="1079500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Хэш функция алгоритми тез ишлаши ва дастурий таъминоти  кам хотира  талаб қилиши;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Лента лицом вниз 11"/>
          <p:cNvSpPr/>
          <p:nvPr/>
        </p:nvSpPr>
        <p:spPr>
          <a:xfrm>
            <a:off x="417187" y="2977349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rgbClr val="FF0000"/>
                </a:solidFill>
              </a:rPr>
              <a:t>6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3" name="Горизонтальный свиток 12"/>
          <p:cNvSpPr/>
          <p:nvPr/>
        </p:nvSpPr>
        <p:spPr>
          <a:xfrm>
            <a:off x="1331913" y="3829026"/>
            <a:ext cx="7364412" cy="1079500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Алгоритм маълумотларни ҳимоя қилишда қўшимча имкониятларга эга бўлиши;</a:t>
            </a:r>
            <a:endParaRPr lang="ru-RU" dirty="0"/>
          </a:p>
        </p:txBody>
      </p:sp>
      <p:sp>
        <p:nvSpPr>
          <p:cNvPr id="14" name="Лента лицом вниз 13"/>
          <p:cNvSpPr/>
          <p:nvPr/>
        </p:nvSpPr>
        <p:spPr>
          <a:xfrm>
            <a:off x="417187" y="4057469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rgbClr val="FF0000"/>
                </a:solidFill>
              </a:rPr>
              <a:t>7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5" name="Горизонтальный свиток 14"/>
          <p:cNvSpPr/>
          <p:nvPr/>
        </p:nvSpPr>
        <p:spPr>
          <a:xfrm>
            <a:off x="1363663" y="4841851"/>
            <a:ext cx="7364412" cy="1081087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Хэш функция алгоритми сиқиш функциясига эга бўлиши ва у биртомонламалилик хоссасини бажариши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Лента лицом вниз 15"/>
          <p:cNvSpPr/>
          <p:nvPr/>
        </p:nvSpPr>
        <p:spPr>
          <a:xfrm>
            <a:off x="450045" y="5071120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rgbClr val="FF0000"/>
                </a:solidFill>
              </a:rPr>
              <a:t>8</a:t>
            </a:r>
            <a:endParaRPr lang="ru-RU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81000" y="692696"/>
            <a:ext cx="8534400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Горизонтальный свиток 5"/>
          <p:cNvSpPr/>
          <p:nvPr/>
        </p:nvSpPr>
        <p:spPr>
          <a:xfrm>
            <a:off x="1331913" y="733971"/>
            <a:ext cx="7364412" cy="1079500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Раундлар сони алгоритмнинг бардошлилигини  таъминлайдиган ва тезлиги етарли даражада бўладиган қилиб ўрнатилиши;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Лента лицом вниз 6"/>
          <p:cNvSpPr/>
          <p:nvPr/>
        </p:nvSpPr>
        <p:spPr>
          <a:xfrm>
            <a:off x="417186" y="962337"/>
            <a:ext cx="794857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rgbClr val="FF0000"/>
                </a:solidFill>
              </a:rPr>
              <a:t>9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9" name="Горизонтальный свиток 8"/>
          <p:cNvSpPr/>
          <p:nvPr/>
        </p:nvSpPr>
        <p:spPr>
          <a:xfrm>
            <a:off x="1331913" y="1813471"/>
            <a:ext cx="7364412" cy="1081088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Хэш функция алгоритмида қўлланилган ўзгармас катталикларни  тўғри танлаш;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Лента лицом вниз 9"/>
          <p:cNvSpPr/>
          <p:nvPr/>
        </p:nvSpPr>
        <p:spPr>
          <a:xfrm>
            <a:off x="417185" y="2042457"/>
            <a:ext cx="794859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ru-RU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Горизонтальный свиток 10"/>
          <p:cNvSpPr/>
          <p:nvPr/>
        </p:nvSpPr>
        <p:spPr>
          <a:xfrm>
            <a:off x="1331913" y="2821534"/>
            <a:ext cx="7364412" cy="1079500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Бир томонлилик хоссаси, яъни маълумотнинг хэш қиймати </a:t>
            </a:r>
            <a:br>
              <a:rPr lang="uz-Cyrl-UZ" dirty="0">
                <a:latin typeface="Times New Roman" pitchFamily="18" charset="0"/>
                <a:cs typeface="Times New Roman" pitchFamily="18" charset="0"/>
              </a:rPr>
            </a:b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(х)= Н  маълум бўлганда, 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маълумотни тиклаб бўлмаслиги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Лента лицом вниз 11"/>
          <p:cNvSpPr/>
          <p:nvPr/>
        </p:nvSpPr>
        <p:spPr>
          <a:xfrm>
            <a:off x="417187" y="3049357"/>
            <a:ext cx="794858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rgbClr val="FF0000"/>
                </a:solidFill>
              </a:rPr>
              <a:t>11</a:t>
            </a:r>
            <a:endParaRPr lang="ru-RU" sz="1600" b="1" dirty="0">
              <a:solidFill>
                <a:srgbClr val="FF0000"/>
              </a:solidFill>
            </a:endParaRPr>
          </a:p>
        </p:txBody>
      </p:sp>
      <p:sp>
        <p:nvSpPr>
          <p:cNvPr id="13" name="Горизонтальный свиток 12"/>
          <p:cNvSpPr/>
          <p:nvPr/>
        </p:nvSpPr>
        <p:spPr>
          <a:xfrm>
            <a:off x="1331913" y="3901034"/>
            <a:ext cx="7364412" cy="1079500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Хэшланадиган маълумотни белгиланган тартибда тўлдириш қоидасининг мавжудлиги;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Лента лицом вниз 13"/>
          <p:cNvSpPr/>
          <p:nvPr/>
        </p:nvSpPr>
        <p:spPr>
          <a:xfrm>
            <a:off x="417187" y="4129477"/>
            <a:ext cx="794858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rgbClr val="FF0000"/>
                </a:solidFill>
              </a:rPr>
              <a:t>12</a:t>
            </a:r>
            <a:endParaRPr lang="ru-RU" sz="1600" b="1" dirty="0">
              <a:solidFill>
                <a:srgbClr val="FF0000"/>
              </a:solidFill>
            </a:endParaRPr>
          </a:p>
        </p:txBody>
      </p:sp>
      <p:sp>
        <p:nvSpPr>
          <p:cNvPr id="15" name="Горизонтальный свиток 14"/>
          <p:cNvSpPr/>
          <p:nvPr/>
        </p:nvSpPr>
        <p:spPr>
          <a:xfrm>
            <a:off x="1363663" y="4913859"/>
            <a:ext cx="7364412" cy="1081087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Коллизияга бардошлилик хоссаси, яъни коллизия топишга қаратилган барча турдаги криптотахлил усулларига бардошли бўлиши;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Лента лицом вниз 15"/>
          <p:cNvSpPr/>
          <p:nvPr/>
        </p:nvSpPr>
        <p:spPr>
          <a:xfrm>
            <a:off x="464025" y="5148264"/>
            <a:ext cx="794858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rgbClr val="FF0000"/>
                </a:solidFill>
              </a:rPr>
              <a:t>13</a:t>
            </a:r>
            <a:endParaRPr lang="ru-RU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46409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Хэш функция алгоритмларини лойиҳалаш босқичлари</a:t>
            </a:r>
            <a:endParaRPr lang="ru-RU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5288" y="765175"/>
            <a:ext cx="8534400" cy="5907088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42988" y="906463"/>
            <a:ext cx="7200900" cy="3603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Хэш функция алгоритмларини қўлланиш соҳасини ўрганиш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042988" y="1371600"/>
            <a:ext cx="7200900" cy="3603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Чиқишдаги хэш қиймат узунлигини танлаш</a:t>
            </a: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42988" y="2439988"/>
            <a:ext cx="7200900" cy="5000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Асосий криптографик акслантиришларни танлаш ва хэш функция алгоритмларини яратиш</a:t>
            </a:r>
            <a:endParaRPr lang="ru-RU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042988" y="3044825"/>
            <a:ext cx="7200900" cy="3603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5. Раундлар сонини ўрнатиш</a:t>
            </a:r>
            <a:endParaRPr lang="ru-RU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042988" y="3508375"/>
            <a:ext cx="7200900" cy="3603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6. Мавжуд криптотаҳлил усуллари ёрдамида бардошлигини баҳолаш</a:t>
            </a:r>
            <a:endParaRPr lang="ru-RU" sz="1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042988" y="3973513"/>
            <a:ext cx="7200900" cy="3603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7. Хэш функция алгоритмининг тезлигини баҳолаш</a:t>
            </a:r>
            <a:endParaRPr lang="ru-RU" sz="16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042988" y="4437063"/>
            <a:ext cx="7200900" cy="5000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8. Хэш функция алгоритми реализацияси учун фойдаланиладиган ресурсларни баҳолаш</a:t>
            </a:r>
            <a:endParaRPr lang="ru-RU" sz="16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042988" y="5041900"/>
            <a:ext cx="7200900" cy="500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9. Ўтказилган таҳлил натижалари бўйича хэш функция алгоритмини модификациялаш</a:t>
            </a:r>
            <a:endParaRPr lang="ru-RU" sz="16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042988" y="5646738"/>
            <a:ext cx="7200900" cy="4762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10. Модификацияланган хэш функция алгоритмига батафсил криптотаҳлил ўтказиш</a:t>
            </a:r>
            <a:endParaRPr lang="ru-RU" sz="16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042988" y="6226175"/>
            <a:ext cx="7200900" cy="3603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11. Статистик тестлар ва махсус экспериментларни ўтказиш</a:t>
            </a:r>
            <a:endParaRPr lang="ru-RU" sz="1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042988" y="1835150"/>
            <a:ext cx="7200900" cy="500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Очиқ маълумотдан генерация қилинадиган калитларни бардошлилигини таъминлаш</a:t>
            </a:r>
            <a:endParaRPr lang="ru-RU" sz="1600" dirty="0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496888" y="3970338"/>
            <a:ext cx="360362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Левая фигурная скобка 16"/>
          <p:cNvSpPr/>
          <p:nvPr/>
        </p:nvSpPr>
        <p:spPr>
          <a:xfrm>
            <a:off x="881063" y="3657600"/>
            <a:ext cx="87312" cy="6238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496888" y="3197225"/>
            <a:ext cx="0" cy="773113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496888" y="3200400"/>
            <a:ext cx="404812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639763" y="4700588"/>
            <a:ext cx="0" cy="17065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639763" y="6407150"/>
            <a:ext cx="404812" cy="0"/>
          </a:xfrm>
          <a:prstGeom prst="line">
            <a:avLst/>
          </a:prstGeom>
          <a:ln w="952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>
            <a:off x="639763" y="4700588"/>
            <a:ext cx="4032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661988" y="5292725"/>
            <a:ext cx="360362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3820</TotalTime>
  <Words>348</Words>
  <Application>Microsoft Office PowerPoint</Application>
  <PresentationFormat>Экран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Microsoft Office</cp:lastModifiedBy>
  <cp:revision>230</cp:revision>
  <dcterms:created xsi:type="dcterms:W3CDTF">2013-10-19T13:59:30Z</dcterms:created>
  <dcterms:modified xsi:type="dcterms:W3CDTF">2019-08-21T09:20:54Z</dcterms:modified>
</cp:coreProperties>
</file>